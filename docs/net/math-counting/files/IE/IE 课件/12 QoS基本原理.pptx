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1.xml" ContentType="application/inkml+xml"/>
  <Override PartName="/ppt/notesSlides/notesSlide45.xml" ContentType="application/vnd.openxmlformats-officedocument.presentationml.notesSlide+xml"/>
  <Override PartName="/ppt/ink/ink2.xml" ContentType="application/inkml+xml"/>
  <Override PartName="/ppt/ink/ink3.xml" ContentType="application/inkml+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ink/ink7.xml" ContentType="application/inkml+xml"/>
  <Override PartName="/ppt/notesSlides/notesSlide66.xml" ContentType="application/vnd.openxmlformats-officedocument.presentationml.notesSlide+xml"/>
  <Override PartName="/ppt/ink/ink8.xml" ContentType="application/inkml+xml"/>
  <Override PartName="/ppt/ink/ink9.xml" ContentType="application/inkml+xml"/>
  <Override PartName="/ppt/notesSlides/notesSlide67.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68.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69.xml" ContentType="application/vnd.openxmlformats-officedocument.presentationml.notesSlide+xml"/>
  <Override PartName="/ppt/ink/ink34.xml" ContentType="application/inkml+xml"/>
  <Override PartName="/ppt/ink/ink35.xml" ContentType="application/inkml+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122"/>
  </p:notesMasterIdLst>
  <p:handoutMasterIdLst>
    <p:handoutMasterId r:id="rId123"/>
  </p:handoutMasterIdLst>
  <p:sldIdLst>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53" r:id="rId88"/>
    <p:sldId id="354" r:id="rId89"/>
    <p:sldId id="355" r:id="rId90"/>
    <p:sldId id="356" r:id="rId91"/>
    <p:sldId id="357" r:id="rId92"/>
    <p:sldId id="358" r:id="rId93"/>
    <p:sldId id="359" r:id="rId94"/>
    <p:sldId id="360" r:id="rId95"/>
    <p:sldId id="361" r:id="rId96"/>
    <p:sldId id="362" r:id="rId97"/>
    <p:sldId id="363" r:id="rId98"/>
    <p:sldId id="364" r:id="rId99"/>
    <p:sldId id="365"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 id="381" r:id="rId116"/>
    <p:sldId id="382" r:id="rId117"/>
    <p:sldId id="383" r:id="rId118"/>
    <p:sldId id="384" r:id="rId119"/>
    <p:sldId id="385" r:id="rId120"/>
    <p:sldId id="386" r:id="rId121"/>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56C4D2"/>
    <a:srgbClr val="94DAE2"/>
    <a:srgbClr val="404040"/>
    <a:srgbClr val="EBEBEB"/>
    <a:srgbClr val="151515"/>
    <a:srgbClr val="575756"/>
    <a:srgbClr val="FFFFFF"/>
    <a:srgbClr val="DD4654"/>
    <a:srgbClr val="F3D2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38C4EC-3472-4026-8A67-18C6E26165E1}" v="49" dt="2024-02-03T09:07:52.826"/>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55" autoAdjust="0"/>
    <p:restoredTop sz="95267" autoAdjust="0"/>
  </p:normalViewPr>
  <p:slideViewPr>
    <p:cSldViewPr snapToGrid="0" snapToObjects="1">
      <p:cViewPr>
        <p:scale>
          <a:sx n="75" d="100"/>
          <a:sy n="75" d="100"/>
        </p:scale>
        <p:origin x="36" y="2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slide" Target="slides/slide105.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handoutMaster" Target="handoutMasters/handoutMaster1.xml"/><Relationship Id="rId128" Type="http://schemas.microsoft.com/office/2016/11/relationships/changesInfo" Target="changesInfos/changesInfo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presProps" Target="presProps.xml"/><Relationship Id="rId129" Type="http://schemas.microsoft.com/office/2015/10/relationships/revisionInfo" Target="revisionInfo.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peng he" userId="51e7bc25f46b8d94" providerId="LiveId" clId="{BE38C4EC-3472-4026-8A67-18C6E26165E1}"/>
    <pc:docChg chg="undo custSel modSld">
      <pc:chgData name="junpeng he" userId="51e7bc25f46b8d94" providerId="LiveId" clId="{BE38C4EC-3472-4026-8A67-18C6E26165E1}" dt="2024-02-03T09:07:52.826" v="231"/>
      <pc:docMkLst>
        <pc:docMk/>
      </pc:docMkLst>
      <pc:sldChg chg="addSp delSp modSp mod">
        <pc:chgData name="junpeng he" userId="51e7bc25f46b8d94" providerId="LiveId" clId="{BE38C4EC-3472-4026-8A67-18C6E26165E1}" dt="2024-02-03T08:09:06.700" v="192" actId="9405"/>
        <pc:sldMkLst>
          <pc:docMk/>
          <pc:sldMk cId="1528557271" sldId="312"/>
        </pc:sldMkLst>
        <pc:grpChg chg="mod">
          <ac:chgData name="junpeng he" userId="51e7bc25f46b8d94" providerId="LiveId" clId="{BE38C4EC-3472-4026-8A67-18C6E26165E1}" dt="2024-02-03T08:08:53.810" v="181"/>
          <ac:grpSpMkLst>
            <pc:docMk/>
            <pc:sldMk cId="1528557271" sldId="312"/>
            <ac:grpSpMk id="6" creationId="{A848B1D4-A298-CDCF-B049-73126CACFE9D}"/>
          </ac:grpSpMkLst>
        </pc:grpChg>
        <pc:grpChg chg="add del mod">
          <ac:chgData name="junpeng he" userId="51e7bc25f46b8d94" providerId="LiveId" clId="{BE38C4EC-3472-4026-8A67-18C6E26165E1}" dt="2024-02-03T08:09:05.902" v="190"/>
          <ac:grpSpMkLst>
            <pc:docMk/>
            <pc:sldMk cId="1528557271" sldId="312"/>
            <ac:grpSpMk id="11" creationId="{5F2FA20B-3EBD-E394-7CE0-C1E8983DFF9D}"/>
          </ac:grpSpMkLst>
        </pc:grpChg>
        <pc:grpChg chg="mod">
          <ac:chgData name="junpeng he" userId="51e7bc25f46b8d94" providerId="LiveId" clId="{BE38C4EC-3472-4026-8A67-18C6E26165E1}" dt="2024-02-03T08:09:05.902" v="190"/>
          <ac:grpSpMkLst>
            <pc:docMk/>
            <pc:sldMk cId="1528557271" sldId="312"/>
            <ac:grpSpMk id="12" creationId="{542F3F49-9596-C722-6EDA-8AA1A3B4031C}"/>
          </ac:grpSpMkLst>
        </pc:grpChg>
        <pc:inkChg chg="add del mod">
          <ac:chgData name="junpeng he" userId="51e7bc25f46b8d94" providerId="LiveId" clId="{BE38C4EC-3472-4026-8A67-18C6E26165E1}" dt="2024-02-03T08:08:54.959" v="182" actId="9405"/>
          <ac:inkMkLst>
            <pc:docMk/>
            <pc:sldMk cId="1528557271" sldId="312"/>
            <ac:inkMk id="4" creationId="{97815150-350B-2FC6-184F-5CD5CA34AA29}"/>
          </ac:inkMkLst>
        </pc:inkChg>
        <pc:inkChg chg="add del mod">
          <ac:chgData name="junpeng he" userId="51e7bc25f46b8d94" providerId="LiveId" clId="{BE38C4EC-3472-4026-8A67-18C6E26165E1}" dt="2024-02-03T08:08:53.810" v="181"/>
          <ac:inkMkLst>
            <pc:docMk/>
            <pc:sldMk cId="1528557271" sldId="312"/>
            <ac:inkMk id="5" creationId="{6A4ABEC0-4790-60D0-51D2-B858BAE053EE}"/>
          </ac:inkMkLst>
        </pc:inkChg>
        <pc:inkChg chg="add del">
          <ac:chgData name="junpeng he" userId="51e7bc25f46b8d94" providerId="LiveId" clId="{BE38C4EC-3472-4026-8A67-18C6E26165E1}" dt="2024-02-03T08:09:01.265" v="184" actId="9405"/>
          <ac:inkMkLst>
            <pc:docMk/>
            <pc:sldMk cId="1528557271" sldId="312"/>
            <ac:inkMk id="7" creationId="{33D20203-3289-9F16-9FD6-567A4AC5FEE7}"/>
          </ac:inkMkLst>
        </pc:inkChg>
        <pc:inkChg chg="add del mod">
          <ac:chgData name="junpeng he" userId="51e7bc25f46b8d94" providerId="LiveId" clId="{BE38C4EC-3472-4026-8A67-18C6E26165E1}" dt="2024-02-03T08:09:06.700" v="192" actId="9405"/>
          <ac:inkMkLst>
            <pc:docMk/>
            <pc:sldMk cId="1528557271" sldId="312"/>
            <ac:inkMk id="8" creationId="{D0DBEAD7-4BBC-D124-5C35-F4BC8EE29F83}"/>
          </ac:inkMkLst>
        </pc:inkChg>
        <pc:inkChg chg="add del mod">
          <ac:chgData name="junpeng he" userId="51e7bc25f46b8d94" providerId="LiveId" clId="{BE38C4EC-3472-4026-8A67-18C6E26165E1}" dt="2024-02-03T08:09:06.160" v="191" actId="9405"/>
          <ac:inkMkLst>
            <pc:docMk/>
            <pc:sldMk cId="1528557271" sldId="312"/>
            <ac:inkMk id="9" creationId="{73A8FFC1-4792-308E-533B-BAE2F8515D71}"/>
          </ac:inkMkLst>
        </pc:inkChg>
        <pc:inkChg chg="add del mod">
          <ac:chgData name="junpeng he" userId="51e7bc25f46b8d94" providerId="LiveId" clId="{BE38C4EC-3472-4026-8A67-18C6E26165E1}" dt="2024-02-03T08:09:05.902" v="190"/>
          <ac:inkMkLst>
            <pc:docMk/>
            <pc:sldMk cId="1528557271" sldId="312"/>
            <ac:inkMk id="10" creationId="{F05B81B1-8AC7-C0FF-4158-3B92A9D2784D}"/>
          </ac:inkMkLst>
        </pc:inkChg>
      </pc:sldChg>
      <pc:sldChg chg="addSp delSp modSp mod">
        <pc:chgData name="junpeng he" userId="51e7bc25f46b8d94" providerId="LiveId" clId="{BE38C4EC-3472-4026-8A67-18C6E26165E1}" dt="2024-02-03T09:07:33.048" v="228" actId="9405"/>
        <pc:sldMkLst>
          <pc:docMk/>
          <pc:sldMk cId="3426098336" sldId="316"/>
        </pc:sldMkLst>
        <pc:grpChg chg="mod">
          <ac:chgData name="junpeng he" userId="51e7bc25f46b8d94" providerId="LiveId" clId="{BE38C4EC-3472-4026-8A67-18C6E26165E1}" dt="2024-02-03T09:07:32.432" v="227"/>
          <ac:grpSpMkLst>
            <pc:docMk/>
            <pc:sldMk cId="3426098336" sldId="316"/>
            <ac:grpSpMk id="7" creationId="{C7849439-1480-B775-9401-C5FEAA13E93F}"/>
          </ac:grpSpMkLst>
        </pc:grpChg>
        <pc:inkChg chg="add">
          <ac:chgData name="junpeng he" userId="51e7bc25f46b8d94" providerId="LiveId" clId="{BE38C4EC-3472-4026-8A67-18C6E26165E1}" dt="2024-02-03T09:07:23.561" v="222" actId="9405"/>
          <ac:inkMkLst>
            <pc:docMk/>
            <pc:sldMk cId="3426098336" sldId="316"/>
            <ac:inkMk id="4" creationId="{669806F5-73F3-30D3-9D94-8F9444C223E1}"/>
          </ac:inkMkLst>
        </pc:inkChg>
        <pc:inkChg chg="add del mod">
          <ac:chgData name="junpeng he" userId="51e7bc25f46b8d94" providerId="LiveId" clId="{BE38C4EC-3472-4026-8A67-18C6E26165E1}" dt="2024-02-03T09:07:33.048" v="228" actId="9405"/>
          <ac:inkMkLst>
            <pc:docMk/>
            <pc:sldMk cId="3426098336" sldId="316"/>
            <ac:inkMk id="5" creationId="{DE731893-4E40-4A42-B1C7-DA2F4E6C6FBB}"/>
          </ac:inkMkLst>
        </pc:inkChg>
        <pc:inkChg chg="add del mod">
          <ac:chgData name="junpeng he" userId="51e7bc25f46b8d94" providerId="LiveId" clId="{BE38C4EC-3472-4026-8A67-18C6E26165E1}" dt="2024-02-03T09:07:32.432" v="227"/>
          <ac:inkMkLst>
            <pc:docMk/>
            <pc:sldMk cId="3426098336" sldId="316"/>
            <ac:inkMk id="6" creationId="{B4CFEFC0-A312-E345-7410-591723C64DBA}"/>
          </ac:inkMkLst>
        </pc:inkChg>
      </pc:sldChg>
      <pc:sldChg chg="addSp modSp mod">
        <pc:chgData name="junpeng he" userId="51e7bc25f46b8d94" providerId="LiveId" clId="{BE38C4EC-3472-4026-8A67-18C6E26165E1}" dt="2024-02-03T09:07:52.826" v="231"/>
        <pc:sldMkLst>
          <pc:docMk/>
          <pc:sldMk cId="1303788684" sldId="317"/>
        </pc:sldMkLst>
        <pc:grpChg chg="mod">
          <ac:chgData name="junpeng he" userId="51e7bc25f46b8d94" providerId="LiveId" clId="{BE38C4EC-3472-4026-8A67-18C6E26165E1}" dt="2024-02-03T09:07:52.826" v="231"/>
          <ac:grpSpMkLst>
            <pc:docMk/>
            <pc:sldMk cId="1303788684" sldId="317"/>
            <ac:grpSpMk id="23" creationId="{5C2772F3-FDEC-AB5C-3E7D-E1E4ED1428DF}"/>
          </ac:grpSpMkLst>
        </pc:grpChg>
        <pc:inkChg chg="add mod">
          <ac:chgData name="junpeng he" userId="51e7bc25f46b8d94" providerId="LiveId" clId="{BE38C4EC-3472-4026-8A67-18C6E26165E1}" dt="2024-02-03T09:07:52.826" v="231"/>
          <ac:inkMkLst>
            <pc:docMk/>
            <pc:sldMk cId="1303788684" sldId="317"/>
            <ac:inkMk id="10" creationId="{6D240FD5-36D6-1DB3-DCC7-C795E691F207}"/>
          </ac:inkMkLst>
        </pc:inkChg>
        <pc:inkChg chg="add mod">
          <ac:chgData name="junpeng he" userId="51e7bc25f46b8d94" providerId="LiveId" clId="{BE38C4EC-3472-4026-8A67-18C6E26165E1}" dt="2024-02-03T09:07:52.826" v="231"/>
          <ac:inkMkLst>
            <pc:docMk/>
            <pc:sldMk cId="1303788684" sldId="317"/>
            <ac:inkMk id="14" creationId="{3766F9B6-92EE-7CD4-BAD4-80E0A185828F}"/>
          </ac:inkMkLst>
        </pc:inkChg>
      </pc:sldChg>
      <pc:sldChg chg="addSp delSp mod">
        <pc:chgData name="junpeng he" userId="51e7bc25f46b8d94" providerId="LiveId" clId="{BE38C4EC-3472-4026-8A67-18C6E26165E1}" dt="2024-02-03T09:04:08.547" v="197" actId="9405"/>
        <pc:sldMkLst>
          <pc:docMk/>
          <pc:sldMk cId="4016936346" sldId="322"/>
        </pc:sldMkLst>
        <pc:inkChg chg="add del">
          <ac:chgData name="junpeng he" userId="51e7bc25f46b8d94" providerId="LiveId" clId="{BE38C4EC-3472-4026-8A67-18C6E26165E1}" dt="2024-02-03T08:59:39.705" v="194" actId="9405"/>
          <ac:inkMkLst>
            <pc:docMk/>
            <pc:sldMk cId="4016936346" sldId="322"/>
            <ac:inkMk id="3" creationId="{09785B07-CE4A-1FC0-8484-99CC8F2D8AC9}"/>
          </ac:inkMkLst>
        </pc:inkChg>
        <pc:inkChg chg="add">
          <ac:chgData name="junpeng he" userId="51e7bc25f46b8d94" providerId="LiveId" clId="{BE38C4EC-3472-4026-8A67-18C6E26165E1}" dt="2024-02-03T09:03:49.535" v="195" actId="9405"/>
          <ac:inkMkLst>
            <pc:docMk/>
            <pc:sldMk cId="4016936346" sldId="322"/>
            <ac:inkMk id="4" creationId="{7CF816D1-2A0E-B32E-0617-54A064C7522F}"/>
          </ac:inkMkLst>
        </pc:inkChg>
        <pc:inkChg chg="add">
          <ac:chgData name="junpeng he" userId="51e7bc25f46b8d94" providerId="LiveId" clId="{BE38C4EC-3472-4026-8A67-18C6E26165E1}" dt="2024-02-03T09:03:51.884" v="196" actId="9405"/>
          <ac:inkMkLst>
            <pc:docMk/>
            <pc:sldMk cId="4016936346" sldId="322"/>
            <ac:inkMk id="5" creationId="{AD18614E-AA11-D1AA-9BA4-AE46B7787674}"/>
          </ac:inkMkLst>
        </pc:inkChg>
        <pc:inkChg chg="add">
          <ac:chgData name="junpeng he" userId="51e7bc25f46b8d94" providerId="LiveId" clId="{BE38C4EC-3472-4026-8A67-18C6E26165E1}" dt="2024-02-03T09:04:08.547" v="197" actId="9405"/>
          <ac:inkMkLst>
            <pc:docMk/>
            <pc:sldMk cId="4016936346" sldId="322"/>
            <ac:inkMk id="6" creationId="{244FDCE3-93CA-ECA9-85B7-2911E8FD99B7}"/>
          </ac:inkMkLst>
        </pc:inkChg>
      </pc:sldChg>
      <pc:sldChg chg="addSp delSp modSp mod">
        <pc:chgData name="junpeng he" userId="51e7bc25f46b8d94" providerId="LiveId" clId="{BE38C4EC-3472-4026-8A67-18C6E26165E1}" dt="2024-02-03T09:04:26.547" v="221" actId="9405"/>
        <pc:sldMkLst>
          <pc:docMk/>
          <pc:sldMk cId="69164423" sldId="323"/>
        </pc:sldMkLst>
        <pc:grpChg chg="mod">
          <ac:chgData name="junpeng he" userId="51e7bc25f46b8d94" providerId="LiveId" clId="{BE38C4EC-3472-4026-8A67-18C6E26165E1}" dt="2024-02-03T09:04:24.132" v="213"/>
          <ac:grpSpMkLst>
            <pc:docMk/>
            <pc:sldMk cId="69164423" sldId="323"/>
            <ac:grpSpMk id="23" creationId="{2AFB6AAD-1A60-01E0-483C-3297182185D8}"/>
          </ac:grpSpMkLst>
        </pc:grpChg>
        <pc:grpChg chg="mod">
          <ac:chgData name="junpeng he" userId="51e7bc25f46b8d94" providerId="LiveId" clId="{BE38C4EC-3472-4026-8A67-18C6E26165E1}" dt="2024-02-03T09:04:24.132" v="213"/>
          <ac:grpSpMkLst>
            <pc:docMk/>
            <pc:sldMk cId="69164423" sldId="323"/>
            <ac:grpSpMk id="27" creationId="{3CC13692-6255-7DFE-D70B-3E6BCCA6783A}"/>
          </ac:grpSpMkLst>
        </pc:grpChg>
        <pc:inkChg chg="add del mod">
          <ac:chgData name="junpeng he" userId="51e7bc25f46b8d94" providerId="LiveId" clId="{BE38C4EC-3472-4026-8A67-18C6E26165E1}" dt="2024-02-03T09:04:26.547" v="221" actId="9405"/>
          <ac:inkMkLst>
            <pc:docMk/>
            <pc:sldMk cId="69164423" sldId="323"/>
            <ac:inkMk id="3" creationId="{6B4A65C7-2E55-D3EF-F583-469765957F53}"/>
          </ac:inkMkLst>
        </pc:inkChg>
        <pc:inkChg chg="add del">
          <ac:chgData name="junpeng he" userId="51e7bc25f46b8d94" providerId="LiveId" clId="{BE38C4EC-3472-4026-8A67-18C6E26165E1}" dt="2024-02-03T09:04:17.313" v="200" actId="9405"/>
          <ac:inkMkLst>
            <pc:docMk/>
            <pc:sldMk cId="69164423" sldId="323"/>
            <ac:inkMk id="5" creationId="{5E0C1E59-CED3-9434-A4DE-57B9C2CA4BD6}"/>
          </ac:inkMkLst>
        </pc:inkChg>
        <pc:inkChg chg="add del">
          <ac:chgData name="junpeng he" userId="51e7bc25f46b8d94" providerId="LiveId" clId="{BE38C4EC-3472-4026-8A67-18C6E26165E1}" dt="2024-02-03T09:04:18.036" v="202" actId="9405"/>
          <ac:inkMkLst>
            <pc:docMk/>
            <pc:sldMk cId="69164423" sldId="323"/>
            <ac:inkMk id="6" creationId="{B569DAEA-22C2-2DC0-7E2D-52300F87AE85}"/>
          </ac:inkMkLst>
        </pc:inkChg>
        <pc:inkChg chg="add del mod">
          <ac:chgData name="junpeng he" userId="51e7bc25f46b8d94" providerId="LiveId" clId="{BE38C4EC-3472-4026-8A67-18C6E26165E1}" dt="2024-02-03T09:04:26.242" v="220" actId="9405"/>
          <ac:inkMkLst>
            <pc:docMk/>
            <pc:sldMk cId="69164423" sldId="323"/>
            <ac:inkMk id="7" creationId="{2F4DB2E5-E7AA-EB27-F312-EF6C09AD256F}"/>
          </ac:inkMkLst>
        </pc:inkChg>
        <pc:inkChg chg="add del mod">
          <ac:chgData name="junpeng he" userId="51e7bc25f46b8d94" providerId="LiveId" clId="{BE38C4EC-3472-4026-8A67-18C6E26165E1}" dt="2024-02-03T09:04:25.962" v="219" actId="9405"/>
          <ac:inkMkLst>
            <pc:docMk/>
            <pc:sldMk cId="69164423" sldId="323"/>
            <ac:inkMk id="8" creationId="{B3DFB6D0-F0F6-408E-7A72-D25AF47EDD7D}"/>
          </ac:inkMkLst>
        </pc:inkChg>
        <pc:inkChg chg="add del mod">
          <ac:chgData name="junpeng he" userId="51e7bc25f46b8d94" providerId="LiveId" clId="{BE38C4EC-3472-4026-8A67-18C6E26165E1}" dt="2024-02-03T09:04:25.769" v="218" actId="9405"/>
          <ac:inkMkLst>
            <pc:docMk/>
            <pc:sldMk cId="69164423" sldId="323"/>
            <ac:inkMk id="9" creationId="{B45AC83E-72A4-F73F-A46E-404946F4A712}"/>
          </ac:inkMkLst>
        </pc:inkChg>
        <pc:inkChg chg="add del mod">
          <ac:chgData name="junpeng he" userId="51e7bc25f46b8d94" providerId="LiveId" clId="{BE38C4EC-3472-4026-8A67-18C6E26165E1}" dt="2024-02-03T09:04:25.526" v="217" actId="9405"/>
          <ac:inkMkLst>
            <pc:docMk/>
            <pc:sldMk cId="69164423" sldId="323"/>
            <ac:inkMk id="10" creationId="{CC87DA75-7107-0CCF-BA94-508D7381EA4F}"/>
          </ac:inkMkLst>
        </pc:inkChg>
        <pc:inkChg chg="add del mod">
          <ac:chgData name="junpeng he" userId="51e7bc25f46b8d94" providerId="LiveId" clId="{BE38C4EC-3472-4026-8A67-18C6E26165E1}" dt="2024-02-03T09:04:24.933" v="216" actId="9405"/>
          <ac:inkMkLst>
            <pc:docMk/>
            <pc:sldMk cId="69164423" sldId="323"/>
            <ac:inkMk id="11" creationId="{D87C217D-3B16-44D5-C584-4BCF4285A381}"/>
          </ac:inkMkLst>
        </pc:inkChg>
        <pc:inkChg chg="add del mod">
          <ac:chgData name="junpeng he" userId="51e7bc25f46b8d94" providerId="LiveId" clId="{BE38C4EC-3472-4026-8A67-18C6E26165E1}" dt="2024-02-03T09:04:24.627" v="215" actId="9405"/>
          <ac:inkMkLst>
            <pc:docMk/>
            <pc:sldMk cId="69164423" sldId="323"/>
            <ac:inkMk id="12" creationId="{15DBFDC1-78DE-D68E-47A8-084D1B8F9272}"/>
          </ac:inkMkLst>
        </pc:inkChg>
        <pc:inkChg chg="add del mod">
          <ac:chgData name="junpeng he" userId="51e7bc25f46b8d94" providerId="LiveId" clId="{BE38C4EC-3472-4026-8A67-18C6E26165E1}" dt="2024-02-03T09:04:24.421" v="214" actId="9405"/>
          <ac:inkMkLst>
            <pc:docMk/>
            <pc:sldMk cId="69164423" sldId="323"/>
            <ac:inkMk id="13" creationId="{0091DCC2-D785-40BA-BC4F-B4F28F506F5D}"/>
          </ac:inkMkLst>
        </pc:inkChg>
        <pc:inkChg chg="add del mod">
          <ac:chgData name="junpeng he" userId="51e7bc25f46b8d94" providerId="LiveId" clId="{BE38C4EC-3472-4026-8A67-18C6E26165E1}" dt="2024-02-03T09:04:24.132" v="213"/>
          <ac:inkMkLst>
            <pc:docMk/>
            <pc:sldMk cId="69164423" sldId="323"/>
            <ac:inkMk id="14" creationId="{0126E8BF-55CB-7714-B815-3DA8529168AD}"/>
          </ac:inkMkLst>
        </pc:inkChg>
      </pc:sldChg>
      <pc:sldChg chg="addSp delSp modSp mod">
        <pc:chgData name="junpeng he" userId="51e7bc25f46b8d94" providerId="LiveId" clId="{BE38C4EC-3472-4026-8A67-18C6E26165E1}" dt="2024-02-03T07:35:11.136" v="116" actId="9405"/>
        <pc:sldMkLst>
          <pc:docMk/>
          <pc:sldMk cId="3010821706" sldId="334"/>
        </pc:sldMkLst>
        <pc:grpChg chg="mod">
          <ac:chgData name="junpeng he" userId="51e7bc25f46b8d94" providerId="LiveId" clId="{BE38C4EC-3472-4026-8A67-18C6E26165E1}" dt="2024-02-03T07:35:08.329" v="109"/>
          <ac:grpSpMkLst>
            <pc:docMk/>
            <pc:sldMk cId="3010821706" sldId="334"/>
            <ac:grpSpMk id="7" creationId="{4DA12A86-93A4-0BB7-08DC-E527267929D1}"/>
          </ac:grpSpMkLst>
        </pc:grpChg>
        <pc:grpChg chg="mod">
          <ac:chgData name="junpeng he" userId="51e7bc25f46b8d94" providerId="LiveId" clId="{BE38C4EC-3472-4026-8A67-18C6E26165E1}" dt="2024-02-03T07:35:10.887" v="115"/>
          <ac:grpSpMkLst>
            <pc:docMk/>
            <pc:sldMk cId="3010821706" sldId="334"/>
            <ac:grpSpMk id="11" creationId="{65B74D29-F248-A4C0-1084-BF660316373E}"/>
          </ac:grpSpMkLst>
        </pc:grpChg>
        <pc:inkChg chg="add del mod">
          <ac:chgData name="junpeng he" userId="51e7bc25f46b8d94" providerId="LiveId" clId="{BE38C4EC-3472-4026-8A67-18C6E26165E1}" dt="2024-02-03T07:35:08.586" v="110" actId="9405"/>
          <ac:inkMkLst>
            <pc:docMk/>
            <pc:sldMk cId="3010821706" sldId="334"/>
            <ac:inkMk id="5" creationId="{ACAADF2E-6B18-C0A8-2810-8B018EC17F06}"/>
          </ac:inkMkLst>
        </pc:inkChg>
        <pc:inkChg chg="add del mod">
          <ac:chgData name="junpeng he" userId="51e7bc25f46b8d94" providerId="LiveId" clId="{BE38C4EC-3472-4026-8A67-18C6E26165E1}" dt="2024-02-03T07:35:08.329" v="109"/>
          <ac:inkMkLst>
            <pc:docMk/>
            <pc:sldMk cId="3010821706" sldId="334"/>
            <ac:inkMk id="6" creationId="{FC4DCDCA-2263-ED29-08A9-AD86BC860A8B}"/>
          </ac:inkMkLst>
        </pc:inkChg>
        <pc:inkChg chg="add del mod">
          <ac:chgData name="junpeng he" userId="51e7bc25f46b8d94" providerId="LiveId" clId="{BE38C4EC-3472-4026-8A67-18C6E26165E1}" dt="2024-02-03T07:35:11.136" v="116" actId="9405"/>
          <ac:inkMkLst>
            <pc:docMk/>
            <pc:sldMk cId="3010821706" sldId="334"/>
            <ac:inkMk id="9" creationId="{E3270D4E-84FF-E15E-76A7-D97C01E8E43B}"/>
          </ac:inkMkLst>
        </pc:inkChg>
        <pc:inkChg chg="add del mod">
          <ac:chgData name="junpeng he" userId="51e7bc25f46b8d94" providerId="LiveId" clId="{BE38C4EC-3472-4026-8A67-18C6E26165E1}" dt="2024-02-03T07:35:10.887" v="115"/>
          <ac:inkMkLst>
            <pc:docMk/>
            <pc:sldMk cId="3010821706" sldId="334"/>
            <ac:inkMk id="10" creationId="{70017C5C-3439-98DA-9348-006E4F5FEF50}"/>
          </ac:inkMkLst>
        </pc:inkChg>
      </pc:sldChg>
      <pc:sldChg chg="modSp mod">
        <pc:chgData name="junpeng he" userId="51e7bc25f46b8d94" providerId="LiveId" clId="{BE38C4EC-3472-4026-8A67-18C6E26165E1}" dt="2024-02-03T07:21:44.023" v="76" actId="13926"/>
        <pc:sldMkLst>
          <pc:docMk/>
          <pc:sldMk cId="591695088" sldId="335"/>
        </pc:sldMkLst>
        <pc:spChg chg="mod">
          <ac:chgData name="junpeng he" userId="51e7bc25f46b8d94" providerId="LiveId" clId="{BE38C4EC-3472-4026-8A67-18C6E26165E1}" dt="2024-02-03T07:21:44.023" v="76" actId="13926"/>
          <ac:spMkLst>
            <pc:docMk/>
            <pc:sldMk cId="591695088" sldId="335"/>
            <ac:spMk id="42" creationId="{00000000-0000-0000-0000-000000000000}"/>
          </ac:spMkLst>
        </pc:spChg>
      </pc:sldChg>
      <pc:sldChg chg="modSp mod">
        <pc:chgData name="junpeng he" userId="51e7bc25f46b8d94" providerId="LiveId" clId="{BE38C4EC-3472-4026-8A67-18C6E26165E1}" dt="2024-02-03T07:24:30.289" v="77" actId="13926"/>
        <pc:sldMkLst>
          <pc:docMk/>
          <pc:sldMk cId="3234989047" sldId="336"/>
        </pc:sldMkLst>
        <pc:spChg chg="mod">
          <ac:chgData name="junpeng he" userId="51e7bc25f46b8d94" providerId="LiveId" clId="{BE38C4EC-3472-4026-8A67-18C6E26165E1}" dt="2024-02-03T07:24:30.289" v="77" actId="13926"/>
          <ac:spMkLst>
            <pc:docMk/>
            <pc:sldMk cId="3234989047" sldId="336"/>
            <ac:spMk id="57" creationId="{00000000-0000-0000-0000-000000000000}"/>
          </ac:spMkLst>
        </pc:spChg>
      </pc:sldChg>
      <pc:sldChg chg="addSp delSp modSp mod">
        <pc:chgData name="junpeng he" userId="51e7bc25f46b8d94" providerId="LiveId" clId="{BE38C4EC-3472-4026-8A67-18C6E26165E1}" dt="2024-02-03T07:26:38.691" v="88" actId="9405"/>
        <pc:sldMkLst>
          <pc:docMk/>
          <pc:sldMk cId="2273050475" sldId="337"/>
        </pc:sldMkLst>
        <pc:grpChg chg="add del mod">
          <ac:chgData name="junpeng he" userId="51e7bc25f46b8d94" providerId="LiveId" clId="{BE38C4EC-3472-4026-8A67-18C6E26165E1}" dt="2024-02-03T07:26:28.973" v="86"/>
          <ac:grpSpMkLst>
            <pc:docMk/>
            <pc:sldMk cId="2273050475" sldId="337"/>
            <ac:grpSpMk id="6" creationId="{1A749041-1B2C-70B8-2BEA-4F2E6CF46B26}"/>
          </ac:grpSpMkLst>
        </pc:grpChg>
        <pc:grpChg chg="mod">
          <ac:chgData name="junpeng he" userId="51e7bc25f46b8d94" providerId="LiveId" clId="{BE38C4EC-3472-4026-8A67-18C6E26165E1}" dt="2024-02-03T07:26:28.349" v="84"/>
          <ac:grpSpMkLst>
            <pc:docMk/>
            <pc:sldMk cId="2273050475" sldId="337"/>
            <ac:grpSpMk id="8" creationId="{D930DA24-0C2D-A60C-780F-EB162A7022B3}"/>
          </ac:grpSpMkLst>
        </pc:grpChg>
        <pc:inkChg chg="add mod">
          <ac:chgData name="junpeng he" userId="51e7bc25f46b8d94" providerId="LiveId" clId="{BE38C4EC-3472-4026-8A67-18C6E26165E1}" dt="2024-02-03T07:26:28.973" v="86"/>
          <ac:inkMkLst>
            <pc:docMk/>
            <pc:sldMk cId="2273050475" sldId="337"/>
            <ac:inkMk id="4" creationId="{E797FFF7-AF86-D544-7B3C-303529D4FCEE}"/>
          </ac:inkMkLst>
        </pc:inkChg>
        <pc:inkChg chg="add del mod">
          <ac:chgData name="junpeng he" userId="51e7bc25f46b8d94" providerId="LiveId" clId="{BE38C4EC-3472-4026-8A67-18C6E26165E1}" dt="2024-02-03T07:26:28.973" v="86"/>
          <ac:inkMkLst>
            <pc:docMk/>
            <pc:sldMk cId="2273050475" sldId="337"/>
            <ac:inkMk id="5" creationId="{0E0424D9-E2CB-A205-623C-2817BBB4FD11}"/>
          </ac:inkMkLst>
        </pc:inkChg>
        <pc:inkChg chg="add del mod">
          <ac:chgData name="junpeng he" userId="51e7bc25f46b8d94" providerId="LiveId" clId="{BE38C4EC-3472-4026-8A67-18C6E26165E1}" dt="2024-02-03T07:26:28.349" v="84"/>
          <ac:inkMkLst>
            <pc:docMk/>
            <pc:sldMk cId="2273050475" sldId="337"/>
            <ac:inkMk id="7" creationId="{7A002005-D041-8D82-A9FC-4D86940B4558}"/>
          </ac:inkMkLst>
        </pc:inkChg>
        <pc:inkChg chg="add del">
          <ac:chgData name="junpeng he" userId="51e7bc25f46b8d94" providerId="LiveId" clId="{BE38C4EC-3472-4026-8A67-18C6E26165E1}" dt="2024-02-03T07:26:38.691" v="88" actId="9405"/>
          <ac:inkMkLst>
            <pc:docMk/>
            <pc:sldMk cId="2273050475" sldId="337"/>
            <ac:inkMk id="9" creationId="{DDA83440-CFEF-D8A6-3527-A6D5CDF0D402}"/>
          </ac:inkMkLst>
        </pc:inkChg>
      </pc:sldChg>
      <pc:sldChg chg="addSp delSp modSp mod">
        <pc:chgData name="junpeng he" userId="51e7bc25f46b8d94" providerId="LiveId" clId="{BE38C4EC-3472-4026-8A67-18C6E26165E1}" dt="2024-02-03T07:43:36.350" v="133" actId="9405"/>
        <pc:sldMkLst>
          <pc:docMk/>
          <pc:sldMk cId="3972903861" sldId="338"/>
        </pc:sldMkLst>
        <pc:grpChg chg="mod">
          <ac:chgData name="junpeng he" userId="51e7bc25f46b8d94" providerId="LiveId" clId="{BE38C4EC-3472-4026-8A67-18C6E26165E1}" dt="2024-02-03T07:43:35.590" v="130"/>
          <ac:grpSpMkLst>
            <pc:docMk/>
            <pc:sldMk cId="3972903861" sldId="338"/>
            <ac:grpSpMk id="30" creationId="{4136B39E-5902-9BAC-FCDD-600DFD8E4304}"/>
          </ac:grpSpMkLst>
        </pc:grpChg>
        <pc:inkChg chg="add del">
          <ac:chgData name="junpeng he" userId="51e7bc25f46b8d94" providerId="LiveId" clId="{BE38C4EC-3472-4026-8A67-18C6E26165E1}" dt="2024-02-03T07:35:51.001" v="119" actId="9405"/>
          <ac:inkMkLst>
            <pc:docMk/>
            <pc:sldMk cId="3972903861" sldId="338"/>
            <ac:inkMk id="9" creationId="{527D18FC-7B80-67BB-8E58-3BA06EB0E33E}"/>
          </ac:inkMkLst>
        </pc:inkChg>
        <pc:inkChg chg="add del">
          <ac:chgData name="junpeng he" userId="51e7bc25f46b8d94" providerId="LiveId" clId="{BE38C4EC-3472-4026-8A67-18C6E26165E1}" dt="2024-02-03T07:35:50.221" v="118" actId="9405"/>
          <ac:inkMkLst>
            <pc:docMk/>
            <pc:sldMk cId="3972903861" sldId="338"/>
            <ac:inkMk id="11" creationId="{C6FBDD45-20EE-673E-A38C-5C30AFF4A528}"/>
          </ac:inkMkLst>
        </pc:inkChg>
        <pc:inkChg chg="add">
          <ac:chgData name="junpeng he" userId="51e7bc25f46b8d94" providerId="LiveId" clId="{BE38C4EC-3472-4026-8A67-18C6E26165E1}" dt="2024-02-03T07:39:36.947" v="120" actId="9405"/>
          <ac:inkMkLst>
            <pc:docMk/>
            <pc:sldMk cId="3972903861" sldId="338"/>
            <ac:inkMk id="12" creationId="{A6F506EB-7EDC-FE48-C79D-FFA704359897}"/>
          </ac:inkMkLst>
        </pc:inkChg>
        <pc:inkChg chg="add">
          <ac:chgData name="junpeng he" userId="51e7bc25f46b8d94" providerId="LiveId" clId="{BE38C4EC-3472-4026-8A67-18C6E26165E1}" dt="2024-02-03T07:39:39.212" v="121" actId="9405"/>
          <ac:inkMkLst>
            <pc:docMk/>
            <pc:sldMk cId="3972903861" sldId="338"/>
            <ac:inkMk id="13" creationId="{7A992D04-6093-C7D0-1F1D-CC875ABA7969}"/>
          </ac:inkMkLst>
        </pc:inkChg>
        <pc:inkChg chg="add del">
          <ac:chgData name="junpeng he" userId="51e7bc25f46b8d94" providerId="LiveId" clId="{BE38C4EC-3472-4026-8A67-18C6E26165E1}" dt="2024-02-03T07:43:29.091" v="123" actId="9405"/>
          <ac:inkMkLst>
            <pc:docMk/>
            <pc:sldMk cId="3972903861" sldId="338"/>
            <ac:inkMk id="15" creationId="{DB62730D-D299-A833-5751-9DA9CB3C6F77}"/>
          </ac:inkMkLst>
        </pc:inkChg>
        <pc:inkChg chg="add del">
          <ac:chgData name="junpeng he" userId="51e7bc25f46b8d94" providerId="LiveId" clId="{BE38C4EC-3472-4026-8A67-18C6E26165E1}" dt="2024-02-03T07:43:36.350" v="133" actId="9405"/>
          <ac:inkMkLst>
            <pc:docMk/>
            <pc:sldMk cId="3972903861" sldId="338"/>
            <ac:inkMk id="25" creationId="{5031B2D9-2C63-1343-00A3-BEF4D5349EEE}"/>
          </ac:inkMkLst>
        </pc:inkChg>
        <pc:inkChg chg="add del mod">
          <ac:chgData name="junpeng he" userId="51e7bc25f46b8d94" providerId="LiveId" clId="{BE38C4EC-3472-4026-8A67-18C6E26165E1}" dt="2024-02-03T07:43:36.034" v="132" actId="9405"/>
          <ac:inkMkLst>
            <pc:docMk/>
            <pc:sldMk cId="3972903861" sldId="338"/>
            <ac:inkMk id="26" creationId="{CB2DDA96-327D-1A1E-CFDF-B3232E64DB62}"/>
          </ac:inkMkLst>
        </pc:inkChg>
        <pc:inkChg chg="add del mod">
          <ac:chgData name="junpeng he" userId="51e7bc25f46b8d94" providerId="LiveId" clId="{BE38C4EC-3472-4026-8A67-18C6E26165E1}" dt="2024-02-03T07:43:35.822" v="131" actId="9405"/>
          <ac:inkMkLst>
            <pc:docMk/>
            <pc:sldMk cId="3972903861" sldId="338"/>
            <ac:inkMk id="27" creationId="{B8A38344-3B27-56E9-BD28-9ABEC1175B0F}"/>
          </ac:inkMkLst>
        </pc:inkChg>
        <pc:inkChg chg="add del mod">
          <ac:chgData name="junpeng he" userId="51e7bc25f46b8d94" providerId="LiveId" clId="{BE38C4EC-3472-4026-8A67-18C6E26165E1}" dt="2024-02-03T07:43:35.590" v="130"/>
          <ac:inkMkLst>
            <pc:docMk/>
            <pc:sldMk cId="3972903861" sldId="338"/>
            <ac:inkMk id="28" creationId="{677F9575-0880-16D1-5903-1DF812AC7E39}"/>
          </ac:inkMkLst>
        </pc:inkChg>
      </pc:sldChg>
      <pc:sldChg chg="addSp delSp modSp mod">
        <pc:chgData name="junpeng he" userId="51e7bc25f46b8d94" providerId="LiveId" clId="{BE38C4EC-3472-4026-8A67-18C6E26165E1}" dt="2024-02-03T07:27:26.218" v="103"/>
        <pc:sldMkLst>
          <pc:docMk/>
          <pc:sldMk cId="2470497412" sldId="339"/>
        </pc:sldMkLst>
        <pc:grpChg chg="del mod">
          <ac:chgData name="junpeng he" userId="51e7bc25f46b8d94" providerId="LiveId" clId="{BE38C4EC-3472-4026-8A67-18C6E26165E1}" dt="2024-02-03T07:27:26.218" v="103"/>
          <ac:grpSpMkLst>
            <pc:docMk/>
            <pc:sldMk cId="2470497412" sldId="339"/>
            <ac:grpSpMk id="20" creationId="{526BD9F4-DDB3-1BE3-973A-6967C44C0487}"/>
          </ac:grpSpMkLst>
        </pc:grpChg>
        <pc:grpChg chg="mod">
          <ac:chgData name="junpeng he" userId="51e7bc25f46b8d94" providerId="LiveId" clId="{BE38C4EC-3472-4026-8A67-18C6E26165E1}" dt="2024-02-03T07:27:26.218" v="103"/>
          <ac:grpSpMkLst>
            <pc:docMk/>
            <pc:sldMk cId="2470497412" sldId="339"/>
            <ac:grpSpMk id="25" creationId="{5A24055F-1167-5AC6-0C45-16B258F37A60}"/>
          </ac:grpSpMkLst>
        </pc:grpChg>
        <pc:inkChg chg="add del">
          <ac:chgData name="junpeng he" userId="51e7bc25f46b8d94" providerId="LiveId" clId="{BE38C4EC-3472-4026-8A67-18C6E26165E1}" dt="2024-02-03T07:26:55.355" v="90" actId="9405"/>
          <ac:inkMkLst>
            <pc:docMk/>
            <pc:sldMk cId="2470497412" sldId="339"/>
            <ac:inkMk id="11" creationId="{444ADA57-3AE3-B196-1DDC-751D80F2410F}"/>
          </ac:inkMkLst>
        </pc:inkChg>
        <pc:inkChg chg="add del">
          <ac:chgData name="junpeng he" userId="51e7bc25f46b8d94" providerId="LiveId" clId="{BE38C4EC-3472-4026-8A67-18C6E26165E1}" dt="2024-02-03T07:26:56.800" v="92" actId="9405"/>
          <ac:inkMkLst>
            <pc:docMk/>
            <pc:sldMk cId="2470497412" sldId="339"/>
            <ac:inkMk id="12" creationId="{DABAE7B4-BC1B-469E-73E5-48ABA3F2D455}"/>
          </ac:inkMkLst>
        </pc:inkChg>
        <pc:inkChg chg="add mod">
          <ac:chgData name="junpeng he" userId="51e7bc25f46b8d94" providerId="LiveId" clId="{BE38C4EC-3472-4026-8A67-18C6E26165E1}" dt="2024-02-03T07:27:26.218" v="103"/>
          <ac:inkMkLst>
            <pc:docMk/>
            <pc:sldMk cId="2470497412" sldId="339"/>
            <ac:inkMk id="13" creationId="{31CB3F70-2CB1-D257-A4A6-ECC41D73C6D4}"/>
          </ac:inkMkLst>
        </pc:inkChg>
        <pc:inkChg chg="add mod">
          <ac:chgData name="junpeng he" userId="51e7bc25f46b8d94" providerId="LiveId" clId="{BE38C4EC-3472-4026-8A67-18C6E26165E1}" dt="2024-02-03T07:27:26.218" v="103"/>
          <ac:inkMkLst>
            <pc:docMk/>
            <pc:sldMk cId="2470497412" sldId="339"/>
            <ac:inkMk id="14" creationId="{CE16326E-0FD8-447D-0AA3-ED01B7B92593}"/>
          </ac:inkMkLst>
        </pc:inkChg>
        <pc:inkChg chg="add mod">
          <ac:chgData name="junpeng he" userId="51e7bc25f46b8d94" providerId="LiveId" clId="{BE38C4EC-3472-4026-8A67-18C6E26165E1}" dt="2024-02-03T07:27:26.218" v="103"/>
          <ac:inkMkLst>
            <pc:docMk/>
            <pc:sldMk cId="2470497412" sldId="339"/>
            <ac:inkMk id="15" creationId="{07FABBAB-4DD1-478B-D031-7A9A3F5EAE6B}"/>
          </ac:inkMkLst>
        </pc:inkChg>
        <pc:inkChg chg="add mod">
          <ac:chgData name="junpeng he" userId="51e7bc25f46b8d94" providerId="LiveId" clId="{BE38C4EC-3472-4026-8A67-18C6E26165E1}" dt="2024-02-03T07:27:26.218" v="103"/>
          <ac:inkMkLst>
            <pc:docMk/>
            <pc:sldMk cId="2470497412" sldId="339"/>
            <ac:inkMk id="16" creationId="{FDE4FD14-8C06-513D-C7E9-4BF9A620DF61}"/>
          </ac:inkMkLst>
        </pc:inkChg>
        <pc:inkChg chg="add mod">
          <ac:chgData name="junpeng he" userId="51e7bc25f46b8d94" providerId="LiveId" clId="{BE38C4EC-3472-4026-8A67-18C6E26165E1}" dt="2024-02-03T07:27:26.218" v="103"/>
          <ac:inkMkLst>
            <pc:docMk/>
            <pc:sldMk cId="2470497412" sldId="339"/>
            <ac:inkMk id="17" creationId="{F6FF84CC-87B3-92D8-195C-0038173EFF6C}"/>
          </ac:inkMkLst>
        </pc:inkChg>
        <pc:inkChg chg="add mod">
          <ac:chgData name="junpeng he" userId="51e7bc25f46b8d94" providerId="LiveId" clId="{BE38C4EC-3472-4026-8A67-18C6E26165E1}" dt="2024-02-03T07:27:26.218" v="103"/>
          <ac:inkMkLst>
            <pc:docMk/>
            <pc:sldMk cId="2470497412" sldId="339"/>
            <ac:inkMk id="18" creationId="{F5E74104-60BA-D7EA-F544-D5F3EFEEABEF}"/>
          </ac:inkMkLst>
        </pc:inkChg>
        <pc:inkChg chg="add mod">
          <ac:chgData name="junpeng he" userId="51e7bc25f46b8d94" providerId="LiveId" clId="{BE38C4EC-3472-4026-8A67-18C6E26165E1}" dt="2024-02-03T07:27:26.218" v="103"/>
          <ac:inkMkLst>
            <pc:docMk/>
            <pc:sldMk cId="2470497412" sldId="339"/>
            <ac:inkMk id="19" creationId="{55985238-A565-E4D9-29AA-CB11303266C3}"/>
          </ac:inkMkLst>
        </pc:inkChg>
        <pc:inkChg chg="add mod">
          <ac:chgData name="junpeng he" userId="51e7bc25f46b8d94" providerId="LiveId" clId="{BE38C4EC-3472-4026-8A67-18C6E26165E1}" dt="2024-02-03T07:27:26.218" v="103"/>
          <ac:inkMkLst>
            <pc:docMk/>
            <pc:sldMk cId="2470497412" sldId="339"/>
            <ac:inkMk id="22" creationId="{B9C99F23-E65D-0C54-BC5E-DDFA4C0A10D8}"/>
          </ac:inkMkLst>
        </pc:inkChg>
        <pc:inkChg chg="add mod">
          <ac:chgData name="junpeng he" userId="51e7bc25f46b8d94" providerId="LiveId" clId="{BE38C4EC-3472-4026-8A67-18C6E26165E1}" dt="2024-02-03T07:27:26.218" v="103"/>
          <ac:inkMkLst>
            <pc:docMk/>
            <pc:sldMk cId="2470497412" sldId="339"/>
            <ac:inkMk id="23" creationId="{6654826E-A46B-D60E-3F64-B52F2C0BF617}"/>
          </ac:inkMkLst>
        </pc:inkChg>
      </pc:sldChg>
      <pc:sldChg chg="addSp delSp modSp mod">
        <pc:chgData name="junpeng he" userId="51e7bc25f46b8d94" providerId="LiveId" clId="{BE38C4EC-3472-4026-8A67-18C6E26165E1}" dt="2024-02-03T07:50:06.494" v="153" actId="9405"/>
        <pc:sldMkLst>
          <pc:docMk/>
          <pc:sldMk cId="4197669655" sldId="340"/>
        </pc:sldMkLst>
        <pc:grpChg chg="mod">
          <ac:chgData name="junpeng he" userId="51e7bc25f46b8d94" providerId="LiveId" clId="{BE38C4EC-3472-4026-8A67-18C6E26165E1}" dt="2024-02-03T07:49:44.903" v="140"/>
          <ac:grpSpMkLst>
            <pc:docMk/>
            <pc:sldMk cId="4197669655" sldId="340"/>
            <ac:grpSpMk id="17" creationId="{858BD285-5FBD-82AE-88F3-F7477816FC13}"/>
          </ac:grpSpMkLst>
        </pc:grpChg>
        <pc:grpChg chg="mod">
          <ac:chgData name="junpeng he" userId="51e7bc25f46b8d94" providerId="LiveId" clId="{BE38C4EC-3472-4026-8A67-18C6E26165E1}" dt="2024-02-03T07:49:50.049" v="147"/>
          <ac:grpSpMkLst>
            <pc:docMk/>
            <pc:sldMk cId="4197669655" sldId="340"/>
            <ac:grpSpMk id="37" creationId="{EC7D612C-A1AF-1D60-A913-657B353A4DA4}"/>
          </ac:grpSpMkLst>
        </pc:grpChg>
        <pc:grpChg chg="mod">
          <ac:chgData name="junpeng he" userId="51e7bc25f46b8d94" providerId="LiveId" clId="{BE38C4EC-3472-4026-8A67-18C6E26165E1}" dt="2024-02-03T07:49:56.382" v="150"/>
          <ac:grpSpMkLst>
            <pc:docMk/>
            <pc:sldMk cId="4197669655" sldId="340"/>
            <ac:grpSpMk id="55" creationId="{2BA932C7-4D0C-BEF6-8FF9-0B75032F3114}"/>
          </ac:grpSpMkLst>
        </pc:grpChg>
        <pc:inkChg chg="add">
          <ac:chgData name="junpeng he" userId="51e7bc25f46b8d94" providerId="LiveId" clId="{BE38C4EC-3472-4026-8A67-18C6E26165E1}" dt="2024-02-03T07:49:39.338" v="134" actId="9405"/>
          <ac:inkMkLst>
            <pc:docMk/>
            <pc:sldMk cId="4197669655" sldId="340"/>
            <ac:inkMk id="5" creationId="{115F7B64-BD18-EE18-771D-89DCD0E64CF8}"/>
          </ac:inkMkLst>
        </pc:inkChg>
        <pc:inkChg chg="add mod">
          <ac:chgData name="junpeng he" userId="51e7bc25f46b8d94" providerId="LiveId" clId="{BE38C4EC-3472-4026-8A67-18C6E26165E1}" dt="2024-02-03T07:49:44.903" v="140"/>
          <ac:inkMkLst>
            <pc:docMk/>
            <pc:sldMk cId="4197669655" sldId="340"/>
            <ac:inkMk id="6" creationId="{541185D9-DA88-346E-0B0D-EDE015A59BD9}"/>
          </ac:inkMkLst>
        </pc:inkChg>
        <pc:inkChg chg="add mod">
          <ac:chgData name="junpeng he" userId="51e7bc25f46b8d94" providerId="LiveId" clId="{BE38C4EC-3472-4026-8A67-18C6E26165E1}" dt="2024-02-03T07:49:44.903" v="140"/>
          <ac:inkMkLst>
            <pc:docMk/>
            <pc:sldMk cId="4197669655" sldId="340"/>
            <ac:inkMk id="11" creationId="{AA16CE51-6A2C-129D-F2C2-D813500CACF7}"/>
          </ac:inkMkLst>
        </pc:inkChg>
        <pc:inkChg chg="add mod">
          <ac:chgData name="junpeng he" userId="51e7bc25f46b8d94" providerId="LiveId" clId="{BE38C4EC-3472-4026-8A67-18C6E26165E1}" dt="2024-02-03T07:49:44.903" v="140"/>
          <ac:inkMkLst>
            <pc:docMk/>
            <pc:sldMk cId="4197669655" sldId="340"/>
            <ac:inkMk id="12" creationId="{4614EC6D-118C-02A5-1969-6C13E84AE329}"/>
          </ac:inkMkLst>
        </pc:inkChg>
        <pc:inkChg chg="add mod">
          <ac:chgData name="junpeng he" userId="51e7bc25f46b8d94" providerId="LiveId" clId="{BE38C4EC-3472-4026-8A67-18C6E26165E1}" dt="2024-02-03T07:49:44.903" v="140"/>
          <ac:inkMkLst>
            <pc:docMk/>
            <pc:sldMk cId="4197669655" sldId="340"/>
            <ac:inkMk id="13" creationId="{6A6CF92D-9AB8-AEA4-90A0-6878D2364595}"/>
          </ac:inkMkLst>
        </pc:inkChg>
        <pc:inkChg chg="add mod">
          <ac:chgData name="junpeng he" userId="51e7bc25f46b8d94" providerId="LiveId" clId="{BE38C4EC-3472-4026-8A67-18C6E26165E1}" dt="2024-02-03T07:49:44.903" v="140"/>
          <ac:inkMkLst>
            <pc:docMk/>
            <pc:sldMk cId="4197669655" sldId="340"/>
            <ac:inkMk id="15" creationId="{83DD5796-EEB6-A2A1-7958-9E579A565DF1}"/>
          </ac:inkMkLst>
        </pc:inkChg>
        <pc:inkChg chg="add mod">
          <ac:chgData name="junpeng he" userId="51e7bc25f46b8d94" providerId="LiveId" clId="{BE38C4EC-3472-4026-8A67-18C6E26165E1}" dt="2024-02-03T07:49:50.049" v="147"/>
          <ac:inkMkLst>
            <pc:docMk/>
            <pc:sldMk cId="4197669655" sldId="340"/>
            <ac:inkMk id="20" creationId="{3E1293A0-0568-36E2-F708-D51BC55B6074}"/>
          </ac:inkMkLst>
        </pc:inkChg>
        <pc:inkChg chg="add mod">
          <ac:chgData name="junpeng he" userId="51e7bc25f46b8d94" providerId="LiveId" clId="{BE38C4EC-3472-4026-8A67-18C6E26165E1}" dt="2024-02-03T07:49:50.049" v="147"/>
          <ac:inkMkLst>
            <pc:docMk/>
            <pc:sldMk cId="4197669655" sldId="340"/>
            <ac:inkMk id="22" creationId="{A8B43D51-F50A-3596-6431-E906A9C15228}"/>
          </ac:inkMkLst>
        </pc:inkChg>
        <pc:inkChg chg="add mod">
          <ac:chgData name="junpeng he" userId="51e7bc25f46b8d94" providerId="LiveId" clId="{BE38C4EC-3472-4026-8A67-18C6E26165E1}" dt="2024-02-03T07:49:50.049" v="147"/>
          <ac:inkMkLst>
            <pc:docMk/>
            <pc:sldMk cId="4197669655" sldId="340"/>
            <ac:inkMk id="23" creationId="{D00683F9-CACC-692C-C1ED-9B3139223863}"/>
          </ac:inkMkLst>
        </pc:inkChg>
        <pc:inkChg chg="add mod">
          <ac:chgData name="junpeng he" userId="51e7bc25f46b8d94" providerId="LiveId" clId="{BE38C4EC-3472-4026-8A67-18C6E26165E1}" dt="2024-02-03T07:49:50.049" v="147"/>
          <ac:inkMkLst>
            <pc:docMk/>
            <pc:sldMk cId="4197669655" sldId="340"/>
            <ac:inkMk id="24" creationId="{96071123-D2E2-6D47-16A9-3D515FC0D066}"/>
          </ac:inkMkLst>
        </pc:inkChg>
        <pc:inkChg chg="add mod">
          <ac:chgData name="junpeng he" userId="51e7bc25f46b8d94" providerId="LiveId" clId="{BE38C4EC-3472-4026-8A67-18C6E26165E1}" dt="2024-02-03T07:49:50.049" v="147"/>
          <ac:inkMkLst>
            <pc:docMk/>
            <pc:sldMk cId="4197669655" sldId="340"/>
            <ac:inkMk id="25" creationId="{58AD6989-C5E4-A331-9583-B3D52E4E25EC}"/>
          </ac:inkMkLst>
        </pc:inkChg>
        <pc:inkChg chg="add mod">
          <ac:chgData name="junpeng he" userId="51e7bc25f46b8d94" providerId="LiveId" clId="{BE38C4EC-3472-4026-8A67-18C6E26165E1}" dt="2024-02-03T07:49:50.049" v="147"/>
          <ac:inkMkLst>
            <pc:docMk/>
            <pc:sldMk cId="4197669655" sldId="340"/>
            <ac:inkMk id="28" creationId="{4188AA3D-30F5-876C-CFB2-2890FD66C6E0}"/>
          </ac:inkMkLst>
        </pc:inkChg>
        <pc:inkChg chg="add mod">
          <ac:chgData name="junpeng he" userId="51e7bc25f46b8d94" providerId="LiveId" clId="{BE38C4EC-3472-4026-8A67-18C6E26165E1}" dt="2024-02-03T07:49:56.382" v="150"/>
          <ac:inkMkLst>
            <pc:docMk/>
            <pc:sldMk cId="4197669655" sldId="340"/>
            <ac:inkMk id="38" creationId="{7B520229-D870-5E9F-7D4A-87C79C093355}"/>
          </ac:inkMkLst>
        </pc:inkChg>
        <pc:inkChg chg="add mod">
          <ac:chgData name="junpeng he" userId="51e7bc25f46b8d94" providerId="LiveId" clId="{BE38C4EC-3472-4026-8A67-18C6E26165E1}" dt="2024-02-03T07:49:56.382" v="150"/>
          <ac:inkMkLst>
            <pc:docMk/>
            <pc:sldMk cId="4197669655" sldId="340"/>
            <ac:inkMk id="39" creationId="{3B25591B-CE00-9876-44A4-6A665A5C42D1}"/>
          </ac:inkMkLst>
        </pc:inkChg>
        <pc:inkChg chg="add del">
          <ac:chgData name="junpeng he" userId="51e7bc25f46b8d94" providerId="LiveId" clId="{BE38C4EC-3472-4026-8A67-18C6E26165E1}" dt="2024-02-03T07:50:03.066" v="152" actId="9405"/>
          <ac:inkMkLst>
            <pc:docMk/>
            <pc:sldMk cId="4197669655" sldId="340"/>
            <ac:inkMk id="56" creationId="{806A4FD1-843C-4275-82DD-ADF2783AB7A1}"/>
          </ac:inkMkLst>
        </pc:inkChg>
        <pc:inkChg chg="add">
          <ac:chgData name="junpeng he" userId="51e7bc25f46b8d94" providerId="LiveId" clId="{BE38C4EC-3472-4026-8A67-18C6E26165E1}" dt="2024-02-03T07:50:06.494" v="153" actId="9405"/>
          <ac:inkMkLst>
            <pc:docMk/>
            <pc:sldMk cId="4197669655" sldId="340"/>
            <ac:inkMk id="57" creationId="{3DFB15C5-798E-FA3D-EDB4-49EAC5F14968}"/>
          </ac:inkMkLst>
        </pc:inkChg>
      </pc:sldChg>
      <pc:sldChg chg="addSp modSp mod">
        <pc:chgData name="junpeng he" userId="51e7bc25f46b8d94" providerId="LiveId" clId="{BE38C4EC-3472-4026-8A67-18C6E26165E1}" dt="2024-02-03T07:52:12.314" v="156"/>
        <pc:sldMkLst>
          <pc:docMk/>
          <pc:sldMk cId="2709078470" sldId="341"/>
        </pc:sldMkLst>
        <pc:grpChg chg="mod">
          <ac:chgData name="junpeng he" userId="51e7bc25f46b8d94" providerId="LiveId" clId="{BE38C4EC-3472-4026-8A67-18C6E26165E1}" dt="2024-02-03T07:52:12.314" v="156"/>
          <ac:grpSpMkLst>
            <pc:docMk/>
            <pc:sldMk cId="2709078470" sldId="341"/>
            <ac:grpSpMk id="6" creationId="{F7291712-C4EE-DB7C-E93D-3A8F28C0A780}"/>
          </ac:grpSpMkLst>
        </pc:grpChg>
        <pc:inkChg chg="add mod">
          <ac:chgData name="junpeng he" userId="51e7bc25f46b8d94" providerId="LiveId" clId="{BE38C4EC-3472-4026-8A67-18C6E26165E1}" dt="2024-02-03T07:52:12.314" v="156"/>
          <ac:inkMkLst>
            <pc:docMk/>
            <pc:sldMk cId="2709078470" sldId="341"/>
            <ac:inkMk id="4" creationId="{560C0D4F-D936-D332-4805-6F4FA89EF9B1}"/>
          </ac:inkMkLst>
        </pc:inkChg>
        <pc:inkChg chg="add mod">
          <ac:chgData name="junpeng he" userId="51e7bc25f46b8d94" providerId="LiveId" clId="{BE38C4EC-3472-4026-8A67-18C6E26165E1}" dt="2024-02-03T07:52:12.314" v="156"/>
          <ac:inkMkLst>
            <pc:docMk/>
            <pc:sldMk cId="2709078470" sldId="341"/>
            <ac:inkMk id="5" creationId="{0F48F799-D717-CBC9-D33D-D374042647AA}"/>
          </ac:inkMkLst>
        </pc:inkChg>
      </pc:sldChg>
      <pc:sldChg chg="addSp delSp modSp mod">
        <pc:chgData name="junpeng he" userId="51e7bc25f46b8d94" providerId="LiveId" clId="{BE38C4EC-3472-4026-8A67-18C6E26165E1}" dt="2024-02-03T08:01:19.905" v="176" actId="9405"/>
        <pc:sldMkLst>
          <pc:docMk/>
          <pc:sldMk cId="26181015" sldId="344"/>
        </pc:sldMkLst>
        <pc:grpChg chg="mod">
          <ac:chgData name="junpeng he" userId="51e7bc25f46b8d94" providerId="LiveId" clId="{BE38C4EC-3472-4026-8A67-18C6E26165E1}" dt="2024-02-03T08:00:51.299" v="161"/>
          <ac:grpSpMkLst>
            <pc:docMk/>
            <pc:sldMk cId="26181015" sldId="344"/>
            <ac:grpSpMk id="5" creationId="{8ACDA1E0-771E-C8D3-4744-06EF87F2150B}"/>
          </ac:grpSpMkLst>
        </pc:grpChg>
        <pc:grpChg chg="mod">
          <ac:chgData name="junpeng he" userId="51e7bc25f46b8d94" providerId="LiveId" clId="{BE38C4EC-3472-4026-8A67-18C6E26165E1}" dt="2024-02-03T08:00:57.478" v="168"/>
          <ac:grpSpMkLst>
            <pc:docMk/>
            <pc:sldMk cId="26181015" sldId="344"/>
            <ac:grpSpMk id="9" creationId="{655B2BF1-8B3E-9D3D-8534-36CD8F6F13E2}"/>
          </ac:grpSpMkLst>
        </pc:grpChg>
        <pc:inkChg chg="add del mod">
          <ac:chgData name="junpeng he" userId="51e7bc25f46b8d94" providerId="LiveId" clId="{BE38C4EC-3472-4026-8A67-18C6E26165E1}" dt="2024-02-03T08:00:51.882" v="162" actId="9405"/>
          <ac:inkMkLst>
            <pc:docMk/>
            <pc:sldMk cId="26181015" sldId="344"/>
            <ac:inkMk id="3" creationId="{6D8EC0CF-77B1-6B1B-3B65-043074871181}"/>
          </ac:inkMkLst>
        </pc:inkChg>
        <pc:inkChg chg="add del mod">
          <ac:chgData name="junpeng he" userId="51e7bc25f46b8d94" providerId="LiveId" clId="{BE38C4EC-3472-4026-8A67-18C6E26165E1}" dt="2024-02-03T08:00:51.299" v="161"/>
          <ac:inkMkLst>
            <pc:docMk/>
            <pc:sldMk cId="26181015" sldId="344"/>
            <ac:inkMk id="4" creationId="{7728075B-86AC-6442-B92C-4EA7C5146233}"/>
          </ac:inkMkLst>
        </pc:inkChg>
        <pc:inkChg chg="add del mod">
          <ac:chgData name="junpeng he" userId="51e7bc25f46b8d94" providerId="LiveId" clId="{BE38C4EC-3472-4026-8A67-18C6E26165E1}" dt="2024-02-03T08:00:58.531" v="170" actId="9405"/>
          <ac:inkMkLst>
            <pc:docMk/>
            <pc:sldMk cId="26181015" sldId="344"/>
            <ac:inkMk id="6" creationId="{9EA62A9E-3D2F-7024-E3A1-A6EF36B0CB54}"/>
          </ac:inkMkLst>
        </pc:inkChg>
        <pc:inkChg chg="add del mod">
          <ac:chgData name="junpeng he" userId="51e7bc25f46b8d94" providerId="LiveId" clId="{BE38C4EC-3472-4026-8A67-18C6E26165E1}" dt="2024-02-03T08:00:57.903" v="169" actId="9405"/>
          <ac:inkMkLst>
            <pc:docMk/>
            <pc:sldMk cId="26181015" sldId="344"/>
            <ac:inkMk id="7" creationId="{E2185265-7AE1-530B-F194-ECB8B450BD29}"/>
          </ac:inkMkLst>
        </pc:inkChg>
        <pc:inkChg chg="add del mod">
          <ac:chgData name="junpeng he" userId="51e7bc25f46b8d94" providerId="LiveId" clId="{BE38C4EC-3472-4026-8A67-18C6E26165E1}" dt="2024-02-03T08:00:57.478" v="168"/>
          <ac:inkMkLst>
            <pc:docMk/>
            <pc:sldMk cId="26181015" sldId="344"/>
            <ac:inkMk id="8" creationId="{35CF6A66-212A-4C04-E6C2-471CD17FCF5A}"/>
          </ac:inkMkLst>
        </pc:inkChg>
        <pc:inkChg chg="add del">
          <ac:chgData name="junpeng he" userId="51e7bc25f46b8d94" providerId="LiveId" clId="{BE38C4EC-3472-4026-8A67-18C6E26165E1}" dt="2024-02-03T08:01:02.985" v="172" actId="9405"/>
          <ac:inkMkLst>
            <pc:docMk/>
            <pc:sldMk cId="26181015" sldId="344"/>
            <ac:inkMk id="10" creationId="{9B8AA442-F7B4-7B96-21F3-D7170982D76F}"/>
          </ac:inkMkLst>
        </pc:inkChg>
        <pc:inkChg chg="add del">
          <ac:chgData name="junpeng he" userId="51e7bc25f46b8d94" providerId="LiveId" clId="{BE38C4EC-3472-4026-8A67-18C6E26165E1}" dt="2024-02-03T08:01:08.228" v="174" actId="9405"/>
          <ac:inkMkLst>
            <pc:docMk/>
            <pc:sldMk cId="26181015" sldId="344"/>
            <ac:inkMk id="11" creationId="{8FAE266E-EF07-4D0F-5DF4-D27521824D56}"/>
          </ac:inkMkLst>
        </pc:inkChg>
        <pc:inkChg chg="add del">
          <ac:chgData name="junpeng he" userId="51e7bc25f46b8d94" providerId="LiveId" clId="{BE38C4EC-3472-4026-8A67-18C6E26165E1}" dt="2024-02-03T08:01:19.905" v="176" actId="9405"/>
          <ac:inkMkLst>
            <pc:docMk/>
            <pc:sldMk cId="26181015" sldId="344"/>
            <ac:inkMk id="12" creationId="{034CFD61-2723-D7ED-A0FD-8D71D5551D5D}"/>
          </ac:inkMkLst>
        </pc:inkChg>
      </pc:sldChg>
      <pc:sldChg chg="addSp delSp modSp mod">
        <pc:chgData name="junpeng he" userId="51e7bc25f46b8d94" providerId="LiveId" clId="{BE38C4EC-3472-4026-8A67-18C6E26165E1}" dt="2024-02-03T06:15:44.938" v="74" actId="9405"/>
        <pc:sldMkLst>
          <pc:docMk/>
          <pc:sldMk cId="1672947574" sldId="359"/>
        </pc:sldMkLst>
        <pc:grpChg chg="del mod">
          <ac:chgData name="junpeng he" userId="51e7bc25f46b8d94" providerId="LiveId" clId="{BE38C4EC-3472-4026-8A67-18C6E26165E1}" dt="2024-02-03T06:14:47.977" v="6"/>
          <ac:grpSpMkLst>
            <pc:docMk/>
            <pc:sldMk cId="1672947574" sldId="359"/>
            <ac:grpSpMk id="14" creationId="{9FD4A595-F4E7-C6B5-87F5-BCBD4AF4C6CA}"/>
          </ac:grpSpMkLst>
        </pc:grpChg>
        <pc:grpChg chg="mod">
          <ac:chgData name="junpeng he" userId="51e7bc25f46b8d94" providerId="LiveId" clId="{BE38C4EC-3472-4026-8A67-18C6E26165E1}" dt="2024-02-03T06:14:47.977" v="6"/>
          <ac:grpSpMkLst>
            <pc:docMk/>
            <pc:sldMk cId="1672947574" sldId="359"/>
            <ac:grpSpMk id="16" creationId="{79EE68E7-0667-B242-148F-4B38483D00AA}"/>
          </ac:grpSpMkLst>
        </pc:grpChg>
        <pc:grpChg chg="mod">
          <ac:chgData name="junpeng he" userId="51e7bc25f46b8d94" providerId="LiveId" clId="{BE38C4EC-3472-4026-8A67-18C6E26165E1}" dt="2024-02-03T06:14:55.655" v="12"/>
          <ac:grpSpMkLst>
            <pc:docMk/>
            <pc:sldMk cId="1672947574" sldId="359"/>
            <ac:grpSpMk id="20" creationId="{33BC8661-0A91-AE1B-D256-D484774950D1}"/>
          </ac:grpSpMkLst>
        </pc:grpChg>
        <pc:grpChg chg="del mod">
          <ac:chgData name="junpeng he" userId="51e7bc25f46b8d94" providerId="LiveId" clId="{BE38C4EC-3472-4026-8A67-18C6E26165E1}" dt="2024-02-03T06:15:09.355" v="28"/>
          <ac:grpSpMkLst>
            <pc:docMk/>
            <pc:sldMk cId="1672947574" sldId="359"/>
            <ac:grpSpMk id="30" creationId="{0512E54A-4913-579C-5C29-DA776B2C4F6B}"/>
          </ac:grpSpMkLst>
        </pc:grpChg>
        <pc:grpChg chg="mod">
          <ac:chgData name="junpeng he" userId="51e7bc25f46b8d94" providerId="LiveId" clId="{BE38C4EC-3472-4026-8A67-18C6E26165E1}" dt="2024-02-03T06:15:09.355" v="28"/>
          <ac:grpSpMkLst>
            <pc:docMk/>
            <pc:sldMk cId="1672947574" sldId="359"/>
            <ac:grpSpMk id="37" creationId="{1C8DDD1F-7D6C-D0AC-BEDB-6F35C0652233}"/>
          </ac:grpSpMkLst>
        </pc:grpChg>
        <pc:grpChg chg="add del mod">
          <ac:chgData name="junpeng he" userId="51e7bc25f46b8d94" providerId="LiveId" clId="{BE38C4EC-3472-4026-8A67-18C6E26165E1}" dt="2024-02-03T06:15:44.655" v="73"/>
          <ac:grpSpMkLst>
            <pc:docMk/>
            <pc:sldMk cId="1672947574" sldId="359"/>
            <ac:grpSpMk id="40" creationId="{C97301E6-15F0-CCA5-D9E3-64C33B2E29C4}"/>
          </ac:grpSpMkLst>
        </pc:grpChg>
        <pc:grpChg chg="add del mod">
          <ac:chgData name="junpeng he" userId="51e7bc25f46b8d94" providerId="LiveId" clId="{BE38C4EC-3472-4026-8A67-18C6E26165E1}" dt="2024-02-03T06:15:44.417" v="71"/>
          <ac:grpSpMkLst>
            <pc:docMk/>
            <pc:sldMk cId="1672947574" sldId="359"/>
            <ac:grpSpMk id="42" creationId="{7F8F27AF-8060-C298-7DA0-D4D1266C69D4}"/>
          </ac:grpSpMkLst>
        </pc:grpChg>
        <pc:grpChg chg="add del mod">
          <ac:chgData name="junpeng he" userId="51e7bc25f46b8d94" providerId="LiveId" clId="{BE38C4EC-3472-4026-8A67-18C6E26165E1}" dt="2024-02-03T06:15:44.195" v="69"/>
          <ac:grpSpMkLst>
            <pc:docMk/>
            <pc:sldMk cId="1672947574" sldId="359"/>
            <ac:grpSpMk id="44" creationId="{EEACB6B3-B9DB-1E03-FE74-C420F5223F96}"/>
          </ac:grpSpMkLst>
        </pc:grpChg>
        <pc:grpChg chg="add del mod">
          <ac:chgData name="junpeng he" userId="51e7bc25f46b8d94" providerId="LiveId" clId="{BE38C4EC-3472-4026-8A67-18C6E26165E1}" dt="2024-02-03T06:15:43.963" v="67"/>
          <ac:grpSpMkLst>
            <pc:docMk/>
            <pc:sldMk cId="1672947574" sldId="359"/>
            <ac:grpSpMk id="50" creationId="{946DE27A-5D78-42A5-F024-30368732B834}"/>
          </ac:grpSpMkLst>
        </pc:grpChg>
        <pc:grpChg chg="add del mod">
          <ac:chgData name="junpeng he" userId="51e7bc25f46b8d94" providerId="LiveId" clId="{BE38C4EC-3472-4026-8A67-18C6E26165E1}" dt="2024-02-03T06:15:42.264" v="61"/>
          <ac:grpSpMkLst>
            <pc:docMk/>
            <pc:sldMk cId="1672947574" sldId="359"/>
            <ac:grpSpMk id="60" creationId="{B3A58224-212D-C259-80D4-0382EB036758}"/>
          </ac:grpSpMkLst>
        </pc:grpChg>
        <pc:grpChg chg="add del mod">
          <ac:chgData name="junpeng he" userId="51e7bc25f46b8d94" providerId="LiveId" clId="{BE38C4EC-3472-4026-8A67-18C6E26165E1}" dt="2024-02-03T06:15:41.564" v="57"/>
          <ac:grpSpMkLst>
            <pc:docMk/>
            <pc:sldMk cId="1672947574" sldId="359"/>
            <ac:grpSpMk id="64" creationId="{40EE54EC-B46B-D021-8E7E-2636EA1DE9EC}"/>
          </ac:grpSpMkLst>
        </pc:grpChg>
        <pc:grpChg chg="mod">
          <ac:chgData name="junpeng he" userId="51e7bc25f46b8d94" providerId="LiveId" clId="{BE38C4EC-3472-4026-8A67-18C6E26165E1}" dt="2024-02-03T06:15:40.753" v="53"/>
          <ac:grpSpMkLst>
            <pc:docMk/>
            <pc:sldMk cId="1672947574" sldId="359"/>
            <ac:grpSpMk id="68" creationId="{75ECC8E0-BD56-7044-6E88-D88BD96958ED}"/>
          </ac:grpSpMkLst>
        </pc:grpChg>
        <pc:inkChg chg="add mod">
          <ac:chgData name="junpeng he" userId="51e7bc25f46b8d94" providerId="LiveId" clId="{BE38C4EC-3472-4026-8A67-18C6E26165E1}" dt="2024-02-03T06:14:47.977" v="6"/>
          <ac:inkMkLst>
            <pc:docMk/>
            <pc:sldMk cId="1672947574" sldId="359"/>
            <ac:inkMk id="9" creationId="{ADF3FB1F-4E3D-11A1-BF48-4C5B8CEDD8DE}"/>
          </ac:inkMkLst>
        </pc:inkChg>
        <pc:inkChg chg="add mod">
          <ac:chgData name="junpeng he" userId="51e7bc25f46b8d94" providerId="LiveId" clId="{BE38C4EC-3472-4026-8A67-18C6E26165E1}" dt="2024-02-03T06:14:47.977" v="6"/>
          <ac:inkMkLst>
            <pc:docMk/>
            <pc:sldMk cId="1672947574" sldId="359"/>
            <ac:inkMk id="10" creationId="{77613FE1-575A-EF9E-4C71-A161A8192887}"/>
          </ac:inkMkLst>
        </pc:inkChg>
        <pc:inkChg chg="add mod">
          <ac:chgData name="junpeng he" userId="51e7bc25f46b8d94" providerId="LiveId" clId="{BE38C4EC-3472-4026-8A67-18C6E26165E1}" dt="2024-02-03T06:14:47.977" v="6"/>
          <ac:inkMkLst>
            <pc:docMk/>
            <pc:sldMk cId="1672947574" sldId="359"/>
            <ac:inkMk id="11" creationId="{4ACD5E19-6C28-ED54-9B7E-172C67788958}"/>
          </ac:inkMkLst>
        </pc:inkChg>
        <pc:inkChg chg="add mod">
          <ac:chgData name="junpeng he" userId="51e7bc25f46b8d94" providerId="LiveId" clId="{BE38C4EC-3472-4026-8A67-18C6E26165E1}" dt="2024-02-03T06:14:47.977" v="6"/>
          <ac:inkMkLst>
            <pc:docMk/>
            <pc:sldMk cId="1672947574" sldId="359"/>
            <ac:inkMk id="13" creationId="{C459C121-BA1E-173C-8AD3-A7869E2852BB}"/>
          </ac:inkMkLst>
        </pc:inkChg>
        <pc:inkChg chg="add mod">
          <ac:chgData name="junpeng he" userId="51e7bc25f46b8d94" providerId="LiveId" clId="{BE38C4EC-3472-4026-8A67-18C6E26165E1}" dt="2024-02-03T06:14:47.977" v="6"/>
          <ac:inkMkLst>
            <pc:docMk/>
            <pc:sldMk cId="1672947574" sldId="359"/>
            <ac:inkMk id="15" creationId="{6D962128-9508-063B-1A8B-C2317E1BB4F7}"/>
          </ac:inkMkLst>
        </pc:inkChg>
        <pc:inkChg chg="add del mod">
          <ac:chgData name="junpeng he" userId="51e7bc25f46b8d94" providerId="LiveId" clId="{BE38C4EC-3472-4026-8A67-18C6E26165E1}" dt="2024-02-03T06:14:56.130" v="14" actId="9405"/>
          <ac:inkMkLst>
            <pc:docMk/>
            <pc:sldMk cId="1672947574" sldId="359"/>
            <ac:inkMk id="17" creationId="{ED3CB8E9-8C87-EB69-998E-2F31A6EFA60C}"/>
          </ac:inkMkLst>
        </pc:inkChg>
        <pc:inkChg chg="add del mod">
          <ac:chgData name="junpeng he" userId="51e7bc25f46b8d94" providerId="LiveId" clId="{BE38C4EC-3472-4026-8A67-18C6E26165E1}" dt="2024-02-03T06:14:55.897" v="13" actId="9405"/>
          <ac:inkMkLst>
            <pc:docMk/>
            <pc:sldMk cId="1672947574" sldId="359"/>
            <ac:inkMk id="18" creationId="{ABDE3ACD-8DE7-E440-EF5C-CA0AE83B7C4C}"/>
          </ac:inkMkLst>
        </pc:inkChg>
        <pc:inkChg chg="add del mod">
          <ac:chgData name="junpeng he" userId="51e7bc25f46b8d94" providerId="LiveId" clId="{BE38C4EC-3472-4026-8A67-18C6E26165E1}" dt="2024-02-03T06:14:55.655" v="12"/>
          <ac:inkMkLst>
            <pc:docMk/>
            <pc:sldMk cId="1672947574" sldId="359"/>
            <ac:inkMk id="19" creationId="{7495F41D-D855-2249-89F3-AE933596E8B9}"/>
          </ac:inkMkLst>
        </pc:inkChg>
        <pc:inkChg chg="add del">
          <ac:chgData name="junpeng he" userId="51e7bc25f46b8d94" providerId="LiveId" clId="{BE38C4EC-3472-4026-8A67-18C6E26165E1}" dt="2024-02-03T06:14:58.809" v="18" actId="9405"/>
          <ac:inkMkLst>
            <pc:docMk/>
            <pc:sldMk cId="1672947574" sldId="359"/>
            <ac:inkMk id="21" creationId="{88DF010E-AFDC-A6F9-5F5C-D8DFD9E0BDFC}"/>
          </ac:inkMkLst>
        </pc:inkChg>
        <pc:inkChg chg="add del">
          <ac:chgData name="junpeng he" userId="51e7bc25f46b8d94" providerId="LiveId" clId="{BE38C4EC-3472-4026-8A67-18C6E26165E1}" dt="2024-02-03T06:14:58.558" v="17" actId="9405"/>
          <ac:inkMkLst>
            <pc:docMk/>
            <pc:sldMk cId="1672947574" sldId="359"/>
            <ac:inkMk id="22" creationId="{4242D4B5-A7E2-0275-D2FD-E7BC673D49EE}"/>
          </ac:inkMkLst>
        </pc:inkChg>
        <pc:inkChg chg="add mod">
          <ac:chgData name="junpeng he" userId="51e7bc25f46b8d94" providerId="LiveId" clId="{BE38C4EC-3472-4026-8A67-18C6E26165E1}" dt="2024-02-03T06:15:09.355" v="28"/>
          <ac:inkMkLst>
            <pc:docMk/>
            <pc:sldMk cId="1672947574" sldId="359"/>
            <ac:inkMk id="23" creationId="{056C85A5-AF73-F284-D3EE-63C808CC2FB8}"/>
          </ac:inkMkLst>
        </pc:inkChg>
        <pc:inkChg chg="add mod">
          <ac:chgData name="junpeng he" userId="51e7bc25f46b8d94" providerId="LiveId" clId="{BE38C4EC-3472-4026-8A67-18C6E26165E1}" dt="2024-02-03T06:15:09.355" v="28"/>
          <ac:inkMkLst>
            <pc:docMk/>
            <pc:sldMk cId="1672947574" sldId="359"/>
            <ac:inkMk id="28" creationId="{186215CA-63D6-E6BC-7581-E901024E93F5}"/>
          </ac:inkMkLst>
        </pc:inkChg>
        <pc:inkChg chg="add mod">
          <ac:chgData name="junpeng he" userId="51e7bc25f46b8d94" providerId="LiveId" clId="{BE38C4EC-3472-4026-8A67-18C6E26165E1}" dt="2024-02-03T06:15:09.355" v="28"/>
          <ac:inkMkLst>
            <pc:docMk/>
            <pc:sldMk cId="1672947574" sldId="359"/>
            <ac:inkMk id="29" creationId="{3C0D152A-4A7A-FD36-CF26-CA1DDA474A86}"/>
          </ac:inkMkLst>
        </pc:inkChg>
        <pc:inkChg chg="add">
          <ac:chgData name="junpeng he" userId="51e7bc25f46b8d94" providerId="LiveId" clId="{BE38C4EC-3472-4026-8A67-18C6E26165E1}" dt="2024-02-03T06:15:04.780" v="23" actId="9405"/>
          <ac:inkMkLst>
            <pc:docMk/>
            <pc:sldMk cId="1672947574" sldId="359"/>
            <ac:inkMk id="32" creationId="{17D6D5D7-44F1-C256-A941-CB2EBFCDFE53}"/>
          </ac:inkMkLst>
        </pc:inkChg>
        <pc:inkChg chg="add mod">
          <ac:chgData name="junpeng he" userId="51e7bc25f46b8d94" providerId="LiveId" clId="{BE38C4EC-3472-4026-8A67-18C6E26165E1}" dt="2024-02-03T06:15:09.355" v="28"/>
          <ac:inkMkLst>
            <pc:docMk/>
            <pc:sldMk cId="1672947574" sldId="359"/>
            <ac:inkMk id="33" creationId="{26B39AAC-EDA3-A0DD-9CB1-9193F5CAF838}"/>
          </ac:inkMkLst>
        </pc:inkChg>
        <pc:inkChg chg="add mod">
          <ac:chgData name="junpeng he" userId="51e7bc25f46b8d94" providerId="LiveId" clId="{BE38C4EC-3472-4026-8A67-18C6E26165E1}" dt="2024-02-03T06:15:09.355" v="28"/>
          <ac:inkMkLst>
            <pc:docMk/>
            <pc:sldMk cId="1672947574" sldId="359"/>
            <ac:inkMk id="34" creationId="{46D7CC19-0889-7E6D-5A0F-038B8312F3AB}"/>
          </ac:inkMkLst>
        </pc:inkChg>
        <pc:inkChg chg="add mod">
          <ac:chgData name="junpeng he" userId="51e7bc25f46b8d94" providerId="LiveId" clId="{BE38C4EC-3472-4026-8A67-18C6E26165E1}" dt="2024-02-03T06:15:09.355" v="28"/>
          <ac:inkMkLst>
            <pc:docMk/>
            <pc:sldMk cId="1672947574" sldId="359"/>
            <ac:inkMk id="35" creationId="{C796E363-C232-92A8-57D6-E8C7049595B3}"/>
          </ac:inkMkLst>
        </pc:inkChg>
        <pc:inkChg chg="add mod">
          <ac:chgData name="junpeng he" userId="51e7bc25f46b8d94" providerId="LiveId" clId="{BE38C4EC-3472-4026-8A67-18C6E26165E1}" dt="2024-02-03T06:15:09.355" v="28"/>
          <ac:inkMkLst>
            <pc:docMk/>
            <pc:sldMk cId="1672947574" sldId="359"/>
            <ac:inkMk id="36" creationId="{A2EBC4E7-0A15-7C94-19EC-80B3D0F920A9}"/>
          </ac:inkMkLst>
        </pc:inkChg>
        <pc:inkChg chg="add del mod">
          <ac:chgData name="junpeng he" userId="51e7bc25f46b8d94" providerId="LiveId" clId="{BE38C4EC-3472-4026-8A67-18C6E26165E1}" dt="2024-02-03T06:15:44.938" v="74" actId="9405"/>
          <ac:inkMkLst>
            <pc:docMk/>
            <pc:sldMk cId="1672947574" sldId="359"/>
            <ac:inkMk id="38" creationId="{AA0A03C2-C9C4-DA74-4404-F882233EFE94}"/>
          </ac:inkMkLst>
        </pc:inkChg>
        <pc:inkChg chg="add del mod">
          <ac:chgData name="junpeng he" userId="51e7bc25f46b8d94" providerId="LiveId" clId="{BE38C4EC-3472-4026-8A67-18C6E26165E1}" dt="2024-02-03T06:15:44.655" v="73"/>
          <ac:inkMkLst>
            <pc:docMk/>
            <pc:sldMk cId="1672947574" sldId="359"/>
            <ac:inkMk id="39" creationId="{BE347081-579D-E3BF-8960-44B705610E5F}"/>
          </ac:inkMkLst>
        </pc:inkChg>
        <pc:inkChg chg="add del mod">
          <ac:chgData name="junpeng he" userId="51e7bc25f46b8d94" providerId="LiveId" clId="{BE38C4EC-3472-4026-8A67-18C6E26165E1}" dt="2024-02-03T06:15:44.417" v="71"/>
          <ac:inkMkLst>
            <pc:docMk/>
            <pc:sldMk cId="1672947574" sldId="359"/>
            <ac:inkMk id="41" creationId="{6BC65941-1FCE-76EA-B31C-FCBE1481BD6D}"/>
          </ac:inkMkLst>
        </pc:inkChg>
        <pc:inkChg chg="add del mod">
          <ac:chgData name="junpeng he" userId="51e7bc25f46b8d94" providerId="LiveId" clId="{BE38C4EC-3472-4026-8A67-18C6E26165E1}" dt="2024-02-03T06:15:44.195" v="69"/>
          <ac:inkMkLst>
            <pc:docMk/>
            <pc:sldMk cId="1672947574" sldId="359"/>
            <ac:inkMk id="43" creationId="{3A360FDB-479F-1BC9-9A7E-752957700EB5}"/>
          </ac:inkMkLst>
        </pc:inkChg>
        <pc:inkChg chg="add del mod">
          <ac:chgData name="junpeng he" userId="51e7bc25f46b8d94" providerId="LiveId" clId="{BE38C4EC-3472-4026-8A67-18C6E26165E1}" dt="2024-02-03T06:15:43.963" v="67"/>
          <ac:inkMkLst>
            <pc:docMk/>
            <pc:sldMk cId="1672947574" sldId="359"/>
            <ac:inkMk id="46" creationId="{7ED9A379-BB82-4CDB-BEB0-A3407A2B5268}"/>
          </ac:inkMkLst>
        </pc:inkChg>
        <pc:inkChg chg="add del mod">
          <ac:chgData name="junpeng he" userId="51e7bc25f46b8d94" providerId="LiveId" clId="{BE38C4EC-3472-4026-8A67-18C6E26165E1}" dt="2024-02-03T06:15:43.727" v="65" actId="9405"/>
          <ac:inkMkLst>
            <pc:docMk/>
            <pc:sldMk cId="1672947574" sldId="359"/>
            <ac:inkMk id="53" creationId="{C630AA9D-AA5A-4512-65E8-0D55794A28E4}"/>
          </ac:inkMkLst>
        </pc:inkChg>
        <pc:inkChg chg="add del mod">
          <ac:chgData name="junpeng he" userId="51e7bc25f46b8d94" providerId="LiveId" clId="{BE38C4EC-3472-4026-8A67-18C6E26165E1}" dt="2024-02-03T06:15:43.497" v="64" actId="9405"/>
          <ac:inkMkLst>
            <pc:docMk/>
            <pc:sldMk cId="1672947574" sldId="359"/>
            <ac:inkMk id="56" creationId="{49F88B96-57D7-B622-BC5B-5FC09A9E2631}"/>
          </ac:inkMkLst>
        </pc:inkChg>
        <pc:inkChg chg="add del mod">
          <ac:chgData name="junpeng he" userId="51e7bc25f46b8d94" providerId="LiveId" clId="{BE38C4EC-3472-4026-8A67-18C6E26165E1}" dt="2024-02-03T06:15:43.271" v="63" actId="9405"/>
          <ac:inkMkLst>
            <pc:docMk/>
            <pc:sldMk cId="1672947574" sldId="359"/>
            <ac:inkMk id="57" creationId="{8E991861-2AFE-AB34-62F9-006585D2DD9A}"/>
          </ac:inkMkLst>
        </pc:inkChg>
        <pc:inkChg chg="add del mod">
          <ac:chgData name="junpeng he" userId="51e7bc25f46b8d94" providerId="LiveId" clId="{BE38C4EC-3472-4026-8A67-18C6E26165E1}" dt="2024-02-03T06:15:43.043" v="62" actId="9405"/>
          <ac:inkMkLst>
            <pc:docMk/>
            <pc:sldMk cId="1672947574" sldId="359"/>
            <ac:inkMk id="58" creationId="{04FA39F5-8A1A-FFA8-5BB3-BAC1FF916A57}"/>
          </ac:inkMkLst>
        </pc:inkChg>
        <pc:inkChg chg="add del mod">
          <ac:chgData name="junpeng he" userId="51e7bc25f46b8d94" providerId="LiveId" clId="{BE38C4EC-3472-4026-8A67-18C6E26165E1}" dt="2024-02-03T06:15:42.264" v="61"/>
          <ac:inkMkLst>
            <pc:docMk/>
            <pc:sldMk cId="1672947574" sldId="359"/>
            <ac:inkMk id="59" creationId="{27AF1B19-C438-0C83-550F-EFBF2BE227DA}"/>
          </ac:inkMkLst>
        </pc:inkChg>
        <pc:inkChg chg="add del mod">
          <ac:chgData name="junpeng he" userId="51e7bc25f46b8d94" providerId="LiveId" clId="{BE38C4EC-3472-4026-8A67-18C6E26165E1}" dt="2024-02-03T06:15:41.991" v="59" actId="9405"/>
          <ac:inkMkLst>
            <pc:docMk/>
            <pc:sldMk cId="1672947574" sldId="359"/>
            <ac:inkMk id="61" creationId="{5831D425-B4D3-402D-53A0-B3A22F4EF646}"/>
          </ac:inkMkLst>
        </pc:inkChg>
        <pc:inkChg chg="add del mod">
          <ac:chgData name="junpeng he" userId="51e7bc25f46b8d94" providerId="LiveId" clId="{BE38C4EC-3472-4026-8A67-18C6E26165E1}" dt="2024-02-03T06:15:41.793" v="58" actId="9405"/>
          <ac:inkMkLst>
            <pc:docMk/>
            <pc:sldMk cId="1672947574" sldId="359"/>
            <ac:inkMk id="62" creationId="{60DCA9E9-C807-9492-5871-F845D71BBB23}"/>
          </ac:inkMkLst>
        </pc:inkChg>
        <pc:inkChg chg="add del mod">
          <ac:chgData name="junpeng he" userId="51e7bc25f46b8d94" providerId="LiveId" clId="{BE38C4EC-3472-4026-8A67-18C6E26165E1}" dt="2024-02-03T06:15:41.564" v="57"/>
          <ac:inkMkLst>
            <pc:docMk/>
            <pc:sldMk cId="1672947574" sldId="359"/>
            <ac:inkMk id="63" creationId="{BEE11F9E-2ACC-82AA-CB6A-685C4E7DE233}"/>
          </ac:inkMkLst>
        </pc:inkChg>
        <pc:inkChg chg="add del mod">
          <ac:chgData name="junpeng he" userId="51e7bc25f46b8d94" providerId="LiveId" clId="{BE38C4EC-3472-4026-8A67-18C6E26165E1}" dt="2024-02-03T06:15:41.309" v="55" actId="9405"/>
          <ac:inkMkLst>
            <pc:docMk/>
            <pc:sldMk cId="1672947574" sldId="359"/>
            <ac:inkMk id="65" creationId="{6E583008-0FD6-86A6-2E65-541FFA04A5FE}"/>
          </ac:inkMkLst>
        </pc:inkChg>
        <pc:inkChg chg="add del mod">
          <ac:chgData name="junpeng he" userId="51e7bc25f46b8d94" providerId="LiveId" clId="{BE38C4EC-3472-4026-8A67-18C6E26165E1}" dt="2024-02-03T06:15:41.080" v="54" actId="9405"/>
          <ac:inkMkLst>
            <pc:docMk/>
            <pc:sldMk cId="1672947574" sldId="359"/>
            <ac:inkMk id="66" creationId="{E970F1EA-BDCE-E36E-BD23-C1E04572F32A}"/>
          </ac:inkMkLst>
        </pc:inkChg>
        <pc:inkChg chg="add del mod">
          <ac:chgData name="junpeng he" userId="51e7bc25f46b8d94" providerId="LiveId" clId="{BE38C4EC-3472-4026-8A67-18C6E26165E1}" dt="2024-02-03T06:15:40.753" v="53"/>
          <ac:inkMkLst>
            <pc:docMk/>
            <pc:sldMk cId="1672947574" sldId="359"/>
            <ac:inkMk id="67" creationId="{116ECC1B-A417-F9ED-02DC-814F3A86A697}"/>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2/3/2024</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7:23.560"/>
    </inkml:context>
    <inkml:brush xml:id="br0">
      <inkml:brushProperty name="width" value="0.05" units="cm"/>
      <inkml:brushProperty name="height" value="0.05" units="cm"/>
      <inkml:brushProperty name="color" value="#E71224"/>
    </inkml:brush>
  </inkml:definitions>
  <inkml:trace contextRef="#ctx0" brushRef="#br0">778 27 24575,'-7'1'0,"-1"0"0,1 1 0,0 0 0,0 0 0,0 1 0,0 0 0,0 0 0,0 0 0,1 1 0,-11 8 0,-5 2 0,-18 9 0,2 3 0,0 1 0,2 1 0,0 2 0,-53 60 0,38-26 0,3 1 0,-70 129 0,101-164 0,6-12 0,1 1 0,0 1 0,2-1 0,-8 27 0,-8 42 0,-30 137 0,45-175 0,2 1 0,-1 79 0,8-29 0,2 113 0,-1-198 0,0 0 0,1-1 0,1 1 0,0 0 0,2-1 0,-1 0 0,2 0 0,0 0 0,1-1 0,0 1 0,1-2 0,1 1 0,0-1 0,1-1 0,19 21 0,32 24 0,121 87 0,-158-128 0,0-1 0,1-2 0,52 20 0,85 19 0,-117-38 0,415 84 0,-451-97 0,101 26 0,14 2 0,415 12 0,0-41 0,-260-2 0,2057 2-5653,-1924-17 10748,-274 9-4537,-56 3-558,1-4 0,-1-3 0,-1-4 0,0-4 0,150-58 0,-208 68 0,-1-1 0,0-2 0,-1 0 0,-1-1 0,33-28 0,-42 31 0,-1 0 0,-1-1 0,0 0 0,0-1 0,8-17 0,31-72 0,-46 97 0,11-30 0,-1 0 0,-2-2 0,-1 1 0,-2-1 0,-1 0 0,-2-1 0,-2 1 0,-2-38 0,-1-21 0,1-11 0,-25-203 0,19 276 0,-1 1 0,-2 1 0,-1-1 0,-2 2 0,0 0 0,-3 0 0,0 1 0,-2 1 0,-1 0 0,-29-35 0,1 14 0,-2 1 0,-1 2 0,-63-43 0,35 38 0,-2 3 0,-3 3 0,-136-54 0,156 75 0,0 3 0,-2 3 0,-119-19 0,96 25 0,-455-60 0,-9 42 0,-1703 33-5459,1377-2 3900,834 0 386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7:50.451"/>
    </inkml:context>
    <inkml:brush xml:id="br0">
      <inkml:brushProperty name="width" value="0.05" units="cm"/>
      <inkml:brushProperty name="height" value="0.05" units="cm"/>
      <inkml:brushProperty name="color" value="#E71224"/>
    </inkml:brush>
  </inkml:definitions>
  <inkml:trace contextRef="#ctx0" brushRef="#br0">451 1 24575,'-4'0'0,"0"1"0,1-1 0,-1 1 0,0 0 0,0 0 0,0 1 0,1-1 0,-1 1 0,1 0 0,-6 4 0,-34 26 0,37-26 0,-24 21 0,2 2 0,0 0 0,3 2 0,0 1 0,2 2 0,1 0 0,-33 72 0,32-52 0,2 0 0,3 2 0,2 0 0,-16 111 0,27-133 0,2 1 0,2 0 0,1-1 0,7 61 0,-4-78 0,1 1 0,1-1 0,0-1 0,1 1 0,1-1 0,1 0 0,0 0 0,1-1 0,0 0 0,1 0 0,15 14 0,-4-6 0,1-2 0,45 32 0,57 30 0,-68-46 0,64 35-3392,-98-60 2544,1-2 0,0 0 0,41 10 0,20-3 1807,0-3 1,100 3-1,175-9 2752,-280-8-3516,1426-1-195,-552-1 0,-408 15 0,-38-1 0,2472-11 0,-1436-3 0,1574 2 0,-2902-4 0,-155 0 0,92-19 0,-133 18 0,0-1 0,-1-1 0,0 0 0,0-1 0,-1-1 0,0 0 0,24-19 0,-1-3 0,57-59 0,-78 69 0,-1-1 0,0 0 0,-2-1 0,-1 0 0,-1-2 0,-1 0 0,-1 0 0,-1-1 0,-1 0 0,7-34 0,-7 16 0,-3-1 0,-1 0 0,-2-1 0,-3 1 0,-4-57 0,1 89 0,0 1 0,-1 0 0,0 0 0,-1 1 0,0-1 0,-1 1 0,0-1 0,-1 2 0,0-1 0,-1 0 0,0 1 0,0 1 0,-1-1 0,-1 1 0,0 0 0,-12-9 0,-15-10 0,-2 2 0,-1 2 0,-45-21 0,23 12 0,13 6 0,-204-107 0,202 110 0,-2 3 0,0 3 0,-58-14 0,-263-23 0,195 34 0,-391-28-3392,-5 35 0,-1016 11 3082,810 5 191,-1402-2-1628,-1093 0 8488,967 0-5887,2289 0-7680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7:52.300"/>
    </inkml:context>
    <inkml:brush xml:id="br0">
      <inkml:brushProperty name="width" value="0.05" units="cm"/>
      <inkml:brushProperty name="height" value="0.05" units="cm"/>
      <inkml:brushProperty name="color" value="#E71224"/>
    </inkml:brush>
  </inkml:definitions>
  <inkml:trace contextRef="#ctx0" brushRef="#br0">289 0 24575,'-1'10'0,"-2"-1"0,1 0 0,-1 0 0,0 0 0,-1 0 0,0 0 0,-1-1 0,-6 10 0,11-18 0,-34 51 0,-2-2 0,-2-1 0,-52 49 0,69-74 0,17-19 0,0 0 0,-1 1 0,1 0 0,0 0 0,-6 10 0,10-14 0,0-1 0,-1 1 0,1 0 0,0 0 0,-1-1 0,1 1 0,0 0 0,0 0 0,0 0 0,-1-1 0,1 1 0,0 0 0,0 0 0,0 0 0,1-1 0,-1 1 0,0 0 0,0 0 0,0 0 0,0-1 0,1 1 0,-1 0 0,0 0 0,1-1 0,-1 1 0,1 0 0,-1-1 0,1 1 0,-1 0 0,1-1 0,-1 1 0,1-1 0,0 1 0,-1-1 0,1 1 0,0-1 0,-1 1 0,1-1 0,0 0 0,-1 1 0,1-1 0,0 0 0,0 0 0,0 1 0,1-1 0,11 3 0,0-1 0,1-1 0,-1 0 0,1-1 0,25-2 0,-6 0 0,87 1 0,56-3 0,-175 4 0,34-5 0,-35 5 0,1 0 0,-1 0 0,1 0 0,-1 0 0,1 0 0,-1-1 0,1 1 0,0 0 0,-1 0 0,1 0 0,-1-1 0,0 1 0,1 0 0,-1-1 0,1 1 0,-1-1 0,1 1 0,-1 0 0,0-1 0,1 1 0,-1-1 0,0 1 0,1-1 0,-1 1 0,0-1 0,0 1 0,0-1 0,1 1 0,-1-1 0,0 1 0,0-1 0,0 0 0,0 1 0,0-1 0,0 1 0,0-1 0,0 1 0,0-1 0,0 0 0,0 1 0,-1-1 0,1 1 0,0-1 0,0 1 0,0-1 0,-1 1 0,1-1 0,0 1 0,-1-1 0,1 1 0,0 0 0,-1-1 0,1 1 0,-1-1 0,-11-11 0,-1 2 0,0 0 0,0 0 0,-1 1 0,-21-10 0,-5-5 0,17 9 114,1 0 0,-37-33 0,51 40-285,0-1 0,0 0 1,1 0-1,0-1 0,1 1 1,0-2-1,1 1 0,0-1 1,-4-11-1,3 4-6655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3:49.534"/>
    </inkml:context>
    <inkml:brush xml:id="br0">
      <inkml:brushProperty name="width" value="0.05" units="cm"/>
      <inkml:brushProperty name="height" value="0.05" units="cm"/>
      <inkml:brushProperty name="color" value="#E71224"/>
    </inkml:brush>
  </inkml:definitions>
  <inkml:trace contextRef="#ctx0" brushRef="#br0">0 0 24575,'474'12'0,"-51"1"0,1325-12 0,-836-3 0,7177 2 0,-8061 1 0,53 10 0,-50-5 0,38 1 0,41-6 0,100 6 0,-8 8-1365,-182-15-5461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3:51.883"/>
    </inkml:context>
    <inkml:brush xml:id="br0">
      <inkml:brushProperty name="width" value="0.05" units="cm"/>
      <inkml:brushProperty name="height" value="0.05" units="cm"/>
      <inkml:brushProperty name="color" value="#E71224"/>
    </inkml:brush>
  </inkml:definitions>
  <inkml:trace contextRef="#ctx0" brushRef="#br0">0 0 24575,'12353'0'0,"-12079"13"0,11-1 0,-165-13-1365,-100 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9:04:08.546"/>
    </inkml:context>
    <inkml:brush xml:id="br0">
      <inkml:brushProperty name="width" value="0.05" units="cm"/>
      <inkml:brushProperty name="height" value="0.05" units="cm"/>
      <inkml:brushProperty name="color" value="#E71224"/>
    </inkml:brush>
  </inkml:definitions>
  <inkml:trace contextRef="#ctx0" brushRef="#br0">0 1 24575,'2051'0'0,"-1919"11"0,-25 0 0,442-7 0,-301-6 0,2665 2-1365,-2891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6:21.332"/>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39:36.946"/>
    </inkml:context>
    <inkml:brush xml:id="br0">
      <inkml:brushProperty name="width" value="0.05" units="cm"/>
      <inkml:brushProperty name="height" value="0.05" units="cm"/>
      <inkml:brushProperty name="color" value="#E71224"/>
    </inkml:brush>
  </inkml:definitions>
  <inkml:trace contextRef="#ctx0" brushRef="#br0">0 1 24575,'1452'0'0,"-1131"12"0,-58 0 0,848-10 0,-570-4 0,-426 2-1365,-90 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39:39.211"/>
    </inkml:context>
    <inkml:brush xml:id="br0">
      <inkml:brushProperty name="width" value="0.05" units="cm"/>
      <inkml:brushProperty name="height" value="0.05" units="cm"/>
      <inkml:brushProperty name="color" value="#E71224"/>
    </inkml:brush>
  </inkml:definitions>
  <inkml:trace contextRef="#ctx0" brushRef="#br0">0 95 24575,'368'1'0,"433"-2"0,22-53 0,-709 43-630,375-18-5524,-187 31 12802,150-2-6676,-129-1-1173,-284 1-5625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0.131"/>
    </inkml:context>
    <inkml:brush xml:id="br0">
      <inkml:brushProperty name="width" value="0.05" units="cm"/>
      <inkml:brushProperty name="height" value="0.05" units="cm"/>
      <inkml:brushProperty name="color" value="#E71224"/>
    </inkml:brush>
  </inkml:definitions>
  <inkml:trace contextRef="#ctx0" brushRef="#br0">262 0 24575,'-4'17'0,"-5"8"0,-10 16 0,-4 18 0,-4 7 0,0 11 0,0 10 0,0-3 0,2-3 0,0 0 0,5-6 0,5-11 0,6-20 0,5-18-8191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0.820"/>
    </inkml:context>
    <inkml:brush xml:id="br0">
      <inkml:brushProperty name="width" value="0.05" units="cm"/>
      <inkml:brushProperty name="height" value="0.05" units="cm"/>
      <inkml:brushProperty name="color" value="#E71224"/>
    </inkml:brush>
  </inkml:definitions>
  <inkml:trace contextRef="#ctx0" brushRef="#br0">583 0 24575,'5'1'0,"0"0"0,0 0 0,0 0 0,-1 0 0,1 1 0,0 0 0,-1 0 0,1 0 0,4 4 0,11 4 0,24 10 0,0-1 0,57 34 0,-90-46 0,-1 0 0,1 0 0,-1 1 0,-1 0 0,1 1 0,-2 0 0,1 1 0,-1 0 0,0 0 0,7 15 0,-13-22 0,0 1 0,-1-1 0,0 1 0,1-1 0,-1 1 0,0 0 0,-1-1 0,1 1 0,-1 0 0,0 0 0,0 0 0,0 0 0,0-1 0,0 1 0,-1 0 0,-1 6 0,0-5 0,-1 0 0,1 0 0,-1 0 0,0 0 0,0-1 0,0 1 0,-1-1 0,1 0 0,-1 0 0,-6 5 0,-4 2 0,-1-1 0,0-1 0,0 0 0,-1-1 0,0-1 0,-20 6 0,-26 5 0,46-15 0,1 1 0,0 1 0,0 0 0,0 1 0,0 0 0,-20 13 0,33-17 0,0-1 0,0 1 0,0 0 0,0-1 0,0 1 0,0 0 0,1 0 0,-1 0 0,1 1 0,-1-1 0,1 0 0,0 0 0,0 1 0,0-1 0,0 1 0,0-1 0,1 1 0,-1-1 0,0 5 0,1-3 0,1 0 0,-1 0 0,1 0 0,0 0 0,0 0 0,0 0 0,0 0 0,1 0 0,0 0 0,-1-1 0,5 6 0,6 7 0,1 0 0,0-1 0,1 0 0,18 14 0,-19-18 0,69 56 0,-58-50 0,-1 0 0,-1 2 0,0 1 0,36 45 0,-56-62 0,0 0 0,0 0 0,0 0 0,0 1 0,-1-1 0,1 1 0,-1-1 0,0 1 0,0-1 0,0 6 0,-1-8 0,0 0 0,0 0 0,0 0 0,0 1 0,0-1 0,-1 0 0,1 0 0,-1 0 0,1 1 0,-1-1 0,1 0 0,-1 0 0,1 0 0,-1 0 0,0 0 0,0 0 0,1 0 0,-1 0 0,0 0 0,0-1 0,0 1 0,0 0 0,0 0 0,0-1 0,0 1 0,-1-1 0,1 1 0,0-1 0,0 1 0,0-1 0,0 0 0,-1 0 0,-1 1 0,-15 2 0,-1-1 0,1-1 0,0 0 0,-21-2 0,-3 0 0,-273-11 0,224 4 0,-135-30 0,214 35 26,-3 0 77,0-1-1,-23-10 1,35 13-192,0 0-1,0-1 1,1 1-1,-1-1 1,0 0-1,1 1 1,-1-1 0,1 0-1,0-1 1,-1 1-1,1 0 1,0-1-1,0 1 1,1-1 0,-1 0-1,0 1 1,1-1-1,-2-5 1,1-9-6737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1.383"/>
    </inkml:context>
    <inkml:brush xml:id="br0">
      <inkml:brushProperty name="width" value="0.05" units="cm"/>
      <inkml:brushProperty name="height" value="0.05" units="cm"/>
      <inkml:brushProperty name="color" value="#E71224"/>
    </inkml:brush>
  </inkml:definitions>
  <inkml:trace contextRef="#ctx0" brushRef="#br0">0 1 24575,'8'0'0,"7"0"0,12 0 0,14 0 0,13 0 0,16 0 0,24 0 0,9 0 0,10 0 0,3 0 0,-12 0 0,-22 4 0,-34 5 0,-36 10 0,-41 8 0,-16 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1.704"/>
    </inkml:context>
    <inkml:brush xml:id="br0">
      <inkml:brushProperty name="width" value="0.05" units="cm"/>
      <inkml:brushProperty name="height" value="0.05" units="cm"/>
      <inkml:brushProperty name="color" value="#E71224"/>
    </inkml:brush>
  </inkml:definitions>
  <inkml:trace contextRef="#ctx0" brushRef="#br0">19 0 24575,'-4'5'0,"-1"4"0,-1 6 0,2 3 0,9 0 0,16-5 0,12-3 0,17 0 0,15-1 0,6-3 0,5-1 0,11-3 0,-6-1 0,-4-1 0,-12 0 0,-21-5 0,-29-5 0,-18-1-8191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2.041"/>
    </inkml:context>
    <inkml:brush xml:id="br0">
      <inkml:brushProperty name="width" value="0.05" units="cm"/>
      <inkml:brushProperty name="height" value="0.05" units="cm"/>
      <inkml:brushProperty name="color" value="#E71224"/>
    </inkml:brush>
  </inkml:definitions>
  <inkml:trace contextRef="#ctx0" brushRef="#br0">45 1 24575,'0'8'0,"0"6"0,0 14 0,4 5 0,1 1 0,0 8 0,0 7 0,-2 0 0,-6 8 0,-5 2 0,-6-1 0,-4 1 0,0-5 0,12-15 0,23-23 0,8-14-8191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2.358"/>
    </inkml:context>
    <inkml:brush xml:id="br0">
      <inkml:brushProperty name="width" value="0.05" units="cm"/>
      <inkml:brushProperty name="height" value="0.05" units="cm"/>
      <inkml:brushProperty name="color" value="#E71224"/>
    </inkml:brush>
  </inkml:definitions>
  <inkml:trace contextRef="#ctx0" brushRef="#br0">75 1 24575,'0'8'0,"0"6"0,0 14 0,0 9 0,0 7 0,0 11 0,0 17 0,-4 0 0,-6 0 0,-4 11 0,-5-4 0,2-19 0,7-25 0,13-29 0,7-16-8191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2.703"/>
    </inkml:context>
    <inkml:brush xml:id="br0">
      <inkml:brushProperty name="width" value="0.05" units="cm"/>
      <inkml:brushProperty name="height" value="0.05" units="cm"/>
      <inkml:brushProperty name="color" value="#E71224"/>
    </inkml:brush>
  </inkml:definitions>
  <inkml:trace contextRef="#ctx0" brushRef="#br0">644 0 24575,'3'2'0,"0"-1"0,-1 0 0,1 0 0,-1 1 0,1-1 0,-1 1 0,0 0 0,0 0 0,0 0 0,0 0 0,0 0 0,0 0 0,3 5 0,3 3 0,128 115 0,-18-17 0,-94-84 0,-2 1 0,33 46 0,-53-69 0,-1 0 0,1 0 0,-1 0 0,1 0 0,-1 1 0,0-1 0,0 0 0,0 1 0,0-1 0,0 0 0,-1 1 0,1-1 0,-1 1 0,0 0 0,1-1 0,-1 1 0,0-1 0,0 1 0,-1-1 0,1 1 0,0-1 0,-1 1 0,0-1 0,0 1 0,1-1 0,-1 0 0,-1 1 0,1-1 0,0 0 0,0 0 0,-1 0 0,0 0 0,1 0 0,-1 0 0,0 0 0,0 0 0,-3 1 0,-3 4 0,-1 0 0,-1-1 0,1 0 0,-1 0 0,0-1 0,-17 6 0,-68 15 0,76-21 0,-459 87 0,269-55 0,184-33-455,1 1 0,-45 17 0,40-8-6371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5.276"/>
    </inkml:context>
    <inkml:brush xml:id="br0">
      <inkml:brushProperty name="width" value="0.05" units="cm"/>
      <inkml:brushProperty name="height" value="0.05" units="cm"/>
      <inkml:brushProperty name="color" value="#E71224"/>
    </inkml:brush>
  </inkml:definitions>
  <inkml:trace contextRef="#ctx0" brushRef="#br0">1 1 24575,'4'8'0,"13"30"0,8 29 0,8 20 0,6 14 0,8 10 0,5 6 0,-8-12 0,-2-13 0,-4-14 0,-10-15 0,-4-12 0,-3-5 0,-1-8 0,-4-5 0,-5-5 0,1-6 0,-3-8-8191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27:25.651"/>
    </inkml:context>
    <inkml:brush xml:id="br0">
      <inkml:brushProperty name="width" value="0.05" units="cm"/>
      <inkml:brushProperty name="height" value="0.05" units="cm"/>
      <inkml:brushProperty name="color" value="#E71224"/>
    </inkml:brush>
  </inkml:definitions>
  <inkml:trace contextRef="#ctx0" brushRef="#br0">1360 0 24575,'-16'12'0,"-29"24"0,-19 13 0,-35 20 0,-28 8 0,-13 5 0,-10 3 0,-4 8-1041,16-8 1041,12-7 0,23-4 255,25-11-255,22-8 0,17-6 0,14-11-7405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39.337"/>
    </inkml:context>
    <inkml:brush xml:id="br0">
      <inkml:brushProperty name="width" value="0.05" units="cm"/>
      <inkml:brushProperty name="height" value="0.05" units="cm"/>
      <inkml:brushProperty name="color" value="#E71224"/>
    </inkml:brush>
  </inkml:definitions>
  <inkml:trace contextRef="#ctx0" brushRef="#br0">640 21 24575,'0'-1'0,"-1"0"0,1 1 0,0-1 0,0 0 0,-1 0 0,1 0 0,-1 1 0,1-1 0,-1 0 0,1 0 0,-1 1 0,1-1 0,-1 0 0,0 1 0,1-1 0,-1 1 0,0-1 0,0 0 0,1 1 0,-1 0 0,0-1 0,0 1 0,0 0 0,1-1 0,-1 1 0,0 0 0,-1-1 0,-29-3 0,5 5 0,1 1 0,-1 1 0,0 1 0,-26 8 0,4 2 0,-55 24 0,83-29 0,-1 2 0,1 0 0,1 2 0,0 0 0,1 1 0,0 0 0,1 2 0,1 0 0,1 1 0,0 0 0,1 1 0,1 1 0,0 0 0,-11 27 0,19-36 0,1 0 0,1 1 0,0 0 0,1-1 0,-1 1 0,0 20 0,5 69 0,0-51 0,-3-8 0,1-20 0,0-1 0,1 0 0,5 27 0,-5-41 0,1 0 0,-1-1 0,1 1 0,1 0 0,-1 0 0,1-1 0,0 0 0,0 1 0,0-1 0,1 0 0,0-1 0,0 1 0,0-1 0,1 1 0,7 4 0,6 3 0,0-1 0,1-1 0,1-1 0,29 10 0,89 20 0,-71-22 0,412 103 0,-228-60 0,-168-42 0,121 12 0,-139-22 0,-31-4 0,-1 0 0,51-3 0,-73-2 0,1 0 0,-1-1 0,1 0 0,-1-1 0,0 0 0,0-1 0,0 0 0,0-1 0,-1 0 0,0-1 0,10-7 0,4-5 0,-1-2 0,0 0 0,-2-2 0,-1 0 0,0-1 0,-2-1 0,-1-1 0,0 0 0,-2-2 0,-1 1 0,-2-2 0,12-35 0,-19 44 0,-1 1 0,-1-1 0,-1 0 0,0 0 0,-2 0 0,0 0 0,-1-1 0,-1 1 0,-1 1 0,0-1 0,-1 0 0,-2 1 0,0 0 0,0 0 0,-2 0 0,-10-18 0,11 25 0,-1 1 0,0 0 0,0 0 0,-1 1 0,0-1 0,-1 2 0,0 0 0,0 0 0,-21-11 0,-10-3 0,-59-22 0,73 32 0,-1 1 0,-26-13 0,-1 3 0,-96-24 0,43 25 0,-120-7 0,181 22-1365,3 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2.465"/>
    </inkml:context>
    <inkml:brush xml:id="br0">
      <inkml:brushProperty name="width" value="0.05" units="cm"/>
      <inkml:brushProperty name="height" value="0.05" units="cm"/>
      <inkml:brushProperty name="color" value="#E71224"/>
    </inkml:brush>
  </inkml:definitions>
  <inkml:trace contextRef="#ctx0" brushRef="#br0">214 1 24575,'58'1'0,"62"8"0,-90-4 0,0 0 0,0 2 0,50 19 0,-74-23 0,-1-1 0,1 1 0,-1 0 0,1 0 0,-1 1 0,0-1 0,9 9 0,-13-11 0,0 1 0,0-1 0,0 0 0,0 1 0,0-1 0,-1 0 0,1 1 0,0-1 0,-1 1 0,1-1 0,-1 1 0,1-1 0,-1 1 0,0 0 0,0-1 0,0 1 0,0-1 0,0 1 0,0 0 0,0-1 0,0 1 0,0-1 0,-1 1 0,1-1 0,-1 1 0,1-1 0,-1 1 0,0-1 0,1 1 0,-1-1 0,0 0 0,0 1 0,0-1 0,0 0 0,-2 2 0,-8 7-21,0-1-1,0-1 1,-1 0-1,0 0 1,0-1-1,-1-1 1,-14 6-1,-2 1-936,-62 31-4289,-49 20 4840,133-62 395,1 1-1,0 0 1,0 0 0,0 1-1,0 0 1,1 0-1,-9 8 1,12-10 59,1-1 1,0 1-1,0 0 0,-1 1 1,1-1-1,1 0 0,-1 0 1,0 0-1,0 1 0,1-1 0,0 0 1,-1 0-1,1 1 0,0-1 1,0 0-1,0 1 0,0-1 1,1 0-1,-1 1 0,0-1 0,1 0 1,0 1-1,0-1 0,-1 0 1,3 3-1,10 20 1024,0-1 0,2-1 0,34 41 0,16 26 298,-64-90-1369,9 18 0,13 26 0,-21-40 0,0 1 0,-1-1 0,1 1 0,-1-1 0,0 1 0,0 0 0,-1-1 0,1 1 0,-1 0 0,0 0 0,0-1 0,-1 6 0,0-7 0,0 0 0,-1-1 0,1 1 0,0-1 0,-1 1 0,1-1 0,-1 0 0,0 1 0,0-1 0,0 0 0,0 0 0,0 0 0,0-1 0,0 1 0,-1 0 0,1-1 0,-1 1 0,1-1 0,-5 1 0,-6 3 0,0 0 0,-24 3 0,27-6 0,-33 8 0,-1-2 0,-84 4 0,126-11-97,-1-1-1,0-1 1,0 1-1,0 0 1,1-1-1,-1 1 1,0-1-1,0 0 1,1 0-1,-1 0 1,1 0-1,-1-1 0,-2-1 1,-6-7-6729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2.995"/>
    </inkml:context>
    <inkml:brush xml:id="br0">
      <inkml:brushProperty name="width" value="0.05" units="cm"/>
      <inkml:brushProperty name="height" value="0.05" units="cm"/>
      <inkml:brushProperty name="color" value="#E71224"/>
    </inkml:brush>
  </inkml:definitions>
  <inkml:trace contextRef="#ctx0" brushRef="#br0">75 143 24575,'-1'13'0,"0"0"0,-1 0 0,-4 14 0,-3 19 0,8-34 0,-1 1 0,0 0 0,2 0 0,-1 0 0,2 0 0,1 13 0,-1-24 0,-1 1 0,0-1 0,1 0 0,-1 0 0,1 0 0,0 0 0,0 0 0,0-1 0,0 1 0,0 0 0,0 0 0,0-1 0,1 1 0,-1 0 0,0-1 0,1 1 0,-1-1 0,1 0 0,0 1 0,0-1 0,-1 0 0,1 0 0,0 0 0,0 0 0,0-1 0,0 1 0,0 0 0,0-1 0,0 0 0,0 1 0,0-1 0,0 0 0,0 0 0,0 0 0,1 0 0,-1 0 0,0-1 0,4 0 0,2-1 0,0 0 0,1 0 0,-1-1 0,0 0 0,-1 0 0,1-1 0,0 0 0,-1-1 0,0 0 0,0 0 0,0 0 0,-1-1 0,0 0 0,0 0 0,0 0 0,6-11 0,-5 7 0,-1 0 0,0-1 0,-1 0 0,0 0 0,-1 0 0,0-1 0,-1 1 0,0-1 0,-1 0 0,-1 0 0,1-13 0,-2 20 0,1-6 0,-1 0 0,0 0 0,-1 1 0,-3-17 0,3 24 0,0 0 0,0 0 0,0 0 0,0 0 0,0 0 0,-1 1 0,0-1 0,1 0 0,-1 1 0,0-1 0,-1 1 0,1-1 0,0 1 0,-1 0 0,1 0 0,-1 0 0,1 0 0,-1 1 0,-5-3 0,-18-5-227,0 1-1,-1 1 1,0 2-1,-1 1 1,-46-2-1,37 4-6598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3.513"/>
    </inkml:context>
    <inkml:brush xml:id="br0">
      <inkml:brushProperty name="width" value="0.05" units="cm"/>
      <inkml:brushProperty name="height" value="0.05" units="cm"/>
      <inkml:brushProperty name="color" value="#E71224"/>
    </inkml:brush>
  </inkml:definitions>
  <inkml:trace contextRef="#ctx0" brushRef="#br0">1 1 24575,'0'10'0,"0"-1"0,1 1 0,1-1 0,-1 0 0,1 1 0,1-1 0,0 0 0,0 0 0,1 0 0,0 0 0,7 9 0,-8-12 0,1-1 0,0 0 0,1 0 0,-1 0 0,1-1 0,0 0 0,0 0 0,0 0 0,1 0 0,-1-1 0,1 0 0,0 0 0,0 0 0,0-1 0,0 0 0,0 0 0,8 1 0,-5-1 0,0-1 0,1 0 0,-1-1 0,0 0 0,1 0 0,-1-1 0,0 0 0,0 0 0,0-1 0,10-4 0,-15 5 0,0-1 0,0 0 0,0 0 0,-1 0 0,1-1 0,-1 1 0,1-1 0,-1 0 0,0 0 0,0 0 0,0 0 0,-1-1 0,1 1 0,-1-1 0,0 1 0,0-1 0,0 0 0,0 0 0,0 0 0,-1 0 0,0 0 0,0 0 0,1-8 0,-2 9 23,1 0 0,-1 0 0,0 0-1,0 0 1,0 0 0,0 0 0,0 0-1,-1 0 1,0 0 0,1 0 0,-1 1-1,0-1 1,0 0 0,-3-5 0,2 7-98,1-1 1,0 1 0,-1-1 0,1 1 0,-1 0-1,1 0 1,-1-1 0,0 1 0,0 0 0,1 1-1,-1-1 1,0 0 0,0 0 0,0 1 0,0-1-1,0 1 1,0 0 0,0-1 0,0 1 0,0 0-1,0 0 1,-3 1 0,-13 1-6752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3.911"/>
    </inkml:context>
    <inkml:brush xml:id="br0">
      <inkml:brushProperty name="width" value="0.05" units="cm"/>
      <inkml:brushProperty name="height" value="0.05" units="cm"/>
      <inkml:brushProperty name="color" value="#E71224"/>
    </inkml:brush>
  </inkml:definitions>
  <inkml:trace contextRef="#ctx0" brushRef="#br0">845 0 24575,'-4'11'0,"-1"-1"0,0 0 0,-1-1 0,-1 1 0,1-1 0,-1 0 0,-1-1 0,-13 13 0,-3 4 0,-143 155 0,-213 243 0,373-414 0,-58 69 0,-63 99 0,123-170-1365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4.352"/>
    </inkml:context>
    <inkml:brush xml:id="br0">
      <inkml:brushProperty name="width" value="0.05" units="cm"/>
      <inkml:brushProperty name="height" value="0.05" units="cm"/>
      <inkml:brushProperty name="color" value="#E71224"/>
    </inkml:brush>
  </inkml:definitions>
  <inkml:trace contextRef="#ctx0" brushRef="#br0">2 234 24575,'-1'18'0,"1"-9"0,0-1 0,0 1 0,0 0 0,1-1 0,3 13 0,-3-19 0,-1 0 0,1 0 0,0 0 0,0 0 0,0-1 0,0 1 0,0 0 0,0-1 0,0 1 0,1-1 0,-1 1 0,0-1 0,1 0 0,-1 1 0,1-1 0,0 0 0,-1 0 0,1 0 0,0 0 0,0 0 0,0-1 0,-1 1 0,1 0 0,0-1 0,0 0 0,0 1 0,0-1 0,0 0 0,3 0 0,3-1 0,-1 1 0,1-2 0,-1 1 0,1-1 0,-1 0 0,0-1 0,1 1 0,-1-2 0,-1 1 0,8-5 0,8-6 0,33-27 0,-26 15 0,-1 0 0,-1-2 0,45-61 0,-68 83 0,1-1 0,-1 0 0,0 0 0,5-15 0,-8 21 0,0 0 0,-1 0 0,0-1 0,1 1 0,-1 0 0,0-1 0,0 1 0,0 0 0,0-1 0,0 1 0,0 0 0,0-1 0,0 1 0,0 0 0,-1-1 0,1 1 0,0 0 0,-1-1 0,1 1 0,-1 0 0,0 0 0,1 0 0,-1-1 0,0 1 0,0 0 0,0 0 0,1 0 0,-1 0 0,0 1 0,0-1 0,-1 0 0,1 0 0,0 0 0,0 1 0,0-1 0,-2 0 0,-2-1 0,0 1 0,0 0 0,0 0 0,0 0 0,0 1 0,-1 0 0,1 0 0,0 0 0,0 0 0,-10 3 0,-51 15 0,57-15 0,-105 42-1365,86-34-5461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5.882"/>
    </inkml:context>
    <inkml:brush xml:id="br0">
      <inkml:brushProperty name="width" value="0.05" units="cm"/>
      <inkml:brushProperty name="height" value="0.05" units="cm"/>
      <inkml:brushProperty name="color" value="#E71224"/>
    </inkml:brush>
  </inkml:definitions>
  <inkml:trace contextRef="#ctx0" brushRef="#br0">1256 1 24575,'-6'1'0,"0"0"0,1 0 0,-1 1 0,0 0 0,0 0 0,1 0 0,-10 6 0,-4 1 0,-204 72 0,88-34 0,118-41 0,-260 100 0,200-72 0,-109 66 0,166-88 0,0 2 0,1 0 0,1 1 0,0 1 0,1 1 0,1 1 0,0 0 0,2 1 0,0 0 0,1 1 0,1 1 0,1 0 0,1 0 0,0 1 0,2 1 0,1-1 0,0 1 0,2 0 0,1 1 0,0 0 0,1 38 0,3-60 0,-1 28 0,2 0 0,1 0 0,6 32 0,-6-54 0,0 1 0,0-1 0,1 0 0,0 0 0,0 0 0,1 0 0,0 0 0,1-1 0,-1 0 0,2 0 0,-1 0 0,1 0 0,0-1 0,0 0 0,12 8 0,14 7 0,1-3 0,0 0 0,2-2 0,0-2 0,57 16 0,193 30 0,-251-54 0,136 20 0,2-8 0,336-7 0,-491-11 0,0-1 0,0 0 0,0-2 0,0 0 0,0-1 0,-1-1 0,0 0 0,0-1 0,0-1 0,-1 0 0,0-1 0,28-20 0,-29 17 0,-1-1 0,0 0 0,-1-1 0,-1-1 0,0 0 0,0 0 0,-1-1 0,-1 0 0,-1-1 0,0 0 0,-1 0 0,7-25 0,2-15 0,-2 0 0,9-91 0,-12-118 0,-10 198 0,0 32 0,-1-1 0,-8-53 0,5 76 0,0 1 0,-1 0 0,-1 0 0,0 0 0,0 0 0,-1 1 0,-1 0 0,0 0 0,0 1 0,-1 0 0,-1 0 0,0 1 0,0 0 0,0 0 0,-17-10 0,-5-2 0,0 2 0,-1 1 0,-1 2 0,-39-14 0,45 20-1365,4 4-5461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7.494"/>
    </inkml:context>
    <inkml:brush xml:id="br0">
      <inkml:brushProperty name="width" value="0.05" units="cm"/>
      <inkml:brushProperty name="height" value="0.05" units="cm"/>
      <inkml:brushProperty name="color" value="#E71224"/>
    </inkml:brush>
  </inkml:definitions>
  <inkml:trace contextRef="#ctx0" brushRef="#br0">285 1 24575,'0'1'0,"0"0"0,1 0 0,-1 0 0,0 0 0,1-1 0,-1 1 0,1 0 0,-1 0 0,1 0 0,-1 0 0,1 0 0,0-1 0,-1 1 0,1 0 0,0 0 0,0-1 0,0 1 0,0-1 0,-1 1 0,3 0 0,21 11 0,-16-9 0,93 36 0,-66-27 0,59 30 0,-90-40 0,0 0 0,0 1 0,0 0 0,0-1 0,-1 1 0,0 1 0,1-1 0,-1 0 0,0 1 0,-1 0 0,1-1 0,0 1 0,-1 0 0,0 1 0,0-1 0,1 4 0,-1-1 0,-1 0 0,0-1 0,0 1 0,-1 0 0,1 0 0,-1 0 0,-1 0 0,0-1 0,-2 13 0,-4 3 0,0 0 0,-1-1 0,-1 0 0,-1-1 0,-19 28 0,-18 23 0,-89 101 0,-72 52 0,178-193 0,-40 46 0,60-64 0,1-1 0,0 1 0,1 0 0,-9 22 0,17-34 171,4-3 0,4-7-1878,8-12-5119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7.960"/>
    </inkml:context>
    <inkml:brush xml:id="br0">
      <inkml:brushProperty name="width" value="0.05" units="cm"/>
      <inkml:brushProperty name="height" value="0.05" units="cm"/>
      <inkml:brushProperty name="color" value="#E71224"/>
    </inkml:brush>
  </inkml:definitions>
  <inkml:trace contextRef="#ctx0" brushRef="#br0">47 1 24575,'-1'14'0,"0"0"0,-2 0 0,0 0 0,-5 15 0,-3 16 0,10-41 0,-16 108 0,16-100 0,1-1 0,0 1 0,0-1 0,1 1 0,1-1 0,0 1 0,5 17 0,-5-25 0,-1-1 0,1 0 0,0 0 0,0 0 0,1 0 0,-1 0 0,0 0 0,1 0 0,0-1 0,0 1 0,0-1 0,0 0 0,0 0 0,0 0 0,0 0 0,1-1 0,-1 1 0,1-1 0,-1 0 0,1 0 0,-1 0 0,1 0 0,0-1 0,-1 1 0,1-1 0,5 0 0,1 0 0,1-1 0,0 0 0,0 0 0,0-1 0,-1 0 0,1-1 0,18-8 0,-17 6 0,-1-2 0,1 1 0,-1-1 0,0-1 0,-1 0 0,0-1 0,0 0 0,-1 0 0,0-1 0,-1 0 0,0 0 0,0-1 0,-1 0 0,0-1 0,-1 0 0,-1 0 0,0 0 0,0 0 0,-1-1 0,-1 1 0,3-24 0,-5 34 11,-1-1-1,0 0 0,0 0 1,0 0-1,0 0 0,-1 0 1,1 0-1,-1 1 0,1-1 1,-1 0-1,0 0 0,0 1 1,0-1-1,-1 0 0,1 1 1,-1-1-1,1 1 0,-1 0 1,0 0-1,0-1 0,0 1 1,0 0-1,0 0 0,0 1 1,-1-1-1,1 0 0,-1 1 1,1 0-1,-1-1 0,1 1 1,-1 0-1,-3-1 0,-8-1-277,1 1-1,-1 0 0,1 1 1,-1 0-1,-19 2 0,30-1 168,-25 1-6726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8.417"/>
    </inkml:context>
    <inkml:brush xml:id="br0">
      <inkml:brushProperty name="width" value="0.05" units="cm"/>
      <inkml:brushProperty name="height" value="0.05" units="cm"/>
      <inkml:brushProperty name="color" value="#E71224"/>
    </inkml:brush>
  </inkml:definitions>
  <inkml:trace contextRef="#ctx0" brushRef="#br0">1 15 24575,'0'3'0,"-1"19"0,2 1 0,0-1 0,2 1 0,8 38 0,-10-56 0,1-1 0,-1 0 0,1 1 0,0-1 0,0 0 0,0 0 0,0 0 0,1 0 0,-1 0 0,1-1 0,0 1 0,0-1 0,1 1 0,-1-1 0,1 0 0,-1-1 0,1 1 0,0-1 0,0 1 0,0-1 0,0 0 0,1-1 0,-1 1 0,0-1 0,1 0 0,-1 0 0,1 0 0,0-1 0,-1 1 0,7-1 0,-7 0 0,-1 0 0,1-1 0,0 1 0,0-1 0,-1 0 0,1 0 0,0 0 0,-1-1 0,1 1 0,-1-1 0,1 0 0,-1 0 0,0 0 0,0 0 0,4-4 0,-2 1 0,-1 0 0,0 0 0,0 0 0,0-1 0,-1 1 0,0-1 0,0 0 0,3-9 0,-1 0 0,-1 0 0,-1-1 0,0 1 0,-1-1 0,-1 1 0,-1-28 0,1 42 0,-1-1 0,0 1 0,0-1 0,0 1 0,-1-1 0,1 1 0,0-1 0,0 1 0,-1-1 0,1 1 0,-1-1 0,1 1 0,-1 0 0,0-1 0,0 1 0,1 0 0,-1 0 0,0-1 0,0 1 0,0 0 0,0 0 0,-1 0 0,1 0 0,0 0 0,0 1 0,-2-2 0,1 2 0,0-1 0,0 1 0,0 0 0,-1 0 0,1 0 0,0 1 0,0-1 0,0 0 0,0 1 0,0-1 0,0 1 0,0 0 0,0 0 0,0 0 0,0 0 0,0 0 0,-2 2 0,-2 0 0,0 1 0,1-1 0,-1 1 0,1 0 0,0 1 0,0 0 0,1-1 0,-1 1 0,-5 9 0,10-13-54,-1-1-1,1 1 0,0-1 1,0 1-1,0-1 1,0 1-1,0-1 0,0 1 1,0-1-1,0 1 1,0-1-1,0 1 0,0-1 1,1 1-1,-1-1 0,0 1 1,0-1-1,0 0 1,1 1-1,-1-1 0,0 1 1,0-1-1,1 0 1,-1 1-1,12 8-6771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8.725"/>
    </inkml:context>
    <inkml:brush xml:id="br0">
      <inkml:brushProperty name="width" value="0.05" units="cm"/>
      <inkml:brushProperty name="height" value="0.05" units="cm"/>
      <inkml:brushProperty name="color" value="#E71224"/>
    </inkml:brush>
  </inkml:definitions>
  <inkml:trace contextRef="#ctx0" brushRef="#br0">1009 1 24575,'-10'5'0,"0"1"0,1 1 0,0 0 0,-11 10 0,0 0 0,-532 458 0,349-265 342,169-169-769,2 2 0,1 1 1,-33 65-1,50-79-6399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49.145"/>
    </inkml:context>
    <inkml:brush xml:id="br0">
      <inkml:brushProperty name="width" value="0.05" units="cm"/>
      <inkml:brushProperty name="height" value="0.05" units="cm"/>
      <inkml:brushProperty name="color" value="#E71224"/>
    </inkml:brush>
  </inkml:definitions>
  <inkml:trace contextRef="#ctx0" brushRef="#br0">4 0 24575,'-1'49'0,"-1"-31"0,2 0 0,0 0 0,1 0 0,6 35 0,-6-50 0,0-1 0,0 1 0,1-1 0,-1 1 0,1-1 0,-1 0 0,1 0 0,0 0 0,-1 0 0,1 0 0,0 0 0,1 0 0,-1-1 0,0 1 0,0-1 0,1 1 0,-1-1 0,1 0 0,-1 0 0,1 0 0,-1 0 0,1 0 0,0-1 0,4 1 0,6 1 0,0-1 0,0-1 0,22-1 0,-22 0 0,0-1 0,-1-1 0,1 0 0,0-1 0,-1 0 0,0-1 0,1 0 0,16-11 0,-22 12 0,0 0 0,0-1 0,-1 1 0,0-2 0,1 1 0,-2-1 0,1 0 0,-1 0 0,0 0 0,0-1 0,0 0 0,-1 0 0,0 0 0,5-14 0,-9 20 0,1 0 0,-1-1 0,1 1 0,-1 0 0,0-1 0,0 1 0,0 0 0,0-1 0,0 1 0,0 0 0,0-1 0,0 1 0,0 0 0,0 0 0,-1-1 0,1 1 0,-1 0 0,1-1 0,-1 1 0,1 0 0,-1 0 0,0 0 0,-1-2 0,0 2 0,1-1 0,-1 1 0,0 0 0,0 0 0,1 0 0,-1 1 0,0-1 0,0 0 0,0 1 0,0-1 0,0 1 0,0 0 0,-4-1 0,-7 2 0,0-1 0,0 2 0,-24 5 0,30-6 0,-33 8-1365,5-1-5461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53.945"/>
    </inkml:context>
    <inkml:brush xml:id="br0">
      <inkml:brushProperty name="width" value="0.05" units="cm"/>
      <inkml:brushProperty name="height" value="0.05" units="cm"/>
      <inkml:brushProperty name="color" value="#004F8B"/>
    </inkml:brush>
  </inkml:definitions>
  <inkml:trace contextRef="#ctx0" brushRef="#br0">1 0 24575,'1918'0'0,"-1875"3"0,58 9 0,-28-2 0,57 12 0,-85-13 0,1-1 0,49 1 0,-92-9 0,0 0 0,0 0 0,0 0 0,0 0 0,0 1 0,0-1 0,0 1 0,0 0 0,0 0 0,0 0 0,0 0 0,-1 1 0,1-1 0,0 1 0,2 2 0,-3-2 0,0 1 0,0 0 0,0 0 0,-1-1 0,1 1 0,-1 0 0,1 0 0,-1 0 0,0 1 0,-1-1 0,1 0 0,0 0 0,-1 0 0,1 5 0,0 234 0,-4-133 0,1 1118 153,3-680-1671,-1-527-5308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49:55.393"/>
    </inkml:context>
    <inkml:brush xml:id="br0">
      <inkml:brushProperty name="width" value="0.05" units="cm"/>
      <inkml:brushProperty name="height" value="0.05" units="cm"/>
      <inkml:brushProperty name="color" value="#004F8B"/>
    </inkml:brush>
  </inkml:definitions>
  <inkml:trace contextRef="#ctx0" brushRef="#br0">1 273 24575,'0'6'0,"1"-1"0,0 1 0,0 0 0,1-1 0,1 7 0,4 10 0,7 24 0,1-1 0,3-1 0,2 0 0,35 58 0,-53-99 0,6 12 0,1 0 0,1 0 0,0-2 0,22 24 0,-30-34 0,0-1 0,0 0 0,1 0 0,-1 0 0,1 0 0,0 0 0,-1-1 0,1 1 0,0-1 0,0 0 0,0 0 0,0 0 0,0 0 0,0 0 0,1-1 0,-1 1 0,0-1 0,0 0 0,0 0 0,1 0 0,-1-1 0,0 1 0,0-1 0,0 1 0,0-1 0,0 0 0,0 0 0,0 0 0,0-1 0,0 1 0,0-1 0,-1 0 0,4-2 0,20-17 0,0-1 0,-2-1 0,0-2 0,26-34 0,75-120 0,-85 118 0,46-72 317,35-51-1999,-111 169-5144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50:06.493"/>
    </inkml:context>
    <inkml:brush xml:id="br0">
      <inkml:brushProperty name="width" value="0.05" units="cm"/>
      <inkml:brushProperty name="height" value="0.05" units="cm"/>
      <inkml:brushProperty name="color" value="#E71224"/>
    </inkml:brush>
  </inkml:definitions>
  <inkml:trace contextRef="#ctx0" brushRef="#br0">267 1110 24575,'0'-1036'0,"0"1034"0,1-1 0,-1 1 0,0 0 0,0 0 0,1-1 0,0 1 0,-1 0 0,1 0 0,0 0 0,0 0 0,0 0 0,0 0 0,0 0 0,1 0 0,-1 0 0,0 0 0,1 1 0,0-1 0,-1 0 0,1 1 0,0 0 0,0-1 0,0 1 0,0 0 0,0 0 0,0 0 0,3-1 0,6-2 0,0 1 0,1 1 0,-1 0 0,17-1 0,-24 3 0,482-8 0,-319 11 0,827-2 0,-706 17 0,-199-10 0,465 15 0,-318-12 0,1 1 0,-196-11 0,49 9 0,21 1 0,-104-11 0,0 1 0,0 0 0,1 0 0,-1 0 0,0 1 0,0 0 0,0 0 0,-1 0 0,1 1 0,12 8 0,-15-8 0,1 0 0,-1 1 0,0 0 0,0 0 0,-1 0 0,0 0 0,1 1 0,-1-1 0,0 1 0,-1 0 0,1 0 0,-1 0 0,0 0 0,-1 0 0,3 8 0,4 36 0,-1 0 0,0 66 0,3 29 0,35 304 0,-26-166 0,9 270 0,-29 860 0,1-1399 0,0-1 0,0 0 0,0-1 0,-5 21 0,5-29 0,-1 0 0,0 0 0,0 0 0,0 0 0,-1 0 0,1-1 0,0 1 0,-1 0 0,0-1 0,0 1 0,0-1 0,0 0 0,0 1 0,0-1 0,-1 0 0,1 0 0,0-1 0,-1 1 0,-3 2 0,-6 0 0,-1-1 0,1 1 0,0-2 0,-1 0 0,1 0 0,-1-1 0,0-1 0,-20-2 0,1 2 0,-1104-9 0,-142 9 0,976-12 0,-5 0 0,-281 13 0,582-1 0,0 0 0,0 0 0,1 0 0,-1-1 0,0 0 0,0-1 0,0 1 0,1-1 0,-1 0 0,-8-5 0,11 5 0,0 0 0,0-1 0,0 1 0,0-1 0,1 0 0,-1 0 0,1 0 0,0 0 0,0 0 0,0 0 0,0-1 0,0 1 0,1-1 0,0 1 0,0-1 0,0 1 0,0-1 0,0-5 0,-4-37 0,2-1 0,6-77 0,-1 50 0,43-741 0,15 362 0,-19 152 0,-7-123-5759,-26 286 4734,-3-93 7809,12 130-8149,-13 76-5461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52:10.487"/>
    </inkml:context>
    <inkml:brush xml:id="br0">
      <inkml:brushProperty name="width" value="0.05" units="cm"/>
      <inkml:brushProperty name="height" value="0.05" units="cm"/>
      <inkml:brushProperty name="color" value="#E71224"/>
    </inkml:brush>
  </inkml:definitions>
  <inkml:trace contextRef="#ctx0" brushRef="#br0">851 0 24575,'47'2'0,"0"2"0,88 18 0,-84-14 0,69 3 0,-79-9 0,35 9 0,10-1 0,154-9 0,124 8 0,-280 1 0,284 19 0,3001-30 0,-2400 56-6784,-585-5 6232,-239-31 1846,3 1 3618,448 41-3782,-430-41-1130,323 81 0,-288-41 0,229 102 0,-183-43 0,-187-85 0,109 81 0,-146-97 0,-1 2 0,-1 0 0,-1 2 0,-1 0 0,-1 1 0,-1 1 0,0 0 0,20 45 0,-29-47 0,-1 1 0,-1-1 0,-1 2 0,2 25 0,-3-15 0,36 378 0,-38-385 0,5 343 0,-7-360 0,-1 1 0,0-1 0,-1 0 0,0 0 0,0 0 0,-1 0 0,0 0 0,-1 0 0,0-1 0,-1 0 0,0 0 0,0 0 0,-1 0 0,0-1 0,-1 0 0,1 0 0,-2-1 0,1 1 0,-1-2 0,-10 8 0,-29 15 0,0-2 0,-101 41 0,90-43 0,-531 209 0,483-197 0,-1-5 0,-2-4 0,-1-5 0,0-6 0,-114 5 0,-451-20 0,355-6 0,-1778 3 0,1080 2 0,217-53 0,491 24 0,-191-25 0,343 35 0,-4-5 0,-276-76 0,-144-99 0,501 163 0,2-4 0,1-3 0,2-4 0,-119-93 0,-250-257 0,415 367 0,-12-9 0,2-3 0,2-1 0,-62-89 0,88 110 0,1-1 0,1 0 0,-9-30 0,-17-74 0,18 56 0,8 30 0,2 1 0,2-1 0,-2-54 0,11-122 0,-2 207 0,7-91 0,-7 85 0,2 0 0,0 0 0,1 0 0,9-22 0,-9 30 0,1 1 0,-1-1 0,1 1 0,0 0 0,0 0 0,1 0 0,0 1 0,0 0 0,0 0 0,0 0 0,13-6 0,6-2 0,0 1 0,29-9 0,98-24-690,-137 41 15,83-22-6151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7:52:11.696"/>
    </inkml:context>
    <inkml:brush xml:id="br0">
      <inkml:brushProperty name="width" value="0.05" units="cm"/>
      <inkml:brushProperty name="height" value="0.05" units="cm"/>
      <inkml:brushProperty name="color" value="#E71224"/>
    </inkml:brush>
  </inkml:definitions>
  <inkml:trace contextRef="#ctx0" brushRef="#br0">0 26 24575,'14'-3'0,"0"-1"0,-1 2 0,2 0 0,25 0 0,-15 1 0,641-10-1263,-462 11 820,397-1 27,1168 4-427,-1734-3 843,456 9-129,-6 28-1121,-407-27-2597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40.693"/>
    </inkml:context>
    <inkml:brush xml:id="br0">
      <inkml:brushProperty name="width" value="0.05" units="cm"/>
      <inkml:brushProperty name="height" value="0.05" units="cm"/>
      <inkml:brushProperty name="color" value="#E71224"/>
    </inkml:brush>
  </inkml:definitions>
  <inkml:trace contextRef="#ctx0" brushRef="#br0">1 1 24575,'24'0'0,"30"0"0,61 7 0,-97-4 0,0 0 0,0 1 0,0 1 0,-1 1 0,1 0 0,-1 2 0,19 10 0,-24-10 0,1 0 0,-1 0 0,-1 1 0,0 1 0,0 0 0,-1 1 0,0 0 0,-1 0 0,0 1 0,-1 0 0,0 1 0,-1-1 0,0 2 0,-1-1 0,-1 1 0,0 0 0,-1 0 0,0 0 0,-1 0 0,-1 1 0,0 0 0,-1-1 0,-1 23 0,-1-32 0,0-1 0,0 1 0,-1 0 0,1-1 0,-1 1 0,0-1 0,0 0 0,-1 0 0,1 1 0,-1-1 0,0-1 0,0 1 0,-1 0 0,1-1 0,-1 0 0,1 0 0,-1 0 0,-5 3 0,-9 5 0,0 0 0,-34 13 0,49-22 0,-38 13 0,-1-2 0,-44 9 0,1-1 0,80-19 54,6 0 63,15 1 54,43 1-1878,63-2-5119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41.731"/>
    </inkml:context>
    <inkml:brush xml:id="br0">
      <inkml:brushProperty name="width" value="0.05" units="cm"/>
      <inkml:brushProperty name="height" value="0.05" units="cm"/>
      <inkml:brushProperty name="color" value="#E71224"/>
    </inkml:brush>
  </inkml:definitions>
  <inkml:trace contextRef="#ctx0" brushRef="#br0">1 0 24575,'10'0'0,"19"0"0,10 0 0,17 0 0,20 0 0,4 0 0,6 0 0,3 0 0,-10 0 0,-16 0 0,-14 0 0,-12 0 0,-12 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42.706"/>
    </inkml:context>
    <inkml:brush xml:id="br0">
      <inkml:brushProperty name="width" value="0.05" units="cm"/>
      <inkml:brushProperty name="height" value="0.05" units="cm"/>
      <inkml:brushProperty name="color" value="#E71224"/>
    </inkml:brush>
  </inkml:definitions>
  <inkml:trace contextRef="#ctx0" brushRef="#br0">17 0 24575,'0'4'0,"4"4"0,1 5 0,-1 6 0,0 5 0,-1 12 0,-2 13 0,0 7 0,-1 7 0,0 7 0,0-1 0,-4 2 0,-1-1 0,1-8 0,-4-5 0,1-1 0,1-6 0,2-13-8191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43.564"/>
    </inkml:context>
    <inkml:brush xml:id="br0">
      <inkml:brushProperty name="width" value="0.05" units="cm"/>
      <inkml:brushProperty name="height" value="0.05" units="cm"/>
      <inkml:brushProperty name="color" value="#E71224"/>
    </inkml:brush>
  </inkml:definitions>
  <inkml:trace contextRef="#ctx0" brushRef="#br0">147 1 24575,'0'65'0,"-2"125"0,-1-139 0,-17 87 0,-5-27 0,-51 142 0,59-202-1365,13-32-5461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47.015"/>
    </inkml:context>
    <inkml:brush xml:id="br0">
      <inkml:brushProperty name="width" value="0.05" units="cm"/>
      <inkml:brushProperty name="height" value="0.05" units="cm"/>
      <inkml:brushProperty name="color" value="#E71224"/>
    </inkml:brush>
  </inkml:definitions>
  <inkml:trace contextRef="#ctx0" brushRef="#br0">210 482 24575,'-16'242'0,"0"-70"0,-40 849 0,15-490 0,24-338 0,-46 1200 0,63-1345 0,13 425 0,-2 118-5590,-13-377 4396,2 714 7978,0-915-6784,-1-1 0,1 0 0,1 0 0,4 23 0,-5-33 0,1 1 0,-1-1 0,1 0 0,0 1 0,0-1 0,0 0 0,0 0 0,0 0 0,0 0 0,1 0 0,-1 0 0,1 0 0,-1 0 0,1-1 0,0 1 0,-1 0 0,1-1 0,0 0 0,0 1 0,0-1 0,0 0 0,0 0 0,1 0 0,-1 0 0,0 0 0,3 0 0,21 1 0,1 0 0,-1-2 0,30-3 0,-1 1 0,200-2 0,196-7 0,-210 6 0,-36 1 0,-76-7 0,-112 9 0,0-2 0,0 0 0,-1-1 0,1 0 0,21-12 0,-28 11 0,0 0 0,-1-1 0,0-1 0,0 1 0,-1-1 0,0-1 0,0 1 0,-1-2 0,0 1 0,11-20 0,1-8 0,24-66 0,-37 88 0,73-210-2826,63-290-1,-115 381 3813,-7-2-1,3-154 1,-21-277 1330,-5 279-1936,3-3361-380,0 3644 0,0 1 0,0-1 0,0 0 0,-1 0 0,0 1 0,0-1 0,0 0 0,0 1 0,-1-1 0,1 1 0,-1-1 0,-1 1 0,1 0 0,0 0 0,-1 0 0,0 0 0,0 0 0,0 1 0,-1-1 0,1 1 0,-1 0 0,0 0 0,1 0 0,-2 0 0,-3-2 0,-24-13 0,-1 1 0,0 2 0,-41-13 0,-108-23 0,108 36 0,-1 3 0,-104-3 0,-153 14 0,204 3 0,73-1-455,0 2 0,-104 20 0,133-17-6371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4.779"/>
    </inkml:context>
    <inkml:brush xml:id="br0">
      <inkml:brushProperty name="width" value="0.05" units="cm"/>
      <inkml:brushProperty name="height" value="0.05" units="cm"/>
      <inkml:brushProperty name="color" value="#E71224"/>
    </inkml:brush>
  </inkml:definitions>
  <inkml:trace contextRef="#ctx0" brushRef="#br0">72 1 24575,'0'830'0,"-11"-658"0,1-20 0,8-116 0,-2 0 0,-11 44 0,7-44 0,2-1 0,-2 46 0,4-42-1365,0-26-5461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4:59.777"/>
    </inkml:context>
    <inkml:brush xml:id="br0">
      <inkml:brushProperty name="width" value="0.05" units="cm"/>
      <inkml:brushProperty name="height" value="0.05" units="cm"/>
      <inkml:brushProperty name="color" value="#E71224"/>
    </inkml:brush>
  </inkml:definitions>
  <inkml:trace contextRef="#ctx0" brushRef="#br0">36 0 24575,'0'1347'0,"-17"-1114"0,14-211 0,-7 40-1365,5-39-5461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0.680"/>
    </inkml:context>
    <inkml:brush xml:id="br0">
      <inkml:brushProperty name="width" value="0.05" units="cm"/>
      <inkml:brushProperty name="height" value="0.05" units="cm"/>
      <inkml:brushProperty name="color" value="#E71224"/>
    </inkml:brush>
  </inkml:definitions>
  <inkml:trace contextRef="#ctx0" brushRef="#br0">1 1 24575,'13'502'0,"-4"178"0,-10-433 0,-3-204-1365,0-28-5461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1.999"/>
    </inkml:context>
    <inkml:brush xml:id="br0">
      <inkml:brushProperty name="width" value="0.05" units="cm"/>
      <inkml:brushProperty name="height" value="0.05" units="cm"/>
      <inkml:brushProperty name="color" value="#E71224"/>
    </inkml:brush>
  </inkml:definitions>
  <inkml:trace contextRef="#ctx0" brushRef="#br0">1 0 24575,'4'11'0,"0"0"0,-1 0 0,0 0 0,-1 0 0,0 0 0,0 15 0,1 1 0,20 298 0,-25 3 0,0-114 0,2 405-1365,0-601-5461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6.053"/>
    </inkml:context>
    <inkml:brush xml:id="br0">
      <inkml:brushProperty name="width" value="0.05" units="cm"/>
      <inkml:brushProperty name="height" value="0.05" units="cm"/>
      <inkml:brushProperty name="color" value="#E71224"/>
    </inkml:brush>
  </inkml:definitions>
  <inkml:trace contextRef="#ctx0" brushRef="#br0">0 1 24575,'0'1364'-1365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6.922"/>
    </inkml:context>
    <inkml:brush xml:id="br0">
      <inkml:brushProperty name="width" value="0.05" units="cm"/>
      <inkml:brushProperty name="height" value="0.05" units="cm"/>
      <inkml:brushProperty name="color" value="#E71224"/>
    </inkml:brush>
  </inkml:definitions>
  <inkml:trace contextRef="#ctx0" brushRef="#br0">1 0 24575,'1'31'0,"8"39"0,0 17 0,-5 541 0,-6-340 0,2 6-1365,0-277-5461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7.773"/>
    </inkml:context>
    <inkml:brush xml:id="br0">
      <inkml:brushProperty name="width" value="0.05" units="cm"/>
      <inkml:brushProperty name="height" value="0.05" units="cm"/>
      <inkml:brushProperty name="color" value="#E71224"/>
    </inkml:brush>
  </inkml:definitions>
  <inkml:trace contextRef="#ctx0" brushRef="#br0">85 1 24575,'-2'2'0,"0"1"0,0-1 0,0 1 0,0 0 0,1 0 0,0 0 0,-1 0 0,1 0 0,0 0 0,1 0 0,-1 0 0,0 6 0,-2 44 0,3-37 0,-2 178 0,-5 84 0,-5-108 0,-10 250 0,21-391 0,-9 44 0,6-43 0,-2 39 0,6-28-1365,0-23-5461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3T06:15:08.407"/>
    </inkml:context>
    <inkml:brush xml:id="br0">
      <inkml:brushProperty name="width" value="0.05" units="cm"/>
      <inkml:brushProperty name="height" value="0.05" units="cm"/>
      <inkml:brushProperty name="color" value="#E71224"/>
    </inkml:brush>
  </inkml:definitions>
  <inkml:trace contextRef="#ctx0" brushRef="#br0">163 1 24575,'-5'155'0,"-39"240"0,-29 183 0,47 4 0,26-561-273,0-1 0,-1 0 0,-2 0 0,-4 20 0,4-26-6553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879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0103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7872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26802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62268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在传统的</a:t>
            </a:r>
            <a:r>
              <a:rPr lang="en-US" altLang="zh-CN"/>
              <a:t>IP</a:t>
            </a:r>
            <a:r>
              <a:rPr lang="zh-CN" altLang="en-US"/>
              <a:t>网络中，所有的报文都被无区别的等同对待，每个转发设备对所有的报文均采用先入先出的策略进行处理，它尽最大的努力（</a:t>
            </a:r>
            <a:r>
              <a:rPr lang="en-US" altLang="zh-CN"/>
              <a:t>Best-Effort</a:t>
            </a:r>
            <a:r>
              <a:rPr lang="zh-CN" altLang="en-US"/>
              <a:t>）将报文送到目的地，但对报文传送的可靠性、传送延迟等性能不提供任何保证。</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44308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网络发展日新月异，随着</a:t>
            </a:r>
            <a:r>
              <a:rPr lang="en-US" altLang="zh-CN"/>
              <a:t>IP</a:t>
            </a:r>
            <a:r>
              <a:rPr lang="zh-CN" altLang="en-US"/>
              <a:t>网络上新应用的不断出现，对</a:t>
            </a:r>
            <a:r>
              <a:rPr lang="en-US" altLang="zh-CN"/>
              <a:t>IP</a:t>
            </a:r>
            <a:r>
              <a:rPr lang="zh-CN" altLang="en-US"/>
              <a:t>网络的服务质量也提出了新的要求。</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73404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为了支持具有不同服务需求的语音、视频以及数据等业务，要求网络能够区分出不同的通信，进而提供相应的服务。</a:t>
            </a:r>
            <a:endParaRPr lang="en-US" altLang="zh-CN" dirty="0"/>
          </a:p>
          <a:p>
            <a:pPr lvl="1"/>
            <a:r>
              <a:rPr lang="zh-CN" altLang="en-US" dirty="0"/>
              <a:t>例如</a:t>
            </a:r>
            <a:r>
              <a:rPr lang="en-US" altLang="zh-CN" dirty="0"/>
              <a:t>VoIP</a:t>
            </a:r>
            <a:r>
              <a:rPr lang="zh-CN" altLang="en-US" dirty="0"/>
              <a:t>等实时业务就对报文的传输延迟提出了较高要求，如果报文传送延时太长，用户将不能接受（相对而言，</a:t>
            </a:r>
            <a:r>
              <a:rPr lang="en-US" altLang="zh-CN" dirty="0"/>
              <a:t>E-Mail</a:t>
            </a:r>
            <a:r>
              <a:rPr lang="zh-CN" altLang="en-US" dirty="0"/>
              <a:t>和</a:t>
            </a:r>
            <a:r>
              <a:rPr lang="en-US" altLang="zh-CN" dirty="0"/>
              <a:t>FTP</a:t>
            </a:r>
            <a:r>
              <a:rPr lang="zh-CN" altLang="en-US" dirty="0"/>
              <a:t>业务对时间延迟并不敏感）。</a:t>
            </a:r>
            <a:endParaRPr lang="en-US" altLang="zh-CN" dirty="0"/>
          </a:p>
          <a:p>
            <a:r>
              <a:rPr lang="zh-CN" altLang="en-US" dirty="0"/>
              <a:t>为了支持具有不同服务需求的语音、视频以及数据等业务，要求网络能够区分出不同的通信，进而为之提供相应的服务。</a:t>
            </a:r>
            <a:endParaRPr lang="en-US" altLang="zh-CN" dirty="0"/>
          </a:p>
          <a:p>
            <a:pPr lvl="1"/>
            <a:r>
              <a:rPr lang="zh-CN" altLang="en-US" dirty="0"/>
              <a:t>传统</a:t>
            </a:r>
            <a:r>
              <a:rPr lang="en-US" altLang="zh-CN" dirty="0"/>
              <a:t>IP</a:t>
            </a:r>
            <a:r>
              <a:rPr lang="zh-CN" altLang="en-US" dirty="0"/>
              <a:t>网络的尽力服务不可能识别和区分出网络中的各种通信类别，而具备通信类别的区分能力正是为不同的通信提供不同服务的前提，所以说传统网络的尽力服务模式已不能满足应用的需要。</a:t>
            </a:r>
            <a:r>
              <a:rPr lang="en-US" altLang="zh-CN" dirty="0"/>
              <a:t>——</a:t>
            </a:r>
            <a:r>
              <a:rPr lang="en-US" altLang="zh-CN" dirty="0" err="1"/>
              <a:t>QoS</a:t>
            </a:r>
            <a:r>
              <a:rPr lang="zh-CN" altLang="en-US" dirty="0"/>
              <a:t>的提出。</a:t>
            </a:r>
            <a:endParaRPr lang="en-US" altLang="zh-CN" dirty="0"/>
          </a:p>
          <a:p>
            <a:r>
              <a:rPr lang="zh-CN" altLang="en-US" dirty="0"/>
              <a:t>那么，什么是</a:t>
            </a:r>
            <a:r>
              <a:rPr lang="en-US" altLang="zh-CN" dirty="0" err="1"/>
              <a:t>QoS</a:t>
            </a:r>
            <a:r>
              <a:rPr lang="zh-CN" altLang="en-US" dirty="0"/>
              <a:t>？</a:t>
            </a:r>
            <a:endParaRPr lang="en-US" altLang="zh-CN" dirty="0"/>
          </a:p>
          <a:p>
            <a:r>
              <a:rPr lang="en-US" altLang="zh-CN" dirty="0" err="1"/>
              <a:t>QoS</a:t>
            </a:r>
            <a:r>
              <a:rPr lang="zh-CN" altLang="en-US" dirty="0"/>
              <a:t>旨在针对各种应用的不同需求，为其提供不同的服务质量。如：</a:t>
            </a:r>
          </a:p>
          <a:p>
            <a:pPr lvl="1"/>
            <a:r>
              <a:rPr lang="zh-CN" altLang="en-US" dirty="0"/>
              <a:t>可以限制骨干网上 </a:t>
            </a:r>
            <a:r>
              <a:rPr lang="en-US" altLang="zh-CN" dirty="0"/>
              <a:t>FTP </a:t>
            </a:r>
            <a:r>
              <a:rPr lang="zh-CN" altLang="en-US" dirty="0"/>
              <a:t>使用的带宽，也可以给数据库访问以较高优先级。</a:t>
            </a:r>
          </a:p>
          <a:p>
            <a:pPr lvl="1"/>
            <a:r>
              <a:rPr lang="zh-CN" altLang="en-US" dirty="0"/>
              <a:t>对于 </a:t>
            </a:r>
            <a:r>
              <a:rPr lang="en-US" altLang="zh-CN" dirty="0"/>
              <a:t>ISP</a:t>
            </a:r>
            <a:r>
              <a:rPr lang="zh-CN" altLang="en-US" dirty="0"/>
              <a:t>，其用户可能传送语音、视频或其他实时业务，</a:t>
            </a:r>
            <a:r>
              <a:rPr lang="en-US" altLang="zh-CN" dirty="0" err="1"/>
              <a:t>QoS</a:t>
            </a:r>
            <a:r>
              <a:rPr lang="en-US" altLang="zh-CN" dirty="0"/>
              <a:t> </a:t>
            </a:r>
            <a:r>
              <a:rPr lang="zh-CN" altLang="en-US" dirty="0"/>
              <a:t>使</a:t>
            </a:r>
            <a:r>
              <a:rPr lang="en-US" altLang="zh-CN" dirty="0"/>
              <a:t>ISP </a:t>
            </a:r>
            <a:r>
              <a:rPr lang="zh-CN" altLang="en-US" dirty="0"/>
              <a:t>能区分这些不同的报文，并提供不同服务。</a:t>
            </a:r>
          </a:p>
          <a:p>
            <a:pPr lvl="1"/>
            <a:r>
              <a:rPr lang="zh-CN" altLang="en-US" dirty="0"/>
              <a:t>可以为时间敏感的多媒体业务提供带宽和低时延保证，而其他业务在使用网络时，也不会影响这些时间敏感的业务。</a:t>
            </a:r>
          </a:p>
        </p:txBody>
      </p:sp>
      <p:sp>
        <p:nvSpPr>
          <p:cNvPr id="9" name="幻灯片图像占位符 8"/>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32713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38630"/>
            <a:ext cx="5580062" cy="4784070"/>
          </a:xfrm>
        </p:spPr>
        <p:txBody>
          <a:bodyPr/>
          <a:lstStyle/>
          <a:p>
            <a:r>
              <a:rPr lang="zh-CN" altLang="en-US" dirty="0"/>
              <a:t>影响</a:t>
            </a:r>
            <a:r>
              <a:rPr lang="en-US" altLang="zh-CN" dirty="0" err="1"/>
              <a:t>QoS</a:t>
            </a:r>
            <a:r>
              <a:rPr lang="zh-CN" altLang="en-US" dirty="0"/>
              <a:t>的因素又有哪些呢？</a:t>
            </a:r>
            <a:endParaRPr lang="en-US" altLang="zh-CN" dirty="0"/>
          </a:p>
          <a:p>
            <a:pPr lvl="1"/>
            <a:r>
              <a:rPr lang="zh-CN" altLang="en-US" dirty="0"/>
              <a:t>带宽（</a:t>
            </a:r>
            <a:r>
              <a:rPr lang="en-US" altLang="zh-CN" dirty="0"/>
              <a:t>Bandwidth</a:t>
            </a:r>
            <a:r>
              <a:rPr lang="zh-CN" altLang="en-US" dirty="0"/>
              <a:t>）</a:t>
            </a:r>
            <a:r>
              <a:rPr lang="en-US" altLang="zh-CN" dirty="0"/>
              <a:t>: </a:t>
            </a:r>
            <a:r>
              <a:rPr lang="zh-CN" altLang="en-US" dirty="0"/>
              <a:t>网络中</a:t>
            </a:r>
            <a:r>
              <a:rPr lang="en-US" altLang="zh-CN" dirty="0"/>
              <a:t>IP</a:t>
            </a:r>
            <a:r>
              <a:rPr lang="zh-CN" altLang="en-US" dirty="0"/>
              <a:t>包的传输速率，可用平均速率或峰值速率来表征。</a:t>
            </a:r>
            <a:r>
              <a:rPr lang="en-US" altLang="zh-CN" dirty="0"/>
              <a:t>——</a:t>
            </a:r>
            <a:r>
              <a:rPr lang="zh-CN" altLang="en-US" dirty="0"/>
              <a:t>带宽竞争，可以通过增大带宽来解决，但不能无限增大。</a:t>
            </a:r>
          </a:p>
          <a:p>
            <a:pPr lvl="1"/>
            <a:r>
              <a:rPr lang="zh-CN" altLang="en-US" dirty="0"/>
              <a:t>延迟 （</a:t>
            </a:r>
            <a:r>
              <a:rPr lang="en-US" altLang="zh-CN" dirty="0"/>
              <a:t>Latency</a:t>
            </a:r>
            <a:r>
              <a:rPr lang="zh-CN" altLang="en-US" dirty="0"/>
              <a:t>）</a:t>
            </a:r>
            <a:r>
              <a:rPr lang="en-US" altLang="zh-CN" dirty="0"/>
              <a:t>: </a:t>
            </a:r>
            <a:r>
              <a:rPr lang="zh-CN" altLang="en-US" dirty="0"/>
              <a:t>在两个参考点间，某一</a:t>
            </a:r>
            <a:r>
              <a:rPr lang="en-US" altLang="zh-CN" dirty="0"/>
              <a:t>IP</a:t>
            </a:r>
            <a:r>
              <a:rPr lang="zh-CN" altLang="en-US" dirty="0"/>
              <a:t>包从发送到接收间的时间间隔。</a:t>
            </a:r>
            <a:r>
              <a:rPr lang="en-US" altLang="zh-CN" dirty="0"/>
              <a:t>——</a:t>
            </a:r>
            <a:r>
              <a:rPr lang="zh-CN" altLang="en-US" dirty="0"/>
              <a:t>时延敏感流量，如视频、语音等。</a:t>
            </a:r>
          </a:p>
          <a:p>
            <a:pPr lvl="1"/>
            <a:r>
              <a:rPr lang="zh-CN" altLang="en-US" dirty="0"/>
              <a:t>时延抖动 </a:t>
            </a:r>
            <a:r>
              <a:rPr lang="en-US" altLang="zh-CN" dirty="0"/>
              <a:t>(Jitter</a:t>
            </a:r>
            <a:r>
              <a:rPr lang="zh-CN" altLang="en-US" dirty="0"/>
              <a:t>）</a:t>
            </a:r>
            <a:r>
              <a:rPr lang="en-US" altLang="zh-CN" dirty="0"/>
              <a:t>: </a:t>
            </a:r>
            <a:r>
              <a:rPr lang="zh-CN" altLang="en-US" dirty="0"/>
              <a:t>沿同一路径传输的一个数据流（</a:t>
            </a:r>
            <a:r>
              <a:rPr lang="en-US" altLang="zh-CN" dirty="0"/>
              <a:t>Stream</a:t>
            </a:r>
            <a:r>
              <a:rPr lang="zh-CN" altLang="en-US" dirty="0"/>
              <a:t>）中，不同分组传输延迟的变化。</a:t>
            </a:r>
            <a:r>
              <a:rPr lang="en-US" altLang="zh-CN" dirty="0"/>
              <a:t>——</a:t>
            </a:r>
            <a:r>
              <a:rPr lang="zh-CN" altLang="en-US" dirty="0"/>
              <a:t>与时延相关，时延小则抖动的范围小，对语音、视频等实时业务影响大。</a:t>
            </a:r>
          </a:p>
          <a:p>
            <a:pPr lvl="1"/>
            <a:r>
              <a:rPr lang="zh-CN" altLang="en-US" dirty="0"/>
              <a:t>丢包率（</a:t>
            </a:r>
            <a:r>
              <a:rPr lang="en-US" altLang="zh-CN" dirty="0"/>
              <a:t>Packet Loss</a:t>
            </a:r>
            <a:r>
              <a:rPr lang="zh-CN" altLang="en-US" dirty="0"/>
              <a:t>）</a:t>
            </a:r>
            <a:r>
              <a:rPr lang="en-US" altLang="zh-CN" dirty="0"/>
              <a:t>: </a:t>
            </a:r>
            <a:r>
              <a:rPr lang="zh-CN" altLang="en-US" dirty="0"/>
              <a:t>某一业务在网络中传输时，可允许的最大丢包率。</a:t>
            </a:r>
            <a:r>
              <a:rPr lang="en-US" altLang="zh-CN" dirty="0"/>
              <a:t>——</a:t>
            </a:r>
            <a:r>
              <a:rPr lang="zh-CN" altLang="en-US" dirty="0"/>
              <a:t>衡量网络可靠性，少量丢包对业务的影响不大，但大量丢包会严重影响传输效率。</a:t>
            </a:r>
          </a:p>
          <a:p>
            <a:pPr lvl="1"/>
            <a:r>
              <a:rPr lang="zh-CN" altLang="en-US" dirty="0"/>
              <a:t>可用性（</a:t>
            </a:r>
            <a:r>
              <a:rPr lang="en-US" altLang="zh-CN" dirty="0"/>
              <a:t>Availability</a:t>
            </a:r>
            <a:r>
              <a:rPr lang="zh-CN" altLang="en-US" dirty="0"/>
              <a:t>）</a:t>
            </a:r>
            <a:r>
              <a:rPr lang="en-US" altLang="zh-CN" dirty="0"/>
              <a:t>: </a:t>
            </a:r>
            <a:r>
              <a:rPr lang="zh-CN" altLang="en-US" dirty="0"/>
              <a:t>用户与</a:t>
            </a:r>
            <a:r>
              <a:rPr lang="en-US" altLang="zh-CN" dirty="0"/>
              <a:t>IP</a:t>
            </a:r>
            <a:r>
              <a:rPr lang="zh-CN" altLang="en-US" dirty="0"/>
              <a:t>业务连接的可靠性，包括建立时间、保持时间等。</a:t>
            </a:r>
          </a:p>
          <a:p>
            <a:endParaRPr lang="zh-CN" altLang="en-US" dirty="0"/>
          </a:p>
        </p:txBody>
      </p:sp>
    </p:spTree>
    <p:extLst>
      <p:ext uri="{BB962C8B-B14F-4D97-AF65-F5344CB8AC3E}">
        <p14:creationId xmlns:p14="http://schemas.microsoft.com/office/powerpoint/2010/main" val="215935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通常</a:t>
            </a:r>
            <a:r>
              <a:rPr lang="en-US" altLang="zh-CN" dirty="0" err="1"/>
              <a:t>QoS</a:t>
            </a:r>
            <a:r>
              <a:rPr lang="zh-CN" altLang="en-US" dirty="0"/>
              <a:t>提供以下三种服务模型：</a:t>
            </a:r>
            <a:endParaRPr lang="en-US" altLang="zh-CN" dirty="0"/>
          </a:p>
          <a:p>
            <a:pPr lvl="1"/>
            <a:r>
              <a:rPr lang="en-US" altLang="zh-CN" dirty="0"/>
              <a:t>Best-Effort service</a:t>
            </a:r>
            <a:r>
              <a:rPr lang="zh-CN" altLang="en-US" dirty="0"/>
              <a:t>（尽力而为服务模型）</a:t>
            </a:r>
          </a:p>
          <a:p>
            <a:pPr lvl="1"/>
            <a:r>
              <a:rPr lang="en-US" altLang="zh-CN" dirty="0"/>
              <a:t>Integrated service</a:t>
            </a:r>
            <a:r>
              <a:rPr lang="zh-CN" altLang="en-US" dirty="0"/>
              <a:t>（综合服务模型，简称</a:t>
            </a:r>
            <a:r>
              <a:rPr lang="en-US" altLang="zh-CN" dirty="0" err="1"/>
              <a:t>IntServ</a:t>
            </a:r>
            <a:r>
              <a:rPr lang="zh-CN" altLang="en-US" dirty="0"/>
              <a:t>）</a:t>
            </a:r>
          </a:p>
          <a:p>
            <a:pPr lvl="1"/>
            <a:r>
              <a:rPr lang="en-US" altLang="zh-CN" dirty="0"/>
              <a:t>Differentiated service</a:t>
            </a:r>
            <a:r>
              <a:rPr lang="zh-CN" altLang="en-US" dirty="0"/>
              <a:t>（区分服务模型，简称</a:t>
            </a:r>
            <a:r>
              <a:rPr lang="en-US" altLang="zh-CN" dirty="0" err="1"/>
              <a:t>DiffServ</a:t>
            </a:r>
            <a:r>
              <a:rPr lang="zh-CN" altLang="en-US" dirty="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06504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Best-Effort</a:t>
            </a:r>
            <a:r>
              <a:rPr lang="zh-CN" altLang="en-US" dirty="0"/>
              <a:t>是最简单的服务模型。</a:t>
            </a:r>
            <a:endParaRPr lang="en-US" altLang="zh-CN" dirty="0"/>
          </a:p>
          <a:p>
            <a:r>
              <a:rPr lang="zh-CN" altLang="en-US" dirty="0"/>
              <a:t>应用程序可以在任何时候，发出任意数量的报文，而且不需要事先获得批准，也不需要通知网络。</a:t>
            </a:r>
            <a:endParaRPr lang="en-US" altLang="zh-CN" dirty="0"/>
          </a:p>
          <a:p>
            <a:r>
              <a:rPr lang="zh-CN" altLang="en-US" dirty="0"/>
              <a:t>对</a:t>
            </a:r>
            <a:r>
              <a:rPr lang="en-US" altLang="zh-CN" dirty="0"/>
              <a:t>Best-Effort</a:t>
            </a:r>
            <a:r>
              <a:rPr lang="zh-CN" altLang="en-US" dirty="0"/>
              <a:t>服务，网络尽最大的可能性来发送报文。但对时延、可靠性等性能不提供任何保证。</a:t>
            </a:r>
          </a:p>
          <a:p>
            <a:r>
              <a:rPr lang="en-US" altLang="zh-CN" dirty="0"/>
              <a:t>Best-Effort</a:t>
            </a:r>
            <a:r>
              <a:rPr lang="zh-CN" altLang="en-US" dirty="0"/>
              <a:t>服务是现在</a:t>
            </a:r>
            <a:r>
              <a:rPr lang="en-US" altLang="zh-CN" dirty="0"/>
              <a:t>Internet</a:t>
            </a:r>
            <a:r>
              <a:rPr lang="zh-CN" altLang="en-US" dirty="0"/>
              <a:t>的缺省服务模型，它适用于绝大多数网络应用，如</a:t>
            </a:r>
            <a:r>
              <a:rPr lang="en-US" altLang="zh-CN" dirty="0"/>
              <a:t>FTP</a:t>
            </a:r>
            <a:r>
              <a:rPr lang="zh-CN" altLang="en-US" dirty="0"/>
              <a:t>、</a:t>
            </a:r>
            <a:r>
              <a:rPr lang="en-US" altLang="zh-CN" dirty="0"/>
              <a:t>E-Mail</a:t>
            </a:r>
            <a:r>
              <a:rPr lang="zh-CN" altLang="en-US" dirty="0"/>
              <a:t>等，它通过</a:t>
            </a:r>
            <a:r>
              <a:rPr lang="en-US" altLang="zh-CN" dirty="0"/>
              <a:t>FIFO</a:t>
            </a:r>
            <a:r>
              <a:rPr lang="zh-CN" altLang="en-US" dirty="0"/>
              <a:t>队列来实现。</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03923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err="1"/>
              <a:t>IntServ</a:t>
            </a:r>
            <a:r>
              <a:rPr lang="zh-CN" altLang="en-US" dirty="0"/>
              <a:t>是一个综合服务模型，它可以满足多种</a:t>
            </a:r>
            <a:r>
              <a:rPr lang="en-US" altLang="zh-CN" dirty="0"/>
              <a:t>QoS</a:t>
            </a:r>
            <a:r>
              <a:rPr lang="zh-CN" altLang="en-US" dirty="0"/>
              <a:t>需求。</a:t>
            </a:r>
            <a:endParaRPr lang="en-US" altLang="zh-CN" dirty="0"/>
          </a:p>
          <a:p>
            <a:r>
              <a:rPr lang="zh-CN" altLang="en-US" dirty="0"/>
              <a:t>这种服务模型在发送报文前，需要向网络申请特定的服务。这个请求是通过信令</a:t>
            </a:r>
            <a:r>
              <a:rPr lang="en-US" altLang="zh-CN" dirty="0"/>
              <a:t>RSVP</a:t>
            </a:r>
            <a:r>
              <a:rPr lang="zh-CN" altLang="en-US" dirty="0"/>
              <a:t>来完成的，</a:t>
            </a:r>
            <a:r>
              <a:rPr lang="en-US" altLang="zh-CN" dirty="0"/>
              <a:t>RSVP</a:t>
            </a:r>
            <a:r>
              <a:rPr lang="zh-CN" altLang="en-US" dirty="0"/>
              <a:t>是在应用程序开始发送报文之前来为该应用申请网络资源的。</a:t>
            </a:r>
            <a:endParaRPr lang="en-US" altLang="zh-CN" dirty="0"/>
          </a:p>
          <a:p>
            <a:r>
              <a:rPr lang="zh-CN" altLang="en-US" dirty="0"/>
              <a:t>一旦网络确认为应用程序分配资源，则网络将为每个流（</a:t>
            </a:r>
            <a:r>
              <a:rPr lang="en-US" altLang="zh-CN" dirty="0"/>
              <a:t>Flow</a:t>
            </a:r>
            <a:r>
              <a:rPr lang="zh-CN" altLang="en-US" dirty="0"/>
              <a:t>，由两端的</a:t>
            </a:r>
            <a:r>
              <a:rPr lang="en-US" altLang="zh-CN" dirty="0"/>
              <a:t>IP</a:t>
            </a:r>
            <a:r>
              <a:rPr lang="zh-CN" altLang="en-US" dirty="0"/>
              <a:t>地址、端口号、协议号确定）维护一个状态，并基于这个状态执行报文的分类、流量监管、排队及其调度。应用程序在收到网络的确认信息（即确认网络已经为这个应用程序的报文预留了资源）后，才开始发送报文。只要应用程序的报文控制在流量参数描述的范围内，网络将承诺满足应用程序的</a:t>
            </a:r>
            <a:r>
              <a:rPr lang="en-US" altLang="zh-CN" dirty="0"/>
              <a:t>QoS</a:t>
            </a:r>
            <a:r>
              <a:rPr lang="zh-CN" altLang="en-US" dirty="0"/>
              <a:t>需求。</a:t>
            </a:r>
            <a:endParaRPr lang="en-US" altLang="zh-CN" dirty="0"/>
          </a:p>
          <a:p>
            <a:r>
              <a:rPr lang="zh-CN" altLang="en-US" dirty="0"/>
              <a:t>小例子：就好比你要预定车辆，需要事先申请，声明想要什么样的服务，在资源满足的情况下，预留资源以满足该请求。</a:t>
            </a:r>
            <a:endParaRPr lang="en-US" altLang="zh-CN" dirty="0"/>
          </a:p>
          <a:p>
            <a:r>
              <a:rPr lang="zh-CN" altLang="en-US" dirty="0"/>
              <a:t>但是这样也有一个缺点，车辆服务方要为此维护大量的订车信息。</a:t>
            </a:r>
            <a:endParaRPr lang="en-US" altLang="zh-CN" dirty="0"/>
          </a:p>
          <a:p>
            <a:r>
              <a:rPr lang="zh-CN" altLang="en-US" dirty="0"/>
              <a:t>缺点：实现较复杂；当无流量发送时，仍然独占带宽，使用率较低；该方案要求端到端所有节点设备都支持并运行</a:t>
            </a:r>
            <a:r>
              <a:rPr lang="en-US" altLang="zh-CN" dirty="0"/>
              <a:t>RSVP</a:t>
            </a:r>
            <a:r>
              <a:rPr lang="zh-CN" altLang="en-US" dirty="0"/>
              <a:t>协议。</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146866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err="1"/>
              <a:t>DiffServ</a:t>
            </a:r>
            <a:r>
              <a:rPr lang="zh-CN" altLang="en-US" dirty="0"/>
              <a:t>是一个多服务模型，它也可以满足不同的</a:t>
            </a:r>
            <a:r>
              <a:rPr lang="en-US" altLang="zh-CN" dirty="0"/>
              <a:t>QoS</a:t>
            </a:r>
            <a:r>
              <a:rPr lang="zh-CN" altLang="en-US" dirty="0"/>
              <a:t>需求。该模型目前</a:t>
            </a:r>
            <a:r>
              <a:rPr lang="en-US" altLang="zh-CN" dirty="0"/>
              <a:t>IP</a:t>
            </a:r>
            <a:r>
              <a:rPr lang="zh-CN" altLang="en-US" dirty="0"/>
              <a:t>网络广泛使用。</a:t>
            </a:r>
            <a:endParaRPr lang="en-US" altLang="zh-CN" dirty="0"/>
          </a:p>
          <a:p>
            <a:r>
              <a:rPr lang="zh-CN" altLang="en-US" dirty="0"/>
              <a:t>应用程序在发出报文前，不需要通知网络为其预留资源。对</a:t>
            </a:r>
            <a:r>
              <a:rPr lang="en-US" altLang="zh-CN" dirty="0" err="1"/>
              <a:t>DiffServ</a:t>
            </a:r>
            <a:r>
              <a:rPr lang="zh-CN" altLang="en-US" dirty="0"/>
              <a:t>服务模型，网络不需要为每个流维护状态，它根据每个报文的差分服务类（各报文头中的差分服务标记字段，如</a:t>
            </a:r>
            <a:r>
              <a:rPr lang="en-US" altLang="zh-CN" dirty="0"/>
              <a:t>IP</a:t>
            </a:r>
            <a:r>
              <a:rPr lang="zh-CN" altLang="en-US" dirty="0"/>
              <a:t>头的</a:t>
            </a:r>
            <a:r>
              <a:rPr lang="en-US" altLang="zh-CN" dirty="0"/>
              <a:t>DS Field</a:t>
            </a:r>
            <a:r>
              <a:rPr lang="zh-CN" altLang="en-US" dirty="0"/>
              <a:t>），来提供特定的服务。</a:t>
            </a:r>
            <a:endParaRPr lang="en-US" altLang="zh-CN" dirty="0"/>
          </a:p>
          <a:p>
            <a:r>
              <a:rPr lang="zh-CN" altLang="en-US" dirty="0"/>
              <a:t>其实就是将网络中的流量分成多个类，不同的类采用不同的处理。也就是说，先对流量分类，然后把类别标记在报文头中，通过报文携带到网络上，网络各节点只需要简单地识别报文中的这些标记，进行相应的处理。</a:t>
            </a:r>
            <a:endParaRPr lang="en-US" altLang="zh-CN" dirty="0"/>
          </a:p>
          <a:p>
            <a:r>
              <a:rPr lang="zh-CN" altLang="en-US" dirty="0"/>
              <a:t>小例子：就好比你去坐火车，火车票就是用来标记你所要享受的服务，是软卧、硬卧、硬座还是无座。火车票你随身携带，上车时你根据火车票进入对应的车厢，享受相应的服务：进入卧铺车厢的，可以舒服的躺着，进入硬座车厢，表示要坐着或站着咯。车票就相当于报文头中的“标记”。</a:t>
            </a:r>
          </a:p>
          <a:p>
            <a:r>
              <a:rPr lang="zh-CN" altLang="en-US" dirty="0"/>
              <a:t>除了流分类和标记，差分服务比较优秀的地方还有强大的队列技术。当网络拥塞，也就是进来的报文太多，设备处理不过来，就让报文排队。</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86180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流量限速：流量监管和流量整形，通过监督进入网络的流量速率，用来限制流量及其资源的使用，保证更好的为用户提供服务。</a:t>
            </a:r>
            <a:endParaRPr lang="en-US" altLang="zh-CN" dirty="0"/>
          </a:p>
          <a:p>
            <a:r>
              <a:rPr lang="zh-CN" altLang="en-US" dirty="0"/>
              <a:t>拥塞避免和拥塞管理：通过配置拥塞管理和拥塞避免，当网络中发生拥塞时，设备按照一定的调度策略决定报文的转发次序，使关键业务得到优先处理，或者主动丢弃报文，通过调整网络流量来解除网络过载。</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90821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QoS</a:t>
            </a:r>
            <a:r>
              <a:rPr lang="zh-CN" altLang="en-US" dirty="0"/>
              <a:t>技术提供了下述功能：</a:t>
            </a:r>
          </a:p>
          <a:p>
            <a:pPr lvl="1"/>
            <a:r>
              <a:rPr lang="zh-CN" altLang="en-US" dirty="0"/>
              <a:t>流量分类和标记：依据一定的匹配规则识别出对象，是有区别地实施服务的前提，通常作用在接口入方向。</a:t>
            </a:r>
          </a:p>
          <a:p>
            <a:pPr lvl="1"/>
            <a:r>
              <a:rPr lang="zh-CN" altLang="en-US" dirty="0"/>
              <a:t>令牌桶：使用令牌桶对流量进行评估，是否满足报文转发的条件。</a:t>
            </a:r>
            <a:endParaRPr lang="en-US" altLang="zh-CN" dirty="0"/>
          </a:p>
          <a:p>
            <a:pPr lvl="1"/>
            <a:r>
              <a:rPr lang="zh-CN" altLang="en-US" dirty="0"/>
              <a:t>流量监管：对进入设备的特定流量的规格进行监管，通常作用在接口入方向。当流量超出规格时，可以采取限制或惩罚措施，以保护运营商的商业利益和网络资源不受损害。</a:t>
            </a:r>
            <a:endParaRPr lang="en-US" altLang="zh-CN" dirty="0"/>
          </a:p>
          <a:p>
            <a:pPr lvl="1"/>
            <a:r>
              <a:rPr lang="zh-CN" altLang="en-US" dirty="0"/>
              <a:t>拥塞避免：过度的拥塞会对网络资源造成损害，拥塞避免监督网络资源的使用情况，当发现拥塞有加剧的趋势时采取主动丢弃报文的策略，通过调整流量来解除网络的过载，通常作用在接口出方向。</a:t>
            </a:r>
          </a:p>
          <a:p>
            <a:pPr lvl="1"/>
            <a:r>
              <a:rPr lang="zh-CN" altLang="en-US" dirty="0"/>
              <a:t>拥塞管理：是必须采取的解决资源竞争的措施，将报文放入队列中缓存，并采取某种调度算法安排报文的转发次序，通常作用在接口出方向。</a:t>
            </a:r>
            <a:endParaRPr lang="en-US" altLang="zh-CN" dirty="0"/>
          </a:p>
          <a:p>
            <a:pPr lvl="1"/>
            <a:r>
              <a:rPr lang="zh-CN" altLang="en-US" dirty="0"/>
              <a:t>流量整形：一种主动调整流的输出速率的流控措施，是为了使流量适配下游设备可供给的网络资源，避免不必要的报文丢弃和拥塞，通常作用在接口出方向。</a:t>
            </a:r>
            <a:endParaRPr lang="en-US" altLang="zh-CN" dirty="0"/>
          </a:p>
          <a:p>
            <a:endParaRPr lang="en-US" altLang="zh-CN" dirty="0"/>
          </a:p>
          <a:p>
            <a:endParaRPr lang="en-US" altLang="zh-CN" dirty="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08146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dirty="0"/>
              <a:t>A</a:t>
            </a:r>
            <a:r>
              <a:rPr lang="en-US" altLang="zh-CN" dirty="0"/>
              <a:t>BC</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95578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2199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46224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流量分类和标记：依据一定的匹配规则识别出对象，是有区别地实施服务的前提，通常作用在接口入方向。</a:t>
            </a:r>
          </a:p>
          <a:p>
            <a:endParaRPr lang="zh-CN" altLang="en-US" dirty="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56047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spcAft>
                <a:spcPts val="300"/>
              </a:spcAft>
            </a:pPr>
            <a:r>
              <a:rPr lang="zh-CN" altLang="en-US" dirty="0"/>
              <a:t>要实现差分服务，就需要对进入</a:t>
            </a:r>
            <a:r>
              <a:rPr lang="en-US" altLang="zh-CN" dirty="0" err="1"/>
              <a:t>DiffServ</a:t>
            </a:r>
            <a:r>
              <a:rPr lang="zh-CN" altLang="en-US" dirty="0"/>
              <a:t>域的流量按照一定的规则进行分类，然后根据不同类别的流量提供不同的服务。</a:t>
            </a:r>
            <a:endParaRPr lang="en-US" altLang="zh-CN" dirty="0"/>
          </a:p>
          <a:p>
            <a:pPr lvl="0">
              <a:spcAft>
                <a:spcPts val="300"/>
              </a:spcAft>
            </a:pPr>
            <a:r>
              <a:rPr lang="zh-CN" altLang="en-US" dirty="0"/>
              <a:t>当报文在</a:t>
            </a:r>
            <a:r>
              <a:rPr lang="en-US" altLang="zh-CN" dirty="0" err="1"/>
              <a:t>DiffServ</a:t>
            </a:r>
            <a:r>
              <a:rPr lang="zh-CN" altLang="en-US" dirty="0"/>
              <a:t>域边界被分类之后，在网络的中间节点，就可以根据分类，对不同类别的流量给予差别服务。下游（</a:t>
            </a:r>
            <a:r>
              <a:rPr lang="en-US" altLang="zh-CN" dirty="0"/>
              <a:t>downstream</a:t>
            </a:r>
            <a:r>
              <a:rPr lang="zh-CN" altLang="en-US" dirty="0"/>
              <a:t>）节点可以选择使用上游（</a:t>
            </a:r>
            <a:r>
              <a:rPr lang="en-US" altLang="zh-CN" dirty="0"/>
              <a:t>upstream</a:t>
            </a:r>
            <a:r>
              <a:rPr lang="zh-CN" altLang="en-US" dirty="0"/>
              <a:t>）节点的分类结果，也可以按照自己的分类标准对数据流重新进行分类。</a:t>
            </a:r>
            <a:endParaRPr lang="en-US" altLang="zh-CN" dirty="0"/>
          </a:p>
          <a:p>
            <a:pPr>
              <a:spcAft>
                <a:spcPts val="300"/>
              </a:spcAft>
            </a:pPr>
            <a:r>
              <a:rPr lang="zh-CN" altLang="en-US" dirty="0"/>
              <a:t>需要首先将数据包分为不同的类别或者设置为不同的优先级。</a:t>
            </a:r>
            <a:endParaRPr lang="en-US" altLang="zh-CN" dirty="0"/>
          </a:p>
          <a:p>
            <a:pPr lvl="1">
              <a:spcAft>
                <a:spcPts val="300"/>
              </a:spcAft>
            </a:pPr>
            <a:r>
              <a:rPr lang="zh-CN" altLang="en-US" dirty="0"/>
              <a:t>将数据包分为不同的类别，称为流分类，流分类并不修改原来的数据包。</a:t>
            </a:r>
            <a:endParaRPr lang="en-US" altLang="zh-CN" dirty="0"/>
          </a:p>
          <a:p>
            <a:pPr lvl="1">
              <a:spcAft>
                <a:spcPts val="300"/>
              </a:spcAft>
            </a:pPr>
            <a:r>
              <a:rPr lang="zh-CN" altLang="en-US" dirty="0"/>
              <a:t>将数据包设置为不同的优先级称为标记，而标记会修改原来的数据包。其中，标记分为内部标记和外部标记：</a:t>
            </a:r>
            <a:endParaRPr lang="en-US" altLang="zh-CN" dirty="0"/>
          </a:p>
          <a:p>
            <a:pPr lvl="2">
              <a:spcAft>
                <a:spcPts val="300"/>
              </a:spcAft>
            </a:pPr>
            <a:r>
              <a:rPr lang="zh-CN" altLang="en-US" dirty="0"/>
              <a:t>内部标记	</a:t>
            </a:r>
          </a:p>
          <a:p>
            <a:pPr lvl="2">
              <a:spcAft>
                <a:spcPts val="300"/>
              </a:spcAft>
            </a:pPr>
            <a:r>
              <a:rPr lang="zh-CN" altLang="en-US" dirty="0"/>
              <a:t>标记报文在设备内部处理的服务等级（</a:t>
            </a:r>
            <a:r>
              <a:rPr lang="en-US" altLang="zh-CN" dirty="0"/>
              <a:t>service-class</a:t>
            </a:r>
            <a:r>
              <a:rPr lang="zh-CN" altLang="en-US" dirty="0"/>
              <a:t>）与丢弃优先级，让匹配的报文能够直接进入指定服务等级的队列，而不需要根据报文头中的优先级字段来确定服务等级。</a:t>
            </a:r>
          </a:p>
          <a:p>
            <a:pPr lvl="2">
              <a:spcAft>
                <a:spcPts val="300"/>
              </a:spcAft>
            </a:pPr>
            <a:r>
              <a:rPr lang="zh-CN" altLang="en-US" dirty="0"/>
              <a:t>标记报文的丢弃优先级也叫着色（</a:t>
            </a:r>
            <a:r>
              <a:rPr lang="en-US" altLang="zh-CN" dirty="0"/>
              <a:t>color</a:t>
            </a:r>
            <a:r>
              <a:rPr lang="zh-CN" altLang="en-US" dirty="0"/>
              <a:t>），是指在相同</a:t>
            </a:r>
            <a:r>
              <a:rPr lang="en-US" altLang="zh-CN" dirty="0"/>
              <a:t>service-class</a:t>
            </a:r>
            <a:r>
              <a:rPr lang="zh-CN" altLang="en-US" dirty="0"/>
              <a:t>的时候，入同一个队列，当此队列快拥塞的时候，可以通过</a:t>
            </a:r>
            <a:r>
              <a:rPr lang="en-US" altLang="zh-CN" dirty="0"/>
              <a:t>color</a:t>
            </a:r>
            <a:r>
              <a:rPr lang="zh-CN" altLang="en-US" dirty="0"/>
              <a:t>再进行差分服务，体现在缓存使用上的优先顺序。</a:t>
            </a:r>
            <a:endParaRPr lang="en-US" altLang="zh-CN" dirty="0"/>
          </a:p>
          <a:p>
            <a:pPr lvl="2">
              <a:spcAft>
                <a:spcPts val="300"/>
              </a:spcAft>
            </a:pPr>
            <a:r>
              <a:rPr lang="zh-CN" altLang="en-US" dirty="0"/>
              <a:t>外部标记</a:t>
            </a:r>
            <a:endParaRPr lang="en-US" altLang="zh-CN" dirty="0"/>
          </a:p>
          <a:p>
            <a:pPr lvl="2">
              <a:spcAft>
                <a:spcPts val="300"/>
              </a:spcAft>
            </a:pPr>
            <a:r>
              <a:rPr lang="zh-CN" altLang="en-US" dirty="0"/>
              <a:t>设置</a:t>
            </a:r>
            <a:r>
              <a:rPr lang="en-US" altLang="zh-CN" dirty="0"/>
              <a:t>/</a:t>
            </a:r>
            <a:r>
              <a:rPr lang="zh-CN" altLang="en-US" dirty="0"/>
              <a:t>改写报文的优先级字段，用于向下一台设备传递差分服务的</a:t>
            </a:r>
            <a:r>
              <a:rPr lang="en-US" altLang="zh-CN" dirty="0" err="1"/>
              <a:t>QoS</a:t>
            </a:r>
            <a:r>
              <a:rPr lang="zh-CN" altLang="en-US" dirty="0"/>
              <a:t>信息。其中，改写报文的优先级字段也称为“重标记</a:t>
            </a:r>
            <a:r>
              <a:rPr lang="en-US" altLang="zh-CN" dirty="0"/>
              <a:t>-remark</a:t>
            </a:r>
            <a:r>
              <a:rPr lang="zh-CN" altLang="en-US" dirty="0"/>
              <a:t>”。</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41819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简单流分类是指采用简单的规则，如只根据</a:t>
            </a:r>
            <a:r>
              <a:rPr lang="en-US" altLang="zh-CN" dirty="0"/>
              <a:t>IP</a:t>
            </a:r>
            <a:r>
              <a:rPr lang="zh-CN" altLang="en-US" dirty="0"/>
              <a:t>报文的</a:t>
            </a:r>
            <a:r>
              <a:rPr lang="en-US" altLang="zh-CN" dirty="0"/>
              <a:t>IP</a:t>
            </a:r>
            <a:r>
              <a:rPr lang="zh-CN" altLang="en-US" dirty="0"/>
              <a:t>优先级或</a:t>
            </a:r>
            <a:r>
              <a:rPr lang="en-US" altLang="zh-CN" dirty="0"/>
              <a:t>DSCP</a:t>
            </a:r>
            <a:r>
              <a:rPr lang="zh-CN" altLang="en-US" dirty="0"/>
              <a:t>值、</a:t>
            </a:r>
            <a:r>
              <a:rPr lang="en-US" altLang="zh-CN" dirty="0"/>
              <a:t>IPv6</a:t>
            </a:r>
            <a:r>
              <a:rPr lang="zh-CN" altLang="en-US" dirty="0"/>
              <a:t>报文的</a:t>
            </a:r>
            <a:r>
              <a:rPr lang="en-US" altLang="zh-CN" dirty="0"/>
              <a:t>TC</a:t>
            </a:r>
            <a:r>
              <a:rPr lang="zh-CN" altLang="en-US" dirty="0"/>
              <a:t>值、</a:t>
            </a:r>
            <a:r>
              <a:rPr lang="en-US" altLang="zh-CN" dirty="0"/>
              <a:t>MPLS</a:t>
            </a:r>
            <a:r>
              <a:rPr lang="zh-CN" altLang="en-US" dirty="0"/>
              <a:t>报文的</a:t>
            </a:r>
            <a:r>
              <a:rPr lang="en-US" altLang="zh-CN" dirty="0"/>
              <a:t>EXP</a:t>
            </a:r>
            <a:r>
              <a:rPr lang="zh-CN" altLang="en-US" dirty="0"/>
              <a:t>域值、</a:t>
            </a:r>
            <a:r>
              <a:rPr lang="en-US" altLang="zh-CN" dirty="0"/>
              <a:t>VLAN</a:t>
            </a:r>
            <a:r>
              <a:rPr lang="zh-CN" altLang="en-US" dirty="0"/>
              <a:t>报文的</a:t>
            </a:r>
            <a:r>
              <a:rPr lang="en-US" altLang="zh-CN" dirty="0"/>
              <a:t>802.1p</a:t>
            </a:r>
            <a:r>
              <a:rPr lang="zh-CN" altLang="en-US" dirty="0"/>
              <a:t>值，对报文进行粗略的分类，以识别出具有不同优先级或服务等级特征的流量，实现外部优先级和内部优先级之间的映射。</a:t>
            </a:r>
          </a:p>
          <a:p>
            <a:r>
              <a:rPr lang="zh-CN" altLang="en-US" dirty="0"/>
              <a:t>简单流分类过程实际上就是信任端口的上行报文携带的优先级标记，并进行优先级映射（即根据优先级映射表，将上行报文携带的</a:t>
            </a:r>
            <a:r>
              <a:rPr lang="en-US" altLang="zh-CN" dirty="0"/>
              <a:t>QoS</a:t>
            </a:r>
            <a:r>
              <a:rPr lang="zh-CN" altLang="en-US" dirty="0"/>
              <a:t>优先级统一映射到设备内部的服务等级和颜色，将下行报文的内部的服务等级和颜色映射成为</a:t>
            </a:r>
            <a:r>
              <a:rPr lang="en-US" altLang="zh-CN" dirty="0"/>
              <a:t>QoS</a:t>
            </a:r>
            <a:r>
              <a:rPr lang="zh-CN" altLang="en-US" dirty="0"/>
              <a:t>优先级）。</a:t>
            </a:r>
            <a:endParaRPr lang="en-US" altLang="zh-CN" dirty="0"/>
          </a:p>
          <a:p>
            <a:r>
              <a:rPr lang="zh-CN" altLang="en-US" dirty="0"/>
              <a:t>不同的报文使用不同的</a:t>
            </a:r>
            <a:r>
              <a:rPr lang="en-US" altLang="zh-CN" dirty="0"/>
              <a:t>QoS</a:t>
            </a:r>
            <a:r>
              <a:rPr lang="zh-CN" altLang="en-US" dirty="0"/>
              <a:t>优先级，例如</a:t>
            </a:r>
            <a:r>
              <a:rPr lang="en-US" altLang="zh-CN" dirty="0"/>
              <a:t>VLAN</a:t>
            </a:r>
            <a:r>
              <a:rPr lang="zh-CN" altLang="en-US" dirty="0"/>
              <a:t>报文使用</a:t>
            </a:r>
            <a:r>
              <a:rPr lang="en-US" altLang="zh-CN" dirty="0"/>
              <a:t>802.1p</a:t>
            </a:r>
            <a:r>
              <a:rPr lang="zh-CN" altLang="en-US" dirty="0"/>
              <a:t>，</a:t>
            </a:r>
            <a:r>
              <a:rPr lang="en-US" altLang="zh-CN" dirty="0"/>
              <a:t>IP</a:t>
            </a:r>
            <a:r>
              <a:rPr lang="zh-CN" altLang="en-US" dirty="0"/>
              <a:t>报文使用</a:t>
            </a:r>
            <a:r>
              <a:rPr lang="en-US" altLang="zh-CN" dirty="0"/>
              <a:t>DSCP</a:t>
            </a:r>
            <a:r>
              <a:rPr lang="zh-CN" altLang="en-US" dirty="0"/>
              <a:t>，</a:t>
            </a:r>
            <a:r>
              <a:rPr lang="en-US" altLang="zh-CN" dirty="0"/>
              <a:t>MPLS</a:t>
            </a:r>
            <a:r>
              <a:rPr lang="zh-CN" altLang="en-US" dirty="0"/>
              <a:t>报文使用</a:t>
            </a:r>
            <a:r>
              <a:rPr lang="en-US" altLang="zh-CN" dirty="0"/>
              <a:t>EXP</a:t>
            </a:r>
            <a:r>
              <a:rPr lang="zh-CN" altLang="en-US" dirty="0"/>
              <a:t>。为了保证不同报文的服务质量，在报文进设备时，需要将报文携带的</a:t>
            </a:r>
            <a:r>
              <a:rPr lang="en-US" altLang="zh-CN" dirty="0"/>
              <a:t>QoS</a:t>
            </a:r>
            <a:r>
              <a:rPr lang="zh-CN" altLang="en-US" dirty="0"/>
              <a:t>优先级统一映射到设备内部的服务等级</a:t>
            </a:r>
            <a:r>
              <a:rPr lang="en-US" altLang="zh-CN" dirty="0"/>
              <a:t>Service Class</a:t>
            </a:r>
            <a:r>
              <a:rPr lang="zh-CN" altLang="en-US" dirty="0"/>
              <a:t>（也叫做调度优先级</a:t>
            </a:r>
            <a:r>
              <a:rPr lang="en-US" altLang="zh-CN" dirty="0"/>
              <a:t>PHB</a:t>
            </a:r>
            <a:r>
              <a:rPr lang="zh-CN" altLang="en-US" dirty="0"/>
              <a:t>）和丢弃优先级（也叫颜色</a:t>
            </a:r>
            <a:r>
              <a:rPr lang="en-US" altLang="zh-CN" dirty="0"/>
              <a:t>Color</a:t>
            </a:r>
            <a:r>
              <a:rPr lang="zh-CN" altLang="en-US" dirty="0"/>
              <a:t>），在设备内部，根据报文的服务等级进行拥塞管理，根据报文的颜色进行拥塞避免；在报文出设备时，需要将内部的服务等级和颜色映射为</a:t>
            </a:r>
            <a:r>
              <a:rPr lang="en-US" altLang="zh-CN" dirty="0"/>
              <a:t>QoS</a:t>
            </a:r>
            <a:r>
              <a:rPr lang="zh-CN" altLang="en-US" dirty="0"/>
              <a:t>优先级，以便后续网络设备能够根据</a:t>
            </a:r>
            <a:r>
              <a:rPr lang="en-US" altLang="zh-CN" dirty="0"/>
              <a:t>QoS</a:t>
            </a:r>
            <a:r>
              <a:rPr lang="zh-CN" altLang="en-US" dirty="0"/>
              <a:t>优先级提供相应的服务质量。</a:t>
            </a:r>
          </a:p>
        </p:txBody>
      </p:sp>
      <p:sp>
        <p:nvSpPr>
          <p:cNvPr id="11" name="幻灯片图像占位符 10"/>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20827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以太网在以太网帧头的</a:t>
            </a:r>
            <a:r>
              <a:rPr lang="en-US" altLang="zh-CN" dirty="0"/>
              <a:t>VLAN TAG</a:t>
            </a:r>
            <a:r>
              <a:rPr lang="zh-CN" altLang="en-US" dirty="0"/>
              <a:t>中定义了</a:t>
            </a:r>
            <a:r>
              <a:rPr lang="en-US" altLang="zh-CN" dirty="0"/>
              <a:t>8</a:t>
            </a:r>
            <a:r>
              <a:rPr lang="zh-CN" altLang="en-US" dirty="0"/>
              <a:t>种业务优先级</a:t>
            </a:r>
            <a:r>
              <a:rPr lang="en-US" altLang="zh-CN" dirty="0"/>
              <a:t>PRI</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30478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对于</a:t>
            </a:r>
            <a:r>
              <a:rPr lang="en-US" altLang="zh-CN" dirty="0"/>
              <a:t>MPLS</a:t>
            </a:r>
            <a:r>
              <a:rPr lang="zh-CN" altLang="en-US" dirty="0"/>
              <a:t>报文，通常将标签信息中的</a:t>
            </a:r>
            <a:r>
              <a:rPr lang="en-US" altLang="zh-CN" dirty="0"/>
              <a:t>EXP</a:t>
            </a:r>
            <a:r>
              <a:rPr lang="zh-CN" altLang="en-US" dirty="0"/>
              <a:t>域作为</a:t>
            </a:r>
            <a:r>
              <a:rPr lang="en-US" altLang="zh-CN" dirty="0"/>
              <a:t>MPLS</a:t>
            </a:r>
            <a:r>
              <a:rPr lang="zh-CN" altLang="en-US" dirty="0"/>
              <a:t>报文的外部优先级，用来区分数据流量的服务等级。</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66905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IPv4</a:t>
            </a:r>
            <a:r>
              <a:rPr lang="zh-CN" altLang="en-US" dirty="0"/>
              <a:t>报文在</a:t>
            </a:r>
            <a:r>
              <a:rPr lang="en-US" altLang="zh-CN" dirty="0"/>
              <a:t>IP</a:t>
            </a:r>
            <a:r>
              <a:rPr lang="zh-CN" altLang="en-US" dirty="0"/>
              <a:t>报文头的</a:t>
            </a:r>
            <a:r>
              <a:rPr lang="en-US" altLang="zh-CN" dirty="0" err="1"/>
              <a:t>ToS</a:t>
            </a:r>
            <a:r>
              <a:rPr lang="zh-CN" altLang="en-US" dirty="0"/>
              <a:t>中的</a:t>
            </a:r>
            <a:r>
              <a:rPr lang="en-US" altLang="zh-CN" dirty="0"/>
              <a:t>Precedence</a:t>
            </a:r>
            <a:r>
              <a:rPr lang="zh-CN" altLang="en-US" dirty="0"/>
              <a:t>字段域中定义了</a:t>
            </a:r>
            <a:r>
              <a:rPr lang="en-US" altLang="zh-CN" dirty="0"/>
              <a:t>8</a:t>
            </a:r>
            <a:r>
              <a:rPr lang="zh-CN" altLang="en-US" dirty="0"/>
              <a:t>种</a:t>
            </a:r>
            <a:r>
              <a:rPr lang="en-US" altLang="zh-CN" dirty="0"/>
              <a:t>IP</a:t>
            </a:r>
            <a:r>
              <a:rPr lang="zh-CN" altLang="en-US" dirty="0"/>
              <a:t>业务类型。</a:t>
            </a:r>
            <a:endParaRPr lang="en-US" altLang="zh-CN" dirty="0"/>
          </a:p>
          <a:p>
            <a:r>
              <a:rPr lang="zh-CN" altLang="en-US" dirty="0"/>
              <a:t>后对</a:t>
            </a:r>
            <a:r>
              <a:rPr lang="en-US" altLang="zh-CN" dirty="0"/>
              <a:t>IPv4</a:t>
            </a:r>
            <a:r>
              <a:rPr lang="zh-CN" altLang="en-US" dirty="0"/>
              <a:t>报文头的</a:t>
            </a:r>
            <a:r>
              <a:rPr lang="en-US" altLang="zh-CN" dirty="0" err="1"/>
              <a:t>ToS</a:t>
            </a:r>
            <a:r>
              <a:rPr lang="zh-CN" altLang="en-US" dirty="0"/>
              <a:t>字段进行了重新定义，称为</a:t>
            </a:r>
            <a:r>
              <a:rPr lang="en-US" altLang="zh-CN" dirty="0"/>
              <a:t>DS</a:t>
            </a:r>
            <a:r>
              <a:rPr lang="zh-CN" altLang="en-US" dirty="0"/>
              <a:t>（</a:t>
            </a:r>
            <a:r>
              <a:rPr lang="en-US" altLang="zh-CN" dirty="0"/>
              <a:t>Differentiated Services</a:t>
            </a:r>
            <a:r>
              <a:rPr lang="zh-CN" altLang="en-US" dirty="0"/>
              <a:t>）字段，即对</a:t>
            </a:r>
            <a:r>
              <a:rPr lang="en-US" altLang="zh-CN" dirty="0"/>
              <a:t>IP-Precedence</a:t>
            </a:r>
            <a:r>
              <a:rPr lang="zh-CN" altLang="en-US" dirty="0"/>
              <a:t>字段进行了扩充。</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24139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1067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服务等级，即队列</a:t>
            </a:r>
            <a:endParaRPr lang="en-US" altLang="zh-CN" dirty="0"/>
          </a:p>
          <a:p>
            <a:r>
              <a:rPr lang="en-US" altLang="zh-CN" dirty="0"/>
              <a:t>Service Class</a:t>
            </a:r>
            <a:r>
              <a:rPr lang="zh-CN" altLang="en-US" dirty="0"/>
              <a:t>是指报文在设备内部的服务等级，支持</a:t>
            </a:r>
            <a:r>
              <a:rPr lang="en-US" altLang="zh-CN" dirty="0"/>
              <a:t>8</a:t>
            </a:r>
            <a:r>
              <a:rPr lang="zh-CN" altLang="en-US" dirty="0"/>
              <a:t>种取值，优先级从高到低依次为</a:t>
            </a:r>
            <a:r>
              <a:rPr lang="en-US" altLang="zh-CN" dirty="0"/>
              <a:t>CS7</a:t>
            </a:r>
            <a:r>
              <a:rPr lang="zh-CN" altLang="en-US" dirty="0"/>
              <a:t>、</a:t>
            </a:r>
            <a:r>
              <a:rPr lang="en-US" altLang="zh-CN" dirty="0"/>
              <a:t>CS6</a:t>
            </a:r>
            <a:r>
              <a:rPr lang="zh-CN" altLang="en-US" dirty="0"/>
              <a:t>、</a:t>
            </a:r>
            <a:r>
              <a:rPr lang="en-US" altLang="zh-CN" dirty="0"/>
              <a:t>EF</a:t>
            </a:r>
            <a:r>
              <a:rPr lang="zh-CN" altLang="en-US" dirty="0"/>
              <a:t>、</a:t>
            </a:r>
            <a:r>
              <a:rPr lang="en-US" altLang="zh-CN" dirty="0"/>
              <a:t>AF4</a:t>
            </a:r>
            <a:r>
              <a:rPr lang="zh-CN" altLang="en-US" dirty="0"/>
              <a:t>、</a:t>
            </a:r>
            <a:r>
              <a:rPr lang="en-US" altLang="zh-CN" dirty="0"/>
              <a:t>AF3</a:t>
            </a:r>
            <a:r>
              <a:rPr lang="zh-CN" altLang="en-US" dirty="0"/>
              <a:t>、</a:t>
            </a:r>
            <a:r>
              <a:rPr lang="en-US" altLang="zh-CN" dirty="0"/>
              <a:t>AF2</a:t>
            </a:r>
            <a:r>
              <a:rPr lang="zh-CN" altLang="en-US" dirty="0"/>
              <a:t>、</a:t>
            </a:r>
            <a:r>
              <a:rPr lang="en-US" altLang="zh-CN" dirty="0"/>
              <a:t>AF1</a:t>
            </a:r>
            <a:r>
              <a:rPr lang="zh-CN" altLang="en-US" dirty="0"/>
              <a:t>、</a:t>
            </a:r>
            <a:r>
              <a:rPr lang="en-US" altLang="zh-CN" dirty="0"/>
              <a:t>BE</a:t>
            </a:r>
            <a:r>
              <a:rPr lang="zh-CN" altLang="en-US" dirty="0"/>
              <a:t>。</a:t>
            </a:r>
            <a:r>
              <a:rPr lang="en-US" altLang="zh-CN" dirty="0"/>
              <a:t>Service Class</a:t>
            </a:r>
            <a:r>
              <a:rPr lang="zh-CN" altLang="en-US" dirty="0"/>
              <a:t>决定了报文在设备内部所属的队列类型。</a:t>
            </a:r>
          </a:p>
          <a:p>
            <a:r>
              <a:rPr lang="zh-CN" altLang="en-US" dirty="0"/>
              <a:t>服务等级的高低取决于具体的队列调度算法配置：</a:t>
            </a:r>
          </a:p>
          <a:p>
            <a:pPr lvl="1"/>
            <a:r>
              <a:rPr lang="zh-CN" altLang="en-US" dirty="0"/>
              <a:t>如果</a:t>
            </a:r>
            <a:r>
              <a:rPr lang="en-US" altLang="zh-CN" dirty="0"/>
              <a:t>8</a:t>
            </a:r>
            <a:r>
              <a:rPr lang="zh-CN" altLang="en-US" dirty="0"/>
              <a:t>种类型的队列都配置为</a:t>
            </a:r>
            <a:r>
              <a:rPr lang="en-US" altLang="zh-CN" dirty="0"/>
              <a:t>PQ</a:t>
            </a:r>
            <a:r>
              <a:rPr lang="zh-CN" altLang="en-US" dirty="0"/>
              <a:t>调度，则</a:t>
            </a:r>
            <a:r>
              <a:rPr lang="en-US" altLang="zh-CN" dirty="0"/>
              <a:t>CS7&gt;CS6&gt;EF&gt;AF4&gt;AF3&gt;AF2&gt;AF1&gt;BE</a:t>
            </a:r>
            <a:r>
              <a:rPr lang="zh-CN" altLang="en-US" dirty="0"/>
              <a:t>；</a:t>
            </a:r>
          </a:p>
          <a:p>
            <a:pPr lvl="1"/>
            <a:r>
              <a:rPr lang="zh-CN" altLang="en-US" dirty="0"/>
              <a:t>如果</a:t>
            </a:r>
            <a:r>
              <a:rPr lang="en-US" altLang="zh-CN" dirty="0"/>
              <a:t>BE</a:t>
            </a:r>
            <a:r>
              <a:rPr lang="zh-CN" altLang="en-US" dirty="0"/>
              <a:t>配置为</a:t>
            </a:r>
            <a:r>
              <a:rPr lang="en-US" altLang="zh-CN" dirty="0"/>
              <a:t>PQ</a:t>
            </a:r>
            <a:r>
              <a:rPr lang="zh-CN" altLang="en-US" dirty="0"/>
              <a:t>调度（一般不会这么配置），其余</a:t>
            </a:r>
            <a:r>
              <a:rPr lang="en-US" altLang="zh-CN" dirty="0"/>
              <a:t>7</a:t>
            </a:r>
            <a:r>
              <a:rPr lang="zh-CN" altLang="en-US" dirty="0"/>
              <a:t>种类型的队列配置为</a:t>
            </a:r>
            <a:r>
              <a:rPr lang="en-US" altLang="zh-CN" dirty="0"/>
              <a:t>WFQ</a:t>
            </a:r>
            <a:r>
              <a:rPr lang="zh-CN" altLang="en-US" dirty="0"/>
              <a:t>调度，则</a:t>
            </a:r>
            <a:r>
              <a:rPr lang="en-US" altLang="zh-CN" dirty="0"/>
              <a:t>BE</a:t>
            </a:r>
            <a:r>
              <a:rPr lang="zh-CN" altLang="en-US" dirty="0"/>
              <a:t>的优先级比其余</a:t>
            </a:r>
            <a:r>
              <a:rPr lang="en-US" altLang="zh-CN" dirty="0"/>
              <a:t>7</a:t>
            </a:r>
            <a:r>
              <a:rPr lang="zh-CN" altLang="en-US" dirty="0"/>
              <a:t>个都高；</a:t>
            </a:r>
          </a:p>
          <a:p>
            <a:pPr lvl="1"/>
            <a:r>
              <a:rPr lang="zh-CN" altLang="en-US" dirty="0"/>
              <a:t>如果</a:t>
            </a:r>
            <a:r>
              <a:rPr lang="en-US" altLang="zh-CN" dirty="0"/>
              <a:t>8</a:t>
            </a:r>
            <a:r>
              <a:rPr lang="zh-CN" altLang="en-US" dirty="0"/>
              <a:t>种类型的队列都配置成</a:t>
            </a:r>
            <a:r>
              <a:rPr lang="en-US" altLang="zh-CN" dirty="0"/>
              <a:t>WFQ</a:t>
            </a:r>
            <a:r>
              <a:rPr lang="zh-CN" altLang="en-US" dirty="0"/>
              <a:t>调度，则相互之间无优先级高低之分。</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11362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Color</a:t>
            </a:r>
            <a:r>
              <a:rPr lang="zh-CN" altLang="en-US" dirty="0"/>
              <a:t>是指报文在设备内部的丢弃优先级，用于实现同一个队列内部，当队列发生拥塞时报文丢弃顺序。</a:t>
            </a:r>
            <a:endParaRPr lang="en-US" altLang="zh-CN" dirty="0"/>
          </a:p>
          <a:p>
            <a:r>
              <a:rPr lang="en-US" altLang="zh-CN" dirty="0"/>
              <a:t>Color</a:t>
            </a:r>
            <a:r>
              <a:rPr lang="zh-CN" altLang="en-US" dirty="0"/>
              <a:t>支持</a:t>
            </a:r>
            <a:r>
              <a:rPr lang="en-US" altLang="zh-CN" dirty="0"/>
              <a:t>3</a:t>
            </a:r>
            <a:r>
              <a:rPr lang="zh-CN" altLang="en-US" dirty="0"/>
              <a:t>种取值，</a:t>
            </a:r>
            <a:r>
              <a:rPr lang="en-US" altLang="zh-CN" dirty="0"/>
              <a:t>IEEE</a:t>
            </a:r>
            <a:r>
              <a:rPr lang="zh-CN" altLang="en-US" dirty="0"/>
              <a:t>定义的优先级从低到高依次为</a:t>
            </a:r>
            <a:r>
              <a:rPr lang="en-US" altLang="zh-CN" dirty="0"/>
              <a:t>Green</a:t>
            </a:r>
            <a:r>
              <a:rPr lang="zh-CN" altLang="en-US" dirty="0"/>
              <a:t>、</a:t>
            </a:r>
            <a:r>
              <a:rPr lang="en-US" altLang="zh-CN" dirty="0"/>
              <a:t>Yellow</a:t>
            </a:r>
            <a:r>
              <a:rPr lang="zh-CN" altLang="en-US" dirty="0"/>
              <a:t>、</a:t>
            </a:r>
            <a:r>
              <a:rPr lang="en-US" altLang="zh-CN" dirty="0"/>
              <a:t>Red</a:t>
            </a:r>
            <a:r>
              <a:rPr lang="zh-CN" altLang="en-US" dirty="0"/>
              <a:t>。</a:t>
            </a:r>
          </a:p>
          <a:p>
            <a:r>
              <a:rPr lang="zh-CN" altLang="en-US" dirty="0"/>
              <a:t>丢弃优先级的高低实际取决于对应参数的配置，例如：配置</a:t>
            </a:r>
            <a:r>
              <a:rPr lang="en-US" altLang="zh-CN" dirty="0"/>
              <a:t>Green</a:t>
            </a:r>
            <a:r>
              <a:rPr lang="zh-CN" altLang="en-US" dirty="0"/>
              <a:t>最大只能使用</a:t>
            </a:r>
            <a:r>
              <a:rPr lang="en-US" altLang="zh-CN" dirty="0"/>
              <a:t>50%</a:t>
            </a:r>
            <a:r>
              <a:rPr lang="zh-CN" altLang="en-US" dirty="0"/>
              <a:t>缓存，</a:t>
            </a:r>
            <a:r>
              <a:rPr lang="en-US" altLang="zh-CN" dirty="0"/>
              <a:t>Red</a:t>
            </a:r>
            <a:r>
              <a:rPr lang="zh-CN" altLang="en-US" dirty="0"/>
              <a:t>最大可以使用</a:t>
            </a:r>
            <a:r>
              <a:rPr lang="en-US" altLang="zh-CN" dirty="0"/>
              <a:t>100%</a:t>
            </a:r>
            <a:r>
              <a:rPr lang="zh-CN" altLang="en-US" dirty="0"/>
              <a:t>缓存，则</a:t>
            </a:r>
            <a:r>
              <a:rPr lang="en-US" altLang="zh-CN" dirty="0"/>
              <a:t>Green</a:t>
            </a:r>
            <a:r>
              <a:rPr lang="zh-CN" altLang="en-US" dirty="0"/>
              <a:t>的丢弃优先级比</a:t>
            </a:r>
            <a:r>
              <a:rPr lang="en-US" altLang="zh-CN" dirty="0"/>
              <a:t>Red</a:t>
            </a:r>
            <a:r>
              <a:rPr lang="zh-CN" altLang="en-US" dirty="0"/>
              <a:t>高。</a:t>
            </a:r>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141754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将</a:t>
            </a:r>
            <a:r>
              <a:rPr lang="en-US" altLang="zh-CN"/>
              <a:t>QoS</a:t>
            </a:r>
            <a:r>
              <a:rPr lang="zh-CN" altLang="en-US"/>
              <a:t>优先级映射到服务等级和颜色是在报文上行方向进行，而服务等级和颜色映射为</a:t>
            </a:r>
            <a:r>
              <a:rPr lang="en-US" altLang="zh-CN"/>
              <a:t>QoS</a:t>
            </a:r>
            <a:r>
              <a:rPr lang="zh-CN" altLang="en-US"/>
              <a:t>优先级则是在下行方向进行。</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13220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随着网络的普及，网络中的业务越来越多样化，多种业务流共享同一网络资源，简单的流分类措施很难满足要求，尤其是很多业务可能都是基于</a:t>
            </a:r>
            <a:r>
              <a:rPr lang="en-US" altLang="zh-CN" dirty="0"/>
              <a:t>80</a:t>
            </a:r>
            <a:r>
              <a:rPr lang="zh-CN" altLang="en-US" dirty="0"/>
              <a:t>端口。这样，就要求网络具备很强的业务感知能力，能深度报文分析，对报文任意层次和字段的全面解析。复杂流分类可以在一定程度上满足此要求。</a:t>
            </a:r>
          </a:p>
          <a:p>
            <a:r>
              <a:rPr lang="zh-CN" altLang="en-US" dirty="0"/>
              <a:t>复杂流分类是指采用复杂的规则，如由五元组（源地址、源端口号、协议号码、目的地址、目的端口号）对报文进行精细的分类。</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75094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62687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需求：要求为语音、视频等即时性业务提供最优先的转发服务</a:t>
            </a:r>
          </a:p>
          <a:p>
            <a:r>
              <a:rPr lang="zh-CN" altLang="en-US" dirty="0"/>
              <a:t>实现：在</a:t>
            </a:r>
            <a:r>
              <a:rPr lang="en-US" altLang="zh-CN" dirty="0"/>
              <a:t>DS</a:t>
            </a:r>
            <a:r>
              <a:rPr lang="zh-CN" altLang="en-US" dirty="0"/>
              <a:t>边界节点，先通过复杂流分类抓取语音、视频等业务流量，映射到对应的优先级；再通过简单流分类，处理剩余流量。</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88299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8011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84726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72043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037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altLang="zh-CN" dirty="0"/>
              <a:t>A</a:t>
            </a:r>
          </a:p>
          <a:p>
            <a:pPr marL="228600" indent="-228600">
              <a:buFont typeface="+mj-lt"/>
              <a:buAutoNum type="arabicPeriod"/>
            </a:pPr>
            <a:r>
              <a:rPr lang="en-US" dirty="0"/>
              <a:t>A</a:t>
            </a:r>
            <a:r>
              <a:rPr lang="en-US" altLang="zh-CN" dirty="0"/>
              <a:t>BCD</a:t>
            </a:r>
            <a:endParaRPr lang="en-US" dirty="0"/>
          </a:p>
          <a:p>
            <a:pPr lvl="0"/>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51334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93955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670277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10000"/>
              </a:lnSpc>
              <a:spcAft>
                <a:spcPts val="0"/>
              </a:spcAft>
            </a:pPr>
            <a:r>
              <a:rPr lang="zh-CN" altLang="en-US" dirty="0"/>
              <a:t>本节课主要介绍两个流量限速技术：流量监管和流量整形。</a:t>
            </a:r>
            <a:endParaRPr lang="en-US" altLang="zh-CN" dirty="0"/>
          </a:p>
          <a:p>
            <a:pPr>
              <a:lnSpc>
                <a:spcPct val="110000"/>
              </a:lnSpc>
              <a:spcAft>
                <a:spcPts val="0"/>
              </a:spcAft>
            </a:pPr>
            <a:r>
              <a:rPr lang="zh-CN" altLang="en-US" dirty="0"/>
              <a:t>流量监管</a:t>
            </a:r>
            <a:r>
              <a:rPr lang="en-US" altLang="zh-CN" dirty="0"/>
              <a:t>: </a:t>
            </a:r>
            <a:r>
              <a:rPr lang="zh-CN" altLang="en-US" dirty="0"/>
              <a:t>通过监控进入网络的某一流量的规格，限制它在一个允许的范围之内，若某个连接的报文流量过大，就丢弃报文，或重新设置该报文的优先级（比如限制</a:t>
            </a:r>
            <a:r>
              <a:rPr lang="en-US" altLang="zh-CN" dirty="0"/>
              <a:t>HTTP</a:t>
            </a:r>
            <a:r>
              <a:rPr lang="zh-CN" altLang="en-US" dirty="0"/>
              <a:t>报文不能占用超过</a:t>
            </a:r>
            <a:r>
              <a:rPr lang="en-US" altLang="zh-CN" dirty="0"/>
              <a:t>50%</a:t>
            </a:r>
            <a:r>
              <a:rPr lang="zh-CN" altLang="en-US" dirty="0"/>
              <a:t>的网络带宽），以保护网络资源和运营商的利益不受损害</a:t>
            </a:r>
          </a:p>
          <a:p>
            <a:pPr>
              <a:lnSpc>
                <a:spcPct val="110000"/>
              </a:lnSpc>
              <a:spcAft>
                <a:spcPts val="0"/>
              </a:spcAft>
            </a:pPr>
            <a:r>
              <a:rPr lang="zh-CN" altLang="en-US" dirty="0"/>
              <a:t>流量整形</a:t>
            </a:r>
            <a:r>
              <a:rPr lang="en-US" altLang="zh-CN" dirty="0"/>
              <a:t>: </a:t>
            </a:r>
            <a:r>
              <a:rPr lang="zh-CN" altLang="en-US" dirty="0"/>
              <a:t>通常是为了使报文速率与下游设备相匹配。当从高速链路向低速链路传输数据，或发生突发流量时，带宽会在低速链路出口处出现瓶颈，导致数据丢失严重。这种情况下，需要在进入高速链路的设备出口处进行流量整形。</a:t>
            </a:r>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655672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流量监管和流量整形均会用到令牌桶技术</a:t>
            </a:r>
            <a:endParaRPr lang="en-US" altLang="zh-CN" dirty="0"/>
          </a:p>
          <a:p>
            <a:pPr lvl="1"/>
            <a:r>
              <a:rPr lang="zh-CN" altLang="en-US" dirty="0"/>
              <a:t>令牌桶：使用令牌桶对流量进行评估，是否满足报文转发的条件。</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564092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当报文到来后，直接与桶中的令牌数相比较，如果有足够的令牌就转发（通常用一个令牌关联一个比特的转发权限），如果没有足够的令牌则丢弃或缓存。</a:t>
            </a:r>
          </a:p>
          <a:p>
            <a:r>
              <a:rPr lang="zh-CN" altLang="en-US" dirty="0"/>
              <a:t>为方便用</a:t>
            </a:r>
            <a:r>
              <a:rPr lang="en-US" altLang="zh-CN" dirty="0"/>
              <a:t>Tc</a:t>
            </a:r>
            <a:r>
              <a:rPr lang="zh-CN" altLang="en-US" dirty="0"/>
              <a:t>和</a:t>
            </a:r>
            <a:r>
              <a:rPr lang="en-US" altLang="zh-CN" dirty="0" err="1"/>
              <a:t>Te</a:t>
            </a:r>
            <a:r>
              <a:rPr lang="zh-CN" altLang="en-US" dirty="0"/>
              <a:t>表示桶中的令牌数量，</a:t>
            </a:r>
            <a:r>
              <a:rPr lang="en-US" altLang="zh-CN" dirty="0"/>
              <a:t>Tc</a:t>
            </a:r>
            <a:r>
              <a:rPr lang="zh-CN" altLang="en-US" dirty="0"/>
              <a:t>和</a:t>
            </a:r>
            <a:r>
              <a:rPr lang="en-US" altLang="zh-CN" dirty="0" err="1"/>
              <a:t>Te</a:t>
            </a:r>
            <a:r>
              <a:rPr lang="zh-CN" altLang="en-US" dirty="0"/>
              <a:t>初始化等于</a:t>
            </a:r>
            <a:r>
              <a:rPr lang="en-US" altLang="zh-CN" dirty="0"/>
              <a:t>CBS</a:t>
            </a:r>
            <a:r>
              <a:rPr lang="zh-CN" altLang="en-US" dirty="0"/>
              <a:t>和</a:t>
            </a:r>
            <a:r>
              <a:rPr lang="en-US" altLang="zh-CN" dirty="0"/>
              <a:t>EBS</a:t>
            </a:r>
            <a:r>
              <a:rPr lang="zh-CN" altLang="en-US" dirty="0"/>
              <a:t>。</a:t>
            </a:r>
            <a:endParaRPr lang="en-US" altLang="zh-CN" dirty="0"/>
          </a:p>
          <a:p>
            <a:r>
              <a:rPr lang="zh-CN" altLang="en-US" dirty="0"/>
              <a:t>色盲模式下，对于单速单桶：</a:t>
            </a:r>
          </a:p>
          <a:p>
            <a:pPr lvl="1"/>
            <a:r>
              <a:rPr lang="zh-CN" altLang="en-US" dirty="0"/>
              <a:t>如果报文长度不超过</a:t>
            </a:r>
            <a:r>
              <a:rPr lang="en-US" altLang="zh-CN" dirty="0"/>
              <a:t>C</a:t>
            </a:r>
            <a:r>
              <a:rPr lang="zh-CN" altLang="en-US" dirty="0"/>
              <a:t>桶中的令牌数</a:t>
            </a:r>
            <a:r>
              <a:rPr lang="en-US" altLang="zh-CN" dirty="0"/>
              <a:t>Tc</a:t>
            </a:r>
            <a:r>
              <a:rPr lang="zh-CN" altLang="en-US" dirty="0"/>
              <a:t>，则报文被标记为绿色，且</a:t>
            </a:r>
            <a:r>
              <a:rPr lang="en-US" altLang="zh-CN" dirty="0"/>
              <a:t>Tc=Tc-B</a:t>
            </a:r>
            <a:r>
              <a:rPr lang="zh-CN" altLang="en-US" dirty="0"/>
              <a:t>，</a:t>
            </a:r>
          </a:p>
          <a:p>
            <a:pPr lvl="1"/>
            <a:r>
              <a:rPr lang="zh-CN" altLang="en-US" dirty="0"/>
              <a:t>如果报文长度超过</a:t>
            </a:r>
            <a:r>
              <a:rPr lang="en-US" altLang="zh-CN" dirty="0"/>
              <a:t>C</a:t>
            </a:r>
            <a:r>
              <a:rPr lang="zh-CN" altLang="en-US" dirty="0"/>
              <a:t>桶中的令牌数</a:t>
            </a:r>
            <a:r>
              <a:rPr lang="en-US" altLang="zh-CN" dirty="0"/>
              <a:t>Tc</a:t>
            </a:r>
            <a:r>
              <a:rPr lang="zh-CN" altLang="en-US" dirty="0"/>
              <a:t>，报文被标记为红色，</a:t>
            </a:r>
            <a:r>
              <a:rPr lang="en-US" altLang="zh-CN" dirty="0"/>
              <a:t>Tc</a:t>
            </a:r>
            <a:r>
              <a:rPr lang="zh-CN" altLang="en-US" dirty="0"/>
              <a:t>值不变。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442721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当报文到来后，直接与桶中的令牌数相比较，如果有足够的令牌就转发（通常用一个令牌关联一个比特的转发权限），如果没有足够的令牌则丢弃或缓存。</a:t>
            </a:r>
          </a:p>
          <a:p>
            <a:r>
              <a:rPr lang="zh-CN" altLang="en-US" dirty="0"/>
              <a:t>为方便用</a:t>
            </a:r>
            <a:r>
              <a:rPr lang="en-US" altLang="zh-CN" dirty="0"/>
              <a:t>Tc</a:t>
            </a:r>
            <a:r>
              <a:rPr lang="zh-CN" altLang="en-US" dirty="0"/>
              <a:t>和</a:t>
            </a:r>
            <a:r>
              <a:rPr lang="en-US" altLang="zh-CN" dirty="0" err="1"/>
              <a:t>Te</a:t>
            </a:r>
            <a:r>
              <a:rPr lang="zh-CN" altLang="en-US" dirty="0"/>
              <a:t>表示桶中的令牌数量，</a:t>
            </a:r>
            <a:r>
              <a:rPr lang="en-US" altLang="zh-CN" dirty="0"/>
              <a:t>Tc</a:t>
            </a:r>
            <a:r>
              <a:rPr lang="zh-CN" altLang="en-US" dirty="0"/>
              <a:t>和</a:t>
            </a:r>
            <a:r>
              <a:rPr lang="en-US" altLang="zh-CN" dirty="0" err="1"/>
              <a:t>Te</a:t>
            </a:r>
            <a:r>
              <a:rPr lang="zh-CN" altLang="en-US" dirty="0"/>
              <a:t>初始化等于</a:t>
            </a:r>
            <a:r>
              <a:rPr lang="en-US" altLang="zh-CN" dirty="0"/>
              <a:t>CBS</a:t>
            </a:r>
            <a:r>
              <a:rPr lang="zh-CN" altLang="en-US" dirty="0"/>
              <a:t>和</a:t>
            </a:r>
            <a:r>
              <a:rPr lang="en-US" altLang="zh-CN" dirty="0"/>
              <a:t>EBS</a:t>
            </a:r>
            <a:r>
              <a:rPr lang="zh-CN" altLang="en-US" dirty="0"/>
              <a:t>。</a:t>
            </a:r>
            <a:endParaRPr lang="en-US" altLang="zh-CN" dirty="0"/>
          </a:p>
          <a:p>
            <a:r>
              <a:rPr lang="zh-CN" altLang="en-US" dirty="0"/>
              <a:t>色盲模式下，对于单速双桶：</a:t>
            </a:r>
          </a:p>
          <a:p>
            <a:pPr lvl="1"/>
            <a:r>
              <a:rPr lang="zh-CN" altLang="en-US" dirty="0"/>
              <a:t>如果报文长度不超过</a:t>
            </a:r>
            <a:r>
              <a:rPr lang="en-US" altLang="zh-CN" dirty="0"/>
              <a:t>C</a:t>
            </a:r>
            <a:r>
              <a:rPr lang="zh-CN" altLang="en-US" dirty="0"/>
              <a:t>桶中的令牌数</a:t>
            </a:r>
            <a:r>
              <a:rPr lang="en-US" altLang="zh-CN" dirty="0"/>
              <a:t>Tc</a:t>
            </a:r>
            <a:r>
              <a:rPr lang="zh-CN" altLang="en-US" dirty="0"/>
              <a:t>，则报文被标记为绿色，且</a:t>
            </a:r>
            <a:r>
              <a:rPr lang="en-US" altLang="zh-CN" dirty="0"/>
              <a:t>Tc=Tc-B</a:t>
            </a:r>
            <a:r>
              <a:rPr lang="zh-CN" altLang="en-US" dirty="0"/>
              <a:t>，</a:t>
            </a:r>
          </a:p>
          <a:p>
            <a:pPr lvl="1"/>
            <a:r>
              <a:rPr lang="zh-CN" altLang="en-US" dirty="0"/>
              <a:t>如果报文长度超过</a:t>
            </a:r>
            <a:r>
              <a:rPr lang="en-US" altLang="zh-CN" dirty="0"/>
              <a:t>C</a:t>
            </a:r>
            <a:r>
              <a:rPr lang="zh-CN" altLang="en-US" dirty="0"/>
              <a:t>桶中的令牌数</a:t>
            </a:r>
            <a:r>
              <a:rPr lang="en-US" altLang="zh-CN" dirty="0"/>
              <a:t>Tc</a:t>
            </a:r>
            <a:r>
              <a:rPr lang="zh-CN" altLang="en-US" dirty="0"/>
              <a:t>但不超过</a:t>
            </a:r>
            <a:r>
              <a:rPr lang="en-US" altLang="zh-CN" dirty="0"/>
              <a:t>E</a:t>
            </a:r>
            <a:r>
              <a:rPr lang="zh-CN" altLang="en-US" dirty="0"/>
              <a:t>桶中的令牌数</a:t>
            </a:r>
            <a:r>
              <a:rPr lang="en-US" altLang="zh-CN" dirty="0" err="1"/>
              <a:t>Te</a:t>
            </a:r>
            <a:r>
              <a:rPr lang="zh-CN" altLang="en-US" dirty="0"/>
              <a:t>，则报文被标记为黄色，且</a:t>
            </a:r>
            <a:r>
              <a:rPr lang="en-US" altLang="zh-CN" dirty="0" err="1"/>
              <a:t>Te</a:t>
            </a:r>
            <a:r>
              <a:rPr lang="en-US" altLang="zh-CN" dirty="0"/>
              <a:t>=</a:t>
            </a:r>
            <a:r>
              <a:rPr lang="en-US" altLang="zh-CN" dirty="0" err="1"/>
              <a:t>Te</a:t>
            </a:r>
            <a:r>
              <a:rPr lang="en-US" altLang="zh-CN" dirty="0"/>
              <a:t>-B</a:t>
            </a:r>
            <a:r>
              <a:rPr lang="zh-CN" altLang="en-US" dirty="0"/>
              <a:t>，</a:t>
            </a:r>
          </a:p>
          <a:p>
            <a:pPr lvl="1"/>
            <a:r>
              <a:rPr lang="zh-CN" altLang="en-US" dirty="0"/>
              <a:t>如果报文长度超过</a:t>
            </a:r>
            <a:r>
              <a:rPr lang="en-US" altLang="zh-CN" dirty="0"/>
              <a:t>E</a:t>
            </a:r>
            <a:r>
              <a:rPr lang="zh-CN" altLang="en-US" dirty="0"/>
              <a:t>桶中的令牌数</a:t>
            </a:r>
            <a:r>
              <a:rPr lang="en-US" altLang="zh-CN" dirty="0" err="1"/>
              <a:t>Te</a:t>
            </a:r>
            <a:r>
              <a:rPr lang="zh-CN" altLang="en-US" dirty="0"/>
              <a:t>，报文被标记为红色，但</a:t>
            </a:r>
            <a:r>
              <a:rPr lang="en-US" altLang="zh-CN" dirty="0"/>
              <a:t>Tc</a:t>
            </a:r>
            <a:r>
              <a:rPr lang="zh-CN" altLang="en-US" dirty="0"/>
              <a:t>和</a:t>
            </a:r>
            <a:r>
              <a:rPr lang="en-US" altLang="zh-CN" dirty="0" err="1"/>
              <a:t>Te</a:t>
            </a:r>
            <a:r>
              <a:rPr lang="zh-CN" altLang="en-US" dirty="0"/>
              <a:t>不变。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563466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双速率三色标记算法关注的是速率的突发，首先评估的是数据流的速率是否符合规定的突发要求，其规则是先比较</a:t>
            </a:r>
            <a:r>
              <a:rPr lang="en-US" altLang="zh-CN" dirty="0"/>
              <a:t>P</a:t>
            </a:r>
            <a:r>
              <a:rPr lang="zh-CN" altLang="en-US" dirty="0"/>
              <a:t>桶，再比较</a:t>
            </a:r>
            <a:r>
              <a:rPr lang="en-US" altLang="zh-CN" dirty="0"/>
              <a:t>C</a:t>
            </a:r>
            <a:r>
              <a:rPr lang="zh-CN" altLang="en-US" dirty="0"/>
              <a:t>桶。</a:t>
            </a:r>
          </a:p>
          <a:p>
            <a:r>
              <a:rPr lang="zh-CN" altLang="en-US" dirty="0"/>
              <a:t>为方便用</a:t>
            </a:r>
            <a:r>
              <a:rPr lang="en-US" altLang="zh-CN" dirty="0"/>
              <a:t>Tc</a:t>
            </a:r>
            <a:r>
              <a:rPr lang="zh-CN" altLang="en-US" dirty="0"/>
              <a:t>和</a:t>
            </a:r>
            <a:r>
              <a:rPr lang="en-US" altLang="zh-CN" dirty="0" err="1"/>
              <a:t>Tp</a:t>
            </a:r>
            <a:r>
              <a:rPr lang="zh-CN" altLang="en-US" dirty="0"/>
              <a:t>表示桶中的令牌数量，</a:t>
            </a:r>
            <a:r>
              <a:rPr lang="en-US" altLang="zh-CN" dirty="0"/>
              <a:t>Tc</a:t>
            </a:r>
            <a:r>
              <a:rPr lang="zh-CN" altLang="en-US" dirty="0"/>
              <a:t>和</a:t>
            </a:r>
            <a:r>
              <a:rPr lang="en-US" altLang="zh-CN" dirty="0" err="1"/>
              <a:t>Tp</a:t>
            </a:r>
            <a:r>
              <a:rPr lang="zh-CN" altLang="en-US" dirty="0"/>
              <a:t>初始化等于</a:t>
            </a:r>
            <a:r>
              <a:rPr lang="en-US" altLang="zh-CN" dirty="0"/>
              <a:t>CBS</a:t>
            </a:r>
            <a:r>
              <a:rPr lang="zh-CN" altLang="en-US" dirty="0"/>
              <a:t>和</a:t>
            </a:r>
            <a:r>
              <a:rPr lang="en-US" altLang="zh-CN" dirty="0"/>
              <a:t>PBS</a:t>
            </a:r>
            <a:r>
              <a:rPr lang="zh-CN" altLang="en-US" dirty="0"/>
              <a:t>。</a:t>
            </a:r>
          </a:p>
          <a:p>
            <a:r>
              <a:rPr lang="zh-CN" altLang="en-US" dirty="0"/>
              <a:t>色盲模式下，在对到达报文（假设数据包大小为</a:t>
            </a:r>
            <a:r>
              <a:rPr lang="en-US" altLang="zh-CN" dirty="0"/>
              <a:t>B</a:t>
            </a:r>
            <a:r>
              <a:rPr lang="zh-CN" altLang="en-US" dirty="0"/>
              <a:t>）进行评估时，遵循以下规则：</a:t>
            </a:r>
          </a:p>
          <a:p>
            <a:pPr lvl="1"/>
            <a:r>
              <a:rPr lang="zh-CN" altLang="en-US" dirty="0"/>
              <a:t>如果报文长度超过</a:t>
            </a:r>
            <a:r>
              <a:rPr lang="en-US" altLang="zh-CN" dirty="0"/>
              <a:t>P</a:t>
            </a:r>
            <a:r>
              <a:rPr lang="zh-CN" altLang="en-US" dirty="0"/>
              <a:t>桶中的令牌数</a:t>
            </a:r>
            <a:r>
              <a:rPr lang="en-US" altLang="zh-CN" dirty="0" err="1"/>
              <a:t>Tp</a:t>
            </a:r>
            <a:r>
              <a:rPr lang="zh-CN" altLang="en-US" dirty="0"/>
              <a:t>，则报文被标记为红色，且</a:t>
            </a:r>
            <a:r>
              <a:rPr lang="en-US" altLang="zh-CN" dirty="0"/>
              <a:t>Tc</a:t>
            </a:r>
            <a:r>
              <a:rPr lang="zh-CN" altLang="en-US" dirty="0"/>
              <a:t>和</a:t>
            </a:r>
            <a:r>
              <a:rPr lang="en-US" altLang="zh-CN" dirty="0" err="1"/>
              <a:t>Tp</a:t>
            </a:r>
            <a:r>
              <a:rPr lang="zh-CN" altLang="en-US" dirty="0"/>
              <a:t>保持不变。</a:t>
            </a:r>
            <a:endParaRPr lang="en-US" altLang="zh-CN" dirty="0"/>
          </a:p>
          <a:p>
            <a:pPr lvl="1"/>
            <a:r>
              <a:rPr lang="zh-CN" altLang="en-US" dirty="0"/>
              <a:t>如果报文长度不超过</a:t>
            </a:r>
            <a:r>
              <a:rPr lang="en-US" altLang="zh-CN" dirty="0"/>
              <a:t>P</a:t>
            </a:r>
            <a:r>
              <a:rPr lang="zh-CN" altLang="en-US" dirty="0"/>
              <a:t>桶中的令牌数</a:t>
            </a:r>
            <a:r>
              <a:rPr lang="en-US" altLang="zh-CN" dirty="0" err="1"/>
              <a:t>Tp</a:t>
            </a:r>
            <a:r>
              <a:rPr lang="zh-CN" altLang="en-US" dirty="0"/>
              <a:t>但超过</a:t>
            </a:r>
            <a:r>
              <a:rPr lang="en-US" altLang="zh-CN" dirty="0"/>
              <a:t>C</a:t>
            </a:r>
            <a:r>
              <a:rPr lang="zh-CN" altLang="en-US" dirty="0"/>
              <a:t>桶中的令牌数</a:t>
            </a:r>
            <a:r>
              <a:rPr lang="en-US" altLang="zh-CN" dirty="0"/>
              <a:t>Tc</a:t>
            </a:r>
            <a:r>
              <a:rPr lang="zh-CN" altLang="en-US" dirty="0"/>
              <a:t>，则报文被标记为黄色，且</a:t>
            </a:r>
            <a:r>
              <a:rPr lang="en-US" altLang="zh-CN" dirty="0" err="1"/>
              <a:t>Tp</a:t>
            </a:r>
            <a:r>
              <a:rPr lang="en-US" altLang="zh-CN" dirty="0"/>
              <a:t>=</a:t>
            </a:r>
            <a:r>
              <a:rPr lang="en-US" altLang="zh-CN" dirty="0" err="1"/>
              <a:t>Tp</a:t>
            </a:r>
            <a:r>
              <a:rPr lang="en-US" altLang="zh-CN" dirty="0"/>
              <a:t>-B</a:t>
            </a:r>
            <a:r>
              <a:rPr lang="zh-CN" altLang="en-US" dirty="0"/>
              <a:t>。</a:t>
            </a:r>
          </a:p>
          <a:p>
            <a:pPr lvl="1"/>
            <a:r>
              <a:rPr lang="zh-CN" altLang="en-US" dirty="0"/>
              <a:t>如果报文长度不超过</a:t>
            </a:r>
            <a:r>
              <a:rPr lang="en-US" altLang="zh-CN" dirty="0"/>
              <a:t>C</a:t>
            </a:r>
            <a:r>
              <a:rPr lang="zh-CN" altLang="en-US" dirty="0"/>
              <a:t>桶中的令牌数</a:t>
            </a:r>
            <a:r>
              <a:rPr lang="en-US" altLang="zh-CN" dirty="0"/>
              <a:t>Tc</a:t>
            </a:r>
            <a:r>
              <a:rPr lang="zh-CN" altLang="en-US" dirty="0"/>
              <a:t>，报文被标记为绿色，且</a:t>
            </a:r>
            <a:r>
              <a:rPr lang="en-US" altLang="zh-CN" dirty="0" err="1"/>
              <a:t>Tp</a:t>
            </a:r>
            <a:r>
              <a:rPr lang="en-US" altLang="zh-CN" dirty="0"/>
              <a:t>=</a:t>
            </a:r>
            <a:r>
              <a:rPr lang="en-US" altLang="zh-CN" dirty="0" err="1"/>
              <a:t>Tp</a:t>
            </a:r>
            <a:r>
              <a:rPr lang="en-US" altLang="zh-CN" dirty="0"/>
              <a:t>-B</a:t>
            </a:r>
            <a:r>
              <a:rPr lang="zh-CN" altLang="en-US" dirty="0"/>
              <a:t>，</a:t>
            </a:r>
            <a:r>
              <a:rPr lang="en-US" altLang="zh-CN" dirty="0"/>
              <a:t>Tc=Tc-B</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268915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如图例子：</a:t>
            </a:r>
            <a:endParaRPr lang="en-US" altLang="zh-CN" dirty="0"/>
          </a:p>
          <a:p>
            <a:pPr lvl="1"/>
            <a:r>
              <a:rPr lang="zh-CN" altLang="en-US" dirty="0"/>
              <a:t>通过边缘网络设备连接广域网和局域网，局域网的带宽（</a:t>
            </a:r>
            <a:r>
              <a:rPr lang="en-US" altLang="zh-CN" dirty="0"/>
              <a:t>100 Mbps</a:t>
            </a:r>
            <a:r>
              <a:rPr lang="zh-CN" altLang="en-US" dirty="0"/>
              <a:t>）通常比广域网（</a:t>
            </a:r>
            <a:r>
              <a:rPr lang="en-US" altLang="zh-CN" dirty="0"/>
              <a:t>2 Mbps</a:t>
            </a:r>
            <a:r>
              <a:rPr lang="zh-CN" altLang="en-US" dirty="0"/>
              <a:t>或更低）高。</a:t>
            </a:r>
            <a:endParaRPr lang="en-US" altLang="zh-CN" dirty="0"/>
          </a:p>
          <a:p>
            <a:pPr lvl="1"/>
            <a:r>
              <a:rPr lang="zh-CN" altLang="en-US" dirty="0"/>
              <a:t>当局域网用户试图通过广域网发送大量数据时，在网络边缘就会发生拥塞。这种情况下，可以在网络边缘的入口处进行流量监管，限制大流量数据的速率。</a:t>
            </a:r>
            <a:endParaRPr lang="en-US" altLang="zh-CN" dirty="0"/>
          </a:p>
          <a:p>
            <a:r>
              <a:rPr lang="zh-CN" altLang="en-US" dirty="0"/>
              <a:t>流量监管的特点：</a:t>
            </a:r>
            <a:endParaRPr lang="en-US" altLang="zh-CN" dirty="0"/>
          </a:p>
          <a:p>
            <a:pPr lvl="1"/>
            <a:r>
              <a:rPr lang="zh-CN" altLang="en-US" dirty="0"/>
              <a:t>丢弃超额流量或将超额流量重标记为低优先级量</a:t>
            </a:r>
          </a:p>
          <a:p>
            <a:pPr lvl="1"/>
            <a:r>
              <a:rPr lang="zh-CN" altLang="en-US" dirty="0"/>
              <a:t>不需要额外的内存资源，不会带来延迟和抖动</a:t>
            </a:r>
          </a:p>
          <a:p>
            <a:pPr lvl="1"/>
            <a:r>
              <a:rPr lang="zh-CN" altLang="en-US" dirty="0"/>
              <a:t>丢包可能引发重传</a:t>
            </a:r>
          </a:p>
          <a:p>
            <a:pPr lvl="1"/>
            <a:r>
              <a:rPr lang="zh-CN" altLang="en-US" dirty="0"/>
              <a:t>可以重标记流</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498643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spcAft>
                <a:spcPts val="0"/>
              </a:spcAft>
            </a:pPr>
            <a:r>
              <a:rPr lang="zh-CN" altLang="en-US" dirty="0"/>
              <a:t>流量监管采用承诺访问速率</a:t>
            </a:r>
            <a:r>
              <a:rPr lang="en-US" altLang="zh-CN" dirty="0"/>
              <a:t>CAR</a:t>
            </a:r>
            <a:r>
              <a:rPr lang="zh-CN" altLang="en-US" dirty="0"/>
              <a:t>（</a:t>
            </a:r>
            <a:r>
              <a:rPr lang="en-US" altLang="zh-CN" dirty="0"/>
              <a:t>Committed Access Rate</a:t>
            </a:r>
            <a:r>
              <a:rPr lang="zh-CN" altLang="en-US" dirty="0"/>
              <a:t>）来对流量进行控制。</a:t>
            </a:r>
            <a:r>
              <a:rPr lang="en-US" altLang="zh-CN" dirty="0"/>
              <a:t>CAR</a:t>
            </a:r>
            <a:r>
              <a:rPr lang="zh-CN" altLang="en-US" dirty="0"/>
              <a:t>利用令牌桶来衡量每个数据报文是超过还是遵守所规定的报文速率。</a:t>
            </a:r>
          </a:p>
          <a:p>
            <a:pPr>
              <a:spcAft>
                <a:spcPts val="0"/>
              </a:spcAft>
            </a:pPr>
            <a:r>
              <a:rPr lang="en-US" altLang="zh-CN" dirty="0"/>
              <a:t>CAR</a:t>
            </a:r>
            <a:r>
              <a:rPr lang="zh-CN" altLang="en-US" dirty="0"/>
              <a:t>主要有两个功能：</a:t>
            </a:r>
          </a:p>
          <a:p>
            <a:pPr lvl="1">
              <a:spcAft>
                <a:spcPts val="0"/>
              </a:spcAft>
            </a:pPr>
            <a:r>
              <a:rPr lang="zh-CN" altLang="en-US" dirty="0"/>
              <a:t>流量速率限制：通过使用令牌桶对流经端口的报文进行度量，使得在特定时间内只有得到令牌的流量通过，从而实现限速功能。</a:t>
            </a:r>
          </a:p>
          <a:p>
            <a:pPr lvl="1">
              <a:spcAft>
                <a:spcPts val="0"/>
              </a:spcAft>
            </a:pPr>
            <a:r>
              <a:rPr lang="zh-CN" altLang="en-US" dirty="0"/>
              <a:t>流分类：通过令牌桶算法对流量进行测量，根据测量结果给报文打上不同的流分类内部标记（包括服务等级与丢弃优先级）</a:t>
            </a:r>
            <a:endParaRPr lang="en-US" altLang="zh-CN" dirty="0"/>
          </a:p>
          <a:p>
            <a:pPr lvl="0">
              <a:spcAft>
                <a:spcPts val="0"/>
              </a:spcAft>
            </a:pPr>
            <a:r>
              <a:rPr lang="en-US" altLang="zh-CN" dirty="0"/>
              <a:t>CAR</a:t>
            </a:r>
            <a:r>
              <a:rPr lang="zh-CN" altLang="en-US" dirty="0"/>
              <a:t>处理流程：</a:t>
            </a:r>
            <a:endParaRPr lang="en-US" altLang="zh-CN" dirty="0"/>
          </a:p>
          <a:p>
            <a:pPr lvl="1">
              <a:spcAft>
                <a:spcPts val="0"/>
              </a:spcAft>
            </a:pPr>
            <a:r>
              <a:rPr lang="zh-CN" altLang="en-US" dirty="0"/>
              <a:t>当报文到来时，首先检查端口的匹配规则，如果匹配上了，则进行速率控制，报文进入令牌桶中进行流量速率评估。</a:t>
            </a:r>
          </a:p>
          <a:p>
            <a:pPr lvl="1">
              <a:spcAft>
                <a:spcPts val="0"/>
              </a:spcAft>
            </a:pPr>
            <a:r>
              <a:rPr lang="zh-CN" altLang="en-US" dirty="0"/>
              <a:t>令牌桶评估后，报文被标记为红、黄、绿三种颜色。红色表示报文速率过大，不符合规定；黄色表示虽然不符合规定但允许临时的突发，绿色表示符合规定。</a:t>
            </a:r>
          </a:p>
          <a:p>
            <a:pPr lvl="1">
              <a:spcAft>
                <a:spcPts val="0"/>
              </a:spcAft>
            </a:pPr>
            <a:r>
              <a:rPr lang="zh-CN" altLang="en-US" dirty="0"/>
              <a:t>报文标为红色的直接丢弃，黄色则重新标记后转发，绿色则直接转发。</a:t>
            </a:r>
            <a:endParaRPr lang="en-US" altLang="zh-CN" dirty="0"/>
          </a:p>
          <a:p>
            <a:pPr lvl="0">
              <a:spcAft>
                <a:spcPts val="0"/>
              </a:spcAft>
            </a:pPr>
            <a:r>
              <a:rPr lang="zh-CN" altLang="en-US" dirty="0"/>
              <a:t>可使用的令牌桶类型：三种均可以使用。</a:t>
            </a:r>
            <a:endParaRPr lang="en-US" altLang="zh-CN" dirty="0"/>
          </a:p>
          <a:p>
            <a:pPr lvl="1">
              <a:spcAft>
                <a:spcPts val="0"/>
              </a:spcAft>
            </a:pPr>
            <a:r>
              <a:rPr lang="zh-CN" altLang="en-US" dirty="0"/>
              <a:t>如果只是为了限制带宽，使用单速单桶。</a:t>
            </a:r>
          </a:p>
          <a:p>
            <a:pPr lvl="1">
              <a:spcAft>
                <a:spcPts val="0"/>
              </a:spcAft>
            </a:pPr>
            <a:r>
              <a:rPr lang="zh-CN" altLang="en-US" dirty="0"/>
              <a:t>如果在限制带宽的基础上，还要对输入流量的突发情况进行区分，做不同的标记处理，则使用单速双桶。注意：标记为</a:t>
            </a:r>
            <a:r>
              <a:rPr lang="en-US" altLang="zh-CN" dirty="0"/>
              <a:t>yellow</a:t>
            </a:r>
            <a:r>
              <a:rPr lang="zh-CN" altLang="en-US" dirty="0"/>
              <a:t>的动作一定要同标记为</a:t>
            </a:r>
            <a:r>
              <a:rPr lang="en-US" altLang="zh-CN" dirty="0"/>
              <a:t>green</a:t>
            </a:r>
            <a:r>
              <a:rPr lang="zh-CN" altLang="en-US" dirty="0"/>
              <a:t>的配置的不一样，否则限速效果与单速单桶一样。</a:t>
            </a:r>
          </a:p>
          <a:p>
            <a:pPr lvl="1">
              <a:spcAft>
                <a:spcPts val="0"/>
              </a:spcAft>
            </a:pPr>
            <a:r>
              <a:rPr lang="zh-CN" altLang="en-US" dirty="0"/>
              <a:t>如果在限制带宽的基础上，还要对输入流量的带宽情况进行区分，区分出带宽是小于</a:t>
            </a:r>
            <a:r>
              <a:rPr lang="en-US" altLang="zh-CN" dirty="0"/>
              <a:t>CIR</a:t>
            </a:r>
            <a:r>
              <a:rPr lang="zh-CN" altLang="en-US" dirty="0"/>
              <a:t>还是在</a:t>
            </a:r>
            <a:r>
              <a:rPr lang="en-US" altLang="zh-CN" dirty="0"/>
              <a:t>CIR~PIR</a:t>
            </a:r>
            <a:r>
              <a:rPr lang="zh-CN" altLang="en-US" dirty="0"/>
              <a:t>之间，则使用双速双桶。注意：标记为</a:t>
            </a:r>
            <a:r>
              <a:rPr lang="en-US" altLang="zh-CN" dirty="0"/>
              <a:t>yellow</a:t>
            </a:r>
            <a:r>
              <a:rPr lang="zh-CN" altLang="en-US" dirty="0"/>
              <a:t>的动作也要同标记为</a:t>
            </a:r>
            <a:r>
              <a:rPr lang="en-US" altLang="zh-CN" dirty="0"/>
              <a:t>green</a:t>
            </a:r>
            <a:r>
              <a:rPr lang="zh-CN" altLang="en-US" dirty="0"/>
              <a:t>的动作配置得不一样，否则限速效果与单速单桶一样。</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291354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在企业网络中，存在语音、视频和数据等多种不同的业务，当大量的业务流量进入网络侧时，可能会因为带宽不足产生拥塞，需要对三种业务提供不同的保证带宽，优先保证语音业务的带宽，其次是视频业务，最后是数据业务，因此可以对不同业务进行不同的流量监督，为语音报文提供最大保证带宽，视频报文次之，数据报文保证带宽最小，从而在网络产生拥塞时，可以保证语音报文优先通过。</a:t>
            </a:r>
            <a:endParaRPr lang="en-US" altLang="zh-CN" dirty="0"/>
          </a:p>
          <a:p>
            <a:r>
              <a:rPr lang="zh-CN" altLang="en-US" dirty="0"/>
              <a:t>基于接口的流量监管</a:t>
            </a:r>
          </a:p>
          <a:p>
            <a:r>
              <a:rPr lang="zh-CN" altLang="en-US" dirty="0"/>
              <a:t>基于接口的流量监管是指对进入该接口的所有流量进行控制，而不区分具体报文的类型。（基于整个接口）</a:t>
            </a:r>
            <a:endParaRPr lang="en-US" altLang="zh-CN" dirty="0"/>
          </a:p>
          <a:p>
            <a:r>
              <a:rPr lang="zh-CN" altLang="en-US" dirty="0"/>
              <a:t>基于类的流量监管</a:t>
            </a:r>
          </a:p>
          <a:p>
            <a:r>
              <a:rPr lang="zh-CN" altLang="en-US" dirty="0"/>
              <a:t>基于类的</a:t>
            </a:r>
            <a:r>
              <a:rPr lang="en-US" altLang="zh-CN" dirty="0"/>
              <a:t>CAR</a:t>
            </a:r>
            <a:r>
              <a:rPr lang="zh-CN" altLang="en-US" dirty="0"/>
              <a:t>策略是指对进入该接口的满足特定条件的某一类或几类报文进行流量控制，而非所有报文。（基于流分类之后的）</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955594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318009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90679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003010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GTS</a:t>
            </a:r>
            <a:r>
              <a:rPr lang="zh-CN" altLang="en-US" dirty="0"/>
              <a:t>：</a:t>
            </a:r>
            <a:r>
              <a:rPr lang="en-US" altLang="zh-CN" dirty="0"/>
              <a:t>Generic Traffic Shaping </a:t>
            </a:r>
            <a:r>
              <a:rPr lang="zh-CN" altLang="en-US" dirty="0"/>
              <a:t>通用流量整形</a:t>
            </a:r>
            <a:endParaRPr lang="en-US" altLang="zh-CN" dirty="0"/>
          </a:p>
          <a:p>
            <a:pPr lvl="0"/>
            <a:r>
              <a:rPr lang="zh-CN" altLang="en-US" dirty="0"/>
              <a:t>当从高速链路向低速链路传输数据，或发生突发流量时，带宽会在低速链路出口处出现瓶颈，导致数据丢失严重。这种情况下，需要在进入高速链路的设备出口处进行流量整形。</a:t>
            </a:r>
            <a:endParaRPr lang="en-US" altLang="zh-CN" dirty="0"/>
          </a:p>
          <a:p>
            <a:pPr lvl="0"/>
            <a:r>
              <a:rPr lang="zh-CN" altLang="en-US" dirty="0"/>
              <a:t>当报文的发送速度过快时，首先在缓冲区进行缓存，在令牌桶的控制下再均匀地发送这些被缓冲的报文。</a:t>
            </a:r>
            <a:endParaRPr lang="en-US" altLang="zh-CN" dirty="0"/>
          </a:p>
          <a:p>
            <a:r>
              <a:rPr lang="zh-CN" altLang="en-US" dirty="0"/>
              <a:t>流量整形的特点：</a:t>
            </a:r>
            <a:endParaRPr lang="en-US" altLang="zh-CN" dirty="0"/>
          </a:p>
          <a:p>
            <a:pPr lvl="1"/>
            <a:r>
              <a:rPr lang="zh-CN" altLang="en-US" dirty="0"/>
              <a:t>缓存超出策略</a:t>
            </a:r>
            <a:r>
              <a:rPr lang="en-US" altLang="zh-CN" dirty="0"/>
              <a:t>/</a:t>
            </a:r>
            <a:r>
              <a:rPr lang="zh-CN" altLang="en-US" dirty="0"/>
              <a:t>协定</a:t>
            </a:r>
            <a:r>
              <a:rPr lang="en-US" altLang="zh-CN" dirty="0"/>
              <a:t>SLA</a:t>
            </a:r>
            <a:r>
              <a:rPr lang="zh-CN" altLang="en-US" dirty="0"/>
              <a:t>规定的超额流量</a:t>
            </a:r>
          </a:p>
          <a:p>
            <a:pPr lvl="1"/>
            <a:r>
              <a:rPr lang="zh-CN" altLang="en-US" dirty="0"/>
              <a:t>需要内存去缓存超额流量，可能会带来延迟和抖动</a:t>
            </a:r>
          </a:p>
          <a:p>
            <a:pPr lvl="1"/>
            <a:r>
              <a:rPr lang="zh-CN" altLang="en-US" dirty="0"/>
              <a:t>较少的丢包，因而较少导致重传</a:t>
            </a:r>
          </a:p>
          <a:p>
            <a:pPr lvl="1"/>
            <a:r>
              <a:rPr lang="zh-CN" altLang="en-US" dirty="0"/>
              <a:t>不能重标记</a:t>
            </a:r>
            <a:endParaRPr lang="en-US" altLang="zh-CN" dirty="0"/>
          </a:p>
          <a:p>
            <a:r>
              <a:rPr lang="zh-CN" altLang="en-US" dirty="0"/>
              <a:t>可使用的令牌桶类型：单速单桶，评估结果只有符合（</a:t>
            </a:r>
            <a:r>
              <a:rPr lang="en-US" altLang="zh-CN" dirty="0"/>
              <a:t>Green</a:t>
            </a:r>
            <a:r>
              <a:rPr lang="zh-CN" altLang="en-US" dirty="0"/>
              <a:t>）和超标（</a:t>
            </a:r>
            <a:r>
              <a:rPr lang="en-US" altLang="zh-CN" dirty="0"/>
              <a:t>Red</a:t>
            </a:r>
            <a:r>
              <a:rPr lang="zh-CN" altLang="en-US" dirty="0"/>
              <a:t>）两种。</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027277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步骤：在出队的时候，不需要整形的报文，直接转发；对于需要进行整形的报文，则先进行令牌桶评估：</a:t>
            </a:r>
          </a:p>
          <a:p>
            <a:pPr lvl="1"/>
            <a:r>
              <a:rPr lang="zh-CN" altLang="en-US" dirty="0"/>
              <a:t>如果数据包速率符合要求，标记为绿色，并转发。</a:t>
            </a:r>
            <a:endParaRPr lang="en-US" altLang="zh-CN" dirty="0"/>
          </a:p>
          <a:p>
            <a:pPr lvl="1"/>
            <a:r>
              <a:rPr lang="zh-CN" altLang="en-US" dirty="0"/>
              <a:t>如果数据包速率超标，则当前正在出队的数据包仍然转发出去，同时，将该数据包所在队列的状态改为不可调度，等令牌桶填充了新的令牌时再调度此队列。队列的状态改为不可调度后，该队列允许报文继续入队，但入队满了的时候会丢弃报文。因此，虽然流量整形使超额的数据能够从接口平滑地输出，但并不表示流量整形永远不会丢包。</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657581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步骤：在出队的时候，对所有队列的数据包总和进行令牌桶评估：</a:t>
            </a:r>
          </a:p>
          <a:p>
            <a:pPr lvl="1"/>
            <a:r>
              <a:rPr lang="zh-CN" altLang="en-US" dirty="0"/>
              <a:t>如果数据包总速率符合要求，标记为绿色，并转发。</a:t>
            </a:r>
            <a:endParaRPr lang="en-US" altLang="zh-CN" dirty="0"/>
          </a:p>
          <a:p>
            <a:pPr lvl="1"/>
            <a:r>
              <a:rPr lang="zh-CN" altLang="en-US" dirty="0"/>
              <a:t>如果数据包总速率超标（即令牌桶中的令牌不足），标记为红色，接口暂停调度，等令牌足够时再继续调度。</a:t>
            </a:r>
            <a:endParaRPr lang="en-US" altLang="zh-CN" dirty="0"/>
          </a:p>
          <a:p>
            <a:pPr lvl="1"/>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194327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389416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344238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877634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5583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500388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altLang="zh-CN" dirty="0"/>
              <a:t>A</a:t>
            </a:r>
            <a:endParaRPr lang="en-US" dirty="0"/>
          </a:p>
          <a:p>
            <a:pPr marL="228600" indent="-228600">
              <a:buFont typeface="+mj-lt"/>
              <a:buAutoNum type="arabicPeriod"/>
            </a:pPr>
            <a:r>
              <a:rPr lang="en-US" dirty="0"/>
              <a:t>A</a:t>
            </a:r>
            <a:r>
              <a:rPr lang="en-US" altLang="zh-CN" dirty="0"/>
              <a:t>CD</a:t>
            </a:r>
            <a:endParaRPr lang="en-US" dirty="0"/>
          </a:p>
          <a:p>
            <a:pPr lvl="0"/>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457391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21994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792320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拥塞避免：过度的拥塞会对网络资源造成损害，拥塞避免监督网络资源的使用情况，当发现拥塞有加剧的趋势时采取主动丢弃报文的策略，通过调整流量来解除网络的过载，通常作用在接口出方向。</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531012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拥塞是在共享网络上多个用户竞争相同的资源（带宽、缓冲区等）时发生的问题。</a:t>
            </a:r>
            <a:endParaRPr lang="en-US" altLang="zh-CN" dirty="0"/>
          </a:p>
          <a:p>
            <a:pPr lvl="1"/>
            <a:r>
              <a:rPr lang="zh-CN" altLang="en-US" dirty="0"/>
              <a:t>例如，由于广域网的带宽通常要比局域网的带宽小，当一个局域网的用户向另一个局域网的用户发送数据时，由于广域网的带宽小于局域网的带宽，数据将不可能按局域网发送的速度在广域网上传输。此时，处在局域网和广域网之间的路由器将发生拥塞。</a:t>
            </a:r>
            <a:endParaRPr lang="en-US" altLang="zh-CN" dirty="0"/>
          </a:p>
          <a:p>
            <a:r>
              <a:rPr lang="zh-CN" altLang="en-US" dirty="0"/>
              <a:t>拥塞经常发生于如图所示的情况：</a:t>
            </a:r>
          </a:p>
          <a:p>
            <a:pPr lvl="1"/>
            <a:r>
              <a:rPr lang="zh-CN" altLang="en-US" dirty="0"/>
              <a:t>速率不匹配：分组从高速链路进入设备，再由低速链路转发出去。</a:t>
            </a:r>
          </a:p>
          <a:p>
            <a:pPr lvl="1"/>
            <a:r>
              <a:rPr lang="zh-CN" altLang="en-US" dirty="0"/>
              <a:t>汇聚问题：分组从多个接口同时进入设备，由一个没有足够带宽的接口转发出去。</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071864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拥塞的影响：</a:t>
            </a:r>
            <a:endParaRPr lang="en-US" altLang="zh-CN" dirty="0"/>
          </a:p>
          <a:p>
            <a:r>
              <a:rPr lang="zh-CN" altLang="en-US" dirty="0"/>
              <a:t>拥塞使流量不能及时获得资源，是造成服务性能下降的源头。然而在分组交换以及多用户业务并存的复杂环境下，拥塞又是常见的。因此采取有效的避免拥塞以及防止拥塞加剧的方法是必需的。</a:t>
            </a:r>
            <a:endParaRPr lang="en-US" altLang="zh-CN" dirty="0"/>
          </a:p>
          <a:p>
            <a:r>
              <a:rPr lang="zh-CN" altLang="en-US" dirty="0"/>
              <a:t>拥塞的管理和对策：</a:t>
            </a:r>
            <a:endParaRPr lang="en-US" altLang="zh-CN" dirty="0"/>
          </a:p>
          <a:p>
            <a:r>
              <a:rPr lang="zh-CN" altLang="en-US" dirty="0"/>
              <a:t>在满足用户对服务质量要求的前提下尽可能地充分利用网络资源。通常用如下两种策略来缓解网络拥塞：</a:t>
            </a:r>
          </a:p>
          <a:p>
            <a:pPr lvl="1"/>
            <a:r>
              <a:rPr lang="zh-CN" altLang="en-US" dirty="0"/>
              <a:t>拥塞管理：指网络在发生拥塞时，如何进行管理和控制。</a:t>
            </a:r>
            <a:endParaRPr lang="en-US" altLang="zh-CN" dirty="0"/>
          </a:p>
          <a:p>
            <a:pPr lvl="1"/>
            <a:r>
              <a:rPr lang="zh-CN" altLang="en-US" dirty="0"/>
              <a:t>拥塞避免：通过监视网络资源（如队列或内存缓冲区）的使用情况，在拥塞有加剧的趋势时，主动丢弃报文，通过调整网络的流量来解除网络过载的一种流量控制机制。拥塞避免用于防止因为线路拥塞而使设备的队列溢出。</a:t>
            </a:r>
            <a:r>
              <a:rPr lang="en-US" altLang="zh-CN" dirty="0"/>
              <a:t>——</a:t>
            </a:r>
            <a:r>
              <a:rPr lang="zh-CN" altLang="en-US" dirty="0"/>
              <a:t>本节课我们主要来介绍下拥塞避免技术。</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265402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883013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由于每个队列长度有限，当某一队列已经被装满时，传统的处理方法会将后续向该队列发送的报文全部丢弃，直至拥塞解除，这种处理方式称为尾丢弃（</a:t>
            </a:r>
            <a:r>
              <a:rPr lang="en-US" altLang="zh-CN" dirty="0"/>
              <a:t>Tail Drop</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930436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TCP</a:t>
            </a:r>
            <a:r>
              <a:rPr lang="zh-CN" altLang="en-US" dirty="0"/>
              <a:t>全局同步现象如图，三种颜色表示三条</a:t>
            </a:r>
            <a:r>
              <a:rPr lang="en-US" altLang="zh-CN" dirty="0"/>
              <a:t>TCP</a:t>
            </a:r>
            <a:r>
              <a:rPr lang="zh-CN" altLang="en-US" dirty="0"/>
              <a:t>连接。</a:t>
            </a:r>
            <a:endParaRPr lang="en-US" altLang="zh-CN" dirty="0"/>
          </a:p>
          <a:p>
            <a:r>
              <a:rPr lang="en-US" altLang="zh-CN" dirty="0"/>
              <a:t>TCP</a:t>
            </a:r>
            <a:r>
              <a:rPr lang="zh-CN" altLang="en-US" dirty="0"/>
              <a:t>全局同步：</a:t>
            </a:r>
            <a:endParaRPr lang="en-US" altLang="zh-CN" dirty="0"/>
          </a:p>
          <a:p>
            <a:pPr lvl="1"/>
            <a:r>
              <a:rPr lang="zh-CN" altLang="en-US" dirty="0"/>
              <a:t>对于</a:t>
            </a:r>
            <a:r>
              <a:rPr lang="en-US" altLang="zh-CN" dirty="0"/>
              <a:t>TCP</a:t>
            </a:r>
            <a:r>
              <a:rPr lang="zh-CN" altLang="en-US" dirty="0"/>
              <a:t>报文，如果大量的报文被丢弃，将造成</a:t>
            </a:r>
            <a:r>
              <a:rPr lang="en-US" altLang="zh-CN" dirty="0"/>
              <a:t>TCP</a:t>
            </a:r>
            <a:r>
              <a:rPr lang="zh-CN" altLang="en-US" dirty="0"/>
              <a:t>超时，从而引发</a:t>
            </a:r>
            <a:r>
              <a:rPr lang="en-US" altLang="zh-CN" dirty="0"/>
              <a:t>TCP</a:t>
            </a:r>
            <a:r>
              <a:rPr lang="zh-CN" altLang="en-US" dirty="0"/>
              <a:t>慢启动，使得</a:t>
            </a:r>
            <a:r>
              <a:rPr lang="en-US" altLang="zh-CN" dirty="0"/>
              <a:t>TCP</a:t>
            </a:r>
            <a:r>
              <a:rPr lang="zh-CN" altLang="en-US" dirty="0"/>
              <a:t>减少报文的发送。</a:t>
            </a:r>
            <a:endParaRPr lang="en-US" altLang="zh-CN" dirty="0"/>
          </a:p>
          <a:p>
            <a:pPr lvl="1"/>
            <a:r>
              <a:rPr lang="zh-CN" altLang="en-US" dirty="0"/>
              <a:t>当队列同时丢弃多个</a:t>
            </a:r>
            <a:r>
              <a:rPr lang="en-US" altLang="zh-CN" dirty="0"/>
              <a:t>TCP</a:t>
            </a:r>
            <a:r>
              <a:rPr lang="zh-CN" altLang="en-US" dirty="0"/>
              <a:t>连接的报文时，将造成多个</a:t>
            </a:r>
            <a:r>
              <a:rPr lang="en-US" altLang="zh-CN" dirty="0"/>
              <a:t>TCP</a:t>
            </a:r>
            <a:r>
              <a:rPr lang="zh-CN" altLang="en-US" dirty="0"/>
              <a:t>连接同时进入拥塞避免和慢启动状态以调整并降低流量，这就被称为</a:t>
            </a:r>
            <a:r>
              <a:rPr lang="en-US" altLang="zh-CN" dirty="0"/>
              <a:t>TCP</a:t>
            </a:r>
            <a:r>
              <a:rPr lang="zh-CN" altLang="en-US" dirty="0"/>
              <a:t>全局同步现象。这样多个</a:t>
            </a:r>
            <a:r>
              <a:rPr lang="en-US" altLang="zh-CN" dirty="0"/>
              <a:t>TCP</a:t>
            </a:r>
            <a:r>
              <a:rPr lang="zh-CN" altLang="en-US" dirty="0"/>
              <a:t>连接发往队列的报文将同时减少，而后又会在某个时间同时出现流量高峰，如此反复，使网络资源利用率低。</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797415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尾丢弃无法对流量进行区分丢弃。</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327232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RED</a:t>
            </a:r>
            <a:r>
              <a:rPr lang="zh-CN" altLang="en-US" dirty="0"/>
              <a:t>为每个队列的长度都设定了阈值门限，并规定： </a:t>
            </a:r>
          </a:p>
          <a:p>
            <a:pPr lvl="1"/>
            <a:r>
              <a:rPr lang="zh-CN" altLang="en-US" dirty="0"/>
              <a:t>当队列的长度小于低门限时，不丢弃报文。 </a:t>
            </a:r>
          </a:p>
          <a:p>
            <a:pPr lvl="1"/>
            <a:r>
              <a:rPr lang="zh-CN" altLang="en-US" dirty="0"/>
              <a:t>当队列的长度大于高门限时，丢弃所有收到的报文。 </a:t>
            </a:r>
          </a:p>
          <a:p>
            <a:pPr lvl="1"/>
            <a:r>
              <a:rPr lang="zh-CN" altLang="en-US" dirty="0"/>
              <a:t>当队列的长度在低门限和高门限之间时，开始随机丢弃到来的报文。方法是为每个到来的报文赋予一个随机数，并用该随机数与当前队列的丢弃概率比较，如果大于丢弃概率则报文被丢弃。队列越长，报文被丢弃的概率越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80673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为避免</a:t>
            </a:r>
            <a:r>
              <a:rPr lang="en-US" altLang="zh-CN" dirty="0"/>
              <a:t>TCP</a:t>
            </a:r>
            <a:r>
              <a:rPr lang="zh-CN" altLang="en-US" dirty="0"/>
              <a:t>全局同步现象，出现了</a:t>
            </a:r>
            <a:r>
              <a:rPr lang="en-US" altLang="zh-CN" dirty="0"/>
              <a:t>RED</a:t>
            </a:r>
            <a:r>
              <a:rPr lang="zh-CN" altLang="en-US" dirty="0"/>
              <a:t>（</a:t>
            </a:r>
            <a:r>
              <a:rPr lang="en-US" altLang="zh-CN" dirty="0"/>
              <a:t>Random Early Detection</a:t>
            </a:r>
            <a:r>
              <a:rPr lang="zh-CN" altLang="en-US" dirty="0"/>
              <a:t>）技术。</a:t>
            </a:r>
            <a:r>
              <a:rPr lang="en-US" altLang="zh-CN" dirty="0"/>
              <a:t>RED</a:t>
            </a:r>
            <a:r>
              <a:rPr lang="zh-CN" altLang="en-US" dirty="0"/>
              <a:t>通过随机地丢弃数据报文，让多个</a:t>
            </a:r>
            <a:r>
              <a:rPr lang="en-US" altLang="zh-CN" dirty="0"/>
              <a:t>TCP</a:t>
            </a:r>
            <a:r>
              <a:rPr lang="zh-CN" altLang="en-US" dirty="0"/>
              <a:t>连接不同时降低发送速度，从而避免了</a:t>
            </a:r>
            <a:r>
              <a:rPr lang="en-US" altLang="zh-CN" dirty="0"/>
              <a:t>TCP</a:t>
            </a:r>
            <a:r>
              <a:rPr lang="zh-CN" altLang="en-US" dirty="0"/>
              <a:t>的全局同步现象。使</a:t>
            </a:r>
            <a:r>
              <a:rPr lang="en-US" altLang="zh-CN" dirty="0"/>
              <a:t>TCP</a:t>
            </a:r>
            <a:r>
              <a:rPr lang="zh-CN" altLang="en-US" dirty="0"/>
              <a:t>速率及网络流量都趋于稳定。</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182959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基于</a:t>
            </a:r>
            <a:r>
              <a:rPr lang="en-US" altLang="zh-CN" dirty="0"/>
              <a:t>RED</a:t>
            </a:r>
            <a:r>
              <a:rPr lang="zh-CN" altLang="en-US" dirty="0"/>
              <a:t>技术，设备实现了</a:t>
            </a:r>
            <a:r>
              <a:rPr lang="en-US" altLang="zh-CN" dirty="0"/>
              <a:t>WRED</a:t>
            </a:r>
            <a:r>
              <a:rPr lang="zh-CN" altLang="en-US" dirty="0"/>
              <a:t>（</a:t>
            </a:r>
            <a:r>
              <a:rPr lang="en-US" altLang="zh-CN" dirty="0"/>
              <a:t>Weighted Random Early Detection</a:t>
            </a:r>
            <a:r>
              <a:rPr lang="zh-CN" altLang="en-US" dirty="0"/>
              <a:t>）。</a:t>
            </a:r>
            <a:endParaRPr lang="en-US" altLang="zh-CN" dirty="0"/>
          </a:p>
          <a:p>
            <a:r>
              <a:rPr lang="zh-CN" altLang="en-US" dirty="0"/>
              <a:t>流队列支持基于</a:t>
            </a:r>
            <a:r>
              <a:rPr lang="en-US" altLang="zh-CN" dirty="0"/>
              <a:t>DSCP</a:t>
            </a:r>
            <a:r>
              <a:rPr lang="zh-CN" altLang="en-US" dirty="0"/>
              <a:t>或</a:t>
            </a:r>
            <a:r>
              <a:rPr lang="en-US" altLang="zh-CN" dirty="0"/>
              <a:t>IP</a:t>
            </a:r>
            <a:r>
              <a:rPr lang="zh-CN" altLang="en-US" dirty="0"/>
              <a:t>优先级进行</a:t>
            </a:r>
            <a:r>
              <a:rPr lang="en-US" altLang="zh-CN" dirty="0"/>
              <a:t>WRED</a:t>
            </a:r>
            <a:r>
              <a:rPr lang="zh-CN" altLang="en-US" dirty="0"/>
              <a:t>丢弃。每一种优先级都可以独立设置报文丢包的上下门限及丢包率，报文到达下限时，开始丢包，随着门限的增高，丢包率不断增加，最高丢包率不超过设置的丢包率，直至到达高门限，报文全部丢弃，这样按照一定的丢弃概率主动丢弃队列中的报文，从而一定的程度上避免拥塞问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335213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Color</a:t>
            </a:r>
            <a:r>
              <a:rPr lang="zh-CN" altLang="en-US" dirty="0"/>
              <a:t>：</a:t>
            </a:r>
            <a:endParaRPr lang="en-US" altLang="zh-CN" dirty="0"/>
          </a:p>
          <a:p>
            <a:pPr lvl="1"/>
            <a:r>
              <a:rPr lang="zh-CN" altLang="en-US" dirty="0"/>
              <a:t>用于实现同一个队列内部，当队列发生拥塞时报文丢弃顺序。</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461070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实际应用：</a:t>
            </a:r>
            <a:endParaRPr lang="en-US" altLang="zh-CN" dirty="0"/>
          </a:p>
          <a:p>
            <a:pPr lvl="1"/>
            <a:r>
              <a:rPr lang="en-US" altLang="zh-CN" dirty="0"/>
              <a:t>WRED</a:t>
            </a:r>
            <a:r>
              <a:rPr lang="zh-CN" altLang="en-US" dirty="0"/>
              <a:t>低门限百分比建议从</a:t>
            </a:r>
            <a:r>
              <a:rPr lang="en-US" altLang="zh-CN" dirty="0"/>
              <a:t>50%</a:t>
            </a:r>
            <a:r>
              <a:rPr lang="zh-CN" altLang="en-US" dirty="0"/>
              <a:t>开始取值，根据不同颜色的丢弃优先级逐级调整。一般推荐绿色报文设置的丢弃概率比较小，高、低门限值比较大；黄色报文次之；红色报文设置的丢弃概率最大，高、低门限值最小。</a:t>
            </a:r>
            <a:endParaRPr lang="en-US" altLang="zh-CN" dirty="0"/>
          </a:p>
          <a:p>
            <a:pPr lvl="1"/>
            <a:r>
              <a:rPr lang="zh-CN" altLang="en-US" dirty="0"/>
              <a:t>这样，在网络趋近拥塞时，红色报文由于设置的低门限值比较小，丢弃概率比较大，红色报文最先开始被丢弃；随着队列的长度逐渐增长，最后才开始丢弃绿色报文。如果队列长度达到相应颜色的最大门限，这种颜色的报文开始实行尾丢弃。</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08937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应用举例：</a:t>
            </a:r>
            <a:endParaRPr lang="en-US" altLang="zh-CN" dirty="0"/>
          </a:p>
          <a:p>
            <a:pPr lvl="1"/>
            <a:r>
              <a:rPr lang="zh-CN" altLang="en-US" dirty="0"/>
              <a:t>各地用户有可能向同一台服务器上传数据，因此用户与服务器之间的通信会经过广域网，由于广域网带宽小于局域网的带宽，位于广域网和局域网之间的边缘设备将可能发生拥塞，此时可以通过配置拥塞避免，主动丢弃优先级较低的报文（比如数据报文等），减少网络的拥塞，保证高优先级业务正常运行。</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1879910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97912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9961711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39855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369566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dirty="0"/>
              <a:t>A</a:t>
            </a:r>
            <a:r>
              <a:rPr lang="en-US" altLang="zh-CN" dirty="0"/>
              <a:t>BD</a:t>
            </a:r>
            <a:endParaRPr lang="en-US" dirty="0"/>
          </a:p>
          <a:p>
            <a:pPr lvl="0"/>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1416901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002624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046711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拥塞管理：是必须采取的解决资源竞争的措施，将报文放入队列中缓存，并采取某种调度算法安排报文的转发次序，通常作用在接口出方向。</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4529229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拥塞管理技术</a:t>
            </a:r>
            <a:endParaRPr lang="en-US" altLang="zh-CN" dirty="0"/>
          </a:p>
          <a:p>
            <a:pPr lvl="1"/>
            <a:r>
              <a:rPr lang="zh-CN" altLang="en-US" dirty="0"/>
              <a:t>拥塞管理的中心内容是当拥塞发生时如何制定一个策略，用于决定报文转发的处理次序和丢弃原则，一般采用队列技术。</a:t>
            </a:r>
            <a:endParaRPr lang="en-US" altLang="zh-CN" dirty="0"/>
          </a:p>
          <a:p>
            <a:pPr lvl="1"/>
            <a:r>
              <a:rPr lang="zh-CN" altLang="en-US" dirty="0"/>
              <a:t>管理的内容包括：报文离开队列的时间、顺序，以及各个队列之间报文离开的相互关系则由队列调度算法决定。</a:t>
            </a:r>
            <a:endParaRPr lang="en-US" altLang="zh-CN" dirty="0"/>
          </a:p>
          <a:p>
            <a:pPr lvl="0"/>
            <a:r>
              <a:rPr lang="zh-CN" altLang="en-US" dirty="0"/>
              <a:t>队列技术</a:t>
            </a:r>
            <a:endParaRPr lang="en-US" altLang="zh-CN" dirty="0"/>
          </a:p>
          <a:p>
            <a:pPr lvl="1"/>
            <a:r>
              <a:rPr lang="zh-CN" altLang="en-US" dirty="0"/>
              <a:t>将从一个接口发出的所有报文放入多个队列，按照各个队列的优先级进行处理。不同的队列调度算法用来解决不同的问题，并产生不同的效果。</a:t>
            </a:r>
            <a:endParaRPr lang="en-US" altLang="zh-CN" dirty="0"/>
          </a:p>
          <a:p>
            <a:pPr lvl="0"/>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2423259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什么是队列？</a:t>
            </a:r>
            <a:endParaRPr lang="en-US" altLang="zh-CN" dirty="0"/>
          </a:p>
          <a:p>
            <a:pPr lvl="1"/>
            <a:r>
              <a:rPr lang="zh-CN" altLang="en-US" dirty="0"/>
              <a:t>队列指的是在缓存中对报文进行排序的逻辑。当流量的速率超过接口带宽或超过为该流量设置的带宽时，报文就以队列的形式暂存在缓存中。</a:t>
            </a:r>
            <a:endParaRPr lang="en-US" altLang="zh-CN" dirty="0"/>
          </a:p>
          <a:p>
            <a:pPr lvl="1"/>
            <a:r>
              <a:rPr lang="en-US" altLang="zh-CN" dirty="0"/>
              <a:t>NE20E</a:t>
            </a:r>
            <a:r>
              <a:rPr lang="zh-CN" altLang="en-US" dirty="0"/>
              <a:t>设备和</a:t>
            </a:r>
            <a:r>
              <a:rPr lang="en-US" altLang="zh-CN" dirty="0"/>
              <a:t>NE40E</a:t>
            </a:r>
            <a:r>
              <a:rPr lang="zh-CN" altLang="en-US" dirty="0"/>
              <a:t>设备，每个端口上都有</a:t>
            </a:r>
            <a:r>
              <a:rPr lang="en-US" altLang="zh-CN" dirty="0"/>
              <a:t>8</a:t>
            </a:r>
            <a:r>
              <a:rPr lang="zh-CN" altLang="en-US" dirty="0"/>
              <a:t>个下行队列，称为</a:t>
            </a:r>
            <a:r>
              <a:rPr lang="en-US" altLang="zh-CN" dirty="0"/>
              <a:t>CQ</a:t>
            </a:r>
            <a:r>
              <a:rPr lang="zh-CN" altLang="en-US" dirty="0"/>
              <a:t>（</a:t>
            </a:r>
            <a:r>
              <a:rPr lang="en-US" altLang="zh-CN" dirty="0"/>
              <a:t>Class Queue</a:t>
            </a:r>
            <a:r>
              <a:rPr lang="zh-CN" altLang="en-US" dirty="0"/>
              <a:t>）队列，也叫端口队列（</a:t>
            </a:r>
            <a:r>
              <a:rPr lang="en-US" altLang="zh-CN" dirty="0"/>
              <a:t>Port-queue</a:t>
            </a:r>
            <a:r>
              <a:rPr lang="zh-CN" altLang="en-US" dirty="0"/>
              <a:t>），分别为</a:t>
            </a:r>
            <a:r>
              <a:rPr lang="en-US" altLang="zh-CN" dirty="0"/>
              <a:t>BE</a:t>
            </a:r>
            <a:r>
              <a:rPr lang="zh-CN" altLang="en-US" dirty="0"/>
              <a:t>、</a:t>
            </a:r>
            <a:r>
              <a:rPr lang="en-US" altLang="zh-CN" dirty="0"/>
              <a:t>AF1</a:t>
            </a:r>
            <a:r>
              <a:rPr lang="zh-CN" altLang="en-US" dirty="0"/>
              <a:t>、</a:t>
            </a:r>
            <a:r>
              <a:rPr lang="en-US" altLang="zh-CN" dirty="0"/>
              <a:t>AF2</a:t>
            </a:r>
            <a:r>
              <a:rPr lang="zh-CN" altLang="en-US" dirty="0"/>
              <a:t>、</a:t>
            </a:r>
            <a:r>
              <a:rPr lang="en-US" altLang="zh-CN" dirty="0"/>
              <a:t>AF3</a:t>
            </a:r>
            <a:r>
              <a:rPr lang="zh-CN" altLang="en-US" dirty="0"/>
              <a:t>、</a:t>
            </a:r>
            <a:r>
              <a:rPr lang="en-US" altLang="zh-CN" dirty="0"/>
              <a:t>AF4</a:t>
            </a:r>
            <a:r>
              <a:rPr lang="zh-CN" altLang="en-US" dirty="0"/>
              <a:t>、</a:t>
            </a:r>
            <a:r>
              <a:rPr lang="en-US" altLang="zh-CN" dirty="0"/>
              <a:t>EF</a:t>
            </a:r>
            <a:r>
              <a:rPr lang="zh-CN" altLang="en-US" dirty="0"/>
              <a:t>、</a:t>
            </a:r>
            <a:r>
              <a:rPr lang="en-US" altLang="zh-CN" dirty="0"/>
              <a:t>CS6</a:t>
            </a:r>
            <a:r>
              <a:rPr lang="zh-CN" altLang="en-US" dirty="0"/>
              <a:t>和</a:t>
            </a:r>
            <a:r>
              <a:rPr lang="en-US" altLang="zh-CN" dirty="0"/>
              <a:t>CS7</a:t>
            </a:r>
            <a:r>
              <a:rPr lang="zh-CN" altLang="en-US" dirty="0"/>
              <a:t>。</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8207839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队列技术，将从一个接口发出的所有报文放入多个队列，按照各个队列的优先级进行处理。不同的队列调度算法用来解决不同的问题，并产生不同的效果。</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3081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FIFO</a:t>
            </a:r>
            <a:r>
              <a:rPr lang="zh-CN" altLang="en-US" dirty="0"/>
              <a:t>不对报文进行分类。</a:t>
            </a:r>
            <a:endParaRPr lang="en-US" altLang="zh-CN" dirty="0"/>
          </a:p>
          <a:p>
            <a:r>
              <a:rPr lang="en-US" altLang="zh-CN" dirty="0"/>
              <a:t>FIFO</a:t>
            </a:r>
            <a:r>
              <a:rPr lang="zh-CN" altLang="en-US" dirty="0"/>
              <a:t>按报文到达接口的先后顺序让报文进入队列，在队列的出口让报文按进队的顺序出队，先进的报文将先出队，后进的报文将后出队。</a:t>
            </a:r>
            <a:endParaRPr lang="en-US" altLang="zh-CN" dirty="0"/>
          </a:p>
          <a:p>
            <a:pPr lvl="0"/>
            <a:r>
              <a:rPr lang="zh-CN" altLang="en-US" dirty="0"/>
              <a:t>特点：</a:t>
            </a:r>
            <a:endParaRPr lang="en-US" altLang="zh-CN" dirty="0"/>
          </a:p>
          <a:p>
            <a:pPr lvl="1"/>
            <a:r>
              <a:rPr lang="zh-CN" altLang="en-US" dirty="0"/>
              <a:t>优点：</a:t>
            </a:r>
            <a:r>
              <a:rPr lang="zh-CN" altLang="zh-CN" dirty="0"/>
              <a:t>实现机制简单</a:t>
            </a:r>
            <a:r>
              <a:rPr lang="zh-CN" altLang="en-US" dirty="0"/>
              <a:t>且</a:t>
            </a:r>
            <a:r>
              <a:rPr lang="zh-CN" altLang="zh-CN" dirty="0"/>
              <a:t>处理速度快</a:t>
            </a:r>
            <a:r>
              <a:rPr lang="zh-CN" altLang="en-US" dirty="0"/>
              <a:t>。</a:t>
            </a:r>
            <a:endParaRPr lang="en-US" altLang="zh-CN" dirty="0"/>
          </a:p>
          <a:p>
            <a:pPr lvl="1"/>
            <a:r>
              <a:rPr lang="zh-CN" altLang="en-US" dirty="0"/>
              <a:t>缺点：不能有差别地对待优先级不同的报文。</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693251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SP</a:t>
            </a:r>
            <a:r>
              <a:rPr lang="zh-CN" altLang="en-US" dirty="0"/>
              <a:t>：只有高优先级队列中的报文全部调度完毕后，低优先级队列才有调度机会。</a:t>
            </a:r>
            <a:endParaRPr lang="en-US" altLang="zh-CN" dirty="0"/>
          </a:p>
          <a:p>
            <a:pPr lvl="0"/>
            <a:r>
              <a:rPr lang="zh-CN" altLang="en-US" dirty="0"/>
              <a:t>如图：假设端口有</a:t>
            </a:r>
            <a:r>
              <a:rPr lang="en-US" altLang="zh-CN" dirty="0"/>
              <a:t>3</a:t>
            </a:r>
            <a:r>
              <a:rPr lang="zh-CN" altLang="en-US" dirty="0"/>
              <a:t>个采用</a:t>
            </a:r>
            <a:r>
              <a:rPr lang="en-US" altLang="zh-CN" dirty="0"/>
              <a:t>SP</a:t>
            </a:r>
            <a:r>
              <a:rPr lang="zh-CN" altLang="en-US" dirty="0"/>
              <a:t>调度算法的队列，分别为高优先（</a:t>
            </a:r>
            <a:r>
              <a:rPr lang="en-US" altLang="zh-CN" dirty="0"/>
              <a:t>High</a:t>
            </a:r>
            <a:r>
              <a:rPr lang="zh-CN" altLang="en-US" dirty="0"/>
              <a:t>）队列、中优先（</a:t>
            </a:r>
            <a:r>
              <a:rPr lang="en-US" altLang="zh-CN" dirty="0"/>
              <a:t>Medium</a:t>
            </a:r>
            <a:r>
              <a:rPr lang="zh-CN" altLang="en-US" dirty="0"/>
              <a:t>）队列、和低优先（</a:t>
            </a:r>
            <a:r>
              <a:rPr lang="en-US" altLang="zh-CN" dirty="0"/>
              <a:t>Low</a:t>
            </a:r>
            <a:r>
              <a:rPr lang="zh-CN" altLang="en-US" dirty="0"/>
              <a:t>）队列，它们的优先级依次降低。其中报文编号表示报文到达顺序。</a:t>
            </a:r>
            <a:endParaRPr lang="en-US" altLang="zh-CN" dirty="0"/>
          </a:p>
          <a:p>
            <a:pPr lvl="0"/>
            <a:r>
              <a:rPr lang="zh-CN" altLang="en-US" dirty="0"/>
              <a:t>在报文出队的时候，首先让高优先队列中的报文出队并发送，直到高优先队列中的报文发送完，然后发送中优先队列中的报文，直到发送完，接着是低优先队列。在调度低优先级队列时，如果高优先级队列又有报文到来，则会优先调度高优先级队列。这样，较高优先级队列的报文将会得到优先发送，而较低优先级的报文后发送。</a:t>
            </a:r>
            <a:endParaRPr lang="en-US" altLang="zh-CN" dirty="0"/>
          </a:p>
          <a:p>
            <a:pPr lvl="0"/>
            <a:r>
              <a:rPr lang="zh-CN" altLang="en-US" dirty="0"/>
              <a:t>特点：</a:t>
            </a:r>
            <a:endParaRPr lang="en-US" altLang="zh-CN" dirty="0"/>
          </a:p>
          <a:p>
            <a:pPr lvl="1"/>
            <a:r>
              <a:rPr lang="zh-CN" altLang="en-US" dirty="0"/>
              <a:t>优点：对高优先级的报文提供了优先转发。</a:t>
            </a:r>
          </a:p>
          <a:p>
            <a:pPr lvl="1"/>
            <a:r>
              <a:rPr lang="zh-CN" altLang="en-US" dirty="0"/>
              <a:t>缺点：低优先级队列可能出现“饿死”现象。即：拥塞发生时，如果较高优先级队列中长时间有报文存在，那么低优先级队列中的报文就会得不到调度机会。</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665467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加权公平队列</a:t>
            </a:r>
            <a:r>
              <a:rPr lang="en-US" altLang="zh-CN" dirty="0"/>
              <a:t>WFQ</a:t>
            </a:r>
            <a:r>
              <a:rPr lang="zh-CN" altLang="en-US" dirty="0"/>
              <a:t>（</a:t>
            </a:r>
            <a:r>
              <a:rPr lang="en-US" altLang="zh-CN" dirty="0"/>
              <a:t>Weighted Fair Queuing</a:t>
            </a:r>
            <a:r>
              <a:rPr lang="zh-CN" altLang="en-US" dirty="0"/>
              <a:t>）调度是按队列权重来分配每个流应占有出口的带宽。同时，为了使得带宽分配更加“公平”，</a:t>
            </a:r>
            <a:r>
              <a:rPr lang="en-US" altLang="zh-CN" dirty="0"/>
              <a:t>WFQ</a:t>
            </a:r>
            <a:r>
              <a:rPr lang="zh-CN" altLang="en-US" dirty="0"/>
              <a:t>以</a:t>
            </a:r>
            <a:r>
              <a:rPr lang="en-US" altLang="zh-CN" dirty="0"/>
              <a:t>bit</a:t>
            </a:r>
            <a:r>
              <a:rPr lang="zh-CN" altLang="en-US" dirty="0"/>
              <a:t>为单位进行调度，是</a:t>
            </a:r>
            <a:r>
              <a:rPr lang="en-US" altLang="zh-CN" dirty="0"/>
              <a:t>bit-by-bit</a:t>
            </a:r>
            <a:r>
              <a:rPr lang="zh-CN" altLang="en-US" dirty="0"/>
              <a:t>调度模型。</a:t>
            </a:r>
            <a:endParaRPr lang="en-US" altLang="zh-CN" dirty="0"/>
          </a:p>
          <a:p>
            <a:pPr lvl="0"/>
            <a:r>
              <a:rPr lang="zh-CN" altLang="en-US"/>
              <a:t>特点</a:t>
            </a:r>
            <a:r>
              <a:rPr lang="zh-CN" altLang="en-US" dirty="0"/>
              <a:t>：</a:t>
            </a:r>
            <a:endParaRPr lang="en-US" altLang="zh-CN" dirty="0"/>
          </a:p>
          <a:p>
            <a:pPr lvl="1"/>
            <a:r>
              <a:rPr lang="zh-CN" altLang="en-US" dirty="0"/>
              <a:t>优点：</a:t>
            </a:r>
            <a:endParaRPr lang="en-US" altLang="zh-CN" dirty="0"/>
          </a:p>
          <a:p>
            <a:pPr lvl="2"/>
            <a:r>
              <a:rPr lang="zh-CN" altLang="en-US" dirty="0"/>
              <a:t>不同的队列获得公平的调度机会，从总体上均衡各个流的延迟。</a:t>
            </a:r>
          </a:p>
          <a:p>
            <a:pPr lvl="2"/>
            <a:r>
              <a:rPr lang="zh-CN" altLang="en-US" dirty="0"/>
              <a:t>短报文和长报文获得公平的调度：如果不同队列间同时存在多个长报文和短报文等待发送，让短报文优先获得调度，从而在总体上减少各个流的报文间的抖动。</a:t>
            </a:r>
          </a:p>
          <a:p>
            <a:pPr lvl="2"/>
            <a:r>
              <a:rPr lang="zh-CN" altLang="en-US" dirty="0"/>
              <a:t>从统计上看，权重越小，所分得的带宽越少。权重越大，所分得的带宽越多。</a:t>
            </a:r>
            <a:endParaRPr lang="en-US" altLang="zh-CN" dirty="0"/>
          </a:p>
          <a:p>
            <a:pPr lvl="1"/>
            <a:r>
              <a:rPr lang="zh-CN" altLang="en-US" dirty="0"/>
              <a:t>缺点：低时延业务仍得不到及时调度；无法实现用户自定义分类规则。</a:t>
            </a:r>
          </a:p>
          <a:p>
            <a:r>
              <a:rPr lang="en-US" altLang="zh-CN" dirty="0"/>
              <a:t>Bit-by-bit</a:t>
            </a:r>
            <a:r>
              <a:rPr lang="zh-CN" altLang="en-US" dirty="0"/>
              <a:t>调度模型只是理想化的模型，实际上，</a:t>
            </a:r>
            <a:r>
              <a:rPr lang="en-US" altLang="zh-CN" dirty="0"/>
              <a:t>NE40E</a:t>
            </a:r>
            <a:r>
              <a:rPr lang="zh-CN" altLang="en-US" dirty="0"/>
              <a:t>实现的</a:t>
            </a:r>
            <a:r>
              <a:rPr lang="en-US" altLang="zh-CN" dirty="0"/>
              <a:t>WFQ</a:t>
            </a:r>
            <a:r>
              <a:rPr lang="zh-CN" altLang="en-US" dirty="0"/>
              <a:t>是按照一定的粒度，例如</a:t>
            </a:r>
            <a:r>
              <a:rPr lang="en-US" altLang="zh-CN" dirty="0"/>
              <a:t>256B</a:t>
            </a:r>
            <a:r>
              <a:rPr lang="zh-CN" altLang="en-US" dirty="0"/>
              <a:t>、</a:t>
            </a:r>
            <a:r>
              <a:rPr lang="en-US" altLang="zh-CN" dirty="0"/>
              <a:t>1KB</a:t>
            </a:r>
            <a:r>
              <a:rPr lang="zh-CN" altLang="en-US" dirty="0"/>
              <a:t>，或其他粒度，具体按何种粒度，与单板类型相关。</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900842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spcAft>
                <a:spcPts val="0"/>
              </a:spcAft>
            </a:pPr>
            <a:r>
              <a:rPr lang="en-US" altLang="zh-CN" dirty="0"/>
              <a:t>PQ</a:t>
            </a:r>
            <a:r>
              <a:rPr lang="zh-CN" altLang="en-US" dirty="0"/>
              <a:t>队列</a:t>
            </a:r>
          </a:p>
          <a:p>
            <a:pPr lvl="1">
              <a:spcAft>
                <a:spcPts val="0"/>
              </a:spcAft>
            </a:pPr>
            <a:r>
              <a:rPr lang="en-US" altLang="zh-CN" dirty="0"/>
              <a:t>PQ</a:t>
            </a:r>
            <a:r>
              <a:rPr lang="zh-CN" altLang="en-US" dirty="0"/>
              <a:t>队列之间采用</a:t>
            </a:r>
            <a:r>
              <a:rPr lang="en-US" altLang="zh-CN" dirty="0"/>
              <a:t>SP</a:t>
            </a:r>
            <a:r>
              <a:rPr lang="zh-CN" altLang="en-US" dirty="0"/>
              <a:t>调度算法，当从队列调度报文时，先从高优先级的队列调度报文。这样，可对不同业务数据提供绝对的优先，对时延敏感的实施应用如</a:t>
            </a:r>
            <a:r>
              <a:rPr lang="en-US" altLang="zh-CN" dirty="0"/>
              <a:t>VoIP</a:t>
            </a:r>
            <a:r>
              <a:rPr lang="zh-CN" altLang="en-US" dirty="0"/>
              <a:t>的延时可以得到保证，对优先业务的报文带宽占用可以绝对优先。</a:t>
            </a:r>
          </a:p>
          <a:p>
            <a:pPr lvl="1">
              <a:spcAft>
                <a:spcPts val="0"/>
              </a:spcAft>
            </a:pPr>
            <a:r>
              <a:rPr lang="zh-CN" altLang="en-US" dirty="0"/>
              <a:t>缺点：报文饿死现象，如果不对高优先级的报文带宽加限制，会造成低优先级报文得不到带宽，可能得不到调度机会。</a:t>
            </a:r>
          </a:p>
          <a:p>
            <a:pPr lvl="1">
              <a:spcAft>
                <a:spcPts val="0"/>
              </a:spcAft>
            </a:pPr>
            <a:r>
              <a:rPr lang="zh-CN" altLang="en-US" dirty="0"/>
              <a:t>通常情况下，只时延敏感的业务入</a:t>
            </a:r>
            <a:r>
              <a:rPr lang="en-US" altLang="zh-CN" dirty="0"/>
              <a:t>PQ</a:t>
            </a:r>
            <a:r>
              <a:rPr lang="zh-CN" altLang="en-US" dirty="0"/>
              <a:t>队列。</a:t>
            </a:r>
          </a:p>
          <a:p>
            <a:pPr lvl="0">
              <a:spcAft>
                <a:spcPts val="0"/>
              </a:spcAft>
            </a:pPr>
            <a:r>
              <a:rPr lang="en-US" altLang="zh-CN" dirty="0"/>
              <a:t>WFQ</a:t>
            </a:r>
            <a:r>
              <a:rPr lang="zh-CN" altLang="en-US" dirty="0"/>
              <a:t>队列</a:t>
            </a:r>
          </a:p>
          <a:p>
            <a:pPr lvl="1">
              <a:spcAft>
                <a:spcPts val="0"/>
              </a:spcAft>
            </a:pPr>
            <a:r>
              <a:rPr lang="en-US" altLang="zh-CN" dirty="0"/>
              <a:t>WFQ</a:t>
            </a:r>
            <a:r>
              <a:rPr lang="zh-CN" altLang="en-US" dirty="0"/>
              <a:t>队列是按权重进行调度的，调度算法可以是</a:t>
            </a:r>
            <a:r>
              <a:rPr lang="en-US" altLang="zh-CN" dirty="0"/>
              <a:t>WFQ</a:t>
            </a:r>
            <a:r>
              <a:rPr lang="zh-CN" altLang="en-US" dirty="0"/>
              <a:t>调度算法，按权重进行剩余带宽的分配。</a:t>
            </a:r>
          </a:p>
          <a:p>
            <a:pPr lvl="0">
              <a:spcAft>
                <a:spcPts val="0"/>
              </a:spcAft>
            </a:pPr>
            <a:r>
              <a:rPr lang="en-US" altLang="zh-CN" dirty="0"/>
              <a:t>LPQ</a:t>
            </a:r>
            <a:r>
              <a:rPr lang="zh-CN" altLang="en-US" dirty="0"/>
              <a:t>队列</a:t>
            </a:r>
          </a:p>
          <a:p>
            <a:pPr lvl="1">
              <a:spcAft>
                <a:spcPts val="0"/>
              </a:spcAft>
            </a:pPr>
            <a:r>
              <a:rPr lang="en-US" altLang="zh-CN" dirty="0"/>
              <a:t>LPQ</a:t>
            </a:r>
            <a:r>
              <a:rPr lang="zh-CN" altLang="en-US" dirty="0"/>
              <a:t>队列是在高速链路（以太网）接口上实现的队列调度机制。低速链路（如</a:t>
            </a:r>
            <a:r>
              <a:rPr lang="en-US" altLang="zh-CN" dirty="0"/>
              <a:t>Serial</a:t>
            </a:r>
            <a:r>
              <a:rPr lang="zh-CN" altLang="en-US" dirty="0"/>
              <a:t>、</a:t>
            </a:r>
            <a:r>
              <a:rPr lang="en-US" altLang="zh-CN" dirty="0"/>
              <a:t>MP-Group</a:t>
            </a:r>
            <a:r>
              <a:rPr lang="zh-CN" altLang="en-US" dirty="0"/>
              <a:t>）上不支持</a:t>
            </a:r>
            <a:r>
              <a:rPr lang="en-US" altLang="zh-CN" dirty="0"/>
              <a:t>LPQ</a:t>
            </a:r>
            <a:r>
              <a:rPr lang="zh-CN" altLang="en-US" dirty="0"/>
              <a:t>队列。</a:t>
            </a:r>
          </a:p>
          <a:p>
            <a:pPr lvl="1">
              <a:spcAft>
                <a:spcPts val="0"/>
              </a:spcAft>
            </a:pPr>
            <a:r>
              <a:rPr lang="en-US" altLang="zh-CN" dirty="0"/>
              <a:t>LPQ</a:t>
            </a:r>
            <a:r>
              <a:rPr lang="zh-CN" altLang="en-US" dirty="0"/>
              <a:t>队列之间的调度方式与</a:t>
            </a:r>
            <a:r>
              <a:rPr lang="en-US" altLang="zh-CN" dirty="0"/>
              <a:t>PQ</a:t>
            </a:r>
            <a:r>
              <a:rPr lang="zh-CN" altLang="en-US" dirty="0"/>
              <a:t>队列一样，也采用</a:t>
            </a:r>
            <a:r>
              <a:rPr lang="en-US" altLang="zh-CN" dirty="0"/>
              <a:t>SP</a:t>
            </a:r>
            <a:r>
              <a:rPr lang="zh-CN" altLang="en-US" dirty="0"/>
              <a:t>调度。不同在于拥塞时</a:t>
            </a:r>
            <a:r>
              <a:rPr lang="en-US" altLang="zh-CN" dirty="0"/>
              <a:t>PQ</a:t>
            </a:r>
            <a:r>
              <a:rPr lang="zh-CN" altLang="en-US" dirty="0"/>
              <a:t>可以抢占</a:t>
            </a:r>
            <a:r>
              <a:rPr lang="en-US" altLang="zh-CN" dirty="0"/>
              <a:t>WFQ</a:t>
            </a:r>
            <a:r>
              <a:rPr lang="zh-CN" altLang="en-US" dirty="0"/>
              <a:t>的带宽，而</a:t>
            </a:r>
            <a:r>
              <a:rPr lang="en-US" altLang="zh-CN" dirty="0"/>
              <a:t>LPQ</a:t>
            </a:r>
            <a:r>
              <a:rPr lang="zh-CN" altLang="en-US" dirty="0"/>
              <a:t>不可以抢占</a:t>
            </a:r>
            <a:r>
              <a:rPr lang="en-US" altLang="zh-CN" dirty="0"/>
              <a:t>WFQ</a:t>
            </a:r>
            <a:r>
              <a:rPr lang="zh-CN" altLang="en-US" dirty="0"/>
              <a:t>的带宽。在</a:t>
            </a:r>
            <a:r>
              <a:rPr lang="en-US" altLang="zh-CN" dirty="0"/>
              <a:t>PQ</a:t>
            </a:r>
            <a:r>
              <a:rPr lang="zh-CN" altLang="en-US" dirty="0"/>
              <a:t>和</a:t>
            </a:r>
            <a:r>
              <a:rPr lang="en-US" altLang="zh-CN" dirty="0"/>
              <a:t>WFQ</a:t>
            </a:r>
            <a:r>
              <a:rPr lang="zh-CN" altLang="en-US" dirty="0"/>
              <a:t>队列调度结束后，如果还有剩余带宽则分配给</a:t>
            </a:r>
            <a:r>
              <a:rPr lang="en-US" altLang="zh-CN" dirty="0"/>
              <a:t>LPQ</a:t>
            </a:r>
            <a:r>
              <a:rPr lang="zh-CN" altLang="en-US" dirty="0"/>
              <a:t>。</a:t>
            </a:r>
          </a:p>
          <a:p>
            <a:pPr lvl="1">
              <a:spcAft>
                <a:spcPts val="0"/>
              </a:spcAft>
            </a:pPr>
            <a:r>
              <a:rPr lang="zh-CN" altLang="en-US" dirty="0"/>
              <a:t>实际应用中，可以将</a:t>
            </a:r>
            <a:r>
              <a:rPr lang="en-US" altLang="zh-CN" dirty="0"/>
              <a:t>BE</a:t>
            </a:r>
            <a:r>
              <a:rPr lang="zh-CN" altLang="en-US" dirty="0"/>
              <a:t>流用</a:t>
            </a:r>
            <a:r>
              <a:rPr lang="en-US" altLang="zh-CN" dirty="0"/>
              <a:t>LPQ</a:t>
            </a:r>
            <a:r>
              <a:rPr lang="zh-CN" altLang="en-US" dirty="0"/>
              <a:t>进行调度。这样，在网络负载较重时，</a:t>
            </a:r>
            <a:r>
              <a:rPr lang="en-US" altLang="zh-CN" dirty="0"/>
              <a:t>BE</a:t>
            </a:r>
            <a:r>
              <a:rPr lang="zh-CN" altLang="en-US" dirty="0"/>
              <a:t>流可以完全被限制，优先满足其它业务。</a:t>
            </a:r>
          </a:p>
          <a:p>
            <a:pPr lvl="0">
              <a:spcAft>
                <a:spcPts val="0"/>
              </a:spcAft>
            </a:pPr>
            <a:r>
              <a:rPr lang="zh-CN" altLang="en-US" dirty="0"/>
              <a:t>所有的</a:t>
            </a:r>
            <a:r>
              <a:rPr lang="en-US" altLang="zh-CN" dirty="0"/>
              <a:t>8</a:t>
            </a:r>
            <a:r>
              <a:rPr lang="zh-CN" altLang="en-US" dirty="0"/>
              <a:t>个端口队列可以全部配置成</a:t>
            </a:r>
            <a:r>
              <a:rPr lang="en-US" altLang="zh-CN" dirty="0"/>
              <a:t>WFQ</a:t>
            </a:r>
            <a:r>
              <a:rPr lang="zh-CN" altLang="en-US" dirty="0"/>
              <a:t>，也可以全部配置成</a:t>
            </a:r>
            <a:r>
              <a:rPr lang="en-US" altLang="zh-CN" dirty="0"/>
              <a:t>PQ</a:t>
            </a:r>
            <a:r>
              <a:rPr lang="zh-CN" altLang="en-US" dirty="0"/>
              <a:t>，也可以全部配置成</a:t>
            </a:r>
            <a:r>
              <a:rPr lang="en-US" altLang="zh-CN" dirty="0"/>
              <a:t>LPQ</a:t>
            </a:r>
            <a:r>
              <a:rPr lang="zh-CN" altLang="en-US" dirty="0"/>
              <a:t>，也可以组合。</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4091721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端口队列调度顺序：</a:t>
            </a:r>
            <a:endParaRPr lang="en-US" altLang="zh-CN" dirty="0"/>
          </a:p>
          <a:p>
            <a:pPr lvl="1"/>
            <a:r>
              <a:rPr lang="en-US" altLang="zh-CN" dirty="0"/>
              <a:t>PQ</a:t>
            </a:r>
            <a:r>
              <a:rPr lang="zh-CN" altLang="en-US" dirty="0"/>
              <a:t>、</a:t>
            </a:r>
            <a:r>
              <a:rPr lang="en-US" altLang="zh-CN" dirty="0"/>
              <a:t>WFQ</a:t>
            </a:r>
            <a:r>
              <a:rPr lang="zh-CN" altLang="en-US" dirty="0"/>
              <a:t>、</a:t>
            </a:r>
            <a:r>
              <a:rPr lang="en-US" altLang="zh-CN" dirty="0"/>
              <a:t>LPQ</a:t>
            </a:r>
            <a:r>
              <a:rPr lang="zh-CN" altLang="en-US" dirty="0"/>
              <a:t>之间采用</a:t>
            </a:r>
            <a:r>
              <a:rPr lang="en-US" altLang="zh-CN" dirty="0"/>
              <a:t>SP</a:t>
            </a:r>
            <a:r>
              <a:rPr lang="zh-CN" altLang="en-US" dirty="0"/>
              <a:t>调度算法，优先调度</a:t>
            </a:r>
            <a:r>
              <a:rPr lang="en-US" altLang="zh-CN" dirty="0"/>
              <a:t>PQ</a:t>
            </a:r>
            <a:r>
              <a:rPr lang="zh-CN" altLang="en-US" dirty="0"/>
              <a:t>队列，再调度</a:t>
            </a:r>
            <a:r>
              <a:rPr lang="en-US" altLang="zh-CN" dirty="0"/>
              <a:t>WFQ</a:t>
            </a:r>
            <a:r>
              <a:rPr lang="zh-CN" altLang="en-US" dirty="0"/>
              <a:t>队列，最后调度</a:t>
            </a:r>
            <a:r>
              <a:rPr lang="en-US" altLang="zh-CN" dirty="0"/>
              <a:t>LPQ</a:t>
            </a:r>
            <a:r>
              <a:rPr lang="zh-CN" altLang="en-US" dirty="0"/>
              <a:t>队列。</a:t>
            </a:r>
            <a:endParaRPr lang="en-US" altLang="zh-CN" dirty="0"/>
          </a:p>
          <a:p>
            <a:r>
              <a:rPr lang="zh-CN" altLang="en-US" dirty="0"/>
              <a:t>队列间的调度流程：</a:t>
            </a:r>
            <a:endParaRPr lang="en-US" altLang="zh-CN" dirty="0"/>
          </a:p>
          <a:p>
            <a:pPr lvl="1"/>
            <a:r>
              <a:rPr lang="zh-CN" altLang="en-US" dirty="0"/>
              <a:t>在调度出队的时候，若</a:t>
            </a:r>
            <a:r>
              <a:rPr lang="en-US" altLang="zh-CN" dirty="0"/>
              <a:t>PQ</a:t>
            </a:r>
            <a:r>
              <a:rPr lang="zh-CN" altLang="en-US" dirty="0"/>
              <a:t>队列中有报文，则总是优先发送</a:t>
            </a:r>
            <a:r>
              <a:rPr lang="en-US" altLang="zh-CN" dirty="0"/>
              <a:t>PQ</a:t>
            </a:r>
            <a:r>
              <a:rPr lang="zh-CN" altLang="en-US" dirty="0"/>
              <a:t>队列中的报文，直到</a:t>
            </a:r>
            <a:r>
              <a:rPr lang="en-US" altLang="zh-CN" dirty="0"/>
              <a:t>PQ</a:t>
            </a:r>
            <a:r>
              <a:rPr lang="zh-CN" altLang="en-US" dirty="0"/>
              <a:t>队列中没有报文时才调度发送</a:t>
            </a:r>
            <a:r>
              <a:rPr lang="en-US" altLang="zh-CN" dirty="0"/>
              <a:t>WFQ</a:t>
            </a:r>
            <a:r>
              <a:rPr lang="zh-CN" altLang="en-US" dirty="0"/>
              <a:t>队列中的报文。只要</a:t>
            </a:r>
            <a:r>
              <a:rPr lang="en-US" altLang="zh-CN" dirty="0"/>
              <a:t>PQ</a:t>
            </a:r>
            <a:r>
              <a:rPr lang="zh-CN" altLang="en-US" dirty="0"/>
              <a:t>队列中有报文，系统就会优先发送</a:t>
            </a:r>
            <a:r>
              <a:rPr lang="en-US" altLang="zh-CN" dirty="0"/>
              <a:t>PQ</a:t>
            </a:r>
            <a:r>
              <a:rPr lang="zh-CN" altLang="en-US" dirty="0"/>
              <a:t>队列中的报文。</a:t>
            </a:r>
          </a:p>
          <a:p>
            <a:pPr lvl="1"/>
            <a:r>
              <a:rPr lang="zh-CN" altLang="en-US" dirty="0"/>
              <a:t>若</a:t>
            </a:r>
            <a:r>
              <a:rPr lang="en-US" altLang="zh-CN" dirty="0"/>
              <a:t>PQ</a:t>
            </a:r>
            <a:r>
              <a:rPr lang="zh-CN" altLang="en-US" dirty="0"/>
              <a:t>队列中没有报文时，则调度</a:t>
            </a:r>
            <a:r>
              <a:rPr lang="en-US" altLang="zh-CN" dirty="0"/>
              <a:t>WFQ</a:t>
            </a:r>
            <a:r>
              <a:rPr lang="zh-CN" altLang="en-US" dirty="0"/>
              <a:t>队列。如果在调度</a:t>
            </a:r>
            <a:r>
              <a:rPr lang="en-US" altLang="zh-CN" dirty="0"/>
              <a:t>WFQ</a:t>
            </a:r>
            <a:r>
              <a:rPr lang="zh-CN" altLang="en-US" dirty="0"/>
              <a:t>队列过程中，</a:t>
            </a:r>
            <a:r>
              <a:rPr lang="en-US" altLang="zh-CN" dirty="0"/>
              <a:t>PQ</a:t>
            </a:r>
            <a:r>
              <a:rPr lang="zh-CN" altLang="en-US" dirty="0"/>
              <a:t>队列又有报文到来，则会优先调度</a:t>
            </a:r>
            <a:r>
              <a:rPr lang="en-US" altLang="zh-CN" dirty="0"/>
              <a:t>PQ</a:t>
            </a:r>
            <a:r>
              <a:rPr lang="zh-CN" altLang="en-US" dirty="0"/>
              <a:t>队列。</a:t>
            </a:r>
          </a:p>
          <a:p>
            <a:pPr lvl="1"/>
            <a:r>
              <a:rPr lang="zh-CN" altLang="en-US" dirty="0"/>
              <a:t>直到</a:t>
            </a:r>
            <a:r>
              <a:rPr lang="en-US" altLang="zh-CN" dirty="0"/>
              <a:t>WFQ</a:t>
            </a:r>
            <a:r>
              <a:rPr lang="zh-CN" altLang="en-US" dirty="0"/>
              <a:t>中的报文被发送完毕，才调度</a:t>
            </a:r>
            <a:r>
              <a:rPr lang="en-US" altLang="zh-CN" dirty="0"/>
              <a:t>LPQ</a:t>
            </a:r>
            <a:r>
              <a:rPr lang="zh-CN" altLang="en-US" dirty="0"/>
              <a:t>队列中的报文。</a:t>
            </a:r>
            <a:endParaRPr lang="en-US" altLang="zh-CN" dirty="0"/>
          </a:p>
          <a:p>
            <a:r>
              <a:rPr lang="zh-CN" altLang="en-US" dirty="0"/>
              <a:t>调度结果：</a:t>
            </a:r>
            <a:endParaRPr lang="en-US" altLang="zh-CN" dirty="0"/>
          </a:p>
          <a:p>
            <a:pPr lvl="1"/>
            <a:r>
              <a:rPr lang="zh-CN" altLang="en-US" dirty="0"/>
              <a:t>首先保证</a:t>
            </a:r>
            <a:r>
              <a:rPr lang="en-US" altLang="zh-CN" dirty="0"/>
              <a:t>PQ</a:t>
            </a:r>
            <a:r>
              <a:rPr lang="zh-CN" altLang="en-US" dirty="0"/>
              <a:t>队列的</a:t>
            </a:r>
            <a:r>
              <a:rPr lang="en-US" altLang="zh-CN" dirty="0"/>
              <a:t>PIR</a:t>
            </a:r>
            <a:r>
              <a:rPr lang="zh-CN" altLang="en-US" dirty="0"/>
              <a:t>带宽，剩余带宽在各</a:t>
            </a:r>
            <a:r>
              <a:rPr lang="en-US" altLang="zh-CN" dirty="0"/>
              <a:t>WFQ</a:t>
            </a:r>
            <a:r>
              <a:rPr lang="zh-CN" altLang="en-US" dirty="0"/>
              <a:t>队列间按权重分配。</a:t>
            </a:r>
            <a:endParaRPr lang="en-US" altLang="zh-CN" dirty="0"/>
          </a:p>
          <a:p>
            <a:pPr lvl="1"/>
            <a:r>
              <a:rPr lang="zh-CN" altLang="en-US" dirty="0"/>
              <a:t>当满足所有</a:t>
            </a:r>
            <a:r>
              <a:rPr lang="en-US" altLang="zh-CN" dirty="0"/>
              <a:t>WFQ</a:t>
            </a:r>
            <a:r>
              <a:rPr lang="zh-CN" altLang="en-US" dirty="0"/>
              <a:t>队列的</a:t>
            </a:r>
            <a:r>
              <a:rPr lang="en-US" altLang="zh-CN" dirty="0"/>
              <a:t>PIR</a:t>
            </a:r>
            <a:r>
              <a:rPr lang="zh-CN" altLang="en-US" dirty="0"/>
              <a:t>带宽后，如果此时还有剩余带宽，则分配给</a:t>
            </a:r>
            <a:r>
              <a:rPr lang="en-US" altLang="zh-CN" dirty="0"/>
              <a:t>LPQ</a:t>
            </a:r>
            <a:r>
              <a:rPr lang="zh-CN" altLang="en-US" dirty="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0393601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应用举例：</a:t>
            </a:r>
            <a:endParaRPr lang="en-US" altLang="zh-CN" dirty="0"/>
          </a:p>
          <a:p>
            <a:pPr lvl="1"/>
            <a:r>
              <a:rPr lang="zh-CN" altLang="en-US" dirty="0"/>
              <a:t>在网络中，当共享同一网络的多种业务竞争相同的资源（带宽，缓冲区等）时可能会产生拥塞，高优先级业务无法得到保证。此时可以通过优先级映射的结果将报文送入不同的队列，如图所示，在设备出方向为不同的队列配置不同的调度方式，可以达到对不同业务进行差分服务的目的。</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1370878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86556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881383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确保转发队列（</a:t>
            </a:r>
            <a:r>
              <a:rPr lang="en-US" altLang="zh-CN" dirty="0"/>
              <a:t>AF</a:t>
            </a:r>
            <a:r>
              <a:rPr lang="zh-CN" altLang="en-US" dirty="0"/>
              <a:t>）：可以保证在网络发送的业务流量没有超过最小可确保带宽的情况下确保转发。</a:t>
            </a:r>
          </a:p>
          <a:p>
            <a:r>
              <a:rPr lang="zh-CN" altLang="en-US" dirty="0"/>
              <a:t>加速转发队列（</a:t>
            </a:r>
            <a:r>
              <a:rPr lang="en-US" altLang="zh-CN" dirty="0"/>
              <a:t>EF/LLQ</a:t>
            </a:r>
            <a:r>
              <a:rPr lang="zh-CN" altLang="en-US" dirty="0"/>
              <a:t>）：匹配规则的报文进入</a:t>
            </a:r>
            <a:r>
              <a:rPr lang="en-US" altLang="zh-CN" dirty="0"/>
              <a:t>EF</a:t>
            </a:r>
            <a:r>
              <a:rPr lang="zh-CN" altLang="en-US" dirty="0"/>
              <a:t>或</a:t>
            </a:r>
            <a:r>
              <a:rPr lang="en-US" altLang="zh-CN" dirty="0"/>
              <a:t>LLQ</a:t>
            </a:r>
            <a:r>
              <a:rPr lang="zh-CN" altLang="en-US" dirty="0"/>
              <a:t>队列后，进行绝对优先级调度，仅当</a:t>
            </a:r>
            <a:r>
              <a:rPr lang="en-US" altLang="zh-CN" dirty="0"/>
              <a:t>EF</a:t>
            </a:r>
            <a:r>
              <a:rPr lang="zh-CN" altLang="en-US" dirty="0"/>
              <a:t>或</a:t>
            </a:r>
            <a:r>
              <a:rPr lang="en-US" altLang="zh-CN" dirty="0"/>
              <a:t>LLQ</a:t>
            </a:r>
            <a:r>
              <a:rPr lang="zh-CN" altLang="en-US" dirty="0"/>
              <a:t>队列中的报文调度完毕后，才会调度其他队列中的报文。当</a:t>
            </a:r>
            <a:r>
              <a:rPr lang="en-US" altLang="zh-CN" dirty="0"/>
              <a:t>AF</a:t>
            </a:r>
            <a:r>
              <a:rPr lang="zh-CN" altLang="en-US" dirty="0"/>
              <a:t>或</a:t>
            </a:r>
            <a:r>
              <a:rPr lang="en-US" altLang="zh-CN" dirty="0"/>
              <a:t>BE</a:t>
            </a:r>
            <a:r>
              <a:rPr lang="zh-CN" altLang="en-US" dirty="0"/>
              <a:t>队列有空闲带宽时，</a:t>
            </a:r>
            <a:r>
              <a:rPr lang="en-US" altLang="zh-CN" dirty="0"/>
              <a:t>EF</a:t>
            </a:r>
            <a:r>
              <a:rPr lang="zh-CN" altLang="en-US" dirty="0"/>
              <a:t>队列可以对空闲带宽进行占用。</a:t>
            </a:r>
            <a:r>
              <a:rPr lang="en-US" altLang="zh-CN" dirty="0"/>
              <a:t>LLQ</a:t>
            </a:r>
            <a:r>
              <a:rPr lang="zh-CN" altLang="en-US" dirty="0"/>
              <a:t>队列较</a:t>
            </a:r>
            <a:r>
              <a:rPr lang="en-US" altLang="zh-CN" dirty="0"/>
              <a:t>EF</a:t>
            </a:r>
            <a:r>
              <a:rPr lang="zh-CN" altLang="en-US" dirty="0"/>
              <a:t>队列而言，时延更低。</a:t>
            </a:r>
            <a:endParaRPr lang="en-US" altLang="zh-CN" dirty="0"/>
          </a:p>
          <a:p>
            <a:r>
              <a:rPr lang="zh-CN" altLang="en-US" dirty="0"/>
              <a:t>尽力而为队列（</a:t>
            </a:r>
            <a:r>
              <a:rPr lang="en-US" altLang="zh-CN" dirty="0"/>
              <a:t>BE</a:t>
            </a:r>
            <a:r>
              <a:rPr lang="zh-CN" altLang="en-US" dirty="0"/>
              <a:t>）：未进入</a:t>
            </a:r>
            <a:r>
              <a:rPr lang="en-US" altLang="zh-CN" dirty="0"/>
              <a:t>AF</a:t>
            </a:r>
            <a:r>
              <a:rPr lang="zh-CN" altLang="en-US" dirty="0"/>
              <a:t>队列和</a:t>
            </a:r>
            <a:r>
              <a:rPr lang="en-US" altLang="zh-CN" dirty="0"/>
              <a:t>EF</a:t>
            </a:r>
            <a:r>
              <a:rPr lang="zh-CN" altLang="en-US" dirty="0"/>
              <a:t>队列的剩余报文进入</a:t>
            </a:r>
            <a:r>
              <a:rPr lang="en-US" altLang="zh-CN" dirty="0"/>
              <a:t>BE</a:t>
            </a:r>
            <a:r>
              <a:rPr lang="zh-CN" altLang="en-US" dirty="0"/>
              <a:t>队列。</a:t>
            </a:r>
            <a:r>
              <a:rPr lang="en-US" altLang="zh-CN" dirty="0"/>
              <a:t>BE</a:t>
            </a:r>
            <a:r>
              <a:rPr lang="zh-CN" altLang="en-US" dirty="0"/>
              <a:t>队列使用</a:t>
            </a:r>
            <a:r>
              <a:rPr lang="en-US" altLang="zh-CN" dirty="0"/>
              <a:t>WFQ</a:t>
            </a:r>
            <a:r>
              <a:rPr lang="zh-CN" altLang="en-US" dirty="0"/>
              <a:t>算法调度。</a:t>
            </a:r>
            <a:endParaRPr lang="en-US" altLang="zh-CN" dirty="0"/>
          </a:p>
          <a:p>
            <a:r>
              <a:rPr lang="en-US" altLang="zh-CN" dirty="0"/>
              <a:t>AF</a:t>
            </a:r>
            <a:r>
              <a:rPr lang="zh-CN" altLang="en-US" dirty="0"/>
              <a:t>队列和</a:t>
            </a:r>
            <a:r>
              <a:rPr lang="en-US" altLang="zh-CN" dirty="0"/>
              <a:t>EF</a:t>
            </a:r>
            <a:r>
              <a:rPr lang="zh-CN" altLang="en-US" dirty="0"/>
              <a:t>队列带宽之和不得超过接口带宽的</a:t>
            </a:r>
            <a:r>
              <a:rPr lang="en-US" altLang="zh-CN" dirty="0"/>
              <a:t>100%</a:t>
            </a:r>
            <a:r>
              <a:rPr lang="zh-CN" altLang="en-US" dirty="0"/>
              <a:t>。</a:t>
            </a:r>
          </a:p>
          <a:p>
            <a:r>
              <a:rPr lang="zh-CN" altLang="en-US" dirty="0"/>
              <a:t>各</a:t>
            </a:r>
            <a:r>
              <a:rPr lang="en-US" altLang="zh-CN" dirty="0"/>
              <a:t>AF</a:t>
            </a:r>
            <a:r>
              <a:rPr lang="zh-CN" altLang="en-US" dirty="0"/>
              <a:t>队列按照权重分享剩余带宽（可用带宽减去</a:t>
            </a:r>
            <a:r>
              <a:rPr lang="en-US" altLang="zh-CN" dirty="0"/>
              <a:t>EF</a:t>
            </a:r>
            <a:r>
              <a:rPr lang="zh-CN" altLang="en-US" dirty="0"/>
              <a:t>队列占用带宽后的剩余资源）。</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418893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确保转发队列（</a:t>
            </a:r>
            <a:r>
              <a:rPr lang="en-US" altLang="zh-CN" dirty="0"/>
              <a:t>AF</a:t>
            </a:r>
            <a:r>
              <a:rPr lang="zh-CN" altLang="en-US" dirty="0"/>
              <a:t>）：可以保证在网络发送的业务流量没有超过最小可确保带宽的情况下确保转发。</a:t>
            </a:r>
          </a:p>
          <a:p>
            <a:r>
              <a:rPr lang="zh-CN" altLang="en-US" dirty="0"/>
              <a:t>加速转发队列（</a:t>
            </a:r>
            <a:r>
              <a:rPr lang="en-US" altLang="zh-CN" dirty="0"/>
              <a:t>EF/LLQ</a:t>
            </a:r>
            <a:r>
              <a:rPr lang="zh-CN" altLang="en-US" dirty="0"/>
              <a:t>）：匹配规则的报文进入</a:t>
            </a:r>
            <a:r>
              <a:rPr lang="en-US" altLang="zh-CN" dirty="0"/>
              <a:t>EF</a:t>
            </a:r>
            <a:r>
              <a:rPr lang="zh-CN" altLang="en-US" dirty="0"/>
              <a:t>或</a:t>
            </a:r>
            <a:r>
              <a:rPr lang="en-US" altLang="zh-CN" dirty="0"/>
              <a:t>LLQ</a:t>
            </a:r>
            <a:r>
              <a:rPr lang="zh-CN" altLang="en-US" dirty="0"/>
              <a:t>队列后，进行绝对优先级调度，仅当</a:t>
            </a:r>
            <a:r>
              <a:rPr lang="en-US" altLang="zh-CN" dirty="0"/>
              <a:t>EF</a:t>
            </a:r>
            <a:r>
              <a:rPr lang="zh-CN" altLang="en-US" dirty="0"/>
              <a:t>或</a:t>
            </a:r>
            <a:r>
              <a:rPr lang="en-US" altLang="zh-CN" dirty="0"/>
              <a:t>LLQ</a:t>
            </a:r>
            <a:r>
              <a:rPr lang="zh-CN" altLang="en-US" dirty="0"/>
              <a:t>队列中的报文调度完毕后，才会调度其他队列中的报文。当</a:t>
            </a:r>
            <a:r>
              <a:rPr lang="en-US" altLang="zh-CN" dirty="0"/>
              <a:t>AF</a:t>
            </a:r>
            <a:r>
              <a:rPr lang="zh-CN" altLang="en-US" dirty="0"/>
              <a:t>或</a:t>
            </a:r>
            <a:r>
              <a:rPr lang="en-US" altLang="zh-CN" dirty="0"/>
              <a:t>BE</a:t>
            </a:r>
            <a:r>
              <a:rPr lang="zh-CN" altLang="en-US" dirty="0"/>
              <a:t>队列有空闲带宽时，</a:t>
            </a:r>
            <a:r>
              <a:rPr lang="en-US" altLang="zh-CN" dirty="0"/>
              <a:t>EF</a:t>
            </a:r>
            <a:r>
              <a:rPr lang="zh-CN" altLang="en-US" dirty="0"/>
              <a:t>队列可以对空闲带宽进行占用。</a:t>
            </a:r>
            <a:r>
              <a:rPr lang="en-US" altLang="zh-CN" dirty="0"/>
              <a:t>LLQ</a:t>
            </a:r>
            <a:r>
              <a:rPr lang="zh-CN" altLang="en-US" dirty="0"/>
              <a:t>队列较</a:t>
            </a:r>
            <a:r>
              <a:rPr lang="en-US" altLang="zh-CN" dirty="0"/>
              <a:t>EF</a:t>
            </a:r>
            <a:r>
              <a:rPr lang="zh-CN" altLang="en-US" dirty="0"/>
              <a:t>队列而言，时延更低。</a:t>
            </a:r>
            <a:endParaRPr lang="en-US" altLang="zh-CN" dirty="0"/>
          </a:p>
          <a:p>
            <a:r>
              <a:rPr lang="zh-CN" altLang="en-US" dirty="0"/>
              <a:t>尽力而为队列（</a:t>
            </a:r>
            <a:r>
              <a:rPr lang="en-US" altLang="zh-CN" dirty="0"/>
              <a:t>BE</a:t>
            </a:r>
            <a:r>
              <a:rPr lang="zh-CN" altLang="en-US" dirty="0"/>
              <a:t>）：未进入</a:t>
            </a:r>
            <a:r>
              <a:rPr lang="en-US" altLang="zh-CN" dirty="0"/>
              <a:t>AF</a:t>
            </a:r>
            <a:r>
              <a:rPr lang="zh-CN" altLang="en-US" dirty="0"/>
              <a:t>队列和</a:t>
            </a:r>
            <a:r>
              <a:rPr lang="en-US" altLang="zh-CN" dirty="0"/>
              <a:t>EF</a:t>
            </a:r>
            <a:r>
              <a:rPr lang="zh-CN" altLang="en-US" dirty="0"/>
              <a:t>队列的剩余报文进入</a:t>
            </a:r>
            <a:r>
              <a:rPr lang="en-US" altLang="zh-CN" dirty="0"/>
              <a:t>BE</a:t>
            </a:r>
            <a:r>
              <a:rPr lang="zh-CN" altLang="en-US" dirty="0"/>
              <a:t>队列。</a:t>
            </a:r>
            <a:r>
              <a:rPr lang="en-US" altLang="zh-CN" dirty="0"/>
              <a:t>BE</a:t>
            </a:r>
            <a:r>
              <a:rPr lang="zh-CN" altLang="en-US" dirty="0"/>
              <a:t>队列使用</a:t>
            </a:r>
            <a:r>
              <a:rPr lang="en-US" altLang="zh-CN" dirty="0"/>
              <a:t>WFQ</a:t>
            </a:r>
            <a:r>
              <a:rPr lang="zh-CN" altLang="en-US" dirty="0"/>
              <a:t>算法调度。</a:t>
            </a:r>
            <a:endParaRPr lang="en-US" altLang="zh-CN" dirty="0"/>
          </a:p>
          <a:p>
            <a:r>
              <a:rPr lang="en-US" altLang="zh-CN" dirty="0"/>
              <a:t>AF</a:t>
            </a:r>
            <a:r>
              <a:rPr lang="zh-CN" altLang="en-US" dirty="0"/>
              <a:t>队列和</a:t>
            </a:r>
            <a:r>
              <a:rPr lang="en-US" altLang="zh-CN" dirty="0"/>
              <a:t>EF</a:t>
            </a:r>
            <a:r>
              <a:rPr lang="zh-CN" altLang="en-US" dirty="0"/>
              <a:t>队列带宽之和不得超过接口带宽的</a:t>
            </a:r>
            <a:r>
              <a:rPr lang="en-US" altLang="zh-CN" dirty="0"/>
              <a:t>100%</a:t>
            </a:r>
            <a:r>
              <a:rPr lang="zh-CN" altLang="en-US" dirty="0"/>
              <a:t>。</a:t>
            </a:r>
          </a:p>
          <a:p>
            <a:r>
              <a:rPr lang="zh-CN" altLang="en-US" dirty="0"/>
              <a:t>各</a:t>
            </a:r>
            <a:r>
              <a:rPr lang="en-US" altLang="zh-CN" dirty="0"/>
              <a:t>AF</a:t>
            </a:r>
            <a:r>
              <a:rPr lang="zh-CN" altLang="en-US" dirty="0"/>
              <a:t>队列按照权重分享剩余带宽（可用带宽减去</a:t>
            </a:r>
            <a:r>
              <a:rPr lang="en-US" altLang="zh-CN" dirty="0"/>
              <a:t>EF</a:t>
            </a:r>
            <a:r>
              <a:rPr lang="zh-CN" altLang="en-US" dirty="0"/>
              <a:t>队列占用带宽后的剩余资源）。</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7922066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8023185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dirty="0"/>
              <a:t>C</a:t>
            </a:r>
          </a:p>
          <a:p>
            <a:pPr marL="228600" indent="-228600">
              <a:buFont typeface="+mj-lt"/>
              <a:buAutoNum type="arabicPeriod"/>
            </a:pPr>
            <a:r>
              <a:rPr lang="en-US" dirty="0"/>
              <a:t>A</a:t>
            </a:r>
            <a:r>
              <a:rPr lang="en-US" altLang="zh-CN" dirty="0"/>
              <a:t>BD</a:t>
            </a:r>
            <a:endParaRPr lang="en-US" dirty="0"/>
          </a:p>
          <a:p>
            <a:pPr lvl="0"/>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3705396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249719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7158930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783280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833218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流队列</a:t>
            </a:r>
          </a:p>
          <a:p>
            <a:pPr lvl="1"/>
            <a:r>
              <a:rPr lang="zh-CN" altLang="en-US" dirty="0"/>
              <a:t>每个用户的同类业务可以被认为是一个业务流，</a:t>
            </a:r>
            <a:r>
              <a:rPr lang="en-US" altLang="zh-CN" dirty="0" err="1"/>
              <a:t>HQoS</a:t>
            </a:r>
            <a:r>
              <a:rPr lang="zh-CN" altLang="en-US" dirty="0"/>
              <a:t>能够针对每个用户的不同业务流进行队列调度。流队列一般与业务类型相对应，包括</a:t>
            </a:r>
            <a:r>
              <a:rPr lang="en-US" altLang="zh-CN" dirty="0"/>
              <a:t>EF</a:t>
            </a:r>
            <a:r>
              <a:rPr lang="zh-CN" altLang="en-US" dirty="0"/>
              <a:t>、</a:t>
            </a:r>
            <a:r>
              <a:rPr lang="en-US" altLang="zh-CN" dirty="0"/>
              <a:t>AF</a:t>
            </a:r>
            <a:r>
              <a:rPr lang="zh-CN" altLang="en-US" dirty="0"/>
              <a:t>、</a:t>
            </a:r>
            <a:r>
              <a:rPr lang="en-US" altLang="zh-CN" dirty="0"/>
              <a:t>BE</a:t>
            </a:r>
            <a:r>
              <a:rPr lang="zh-CN" altLang="en-US" dirty="0"/>
              <a:t>等，用户可以配置流队列的调度方式。</a:t>
            </a:r>
          </a:p>
          <a:p>
            <a:r>
              <a:rPr lang="zh-CN" altLang="en-US" dirty="0"/>
              <a:t>用户队列</a:t>
            </a:r>
          </a:p>
          <a:p>
            <a:pPr lvl="1"/>
            <a:r>
              <a:rPr lang="zh-CN" altLang="en-US" dirty="0"/>
              <a:t>来自同一用户的所有业务可以被认为是一个用户队列，</a:t>
            </a:r>
            <a:r>
              <a:rPr lang="en-US" altLang="zh-CN" dirty="0" err="1"/>
              <a:t>HQoS</a:t>
            </a:r>
            <a:r>
              <a:rPr lang="zh-CN" altLang="en-US" dirty="0"/>
              <a:t>可以使该用户队列下的所有业务共享一个用户队列的带宽。</a:t>
            </a:r>
          </a:p>
          <a:p>
            <a:r>
              <a:rPr lang="zh-CN" altLang="en-US" dirty="0"/>
              <a:t>接口队列</a:t>
            </a:r>
          </a:p>
          <a:p>
            <a:pPr lvl="1"/>
            <a:r>
              <a:rPr lang="zh-CN" altLang="en-US" dirty="0"/>
              <a:t>每个接口（子接口，</a:t>
            </a:r>
            <a:r>
              <a:rPr lang="en-US" altLang="zh-CN" dirty="0"/>
              <a:t>Tunnel</a:t>
            </a:r>
            <a:r>
              <a:rPr lang="zh-CN" altLang="en-US" dirty="0"/>
              <a:t>口等）一个队列，接口队列之间进行轮询调度（</a:t>
            </a:r>
            <a:r>
              <a:rPr lang="en-US" altLang="zh-CN" dirty="0"/>
              <a:t>RR</a:t>
            </a:r>
            <a:r>
              <a:rPr lang="zh-CN" altLang="en-US" dirty="0"/>
              <a:t>），用户仅可以配置基于接口的流量整形，且其调度方式不可配置。</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4410430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以企业用户的</a:t>
            </a:r>
            <a:r>
              <a:rPr lang="en-US" altLang="zh-CN" dirty="0" err="1"/>
              <a:t>HQoS</a:t>
            </a:r>
            <a:r>
              <a:rPr lang="zh-CN" altLang="en-US" dirty="0"/>
              <a:t>部署为例，企业用户主要有三种业务：语音通讯（</a:t>
            </a:r>
            <a:r>
              <a:rPr lang="en-US" altLang="zh-CN" dirty="0"/>
              <a:t>VoIP</a:t>
            </a:r>
            <a:r>
              <a:rPr lang="zh-CN" altLang="en-US" dirty="0"/>
              <a:t>）、视频会议（</a:t>
            </a:r>
            <a:r>
              <a:rPr lang="en-US" altLang="zh-CN" dirty="0"/>
              <a:t>VC</a:t>
            </a:r>
            <a:r>
              <a:rPr lang="zh-CN" altLang="en-US" dirty="0"/>
              <a:t>）和数据业务（</a:t>
            </a:r>
            <a:r>
              <a:rPr lang="en-US" altLang="zh-CN" dirty="0"/>
              <a:t>DATA</a:t>
            </a:r>
            <a:r>
              <a:rPr lang="zh-CN" altLang="en-US" dirty="0"/>
              <a:t>），每个用户队列对应一个企业用户，每个流队列对应一种业务。通过部署</a:t>
            </a:r>
            <a:r>
              <a:rPr lang="en-US" altLang="zh-CN" dirty="0" err="1"/>
              <a:t>HQoS</a:t>
            </a:r>
            <a:r>
              <a:rPr lang="zh-CN" altLang="en-US" dirty="0"/>
              <a:t>，可以实现：</a:t>
            </a:r>
          </a:p>
          <a:p>
            <a:pPr lvl="1"/>
            <a:r>
              <a:rPr lang="zh-CN" altLang="en-US" dirty="0"/>
              <a:t>控制单个企业用户三种业务之间的流量调度</a:t>
            </a:r>
          </a:p>
          <a:p>
            <a:pPr lvl="1"/>
            <a:r>
              <a:rPr lang="zh-CN" altLang="en-US" dirty="0"/>
              <a:t>控制单个企业用户三种业务的总带宽</a:t>
            </a:r>
          </a:p>
          <a:p>
            <a:pPr lvl="1"/>
            <a:r>
              <a:rPr lang="zh-CN" altLang="en-US" dirty="0"/>
              <a:t>控制多个企业用户之间的带宽分配</a:t>
            </a:r>
          </a:p>
          <a:p>
            <a:pPr lvl="1"/>
            <a:r>
              <a:rPr lang="zh-CN" altLang="en-US" dirty="0"/>
              <a:t>控制多个企业用户的总带宽</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1291967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70751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652715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VoIP</a:t>
            </a:r>
            <a:r>
              <a:rPr lang="zh-CN" altLang="en-US" dirty="0"/>
              <a:t>业务：</a:t>
            </a:r>
            <a:r>
              <a:rPr lang="en-US" altLang="zh-CN" dirty="0"/>
              <a:t>IP</a:t>
            </a:r>
            <a:r>
              <a:rPr lang="zh-CN" altLang="en-US" dirty="0"/>
              <a:t>语音电话业务</a:t>
            </a:r>
            <a:endParaRPr lang="en-US" altLang="zh-CN" dirty="0"/>
          </a:p>
          <a:p>
            <a:r>
              <a:rPr lang="en-US" altLang="zh-CN" dirty="0"/>
              <a:t>IPTV</a:t>
            </a:r>
            <a:r>
              <a:rPr lang="zh-CN" altLang="en-US" dirty="0"/>
              <a:t>：互联网电视业务</a:t>
            </a:r>
            <a:endParaRPr lang="en-US" altLang="zh-CN" dirty="0"/>
          </a:p>
          <a:p>
            <a:r>
              <a:rPr lang="en-US" altLang="zh-CN" dirty="0"/>
              <a:t>HSI</a:t>
            </a:r>
            <a:r>
              <a:rPr lang="zh-CN" altLang="en-US" dirty="0"/>
              <a:t>业务：个人上网业务</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3173711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132266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8151981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572002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9810050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157402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rabicPeriod"/>
            </a:pPr>
            <a:r>
              <a:rPr lang="en-US" altLang="zh-CN" dirty="0"/>
              <a:t>B</a:t>
            </a:r>
            <a:endParaRPr lang="en-US" dirty="0"/>
          </a:p>
          <a:p>
            <a:pPr marL="228600" indent="-228600">
              <a:buFont typeface="+mj-lt"/>
              <a:buAutoNum type="arabicPeriod"/>
            </a:pPr>
            <a:r>
              <a:rPr lang="en-US" dirty="0"/>
              <a:t>A</a:t>
            </a:r>
            <a:r>
              <a:rPr lang="en-US" altLang="zh-CN" dirty="0"/>
              <a:t>BD</a:t>
            </a:r>
            <a:endParaRPr lang="en-US" dirty="0"/>
          </a:p>
          <a:p>
            <a:pPr lvl="0"/>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0644099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7959607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3904334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17450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99053660"/>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252802474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96367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405242044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4102356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252638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201019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484312"/>
            <a:ext cx="11256962"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047750"/>
            <a:ext cx="11256962"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513643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826084440"/>
      </p:ext>
    </p:extLst>
  </p:cSld>
  <p:clrMapOvr>
    <a:masterClrMapping/>
  </p:clrMapOvr>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54669"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570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279"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customXml" Target="../ink/ink1.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customXml" Target="../ink/ink3.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customXml" Target="../ink/ink5.xml"/><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customXml" Target="../ink/ink4.xml"/><Relationship Id="rId10" Type="http://schemas.openxmlformats.org/officeDocument/2006/relationships/image" Target="../media/image21.png"/><Relationship Id="rId4" Type="http://schemas.openxmlformats.org/officeDocument/2006/relationships/image" Target="../media/image14.png"/><Relationship Id="rId9" Type="http://schemas.openxmlformats.org/officeDocument/2006/relationships/customXml" Target="../ink/ink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11.png"/></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5.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customXml" Target="../ink/ink7.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customXml" Target="../ink/ink9.xml"/><Relationship Id="rId5" Type="http://schemas.openxmlformats.org/officeDocument/2006/relationships/image" Target="../media/image26.png"/><Relationship Id="rId4" Type="http://schemas.openxmlformats.org/officeDocument/2006/relationships/customXml" Target="../ink/ink8.xml"/></Relationships>
</file>

<file path=ppt/slides/_rels/slide67.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32.png"/><Relationship Id="rId18" Type="http://schemas.openxmlformats.org/officeDocument/2006/relationships/customXml" Target="../ink/ink17.xml"/><Relationship Id="rId3" Type="http://schemas.openxmlformats.org/officeDocument/2006/relationships/image" Target="../media/image9.png"/><Relationship Id="rId21" Type="http://schemas.openxmlformats.org/officeDocument/2006/relationships/image" Target="../media/image36.png"/><Relationship Id="rId7" Type="http://schemas.openxmlformats.org/officeDocument/2006/relationships/image" Target="../media/image29.png"/><Relationship Id="rId12" Type="http://schemas.openxmlformats.org/officeDocument/2006/relationships/customXml" Target="../ink/ink14.xml"/><Relationship Id="rId17" Type="http://schemas.openxmlformats.org/officeDocument/2006/relationships/image" Target="../media/image34.png"/><Relationship Id="rId2" Type="http://schemas.openxmlformats.org/officeDocument/2006/relationships/notesSlide" Target="../notesSlides/notesSlide67.xml"/><Relationship Id="rId16" Type="http://schemas.openxmlformats.org/officeDocument/2006/relationships/customXml" Target="../ink/ink16.xml"/><Relationship Id="rId20" Type="http://schemas.openxmlformats.org/officeDocument/2006/relationships/customXml" Target="../ink/ink18.xml"/><Relationship Id="rId1" Type="http://schemas.openxmlformats.org/officeDocument/2006/relationships/slideLayout" Target="../slideLayouts/slideLayout13.xml"/><Relationship Id="rId6" Type="http://schemas.openxmlformats.org/officeDocument/2006/relationships/customXml" Target="../ink/ink11.xml"/><Relationship Id="rId11" Type="http://schemas.openxmlformats.org/officeDocument/2006/relationships/image" Target="../media/image31.png"/><Relationship Id="rId5" Type="http://schemas.openxmlformats.org/officeDocument/2006/relationships/image" Target="../media/image28.png"/><Relationship Id="rId15" Type="http://schemas.openxmlformats.org/officeDocument/2006/relationships/image" Target="../media/image33.png"/><Relationship Id="rId10" Type="http://schemas.openxmlformats.org/officeDocument/2006/relationships/customXml" Target="../ink/ink13.xml"/><Relationship Id="rId19" Type="http://schemas.openxmlformats.org/officeDocument/2006/relationships/image" Target="../media/image35.png"/><Relationship Id="rId4" Type="http://schemas.openxmlformats.org/officeDocument/2006/relationships/customXml" Target="../ink/ink10.xml"/><Relationship Id="rId9" Type="http://schemas.openxmlformats.org/officeDocument/2006/relationships/image" Target="../media/image30.png"/><Relationship Id="rId14" Type="http://schemas.openxmlformats.org/officeDocument/2006/relationships/customXml" Target="../ink/ink15.xml"/></Relationships>
</file>

<file path=ppt/slides/_rels/slide6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customXml" Target="../ink/ink24.xml"/><Relationship Id="rId18" Type="http://schemas.openxmlformats.org/officeDocument/2006/relationships/image" Target="../media/image44.png"/><Relationship Id="rId26" Type="http://schemas.openxmlformats.org/officeDocument/2006/relationships/image" Target="../media/image48.png"/><Relationship Id="rId3" Type="http://schemas.openxmlformats.org/officeDocument/2006/relationships/customXml" Target="../ink/ink19.xml"/><Relationship Id="rId21" Type="http://schemas.openxmlformats.org/officeDocument/2006/relationships/customXml" Target="../ink/ink28.xml"/><Relationship Id="rId7" Type="http://schemas.openxmlformats.org/officeDocument/2006/relationships/customXml" Target="../ink/ink21.xml"/><Relationship Id="rId12" Type="http://schemas.openxmlformats.org/officeDocument/2006/relationships/image" Target="../media/image41.png"/><Relationship Id="rId17" Type="http://schemas.openxmlformats.org/officeDocument/2006/relationships/customXml" Target="../ink/ink26.xml"/><Relationship Id="rId25" Type="http://schemas.openxmlformats.org/officeDocument/2006/relationships/customXml" Target="../ink/ink30.xml"/><Relationship Id="rId2" Type="http://schemas.openxmlformats.org/officeDocument/2006/relationships/notesSlide" Target="../notesSlides/notesSlide68.xml"/><Relationship Id="rId16" Type="http://schemas.openxmlformats.org/officeDocument/2006/relationships/image" Target="../media/image43.png"/><Relationship Id="rId20" Type="http://schemas.openxmlformats.org/officeDocument/2006/relationships/image" Target="../media/image45.png"/><Relationship Id="rId29" Type="http://schemas.openxmlformats.org/officeDocument/2006/relationships/customXml" Target="../ink/ink32.xml"/><Relationship Id="rId1" Type="http://schemas.openxmlformats.org/officeDocument/2006/relationships/slideLayout" Target="../slideLayouts/slideLayout13.xml"/><Relationship Id="rId6" Type="http://schemas.openxmlformats.org/officeDocument/2006/relationships/image" Target="../media/image38.png"/><Relationship Id="rId11" Type="http://schemas.openxmlformats.org/officeDocument/2006/relationships/customXml" Target="../ink/ink23.xml"/><Relationship Id="rId24" Type="http://schemas.openxmlformats.org/officeDocument/2006/relationships/image" Target="../media/image47.png"/><Relationship Id="rId32" Type="http://schemas.openxmlformats.org/officeDocument/2006/relationships/image" Target="../media/image51.png"/><Relationship Id="rId5" Type="http://schemas.openxmlformats.org/officeDocument/2006/relationships/customXml" Target="../ink/ink20.xml"/><Relationship Id="rId15" Type="http://schemas.openxmlformats.org/officeDocument/2006/relationships/customXml" Target="../ink/ink25.xml"/><Relationship Id="rId23" Type="http://schemas.openxmlformats.org/officeDocument/2006/relationships/customXml" Target="../ink/ink29.xml"/><Relationship Id="rId28" Type="http://schemas.openxmlformats.org/officeDocument/2006/relationships/image" Target="../media/image49.png"/><Relationship Id="rId10" Type="http://schemas.openxmlformats.org/officeDocument/2006/relationships/image" Target="../media/image40.png"/><Relationship Id="rId19" Type="http://schemas.openxmlformats.org/officeDocument/2006/relationships/customXml" Target="../ink/ink27.xml"/><Relationship Id="rId31" Type="http://schemas.openxmlformats.org/officeDocument/2006/relationships/customXml" Target="../ink/ink33.xml"/><Relationship Id="rId4" Type="http://schemas.openxmlformats.org/officeDocument/2006/relationships/image" Target="../media/image37.png"/><Relationship Id="rId9" Type="http://schemas.openxmlformats.org/officeDocument/2006/relationships/customXml" Target="../ink/ink22.xml"/><Relationship Id="rId14" Type="http://schemas.openxmlformats.org/officeDocument/2006/relationships/image" Target="../media/image42.png"/><Relationship Id="rId22" Type="http://schemas.openxmlformats.org/officeDocument/2006/relationships/image" Target="../media/image46.png"/><Relationship Id="rId27" Type="http://schemas.openxmlformats.org/officeDocument/2006/relationships/customXml" Target="../ink/ink31.xml"/><Relationship Id="rId30" Type="http://schemas.openxmlformats.org/officeDocument/2006/relationships/image" Target="../media/image50.png"/></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customXml" Target="../ink/ink35.xml"/><Relationship Id="rId5" Type="http://schemas.openxmlformats.org/officeDocument/2006/relationships/image" Target="../media/image53.png"/><Relationship Id="rId4" Type="http://schemas.openxmlformats.org/officeDocument/2006/relationships/customXml" Target="../ink/ink3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8.png"/></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4.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5.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6.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customXml" Target="../ink/ink41.xml"/><Relationship Id="rId18" Type="http://schemas.openxmlformats.org/officeDocument/2006/relationships/image" Target="../media/image62.png"/><Relationship Id="rId26" Type="http://schemas.openxmlformats.org/officeDocument/2006/relationships/image" Target="../media/image66.png"/><Relationship Id="rId3" Type="http://schemas.openxmlformats.org/officeDocument/2006/relationships/customXml" Target="../ink/ink36.xml"/><Relationship Id="rId21" Type="http://schemas.openxmlformats.org/officeDocument/2006/relationships/customXml" Target="../ink/ink45.xml"/><Relationship Id="rId7" Type="http://schemas.openxmlformats.org/officeDocument/2006/relationships/customXml" Target="../ink/ink38.xml"/><Relationship Id="rId12" Type="http://schemas.openxmlformats.org/officeDocument/2006/relationships/image" Target="../media/image59.png"/><Relationship Id="rId17" Type="http://schemas.openxmlformats.org/officeDocument/2006/relationships/customXml" Target="../ink/ink43.xml"/><Relationship Id="rId25" Type="http://schemas.openxmlformats.org/officeDocument/2006/relationships/customXml" Target="../ink/ink47.xml"/><Relationship Id="rId2" Type="http://schemas.openxmlformats.org/officeDocument/2006/relationships/notesSlide" Target="../notesSlides/notesSlide87.xml"/><Relationship Id="rId16" Type="http://schemas.openxmlformats.org/officeDocument/2006/relationships/image" Target="../media/image61.png"/><Relationship Id="rId20" Type="http://schemas.openxmlformats.org/officeDocument/2006/relationships/image" Target="../media/image63.png"/><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customXml" Target="../ink/ink40.xml"/><Relationship Id="rId24" Type="http://schemas.openxmlformats.org/officeDocument/2006/relationships/image" Target="../media/image65.png"/><Relationship Id="rId5" Type="http://schemas.openxmlformats.org/officeDocument/2006/relationships/customXml" Target="../ink/ink37.xml"/><Relationship Id="rId15" Type="http://schemas.openxmlformats.org/officeDocument/2006/relationships/customXml" Target="../ink/ink42.xml"/><Relationship Id="rId23" Type="http://schemas.openxmlformats.org/officeDocument/2006/relationships/customXml" Target="../ink/ink46.xml"/><Relationship Id="rId28" Type="http://schemas.openxmlformats.org/officeDocument/2006/relationships/image" Target="../media/image67.png"/><Relationship Id="rId10" Type="http://schemas.openxmlformats.org/officeDocument/2006/relationships/image" Target="../media/image58.png"/><Relationship Id="rId19" Type="http://schemas.openxmlformats.org/officeDocument/2006/relationships/customXml" Target="../ink/ink44.xml"/><Relationship Id="rId4" Type="http://schemas.openxmlformats.org/officeDocument/2006/relationships/image" Target="../media/image55.png"/><Relationship Id="rId9" Type="http://schemas.openxmlformats.org/officeDocument/2006/relationships/customXml" Target="../ink/ink39.xml"/><Relationship Id="rId14" Type="http://schemas.openxmlformats.org/officeDocument/2006/relationships/image" Target="../media/image60.png"/><Relationship Id="rId22" Type="http://schemas.openxmlformats.org/officeDocument/2006/relationships/image" Target="../media/image64.png"/><Relationship Id="rId27" Type="http://schemas.openxmlformats.org/officeDocument/2006/relationships/customXml" Target="../ink/ink4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90.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7.png"/></Relationships>
</file>

<file path=ppt/slides/_rels/slide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2.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9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3.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9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4.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1.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9.xml"/><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5.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7.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10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8.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10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9.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文本占位符 9"/>
          <p:cNvSpPr>
            <a:spLocks noGrp="1"/>
          </p:cNvSpPr>
          <p:nvPr>
            <p:ph type="body" sz="quarter" idx="17"/>
          </p:nvPr>
        </p:nvSpPr>
        <p:spPr bwMode="gray"/>
        <p:txBody>
          <a:bodyPr/>
          <a:lstStyle/>
          <a:p>
            <a:endParaRPr lang="zh-CN" altLang="en-US" dirty="0"/>
          </a:p>
        </p:txBody>
      </p:sp>
      <p:sp>
        <p:nvSpPr>
          <p:cNvPr id="11" name="文本占位符 10"/>
          <p:cNvSpPr>
            <a:spLocks noGrp="1"/>
          </p:cNvSpPr>
          <p:nvPr>
            <p:ph type="body" sz="quarter" idx="18"/>
          </p:nvPr>
        </p:nvSpPr>
        <p:spPr bwMode="gray"/>
        <p:txBody>
          <a:bodyPr/>
          <a:lstStyle/>
          <a:p>
            <a:r>
              <a:rPr lang="en-US" altLang="zh-CN" dirty="0"/>
              <a:t>Datacom</a:t>
            </a:r>
            <a:endParaRPr lang="zh-CN" altLang="en-US" dirty="0"/>
          </a:p>
        </p:txBody>
      </p:sp>
      <p:sp>
        <p:nvSpPr>
          <p:cNvPr id="12" name="文本占位符 11"/>
          <p:cNvSpPr>
            <a:spLocks noGrp="1"/>
          </p:cNvSpPr>
          <p:nvPr>
            <p:ph type="body" sz="quarter" idx="19"/>
          </p:nvPr>
        </p:nvSpPr>
        <p:spPr bwMode="gray"/>
        <p:txBody>
          <a:bodyPr/>
          <a:lstStyle/>
          <a:p>
            <a:r>
              <a:rPr lang="zh-CN" altLang="en-US" dirty="0"/>
              <a:t>通用</a:t>
            </a:r>
          </a:p>
        </p:txBody>
      </p:sp>
      <p:sp>
        <p:nvSpPr>
          <p:cNvPr id="13" name="文本占位符 12"/>
          <p:cNvSpPr>
            <a:spLocks noGrp="1"/>
          </p:cNvSpPr>
          <p:nvPr>
            <p:ph type="body" sz="quarter" idx="20"/>
          </p:nvPr>
        </p:nvSpPr>
        <p:spPr bwMode="gray"/>
        <p:txBody>
          <a:bodyPr/>
          <a:lstStyle/>
          <a:p>
            <a:r>
              <a:rPr lang="en-US" altLang="zh-CN" dirty="0"/>
              <a:t>V1.0</a:t>
            </a:r>
            <a:endParaRPr lang="zh-CN" altLang="en-US" dirty="0"/>
          </a:p>
        </p:txBody>
      </p:sp>
      <p:sp>
        <p:nvSpPr>
          <p:cNvPr id="3" name="文本占位符 2"/>
          <p:cNvSpPr>
            <a:spLocks noGrp="1"/>
          </p:cNvSpPr>
          <p:nvPr>
            <p:ph type="body" sz="quarter" idx="13"/>
          </p:nvPr>
        </p:nvSpPr>
        <p:spPr bwMode="gray"/>
        <p:txBody>
          <a:bodyPr/>
          <a:lstStyle/>
          <a:p>
            <a:r>
              <a:rPr lang="zh-CN" altLang="en-US" dirty="0"/>
              <a:t>吴越</a:t>
            </a:r>
            <a:r>
              <a:rPr lang="en-US" altLang="zh-CN" dirty="0"/>
              <a:t>/WX291773</a:t>
            </a:r>
            <a:endParaRPr lang="zh-CN" altLang="en-US" dirty="0"/>
          </a:p>
        </p:txBody>
      </p:sp>
      <p:sp>
        <p:nvSpPr>
          <p:cNvPr id="4" name="文本占位符 3"/>
          <p:cNvSpPr>
            <a:spLocks noGrp="1"/>
          </p:cNvSpPr>
          <p:nvPr>
            <p:ph type="body" sz="quarter" idx="14"/>
          </p:nvPr>
        </p:nvSpPr>
        <p:spPr bwMode="gray"/>
        <p:txBody>
          <a:bodyPr/>
          <a:lstStyle/>
          <a:p>
            <a:r>
              <a:rPr lang="en-US" altLang="zh-CN" dirty="0"/>
              <a:t>2020.5.30</a:t>
            </a:r>
            <a:endParaRPr lang="zh-CN" altLang="en-US" dirty="0"/>
          </a:p>
        </p:txBody>
      </p:sp>
      <p:sp>
        <p:nvSpPr>
          <p:cNvPr id="6" name="文本占位符 5"/>
          <p:cNvSpPr>
            <a:spLocks noGrp="1"/>
          </p:cNvSpPr>
          <p:nvPr>
            <p:ph type="body" sz="quarter" idx="15"/>
          </p:nvPr>
        </p:nvSpPr>
        <p:spPr bwMode="gray"/>
        <p:txBody>
          <a:bodyPr/>
          <a:lstStyle/>
          <a:p>
            <a:r>
              <a:rPr lang="zh-CN" altLang="en-US" dirty="0"/>
              <a:t>何军建</a:t>
            </a:r>
            <a:r>
              <a:rPr lang="en-US" altLang="zh-CN" dirty="0"/>
              <a:t>/WX580230</a:t>
            </a:r>
            <a:endParaRPr lang="zh-CN" altLang="en-US" dirty="0"/>
          </a:p>
        </p:txBody>
      </p:sp>
      <p:sp>
        <p:nvSpPr>
          <p:cNvPr id="5" name="文本占位符 4"/>
          <p:cNvSpPr>
            <a:spLocks noGrp="1"/>
          </p:cNvSpPr>
          <p:nvPr>
            <p:ph type="body" sz="quarter" idx="16"/>
          </p:nvPr>
        </p:nvSpPr>
        <p:spPr bwMode="gray"/>
        <p:txBody>
          <a:bodyPr/>
          <a:lstStyle/>
          <a:p>
            <a:r>
              <a:rPr lang="zh-CN" altLang="en-US" dirty="0"/>
              <a:t>新优化</a:t>
            </a:r>
          </a:p>
        </p:txBody>
      </p:sp>
      <p:sp>
        <p:nvSpPr>
          <p:cNvPr id="14" name="文本占位符 13"/>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15" name="文本占位符 14"/>
          <p:cNvSpPr>
            <a:spLocks noGrp="1"/>
          </p:cNvSpPr>
          <p:nvPr>
            <p:ph type="body" sz="quarter" idx="22"/>
          </p:nvPr>
        </p:nvSpPr>
        <p:spPr bwMode="gray"/>
        <p:txBody>
          <a:bodyPr/>
          <a:lstStyle/>
          <a:p>
            <a:r>
              <a:rPr lang="en-US" altLang="zh-CN" dirty="0"/>
              <a:t>2021.9.16</a:t>
            </a:r>
            <a:endParaRPr lang="zh-CN" altLang="en-US" dirty="0"/>
          </a:p>
        </p:txBody>
      </p:sp>
      <p:sp>
        <p:nvSpPr>
          <p:cNvPr id="16" name="文本占位符 15"/>
          <p:cNvSpPr>
            <a:spLocks noGrp="1"/>
          </p:cNvSpPr>
          <p:nvPr>
            <p:ph type="body" sz="quarter" idx="23"/>
          </p:nvPr>
        </p:nvSpPr>
        <p:spPr bwMode="gray"/>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endParaRPr lang="zh-CN" altLang="en-US" dirty="0">
              <a:sym typeface="Huawei Sans" panose="020C0503030203020204" pitchFamily="34" charset="0"/>
            </a:endParaRPr>
          </a:p>
        </p:txBody>
      </p:sp>
      <p:sp>
        <p:nvSpPr>
          <p:cNvPr id="17" name="文本占位符 16"/>
          <p:cNvSpPr>
            <a:spLocks noGrp="1"/>
          </p:cNvSpPr>
          <p:nvPr>
            <p:ph type="body" sz="quarter" idx="24"/>
          </p:nvPr>
        </p:nvSpPr>
        <p:spPr bwMode="gray"/>
        <p:txBody>
          <a:bodyPr/>
          <a:lstStyle/>
          <a:p>
            <a:r>
              <a:rPr lang="zh-CN" altLang="en-US" dirty="0"/>
              <a:t>优化</a:t>
            </a:r>
          </a:p>
        </p:txBody>
      </p:sp>
      <p:sp>
        <p:nvSpPr>
          <p:cNvPr id="18" name="文本占位符 17"/>
          <p:cNvSpPr>
            <a:spLocks noGrp="1"/>
          </p:cNvSpPr>
          <p:nvPr>
            <p:ph type="body" sz="quarter" idx="25"/>
          </p:nvPr>
        </p:nvSpPr>
        <p:spPr bwMode="gray"/>
        <p:txBody>
          <a:bodyPr/>
          <a:lstStyle/>
          <a:p>
            <a:endParaRPr lang="zh-CN" altLang="en-US"/>
          </a:p>
        </p:txBody>
      </p:sp>
      <p:sp>
        <p:nvSpPr>
          <p:cNvPr id="19" name="文本占位符 18"/>
          <p:cNvSpPr>
            <a:spLocks noGrp="1"/>
          </p:cNvSpPr>
          <p:nvPr>
            <p:ph type="body" sz="quarter" idx="26"/>
          </p:nvPr>
        </p:nvSpPr>
        <p:spPr bwMode="gray"/>
        <p:txBody>
          <a:bodyPr/>
          <a:lstStyle/>
          <a:p>
            <a:endParaRPr lang="zh-CN" altLang="en-US"/>
          </a:p>
        </p:txBody>
      </p:sp>
      <p:sp>
        <p:nvSpPr>
          <p:cNvPr id="20" name="文本占位符 19"/>
          <p:cNvSpPr>
            <a:spLocks noGrp="1"/>
          </p:cNvSpPr>
          <p:nvPr>
            <p:ph type="body" sz="quarter" idx="27"/>
          </p:nvPr>
        </p:nvSpPr>
        <p:spPr bwMode="gray"/>
        <p:txBody>
          <a:bodyPr/>
          <a:lstStyle/>
          <a:p>
            <a:endParaRPr lang="zh-CN" altLang="en-US"/>
          </a:p>
        </p:txBody>
      </p:sp>
      <p:sp>
        <p:nvSpPr>
          <p:cNvPr id="21" name="文本占位符 20"/>
          <p:cNvSpPr>
            <a:spLocks noGrp="1"/>
          </p:cNvSpPr>
          <p:nvPr>
            <p:ph type="body" sz="quarter" idx="28"/>
          </p:nvPr>
        </p:nvSpPr>
        <p:spPr bwMode="gray"/>
        <p:txBody>
          <a:bodyPr/>
          <a:lstStyle/>
          <a:p>
            <a:endParaRPr lang="zh-CN" altLang="en-US" dirty="0"/>
          </a:p>
        </p:txBody>
      </p:sp>
      <p:sp>
        <p:nvSpPr>
          <p:cNvPr id="22" name="文本占位符 21"/>
          <p:cNvSpPr>
            <a:spLocks noGrp="1"/>
          </p:cNvSpPr>
          <p:nvPr>
            <p:ph type="body" sz="quarter" idx="29"/>
          </p:nvPr>
        </p:nvSpPr>
        <p:spPr bwMode="gray"/>
        <p:txBody>
          <a:bodyPr/>
          <a:lstStyle/>
          <a:p>
            <a:endParaRPr lang="zh-CN" altLang="en-US"/>
          </a:p>
        </p:txBody>
      </p:sp>
      <p:sp>
        <p:nvSpPr>
          <p:cNvPr id="23" name="文本占位符 22"/>
          <p:cNvSpPr>
            <a:spLocks noGrp="1"/>
          </p:cNvSpPr>
          <p:nvPr>
            <p:ph type="body" sz="quarter" idx="30"/>
          </p:nvPr>
        </p:nvSpPr>
        <p:spPr bwMode="gray"/>
        <p:txBody>
          <a:bodyPr/>
          <a:lstStyle/>
          <a:p>
            <a:endParaRPr lang="zh-CN" altLang="en-US"/>
          </a:p>
        </p:txBody>
      </p:sp>
      <p:sp>
        <p:nvSpPr>
          <p:cNvPr id="24" name="文本占位符 23"/>
          <p:cNvSpPr>
            <a:spLocks noGrp="1"/>
          </p:cNvSpPr>
          <p:nvPr>
            <p:ph type="body" sz="quarter" idx="31"/>
          </p:nvPr>
        </p:nvSpPr>
        <p:spPr bwMode="gray"/>
        <p:txBody>
          <a:bodyPr/>
          <a:lstStyle/>
          <a:p>
            <a:endParaRPr lang="zh-CN" altLang="en-US"/>
          </a:p>
        </p:txBody>
      </p:sp>
      <p:sp>
        <p:nvSpPr>
          <p:cNvPr id="25" name="文本占位符 24"/>
          <p:cNvSpPr>
            <a:spLocks noGrp="1"/>
          </p:cNvSpPr>
          <p:nvPr>
            <p:ph type="body" sz="quarter" idx="32"/>
          </p:nvPr>
        </p:nvSpPr>
        <p:spPr bwMode="gray"/>
        <p:txBody>
          <a:bodyPr/>
          <a:lstStyle/>
          <a:p>
            <a:endParaRPr lang="zh-CN" altLang="en-US"/>
          </a:p>
        </p:txBody>
      </p:sp>
      <p:sp>
        <p:nvSpPr>
          <p:cNvPr id="26" name="文本占位符 25"/>
          <p:cNvSpPr>
            <a:spLocks noGrp="1"/>
          </p:cNvSpPr>
          <p:nvPr>
            <p:ph type="body" sz="quarter" idx="33"/>
          </p:nvPr>
        </p:nvSpPr>
        <p:spPr bwMode="gray"/>
        <p:txBody>
          <a:bodyPr/>
          <a:lstStyle/>
          <a:p>
            <a:endParaRPr lang="zh-CN" altLang="en-US"/>
          </a:p>
        </p:txBody>
      </p:sp>
      <p:sp>
        <p:nvSpPr>
          <p:cNvPr id="27" name="文本占位符 26"/>
          <p:cNvSpPr>
            <a:spLocks noGrp="1"/>
          </p:cNvSpPr>
          <p:nvPr>
            <p:ph type="body" sz="quarter" idx="34"/>
          </p:nvPr>
        </p:nvSpPr>
        <p:spPr bwMode="gray"/>
        <p:txBody>
          <a:bodyPr/>
          <a:lstStyle/>
          <a:p>
            <a:endParaRPr lang="zh-CN" altLang="en-US"/>
          </a:p>
        </p:txBody>
      </p:sp>
      <p:sp>
        <p:nvSpPr>
          <p:cNvPr id="28" name="文本占位符 27"/>
          <p:cNvSpPr>
            <a:spLocks noGrp="1"/>
          </p:cNvSpPr>
          <p:nvPr>
            <p:ph type="body" sz="quarter" idx="35"/>
          </p:nvPr>
        </p:nvSpPr>
        <p:spPr bwMode="gray"/>
        <p:txBody>
          <a:bodyPr/>
          <a:lstStyle/>
          <a:p>
            <a:endParaRPr lang="zh-CN" altLang="en-US"/>
          </a:p>
        </p:txBody>
      </p:sp>
      <p:sp>
        <p:nvSpPr>
          <p:cNvPr id="29" name="文本占位符 28"/>
          <p:cNvSpPr>
            <a:spLocks noGrp="1"/>
          </p:cNvSpPr>
          <p:nvPr>
            <p:ph type="body" sz="quarter" idx="36"/>
          </p:nvPr>
        </p:nvSpPr>
        <p:spPr bwMode="gray"/>
        <p:txBody>
          <a:bodyPr/>
          <a:lstStyle/>
          <a:p>
            <a:endParaRPr lang="zh-CN" altLang="en-US"/>
          </a:p>
        </p:txBody>
      </p:sp>
    </p:spTree>
    <p:extLst>
      <p:ext uri="{BB962C8B-B14F-4D97-AF65-F5344CB8AC3E}">
        <p14:creationId xmlns:p14="http://schemas.microsoft.com/office/powerpoint/2010/main" val="346910174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p>
        </p:txBody>
      </p:sp>
      <p:sp>
        <p:nvSpPr>
          <p:cNvPr id="14" name="标题 13"/>
          <p:cNvSpPr>
            <a:spLocks noGrp="1"/>
          </p:cNvSpPr>
          <p:nvPr>
            <p:ph type="ctrTitle"/>
          </p:nvPr>
        </p:nvSpPr>
        <p:spPr bwMode="gray"/>
        <p:txBody>
          <a:bodyPr/>
          <a:lstStyle/>
          <a:p>
            <a:r>
              <a:rPr lang="en-US" altLang="zh-CN" dirty="0"/>
              <a:t>QoS</a:t>
            </a:r>
            <a:r>
              <a:rPr lang="zh-CN" altLang="en-US" dirty="0"/>
              <a:t>基本原理</a:t>
            </a:r>
          </a:p>
        </p:txBody>
      </p:sp>
    </p:spTree>
    <p:extLst>
      <p:ext uri="{BB962C8B-B14F-4D97-AF65-F5344CB8AC3E}">
        <p14:creationId xmlns:p14="http://schemas.microsoft.com/office/powerpoint/2010/main" val="385188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p:txBody>
          <a:bodyPr/>
          <a:lstStyle/>
          <a:p>
            <a:r>
              <a:rPr lang="zh-CN" altLang="en-US" sz="2000" dirty="0"/>
              <a:t>随着网络的不断发展，网络规模及流量类型的不断增加，使得互联网流量激增，产生网络拥塞，增加转发时延，严重时还会产生丢包，导致业务质量下降甚至不可用。所以，要在</a:t>
            </a:r>
            <a:r>
              <a:rPr lang="en-US" altLang="zh-CN" sz="2000" dirty="0"/>
              <a:t>IP</a:t>
            </a:r>
            <a:r>
              <a:rPr lang="zh-CN" altLang="en-US" sz="2000" dirty="0"/>
              <a:t>网络上开展这些实时与非实时业务，就必须解决网络拥塞问题，而解决网络拥塞的最直接的办法就是增加网络带宽，但从网络的建设成本考虑，这是不现实的。</a:t>
            </a:r>
          </a:p>
          <a:p>
            <a:r>
              <a:rPr lang="en-US" altLang="zh-CN" sz="2000" dirty="0" err="1"/>
              <a:t>QoS</a:t>
            </a:r>
            <a:r>
              <a:rPr lang="zh-CN" altLang="en-US" sz="2000" dirty="0"/>
              <a:t>（</a:t>
            </a:r>
            <a:r>
              <a:rPr lang="en-US" altLang="zh-CN" sz="2000" dirty="0"/>
              <a:t>Quality of Service</a:t>
            </a:r>
            <a:r>
              <a:rPr lang="zh-CN" altLang="en-US" sz="2000" dirty="0"/>
              <a:t>）技术就是在这种背景下发展起来的。在带宽有限的情况下，该技术应用一个“有保证”的策略对网络流量进行管理，并实现不同的流量可以获得不同的优先服务。</a:t>
            </a:r>
            <a:endParaRPr lang="en-US" altLang="zh-CN" sz="2000" dirty="0"/>
          </a:p>
          <a:p>
            <a:r>
              <a:rPr lang="zh-CN" altLang="en-US" sz="2000" dirty="0"/>
              <a:t>本课程将主要介绍</a:t>
            </a:r>
            <a:r>
              <a:rPr lang="en-US" altLang="zh-CN" sz="2000" dirty="0"/>
              <a:t>QoS</a:t>
            </a:r>
            <a:r>
              <a:rPr lang="zh-CN" altLang="en-US" sz="2000" dirty="0"/>
              <a:t>的实现原理。</a:t>
            </a:r>
          </a:p>
        </p:txBody>
      </p:sp>
    </p:spTree>
    <p:extLst>
      <p:ext uri="{BB962C8B-B14F-4D97-AF65-F5344CB8AC3E}">
        <p14:creationId xmlns:p14="http://schemas.microsoft.com/office/powerpoint/2010/main" val="231274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bwMode="gray"/>
        <p:txBody>
          <a:bodyPr/>
          <a:lstStyle/>
          <a:p>
            <a:r>
              <a:rPr lang="zh-CN" altLang="en-US" dirty="0"/>
              <a:t>学完本课程后，你将能够：</a:t>
            </a:r>
            <a:endParaRPr lang="en-US" altLang="zh-CN" dirty="0"/>
          </a:p>
          <a:p>
            <a:pPr lvl="1"/>
            <a:r>
              <a:rPr lang="zh-CN" altLang="en-US" dirty="0"/>
              <a:t>描述</a:t>
            </a:r>
            <a:r>
              <a:rPr lang="en-US" altLang="zh-CN" dirty="0"/>
              <a:t>QoS</a:t>
            </a:r>
            <a:r>
              <a:rPr lang="zh-CN" altLang="en-US" dirty="0"/>
              <a:t>的产生背景</a:t>
            </a:r>
            <a:endParaRPr lang="en-US" altLang="zh-CN" dirty="0"/>
          </a:p>
          <a:p>
            <a:pPr lvl="1"/>
            <a:r>
              <a:rPr lang="zh-CN" altLang="en-US" dirty="0"/>
              <a:t>描述</a:t>
            </a:r>
            <a:r>
              <a:rPr lang="en-US" altLang="zh-CN" dirty="0"/>
              <a:t>QoS</a:t>
            </a:r>
            <a:r>
              <a:rPr lang="zh-CN" altLang="en-US" dirty="0"/>
              <a:t>的类型</a:t>
            </a:r>
            <a:endParaRPr lang="en-US" altLang="zh-CN" dirty="0"/>
          </a:p>
          <a:p>
            <a:pPr lvl="1"/>
            <a:r>
              <a:rPr lang="zh-CN" altLang="en-US" dirty="0"/>
              <a:t>描述</a:t>
            </a:r>
            <a:r>
              <a:rPr lang="en-US" altLang="zh-CN" dirty="0"/>
              <a:t>QoS</a:t>
            </a:r>
            <a:r>
              <a:rPr lang="zh-CN" altLang="en-US" dirty="0"/>
              <a:t>差分服务模型的工作原理</a:t>
            </a:r>
            <a:endParaRPr lang="en-US" altLang="zh-CN" dirty="0"/>
          </a:p>
          <a:p>
            <a:pPr lvl="1"/>
            <a:r>
              <a:rPr lang="zh-CN" altLang="en-US" dirty="0"/>
              <a:t>描述</a:t>
            </a:r>
            <a:r>
              <a:rPr lang="en-US" altLang="zh-CN" dirty="0"/>
              <a:t>QoS</a:t>
            </a:r>
            <a:r>
              <a:rPr lang="zh-CN" altLang="en-US" dirty="0"/>
              <a:t>不同功能的使用场景</a:t>
            </a:r>
            <a:endParaRPr lang="en-US" altLang="zh-CN" dirty="0"/>
          </a:p>
          <a:p>
            <a:pPr lvl="1"/>
            <a:r>
              <a:rPr lang="zh-CN" altLang="en-US" dirty="0"/>
              <a:t>描述</a:t>
            </a:r>
            <a:r>
              <a:rPr lang="en-US" altLang="zh-CN" dirty="0"/>
              <a:t>QoS</a:t>
            </a:r>
            <a:r>
              <a:rPr lang="zh-CN" altLang="en-US" dirty="0"/>
              <a:t>的基本配置</a:t>
            </a:r>
            <a:endParaRPr lang="en-US" altLang="zh-CN" dirty="0"/>
          </a:p>
          <a:p>
            <a:pPr lvl="1"/>
            <a:r>
              <a:rPr lang="zh-CN" altLang="en-US" dirty="0"/>
              <a:t>描述</a:t>
            </a:r>
            <a:r>
              <a:rPr lang="en-US" altLang="zh-CN" dirty="0" err="1"/>
              <a:t>HQoS</a:t>
            </a:r>
            <a:r>
              <a:rPr lang="zh-CN" altLang="en-US" dirty="0"/>
              <a:t>的基本工作原理</a:t>
            </a:r>
            <a:endParaRPr lang="en-US" altLang="zh-CN" dirty="0"/>
          </a:p>
          <a:p>
            <a:pPr lvl="1"/>
            <a:r>
              <a:rPr lang="zh-CN" altLang="en-US" dirty="0"/>
              <a:t>描述</a:t>
            </a:r>
            <a:r>
              <a:rPr lang="en-US" altLang="zh-CN" dirty="0" err="1"/>
              <a:t>HQoS</a:t>
            </a:r>
            <a:r>
              <a:rPr lang="zh-CN" altLang="en-US" dirty="0"/>
              <a:t>的基本配置</a:t>
            </a:r>
          </a:p>
        </p:txBody>
      </p:sp>
    </p:spTree>
    <p:extLst>
      <p:ext uri="{BB962C8B-B14F-4D97-AF65-F5344CB8AC3E}">
        <p14:creationId xmlns:p14="http://schemas.microsoft.com/office/powerpoint/2010/main" val="368495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b="1" dirty="0"/>
              <a:t>QoS</a:t>
            </a:r>
            <a:r>
              <a:rPr lang="zh-CN" altLang="en-US" b="1" dirty="0"/>
              <a:t>技术概述</a:t>
            </a:r>
            <a:endParaRPr lang="en-US" altLang="zh-CN" b="1" dirty="0"/>
          </a:p>
          <a:p>
            <a:r>
              <a:rPr lang="en-US" altLang="zh-CN" dirty="0">
                <a:solidFill>
                  <a:schemeClr val="bg1">
                    <a:lumMod val="50000"/>
                  </a:schemeClr>
                </a:solidFill>
              </a:rPr>
              <a:t>QoS</a:t>
            </a:r>
            <a:r>
              <a:rPr lang="zh-CN" altLang="en-US" dirty="0">
                <a:solidFill>
                  <a:schemeClr val="bg1">
                    <a:lumMod val="50000"/>
                  </a:schemeClr>
                </a:solidFill>
              </a:rPr>
              <a:t>流分类和流标记</a:t>
            </a:r>
            <a:endParaRPr lang="en-US" altLang="zh-CN" dirty="0">
              <a:solidFill>
                <a:schemeClr val="bg1">
                  <a:lumMod val="50000"/>
                </a:schemeClr>
              </a:solidFill>
            </a:endParaRPr>
          </a:p>
          <a:p>
            <a:r>
              <a:rPr lang="zh-CN" altLang="en-US" dirty="0">
                <a:solidFill>
                  <a:schemeClr val="bg1">
                    <a:lumMod val="50000"/>
                  </a:schemeClr>
                </a:solidFill>
              </a:rPr>
              <a:t>流量限速技术</a:t>
            </a:r>
            <a:endParaRPr lang="en-US" altLang="zh-CN" dirty="0">
              <a:solidFill>
                <a:schemeClr val="bg1">
                  <a:lumMod val="50000"/>
                </a:schemeClr>
              </a:solidFill>
            </a:endParaRPr>
          </a:p>
          <a:p>
            <a:r>
              <a:rPr lang="zh-CN" altLang="en-US" dirty="0">
                <a:solidFill>
                  <a:schemeClr val="bg1">
                    <a:lumMod val="50000"/>
                  </a:schemeClr>
                </a:solidFill>
              </a:rPr>
              <a:t>拥塞避免技术</a:t>
            </a:r>
            <a:endParaRPr lang="en-US" altLang="zh-CN" dirty="0">
              <a:solidFill>
                <a:schemeClr val="bg1">
                  <a:lumMod val="50000"/>
                </a:schemeClr>
              </a:solidFill>
            </a:endParaRPr>
          </a:p>
          <a:p>
            <a:r>
              <a:rPr lang="zh-CN" altLang="en-US" dirty="0">
                <a:solidFill>
                  <a:schemeClr val="bg1">
                    <a:lumMod val="50000"/>
                  </a:schemeClr>
                </a:solidFill>
              </a:rPr>
              <a:t>拥塞管理技术</a:t>
            </a:r>
            <a:endParaRPr lang="en-US" altLang="zh-CN" dirty="0">
              <a:solidFill>
                <a:schemeClr val="bg1">
                  <a:lumMod val="50000"/>
                </a:schemeClr>
              </a:solidFill>
            </a:endParaRPr>
          </a:p>
          <a:p>
            <a:r>
              <a:rPr lang="en-US" altLang="zh-CN" dirty="0">
                <a:solidFill>
                  <a:schemeClr val="bg1">
                    <a:lumMod val="50000"/>
                  </a:schemeClr>
                </a:solidFill>
              </a:rPr>
              <a:t>HQoS</a:t>
            </a:r>
            <a:r>
              <a:rPr lang="zh-CN" altLang="en-US" dirty="0">
                <a:solidFill>
                  <a:schemeClr val="bg1">
                    <a:lumMod val="50000"/>
                  </a:schemeClr>
                </a:solidFill>
              </a:rPr>
              <a:t>介绍</a:t>
            </a:r>
            <a:endParaRPr lang="en-US" altLang="zh-CN" dirty="0">
              <a:solidFill>
                <a:schemeClr val="bg1">
                  <a:lumMod val="50000"/>
                </a:schemeClr>
              </a:solidFill>
            </a:endParaRPr>
          </a:p>
        </p:txBody>
      </p:sp>
    </p:spTree>
    <p:extLst>
      <p:ext uri="{BB962C8B-B14F-4D97-AF65-F5344CB8AC3E}">
        <p14:creationId xmlns:p14="http://schemas.microsoft.com/office/powerpoint/2010/main" val="146839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bwMode="gray"/>
        <p:txBody>
          <a:bodyPr/>
          <a:lstStyle/>
          <a:p>
            <a:r>
              <a:rPr lang="en-US" altLang="zh-CN" dirty="0"/>
              <a:t>“</a:t>
            </a:r>
            <a:r>
              <a:rPr lang="zh-CN" altLang="en-US" dirty="0"/>
              <a:t>尽力而为</a:t>
            </a:r>
            <a:r>
              <a:rPr lang="en-US" altLang="zh-CN" dirty="0"/>
              <a:t>”</a:t>
            </a:r>
            <a:r>
              <a:rPr lang="zh-CN" altLang="en-US" dirty="0"/>
              <a:t>的传统网络</a:t>
            </a:r>
          </a:p>
        </p:txBody>
      </p:sp>
      <p:sp>
        <p:nvSpPr>
          <p:cNvPr id="29" name="文本占位符 28"/>
          <p:cNvSpPr>
            <a:spLocks noGrp="1"/>
          </p:cNvSpPr>
          <p:nvPr>
            <p:ph type="body" sz="quarter" idx="10"/>
          </p:nvPr>
        </p:nvSpPr>
        <p:spPr bwMode="gray"/>
        <p:txBody>
          <a:bodyPr/>
          <a:lstStyle/>
          <a:p>
            <a:r>
              <a:rPr lang="en-US" altLang="zh-CN" dirty="0"/>
              <a:t>IP</a:t>
            </a:r>
            <a:r>
              <a:rPr lang="zh-CN" altLang="en-US" dirty="0"/>
              <a:t>网络刚出现的时候，没有服务质量保证。</a:t>
            </a:r>
            <a:endParaRPr lang="en-US" altLang="zh-CN" dirty="0"/>
          </a:p>
          <a:p>
            <a:r>
              <a:rPr lang="zh-CN" altLang="en-US" dirty="0"/>
              <a:t>你只知道报文发出去了，至于能不能到，什么时候到，就靠运气了。</a:t>
            </a:r>
            <a:endParaRPr lang="en-US" altLang="zh-CN" dirty="0"/>
          </a:p>
          <a:p>
            <a:endParaRPr lang="zh-CN" altLang="en-US" dirty="0"/>
          </a:p>
        </p:txBody>
      </p:sp>
      <p:grpSp>
        <p:nvGrpSpPr>
          <p:cNvPr id="34" name="组合 33"/>
          <p:cNvGrpSpPr/>
          <p:nvPr/>
        </p:nvGrpSpPr>
        <p:grpSpPr bwMode="gray">
          <a:xfrm>
            <a:off x="3935760" y="2395628"/>
            <a:ext cx="3950354" cy="3604146"/>
            <a:chOff x="6106086" y="1466207"/>
            <a:chExt cx="4932548" cy="4500261"/>
          </a:xfrm>
        </p:grpSpPr>
        <p:grpSp>
          <p:nvGrpSpPr>
            <p:cNvPr id="2" name="组合 1"/>
            <p:cNvGrpSpPr/>
            <p:nvPr/>
          </p:nvGrpSpPr>
          <p:grpSpPr bwMode="gray">
            <a:xfrm>
              <a:off x="6178094" y="1466207"/>
              <a:ext cx="4860540" cy="4500261"/>
              <a:chOff x="6888088" y="1700808"/>
              <a:chExt cx="4860540" cy="4500261"/>
            </a:xfrm>
          </p:grpSpPr>
          <p:sp>
            <p:nvSpPr>
              <p:cNvPr id="5" name="road_358610"/>
              <p:cNvSpPr>
                <a:spLocks noChangeAspect="1"/>
              </p:cNvSpPr>
              <p:nvPr/>
            </p:nvSpPr>
            <p:spPr bwMode="gray">
              <a:xfrm rot="16200000">
                <a:off x="8007006" y="3678235"/>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10" name="road_358610"/>
              <p:cNvSpPr>
                <a:spLocks noChangeAspect="1"/>
              </p:cNvSpPr>
              <p:nvPr/>
            </p:nvSpPr>
            <p:spPr bwMode="gray">
              <a:xfrm rot="16200000" flipH="1" flipV="1">
                <a:off x="9405813" y="2778134"/>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14" name="road_358610"/>
              <p:cNvSpPr>
                <a:spLocks noChangeAspect="1"/>
              </p:cNvSpPr>
              <p:nvPr/>
            </p:nvSpPr>
            <p:spPr bwMode="gray">
              <a:xfrm rot="16200000">
                <a:off x="10413925" y="1590002"/>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15" name="road_358610"/>
              <p:cNvSpPr>
                <a:spLocks noChangeAspect="1"/>
              </p:cNvSpPr>
              <p:nvPr/>
            </p:nvSpPr>
            <p:spPr bwMode="gray">
              <a:xfrm rot="16200000" flipH="1" flipV="1">
                <a:off x="6998894" y="4866366"/>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grpSp>
        <p:pic>
          <p:nvPicPr>
            <p:cNvPr id="3" name="图片 2"/>
            <p:cNvPicPr>
              <a:picLocks noChangeAspect="1"/>
            </p:cNvPicPr>
            <p:nvPr/>
          </p:nvPicPr>
          <p:blipFill>
            <a:blip r:embed="rId3"/>
            <a:stretch>
              <a:fillRect/>
            </a:stretch>
          </p:blipFill>
          <p:spPr bwMode="gray">
            <a:xfrm>
              <a:off x="6106086" y="5697252"/>
              <a:ext cx="341663" cy="229555"/>
            </a:xfrm>
            <a:prstGeom prst="rect">
              <a:avLst/>
            </a:prstGeom>
          </p:spPr>
        </p:pic>
        <p:pic>
          <p:nvPicPr>
            <p:cNvPr id="19" name="图片 18"/>
            <p:cNvPicPr>
              <a:picLocks noChangeAspect="1"/>
            </p:cNvPicPr>
            <p:nvPr/>
          </p:nvPicPr>
          <p:blipFill>
            <a:blip r:embed="rId3">
              <a:duotone>
                <a:schemeClr val="accent2">
                  <a:shade val="45000"/>
                  <a:satMod val="135000"/>
                </a:schemeClr>
                <a:prstClr val="white"/>
              </a:duotone>
            </a:blip>
            <a:stretch>
              <a:fillRect/>
            </a:stretch>
          </p:blipFill>
          <p:spPr bwMode="gray">
            <a:xfrm>
              <a:off x="6934178" y="5517232"/>
              <a:ext cx="341663" cy="229555"/>
            </a:xfrm>
            <a:prstGeom prst="rect">
              <a:avLst/>
            </a:prstGeom>
          </p:spPr>
        </p:pic>
        <p:pic>
          <p:nvPicPr>
            <p:cNvPr id="20" name="图片 19"/>
            <p:cNvPicPr>
              <a:picLocks noChangeAspect="1"/>
            </p:cNvPicPr>
            <p:nvPr/>
          </p:nvPicPr>
          <p:blipFill>
            <a:blip r:embed="rId3">
              <a:duotone>
                <a:schemeClr val="accent1">
                  <a:shade val="45000"/>
                  <a:satMod val="135000"/>
                </a:schemeClr>
                <a:prstClr val="white"/>
              </a:duotone>
            </a:blip>
            <a:stretch>
              <a:fillRect/>
            </a:stretch>
          </p:blipFill>
          <p:spPr bwMode="gray">
            <a:xfrm>
              <a:off x="7222210" y="4689140"/>
              <a:ext cx="341663" cy="229555"/>
            </a:xfrm>
            <a:prstGeom prst="rect">
              <a:avLst/>
            </a:prstGeom>
          </p:spPr>
        </p:pic>
        <p:pic>
          <p:nvPicPr>
            <p:cNvPr id="22" name="图片 21"/>
            <p:cNvPicPr>
              <a:picLocks noChangeAspect="1"/>
            </p:cNvPicPr>
            <p:nvPr/>
          </p:nvPicPr>
          <p:blipFill>
            <a:blip r:embed="rId3">
              <a:duotone>
                <a:schemeClr val="accent2">
                  <a:shade val="45000"/>
                  <a:satMod val="135000"/>
                </a:schemeClr>
                <a:prstClr val="white"/>
              </a:duotone>
            </a:blip>
            <a:stretch>
              <a:fillRect/>
            </a:stretch>
          </p:blipFill>
          <p:spPr bwMode="gray">
            <a:xfrm>
              <a:off x="8410342" y="3601560"/>
              <a:ext cx="341663" cy="229555"/>
            </a:xfrm>
            <a:prstGeom prst="rect">
              <a:avLst/>
            </a:prstGeom>
          </p:spPr>
        </p:pic>
        <p:pic>
          <p:nvPicPr>
            <p:cNvPr id="23" name="图片 22"/>
            <p:cNvPicPr>
              <a:picLocks noChangeAspect="1"/>
            </p:cNvPicPr>
            <p:nvPr/>
          </p:nvPicPr>
          <p:blipFill>
            <a:blip r:embed="rId3">
              <a:duotone>
                <a:schemeClr val="accent2">
                  <a:shade val="45000"/>
                  <a:satMod val="135000"/>
                </a:schemeClr>
                <a:prstClr val="white"/>
              </a:duotone>
            </a:blip>
            <a:stretch>
              <a:fillRect/>
            </a:stretch>
          </p:blipFill>
          <p:spPr bwMode="gray">
            <a:xfrm>
              <a:off x="9382450" y="3392996"/>
              <a:ext cx="341663" cy="229555"/>
            </a:xfrm>
            <a:prstGeom prst="rect">
              <a:avLst/>
            </a:prstGeom>
          </p:spPr>
        </p:pic>
        <p:pic>
          <p:nvPicPr>
            <p:cNvPr id="24" name="图片 23"/>
            <p:cNvPicPr>
              <a:picLocks noChangeAspect="1"/>
            </p:cNvPicPr>
            <p:nvPr/>
          </p:nvPicPr>
          <p:blipFill>
            <a:blip r:embed="rId3">
              <a:duotone>
                <a:schemeClr val="accent1">
                  <a:shade val="45000"/>
                  <a:satMod val="135000"/>
                </a:schemeClr>
                <a:prstClr val="white"/>
              </a:duotone>
            </a:blip>
            <a:stretch>
              <a:fillRect/>
            </a:stretch>
          </p:blipFill>
          <p:spPr bwMode="gray">
            <a:xfrm>
              <a:off x="9634478" y="2528900"/>
              <a:ext cx="341663" cy="229555"/>
            </a:xfrm>
            <a:prstGeom prst="rect">
              <a:avLst/>
            </a:prstGeom>
          </p:spPr>
        </p:pic>
        <p:pic>
          <p:nvPicPr>
            <p:cNvPr id="25" name="图片 24"/>
            <p:cNvPicPr>
              <a:picLocks noChangeAspect="1"/>
            </p:cNvPicPr>
            <p:nvPr/>
          </p:nvPicPr>
          <p:blipFill>
            <a:blip r:embed="rId3"/>
            <a:stretch>
              <a:fillRect/>
            </a:stretch>
          </p:blipFill>
          <p:spPr bwMode="gray">
            <a:xfrm>
              <a:off x="9994518" y="1484784"/>
              <a:ext cx="341663" cy="229555"/>
            </a:xfrm>
            <a:prstGeom prst="rect">
              <a:avLst/>
            </a:prstGeom>
          </p:spPr>
        </p:pic>
        <p:grpSp>
          <p:nvGrpSpPr>
            <p:cNvPr id="4" name="组合 3"/>
            <p:cNvGrpSpPr/>
            <p:nvPr/>
          </p:nvGrpSpPr>
          <p:grpSpPr bwMode="gray">
            <a:xfrm>
              <a:off x="7438234" y="3551204"/>
              <a:ext cx="521683" cy="330268"/>
              <a:chOff x="7752184" y="3500847"/>
              <a:chExt cx="521683" cy="330268"/>
            </a:xfrm>
          </p:grpSpPr>
          <p:pic>
            <p:nvPicPr>
              <p:cNvPr id="26" name="图片 25"/>
              <p:cNvPicPr>
                <a:picLocks noChangeAspect="1"/>
              </p:cNvPicPr>
              <p:nvPr/>
            </p:nvPicPr>
            <p:blipFill>
              <a:blip r:embed="rId3"/>
              <a:stretch>
                <a:fillRect/>
              </a:stretch>
            </p:blipFill>
            <p:spPr bwMode="gray">
              <a:xfrm>
                <a:off x="7932204" y="3500847"/>
                <a:ext cx="341663" cy="229555"/>
              </a:xfrm>
              <a:prstGeom prst="rect">
                <a:avLst/>
              </a:prstGeom>
            </p:spPr>
          </p:pic>
          <p:pic>
            <p:nvPicPr>
              <p:cNvPr id="27" name="图片 26"/>
              <p:cNvPicPr>
                <a:picLocks noChangeAspect="1"/>
              </p:cNvPicPr>
              <p:nvPr/>
            </p:nvPicPr>
            <p:blipFill>
              <a:blip r:embed="rId3"/>
              <a:stretch>
                <a:fillRect/>
              </a:stretch>
            </p:blipFill>
            <p:spPr bwMode="gray">
              <a:xfrm>
                <a:off x="7752184" y="3601560"/>
                <a:ext cx="341663" cy="229555"/>
              </a:xfrm>
              <a:prstGeom prst="rect">
                <a:avLst/>
              </a:prstGeom>
            </p:spPr>
          </p:pic>
        </p:grpSp>
      </p:grpSp>
      <p:sp>
        <p:nvSpPr>
          <p:cNvPr id="28" name="Rectangular Callout 27"/>
          <p:cNvSpPr/>
          <p:nvPr/>
        </p:nvSpPr>
        <p:spPr bwMode="gray">
          <a:xfrm>
            <a:off x="2981970" y="4815318"/>
            <a:ext cx="1227419" cy="608578"/>
          </a:xfrm>
          <a:prstGeom prst="wedgeRectCallout">
            <a:avLst>
              <a:gd name="adj1" fmla="val 30767"/>
              <a:gd name="adj2" fmla="val 10123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无区别对待</a:t>
            </a:r>
          </a:p>
          <a:p>
            <a:pPr algn="ctr"/>
            <a:r>
              <a:rPr lang="zh-CN" altLang="en-US" sz="1400" b="1" dirty="0">
                <a:solidFill>
                  <a:schemeClr val="tx1"/>
                </a:solidFill>
                <a:latin typeface="+mn-ea"/>
              </a:rPr>
              <a:t>先入先出</a:t>
            </a:r>
          </a:p>
        </p:txBody>
      </p:sp>
    </p:spTree>
    <p:extLst>
      <p:ext uri="{BB962C8B-B14F-4D97-AF65-F5344CB8AC3E}">
        <p14:creationId xmlns:p14="http://schemas.microsoft.com/office/powerpoint/2010/main" val="90425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的产生</a:t>
            </a:r>
          </a:p>
        </p:txBody>
      </p:sp>
      <p:sp>
        <p:nvSpPr>
          <p:cNvPr id="3" name="文本占位符 2"/>
          <p:cNvSpPr>
            <a:spLocks noGrp="1"/>
          </p:cNvSpPr>
          <p:nvPr>
            <p:ph type="body" sz="quarter" idx="10"/>
          </p:nvPr>
        </p:nvSpPr>
        <p:spPr bwMode="gray"/>
        <p:txBody>
          <a:bodyPr/>
          <a:lstStyle/>
          <a:p>
            <a:r>
              <a:rPr lang="zh-CN" altLang="en-US" dirty="0"/>
              <a:t>随着技术的进步、竞争的加剧，客户的要求越来越高，网络提供有质量保证的服务是大势所趋。</a:t>
            </a:r>
          </a:p>
        </p:txBody>
      </p:sp>
      <p:sp>
        <p:nvSpPr>
          <p:cNvPr id="7" name="íš1îďè"/>
          <p:cNvSpPr/>
          <p:nvPr/>
        </p:nvSpPr>
        <p:spPr bwMode="gray">
          <a:xfrm>
            <a:off x="2177321" y="2809733"/>
            <a:ext cx="3378619" cy="2325660"/>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chemeClr val="bg1">
              <a:lumMod val="50000"/>
            </a:schemeClr>
          </a:solidFill>
          <a:ln>
            <a:noFill/>
          </a:ln>
        </p:spPr>
        <p:txBody>
          <a:bodyPr wrap="square" lIns="91440" tIns="45720" rIns="91440" bIns="45720" anchor="ctr">
            <a:normAutofit/>
          </a:bodyPr>
          <a:lstStyle/>
          <a:p>
            <a:pPr algn="ctr"/>
            <a:endParaRPr/>
          </a:p>
        </p:txBody>
      </p:sp>
      <p:sp>
        <p:nvSpPr>
          <p:cNvPr id="8" name="iṡľïde"/>
          <p:cNvSpPr/>
          <p:nvPr/>
        </p:nvSpPr>
        <p:spPr bwMode="gray">
          <a:xfrm>
            <a:off x="2305594" y="2914583"/>
            <a:ext cx="3122072" cy="2115960"/>
          </a:xfrm>
          <a:prstGeom prst="rect">
            <a:avLst/>
          </a:prstGeom>
          <a:solidFill>
            <a:schemeClr val="bg1">
              <a:lumMod val="50000"/>
            </a:schemeClr>
          </a:solidFill>
          <a:ln>
            <a:noFill/>
          </a:ln>
        </p:spPr>
        <p:txBody>
          <a:bodyPr wrap="square" lIns="91440" tIns="45720" rIns="91440" bIns="45720" anchor="ctr">
            <a:normAutofit/>
          </a:bodyPr>
          <a:lstStyle/>
          <a:p>
            <a:pPr algn="ctr"/>
            <a:endParaRPr/>
          </a:p>
        </p:txBody>
      </p:sp>
      <p:sp>
        <p:nvSpPr>
          <p:cNvPr id="13" name="íš1îďè"/>
          <p:cNvSpPr/>
          <p:nvPr/>
        </p:nvSpPr>
        <p:spPr bwMode="gray">
          <a:xfrm>
            <a:off x="6785833" y="2809733"/>
            <a:ext cx="3378619" cy="2325660"/>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chemeClr val="bg1">
              <a:lumMod val="50000"/>
            </a:schemeClr>
          </a:solidFill>
          <a:ln>
            <a:noFill/>
          </a:ln>
        </p:spPr>
        <p:txBody>
          <a:bodyPr wrap="square" lIns="91440" tIns="45720" rIns="91440" bIns="45720" anchor="ctr">
            <a:normAutofit/>
          </a:bodyPr>
          <a:lstStyle/>
          <a:p>
            <a:pPr algn="ctr"/>
            <a:endParaRPr/>
          </a:p>
        </p:txBody>
      </p:sp>
      <p:sp>
        <p:nvSpPr>
          <p:cNvPr id="14" name="iṡľïde"/>
          <p:cNvSpPr/>
          <p:nvPr/>
        </p:nvSpPr>
        <p:spPr bwMode="gray">
          <a:xfrm>
            <a:off x="6914106" y="2914583"/>
            <a:ext cx="3122072" cy="2115960"/>
          </a:xfrm>
          <a:prstGeom prst="rect">
            <a:avLst/>
          </a:prstGeom>
          <a:solidFill>
            <a:schemeClr val="bg1">
              <a:lumMod val="50000"/>
            </a:schemeClr>
          </a:solidFill>
          <a:ln>
            <a:noFill/>
          </a:ln>
        </p:spPr>
        <p:txBody>
          <a:bodyPr wrap="square" lIns="91440" tIns="45720" rIns="91440" bIns="45720" anchor="ctr">
            <a:normAutofit/>
          </a:bodyPr>
          <a:lstStyle/>
          <a:p>
            <a:pPr algn="ctr"/>
            <a:endParaRPr/>
          </a:p>
        </p:txBody>
      </p:sp>
      <p:sp>
        <p:nvSpPr>
          <p:cNvPr id="16" name="文本框 15"/>
          <p:cNvSpPr txBox="1"/>
          <p:nvPr/>
        </p:nvSpPr>
        <p:spPr bwMode="gray">
          <a:xfrm>
            <a:off x="2588192" y="5141804"/>
            <a:ext cx="2501673" cy="64265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b="1" dirty="0">
                <a:latin typeface="+mn-ea"/>
                <a:ea typeface="+mn-ea"/>
              </a:rPr>
              <a:t>高清画质，网速杠杠的</a:t>
            </a:r>
            <a:endParaRPr lang="en-US" altLang="zh-CN" b="1" dirty="0">
              <a:latin typeface="+mn-ea"/>
              <a:ea typeface="+mn-ea"/>
            </a:endParaRPr>
          </a:p>
          <a:p>
            <a:pPr algn="ctr"/>
            <a:r>
              <a:rPr lang="zh-CN" altLang="en-US" b="1" dirty="0">
                <a:latin typeface="+mn-ea"/>
                <a:ea typeface="+mn-ea"/>
              </a:rPr>
              <a:t>信号质量好</a:t>
            </a:r>
          </a:p>
        </p:txBody>
      </p:sp>
      <p:sp>
        <p:nvSpPr>
          <p:cNvPr id="17" name="文本框 16"/>
          <p:cNvSpPr txBox="1"/>
          <p:nvPr/>
        </p:nvSpPr>
        <p:spPr bwMode="gray">
          <a:xfrm>
            <a:off x="7372107" y="5141804"/>
            <a:ext cx="2269238" cy="64265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b="1" dirty="0">
                <a:latin typeface="+mn-ea"/>
                <a:ea typeface="+mn-ea"/>
              </a:rPr>
              <a:t>画质不清，网速卡顿</a:t>
            </a:r>
            <a:endParaRPr lang="en-US" altLang="zh-CN" b="1" dirty="0">
              <a:latin typeface="+mn-ea"/>
              <a:ea typeface="+mn-ea"/>
            </a:endParaRPr>
          </a:p>
          <a:p>
            <a:pPr algn="ctr"/>
            <a:r>
              <a:rPr lang="zh-CN" altLang="en-US" b="1" dirty="0">
                <a:latin typeface="+mn-ea"/>
                <a:ea typeface="+mn-ea"/>
              </a:rPr>
              <a:t>信号质量差</a:t>
            </a:r>
          </a:p>
        </p:txBody>
      </p:sp>
      <p:sp>
        <p:nvSpPr>
          <p:cNvPr id="18" name="like_151915"/>
          <p:cNvSpPr>
            <a:spLocks noChangeAspect="1"/>
          </p:cNvSpPr>
          <p:nvPr/>
        </p:nvSpPr>
        <p:spPr bwMode="gray">
          <a:xfrm>
            <a:off x="3683732" y="2348880"/>
            <a:ext cx="385577" cy="423469"/>
          </a:xfrm>
          <a:custGeom>
            <a:avLst/>
            <a:gdLst>
              <a:gd name="T0" fmla="*/ 649 w 810"/>
              <a:gd name="T1" fmla="*/ 267 h 891"/>
              <a:gd name="T2" fmla="*/ 610 w 810"/>
              <a:gd name="T3" fmla="*/ 267 h 891"/>
              <a:gd name="T4" fmla="*/ 622 w 810"/>
              <a:gd name="T5" fmla="*/ 77 h 891"/>
              <a:gd name="T6" fmla="*/ 542 w 810"/>
              <a:gd name="T7" fmla="*/ 3 h 891"/>
              <a:gd name="T8" fmla="*/ 520 w 810"/>
              <a:gd name="T9" fmla="*/ 0 h 891"/>
              <a:gd name="T10" fmla="*/ 361 w 810"/>
              <a:gd name="T11" fmla="*/ 172 h 891"/>
              <a:gd name="T12" fmla="*/ 260 w 810"/>
              <a:gd name="T13" fmla="*/ 300 h 891"/>
              <a:gd name="T14" fmla="*/ 229 w 810"/>
              <a:gd name="T15" fmla="*/ 332 h 891"/>
              <a:gd name="T16" fmla="*/ 125 w 810"/>
              <a:gd name="T17" fmla="*/ 276 h 891"/>
              <a:gd name="T18" fmla="*/ 0 w 810"/>
              <a:gd name="T19" fmla="*/ 402 h 891"/>
              <a:gd name="T20" fmla="*/ 0 w 810"/>
              <a:gd name="T21" fmla="*/ 766 h 891"/>
              <a:gd name="T22" fmla="*/ 125 w 810"/>
              <a:gd name="T23" fmla="*/ 891 h 891"/>
              <a:gd name="T24" fmla="*/ 232 w 810"/>
              <a:gd name="T25" fmla="*/ 830 h 891"/>
              <a:gd name="T26" fmla="*/ 357 w 810"/>
              <a:gd name="T27" fmla="*/ 890 h 891"/>
              <a:gd name="T28" fmla="*/ 664 w 810"/>
              <a:gd name="T29" fmla="*/ 890 h 891"/>
              <a:gd name="T30" fmla="*/ 810 w 810"/>
              <a:gd name="T31" fmla="*/ 760 h 891"/>
              <a:gd name="T32" fmla="*/ 810 w 810"/>
              <a:gd name="T33" fmla="*/ 427 h 891"/>
              <a:gd name="T34" fmla="*/ 649 w 810"/>
              <a:gd name="T35" fmla="*/ 267 h 891"/>
              <a:gd name="T36" fmla="*/ 170 w 810"/>
              <a:gd name="T37" fmla="*/ 766 h 891"/>
              <a:gd name="T38" fmla="*/ 125 w 810"/>
              <a:gd name="T39" fmla="*/ 811 h 891"/>
              <a:gd name="T40" fmla="*/ 80 w 810"/>
              <a:gd name="T41" fmla="*/ 766 h 891"/>
              <a:gd name="T42" fmla="*/ 80 w 810"/>
              <a:gd name="T43" fmla="*/ 402 h 891"/>
              <a:gd name="T44" fmla="*/ 125 w 810"/>
              <a:gd name="T45" fmla="*/ 356 h 891"/>
              <a:gd name="T46" fmla="*/ 170 w 810"/>
              <a:gd name="T47" fmla="*/ 402 h 891"/>
              <a:gd name="T48" fmla="*/ 170 w 810"/>
              <a:gd name="T49" fmla="*/ 766 h 891"/>
              <a:gd name="T50" fmla="*/ 730 w 810"/>
              <a:gd name="T51" fmla="*/ 760 h 891"/>
              <a:gd name="T52" fmla="*/ 664 w 810"/>
              <a:gd name="T53" fmla="*/ 810 h 891"/>
              <a:gd name="T54" fmla="*/ 357 w 810"/>
              <a:gd name="T55" fmla="*/ 810 h 891"/>
              <a:gd name="T56" fmla="*/ 276 w 810"/>
              <a:gd name="T57" fmla="*/ 729 h 891"/>
              <a:gd name="T58" fmla="*/ 276 w 810"/>
              <a:gd name="T59" fmla="*/ 427 h 891"/>
              <a:gd name="T60" fmla="*/ 276 w 810"/>
              <a:gd name="T61" fmla="*/ 426 h 891"/>
              <a:gd name="T62" fmla="*/ 276 w 810"/>
              <a:gd name="T63" fmla="*/ 424 h 891"/>
              <a:gd name="T64" fmla="*/ 312 w 810"/>
              <a:gd name="T65" fmla="*/ 361 h 891"/>
              <a:gd name="T66" fmla="*/ 432 w 810"/>
              <a:gd name="T67" fmla="*/ 209 h 891"/>
              <a:gd name="T68" fmla="*/ 520 w 810"/>
              <a:gd name="T69" fmla="*/ 81 h 891"/>
              <a:gd name="T70" fmla="*/ 548 w 810"/>
              <a:gd name="T71" fmla="*/ 107 h 891"/>
              <a:gd name="T72" fmla="*/ 513 w 810"/>
              <a:gd name="T73" fmla="*/ 288 h 891"/>
              <a:gd name="T74" fmla="*/ 483 w 810"/>
              <a:gd name="T75" fmla="*/ 347 h 891"/>
              <a:gd name="T76" fmla="*/ 649 w 810"/>
              <a:gd name="T77" fmla="*/ 347 h 891"/>
              <a:gd name="T78" fmla="*/ 730 w 810"/>
              <a:gd name="T79" fmla="*/ 427 h 891"/>
              <a:gd name="T80" fmla="*/ 730 w 810"/>
              <a:gd name="T81" fmla="*/ 760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10" h="891">
                <a:moveTo>
                  <a:pt x="649" y="267"/>
                </a:moveTo>
                <a:lnTo>
                  <a:pt x="610" y="267"/>
                </a:lnTo>
                <a:cubicBezTo>
                  <a:pt x="629" y="214"/>
                  <a:pt x="647" y="137"/>
                  <a:pt x="622" y="77"/>
                </a:cubicBezTo>
                <a:cubicBezTo>
                  <a:pt x="608" y="41"/>
                  <a:pt x="580" y="16"/>
                  <a:pt x="542" y="3"/>
                </a:cubicBezTo>
                <a:cubicBezTo>
                  <a:pt x="535" y="1"/>
                  <a:pt x="528" y="0"/>
                  <a:pt x="520" y="0"/>
                </a:cubicBezTo>
                <a:cubicBezTo>
                  <a:pt x="471" y="0"/>
                  <a:pt x="426" y="48"/>
                  <a:pt x="361" y="172"/>
                </a:cubicBezTo>
                <a:cubicBezTo>
                  <a:pt x="332" y="227"/>
                  <a:pt x="290" y="274"/>
                  <a:pt x="260" y="300"/>
                </a:cubicBezTo>
                <a:cubicBezTo>
                  <a:pt x="247" y="310"/>
                  <a:pt x="237" y="321"/>
                  <a:pt x="229" y="332"/>
                </a:cubicBezTo>
                <a:cubicBezTo>
                  <a:pt x="206" y="298"/>
                  <a:pt x="168" y="276"/>
                  <a:pt x="125" y="276"/>
                </a:cubicBezTo>
                <a:cubicBezTo>
                  <a:pt x="56" y="276"/>
                  <a:pt x="0" y="333"/>
                  <a:pt x="0" y="402"/>
                </a:cubicBezTo>
                <a:lnTo>
                  <a:pt x="0" y="766"/>
                </a:lnTo>
                <a:cubicBezTo>
                  <a:pt x="0" y="835"/>
                  <a:pt x="56" y="891"/>
                  <a:pt x="125" y="891"/>
                </a:cubicBezTo>
                <a:cubicBezTo>
                  <a:pt x="170" y="891"/>
                  <a:pt x="210" y="867"/>
                  <a:pt x="232" y="830"/>
                </a:cubicBezTo>
                <a:cubicBezTo>
                  <a:pt x="262" y="867"/>
                  <a:pt x="307" y="890"/>
                  <a:pt x="357" y="890"/>
                </a:cubicBezTo>
                <a:lnTo>
                  <a:pt x="664" y="890"/>
                </a:lnTo>
                <a:cubicBezTo>
                  <a:pt x="791" y="890"/>
                  <a:pt x="810" y="808"/>
                  <a:pt x="810" y="760"/>
                </a:cubicBezTo>
                <a:lnTo>
                  <a:pt x="810" y="427"/>
                </a:lnTo>
                <a:cubicBezTo>
                  <a:pt x="810" y="339"/>
                  <a:pt x="737" y="267"/>
                  <a:pt x="649" y="267"/>
                </a:cubicBezTo>
                <a:close/>
                <a:moveTo>
                  <a:pt x="170" y="766"/>
                </a:moveTo>
                <a:cubicBezTo>
                  <a:pt x="170" y="791"/>
                  <a:pt x="150" y="811"/>
                  <a:pt x="125" y="811"/>
                </a:cubicBezTo>
                <a:cubicBezTo>
                  <a:pt x="100" y="811"/>
                  <a:pt x="80" y="791"/>
                  <a:pt x="80" y="766"/>
                </a:cubicBezTo>
                <a:lnTo>
                  <a:pt x="80" y="402"/>
                </a:lnTo>
                <a:cubicBezTo>
                  <a:pt x="80" y="377"/>
                  <a:pt x="100" y="356"/>
                  <a:pt x="125" y="356"/>
                </a:cubicBezTo>
                <a:cubicBezTo>
                  <a:pt x="150" y="356"/>
                  <a:pt x="170" y="377"/>
                  <a:pt x="170" y="402"/>
                </a:cubicBezTo>
                <a:lnTo>
                  <a:pt x="170" y="766"/>
                </a:lnTo>
                <a:close/>
                <a:moveTo>
                  <a:pt x="730" y="760"/>
                </a:moveTo>
                <a:cubicBezTo>
                  <a:pt x="730" y="789"/>
                  <a:pt x="725" y="810"/>
                  <a:pt x="664" y="810"/>
                </a:cubicBezTo>
                <a:lnTo>
                  <a:pt x="357" y="810"/>
                </a:lnTo>
                <a:cubicBezTo>
                  <a:pt x="312" y="810"/>
                  <a:pt x="276" y="774"/>
                  <a:pt x="276" y="729"/>
                </a:cubicBezTo>
                <a:lnTo>
                  <a:pt x="276" y="427"/>
                </a:lnTo>
                <a:lnTo>
                  <a:pt x="276" y="426"/>
                </a:lnTo>
                <a:lnTo>
                  <a:pt x="276" y="424"/>
                </a:lnTo>
                <a:cubicBezTo>
                  <a:pt x="276" y="423"/>
                  <a:pt x="275" y="392"/>
                  <a:pt x="312" y="361"/>
                </a:cubicBezTo>
                <a:cubicBezTo>
                  <a:pt x="347" y="330"/>
                  <a:pt x="397" y="275"/>
                  <a:pt x="432" y="209"/>
                </a:cubicBezTo>
                <a:cubicBezTo>
                  <a:pt x="487" y="105"/>
                  <a:pt x="513" y="84"/>
                  <a:pt x="520" y="81"/>
                </a:cubicBezTo>
                <a:cubicBezTo>
                  <a:pt x="534" y="86"/>
                  <a:pt x="543" y="94"/>
                  <a:pt x="548" y="107"/>
                </a:cubicBezTo>
                <a:cubicBezTo>
                  <a:pt x="565" y="149"/>
                  <a:pt x="544" y="230"/>
                  <a:pt x="513" y="288"/>
                </a:cubicBezTo>
                <a:lnTo>
                  <a:pt x="483" y="347"/>
                </a:lnTo>
                <a:lnTo>
                  <a:pt x="649" y="347"/>
                </a:lnTo>
                <a:cubicBezTo>
                  <a:pt x="693" y="347"/>
                  <a:pt x="730" y="383"/>
                  <a:pt x="730" y="427"/>
                </a:cubicBezTo>
                <a:lnTo>
                  <a:pt x="730" y="760"/>
                </a:lnTo>
                <a:close/>
              </a:path>
            </a:pathLst>
          </a:custGeom>
          <a:solidFill>
            <a:schemeClr val="tx1"/>
          </a:solidFill>
          <a:ln>
            <a:noFill/>
          </a:ln>
        </p:spPr>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0164" r="10826"/>
          <a:stretch/>
        </p:blipFill>
        <p:spPr>
          <a:xfrm>
            <a:off x="2362200" y="2886649"/>
            <a:ext cx="3003550" cy="2138388"/>
          </a:xfrm>
          <a:prstGeom prst="rect">
            <a:avLst/>
          </a:prstGeom>
        </p:spPr>
      </p:pic>
      <p:pic>
        <p:nvPicPr>
          <p:cNvPr id="19" name="Picture 18"/>
          <p:cNvPicPr>
            <a:picLocks noChangeAspect="1"/>
          </p:cNvPicPr>
          <p:nvPr/>
        </p:nvPicPr>
        <p:blipFill rotWithShape="1">
          <a:blip r:embed="rId4" cstate="print">
            <a:extLst>
              <a:ext uri="{BEBA8EAE-BF5A-486C-A8C5-ECC9F3942E4B}">
                <a14:imgProps xmlns:a14="http://schemas.microsoft.com/office/drawing/2010/main">
                  <a14:imgLayer r:embed="rId5">
                    <a14:imgEffect>
                      <a14:artisticMarker/>
                    </a14:imgEffect>
                  </a14:imgLayer>
                </a14:imgProps>
              </a:ext>
              <a:ext uri="{28A0092B-C50C-407E-A947-70E740481C1C}">
                <a14:useLocalDpi xmlns:a14="http://schemas.microsoft.com/office/drawing/2010/main" val="0"/>
              </a:ext>
            </a:extLst>
          </a:blip>
          <a:srcRect l="10164" r="10826"/>
          <a:stretch/>
        </p:blipFill>
        <p:spPr>
          <a:xfrm>
            <a:off x="6973367" y="2892155"/>
            <a:ext cx="3003550" cy="2138388"/>
          </a:xfrm>
          <a:prstGeom prst="rect">
            <a:avLst/>
          </a:prstGeom>
        </p:spPr>
      </p:pic>
    </p:spTree>
    <p:extLst>
      <p:ext uri="{BB962C8B-B14F-4D97-AF65-F5344CB8AC3E}">
        <p14:creationId xmlns:p14="http://schemas.microsoft.com/office/powerpoint/2010/main" val="381539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什么是</a:t>
            </a:r>
            <a:r>
              <a:rPr lang="en-US" altLang="zh-CN" dirty="0"/>
              <a:t>QoS</a:t>
            </a:r>
            <a:endParaRPr lang="zh-CN" altLang="en-US" dirty="0"/>
          </a:p>
        </p:txBody>
      </p:sp>
      <p:grpSp>
        <p:nvGrpSpPr>
          <p:cNvPr id="38" name="组合 37"/>
          <p:cNvGrpSpPr/>
          <p:nvPr/>
        </p:nvGrpSpPr>
        <p:grpSpPr bwMode="gray">
          <a:xfrm>
            <a:off x="1008063" y="1364640"/>
            <a:ext cx="2196244" cy="4572508"/>
            <a:chOff x="587388" y="1592796"/>
            <a:chExt cx="2196244" cy="4572508"/>
          </a:xfrm>
        </p:grpSpPr>
        <p:sp>
          <p:nvSpPr>
            <p:cNvPr id="25" name="envelope-doodle_16370"/>
            <p:cNvSpPr>
              <a:spLocks noChangeAspect="1"/>
            </p:cNvSpPr>
            <p:nvPr/>
          </p:nvSpPr>
          <p:spPr bwMode="gray">
            <a:xfrm>
              <a:off x="1887644" y="5301208"/>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29" name="图片 28" descr="可视电话硬终端.png"/>
            <p:cNvPicPr>
              <a:picLocks noChangeAspect="1"/>
            </p:cNvPicPr>
            <p:nvPr/>
          </p:nvPicPr>
          <p:blipFill>
            <a:blip r:embed="rId3" cstate="print"/>
            <a:stretch>
              <a:fillRect/>
            </a:stretch>
          </p:blipFill>
          <p:spPr bwMode="gray">
            <a:xfrm>
              <a:off x="1883400" y="2980317"/>
              <a:ext cx="609949" cy="540000"/>
            </a:xfrm>
            <a:prstGeom prst="rect">
              <a:avLst/>
            </a:prstGeom>
          </p:spPr>
        </p:pic>
        <p:pic>
          <p:nvPicPr>
            <p:cNvPr id="30" name="图片 29" descr="管理型无线虚链路-蓝.png"/>
            <p:cNvPicPr>
              <a:picLocks noChangeAspect="1"/>
            </p:cNvPicPr>
            <p:nvPr/>
          </p:nvPicPr>
          <p:blipFill>
            <a:blip r:embed="rId4" cstate="print"/>
            <a:stretch>
              <a:fillRect/>
            </a:stretch>
          </p:blipFill>
          <p:spPr bwMode="gray">
            <a:xfrm>
              <a:off x="1897081" y="1772816"/>
              <a:ext cx="582586" cy="540000"/>
            </a:xfrm>
            <a:prstGeom prst="rect">
              <a:avLst/>
            </a:prstGeom>
          </p:spPr>
        </p:pic>
        <p:sp>
          <p:nvSpPr>
            <p:cNvPr id="31" name="文本框 30"/>
            <p:cNvSpPr txBox="1"/>
            <p:nvPr/>
          </p:nvSpPr>
          <p:spPr bwMode="gray">
            <a:xfrm>
              <a:off x="1003049" y="1875376"/>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32" name="文本框 31"/>
            <p:cNvSpPr txBox="1"/>
            <p:nvPr/>
          </p:nvSpPr>
          <p:spPr bwMode="gray">
            <a:xfrm>
              <a:off x="797865" y="3063121"/>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33" name="envelope-doodle_16370"/>
            <p:cNvSpPr>
              <a:spLocks noChangeAspect="1"/>
            </p:cNvSpPr>
            <p:nvPr/>
          </p:nvSpPr>
          <p:spPr bwMode="gray">
            <a:xfrm>
              <a:off x="1883532" y="4187818"/>
              <a:ext cx="609685" cy="445888"/>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600116 w 606244"/>
                <a:gd name="T25" fmla="*/ 600116 w 606244"/>
                <a:gd name="T26" fmla="*/ 600116 w 606244"/>
                <a:gd name="T27" fmla="*/ 600116 w 606244"/>
                <a:gd name="T28" fmla="*/ 455839 w 606244"/>
                <a:gd name="T29" fmla="*/ 455839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600116 w 606244"/>
                <a:gd name="T39" fmla="*/ 600116 w 606244"/>
                <a:gd name="T40" fmla="*/ 455839 w 606244"/>
                <a:gd name="T41" fmla="*/ 455839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455839 w 606244"/>
                <a:gd name="T53" fmla="*/ 455839 w 606244"/>
                <a:gd name="T54" fmla="*/ 600116 w 606244"/>
                <a:gd name="T55" fmla="*/ 600116 w 606244"/>
                <a:gd name="T56" fmla="*/ 600116 w 606244"/>
                <a:gd name="T57" fmla="*/ 600116 w 606244"/>
                <a:gd name="T58" fmla="*/ 600116 w 606244"/>
                <a:gd name="T59" fmla="*/ 600116 w 606244"/>
                <a:gd name="T60" fmla="*/ 600116 w 606244"/>
                <a:gd name="T61" fmla="*/ 600116 w 606244"/>
                <a:gd name="T62" fmla="*/ 600116 w 606244"/>
                <a:gd name="T63" fmla="*/ 600116 w 606244"/>
                <a:gd name="T64" fmla="*/ 600116 w 606244"/>
                <a:gd name="T65" fmla="*/ 600116 w 606244"/>
                <a:gd name="T66" fmla="*/ 600116 w 606244"/>
                <a:gd name="T67" fmla="*/ 600116 w 606244"/>
                <a:gd name="T68" fmla="*/ 455839 w 606244"/>
                <a:gd name="T69" fmla="*/ 455839 w 606244"/>
                <a:gd name="T70" fmla="*/ 600116 w 606244"/>
                <a:gd name="T71" fmla="*/ 600116 w 606244"/>
                <a:gd name="T72" fmla="*/ 600116 w 606244"/>
                <a:gd name="T73" fmla="*/ 600116 w 606244"/>
                <a:gd name="T74" fmla="*/ 600116 w 606244"/>
                <a:gd name="T75" fmla="*/ 600116 w 606244"/>
                <a:gd name="T76" fmla="*/ 600116 w 606244"/>
                <a:gd name="T77" fmla="*/ 600116 w 606244"/>
                <a:gd name="T78" fmla="*/ 600116 w 606244"/>
                <a:gd name="T79"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47" h="2964">
                  <a:moveTo>
                    <a:pt x="3727" y="335"/>
                  </a:moveTo>
                  <a:cubicBezTo>
                    <a:pt x="3710" y="209"/>
                    <a:pt x="3635" y="135"/>
                    <a:pt x="3539" y="91"/>
                  </a:cubicBezTo>
                  <a:cubicBezTo>
                    <a:pt x="3498" y="55"/>
                    <a:pt x="3445" y="35"/>
                    <a:pt x="3391" y="44"/>
                  </a:cubicBezTo>
                  <a:cubicBezTo>
                    <a:pt x="3318" y="30"/>
                    <a:pt x="3242" y="24"/>
                    <a:pt x="3174" y="20"/>
                  </a:cubicBezTo>
                  <a:cubicBezTo>
                    <a:pt x="2814" y="0"/>
                    <a:pt x="2446" y="59"/>
                    <a:pt x="2085" y="61"/>
                  </a:cubicBezTo>
                  <a:cubicBezTo>
                    <a:pt x="1450" y="65"/>
                    <a:pt x="816" y="83"/>
                    <a:pt x="181" y="84"/>
                  </a:cubicBezTo>
                  <a:cubicBezTo>
                    <a:pt x="129" y="84"/>
                    <a:pt x="89" y="103"/>
                    <a:pt x="60" y="131"/>
                  </a:cubicBezTo>
                  <a:cubicBezTo>
                    <a:pt x="24" y="160"/>
                    <a:pt x="0" y="205"/>
                    <a:pt x="0" y="266"/>
                  </a:cubicBezTo>
                  <a:cubicBezTo>
                    <a:pt x="2" y="1096"/>
                    <a:pt x="46" y="1925"/>
                    <a:pt x="48" y="2756"/>
                  </a:cubicBezTo>
                  <a:cubicBezTo>
                    <a:pt x="49" y="2858"/>
                    <a:pt x="131" y="2932"/>
                    <a:pt x="230" y="2937"/>
                  </a:cubicBezTo>
                  <a:cubicBezTo>
                    <a:pt x="783" y="2964"/>
                    <a:pt x="1335" y="2941"/>
                    <a:pt x="1888" y="2917"/>
                  </a:cubicBezTo>
                  <a:cubicBezTo>
                    <a:pt x="2361" y="2897"/>
                    <a:pt x="2871" y="2952"/>
                    <a:pt x="3338" y="2889"/>
                  </a:cubicBezTo>
                  <a:cubicBezTo>
                    <a:pt x="4047" y="2793"/>
                    <a:pt x="3762" y="1697"/>
                    <a:pt x="3727" y="1218"/>
                  </a:cubicBezTo>
                  <a:cubicBezTo>
                    <a:pt x="3705" y="922"/>
                    <a:pt x="3769" y="631"/>
                    <a:pt x="3727" y="335"/>
                  </a:cubicBezTo>
                  <a:close/>
                  <a:moveTo>
                    <a:pt x="2591" y="408"/>
                  </a:moveTo>
                  <a:cubicBezTo>
                    <a:pt x="2646" y="404"/>
                    <a:pt x="2862" y="374"/>
                    <a:pt x="3054" y="368"/>
                  </a:cubicBezTo>
                  <a:cubicBezTo>
                    <a:pt x="2771" y="698"/>
                    <a:pt x="2474" y="1055"/>
                    <a:pt x="2062" y="1172"/>
                  </a:cubicBezTo>
                  <a:cubicBezTo>
                    <a:pt x="1769" y="1254"/>
                    <a:pt x="1500" y="905"/>
                    <a:pt x="1293" y="745"/>
                  </a:cubicBezTo>
                  <a:cubicBezTo>
                    <a:pt x="1148" y="633"/>
                    <a:pt x="986" y="539"/>
                    <a:pt x="821" y="450"/>
                  </a:cubicBezTo>
                  <a:cubicBezTo>
                    <a:pt x="1412" y="453"/>
                    <a:pt x="2007" y="455"/>
                    <a:pt x="2591" y="408"/>
                  </a:cubicBezTo>
                  <a:close/>
                  <a:moveTo>
                    <a:pt x="409" y="2579"/>
                  </a:moveTo>
                  <a:cubicBezTo>
                    <a:pt x="402" y="1926"/>
                    <a:pt x="377" y="1274"/>
                    <a:pt x="367" y="621"/>
                  </a:cubicBezTo>
                  <a:cubicBezTo>
                    <a:pt x="673" y="791"/>
                    <a:pt x="984" y="955"/>
                    <a:pt x="1252" y="1179"/>
                  </a:cubicBezTo>
                  <a:cubicBezTo>
                    <a:pt x="1252" y="1180"/>
                    <a:pt x="1251" y="1180"/>
                    <a:pt x="1250" y="1181"/>
                  </a:cubicBezTo>
                  <a:cubicBezTo>
                    <a:pt x="991" y="1660"/>
                    <a:pt x="642" y="2080"/>
                    <a:pt x="422" y="2580"/>
                  </a:cubicBezTo>
                  <a:cubicBezTo>
                    <a:pt x="418" y="2580"/>
                    <a:pt x="413" y="2580"/>
                    <a:pt x="409" y="2579"/>
                  </a:cubicBezTo>
                  <a:close/>
                  <a:moveTo>
                    <a:pt x="2913" y="2526"/>
                  </a:moveTo>
                  <a:cubicBezTo>
                    <a:pt x="2213" y="2507"/>
                    <a:pt x="1514" y="2573"/>
                    <a:pt x="814" y="2582"/>
                  </a:cubicBezTo>
                  <a:cubicBezTo>
                    <a:pt x="1018" y="2168"/>
                    <a:pt x="1317" y="1805"/>
                    <a:pt x="1542" y="1402"/>
                  </a:cubicBezTo>
                  <a:cubicBezTo>
                    <a:pt x="1702" y="1504"/>
                    <a:pt x="1878" y="1568"/>
                    <a:pt x="2082" y="1534"/>
                  </a:cubicBezTo>
                  <a:cubicBezTo>
                    <a:pt x="2196" y="1515"/>
                    <a:pt x="2301" y="1479"/>
                    <a:pt x="2401" y="1431"/>
                  </a:cubicBezTo>
                  <a:cubicBezTo>
                    <a:pt x="2730" y="1738"/>
                    <a:pt x="2963" y="2129"/>
                    <a:pt x="3130" y="2545"/>
                  </a:cubicBezTo>
                  <a:cubicBezTo>
                    <a:pt x="3130" y="2545"/>
                    <a:pt x="3130" y="2545"/>
                    <a:pt x="3130" y="2545"/>
                  </a:cubicBezTo>
                  <a:cubicBezTo>
                    <a:pt x="3046" y="2540"/>
                    <a:pt x="2963" y="2527"/>
                    <a:pt x="2913" y="2526"/>
                  </a:cubicBezTo>
                  <a:close/>
                  <a:moveTo>
                    <a:pt x="3422" y="2313"/>
                  </a:moveTo>
                  <a:cubicBezTo>
                    <a:pt x="3250" y="1913"/>
                    <a:pt x="3025" y="1538"/>
                    <a:pt x="2715" y="1231"/>
                  </a:cubicBezTo>
                  <a:cubicBezTo>
                    <a:pt x="2968" y="1029"/>
                    <a:pt x="3184" y="762"/>
                    <a:pt x="3395" y="524"/>
                  </a:cubicBezTo>
                  <a:cubicBezTo>
                    <a:pt x="3422" y="747"/>
                    <a:pt x="3352" y="998"/>
                    <a:pt x="3364" y="1218"/>
                  </a:cubicBezTo>
                  <a:cubicBezTo>
                    <a:pt x="3379" y="1490"/>
                    <a:pt x="3415" y="1760"/>
                    <a:pt x="3427" y="2033"/>
                  </a:cubicBezTo>
                  <a:cubicBezTo>
                    <a:pt x="3431" y="2126"/>
                    <a:pt x="3430" y="2220"/>
                    <a:pt x="3422" y="2313"/>
                  </a:cubicBezTo>
                  <a:close/>
                </a:path>
              </a:pathLst>
            </a:custGeom>
            <a:solidFill>
              <a:schemeClr val="bg1">
                <a:lumMod val="50000"/>
              </a:schemeClr>
            </a:solidFill>
            <a:ln>
              <a:noFill/>
            </a:ln>
          </p:spPr>
        </p:sp>
        <p:sp>
          <p:nvSpPr>
            <p:cNvPr id="34" name="文本框 33"/>
            <p:cNvSpPr txBox="1"/>
            <p:nvPr/>
          </p:nvSpPr>
          <p:spPr bwMode="gray">
            <a:xfrm>
              <a:off x="896449" y="4250866"/>
              <a:ext cx="8008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E-Mail</a:t>
              </a:r>
              <a:endParaRPr lang="zh-CN" altLang="en-US" sz="1600" dirty="0">
                <a:latin typeface="Huawei Sans" panose="020C0503030203020204" pitchFamily="34" charset="0"/>
                <a:ea typeface="方正兰亭黑简体" panose="02000000000000000000" pitchFamily="2" charset="-122"/>
              </a:endParaRPr>
            </a:p>
          </p:txBody>
        </p:sp>
        <p:sp>
          <p:nvSpPr>
            <p:cNvPr id="35" name="文本框 34"/>
            <p:cNvSpPr txBox="1"/>
            <p:nvPr/>
          </p:nvSpPr>
          <p:spPr bwMode="gray">
            <a:xfrm>
              <a:off x="1031968" y="5438610"/>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sp>
          <p:nvSpPr>
            <p:cNvPr id="37" name="圆角矩形 36"/>
            <p:cNvSpPr/>
            <p:nvPr/>
          </p:nvSpPr>
          <p:spPr bwMode="gray">
            <a:xfrm>
              <a:off x="587388" y="1592796"/>
              <a:ext cx="2196244" cy="4572508"/>
            </a:xfrm>
            <a:prstGeom prst="roundRect">
              <a:avLst>
                <a:gd name="adj" fmla="val 1921"/>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sp>
        <p:nvSpPr>
          <p:cNvPr id="40" name="man-angry_10752"/>
          <p:cNvSpPr>
            <a:spLocks noChangeAspect="1"/>
          </p:cNvSpPr>
          <p:nvPr/>
        </p:nvSpPr>
        <p:spPr bwMode="gray">
          <a:xfrm>
            <a:off x="4151784" y="3128836"/>
            <a:ext cx="720080" cy="1288256"/>
          </a:xfrm>
          <a:custGeom>
            <a:avLst/>
            <a:gdLst>
              <a:gd name="connsiteX0" fmla="*/ 68160 w 334098"/>
              <a:gd name="connsiteY0" fmla="*/ 270064 h 597716"/>
              <a:gd name="connsiteX1" fmla="*/ 101585 w 334098"/>
              <a:gd name="connsiteY1" fmla="*/ 307987 h 597716"/>
              <a:gd name="connsiteX2" fmla="*/ 137289 w 334098"/>
              <a:gd name="connsiteY2" fmla="*/ 310262 h 597716"/>
              <a:gd name="connsiteX3" fmla="*/ 160839 w 334098"/>
              <a:gd name="connsiteY3" fmla="*/ 308745 h 597716"/>
              <a:gd name="connsiteX4" fmla="*/ 159320 w 334098"/>
              <a:gd name="connsiteY4" fmla="*/ 437682 h 597716"/>
              <a:gd name="connsiteX5" fmla="*/ 159320 w 334098"/>
              <a:gd name="connsiteY5" fmla="*/ 572687 h 597716"/>
              <a:gd name="connsiteX6" fmla="*/ 110701 w 334098"/>
              <a:gd name="connsiteY6" fmla="*/ 572687 h 597716"/>
              <a:gd name="connsiteX7" fmla="*/ 110701 w 334098"/>
              <a:gd name="connsiteY7" fmla="*/ 380798 h 597716"/>
              <a:gd name="connsiteX8" fmla="*/ 87152 w 334098"/>
              <a:gd name="connsiteY8" fmla="*/ 380798 h 597716"/>
              <a:gd name="connsiteX9" fmla="*/ 87152 w 334098"/>
              <a:gd name="connsiteY9" fmla="*/ 571928 h 597716"/>
              <a:gd name="connsiteX10" fmla="*/ 59804 w 334098"/>
              <a:gd name="connsiteY10" fmla="*/ 597716 h 597716"/>
              <a:gd name="connsiteX11" fmla="*/ 34735 w 334098"/>
              <a:gd name="connsiteY11" fmla="*/ 571928 h 597716"/>
              <a:gd name="connsiteX12" fmla="*/ 34735 w 334098"/>
              <a:gd name="connsiteY12" fmla="*/ 437682 h 597716"/>
              <a:gd name="connsiteX13" fmla="*/ 34735 w 334098"/>
              <a:gd name="connsiteY13" fmla="*/ 289784 h 597716"/>
              <a:gd name="connsiteX14" fmla="*/ 68160 w 334098"/>
              <a:gd name="connsiteY14" fmla="*/ 270064 h 597716"/>
              <a:gd name="connsiteX15" fmla="*/ 126724 w 334098"/>
              <a:gd name="connsiteY15" fmla="*/ 150296 h 597716"/>
              <a:gd name="connsiteX16" fmla="*/ 155584 w 334098"/>
              <a:gd name="connsiteY16" fmla="*/ 160916 h 597716"/>
              <a:gd name="connsiteX17" fmla="*/ 160900 w 334098"/>
              <a:gd name="connsiteY17" fmla="*/ 163191 h 597716"/>
              <a:gd name="connsiteX18" fmla="*/ 206468 w 334098"/>
              <a:gd name="connsiteY18" fmla="*/ 261800 h 597716"/>
              <a:gd name="connsiteX19" fmla="*/ 200392 w 334098"/>
              <a:gd name="connsiteY19" fmla="*/ 274695 h 597716"/>
              <a:gd name="connsiteX20" fmla="*/ 198114 w 334098"/>
              <a:gd name="connsiteY20" fmla="*/ 277729 h 597716"/>
              <a:gd name="connsiteX21" fmla="*/ 103180 w 334098"/>
              <a:gd name="connsiteY21" fmla="*/ 294417 h 597716"/>
              <a:gd name="connsiteX22" fmla="*/ 81915 w 334098"/>
              <a:gd name="connsiteY22" fmla="*/ 267110 h 597716"/>
              <a:gd name="connsiteX23" fmla="*/ 101661 w 334098"/>
              <a:gd name="connsiteY23" fmla="*/ 251180 h 597716"/>
              <a:gd name="connsiteX24" fmla="*/ 130521 w 334098"/>
              <a:gd name="connsiteY24" fmla="*/ 252698 h 597716"/>
              <a:gd name="connsiteX25" fmla="*/ 133559 w 334098"/>
              <a:gd name="connsiteY25" fmla="*/ 253456 h 597716"/>
              <a:gd name="connsiteX26" fmla="*/ 166976 w 334098"/>
              <a:gd name="connsiteY26" fmla="*/ 246629 h 597716"/>
              <a:gd name="connsiteX27" fmla="*/ 156343 w 334098"/>
              <a:gd name="connsiteY27" fmla="*/ 208703 h 597716"/>
              <a:gd name="connsiteX28" fmla="*/ 139635 w 334098"/>
              <a:gd name="connsiteY28" fmla="*/ 192774 h 597716"/>
              <a:gd name="connsiteX29" fmla="*/ 139635 w 334098"/>
              <a:gd name="connsiteY29" fmla="*/ 192015 h 597716"/>
              <a:gd name="connsiteX30" fmla="*/ 138116 w 334098"/>
              <a:gd name="connsiteY30" fmla="*/ 191257 h 597716"/>
              <a:gd name="connsiteX31" fmla="*/ 132040 w 334098"/>
              <a:gd name="connsiteY31" fmla="*/ 186706 h 597716"/>
              <a:gd name="connsiteX32" fmla="*/ 127483 w 334098"/>
              <a:gd name="connsiteY32" fmla="*/ 192015 h 597716"/>
              <a:gd name="connsiteX33" fmla="*/ 128243 w 334098"/>
              <a:gd name="connsiteY33" fmla="*/ 201118 h 597716"/>
              <a:gd name="connsiteX34" fmla="*/ 127483 w 334098"/>
              <a:gd name="connsiteY34" fmla="*/ 201118 h 597716"/>
              <a:gd name="connsiteX35" fmla="*/ 129002 w 334098"/>
              <a:gd name="connsiteY35" fmla="*/ 202635 h 597716"/>
              <a:gd name="connsiteX36" fmla="*/ 131281 w 334098"/>
              <a:gd name="connsiteY36" fmla="*/ 204152 h 597716"/>
              <a:gd name="connsiteX37" fmla="*/ 145711 w 334098"/>
              <a:gd name="connsiteY37" fmla="*/ 217805 h 597716"/>
              <a:gd name="connsiteX38" fmla="*/ 154824 w 334098"/>
              <a:gd name="connsiteY38" fmla="*/ 238286 h 597716"/>
              <a:gd name="connsiteX39" fmla="*/ 133559 w 334098"/>
              <a:gd name="connsiteY39" fmla="*/ 239044 h 597716"/>
              <a:gd name="connsiteX40" fmla="*/ 131281 w 334098"/>
              <a:gd name="connsiteY40" fmla="*/ 239044 h 597716"/>
              <a:gd name="connsiteX41" fmla="*/ 103180 w 334098"/>
              <a:gd name="connsiteY41" fmla="*/ 236768 h 597716"/>
              <a:gd name="connsiteX42" fmla="*/ 91029 w 334098"/>
              <a:gd name="connsiteY42" fmla="*/ 238286 h 597716"/>
              <a:gd name="connsiteX43" fmla="*/ 106218 w 334098"/>
              <a:gd name="connsiteY43" fmla="*/ 206427 h 597716"/>
              <a:gd name="connsiteX44" fmla="*/ 122167 w 334098"/>
              <a:gd name="connsiteY44" fmla="*/ 173052 h 597716"/>
              <a:gd name="connsiteX45" fmla="*/ 126724 w 334098"/>
              <a:gd name="connsiteY45" fmla="*/ 150296 h 597716"/>
              <a:gd name="connsiteX46" fmla="*/ 84913 w 334098"/>
              <a:gd name="connsiteY46" fmla="*/ 137342 h 597716"/>
              <a:gd name="connsiteX47" fmla="*/ 111501 w 334098"/>
              <a:gd name="connsiteY47" fmla="*/ 147204 h 597716"/>
              <a:gd name="connsiteX48" fmla="*/ 110742 w 334098"/>
              <a:gd name="connsiteY48" fmla="*/ 166169 h 597716"/>
              <a:gd name="connsiteX49" fmla="*/ 94029 w 334098"/>
              <a:gd name="connsiteY49" fmla="*/ 200307 h 597716"/>
              <a:gd name="connsiteX50" fmla="*/ 34775 w 334098"/>
              <a:gd name="connsiteY50" fmla="*/ 275409 h 597716"/>
              <a:gd name="connsiteX51" fmla="*/ 4389 w 334098"/>
              <a:gd name="connsiteY51" fmla="*/ 257203 h 597716"/>
              <a:gd name="connsiteX52" fmla="*/ 21101 w 334098"/>
              <a:gd name="connsiteY52" fmla="*/ 172997 h 597716"/>
              <a:gd name="connsiteX53" fmla="*/ 55286 w 334098"/>
              <a:gd name="connsiteY53" fmla="*/ 154790 h 597716"/>
              <a:gd name="connsiteX54" fmla="*/ 46170 w 334098"/>
              <a:gd name="connsiteY54" fmla="*/ 173755 h 597716"/>
              <a:gd name="connsiteX55" fmla="*/ 26419 w 334098"/>
              <a:gd name="connsiteY55" fmla="*/ 229893 h 597716"/>
              <a:gd name="connsiteX56" fmla="*/ 32496 w 334098"/>
              <a:gd name="connsiteY56" fmla="*/ 233686 h 597716"/>
              <a:gd name="connsiteX57" fmla="*/ 58325 w 334098"/>
              <a:gd name="connsiteY57" fmla="*/ 179824 h 597716"/>
              <a:gd name="connsiteX58" fmla="*/ 75037 w 334098"/>
              <a:gd name="connsiteY58" fmla="*/ 145687 h 597716"/>
              <a:gd name="connsiteX59" fmla="*/ 84913 w 334098"/>
              <a:gd name="connsiteY59" fmla="*/ 137342 h 597716"/>
              <a:gd name="connsiteX60" fmla="*/ 232297 w 334098"/>
              <a:gd name="connsiteY60" fmla="*/ 121421 h 597716"/>
              <a:gd name="connsiteX61" fmla="*/ 223187 w 334098"/>
              <a:gd name="connsiteY61" fmla="*/ 122179 h 597716"/>
              <a:gd name="connsiteX62" fmla="*/ 232297 w 334098"/>
              <a:gd name="connsiteY62" fmla="*/ 125972 h 597716"/>
              <a:gd name="connsiteX63" fmla="*/ 232297 w 334098"/>
              <a:gd name="connsiteY63" fmla="*/ 121421 h 597716"/>
              <a:gd name="connsiteX64" fmla="*/ 223946 w 334098"/>
              <a:gd name="connsiteY64" fmla="*/ 82731 h 597716"/>
              <a:gd name="connsiteX65" fmla="*/ 223946 w 334098"/>
              <a:gd name="connsiteY65" fmla="*/ 88042 h 597716"/>
              <a:gd name="connsiteX66" fmla="*/ 230020 w 334098"/>
              <a:gd name="connsiteY66" fmla="*/ 92593 h 597716"/>
              <a:gd name="connsiteX67" fmla="*/ 239130 w 334098"/>
              <a:gd name="connsiteY67" fmla="*/ 95628 h 597716"/>
              <a:gd name="connsiteX68" fmla="*/ 245963 w 334098"/>
              <a:gd name="connsiteY68" fmla="*/ 93352 h 597716"/>
              <a:gd name="connsiteX69" fmla="*/ 274812 w 334098"/>
              <a:gd name="connsiteY69" fmla="*/ 98662 h 597716"/>
              <a:gd name="connsiteX70" fmla="*/ 286959 w 334098"/>
              <a:gd name="connsiteY70" fmla="*/ 97145 h 597716"/>
              <a:gd name="connsiteX71" fmla="*/ 292273 w 334098"/>
              <a:gd name="connsiteY71" fmla="*/ 88042 h 597716"/>
              <a:gd name="connsiteX72" fmla="*/ 283922 w 334098"/>
              <a:gd name="connsiteY72" fmla="*/ 88800 h 597716"/>
              <a:gd name="connsiteX73" fmla="*/ 278608 w 334098"/>
              <a:gd name="connsiteY73" fmla="*/ 89559 h 597716"/>
              <a:gd name="connsiteX74" fmla="*/ 274053 w 334098"/>
              <a:gd name="connsiteY74" fmla="*/ 88800 h 597716"/>
              <a:gd name="connsiteX75" fmla="*/ 260387 w 334098"/>
              <a:gd name="connsiteY75" fmla="*/ 88042 h 597716"/>
              <a:gd name="connsiteX76" fmla="*/ 223946 w 334098"/>
              <a:gd name="connsiteY76" fmla="*/ 82731 h 597716"/>
              <a:gd name="connsiteX77" fmla="*/ 237611 w 334098"/>
              <a:gd name="connsiteY77" fmla="*/ 66042 h 597716"/>
              <a:gd name="connsiteX78" fmla="*/ 226224 w 334098"/>
              <a:gd name="connsiteY78" fmla="*/ 70594 h 597716"/>
              <a:gd name="connsiteX79" fmla="*/ 245203 w 334098"/>
              <a:gd name="connsiteY79" fmla="*/ 74387 h 597716"/>
              <a:gd name="connsiteX80" fmla="*/ 252036 w 334098"/>
              <a:gd name="connsiteY80" fmla="*/ 75145 h 597716"/>
              <a:gd name="connsiteX81" fmla="*/ 247481 w 334098"/>
              <a:gd name="connsiteY81" fmla="*/ 66801 h 597716"/>
              <a:gd name="connsiteX82" fmla="*/ 237611 w 334098"/>
              <a:gd name="connsiteY82" fmla="*/ 66042 h 597716"/>
              <a:gd name="connsiteX83" fmla="*/ 261146 w 334098"/>
              <a:gd name="connsiteY83" fmla="*/ 55421 h 597716"/>
              <a:gd name="connsiteX84" fmla="*/ 260387 w 334098"/>
              <a:gd name="connsiteY84" fmla="*/ 56180 h 597716"/>
              <a:gd name="connsiteX85" fmla="*/ 264942 w 334098"/>
              <a:gd name="connsiteY85" fmla="*/ 57697 h 597716"/>
              <a:gd name="connsiteX86" fmla="*/ 261146 w 334098"/>
              <a:gd name="connsiteY86" fmla="*/ 55421 h 597716"/>
              <a:gd name="connsiteX87" fmla="*/ 248240 w 334098"/>
              <a:gd name="connsiteY87" fmla="*/ 52387 h 597716"/>
              <a:gd name="connsiteX88" fmla="*/ 239130 w 334098"/>
              <a:gd name="connsiteY88" fmla="*/ 53904 h 597716"/>
              <a:gd name="connsiteX89" fmla="*/ 247481 w 334098"/>
              <a:gd name="connsiteY89" fmla="*/ 53904 h 597716"/>
              <a:gd name="connsiteX90" fmla="*/ 248240 w 334098"/>
              <a:gd name="connsiteY90" fmla="*/ 52387 h 597716"/>
              <a:gd name="connsiteX91" fmla="*/ 290755 w 334098"/>
              <a:gd name="connsiteY91" fmla="*/ 44042 h 597716"/>
              <a:gd name="connsiteX92" fmla="*/ 275571 w 334098"/>
              <a:gd name="connsiteY92" fmla="*/ 46318 h 597716"/>
              <a:gd name="connsiteX93" fmla="*/ 272534 w 334098"/>
              <a:gd name="connsiteY93" fmla="*/ 47077 h 597716"/>
              <a:gd name="connsiteX94" fmla="*/ 289237 w 334098"/>
              <a:gd name="connsiteY94" fmla="*/ 59973 h 597716"/>
              <a:gd name="connsiteX95" fmla="*/ 299106 w 334098"/>
              <a:gd name="connsiteY95" fmla="*/ 73628 h 597716"/>
              <a:gd name="connsiteX96" fmla="*/ 317327 w 334098"/>
              <a:gd name="connsiteY96" fmla="*/ 49352 h 597716"/>
              <a:gd name="connsiteX97" fmla="*/ 297588 w 334098"/>
              <a:gd name="connsiteY97" fmla="*/ 44042 h 597716"/>
              <a:gd name="connsiteX98" fmla="*/ 290755 w 334098"/>
              <a:gd name="connsiteY98" fmla="*/ 44042 h 597716"/>
              <a:gd name="connsiteX99" fmla="*/ 98579 w 334098"/>
              <a:gd name="connsiteY99" fmla="*/ 36498 h 597716"/>
              <a:gd name="connsiteX100" fmla="*/ 144147 w 334098"/>
              <a:gd name="connsiteY100" fmla="*/ 82005 h 597716"/>
              <a:gd name="connsiteX101" fmla="*/ 98579 w 334098"/>
              <a:gd name="connsiteY101" fmla="*/ 127512 h 597716"/>
              <a:gd name="connsiteX102" fmla="*/ 53011 w 334098"/>
              <a:gd name="connsiteY102" fmla="*/ 82005 h 597716"/>
              <a:gd name="connsiteX103" fmla="*/ 98579 w 334098"/>
              <a:gd name="connsiteY103" fmla="*/ 36498 h 597716"/>
              <a:gd name="connsiteX104" fmla="*/ 277469 w 334098"/>
              <a:gd name="connsiteY104" fmla="*/ 13129 h 597716"/>
              <a:gd name="connsiteX105" fmla="*/ 249759 w 334098"/>
              <a:gd name="connsiteY105" fmla="*/ 14456 h 597716"/>
              <a:gd name="connsiteX106" fmla="*/ 200411 w 334098"/>
              <a:gd name="connsiteY106" fmla="*/ 28111 h 597716"/>
              <a:gd name="connsiteX107" fmla="*/ 185986 w 334098"/>
              <a:gd name="connsiteY107" fmla="*/ 48594 h 597716"/>
              <a:gd name="connsiteX108" fmla="*/ 208762 w 334098"/>
              <a:gd name="connsiteY108" fmla="*/ 65283 h 597716"/>
              <a:gd name="connsiteX109" fmla="*/ 212558 w 334098"/>
              <a:gd name="connsiteY109" fmla="*/ 66801 h 597716"/>
              <a:gd name="connsiteX110" fmla="*/ 214076 w 334098"/>
              <a:gd name="connsiteY110" fmla="*/ 65283 h 597716"/>
              <a:gd name="connsiteX111" fmla="*/ 226983 w 334098"/>
              <a:gd name="connsiteY111" fmla="*/ 46318 h 597716"/>
              <a:gd name="connsiteX112" fmla="*/ 257350 w 334098"/>
              <a:gd name="connsiteY112" fmla="*/ 41008 h 597716"/>
              <a:gd name="connsiteX113" fmla="*/ 289237 w 334098"/>
              <a:gd name="connsiteY113" fmla="*/ 31146 h 597716"/>
              <a:gd name="connsiteX114" fmla="*/ 277469 w 334098"/>
              <a:gd name="connsiteY114" fmla="*/ 13129 h 597716"/>
              <a:gd name="connsiteX115" fmla="*/ 256876 w 334098"/>
              <a:gd name="connsiteY115" fmla="*/ 422 h 597716"/>
              <a:gd name="connsiteX116" fmla="*/ 302143 w 334098"/>
              <a:gd name="connsiteY116" fmla="*/ 31904 h 597716"/>
              <a:gd name="connsiteX117" fmla="*/ 312772 w 334098"/>
              <a:gd name="connsiteY117" fmla="*/ 34180 h 597716"/>
              <a:gd name="connsiteX118" fmla="*/ 327196 w 334098"/>
              <a:gd name="connsiteY118" fmla="*/ 73628 h 597716"/>
              <a:gd name="connsiteX119" fmla="*/ 303661 w 334098"/>
              <a:gd name="connsiteY119" fmla="*/ 85766 h 597716"/>
              <a:gd name="connsiteX120" fmla="*/ 289996 w 334098"/>
              <a:gd name="connsiteY120" fmla="*/ 109283 h 597716"/>
              <a:gd name="connsiteX121" fmla="*/ 276330 w 334098"/>
              <a:gd name="connsiteY121" fmla="*/ 111559 h 597716"/>
              <a:gd name="connsiteX122" fmla="*/ 273294 w 334098"/>
              <a:gd name="connsiteY122" fmla="*/ 115352 h 597716"/>
              <a:gd name="connsiteX123" fmla="*/ 253555 w 334098"/>
              <a:gd name="connsiteY123" fmla="*/ 122938 h 597716"/>
              <a:gd name="connsiteX124" fmla="*/ 240648 w 334098"/>
              <a:gd name="connsiteY124" fmla="*/ 135834 h 597716"/>
              <a:gd name="connsiteX125" fmla="*/ 258869 w 334098"/>
              <a:gd name="connsiteY125" fmla="*/ 148731 h 597716"/>
              <a:gd name="connsiteX126" fmla="*/ 248240 w 334098"/>
              <a:gd name="connsiteY126" fmla="*/ 155558 h 597716"/>
              <a:gd name="connsiteX127" fmla="*/ 207244 w 334098"/>
              <a:gd name="connsiteY127" fmla="*/ 124455 h 597716"/>
              <a:gd name="connsiteX128" fmla="*/ 217872 w 334098"/>
              <a:gd name="connsiteY128" fmla="*/ 106248 h 597716"/>
              <a:gd name="connsiteX129" fmla="*/ 216354 w 334098"/>
              <a:gd name="connsiteY129" fmla="*/ 103214 h 597716"/>
              <a:gd name="connsiteX130" fmla="*/ 211799 w 334098"/>
              <a:gd name="connsiteY130" fmla="*/ 91076 h 597716"/>
              <a:gd name="connsiteX131" fmla="*/ 208762 w 334098"/>
              <a:gd name="connsiteY131" fmla="*/ 78180 h 597716"/>
              <a:gd name="connsiteX132" fmla="*/ 193578 w 334098"/>
              <a:gd name="connsiteY132" fmla="*/ 71352 h 597716"/>
              <a:gd name="connsiteX133" fmla="*/ 185986 w 334098"/>
              <a:gd name="connsiteY133" fmla="*/ 21284 h 597716"/>
              <a:gd name="connsiteX134" fmla="*/ 256876 w 334098"/>
              <a:gd name="connsiteY134" fmla="*/ 422 h 59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334098" h="597716">
                <a:moveTo>
                  <a:pt x="68160" y="270064"/>
                </a:moveTo>
                <a:cubicBezTo>
                  <a:pt x="68160" y="288267"/>
                  <a:pt x="80315" y="305712"/>
                  <a:pt x="101585" y="307987"/>
                </a:cubicBezTo>
                <a:cubicBezTo>
                  <a:pt x="111461" y="308745"/>
                  <a:pt x="123615" y="310262"/>
                  <a:pt x="137289" y="310262"/>
                </a:cubicBezTo>
                <a:cubicBezTo>
                  <a:pt x="144886" y="310262"/>
                  <a:pt x="152483" y="309504"/>
                  <a:pt x="160839" y="308745"/>
                </a:cubicBezTo>
                <a:lnTo>
                  <a:pt x="159320" y="437682"/>
                </a:lnTo>
                <a:lnTo>
                  <a:pt x="159320" y="572687"/>
                </a:lnTo>
                <a:cubicBezTo>
                  <a:pt x="159320" y="603783"/>
                  <a:pt x="110701" y="603783"/>
                  <a:pt x="110701" y="572687"/>
                </a:cubicBezTo>
                <a:lnTo>
                  <a:pt x="110701" y="380798"/>
                </a:lnTo>
                <a:lnTo>
                  <a:pt x="87152" y="380798"/>
                </a:lnTo>
                <a:lnTo>
                  <a:pt x="87152" y="571928"/>
                </a:lnTo>
                <a:cubicBezTo>
                  <a:pt x="87152" y="586339"/>
                  <a:pt x="74997" y="597716"/>
                  <a:pt x="59804" y="597716"/>
                </a:cubicBezTo>
                <a:cubicBezTo>
                  <a:pt x="45370" y="597716"/>
                  <a:pt x="34735" y="586339"/>
                  <a:pt x="34735" y="571928"/>
                </a:cubicBezTo>
                <a:lnTo>
                  <a:pt x="34735" y="437682"/>
                </a:lnTo>
                <a:lnTo>
                  <a:pt x="34735" y="289784"/>
                </a:lnTo>
                <a:cubicBezTo>
                  <a:pt x="48409" y="285992"/>
                  <a:pt x="59044" y="279166"/>
                  <a:pt x="68160" y="270064"/>
                </a:cubicBezTo>
                <a:close/>
                <a:moveTo>
                  <a:pt x="126724" y="150296"/>
                </a:moveTo>
                <a:cubicBezTo>
                  <a:pt x="141154" y="154089"/>
                  <a:pt x="151027" y="158640"/>
                  <a:pt x="155584" y="160916"/>
                </a:cubicBezTo>
                <a:cubicBezTo>
                  <a:pt x="157103" y="161674"/>
                  <a:pt x="158621" y="162433"/>
                  <a:pt x="160900" y="163191"/>
                </a:cubicBezTo>
                <a:cubicBezTo>
                  <a:pt x="193557" y="186706"/>
                  <a:pt x="217860" y="220081"/>
                  <a:pt x="206468" y="261800"/>
                </a:cubicBezTo>
                <a:cubicBezTo>
                  <a:pt x="204949" y="267110"/>
                  <a:pt x="202671" y="270902"/>
                  <a:pt x="200392" y="274695"/>
                </a:cubicBezTo>
                <a:cubicBezTo>
                  <a:pt x="199633" y="275453"/>
                  <a:pt x="198873" y="276970"/>
                  <a:pt x="198114" y="277729"/>
                </a:cubicBezTo>
                <a:cubicBezTo>
                  <a:pt x="179127" y="298209"/>
                  <a:pt x="141913" y="297451"/>
                  <a:pt x="103180" y="294417"/>
                </a:cubicBezTo>
                <a:cubicBezTo>
                  <a:pt x="87991" y="292900"/>
                  <a:pt x="81156" y="279246"/>
                  <a:pt x="81915" y="267110"/>
                </a:cubicBezTo>
                <a:cubicBezTo>
                  <a:pt x="82675" y="263317"/>
                  <a:pt x="85713" y="249663"/>
                  <a:pt x="101661" y="251180"/>
                </a:cubicBezTo>
                <a:cubicBezTo>
                  <a:pt x="112294" y="251939"/>
                  <a:pt x="121408" y="252698"/>
                  <a:pt x="130521" y="252698"/>
                </a:cubicBezTo>
                <a:lnTo>
                  <a:pt x="133559" y="253456"/>
                </a:lnTo>
                <a:cubicBezTo>
                  <a:pt x="157862" y="253456"/>
                  <a:pt x="164697" y="252698"/>
                  <a:pt x="166976" y="246629"/>
                </a:cubicBezTo>
                <a:cubicBezTo>
                  <a:pt x="173052" y="233734"/>
                  <a:pt x="165457" y="217805"/>
                  <a:pt x="156343" y="208703"/>
                </a:cubicBezTo>
                <a:cubicBezTo>
                  <a:pt x="150267" y="201876"/>
                  <a:pt x="144951" y="197325"/>
                  <a:pt x="139635" y="192774"/>
                </a:cubicBezTo>
                <a:cubicBezTo>
                  <a:pt x="139635" y="192774"/>
                  <a:pt x="139635" y="192774"/>
                  <a:pt x="139635" y="192015"/>
                </a:cubicBezTo>
                <a:cubicBezTo>
                  <a:pt x="138875" y="192015"/>
                  <a:pt x="138116" y="191257"/>
                  <a:pt x="138116" y="191257"/>
                </a:cubicBezTo>
                <a:lnTo>
                  <a:pt x="132040" y="186706"/>
                </a:lnTo>
                <a:lnTo>
                  <a:pt x="127483" y="192015"/>
                </a:lnTo>
                <a:cubicBezTo>
                  <a:pt x="124445" y="195808"/>
                  <a:pt x="125964" y="198842"/>
                  <a:pt x="128243" y="201118"/>
                </a:cubicBezTo>
                <a:lnTo>
                  <a:pt x="127483" y="201118"/>
                </a:lnTo>
                <a:cubicBezTo>
                  <a:pt x="128243" y="201876"/>
                  <a:pt x="129002" y="201876"/>
                  <a:pt x="129002" y="202635"/>
                </a:cubicBezTo>
                <a:cubicBezTo>
                  <a:pt x="129762" y="202635"/>
                  <a:pt x="130521" y="203393"/>
                  <a:pt x="131281" y="204152"/>
                </a:cubicBezTo>
                <a:cubicBezTo>
                  <a:pt x="135837" y="207944"/>
                  <a:pt x="140394" y="211737"/>
                  <a:pt x="145711" y="217805"/>
                </a:cubicBezTo>
                <a:cubicBezTo>
                  <a:pt x="151027" y="223873"/>
                  <a:pt x="155584" y="232217"/>
                  <a:pt x="154824" y="238286"/>
                </a:cubicBezTo>
                <a:cubicBezTo>
                  <a:pt x="149508" y="239044"/>
                  <a:pt x="138116" y="239044"/>
                  <a:pt x="133559" y="239044"/>
                </a:cubicBezTo>
                <a:lnTo>
                  <a:pt x="131281" y="239044"/>
                </a:lnTo>
                <a:cubicBezTo>
                  <a:pt x="122167" y="239044"/>
                  <a:pt x="113053" y="238286"/>
                  <a:pt x="103180" y="236768"/>
                </a:cubicBezTo>
                <a:cubicBezTo>
                  <a:pt x="98624" y="236768"/>
                  <a:pt x="94826" y="236768"/>
                  <a:pt x="91029" y="238286"/>
                </a:cubicBezTo>
                <a:cubicBezTo>
                  <a:pt x="96345" y="227666"/>
                  <a:pt x="101661" y="216288"/>
                  <a:pt x="106218" y="206427"/>
                </a:cubicBezTo>
                <a:cubicBezTo>
                  <a:pt x="111535" y="194291"/>
                  <a:pt x="116851" y="182154"/>
                  <a:pt x="122167" y="173052"/>
                </a:cubicBezTo>
                <a:cubicBezTo>
                  <a:pt x="126724" y="165467"/>
                  <a:pt x="128243" y="157882"/>
                  <a:pt x="126724" y="150296"/>
                </a:cubicBezTo>
                <a:close/>
                <a:moveTo>
                  <a:pt x="84913" y="137342"/>
                </a:moveTo>
                <a:cubicBezTo>
                  <a:pt x="94789" y="135066"/>
                  <a:pt x="105424" y="139618"/>
                  <a:pt x="111501" y="147204"/>
                </a:cubicBezTo>
                <a:cubicBezTo>
                  <a:pt x="114540" y="152514"/>
                  <a:pt x="114540" y="159342"/>
                  <a:pt x="110742" y="166169"/>
                </a:cubicBezTo>
                <a:cubicBezTo>
                  <a:pt x="104664" y="176031"/>
                  <a:pt x="99347" y="188169"/>
                  <a:pt x="94029" y="200307"/>
                </a:cubicBezTo>
                <a:cubicBezTo>
                  <a:pt x="79595" y="232927"/>
                  <a:pt x="64402" y="266306"/>
                  <a:pt x="34775" y="275409"/>
                </a:cubicBezTo>
                <a:cubicBezTo>
                  <a:pt x="34775" y="275409"/>
                  <a:pt x="8947" y="279202"/>
                  <a:pt x="4389" y="257203"/>
                </a:cubicBezTo>
                <a:cubicBezTo>
                  <a:pt x="-11564" y="201065"/>
                  <a:pt x="21101" y="172997"/>
                  <a:pt x="21101" y="172997"/>
                </a:cubicBezTo>
                <a:cubicBezTo>
                  <a:pt x="32496" y="164652"/>
                  <a:pt x="43891" y="158583"/>
                  <a:pt x="55286" y="154790"/>
                </a:cubicBezTo>
                <a:cubicBezTo>
                  <a:pt x="50728" y="163893"/>
                  <a:pt x="46170" y="172997"/>
                  <a:pt x="46170" y="173755"/>
                </a:cubicBezTo>
                <a:lnTo>
                  <a:pt x="26419" y="229893"/>
                </a:lnTo>
                <a:lnTo>
                  <a:pt x="32496" y="233686"/>
                </a:lnTo>
                <a:lnTo>
                  <a:pt x="58325" y="179824"/>
                </a:lnTo>
                <a:cubicBezTo>
                  <a:pt x="58325" y="179066"/>
                  <a:pt x="68960" y="156307"/>
                  <a:pt x="75037" y="145687"/>
                </a:cubicBezTo>
                <a:cubicBezTo>
                  <a:pt x="78076" y="141135"/>
                  <a:pt x="81115" y="138859"/>
                  <a:pt x="84913" y="137342"/>
                </a:cubicBezTo>
                <a:close/>
                <a:moveTo>
                  <a:pt x="232297" y="121421"/>
                </a:moveTo>
                <a:cubicBezTo>
                  <a:pt x="228501" y="120662"/>
                  <a:pt x="225464" y="121421"/>
                  <a:pt x="223187" y="122179"/>
                </a:cubicBezTo>
                <a:cubicBezTo>
                  <a:pt x="223187" y="124455"/>
                  <a:pt x="226224" y="125972"/>
                  <a:pt x="232297" y="125972"/>
                </a:cubicBezTo>
                <a:cubicBezTo>
                  <a:pt x="240648" y="125214"/>
                  <a:pt x="238371" y="121421"/>
                  <a:pt x="232297" y="121421"/>
                </a:cubicBezTo>
                <a:close/>
                <a:moveTo>
                  <a:pt x="223946" y="82731"/>
                </a:moveTo>
                <a:cubicBezTo>
                  <a:pt x="223187" y="84249"/>
                  <a:pt x="223946" y="86525"/>
                  <a:pt x="223946" y="88042"/>
                </a:cubicBezTo>
                <a:cubicBezTo>
                  <a:pt x="225464" y="89559"/>
                  <a:pt x="227742" y="91076"/>
                  <a:pt x="230020" y="92593"/>
                </a:cubicBezTo>
                <a:cubicBezTo>
                  <a:pt x="233056" y="93352"/>
                  <a:pt x="236093" y="94869"/>
                  <a:pt x="239130" y="95628"/>
                </a:cubicBezTo>
                <a:cubicBezTo>
                  <a:pt x="241407" y="94869"/>
                  <a:pt x="243685" y="94111"/>
                  <a:pt x="245963" y="93352"/>
                </a:cubicBezTo>
                <a:cubicBezTo>
                  <a:pt x="255832" y="91835"/>
                  <a:pt x="267220" y="91076"/>
                  <a:pt x="274812" y="98662"/>
                </a:cubicBezTo>
                <a:cubicBezTo>
                  <a:pt x="278608" y="98662"/>
                  <a:pt x="283163" y="97904"/>
                  <a:pt x="286959" y="97145"/>
                </a:cubicBezTo>
                <a:cubicBezTo>
                  <a:pt x="291514" y="95628"/>
                  <a:pt x="293033" y="92593"/>
                  <a:pt x="292273" y="88042"/>
                </a:cubicBezTo>
                <a:cubicBezTo>
                  <a:pt x="289237" y="88800"/>
                  <a:pt x="286200" y="88800"/>
                  <a:pt x="283922" y="88800"/>
                </a:cubicBezTo>
                <a:cubicBezTo>
                  <a:pt x="282404" y="88800"/>
                  <a:pt x="280126" y="89559"/>
                  <a:pt x="278608" y="89559"/>
                </a:cubicBezTo>
                <a:cubicBezTo>
                  <a:pt x="277090" y="89559"/>
                  <a:pt x="275571" y="89559"/>
                  <a:pt x="274053" y="88800"/>
                </a:cubicBezTo>
                <a:cubicBezTo>
                  <a:pt x="269498" y="88800"/>
                  <a:pt x="264942" y="88800"/>
                  <a:pt x="260387" y="88042"/>
                </a:cubicBezTo>
                <a:cubicBezTo>
                  <a:pt x="248240" y="87283"/>
                  <a:pt x="235334" y="85766"/>
                  <a:pt x="223946" y="82731"/>
                </a:cubicBezTo>
                <a:close/>
                <a:moveTo>
                  <a:pt x="237611" y="66042"/>
                </a:moveTo>
                <a:cubicBezTo>
                  <a:pt x="233815" y="66801"/>
                  <a:pt x="229260" y="68318"/>
                  <a:pt x="226224" y="70594"/>
                </a:cubicBezTo>
                <a:cubicBezTo>
                  <a:pt x="232297" y="72111"/>
                  <a:pt x="239130" y="72870"/>
                  <a:pt x="245203" y="74387"/>
                </a:cubicBezTo>
                <a:cubicBezTo>
                  <a:pt x="247481" y="74387"/>
                  <a:pt x="249759" y="74387"/>
                  <a:pt x="252036" y="75145"/>
                </a:cubicBezTo>
                <a:cubicBezTo>
                  <a:pt x="249759" y="72111"/>
                  <a:pt x="248240" y="69835"/>
                  <a:pt x="247481" y="66801"/>
                </a:cubicBezTo>
                <a:cubicBezTo>
                  <a:pt x="244444" y="66042"/>
                  <a:pt x="240648" y="66042"/>
                  <a:pt x="237611" y="66042"/>
                </a:cubicBezTo>
                <a:close/>
                <a:moveTo>
                  <a:pt x="261146" y="55421"/>
                </a:moveTo>
                <a:cubicBezTo>
                  <a:pt x="260387" y="55421"/>
                  <a:pt x="260387" y="56180"/>
                  <a:pt x="260387" y="56180"/>
                </a:cubicBezTo>
                <a:cubicBezTo>
                  <a:pt x="261906" y="56939"/>
                  <a:pt x="263424" y="56939"/>
                  <a:pt x="264942" y="57697"/>
                </a:cubicBezTo>
                <a:cubicBezTo>
                  <a:pt x="263424" y="56939"/>
                  <a:pt x="261906" y="56180"/>
                  <a:pt x="261146" y="55421"/>
                </a:cubicBezTo>
                <a:close/>
                <a:moveTo>
                  <a:pt x="248240" y="52387"/>
                </a:moveTo>
                <a:cubicBezTo>
                  <a:pt x="245203" y="51628"/>
                  <a:pt x="242167" y="52387"/>
                  <a:pt x="239130" y="53904"/>
                </a:cubicBezTo>
                <a:cubicBezTo>
                  <a:pt x="241407" y="53904"/>
                  <a:pt x="244444" y="53904"/>
                  <a:pt x="247481" y="53904"/>
                </a:cubicBezTo>
                <a:cubicBezTo>
                  <a:pt x="248240" y="53146"/>
                  <a:pt x="248240" y="52387"/>
                  <a:pt x="248240" y="52387"/>
                </a:cubicBezTo>
                <a:close/>
                <a:moveTo>
                  <a:pt x="290755" y="44042"/>
                </a:moveTo>
                <a:cubicBezTo>
                  <a:pt x="285441" y="44801"/>
                  <a:pt x="280126" y="45559"/>
                  <a:pt x="275571" y="46318"/>
                </a:cubicBezTo>
                <a:cubicBezTo>
                  <a:pt x="274812" y="46318"/>
                  <a:pt x="274053" y="47077"/>
                  <a:pt x="272534" y="47077"/>
                </a:cubicBezTo>
                <a:cubicBezTo>
                  <a:pt x="278608" y="50870"/>
                  <a:pt x="284681" y="55421"/>
                  <a:pt x="289237" y="59973"/>
                </a:cubicBezTo>
                <a:cubicBezTo>
                  <a:pt x="293033" y="63008"/>
                  <a:pt x="296069" y="68318"/>
                  <a:pt x="299106" y="73628"/>
                </a:cubicBezTo>
                <a:cubicBezTo>
                  <a:pt x="307457" y="71352"/>
                  <a:pt x="334029" y="58456"/>
                  <a:pt x="317327" y="49352"/>
                </a:cubicBezTo>
                <a:cubicBezTo>
                  <a:pt x="311253" y="46318"/>
                  <a:pt x="304420" y="44801"/>
                  <a:pt x="297588" y="44042"/>
                </a:cubicBezTo>
                <a:cubicBezTo>
                  <a:pt x="296069" y="45559"/>
                  <a:pt x="293033" y="45559"/>
                  <a:pt x="290755" y="44042"/>
                </a:cubicBezTo>
                <a:close/>
                <a:moveTo>
                  <a:pt x="98579" y="36498"/>
                </a:moveTo>
                <a:cubicBezTo>
                  <a:pt x="123746" y="36498"/>
                  <a:pt x="144147" y="56872"/>
                  <a:pt x="144147" y="82005"/>
                </a:cubicBezTo>
                <a:cubicBezTo>
                  <a:pt x="144147" y="107138"/>
                  <a:pt x="123746" y="127512"/>
                  <a:pt x="98579" y="127512"/>
                </a:cubicBezTo>
                <a:cubicBezTo>
                  <a:pt x="73412" y="127512"/>
                  <a:pt x="53011" y="107138"/>
                  <a:pt x="53011" y="82005"/>
                </a:cubicBezTo>
                <a:cubicBezTo>
                  <a:pt x="53011" y="56872"/>
                  <a:pt x="73412" y="36498"/>
                  <a:pt x="98579" y="36498"/>
                </a:cubicBezTo>
                <a:close/>
                <a:moveTo>
                  <a:pt x="277469" y="13129"/>
                </a:moveTo>
                <a:cubicBezTo>
                  <a:pt x="269498" y="11232"/>
                  <a:pt x="258869" y="12560"/>
                  <a:pt x="249759" y="14456"/>
                </a:cubicBezTo>
                <a:cubicBezTo>
                  <a:pt x="233815" y="17491"/>
                  <a:pt x="215595" y="20525"/>
                  <a:pt x="200411" y="28111"/>
                </a:cubicBezTo>
                <a:cubicBezTo>
                  <a:pt x="193578" y="31904"/>
                  <a:pt x="178394" y="37973"/>
                  <a:pt x="185986" y="48594"/>
                </a:cubicBezTo>
                <a:cubicBezTo>
                  <a:pt x="192060" y="56939"/>
                  <a:pt x="200411" y="61490"/>
                  <a:pt x="208762" y="65283"/>
                </a:cubicBezTo>
                <a:cubicBezTo>
                  <a:pt x="210280" y="65283"/>
                  <a:pt x="211799" y="66042"/>
                  <a:pt x="212558" y="66801"/>
                </a:cubicBezTo>
                <a:cubicBezTo>
                  <a:pt x="213317" y="66042"/>
                  <a:pt x="213317" y="65283"/>
                  <a:pt x="214076" y="65283"/>
                </a:cubicBezTo>
                <a:cubicBezTo>
                  <a:pt x="216354" y="57697"/>
                  <a:pt x="220909" y="50870"/>
                  <a:pt x="226983" y="46318"/>
                </a:cubicBezTo>
                <a:cubicBezTo>
                  <a:pt x="236852" y="39491"/>
                  <a:pt x="247481" y="38732"/>
                  <a:pt x="257350" y="41008"/>
                </a:cubicBezTo>
                <a:cubicBezTo>
                  <a:pt x="266461" y="34939"/>
                  <a:pt x="277849" y="31904"/>
                  <a:pt x="289237" y="31146"/>
                </a:cubicBezTo>
                <a:cubicBezTo>
                  <a:pt x="290755" y="20146"/>
                  <a:pt x="285441" y="15025"/>
                  <a:pt x="277469" y="13129"/>
                </a:cubicBezTo>
                <a:close/>
                <a:moveTo>
                  <a:pt x="256876" y="422"/>
                </a:moveTo>
                <a:cubicBezTo>
                  <a:pt x="283543" y="-1854"/>
                  <a:pt x="305939" y="4594"/>
                  <a:pt x="302143" y="31904"/>
                </a:cubicBezTo>
                <a:cubicBezTo>
                  <a:pt x="305939" y="32663"/>
                  <a:pt x="309735" y="33422"/>
                  <a:pt x="312772" y="34180"/>
                </a:cubicBezTo>
                <a:cubicBezTo>
                  <a:pt x="330233" y="38732"/>
                  <a:pt x="342380" y="57697"/>
                  <a:pt x="327196" y="73628"/>
                </a:cubicBezTo>
                <a:cubicBezTo>
                  <a:pt x="321123" y="79697"/>
                  <a:pt x="312772" y="83490"/>
                  <a:pt x="303661" y="85766"/>
                </a:cubicBezTo>
                <a:cubicBezTo>
                  <a:pt x="305939" y="96387"/>
                  <a:pt x="303661" y="106248"/>
                  <a:pt x="289996" y="109283"/>
                </a:cubicBezTo>
                <a:cubicBezTo>
                  <a:pt x="286200" y="110042"/>
                  <a:pt x="280885" y="110800"/>
                  <a:pt x="276330" y="111559"/>
                </a:cubicBezTo>
                <a:cubicBezTo>
                  <a:pt x="275571" y="112317"/>
                  <a:pt x="274812" y="113835"/>
                  <a:pt x="273294" y="115352"/>
                </a:cubicBezTo>
                <a:cubicBezTo>
                  <a:pt x="268738" y="120662"/>
                  <a:pt x="261146" y="122938"/>
                  <a:pt x="253555" y="122938"/>
                </a:cubicBezTo>
                <a:cubicBezTo>
                  <a:pt x="254314" y="129007"/>
                  <a:pt x="248240" y="133559"/>
                  <a:pt x="240648" y="135834"/>
                </a:cubicBezTo>
                <a:cubicBezTo>
                  <a:pt x="247481" y="139627"/>
                  <a:pt x="254314" y="143421"/>
                  <a:pt x="258869" y="148731"/>
                </a:cubicBezTo>
                <a:cubicBezTo>
                  <a:pt x="263424" y="155558"/>
                  <a:pt x="252795" y="161627"/>
                  <a:pt x="248240" y="155558"/>
                </a:cubicBezTo>
                <a:cubicBezTo>
                  <a:pt x="239130" y="143421"/>
                  <a:pt x="207244" y="142662"/>
                  <a:pt x="207244" y="124455"/>
                </a:cubicBezTo>
                <a:cubicBezTo>
                  <a:pt x="206485" y="117628"/>
                  <a:pt x="211040" y="111559"/>
                  <a:pt x="217872" y="106248"/>
                </a:cubicBezTo>
                <a:cubicBezTo>
                  <a:pt x="217113" y="105490"/>
                  <a:pt x="216354" y="104731"/>
                  <a:pt x="216354" y="103214"/>
                </a:cubicBezTo>
                <a:cubicBezTo>
                  <a:pt x="214076" y="99421"/>
                  <a:pt x="212558" y="94869"/>
                  <a:pt x="211799" y="91076"/>
                </a:cubicBezTo>
                <a:cubicBezTo>
                  <a:pt x="210280" y="86525"/>
                  <a:pt x="208762" y="82731"/>
                  <a:pt x="208762" y="78180"/>
                </a:cubicBezTo>
                <a:cubicBezTo>
                  <a:pt x="203448" y="76663"/>
                  <a:pt x="198893" y="74387"/>
                  <a:pt x="193578" y="71352"/>
                </a:cubicBezTo>
                <a:cubicBezTo>
                  <a:pt x="173839" y="59214"/>
                  <a:pt x="161692" y="36456"/>
                  <a:pt x="185986" y="21284"/>
                </a:cubicBezTo>
                <a:cubicBezTo>
                  <a:pt x="199272" y="13698"/>
                  <a:pt x="230209" y="2698"/>
                  <a:pt x="256876" y="422"/>
                </a:cubicBezTo>
                <a:close/>
              </a:path>
            </a:pathLst>
          </a:custGeom>
          <a:solidFill>
            <a:schemeClr val="tx1"/>
          </a:solidFill>
          <a:ln>
            <a:noFill/>
          </a:ln>
        </p:spPr>
      </p:sp>
      <p:sp>
        <p:nvSpPr>
          <p:cNvPr id="41" name="右大括号 40"/>
          <p:cNvSpPr/>
          <p:nvPr/>
        </p:nvSpPr>
        <p:spPr bwMode="gray">
          <a:xfrm>
            <a:off x="3395700" y="1796688"/>
            <a:ext cx="468052" cy="3744416"/>
          </a:xfrm>
          <a:prstGeom prst="rightBrace">
            <a:avLst/>
          </a:prstGeom>
          <a:no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45" name="组合 44"/>
          <p:cNvGrpSpPr/>
          <p:nvPr/>
        </p:nvGrpSpPr>
        <p:grpSpPr bwMode="gray">
          <a:xfrm>
            <a:off x="4223792" y="1652672"/>
            <a:ext cx="2232248" cy="1475470"/>
            <a:chOff x="4223792" y="1916832"/>
            <a:chExt cx="2232248" cy="1475470"/>
          </a:xfrm>
        </p:grpSpPr>
        <p:sp>
          <p:nvSpPr>
            <p:cNvPr id="43" name="云形 42"/>
            <p:cNvSpPr/>
            <p:nvPr/>
          </p:nvSpPr>
          <p:spPr bwMode="gray">
            <a:xfrm>
              <a:off x="4223792" y="1916832"/>
              <a:ext cx="2232248" cy="1475470"/>
            </a:xfrm>
            <a:prstGeom prst="cloud">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rot="21240319">
              <a:off x="4468472" y="2260737"/>
              <a:ext cx="1793147" cy="64265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800" b="1" dirty="0">
                  <a:latin typeface="Huawei Sans" panose="020C0503030203020204" pitchFamily="34" charset="0"/>
                  <a:ea typeface="方正兰亭黑简体" panose="02000000000000000000" pitchFamily="2" charset="-122"/>
                </a:rPr>
                <a:t>怎么分配带宽？</a:t>
              </a:r>
              <a:endParaRPr lang="en-US" altLang="zh-CN" sz="1800" b="1" dirty="0">
                <a:latin typeface="Huawei Sans" panose="020C0503030203020204" pitchFamily="34" charset="0"/>
                <a:ea typeface="方正兰亭黑简体" panose="02000000000000000000" pitchFamily="2" charset="-122"/>
              </a:endParaRPr>
            </a:p>
            <a:p>
              <a:pPr algn="ctr"/>
              <a:r>
                <a:rPr lang="zh-CN" altLang="en-US" sz="1800" b="1" dirty="0">
                  <a:latin typeface="Huawei Sans" panose="020C0503030203020204" pitchFamily="34" charset="0"/>
                  <a:ea typeface="方正兰亭黑简体" panose="02000000000000000000" pitchFamily="2" charset="-122"/>
                </a:rPr>
                <a:t>怎么提供服务？</a:t>
              </a:r>
            </a:p>
          </p:txBody>
        </p:sp>
      </p:grpSp>
      <p:sp>
        <p:nvSpPr>
          <p:cNvPr id="26" name="文本框 25"/>
          <p:cNvSpPr txBox="1"/>
          <p:nvPr/>
        </p:nvSpPr>
        <p:spPr bwMode="gray">
          <a:xfrm>
            <a:off x="6528048" y="1400644"/>
            <a:ext cx="5135091" cy="161215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eaLnBrk="1" fontAlgn="base" hangingPunct="1">
              <a:lnSpc>
                <a:spcPct val="140000"/>
              </a:lnSpc>
              <a:spcBef>
                <a:spcPct val="30000"/>
              </a:spcBef>
              <a:buClr>
                <a:schemeClr val="bg1">
                  <a:lumMod val="50000"/>
                </a:schemeClr>
              </a:buClr>
              <a:buSzPct val="60000"/>
              <a:buFont typeface="Wingdings" pitchFamily="2" charset="2"/>
              <a:buChar char="l"/>
              <a:defRPr sz="2200">
                <a:latin typeface="+mn-ea"/>
                <a:ea typeface="+mn-ea"/>
                <a:cs typeface="Arial" panose="020B0604020202020204" pitchFamily="34" charset="0"/>
              </a:defRPr>
            </a:lvl1pPr>
            <a:lvl2pPr marL="654050" indent="-252413" defTabSz="801688" eaLnBrk="1" fontAlgn="base" hangingPunct="1">
              <a:lnSpc>
                <a:spcPct val="140000"/>
              </a:lnSpc>
              <a:spcBef>
                <a:spcPct val="30000"/>
              </a:spcBef>
              <a:buClr>
                <a:schemeClr val="tx1"/>
              </a:buClr>
              <a:buSzPct val="50000"/>
              <a:buFont typeface="Wingdings" pitchFamily="2" charset="2"/>
              <a:buChar char="p"/>
              <a:defRPr sz="2000">
                <a:latin typeface="+mn-lt"/>
                <a:ea typeface="+mn-ea"/>
              </a:defRPr>
            </a:lvl2pPr>
            <a:lvl3pPr marL="1003300" indent="-201613" defTabSz="801688" eaLnBrk="1" fontAlgn="base" hangingPunct="1">
              <a:lnSpc>
                <a:spcPct val="140000"/>
              </a:lnSpc>
              <a:spcBef>
                <a:spcPct val="30000"/>
              </a:spcBef>
              <a:buSzPct val="50000"/>
              <a:buFont typeface="Wingdings" pitchFamily="2" charset="2"/>
              <a:buChar char="n"/>
              <a:defRPr>
                <a:latin typeface="FrutigerNext LT Light" pitchFamily="34" charset="0"/>
                <a:ea typeface="+mn-ea"/>
              </a:defRPr>
            </a:lvl3pPr>
            <a:lvl4pPr marL="1400175" indent="-198438" defTabSz="801688" eaLnBrk="1" fontAlgn="base" hangingPunct="1">
              <a:lnSpc>
                <a:spcPct val="140000"/>
              </a:lnSpc>
              <a:spcBef>
                <a:spcPct val="30000"/>
              </a:spcBef>
              <a:buChar char="–"/>
              <a:defRPr sz="1600">
                <a:latin typeface="+mj-lt"/>
                <a:ea typeface="+mn-ea"/>
              </a:defRPr>
            </a:lvl4pPr>
            <a:lvl5pPr marL="1801813" indent="-201613" defTabSz="801688" eaLnBrk="1" fontAlgn="base" hangingPunct="1">
              <a:lnSpc>
                <a:spcPct val="140000"/>
              </a:lnSpc>
              <a:spcBef>
                <a:spcPct val="30000"/>
              </a:spcBef>
              <a:buFont typeface="FrutigerNext LT Medium" pitchFamily="34" charset="0"/>
              <a:buChar char="~"/>
              <a:defRPr sz="1600">
                <a:latin typeface="+mj-lt"/>
                <a:ea typeface="+mn-ea"/>
              </a:defRPr>
            </a:lvl5pPr>
            <a:lvl6pPr marL="2259013" indent="-201613" defTabSz="801688" fontAlgn="base">
              <a:lnSpc>
                <a:spcPct val="140000"/>
              </a:lnSpc>
              <a:spcBef>
                <a:spcPct val="30000"/>
              </a:spcBef>
              <a:spcAft>
                <a:spcPct val="0"/>
              </a:spcAft>
              <a:buFont typeface="FrutigerNext LT Medium" pitchFamily="34" charset="0"/>
              <a:buChar char="~"/>
              <a:defRPr sz="1600">
                <a:latin typeface="+mj-lt"/>
                <a:ea typeface="+mn-ea"/>
              </a:defRPr>
            </a:lvl6pPr>
            <a:lvl7pPr marL="2716213" indent="-201613" defTabSz="801688" fontAlgn="base">
              <a:lnSpc>
                <a:spcPct val="140000"/>
              </a:lnSpc>
              <a:spcBef>
                <a:spcPct val="30000"/>
              </a:spcBef>
              <a:spcAft>
                <a:spcPct val="0"/>
              </a:spcAft>
              <a:buFont typeface="FrutigerNext LT Medium" pitchFamily="34" charset="0"/>
              <a:buChar char="~"/>
              <a:defRPr sz="1600">
                <a:latin typeface="+mj-lt"/>
                <a:ea typeface="+mn-ea"/>
              </a:defRPr>
            </a:lvl7pPr>
            <a:lvl8pPr marL="3173413" indent="-201613" defTabSz="801688" fontAlgn="base">
              <a:lnSpc>
                <a:spcPct val="140000"/>
              </a:lnSpc>
              <a:spcBef>
                <a:spcPct val="30000"/>
              </a:spcBef>
              <a:spcAft>
                <a:spcPct val="0"/>
              </a:spcAft>
              <a:buFont typeface="FrutigerNext LT Medium" pitchFamily="34" charset="0"/>
              <a:buChar char="~"/>
              <a:defRPr sz="1600">
                <a:latin typeface="+mj-lt"/>
                <a:ea typeface="+mn-ea"/>
              </a:defRPr>
            </a:lvl8pPr>
            <a:lvl9pPr marL="3630613" indent="-201613" defTabSz="801688" fontAlgn="base">
              <a:lnSpc>
                <a:spcPct val="140000"/>
              </a:lnSpc>
              <a:spcBef>
                <a:spcPct val="30000"/>
              </a:spcBef>
              <a:spcAft>
                <a:spcPct val="0"/>
              </a:spcAft>
              <a:buFont typeface="FrutigerNext LT Medium" pitchFamily="34" charset="0"/>
              <a:buChar char="~"/>
              <a:defRPr sz="1600">
                <a:latin typeface="+mj-lt"/>
                <a:ea typeface="+mn-ea"/>
              </a:defRPr>
            </a:lvl9pPr>
          </a:lstStyle>
          <a:p>
            <a:pPr marL="0" indent="0" algn="l">
              <a:buNone/>
            </a:pPr>
            <a:r>
              <a:rPr lang="en-US" altLang="zh-CN" b="1" dirty="0" err="1">
                <a:latin typeface="Huawei Sans" panose="020C0503030203020204" pitchFamily="34" charset="0"/>
                <a:ea typeface="方正兰亭黑简体" panose="02000000000000000000" pitchFamily="2" charset="-122"/>
              </a:rPr>
              <a:t>QoS</a:t>
            </a:r>
            <a:r>
              <a:rPr lang="zh-CN" altLang="en-US" b="1" dirty="0">
                <a:latin typeface="Huawei Sans" panose="020C0503030203020204" pitchFamily="34" charset="0"/>
                <a:ea typeface="方正兰亭黑简体" panose="02000000000000000000" pitchFamily="2" charset="-122"/>
              </a:rPr>
              <a:t>（</a:t>
            </a:r>
            <a:r>
              <a:rPr lang="en-US" altLang="zh-CN" b="1" dirty="0">
                <a:latin typeface="Huawei Sans" panose="020C0503030203020204" pitchFamily="34" charset="0"/>
                <a:ea typeface="方正兰亭黑简体" panose="02000000000000000000" pitchFamily="2" charset="-122"/>
              </a:rPr>
              <a:t>Quality of Service</a:t>
            </a:r>
            <a:r>
              <a:rPr lang="zh-CN" altLang="en-US" b="1" dirty="0">
                <a:latin typeface="Huawei Sans" panose="020C0503030203020204" pitchFamily="34" charset="0"/>
                <a:ea typeface="方正兰亭黑简体" panose="02000000000000000000" pitchFamily="2" charset="-122"/>
              </a:rPr>
              <a:t>，服务质量）：</a:t>
            </a:r>
            <a:endParaRPr lang="en-US" altLang="zh-CN" b="1" dirty="0">
              <a:latin typeface="Huawei Sans" panose="020C0503030203020204" pitchFamily="34" charset="0"/>
              <a:ea typeface="方正兰亭黑简体" panose="02000000000000000000" pitchFamily="2" charset="-122"/>
            </a:endParaRPr>
          </a:p>
          <a:p>
            <a:pPr marL="0" indent="0" algn="l">
              <a:buNone/>
            </a:pPr>
            <a:r>
              <a:rPr lang="zh-CN" altLang="en-US" sz="2000" dirty="0">
                <a:latin typeface="Huawei Sans" panose="020C0503030203020204" pitchFamily="34" charset="0"/>
                <a:ea typeface="方正兰亭黑简体" panose="02000000000000000000" pitchFamily="2" charset="-122"/>
              </a:rPr>
              <a:t>针对各种应用的不同需求，为其提供不同的服务质量。</a:t>
            </a:r>
          </a:p>
        </p:txBody>
      </p:sp>
      <p:grpSp>
        <p:nvGrpSpPr>
          <p:cNvPr id="6" name="组合 5"/>
          <p:cNvGrpSpPr/>
          <p:nvPr/>
        </p:nvGrpSpPr>
        <p:grpSpPr bwMode="gray">
          <a:xfrm>
            <a:off x="6204012" y="3524880"/>
            <a:ext cx="5165227" cy="1728192"/>
            <a:chOff x="6367377" y="4005064"/>
            <a:chExt cx="5165227" cy="1728192"/>
          </a:xfrm>
        </p:grpSpPr>
        <p:cxnSp>
          <p:nvCxnSpPr>
            <p:cNvPr id="42" name="直接连接符 41">
              <a:extLst>
                <a:ext uri="{FF2B5EF4-FFF2-40B4-BE49-F238E27FC236}">
                  <a16:creationId xmlns:a16="http://schemas.microsoft.com/office/drawing/2014/main" id="{190372AE-E0D1-48EA-B405-656002DC6B39}"/>
                </a:ext>
              </a:extLst>
            </p:cNvPr>
            <p:cNvCxnSpPr/>
            <p:nvPr/>
          </p:nvCxnSpPr>
          <p:spPr bwMode="gray">
            <a:xfrm>
              <a:off x="6564052" y="4653136"/>
              <a:ext cx="48600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8" name="íṩļïḍè">
              <a:extLst>
                <a:ext uri="{FF2B5EF4-FFF2-40B4-BE49-F238E27FC236}">
                  <a16:creationId xmlns:a16="http://schemas.microsoft.com/office/drawing/2014/main" id="{40191DD0-6916-467D-832E-64DE774AC2ED}"/>
                </a:ext>
              </a:extLst>
            </p:cNvPr>
            <p:cNvSpPr txBox="1"/>
            <p:nvPr/>
          </p:nvSpPr>
          <p:spPr bwMode="gray">
            <a:xfrm>
              <a:off x="7752184" y="4005064"/>
              <a:ext cx="2349984" cy="515612"/>
            </a:xfrm>
            <a:prstGeom prst="rect">
              <a:avLst/>
            </a:prstGeom>
            <a:noFill/>
            <a:ln>
              <a:noFill/>
            </a:ln>
          </p:spPr>
          <p:txBody>
            <a:bodyPr wrap="square" lIns="91440" tIns="45720" rIns="91440" bIns="45720" anchor="b" anchorCtr="0">
              <a:normAutofit/>
            </a:bodyPr>
            <a:lstStyle/>
            <a:p>
              <a:pPr algn="ctr">
                <a:buSzPct val="25000"/>
              </a:pPr>
              <a:r>
                <a:rPr lang="zh-CN" altLang="en-US" sz="1800" b="1" dirty="0">
                  <a:latin typeface="Huawei Sans" panose="020C0503030203020204" pitchFamily="34" charset="0"/>
                  <a:ea typeface="方正兰亭黑简体" panose="02000000000000000000" pitchFamily="2" charset="-122"/>
                </a:rPr>
                <a:t>影响</a:t>
              </a:r>
              <a:r>
                <a:rPr lang="en-US" altLang="zh-CN" sz="1800" b="1" dirty="0">
                  <a:latin typeface="Huawei Sans" panose="020C0503030203020204" pitchFamily="34" charset="0"/>
                  <a:ea typeface="方正兰亭黑简体" panose="02000000000000000000" pitchFamily="2" charset="-122"/>
                </a:rPr>
                <a:t>QoS</a:t>
              </a:r>
              <a:r>
                <a:rPr lang="zh-CN" altLang="en-US" sz="1800" b="1" dirty="0">
                  <a:latin typeface="Huawei Sans" panose="020C0503030203020204" pitchFamily="34" charset="0"/>
                  <a:ea typeface="方正兰亭黑简体" panose="02000000000000000000" pitchFamily="2" charset="-122"/>
                </a:rPr>
                <a:t>的因素</a:t>
              </a:r>
              <a:endParaRPr lang="en-US" sz="1800" b="1" dirty="0">
                <a:latin typeface="Huawei Sans" panose="020C0503030203020204" pitchFamily="34" charset="0"/>
                <a:ea typeface="方正兰亭黑简体" panose="02000000000000000000" pitchFamily="2" charset="-122"/>
              </a:endParaRPr>
            </a:p>
          </p:txBody>
        </p:sp>
        <p:grpSp>
          <p:nvGrpSpPr>
            <p:cNvPr id="4" name="组合 3"/>
            <p:cNvGrpSpPr/>
            <p:nvPr/>
          </p:nvGrpSpPr>
          <p:grpSpPr bwMode="gray">
            <a:xfrm>
              <a:off x="6367377" y="4905163"/>
              <a:ext cx="988763" cy="828093"/>
              <a:chOff x="7212124" y="3954358"/>
              <a:chExt cx="988763" cy="828093"/>
            </a:xfrm>
          </p:grpSpPr>
          <p:sp>
            <p:nvSpPr>
              <p:cNvPr id="59" name="iṡḻiḋè">
                <a:extLst>
                  <a:ext uri="{FF2B5EF4-FFF2-40B4-BE49-F238E27FC236}">
                    <a16:creationId xmlns:a16="http://schemas.microsoft.com/office/drawing/2014/main" id="{5A8D70EF-E186-4E79-92ED-07B16F6EF91E}"/>
                  </a:ext>
                </a:extLst>
              </p:cNvPr>
              <p:cNvSpPr txBox="1"/>
              <p:nvPr/>
            </p:nvSpPr>
            <p:spPr bwMode="gray">
              <a:xfrm>
                <a:off x="7212124" y="4473116"/>
                <a:ext cx="988763" cy="309335"/>
              </a:xfrm>
              <a:prstGeom prst="rect">
                <a:avLst/>
              </a:prstGeom>
              <a:noFill/>
            </p:spPr>
            <p:txBody>
              <a:bodyPr wrap="square" lIns="91440" tIns="45720" rIns="91440" bIns="45720" rtlCol="0" anchor="b" anchorCtr="0">
                <a:noAutofit/>
              </a:bodyPr>
              <a:lstStyle/>
              <a:p>
                <a:pPr algn="ctr">
                  <a:lnSpc>
                    <a:spcPct val="150000"/>
                  </a:lnSpc>
                </a:pPr>
                <a:r>
                  <a:rPr lang="zh-CN" altLang="en-US" sz="1600" dirty="0">
                    <a:latin typeface="Huawei Sans" panose="020C0503030203020204" pitchFamily="34" charset="0"/>
                    <a:ea typeface="方正兰亭黑简体" panose="02000000000000000000" pitchFamily="2" charset="-122"/>
                  </a:rPr>
                  <a:t>带宽</a:t>
                </a:r>
              </a:p>
            </p:txBody>
          </p:sp>
          <p:grpSp>
            <p:nvGrpSpPr>
              <p:cNvPr id="60" name="ï$ľîďé">
                <a:extLst>
                  <a:ext uri="{FF2B5EF4-FFF2-40B4-BE49-F238E27FC236}">
                    <a16:creationId xmlns:a16="http://schemas.microsoft.com/office/drawing/2014/main" id="{A8515347-3C03-4E7B-8CD0-A536FB7F181C}"/>
                  </a:ext>
                </a:extLst>
              </p:cNvPr>
              <p:cNvGrpSpPr/>
              <p:nvPr/>
            </p:nvGrpSpPr>
            <p:grpSpPr bwMode="gray">
              <a:xfrm>
                <a:off x="7500204" y="3954358"/>
                <a:ext cx="432000" cy="432000"/>
                <a:chOff x="1346748" y="1677046"/>
                <a:chExt cx="557798" cy="557798"/>
              </a:xfrm>
            </p:grpSpPr>
            <p:sp>
              <p:nvSpPr>
                <p:cNvPr id="65" name="îṡļîḋè">
                  <a:extLst>
                    <a:ext uri="{FF2B5EF4-FFF2-40B4-BE49-F238E27FC236}">
                      <a16:creationId xmlns:a16="http://schemas.microsoft.com/office/drawing/2014/main" id="{98C766C6-AA19-4E38-A45E-E8A11D75DB26}"/>
                    </a:ext>
                  </a:extLst>
                </p:cNvPr>
                <p:cNvSpPr/>
                <p:nvPr/>
              </p:nvSpPr>
              <p:spPr bwMode="gray">
                <a:xfrm>
                  <a:off x="1346748" y="1677046"/>
                  <a:ext cx="557798" cy="557798"/>
                </a:xfrm>
                <a:prstGeom prst="ellipse">
                  <a:avLst/>
                </a:pr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p>
                  <a:pPr algn="ctr"/>
                  <a:endParaRPr lang="en-US" sz="2800" b="1" dirty="0">
                    <a:solidFill>
                      <a:schemeClr val="bg1"/>
                    </a:solidFill>
                    <a:latin typeface="Huawei Sans" panose="020C0503030203020204" pitchFamily="34" charset="0"/>
                    <a:ea typeface="方正兰亭黑简体" panose="02000000000000000000" pitchFamily="2" charset="-122"/>
                  </a:endParaRPr>
                </a:p>
              </p:txBody>
            </p:sp>
            <p:sp>
              <p:nvSpPr>
                <p:cNvPr id="66" name="íślïdê">
                  <a:extLst>
                    <a:ext uri="{FF2B5EF4-FFF2-40B4-BE49-F238E27FC236}">
                      <a16:creationId xmlns:a16="http://schemas.microsoft.com/office/drawing/2014/main" id="{FA37FF46-BA58-49B9-8245-B339DFFCE235}"/>
                    </a:ext>
                  </a:extLst>
                </p:cNvPr>
                <p:cNvSpPr/>
                <p:nvPr/>
              </p:nvSpPr>
              <p:spPr bwMode="gray">
                <a:xfrm>
                  <a:off x="1457005" y="1783234"/>
                  <a:ext cx="337286" cy="345422"/>
                </a:xfrm>
                <a:custGeom>
                  <a:avLst/>
                  <a:gdLst>
                    <a:gd name="T0" fmla="*/ 1547 w 10400"/>
                    <a:gd name="T1" fmla="*/ 9330 h 10667"/>
                    <a:gd name="T2" fmla="*/ 3077 w 10400"/>
                    <a:gd name="T3" fmla="*/ 9013 h 10667"/>
                    <a:gd name="T4" fmla="*/ 6114 w 10400"/>
                    <a:gd name="T5" fmla="*/ 9700 h 10667"/>
                    <a:gd name="T6" fmla="*/ 6806 w 10400"/>
                    <a:gd name="T7" fmla="*/ 8539 h 10667"/>
                    <a:gd name="T8" fmla="*/ 4079 w 10400"/>
                    <a:gd name="T9" fmla="*/ 1127 h 10667"/>
                    <a:gd name="T10" fmla="*/ 5193 w 10400"/>
                    <a:gd name="T11" fmla="*/ 2254 h 10667"/>
                    <a:gd name="T12" fmla="*/ 6352 w 10400"/>
                    <a:gd name="T13" fmla="*/ 3340 h 10667"/>
                    <a:gd name="T14" fmla="*/ 6296 w 10400"/>
                    <a:gd name="T15" fmla="*/ 5841 h 10667"/>
                    <a:gd name="T16" fmla="*/ 5318 w 10400"/>
                    <a:gd name="T17" fmla="*/ 6578 h 10667"/>
                    <a:gd name="T18" fmla="*/ 4851 w 10400"/>
                    <a:gd name="T19" fmla="*/ 10126 h 10667"/>
                    <a:gd name="T20" fmla="*/ 4154 w 10400"/>
                    <a:gd name="T21" fmla="*/ 5500 h 10667"/>
                    <a:gd name="T22" fmla="*/ 993 w 10400"/>
                    <a:gd name="T23" fmla="*/ 1669 h 10667"/>
                    <a:gd name="T24" fmla="*/ 4493 w 10400"/>
                    <a:gd name="T25" fmla="*/ 2470 h 10667"/>
                    <a:gd name="T26" fmla="*/ 5203 w 10400"/>
                    <a:gd name="T27" fmla="*/ 5915 h 10667"/>
                    <a:gd name="T28" fmla="*/ 5890 w 10400"/>
                    <a:gd name="T29" fmla="*/ 2481 h 10667"/>
                    <a:gd name="T30" fmla="*/ 9353 w 10400"/>
                    <a:gd name="T31" fmla="*/ 1669 h 10667"/>
                    <a:gd name="T32" fmla="*/ 8900 w 10400"/>
                    <a:gd name="T33" fmla="*/ 5088 h 10667"/>
                    <a:gd name="T34" fmla="*/ 8763 w 10400"/>
                    <a:gd name="T35" fmla="*/ 4301 h 10667"/>
                    <a:gd name="T36" fmla="*/ 7729 w 10400"/>
                    <a:gd name="T37" fmla="*/ 3953 h 10667"/>
                    <a:gd name="T38" fmla="*/ 8505 w 10400"/>
                    <a:gd name="T39" fmla="*/ 5505 h 10667"/>
                    <a:gd name="T40" fmla="*/ 8530 w 10400"/>
                    <a:gd name="T41" fmla="*/ 6867 h 10667"/>
                    <a:gd name="T42" fmla="*/ 9012 w 10400"/>
                    <a:gd name="T43" fmla="*/ 6736 h 10667"/>
                    <a:gd name="T44" fmla="*/ 9315 w 10400"/>
                    <a:gd name="T45" fmla="*/ 6686 h 10667"/>
                    <a:gd name="T46" fmla="*/ 9046 w 10400"/>
                    <a:gd name="T47" fmla="*/ 4530 h 10667"/>
                    <a:gd name="T48" fmla="*/ 9997 w 10400"/>
                    <a:gd name="T49" fmla="*/ 3776 h 10667"/>
                    <a:gd name="T50" fmla="*/ 8844 w 10400"/>
                    <a:gd name="T51" fmla="*/ 4304 h 10667"/>
                    <a:gd name="T52" fmla="*/ 8790 w 10400"/>
                    <a:gd name="T53" fmla="*/ 3675 h 10667"/>
                    <a:gd name="T54" fmla="*/ 9514 w 10400"/>
                    <a:gd name="T55" fmla="*/ 6418 h 10667"/>
                    <a:gd name="T56" fmla="*/ 9245 w 10400"/>
                    <a:gd name="T57" fmla="*/ 6917 h 10667"/>
                    <a:gd name="T58" fmla="*/ 7957 w 10400"/>
                    <a:gd name="T59" fmla="*/ 6629 h 10667"/>
                    <a:gd name="T60" fmla="*/ 7308 w 10400"/>
                    <a:gd name="T61" fmla="*/ 6762 h 10667"/>
                    <a:gd name="T62" fmla="*/ 9494 w 10400"/>
                    <a:gd name="T63" fmla="*/ 6253 h 10667"/>
                    <a:gd name="T64" fmla="*/ 577 w 10400"/>
                    <a:gd name="T65" fmla="*/ 3770 h 10667"/>
                    <a:gd name="T66" fmla="*/ 1355 w 10400"/>
                    <a:gd name="T67" fmla="*/ 4518 h 10667"/>
                    <a:gd name="T68" fmla="*/ 1282 w 10400"/>
                    <a:gd name="T69" fmla="*/ 5462 h 10667"/>
                    <a:gd name="T70" fmla="*/ 1236 w 10400"/>
                    <a:gd name="T71" fmla="*/ 6867 h 10667"/>
                    <a:gd name="T72" fmla="*/ 1718 w 10400"/>
                    <a:gd name="T73" fmla="*/ 6728 h 10667"/>
                    <a:gd name="T74" fmla="*/ 2022 w 10400"/>
                    <a:gd name="T75" fmla="*/ 6694 h 10667"/>
                    <a:gd name="T76" fmla="*/ 1843 w 10400"/>
                    <a:gd name="T77" fmla="*/ 4519 h 10667"/>
                    <a:gd name="T78" fmla="*/ 2505 w 10400"/>
                    <a:gd name="T79" fmla="*/ 3770 h 10667"/>
                    <a:gd name="T80" fmla="*/ 1608 w 10400"/>
                    <a:gd name="T81" fmla="*/ 5217 h 10667"/>
                    <a:gd name="T82" fmla="*/ 1557 w 10400"/>
                    <a:gd name="T83" fmla="*/ 4304 h 10667"/>
                    <a:gd name="T84" fmla="*/ 1610 w 10400"/>
                    <a:gd name="T85" fmla="*/ 3675 h 10667"/>
                    <a:gd name="T86" fmla="*/ 1898 w 10400"/>
                    <a:gd name="T87" fmla="*/ 3969 h 10667"/>
                    <a:gd name="T88" fmla="*/ 1547 w 10400"/>
                    <a:gd name="T89" fmla="*/ 7324 h 10667"/>
                    <a:gd name="T90" fmla="*/ 2189 w 10400"/>
                    <a:gd name="T91" fmla="*/ 6405 h 10667"/>
                    <a:gd name="T92" fmla="*/ 1172 w 10400"/>
                    <a:gd name="T93" fmla="*/ 6918 h 10667"/>
                    <a:gd name="T94" fmla="*/ 669 w 10400"/>
                    <a:gd name="T95" fmla="*/ 6629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grpSp>
        </p:grpSp>
        <p:grpSp>
          <p:nvGrpSpPr>
            <p:cNvPr id="67" name="组合 66"/>
            <p:cNvGrpSpPr/>
            <p:nvPr/>
          </p:nvGrpSpPr>
          <p:grpSpPr bwMode="gray">
            <a:xfrm>
              <a:off x="7411493" y="4905163"/>
              <a:ext cx="988763" cy="828093"/>
              <a:chOff x="7212124" y="3954358"/>
              <a:chExt cx="988763" cy="828093"/>
            </a:xfrm>
          </p:grpSpPr>
          <p:sp>
            <p:nvSpPr>
              <p:cNvPr id="68" name="iṡḻiḋè">
                <a:extLst>
                  <a:ext uri="{FF2B5EF4-FFF2-40B4-BE49-F238E27FC236}">
                    <a16:creationId xmlns:a16="http://schemas.microsoft.com/office/drawing/2014/main" id="{5A8D70EF-E186-4E79-92ED-07B16F6EF91E}"/>
                  </a:ext>
                </a:extLst>
              </p:cNvPr>
              <p:cNvSpPr txBox="1"/>
              <p:nvPr/>
            </p:nvSpPr>
            <p:spPr bwMode="gray">
              <a:xfrm>
                <a:off x="7212124" y="4473116"/>
                <a:ext cx="988763" cy="309335"/>
              </a:xfrm>
              <a:prstGeom prst="rect">
                <a:avLst/>
              </a:prstGeom>
              <a:noFill/>
            </p:spPr>
            <p:txBody>
              <a:bodyPr wrap="square" lIns="91440" tIns="45720" rIns="91440" bIns="45720" rtlCol="0" anchor="b" anchorCtr="0">
                <a:noAutofit/>
              </a:bodyPr>
              <a:lstStyle/>
              <a:p>
                <a:pPr algn="ctr">
                  <a:lnSpc>
                    <a:spcPct val="150000"/>
                  </a:lnSpc>
                </a:pPr>
                <a:r>
                  <a:rPr lang="zh-CN" altLang="en-US" sz="1600" dirty="0">
                    <a:latin typeface="Huawei Sans" panose="020C0503030203020204" pitchFamily="34" charset="0"/>
                    <a:ea typeface="方正兰亭黑简体" panose="02000000000000000000" pitchFamily="2" charset="-122"/>
                  </a:rPr>
                  <a:t>延迟</a:t>
                </a:r>
              </a:p>
            </p:txBody>
          </p:sp>
          <p:grpSp>
            <p:nvGrpSpPr>
              <p:cNvPr id="69" name="ï$ľîďé">
                <a:extLst>
                  <a:ext uri="{FF2B5EF4-FFF2-40B4-BE49-F238E27FC236}">
                    <a16:creationId xmlns:a16="http://schemas.microsoft.com/office/drawing/2014/main" id="{A8515347-3C03-4E7B-8CD0-A536FB7F181C}"/>
                  </a:ext>
                </a:extLst>
              </p:cNvPr>
              <p:cNvGrpSpPr/>
              <p:nvPr/>
            </p:nvGrpSpPr>
            <p:grpSpPr bwMode="gray">
              <a:xfrm>
                <a:off x="7500204" y="3954358"/>
                <a:ext cx="432000" cy="432000"/>
                <a:chOff x="1346748" y="1677046"/>
                <a:chExt cx="557798" cy="557798"/>
              </a:xfrm>
            </p:grpSpPr>
            <p:sp>
              <p:nvSpPr>
                <p:cNvPr id="70" name="îṡļîḋè">
                  <a:extLst>
                    <a:ext uri="{FF2B5EF4-FFF2-40B4-BE49-F238E27FC236}">
                      <a16:creationId xmlns:a16="http://schemas.microsoft.com/office/drawing/2014/main" id="{98C766C6-AA19-4E38-A45E-E8A11D75DB26}"/>
                    </a:ext>
                  </a:extLst>
                </p:cNvPr>
                <p:cNvSpPr/>
                <p:nvPr/>
              </p:nvSpPr>
              <p:spPr bwMode="gray">
                <a:xfrm>
                  <a:off x="1346748" y="1677046"/>
                  <a:ext cx="557798" cy="557798"/>
                </a:xfrm>
                <a:prstGeom prst="ellipse">
                  <a:avLst/>
                </a:pr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p>
                  <a:pPr algn="ctr"/>
                  <a:endParaRPr lang="en-US" sz="2800" b="1" dirty="0">
                    <a:solidFill>
                      <a:schemeClr val="bg1"/>
                    </a:solidFill>
                    <a:latin typeface="Huawei Sans" panose="020C0503030203020204" pitchFamily="34" charset="0"/>
                    <a:ea typeface="方正兰亭黑简体" panose="02000000000000000000" pitchFamily="2" charset="-122"/>
                  </a:endParaRPr>
                </a:p>
              </p:txBody>
            </p:sp>
            <p:sp>
              <p:nvSpPr>
                <p:cNvPr id="71" name="íślïdê">
                  <a:extLst>
                    <a:ext uri="{FF2B5EF4-FFF2-40B4-BE49-F238E27FC236}">
                      <a16:creationId xmlns:a16="http://schemas.microsoft.com/office/drawing/2014/main" id="{FA37FF46-BA58-49B9-8245-B339DFFCE235}"/>
                    </a:ext>
                  </a:extLst>
                </p:cNvPr>
                <p:cNvSpPr/>
                <p:nvPr/>
              </p:nvSpPr>
              <p:spPr bwMode="gray">
                <a:xfrm>
                  <a:off x="1457005" y="1783234"/>
                  <a:ext cx="337286" cy="345422"/>
                </a:xfrm>
                <a:custGeom>
                  <a:avLst/>
                  <a:gdLst>
                    <a:gd name="T0" fmla="*/ 1547 w 10400"/>
                    <a:gd name="T1" fmla="*/ 9330 h 10667"/>
                    <a:gd name="T2" fmla="*/ 3077 w 10400"/>
                    <a:gd name="T3" fmla="*/ 9013 h 10667"/>
                    <a:gd name="T4" fmla="*/ 6114 w 10400"/>
                    <a:gd name="T5" fmla="*/ 9700 h 10667"/>
                    <a:gd name="T6" fmla="*/ 6806 w 10400"/>
                    <a:gd name="T7" fmla="*/ 8539 h 10667"/>
                    <a:gd name="T8" fmla="*/ 4079 w 10400"/>
                    <a:gd name="T9" fmla="*/ 1127 h 10667"/>
                    <a:gd name="T10" fmla="*/ 5193 w 10400"/>
                    <a:gd name="T11" fmla="*/ 2254 h 10667"/>
                    <a:gd name="T12" fmla="*/ 6352 w 10400"/>
                    <a:gd name="T13" fmla="*/ 3340 h 10667"/>
                    <a:gd name="T14" fmla="*/ 6296 w 10400"/>
                    <a:gd name="T15" fmla="*/ 5841 h 10667"/>
                    <a:gd name="T16" fmla="*/ 5318 w 10400"/>
                    <a:gd name="T17" fmla="*/ 6578 h 10667"/>
                    <a:gd name="T18" fmla="*/ 4851 w 10400"/>
                    <a:gd name="T19" fmla="*/ 10126 h 10667"/>
                    <a:gd name="T20" fmla="*/ 4154 w 10400"/>
                    <a:gd name="T21" fmla="*/ 5500 h 10667"/>
                    <a:gd name="T22" fmla="*/ 993 w 10400"/>
                    <a:gd name="T23" fmla="*/ 1669 h 10667"/>
                    <a:gd name="T24" fmla="*/ 4493 w 10400"/>
                    <a:gd name="T25" fmla="*/ 2470 h 10667"/>
                    <a:gd name="T26" fmla="*/ 5203 w 10400"/>
                    <a:gd name="T27" fmla="*/ 5915 h 10667"/>
                    <a:gd name="T28" fmla="*/ 5890 w 10400"/>
                    <a:gd name="T29" fmla="*/ 2481 h 10667"/>
                    <a:gd name="T30" fmla="*/ 9353 w 10400"/>
                    <a:gd name="T31" fmla="*/ 1669 h 10667"/>
                    <a:gd name="T32" fmla="*/ 8900 w 10400"/>
                    <a:gd name="T33" fmla="*/ 5088 h 10667"/>
                    <a:gd name="T34" fmla="*/ 8763 w 10400"/>
                    <a:gd name="T35" fmla="*/ 4301 h 10667"/>
                    <a:gd name="T36" fmla="*/ 7729 w 10400"/>
                    <a:gd name="T37" fmla="*/ 3953 h 10667"/>
                    <a:gd name="T38" fmla="*/ 8505 w 10400"/>
                    <a:gd name="T39" fmla="*/ 5505 h 10667"/>
                    <a:gd name="T40" fmla="*/ 8530 w 10400"/>
                    <a:gd name="T41" fmla="*/ 6867 h 10667"/>
                    <a:gd name="T42" fmla="*/ 9012 w 10400"/>
                    <a:gd name="T43" fmla="*/ 6736 h 10667"/>
                    <a:gd name="T44" fmla="*/ 9315 w 10400"/>
                    <a:gd name="T45" fmla="*/ 6686 h 10667"/>
                    <a:gd name="T46" fmla="*/ 9046 w 10400"/>
                    <a:gd name="T47" fmla="*/ 4530 h 10667"/>
                    <a:gd name="T48" fmla="*/ 9997 w 10400"/>
                    <a:gd name="T49" fmla="*/ 3776 h 10667"/>
                    <a:gd name="T50" fmla="*/ 8844 w 10400"/>
                    <a:gd name="T51" fmla="*/ 4304 h 10667"/>
                    <a:gd name="T52" fmla="*/ 8790 w 10400"/>
                    <a:gd name="T53" fmla="*/ 3675 h 10667"/>
                    <a:gd name="T54" fmla="*/ 9514 w 10400"/>
                    <a:gd name="T55" fmla="*/ 6418 h 10667"/>
                    <a:gd name="T56" fmla="*/ 9245 w 10400"/>
                    <a:gd name="T57" fmla="*/ 6917 h 10667"/>
                    <a:gd name="T58" fmla="*/ 7957 w 10400"/>
                    <a:gd name="T59" fmla="*/ 6629 h 10667"/>
                    <a:gd name="T60" fmla="*/ 7308 w 10400"/>
                    <a:gd name="T61" fmla="*/ 6762 h 10667"/>
                    <a:gd name="T62" fmla="*/ 9494 w 10400"/>
                    <a:gd name="T63" fmla="*/ 6253 h 10667"/>
                    <a:gd name="T64" fmla="*/ 577 w 10400"/>
                    <a:gd name="T65" fmla="*/ 3770 h 10667"/>
                    <a:gd name="T66" fmla="*/ 1355 w 10400"/>
                    <a:gd name="T67" fmla="*/ 4518 h 10667"/>
                    <a:gd name="T68" fmla="*/ 1282 w 10400"/>
                    <a:gd name="T69" fmla="*/ 5462 h 10667"/>
                    <a:gd name="T70" fmla="*/ 1236 w 10400"/>
                    <a:gd name="T71" fmla="*/ 6867 h 10667"/>
                    <a:gd name="T72" fmla="*/ 1718 w 10400"/>
                    <a:gd name="T73" fmla="*/ 6728 h 10667"/>
                    <a:gd name="T74" fmla="*/ 2022 w 10400"/>
                    <a:gd name="T75" fmla="*/ 6694 h 10667"/>
                    <a:gd name="T76" fmla="*/ 1843 w 10400"/>
                    <a:gd name="T77" fmla="*/ 4519 h 10667"/>
                    <a:gd name="T78" fmla="*/ 2505 w 10400"/>
                    <a:gd name="T79" fmla="*/ 3770 h 10667"/>
                    <a:gd name="T80" fmla="*/ 1608 w 10400"/>
                    <a:gd name="T81" fmla="*/ 5217 h 10667"/>
                    <a:gd name="T82" fmla="*/ 1557 w 10400"/>
                    <a:gd name="T83" fmla="*/ 4304 h 10667"/>
                    <a:gd name="T84" fmla="*/ 1610 w 10400"/>
                    <a:gd name="T85" fmla="*/ 3675 h 10667"/>
                    <a:gd name="T86" fmla="*/ 1898 w 10400"/>
                    <a:gd name="T87" fmla="*/ 3969 h 10667"/>
                    <a:gd name="T88" fmla="*/ 1547 w 10400"/>
                    <a:gd name="T89" fmla="*/ 7324 h 10667"/>
                    <a:gd name="T90" fmla="*/ 2189 w 10400"/>
                    <a:gd name="T91" fmla="*/ 6405 h 10667"/>
                    <a:gd name="T92" fmla="*/ 1172 w 10400"/>
                    <a:gd name="T93" fmla="*/ 6918 h 10667"/>
                    <a:gd name="T94" fmla="*/ 669 w 10400"/>
                    <a:gd name="T95" fmla="*/ 6629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grpSp>
        </p:grpSp>
        <p:grpSp>
          <p:nvGrpSpPr>
            <p:cNvPr id="72" name="组合 71"/>
            <p:cNvGrpSpPr/>
            <p:nvPr/>
          </p:nvGrpSpPr>
          <p:grpSpPr bwMode="gray">
            <a:xfrm>
              <a:off x="8455609" y="4905163"/>
              <a:ext cx="988763" cy="828093"/>
              <a:chOff x="7212124" y="3954358"/>
              <a:chExt cx="988763" cy="828093"/>
            </a:xfrm>
          </p:grpSpPr>
          <p:sp>
            <p:nvSpPr>
              <p:cNvPr id="73" name="iṡḻiḋè">
                <a:extLst>
                  <a:ext uri="{FF2B5EF4-FFF2-40B4-BE49-F238E27FC236}">
                    <a16:creationId xmlns:a16="http://schemas.microsoft.com/office/drawing/2014/main" id="{5A8D70EF-E186-4E79-92ED-07B16F6EF91E}"/>
                  </a:ext>
                </a:extLst>
              </p:cNvPr>
              <p:cNvSpPr txBox="1"/>
              <p:nvPr/>
            </p:nvSpPr>
            <p:spPr bwMode="gray">
              <a:xfrm>
                <a:off x="7212124" y="4473116"/>
                <a:ext cx="988763" cy="309335"/>
              </a:xfrm>
              <a:prstGeom prst="rect">
                <a:avLst/>
              </a:prstGeom>
              <a:noFill/>
            </p:spPr>
            <p:txBody>
              <a:bodyPr wrap="square" lIns="91440" tIns="45720" rIns="91440" bIns="45720" rtlCol="0" anchor="b" anchorCtr="0">
                <a:noAutofit/>
              </a:bodyPr>
              <a:lstStyle/>
              <a:p>
                <a:pPr algn="ctr">
                  <a:lnSpc>
                    <a:spcPct val="150000"/>
                  </a:lnSpc>
                </a:pPr>
                <a:r>
                  <a:rPr lang="zh-CN" altLang="en-US" sz="1600" dirty="0">
                    <a:latin typeface="Huawei Sans" panose="020C0503030203020204" pitchFamily="34" charset="0"/>
                    <a:ea typeface="方正兰亭黑简体" panose="02000000000000000000" pitchFamily="2" charset="-122"/>
                  </a:rPr>
                  <a:t>抖动</a:t>
                </a:r>
              </a:p>
            </p:txBody>
          </p:sp>
          <p:grpSp>
            <p:nvGrpSpPr>
              <p:cNvPr id="74" name="ï$ľîďé">
                <a:extLst>
                  <a:ext uri="{FF2B5EF4-FFF2-40B4-BE49-F238E27FC236}">
                    <a16:creationId xmlns:a16="http://schemas.microsoft.com/office/drawing/2014/main" id="{A8515347-3C03-4E7B-8CD0-A536FB7F181C}"/>
                  </a:ext>
                </a:extLst>
              </p:cNvPr>
              <p:cNvGrpSpPr/>
              <p:nvPr/>
            </p:nvGrpSpPr>
            <p:grpSpPr bwMode="gray">
              <a:xfrm>
                <a:off x="7500204" y="3954358"/>
                <a:ext cx="432000" cy="432000"/>
                <a:chOff x="1346748" y="1677046"/>
                <a:chExt cx="557798" cy="557798"/>
              </a:xfrm>
            </p:grpSpPr>
            <p:sp>
              <p:nvSpPr>
                <p:cNvPr id="75" name="îṡļîḋè">
                  <a:extLst>
                    <a:ext uri="{FF2B5EF4-FFF2-40B4-BE49-F238E27FC236}">
                      <a16:creationId xmlns:a16="http://schemas.microsoft.com/office/drawing/2014/main" id="{98C766C6-AA19-4E38-A45E-E8A11D75DB26}"/>
                    </a:ext>
                  </a:extLst>
                </p:cNvPr>
                <p:cNvSpPr/>
                <p:nvPr/>
              </p:nvSpPr>
              <p:spPr bwMode="gray">
                <a:xfrm>
                  <a:off x="1346748" y="1677046"/>
                  <a:ext cx="557798" cy="557798"/>
                </a:xfrm>
                <a:prstGeom prst="ellipse">
                  <a:avLst/>
                </a:pr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p>
                  <a:pPr algn="ctr"/>
                  <a:endParaRPr lang="en-US" sz="2800" b="1" dirty="0">
                    <a:solidFill>
                      <a:schemeClr val="bg1"/>
                    </a:solidFill>
                    <a:latin typeface="Huawei Sans" panose="020C0503030203020204" pitchFamily="34" charset="0"/>
                    <a:ea typeface="方正兰亭黑简体" panose="02000000000000000000" pitchFamily="2" charset="-122"/>
                  </a:endParaRPr>
                </a:p>
              </p:txBody>
            </p:sp>
            <p:sp>
              <p:nvSpPr>
                <p:cNvPr id="76" name="íślïdê">
                  <a:extLst>
                    <a:ext uri="{FF2B5EF4-FFF2-40B4-BE49-F238E27FC236}">
                      <a16:creationId xmlns:a16="http://schemas.microsoft.com/office/drawing/2014/main" id="{FA37FF46-BA58-49B9-8245-B339DFFCE235}"/>
                    </a:ext>
                  </a:extLst>
                </p:cNvPr>
                <p:cNvSpPr/>
                <p:nvPr/>
              </p:nvSpPr>
              <p:spPr bwMode="gray">
                <a:xfrm>
                  <a:off x="1457005" y="1783234"/>
                  <a:ext cx="337286" cy="345422"/>
                </a:xfrm>
                <a:custGeom>
                  <a:avLst/>
                  <a:gdLst>
                    <a:gd name="T0" fmla="*/ 1547 w 10400"/>
                    <a:gd name="T1" fmla="*/ 9330 h 10667"/>
                    <a:gd name="T2" fmla="*/ 3077 w 10400"/>
                    <a:gd name="T3" fmla="*/ 9013 h 10667"/>
                    <a:gd name="T4" fmla="*/ 6114 w 10400"/>
                    <a:gd name="T5" fmla="*/ 9700 h 10667"/>
                    <a:gd name="T6" fmla="*/ 6806 w 10400"/>
                    <a:gd name="T7" fmla="*/ 8539 h 10667"/>
                    <a:gd name="T8" fmla="*/ 4079 w 10400"/>
                    <a:gd name="T9" fmla="*/ 1127 h 10667"/>
                    <a:gd name="T10" fmla="*/ 5193 w 10400"/>
                    <a:gd name="T11" fmla="*/ 2254 h 10667"/>
                    <a:gd name="T12" fmla="*/ 6352 w 10400"/>
                    <a:gd name="T13" fmla="*/ 3340 h 10667"/>
                    <a:gd name="T14" fmla="*/ 6296 w 10400"/>
                    <a:gd name="T15" fmla="*/ 5841 h 10667"/>
                    <a:gd name="T16" fmla="*/ 5318 w 10400"/>
                    <a:gd name="T17" fmla="*/ 6578 h 10667"/>
                    <a:gd name="T18" fmla="*/ 4851 w 10400"/>
                    <a:gd name="T19" fmla="*/ 10126 h 10667"/>
                    <a:gd name="T20" fmla="*/ 4154 w 10400"/>
                    <a:gd name="T21" fmla="*/ 5500 h 10667"/>
                    <a:gd name="T22" fmla="*/ 993 w 10400"/>
                    <a:gd name="T23" fmla="*/ 1669 h 10667"/>
                    <a:gd name="T24" fmla="*/ 4493 w 10400"/>
                    <a:gd name="T25" fmla="*/ 2470 h 10667"/>
                    <a:gd name="T26" fmla="*/ 5203 w 10400"/>
                    <a:gd name="T27" fmla="*/ 5915 h 10667"/>
                    <a:gd name="T28" fmla="*/ 5890 w 10400"/>
                    <a:gd name="T29" fmla="*/ 2481 h 10667"/>
                    <a:gd name="T30" fmla="*/ 9353 w 10400"/>
                    <a:gd name="T31" fmla="*/ 1669 h 10667"/>
                    <a:gd name="T32" fmla="*/ 8900 w 10400"/>
                    <a:gd name="T33" fmla="*/ 5088 h 10667"/>
                    <a:gd name="T34" fmla="*/ 8763 w 10400"/>
                    <a:gd name="T35" fmla="*/ 4301 h 10667"/>
                    <a:gd name="T36" fmla="*/ 7729 w 10400"/>
                    <a:gd name="T37" fmla="*/ 3953 h 10667"/>
                    <a:gd name="T38" fmla="*/ 8505 w 10400"/>
                    <a:gd name="T39" fmla="*/ 5505 h 10667"/>
                    <a:gd name="T40" fmla="*/ 8530 w 10400"/>
                    <a:gd name="T41" fmla="*/ 6867 h 10667"/>
                    <a:gd name="T42" fmla="*/ 9012 w 10400"/>
                    <a:gd name="T43" fmla="*/ 6736 h 10667"/>
                    <a:gd name="T44" fmla="*/ 9315 w 10400"/>
                    <a:gd name="T45" fmla="*/ 6686 h 10667"/>
                    <a:gd name="T46" fmla="*/ 9046 w 10400"/>
                    <a:gd name="T47" fmla="*/ 4530 h 10667"/>
                    <a:gd name="T48" fmla="*/ 9997 w 10400"/>
                    <a:gd name="T49" fmla="*/ 3776 h 10667"/>
                    <a:gd name="T50" fmla="*/ 8844 w 10400"/>
                    <a:gd name="T51" fmla="*/ 4304 h 10667"/>
                    <a:gd name="T52" fmla="*/ 8790 w 10400"/>
                    <a:gd name="T53" fmla="*/ 3675 h 10667"/>
                    <a:gd name="T54" fmla="*/ 9514 w 10400"/>
                    <a:gd name="T55" fmla="*/ 6418 h 10667"/>
                    <a:gd name="T56" fmla="*/ 9245 w 10400"/>
                    <a:gd name="T57" fmla="*/ 6917 h 10667"/>
                    <a:gd name="T58" fmla="*/ 7957 w 10400"/>
                    <a:gd name="T59" fmla="*/ 6629 h 10667"/>
                    <a:gd name="T60" fmla="*/ 7308 w 10400"/>
                    <a:gd name="T61" fmla="*/ 6762 h 10667"/>
                    <a:gd name="T62" fmla="*/ 9494 w 10400"/>
                    <a:gd name="T63" fmla="*/ 6253 h 10667"/>
                    <a:gd name="T64" fmla="*/ 577 w 10400"/>
                    <a:gd name="T65" fmla="*/ 3770 h 10667"/>
                    <a:gd name="T66" fmla="*/ 1355 w 10400"/>
                    <a:gd name="T67" fmla="*/ 4518 h 10667"/>
                    <a:gd name="T68" fmla="*/ 1282 w 10400"/>
                    <a:gd name="T69" fmla="*/ 5462 h 10667"/>
                    <a:gd name="T70" fmla="*/ 1236 w 10400"/>
                    <a:gd name="T71" fmla="*/ 6867 h 10667"/>
                    <a:gd name="T72" fmla="*/ 1718 w 10400"/>
                    <a:gd name="T73" fmla="*/ 6728 h 10667"/>
                    <a:gd name="T74" fmla="*/ 2022 w 10400"/>
                    <a:gd name="T75" fmla="*/ 6694 h 10667"/>
                    <a:gd name="T76" fmla="*/ 1843 w 10400"/>
                    <a:gd name="T77" fmla="*/ 4519 h 10667"/>
                    <a:gd name="T78" fmla="*/ 2505 w 10400"/>
                    <a:gd name="T79" fmla="*/ 3770 h 10667"/>
                    <a:gd name="T80" fmla="*/ 1608 w 10400"/>
                    <a:gd name="T81" fmla="*/ 5217 h 10667"/>
                    <a:gd name="T82" fmla="*/ 1557 w 10400"/>
                    <a:gd name="T83" fmla="*/ 4304 h 10667"/>
                    <a:gd name="T84" fmla="*/ 1610 w 10400"/>
                    <a:gd name="T85" fmla="*/ 3675 h 10667"/>
                    <a:gd name="T86" fmla="*/ 1898 w 10400"/>
                    <a:gd name="T87" fmla="*/ 3969 h 10667"/>
                    <a:gd name="T88" fmla="*/ 1547 w 10400"/>
                    <a:gd name="T89" fmla="*/ 7324 h 10667"/>
                    <a:gd name="T90" fmla="*/ 2189 w 10400"/>
                    <a:gd name="T91" fmla="*/ 6405 h 10667"/>
                    <a:gd name="T92" fmla="*/ 1172 w 10400"/>
                    <a:gd name="T93" fmla="*/ 6918 h 10667"/>
                    <a:gd name="T94" fmla="*/ 669 w 10400"/>
                    <a:gd name="T95" fmla="*/ 6629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grpSp>
        </p:grpSp>
        <p:grpSp>
          <p:nvGrpSpPr>
            <p:cNvPr id="77" name="组合 76"/>
            <p:cNvGrpSpPr/>
            <p:nvPr/>
          </p:nvGrpSpPr>
          <p:grpSpPr bwMode="gray">
            <a:xfrm>
              <a:off x="9499725" y="4905163"/>
              <a:ext cx="988763" cy="828093"/>
              <a:chOff x="7212124" y="3954358"/>
              <a:chExt cx="988763" cy="828093"/>
            </a:xfrm>
          </p:grpSpPr>
          <p:sp>
            <p:nvSpPr>
              <p:cNvPr id="78" name="iṡḻiḋè">
                <a:extLst>
                  <a:ext uri="{FF2B5EF4-FFF2-40B4-BE49-F238E27FC236}">
                    <a16:creationId xmlns:a16="http://schemas.microsoft.com/office/drawing/2014/main" id="{5A8D70EF-E186-4E79-92ED-07B16F6EF91E}"/>
                  </a:ext>
                </a:extLst>
              </p:cNvPr>
              <p:cNvSpPr txBox="1"/>
              <p:nvPr/>
            </p:nvSpPr>
            <p:spPr bwMode="gray">
              <a:xfrm>
                <a:off x="7212124" y="4473116"/>
                <a:ext cx="988763" cy="309335"/>
              </a:xfrm>
              <a:prstGeom prst="rect">
                <a:avLst/>
              </a:prstGeom>
              <a:noFill/>
            </p:spPr>
            <p:txBody>
              <a:bodyPr wrap="square" lIns="91440" tIns="45720" rIns="91440" bIns="45720" rtlCol="0" anchor="b" anchorCtr="0">
                <a:noAutofit/>
              </a:bodyPr>
              <a:lstStyle/>
              <a:p>
                <a:pPr algn="ctr">
                  <a:lnSpc>
                    <a:spcPct val="150000"/>
                  </a:lnSpc>
                </a:pPr>
                <a:r>
                  <a:rPr lang="zh-CN" altLang="en-US" sz="1600" dirty="0">
                    <a:latin typeface="Huawei Sans" panose="020C0503030203020204" pitchFamily="34" charset="0"/>
                    <a:ea typeface="方正兰亭黑简体" panose="02000000000000000000" pitchFamily="2" charset="-122"/>
                  </a:rPr>
                  <a:t>丢包率</a:t>
                </a:r>
              </a:p>
            </p:txBody>
          </p:sp>
          <p:grpSp>
            <p:nvGrpSpPr>
              <p:cNvPr id="79" name="ï$ľîďé">
                <a:extLst>
                  <a:ext uri="{FF2B5EF4-FFF2-40B4-BE49-F238E27FC236}">
                    <a16:creationId xmlns:a16="http://schemas.microsoft.com/office/drawing/2014/main" id="{A8515347-3C03-4E7B-8CD0-A536FB7F181C}"/>
                  </a:ext>
                </a:extLst>
              </p:cNvPr>
              <p:cNvGrpSpPr/>
              <p:nvPr/>
            </p:nvGrpSpPr>
            <p:grpSpPr bwMode="gray">
              <a:xfrm>
                <a:off x="7500204" y="3954358"/>
                <a:ext cx="432000" cy="432000"/>
                <a:chOff x="1346748" y="1677046"/>
                <a:chExt cx="557798" cy="557798"/>
              </a:xfrm>
            </p:grpSpPr>
            <p:sp>
              <p:nvSpPr>
                <p:cNvPr id="80" name="îṡļîḋè">
                  <a:extLst>
                    <a:ext uri="{FF2B5EF4-FFF2-40B4-BE49-F238E27FC236}">
                      <a16:creationId xmlns:a16="http://schemas.microsoft.com/office/drawing/2014/main" id="{98C766C6-AA19-4E38-A45E-E8A11D75DB26}"/>
                    </a:ext>
                  </a:extLst>
                </p:cNvPr>
                <p:cNvSpPr/>
                <p:nvPr/>
              </p:nvSpPr>
              <p:spPr bwMode="gray">
                <a:xfrm>
                  <a:off x="1346748" y="1677046"/>
                  <a:ext cx="557798" cy="557798"/>
                </a:xfrm>
                <a:prstGeom prst="ellipse">
                  <a:avLst/>
                </a:pr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p>
                  <a:pPr algn="ctr"/>
                  <a:endParaRPr lang="en-US" sz="2800" b="1" dirty="0">
                    <a:solidFill>
                      <a:schemeClr val="bg1"/>
                    </a:solidFill>
                    <a:latin typeface="Huawei Sans" panose="020C0503030203020204" pitchFamily="34" charset="0"/>
                    <a:ea typeface="方正兰亭黑简体" panose="02000000000000000000" pitchFamily="2" charset="-122"/>
                  </a:endParaRPr>
                </a:p>
              </p:txBody>
            </p:sp>
            <p:sp>
              <p:nvSpPr>
                <p:cNvPr id="81" name="íślïdê">
                  <a:extLst>
                    <a:ext uri="{FF2B5EF4-FFF2-40B4-BE49-F238E27FC236}">
                      <a16:creationId xmlns:a16="http://schemas.microsoft.com/office/drawing/2014/main" id="{FA37FF46-BA58-49B9-8245-B339DFFCE235}"/>
                    </a:ext>
                  </a:extLst>
                </p:cNvPr>
                <p:cNvSpPr/>
                <p:nvPr/>
              </p:nvSpPr>
              <p:spPr bwMode="gray">
                <a:xfrm>
                  <a:off x="1457005" y="1783234"/>
                  <a:ext cx="337286" cy="345422"/>
                </a:xfrm>
                <a:custGeom>
                  <a:avLst/>
                  <a:gdLst>
                    <a:gd name="T0" fmla="*/ 1547 w 10400"/>
                    <a:gd name="T1" fmla="*/ 9330 h 10667"/>
                    <a:gd name="T2" fmla="*/ 3077 w 10400"/>
                    <a:gd name="T3" fmla="*/ 9013 h 10667"/>
                    <a:gd name="T4" fmla="*/ 6114 w 10400"/>
                    <a:gd name="T5" fmla="*/ 9700 h 10667"/>
                    <a:gd name="T6" fmla="*/ 6806 w 10400"/>
                    <a:gd name="T7" fmla="*/ 8539 h 10667"/>
                    <a:gd name="T8" fmla="*/ 4079 w 10400"/>
                    <a:gd name="T9" fmla="*/ 1127 h 10667"/>
                    <a:gd name="T10" fmla="*/ 5193 w 10400"/>
                    <a:gd name="T11" fmla="*/ 2254 h 10667"/>
                    <a:gd name="T12" fmla="*/ 6352 w 10400"/>
                    <a:gd name="T13" fmla="*/ 3340 h 10667"/>
                    <a:gd name="T14" fmla="*/ 6296 w 10400"/>
                    <a:gd name="T15" fmla="*/ 5841 h 10667"/>
                    <a:gd name="T16" fmla="*/ 5318 w 10400"/>
                    <a:gd name="T17" fmla="*/ 6578 h 10667"/>
                    <a:gd name="T18" fmla="*/ 4851 w 10400"/>
                    <a:gd name="T19" fmla="*/ 10126 h 10667"/>
                    <a:gd name="T20" fmla="*/ 4154 w 10400"/>
                    <a:gd name="T21" fmla="*/ 5500 h 10667"/>
                    <a:gd name="T22" fmla="*/ 993 w 10400"/>
                    <a:gd name="T23" fmla="*/ 1669 h 10667"/>
                    <a:gd name="T24" fmla="*/ 4493 w 10400"/>
                    <a:gd name="T25" fmla="*/ 2470 h 10667"/>
                    <a:gd name="T26" fmla="*/ 5203 w 10400"/>
                    <a:gd name="T27" fmla="*/ 5915 h 10667"/>
                    <a:gd name="T28" fmla="*/ 5890 w 10400"/>
                    <a:gd name="T29" fmla="*/ 2481 h 10667"/>
                    <a:gd name="T30" fmla="*/ 9353 w 10400"/>
                    <a:gd name="T31" fmla="*/ 1669 h 10667"/>
                    <a:gd name="T32" fmla="*/ 8900 w 10400"/>
                    <a:gd name="T33" fmla="*/ 5088 h 10667"/>
                    <a:gd name="T34" fmla="*/ 8763 w 10400"/>
                    <a:gd name="T35" fmla="*/ 4301 h 10667"/>
                    <a:gd name="T36" fmla="*/ 7729 w 10400"/>
                    <a:gd name="T37" fmla="*/ 3953 h 10667"/>
                    <a:gd name="T38" fmla="*/ 8505 w 10400"/>
                    <a:gd name="T39" fmla="*/ 5505 h 10667"/>
                    <a:gd name="T40" fmla="*/ 8530 w 10400"/>
                    <a:gd name="T41" fmla="*/ 6867 h 10667"/>
                    <a:gd name="T42" fmla="*/ 9012 w 10400"/>
                    <a:gd name="T43" fmla="*/ 6736 h 10667"/>
                    <a:gd name="T44" fmla="*/ 9315 w 10400"/>
                    <a:gd name="T45" fmla="*/ 6686 h 10667"/>
                    <a:gd name="T46" fmla="*/ 9046 w 10400"/>
                    <a:gd name="T47" fmla="*/ 4530 h 10667"/>
                    <a:gd name="T48" fmla="*/ 9997 w 10400"/>
                    <a:gd name="T49" fmla="*/ 3776 h 10667"/>
                    <a:gd name="T50" fmla="*/ 8844 w 10400"/>
                    <a:gd name="T51" fmla="*/ 4304 h 10667"/>
                    <a:gd name="T52" fmla="*/ 8790 w 10400"/>
                    <a:gd name="T53" fmla="*/ 3675 h 10667"/>
                    <a:gd name="T54" fmla="*/ 9514 w 10400"/>
                    <a:gd name="T55" fmla="*/ 6418 h 10667"/>
                    <a:gd name="T56" fmla="*/ 9245 w 10400"/>
                    <a:gd name="T57" fmla="*/ 6917 h 10667"/>
                    <a:gd name="T58" fmla="*/ 7957 w 10400"/>
                    <a:gd name="T59" fmla="*/ 6629 h 10667"/>
                    <a:gd name="T60" fmla="*/ 7308 w 10400"/>
                    <a:gd name="T61" fmla="*/ 6762 h 10667"/>
                    <a:gd name="T62" fmla="*/ 9494 w 10400"/>
                    <a:gd name="T63" fmla="*/ 6253 h 10667"/>
                    <a:gd name="T64" fmla="*/ 577 w 10400"/>
                    <a:gd name="T65" fmla="*/ 3770 h 10667"/>
                    <a:gd name="T66" fmla="*/ 1355 w 10400"/>
                    <a:gd name="T67" fmla="*/ 4518 h 10667"/>
                    <a:gd name="T68" fmla="*/ 1282 w 10400"/>
                    <a:gd name="T69" fmla="*/ 5462 h 10667"/>
                    <a:gd name="T70" fmla="*/ 1236 w 10400"/>
                    <a:gd name="T71" fmla="*/ 6867 h 10667"/>
                    <a:gd name="T72" fmla="*/ 1718 w 10400"/>
                    <a:gd name="T73" fmla="*/ 6728 h 10667"/>
                    <a:gd name="T74" fmla="*/ 2022 w 10400"/>
                    <a:gd name="T75" fmla="*/ 6694 h 10667"/>
                    <a:gd name="T76" fmla="*/ 1843 w 10400"/>
                    <a:gd name="T77" fmla="*/ 4519 h 10667"/>
                    <a:gd name="T78" fmla="*/ 2505 w 10400"/>
                    <a:gd name="T79" fmla="*/ 3770 h 10667"/>
                    <a:gd name="T80" fmla="*/ 1608 w 10400"/>
                    <a:gd name="T81" fmla="*/ 5217 h 10667"/>
                    <a:gd name="T82" fmla="*/ 1557 w 10400"/>
                    <a:gd name="T83" fmla="*/ 4304 h 10667"/>
                    <a:gd name="T84" fmla="*/ 1610 w 10400"/>
                    <a:gd name="T85" fmla="*/ 3675 h 10667"/>
                    <a:gd name="T86" fmla="*/ 1898 w 10400"/>
                    <a:gd name="T87" fmla="*/ 3969 h 10667"/>
                    <a:gd name="T88" fmla="*/ 1547 w 10400"/>
                    <a:gd name="T89" fmla="*/ 7324 h 10667"/>
                    <a:gd name="T90" fmla="*/ 2189 w 10400"/>
                    <a:gd name="T91" fmla="*/ 6405 h 10667"/>
                    <a:gd name="T92" fmla="*/ 1172 w 10400"/>
                    <a:gd name="T93" fmla="*/ 6918 h 10667"/>
                    <a:gd name="T94" fmla="*/ 669 w 10400"/>
                    <a:gd name="T95" fmla="*/ 6629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grpSp>
        </p:grpSp>
        <p:grpSp>
          <p:nvGrpSpPr>
            <p:cNvPr id="82" name="组合 81"/>
            <p:cNvGrpSpPr/>
            <p:nvPr/>
          </p:nvGrpSpPr>
          <p:grpSpPr bwMode="gray">
            <a:xfrm>
              <a:off x="10543841" y="4905163"/>
              <a:ext cx="988763" cy="828093"/>
              <a:chOff x="7212124" y="3954358"/>
              <a:chExt cx="988763" cy="828093"/>
            </a:xfrm>
          </p:grpSpPr>
          <p:sp>
            <p:nvSpPr>
              <p:cNvPr id="83" name="iṡḻiḋè">
                <a:extLst>
                  <a:ext uri="{FF2B5EF4-FFF2-40B4-BE49-F238E27FC236}">
                    <a16:creationId xmlns:a16="http://schemas.microsoft.com/office/drawing/2014/main" id="{5A8D70EF-E186-4E79-92ED-07B16F6EF91E}"/>
                  </a:ext>
                </a:extLst>
              </p:cNvPr>
              <p:cNvSpPr txBox="1"/>
              <p:nvPr/>
            </p:nvSpPr>
            <p:spPr bwMode="gray">
              <a:xfrm>
                <a:off x="7212124" y="4473116"/>
                <a:ext cx="988763" cy="309335"/>
              </a:xfrm>
              <a:prstGeom prst="rect">
                <a:avLst/>
              </a:prstGeom>
              <a:noFill/>
            </p:spPr>
            <p:txBody>
              <a:bodyPr wrap="square" lIns="91440" tIns="45720" rIns="91440" bIns="45720" rtlCol="0" anchor="b" anchorCtr="0">
                <a:noAutofit/>
              </a:bodyPr>
              <a:lstStyle/>
              <a:p>
                <a:pPr algn="ctr">
                  <a:lnSpc>
                    <a:spcPct val="150000"/>
                  </a:lnSpc>
                </a:pPr>
                <a:r>
                  <a:rPr lang="zh-CN" altLang="en-US" sz="1600" dirty="0">
                    <a:latin typeface="Huawei Sans" panose="020C0503030203020204" pitchFamily="34" charset="0"/>
                    <a:ea typeface="方正兰亭黑简体" panose="02000000000000000000" pitchFamily="2" charset="-122"/>
                  </a:rPr>
                  <a:t>可用性</a:t>
                </a:r>
              </a:p>
            </p:txBody>
          </p:sp>
          <p:grpSp>
            <p:nvGrpSpPr>
              <p:cNvPr id="84" name="ï$ľîďé">
                <a:extLst>
                  <a:ext uri="{FF2B5EF4-FFF2-40B4-BE49-F238E27FC236}">
                    <a16:creationId xmlns:a16="http://schemas.microsoft.com/office/drawing/2014/main" id="{A8515347-3C03-4E7B-8CD0-A536FB7F181C}"/>
                  </a:ext>
                </a:extLst>
              </p:cNvPr>
              <p:cNvGrpSpPr/>
              <p:nvPr/>
            </p:nvGrpSpPr>
            <p:grpSpPr bwMode="gray">
              <a:xfrm>
                <a:off x="7500204" y="3954358"/>
                <a:ext cx="432000" cy="432000"/>
                <a:chOff x="1346748" y="1677046"/>
                <a:chExt cx="557798" cy="557798"/>
              </a:xfrm>
            </p:grpSpPr>
            <p:sp>
              <p:nvSpPr>
                <p:cNvPr id="85" name="îṡļîḋè">
                  <a:extLst>
                    <a:ext uri="{FF2B5EF4-FFF2-40B4-BE49-F238E27FC236}">
                      <a16:creationId xmlns:a16="http://schemas.microsoft.com/office/drawing/2014/main" id="{98C766C6-AA19-4E38-A45E-E8A11D75DB26}"/>
                    </a:ext>
                  </a:extLst>
                </p:cNvPr>
                <p:cNvSpPr/>
                <p:nvPr/>
              </p:nvSpPr>
              <p:spPr bwMode="gray">
                <a:xfrm>
                  <a:off x="1346748" y="1677046"/>
                  <a:ext cx="557798" cy="557798"/>
                </a:xfrm>
                <a:prstGeom prst="ellipse">
                  <a:avLst/>
                </a:pr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p>
                  <a:pPr algn="ctr"/>
                  <a:endParaRPr lang="en-US" sz="2800" b="1" dirty="0">
                    <a:solidFill>
                      <a:schemeClr val="bg1"/>
                    </a:solidFill>
                    <a:latin typeface="Huawei Sans" panose="020C0503030203020204" pitchFamily="34" charset="0"/>
                    <a:ea typeface="方正兰亭黑简体" panose="02000000000000000000" pitchFamily="2" charset="-122"/>
                  </a:endParaRPr>
                </a:p>
              </p:txBody>
            </p:sp>
            <p:sp>
              <p:nvSpPr>
                <p:cNvPr id="86" name="íślïdê">
                  <a:extLst>
                    <a:ext uri="{FF2B5EF4-FFF2-40B4-BE49-F238E27FC236}">
                      <a16:creationId xmlns:a16="http://schemas.microsoft.com/office/drawing/2014/main" id="{FA37FF46-BA58-49B9-8245-B339DFFCE235}"/>
                    </a:ext>
                  </a:extLst>
                </p:cNvPr>
                <p:cNvSpPr/>
                <p:nvPr/>
              </p:nvSpPr>
              <p:spPr bwMode="gray">
                <a:xfrm>
                  <a:off x="1457005" y="1783234"/>
                  <a:ext cx="337286" cy="345422"/>
                </a:xfrm>
                <a:custGeom>
                  <a:avLst/>
                  <a:gdLst>
                    <a:gd name="T0" fmla="*/ 1547 w 10400"/>
                    <a:gd name="T1" fmla="*/ 9330 h 10667"/>
                    <a:gd name="T2" fmla="*/ 3077 w 10400"/>
                    <a:gd name="T3" fmla="*/ 9013 h 10667"/>
                    <a:gd name="T4" fmla="*/ 6114 w 10400"/>
                    <a:gd name="T5" fmla="*/ 9700 h 10667"/>
                    <a:gd name="T6" fmla="*/ 6806 w 10400"/>
                    <a:gd name="T7" fmla="*/ 8539 h 10667"/>
                    <a:gd name="T8" fmla="*/ 4079 w 10400"/>
                    <a:gd name="T9" fmla="*/ 1127 h 10667"/>
                    <a:gd name="T10" fmla="*/ 5193 w 10400"/>
                    <a:gd name="T11" fmla="*/ 2254 h 10667"/>
                    <a:gd name="T12" fmla="*/ 6352 w 10400"/>
                    <a:gd name="T13" fmla="*/ 3340 h 10667"/>
                    <a:gd name="T14" fmla="*/ 6296 w 10400"/>
                    <a:gd name="T15" fmla="*/ 5841 h 10667"/>
                    <a:gd name="T16" fmla="*/ 5318 w 10400"/>
                    <a:gd name="T17" fmla="*/ 6578 h 10667"/>
                    <a:gd name="T18" fmla="*/ 4851 w 10400"/>
                    <a:gd name="T19" fmla="*/ 10126 h 10667"/>
                    <a:gd name="T20" fmla="*/ 4154 w 10400"/>
                    <a:gd name="T21" fmla="*/ 5500 h 10667"/>
                    <a:gd name="T22" fmla="*/ 993 w 10400"/>
                    <a:gd name="T23" fmla="*/ 1669 h 10667"/>
                    <a:gd name="T24" fmla="*/ 4493 w 10400"/>
                    <a:gd name="T25" fmla="*/ 2470 h 10667"/>
                    <a:gd name="T26" fmla="*/ 5203 w 10400"/>
                    <a:gd name="T27" fmla="*/ 5915 h 10667"/>
                    <a:gd name="T28" fmla="*/ 5890 w 10400"/>
                    <a:gd name="T29" fmla="*/ 2481 h 10667"/>
                    <a:gd name="T30" fmla="*/ 9353 w 10400"/>
                    <a:gd name="T31" fmla="*/ 1669 h 10667"/>
                    <a:gd name="T32" fmla="*/ 8900 w 10400"/>
                    <a:gd name="T33" fmla="*/ 5088 h 10667"/>
                    <a:gd name="T34" fmla="*/ 8763 w 10400"/>
                    <a:gd name="T35" fmla="*/ 4301 h 10667"/>
                    <a:gd name="T36" fmla="*/ 7729 w 10400"/>
                    <a:gd name="T37" fmla="*/ 3953 h 10667"/>
                    <a:gd name="T38" fmla="*/ 8505 w 10400"/>
                    <a:gd name="T39" fmla="*/ 5505 h 10667"/>
                    <a:gd name="T40" fmla="*/ 8530 w 10400"/>
                    <a:gd name="T41" fmla="*/ 6867 h 10667"/>
                    <a:gd name="T42" fmla="*/ 9012 w 10400"/>
                    <a:gd name="T43" fmla="*/ 6736 h 10667"/>
                    <a:gd name="T44" fmla="*/ 9315 w 10400"/>
                    <a:gd name="T45" fmla="*/ 6686 h 10667"/>
                    <a:gd name="T46" fmla="*/ 9046 w 10400"/>
                    <a:gd name="T47" fmla="*/ 4530 h 10667"/>
                    <a:gd name="T48" fmla="*/ 9997 w 10400"/>
                    <a:gd name="T49" fmla="*/ 3776 h 10667"/>
                    <a:gd name="T50" fmla="*/ 8844 w 10400"/>
                    <a:gd name="T51" fmla="*/ 4304 h 10667"/>
                    <a:gd name="T52" fmla="*/ 8790 w 10400"/>
                    <a:gd name="T53" fmla="*/ 3675 h 10667"/>
                    <a:gd name="T54" fmla="*/ 9514 w 10400"/>
                    <a:gd name="T55" fmla="*/ 6418 h 10667"/>
                    <a:gd name="T56" fmla="*/ 9245 w 10400"/>
                    <a:gd name="T57" fmla="*/ 6917 h 10667"/>
                    <a:gd name="T58" fmla="*/ 7957 w 10400"/>
                    <a:gd name="T59" fmla="*/ 6629 h 10667"/>
                    <a:gd name="T60" fmla="*/ 7308 w 10400"/>
                    <a:gd name="T61" fmla="*/ 6762 h 10667"/>
                    <a:gd name="T62" fmla="*/ 9494 w 10400"/>
                    <a:gd name="T63" fmla="*/ 6253 h 10667"/>
                    <a:gd name="T64" fmla="*/ 577 w 10400"/>
                    <a:gd name="T65" fmla="*/ 3770 h 10667"/>
                    <a:gd name="T66" fmla="*/ 1355 w 10400"/>
                    <a:gd name="T67" fmla="*/ 4518 h 10667"/>
                    <a:gd name="T68" fmla="*/ 1282 w 10400"/>
                    <a:gd name="T69" fmla="*/ 5462 h 10667"/>
                    <a:gd name="T70" fmla="*/ 1236 w 10400"/>
                    <a:gd name="T71" fmla="*/ 6867 h 10667"/>
                    <a:gd name="T72" fmla="*/ 1718 w 10400"/>
                    <a:gd name="T73" fmla="*/ 6728 h 10667"/>
                    <a:gd name="T74" fmla="*/ 2022 w 10400"/>
                    <a:gd name="T75" fmla="*/ 6694 h 10667"/>
                    <a:gd name="T76" fmla="*/ 1843 w 10400"/>
                    <a:gd name="T77" fmla="*/ 4519 h 10667"/>
                    <a:gd name="T78" fmla="*/ 2505 w 10400"/>
                    <a:gd name="T79" fmla="*/ 3770 h 10667"/>
                    <a:gd name="T80" fmla="*/ 1608 w 10400"/>
                    <a:gd name="T81" fmla="*/ 5217 h 10667"/>
                    <a:gd name="T82" fmla="*/ 1557 w 10400"/>
                    <a:gd name="T83" fmla="*/ 4304 h 10667"/>
                    <a:gd name="T84" fmla="*/ 1610 w 10400"/>
                    <a:gd name="T85" fmla="*/ 3675 h 10667"/>
                    <a:gd name="T86" fmla="*/ 1898 w 10400"/>
                    <a:gd name="T87" fmla="*/ 3969 h 10667"/>
                    <a:gd name="T88" fmla="*/ 1547 w 10400"/>
                    <a:gd name="T89" fmla="*/ 7324 h 10667"/>
                    <a:gd name="T90" fmla="*/ 2189 w 10400"/>
                    <a:gd name="T91" fmla="*/ 6405 h 10667"/>
                    <a:gd name="T92" fmla="*/ 1172 w 10400"/>
                    <a:gd name="T93" fmla="*/ 6918 h 10667"/>
                    <a:gd name="T94" fmla="*/ 669 w 10400"/>
                    <a:gd name="T95" fmla="*/ 6629 h 10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400" h="10667">
                      <a:moveTo>
                        <a:pt x="8838" y="9330"/>
                      </a:moveTo>
                      <a:cubicBezTo>
                        <a:pt x="8838" y="10067"/>
                        <a:pt x="7206" y="10667"/>
                        <a:pt x="5192" y="10667"/>
                      </a:cubicBezTo>
                      <a:cubicBezTo>
                        <a:pt x="3180" y="10667"/>
                        <a:pt x="1547" y="10067"/>
                        <a:pt x="1547" y="9330"/>
                      </a:cubicBezTo>
                      <a:cubicBezTo>
                        <a:pt x="1547" y="8797"/>
                        <a:pt x="2406" y="8341"/>
                        <a:pt x="3638" y="8128"/>
                      </a:cubicBezTo>
                      <a:lnTo>
                        <a:pt x="3638" y="8495"/>
                      </a:lnTo>
                      <a:cubicBezTo>
                        <a:pt x="3293" y="8632"/>
                        <a:pt x="3077" y="8813"/>
                        <a:pt x="3077" y="9013"/>
                      </a:cubicBezTo>
                      <a:cubicBezTo>
                        <a:pt x="3077" y="9437"/>
                        <a:pt x="4015" y="9781"/>
                        <a:pt x="5171" y="9781"/>
                      </a:cubicBezTo>
                      <a:cubicBezTo>
                        <a:pt x="5497" y="9781"/>
                        <a:pt x="5802" y="9751"/>
                        <a:pt x="6077" y="9703"/>
                      </a:cubicBezTo>
                      <a:cubicBezTo>
                        <a:pt x="6090" y="9702"/>
                        <a:pt x="6102" y="9702"/>
                        <a:pt x="6114" y="9700"/>
                      </a:cubicBezTo>
                      <a:cubicBezTo>
                        <a:pt x="6165" y="9694"/>
                        <a:pt x="6212" y="9682"/>
                        <a:pt x="6259" y="9666"/>
                      </a:cubicBezTo>
                      <a:cubicBezTo>
                        <a:pt x="6859" y="9531"/>
                        <a:pt x="7264" y="9290"/>
                        <a:pt x="7264" y="9013"/>
                      </a:cubicBezTo>
                      <a:cubicBezTo>
                        <a:pt x="7264" y="8834"/>
                        <a:pt x="7090" y="8669"/>
                        <a:pt x="6806" y="8539"/>
                      </a:cubicBezTo>
                      <a:lnTo>
                        <a:pt x="6806" y="8137"/>
                      </a:lnTo>
                      <a:cubicBezTo>
                        <a:pt x="8006" y="8356"/>
                        <a:pt x="8838" y="8805"/>
                        <a:pt x="8838" y="9330"/>
                      </a:cubicBezTo>
                      <a:close/>
                      <a:moveTo>
                        <a:pt x="4079" y="1127"/>
                      </a:moveTo>
                      <a:cubicBezTo>
                        <a:pt x="4079" y="504"/>
                        <a:pt x="4578" y="0"/>
                        <a:pt x="5193" y="0"/>
                      </a:cubicBezTo>
                      <a:cubicBezTo>
                        <a:pt x="5807" y="0"/>
                        <a:pt x="6305" y="504"/>
                        <a:pt x="6305" y="1127"/>
                      </a:cubicBezTo>
                      <a:cubicBezTo>
                        <a:pt x="6305" y="1750"/>
                        <a:pt x="5807" y="2254"/>
                        <a:pt x="5193" y="2254"/>
                      </a:cubicBezTo>
                      <a:cubicBezTo>
                        <a:pt x="4578" y="2254"/>
                        <a:pt x="4079" y="1750"/>
                        <a:pt x="4079" y="1127"/>
                      </a:cubicBezTo>
                      <a:close/>
                      <a:moveTo>
                        <a:pt x="9353" y="1669"/>
                      </a:moveTo>
                      <a:cubicBezTo>
                        <a:pt x="8800" y="2578"/>
                        <a:pt x="7557" y="3340"/>
                        <a:pt x="6352" y="3340"/>
                      </a:cubicBezTo>
                      <a:cubicBezTo>
                        <a:pt x="6274" y="3340"/>
                        <a:pt x="6196" y="3336"/>
                        <a:pt x="6118" y="3330"/>
                      </a:cubicBezTo>
                      <a:cubicBezTo>
                        <a:pt x="6142" y="3615"/>
                        <a:pt x="6252" y="4928"/>
                        <a:pt x="6282" y="5755"/>
                      </a:cubicBezTo>
                      <a:cubicBezTo>
                        <a:pt x="6288" y="5783"/>
                        <a:pt x="6294" y="5811"/>
                        <a:pt x="6296" y="5841"/>
                      </a:cubicBezTo>
                      <a:lnTo>
                        <a:pt x="6568" y="10087"/>
                      </a:lnTo>
                      <a:cubicBezTo>
                        <a:pt x="6586" y="10373"/>
                        <a:pt x="5564" y="10428"/>
                        <a:pt x="5546" y="10154"/>
                      </a:cubicBezTo>
                      <a:lnTo>
                        <a:pt x="5318" y="6578"/>
                      </a:lnTo>
                      <a:cubicBezTo>
                        <a:pt x="5280" y="6574"/>
                        <a:pt x="5244" y="6567"/>
                        <a:pt x="5206" y="6567"/>
                      </a:cubicBezTo>
                      <a:cubicBezTo>
                        <a:pt x="5174" y="6567"/>
                        <a:pt x="5136" y="6577"/>
                        <a:pt x="5099" y="6587"/>
                      </a:cubicBezTo>
                      <a:lnTo>
                        <a:pt x="4851" y="10126"/>
                      </a:lnTo>
                      <a:cubicBezTo>
                        <a:pt x="4832" y="10398"/>
                        <a:pt x="3810" y="10338"/>
                        <a:pt x="3830" y="10052"/>
                      </a:cubicBezTo>
                      <a:lnTo>
                        <a:pt x="4144" y="5559"/>
                      </a:lnTo>
                      <a:cubicBezTo>
                        <a:pt x="4146" y="5538"/>
                        <a:pt x="4150" y="5520"/>
                        <a:pt x="4154" y="5500"/>
                      </a:cubicBezTo>
                      <a:cubicBezTo>
                        <a:pt x="4199" y="4432"/>
                        <a:pt x="4252" y="3400"/>
                        <a:pt x="4257" y="3326"/>
                      </a:cubicBezTo>
                      <a:cubicBezTo>
                        <a:pt x="4169" y="3334"/>
                        <a:pt x="4081" y="3340"/>
                        <a:pt x="3994" y="3340"/>
                      </a:cubicBezTo>
                      <a:cubicBezTo>
                        <a:pt x="2788" y="3340"/>
                        <a:pt x="1546" y="2578"/>
                        <a:pt x="993" y="1669"/>
                      </a:cubicBezTo>
                      <a:cubicBezTo>
                        <a:pt x="879" y="1481"/>
                        <a:pt x="936" y="1235"/>
                        <a:pt x="1122" y="1120"/>
                      </a:cubicBezTo>
                      <a:cubicBezTo>
                        <a:pt x="1308" y="1003"/>
                        <a:pt x="1551" y="1062"/>
                        <a:pt x="1665" y="1250"/>
                      </a:cubicBezTo>
                      <a:cubicBezTo>
                        <a:pt x="2166" y="2073"/>
                        <a:pt x="3484" y="2756"/>
                        <a:pt x="4493" y="2470"/>
                      </a:cubicBezTo>
                      <a:cubicBezTo>
                        <a:pt x="4663" y="2411"/>
                        <a:pt x="4865" y="2374"/>
                        <a:pt x="5089" y="2365"/>
                      </a:cubicBezTo>
                      <a:lnTo>
                        <a:pt x="4729" y="5423"/>
                      </a:lnTo>
                      <a:lnTo>
                        <a:pt x="5203" y="5915"/>
                      </a:lnTo>
                      <a:lnTo>
                        <a:pt x="5617" y="5423"/>
                      </a:lnTo>
                      <a:lnTo>
                        <a:pt x="5330" y="2373"/>
                      </a:lnTo>
                      <a:cubicBezTo>
                        <a:pt x="5531" y="2387"/>
                        <a:pt x="5725" y="2423"/>
                        <a:pt x="5890" y="2481"/>
                      </a:cubicBezTo>
                      <a:cubicBezTo>
                        <a:pt x="6894" y="2741"/>
                        <a:pt x="8187" y="2063"/>
                        <a:pt x="8681" y="1250"/>
                      </a:cubicBezTo>
                      <a:cubicBezTo>
                        <a:pt x="8795" y="1062"/>
                        <a:pt x="9038" y="1003"/>
                        <a:pt x="9224" y="1119"/>
                      </a:cubicBezTo>
                      <a:cubicBezTo>
                        <a:pt x="9410" y="1235"/>
                        <a:pt x="9468" y="1481"/>
                        <a:pt x="9353" y="1669"/>
                      </a:cubicBezTo>
                      <a:close/>
                      <a:moveTo>
                        <a:pt x="8844" y="4304"/>
                      </a:moveTo>
                      <a:cubicBezTo>
                        <a:pt x="8839" y="4303"/>
                        <a:pt x="8833" y="4303"/>
                        <a:pt x="8827" y="4302"/>
                      </a:cubicBezTo>
                      <a:lnTo>
                        <a:pt x="8900" y="5088"/>
                      </a:lnTo>
                      <a:lnTo>
                        <a:pt x="8793" y="5217"/>
                      </a:lnTo>
                      <a:lnTo>
                        <a:pt x="8671" y="5088"/>
                      </a:lnTo>
                      <a:lnTo>
                        <a:pt x="8763" y="4301"/>
                      </a:lnTo>
                      <a:cubicBezTo>
                        <a:pt x="8543" y="4286"/>
                        <a:pt x="8343" y="4195"/>
                        <a:pt x="7895" y="3770"/>
                      </a:cubicBezTo>
                      <a:cubicBezTo>
                        <a:pt x="7846" y="3723"/>
                        <a:pt x="7769" y="3725"/>
                        <a:pt x="7722" y="3776"/>
                      </a:cubicBezTo>
                      <a:cubicBezTo>
                        <a:pt x="7676" y="3826"/>
                        <a:pt x="7679" y="3906"/>
                        <a:pt x="7729" y="3953"/>
                      </a:cubicBezTo>
                      <a:cubicBezTo>
                        <a:pt x="8086" y="4293"/>
                        <a:pt x="8319" y="4456"/>
                        <a:pt x="8558" y="4519"/>
                      </a:cubicBezTo>
                      <a:cubicBezTo>
                        <a:pt x="8558" y="4523"/>
                        <a:pt x="8556" y="4527"/>
                        <a:pt x="8556" y="4530"/>
                      </a:cubicBezTo>
                      <a:lnTo>
                        <a:pt x="8505" y="5505"/>
                      </a:lnTo>
                      <a:lnTo>
                        <a:pt x="8378" y="6694"/>
                      </a:lnTo>
                      <a:cubicBezTo>
                        <a:pt x="8369" y="6780"/>
                        <a:pt x="8430" y="6857"/>
                        <a:pt x="8514" y="6867"/>
                      </a:cubicBezTo>
                      <a:cubicBezTo>
                        <a:pt x="8520" y="6867"/>
                        <a:pt x="8525" y="6867"/>
                        <a:pt x="8530" y="6867"/>
                      </a:cubicBezTo>
                      <a:cubicBezTo>
                        <a:pt x="8608" y="6867"/>
                        <a:pt x="8674" y="6808"/>
                        <a:pt x="8683" y="6728"/>
                      </a:cubicBezTo>
                      <a:lnTo>
                        <a:pt x="8815" y="5498"/>
                      </a:lnTo>
                      <a:lnTo>
                        <a:pt x="9012" y="6736"/>
                      </a:lnTo>
                      <a:cubicBezTo>
                        <a:pt x="9025" y="6813"/>
                        <a:pt x="9090" y="6868"/>
                        <a:pt x="9164" y="6868"/>
                      </a:cubicBezTo>
                      <a:cubicBezTo>
                        <a:pt x="9172" y="6868"/>
                        <a:pt x="9180" y="6867"/>
                        <a:pt x="9188" y="6866"/>
                      </a:cubicBezTo>
                      <a:cubicBezTo>
                        <a:pt x="9272" y="6852"/>
                        <a:pt x="9328" y="6771"/>
                        <a:pt x="9315" y="6686"/>
                      </a:cubicBezTo>
                      <a:lnTo>
                        <a:pt x="9119" y="5462"/>
                      </a:lnTo>
                      <a:cubicBezTo>
                        <a:pt x="9119" y="5461"/>
                        <a:pt x="9120" y="5460"/>
                        <a:pt x="9120" y="5459"/>
                      </a:cubicBezTo>
                      <a:lnTo>
                        <a:pt x="9046" y="4530"/>
                      </a:lnTo>
                      <a:cubicBezTo>
                        <a:pt x="9046" y="4526"/>
                        <a:pt x="9046" y="4522"/>
                        <a:pt x="9045" y="4518"/>
                      </a:cubicBezTo>
                      <a:cubicBezTo>
                        <a:pt x="9279" y="4456"/>
                        <a:pt x="9631" y="4296"/>
                        <a:pt x="9990" y="3953"/>
                      </a:cubicBezTo>
                      <a:cubicBezTo>
                        <a:pt x="10040" y="3906"/>
                        <a:pt x="10043" y="3826"/>
                        <a:pt x="9997" y="3776"/>
                      </a:cubicBezTo>
                      <a:cubicBezTo>
                        <a:pt x="9950" y="3725"/>
                        <a:pt x="9873" y="3723"/>
                        <a:pt x="9823" y="3770"/>
                      </a:cubicBezTo>
                      <a:cubicBezTo>
                        <a:pt x="9407" y="4166"/>
                        <a:pt x="9010" y="4290"/>
                        <a:pt x="8857" y="4300"/>
                      </a:cubicBezTo>
                      <a:cubicBezTo>
                        <a:pt x="8852" y="4300"/>
                        <a:pt x="8849" y="4303"/>
                        <a:pt x="8844" y="4304"/>
                      </a:cubicBezTo>
                      <a:close/>
                      <a:moveTo>
                        <a:pt x="8790" y="4263"/>
                      </a:moveTo>
                      <a:cubicBezTo>
                        <a:pt x="8949" y="4263"/>
                        <a:pt x="9078" y="4131"/>
                        <a:pt x="9078" y="3969"/>
                      </a:cubicBezTo>
                      <a:cubicBezTo>
                        <a:pt x="9078" y="3807"/>
                        <a:pt x="8949" y="3675"/>
                        <a:pt x="8790" y="3675"/>
                      </a:cubicBezTo>
                      <a:cubicBezTo>
                        <a:pt x="8631" y="3675"/>
                        <a:pt x="8503" y="3807"/>
                        <a:pt x="8503" y="3969"/>
                      </a:cubicBezTo>
                      <a:cubicBezTo>
                        <a:pt x="8503" y="4131"/>
                        <a:pt x="8631" y="4263"/>
                        <a:pt x="8790" y="4263"/>
                      </a:cubicBezTo>
                      <a:close/>
                      <a:moveTo>
                        <a:pt x="9514" y="6418"/>
                      </a:moveTo>
                      <a:cubicBezTo>
                        <a:pt x="9649" y="6475"/>
                        <a:pt x="9732" y="6548"/>
                        <a:pt x="9732" y="6629"/>
                      </a:cubicBezTo>
                      <a:cubicBezTo>
                        <a:pt x="9732" y="6745"/>
                        <a:pt x="9561" y="6846"/>
                        <a:pt x="9306" y="6903"/>
                      </a:cubicBezTo>
                      <a:cubicBezTo>
                        <a:pt x="9287" y="6910"/>
                        <a:pt x="9267" y="6915"/>
                        <a:pt x="9245" y="6917"/>
                      </a:cubicBezTo>
                      <a:cubicBezTo>
                        <a:pt x="9240" y="6918"/>
                        <a:pt x="9235" y="6918"/>
                        <a:pt x="9229" y="6918"/>
                      </a:cubicBezTo>
                      <a:cubicBezTo>
                        <a:pt x="9112" y="6939"/>
                        <a:pt x="8983" y="6952"/>
                        <a:pt x="8845" y="6952"/>
                      </a:cubicBezTo>
                      <a:cubicBezTo>
                        <a:pt x="8355" y="6952"/>
                        <a:pt x="7957" y="6807"/>
                        <a:pt x="7957" y="6629"/>
                      </a:cubicBezTo>
                      <a:cubicBezTo>
                        <a:pt x="7957" y="6542"/>
                        <a:pt x="8055" y="6463"/>
                        <a:pt x="8211" y="6405"/>
                      </a:cubicBezTo>
                      <a:lnTo>
                        <a:pt x="8222" y="6252"/>
                      </a:lnTo>
                      <a:cubicBezTo>
                        <a:pt x="7685" y="6340"/>
                        <a:pt x="7308" y="6534"/>
                        <a:pt x="7308" y="6762"/>
                      </a:cubicBezTo>
                      <a:cubicBezTo>
                        <a:pt x="7308" y="7072"/>
                        <a:pt x="8000" y="7324"/>
                        <a:pt x="8854" y="7324"/>
                      </a:cubicBezTo>
                      <a:cubicBezTo>
                        <a:pt x="9708" y="7324"/>
                        <a:pt x="10400" y="7072"/>
                        <a:pt x="10400" y="6762"/>
                      </a:cubicBezTo>
                      <a:cubicBezTo>
                        <a:pt x="10400" y="6535"/>
                        <a:pt x="10027" y="6342"/>
                        <a:pt x="9494" y="6253"/>
                      </a:cubicBezTo>
                      <a:lnTo>
                        <a:pt x="9514" y="6418"/>
                      </a:lnTo>
                      <a:close/>
                      <a:moveTo>
                        <a:pt x="1543" y="4300"/>
                      </a:moveTo>
                      <a:cubicBezTo>
                        <a:pt x="1391" y="4290"/>
                        <a:pt x="994" y="4166"/>
                        <a:pt x="577" y="3770"/>
                      </a:cubicBezTo>
                      <a:cubicBezTo>
                        <a:pt x="528" y="3723"/>
                        <a:pt x="450" y="3725"/>
                        <a:pt x="404" y="3776"/>
                      </a:cubicBezTo>
                      <a:cubicBezTo>
                        <a:pt x="358" y="3826"/>
                        <a:pt x="361" y="3906"/>
                        <a:pt x="411" y="3953"/>
                      </a:cubicBezTo>
                      <a:cubicBezTo>
                        <a:pt x="770" y="4296"/>
                        <a:pt x="1122" y="4456"/>
                        <a:pt x="1355" y="4518"/>
                      </a:cubicBezTo>
                      <a:cubicBezTo>
                        <a:pt x="1355" y="4522"/>
                        <a:pt x="1355" y="4526"/>
                        <a:pt x="1355" y="4530"/>
                      </a:cubicBezTo>
                      <a:lnTo>
                        <a:pt x="1281" y="5459"/>
                      </a:lnTo>
                      <a:cubicBezTo>
                        <a:pt x="1281" y="5460"/>
                        <a:pt x="1282" y="5461"/>
                        <a:pt x="1282" y="5462"/>
                      </a:cubicBezTo>
                      <a:lnTo>
                        <a:pt x="1086" y="6686"/>
                      </a:lnTo>
                      <a:cubicBezTo>
                        <a:pt x="1072" y="6771"/>
                        <a:pt x="1129" y="6852"/>
                        <a:pt x="1212" y="6866"/>
                      </a:cubicBezTo>
                      <a:cubicBezTo>
                        <a:pt x="1221" y="6867"/>
                        <a:pt x="1229" y="6867"/>
                        <a:pt x="1236" y="6867"/>
                      </a:cubicBezTo>
                      <a:cubicBezTo>
                        <a:pt x="1311" y="6867"/>
                        <a:pt x="1376" y="6813"/>
                        <a:pt x="1388" y="6736"/>
                      </a:cubicBezTo>
                      <a:lnTo>
                        <a:pt x="1586" y="5498"/>
                      </a:lnTo>
                      <a:lnTo>
                        <a:pt x="1718" y="6728"/>
                      </a:lnTo>
                      <a:cubicBezTo>
                        <a:pt x="1726" y="6808"/>
                        <a:pt x="1792" y="6867"/>
                        <a:pt x="1870" y="6867"/>
                      </a:cubicBezTo>
                      <a:cubicBezTo>
                        <a:pt x="1875" y="6867"/>
                        <a:pt x="1881" y="6867"/>
                        <a:pt x="1887" y="6867"/>
                      </a:cubicBezTo>
                      <a:cubicBezTo>
                        <a:pt x="1971" y="6857"/>
                        <a:pt x="2032" y="6780"/>
                        <a:pt x="2022" y="6694"/>
                      </a:cubicBezTo>
                      <a:lnTo>
                        <a:pt x="1895" y="5505"/>
                      </a:lnTo>
                      <a:lnTo>
                        <a:pt x="1845" y="4530"/>
                      </a:lnTo>
                      <a:cubicBezTo>
                        <a:pt x="1845" y="4527"/>
                        <a:pt x="1843" y="4523"/>
                        <a:pt x="1843" y="4519"/>
                      </a:cubicBezTo>
                      <a:cubicBezTo>
                        <a:pt x="2082" y="4456"/>
                        <a:pt x="2314" y="4293"/>
                        <a:pt x="2672" y="3953"/>
                      </a:cubicBezTo>
                      <a:cubicBezTo>
                        <a:pt x="2722" y="3906"/>
                        <a:pt x="2725" y="3826"/>
                        <a:pt x="2678" y="3776"/>
                      </a:cubicBezTo>
                      <a:cubicBezTo>
                        <a:pt x="2632" y="3725"/>
                        <a:pt x="2555" y="3722"/>
                        <a:pt x="2505" y="3770"/>
                      </a:cubicBezTo>
                      <a:cubicBezTo>
                        <a:pt x="2058" y="4195"/>
                        <a:pt x="1857" y="4286"/>
                        <a:pt x="1637" y="4301"/>
                      </a:cubicBezTo>
                      <a:lnTo>
                        <a:pt x="1730" y="5088"/>
                      </a:lnTo>
                      <a:lnTo>
                        <a:pt x="1608" y="5217"/>
                      </a:lnTo>
                      <a:lnTo>
                        <a:pt x="1501" y="5088"/>
                      </a:lnTo>
                      <a:lnTo>
                        <a:pt x="1574" y="4302"/>
                      </a:lnTo>
                      <a:cubicBezTo>
                        <a:pt x="1568" y="4303"/>
                        <a:pt x="1562" y="4303"/>
                        <a:pt x="1557" y="4304"/>
                      </a:cubicBezTo>
                      <a:cubicBezTo>
                        <a:pt x="1552" y="4303"/>
                        <a:pt x="1548" y="4300"/>
                        <a:pt x="1543" y="4300"/>
                      </a:cubicBezTo>
                      <a:close/>
                      <a:moveTo>
                        <a:pt x="1898" y="3969"/>
                      </a:moveTo>
                      <a:cubicBezTo>
                        <a:pt x="1898" y="3807"/>
                        <a:pt x="1769" y="3675"/>
                        <a:pt x="1610" y="3675"/>
                      </a:cubicBezTo>
                      <a:cubicBezTo>
                        <a:pt x="1452" y="3675"/>
                        <a:pt x="1323" y="3807"/>
                        <a:pt x="1323" y="3969"/>
                      </a:cubicBezTo>
                      <a:cubicBezTo>
                        <a:pt x="1323" y="4131"/>
                        <a:pt x="1452" y="4263"/>
                        <a:pt x="1610" y="4263"/>
                      </a:cubicBezTo>
                      <a:cubicBezTo>
                        <a:pt x="1769" y="4263"/>
                        <a:pt x="1898" y="4131"/>
                        <a:pt x="1898" y="3969"/>
                      </a:cubicBezTo>
                      <a:close/>
                      <a:moveTo>
                        <a:pt x="906" y="6253"/>
                      </a:moveTo>
                      <a:cubicBezTo>
                        <a:pt x="373" y="6342"/>
                        <a:pt x="0" y="6535"/>
                        <a:pt x="0" y="6762"/>
                      </a:cubicBezTo>
                      <a:cubicBezTo>
                        <a:pt x="0" y="7072"/>
                        <a:pt x="693" y="7324"/>
                        <a:pt x="1547" y="7324"/>
                      </a:cubicBezTo>
                      <a:cubicBezTo>
                        <a:pt x="2401" y="7324"/>
                        <a:pt x="3093" y="7072"/>
                        <a:pt x="3093" y="6762"/>
                      </a:cubicBezTo>
                      <a:cubicBezTo>
                        <a:pt x="3093" y="6534"/>
                        <a:pt x="2716" y="6340"/>
                        <a:pt x="2178" y="6252"/>
                      </a:cubicBezTo>
                      <a:lnTo>
                        <a:pt x="2189" y="6405"/>
                      </a:lnTo>
                      <a:cubicBezTo>
                        <a:pt x="2346" y="6463"/>
                        <a:pt x="2444" y="6542"/>
                        <a:pt x="2444" y="6629"/>
                      </a:cubicBezTo>
                      <a:cubicBezTo>
                        <a:pt x="2444" y="6807"/>
                        <a:pt x="2046" y="6952"/>
                        <a:pt x="1556" y="6952"/>
                      </a:cubicBezTo>
                      <a:cubicBezTo>
                        <a:pt x="1418" y="6952"/>
                        <a:pt x="1289" y="6939"/>
                        <a:pt x="1172" y="6918"/>
                      </a:cubicBezTo>
                      <a:cubicBezTo>
                        <a:pt x="1166" y="6918"/>
                        <a:pt x="1161" y="6918"/>
                        <a:pt x="1155" y="6917"/>
                      </a:cubicBezTo>
                      <a:cubicBezTo>
                        <a:pt x="1134" y="6915"/>
                        <a:pt x="1114" y="6910"/>
                        <a:pt x="1095" y="6903"/>
                      </a:cubicBezTo>
                      <a:cubicBezTo>
                        <a:pt x="840" y="6846"/>
                        <a:pt x="669" y="6745"/>
                        <a:pt x="669" y="6629"/>
                      </a:cubicBezTo>
                      <a:cubicBezTo>
                        <a:pt x="669" y="6548"/>
                        <a:pt x="751" y="6475"/>
                        <a:pt x="887" y="6418"/>
                      </a:cubicBezTo>
                      <a:lnTo>
                        <a:pt x="906" y="6253"/>
                      </a:lnTo>
                      <a:close/>
                    </a:path>
                  </a:pathLst>
                </a:custGeom>
                <a:solidFill>
                  <a:schemeClr val="bg1"/>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grpSp>
        </p:grpSp>
      </p:grpSp>
    </p:spTree>
    <p:extLst>
      <p:ext uri="{BB962C8B-B14F-4D97-AF65-F5344CB8AC3E}">
        <p14:creationId xmlns:p14="http://schemas.microsoft.com/office/powerpoint/2010/main" val="105387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8381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服务模型</a:t>
            </a:r>
          </a:p>
        </p:txBody>
      </p:sp>
      <p:grpSp>
        <p:nvGrpSpPr>
          <p:cNvPr id="26" name="Group 25"/>
          <p:cNvGrpSpPr/>
          <p:nvPr/>
        </p:nvGrpSpPr>
        <p:grpSpPr bwMode="gray">
          <a:xfrm>
            <a:off x="2028967" y="1965660"/>
            <a:ext cx="8202060" cy="2733616"/>
            <a:chOff x="2243572" y="2236247"/>
            <a:chExt cx="8202060" cy="2733616"/>
          </a:xfrm>
        </p:grpSpPr>
        <p:sp>
          <p:nvSpPr>
            <p:cNvPr id="5" name="ïşľïdè"/>
            <p:cNvSpPr/>
            <p:nvPr/>
          </p:nvSpPr>
          <p:spPr bwMode="gray">
            <a:xfrm>
              <a:off x="2243572" y="3176971"/>
              <a:ext cx="2135419" cy="864097"/>
            </a:xfrm>
            <a:prstGeom prst="roundRect">
              <a:avLst/>
            </a:prstGeom>
            <a:solidFill>
              <a:srgbClr val="56C4D2"/>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fontAlgn="auto"/>
              <a:r>
                <a:rPr lang="en-US" altLang="zh-CN" sz="2000" b="1" dirty="0">
                  <a:solidFill>
                    <a:schemeClr val="bg1"/>
                  </a:solidFill>
                  <a:latin typeface="Huawei Sans" panose="020C0503030203020204" pitchFamily="34" charset="0"/>
                  <a:ea typeface="方正兰亭黑简体" panose="02000000000000000000" pitchFamily="2" charset="-122"/>
                </a:rPr>
                <a:t>QoS</a:t>
              </a:r>
              <a:r>
                <a:rPr lang="zh-CN" altLang="en-US" sz="2000" b="1" dirty="0">
                  <a:solidFill>
                    <a:schemeClr val="bg1"/>
                  </a:solidFill>
                  <a:latin typeface="Huawei Sans" panose="020C0503030203020204" pitchFamily="34" charset="0"/>
                  <a:ea typeface="方正兰亭黑简体" panose="02000000000000000000" pitchFamily="2" charset="-122"/>
                </a:rPr>
                <a:t>提供三种</a:t>
              </a:r>
              <a:endParaRPr lang="en-US" altLang="zh-CN" sz="2000" b="1" dirty="0">
                <a:solidFill>
                  <a:schemeClr val="bg1"/>
                </a:solidFill>
                <a:latin typeface="Huawei Sans" panose="020C0503030203020204" pitchFamily="34" charset="0"/>
                <a:ea typeface="方正兰亭黑简体" panose="02000000000000000000" pitchFamily="2" charset="-122"/>
              </a:endParaRPr>
            </a:p>
            <a:p>
              <a:pPr algn="ctr" defTabSz="914354" fontAlgn="auto"/>
              <a:r>
                <a:rPr lang="zh-CN" altLang="en-US" sz="2000" b="1" dirty="0">
                  <a:solidFill>
                    <a:schemeClr val="bg1"/>
                  </a:solidFill>
                  <a:latin typeface="Huawei Sans" panose="020C0503030203020204" pitchFamily="34" charset="0"/>
                  <a:ea typeface="方正兰亭黑简体" panose="02000000000000000000" pitchFamily="2" charset="-122"/>
                </a:rPr>
                <a:t>服务模型</a:t>
              </a:r>
            </a:p>
          </p:txBody>
        </p:sp>
        <p:cxnSp>
          <p:nvCxnSpPr>
            <p:cNvPr id="10" name="直接连接符 9"/>
            <p:cNvCxnSpPr/>
            <p:nvPr/>
          </p:nvCxnSpPr>
          <p:spPr bwMode="gray">
            <a:xfrm>
              <a:off x="6266976" y="3038133"/>
              <a:ext cx="41786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6721325" y="3943076"/>
              <a:ext cx="372430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6266976" y="4925844"/>
              <a:ext cx="41786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 name="iSlíďe"/>
            <p:cNvSpPr/>
            <p:nvPr/>
          </p:nvSpPr>
          <p:spPr bwMode="gray">
            <a:xfrm rot="16200000">
              <a:off x="3704831" y="2797326"/>
              <a:ext cx="2728995" cy="1616080"/>
            </a:xfrm>
            <a:custGeom>
              <a:avLst/>
              <a:gdLst>
                <a:gd name="connsiteX0" fmla="*/ 2728995 w 2728995"/>
                <a:gd name="connsiteY0" fmla="*/ 1616080 h 1616080"/>
                <a:gd name="connsiteX1" fmla="*/ 0 w 2728995"/>
                <a:gd name="connsiteY1" fmla="*/ 1616080 h 1616080"/>
                <a:gd name="connsiteX2" fmla="*/ 937327 w 2728995"/>
                <a:gd name="connsiteY2" fmla="*/ 0 h 1616080"/>
                <a:gd name="connsiteX3" fmla="*/ 1791669 w 2728995"/>
                <a:gd name="connsiteY3" fmla="*/ 0 h 1616080"/>
              </a:gdLst>
              <a:ahLst/>
              <a:cxnLst>
                <a:cxn ang="0">
                  <a:pos x="connsiteX0" y="connsiteY0"/>
                </a:cxn>
                <a:cxn ang="0">
                  <a:pos x="connsiteX1" y="connsiteY1"/>
                </a:cxn>
                <a:cxn ang="0">
                  <a:pos x="connsiteX2" y="connsiteY2"/>
                </a:cxn>
                <a:cxn ang="0">
                  <a:pos x="connsiteX3" y="connsiteY3"/>
                </a:cxn>
              </a:cxnLst>
              <a:rect l="l" t="t" r="r" b="b"/>
              <a:pathLst>
                <a:path w="2728995" h="1616080">
                  <a:moveTo>
                    <a:pt x="2728995" y="1616080"/>
                  </a:moveTo>
                  <a:lnTo>
                    <a:pt x="0" y="1616080"/>
                  </a:lnTo>
                  <a:lnTo>
                    <a:pt x="937327" y="0"/>
                  </a:lnTo>
                  <a:lnTo>
                    <a:pt x="1791669" y="0"/>
                  </a:lnTo>
                  <a:close/>
                </a:path>
              </a:pathLst>
            </a:custGeom>
            <a:gradFill>
              <a:gsLst>
                <a:gs pos="0">
                  <a:srgbClr val="56C4D2"/>
                </a:gs>
                <a:gs pos="100000">
                  <a:schemeClr val="bg1"/>
                </a:gs>
              </a:gsLst>
              <a:lin ang="5400000" scaled="1"/>
            </a:gra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nvGrpSpPr>
            <p:cNvPr id="7" name="í$ḷîḍe"/>
            <p:cNvGrpSpPr/>
            <p:nvPr/>
          </p:nvGrpSpPr>
          <p:grpSpPr bwMode="gray">
            <a:xfrm>
              <a:off x="5556212" y="2236247"/>
              <a:ext cx="4458729" cy="841772"/>
              <a:chOff x="6629481" y="2313451"/>
              <a:chExt cx="4458729" cy="841772"/>
            </a:xfrm>
          </p:grpSpPr>
          <p:grpSp>
            <p:nvGrpSpPr>
              <p:cNvPr id="21" name="iṩḻïďè"/>
              <p:cNvGrpSpPr/>
              <p:nvPr/>
            </p:nvGrpSpPr>
            <p:grpSpPr bwMode="gray">
              <a:xfrm>
                <a:off x="6629481" y="2483157"/>
                <a:ext cx="515058" cy="515058"/>
                <a:chOff x="6629481" y="2483157"/>
                <a:chExt cx="515058" cy="515058"/>
              </a:xfrm>
            </p:grpSpPr>
            <p:sp>
              <p:nvSpPr>
                <p:cNvPr id="23" name="îṡḻïḓé"/>
                <p:cNvSpPr/>
                <p:nvPr/>
              </p:nvSpPr>
              <p:spPr bwMode="gray">
                <a:xfrm>
                  <a:off x="6629481" y="2483157"/>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24" name="îṩļíḋê"/>
                <p:cNvSpPr/>
                <p:nvPr/>
              </p:nvSpPr>
              <p:spPr bwMode="gray">
                <a:xfrm>
                  <a:off x="6751783" y="2605663"/>
                  <a:ext cx="270454" cy="270048"/>
                </a:xfrm>
                <a:custGeom>
                  <a:avLst/>
                  <a:gdLst>
                    <a:gd name="T0" fmla="*/ 5847 w 6130"/>
                    <a:gd name="T1" fmla="*/ 4531 h 6130"/>
                    <a:gd name="T2" fmla="*/ 5530 w 6130"/>
                    <a:gd name="T3" fmla="*/ 4531 h 6130"/>
                    <a:gd name="T4" fmla="*/ 5530 w 6130"/>
                    <a:gd name="T5" fmla="*/ 4463 h 6130"/>
                    <a:gd name="T6" fmla="*/ 4132 w 6130"/>
                    <a:gd name="T7" fmla="*/ 3065 h 6130"/>
                    <a:gd name="T8" fmla="*/ 3265 w 6130"/>
                    <a:gd name="T9" fmla="*/ 3065 h 6130"/>
                    <a:gd name="T10" fmla="*/ 3265 w 6130"/>
                    <a:gd name="T11" fmla="*/ 1599 h 6130"/>
                    <a:gd name="T12" fmla="*/ 3581 w 6130"/>
                    <a:gd name="T13" fmla="*/ 1599 h 6130"/>
                    <a:gd name="T14" fmla="*/ 3864 w 6130"/>
                    <a:gd name="T15" fmla="*/ 1316 h 6130"/>
                    <a:gd name="T16" fmla="*/ 3864 w 6130"/>
                    <a:gd name="T17" fmla="*/ 283 h 6130"/>
                    <a:gd name="T18" fmla="*/ 3581 w 6130"/>
                    <a:gd name="T19" fmla="*/ 0 h 6130"/>
                    <a:gd name="T20" fmla="*/ 2549 w 6130"/>
                    <a:gd name="T21" fmla="*/ 0 h 6130"/>
                    <a:gd name="T22" fmla="*/ 2265 w 6130"/>
                    <a:gd name="T23" fmla="*/ 283 h 6130"/>
                    <a:gd name="T24" fmla="*/ 2265 w 6130"/>
                    <a:gd name="T25" fmla="*/ 1316 h 6130"/>
                    <a:gd name="T26" fmla="*/ 2549 w 6130"/>
                    <a:gd name="T27" fmla="*/ 1599 h 6130"/>
                    <a:gd name="T28" fmla="*/ 2865 w 6130"/>
                    <a:gd name="T29" fmla="*/ 1599 h 6130"/>
                    <a:gd name="T30" fmla="*/ 2865 w 6130"/>
                    <a:gd name="T31" fmla="*/ 3065 h 6130"/>
                    <a:gd name="T32" fmla="*/ 1998 w 6130"/>
                    <a:gd name="T33" fmla="*/ 3065 h 6130"/>
                    <a:gd name="T34" fmla="*/ 600 w 6130"/>
                    <a:gd name="T35" fmla="*/ 4463 h 6130"/>
                    <a:gd name="T36" fmla="*/ 600 w 6130"/>
                    <a:gd name="T37" fmla="*/ 4531 h 6130"/>
                    <a:gd name="T38" fmla="*/ 283 w 6130"/>
                    <a:gd name="T39" fmla="*/ 4531 h 6130"/>
                    <a:gd name="T40" fmla="*/ 0 w 6130"/>
                    <a:gd name="T41" fmla="*/ 4814 h 6130"/>
                    <a:gd name="T42" fmla="*/ 0 w 6130"/>
                    <a:gd name="T43" fmla="*/ 5847 h 6130"/>
                    <a:gd name="T44" fmla="*/ 283 w 6130"/>
                    <a:gd name="T45" fmla="*/ 6130 h 6130"/>
                    <a:gd name="T46" fmla="*/ 1316 w 6130"/>
                    <a:gd name="T47" fmla="*/ 6130 h 6130"/>
                    <a:gd name="T48" fmla="*/ 1599 w 6130"/>
                    <a:gd name="T49" fmla="*/ 5847 h 6130"/>
                    <a:gd name="T50" fmla="*/ 1599 w 6130"/>
                    <a:gd name="T51" fmla="*/ 4814 h 6130"/>
                    <a:gd name="T52" fmla="*/ 1316 w 6130"/>
                    <a:gd name="T53" fmla="*/ 4531 h 6130"/>
                    <a:gd name="T54" fmla="*/ 999 w 6130"/>
                    <a:gd name="T55" fmla="*/ 4531 h 6130"/>
                    <a:gd name="T56" fmla="*/ 999 w 6130"/>
                    <a:gd name="T57" fmla="*/ 4463 h 6130"/>
                    <a:gd name="T58" fmla="*/ 1998 w 6130"/>
                    <a:gd name="T59" fmla="*/ 3465 h 6130"/>
                    <a:gd name="T60" fmla="*/ 2865 w 6130"/>
                    <a:gd name="T61" fmla="*/ 3465 h 6130"/>
                    <a:gd name="T62" fmla="*/ 2865 w 6130"/>
                    <a:gd name="T63" fmla="*/ 4531 h 6130"/>
                    <a:gd name="T64" fmla="*/ 2549 w 6130"/>
                    <a:gd name="T65" fmla="*/ 4531 h 6130"/>
                    <a:gd name="T66" fmla="*/ 2265 w 6130"/>
                    <a:gd name="T67" fmla="*/ 4814 h 6130"/>
                    <a:gd name="T68" fmla="*/ 2265 w 6130"/>
                    <a:gd name="T69" fmla="*/ 5847 h 6130"/>
                    <a:gd name="T70" fmla="*/ 2549 w 6130"/>
                    <a:gd name="T71" fmla="*/ 6130 h 6130"/>
                    <a:gd name="T72" fmla="*/ 3581 w 6130"/>
                    <a:gd name="T73" fmla="*/ 6130 h 6130"/>
                    <a:gd name="T74" fmla="*/ 3864 w 6130"/>
                    <a:gd name="T75" fmla="*/ 5847 h 6130"/>
                    <a:gd name="T76" fmla="*/ 3864 w 6130"/>
                    <a:gd name="T77" fmla="*/ 4814 h 6130"/>
                    <a:gd name="T78" fmla="*/ 3581 w 6130"/>
                    <a:gd name="T79" fmla="*/ 4531 h 6130"/>
                    <a:gd name="T80" fmla="*/ 3265 w 6130"/>
                    <a:gd name="T81" fmla="*/ 4531 h 6130"/>
                    <a:gd name="T82" fmla="*/ 3265 w 6130"/>
                    <a:gd name="T83" fmla="*/ 3465 h 6130"/>
                    <a:gd name="T84" fmla="*/ 4132 w 6130"/>
                    <a:gd name="T85" fmla="*/ 3465 h 6130"/>
                    <a:gd name="T86" fmla="*/ 5130 w 6130"/>
                    <a:gd name="T87" fmla="*/ 4463 h 6130"/>
                    <a:gd name="T88" fmla="*/ 5130 w 6130"/>
                    <a:gd name="T89" fmla="*/ 4531 h 6130"/>
                    <a:gd name="T90" fmla="*/ 4814 w 6130"/>
                    <a:gd name="T91" fmla="*/ 4531 h 6130"/>
                    <a:gd name="T92" fmla="*/ 4531 w 6130"/>
                    <a:gd name="T93" fmla="*/ 4814 h 6130"/>
                    <a:gd name="T94" fmla="*/ 4531 w 6130"/>
                    <a:gd name="T95" fmla="*/ 5847 h 6130"/>
                    <a:gd name="T96" fmla="*/ 4814 w 6130"/>
                    <a:gd name="T97" fmla="*/ 6130 h 6130"/>
                    <a:gd name="T98" fmla="*/ 5847 w 6130"/>
                    <a:gd name="T99" fmla="*/ 6130 h 6130"/>
                    <a:gd name="T100" fmla="*/ 6130 w 6130"/>
                    <a:gd name="T101" fmla="*/ 5847 h 6130"/>
                    <a:gd name="T102" fmla="*/ 6130 w 6130"/>
                    <a:gd name="T103" fmla="*/ 4814 h 6130"/>
                    <a:gd name="T104" fmla="*/ 5847 w 6130"/>
                    <a:gd name="T105" fmla="*/ 4531 h 6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30" h="6130">
                      <a:moveTo>
                        <a:pt x="5847" y="4531"/>
                      </a:moveTo>
                      <a:lnTo>
                        <a:pt x="5530" y="4531"/>
                      </a:lnTo>
                      <a:lnTo>
                        <a:pt x="5530" y="4463"/>
                      </a:lnTo>
                      <a:cubicBezTo>
                        <a:pt x="5530" y="3692"/>
                        <a:pt x="4903" y="3065"/>
                        <a:pt x="4132" y="3065"/>
                      </a:cubicBezTo>
                      <a:lnTo>
                        <a:pt x="3265" y="3065"/>
                      </a:lnTo>
                      <a:lnTo>
                        <a:pt x="3265" y="1599"/>
                      </a:lnTo>
                      <a:lnTo>
                        <a:pt x="3581" y="1599"/>
                      </a:lnTo>
                      <a:cubicBezTo>
                        <a:pt x="3738" y="1599"/>
                        <a:pt x="3864" y="1472"/>
                        <a:pt x="3864" y="1316"/>
                      </a:cubicBezTo>
                      <a:lnTo>
                        <a:pt x="3864" y="283"/>
                      </a:lnTo>
                      <a:cubicBezTo>
                        <a:pt x="3864" y="127"/>
                        <a:pt x="3738" y="0"/>
                        <a:pt x="3581" y="0"/>
                      </a:cubicBezTo>
                      <a:lnTo>
                        <a:pt x="2549" y="0"/>
                      </a:lnTo>
                      <a:cubicBezTo>
                        <a:pt x="2392" y="0"/>
                        <a:pt x="2265" y="127"/>
                        <a:pt x="2265" y="283"/>
                      </a:cubicBezTo>
                      <a:lnTo>
                        <a:pt x="2265" y="1316"/>
                      </a:lnTo>
                      <a:cubicBezTo>
                        <a:pt x="2265" y="1472"/>
                        <a:pt x="2392" y="1599"/>
                        <a:pt x="2549" y="1599"/>
                      </a:cubicBezTo>
                      <a:lnTo>
                        <a:pt x="2865" y="1599"/>
                      </a:lnTo>
                      <a:lnTo>
                        <a:pt x="2865" y="3065"/>
                      </a:lnTo>
                      <a:lnTo>
                        <a:pt x="1998" y="3065"/>
                      </a:lnTo>
                      <a:cubicBezTo>
                        <a:pt x="1227" y="3065"/>
                        <a:pt x="600" y="3692"/>
                        <a:pt x="600" y="4463"/>
                      </a:cubicBezTo>
                      <a:lnTo>
                        <a:pt x="600" y="4531"/>
                      </a:lnTo>
                      <a:lnTo>
                        <a:pt x="283" y="4531"/>
                      </a:lnTo>
                      <a:cubicBezTo>
                        <a:pt x="127" y="4531"/>
                        <a:pt x="0" y="4658"/>
                        <a:pt x="0" y="4814"/>
                      </a:cubicBezTo>
                      <a:lnTo>
                        <a:pt x="0" y="5847"/>
                      </a:lnTo>
                      <a:cubicBezTo>
                        <a:pt x="0" y="6003"/>
                        <a:pt x="127" y="6130"/>
                        <a:pt x="283" y="6130"/>
                      </a:cubicBezTo>
                      <a:lnTo>
                        <a:pt x="1316" y="6130"/>
                      </a:lnTo>
                      <a:cubicBezTo>
                        <a:pt x="1472" y="6130"/>
                        <a:pt x="1599" y="6003"/>
                        <a:pt x="1599" y="5847"/>
                      </a:cubicBezTo>
                      <a:lnTo>
                        <a:pt x="1599" y="4814"/>
                      </a:lnTo>
                      <a:cubicBezTo>
                        <a:pt x="1599" y="4658"/>
                        <a:pt x="1472" y="4531"/>
                        <a:pt x="1316" y="4531"/>
                      </a:cubicBezTo>
                      <a:lnTo>
                        <a:pt x="999" y="4531"/>
                      </a:lnTo>
                      <a:lnTo>
                        <a:pt x="999" y="4463"/>
                      </a:lnTo>
                      <a:cubicBezTo>
                        <a:pt x="999" y="3913"/>
                        <a:pt x="1447" y="3465"/>
                        <a:pt x="1998" y="3465"/>
                      </a:cubicBezTo>
                      <a:lnTo>
                        <a:pt x="2865" y="3465"/>
                      </a:lnTo>
                      <a:lnTo>
                        <a:pt x="2865" y="4531"/>
                      </a:lnTo>
                      <a:lnTo>
                        <a:pt x="2549" y="4531"/>
                      </a:lnTo>
                      <a:cubicBezTo>
                        <a:pt x="2392" y="4531"/>
                        <a:pt x="2265" y="4658"/>
                        <a:pt x="2265" y="4814"/>
                      </a:cubicBezTo>
                      <a:lnTo>
                        <a:pt x="2265" y="5847"/>
                      </a:lnTo>
                      <a:cubicBezTo>
                        <a:pt x="2265" y="6003"/>
                        <a:pt x="2392" y="6130"/>
                        <a:pt x="2549" y="6130"/>
                      </a:cubicBezTo>
                      <a:lnTo>
                        <a:pt x="3581" y="6130"/>
                      </a:lnTo>
                      <a:cubicBezTo>
                        <a:pt x="3738" y="6130"/>
                        <a:pt x="3864" y="6003"/>
                        <a:pt x="3864" y="5847"/>
                      </a:cubicBezTo>
                      <a:lnTo>
                        <a:pt x="3864" y="4814"/>
                      </a:lnTo>
                      <a:cubicBezTo>
                        <a:pt x="3864" y="4658"/>
                        <a:pt x="3738" y="4531"/>
                        <a:pt x="3581" y="4531"/>
                      </a:cubicBezTo>
                      <a:lnTo>
                        <a:pt x="3265" y="4531"/>
                      </a:lnTo>
                      <a:lnTo>
                        <a:pt x="3265" y="3465"/>
                      </a:lnTo>
                      <a:lnTo>
                        <a:pt x="4132" y="3465"/>
                      </a:lnTo>
                      <a:cubicBezTo>
                        <a:pt x="4683" y="3465"/>
                        <a:pt x="5130" y="3913"/>
                        <a:pt x="5130" y="4463"/>
                      </a:cubicBezTo>
                      <a:lnTo>
                        <a:pt x="5130" y="4531"/>
                      </a:lnTo>
                      <a:lnTo>
                        <a:pt x="4814" y="4531"/>
                      </a:lnTo>
                      <a:cubicBezTo>
                        <a:pt x="4657" y="4531"/>
                        <a:pt x="4531" y="4658"/>
                        <a:pt x="4531" y="4814"/>
                      </a:cubicBezTo>
                      <a:lnTo>
                        <a:pt x="4531" y="5847"/>
                      </a:lnTo>
                      <a:cubicBezTo>
                        <a:pt x="4531" y="6003"/>
                        <a:pt x="4657" y="6130"/>
                        <a:pt x="4814" y="6130"/>
                      </a:cubicBezTo>
                      <a:lnTo>
                        <a:pt x="5847" y="6130"/>
                      </a:lnTo>
                      <a:cubicBezTo>
                        <a:pt x="6003" y="6130"/>
                        <a:pt x="6130" y="6003"/>
                        <a:pt x="6130" y="5847"/>
                      </a:cubicBezTo>
                      <a:lnTo>
                        <a:pt x="6130" y="4814"/>
                      </a:lnTo>
                      <a:cubicBezTo>
                        <a:pt x="6130" y="4658"/>
                        <a:pt x="6003" y="4531"/>
                        <a:pt x="5847" y="4531"/>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22" name="íṥliḑe">
                <a:extLst>
                  <a:ext uri="{FF2B5EF4-FFF2-40B4-BE49-F238E27FC236}">
                    <a16:creationId xmlns:a16="http://schemas.microsoft.com/office/drawing/2014/main" id="{03370132-C199-466C-9FF3-97790D081173}"/>
                  </a:ext>
                </a:extLst>
              </p:cNvPr>
              <p:cNvSpPr txBox="1"/>
              <p:nvPr/>
            </p:nvSpPr>
            <p:spPr bwMode="gray">
              <a:xfrm>
                <a:off x="7260277" y="2313451"/>
                <a:ext cx="3827933" cy="84177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fontAlgn="auto"/>
                <a:r>
                  <a:rPr lang="en-US" altLang="zh-CN" b="1" dirty="0">
                    <a:latin typeface="Huawei Sans" panose="020C0503030203020204" pitchFamily="34" charset="0"/>
                    <a:ea typeface="方正兰亭黑简体" panose="02000000000000000000" pitchFamily="2" charset="-122"/>
                  </a:rPr>
                  <a:t>Best-Effort Service</a:t>
                </a:r>
              </a:p>
              <a:p>
                <a:pPr fontAlgn="auto"/>
                <a:r>
                  <a:rPr lang="zh-CN" altLang="en-US" dirty="0">
                    <a:latin typeface="Huawei Sans" panose="020C0503030203020204" pitchFamily="34" charset="0"/>
                    <a:ea typeface="方正兰亭黑简体" panose="02000000000000000000" pitchFamily="2" charset="-122"/>
                  </a:rPr>
                  <a:t>尽力而为服务模型</a:t>
                </a:r>
                <a:endParaRPr lang="en-US" altLang="zh-CN" dirty="0">
                  <a:latin typeface="Huawei Sans" panose="020C0503030203020204" pitchFamily="34" charset="0"/>
                  <a:ea typeface="方正兰亭黑简体" panose="02000000000000000000" pitchFamily="2" charset="-122"/>
                </a:endParaRPr>
              </a:p>
            </p:txBody>
          </p:sp>
        </p:grpSp>
        <p:grpSp>
          <p:nvGrpSpPr>
            <p:cNvPr id="8" name="iŝļîďé"/>
            <p:cNvGrpSpPr/>
            <p:nvPr/>
          </p:nvGrpSpPr>
          <p:grpSpPr bwMode="gray">
            <a:xfrm>
              <a:off x="5986903" y="3207160"/>
              <a:ext cx="4458729" cy="756084"/>
              <a:chOff x="7060172" y="3277280"/>
              <a:chExt cx="4458729" cy="756084"/>
            </a:xfrm>
          </p:grpSpPr>
          <p:grpSp>
            <p:nvGrpSpPr>
              <p:cNvPr id="17" name="î$ḻiḑè"/>
              <p:cNvGrpSpPr/>
              <p:nvPr/>
            </p:nvGrpSpPr>
            <p:grpSpPr bwMode="gray">
              <a:xfrm>
                <a:off x="7060172" y="3381020"/>
                <a:ext cx="515058" cy="515058"/>
                <a:chOff x="7060172" y="3381020"/>
                <a:chExt cx="515058" cy="515058"/>
              </a:xfrm>
            </p:grpSpPr>
            <p:sp>
              <p:nvSpPr>
                <p:cNvPr id="19" name="ï$ļíḍé"/>
                <p:cNvSpPr/>
                <p:nvPr/>
              </p:nvSpPr>
              <p:spPr bwMode="gray">
                <a:xfrm>
                  <a:off x="7060172" y="3381020"/>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20" name="îslîďê"/>
                <p:cNvSpPr/>
                <p:nvPr/>
              </p:nvSpPr>
              <p:spPr bwMode="gray">
                <a:xfrm>
                  <a:off x="7204860" y="3503322"/>
                  <a:ext cx="225680" cy="270454"/>
                </a:xfrm>
                <a:custGeom>
                  <a:avLst/>
                  <a:gdLst>
                    <a:gd name="T0" fmla="*/ 4643 w 4692"/>
                    <a:gd name="T1" fmla="*/ 1902 h 5631"/>
                    <a:gd name="T2" fmla="*/ 4148 w 4692"/>
                    <a:gd name="T3" fmla="*/ 111 h 5631"/>
                    <a:gd name="T4" fmla="*/ 3925 w 4692"/>
                    <a:gd name="T5" fmla="*/ 83 h 5631"/>
                    <a:gd name="T6" fmla="*/ 3855 w 4692"/>
                    <a:gd name="T7" fmla="*/ 120 h 5631"/>
                    <a:gd name="T8" fmla="*/ 2357 w 4692"/>
                    <a:gd name="T9" fmla="*/ 152 h 5631"/>
                    <a:gd name="T10" fmla="*/ 1484 w 4692"/>
                    <a:gd name="T11" fmla="*/ 310 h 5631"/>
                    <a:gd name="T12" fmla="*/ 593 w 4692"/>
                    <a:gd name="T13" fmla="*/ 1058 h 5631"/>
                    <a:gd name="T14" fmla="*/ 450 w 4692"/>
                    <a:gd name="T15" fmla="*/ 693 h 5631"/>
                    <a:gd name="T16" fmla="*/ 33 w 4692"/>
                    <a:gd name="T17" fmla="*/ 869 h 5631"/>
                    <a:gd name="T18" fmla="*/ 672 w 4692"/>
                    <a:gd name="T19" fmla="*/ 3296 h 5631"/>
                    <a:gd name="T20" fmla="*/ 1329 w 4692"/>
                    <a:gd name="T21" fmla="*/ 5431 h 5631"/>
                    <a:gd name="T22" fmla="*/ 1752 w 4692"/>
                    <a:gd name="T23" fmla="*/ 5316 h 5631"/>
                    <a:gd name="T24" fmla="*/ 1232 w 4692"/>
                    <a:gd name="T25" fmla="*/ 3221 h 5631"/>
                    <a:gd name="T26" fmla="*/ 2324 w 4692"/>
                    <a:gd name="T27" fmla="*/ 2452 h 5631"/>
                    <a:gd name="T28" fmla="*/ 3595 w 4692"/>
                    <a:gd name="T29" fmla="*/ 2496 h 5631"/>
                    <a:gd name="T30" fmla="*/ 4630 w 4692"/>
                    <a:gd name="T31" fmla="*/ 2062 h 5631"/>
                    <a:gd name="T32" fmla="*/ 4643 w 4692"/>
                    <a:gd name="T33" fmla="*/ 1902 h 5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92" h="5631">
                      <a:moveTo>
                        <a:pt x="4643" y="1902"/>
                      </a:moveTo>
                      <a:cubicBezTo>
                        <a:pt x="4692" y="1287"/>
                        <a:pt x="4371" y="664"/>
                        <a:pt x="4148" y="111"/>
                      </a:cubicBezTo>
                      <a:cubicBezTo>
                        <a:pt x="4109" y="15"/>
                        <a:pt x="3967" y="0"/>
                        <a:pt x="3925" y="83"/>
                      </a:cubicBezTo>
                      <a:cubicBezTo>
                        <a:pt x="3900" y="87"/>
                        <a:pt x="3876" y="99"/>
                        <a:pt x="3855" y="120"/>
                      </a:cubicBezTo>
                      <a:cubicBezTo>
                        <a:pt x="3434" y="537"/>
                        <a:pt x="2826" y="168"/>
                        <a:pt x="2357" y="152"/>
                      </a:cubicBezTo>
                      <a:cubicBezTo>
                        <a:pt x="2058" y="141"/>
                        <a:pt x="1762" y="197"/>
                        <a:pt x="1484" y="310"/>
                      </a:cubicBezTo>
                      <a:cubicBezTo>
                        <a:pt x="1102" y="465"/>
                        <a:pt x="793" y="716"/>
                        <a:pt x="593" y="1058"/>
                      </a:cubicBezTo>
                      <a:cubicBezTo>
                        <a:pt x="547" y="936"/>
                        <a:pt x="503" y="812"/>
                        <a:pt x="450" y="693"/>
                      </a:cubicBezTo>
                      <a:cubicBezTo>
                        <a:pt x="335" y="435"/>
                        <a:pt x="0" y="638"/>
                        <a:pt x="33" y="869"/>
                      </a:cubicBezTo>
                      <a:cubicBezTo>
                        <a:pt x="149" y="1690"/>
                        <a:pt x="447" y="2498"/>
                        <a:pt x="672" y="3296"/>
                      </a:cubicBezTo>
                      <a:cubicBezTo>
                        <a:pt x="873" y="4010"/>
                        <a:pt x="1024" y="4753"/>
                        <a:pt x="1329" y="5431"/>
                      </a:cubicBezTo>
                      <a:cubicBezTo>
                        <a:pt x="1419" y="5631"/>
                        <a:pt x="1778" y="5537"/>
                        <a:pt x="1752" y="5316"/>
                      </a:cubicBezTo>
                      <a:cubicBezTo>
                        <a:pt x="1668" y="4605"/>
                        <a:pt x="1436" y="3910"/>
                        <a:pt x="1232" y="3221"/>
                      </a:cubicBezTo>
                      <a:cubicBezTo>
                        <a:pt x="1511" y="2867"/>
                        <a:pt x="1886" y="2574"/>
                        <a:pt x="2324" y="2452"/>
                      </a:cubicBezTo>
                      <a:cubicBezTo>
                        <a:pt x="2767" y="2329"/>
                        <a:pt x="3157" y="2451"/>
                        <a:pt x="3595" y="2496"/>
                      </a:cubicBezTo>
                      <a:cubicBezTo>
                        <a:pt x="4021" y="2540"/>
                        <a:pt x="4409" y="2452"/>
                        <a:pt x="4630" y="2062"/>
                      </a:cubicBezTo>
                      <a:cubicBezTo>
                        <a:pt x="4663" y="2003"/>
                        <a:pt x="4663" y="1947"/>
                        <a:pt x="4643" y="1902"/>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18" name="îṡḷîḍê">
                <a:extLst>
                  <a:ext uri="{FF2B5EF4-FFF2-40B4-BE49-F238E27FC236}">
                    <a16:creationId xmlns:a16="http://schemas.microsoft.com/office/drawing/2014/main" id="{03370132-C199-466C-9FF3-97790D081173}"/>
                  </a:ext>
                </a:extLst>
              </p:cNvPr>
              <p:cNvSpPr txBox="1"/>
              <p:nvPr/>
            </p:nvSpPr>
            <p:spPr bwMode="gray">
              <a:xfrm>
                <a:off x="7690968" y="3277280"/>
                <a:ext cx="3827933" cy="75608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fontAlgn="auto"/>
                <a:r>
                  <a:rPr lang="en-US" altLang="zh-CN" b="1" dirty="0">
                    <a:latin typeface="Huawei Sans" panose="020C0503030203020204" pitchFamily="34" charset="0"/>
                    <a:ea typeface="方正兰亭黑简体" panose="02000000000000000000" pitchFamily="2" charset="-122"/>
                  </a:rPr>
                  <a:t>Integrated Service</a:t>
                </a:r>
              </a:p>
              <a:p>
                <a:pPr fontAlgn="auto"/>
                <a:r>
                  <a:rPr lang="zh-CN" altLang="en-US" dirty="0">
                    <a:latin typeface="Huawei Sans" panose="020C0503030203020204" pitchFamily="34" charset="0"/>
                    <a:ea typeface="方正兰亭黑简体" panose="02000000000000000000" pitchFamily="2" charset="-122"/>
                  </a:rPr>
                  <a:t>综合服务模型，简称 </a:t>
                </a:r>
                <a:r>
                  <a:rPr lang="en-US" altLang="zh-CN" dirty="0" err="1">
                    <a:latin typeface="Huawei Sans" panose="020C0503030203020204" pitchFamily="34" charset="0"/>
                    <a:ea typeface="方正兰亭黑简体" panose="02000000000000000000" pitchFamily="2" charset="-122"/>
                  </a:rPr>
                  <a:t>IntServ</a:t>
                </a:r>
                <a:endParaRPr lang="en-US" altLang="zh-CN" dirty="0">
                  <a:latin typeface="Huawei Sans" panose="020C0503030203020204" pitchFamily="34" charset="0"/>
                  <a:ea typeface="方正兰亭黑简体" panose="02000000000000000000" pitchFamily="2" charset="-122"/>
                </a:endParaRPr>
              </a:p>
            </p:txBody>
          </p:sp>
        </p:grpSp>
        <p:grpSp>
          <p:nvGrpSpPr>
            <p:cNvPr id="9" name="ïś1ïḓè"/>
            <p:cNvGrpSpPr/>
            <p:nvPr/>
          </p:nvGrpSpPr>
          <p:grpSpPr bwMode="gray">
            <a:xfrm>
              <a:off x="5556212" y="4094776"/>
              <a:ext cx="4458729" cy="846391"/>
              <a:chOff x="6629481" y="4157817"/>
              <a:chExt cx="4458729" cy="846391"/>
            </a:xfrm>
          </p:grpSpPr>
          <p:grpSp>
            <p:nvGrpSpPr>
              <p:cNvPr id="13" name="íŝḻïḍê"/>
              <p:cNvGrpSpPr/>
              <p:nvPr/>
            </p:nvGrpSpPr>
            <p:grpSpPr bwMode="gray">
              <a:xfrm>
                <a:off x="6629481" y="4278884"/>
                <a:ext cx="515058" cy="515058"/>
                <a:chOff x="6629481" y="4278884"/>
                <a:chExt cx="515058" cy="515058"/>
              </a:xfrm>
            </p:grpSpPr>
            <p:sp>
              <p:nvSpPr>
                <p:cNvPr id="15" name="ïśļiḋè"/>
                <p:cNvSpPr/>
                <p:nvPr/>
              </p:nvSpPr>
              <p:spPr bwMode="gray">
                <a:xfrm>
                  <a:off x="6629481" y="4278884"/>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16" name="îṥḷïdé"/>
                <p:cNvSpPr/>
                <p:nvPr/>
              </p:nvSpPr>
              <p:spPr bwMode="gray">
                <a:xfrm>
                  <a:off x="6755464" y="4394296"/>
                  <a:ext cx="263092" cy="284236"/>
                </a:xfrm>
                <a:custGeom>
                  <a:avLst/>
                  <a:gdLst>
                    <a:gd name="T0" fmla="*/ 371 w 437"/>
                    <a:gd name="T1" fmla="*/ 239 h 473"/>
                    <a:gd name="T2" fmla="*/ 354 w 437"/>
                    <a:gd name="T3" fmla="*/ 222 h 473"/>
                    <a:gd name="T4" fmla="*/ 354 w 437"/>
                    <a:gd name="T5" fmla="*/ 17 h 473"/>
                    <a:gd name="T6" fmla="*/ 371 w 437"/>
                    <a:gd name="T7" fmla="*/ 0 h 473"/>
                    <a:gd name="T8" fmla="*/ 371 w 437"/>
                    <a:gd name="T9" fmla="*/ 239 h 473"/>
                    <a:gd name="T10" fmla="*/ 324 w 437"/>
                    <a:gd name="T11" fmla="*/ 192 h 473"/>
                    <a:gd name="T12" fmla="*/ 341 w 437"/>
                    <a:gd name="T13" fmla="*/ 209 h 473"/>
                    <a:gd name="T14" fmla="*/ 341 w 437"/>
                    <a:gd name="T15" fmla="*/ 30 h 473"/>
                    <a:gd name="T16" fmla="*/ 324 w 437"/>
                    <a:gd name="T17" fmla="*/ 47 h 473"/>
                    <a:gd name="T18" fmla="*/ 324 w 437"/>
                    <a:gd name="T19" fmla="*/ 192 h 473"/>
                    <a:gd name="T20" fmla="*/ 310 w 437"/>
                    <a:gd name="T21" fmla="*/ 178 h 473"/>
                    <a:gd name="T22" fmla="*/ 310 w 437"/>
                    <a:gd name="T23" fmla="*/ 61 h 473"/>
                    <a:gd name="T24" fmla="*/ 293 w 437"/>
                    <a:gd name="T25" fmla="*/ 78 h 473"/>
                    <a:gd name="T26" fmla="*/ 293 w 437"/>
                    <a:gd name="T27" fmla="*/ 161 h 473"/>
                    <a:gd name="T28" fmla="*/ 310 w 437"/>
                    <a:gd name="T29" fmla="*/ 178 h 473"/>
                    <a:gd name="T30" fmla="*/ 83 w 437"/>
                    <a:gd name="T31" fmla="*/ 17 h 473"/>
                    <a:gd name="T32" fmla="*/ 66 w 437"/>
                    <a:gd name="T33" fmla="*/ 0 h 473"/>
                    <a:gd name="T34" fmla="*/ 66 w 437"/>
                    <a:gd name="T35" fmla="*/ 239 h 473"/>
                    <a:gd name="T36" fmla="*/ 83 w 437"/>
                    <a:gd name="T37" fmla="*/ 222 h 473"/>
                    <a:gd name="T38" fmla="*/ 83 w 437"/>
                    <a:gd name="T39" fmla="*/ 17 h 473"/>
                    <a:gd name="T40" fmla="*/ 96 w 437"/>
                    <a:gd name="T41" fmla="*/ 209 h 473"/>
                    <a:gd name="T42" fmla="*/ 113 w 437"/>
                    <a:gd name="T43" fmla="*/ 192 h 473"/>
                    <a:gd name="T44" fmla="*/ 113 w 437"/>
                    <a:gd name="T45" fmla="*/ 47 h 473"/>
                    <a:gd name="T46" fmla="*/ 96 w 437"/>
                    <a:gd name="T47" fmla="*/ 30 h 473"/>
                    <a:gd name="T48" fmla="*/ 96 w 437"/>
                    <a:gd name="T49" fmla="*/ 209 h 473"/>
                    <a:gd name="T50" fmla="*/ 127 w 437"/>
                    <a:gd name="T51" fmla="*/ 178 h 473"/>
                    <a:gd name="T52" fmla="*/ 144 w 437"/>
                    <a:gd name="T53" fmla="*/ 161 h 473"/>
                    <a:gd name="T54" fmla="*/ 144 w 437"/>
                    <a:gd name="T55" fmla="*/ 78 h 473"/>
                    <a:gd name="T56" fmla="*/ 127 w 437"/>
                    <a:gd name="T57" fmla="*/ 61 h 473"/>
                    <a:gd name="T58" fmla="*/ 127 w 437"/>
                    <a:gd name="T59" fmla="*/ 178 h 473"/>
                    <a:gd name="T60" fmla="*/ 318 w 437"/>
                    <a:gd name="T61" fmla="*/ 422 h 473"/>
                    <a:gd name="T62" fmla="*/ 258 w 437"/>
                    <a:gd name="T63" fmla="*/ 422 h 473"/>
                    <a:gd name="T64" fmla="*/ 223 w 437"/>
                    <a:gd name="T65" fmla="*/ 165 h 473"/>
                    <a:gd name="T66" fmla="*/ 252 w 437"/>
                    <a:gd name="T67" fmla="*/ 132 h 473"/>
                    <a:gd name="T68" fmla="*/ 218 w 437"/>
                    <a:gd name="T69" fmla="*/ 98 h 473"/>
                    <a:gd name="T70" fmla="*/ 185 w 437"/>
                    <a:gd name="T71" fmla="*/ 132 h 473"/>
                    <a:gd name="T72" fmla="*/ 214 w 437"/>
                    <a:gd name="T73" fmla="*/ 165 h 473"/>
                    <a:gd name="T74" fmla="*/ 179 w 437"/>
                    <a:gd name="T75" fmla="*/ 422 h 473"/>
                    <a:gd name="T76" fmla="*/ 119 w 437"/>
                    <a:gd name="T77" fmla="*/ 422 h 473"/>
                    <a:gd name="T78" fmla="*/ 94 w 437"/>
                    <a:gd name="T79" fmla="*/ 447 h 473"/>
                    <a:gd name="T80" fmla="*/ 119 w 437"/>
                    <a:gd name="T81" fmla="*/ 473 h 473"/>
                    <a:gd name="T82" fmla="*/ 318 w 437"/>
                    <a:gd name="T83" fmla="*/ 473 h 473"/>
                    <a:gd name="T84" fmla="*/ 343 w 437"/>
                    <a:gd name="T85" fmla="*/ 447 h 473"/>
                    <a:gd name="T86" fmla="*/ 318 w 437"/>
                    <a:gd name="T87" fmla="*/ 422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7" h="473">
                      <a:moveTo>
                        <a:pt x="371" y="239"/>
                      </a:moveTo>
                      <a:lnTo>
                        <a:pt x="354" y="222"/>
                      </a:lnTo>
                      <a:cubicBezTo>
                        <a:pt x="410" y="165"/>
                        <a:pt x="410" y="74"/>
                        <a:pt x="354" y="17"/>
                      </a:cubicBezTo>
                      <a:lnTo>
                        <a:pt x="371" y="0"/>
                      </a:lnTo>
                      <a:cubicBezTo>
                        <a:pt x="437" y="66"/>
                        <a:pt x="437" y="173"/>
                        <a:pt x="371" y="239"/>
                      </a:cubicBezTo>
                      <a:close/>
                      <a:moveTo>
                        <a:pt x="324" y="192"/>
                      </a:moveTo>
                      <a:lnTo>
                        <a:pt x="341" y="209"/>
                      </a:lnTo>
                      <a:cubicBezTo>
                        <a:pt x="390" y="160"/>
                        <a:pt x="390" y="79"/>
                        <a:pt x="341" y="30"/>
                      </a:cubicBezTo>
                      <a:lnTo>
                        <a:pt x="324" y="47"/>
                      </a:lnTo>
                      <a:cubicBezTo>
                        <a:pt x="364" y="87"/>
                        <a:pt x="364" y="152"/>
                        <a:pt x="324" y="192"/>
                      </a:cubicBezTo>
                      <a:close/>
                      <a:moveTo>
                        <a:pt x="310" y="178"/>
                      </a:moveTo>
                      <a:cubicBezTo>
                        <a:pt x="343" y="146"/>
                        <a:pt x="343" y="93"/>
                        <a:pt x="310" y="61"/>
                      </a:cubicBezTo>
                      <a:lnTo>
                        <a:pt x="293" y="78"/>
                      </a:lnTo>
                      <a:cubicBezTo>
                        <a:pt x="316" y="101"/>
                        <a:pt x="316" y="138"/>
                        <a:pt x="293" y="161"/>
                      </a:cubicBezTo>
                      <a:lnTo>
                        <a:pt x="310" y="178"/>
                      </a:lnTo>
                      <a:close/>
                      <a:moveTo>
                        <a:pt x="83" y="17"/>
                      </a:moveTo>
                      <a:lnTo>
                        <a:pt x="66" y="0"/>
                      </a:lnTo>
                      <a:cubicBezTo>
                        <a:pt x="0" y="66"/>
                        <a:pt x="0" y="173"/>
                        <a:pt x="66" y="239"/>
                      </a:cubicBezTo>
                      <a:lnTo>
                        <a:pt x="83" y="222"/>
                      </a:lnTo>
                      <a:cubicBezTo>
                        <a:pt x="27" y="165"/>
                        <a:pt x="27" y="74"/>
                        <a:pt x="83" y="17"/>
                      </a:cubicBezTo>
                      <a:close/>
                      <a:moveTo>
                        <a:pt x="96" y="209"/>
                      </a:moveTo>
                      <a:lnTo>
                        <a:pt x="113" y="192"/>
                      </a:lnTo>
                      <a:cubicBezTo>
                        <a:pt x="73" y="152"/>
                        <a:pt x="73" y="87"/>
                        <a:pt x="113" y="47"/>
                      </a:cubicBezTo>
                      <a:lnTo>
                        <a:pt x="96" y="30"/>
                      </a:lnTo>
                      <a:cubicBezTo>
                        <a:pt x="46" y="79"/>
                        <a:pt x="46" y="160"/>
                        <a:pt x="96" y="209"/>
                      </a:cubicBezTo>
                      <a:close/>
                      <a:moveTo>
                        <a:pt x="127" y="178"/>
                      </a:moveTo>
                      <a:lnTo>
                        <a:pt x="144" y="161"/>
                      </a:lnTo>
                      <a:cubicBezTo>
                        <a:pt x="121" y="138"/>
                        <a:pt x="121" y="101"/>
                        <a:pt x="144" y="78"/>
                      </a:cubicBezTo>
                      <a:lnTo>
                        <a:pt x="127" y="61"/>
                      </a:lnTo>
                      <a:cubicBezTo>
                        <a:pt x="94" y="93"/>
                        <a:pt x="94" y="146"/>
                        <a:pt x="127" y="178"/>
                      </a:cubicBezTo>
                      <a:close/>
                      <a:moveTo>
                        <a:pt x="318" y="422"/>
                      </a:moveTo>
                      <a:lnTo>
                        <a:pt x="258" y="422"/>
                      </a:lnTo>
                      <a:lnTo>
                        <a:pt x="223" y="165"/>
                      </a:lnTo>
                      <a:cubicBezTo>
                        <a:pt x="239" y="163"/>
                        <a:pt x="252" y="149"/>
                        <a:pt x="252" y="132"/>
                      </a:cubicBezTo>
                      <a:cubicBezTo>
                        <a:pt x="252" y="113"/>
                        <a:pt x="237" y="98"/>
                        <a:pt x="218" y="98"/>
                      </a:cubicBezTo>
                      <a:cubicBezTo>
                        <a:pt x="200" y="98"/>
                        <a:pt x="185" y="113"/>
                        <a:pt x="185" y="132"/>
                      </a:cubicBezTo>
                      <a:cubicBezTo>
                        <a:pt x="185" y="149"/>
                        <a:pt x="198" y="163"/>
                        <a:pt x="214" y="165"/>
                      </a:cubicBezTo>
                      <a:lnTo>
                        <a:pt x="179" y="422"/>
                      </a:lnTo>
                      <a:lnTo>
                        <a:pt x="119" y="422"/>
                      </a:lnTo>
                      <a:cubicBezTo>
                        <a:pt x="105" y="422"/>
                        <a:pt x="94" y="433"/>
                        <a:pt x="94" y="447"/>
                      </a:cubicBezTo>
                      <a:cubicBezTo>
                        <a:pt x="94" y="461"/>
                        <a:pt x="105" y="473"/>
                        <a:pt x="119" y="473"/>
                      </a:cubicBezTo>
                      <a:lnTo>
                        <a:pt x="318" y="473"/>
                      </a:lnTo>
                      <a:cubicBezTo>
                        <a:pt x="332" y="473"/>
                        <a:pt x="343" y="461"/>
                        <a:pt x="343" y="447"/>
                      </a:cubicBezTo>
                      <a:cubicBezTo>
                        <a:pt x="343" y="433"/>
                        <a:pt x="332" y="422"/>
                        <a:pt x="318" y="422"/>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14" name="îṧlîḋè">
                <a:extLst>
                  <a:ext uri="{FF2B5EF4-FFF2-40B4-BE49-F238E27FC236}">
                    <a16:creationId xmlns:a16="http://schemas.microsoft.com/office/drawing/2014/main" id="{03370132-C199-466C-9FF3-97790D081173}"/>
                  </a:ext>
                </a:extLst>
              </p:cNvPr>
              <p:cNvSpPr txBox="1"/>
              <p:nvPr/>
            </p:nvSpPr>
            <p:spPr bwMode="gray">
              <a:xfrm>
                <a:off x="7260277" y="4157817"/>
                <a:ext cx="3827933" cy="84639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fontAlgn="auto"/>
                <a:r>
                  <a:rPr lang="en-US" altLang="zh-CN" b="1" dirty="0">
                    <a:latin typeface="Huawei Sans" panose="020C0503030203020204" pitchFamily="34" charset="0"/>
                    <a:ea typeface="方正兰亭黑简体" panose="02000000000000000000" pitchFamily="2" charset="-122"/>
                  </a:rPr>
                  <a:t>Differentiated Service</a:t>
                </a:r>
              </a:p>
              <a:p>
                <a:pPr fontAlgn="auto"/>
                <a:r>
                  <a:rPr lang="zh-CN" altLang="en-US" dirty="0">
                    <a:latin typeface="Huawei Sans" panose="020C0503030203020204" pitchFamily="34" charset="0"/>
                    <a:ea typeface="方正兰亭黑简体" panose="02000000000000000000" pitchFamily="2" charset="-122"/>
                  </a:rPr>
                  <a:t>区分服务模型，简称 </a:t>
                </a:r>
                <a:r>
                  <a:rPr lang="en-US" altLang="zh-CN" dirty="0">
                    <a:latin typeface="Huawei Sans" panose="020C0503030203020204" pitchFamily="34" charset="0"/>
                    <a:ea typeface="方正兰亭黑简体" panose="02000000000000000000" pitchFamily="2" charset="-122"/>
                  </a:rPr>
                  <a:t>DiffServ</a:t>
                </a:r>
              </a:p>
            </p:txBody>
          </p:sp>
        </p:grpSp>
      </p:grpSp>
    </p:spTree>
    <p:extLst>
      <p:ext uri="{BB962C8B-B14F-4D97-AF65-F5344CB8AC3E}">
        <p14:creationId xmlns:p14="http://schemas.microsoft.com/office/powerpoint/2010/main" val="4111880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尽力而为服务模型</a:t>
            </a:r>
          </a:p>
        </p:txBody>
      </p:sp>
      <p:sp>
        <p:nvSpPr>
          <p:cNvPr id="11" name="文本占位符 10"/>
          <p:cNvSpPr>
            <a:spLocks noGrp="1"/>
          </p:cNvSpPr>
          <p:nvPr>
            <p:ph type="body" sz="quarter" idx="10"/>
          </p:nvPr>
        </p:nvSpPr>
        <p:spPr bwMode="gray"/>
        <p:txBody>
          <a:bodyPr/>
          <a:lstStyle/>
          <a:p>
            <a:r>
              <a:rPr lang="zh-CN" altLang="en-US" dirty="0"/>
              <a:t>应用程序可以在任何时候，发出任意数量的报文。</a:t>
            </a:r>
            <a:endParaRPr lang="en-US" altLang="zh-CN" dirty="0"/>
          </a:p>
          <a:p>
            <a:r>
              <a:rPr lang="zh-CN" altLang="en-US" dirty="0"/>
              <a:t>网络尽最大的可能性来发送报文。</a:t>
            </a:r>
          </a:p>
        </p:txBody>
      </p:sp>
      <p:grpSp>
        <p:nvGrpSpPr>
          <p:cNvPr id="12" name="组合 11"/>
          <p:cNvGrpSpPr/>
          <p:nvPr/>
        </p:nvGrpSpPr>
        <p:grpSpPr bwMode="gray">
          <a:xfrm>
            <a:off x="5422950" y="2533649"/>
            <a:ext cx="3590314" cy="3275660"/>
            <a:chOff x="6106086" y="1466207"/>
            <a:chExt cx="4932548" cy="4500261"/>
          </a:xfrm>
        </p:grpSpPr>
        <p:grpSp>
          <p:nvGrpSpPr>
            <p:cNvPr id="13" name="组合 12"/>
            <p:cNvGrpSpPr/>
            <p:nvPr/>
          </p:nvGrpSpPr>
          <p:grpSpPr bwMode="gray">
            <a:xfrm>
              <a:off x="6178094" y="1466207"/>
              <a:ext cx="4860540" cy="4500261"/>
              <a:chOff x="6888088" y="1700808"/>
              <a:chExt cx="4860540" cy="4500261"/>
            </a:xfrm>
          </p:grpSpPr>
          <p:sp>
            <p:nvSpPr>
              <p:cNvPr id="24" name="road_358610"/>
              <p:cNvSpPr>
                <a:spLocks noChangeAspect="1"/>
              </p:cNvSpPr>
              <p:nvPr/>
            </p:nvSpPr>
            <p:spPr bwMode="gray">
              <a:xfrm rot="16200000">
                <a:off x="8007006" y="3678235"/>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25" name="road_358610"/>
              <p:cNvSpPr>
                <a:spLocks noChangeAspect="1"/>
              </p:cNvSpPr>
              <p:nvPr/>
            </p:nvSpPr>
            <p:spPr bwMode="gray">
              <a:xfrm rot="16200000" flipH="1" flipV="1">
                <a:off x="9405813" y="2778134"/>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26" name="road_358610"/>
              <p:cNvSpPr>
                <a:spLocks noChangeAspect="1"/>
              </p:cNvSpPr>
              <p:nvPr/>
            </p:nvSpPr>
            <p:spPr bwMode="gray">
              <a:xfrm rot="16200000">
                <a:off x="10413925" y="1590002"/>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sp>
            <p:nvSpPr>
              <p:cNvPr id="27" name="road_358610"/>
              <p:cNvSpPr>
                <a:spLocks noChangeAspect="1"/>
              </p:cNvSpPr>
              <p:nvPr/>
            </p:nvSpPr>
            <p:spPr bwMode="gray">
              <a:xfrm rot="16200000" flipH="1" flipV="1">
                <a:off x="6998894" y="4866366"/>
                <a:ext cx="1223897" cy="1445509"/>
              </a:xfrm>
              <a:custGeom>
                <a:avLst/>
                <a:gdLst>
                  <a:gd name="connsiteX0" fmla="*/ 526549 w 607639"/>
                  <a:gd name="connsiteY0" fmla="*/ 434895 h 525854"/>
                  <a:gd name="connsiteX1" fmla="*/ 536720 w 607639"/>
                  <a:gd name="connsiteY1" fmla="*/ 444937 h 525854"/>
                  <a:gd name="connsiteX2" fmla="*/ 536720 w 607639"/>
                  <a:gd name="connsiteY2" fmla="*/ 465198 h 525854"/>
                  <a:gd name="connsiteX3" fmla="*/ 526549 w 607639"/>
                  <a:gd name="connsiteY3" fmla="*/ 475329 h 525854"/>
                  <a:gd name="connsiteX4" fmla="*/ 516468 w 607639"/>
                  <a:gd name="connsiteY4" fmla="*/ 465198 h 525854"/>
                  <a:gd name="connsiteX5" fmla="*/ 516468 w 607639"/>
                  <a:gd name="connsiteY5" fmla="*/ 444937 h 525854"/>
                  <a:gd name="connsiteX6" fmla="*/ 526549 w 607639"/>
                  <a:gd name="connsiteY6" fmla="*/ 434895 h 525854"/>
                  <a:gd name="connsiteX7" fmla="*/ 526549 w 607639"/>
                  <a:gd name="connsiteY7" fmla="*/ 326718 h 525854"/>
                  <a:gd name="connsiteX8" fmla="*/ 536720 w 607639"/>
                  <a:gd name="connsiteY8" fmla="*/ 336847 h 525854"/>
                  <a:gd name="connsiteX9" fmla="*/ 536720 w 607639"/>
                  <a:gd name="connsiteY9" fmla="*/ 380116 h 525854"/>
                  <a:gd name="connsiteX10" fmla="*/ 526549 w 607639"/>
                  <a:gd name="connsiteY10" fmla="*/ 390156 h 525854"/>
                  <a:gd name="connsiteX11" fmla="*/ 516468 w 607639"/>
                  <a:gd name="connsiteY11" fmla="*/ 380116 h 525854"/>
                  <a:gd name="connsiteX12" fmla="*/ 516468 w 607639"/>
                  <a:gd name="connsiteY12" fmla="*/ 336847 h 525854"/>
                  <a:gd name="connsiteX13" fmla="*/ 526549 w 607639"/>
                  <a:gd name="connsiteY13" fmla="*/ 326718 h 525854"/>
                  <a:gd name="connsiteX14" fmla="*/ 510877 w 607639"/>
                  <a:gd name="connsiteY14" fmla="*/ 220479 h 525854"/>
                  <a:gd name="connsiteX15" fmla="*/ 523779 w 607639"/>
                  <a:gd name="connsiteY15" fmla="*/ 226703 h 525854"/>
                  <a:gd name="connsiteX16" fmla="*/ 534457 w 607639"/>
                  <a:gd name="connsiteY16" fmla="*/ 270627 h 525854"/>
                  <a:gd name="connsiteX17" fmla="*/ 525826 w 607639"/>
                  <a:gd name="connsiteY17" fmla="*/ 282097 h 525854"/>
                  <a:gd name="connsiteX18" fmla="*/ 514347 w 607639"/>
                  <a:gd name="connsiteY18" fmla="*/ 273472 h 525854"/>
                  <a:gd name="connsiteX19" fmla="*/ 504648 w 607639"/>
                  <a:gd name="connsiteY19" fmla="*/ 233372 h 525854"/>
                  <a:gd name="connsiteX20" fmla="*/ 510877 w 607639"/>
                  <a:gd name="connsiteY20" fmla="*/ 220479 h 525854"/>
                  <a:gd name="connsiteX21" fmla="*/ 462007 w 607639"/>
                  <a:gd name="connsiteY21" fmla="*/ 132677 h 525854"/>
                  <a:gd name="connsiteX22" fmla="*/ 492078 w 607639"/>
                  <a:gd name="connsiteY22" fmla="*/ 166466 h 525854"/>
                  <a:gd name="connsiteX23" fmla="*/ 489854 w 607639"/>
                  <a:gd name="connsiteY23" fmla="*/ 180604 h 525854"/>
                  <a:gd name="connsiteX24" fmla="*/ 475708 w 607639"/>
                  <a:gd name="connsiteY24" fmla="*/ 178381 h 525854"/>
                  <a:gd name="connsiteX25" fmla="*/ 448217 w 607639"/>
                  <a:gd name="connsiteY25" fmla="*/ 147526 h 525854"/>
                  <a:gd name="connsiteX26" fmla="*/ 447683 w 607639"/>
                  <a:gd name="connsiteY26" fmla="*/ 133210 h 525854"/>
                  <a:gd name="connsiteX27" fmla="*/ 462007 w 607639"/>
                  <a:gd name="connsiteY27" fmla="*/ 132677 h 525854"/>
                  <a:gd name="connsiteX28" fmla="*/ 363658 w 607639"/>
                  <a:gd name="connsiteY28" fmla="*/ 78551 h 525854"/>
                  <a:gd name="connsiteX29" fmla="*/ 406111 w 607639"/>
                  <a:gd name="connsiteY29" fmla="*/ 94385 h 525854"/>
                  <a:gd name="connsiteX30" fmla="*/ 410739 w 607639"/>
                  <a:gd name="connsiteY30" fmla="*/ 107906 h 525854"/>
                  <a:gd name="connsiteX31" fmla="*/ 397211 w 607639"/>
                  <a:gd name="connsiteY31" fmla="*/ 112531 h 525854"/>
                  <a:gd name="connsiteX32" fmla="*/ 358496 w 607639"/>
                  <a:gd name="connsiteY32" fmla="*/ 98121 h 525854"/>
                  <a:gd name="connsiteX33" fmla="*/ 351287 w 607639"/>
                  <a:gd name="connsiteY33" fmla="*/ 85756 h 525854"/>
                  <a:gd name="connsiteX34" fmla="*/ 363658 w 607639"/>
                  <a:gd name="connsiteY34" fmla="*/ 78551 h 525854"/>
                  <a:gd name="connsiteX35" fmla="*/ 252031 w 607639"/>
                  <a:gd name="connsiteY35" fmla="*/ 70848 h 525854"/>
                  <a:gd name="connsiteX36" fmla="*/ 295397 w 607639"/>
                  <a:gd name="connsiteY36" fmla="*/ 70848 h 525854"/>
                  <a:gd name="connsiteX37" fmla="*/ 305548 w 607639"/>
                  <a:gd name="connsiteY37" fmla="*/ 80895 h 525854"/>
                  <a:gd name="connsiteX38" fmla="*/ 295397 w 607639"/>
                  <a:gd name="connsiteY38" fmla="*/ 91030 h 525854"/>
                  <a:gd name="connsiteX39" fmla="*/ 252031 w 607639"/>
                  <a:gd name="connsiteY39" fmla="*/ 91030 h 525854"/>
                  <a:gd name="connsiteX40" fmla="*/ 241969 w 607639"/>
                  <a:gd name="connsiteY40" fmla="*/ 80895 h 525854"/>
                  <a:gd name="connsiteX41" fmla="*/ 252031 w 607639"/>
                  <a:gd name="connsiteY41" fmla="*/ 70848 h 525854"/>
                  <a:gd name="connsiteX42" fmla="*/ 143843 w 607639"/>
                  <a:gd name="connsiteY42" fmla="*/ 70848 h 525854"/>
                  <a:gd name="connsiteX43" fmla="*/ 187161 w 607639"/>
                  <a:gd name="connsiteY43" fmla="*/ 70848 h 525854"/>
                  <a:gd name="connsiteX44" fmla="*/ 197301 w 607639"/>
                  <a:gd name="connsiteY44" fmla="*/ 80895 h 525854"/>
                  <a:gd name="connsiteX45" fmla="*/ 187161 w 607639"/>
                  <a:gd name="connsiteY45" fmla="*/ 91030 h 525854"/>
                  <a:gd name="connsiteX46" fmla="*/ 143843 w 607639"/>
                  <a:gd name="connsiteY46" fmla="*/ 91030 h 525854"/>
                  <a:gd name="connsiteX47" fmla="*/ 133792 w 607639"/>
                  <a:gd name="connsiteY47" fmla="*/ 80895 h 525854"/>
                  <a:gd name="connsiteX48" fmla="*/ 143843 w 607639"/>
                  <a:gd name="connsiteY48" fmla="*/ 70848 h 525854"/>
                  <a:gd name="connsiteX49" fmla="*/ 60815 w 607639"/>
                  <a:gd name="connsiteY49" fmla="*/ 70848 h 525854"/>
                  <a:gd name="connsiteX50" fmla="*/ 81023 w 607639"/>
                  <a:gd name="connsiteY50" fmla="*/ 70848 h 525854"/>
                  <a:gd name="connsiteX51" fmla="*/ 91171 w 607639"/>
                  <a:gd name="connsiteY51" fmla="*/ 80895 h 525854"/>
                  <a:gd name="connsiteX52" fmla="*/ 81023 w 607639"/>
                  <a:gd name="connsiteY52" fmla="*/ 91030 h 525854"/>
                  <a:gd name="connsiteX53" fmla="*/ 60815 w 607639"/>
                  <a:gd name="connsiteY53" fmla="*/ 91030 h 525854"/>
                  <a:gd name="connsiteX54" fmla="*/ 50666 w 607639"/>
                  <a:gd name="connsiteY54" fmla="*/ 80895 h 525854"/>
                  <a:gd name="connsiteX55" fmla="*/ 60815 w 607639"/>
                  <a:gd name="connsiteY55" fmla="*/ 70848 h 525854"/>
                  <a:gd name="connsiteX56" fmla="*/ 20293 w 607639"/>
                  <a:gd name="connsiteY56" fmla="*/ 20263 h 525854"/>
                  <a:gd name="connsiteX57" fmla="*/ 20293 w 607639"/>
                  <a:gd name="connsiteY57" fmla="*/ 141573 h 525854"/>
                  <a:gd name="connsiteX58" fmla="*/ 303775 w 607639"/>
                  <a:gd name="connsiteY58" fmla="*/ 141573 h 525854"/>
                  <a:gd name="connsiteX59" fmla="*/ 465854 w 607639"/>
                  <a:gd name="connsiteY59" fmla="*/ 303319 h 525854"/>
                  <a:gd name="connsiteX60" fmla="*/ 465854 w 607639"/>
                  <a:gd name="connsiteY60" fmla="*/ 505591 h 525854"/>
                  <a:gd name="connsiteX61" fmla="*/ 587346 w 607639"/>
                  <a:gd name="connsiteY61" fmla="*/ 505591 h 525854"/>
                  <a:gd name="connsiteX62" fmla="*/ 587346 w 607639"/>
                  <a:gd name="connsiteY62" fmla="*/ 303319 h 525854"/>
                  <a:gd name="connsiteX63" fmla="*/ 303775 w 607639"/>
                  <a:gd name="connsiteY63" fmla="*/ 20263 h 525854"/>
                  <a:gd name="connsiteX64" fmla="*/ 10147 w 607639"/>
                  <a:gd name="connsiteY64" fmla="*/ 0 h 525854"/>
                  <a:gd name="connsiteX65" fmla="*/ 303775 w 607639"/>
                  <a:gd name="connsiteY65" fmla="*/ 0 h 525854"/>
                  <a:gd name="connsiteX66" fmla="*/ 607639 w 607639"/>
                  <a:gd name="connsiteY66" fmla="*/ 303319 h 525854"/>
                  <a:gd name="connsiteX67" fmla="*/ 607639 w 607639"/>
                  <a:gd name="connsiteY67" fmla="*/ 515723 h 525854"/>
                  <a:gd name="connsiteX68" fmla="*/ 597492 w 607639"/>
                  <a:gd name="connsiteY68" fmla="*/ 525854 h 525854"/>
                  <a:gd name="connsiteX69" fmla="*/ 455707 w 607639"/>
                  <a:gd name="connsiteY69" fmla="*/ 525854 h 525854"/>
                  <a:gd name="connsiteX70" fmla="*/ 445560 w 607639"/>
                  <a:gd name="connsiteY70" fmla="*/ 515723 h 525854"/>
                  <a:gd name="connsiteX71" fmla="*/ 445560 w 607639"/>
                  <a:gd name="connsiteY71" fmla="*/ 303319 h 525854"/>
                  <a:gd name="connsiteX72" fmla="*/ 303775 w 607639"/>
                  <a:gd name="connsiteY72" fmla="*/ 161835 h 525854"/>
                  <a:gd name="connsiteX73" fmla="*/ 10147 w 607639"/>
                  <a:gd name="connsiteY73" fmla="*/ 161835 h 525854"/>
                  <a:gd name="connsiteX74" fmla="*/ 0 w 607639"/>
                  <a:gd name="connsiteY74" fmla="*/ 151704 h 525854"/>
                  <a:gd name="connsiteX75" fmla="*/ 0 w 607639"/>
                  <a:gd name="connsiteY75" fmla="*/ 10131 h 525854"/>
                  <a:gd name="connsiteX76" fmla="*/ 10147 w 607639"/>
                  <a:gd name="connsiteY76" fmla="*/ 0 h 52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639" h="525854">
                    <a:moveTo>
                      <a:pt x="526549" y="434895"/>
                    </a:moveTo>
                    <a:cubicBezTo>
                      <a:pt x="532170" y="434895"/>
                      <a:pt x="536720" y="439338"/>
                      <a:pt x="536720" y="444937"/>
                    </a:cubicBezTo>
                    <a:lnTo>
                      <a:pt x="536720" y="465198"/>
                    </a:lnTo>
                    <a:cubicBezTo>
                      <a:pt x="536720" y="470797"/>
                      <a:pt x="532170" y="475329"/>
                      <a:pt x="526549" y="475329"/>
                    </a:cubicBezTo>
                    <a:cubicBezTo>
                      <a:pt x="521018" y="475329"/>
                      <a:pt x="516468" y="470797"/>
                      <a:pt x="516468" y="465198"/>
                    </a:cubicBezTo>
                    <a:lnTo>
                      <a:pt x="516468" y="444937"/>
                    </a:lnTo>
                    <a:cubicBezTo>
                      <a:pt x="516468" y="439338"/>
                      <a:pt x="521018" y="434895"/>
                      <a:pt x="526549" y="434895"/>
                    </a:cubicBezTo>
                    <a:close/>
                    <a:moveTo>
                      <a:pt x="526549" y="326718"/>
                    </a:moveTo>
                    <a:cubicBezTo>
                      <a:pt x="532170" y="326718"/>
                      <a:pt x="536720" y="331249"/>
                      <a:pt x="536720" y="336847"/>
                    </a:cubicBezTo>
                    <a:lnTo>
                      <a:pt x="536720" y="380116"/>
                    </a:lnTo>
                    <a:cubicBezTo>
                      <a:pt x="536720" y="385625"/>
                      <a:pt x="532170" y="390156"/>
                      <a:pt x="526549" y="390156"/>
                    </a:cubicBezTo>
                    <a:cubicBezTo>
                      <a:pt x="521018" y="390156"/>
                      <a:pt x="516468" y="385625"/>
                      <a:pt x="516468" y="380116"/>
                    </a:cubicBezTo>
                    <a:lnTo>
                      <a:pt x="516468" y="336847"/>
                    </a:lnTo>
                    <a:cubicBezTo>
                      <a:pt x="516468" y="331249"/>
                      <a:pt x="521018" y="326718"/>
                      <a:pt x="526549" y="326718"/>
                    </a:cubicBezTo>
                    <a:close/>
                    <a:moveTo>
                      <a:pt x="510877" y="220479"/>
                    </a:moveTo>
                    <a:cubicBezTo>
                      <a:pt x="516127" y="218612"/>
                      <a:pt x="521911" y="221457"/>
                      <a:pt x="523779" y="226703"/>
                    </a:cubicBezTo>
                    <a:cubicBezTo>
                      <a:pt x="528762" y="240929"/>
                      <a:pt x="532322" y="255600"/>
                      <a:pt x="534457" y="270627"/>
                    </a:cubicBezTo>
                    <a:cubicBezTo>
                      <a:pt x="535169" y="276228"/>
                      <a:pt x="531343" y="281297"/>
                      <a:pt x="525826" y="282097"/>
                    </a:cubicBezTo>
                    <a:cubicBezTo>
                      <a:pt x="520309" y="282897"/>
                      <a:pt x="515148" y="278985"/>
                      <a:pt x="514347" y="273472"/>
                    </a:cubicBezTo>
                    <a:cubicBezTo>
                      <a:pt x="512389" y="259779"/>
                      <a:pt x="509186" y="246353"/>
                      <a:pt x="504648" y="233372"/>
                    </a:cubicBezTo>
                    <a:cubicBezTo>
                      <a:pt x="502779" y="228126"/>
                      <a:pt x="505538" y="222346"/>
                      <a:pt x="510877" y="220479"/>
                    </a:cubicBezTo>
                    <a:close/>
                    <a:moveTo>
                      <a:pt x="462007" y="132677"/>
                    </a:moveTo>
                    <a:cubicBezTo>
                      <a:pt x="473128" y="142902"/>
                      <a:pt x="483181" y="154284"/>
                      <a:pt x="492078" y="166466"/>
                    </a:cubicBezTo>
                    <a:cubicBezTo>
                      <a:pt x="495370" y="171001"/>
                      <a:pt x="494391" y="177314"/>
                      <a:pt x="489854" y="180604"/>
                    </a:cubicBezTo>
                    <a:cubicBezTo>
                      <a:pt x="485317" y="183894"/>
                      <a:pt x="479000" y="182916"/>
                      <a:pt x="475708" y="178381"/>
                    </a:cubicBezTo>
                    <a:cubicBezTo>
                      <a:pt x="467612" y="167266"/>
                      <a:pt x="458359" y="156863"/>
                      <a:pt x="448217" y="147526"/>
                    </a:cubicBezTo>
                    <a:cubicBezTo>
                      <a:pt x="444124" y="143703"/>
                      <a:pt x="443857" y="137300"/>
                      <a:pt x="447683" y="133210"/>
                    </a:cubicBezTo>
                    <a:cubicBezTo>
                      <a:pt x="451508" y="129120"/>
                      <a:pt x="457914" y="128853"/>
                      <a:pt x="462007" y="132677"/>
                    </a:cubicBezTo>
                    <a:close/>
                    <a:moveTo>
                      <a:pt x="363658" y="78551"/>
                    </a:moveTo>
                    <a:cubicBezTo>
                      <a:pt x="378343" y="82465"/>
                      <a:pt x="392494" y="87713"/>
                      <a:pt x="406111" y="94385"/>
                    </a:cubicBezTo>
                    <a:cubicBezTo>
                      <a:pt x="411095" y="96787"/>
                      <a:pt x="413231" y="102924"/>
                      <a:pt x="410739" y="107906"/>
                    </a:cubicBezTo>
                    <a:cubicBezTo>
                      <a:pt x="408247" y="112976"/>
                      <a:pt x="402195" y="115022"/>
                      <a:pt x="397211" y="112531"/>
                    </a:cubicBezTo>
                    <a:cubicBezTo>
                      <a:pt x="384840" y="106483"/>
                      <a:pt x="371846" y="101679"/>
                      <a:pt x="358496" y="98121"/>
                    </a:cubicBezTo>
                    <a:cubicBezTo>
                      <a:pt x="353067" y="96698"/>
                      <a:pt x="349863" y="91094"/>
                      <a:pt x="351287" y="85756"/>
                    </a:cubicBezTo>
                    <a:cubicBezTo>
                      <a:pt x="352711" y="80330"/>
                      <a:pt x="358229" y="77128"/>
                      <a:pt x="363658" y="78551"/>
                    </a:cubicBezTo>
                    <a:close/>
                    <a:moveTo>
                      <a:pt x="252031" y="70848"/>
                    </a:moveTo>
                    <a:lnTo>
                      <a:pt x="295397" y="70848"/>
                    </a:lnTo>
                    <a:cubicBezTo>
                      <a:pt x="301007" y="70848"/>
                      <a:pt x="305548" y="75293"/>
                      <a:pt x="305548" y="80895"/>
                    </a:cubicBezTo>
                    <a:cubicBezTo>
                      <a:pt x="305548" y="86496"/>
                      <a:pt x="301007" y="91030"/>
                      <a:pt x="295397" y="91030"/>
                    </a:cubicBezTo>
                    <a:lnTo>
                      <a:pt x="252031" y="91030"/>
                    </a:lnTo>
                    <a:cubicBezTo>
                      <a:pt x="246510" y="91030"/>
                      <a:pt x="241969" y="86496"/>
                      <a:pt x="241969" y="80895"/>
                    </a:cubicBezTo>
                    <a:cubicBezTo>
                      <a:pt x="241969" y="75293"/>
                      <a:pt x="246510" y="70848"/>
                      <a:pt x="252031" y="70848"/>
                    </a:cubicBezTo>
                    <a:close/>
                    <a:moveTo>
                      <a:pt x="143843" y="70848"/>
                    </a:moveTo>
                    <a:lnTo>
                      <a:pt x="187161" y="70848"/>
                    </a:lnTo>
                    <a:cubicBezTo>
                      <a:pt x="192765" y="70848"/>
                      <a:pt x="197301" y="75293"/>
                      <a:pt x="197301" y="80895"/>
                    </a:cubicBezTo>
                    <a:cubicBezTo>
                      <a:pt x="197301" y="86496"/>
                      <a:pt x="192765" y="91030"/>
                      <a:pt x="187161" y="91030"/>
                    </a:cubicBezTo>
                    <a:lnTo>
                      <a:pt x="143843" y="91030"/>
                    </a:lnTo>
                    <a:cubicBezTo>
                      <a:pt x="138239" y="91030"/>
                      <a:pt x="133792" y="86496"/>
                      <a:pt x="133792" y="80895"/>
                    </a:cubicBezTo>
                    <a:cubicBezTo>
                      <a:pt x="133792" y="75293"/>
                      <a:pt x="138239" y="70848"/>
                      <a:pt x="143843" y="70848"/>
                    </a:cubicBezTo>
                    <a:close/>
                    <a:moveTo>
                      <a:pt x="60815" y="70848"/>
                    </a:moveTo>
                    <a:lnTo>
                      <a:pt x="81023" y="70848"/>
                    </a:lnTo>
                    <a:cubicBezTo>
                      <a:pt x="86631" y="70848"/>
                      <a:pt x="91171" y="75293"/>
                      <a:pt x="91171" y="80895"/>
                    </a:cubicBezTo>
                    <a:cubicBezTo>
                      <a:pt x="91171" y="86496"/>
                      <a:pt x="86631" y="91030"/>
                      <a:pt x="81023" y="91030"/>
                    </a:cubicBezTo>
                    <a:lnTo>
                      <a:pt x="60815" y="91030"/>
                    </a:lnTo>
                    <a:cubicBezTo>
                      <a:pt x="55206" y="91030"/>
                      <a:pt x="50666" y="86496"/>
                      <a:pt x="50666" y="80895"/>
                    </a:cubicBezTo>
                    <a:cubicBezTo>
                      <a:pt x="50666" y="75293"/>
                      <a:pt x="55206" y="70848"/>
                      <a:pt x="60815" y="70848"/>
                    </a:cubicBezTo>
                    <a:close/>
                    <a:moveTo>
                      <a:pt x="20293" y="20263"/>
                    </a:moveTo>
                    <a:lnTo>
                      <a:pt x="20293" y="141573"/>
                    </a:lnTo>
                    <a:lnTo>
                      <a:pt x="303775" y="141573"/>
                    </a:lnTo>
                    <a:cubicBezTo>
                      <a:pt x="393314" y="141573"/>
                      <a:pt x="465854" y="214003"/>
                      <a:pt x="465854" y="303319"/>
                    </a:cubicBezTo>
                    <a:lnTo>
                      <a:pt x="465854" y="505591"/>
                    </a:lnTo>
                    <a:lnTo>
                      <a:pt x="587346" y="505591"/>
                    </a:lnTo>
                    <a:lnTo>
                      <a:pt x="587346" y="303319"/>
                    </a:lnTo>
                    <a:cubicBezTo>
                      <a:pt x="587346" y="146994"/>
                      <a:pt x="460424" y="20263"/>
                      <a:pt x="303775" y="20263"/>
                    </a:cubicBezTo>
                    <a:close/>
                    <a:moveTo>
                      <a:pt x="10147" y="0"/>
                    </a:moveTo>
                    <a:lnTo>
                      <a:pt x="303775" y="0"/>
                    </a:lnTo>
                    <a:cubicBezTo>
                      <a:pt x="471550" y="0"/>
                      <a:pt x="607639" y="135796"/>
                      <a:pt x="607639" y="303319"/>
                    </a:cubicBezTo>
                    <a:lnTo>
                      <a:pt x="607639" y="515723"/>
                    </a:lnTo>
                    <a:cubicBezTo>
                      <a:pt x="607639" y="521322"/>
                      <a:pt x="603100" y="525854"/>
                      <a:pt x="597492" y="525854"/>
                    </a:cubicBezTo>
                    <a:lnTo>
                      <a:pt x="455707" y="525854"/>
                    </a:lnTo>
                    <a:cubicBezTo>
                      <a:pt x="450100" y="525854"/>
                      <a:pt x="445560" y="521322"/>
                      <a:pt x="445560" y="515723"/>
                    </a:cubicBezTo>
                    <a:lnTo>
                      <a:pt x="445560" y="303319"/>
                    </a:lnTo>
                    <a:cubicBezTo>
                      <a:pt x="445560" y="225201"/>
                      <a:pt x="382100" y="161835"/>
                      <a:pt x="303775" y="161835"/>
                    </a:cubicBezTo>
                    <a:lnTo>
                      <a:pt x="10147" y="161835"/>
                    </a:lnTo>
                    <a:cubicBezTo>
                      <a:pt x="4539" y="161835"/>
                      <a:pt x="0" y="157303"/>
                      <a:pt x="0" y="151704"/>
                    </a:cubicBezTo>
                    <a:lnTo>
                      <a:pt x="0" y="10131"/>
                    </a:lnTo>
                    <a:cubicBezTo>
                      <a:pt x="0" y="4532"/>
                      <a:pt x="4539" y="0"/>
                      <a:pt x="10147" y="0"/>
                    </a:cubicBezTo>
                    <a:close/>
                  </a:path>
                </a:pathLst>
              </a:custGeom>
              <a:solidFill>
                <a:schemeClr val="bg1">
                  <a:lumMod val="50000"/>
                </a:schemeClr>
              </a:solidFill>
              <a:ln>
                <a:noFill/>
              </a:ln>
            </p:spPr>
          </p:sp>
        </p:grpSp>
        <p:pic>
          <p:nvPicPr>
            <p:cNvPr id="14" name="图片 13"/>
            <p:cNvPicPr>
              <a:picLocks noChangeAspect="1"/>
            </p:cNvPicPr>
            <p:nvPr/>
          </p:nvPicPr>
          <p:blipFill>
            <a:blip r:embed="rId3"/>
            <a:stretch>
              <a:fillRect/>
            </a:stretch>
          </p:blipFill>
          <p:spPr bwMode="gray">
            <a:xfrm>
              <a:off x="6106086" y="5697252"/>
              <a:ext cx="341663" cy="229555"/>
            </a:xfrm>
            <a:prstGeom prst="rect">
              <a:avLst/>
            </a:prstGeom>
          </p:spPr>
        </p:pic>
        <p:pic>
          <p:nvPicPr>
            <p:cNvPr id="15" name="图片 14"/>
            <p:cNvPicPr>
              <a:picLocks noChangeAspect="1"/>
            </p:cNvPicPr>
            <p:nvPr/>
          </p:nvPicPr>
          <p:blipFill>
            <a:blip r:embed="rId3">
              <a:duotone>
                <a:schemeClr val="accent2">
                  <a:shade val="45000"/>
                  <a:satMod val="135000"/>
                </a:schemeClr>
                <a:prstClr val="white"/>
              </a:duotone>
            </a:blip>
            <a:stretch>
              <a:fillRect/>
            </a:stretch>
          </p:blipFill>
          <p:spPr bwMode="gray">
            <a:xfrm>
              <a:off x="6934178" y="5517232"/>
              <a:ext cx="341663" cy="229555"/>
            </a:xfrm>
            <a:prstGeom prst="rect">
              <a:avLst/>
            </a:prstGeom>
          </p:spPr>
        </p:pic>
        <p:pic>
          <p:nvPicPr>
            <p:cNvPr id="16" name="图片 15"/>
            <p:cNvPicPr>
              <a:picLocks noChangeAspect="1"/>
            </p:cNvPicPr>
            <p:nvPr/>
          </p:nvPicPr>
          <p:blipFill>
            <a:blip r:embed="rId3">
              <a:duotone>
                <a:schemeClr val="accent1">
                  <a:shade val="45000"/>
                  <a:satMod val="135000"/>
                </a:schemeClr>
                <a:prstClr val="white"/>
              </a:duotone>
            </a:blip>
            <a:stretch>
              <a:fillRect/>
            </a:stretch>
          </p:blipFill>
          <p:spPr bwMode="gray">
            <a:xfrm>
              <a:off x="7222210" y="4689140"/>
              <a:ext cx="341663" cy="229555"/>
            </a:xfrm>
            <a:prstGeom prst="rect">
              <a:avLst/>
            </a:prstGeom>
          </p:spPr>
        </p:pic>
        <p:pic>
          <p:nvPicPr>
            <p:cNvPr id="17" name="图片 16"/>
            <p:cNvPicPr>
              <a:picLocks noChangeAspect="1"/>
            </p:cNvPicPr>
            <p:nvPr/>
          </p:nvPicPr>
          <p:blipFill>
            <a:blip r:embed="rId3">
              <a:duotone>
                <a:schemeClr val="accent2">
                  <a:shade val="45000"/>
                  <a:satMod val="135000"/>
                </a:schemeClr>
                <a:prstClr val="white"/>
              </a:duotone>
            </a:blip>
            <a:stretch>
              <a:fillRect/>
            </a:stretch>
          </p:blipFill>
          <p:spPr bwMode="gray">
            <a:xfrm>
              <a:off x="8410342" y="3601560"/>
              <a:ext cx="341663" cy="229555"/>
            </a:xfrm>
            <a:prstGeom prst="rect">
              <a:avLst/>
            </a:prstGeom>
          </p:spPr>
        </p:pic>
        <p:pic>
          <p:nvPicPr>
            <p:cNvPr id="18" name="图片 17"/>
            <p:cNvPicPr>
              <a:picLocks noChangeAspect="1"/>
            </p:cNvPicPr>
            <p:nvPr/>
          </p:nvPicPr>
          <p:blipFill>
            <a:blip r:embed="rId3">
              <a:duotone>
                <a:schemeClr val="accent2">
                  <a:shade val="45000"/>
                  <a:satMod val="135000"/>
                </a:schemeClr>
                <a:prstClr val="white"/>
              </a:duotone>
            </a:blip>
            <a:stretch>
              <a:fillRect/>
            </a:stretch>
          </p:blipFill>
          <p:spPr bwMode="gray">
            <a:xfrm>
              <a:off x="9382450" y="3392996"/>
              <a:ext cx="341663" cy="229555"/>
            </a:xfrm>
            <a:prstGeom prst="rect">
              <a:avLst/>
            </a:prstGeom>
          </p:spPr>
        </p:pic>
        <p:pic>
          <p:nvPicPr>
            <p:cNvPr id="19" name="图片 18"/>
            <p:cNvPicPr>
              <a:picLocks noChangeAspect="1"/>
            </p:cNvPicPr>
            <p:nvPr/>
          </p:nvPicPr>
          <p:blipFill>
            <a:blip r:embed="rId3">
              <a:duotone>
                <a:schemeClr val="accent1">
                  <a:shade val="45000"/>
                  <a:satMod val="135000"/>
                </a:schemeClr>
                <a:prstClr val="white"/>
              </a:duotone>
            </a:blip>
            <a:stretch>
              <a:fillRect/>
            </a:stretch>
          </p:blipFill>
          <p:spPr bwMode="gray">
            <a:xfrm>
              <a:off x="9634478" y="2528900"/>
              <a:ext cx="341663" cy="229555"/>
            </a:xfrm>
            <a:prstGeom prst="rect">
              <a:avLst/>
            </a:prstGeom>
          </p:spPr>
        </p:pic>
        <p:pic>
          <p:nvPicPr>
            <p:cNvPr id="20" name="图片 19"/>
            <p:cNvPicPr>
              <a:picLocks noChangeAspect="1"/>
            </p:cNvPicPr>
            <p:nvPr/>
          </p:nvPicPr>
          <p:blipFill>
            <a:blip r:embed="rId3"/>
            <a:stretch>
              <a:fillRect/>
            </a:stretch>
          </p:blipFill>
          <p:spPr bwMode="gray">
            <a:xfrm>
              <a:off x="9994518" y="1484784"/>
              <a:ext cx="341663" cy="229555"/>
            </a:xfrm>
            <a:prstGeom prst="rect">
              <a:avLst/>
            </a:prstGeom>
          </p:spPr>
        </p:pic>
        <p:grpSp>
          <p:nvGrpSpPr>
            <p:cNvPr id="21" name="组合 20"/>
            <p:cNvGrpSpPr/>
            <p:nvPr/>
          </p:nvGrpSpPr>
          <p:grpSpPr bwMode="gray">
            <a:xfrm>
              <a:off x="7438234" y="3551204"/>
              <a:ext cx="521683" cy="330268"/>
              <a:chOff x="7752184" y="3500847"/>
              <a:chExt cx="521683" cy="330268"/>
            </a:xfrm>
          </p:grpSpPr>
          <p:pic>
            <p:nvPicPr>
              <p:cNvPr id="22" name="图片 21"/>
              <p:cNvPicPr>
                <a:picLocks noChangeAspect="1"/>
              </p:cNvPicPr>
              <p:nvPr/>
            </p:nvPicPr>
            <p:blipFill>
              <a:blip r:embed="rId3"/>
              <a:stretch>
                <a:fillRect/>
              </a:stretch>
            </p:blipFill>
            <p:spPr bwMode="gray">
              <a:xfrm>
                <a:off x="7932204" y="3500847"/>
                <a:ext cx="341663" cy="229555"/>
              </a:xfrm>
              <a:prstGeom prst="rect">
                <a:avLst/>
              </a:prstGeom>
            </p:spPr>
          </p:pic>
          <p:pic>
            <p:nvPicPr>
              <p:cNvPr id="23" name="图片 22"/>
              <p:cNvPicPr>
                <a:picLocks noChangeAspect="1"/>
              </p:cNvPicPr>
              <p:nvPr/>
            </p:nvPicPr>
            <p:blipFill>
              <a:blip r:embed="rId3"/>
              <a:stretch>
                <a:fillRect/>
              </a:stretch>
            </p:blipFill>
            <p:spPr bwMode="gray">
              <a:xfrm>
                <a:off x="7752184" y="3601560"/>
                <a:ext cx="341663" cy="229555"/>
              </a:xfrm>
              <a:prstGeom prst="rect">
                <a:avLst/>
              </a:prstGeom>
            </p:spPr>
          </p:pic>
        </p:grpSp>
      </p:grpSp>
      <p:grpSp>
        <p:nvGrpSpPr>
          <p:cNvPr id="32" name="组合 31"/>
          <p:cNvGrpSpPr/>
          <p:nvPr/>
        </p:nvGrpSpPr>
        <p:grpSpPr bwMode="gray">
          <a:xfrm>
            <a:off x="1789409" y="2990344"/>
            <a:ext cx="4883048" cy="756084"/>
            <a:chOff x="1307468" y="3356992"/>
            <a:chExt cx="4883048" cy="756084"/>
          </a:xfrm>
        </p:grpSpPr>
        <p:sp>
          <p:nvSpPr>
            <p:cNvPr id="28" name="圆角矩形 27"/>
            <p:cNvSpPr/>
            <p:nvPr/>
          </p:nvSpPr>
          <p:spPr bwMode="gray">
            <a:xfrm>
              <a:off x="1307468" y="3392996"/>
              <a:ext cx="4883048" cy="720080"/>
            </a:xfrm>
            <a:prstGeom prst="roundRect">
              <a:avLst>
                <a:gd name="adj" fmla="val 7408"/>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FrutigerNext LT Regular" pitchFamily="34" charset="0"/>
                <a:ea typeface="宋体" pitchFamily="2" charset="-122"/>
              </a:endParaRPr>
            </a:p>
          </p:txBody>
        </p:sp>
        <p:sp>
          <p:nvSpPr>
            <p:cNvPr id="29" name="文本占位符 10"/>
            <p:cNvSpPr txBox="1">
              <a:spLocks/>
            </p:cNvSpPr>
            <p:nvPr/>
          </p:nvSpPr>
          <p:spPr bwMode="gray">
            <a:xfrm>
              <a:off x="1762023" y="3501008"/>
              <a:ext cx="4173188"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1800" b="1" kern="0" dirty="0"/>
                <a:t>对时延、可靠性等性能不提供任何保证。</a:t>
              </a:r>
            </a:p>
          </p:txBody>
        </p:sp>
        <p:sp>
          <p:nvSpPr>
            <p:cNvPr id="33" name="文本占位符 10"/>
            <p:cNvSpPr txBox="1">
              <a:spLocks/>
            </p:cNvSpPr>
            <p:nvPr/>
          </p:nvSpPr>
          <p:spPr bwMode="gray">
            <a:xfrm>
              <a:off x="1324506" y="3356992"/>
              <a:ext cx="576064" cy="65794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3200" b="1" kern="0" dirty="0">
                  <a:solidFill>
                    <a:srgbClr val="C00000"/>
                  </a:solidFill>
                </a:rPr>
                <a:t>！</a:t>
              </a:r>
            </a:p>
          </p:txBody>
        </p:sp>
      </p:grpSp>
      <p:sp>
        <p:nvSpPr>
          <p:cNvPr id="30" name="Rectangular Callout 29"/>
          <p:cNvSpPr/>
          <p:nvPr/>
        </p:nvSpPr>
        <p:spPr bwMode="gray">
          <a:xfrm>
            <a:off x="4577274" y="4640201"/>
            <a:ext cx="1227419" cy="608578"/>
          </a:xfrm>
          <a:prstGeom prst="wedgeRectCallout">
            <a:avLst>
              <a:gd name="adj1" fmla="val 30767"/>
              <a:gd name="adj2" fmla="val 10123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无区别对待</a:t>
            </a:r>
          </a:p>
          <a:p>
            <a:pPr algn="ctr"/>
            <a:r>
              <a:rPr lang="zh-CN" altLang="en-US" sz="1400" b="1" dirty="0">
                <a:solidFill>
                  <a:schemeClr val="tx1"/>
                </a:solidFill>
                <a:latin typeface="+mn-ea"/>
              </a:rPr>
              <a:t>先入先出</a:t>
            </a:r>
          </a:p>
        </p:txBody>
      </p:sp>
    </p:spTree>
    <p:extLst>
      <p:ext uri="{BB962C8B-B14F-4D97-AF65-F5344CB8AC3E}">
        <p14:creationId xmlns:p14="http://schemas.microsoft.com/office/powerpoint/2010/main" val="25822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综合服务模型</a:t>
            </a:r>
          </a:p>
        </p:txBody>
      </p:sp>
      <p:sp>
        <p:nvSpPr>
          <p:cNvPr id="3" name="文本占位符 2"/>
          <p:cNvSpPr>
            <a:spLocks noGrp="1"/>
          </p:cNvSpPr>
          <p:nvPr>
            <p:ph type="body" sz="quarter" idx="10"/>
          </p:nvPr>
        </p:nvSpPr>
        <p:spPr bwMode="gray"/>
        <p:txBody>
          <a:bodyPr/>
          <a:lstStyle/>
          <a:p>
            <a:r>
              <a:rPr lang="zh-CN" altLang="en-US" dirty="0"/>
              <a:t>应用程序在发送报文前，需要向网络申请特定的服务。</a:t>
            </a:r>
            <a:endParaRPr lang="en-US" altLang="zh-CN" dirty="0"/>
          </a:p>
          <a:p>
            <a:r>
              <a:rPr lang="zh-CN" altLang="en-US" dirty="0"/>
              <a:t>网络在收到应用程序的资源请求后，通过交换</a:t>
            </a:r>
            <a:r>
              <a:rPr lang="en-US" altLang="zh-CN" dirty="0"/>
              <a:t>RSVP</a:t>
            </a:r>
            <a:r>
              <a:rPr lang="zh-CN" altLang="en-US" dirty="0"/>
              <a:t>信令信息，为每个信息流预留资源。</a:t>
            </a:r>
          </a:p>
        </p:txBody>
      </p:sp>
      <p:grpSp>
        <p:nvGrpSpPr>
          <p:cNvPr id="5" name="组合 4"/>
          <p:cNvGrpSpPr/>
          <p:nvPr/>
        </p:nvGrpSpPr>
        <p:grpSpPr bwMode="gray">
          <a:xfrm>
            <a:off x="1703018" y="2569884"/>
            <a:ext cx="2866823" cy="756084"/>
            <a:chOff x="1703018" y="2569884"/>
            <a:chExt cx="2866823" cy="756084"/>
          </a:xfrm>
        </p:grpSpPr>
        <p:sp>
          <p:nvSpPr>
            <p:cNvPr id="9" name="圆角矩形 8"/>
            <p:cNvSpPr/>
            <p:nvPr/>
          </p:nvSpPr>
          <p:spPr bwMode="gray">
            <a:xfrm>
              <a:off x="1703018" y="2605888"/>
              <a:ext cx="2866823" cy="72008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 name="文本占位符 10"/>
            <p:cNvSpPr txBox="1">
              <a:spLocks/>
            </p:cNvSpPr>
            <p:nvPr/>
          </p:nvSpPr>
          <p:spPr bwMode="gray">
            <a:xfrm>
              <a:off x="2157573" y="2713900"/>
              <a:ext cx="2340260"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1800" b="1" kern="0" dirty="0">
                  <a:latin typeface="Huawei Sans" panose="020C0503030203020204" pitchFamily="34" charset="0"/>
                  <a:ea typeface="方正兰亭黑简体" panose="02000000000000000000" pitchFamily="2" charset="-122"/>
                </a:rPr>
                <a:t>实现复杂，资源浪费</a:t>
              </a:r>
            </a:p>
          </p:txBody>
        </p:sp>
        <p:sp>
          <p:nvSpPr>
            <p:cNvPr id="11" name="文本占位符 10"/>
            <p:cNvSpPr txBox="1">
              <a:spLocks/>
            </p:cNvSpPr>
            <p:nvPr/>
          </p:nvSpPr>
          <p:spPr bwMode="gray">
            <a:xfrm>
              <a:off x="1720056" y="2569884"/>
              <a:ext cx="576064" cy="65794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3200" b="1" kern="0" dirty="0">
                  <a:solidFill>
                    <a:srgbClr val="C00000"/>
                  </a:solidFill>
                  <a:latin typeface="Huawei Sans" panose="020C0503030203020204" pitchFamily="34" charset="0"/>
                  <a:ea typeface="方正兰亭黑简体" panose="02000000000000000000" pitchFamily="2" charset="-122"/>
                </a:rPr>
                <a:t>！</a:t>
              </a:r>
            </a:p>
          </p:txBody>
        </p:sp>
      </p:grpSp>
      <p:grpSp>
        <p:nvGrpSpPr>
          <p:cNvPr id="4" name="组合 3"/>
          <p:cNvGrpSpPr/>
          <p:nvPr/>
        </p:nvGrpSpPr>
        <p:grpSpPr bwMode="gray">
          <a:xfrm>
            <a:off x="2663880" y="3634008"/>
            <a:ext cx="8099056" cy="2087810"/>
            <a:chOff x="2663880" y="3634008"/>
            <a:chExt cx="8099056" cy="2087810"/>
          </a:xfrm>
        </p:grpSpPr>
        <p:sp>
          <p:nvSpPr>
            <p:cNvPr id="29" name="Can 9">
              <a:extLst>
                <a:ext uri="{FF2B5EF4-FFF2-40B4-BE49-F238E27FC236}">
                  <a16:creationId xmlns:a16="http://schemas.microsoft.com/office/drawing/2014/main" id="{6E72AFCC-D912-40EB-A7B6-29E10E5C8C94}"/>
                </a:ext>
              </a:extLst>
            </p:cNvPr>
            <p:cNvSpPr/>
            <p:nvPr/>
          </p:nvSpPr>
          <p:spPr bwMode="gray">
            <a:xfrm rot="5400000">
              <a:off x="5787342" y="3569685"/>
              <a:ext cx="341807" cy="2088232"/>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Can 9">
              <a:extLst>
                <a:ext uri="{FF2B5EF4-FFF2-40B4-BE49-F238E27FC236}">
                  <a16:creationId xmlns:a16="http://schemas.microsoft.com/office/drawing/2014/main" id="{372187E0-86F8-493B-9E29-5EB4DB038E07}"/>
                </a:ext>
              </a:extLst>
            </p:cNvPr>
            <p:cNvSpPr/>
            <p:nvPr/>
          </p:nvSpPr>
          <p:spPr bwMode="gray">
            <a:xfrm rot="5400000">
              <a:off x="8719824" y="3569686"/>
              <a:ext cx="341807" cy="2088232"/>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 name="组合 12"/>
            <p:cNvGrpSpPr/>
            <p:nvPr/>
          </p:nvGrpSpPr>
          <p:grpSpPr bwMode="gray">
            <a:xfrm>
              <a:off x="2663880" y="3634008"/>
              <a:ext cx="2196244" cy="2087810"/>
              <a:chOff x="587388" y="1592796"/>
              <a:chExt cx="2196244" cy="2087810"/>
            </a:xfrm>
          </p:grpSpPr>
          <p:pic>
            <p:nvPicPr>
              <p:cNvPr id="15" name="图片 14" descr="可视电话硬终端.png"/>
              <p:cNvPicPr>
                <a:picLocks noChangeAspect="1"/>
              </p:cNvPicPr>
              <p:nvPr/>
            </p:nvPicPr>
            <p:blipFill>
              <a:blip r:embed="rId3" cstate="print"/>
              <a:stretch>
                <a:fillRect/>
              </a:stretch>
            </p:blipFill>
            <p:spPr bwMode="gray">
              <a:xfrm>
                <a:off x="1883400" y="2528478"/>
                <a:ext cx="609949" cy="540000"/>
              </a:xfrm>
              <a:prstGeom prst="rect">
                <a:avLst/>
              </a:prstGeom>
            </p:spPr>
          </p:pic>
          <p:pic>
            <p:nvPicPr>
              <p:cNvPr id="16" name="图片 15" descr="管理型无线虚链路-蓝.png"/>
              <p:cNvPicPr>
                <a:picLocks noChangeAspect="1"/>
              </p:cNvPicPr>
              <p:nvPr/>
            </p:nvPicPr>
            <p:blipFill>
              <a:blip r:embed="rId4" cstate="print"/>
              <a:stretch>
                <a:fillRect/>
              </a:stretch>
            </p:blipFill>
            <p:spPr bwMode="gray">
              <a:xfrm>
                <a:off x="1897081" y="1772816"/>
                <a:ext cx="582586" cy="540000"/>
              </a:xfrm>
              <a:prstGeom prst="rect">
                <a:avLst/>
              </a:prstGeom>
            </p:spPr>
          </p:pic>
          <p:sp>
            <p:nvSpPr>
              <p:cNvPr id="17" name="文本框 16"/>
              <p:cNvSpPr txBox="1"/>
              <p:nvPr/>
            </p:nvSpPr>
            <p:spPr bwMode="gray">
              <a:xfrm>
                <a:off x="1003049" y="1875376"/>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18" name="文本框 17"/>
              <p:cNvSpPr txBox="1"/>
              <p:nvPr/>
            </p:nvSpPr>
            <p:spPr bwMode="gray">
              <a:xfrm>
                <a:off x="797865" y="261128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22" name="圆角矩形 21"/>
              <p:cNvSpPr/>
              <p:nvPr/>
            </p:nvSpPr>
            <p:spPr bwMode="gray">
              <a:xfrm>
                <a:off x="587388" y="1592796"/>
                <a:ext cx="2196244" cy="2087810"/>
              </a:xfrm>
              <a:prstGeom prst="roundRect">
                <a:avLst>
                  <a:gd name="adj" fmla="val 5261"/>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7" name="文本框 36"/>
              <p:cNvSpPr txBox="1"/>
              <p:nvPr/>
            </p:nvSpPr>
            <p:spPr bwMode="gray">
              <a:xfrm>
                <a:off x="1407528" y="3212162"/>
                <a:ext cx="613336" cy="396436"/>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2000" dirty="0">
                    <a:latin typeface="Huawei Sans" panose="020C0503030203020204" pitchFamily="34" charset="0"/>
                    <a:ea typeface="方正兰亭黑简体" panose="02000000000000000000" pitchFamily="2" charset="-122"/>
                  </a:rPr>
                  <a:t>… …</a:t>
                </a:r>
                <a:endParaRPr lang="zh-CN" altLang="en-US" sz="2000" dirty="0">
                  <a:latin typeface="Huawei Sans" panose="020C0503030203020204" pitchFamily="34" charset="0"/>
                  <a:ea typeface="方正兰亭黑简体" panose="02000000000000000000" pitchFamily="2" charset="-122"/>
                </a:endParaRPr>
              </a:p>
            </p:txBody>
          </p:sp>
        </p:gr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7056368" y="4282080"/>
              <a:ext cx="790244" cy="648000"/>
            </a:xfrm>
            <a:prstGeom prst="rect">
              <a:avLst/>
            </a:prstGeom>
          </p:spPr>
        </p:pic>
        <p:pic>
          <p:nvPicPr>
            <p:cNvPr id="27" name="图片 2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9972692" y="4282080"/>
              <a:ext cx="790244" cy="648000"/>
            </a:xfrm>
            <a:prstGeom prst="rect">
              <a:avLst/>
            </a:prstGeom>
          </p:spPr>
        </p:pic>
        <p:grpSp>
          <p:nvGrpSpPr>
            <p:cNvPr id="31" name="组合 30"/>
            <p:cNvGrpSpPr/>
            <p:nvPr/>
          </p:nvGrpSpPr>
          <p:grpSpPr bwMode="gray">
            <a:xfrm>
              <a:off x="5184160" y="4030052"/>
              <a:ext cx="1512168" cy="612068"/>
              <a:chOff x="3647728" y="4365104"/>
              <a:chExt cx="1512168" cy="612068"/>
            </a:xfrm>
          </p:grpSpPr>
          <p:sp>
            <p:nvSpPr>
              <p:cNvPr id="28" name="右箭头 27"/>
              <p:cNvSpPr/>
              <p:nvPr/>
            </p:nvSpPr>
            <p:spPr bwMode="gray">
              <a:xfrm>
                <a:off x="3647728" y="4365104"/>
                <a:ext cx="1512168" cy="612068"/>
              </a:xfrm>
              <a:prstGeom prst="rightArrow">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0" name="文本占位符 10"/>
              <p:cNvSpPr txBox="1">
                <a:spLocks/>
              </p:cNvSpPr>
              <p:nvPr/>
            </p:nvSpPr>
            <p:spPr bwMode="gray">
              <a:xfrm>
                <a:off x="3647728" y="4437112"/>
                <a:ext cx="1440160"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1800" kern="0" dirty="0">
                    <a:solidFill>
                      <a:schemeClr val="bg1"/>
                    </a:solidFill>
                    <a:latin typeface="Huawei Sans" panose="020C0503030203020204" pitchFamily="34" charset="0"/>
                    <a:ea typeface="方正兰亭黑简体" panose="02000000000000000000" pitchFamily="2" charset="-122"/>
                  </a:rPr>
                  <a:t>预留</a:t>
                </a:r>
                <a:r>
                  <a:rPr lang="en-US" altLang="zh-CN" sz="1800" kern="0" dirty="0">
                    <a:solidFill>
                      <a:schemeClr val="bg1"/>
                    </a:solidFill>
                    <a:latin typeface="Huawei Sans" panose="020C0503030203020204" pitchFamily="34" charset="0"/>
                    <a:ea typeface="方正兰亭黑简体" panose="02000000000000000000" pitchFamily="2" charset="-122"/>
                  </a:rPr>
                  <a:t>1M</a:t>
                </a:r>
                <a:r>
                  <a:rPr lang="zh-CN" altLang="en-US" sz="1800" kern="0" dirty="0">
                    <a:solidFill>
                      <a:schemeClr val="bg1"/>
                    </a:solidFill>
                    <a:latin typeface="Huawei Sans" panose="020C0503030203020204" pitchFamily="34" charset="0"/>
                    <a:ea typeface="方正兰亭黑简体" panose="02000000000000000000" pitchFamily="2" charset="-122"/>
                  </a:rPr>
                  <a:t>带宽</a:t>
                </a:r>
              </a:p>
            </p:txBody>
          </p:sp>
        </p:grpSp>
        <p:grpSp>
          <p:nvGrpSpPr>
            <p:cNvPr id="32" name="组合 31"/>
            <p:cNvGrpSpPr/>
            <p:nvPr/>
          </p:nvGrpSpPr>
          <p:grpSpPr bwMode="gray">
            <a:xfrm>
              <a:off x="8100484" y="4030052"/>
              <a:ext cx="1512168" cy="612068"/>
              <a:chOff x="3647728" y="4365104"/>
              <a:chExt cx="1512168" cy="612068"/>
            </a:xfrm>
          </p:grpSpPr>
          <p:sp>
            <p:nvSpPr>
              <p:cNvPr id="33" name="右箭头 32"/>
              <p:cNvSpPr/>
              <p:nvPr/>
            </p:nvSpPr>
            <p:spPr bwMode="gray">
              <a:xfrm>
                <a:off x="3647728" y="4365104"/>
                <a:ext cx="1512168" cy="612068"/>
              </a:xfrm>
              <a:prstGeom prst="rightArrow">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34" name="文本占位符 10"/>
              <p:cNvSpPr txBox="1">
                <a:spLocks/>
              </p:cNvSpPr>
              <p:nvPr/>
            </p:nvSpPr>
            <p:spPr bwMode="gray">
              <a:xfrm>
                <a:off x="3647728" y="4437112"/>
                <a:ext cx="1440160"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zh-CN" altLang="en-US" sz="1800" kern="0" dirty="0">
                    <a:solidFill>
                      <a:schemeClr val="bg1"/>
                    </a:solidFill>
                    <a:latin typeface="Huawei Sans" panose="020C0503030203020204" pitchFamily="34" charset="0"/>
                    <a:ea typeface="方正兰亭黑简体" panose="02000000000000000000" pitchFamily="2" charset="-122"/>
                  </a:rPr>
                  <a:t>预留</a:t>
                </a:r>
                <a:r>
                  <a:rPr lang="en-US" altLang="zh-CN" sz="1800" kern="0" dirty="0">
                    <a:solidFill>
                      <a:schemeClr val="bg1"/>
                    </a:solidFill>
                    <a:latin typeface="Huawei Sans" panose="020C0503030203020204" pitchFamily="34" charset="0"/>
                    <a:ea typeface="方正兰亭黑简体" panose="02000000000000000000" pitchFamily="2" charset="-122"/>
                  </a:rPr>
                  <a:t>1M</a:t>
                </a:r>
                <a:r>
                  <a:rPr lang="zh-CN" altLang="en-US" sz="1800" kern="0" dirty="0">
                    <a:solidFill>
                      <a:schemeClr val="bg1"/>
                    </a:solidFill>
                    <a:latin typeface="Huawei Sans" panose="020C0503030203020204" pitchFamily="34" charset="0"/>
                    <a:ea typeface="方正兰亭黑简体" panose="02000000000000000000" pitchFamily="2" charset="-122"/>
                  </a:rPr>
                  <a:t>带宽</a:t>
                </a:r>
              </a:p>
            </p:txBody>
          </p:sp>
        </p:grpSp>
      </p:grpSp>
      <p:sp>
        <p:nvSpPr>
          <p:cNvPr id="38" name="Rectangular Callout 37"/>
          <p:cNvSpPr/>
          <p:nvPr/>
        </p:nvSpPr>
        <p:spPr bwMode="gray">
          <a:xfrm>
            <a:off x="4752112" y="3111962"/>
            <a:ext cx="1764196" cy="608578"/>
          </a:xfrm>
          <a:prstGeom prst="wedgeRectCallout">
            <a:avLst>
              <a:gd name="adj1" fmla="val -63177"/>
              <a:gd name="adj2" fmla="val 5115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r"/>
            <a:r>
              <a:rPr lang="zh-CN" altLang="en-US" sz="1800" kern="0" dirty="0">
                <a:solidFill>
                  <a:prstClr val="black"/>
                </a:solidFill>
                <a:latin typeface="Huawei Sans" panose="020C0503030203020204" pitchFamily="34" charset="0"/>
                <a:ea typeface="方正兰亭黑简体" panose="02000000000000000000" pitchFamily="2" charset="-122"/>
              </a:rPr>
              <a:t>我要</a:t>
            </a:r>
            <a:r>
              <a:rPr lang="en-US" altLang="zh-CN" sz="1800" kern="0" dirty="0">
                <a:solidFill>
                  <a:prstClr val="black"/>
                </a:solidFill>
                <a:latin typeface="Huawei Sans" panose="020C0503030203020204" pitchFamily="34" charset="0"/>
                <a:ea typeface="方正兰亭黑简体" panose="02000000000000000000" pitchFamily="2" charset="-122"/>
              </a:rPr>
              <a:t>1M</a:t>
            </a:r>
            <a:r>
              <a:rPr lang="zh-CN" altLang="en-US" sz="1800" kern="0" dirty="0">
                <a:solidFill>
                  <a:prstClr val="black"/>
                </a:solidFill>
                <a:latin typeface="Huawei Sans" panose="020C0503030203020204" pitchFamily="34" charset="0"/>
                <a:ea typeface="方正兰亭黑简体" panose="02000000000000000000" pitchFamily="2" charset="-122"/>
              </a:rPr>
              <a:t>带宽</a:t>
            </a:r>
          </a:p>
        </p:txBody>
      </p:sp>
      <p:sp>
        <p:nvSpPr>
          <p:cNvPr id="36" name="files_221430"/>
          <p:cNvSpPr>
            <a:spLocks noChangeAspect="1"/>
          </p:cNvSpPr>
          <p:nvPr/>
        </p:nvSpPr>
        <p:spPr bwMode="gray">
          <a:xfrm>
            <a:off x="4783637" y="3198493"/>
            <a:ext cx="331917" cy="451899"/>
          </a:xfrm>
          <a:custGeom>
            <a:avLst/>
            <a:gdLst>
              <a:gd name="connsiteX0" fmla="*/ 70724 w 444390"/>
              <a:gd name="connsiteY0" fmla="*/ 473988 h 605028"/>
              <a:gd name="connsiteX1" fmla="*/ 373698 w 444390"/>
              <a:gd name="connsiteY1" fmla="*/ 473988 h 605028"/>
              <a:gd name="connsiteX2" fmla="*/ 383806 w 444390"/>
              <a:gd name="connsiteY2" fmla="*/ 484079 h 605028"/>
              <a:gd name="connsiteX3" fmla="*/ 373698 w 444390"/>
              <a:gd name="connsiteY3" fmla="*/ 494170 h 605028"/>
              <a:gd name="connsiteX4" fmla="*/ 70724 w 444390"/>
              <a:gd name="connsiteY4" fmla="*/ 494170 h 605028"/>
              <a:gd name="connsiteX5" fmla="*/ 60616 w 444390"/>
              <a:gd name="connsiteY5" fmla="*/ 484079 h 605028"/>
              <a:gd name="connsiteX6" fmla="*/ 70724 w 444390"/>
              <a:gd name="connsiteY6" fmla="*/ 473988 h 605028"/>
              <a:gd name="connsiteX7" fmla="*/ 70724 w 444390"/>
              <a:gd name="connsiteY7" fmla="*/ 413513 h 605028"/>
              <a:gd name="connsiteX8" fmla="*/ 373698 w 444390"/>
              <a:gd name="connsiteY8" fmla="*/ 413513 h 605028"/>
              <a:gd name="connsiteX9" fmla="*/ 383806 w 444390"/>
              <a:gd name="connsiteY9" fmla="*/ 423604 h 605028"/>
              <a:gd name="connsiteX10" fmla="*/ 373698 w 444390"/>
              <a:gd name="connsiteY10" fmla="*/ 433695 h 605028"/>
              <a:gd name="connsiteX11" fmla="*/ 70724 w 444390"/>
              <a:gd name="connsiteY11" fmla="*/ 433695 h 605028"/>
              <a:gd name="connsiteX12" fmla="*/ 60616 w 444390"/>
              <a:gd name="connsiteY12" fmla="*/ 423604 h 605028"/>
              <a:gd name="connsiteX13" fmla="*/ 70724 w 444390"/>
              <a:gd name="connsiteY13" fmla="*/ 413513 h 605028"/>
              <a:gd name="connsiteX14" fmla="*/ 70724 w 444390"/>
              <a:gd name="connsiteY14" fmla="*/ 352968 h 605028"/>
              <a:gd name="connsiteX15" fmla="*/ 373698 w 444390"/>
              <a:gd name="connsiteY15" fmla="*/ 352968 h 605028"/>
              <a:gd name="connsiteX16" fmla="*/ 383806 w 444390"/>
              <a:gd name="connsiteY16" fmla="*/ 363059 h 605028"/>
              <a:gd name="connsiteX17" fmla="*/ 373698 w 444390"/>
              <a:gd name="connsiteY17" fmla="*/ 373150 h 605028"/>
              <a:gd name="connsiteX18" fmla="*/ 70724 w 444390"/>
              <a:gd name="connsiteY18" fmla="*/ 373150 h 605028"/>
              <a:gd name="connsiteX19" fmla="*/ 60616 w 444390"/>
              <a:gd name="connsiteY19" fmla="*/ 363059 h 605028"/>
              <a:gd name="connsiteX20" fmla="*/ 70724 w 444390"/>
              <a:gd name="connsiteY20" fmla="*/ 352968 h 605028"/>
              <a:gd name="connsiteX21" fmla="*/ 191954 w 444390"/>
              <a:gd name="connsiteY21" fmla="*/ 292494 h 605028"/>
              <a:gd name="connsiteX22" fmla="*/ 373698 w 444390"/>
              <a:gd name="connsiteY22" fmla="*/ 292494 h 605028"/>
              <a:gd name="connsiteX23" fmla="*/ 383805 w 444390"/>
              <a:gd name="connsiteY23" fmla="*/ 302585 h 605028"/>
              <a:gd name="connsiteX24" fmla="*/ 373698 w 444390"/>
              <a:gd name="connsiteY24" fmla="*/ 312676 h 605028"/>
              <a:gd name="connsiteX25" fmla="*/ 191954 w 444390"/>
              <a:gd name="connsiteY25" fmla="*/ 312676 h 605028"/>
              <a:gd name="connsiteX26" fmla="*/ 181847 w 444390"/>
              <a:gd name="connsiteY26" fmla="*/ 302585 h 605028"/>
              <a:gd name="connsiteX27" fmla="*/ 191954 w 444390"/>
              <a:gd name="connsiteY27" fmla="*/ 292494 h 605028"/>
              <a:gd name="connsiteX28" fmla="*/ 191954 w 444390"/>
              <a:gd name="connsiteY28" fmla="*/ 231949 h 605028"/>
              <a:gd name="connsiteX29" fmla="*/ 373698 w 444390"/>
              <a:gd name="connsiteY29" fmla="*/ 231949 h 605028"/>
              <a:gd name="connsiteX30" fmla="*/ 383805 w 444390"/>
              <a:gd name="connsiteY30" fmla="*/ 242040 h 605028"/>
              <a:gd name="connsiteX31" fmla="*/ 373698 w 444390"/>
              <a:gd name="connsiteY31" fmla="*/ 252131 h 605028"/>
              <a:gd name="connsiteX32" fmla="*/ 191954 w 444390"/>
              <a:gd name="connsiteY32" fmla="*/ 252131 h 605028"/>
              <a:gd name="connsiteX33" fmla="*/ 181847 w 444390"/>
              <a:gd name="connsiteY33" fmla="*/ 242040 h 605028"/>
              <a:gd name="connsiteX34" fmla="*/ 191954 w 444390"/>
              <a:gd name="connsiteY34" fmla="*/ 231949 h 605028"/>
              <a:gd name="connsiteX35" fmla="*/ 111072 w 444390"/>
              <a:gd name="connsiteY35" fmla="*/ 213823 h 605028"/>
              <a:gd name="connsiteX36" fmla="*/ 98172 w 444390"/>
              <a:gd name="connsiteY36" fmla="*/ 252118 h 605028"/>
              <a:gd name="connsiteX37" fmla="*/ 124152 w 444390"/>
              <a:gd name="connsiteY37" fmla="*/ 252118 h 605028"/>
              <a:gd name="connsiteX38" fmla="*/ 191954 w 444390"/>
              <a:gd name="connsiteY38" fmla="*/ 171474 h 605028"/>
              <a:gd name="connsiteX39" fmla="*/ 373698 w 444390"/>
              <a:gd name="connsiteY39" fmla="*/ 171474 h 605028"/>
              <a:gd name="connsiteX40" fmla="*/ 383805 w 444390"/>
              <a:gd name="connsiteY40" fmla="*/ 181565 h 605028"/>
              <a:gd name="connsiteX41" fmla="*/ 373698 w 444390"/>
              <a:gd name="connsiteY41" fmla="*/ 191656 h 605028"/>
              <a:gd name="connsiteX42" fmla="*/ 191954 w 444390"/>
              <a:gd name="connsiteY42" fmla="*/ 191656 h 605028"/>
              <a:gd name="connsiteX43" fmla="*/ 181847 w 444390"/>
              <a:gd name="connsiteY43" fmla="*/ 181565 h 605028"/>
              <a:gd name="connsiteX44" fmla="*/ 191954 w 444390"/>
              <a:gd name="connsiteY44" fmla="*/ 171474 h 605028"/>
              <a:gd name="connsiteX45" fmla="*/ 111072 w 444390"/>
              <a:gd name="connsiteY45" fmla="*/ 171474 h 605028"/>
              <a:gd name="connsiteX46" fmla="*/ 120183 w 444390"/>
              <a:gd name="connsiteY46" fmla="*/ 178502 h 605028"/>
              <a:gd name="connsiteX47" fmla="*/ 160597 w 444390"/>
              <a:gd name="connsiteY47" fmla="*/ 299513 h 605028"/>
              <a:gd name="connsiteX48" fmla="*/ 154553 w 444390"/>
              <a:gd name="connsiteY48" fmla="*/ 312669 h 605028"/>
              <a:gd name="connsiteX49" fmla="*/ 151486 w 444390"/>
              <a:gd name="connsiteY49" fmla="*/ 312669 h 605028"/>
              <a:gd name="connsiteX50" fmla="*/ 142375 w 444390"/>
              <a:gd name="connsiteY50" fmla="*/ 305550 h 605028"/>
              <a:gd name="connsiteX51" fmla="*/ 131008 w 444390"/>
              <a:gd name="connsiteY51" fmla="*/ 272302 h 605028"/>
              <a:gd name="connsiteX52" fmla="*/ 91406 w 444390"/>
              <a:gd name="connsiteY52" fmla="*/ 272302 h 605028"/>
              <a:gd name="connsiteX53" fmla="*/ 79769 w 444390"/>
              <a:gd name="connsiteY53" fmla="*/ 306632 h 605028"/>
              <a:gd name="connsiteX54" fmla="*/ 66688 w 444390"/>
              <a:gd name="connsiteY54" fmla="*/ 312669 h 605028"/>
              <a:gd name="connsiteX55" fmla="*/ 60644 w 444390"/>
              <a:gd name="connsiteY55" fmla="*/ 299513 h 605028"/>
              <a:gd name="connsiteX56" fmla="*/ 100968 w 444390"/>
              <a:gd name="connsiteY56" fmla="*/ 178502 h 605028"/>
              <a:gd name="connsiteX57" fmla="*/ 111072 w 444390"/>
              <a:gd name="connsiteY57" fmla="*/ 171474 h 605028"/>
              <a:gd name="connsiteX58" fmla="*/ 323232 w 444390"/>
              <a:gd name="connsiteY58" fmla="*/ 34328 h 605028"/>
              <a:gd name="connsiteX59" fmla="*/ 323232 w 444390"/>
              <a:gd name="connsiteY59" fmla="*/ 110914 h 605028"/>
              <a:gd name="connsiteX60" fmla="*/ 333248 w 444390"/>
              <a:gd name="connsiteY60" fmla="*/ 121006 h 605028"/>
              <a:gd name="connsiteX61" fmla="*/ 410041 w 444390"/>
              <a:gd name="connsiteY61" fmla="*/ 121006 h 605028"/>
              <a:gd name="connsiteX62" fmla="*/ 30320 w 444390"/>
              <a:gd name="connsiteY62" fmla="*/ 20183 h 605028"/>
              <a:gd name="connsiteX63" fmla="*/ 20213 w 444390"/>
              <a:gd name="connsiteY63" fmla="*/ 30274 h 605028"/>
              <a:gd name="connsiteX64" fmla="*/ 20213 w 444390"/>
              <a:gd name="connsiteY64" fmla="*/ 574754 h 605028"/>
              <a:gd name="connsiteX65" fmla="*/ 30320 w 444390"/>
              <a:gd name="connsiteY65" fmla="*/ 584845 h 605028"/>
              <a:gd name="connsiteX66" fmla="*/ 414101 w 444390"/>
              <a:gd name="connsiteY66" fmla="*/ 584845 h 605028"/>
              <a:gd name="connsiteX67" fmla="*/ 424208 w 444390"/>
              <a:gd name="connsiteY67" fmla="*/ 574754 h 605028"/>
              <a:gd name="connsiteX68" fmla="*/ 424208 w 444390"/>
              <a:gd name="connsiteY68" fmla="*/ 141188 h 605028"/>
              <a:gd name="connsiteX69" fmla="*/ 333248 w 444390"/>
              <a:gd name="connsiteY69" fmla="*/ 141188 h 605028"/>
              <a:gd name="connsiteX70" fmla="*/ 303019 w 444390"/>
              <a:gd name="connsiteY70" fmla="*/ 110914 h 605028"/>
              <a:gd name="connsiteX71" fmla="*/ 303019 w 444390"/>
              <a:gd name="connsiteY71" fmla="*/ 20183 h 605028"/>
              <a:gd name="connsiteX72" fmla="*/ 30320 w 444390"/>
              <a:gd name="connsiteY72" fmla="*/ 0 h 605028"/>
              <a:gd name="connsiteX73" fmla="*/ 312494 w 444390"/>
              <a:gd name="connsiteY73" fmla="*/ 0 h 605028"/>
              <a:gd name="connsiteX74" fmla="*/ 315201 w 444390"/>
              <a:gd name="connsiteY74" fmla="*/ 180 h 605028"/>
              <a:gd name="connsiteX75" fmla="*/ 321878 w 444390"/>
              <a:gd name="connsiteY75" fmla="*/ 4775 h 605028"/>
              <a:gd name="connsiteX76" fmla="*/ 439639 w 444390"/>
              <a:gd name="connsiteY76" fmla="*/ 122357 h 605028"/>
              <a:gd name="connsiteX77" fmla="*/ 444241 w 444390"/>
              <a:gd name="connsiteY77" fmla="*/ 129025 h 605028"/>
              <a:gd name="connsiteX78" fmla="*/ 444331 w 444390"/>
              <a:gd name="connsiteY78" fmla="*/ 131638 h 605028"/>
              <a:gd name="connsiteX79" fmla="*/ 444331 w 444390"/>
              <a:gd name="connsiteY79" fmla="*/ 574754 h 605028"/>
              <a:gd name="connsiteX80" fmla="*/ 414101 w 444390"/>
              <a:gd name="connsiteY80" fmla="*/ 605028 h 605028"/>
              <a:gd name="connsiteX81" fmla="*/ 30320 w 444390"/>
              <a:gd name="connsiteY81" fmla="*/ 605028 h 605028"/>
              <a:gd name="connsiteX82" fmla="*/ 0 w 444390"/>
              <a:gd name="connsiteY82" fmla="*/ 574754 h 605028"/>
              <a:gd name="connsiteX83" fmla="*/ 0 w 444390"/>
              <a:gd name="connsiteY83" fmla="*/ 30274 h 605028"/>
              <a:gd name="connsiteX84" fmla="*/ 30320 w 444390"/>
              <a:gd name="connsiteY84"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444390" h="605028">
                <a:moveTo>
                  <a:pt x="70724" y="473988"/>
                </a:moveTo>
                <a:lnTo>
                  <a:pt x="373698" y="473988"/>
                </a:lnTo>
                <a:cubicBezTo>
                  <a:pt x="379745" y="473988"/>
                  <a:pt x="383806" y="478042"/>
                  <a:pt x="383806" y="484079"/>
                </a:cubicBezTo>
                <a:cubicBezTo>
                  <a:pt x="383806" y="490116"/>
                  <a:pt x="379745" y="494170"/>
                  <a:pt x="373698" y="494170"/>
                </a:cubicBezTo>
                <a:lnTo>
                  <a:pt x="70724" y="494170"/>
                </a:lnTo>
                <a:cubicBezTo>
                  <a:pt x="64677" y="494170"/>
                  <a:pt x="60616" y="490116"/>
                  <a:pt x="60616" y="484079"/>
                </a:cubicBezTo>
                <a:cubicBezTo>
                  <a:pt x="60616" y="478042"/>
                  <a:pt x="64677" y="473988"/>
                  <a:pt x="70724" y="473988"/>
                </a:cubicBezTo>
                <a:close/>
                <a:moveTo>
                  <a:pt x="70724" y="413513"/>
                </a:moveTo>
                <a:lnTo>
                  <a:pt x="373698" y="413513"/>
                </a:lnTo>
                <a:cubicBezTo>
                  <a:pt x="379745" y="413513"/>
                  <a:pt x="383806" y="417567"/>
                  <a:pt x="383806" y="423604"/>
                </a:cubicBezTo>
                <a:cubicBezTo>
                  <a:pt x="383806" y="429641"/>
                  <a:pt x="379745" y="433695"/>
                  <a:pt x="373698" y="433695"/>
                </a:cubicBezTo>
                <a:lnTo>
                  <a:pt x="70724" y="433695"/>
                </a:lnTo>
                <a:cubicBezTo>
                  <a:pt x="64677" y="433695"/>
                  <a:pt x="60616" y="429641"/>
                  <a:pt x="60616" y="423604"/>
                </a:cubicBezTo>
                <a:cubicBezTo>
                  <a:pt x="60616" y="417567"/>
                  <a:pt x="64677" y="413513"/>
                  <a:pt x="70724" y="413513"/>
                </a:cubicBezTo>
                <a:close/>
                <a:moveTo>
                  <a:pt x="70724" y="352968"/>
                </a:moveTo>
                <a:lnTo>
                  <a:pt x="373698" y="352968"/>
                </a:lnTo>
                <a:cubicBezTo>
                  <a:pt x="379745" y="352968"/>
                  <a:pt x="383806" y="357022"/>
                  <a:pt x="383806" y="363059"/>
                </a:cubicBezTo>
                <a:cubicBezTo>
                  <a:pt x="383806" y="369096"/>
                  <a:pt x="379745" y="373150"/>
                  <a:pt x="373698" y="373150"/>
                </a:cubicBezTo>
                <a:lnTo>
                  <a:pt x="70724" y="373150"/>
                </a:lnTo>
                <a:cubicBezTo>
                  <a:pt x="64677" y="373150"/>
                  <a:pt x="60616" y="369096"/>
                  <a:pt x="60616" y="363059"/>
                </a:cubicBezTo>
                <a:cubicBezTo>
                  <a:pt x="60616" y="357022"/>
                  <a:pt x="64677" y="352968"/>
                  <a:pt x="70724" y="352968"/>
                </a:cubicBezTo>
                <a:close/>
                <a:moveTo>
                  <a:pt x="191954" y="292494"/>
                </a:moveTo>
                <a:lnTo>
                  <a:pt x="373698" y="292494"/>
                </a:lnTo>
                <a:cubicBezTo>
                  <a:pt x="379744" y="292494"/>
                  <a:pt x="383805" y="296548"/>
                  <a:pt x="383805" y="302585"/>
                </a:cubicBezTo>
                <a:cubicBezTo>
                  <a:pt x="383805" y="308622"/>
                  <a:pt x="379744" y="312676"/>
                  <a:pt x="373698" y="312676"/>
                </a:cubicBezTo>
                <a:lnTo>
                  <a:pt x="191954" y="312676"/>
                </a:lnTo>
                <a:cubicBezTo>
                  <a:pt x="185818" y="312676"/>
                  <a:pt x="181847" y="308622"/>
                  <a:pt x="181847" y="302585"/>
                </a:cubicBezTo>
                <a:cubicBezTo>
                  <a:pt x="181847" y="296548"/>
                  <a:pt x="185818" y="292494"/>
                  <a:pt x="191954" y="292494"/>
                </a:cubicBezTo>
                <a:close/>
                <a:moveTo>
                  <a:pt x="191954" y="231949"/>
                </a:moveTo>
                <a:lnTo>
                  <a:pt x="373698" y="231949"/>
                </a:lnTo>
                <a:cubicBezTo>
                  <a:pt x="379744" y="231949"/>
                  <a:pt x="383805" y="236003"/>
                  <a:pt x="383805" y="242040"/>
                </a:cubicBezTo>
                <a:cubicBezTo>
                  <a:pt x="383805" y="248077"/>
                  <a:pt x="379744" y="252131"/>
                  <a:pt x="373698" y="252131"/>
                </a:cubicBezTo>
                <a:lnTo>
                  <a:pt x="191954" y="252131"/>
                </a:lnTo>
                <a:cubicBezTo>
                  <a:pt x="185818" y="252131"/>
                  <a:pt x="181847" y="248077"/>
                  <a:pt x="181847" y="242040"/>
                </a:cubicBezTo>
                <a:cubicBezTo>
                  <a:pt x="181847" y="236003"/>
                  <a:pt x="185818" y="231949"/>
                  <a:pt x="191954" y="231949"/>
                </a:cubicBezTo>
                <a:close/>
                <a:moveTo>
                  <a:pt x="111072" y="213823"/>
                </a:moveTo>
                <a:lnTo>
                  <a:pt x="98172" y="252118"/>
                </a:lnTo>
                <a:lnTo>
                  <a:pt x="124152" y="252118"/>
                </a:lnTo>
                <a:close/>
                <a:moveTo>
                  <a:pt x="191954" y="171474"/>
                </a:moveTo>
                <a:lnTo>
                  <a:pt x="373698" y="171474"/>
                </a:lnTo>
                <a:cubicBezTo>
                  <a:pt x="379744" y="171474"/>
                  <a:pt x="383805" y="175528"/>
                  <a:pt x="383805" y="181565"/>
                </a:cubicBezTo>
                <a:cubicBezTo>
                  <a:pt x="383805" y="187602"/>
                  <a:pt x="379744" y="191656"/>
                  <a:pt x="373698" y="191656"/>
                </a:cubicBezTo>
                <a:lnTo>
                  <a:pt x="191954" y="191656"/>
                </a:lnTo>
                <a:cubicBezTo>
                  <a:pt x="185818" y="191656"/>
                  <a:pt x="181847" y="187602"/>
                  <a:pt x="181847" y="181565"/>
                </a:cubicBezTo>
                <a:cubicBezTo>
                  <a:pt x="181847" y="175528"/>
                  <a:pt x="185818" y="171474"/>
                  <a:pt x="191954" y="171474"/>
                </a:cubicBezTo>
                <a:close/>
                <a:moveTo>
                  <a:pt x="111072" y="171474"/>
                </a:moveTo>
                <a:cubicBezTo>
                  <a:pt x="115131" y="171474"/>
                  <a:pt x="119191" y="174538"/>
                  <a:pt x="120183" y="178502"/>
                </a:cubicBezTo>
                <a:lnTo>
                  <a:pt x="160597" y="299513"/>
                </a:lnTo>
                <a:cubicBezTo>
                  <a:pt x="162582" y="304559"/>
                  <a:pt x="159605" y="310596"/>
                  <a:pt x="154553" y="312669"/>
                </a:cubicBezTo>
                <a:lnTo>
                  <a:pt x="151486" y="312669"/>
                </a:lnTo>
                <a:cubicBezTo>
                  <a:pt x="147427" y="312669"/>
                  <a:pt x="143367" y="309605"/>
                  <a:pt x="142375" y="305550"/>
                </a:cubicBezTo>
                <a:lnTo>
                  <a:pt x="131008" y="272302"/>
                </a:lnTo>
                <a:lnTo>
                  <a:pt x="91406" y="272302"/>
                </a:lnTo>
                <a:lnTo>
                  <a:pt x="79769" y="306632"/>
                </a:lnTo>
                <a:cubicBezTo>
                  <a:pt x="77784" y="311678"/>
                  <a:pt x="72732" y="314651"/>
                  <a:pt x="66688" y="312669"/>
                </a:cubicBezTo>
                <a:cubicBezTo>
                  <a:pt x="61636" y="310596"/>
                  <a:pt x="58569" y="305550"/>
                  <a:pt x="60644" y="299513"/>
                </a:cubicBezTo>
                <a:lnTo>
                  <a:pt x="100968" y="178502"/>
                </a:lnTo>
                <a:cubicBezTo>
                  <a:pt x="103043" y="174538"/>
                  <a:pt x="107103" y="171474"/>
                  <a:pt x="111072" y="171474"/>
                </a:cubicBezTo>
                <a:close/>
                <a:moveTo>
                  <a:pt x="323232" y="34328"/>
                </a:moveTo>
                <a:lnTo>
                  <a:pt x="323232" y="110914"/>
                </a:lnTo>
                <a:cubicBezTo>
                  <a:pt x="323232" y="117041"/>
                  <a:pt x="327202" y="121006"/>
                  <a:pt x="333248" y="121006"/>
                </a:cubicBezTo>
                <a:lnTo>
                  <a:pt x="410041"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9" y="128124"/>
                  <a:pt x="303019" y="110914"/>
                </a:cubicBezTo>
                <a:lnTo>
                  <a:pt x="303019" y="20183"/>
                </a:lnTo>
                <a:close/>
                <a:moveTo>
                  <a:pt x="30320" y="0"/>
                </a:moveTo>
                <a:lnTo>
                  <a:pt x="312494" y="0"/>
                </a:lnTo>
                <a:cubicBezTo>
                  <a:pt x="313396" y="0"/>
                  <a:pt x="314298" y="0"/>
                  <a:pt x="315201" y="180"/>
                </a:cubicBezTo>
                <a:cubicBezTo>
                  <a:pt x="318179" y="721"/>
                  <a:pt x="320525" y="2343"/>
                  <a:pt x="321878" y="4775"/>
                </a:cubicBezTo>
                <a:lnTo>
                  <a:pt x="439639"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rgbClr val="0070C0"/>
          </a:solidFill>
          <a:ln>
            <a:noFill/>
          </a:ln>
        </p:spPr>
      </p:sp>
    </p:spTree>
    <p:extLst>
      <p:ext uri="{BB962C8B-B14F-4D97-AF65-F5344CB8AC3E}">
        <p14:creationId xmlns:p14="http://schemas.microsoft.com/office/powerpoint/2010/main" val="3235825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区分服务模型</a:t>
            </a:r>
          </a:p>
        </p:txBody>
      </p:sp>
      <p:sp>
        <p:nvSpPr>
          <p:cNvPr id="3" name="文本占位符 2"/>
          <p:cNvSpPr>
            <a:spLocks noGrp="1"/>
          </p:cNvSpPr>
          <p:nvPr>
            <p:ph type="body" sz="quarter" idx="10"/>
          </p:nvPr>
        </p:nvSpPr>
        <p:spPr bwMode="gray"/>
        <p:txBody>
          <a:bodyPr/>
          <a:lstStyle/>
          <a:p>
            <a:r>
              <a:rPr lang="zh-CN" altLang="en-US" dirty="0"/>
              <a:t>将网络中的流量分成多个类，然后为每个类定义相应的处理行为，使其拥有不同的优先转发、丢包率、时延等。</a:t>
            </a:r>
          </a:p>
        </p:txBody>
      </p:sp>
      <p:sp>
        <p:nvSpPr>
          <p:cNvPr id="49" name="圆角矩形 48"/>
          <p:cNvSpPr/>
          <p:nvPr/>
        </p:nvSpPr>
        <p:spPr bwMode="gray">
          <a:xfrm>
            <a:off x="4223792" y="3286760"/>
            <a:ext cx="4032448" cy="1944216"/>
          </a:xfrm>
          <a:prstGeom prst="roundRect">
            <a:avLst/>
          </a:prstGeom>
          <a:solidFill>
            <a:srgbClr val="F4FBFE"/>
          </a:solidFill>
          <a:ln w="9525" cap="flat" cmpd="sng" algn="ctr">
            <a:solidFill>
              <a:srgbClr val="56C4D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1" name="直接连接符 30"/>
          <p:cNvCxnSpPr/>
          <p:nvPr/>
        </p:nvCxnSpPr>
        <p:spPr bwMode="gray">
          <a:xfrm flipV="1">
            <a:off x="2999656" y="4330876"/>
            <a:ext cx="1018967"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p:nvPr/>
        </p:nvCxnSpPr>
        <p:spPr bwMode="gray">
          <a:xfrm flipV="1">
            <a:off x="8450035" y="2962724"/>
            <a:ext cx="1030341"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p:nvPr/>
        </p:nvCxnSpPr>
        <p:spPr bwMode="gray">
          <a:xfrm>
            <a:off x="8400256" y="4294872"/>
            <a:ext cx="1116124" cy="864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 name="直接连接符 25"/>
          <p:cNvCxnSpPr/>
          <p:nvPr/>
        </p:nvCxnSpPr>
        <p:spPr bwMode="gray">
          <a:xfrm>
            <a:off x="2963652" y="2890716"/>
            <a:ext cx="1080120" cy="104411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39207" y="3808854"/>
            <a:ext cx="790244" cy="648000"/>
          </a:xfrm>
          <a:prstGeom prst="rect">
            <a:avLst/>
          </a:prstGeom>
        </p:spPr>
      </p:pic>
      <p:cxnSp>
        <p:nvCxnSpPr>
          <p:cNvPr id="28" name="直接连接符 27"/>
          <p:cNvCxnSpPr>
            <a:stCxn id="13" idx="3"/>
            <a:endCxn id="51" idx="1"/>
          </p:cNvCxnSpPr>
          <p:nvPr/>
        </p:nvCxnSpPr>
        <p:spPr bwMode="gray">
          <a:xfrm flipV="1">
            <a:off x="2988283" y="4132854"/>
            <a:ext cx="1019485"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32"/>
          <p:cNvCxnSpPr>
            <a:stCxn id="51" idx="3"/>
            <a:endCxn id="15" idx="1"/>
          </p:cNvCxnSpPr>
          <p:nvPr/>
        </p:nvCxnSpPr>
        <p:spPr bwMode="gray">
          <a:xfrm>
            <a:off x="4798012" y="4132854"/>
            <a:ext cx="104119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36"/>
          <p:cNvCxnSpPr>
            <a:stCxn id="15" idx="3"/>
            <a:endCxn id="52" idx="1"/>
          </p:cNvCxnSpPr>
          <p:nvPr/>
        </p:nvCxnSpPr>
        <p:spPr bwMode="gray">
          <a:xfrm>
            <a:off x="6629451" y="4132854"/>
            <a:ext cx="105072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0" name="直接连接符 39"/>
          <p:cNvCxnSpPr>
            <a:stCxn id="52" idx="3"/>
            <a:endCxn id="24" idx="1"/>
          </p:cNvCxnSpPr>
          <p:nvPr/>
        </p:nvCxnSpPr>
        <p:spPr bwMode="gray">
          <a:xfrm>
            <a:off x="8470420" y="4132854"/>
            <a:ext cx="1009956"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文本占位符 10"/>
          <p:cNvSpPr txBox="1">
            <a:spLocks/>
          </p:cNvSpPr>
          <p:nvPr/>
        </p:nvSpPr>
        <p:spPr bwMode="gray">
          <a:xfrm>
            <a:off x="6708068" y="4762924"/>
            <a:ext cx="1368152"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None/>
            </a:pPr>
            <a:r>
              <a:rPr lang="en-US" altLang="zh-CN" sz="1600" b="1" kern="0" dirty="0">
                <a:latin typeface="Huawei Sans" panose="020C0503030203020204" pitchFamily="34" charset="0"/>
                <a:ea typeface="方正兰亭黑简体" panose="02000000000000000000" pitchFamily="2" charset="-122"/>
              </a:rPr>
              <a:t>DiffServ</a:t>
            </a:r>
            <a:r>
              <a:rPr lang="zh-CN" altLang="en-US" sz="1600" b="1" kern="0" dirty="0">
                <a:latin typeface="Huawei Sans" panose="020C0503030203020204" pitchFamily="34" charset="0"/>
                <a:ea typeface="方正兰亭黑简体" panose="02000000000000000000" pitchFamily="2" charset="-122"/>
              </a:rPr>
              <a:t>域</a:t>
            </a:r>
          </a:p>
        </p:txBody>
      </p:sp>
      <p:pic>
        <p:nvPicPr>
          <p:cNvPr id="51" name="图片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007768" y="3808854"/>
            <a:ext cx="790244" cy="648000"/>
          </a:xfrm>
          <a:prstGeom prst="rect">
            <a:avLst/>
          </a:prstGeom>
        </p:spPr>
      </p:pic>
      <p:pic>
        <p:nvPicPr>
          <p:cNvPr id="52"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680176" y="3808854"/>
            <a:ext cx="790244" cy="648000"/>
          </a:xfrm>
          <a:prstGeom prst="rect">
            <a:avLst/>
          </a:prstGeom>
        </p:spPr>
      </p:pic>
      <p:sp>
        <p:nvSpPr>
          <p:cNvPr id="57" name="文本占位符 10"/>
          <p:cNvSpPr txBox="1">
            <a:spLocks/>
          </p:cNvSpPr>
          <p:nvPr/>
        </p:nvSpPr>
        <p:spPr bwMode="gray">
          <a:xfrm>
            <a:off x="3827748" y="4402884"/>
            <a:ext cx="1152128"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边界节点</a:t>
            </a:r>
          </a:p>
        </p:txBody>
      </p:sp>
      <p:sp>
        <p:nvSpPr>
          <p:cNvPr id="58" name="文本占位符 10"/>
          <p:cNvSpPr txBox="1">
            <a:spLocks/>
          </p:cNvSpPr>
          <p:nvPr/>
        </p:nvSpPr>
        <p:spPr bwMode="gray">
          <a:xfrm>
            <a:off x="5771964" y="4402884"/>
            <a:ext cx="900100"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节点</a:t>
            </a:r>
          </a:p>
        </p:txBody>
      </p:sp>
      <p:cxnSp>
        <p:nvCxnSpPr>
          <p:cNvPr id="60" name="直接箭头连接符 59"/>
          <p:cNvCxnSpPr/>
          <p:nvPr/>
        </p:nvCxnSpPr>
        <p:spPr bwMode="gray">
          <a:xfrm>
            <a:off x="3323692" y="3034732"/>
            <a:ext cx="468052" cy="46735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61" name="直接箭头连接符 60"/>
          <p:cNvCxnSpPr/>
          <p:nvPr/>
        </p:nvCxnSpPr>
        <p:spPr bwMode="gray">
          <a:xfrm>
            <a:off x="3143672" y="4006840"/>
            <a:ext cx="648072"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63" name="直接箭头连接符 62"/>
          <p:cNvCxnSpPr/>
          <p:nvPr/>
        </p:nvCxnSpPr>
        <p:spPr bwMode="gray">
          <a:xfrm flipV="1">
            <a:off x="3287688" y="4366880"/>
            <a:ext cx="504056" cy="43204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65" name="直接箭头连接符 64"/>
          <p:cNvCxnSpPr/>
          <p:nvPr/>
        </p:nvCxnSpPr>
        <p:spPr bwMode="gray">
          <a:xfrm>
            <a:off x="5015880" y="4006840"/>
            <a:ext cx="648072"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66" name="直接箭头连接符 65"/>
          <p:cNvCxnSpPr/>
          <p:nvPr/>
        </p:nvCxnSpPr>
        <p:spPr bwMode="gray">
          <a:xfrm>
            <a:off x="5015880" y="3826820"/>
            <a:ext cx="648072" cy="0"/>
          </a:xfrm>
          <a:prstGeom prst="straightConnector1">
            <a:avLst/>
          </a:prstGeom>
          <a:solidFill>
            <a:schemeClr val="accent1"/>
          </a:solidFill>
          <a:ln w="28575" cap="flat" cmpd="sng" algn="ctr">
            <a:solidFill>
              <a:srgbClr val="0070C0"/>
            </a:solidFill>
            <a:prstDash val="dash"/>
            <a:round/>
            <a:headEnd type="none" w="med" len="med"/>
            <a:tailEnd type="triangle"/>
          </a:ln>
          <a:effectLst/>
        </p:spPr>
      </p:cxnSp>
      <p:cxnSp>
        <p:nvCxnSpPr>
          <p:cNvPr id="67" name="直接箭头连接符 66"/>
          <p:cNvCxnSpPr/>
          <p:nvPr/>
        </p:nvCxnSpPr>
        <p:spPr bwMode="gray">
          <a:xfrm>
            <a:off x="5015880" y="4258868"/>
            <a:ext cx="648072" cy="0"/>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grpSp>
        <p:nvGrpSpPr>
          <p:cNvPr id="83" name="组合 82"/>
          <p:cNvGrpSpPr/>
          <p:nvPr/>
        </p:nvGrpSpPr>
        <p:grpSpPr bwMode="gray">
          <a:xfrm>
            <a:off x="1775520" y="2278648"/>
            <a:ext cx="1212763" cy="3780420"/>
            <a:chOff x="1523492" y="2672916"/>
            <a:chExt cx="1212763" cy="3780420"/>
          </a:xfrm>
        </p:grpSpPr>
        <p:grpSp>
          <p:nvGrpSpPr>
            <p:cNvPr id="4" name="组合 3"/>
            <p:cNvGrpSpPr/>
            <p:nvPr/>
          </p:nvGrpSpPr>
          <p:grpSpPr bwMode="gray">
            <a:xfrm>
              <a:off x="1523492" y="2672916"/>
              <a:ext cx="1212763" cy="3708834"/>
              <a:chOff x="1570868" y="1592796"/>
              <a:chExt cx="1212763" cy="3708834"/>
            </a:xfrm>
          </p:grpSpPr>
          <p:sp>
            <p:nvSpPr>
              <p:cNvPr id="13" name="圆角矩形 12"/>
              <p:cNvSpPr/>
              <p:nvPr/>
            </p:nvSpPr>
            <p:spPr bwMode="gray">
              <a:xfrm>
                <a:off x="1570868" y="1592796"/>
                <a:ext cx="1212763" cy="3708834"/>
              </a:xfrm>
              <a:prstGeom prst="roundRect">
                <a:avLst>
                  <a:gd name="adj" fmla="val 7242"/>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6" name="图片 5" descr="可视电话硬终端.png"/>
              <p:cNvPicPr>
                <a:picLocks noChangeAspect="1"/>
              </p:cNvPicPr>
              <p:nvPr/>
            </p:nvPicPr>
            <p:blipFill>
              <a:blip r:embed="rId5" cstate="print"/>
              <a:stretch>
                <a:fillRect/>
              </a:stretch>
            </p:blipFill>
            <p:spPr bwMode="gray">
              <a:xfrm>
                <a:off x="1908939" y="2980317"/>
                <a:ext cx="609949" cy="540000"/>
              </a:xfrm>
              <a:prstGeom prst="rect">
                <a:avLst/>
              </a:prstGeom>
            </p:spPr>
          </p:pic>
          <p:pic>
            <p:nvPicPr>
              <p:cNvPr id="7" name="图片 6" descr="管理型无线虚链路-蓝.png"/>
              <p:cNvPicPr>
                <a:picLocks noChangeAspect="1"/>
              </p:cNvPicPr>
              <p:nvPr/>
            </p:nvPicPr>
            <p:blipFill>
              <a:blip r:embed="rId6" cstate="print"/>
              <a:stretch>
                <a:fillRect/>
              </a:stretch>
            </p:blipFill>
            <p:spPr bwMode="gray">
              <a:xfrm>
                <a:off x="1922620" y="1772816"/>
                <a:ext cx="582586" cy="540000"/>
              </a:xfrm>
              <a:prstGeom prst="rect">
                <a:avLst/>
              </a:prstGeom>
            </p:spPr>
          </p:pic>
          <p:sp>
            <p:nvSpPr>
              <p:cNvPr id="8" name="文本框 7"/>
              <p:cNvSpPr txBox="1"/>
              <p:nvPr/>
            </p:nvSpPr>
            <p:spPr bwMode="gray">
              <a:xfrm>
                <a:off x="1920069" y="2277064"/>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9" name="文本框 8"/>
              <p:cNvSpPr txBox="1"/>
              <p:nvPr/>
            </p:nvSpPr>
            <p:spPr bwMode="gray">
              <a:xfrm>
                <a:off x="1714885" y="3501008"/>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12" name="文本框 11"/>
              <p:cNvSpPr txBox="1"/>
              <p:nvPr/>
            </p:nvSpPr>
            <p:spPr bwMode="gray">
              <a:xfrm>
                <a:off x="1948988" y="4617132"/>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grpSp>
        <p:sp>
          <p:nvSpPr>
            <p:cNvPr id="81" name="文本占位符 10"/>
            <p:cNvSpPr txBox="1">
              <a:spLocks/>
            </p:cNvSpPr>
            <p:nvPr/>
          </p:nvSpPr>
          <p:spPr bwMode="gray">
            <a:xfrm>
              <a:off x="1811524" y="6002939"/>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latin typeface="Huawei Sans" panose="020C0503030203020204" pitchFamily="34" charset="0"/>
                  <a:ea typeface="方正兰亭黑简体" panose="02000000000000000000" pitchFamily="2" charset="-122"/>
                </a:rPr>
                <a:t>分支</a:t>
              </a:r>
            </a:p>
          </p:txBody>
        </p:sp>
      </p:grpSp>
      <p:grpSp>
        <p:nvGrpSpPr>
          <p:cNvPr id="84" name="组合 83"/>
          <p:cNvGrpSpPr/>
          <p:nvPr/>
        </p:nvGrpSpPr>
        <p:grpSpPr bwMode="gray">
          <a:xfrm>
            <a:off x="9480376" y="2278648"/>
            <a:ext cx="1212763" cy="3780420"/>
            <a:chOff x="9228348" y="2672916"/>
            <a:chExt cx="1212763" cy="3780420"/>
          </a:xfrm>
        </p:grpSpPr>
        <p:grpSp>
          <p:nvGrpSpPr>
            <p:cNvPr id="17" name="组合 16"/>
            <p:cNvGrpSpPr/>
            <p:nvPr/>
          </p:nvGrpSpPr>
          <p:grpSpPr bwMode="gray">
            <a:xfrm>
              <a:off x="9228348" y="2672916"/>
              <a:ext cx="1212763" cy="3708834"/>
              <a:chOff x="1570868" y="1592796"/>
              <a:chExt cx="1212763" cy="3708834"/>
            </a:xfrm>
          </p:grpSpPr>
          <p:sp>
            <p:nvSpPr>
              <p:cNvPr id="24" name="圆角矩形 23"/>
              <p:cNvSpPr/>
              <p:nvPr/>
            </p:nvSpPr>
            <p:spPr bwMode="gray">
              <a:xfrm>
                <a:off x="1570868" y="1592796"/>
                <a:ext cx="1212763" cy="3708834"/>
              </a:xfrm>
              <a:prstGeom prst="roundRect">
                <a:avLst>
                  <a:gd name="adj" fmla="val 8028"/>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8"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9" name="图片 18" descr="可视电话硬终端.png"/>
              <p:cNvPicPr>
                <a:picLocks noChangeAspect="1"/>
              </p:cNvPicPr>
              <p:nvPr/>
            </p:nvPicPr>
            <p:blipFill>
              <a:blip r:embed="rId5" cstate="print"/>
              <a:stretch>
                <a:fillRect/>
              </a:stretch>
            </p:blipFill>
            <p:spPr bwMode="gray">
              <a:xfrm>
                <a:off x="1908939" y="2980317"/>
                <a:ext cx="609949" cy="540000"/>
              </a:xfrm>
              <a:prstGeom prst="rect">
                <a:avLst/>
              </a:prstGeom>
            </p:spPr>
          </p:pic>
          <p:pic>
            <p:nvPicPr>
              <p:cNvPr id="20" name="图片 19" descr="管理型无线虚链路-蓝.png"/>
              <p:cNvPicPr>
                <a:picLocks noChangeAspect="1"/>
              </p:cNvPicPr>
              <p:nvPr/>
            </p:nvPicPr>
            <p:blipFill>
              <a:blip r:embed="rId6" cstate="print"/>
              <a:stretch>
                <a:fillRect/>
              </a:stretch>
            </p:blipFill>
            <p:spPr bwMode="gray">
              <a:xfrm>
                <a:off x="1922620" y="1772816"/>
                <a:ext cx="582586" cy="540000"/>
              </a:xfrm>
              <a:prstGeom prst="rect">
                <a:avLst/>
              </a:prstGeom>
            </p:spPr>
          </p:pic>
          <p:sp>
            <p:nvSpPr>
              <p:cNvPr id="21" name="文本框 20"/>
              <p:cNvSpPr txBox="1"/>
              <p:nvPr/>
            </p:nvSpPr>
            <p:spPr bwMode="gray">
              <a:xfrm>
                <a:off x="1920069" y="2277064"/>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22" name="文本框 21"/>
              <p:cNvSpPr txBox="1"/>
              <p:nvPr/>
            </p:nvSpPr>
            <p:spPr bwMode="gray">
              <a:xfrm>
                <a:off x="1714885" y="3501008"/>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23" name="文本框 22"/>
              <p:cNvSpPr txBox="1"/>
              <p:nvPr/>
            </p:nvSpPr>
            <p:spPr bwMode="gray">
              <a:xfrm>
                <a:off x="1948988" y="4617132"/>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grpSp>
        <p:sp>
          <p:nvSpPr>
            <p:cNvPr id="82" name="文本占位符 10"/>
            <p:cNvSpPr txBox="1">
              <a:spLocks/>
            </p:cNvSpPr>
            <p:nvPr/>
          </p:nvSpPr>
          <p:spPr bwMode="gray">
            <a:xfrm>
              <a:off x="9516380" y="6002939"/>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latin typeface="Huawei Sans" panose="020C0503030203020204" pitchFamily="34" charset="0"/>
                  <a:ea typeface="方正兰亭黑简体" panose="02000000000000000000" pitchFamily="2" charset="-122"/>
                </a:rPr>
                <a:t>总部</a:t>
              </a:r>
            </a:p>
          </p:txBody>
        </p:sp>
      </p:grpSp>
      <p:sp>
        <p:nvSpPr>
          <p:cNvPr id="54" name="Rectangular Callout 53"/>
          <p:cNvSpPr/>
          <p:nvPr/>
        </p:nvSpPr>
        <p:spPr bwMode="gray">
          <a:xfrm>
            <a:off x="3900982" y="3080283"/>
            <a:ext cx="1441926" cy="419683"/>
          </a:xfrm>
          <a:prstGeom prst="wedgeRectCallout">
            <a:avLst>
              <a:gd name="adj1" fmla="val -42265"/>
              <a:gd name="adj2" fmla="val 12004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流量分类、标记</a:t>
            </a:r>
          </a:p>
        </p:txBody>
      </p:sp>
      <p:sp>
        <p:nvSpPr>
          <p:cNvPr id="55" name="Oval 41"/>
          <p:cNvSpPr>
            <a:spLocks noChangeAspect="1"/>
          </p:cNvSpPr>
          <p:nvPr/>
        </p:nvSpPr>
        <p:spPr bwMode="gray">
          <a:xfrm>
            <a:off x="3937506" y="381945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6" name="Oval 41"/>
          <p:cNvSpPr>
            <a:spLocks noChangeAspect="1"/>
          </p:cNvSpPr>
          <p:nvPr/>
        </p:nvSpPr>
        <p:spPr bwMode="gray">
          <a:xfrm>
            <a:off x="5776133" y="404690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9" name="Rectangular Callout 58"/>
          <p:cNvSpPr/>
          <p:nvPr/>
        </p:nvSpPr>
        <p:spPr bwMode="gray">
          <a:xfrm>
            <a:off x="4723328" y="4676597"/>
            <a:ext cx="1254131" cy="419683"/>
          </a:xfrm>
          <a:prstGeom prst="wedgeRectCallout">
            <a:avLst>
              <a:gd name="adj1" fmla="val 35345"/>
              <a:gd name="adj2" fmla="val -1549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服务等级映射</a:t>
            </a:r>
          </a:p>
        </p:txBody>
      </p:sp>
      <p:sp>
        <p:nvSpPr>
          <p:cNvPr id="62" name="Oval 41"/>
          <p:cNvSpPr>
            <a:spLocks noChangeAspect="1"/>
          </p:cNvSpPr>
          <p:nvPr/>
        </p:nvSpPr>
        <p:spPr bwMode="gray">
          <a:xfrm>
            <a:off x="6533264" y="404690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4" name="Rectangular Callout 63"/>
          <p:cNvSpPr/>
          <p:nvPr/>
        </p:nvSpPr>
        <p:spPr bwMode="gray">
          <a:xfrm>
            <a:off x="6612894" y="3236136"/>
            <a:ext cx="936357" cy="419683"/>
          </a:xfrm>
          <a:prstGeom prst="wedgeRectCallout">
            <a:avLst>
              <a:gd name="adj1" fmla="val -36735"/>
              <a:gd name="adj2" fmla="val 13534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队列调度</a:t>
            </a:r>
          </a:p>
        </p:txBody>
      </p:sp>
      <p:sp>
        <p:nvSpPr>
          <p:cNvPr id="53" name="椭圆 50">
            <a:extLst>
              <a:ext uri="{FF2B5EF4-FFF2-40B4-BE49-F238E27FC236}">
                <a16:creationId xmlns:a16="http://schemas.microsoft.com/office/drawing/2014/main" id="{119107AF-412F-4880-9E61-03A1E7D0212D}"/>
              </a:ext>
            </a:extLst>
          </p:cNvPr>
          <p:cNvSpPr/>
          <p:nvPr/>
        </p:nvSpPr>
        <p:spPr bwMode="gray">
          <a:xfrm>
            <a:off x="3796284" y="2972325"/>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50">
            <a:extLst>
              <a:ext uri="{FF2B5EF4-FFF2-40B4-BE49-F238E27FC236}">
                <a16:creationId xmlns:a16="http://schemas.microsoft.com/office/drawing/2014/main" id="{6983701A-9329-4CA1-9035-B043657F9E32}"/>
              </a:ext>
            </a:extLst>
          </p:cNvPr>
          <p:cNvSpPr/>
          <p:nvPr/>
        </p:nvSpPr>
        <p:spPr bwMode="gray">
          <a:xfrm>
            <a:off x="4622339" y="498352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椭圆 50">
            <a:extLst>
              <a:ext uri="{FF2B5EF4-FFF2-40B4-BE49-F238E27FC236}">
                <a16:creationId xmlns:a16="http://schemas.microsoft.com/office/drawing/2014/main" id="{EA0413ED-B38F-4201-B2E8-E2B5A4FF21B5}"/>
              </a:ext>
            </a:extLst>
          </p:cNvPr>
          <p:cNvSpPr/>
          <p:nvPr/>
        </p:nvSpPr>
        <p:spPr bwMode="gray">
          <a:xfrm>
            <a:off x="6521493" y="314934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67367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常用技术 </a:t>
            </a:r>
            <a:r>
              <a:rPr lang="en-US" altLang="zh-CN" dirty="0"/>
              <a:t>(</a:t>
            </a:r>
            <a:r>
              <a:rPr lang="en-US" altLang="zh-CN" dirty="0" err="1"/>
              <a:t>DiffServ</a:t>
            </a:r>
            <a:r>
              <a:rPr lang="zh-CN" altLang="en-US" dirty="0"/>
              <a:t>模型</a:t>
            </a:r>
            <a:r>
              <a:rPr lang="en-US" altLang="zh-CN" dirty="0"/>
              <a:t>)</a:t>
            </a:r>
            <a:endParaRPr lang="zh-CN" altLang="en-US" dirty="0"/>
          </a:p>
        </p:txBody>
      </p:sp>
      <p:sp>
        <p:nvSpPr>
          <p:cNvPr id="6" name="ïşľïdè"/>
          <p:cNvSpPr/>
          <p:nvPr/>
        </p:nvSpPr>
        <p:spPr bwMode="gray">
          <a:xfrm>
            <a:off x="2275723" y="3018352"/>
            <a:ext cx="1674218" cy="866276"/>
          </a:xfrm>
          <a:prstGeom prst="roundRect">
            <a:avLst/>
          </a:prstGeom>
          <a:solidFill>
            <a:srgbClr val="56C4D2"/>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2000" b="1" dirty="0">
                <a:solidFill>
                  <a:schemeClr val="bg1"/>
                </a:solidFill>
                <a:latin typeface="Huawei Sans" panose="020C0503030203020204" pitchFamily="34" charset="0"/>
                <a:ea typeface="方正兰亭黑简体" panose="02000000000000000000" pitchFamily="2" charset="-122"/>
              </a:rPr>
              <a:t>常用技术</a:t>
            </a:r>
          </a:p>
        </p:txBody>
      </p:sp>
      <p:sp>
        <p:nvSpPr>
          <p:cNvPr id="5" name="iSlíďe"/>
          <p:cNvSpPr/>
          <p:nvPr/>
        </p:nvSpPr>
        <p:spPr bwMode="gray">
          <a:xfrm rot="16200000">
            <a:off x="3268930" y="2638706"/>
            <a:ext cx="2728995" cy="1616080"/>
          </a:xfrm>
          <a:custGeom>
            <a:avLst/>
            <a:gdLst>
              <a:gd name="connsiteX0" fmla="*/ 2728995 w 2728995"/>
              <a:gd name="connsiteY0" fmla="*/ 1616080 h 1616080"/>
              <a:gd name="connsiteX1" fmla="*/ 0 w 2728995"/>
              <a:gd name="connsiteY1" fmla="*/ 1616080 h 1616080"/>
              <a:gd name="connsiteX2" fmla="*/ 937327 w 2728995"/>
              <a:gd name="connsiteY2" fmla="*/ 0 h 1616080"/>
              <a:gd name="connsiteX3" fmla="*/ 1791669 w 2728995"/>
              <a:gd name="connsiteY3" fmla="*/ 0 h 1616080"/>
            </a:gdLst>
            <a:ahLst/>
            <a:cxnLst>
              <a:cxn ang="0">
                <a:pos x="connsiteX0" y="connsiteY0"/>
              </a:cxn>
              <a:cxn ang="0">
                <a:pos x="connsiteX1" y="connsiteY1"/>
              </a:cxn>
              <a:cxn ang="0">
                <a:pos x="connsiteX2" y="connsiteY2"/>
              </a:cxn>
              <a:cxn ang="0">
                <a:pos x="connsiteX3" y="connsiteY3"/>
              </a:cxn>
            </a:cxnLst>
            <a:rect l="l" t="t" r="r" b="b"/>
            <a:pathLst>
              <a:path w="2728995" h="1616080">
                <a:moveTo>
                  <a:pt x="2728995" y="1616080"/>
                </a:moveTo>
                <a:lnTo>
                  <a:pt x="0" y="1616080"/>
                </a:lnTo>
                <a:lnTo>
                  <a:pt x="937327" y="0"/>
                </a:lnTo>
                <a:lnTo>
                  <a:pt x="1791669" y="0"/>
                </a:lnTo>
                <a:close/>
              </a:path>
            </a:pathLst>
          </a:custGeom>
          <a:gradFill>
            <a:gsLst>
              <a:gs pos="0">
                <a:srgbClr val="56C4D2"/>
              </a:gs>
              <a:gs pos="100000">
                <a:schemeClr val="bg1"/>
              </a:gs>
            </a:gsLst>
            <a:lin ang="5400000" scaled="1"/>
          </a:gra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nvGrpSpPr>
          <p:cNvPr id="31" name="组合 30"/>
          <p:cNvGrpSpPr/>
          <p:nvPr/>
        </p:nvGrpSpPr>
        <p:grpSpPr bwMode="gray">
          <a:xfrm>
            <a:off x="4832007" y="1722208"/>
            <a:ext cx="4896272" cy="1044116"/>
            <a:chOff x="5556212" y="1880828"/>
            <a:chExt cx="4896272" cy="1044116"/>
          </a:xfrm>
        </p:grpSpPr>
        <p:grpSp>
          <p:nvGrpSpPr>
            <p:cNvPr id="22" name="iṩḻïďè"/>
            <p:cNvGrpSpPr/>
            <p:nvPr/>
          </p:nvGrpSpPr>
          <p:grpSpPr bwMode="gray">
            <a:xfrm>
              <a:off x="5556212" y="2189929"/>
              <a:ext cx="515058" cy="515058"/>
              <a:chOff x="6629481" y="2483157"/>
              <a:chExt cx="515058" cy="515058"/>
            </a:xfrm>
          </p:grpSpPr>
          <p:sp>
            <p:nvSpPr>
              <p:cNvPr id="24" name="îṡḻïḓé"/>
              <p:cNvSpPr/>
              <p:nvPr/>
            </p:nvSpPr>
            <p:spPr bwMode="gray">
              <a:xfrm>
                <a:off x="6629481" y="2483157"/>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25" name="îṩļíḋê"/>
              <p:cNvSpPr/>
              <p:nvPr/>
            </p:nvSpPr>
            <p:spPr bwMode="gray">
              <a:xfrm>
                <a:off x="6751783" y="2605663"/>
                <a:ext cx="270454" cy="270048"/>
              </a:xfrm>
              <a:custGeom>
                <a:avLst/>
                <a:gdLst>
                  <a:gd name="T0" fmla="*/ 5847 w 6130"/>
                  <a:gd name="T1" fmla="*/ 4531 h 6130"/>
                  <a:gd name="T2" fmla="*/ 5530 w 6130"/>
                  <a:gd name="T3" fmla="*/ 4531 h 6130"/>
                  <a:gd name="T4" fmla="*/ 5530 w 6130"/>
                  <a:gd name="T5" fmla="*/ 4463 h 6130"/>
                  <a:gd name="T6" fmla="*/ 4132 w 6130"/>
                  <a:gd name="T7" fmla="*/ 3065 h 6130"/>
                  <a:gd name="T8" fmla="*/ 3265 w 6130"/>
                  <a:gd name="T9" fmla="*/ 3065 h 6130"/>
                  <a:gd name="T10" fmla="*/ 3265 w 6130"/>
                  <a:gd name="T11" fmla="*/ 1599 h 6130"/>
                  <a:gd name="T12" fmla="*/ 3581 w 6130"/>
                  <a:gd name="T13" fmla="*/ 1599 h 6130"/>
                  <a:gd name="T14" fmla="*/ 3864 w 6130"/>
                  <a:gd name="T15" fmla="*/ 1316 h 6130"/>
                  <a:gd name="T16" fmla="*/ 3864 w 6130"/>
                  <a:gd name="T17" fmla="*/ 283 h 6130"/>
                  <a:gd name="T18" fmla="*/ 3581 w 6130"/>
                  <a:gd name="T19" fmla="*/ 0 h 6130"/>
                  <a:gd name="T20" fmla="*/ 2549 w 6130"/>
                  <a:gd name="T21" fmla="*/ 0 h 6130"/>
                  <a:gd name="T22" fmla="*/ 2265 w 6130"/>
                  <a:gd name="T23" fmla="*/ 283 h 6130"/>
                  <a:gd name="T24" fmla="*/ 2265 w 6130"/>
                  <a:gd name="T25" fmla="*/ 1316 h 6130"/>
                  <a:gd name="T26" fmla="*/ 2549 w 6130"/>
                  <a:gd name="T27" fmla="*/ 1599 h 6130"/>
                  <a:gd name="T28" fmla="*/ 2865 w 6130"/>
                  <a:gd name="T29" fmla="*/ 1599 h 6130"/>
                  <a:gd name="T30" fmla="*/ 2865 w 6130"/>
                  <a:gd name="T31" fmla="*/ 3065 h 6130"/>
                  <a:gd name="T32" fmla="*/ 1998 w 6130"/>
                  <a:gd name="T33" fmla="*/ 3065 h 6130"/>
                  <a:gd name="T34" fmla="*/ 600 w 6130"/>
                  <a:gd name="T35" fmla="*/ 4463 h 6130"/>
                  <a:gd name="T36" fmla="*/ 600 w 6130"/>
                  <a:gd name="T37" fmla="*/ 4531 h 6130"/>
                  <a:gd name="T38" fmla="*/ 283 w 6130"/>
                  <a:gd name="T39" fmla="*/ 4531 h 6130"/>
                  <a:gd name="T40" fmla="*/ 0 w 6130"/>
                  <a:gd name="T41" fmla="*/ 4814 h 6130"/>
                  <a:gd name="T42" fmla="*/ 0 w 6130"/>
                  <a:gd name="T43" fmla="*/ 5847 h 6130"/>
                  <a:gd name="T44" fmla="*/ 283 w 6130"/>
                  <a:gd name="T45" fmla="*/ 6130 h 6130"/>
                  <a:gd name="T46" fmla="*/ 1316 w 6130"/>
                  <a:gd name="T47" fmla="*/ 6130 h 6130"/>
                  <a:gd name="T48" fmla="*/ 1599 w 6130"/>
                  <a:gd name="T49" fmla="*/ 5847 h 6130"/>
                  <a:gd name="T50" fmla="*/ 1599 w 6130"/>
                  <a:gd name="T51" fmla="*/ 4814 h 6130"/>
                  <a:gd name="T52" fmla="*/ 1316 w 6130"/>
                  <a:gd name="T53" fmla="*/ 4531 h 6130"/>
                  <a:gd name="T54" fmla="*/ 999 w 6130"/>
                  <a:gd name="T55" fmla="*/ 4531 h 6130"/>
                  <a:gd name="T56" fmla="*/ 999 w 6130"/>
                  <a:gd name="T57" fmla="*/ 4463 h 6130"/>
                  <a:gd name="T58" fmla="*/ 1998 w 6130"/>
                  <a:gd name="T59" fmla="*/ 3465 h 6130"/>
                  <a:gd name="T60" fmla="*/ 2865 w 6130"/>
                  <a:gd name="T61" fmla="*/ 3465 h 6130"/>
                  <a:gd name="T62" fmla="*/ 2865 w 6130"/>
                  <a:gd name="T63" fmla="*/ 4531 h 6130"/>
                  <a:gd name="T64" fmla="*/ 2549 w 6130"/>
                  <a:gd name="T65" fmla="*/ 4531 h 6130"/>
                  <a:gd name="T66" fmla="*/ 2265 w 6130"/>
                  <a:gd name="T67" fmla="*/ 4814 h 6130"/>
                  <a:gd name="T68" fmla="*/ 2265 w 6130"/>
                  <a:gd name="T69" fmla="*/ 5847 h 6130"/>
                  <a:gd name="T70" fmla="*/ 2549 w 6130"/>
                  <a:gd name="T71" fmla="*/ 6130 h 6130"/>
                  <a:gd name="T72" fmla="*/ 3581 w 6130"/>
                  <a:gd name="T73" fmla="*/ 6130 h 6130"/>
                  <a:gd name="T74" fmla="*/ 3864 w 6130"/>
                  <a:gd name="T75" fmla="*/ 5847 h 6130"/>
                  <a:gd name="T76" fmla="*/ 3864 w 6130"/>
                  <a:gd name="T77" fmla="*/ 4814 h 6130"/>
                  <a:gd name="T78" fmla="*/ 3581 w 6130"/>
                  <a:gd name="T79" fmla="*/ 4531 h 6130"/>
                  <a:gd name="T80" fmla="*/ 3265 w 6130"/>
                  <a:gd name="T81" fmla="*/ 4531 h 6130"/>
                  <a:gd name="T82" fmla="*/ 3265 w 6130"/>
                  <a:gd name="T83" fmla="*/ 3465 h 6130"/>
                  <a:gd name="T84" fmla="*/ 4132 w 6130"/>
                  <a:gd name="T85" fmla="*/ 3465 h 6130"/>
                  <a:gd name="T86" fmla="*/ 5130 w 6130"/>
                  <a:gd name="T87" fmla="*/ 4463 h 6130"/>
                  <a:gd name="T88" fmla="*/ 5130 w 6130"/>
                  <a:gd name="T89" fmla="*/ 4531 h 6130"/>
                  <a:gd name="T90" fmla="*/ 4814 w 6130"/>
                  <a:gd name="T91" fmla="*/ 4531 h 6130"/>
                  <a:gd name="T92" fmla="*/ 4531 w 6130"/>
                  <a:gd name="T93" fmla="*/ 4814 h 6130"/>
                  <a:gd name="T94" fmla="*/ 4531 w 6130"/>
                  <a:gd name="T95" fmla="*/ 5847 h 6130"/>
                  <a:gd name="T96" fmla="*/ 4814 w 6130"/>
                  <a:gd name="T97" fmla="*/ 6130 h 6130"/>
                  <a:gd name="T98" fmla="*/ 5847 w 6130"/>
                  <a:gd name="T99" fmla="*/ 6130 h 6130"/>
                  <a:gd name="T100" fmla="*/ 6130 w 6130"/>
                  <a:gd name="T101" fmla="*/ 5847 h 6130"/>
                  <a:gd name="T102" fmla="*/ 6130 w 6130"/>
                  <a:gd name="T103" fmla="*/ 4814 h 6130"/>
                  <a:gd name="T104" fmla="*/ 5847 w 6130"/>
                  <a:gd name="T105" fmla="*/ 4531 h 6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30" h="6130">
                    <a:moveTo>
                      <a:pt x="5847" y="4531"/>
                    </a:moveTo>
                    <a:lnTo>
                      <a:pt x="5530" y="4531"/>
                    </a:lnTo>
                    <a:lnTo>
                      <a:pt x="5530" y="4463"/>
                    </a:lnTo>
                    <a:cubicBezTo>
                      <a:pt x="5530" y="3692"/>
                      <a:pt x="4903" y="3065"/>
                      <a:pt x="4132" y="3065"/>
                    </a:cubicBezTo>
                    <a:lnTo>
                      <a:pt x="3265" y="3065"/>
                    </a:lnTo>
                    <a:lnTo>
                      <a:pt x="3265" y="1599"/>
                    </a:lnTo>
                    <a:lnTo>
                      <a:pt x="3581" y="1599"/>
                    </a:lnTo>
                    <a:cubicBezTo>
                      <a:pt x="3738" y="1599"/>
                      <a:pt x="3864" y="1472"/>
                      <a:pt x="3864" y="1316"/>
                    </a:cubicBezTo>
                    <a:lnTo>
                      <a:pt x="3864" y="283"/>
                    </a:lnTo>
                    <a:cubicBezTo>
                      <a:pt x="3864" y="127"/>
                      <a:pt x="3738" y="0"/>
                      <a:pt x="3581" y="0"/>
                    </a:cubicBezTo>
                    <a:lnTo>
                      <a:pt x="2549" y="0"/>
                    </a:lnTo>
                    <a:cubicBezTo>
                      <a:pt x="2392" y="0"/>
                      <a:pt x="2265" y="127"/>
                      <a:pt x="2265" y="283"/>
                    </a:cubicBezTo>
                    <a:lnTo>
                      <a:pt x="2265" y="1316"/>
                    </a:lnTo>
                    <a:cubicBezTo>
                      <a:pt x="2265" y="1472"/>
                      <a:pt x="2392" y="1599"/>
                      <a:pt x="2549" y="1599"/>
                    </a:cubicBezTo>
                    <a:lnTo>
                      <a:pt x="2865" y="1599"/>
                    </a:lnTo>
                    <a:lnTo>
                      <a:pt x="2865" y="3065"/>
                    </a:lnTo>
                    <a:lnTo>
                      <a:pt x="1998" y="3065"/>
                    </a:lnTo>
                    <a:cubicBezTo>
                      <a:pt x="1227" y="3065"/>
                      <a:pt x="600" y="3692"/>
                      <a:pt x="600" y="4463"/>
                    </a:cubicBezTo>
                    <a:lnTo>
                      <a:pt x="600" y="4531"/>
                    </a:lnTo>
                    <a:lnTo>
                      <a:pt x="283" y="4531"/>
                    </a:lnTo>
                    <a:cubicBezTo>
                      <a:pt x="127" y="4531"/>
                      <a:pt x="0" y="4658"/>
                      <a:pt x="0" y="4814"/>
                    </a:cubicBezTo>
                    <a:lnTo>
                      <a:pt x="0" y="5847"/>
                    </a:lnTo>
                    <a:cubicBezTo>
                      <a:pt x="0" y="6003"/>
                      <a:pt x="127" y="6130"/>
                      <a:pt x="283" y="6130"/>
                    </a:cubicBezTo>
                    <a:lnTo>
                      <a:pt x="1316" y="6130"/>
                    </a:lnTo>
                    <a:cubicBezTo>
                      <a:pt x="1472" y="6130"/>
                      <a:pt x="1599" y="6003"/>
                      <a:pt x="1599" y="5847"/>
                    </a:cubicBezTo>
                    <a:lnTo>
                      <a:pt x="1599" y="4814"/>
                    </a:lnTo>
                    <a:cubicBezTo>
                      <a:pt x="1599" y="4658"/>
                      <a:pt x="1472" y="4531"/>
                      <a:pt x="1316" y="4531"/>
                    </a:cubicBezTo>
                    <a:lnTo>
                      <a:pt x="999" y="4531"/>
                    </a:lnTo>
                    <a:lnTo>
                      <a:pt x="999" y="4463"/>
                    </a:lnTo>
                    <a:cubicBezTo>
                      <a:pt x="999" y="3913"/>
                      <a:pt x="1447" y="3465"/>
                      <a:pt x="1998" y="3465"/>
                    </a:cubicBezTo>
                    <a:lnTo>
                      <a:pt x="2865" y="3465"/>
                    </a:lnTo>
                    <a:lnTo>
                      <a:pt x="2865" y="4531"/>
                    </a:lnTo>
                    <a:lnTo>
                      <a:pt x="2549" y="4531"/>
                    </a:lnTo>
                    <a:cubicBezTo>
                      <a:pt x="2392" y="4531"/>
                      <a:pt x="2265" y="4658"/>
                      <a:pt x="2265" y="4814"/>
                    </a:cubicBezTo>
                    <a:lnTo>
                      <a:pt x="2265" y="5847"/>
                    </a:lnTo>
                    <a:cubicBezTo>
                      <a:pt x="2265" y="6003"/>
                      <a:pt x="2392" y="6130"/>
                      <a:pt x="2549" y="6130"/>
                    </a:cubicBezTo>
                    <a:lnTo>
                      <a:pt x="3581" y="6130"/>
                    </a:lnTo>
                    <a:cubicBezTo>
                      <a:pt x="3738" y="6130"/>
                      <a:pt x="3864" y="6003"/>
                      <a:pt x="3864" y="5847"/>
                    </a:cubicBezTo>
                    <a:lnTo>
                      <a:pt x="3864" y="4814"/>
                    </a:lnTo>
                    <a:cubicBezTo>
                      <a:pt x="3864" y="4658"/>
                      <a:pt x="3738" y="4531"/>
                      <a:pt x="3581" y="4531"/>
                    </a:cubicBezTo>
                    <a:lnTo>
                      <a:pt x="3265" y="4531"/>
                    </a:lnTo>
                    <a:lnTo>
                      <a:pt x="3265" y="3465"/>
                    </a:lnTo>
                    <a:lnTo>
                      <a:pt x="4132" y="3465"/>
                    </a:lnTo>
                    <a:cubicBezTo>
                      <a:pt x="4683" y="3465"/>
                      <a:pt x="5130" y="3913"/>
                      <a:pt x="5130" y="4463"/>
                    </a:cubicBezTo>
                    <a:lnTo>
                      <a:pt x="5130" y="4531"/>
                    </a:lnTo>
                    <a:lnTo>
                      <a:pt x="4814" y="4531"/>
                    </a:lnTo>
                    <a:cubicBezTo>
                      <a:pt x="4657" y="4531"/>
                      <a:pt x="4531" y="4658"/>
                      <a:pt x="4531" y="4814"/>
                    </a:cubicBezTo>
                    <a:lnTo>
                      <a:pt x="4531" y="5847"/>
                    </a:lnTo>
                    <a:cubicBezTo>
                      <a:pt x="4531" y="6003"/>
                      <a:pt x="4657" y="6130"/>
                      <a:pt x="4814" y="6130"/>
                    </a:cubicBezTo>
                    <a:lnTo>
                      <a:pt x="5847" y="6130"/>
                    </a:lnTo>
                    <a:cubicBezTo>
                      <a:pt x="6003" y="6130"/>
                      <a:pt x="6130" y="6003"/>
                      <a:pt x="6130" y="5847"/>
                    </a:cubicBezTo>
                    <a:lnTo>
                      <a:pt x="6130" y="4814"/>
                    </a:lnTo>
                    <a:cubicBezTo>
                      <a:pt x="6130" y="4658"/>
                      <a:pt x="6003" y="4531"/>
                      <a:pt x="5847" y="4531"/>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23" name="íṥliḑe">
              <a:extLst>
                <a:ext uri="{FF2B5EF4-FFF2-40B4-BE49-F238E27FC236}">
                  <a16:creationId xmlns:a16="http://schemas.microsoft.com/office/drawing/2014/main" id="{03370132-C199-466C-9FF3-97790D081173}"/>
                </a:ext>
              </a:extLst>
            </p:cNvPr>
            <p:cNvSpPr txBox="1"/>
            <p:nvPr/>
          </p:nvSpPr>
          <p:spPr bwMode="gray">
            <a:xfrm>
              <a:off x="6187008" y="1880828"/>
              <a:ext cx="3827933" cy="5040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流量限速</a:t>
              </a:r>
              <a:endParaRPr lang="en-US" altLang="zh-CN" b="1" dirty="0">
                <a:latin typeface="Huawei Sans" panose="020C0503030203020204" pitchFamily="34" charset="0"/>
                <a:ea typeface="方正兰亭黑简体" panose="02000000000000000000" pitchFamily="2" charset="-122"/>
              </a:endParaRPr>
            </a:p>
          </p:txBody>
        </p:sp>
        <p:sp>
          <p:nvSpPr>
            <p:cNvPr id="26" name="íṥliḑe">
              <a:extLst>
                <a:ext uri="{FF2B5EF4-FFF2-40B4-BE49-F238E27FC236}">
                  <a16:creationId xmlns:a16="http://schemas.microsoft.com/office/drawing/2014/main" id="{03370132-C199-466C-9FF3-97790D081173}"/>
                </a:ext>
              </a:extLst>
            </p:cNvPr>
            <p:cNvSpPr txBox="1"/>
            <p:nvPr/>
          </p:nvSpPr>
          <p:spPr bwMode="gray">
            <a:xfrm>
              <a:off x="6192503" y="2240868"/>
              <a:ext cx="4259981" cy="68407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600" dirty="0">
                  <a:latin typeface="Huawei Sans" panose="020C0503030203020204" pitchFamily="34" charset="0"/>
                  <a:ea typeface="方正兰亭黑简体" panose="02000000000000000000" pitchFamily="2" charset="-122"/>
                </a:rPr>
                <a:t>流量监管和流量整形，通过监督进入网络的流量速率，用来限制流量及其资源的使用</a:t>
              </a:r>
              <a:endParaRPr lang="en-US" altLang="zh-CN" sz="1600" dirty="0">
                <a:latin typeface="Huawei Sans" panose="020C0503030203020204" pitchFamily="34" charset="0"/>
                <a:ea typeface="方正兰亭黑简体" panose="02000000000000000000" pitchFamily="2" charset="-122"/>
              </a:endParaRPr>
            </a:p>
          </p:txBody>
        </p:sp>
        <p:cxnSp>
          <p:nvCxnSpPr>
            <p:cNvPr id="11" name="直接连接符 10"/>
            <p:cNvCxnSpPr/>
            <p:nvPr/>
          </p:nvCxnSpPr>
          <p:spPr bwMode="gray">
            <a:xfrm>
              <a:off x="6266976" y="2899933"/>
              <a:ext cx="41786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bwMode="gray">
          <a:xfrm>
            <a:off x="5262698" y="3005390"/>
            <a:ext cx="4465581" cy="710000"/>
            <a:chOff x="5986903" y="3238892"/>
            <a:chExt cx="4465581" cy="710000"/>
          </a:xfrm>
        </p:grpSpPr>
        <p:grpSp>
          <p:nvGrpSpPr>
            <p:cNvPr id="30" name="组合 29"/>
            <p:cNvGrpSpPr/>
            <p:nvPr/>
          </p:nvGrpSpPr>
          <p:grpSpPr bwMode="gray">
            <a:xfrm>
              <a:off x="5986903" y="3238892"/>
              <a:ext cx="4465581" cy="694164"/>
              <a:chOff x="5986903" y="3238892"/>
              <a:chExt cx="4465581" cy="694164"/>
            </a:xfrm>
          </p:grpSpPr>
          <p:sp>
            <p:nvSpPr>
              <p:cNvPr id="27" name="íṥliḑe">
                <a:extLst>
                  <a:ext uri="{FF2B5EF4-FFF2-40B4-BE49-F238E27FC236}">
                    <a16:creationId xmlns:a16="http://schemas.microsoft.com/office/drawing/2014/main" id="{03370132-C199-466C-9FF3-97790D081173}"/>
                  </a:ext>
                </a:extLst>
              </p:cNvPr>
              <p:cNvSpPr txBox="1"/>
              <p:nvPr/>
            </p:nvSpPr>
            <p:spPr bwMode="gray">
              <a:xfrm>
                <a:off x="6624551" y="3609020"/>
                <a:ext cx="3827933" cy="32403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600" dirty="0">
                    <a:latin typeface="Huawei Sans" panose="020C0503030203020204" pitchFamily="34" charset="0"/>
                    <a:ea typeface="方正兰亭黑简体" panose="02000000000000000000" pitchFamily="2" charset="-122"/>
                  </a:rPr>
                  <a:t>通过调整网络的流量来解除网络过载</a:t>
                </a:r>
                <a:endParaRPr lang="en-US" altLang="zh-CN" sz="1600" dirty="0">
                  <a:latin typeface="Huawei Sans" panose="020C0503030203020204" pitchFamily="34" charset="0"/>
                  <a:ea typeface="方正兰亭黑简体" panose="02000000000000000000" pitchFamily="2" charset="-122"/>
                </a:endParaRPr>
              </a:p>
            </p:txBody>
          </p:sp>
          <p:grpSp>
            <p:nvGrpSpPr>
              <p:cNvPr id="9" name="iŝļîďé"/>
              <p:cNvGrpSpPr/>
              <p:nvPr/>
            </p:nvGrpSpPr>
            <p:grpSpPr bwMode="gray">
              <a:xfrm>
                <a:off x="5986903" y="3238892"/>
                <a:ext cx="4458729" cy="515058"/>
                <a:chOff x="7060172" y="3381020"/>
                <a:chExt cx="4458729" cy="515058"/>
              </a:xfrm>
            </p:grpSpPr>
            <p:grpSp>
              <p:nvGrpSpPr>
                <p:cNvPr id="18" name="î$ḻiḑè"/>
                <p:cNvGrpSpPr/>
                <p:nvPr/>
              </p:nvGrpSpPr>
              <p:grpSpPr bwMode="gray">
                <a:xfrm>
                  <a:off x="7060172" y="3381020"/>
                  <a:ext cx="515058" cy="515058"/>
                  <a:chOff x="7060172" y="3381020"/>
                  <a:chExt cx="515058" cy="515058"/>
                </a:xfrm>
              </p:grpSpPr>
              <p:sp>
                <p:nvSpPr>
                  <p:cNvPr id="20" name="ï$ļíḍé"/>
                  <p:cNvSpPr/>
                  <p:nvPr/>
                </p:nvSpPr>
                <p:spPr bwMode="gray">
                  <a:xfrm>
                    <a:off x="7060172" y="3381020"/>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21" name="îslîďê"/>
                  <p:cNvSpPr/>
                  <p:nvPr/>
                </p:nvSpPr>
                <p:spPr bwMode="gray">
                  <a:xfrm>
                    <a:off x="7204860" y="3503322"/>
                    <a:ext cx="225680" cy="270454"/>
                  </a:xfrm>
                  <a:custGeom>
                    <a:avLst/>
                    <a:gdLst>
                      <a:gd name="T0" fmla="*/ 4643 w 4692"/>
                      <a:gd name="T1" fmla="*/ 1902 h 5631"/>
                      <a:gd name="T2" fmla="*/ 4148 w 4692"/>
                      <a:gd name="T3" fmla="*/ 111 h 5631"/>
                      <a:gd name="T4" fmla="*/ 3925 w 4692"/>
                      <a:gd name="T5" fmla="*/ 83 h 5631"/>
                      <a:gd name="T6" fmla="*/ 3855 w 4692"/>
                      <a:gd name="T7" fmla="*/ 120 h 5631"/>
                      <a:gd name="T8" fmla="*/ 2357 w 4692"/>
                      <a:gd name="T9" fmla="*/ 152 h 5631"/>
                      <a:gd name="T10" fmla="*/ 1484 w 4692"/>
                      <a:gd name="T11" fmla="*/ 310 h 5631"/>
                      <a:gd name="T12" fmla="*/ 593 w 4692"/>
                      <a:gd name="T13" fmla="*/ 1058 h 5631"/>
                      <a:gd name="T14" fmla="*/ 450 w 4692"/>
                      <a:gd name="T15" fmla="*/ 693 h 5631"/>
                      <a:gd name="T16" fmla="*/ 33 w 4692"/>
                      <a:gd name="T17" fmla="*/ 869 h 5631"/>
                      <a:gd name="T18" fmla="*/ 672 w 4692"/>
                      <a:gd name="T19" fmla="*/ 3296 h 5631"/>
                      <a:gd name="T20" fmla="*/ 1329 w 4692"/>
                      <a:gd name="T21" fmla="*/ 5431 h 5631"/>
                      <a:gd name="T22" fmla="*/ 1752 w 4692"/>
                      <a:gd name="T23" fmla="*/ 5316 h 5631"/>
                      <a:gd name="T24" fmla="*/ 1232 w 4692"/>
                      <a:gd name="T25" fmla="*/ 3221 h 5631"/>
                      <a:gd name="T26" fmla="*/ 2324 w 4692"/>
                      <a:gd name="T27" fmla="*/ 2452 h 5631"/>
                      <a:gd name="T28" fmla="*/ 3595 w 4692"/>
                      <a:gd name="T29" fmla="*/ 2496 h 5631"/>
                      <a:gd name="T30" fmla="*/ 4630 w 4692"/>
                      <a:gd name="T31" fmla="*/ 2062 h 5631"/>
                      <a:gd name="T32" fmla="*/ 4643 w 4692"/>
                      <a:gd name="T33" fmla="*/ 1902 h 5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92" h="5631">
                        <a:moveTo>
                          <a:pt x="4643" y="1902"/>
                        </a:moveTo>
                        <a:cubicBezTo>
                          <a:pt x="4692" y="1287"/>
                          <a:pt x="4371" y="664"/>
                          <a:pt x="4148" y="111"/>
                        </a:cubicBezTo>
                        <a:cubicBezTo>
                          <a:pt x="4109" y="15"/>
                          <a:pt x="3967" y="0"/>
                          <a:pt x="3925" y="83"/>
                        </a:cubicBezTo>
                        <a:cubicBezTo>
                          <a:pt x="3900" y="87"/>
                          <a:pt x="3876" y="99"/>
                          <a:pt x="3855" y="120"/>
                        </a:cubicBezTo>
                        <a:cubicBezTo>
                          <a:pt x="3434" y="537"/>
                          <a:pt x="2826" y="168"/>
                          <a:pt x="2357" y="152"/>
                        </a:cubicBezTo>
                        <a:cubicBezTo>
                          <a:pt x="2058" y="141"/>
                          <a:pt x="1762" y="197"/>
                          <a:pt x="1484" y="310"/>
                        </a:cubicBezTo>
                        <a:cubicBezTo>
                          <a:pt x="1102" y="465"/>
                          <a:pt x="793" y="716"/>
                          <a:pt x="593" y="1058"/>
                        </a:cubicBezTo>
                        <a:cubicBezTo>
                          <a:pt x="547" y="936"/>
                          <a:pt x="503" y="812"/>
                          <a:pt x="450" y="693"/>
                        </a:cubicBezTo>
                        <a:cubicBezTo>
                          <a:pt x="335" y="435"/>
                          <a:pt x="0" y="638"/>
                          <a:pt x="33" y="869"/>
                        </a:cubicBezTo>
                        <a:cubicBezTo>
                          <a:pt x="149" y="1690"/>
                          <a:pt x="447" y="2498"/>
                          <a:pt x="672" y="3296"/>
                        </a:cubicBezTo>
                        <a:cubicBezTo>
                          <a:pt x="873" y="4010"/>
                          <a:pt x="1024" y="4753"/>
                          <a:pt x="1329" y="5431"/>
                        </a:cubicBezTo>
                        <a:cubicBezTo>
                          <a:pt x="1419" y="5631"/>
                          <a:pt x="1778" y="5537"/>
                          <a:pt x="1752" y="5316"/>
                        </a:cubicBezTo>
                        <a:cubicBezTo>
                          <a:pt x="1668" y="4605"/>
                          <a:pt x="1436" y="3910"/>
                          <a:pt x="1232" y="3221"/>
                        </a:cubicBezTo>
                        <a:cubicBezTo>
                          <a:pt x="1511" y="2867"/>
                          <a:pt x="1886" y="2574"/>
                          <a:pt x="2324" y="2452"/>
                        </a:cubicBezTo>
                        <a:cubicBezTo>
                          <a:pt x="2767" y="2329"/>
                          <a:pt x="3157" y="2451"/>
                          <a:pt x="3595" y="2496"/>
                        </a:cubicBezTo>
                        <a:cubicBezTo>
                          <a:pt x="4021" y="2540"/>
                          <a:pt x="4409" y="2452"/>
                          <a:pt x="4630" y="2062"/>
                        </a:cubicBezTo>
                        <a:cubicBezTo>
                          <a:pt x="4663" y="2003"/>
                          <a:pt x="4663" y="1947"/>
                          <a:pt x="4643" y="1902"/>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19" name="îṡḷîḍê">
                  <a:extLst>
                    <a:ext uri="{FF2B5EF4-FFF2-40B4-BE49-F238E27FC236}">
                      <a16:creationId xmlns:a16="http://schemas.microsoft.com/office/drawing/2014/main" id="{03370132-C199-466C-9FF3-97790D081173}"/>
                    </a:ext>
                  </a:extLst>
                </p:cNvPr>
                <p:cNvSpPr txBox="1"/>
                <p:nvPr/>
              </p:nvSpPr>
              <p:spPr bwMode="gray">
                <a:xfrm>
                  <a:off x="7690968" y="3391802"/>
                  <a:ext cx="3827933" cy="43135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拥塞避免</a:t>
                  </a:r>
                  <a:endParaRPr lang="en-US" altLang="zh-CN" b="1" dirty="0">
                    <a:latin typeface="Huawei Sans" panose="020C0503030203020204" pitchFamily="34" charset="0"/>
                    <a:ea typeface="方正兰亭黑简体" panose="02000000000000000000" pitchFamily="2" charset="-122"/>
                  </a:endParaRPr>
                </a:p>
              </p:txBody>
            </p:sp>
          </p:grpSp>
        </p:grpSp>
        <p:cxnSp>
          <p:nvCxnSpPr>
            <p:cNvPr id="12" name="直接连接符 11"/>
            <p:cNvCxnSpPr/>
            <p:nvPr/>
          </p:nvCxnSpPr>
          <p:spPr bwMode="gray">
            <a:xfrm>
              <a:off x="6721325" y="3948892"/>
              <a:ext cx="372430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bwMode="gray">
          <a:xfrm>
            <a:off x="4832007" y="3954456"/>
            <a:ext cx="4889419" cy="972108"/>
            <a:chOff x="5556212" y="4113076"/>
            <a:chExt cx="4889419" cy="972108"/>
          </a:xfrm>
        </p:grpSpPr>
        <p:grpSp>
          <p:nvGrpSpPr>
            <p:cNvPr id="10" name="ïś1ïḓè"/>
            <p:cNvGrpSpPr/>
            <p:nvPr/>
          </p:nvGrpSpPr>
          <p:grpSpPr bwMode="gray">
            <a:xfrm>
              <a:off x="5556212" y="4113076"/>
              <a:ext cx="4458729" cy="777165"/>
              <a:chOff x="6629481" y="4016777"/>
              <a:chExt cx="4458729" cy="777165"/>
            </a:xfrm>
          </p:grpSpPr>
          <p:grpSp>
            <p:nvGrpSpPr>
              <p:cNvPr id="14" name="íŝḻïḍê"/>
              <p:cNvGrpSpPr/>
              <p:nvPr/>
            </p:nvGrpSpPr>
            <p:grpSpPr bwMode="gray">
              <a:xfrm>
                <a:off x="6629481" y="4278884"/>
                <a:ext cx="515058" cy="515058"/>
                <a:chOff x="6629481" y="4278884"/>
                <a:chExt cx="515058" cy="515058"/>
              </a:xfrm>
            </p:grpSpPr>
            <p:sp>
              <p:nvSpPr>
                <p:cNvPr id="16" name="ïśļiḋè"/>
                <p:cNvSpPr/>
                <p:nvPr/>
              </p:nvSpPr>
              <p:spPr bwMode="gray">
                <a:xfrm>
                  <a:off x="6629481" y="4278884"/>
                  <a:ext cx="515058" cy="515058"/>
                </a:xfrm>
                <a:prstGeom prst="ellipse">
                  <a:avLst/>
                </a:prstGeom>
                <a:solidFill>
                  <a:srgbClr val="56C4D2"/>
                </a:solidFill>
                <a:ln w="19050">
                  <a:solidFill>
                    <a:schemeClr val="bg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sp>
              <p:nvSpPr>
                <p:cNvPr id="17" name="îṥḷïdé"/>
                <p:cNvSpPr/>
                <p:nvPr/>
              </p:nvSpPr>
              <p:spPr bwMode="gray">
                <a:xfrm>
                  <a:off x="6755464" y="4394296"/>
                  <a:ext cx="263092" cy="284236"/>
                </a:xfrm>
                <a:custGeom>
                  <a:avLst/>
                  <a:gdLst>
                    <a:gd name="T0" fmla="*/ 371 w 437"/>
                    <a:gd name="T1" fmla="*/ 239 h 473"/>
                    <a:gd name="T2" fmla="*/ 354 w 437"/>
                    <a:gd name="T3" fmla="*/ 222 h 473"/>
                    <a:gd name="T4" fmla="*/ 354 w 437"/>
                    <a:gd name="T5" fmla="*/ 17 h 473"/>
                    <a:gd name="T6" fmla="*/ 371 w 437"/>
                    <a:gd name="T7" fmla="*/ 0 h 473"/>
                    <a:gd name="T8" fmla="*/ 371 w 437"/>
                    <a:gd name="T9" fmla="*/ 239 h 473"/>
                    <a:gd name="T10" fmla="*/ 324 w 437"/>
                    <a:gd name="T11" fmla="*/ 192 h 473"/>
                    <a:gd name="T12" fmla="*/ 341 w 437"/>
                    <a:gd name="T13" fmla="*/ 209 h 473"/>
                    <a:gd name="T14" fmla="*/ 341 w 437"/>
                    <a:gd name="T15" fmla="*/ 30 h 473"/>
                    <a:gd name="T16" fmla="*/ 324 w 437"/>
                    <a:gd name="T17" fmla="*/ 47 h 473"/>
                    <a:gd name="T18" fmla="*/ 324 w 437"/>
                    <a:gd name="T19" fmla="*/ 192 h 473"/>
                    <a:gd name="T20" fmla="*/ 310 w 437"/>
                    <a:gd name="T21" fmla="*/ 178 h 473"/>
                    <a:gd name="T22" fmla="*/ 310 w 437"/>
                    <a:gd name="T23" fmla="*/ 61 h 473"/>
                    <a:gd name="T24" fmla="*/ 293 w 437"/>
                    <a:gd name="T25" fmla="*/ 78 h 473"/>
                    <a:gd name="T26" fmla="*/ 293 w 437"/>
                    <a:gd name="T27" fmla="*/ 161 h 473"/>
                    <a:gd name="T28" fmla="*/ 310 w 437"/>
                    <a:gd name="T29" fmla="*/ 178 h 473"/>
                    <a:gd name="T30" fmla="*/ 83 w 437"/>
                    <a:gd name="T31" fmla="*/ 17 h 473"/>
                    <a:gd name="T32" fmla="*/ 66 w 437"/>
                    <a:gd name="T33" fmla="*/ 0 h 473"/>
                    <a:gd name="T34" fmla="*/ 66 w 437"/>
                    <a:gd name="T35" fmla="*/ 239 h 473"/>
                    <a:gd name="T36" fmla="*/ 83 w 437"/>
                    <a:gd name="T37" fmla="*/ 222 h 473"/>
                    <a:gd name="T38" fmla="*/ 83 w 437"/>
                    <a:gd name="T39" fmla="*/ 17 h 473"/>
                    <a:gd name="T40" fmla="*/ 96 w 437"/>
                    <a:gd name="T41" fmla="*/ 209 h 473"/>
                    <a:gd name="T42" fmla="*/ 113 w 437"/>
                    <a:gd name="T43" fmla="*/ 192 h 473"/>
                    <a:gd name="T44" fmla="*/ 113 w 437"/>
                    <a:gd name="T45" fmla="*/ 47 h 473"/>
                    <a:gd name="T46" fmla="*/ 96 w 437"/>
                    <a:gd name="T47" fmla="*/ 30 h 473"/>
                    <a:gd name="T48" fmla="*/ 96 w 437"/>
                    <a:gd name="T49" fmla="*/ 209 h 473"/>
                    <a:gd name="T50" fmla="*/ 127 w 437"/>
                    <a:gd name="T51" fmla="*/ 178 h 473"/>
                    <a:gd name="T52" fmla="*/ 144 w 437"/>
                    <a:gd name="T53" fmla="*/ 161 h 473"/>
                    <a:gd name="T54" fmla="*/ 144 w 437"/>
                    <a:gd name="T55" fmla="*/ 78 h 473"/>
                    <a:gd name="T56" fmla="*/ 127 w 437"/>
                    <a:gd name="T57" fmla="*/ 61 h 473"/>
                    <a:gd name="T58" fmla="*/ 127 w 437"/>
                    <a:gd name="T59" fmla="*/ 178 h 473"/>
                    <a:gd name="T60" fmla="*/ 318 w 437"/>
                    <a:gd name="T61" fmla="*/ 422 h 473"/>
                    <a:gd name="T62" fmla="*/ 258 w 437"/>
                    <a:gd name="T63" fmla="*/ 422 h 473"/>
                    <a:gd name="T64" fmla="*/ 223 w 437"/>
                    <a:gd name="T65" fmla="*/ 165 h 473"/>
                    <a:gd name="T66" fmla="*/ 252 w 437"/>
                    <a:gd name="T67" fmla="*/ 132 h 473"/>
                    <a:gd name="T68" fmla="*/ 218 w 437"/>
                    <a:gd name="T69" fmla="*/ 98 h 473"/>
                    <a:gd name="T70" fmla="*/ 185 w 437"/>
                    <a:gd name="T71" fmla="*/ 132 h 473"/>
                    <a:gd name="T72" fmla="*/ 214 w 437"/>
                    <a:gd name="T73" fmla="*/ 165 h 473"/>
                    <a:gd name="T74" fmla="*/ 179 w 437"/>
                    <a:gd name="T75" fmla="*/ 422 h 473"/>
                    <a:gd name="T76" fmla="*/ 119 w 437"/>
                    <a:gd name="T77" fmla="*/ 422 h 473"/>
                    <a:gd name="T78" fmla="*/ 94 w 437"/>
                    <a:gd name="T79" fmla="*/ 447 h 473"/>
                    <a:gd name="T80" fmla="*/ 119 w 437"/>
                    <a:gd name="T81" fmla="*/ 473 h 473"/>
                    <a:gd name="T82" fmla="*/ 318 w 437"/>
                    <a:gd name="T83" fmla="*/ 473 h 473"/>
                    <a:gd name="T84" fmla="*/ 343 w 437"/>
                    <a:gd name="T85" fmla="*/ 447 h 473"/>
                    <a:gd name="T86" fmla="*/ 318 w 437"/>
                    <a:gd name="T87" fmla="*/ 422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7" h="473">
                      <a:moveTo>
                        <a:pt x="371" y="239"/>
                      </a:moveTo>
                      <a:lnTo>
                        <a:pt x="354" y="222"/>
                      </a:lnTo>
                      <a:cubicBezTo>
                        <a:pt x="410" y="165"/>
                        <a:pt x="410" y="74"/>
                        <a:pt x="354" y="17"/>
                      </a:cubicBezTo>
                      <a:lnTo>
                        <a:pt x="371" y="0"/>
                      </a:lnTo>
                      <a:cubicBezTo>
                        <a:pt x="437" y="66"/>
                        <a:pt x="437" y="173"/>
                        <a:pt x="371" y="239"/>
                      </a:cubicBezTo>
                      <a:close/>
                      <a:moveTo>
                        <a:pt x="324" y="192"/>
                      </a:moveTo>
                      <a:lnTo>
                        <a:pt x="341" y="209"/>
                      </a:lnTo>
                      <a:cubicBezTo>
                        <a:pt x="390" y="160"/>
                        <a:pt x="390" y="79"/>
                        <a:pt x="341" y="30"/>
                      </a:cubicBezTo>
                      <a:lnTo>
                        <a:pt x="324" y="47"/>
                      </a:lnTo>
                      <a:cubicBezTo>
                        <a:pt x="364" y="87"/>
                        <a:pt x="364" y="152"/>
                        <a:pt x="324" y="192"/>
                      </a:cubicBezTo>
                      <a:close/>
                      <a:moveTo>
                        <a:pt x="310" y="178"/>
                      </a:moveTo>
                      <a:cubicBezTo>
                        <a:pt x="343" y="146"/>
                        <a:pt x="343" y="93"/>
                        <a:pt x="310" y="61"/>
                      </a:cubicBezTo>
                      <a:lnTo>
                        <a:pt x="293" y="78"/>
                      </a:lnTo>
                      <a:cubicBezTo>
                        <a:pt x="316" y="101"/>
                        <a:pt x="316" y="138"/>
                        <a:pt x="293" y="161"/>
                      </a:cubicBezTo>
                      <a:lnTo>
                        <a:pt x="310" y="178"/>
                      </a:lnTo>
                      <a:close/>
                      <a:moveTo>
                        <a:pt x="83" y="17"/>
                      </a:moveTo>
                      <a:lnTo>
                        <a:pt x="66" y="0"/>
                      </a:lnTo>
                      <a:cubicBezTo>
                        <a:pt x="0" y="66"/>
                        <a:pt x="0" y="173"/>
                        <a:pt x="66" y="239"/>
                      </a:cubicBezTo>
                      <a:lnTo>
                        <a:pt x="83" y="222"/>
                      </a:lnTo>
                      <a:cubicBezTo>
                        <a:pt x="27" y="165"/>
                        <a:pt x="27" y="74"/>
                        <a:pt x="83" y="17"/>
                      </a:cubicBezTo>
                      <a:close/>
                      <a:moveTo>
                        <a:pt x="96" y="209"/>
                      </a:moveTo>
                      <a:lnTo>
                        <a:pt x="113" y="192"/>
                      </a:lnTo>
                      <a:cubicBezTo>
                        <a:pt x="73" y="152"/>
                        <a:pt x="73" y="87"/>
                        <a:pt x="113" y="47"/>
                      </a:cubicBezTo>
                      <a:lnTo>
                        <a:pt x="96" y="30"/>
                      </a:lnTo>
                      <a:cubicBezTo>
                        <a:pt x="46" y="79"/>
                        <a:pt x="46" y="160"/>
                        <a:pt x="96" y="209"/>
                      </a:cubicBezTo>
                      <a:close/>
                      <a:moveTo>
                        <a:pt x="127" y="178"/>
                      </a:moveTo>
                      <a:lnTo>
                        <a:pt x="144" y="161"/>
                      </a:lnTo>
                      <a:cubicBezTo>
                        <a:pt x="121" y="138"/>
                        <a:pt x="121" y="101"/>
                        <a:pt x="144" y="78"/>
                      </a:cubicBezTo>
                      <a:lnTo>
                        <a:pt x="127" y="61"/>
                      </a:lnTo>
                      <a:cubicBezTo>
                        <a:pt x="94" y="93"/>
                        <a:pt x="94" y="146"/>
                        <a:pt x="127" y="178"/>
                      </a:cubicBezTo>
                      <a:close/>
                      <a:moveTo>
                        <a:pt x="318" y="422"/>
                      </a:moveTo>
                      <a:lnTo>
                        <a:pt x="258" y="422"/>
                      </a:lnTo>
                      <a:lnTo>
                        <a:pt x="223" y="165"/>
                      </a:lnTo>
                      <a:cubicBezTo>
                        <a:pt x="239" y="163"/>
                        <a:pt x="252" y="149"/>
                        <a:pt x="252" y="132"/>
                      </a:cubicBezTo>
                      <a:cubicBezTo>
                        <a:pt x="252" y="113"/>
                        <a:pt x="237" y="98"/>
                        <a:pt x="218" y="98"/>
                      </a:cubicBezTo>
                      <a:cubicBezTo>
                        <a:pt x="200" y="98"/>
                        <a:pt x="185" y="113"/>
                        <a:pt x="185" y="132"/>
                      </a:cubicBezTo>
                      <a:cubicBezTo>
                        <a:pt x="185" y="149"/>
                        <a:pt x="198" y="163"/>
                        <a:pt x="214" y="165"/>
                      </a:cubicBezTo>
                      <a:lnTo>
                        <a:pt x="179" y="422"/>
                      </a:lnTo>
                      <a:lnTo>
                        <a:pt x="119" y="422"/>
                      </a:lnTo>
                      <a:cubicBezTo>
                        <a:pt x="105" y="422"/>
                        <a:pt x="94" y="433"/>
                        <a:pt x="94" y="447"/>
                      </a:cubicBezTo>
                      <a:cubicBezTo>
                        <a:pt x="94" y="461"/>
                        <a:pt x="105" y="473"/>
                        <a:pt x="119" y="473"/>
                      </a:cubicBezTo>
                      <a:lnTo>
                        <a:pt x="318" y="473"/>
                      </a:lnTo>
                      <a:cubicBezTo>
                        <a:pt x="332" y="473"/>
                        <a:pt x="343" y="461"/>
                        <a:pt x="343" y="447"/>
                      </a:cubicBezTo>
                      <a:cubicBezTo>
                        <a:pt x="343" y="433"/>
                        <a:pt x="332" y="422"/>
                        <a:pt x="318" y="422"/>
                      </a:cubicBezTo>
                      <a:close/>
                    </a:path>
                  </a:pathLst>
                </a:custGeom>
                <a:solidFill>
                  <a:schemeClr val="bg1"/>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i="1">
                    <a:solidFill>
                      <a:schemeClr val="tx1"/>
                    </a:solidFill>
                    <a:latin typeface="Huawei Sans" panose="020C0503030203020204" pitchFamily="34" charset="0"/>
                    <a:ea typeface="方正兰亭黑简体" panose="02000000000000000000" pitchFamily="2" charset="-122"/>
                  </a:endParaRPr>
                </a:p>
              </p:txBody>
            </p:sp>
          </p:grpSp>
          <p:sp>
            <p:nvSpPr>
              <p:cNvPr id="15" name="îṧlîḋè">
                <a:extLst>
                  <a:ext uri="{FF2B5EF4-FFF2-40B4-BE49-F238E27FC236}">
                    <a16:creationId xmlns:a16="http://schemas.microsoft.com/office/drawing/2014/main" id="{03370132-C199-466C-9FF3-97790D081173}"/>
                  </a:ext>
                </a:extLst>
              </p:cNvPr>
              <p:cNvSpPr txBox="1"/>
              <p:nvPr/>
            </p:nvSpPr>
            <p:spPr bwMode="gray">
              <a:xfrm>
                <a:off x="7260277" y="4016777"/>
                <a:ext cx="3827933" cy="4503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拥塞管理</a:t>
                </a:r>
                <a:endParaRPr lang="en-US" altLang="zh-CN" b="1" dirty="0">
                  <a:latin typeface="Huawei Sans" panose="020C0503030203020204" pitchFamily="34" charset="0"/>
                  <a:ea typeface="方正兰亭黑简体" panose="02000000000000000000" pitchFamily="2" charset="-122"/>
                </a:endParaRPr>
              </a:p>
            </p:txBody>
          </p:sp>
        </p:grpSp>
        <p:cxnSp>
          <p:nvCxnSpPr>
            <p:cNvPr id="13" name="直接连接符 12"/>
            <p:cNvCxnSpPr/>
            <p:nvPr/>
          </p:nvCxnSpPr>
          <p:spPr bwMode="gray">
            <a:xfrm>
              <a:off x="6266976" y="5085184"/>
              <a:ext cx="41786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8" name="íṥliḑe">
              <a:extLst>
                <a:ext uri="{FF2B5EF4-FFF2-40B4-BE49-F238E27FC236}">
                  <a16:creationId xmlns:a16="http://schemas.microsoft.com/office/drawing/2014/main" id="{03370132-C199-466C-9FF3-97790D081173}"/>
                </a:ext>
              </a:extLst>
            </p:cNvPr>
            <p:cNvSpPr txBox="1"/>
            <p:nvPr/>
          </p:nvSpPr>
          <p:spPr bwMode="gray">
            <a:xfrm>
              <a:off x="6192503" y="4509120"/>
              <a:ext cx="4223977" cy="57606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600" dirty="0">
                  <a:latin typeface="Huawei Sans" panose="020C0503030203020204" pitchFamily="34" charset="0"/>
                  <a:ea typeface="方正兰亭黑简体" panose="02000000000000000000" pitchFamily="2" charset="-122"/>
                </a:rPr>
                <a:t>通过调整报文的调度次序来满足时延敏感业务高</a:t>
              </a:r>
              <a:r>
                <a:rPr lang="en-US" altLang="zh-CN" sz="1600" dirty="0">
                  <a:latin typeface="Huawei Sans" panose="020C0503030203020204" pitchFamily="34" charset="0"/>
                  <a:ea typeface="方正兰亭黑简体" panose="02000000000000000000" pitchFamily="2" charset="-122"/>
                </a:rPr>
                <a:t>QoS</a:t>
              </a:r>
              <a:r>
                <a:rPr lang="zh-CN" altLang="en-US" sz="1600" dirty="0">
                  <a:latin typeface="Huawei Sans" panose="020C0503030203020204" pitchFamily="34" charset="0"/>
                  <a:ea typeface="方正兰亭黑简体" panose="02000000000000000000" pitchFamily="2" charset="-122"/>
                </a:rPr>
                <a:t>服务</a:t>
              </a:r>
              <a:endParaRPr lang="en-US" altLang="zh-CN" sz="160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811432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直接箭头连接符 27"/>
          <p:cNvCxnSpPr/>
          <p:nvPr/>
        </p:nvCxnSpPr>
        <p:spPr bwMode="gray">
          <a:xfrm>
            <a:off x="3251684" y="3069000"/>
            <a:ext cx="0" cy="7200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64" name="五边形 63"/>
          <p:cNvSpPr/>
          <p:nvPr/>
        </p:nvSpPr>
        <p:spPr bwMode="gray">
          <a:xfrm>
            <a:off x="6415492" y="2348840"/>
            <a:ext cx="4477322" cy="2700300"/>
          </a:xfrm>
          <a:prstGeom prst="homePlate">
            <a:avLst>
              <a:gd name="adj" fmla="val 12894"/>
            </a:avLst>
          </a:prstGeom>
          <a:solidFill>
            <a:srgbClr val="F4FBFE"/>
          </a:solidFill>
          <a:ln w="9525" cap="flat" cmpd="sng" algn="ctr">
            <a:solidFill>
              <a:srgbClr val="56C4D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en-US" altLang="zh-CN" dirty="0"/>
              <a:t>QoS</a:t>
            </a:r>
            <a:r>
              <a:rPr lang="zh-CN" altLang="en-US" dirty="0"/>
              <a:t>数据处理流程 </a:t>
            </a:r>
            <a:r>
              <a:rPr lang="en-US" altLang="zh-CN" dirty="0"/>
              <a:t>(DiffServ</a:t>
            </a:r>
            <a:r>
              <a:rPr lang="zh-CN" altLang="en-US" dirty="0"/>
              <a:t>模型</a:t>
            </a:r>
            <a:r>
              <a:rPr lang="en-US" altLang="zh-CN" dirty="0"/>
              <a:t>)</a:t>
            </a:r>
            <a:endParaRPr lang="zh-CN" altLang="en-US" dirty="0"/>
          </a:p>
        </p:txBody>
      </p:sp>
      <p:grpSp>
        <p:nvGrpSpPr>
          <p:cNvPr id="102" name="组合 101"/>
          <p:cNvGrpSpPr/>
          <p:nvPr/>
        </p:nvGrpSpPr>
        <p:grpSpPr bwMode="gray">
          <a:xfrm>
            <a:off x="690856" y="1978758"/>
            <a:ext cx="1345406" cy="3403072"/>
            <a:chOff x="1006178" y="2014802"/>
            <a:chExt cx="1345406" cy="3403072"/>
          </a:xfrm>
        </p:grpSpPr>
        <p:grpSp>
          <p:nvGrpSpPr>
            <p:cNvPr id="14" name="组合 13"/>
            <p:cNvGrpSpPr/>
            <p:nvPr/>
          </p:nvGrpSpPr>
          <p:grpSpPr bwMode="gray">
            <a:xfrm>
              <a:off x="1006178" y="2014802"/>
              <a:ext cx="1345406" cy="3403072"/>
              <a:chOff x="1438226" y="1592796"/>
              <a:chExt cx="1345406" cy="3403072"/>
            </a:xfrm>
          </p:grpSpPr>
          <p:sp>
            <p:nvSpPr>
              <p:cNvPr id="16" name="圆角矩形 15"/>
              <p:cNvSpPr/>
              <p:nvPr/>
            </p:nvSpPr>
            <p:spPr bwMode="gray">
              <a:xfrm>
                <a:off x="1438226" y="1592796"/>
                <a:ext cx="1345406" cy="3403072"/>
              </a:xfrm>
              <a:prstGeom prst="round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7"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8" name="图片 17" descr="可视电话硬终端.png"/>
              <p:cNvPicPr>
                <a:picLocks noChangeAspect="1"/>
              </p:cNvPicPr>
              <p:nvPr/>
            </p:nvPicPr>
            <p:blipFill>
              <a:blip r:embed="rId3" cstate="print"/>
              <a:stretch>
                <a:fillRect/>
              </a:stretch>
            </p:blipFill>
            <p:spPr bwMode="gray">
              <a:xfrm>
                <a:off x="1908939" y="2980317"/>
                <a:ext cx="609949" cy="540000"/>
              </a:xfrm>
              <a:prstGeom prst="rect">
                <a:avLst/>
              </a:prstGeom>
            </p:spPr>
          </p:pic>
          <p:pic>
            <p:nvPicPr>
              <p:cNvPr id="19" name="图片 18" descr="管理型无线虚链路-蓝.png"/>
              <p:cNvPicPr>
                <a:picLocks noChangeAspect="1"/>
              </p:cNvPicPr>
              <p:nvPr/>
            </p:nvPicPr>
            <p:blipFill>
              <a:blip r:embed="rId4" cstate="print"/>
              <a:stretch>
                <a:fillRect/>
              </a:stretch>
            </p:blipFill>
            <p:spPr bwMode="gray">
              <a:xfrm>
                <a:off x="1922620" y="1772816"/>
                <a:ext cx="582586" cy="540000"/>
              </a:xfrm>
              <a:prstGeom prst="rect">
                <a:avLst/>
              </a:prstGeom>
            </p:spPr>
          </p:pic>
          <p:sp>
            <p:nvSpPr>
              <p:cNvPr id="20" name="文本框 19"/>
              <p:cNvSpPr txBox="1"/>
              <p:nvPr/>
            </p:nvSpPr>
            <p:spPr bwMode="gray">
              <a:xfrm>
                <a:off x="1920068" y="2277064"/>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a:t>
                </a:r>
              </a:p>
            </p:txBody>
          </p:sp>
          <p:sp>
            <p:nvSpPr>
              <p:cNvPr id="21" name="文本框 20"/>
              <p:cNvSpPr txBox="1"/>
              <p:nvPr/>
            </p:nvSpPr>
            <p:spPr bwMode="gray">
              <a:xfrm>
                <a:off x="1920069" y="350100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语音</a:t>
                </a:r>
              </a:p>
            </p:txBody>
          </p:sp>
          <p:sp>
            <p:nvSpPr>
              <p:cNvPr id="22" name="文本框 21"/>
              <p:cNvSpPr txBox="1"/>
              <p:nvPr/>
            </p:nvSpPr>
            <p:spPr bwMode="gray">
              <a:xfrm>
                <a:off x="1920069" y="461713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数据</a:t>
                </a:r>
              </a:p>
            </p:txBody>
          </p:sp>
        </p:grpSp>
        <p:sp>
          <p:nvSpPr>
            <p:cNvPr id="23"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sp>
        <p:nvSpPr>
          <p:cNvPr id="24" name="右箭头标注 23"/>
          <p:cNvSpPr/>
          <p:nvPr/>
        </p:nvSpPr>
        <p:spPr bwMode="gray">
          <a:xfrm>
            <a:off x="2108271" y="3312983"/>
            <a:ext cx="792088" cy="734621"/>
          </a:xfrm>
          <a:prstGeom prst="rightArrowCallout">
            <a:avLst>
              <a:gd name="adj1" fmla="val 23271"/>
              <a:gd name="adj2" fmla="val 25000"/>
              <a:gd name="adj3" fmla="val 19073"/>
              <a:gd name="adj4" fmla="val 75831"/>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Huawei Sans" panose="020C0503030203020204" pitchFamily="34" charset="0"/>
                <a:ea typeface="方正兰亭黑简体" panose="02000000000000000000" pitchFamily="2" charset="-122"/>
              </a:rPr>
              <a:t>流量分类</a:t>
            </a:r>
          </a:p>
        </p:txBody>
      </p:sp>
      <p:sp>
        <p:nvSpPr>
          <p:cNvPr id="25" name="流程图: 磁盘 24"/>
          <p:cNvSpPr/>
          <p:nvPr/>
        </p:nvSpPr>
        <p:spPr bwMode="gray">
          <a:xfrm>
            <a:off x="3002562" y="3266248"/>
            <a:ext cx="498244" cy="828092"/>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6" name="文本框 25"/>
          <p:cNvSpPr txBox="1"/>
          <p:nvPr/>
        </p:nvSpPr>
        <p:spPr bwMode="gray">
          <a:xfrm>
            <a:off x="2932192" y="3789000"/>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latin typeface="Huawei Sans" panose="020C0503030203020204" pitchFamily="34" charset="0"/>
                <a:ea typeface="方正兰亭黑简体" panose="02000000000000000000" pitchFamily="2" charset="-122"/>
              </a:rPr>
              <a:t>令牌桶</a:t>
            </a:r>
          </a:p>
        </p:txBody>
      </p:sp>
      <p:sp>
        <p:nvSpPr>
          <p:cNvPr id="29" name="矩形 28"/>
          <p:cNvSpPr/>
          <p:nvPr/>
        </p:nvSpPr>
        <p:spPr bwMode="gray">
          <a:xfrm>
            <a:off x="3143672" y="285289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30" name="矩形 29"/>
          <p:cNvSpPr/>
          <p:nvPr/>
        </p:nvSpPr>
        <p:spPr bwMode="gray">
          <a:xfrm>
            <a:off x="3143672" y="2636872"/>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1" name="文本框 30"/>
          <p:cNvSpPr txBox="1"/>
          <p:nvPr/>
        </p:nvSpPr>
        <p:spPr bwMode="gray">
          <a:xfrm>
            <a:off x="2983488" y="2332769"/>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令牌</a:t>
            </a:r>
          </a:p>
        </p:txBody>
      </p:sp>
      <p:sp>
        <p:nvSpPr>
          <p:cNvPr id="34" name="右箭头标注 33"/>
          <p:cNvSpPr/>
          <p:nvPr/>
        </p:nvSpPr>
        <p:spPr bwMode="gray">
          <a:xfrm>
            <a:off x="4435272" y="3312983"/>
            <a:ext cx="1138870" cy="734621"/>
          </a:xfrm>
          <a:prstGeom prst="rightArrowCallout">
            <a:avLst>
              <a:gd name="adj1" fmla="val 23271"/>
              <a:gd name="adj2" fmla="val 25000"/>
              <a:gd name="adj3" fmla="val 25000"/>
              <a:gd name="adj4" fmla="val 7688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Remark</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636662" y="3266248"/>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其它</a:t>
              </a:r>
              <a:endParaRPr lang="en-US" altLang="zh-CN" sz="1600" b="1" dirty="0">
                <a:latin typeface="Huawei Sans" panose="020C0503030203020204" pitchFamily="34" charset="0"/>
                <a:ea typeface="方正兰亭黑简体" panose="02000000000000000000" pitchFamily="2" charset="-122"/>
              </a:endParaRPr>
            </a:p>
            <a:p>
              <a:pPr algn="ctr"/>
              <a:r>
                <a:rPr lang="zh-CN" altLang="en-US" sz="1600" b="1" dirty="0">
                  <a:latin typeface="Huawei Sans" panose="020C0503030203020204" pitchFamily="34" charset="0"/>
                  <a:ea typeface="方正兰亭黑简体" panose="02000000000000000000" pitchFamily="2" charset="-122"/>
                </a:rPr>
                <a:t>处理</a:t>
              </a:r>
              <a:endParaRPr lang="en-US" altLang="zh-CN" sz="1600" b="1" dirty="0">
                <a:latin typeface="Huawei Sans" panose="020C0503030203020204" pitchFamily="34" charset="0"/>
                <a:ea typeface="方正兰亭黑简体" panose="02000000000000000000" pitchFamily="2" charset="-122"/>
              </a:endParaRPr>
            </a:p>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508870" y="3500274"/>
            <a:ext cx="324036" cy="360040"/>
          </a:xfrm>
          <a:prstGeom prst="ellipse">
            <a:avLst/>
          </a:prstGeom>
          <a:solidFill>
            <a:schemeClr val="bg1">
              <a:lumMod val="5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8228950" y="2843221"/>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8228950" y="3212936"/>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8228950" y="3635309"/>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8228950" y="4329061"/>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339430" y="3897012"/>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670888" y="2987221"/>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785452" y="3356936"/>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7832906" y="3680294"/>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785452" y="3807587"/>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670888" y="3860314"/>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10039205" y="3312983"/>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GTS</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500758" y="3312983"/>
            <a:ext cx="1044116" cy="734621"/>
          </a:xfrm>
          <a:prstGeom prst="rightArrowCallout">
            <a:avLst>
              <a:gd name="adj1" fmla="val 23271"/>
              <a:gd name="adj2" fmla="val 19073"/>
              <a:gd name="adj3" fmla="val 28952"/>
              <a:gd name="adj4" fmla="val 7127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6" name="文本框 75"/>
          <p:cNvSpPr txBox="1"/>
          <p:nvPr/>
        </p:nvSpPr>
        <p:spPr bwMode="gray">
          <a:xfrm>
            <a:off x="6392746"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拥塞避免</a:t>
            </a:r>
          </a:p>
        </p:txBody>
      </p:sp>
      <p:sp>
        <p:nvSpPr>
          <p:cNvPr id="77" name="文本框 76"/>
          <p:cNvSpPr txBox="1"/>
          <p:nvPr/>
        </p:nvSpPr>
        <p:spPr bwMode="gray">
          <a:xfrm rot="19047356">
            <a:off x="7415890" y="300975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9201058" y="2816892"/>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8949030" y="299691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8949030" y="335695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8949030" y="378900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8949030" y="447307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1" name="文本框 90"/>
          <p:cNvSpPr txBox="1"/>
          <p:nvPr/>
        </p:nvSpPr>
        <p:spPr bwMode="gray">
          <a:xfrm>
            <a:off x="8949030" y="4689100"/>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拥塞管理</a:t>
            </a:r>
          </a:p>
        </p:txBody>
      </p:sp>
      <p:sp>
        <p:nvSpPr>
          <p:cNvPr id="92" name="文本框 91"/>
          <p:cNvSpPr txBox="1"/>
          <p:nvPr/>
        </p:nvSpPr>
        <p:spPr bwMode="gray">
          <a:xfrm>
            <a:off x="9967198"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流量整形</a:t>
            </a:r>
          </a:p>
        </p:txBody>
      </p:sp>
      <p:sp>
        <p:nvSpPr>
          <p:cNvPr id="93" name="文本框 92"/>
          <p:cNvSpPr txBox="1"/>
          <p:nvPr/>
        </p:nvSpPr>
        <p:spPr bwMode="gray">
          <a:xfrm>
            <a:off x="3031116"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流量监管</a:t>
            </a:r>
          </a:p>
        </p:txBody>
      </p:sp>
      <p:grpSp>
        <p:nvGrpSpPr>
          <p:cNvPr id="103" name="组合 102"/>
          <p:cNvGrpSpPr/>
          <p:nvPr/>
        </p:nvGrpSpPr>
        <p:grpSpPr bwMode="gray">
          <a:xfrm>
            <a:off x="10929250" y="2456852"/>
            <a:ext cx="432048" cy="2628292"/>
            <a:chOff x="1006178" y="2492896"/>
            <a:chExt cx="432048" cy="2628292"/>
          </a:xfrm>
        </p:grpSpPr>
        <p:sp>
          <p:nvSpPr>
            <p:cNvPr id="106" name="圆角矩形 105"/>
            <p:cNvSpPr/>
            <p:nvPr/>
          </p:nvSpPr>
          <p:spPr bwMode="gray">
            <a:xfrm>
              <a:off x="1006178" y="2492896"/>
              <a:ext cx="432048" cy="2628292"/>
            </a:xfrm>
            <a:prstGeom prst="round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出</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741118" y="3032917"/>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741118" y="3392956"/>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741118" y="3680294"/>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741118" y="3933016"/>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2577842">
            <a:off x="9712730" y="2840056"/>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出队列</a:t>
            </a:r>
          </a:p>
        </p:txBody>
      </p:sp>
      <p:sp>
        <p:nvSpPr>
          <p:cNvPr id="62" name="右箭头标注 61"/>
          <p:cNvSpPr/>
          <p:nvPr/>
        </p:nvSpPr>
        <p:spPr bwMode="gray">
          <a:xfrm>
            <a:off x="3571176" y="3312983"/>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CAR</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18654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p:txBody>
          <a:bodyPr/>
          <a:lstStyle/>
          <a:p>
            <a:r>
              <a:rPr lang="en-US" altLang="zh-CN" dirty="0"/>
              <a:t>(</a:t>
            </a:r>
            <a:r>
              <a:rPr lang="zh-CN" altLang="en-US" dirty="0"/>
              <a:t>多选题</a:t>
            </a:r>
            <a:r>
              <a:rPr lang="en-US" altLang="zh-CN" dirty="0"/>
              <a:t>)</a:t>
            </a:r>
            <a:r>
              <a:rPr lang="en-US" dirty="0"/>
              <a:t>Q</a:t>
            </a:r>
            <a:r>
              <a:rPr lang="en-US" altLang="zh-CN" dirty="0"/>
              <a:t>oS</a:t>
            </a:r>
            <a:r>
              <a:rPr lang="zh-CN" altLang="en-US" dirty="0"/>
              <a:t>提供的三种服务模型是以下哪些项？（     ）</a:t>
            </a:r>
            <a:endParaRPr lang="en-US" altLang="zh-CN" dirty="0"/>
          </a:p>
          <a:p>
            <a:pPr lvl="1"/>
            <a:r>
              <a:rPr lang="en-US" dirty="0"/>
              <a:t>Differentiated Service</a:t>
            </a:r>
            <a:r>
              <a:rPr lang="zh-CN" altLang="en-US" dirty="0"/>
              <a:t>模型</a:t>
            </a:r>
            <a:endParaRPr lang="en-US" altLang="zh-CN" dirty="0"/>
          </a:p>
          <a:p>
            <a:pPr lvl="1"/>
            <a:r>
              <a:rPr lang="en-US" dirty="0"/>
              <a:t>Integrated Service</a:t>
            </a:r>
            <a:r>
              <a:rPr lang="zh-CN" altLang="en-US" dirty="0"/>
              <a:t>模型</a:t>
            </a:r>
            <a:endParaRPr lang="en-US" dirty="0"/>
          </a:p>
          <a:p>
            <a:pPr lvl="1"/>
            <a:r>
              <a:rPr lang="en-US" dirty="0"/>
              <a:t>Best-Effort Service</a:t>
            </a:r>
            <a:r>
              <a:rPr lang="zh-CN" altLang="en-US" dirty="0"/>
              <a:t>模型</a:t>
            </a:r>
            <a:endParaRPr lang="en-US" dirty="0"/>
          </a:p>
          <a:p>
            <a:pPr lvl="1"/>
            <a:r>
              <a:rPr lang="en-US" dirty="0"/>
              <a:t>N</a:t>
            </a:r>
            <a:r>
              <a:rPr lang="en-US" altLang="zh-CN" dirty="0"/>
              <a:t>etwork Service</a:t>
            </a:r>
            <a:r>
              <a:rPr lang="zh-CN" altLang="en-US" dirty="0"/>
              <a:t>模型</a:t>
            </a:r>
            <a:endParaRPr lang="en-US" dirty="0"/>
          </a:p>
          <a:p>
            <a:pPr lvl="1"/>
            <a:endParaRPr lang="en-US" dirty="0"/>
          </a:p>
        </p:txBody>
      </p:sp>
    </p:spTree>
    <p:extLst>
      <p:ext uri="{BB962C8B-B14F-4D97-AF65-F5344CB8AC3E}">
        <p14:creationId xmlns:p14="http://schemas.microsoft.com/office/powerpoint/2010/main" val="179441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en-US" dirty="0" err="1"/>
              <a:t>Q</a:t>
            </a:r>
            <a:r>
              <a:rPr lang="en-US" altLang="zh-CN" dirty="0" err="1"/>
              <a:t>oS</a:t>
            </a:r>
            <a:r>
              <a:rPr lang="zh-CN" altLang="en-US" dirty="0"/>
              <a:t>服务模型分为</a:t>
            </a:r>
            <a:r>
              <a:rPr lang="en-US" dirty="0"/>
              <a:t>Differentiated Service</a:t>
            </a:r>
            <a:r>
              <a:rPr lang="zh-CN" altLang="en-US" dirty="0"/>
              <a:t>模型，</a:t>
            </a:r>
            <a:r>
              <a:rPr lang="en-US" dirty="0" err="1"/>
              <a:t>Intergrate</a:t>
            </a:r>
            <a:r>
              <a:rPr lang="en-US" dirty="0"/>
              <a:t> Service</a:t>
            </a:r>
            <a:r>
              <a:rPr lang="zh-CN" altLang="en-US" dirty="0"/>
              <a:t>模型，</a:t>
            </a:r>
            <a:r>
              <a:rPr lang="en-US" dirty="0"/>
              <a:t>Best-Effort Service</a:t>
            </a:r>
            <a:r>
              <a:rPr lang="zh-CN" altLang="en-US" dirty="0"/>
              <a:t>模型。</a:t>
            </a:r>
            <a:endParaRPr lang="en-US" dirty="0"/>
          </a:p>
          <a:p>
            <a:r>
              <a:rPr lang="en-US" dirty="0"/>
              <a:t>Differentiated Service</a:t>
            </a:r>
            <a:r>
              <a:rPr lang="zh-CN" altLang="en-US" dirty="0"/>
              <a:t>模型是最常用的</a:t>
            </a:r>
            <a:r>
              <a:rPr lang="en-US" altLang="zh-CN" dirty="0" err="1"/>
              <a:t>QoS</a:t>
            </a:r>
            <a:r>
              <a:rPr lang="zh-CN" altLang="en-US" dirty="0"/>
              <a:t>模型，此类模型提供的主要</a:t>
            </a:r>
            <a:r>
              <a:rPr lang="en-US" altLang="zh-CN" dirty="0" err="1"/>
              <a:t>QoS</a:t>
            </a:r>
            <a:r>
              <a:rPr lang="zh-CN" altLang="en-US" dirty="0"/>
              <a:t>技术是流量限速，拥塞避免，拥塞管理。</a:t>
            </a:r>
            <a:endParaRPr lang="en-US" altLang="zh-CN" dirty="0"/>
          </a:p>
          <a:p>
            <a:endParaRPr lang="en-US" dirty="0"/>
          </a:p>
        </p:txBody>
      </p:sp>
    </p:spTree>
    <p:extLst>
      <p:ext uri="{BB962C8B-B14F-4D97-AF65-F5344CB8AC3E}">
        <p14:creationId xmlns:p14="http://schemas.microsoft.com/office/powerpoint/2010/main" val="792497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dirty="0">
                <a:solidFill>
                  <a:schemeClr val="bg1">
                    <a:lumMod val="50000"/>
                  </a:schemeClr>
                </a:solidFill>
              </a:rPr>
              <a:t>QoS</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b="1" dirty="0"/>
              <a:t>QoS</a:t>
            </a:r>
            <a:r>
              <a:rPr lang="zh-CN" altLang="en-US" b="1" dirty="0"/>
              <a:t>流分类和流标记</a:t>
            </a:r>
            <a:endParaRPr lang="en-US" altLang="zh-CN" b="1" dirty="0"/>
          </a:p>
          <a:p>
            <a:r>
              <a:rPr lang="zh-CN" altLang="en-US" dirty="0">
                <a:solidFill>
                  <a:schemeClr val="bg1">
                    <a:lumMod val="50000"/>
                  </a:schemeClr>
                </a:solidFill>
              </a:rPr>
              <a:t>流量限速技术</a:t>
            </a:r>
            <a:endParaRPr lang="en-US" altLang="zh-CN" dirty="0">
              <a:solidFill>
                <a:schemeClr val="bg1">
                  <a:lumMod val="50000"/>
                </a:schemeClr>
              </a:solidFill>
            </a:endParaRPr>
          </a:p>
          <a:p>
            <a:r>
              <a:rPr lang="zh-CN" altLang="en-US" dirty="0">
                <a:solidFill>
                  <a:schemeClr val="bg1">
                    <a:lumMod val="50000"/>
                  </a:schemeClr>
                </a:solidFill>
              </a:rPr>
              <a:t>拥塞避免技术</a:t>
            </a:r>
            <a:endParaRPr lang="en-US" altLang="zh-CN" dirty="0">
              <a:solidFill>
                <a:schemeClr val="bg1">
                  <a:lumMod val="50000"/>
                </a:schemeClr>
              </a:solidFill>
            </a:endParaRPr>
          </a:p>
          <a:p>
            <a:r>
              <a:rPr lang="zh-CN" altLang="en-US" dirty="0">
                <a:solidFill>
                  <a:schemeClr val="bg1">
                    <a:lumMod val="50000"/>
                  </a:schemeClr>
                </a:solidFill>
              </a:rPr>
              <a:t>拥塞管理技术</a:t>
            </a:r>
            <a:endParaRPr lang="en-US" altLang="zh-CN" dirty="0">
              <a:solidFill>
                <a:schemeClr val="bg1">
                  <a:lumMod val="50000"/>
                </a:schemeClr>
              </a:solidFill>
            </a:endParaRPr>
          </a:p>
          <a:p>
            <a:r>
              <a:rPr lang="en-US" altLang="zh-CN" dirty="0">
                <a:solidFill>
                  <a:schemeClr val="bg1">
                    <a:lumMod val="50000"/>
                  </a:schemeClr>
                </a:solidFill>
              </a:rPr>
              <a:t>HQoS</a:t>
            </a:r>
            <a:r>
              <a:rPr lang="zh-CN" altLang="en-US" dirty="0">
                <a:solidFill>
                  <a:schemeClr val="bg1">
                    <a:lumMod val="50000"/>
                  </a:schemeClr>
                </a:solidFill>
              </a:rPr>
              <a:t>介绍</a:t>
            </a:r>
            <a:endParaRPr lang="en-US" altLang="zh-CN" dirty="0">
              <a:solidFill>
                <a:schemeClr val="bg1">
                  <a:lumMod val="50000"/>
                </a:schemeClr>
              </a:solidFill>
            </a:endParaRPr>
          </a:p>
        </p:txBody>
      </p:sp>
    </p:spTree>
    <p:extLst>
      <p:ext uri="{BB962C8B-B14F-4D97-AF65-F5344CB8AC3E}">
        <p14:creationId xmlns:p14="http://schemas.microsoft.com/office/powerpoint/2010/main" val="311105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数据处理流程</a:t>
            </a:r>
          </a:p>
        </p:txBody>
      </p:sp>
      <p:sp>
        <p:nvSpPr>
          <p:cNvPr id="64" name="五边形 63"/>
          <p:cNvSpPr/>
          <p:nvPr/>
        </p:nvSpPr>
        <p:spPr bwMode="gray">
          <a:xfrm>
            <a:off x="6600056" y="1998882"/>
            <a:ext cx="4477322" cy="2700300"/>
          </a:xfrm>
          <a:prstGeom prst="homePlate">
            <a:avLst>
              <a:gd name="adj" fmla="val 12894"/>
            </a:avLst>
          </a:prstGeom>
          <a:solidFill>
            <a:schemeClr val="bg1">
              <a:lumMod val="95000"/>
            </a:schemeClr>
          </a:solidFill>
          <a:ln w="9525" cap="flat" cmpd="sng" algn="ctr">
            <a:solidFill>
              <a:schemeClr val="bg1">
                <a:lumMod val="50000"/>
              </a:schemeClr>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02" name="组合 101"/>
          <p:cNvGrpSpPr/>
          <p:nvPr/>
        </p:nvGrpSpPr>
        <p:grpSpPr bwMode="gray">
          <a:xfrm>
            <a:off x="875420" y="1628800"/>
            <a:ext cx="1345406" cy="3403072"/>
            <a:chOff x="1006178" y="2014802"/>
            <a:chExt cx="1345406" cy="3403072"/>
          </a:xfrm>
        </p:grpSpPr>
        <p:grpSp>
          <p:nvGrpSpPr>
            <p:cNvPr id="14" name="组合 13"/>
            <p:cNvGrpSpPr/>
            <p:nvPr/>
          </p:nvGrpSpPr>
          <p:grpSpPr bwMode="gray">
            <a:xfrm>
              <a:off x="1006178" y="2014802"/>
              <a:ext cx="1345406" cy="3403072"/>
              <a:chOff x="1438226" y="1592796"/>
              <a:chExt cx="1345406" cy="3403072"/>
            </a:xfrm>
          </p:grpSpPr>
          <p:sp>
            <p:nvSpPr>
              <p:cNvPr id="16" name="圆角矩形 15"/>
              <p:cNvSpPr/>
              <p:nvPr/>
            </p:nvSpPr>
            <p:spPr bwMode="gray">
              <a:xfrm>
                <a:off x="1438226" y="1592796"/>
                <a:ext cx="1345406" cy="3403072"/>
              </a:xfrm>
              <a:prstGeom prst="roundRect">
                <a:avLst>
                  <a:gd name="adj" fmla="val 5340"/>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7"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8" name="图片 17" descr="可视电话硬终端.png"/>
              <p:cNvPicPr>
                <a:picLocks noChangeAspect="1"/>
              </p:cNvPicPr>
              <p:nvPr/>
            </p:nvPicPr>
            <p:blipFill>
              <a:blip r:embed="rId3" cstate="print"/>
              <a:stretch>
                <a:fillRect/>
              </a:stretch>
            </p:blipFill>
            <p:spPr bwMode="gray">
              <a:xfrm>
                <a:off x="1908939" y="2980317"/>
                <a:ext cx="609949" cy="540000"/>
              </a:xfrm>
              <a:prstGeom prst="rect">
                <a:avLst/>
              </a:prstGeom>
            </p:spPr>
          </p:pic>
          <p:pic>
            <p:nvPicPr>
              <p:cNvPr id="19" name="图片 18" descr="管理型无线虚链路-蓝.png"/>
              <p:cNvPicPr>
                <a:picLocks noChangeAspect="1"/>
              </p:cNvPicPr>
              <p:nvPr/>
            </p:nvPicPr>
            <p:blipFill>
              <a:blip r:embed="rId4" cstate="print"/>
              <a:stretch>
                <a:fillRect/>
              </a:stretch>
            </p:blipFill>
            <p:spPr bwMode="gray">
              <a:xfrm>
                <a:off x="1922620" y="1772816"/>
                <a:ext cx="582586" cy="540000"/>
              </a:xfrm>
              <a:prstGeom prst="rect">
                <a:avLst/>
              </a:prstGeom>
            </p:spPr>
          </p:pic>
          <p:sp>
            <p:nvSpPr>
              <p:cNvPr id="20" name="文本框 19"/>
              <p:cNvSpPr txBox="1"/>
              <p:nvPr/>
            </p:nvSpPr>
            <p:spPr bwMode="gray">
              <a:xfrm>
                <a:off x="1920068" y="2277064"/>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a:t>
                </a:r>
              </a:p>
            </p:txBody>
          </p:sp>
          <p:sp>
            <p:nvSpPr>
              <p:cNvPr id="21" name="文本框 20"/>
              <p:cNvSpPr txBox="1"/>
              <p:nvPr/>
            </p:nvSpPr>
            <p:spPr bwMode="gray">
              <a:xfrm>
                <a:off x="1920069" y="350100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语音</a:t>
                </a:r>
              </a:p>
            </p:txBody>
          </p:sp>
          <p:sp>
            <p:nvSpPr>
              <p:cNvPr id="22" name="文本框 21"/>
              <p:cNvSpPr txBox="1"/>
              <p:nvPr/>
            </p:nvSpPr>
            <p:spPr bwMode="gray">
              <a:xfrm>
                <a:off x="1920069" y="461713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数据</a:t>
                </a:r>
              </a:p>
            </p:txBody>
          </p:sp>
        </p:grpSp>
        <p:sp>
          <p:nvSpPr>
            <p:cNvPr id="23"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sp>
        <p:nvSpPr>
          <p:cNvPr id="24" name="右箭头标注 23"/>
          <p:cNvSpPr/>
          <p:nvPr/>
        </p:nvSpPr>
        <p:spPr bwMode="gray">
          <a:xfrm>
            <a:off x="2292835" y="2963025"/>
            <a:ext cx="792088" cy="734621"/>
          </a:xfrm>
          <a:prstGeom prst="rightArrowCallout">
            <a:avLst>
              <a:gd name="adj1" fmla="val 23271"/>
              <a:gd name="adj2" fmla="val 25000"/>
              <a:gd name="adj3" fmla="val 19073"/>
              <a:gd name="adj4" fmla="val 75831"/>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流量分类</a:t>
            </a:r>
          </a:p>
        </p:txBody>
      </p:sp>
      <p:sp>
        <p:nvSpPr>
          <p:cNvPr id="25" name="流程图: 磁盘 24"/>
          <p:cNvSpPr/>
          <p:nvPr/>
        </p:nvSpPr>
        <p:spPr bwMode="gray">
          <a:xfrm>
            <a:off x="3161957" y="2916290"/>
            <a:ext cx="498244" cy="828092"/>
          </a:xfrm>
          <a:prstGeom prst="flowChartMagneticDisk">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28" name="直接箭头连接符 27"/>
          <p:cNvCxnSpPr/>
          <p:nvPr/>
        </p:nvCxnSpPr>
        <p:spPr bwMode="gray">
          <a:xfrm>
            <a:off x="3408565" y="2719042"/>
            <a:ext cx="0" cy="720000"/>
          </a:xfrm>
          <a:prstGeom prst="straightConnector1">
            <a:avLst/>
          </a:prstGeom>
          <a:solidFill>
            <a:schemeClr val="accent1"/>
          </a:solidFill>
          <a:ln w="38100" cap="flat" cmpd="sng" algn="ctr">
            <a:solidFill>
              <a:schemeClr val="bg1">
                <a:lumMod val="65000"/>
              </a:schemeClr>
            </a:solidFill>
            <a:prstDash val="solid"/>
            <a:round/>
            <a:headEnd type="none" w="med" len="med"/>
            <a:tailEnd type="triangle"/>
          </a:ln>
          <a:effectLst/>
        </p:spPr>
      </p:cxnSp>
      <p:sp>
        <p:nvSpPr>
          <p:cNvPr id="29" name="矩形 28"/>
          <p:cNvSpPr/>
          <p:nvPr/>
        </p:nvSpPr>
        <p:spPr bwMode="gray">
          <a:xfrm>
            <a:off x="3294741" y="2502938"/>
            <a:ext cx="216024" cy="144016"/>
          </a:xfrm>
          <a:prstGeom prst="rect">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0" name="矩形 29"/>
          <p:cNvSpPr/>
          <p:nvPr/>
        </p:nvSpPr>
        <p:spPr bwMode="gray">
          <a:xfrm>
            <a:off x="3294741" y="2286914"/>
            <a:ext cx="216024" cy="144016"/>
          </a:xfrm>
          <a:prstGeom prst="rect">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1" name="文本框 30"/>
          <p:cNvSpPr txBox="1"/>
          <p:nvPr/>
        </p:nvSpPr>
        <p:spPr bwMode="gray">
          <a:xfrm>
            <a:off x="3140369" y="1982811"/>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令牌</a:t>
            </a:r>
          </a:p>
        </p:txBody>
      </p:sp>
      <p:sp>
        <p:nvSpPr>
          <p:cNvPr id="32" name="右箭头标注 31"/>
          <p:cNvSpPr/>
          <p:nvPr/>
        </p:nvSpPr>
        <p:spPr bwMode="gray">
          <a:xfrm>
            <a:off x="3758942" y="2963025"/>
            <a:ext cx="828092" cy="734621"/>
          </a:xfrm>
          <a:prstGeom prst="rightArrowCallout">
            <a:avLst>
              <a:gd name="adj1" fmla="val 23271"/>
              <a:gd name="adj2" fmla="val 25000"/>
              <a:gd name="adj3" fmla="val 21048"/>
              <a:gd name="adj4" fmla="val 70347"/>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rPr>
              <a:t>CAR</a:t>
            </a:r>
            <a:endParaRPr kumimoji="0" lang="zh-CN" altLang="en-US"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4" name="右箭头标注 33"/>
          <p:cNvSpPr/>
          <p:nvPr/>
        </p:nvSpPr>
        <p:spPr bwMode="gray">
          <a:xfrm>
            <a:off x="4669098" y="2963025"/>
            <a:ext cx="1138870" cy="734621"/>
          </a:xfrm>
          <a:prstGeom prst="rightArrowCallout">
            <a:avLst>
              <a:gd name="adj1" fmla="val 23271"/>
              <a:gd name="adj2" fmla="val 25000"/>
              <a:gd name="adj3" fmla="val 25000"/>
              <a:gd name="adj4" fmla="val 7688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Remark</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821226" y="2916290"/>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其它</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处理</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en-US" altLang="zh-CN" sz="1600" b="1" dirty="0">
                  <a:solidFill>
                    <a:schemeClr val="bg1">
                      <a:lumMod val="65000"/>
                    </a:schemeClr>
                  </a:solidFill>
                  <a:latin typeface="Huawei Sans" panose="020C0503030203020204" pitchFamily="34" charset="0"/>
                  <a:ea typeface="方正兰亭黑简体" panose="02000000000000000000" pitchFamily="2" charset="-122"/>
                </a:rPr>
                <a:t>……</a:t>
              </a:r>
              <a:endParaRPr lang="zh-CN" altLang="en-US" sz="1600" b="1" dirty="0">
                <a:solidFill>
                  <a:schemeClr val="bg1">
                    <a:lumMod val="65000"/>
                  </a:schemeClr>
                </a:solidFill>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693434" y="3150316"/>
            <a:ext cx="324036" cy="360040"/>
          </a:xfrm>
          <a:prstGeom prst="ellipse">
            <a:avLst/>
          </a:prstGeom>
          <a:solidFill>
            <a:schemeClr val="bg1">
              <a:lumMod val="9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8413514" y="2493263"/>
            <a:ext cx="720000" cy="288000"/>
          </a:xfrm>
          <a:prstGeom prst="round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8413514" y="2862978"/>
            <a:ext cx="720000" cy="288000"/>
          </a:xfrm>
          <a:prstGeom prst="roundRect">
            <a:avLst/>
          </a:prstGeom>
          <a:solidFill>
            <a:schemeClr val="bg1">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lang="zh-CN" altLang="en-US" sz="1400" dirty="0">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8413514" y="3285351"/>
            <a:ext cx="720000" cy="288000"/>
          </a:xfrm>
          <a:prstGeom prst="roundRect">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8413514" y="3979103"/>
            <a:ext cx="720080" cy="288032"/>
          </a:xfrm>
          <a:prstGeom prst="round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lang="zh-CN" altLang="en-US" sz="1400" dirty="0">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523994" y="3547054"/>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solidFill>
                  <a:schemeClr val="bg2">
                    <a:lumMod val="50000"/>
                  </a:schemeClr>
                </a:solidFill>
                <a:latin typeface="Huawei Sans" panose="020C0503030203020204" pitchFamily="34" charset="0"/>
                <a:ea typeface="方正兰亭黑简体" panose="02000000000000000000" pitchFamily="2" charset="-122"/>
              </a:rPr>
              <a:t>……</a:t>
            </a:r>
            <a:endParaRPr lang="zh-CN" altLang="en-US" sz="1600" b="1" dirty="0">
              <a:solidFill>
                <a:schemeClr val="bg2">
                  <a:lumMod val="50000"/>
                </a:schemeClr>
              </a:solidFill>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855452" y="2637263"/>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970016" y="3006978"/>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8017470" y="3330336"/>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970016" y="3457629"/>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855452" y="3510356"/>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10223769" y="2963025"/>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rPr>
              <a:t>GTS</a:t>
            </a:r>
            <a:endParaRPr kumimoji="0" lang="zh-CN" altLang="en-US"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672064" y="2963025"/>
            <a:ext cx="1044116" cy="734621"/>
          </a:xfrm>
          <a:prstGeom prst="rightArrowCallout">
            <a:avLst>
              <a:gd name="adj1" fmla="val 23271"/>
              <a:gd name="adj2" fmla="val 26086"/>
              <a:gd name="adj3" fmla="val 29989"/>
              <a:gd name="adj4" fmla="val 71276"/>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rot="19047356">
            <a:off x="7600454" y="2659796"/>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9385622" y="2466934"/>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调</a:t>
                </a:r>
                <a:endParaRPr lang="en-US" altLang="zh-CN" sz="14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bg1">
                  <a:lumMod val="65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9133594" y="264695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9133594" y="300699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9133594" y="343904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9133594" y="412311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03" name="组合 102"/>
          <p:cNvGrpSpPr/>
          <p:nvPr/>
        </p:nvGrpSpPr>
        <p:grpSpPr bwMode="gray">
          <a:xfrm>
            <a:off x="11136560" y="2106894"/>
            <a:ext cx="432048" cy="2628292"/>
            <a:chOff x="1006178" y="2492896"/>
            <a:chExt cx="432048" cy="2628292"/>
          </a:xfrm>
          <a:solidFill>
            <a:schemeClr val="bg1">
              <a:lumMod val="95000"/>
            </a:schemeClr>
          </a:solidFill>
        </p:grpSpPr>
        <p:sp>
          <p:nvSpPr>
            <p:cNvPr id="106" name="圆角矩形 105"/>
            <p:cNvSpPr/>
            <p:nvPr/>
          </p:nvSpPr>
          <p:spPr bwMode="gray">
            <a:xfrm>
              <a:off x="1006178" y="2492896"/>
              <a:ext cx="432048" cy="262829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出</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接</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口</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925682" y="2682959"/>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925682" y="3042998"/>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925682" y="3330336"/>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925682" y="3583058"/>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2577842">
            <a:off x="9897294" y="2490098"/>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出队列</a:t>
            </a:r>
          </a:p>
        </p:txBody>
      </p:sp>
    </p:spTree>
    <p:extLst>
      <p:ext uri="{BB962C8B-B14F-4D97-AF65-F5344CB8AC3E}">
        <p14:creationId xmlns:p14="http://schemas.microsoft.com/office/powerpoint/2010/main" val="1521183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Can 9">
            <a:extLst>
              <a:ext uri="{FF2B5EF4-FFF2-40B4-BE49-F238E27FC236}">
                <a16:creationId xmlns:a16="http://schemas.microsoft.com/office/drawing/2014/main" id="{A27DB8E7-9AB8-4E12-941D-796DBA12CBC0}"/>
              </a:ext>
            </a:extLst>
          </p:cNvPr>
          <p:cNvSpPr/>
          <p:nvPr/>
        </p:nvSpPr>
        <p:spPr bwMode="gray">
          <a:xfrm rot="5400000">
            <a:off x="3933503" y="2625540"/>
            <a:ext cx="341807" cy="2759050"/>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为什么需要流分类和流标记</a:t>
            </a:r>
          </a:p>
        </p:txBody>
      </p:sp>
      <p:sp>
        <p:nvSpPr>
          <p:cNvPr id="15" name="文本占位符 14"/>
          <p:cNvSpPr>
            <a:spLocks noGrp="1"/>
          </p:cNvSpPr>
          <p:nvPr>
            <p:ph type="body" sz="quarter" idx="10"/>
          </p:nvPr>
        </p:nvSpPr>
        <p:spPr bwMode="gray"/>
        <p:txBody>
          <a:bodyPr/>
          <a:lstStyle/>
          <a:p>
            <a:r>
              <a:rPr lang="zh-CN" altLang="en-US" dirty="0"/>
              <a:t>流量分类和标记是</a:t>
            </a:r>
            <a:r>
              <a:rPr lang="en-US" altLang="zh-CN" dirty="0"/>
              <a:t>QoS</a:t>
            </a:r>
            <a:r>
              <a:rPr lang="zh-CN" altLang="en-US" dirty="0"/>
              <a:t>的基础，是有区别地实施服务的前提。</a:t>
            </a:r>
          </a:p>
        </p:txBody>
      </p:sp>
      <p:grpSp>
        <p:nvGrpSpPr>
          <p:cNvPr id="102" name="组合 101"/>
          <p:cNvGrpSpPr/>
          <p:nvPr/>
        </p:nvGrpSpPr>
        <p:grpSpPr bwMode="gray">
          <a:xfrm>
            <a:off x="1307468" y="2276872"/>
            <a:ext cx="1345406" cy="3403072"/>
            <a:chOff x="1006178" y="2014802"/>
            <a:chExt cx="1345406" cy="3403072"/>
          </a:xfrm>
        </p:grpSpPr>
        <p:grpSp>
          <p:nvGrpSpPr>
            <p:cNvPr id="14" name="组合 13"/>
            <p:cNvGrpSpPr/>
            <p:nvPr/>
          </p:nvGrpSpPr>
          <p:grpSpPr bwMode="gray">
            <a:xfrm>
              <a:off x="1006178" y="2014802"/>
              <a:ext cx="1345406" cy="3403072"/>
              <a:chOff x="1438226" y="1592796"/>
              <a:chExt cx="1345406" cy="3403072"/>
            </a:xfrm>
          </p:grpSpPr>
          <p:sp>
            <p:nvSpPr>
              <p:cNvPr id="16" name="圆角矩形 15"/>
              <p:cNvSpPr/>
              <p:nvPr/>
            </p:nvSpPr>
            <p:spPr bwMode="gray">
              <a:xfrm>
                <a:off x="1438226" y="1592796"/>
                <a:ext cx="1345406" cy="3403072"/>
              </a:xfrm>
              <a:prstGeom prst="roundRect">
                <a:avLst>
                  <a:gd name="adj" fmla="val 6048"/>
                </a:avLst>
              </a:prstGeom>
              <a:no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7"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8" name="图片 17" descr="可视电话硬终端.png"/>
              <p:cNvPicPr>
                <a:picLocks noChangeAspect="1"/>
              </p:cNvPicPr>
              <p:nvPr/>
            </p:nvPicPr>
            <p:blipFill>
              <a:blip r:embed="rId3" cstate="print"/>
              <a:stretch>
                <a:fillRect/>
              </a:stretch>
            </p:blipFill>
            <p:spPr bwMode="gray">
              <a:xfrm>
                <a:off x="1908939" y="2980317"/>
                <a:ext cx="609949" cy="540000"/>
              </a:xfrm>
              <a:prstGeom prst="rect">
                <a:avLst/>
              </a:prstGeom>
            </p:spPr>
          </p:pic>
          <p:pic>
            <p:nvPicPr>
              <p:cNvPr id="19" name="图片 18" descr="管理型无线虚链路-蓝.png"/>
              <p:cNvPicPr>
                <a:picLocks noChangeAspect="1"/>
              </p:cNvPicPr>
              <p:nvPr/>
            </p:nvPicPr>
            <p:blipFill>
              <a:blip r:embed="rId4" cstate="print"/>
              <a:stretch>
                <a:fillRect/>
              </a:stretch>
            </p:blipFill>
            <p:spPr bwMode="gray">
              <a:xfrm>
                <a:off x="1922620" y="1772816"/>
                <a:ext cx="582586" cy="540000"/>
              </a:xfrm>
              <a:prstGeom prst="rect">
                <a:avLst/>
              </a:prstGeom>
            </p:spPr>
          </p:pic>
          <p:sp>
            <p:nvSpPr>
              <p:cNvPr id="20" name="文本框 19"/>
              <p:cNvSpPr txBox="1"/>
              <p:nvPr/>
            </p:nvSpPr>
            <p:spPr bwMode="gray">
              <a:xfrm>
                <a:off x="1920068" y="2277064"/>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a:t>
                </a:r>
              </a:p>
            </p:txBody>
          </p:sp>
          <p:sp>
            <p:nvSpPr>
              <p:cNvPr id="21" name="文本框 20"/>
              <p:cNvSpPr txBox="1"/>
              <p:nvPr/>
            </p:nvSpPr>
            <p:spPr bwMode="gray">
              <a:xfrm>
                <a:off x="1920069" y="350100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语音</a:t>
                </a:r>
              </a:p>
            </p:txBody>
          </p:sp>
          <p:sp>
            <p:nvSpPr>
              <p:cNvPr id="22" name="文本框 21"/>
              <p:cNvSpPr txBox="1"/>
              <p:nvPr/>
            </p:nvSpPr>
            <p:spPr bwMode="gray">
              <a:xfrm>
                <a:off x="1920069" y="461713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数据</a:t>
                </a:r>
              </a:p>
            </p:txBody>
          </p:sp>
        </p:grpSp>
        <p:sp>
          <p:nvSpPr>
            <p:cNvPr id="23"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sp>
        <p:nvSpPr>
          <p:cNvPr id="24" name="右箭头标注 23"/>
          <p:cNvSpPr/>
          <p:nvPr/>
        </p:nvSpPr>
        <p:spPr bwMode="gray">
          <a:xfrm>
            <a:off x="5605202" y="3611097"/>
            <a:ext cx="792088" cy="734621"/>
          </a:xfrm>
          <a:prstGeom prst="rightArrowCallout">
            <a:avLst>
              <a:gd name="adj1" fmla="val 23271"/>
              <a:gd name="adj2" fmla="val 25000"/>
              <a:gd name="adj3" fmla="val 19073"/>
              <a:gd name="adj4" fmla="val 75831"/>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rPr>
              <a:t>流量分类</a:t>
            </a:r>
          </a:p>
        </p:txBody>
      </p:sp>
      <p:sp>
        <p:nvSpPr>
          <p:cNvPr id="61" name="矩形 60"/>
          <p:cNvSpPr/>
          <p:nvPr/>
        </p:nvSpPr>
        <p:spPr bwMode="gray">
          <a:xfrm>
            <a:off x="4993134" y="393305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62" name="矩形 61"/>
          <p:cNvSpPr/>
          <p:nvPr/>
        </p:nvSpPr>
        <p:spPr bwMode="gray">
          <a:xfrm>
            <a:off x="4633094" y="3933056"/>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6" name="矩形 65"/>
          <p:cNvSpPr/>
          <p:nvPr/>
        </p:nvSpPr>
        <p:spPr bwMode="gray">
          <a:xfrm>
            <a:off x="4273054" y="3933056"/>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67" name="矩形 66"/>
          <p:cNvSpPr/>
          <p:nvPr/>
        </p:nvSpPr>
        <p:spPr bwMode="gray">
          <a:xfrm>
            <a:off x="3913014" y="393305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68" name="矩形 67"/>
          <p:cNvSpPr/>
          <p:nvPr/>
        </p:nvSpPr>
        <p:spPr bwMode="gray">
          <a:xfrm>
            <a:off x="3552974" y="393305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69" name="矩形 68"/>
          <p:cNvSpPr/>
          <p:nvPr/>
        </p:nvSpPr>
        <p:spPr bwMode="gray">
          <a:xfrm>
            <a:off x="3192934" y="3933056"/>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0" name="矩形 69"/>
          <p:cNvSpPr/>
          <p:nvPr/>
        </p:nvSpPr>
        <p:spPr bwMode="gray">
          <a:xfrm>
            <a:off x="2832894" y="393305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3" name="组合 12"/>
          <p:cNvGrpSpPr/>
          <p:nvPr/>
        </p:nvGrpSpPr>
        <p:grpSpPr bwMode="gray">
          <a:xfrm>
            <a:off x="6577310" y="3140968"/>
            <a:ext cx="1224136" cy="288032"/>
            <a:chOff x="6420036" y="2312876"/>
            <a:chExt cx="1224136" cy="288032"/>
          </a:xfrm>
        </p:grpSpPr>
        <p:grpSp>
          <p:nvGrpSpPr>
            <p:cNvPr id="12" name="组合 11"/>
            <p:cNvGrpSpPr/>
            <p:nvPr/>
          </p:nvGrpSpPr>
          <p:grpSpPr bwMode="gray">
            <a:xfrm>
              <a:off x="6420036" y="2312876"/>
              <a:ext cx="1224136" cy="288032"/>
              <a:chOff x="6780076" y="2528900"/>
              <a:chExt cx="1224136" cy="288032"/>
            </a:xfrm>
          </p:grpSpPr>
          <p:cxnSp>
            <p:nvCxnSpPr>
              <p:cNvPr id="8" name="直接连接符 7"/>
              <p:cNvCxnSpPr/>
              <p:nvPr/>
            </p:nvCxnSpPr>
            <p:spPr bwMode="gray">
              <a:xfrm>
                <a:off x="6780076" y="2528900"/>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3" name="直接连接符 72"/>
              <p:cNvCxnSpPr/>
              <p:nvPr/>
            </p:nvCxnSpPr>
            <p:spPr bwMode="gray">
              <a:xfrm>
                <a:off x="6780076" y="2816932"/>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4" name="直接连接符 73"/>
              <p:cNvCxnSpPr/>
              <p:nvPr/>
            </p:nvCxnSpPr>
            <p:spPr bwMode="gray">
              <a:xfrm>
                <a:off x="8004212" y="2528900"/>
                <a:ext cx="0" cy="288032"/>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81" name="矩形 80"/>
            <p:cNvSpPr/>
            <p:nvPr/>
          </p:nvSpPr>
          <p:spPr bwMode="gray">
            <a:xfrm>
              <a:off x="7356140" y="2384884"/>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83" name="矩形 82"/>
            <p:cNvSpPr/>
            <p:nvPr/>
          </p:nvSpPr>
          <p:spPr bwMode="gray">
            <a:xfrm>
              <a:off x="7056106" y="2384884"/>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85" name="矩形 84"/>
            <p:cNvSpPr/>
            <p:nvPr/>
          </p:nvSpPr>
          <p:spPr bwMode="gray">
            <a:xfrm>
              <a:off x="6756073" y="2384884"/>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90" name="矩形 89"/>
            <p:cNvSpPr/>
            <p:nvPr/>
          </p:nvSpPr>
          <p:spPr bwMode="gray">
            <a:xfrm>
              <a:off x="6456040" y="2384884"/>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dirty="0">
                <a:latin typeface="Huawei Sans" panose="020C0503030203020204" pitchFamily="34" charset="0"/>
                <a:ea typeface="方正兰亭黑简体" panose="02000000000000000000" pitchFamily="2" charset="-122"/>
              </a:endParaRPr>
            </a:p>
          </p:txBody>
        </p:sp>
      </p:grpSp>
      <p:grpSp>
        <p:nvGrpSpPr>
          <p:cNvPr id="91" name="组合 90"/>
          <p:cNvGrpSpPr/>
          <p:nvPr/>
        </p:nvGrpSpPr>
        <p:grpSpPr bwMode="gray">
          <a:xfrm>
            <a:off x="6577310" y="3843046"/>
            <a:ext cx="1224136" cy="288032"/>
            <a:chOff x="6420036" y="2312876"/>
            <a:chExt cx="1224136" cy="288032"/>
          </a:xfrm>
        </p:grpSpPr>
        <p:grpSp>
          <p:nvGrpSpPr>
            <p:cNvPr id="92" name="组合 91"/>
            <p:cNvGrpSpPr/>
            <p:nvPr/>
          </p:nvGrpSpPr>
          <p:grpSpPr bwMode="gray">
            <a:xfrm>
              <a:off x="6420036" y="2312876"/>
              <a:ext cx="1224136" cy="288032"/>
              <a:chOff x="6780076" y="2528900"/>
              <a:chExt cx="1224136" cy="288032"/>
            </a:xfrm>
          </p:grpSpPr>
          <p:cxnSp>
            <p:nvCxnSpPr>
              <p:cNvPr id="97" name="直接连接符 96"/>
              <p:cNvCxnSpPr/>
              <p:nvPr/>
            </p:nvCxnSpPr>
            <p:spPr bwMode="gray">
              <a:xfrm>
                <a:off x="6780076" y="2528900"/>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8" name="直接连接符 97"/>
              <p:cNvCxnSpPr/>
              <p:nvPr/>
            </p:nvCxnSpPr>
            <p:spPr bwMode="gray">
              <a:xfrm>
                <a:off x="6780076" y="2816932"/>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9" name="直接连接符 98"/>
              <p:cNvCxnSpPr/>
              <p:nvPr/>
            </p:nvCxnSpPr>
            <p:spPr bwMode="gray">
              <a:xfrm>
                <a:off x="8004212" y="2528900"/>
                <a:ext cx="0" cy="288032"/>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93" name="矩形 92"/>
            <p:cNvSpPr/>
            <p:nvPr/>
          </p:nvSpPr>
          <p:spPr bwMode="gray">
            <a:xfrm>
              <a:off x="7356140" y="2384884"/>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94" name="矩形 93"/>
            <p:cNvSpPr/>
            <p:nvPr/>
          </p:nvSpPr>
          <p:spPr bwMode="gray">
            <a:xfrm>
              <a:off x="7056106" y="2384884"/>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grpSp>
      <p:grpSp>
        <p:nvGrpSpPr>
          <p:cNvPr id="3" name="组合 2"/>
          <p:cNvGrpSpPr/>
          <p:nvPr/>
        </p:nvGrpSpPr>
        <p:grpSpPr bwMode="gray">
          <a:xfrm>
            <a:off x="6577310" y="4545124"/>
            <a:ext cx="1224136" cy="288032"/>
            <a:chOff x="6577310" y="4545124"/>
            <a:chExt cx="1224136" cy="288032"/>
          </a:xfrm>
        </p:grpSpPr>
        <p:grpSp>
          <p:nvGrpSpPr>
            <p:cNvPr id="101" name="组合 100"/>
            <p:cNvGrpSpPr/>
            <p:nvPr/>
          </p:nvGrpSpPr>
          <p:grpSpPr bwMode="gray">
            <a:xfrm>
              <a:off x="6577310" y="4545124"/>
              <a:ext cx="1224136" cy="288032"/>
              <a:chOff x="6780076" y="2528900"/>
              <a:chExt cx="1224136" cy="288032"/>
            </a:xfrm>
          </p:grpSpPr>
          <p:cxnSp>
            <p:nvCxnSpPr>
              <p:cNvPr id="108" name="直接连接符 107"/>
              <p:cNvCxnSpPr/>
              <p:nvPr/>
            </p:nvCxnSpPr>
            <p:spPr bwMode="gray">
              <a:xfrm>
                <a:off x="6780076" y="2528900"/>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9" name="直接连接符 108"/>
              <p:cNvCxnSpPr/>
              <p:nvPr/>
            </p:nvCxnSpPr>
            <p:spPr bwMode="gray">
              <a:xfrm>
                <a:off x="6780076" y="2816932"/>
                <a:ext cx="122413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0" name="直接连接符 109"/>
              <p:cNvCxnSpPr/>
              <p:nvPr/>
            </p:nvCxnSpPr>
            <p:spPr bwMode="gray">
              <a:xfrm>
                <a:off x="8004212" y="2528900"/>
                <a:ext cx="0" cy="288032"/>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104" name="矩形 103"/>
            <p:cNvSpPr/>
            <p:nvPr/>
          </p:nvSpPr>
          <p:spPr bwMode="gray">
            <a:xfrm>
              <a:off x="7513414" y="4617132"/>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grpSp>
      <p:sp>
        <p:nvSpPr>
          <p:cNvPr id="115" name="右大括号 114"/>
          <p:cNvSpPr/>
          <p:nvPr/>
        </p:nvSpPr>
        <p:spPr bwMode="gray">
          <a:xfrm>
            <a:off x="8053474" y="3140968"/>
            <a:ext cx="468052" cy="1692188"/>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6" name="man-angry_10752"/>
          <p:cNvSpPr>
            <a:spLocks noChangeAspect="1"/>
          </p:cNvSpPr>
          <p:nvPr/>
        </p:nvSpPr>
        <p:spPr bwMode="gray">
          <a:xfrm>
            <a:off x="8665542" y="3537012"/>
            <a:ext cx="720080" cy="1288256"/>
          </a:xfrm>
          <a:custGeom>
            <a:avLst/>
            <a:gdLst>
              <a:gd name="connsiteX0" fmla="*/ 68160 w 334098"/>
              <a:gd name="connsiteY0" fmla="*/ 270064 h 597716"/>
              <a:gd name="connsiteX1" fmla="*/ 101585 w 334098"/>
              <a:gd name="connsiteY1" fmla="*/ 307987 h 597716"/>
              <a:gd name="connsiteX2" fmla="*/ 137289 w 334098"/>
              <a:gd name="connsiteY2" fmla="*/ 310262 h 597716"/>
              <a:gd name="connsiteX3" fmla="*/ 160839 w 334098"/>
              <a:gd name="connsiteY3" fmla="*/ 308745 h 597716"/>
              <a:gd name="connsiteX4" fmla="*/ 159320 w 334098"/>
              <a:gd name="connsiteY4" fmla="*/ 437682 h 597716"/>
              <a:gd name="connsiteX5" fmla="*/ 159320 w 334098"/>
              <a:gd name="connsiteY5" fmla="*/ 572687 h 597716"/>
              <a:gd name="connsiteX6" fmla="*/ 110701 w 334098"/>
              <a:gd name="connsiteY6" fmla="*/ 572687 h 597716"/>
              <a:gd name="connsiteX7" fmla="*/ 110701 w 334098"/>
              <a:gd name="connsiteY7" fmla="*/ 380798 h 597716"/>
              <a:gd name="connsiteX8" fmla="*/ 87152 w 334098"/>
              <a:gd name="connsiteY8" fmla="*/ 380798 h 597716"/>
              <a:gd name="connsiteX9" fmla="*/ 87152 w 334098"/>
              <a:gd name="connsiteY9" fmla="*/ 571928 h 597716"/>
              <a:gd name="connsiteX10" fmla="*/ 59804 w 334098"/>
              <a:gd name="connsiteY10" fmla="*/ 597716 h 597716"/>
              <a:gd name="connsiteX11" fmla="*/ 34735 w 334098"/>
              <a:gd name="connsiteY11" fmla="*/ 571928 h 597716"/>
              <a:gd name="connsiteX12" fmla="*/ 34735 w 334098"/>
              <a:gd name="connsiteY12" fmla="*/ 437682 h 597716"/>
              <a:gd name="connsiteX13" fmla="*/ 34735 w 334098"/>
              <a:gd name="connsiteY13" fmla="*/ 289784 h 597716"/>
              <a:gd name="connsiteX14" fmla="*/ 68160 w 334098"/>
              <a:gd name="connsiteY14" fmla="*/ 270064 h 597716"/>
              <a:gd name="connsiteX15" fmla="*/ 126724 w 334098"/>
              <a:gd name="connsiteY15" fmla="*/ 150296 h 597716"/>
              <a:gd name="connsiteX16" fmla="*/ 155584 w 334098"/>
              <a:gd name="connsiteY16" fmla="*/ 160916 h 597716"/>
              <a:gd name="connsiteX17" fmla="*/ 160900 w 334098"/>
              <a:gd name="connsiteY17" fmla="*/ 163191 h 597716"/>
              <a:gd name="connsiteX18" fmla="*/ 206468 w 334098"/>
              <a:gd name="connsiteY18" fmla="*/ 261800 h 597716"/>
              <a:gd name="connsiteX19" fmla="*/ 200392 w 334098"/>
              <a:gd name="connsiteY19" fmla="*/ 274695 h 597716"/>
              <a:gd name="connsiteX20" fmla="*/ 198114 w 334098"/>
              <a:gd name="connsiteY20" fmla="*/ 277729 h 597716"/>
              <a:gd name="connsiteX21" fmla="*/ 103180 w 334098"/>
              <a:gd name="connsiteY21" fmla="*/ 294417 h 597716"/>
              <a:gd name="connsiteX22" fmla="*/ 81915 w 334098"/>
              <a:gd name="connsiteY22" fmla="*/ 267110 h 597716"/>
              <a:gd name="connsiteX23" fmla="*/ 101661 w 334098"/>
              <a:gd name="connsiteY23" fmla="*/ 251180 h 597716"/>
              <a:gd name="connsiteX24" fmla="*/ 130521 w 334098"/>
              <a:gd name="connsiteY24" fmla="*/ 252698 h 597716"/>
              <a:gd name="connsiteX25" fmla="*/ 133559 w 334098"/>
              <a:gd name="connsiteY25" fmla="*/ 253456 h 597716"/>
              <a:gd name="connsiteX26" fmla="*/ 166976 w 334098"/>
              <a:gd name="connsiteY26" fmla="*/ 246629 h 597716"/>
              <a:gd name="connsiteX27" fmla="*/ 156343 w 334098"/>
              <a:gd name="connsiteY27" fmla="*/ 208703 h 597716"/>
              <a:gd name="connsiteX28" fmla="*/ 139635 w 334098"/>
              <a:gd name="connsiteY28" fmla="*/ 192774 h 597716"/>
              <a:gd name="connsiteX29" fmla="*/ 139635 w 334098"/>
              <a:gd name="connsiteY29" fmla="*/ 192015 h 597716"/>
              <a:gd name="connsiteX30" fmla="*/ 138116 w 334098"/>
              <a:gd name="connsiteY30" fmla="*/ 191257 h 597716"/>
              <a:gd name="connsiteX31" fmla="*/ 132040 w 334098"/>
              <a:gd name="connsiteY31" fmla="*/ 186706 h 597716"/>
              <a:gd name="connsiteX32" fmla="*/ 127483 w 334098"/>
              <a:gd name="connsiteY32" fmla="*/ 192015 h 597716"/>
              <a:gd name="connsiteX33" fmla="*/ 128243 w 334098"/>
              <a:gd name="connsiteY33" fmla="*/ 201118 h 597716"/>
              <a:gd name="connsiteX34" fmla="*/ 127483 w 334098"/>
              <a:gd name="connsiteY34" fmla="*/ 201118 h 597716"/>
              <a:gd name="connsiteX35" fmla="*/ 129002 w 334098"/>
              <a:gd name="connsiteY35" fmla="*/ 202635 h 597716"/>
              <a:gd name="connsiteX36" fmla="*/ 131281 w 334098"/>
              <a:gd name="connsiteY36" fmla="*/ 204152 h 597716"/>
              <a:gd name="connsiteX37" fmla="*/ 145711 w 334098"/>
              <a:gd name="connsiteY37" fmla="*/ 217805 h 597716"/>
              <a:gd name="connsiteX38" fmla="*/ 154824 w 334098"/>
              <a:gd name="connsiteY38" fmla="*/ 238286 h 597716"/>
              <a:gd name="connsiteX39" fmla="*/ 133559 w 334098"/>
              <a:gd name="connsiteY39" fmla="*/ 239044 h 597716"/>
              <a:gd name="connsiteX40" fmla="*/ 131281 w 334098"/>
              <a:gd name="connsiteY40" fmla="*/ 239044 h 597716"/>
              <a:gd name="connsiteX41" fmla="*/ 103180 w 334098"/>
              <a:gd name="connsiteY41" fmla="*/ 236768 h 597716"/>
              <a:gd name="connsiteX42" fmla="*/ 91029 w 334098"/>
              <a:gd name="connsiteY42" fmla="*/ 238286 h 597716"/>
              <a:gd name="connsiteX43" fmla="*/ 106218 w 334098"/>
              <a:gd name="connsiteY43" fmla="*/ 206427 h 597716"/>
              <a:gd name="connsiteX44" fmla="*/ 122167 w 334098"/>
              <a:gd name="connsiteY44" fmla="*/ 173052 h 597716"/>
              <a:gd name="connsiteX45" fmla="*/ 126724 w 334098"/>
              <a:gd name="connsiteY45" fmla="*/ 150296 h 597716"/>
              <a:gd name="connsiteX46" fmla="*/ 84913 w 334098"/>
              <a:gd name="connsiteY46" fmla="*/ 137342 h 597716"/>
              <a:gd name="connsiteX47" fmla="*/ 111501 w 334098"/>
              <a:gd name="connsiteY47" fmla="*/ 147204 h 597716"/>
              <a:gd name="connsiteX48" fmla="*/ 110742 w 334098"/>
              <a:gd name="connsiteY48" fmla="*/ 166169 h 597716"/>
              <a:gd name="connsiteX49" fmla="*/ 94029 w 334098"/>
              <a:gd name="connsiteY49" fmla="*/ 200307 h 597716"/>
              <a:gd name="connsiteX50" fmla="*/ 34775 w 334098"/>
              <a:gd name="connsiteY50" fmla="*/ 275409 h 597716"/>
              <a:gd name="connsiteX51" fmla="*/ 4389 w 334098"/>
              <a:gd name="connsiteY51" fmla="*/ 257203 h 597716"/>
              <a:gd name="connsiteX52" fmla="*/ 21101 w 334098"/>
              <a:gd name="connsiteY52" fmla="*/ 172997 h 597716"/>
              <a:gd name="connsiteX53" fmla="*/ 55286 w 334098"/>
              <a:gd name="connsiteY53" fmla="*/ 154790 h 597716"/>
              <a:gd name="connsiteX54" fmla="*/ 46170 w 334098"/>
              <a:gd name="connsiteY54" fmla="*/ 173755 h 597716"/>
              <a:gd name="connsiteX55" fmla="*/ 26419 w 334098"/>
              <a:gd name="connsiteY55" fmla="*/ 229893 h 597716"/>
              <a:gd name="connsiteX56" fmla="*/ 32496 w 334098"/>
              <a:gd name="connsiteY56" fmla="*/ 233686 h 597716"/>
              <a:gd name="connsiteX57" fmla="*/ 58325 w 334098"/>
              <a:gd name="connsiteY57" fmla="*/ 179824 h 597716"/>
              <a:gd name="connsiteX58" fmla="*/ 75037 w 334098"/>
              <a:gd name="connsiteY58" fmla="*/ 145687 h 597716"/>
              <a:gd name="connsiteX59" fmla="*/ 84913 w 334098"/>
              <a:gd name="connsiteY59" fmla="*/ 137342 h 597716"/>
              <a:gd name="connsiteX60" fmla="*/ 232297 w 334098"/>
              <a:gd name="connsiteY60" fmla="*/ 121421 h 597716"/>
              <a:gd name="connsiteX61" fmla="*/ 223187 w 334098"/>
              <a:gd name="connsiteY61" fmla="*/ 122179 h 597716"/>
              <a:gd name="connsiteX62" fmla="*/ 232297 w 334098"/>
              <a:gd name="connsiteY62" fmla="*/ 125972 h 597716"/>
              <a:gd name="connsiteX63" fmla="*/ 232297 w 334098"/>
              <a:gd name="connsiteY63" fmla="*/ 121421 h 597716"/>
              <a:gd name="connsiteX64" fmla="*/ 223946 w 334098"/>
              <a:gd name="connsiteY64" fmla="*/ 82731 h 597716"/>
              <a:gd name="connsiteX65" fmla="*/ 223946 w 334098"/>
              <a:gd name="connsiteY65" fmla="*/ 88042 h 597716"/>
              <a:gd name="connsiteX66" fmla="*/ 230020 w 334098"/>
              <a:gd name="connsiteY66" fmla="*/ 92593 h 597716"/>
              <a:gd name="connsiteX67" fmla="*/ 239130 w 334098"/>
              <a:gd name="connsiteY67" fmla="*/ 95628 h 597716"/>
              <a:gd name="connsiteX68" fmla="*/ 245963 w 334098"/>
              <a:gd name="connsiteY68" fmla="*/ 93352 h 597716"/>
              <a:gd name="connsiteX69" fmla="*/ 274812 w 334098"/>
              <a:gd name="connsiteY69" fmla="*/ 98662 h 597716"/>
              <a:gd name="connsiteX70" fmla="*/ 286959 w 334098"/>
              <a:gd name="connsiteY70" fmla="*/ 97145 h 597716"/>
              <a:gd name="connsiteX71" fmla="*/ 292273 w 334098"/>
              <a:gd name="connsiteY71" fmla="*/ 88042 h 597716"/>
              <a:gd name="connsiteX72" fmla="*/ 283922 w 334098"/>
              <a:gd name="connsiteY72" fmla="*/ 88800 h 597716"/>
              <a:gd name="connsiteX73" fmla="*/ 278608 w 334098"/>
              <a:gd name="connsiteY73" fmla="*/ 89559 h 597716"/>
              <a:gd name="connsiteX74" fmla="*/ 274053 w 334098"/>
              <a:gd name="connsiteY74" fmla="*/ 88800 h 597716"/>
              <a:gd name="connsiteX75" fmla="*/ 260387 w 334098"/>
              <a:gd name="connsiteY75" fmla="*/ 88042 h 597716"/>
              <a:gd name="connsiteX76" fmla="*/ 223946 w 334098"/>
              <a:gd name="connsiteY76" fmla="*/ 82731 h 597716"/>
              <a:gd name="connsiteX77" fmla="*/ 237611 w 334098"/>
              <a:gd name="connsiteY77" fmla="*/ 66042 h 597716"/>
              <a:gd name="connsiteX78" fmla="*/ 226224 w 334098"/>
              <a:gd name="connsiteY78" fmla="*/ 70594 h 597716"/>
              <a:gd name="connsiteX79" fmla="*/ 245203 w 334098"/>
              <a:gd name="connsiteY79" fmla="*/ 74387 h 597716"/>
              <a:gd name="connsiteX80" fmla="*/ 252036 w 334098"/>
              <a:gd name="connsiteY80" fmla="*/ 75145 h 597716"/>
              <a:gd name="connsiteX81" fmla="*/ 247481 w 334098"/>
              <a:gd name="connsiteY81" fmla="*/ 66801 h 597716"/>
              <a:gd name="connsiteX82" fmla="*/ 237611 w 334098"/>
              <a:gd name="connsiteY82" fmla="*/ 66042 h 597716"/>
              <a:gd name="connsiteX83" fmla="*/ 261146 w 334098"/>
              <a:gd name="connsiteY83" fmla="*/ 55421 h 597716"/>
              <a:gd name="connsiteX84" fmla="*/ 260387 w 334098"/>
              <a:gd name="connsiteY84" fmla="*/ 56180 h 597716"/>
              <a:gd name="connsiteX85" fmla="*/ 264942 w 334098"/>
              <a:gd name="connsiteY85" fmla="*/ 57697 h 597716"/>
              <a:gd name="connsiteX86" fmla="*/ 261146 w 334098"/>
              <a:gd name="connsiteY86" fmla="*/ 55421 h 597716"/>
              <a:gd name="connsiteX87" fmla="*/ 248240 w 334098"/>
              <a:gd name="connsiteY87" fmla="*/ 52387 h 597716"/>
              <a:gd name="connsiteX88" fmla="*/ 239130 w 334098"/>
              <a:gd name="connsiteY88" fmla="*/ 53904 h 597716"/>
              <a:gd name="connsiteX89" fmla="*/ 247481 w 334098"/>
              <a:gd name="connsiteY89" fmla="*/ 53904 h 597716"/>
              <a:gd name="connsiteX90" fmla="*/ 248240 w 334098"/>
              <a:gd name="connsiteY90" fmla="*/ 52387 h 597716"/>
              <a:gd name="connsiteX91" fmla="*/ 290755 w 334098"/>
              <a:gd name="connsiteY91" fmla="*/ 44042 h 597716"/>
              <a:gd name="connsiteX92" fmla="*/ 275571 w 334098"/>
              <a:gd name="connsiteY92" fmla="*/ 46318 h 597716"/>
              <a:gd name="connsiteX93" fmla="*/ 272534 w 334098"/>
              <a:gd name="connsiteY93" fmla="*/ 47077 h 597716"/>
              <a:gd name="connsiteX94" fmla="*/ 289237 w 334098"/>
              <a:gd name="connsiteY94" fmla="*/ 59973 h 597716"/>
              <a:gd name="connsiteX95" fmla="*/ 299106 w 334098"/>
              <a:gd name="connsiteY95" fmla="*/ 73628 h 597716"/>
              <a:gd name="connsiteX96" fmla="*/ 317327 w 334098"/>
              <a:gd name="connsiteY96" fmla="*/ 49352 h 597716"/>
              <a:gd name="connsiteX97" fmla="*/ 297588 w 334098"/>
              <a:gd name="connsiteY97" fmla="*/ 44042 h 597716"/>
              <a:gd name="connsiteX98" fmla="*/ 290755 w 334098"/>
              <a:gd name="connsiteY98" fmla="*/ 44042 h 597716"/>
              <a:gd name="connsiteX99" fmla="*/ 98579 w 334098"/>
              <a:gd name="connsiteY99" fmla="*/ 36498 h 597716"/>
              <a:gd name="connsiteX100" fmla="*/ 144147 w 334098"/>
              <a:gd name="connsiteY100" fmla="*/ 82005 h 597716"/>
              <a:gd name="connsiteX101" fmla="*/ 98579 w 334098"/>
              <a:gd name="connsiteY101" fmla="*/ 127512 h 597716"/>
              <a:gd name="connsiteX102" fmla="*/ 53011 w 334098"/>
              <a:gd name="connsiteY102" fmla="*/ 82005 h 597716"/>
              <a:gd name="connsiteX103" fmla="*/ 98579 w 334098"/>
              <a:gd name="connsiteY103" fmla="*/ 36498 h 597716"/>
              <a:gd name="connsiteX104" fmla="*/ 277469 w 334098"/>
              <a:gd name="connsiteY104" fmla="*/ 13129 h 597716"/>
              <a:gd name="connsiteX105" fmla="*/ 249759 w 334098"/>
              <a:gd name="connsiteY105" fmla="*/ 14456 h 597716"/>
              <a:gd name="connsiteX106" fmla="*/ 200411 w 334098"/>
              <a:gd name="connsiteY106" fmla="*/ 28111 h 597716"/>
              <a:gd name="connsiteX107" fmla="*/ 185986 w 334098"/>
              <a:gd name="connsiteY107" fmla="*/ 48594 h 597716"/>
              <a:gd name="connsiteX108" fmla="*/ 208762 w 334098"/>
              <a:gd name="connsiteY108" fmla="*/ 65283 h 597716"/>
              <a:gd name="connsiteX109" fmla="*/ 212558 w 334098"/>
              <a:gd name="connsiteY109" fmla="*/ 66801 h 597716"/>
              <a:gd name="connsiteX110" fmla="*/ 214076 w 334098"/>
              <a:gd name="connsiteY110" fmla="*/ 65283 h 597716"/>
              <a:gd name="connsiteX111" fmla="*/ 226983 w 334098"/>
              <a:gd name="connsiteY111" fmla="*/ 46318 h 597716"/>
              <a:gd name="connsiteX112" fmla="*/ 257350 w 334098"/>
              <a:gd name="connsiteY112" fmla="*/ 41008 h 597716"/>
              <a:gd name="connsiteX113" fmla="*/ 289237 w 334098"/>
              <a:gd name="connsiteY113" fmla="*/ 31146 h 597716"/>
              <a:gd name="connsiteX114" fmla="*/ 277469 w 334098"/>
              <a:gd name="connsiteY114" fmla="*/ 13129 h 597716"/>
              <a:gd name="connsiteX115" fmla="*/ 256876 w 334098"/>
              <a:gd name="connsiteY115" fmla="*/ 422 h 597716"/>
              <a:gd name="connsiteX116" fmla="*/ 302143 w 334098"/>
              <a:gd name="connsiteY116" fmla="*/ 31904 h 597716"/>
              <a:gd name="connsiteX117" fmla="*/ 312772 w 334098"/>
              <a:gd name="connsiteY117" fmla="*/ 34180 h 597716"/>
              <a:gd name="connsiteX118" fmla="*/ 327196 w 334098"/>
              <a:gd name="connsiteY118" fmla="*/ 73628 h 597716"/>
              <a:gd name="connsiteX119" fmla="*/ 303661 w 334098"/>
              <a:gd name="connsiteY119" fmla="*/ 85766 h 597716"/>
              <a:gd name="connsiteX120" fmla="*/ 289996 w 334098"/>
              <a:gd name="connsiteY120" fmla="*/ 109283 h 597716"/>
              <a:gd name="connsiteX121" fmla="*/ 276330 w 334098"/>
              <a:gd name="connsiteY121" fmla="*/ 111559 h 597716"/>
              <a:gd name="connsiteX122" fmla="*/ 273294 w 334098"/>
              <a:gd name="connsiteY122" fmla="*/ 115352 h 597716"/>
              <a:gd name="connsiteX123" fmla="*/ 253555 w 334098"/>
              <a:gd name="connsiteY123" fmla="*/ 122938 h 597716"/>
              <a:gd name="connsiteX124" fmla="*/ 240648 w 334098"/>
              <a:gd name="connsiteY124" fmla="*/ 135834 h 597716"/>
              <a:gd name="connsiteX125" fmla="*/ 258869 w 334098"/>
              <a:gd name="connsiteY125" fmla="*/ 148731 h 597716"/>
              <a:gd name="connsiteX126" fmla="*/ 248240 w 334098"/>
              <a:gd name="connsiteY126" fmla="*/ 155558 h 597716"/>
              <a:gd name="connsiteX127" fmla="*/ 207244 w 334098"/>
              <a:gd name="connsiteY127" fmla="*/ 124455 h 597716"/>
              <a:gd name="connsiteX128" fmla="*/ 217872 w 334098"/>
              <a:gd name="connsiteY128" fmla="*/ 106248 h 597716"/>
              <a:gd name="connsiteX129" fmla="*/ 216354 w 334098"/>
              <a:gd name="connsiteY129" fmla="*/ 103214 h 597716"/>
              <a:gd name="connsiteX130" fmla="*/ 211799 w 334098"/>
              <a:gd name="connsiteY130" fmla="*/ 91076 h 597716"/>
              <a:gd name="connsiteX131" fmla="*/ 208762 w 334098"/>
              <a:gd name="connsiteY131" fmla="*/ 78180 h 597716"/>
              <a:gd name="connsiteX132" fmla="*/ 193578 w 334098"/>
              <a:gd name="connsiteY132" fmla="*/ 71352 h 597716"/>
              <a:gd name="connsiteX133" fmla="*/ 185986 w 334098"/>
              <a:gd name="connsiteY133" fmla="*/ 21284 h 597716"/>
              <a:gd name="connsiteX134" fmla="*/ 256876 w 334098"/>
              <a:gd name="connsiteY134" fmla="*/ 422 h 59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334098" h="597716">
                <a:moveTo>
                  <a:pt x="68160" y="270064"/>
                </a:moveTo>
                <a:cubicBezTo>
                  <a:pt x="68160" y="288267"/>
                  <a:pt x="80315" y="305712"/>
                  <a:pt x="101585" y="307987"/>
                </a:cubicBezTo>
                <a:cubicBezTo>
                  <a:pt x="111461" y="308745"/>
                  <a:pt x="123615" y="310262"/>
                  <a:pt x="137289" y="310262"/>
                </a:cubicBezTo>
                <a:cubicBezTo>
                  <a:pt x="144886" y="310262"/>
                  <a:pt x="152483" y="309504"/>
                  <a:pt x="160839" y="308745"/>
                </a:cubicBezTo>
                <a:lnTo>
                  <a:pt x="159320" y="437682"/>
                </a:lnTo>
                <a:lnTo>
                  <a:pt x="159320" y="572687"/>
                </a:lnTo>
                <a:cubicBezTo>
                  <a:pt x="159320" y="603783"/>
                  <a:pt x="110701" y="603783"/>
                  <a:pt x="110701" y="572687"/>
                </a:cubicBezTo>
                <a:lnTo>
                  <a:pt x="110701" y="380798"/>
                </a:lnTo>
                <a:lnTo>
                  <a:pt x="87152" y="380798"/>
                </a:lnTo>
                <a:lnTo>
                  <a:pt x="87152" y="571928"/>
                </a:lnTo>
                <a:cubicBezTo>
                  <a:pt x="87152" y="586339"/>
                  <a:pt x="74997" y="597716"/>
                  <a:pt x="59804" y="597716"/>
                </a:cubicBezTo>
                <a:cubicBezTo>
                  <a:pt x="45370" y="597716"/>
                  <a:pt x="34735" y="586339"/>
                  <a:pt x="34735" y="571928"/>
                </a:cubicBezTo>
                <a:lnTo>
                  <a:pt x="34735" y="437682"/>
                </a:lnTo>
                <a:lnTo>
                  <a:pt x="34735" y="289784"/>
                </a:lnTo>
                <a:cubicBezTo>
                  <a:pt x="48409" y="285992"/>
                  <a:pt x="59044" y="279166"/>
                  <a:pt x="68160" y="270064"/>
                </a:cubicBezTo>
                <a:close/>
                <a:moveTo>
                  <a:pt x="126724" y="150296"/>
                </a:moveTo>
                <a:cubicBezTo>
                  <a:pt x="141154" y="154089"/>
                  <a:pt x="151027" y="158640"/>
                  <a:pt x="155584" y="160916"/>
                </a:cubicBezTo>
                <a:cubicBezTo>
                  <a:pt x="157103" y="161674"/>
                  <a:pt x="158621" y="162433"/>
                  <a:pt x="160900" y="163191"/>
                </a:cubicBezTo>
                <a:cubicBezTo>
                  <a:pt x="193557" y="186706"/>
                  <a:pt x="217860" y="220081"/>
                  <a:pt x="206468" y="261800"/>
                </a:cubicBezTo>
                <a:cubicBezTo>
                  <a:pt x="204949" y="267110"/>
                  <a:pt x="202671" y="270902"/>
                  <a:pt x="200392" y="274695"/>
                </a:cubicBezTo>
                <a:cubicBezTo>
                  <a:pt x="199633" y="275453"/>
                  <a:pt x="198873" y="276970"/>
                  <a:pt x="198114" y="277729"/>
                </a:cubicBezTo>
                <a:cubicBezTo>
                  <a:pt x="179127" y="298209"/>
                  <a:pt x="141913" y="297451"/>
                  <a:pt x="103180" y="294417"/>
                </a:cubicBezTo>
                <a:cubicBezTo>
                  <a:pt x="87991" y="292900"/>
                  <a:pt x="81156" y="279246"/>
                  <a:pt x="81915" y="267110"/>
                </a:cubicBezTo>
                <a:cubicBezTo>
                  <a:pt x="82675" y="263317"/>
                  <a:pt x="85713" y="249663"/>
                  <a:pt x="101661" y="251180"/>
                </a:cubicBezTo>
                <a:cubicBezTo>
                  <a:pt x="112294" y="251939"/>
                  <a:pt x="121408" y="252698"/>
                  <a:pt x="130521" y="252698"/>
                </a:cubicBezTo>
                <a:lnTo>
                  <a:pt x="133559" y="253456"/>
                </a:lnTo>
                <a:cubicBezTo>
                  <a:pt x="157862" y="253456"/>
                  <a:pt x="164697" y="252698"/>
                  <a:pt x="166976" y="246629"/>
                </a:cubicBezTo>
                <a:cubicBezTo>
                  <a:pt x="173052" y="233734"/>
                  <a:pt x="165457" y="217805"/>
                  <a:pt x="156343" y="208703"/>
                </a:cubicBezTo>
                <a:cubicBezTo>
                  <a:pt x="150267" y="201876"/>
                  <a:pt x="144951" y="197325"/>
                  <a:pt x="139635" y="192774"/>
                </a:cubicBezTo>
                <a:cubicBezTo>
                  <a:pt x="139635" y="192774"/>
                  <a:pt x="139635" y="192774"/>
                  <a:pt x="139635" y="192015"/>
                </a:cubicBezTo>
                <a:cubicBezTo>
                  <a:pt x="138875" y="192015"/>
                  <a:pt x="138116" y="191257"/>
                  <a:pt x="138116" y="191257"/>
                </a:cubicBezTo>
                <a:lnTo>
                  <a:pt x="132040" y="186706"/>
                </a:lnTo>
                <a:lnTo>
                  <a:pt x="127483" y="192015"/>
                </a:lnTo>
                <a:cubicBezTo>
                  <a:pt x="124445" y="195808"/>
                  <a:pt x="125964" y="198842"/>
                  <a:pt x="128243" y="201118"/>
                </a:cubicBezTo>
                <a:lnTo>
                  <a:pt x="127483" y="201118"/>
                </a:lnTo>
                <a:cubicBezTo>
                  <a:pt x="128243" y="201876"/>
                  <a:pt x="129002" y="201876"/>
                  <a:pt x="129002" y="202635"/>
                </a:cubicBezTo>
                <a:cubicBezTo>
                  <a:pt x="129762" y="202635"/>
                  <a:pt x="130521" y="203393"/>
                  <a:pt x="131281" y="204152"/>
                </a:cubicBezTo>
                <a:cubicBezTo>
                  <a:pt x="135837" y="207944"/>
                  <a:pt x="140394" y="211737"/>
                  <a:pt x="145711" y="217805"/>
                </a:cubicBezTo>
                <a:cubicBezTo>
                  <a:pt x="151027" y="223873"/>
                  <a:pt x="155584" y="232217"/>
                  <a:pt x="154824" y="238286"/>
                </a:cubicBezTo>
                <a:cubicBezTo>
                  <a:pt x="149508" y="239044"/>
                  <a:pt x="138116" y="239044"/>
                  <a:pt x="133559" y="239044"/>
                </a:cubicBezTo>
                <a:lnTo>
                  <a:pt x="131281" y="239044"/>
                </a:lnTo>
                <a:cubicBezTo>
                  <a:pt x="122167" y="239044"/>
                  <a:pt x="113053" y="238286"/>
                  <a:pt x="103180" y="236768"/>
                </a:cubicBezTo>
                <a:cubicBezTo>
                  <a:pt x="98624" y="236768"/>
                  <a:pt x="94826" y="236768"/>
                  <a:pt x="91029" y="238286"/>
                </a:cubicBezTo>
                <a:cubicBezTo>
                  <a:pt x="96345" y="227666"/>
                  <a:pt x="101661" y="216288"/>
                  <a:pt x="106218" y="206427"/>
                </a:cubicBezTo>
                <a:cubicBezTo>
                  <a:pt x="111535" y="194291"/>
                  <a:pt x="116851" y="182154"/>
                  <a:pt x="122167" y="173052"/>
                </a:cubicBezTo>
                <a:cubicBezTo>
                  <a:pt x="126724" y="165467"/>
                  <a:pt x="128243" y="157882"/>
                  <a:pt x="126724" y="150296"/>
                </a:cubicBezTo>
                <a:close/>
                <a:moveTo>
                  <a:pt x="84913" y="137342"/>
                </a:moveTo>
                <a:cubicBezTo>
                  <a:pt x="94789" y="135066"/>
                  <a:pt x="105424" y="139618"/>
                  <a:pt x="111501" y="147204"/>
                </a:cubicBezTo>
                <a:cubicBezTo>
                  <a:pt x="114540" y="152514"/>
                  <a:pt x="114540" y="159342"/>
                  <a:pt x="110742" y="166169"/>
                </a:cubicBezTo>
                <a:cubicBezTo>
                  <a:pt x="104664" y="176031"/>
                  <a:pt x="99347" y="188169"/>
                  <a:pt x="94029" y="200307"/>
                </a:cubicBezTo>
                <a:cubicBezTo>
                  <a:pt x="79595" y="232927"/>
                  <a:pt x="64402" y="266306"/>
                  <a:pt x="34775" y="275409"/>
                </a:cubicBezTo>
                <a:cubicBezTo>
                  <a:pt x="34775" y="275409"/>
                  <a:pt x="8947" y="279202"/>
                  <a:pt x="4389" y="257203"/>
                </a:cubicBezTo>
                <a:cubicBezTo>
                  <a:pt x="-11564" y="201065"/>
                  <a:pt x="21101" y="172997"/>
                  <a:pt x="21101" y="172997"/>
                </a:cubicBezTo>
                <a:cubicBezTo>
                  <a:pt x="32496" y="164652"/>
                  <a:pt x="43891" y="158583"/>
                  <a:pt x="55286" y="154790"/>
                </a:cubicBezTo>
                <a:cubicBezTo>
                  <a:pt x="50728" y="163893"/>
                  <a:pt x="46170" y="172997"/>
                  <a:pt x="46170" y="173755"/>
                </a:cubicBezTo>
                <a:lnTo>
                  <a:pt x="26419" y="229893"/>
                </a:lnTo>
                <a:lnTo>
                  <a:pt x="32496" y="233686"/>
                </a:lnTo>
                <a:lnTo>
                  <a:pt x="58325" y="179824"/>
                </a:lnTo>
                <a:cubicBezTo>
                  <a:pt x="58325" y="179066"/>
                  <a:pt x="68960" y="156307"/>
                  <a:pt x="75037" y="145687"/>
                </a:cubicBezTo>
                <a:cubicBezTo>
                  <a:pt x="78076" y="141135"/>
                  <a:pt x="81115" y="138859"/>
                  <a:pt x="84913" y="137342"/>
                </a:cubicBezTo>
                <a:close/>
                <a:moveTo>
                  <a:pt x="232297" y="121421"/>
                </a:moveTo>
                <a:cubicBezTo>
                  <a:pt x="228501" y="120662"/>
                  <a:pt x="225464" y="121421"/>
                  <a:pt x="223187" y="122179"/>
                </a:cubicBezTo>
                <a:cubicBezTo>
                  <a:pt x="223187" y="124455"/>
                  <a:pt x="226224" y="125972"/>
                  <a:pt x="232297" y="125972"/>
                </a:cubicBezTo>
                <a:cubicBezTo>
                  <a:pt x="240648" y="125214"/>
                  <a:pt x="238371" y="121421"/>
                  <a:pt x="232297" y="121421"/>
                </a:cubicBezTo>
                <a:close/>
                <a:moveTo>
                  <a:pt x="223946" y="82731"/>
                </a:moveTo>
                <a:cubicBezTo>
                  <a:pt x="223187" y="84249"/>
                  <a:pt x="223946" y="86525"/>
                  <a:pt x="223946" y="88042"/>
                </a:cubicBezTo>
                <a:cubicBezTo>
                  <a:pt x="225464" y="89559"/>
                  <a:pt x="227742" y="91076"/>
                  <a:pt x="230020" y="92593"/>
                </a:cubicBezTo>
                <a:cubicBezTo>
                  <a:pt x="233056" y="93352"/>
                  <a:pt x="236093" y="94869"/>
                  <a:pt x="239130" y="95628"/>
                </a:cubicBezTo>
                <a:cubicBezTo>
                  <a:pt x="241407" y="94869"/>
                  <a:pt x="243685" y="94111"/>
                  <a:pt x="245963" y="93352"/>
                </a:cubicBezTo>
                <a:cubicBezTo>
                  <a:pt x="255832" y="91835"/>
                  <a:pt x="267220" y="91076"/>
                  <a:pt x="274812" y="98662"/>
                </a:cubicBezTo>
                <a:cubicBezTo>
                  <a:pt x="278608" y="98662"/>
                  <a:pt x="283163" y="97904"/>
                  <a:pt x="286959" y="97145"/>
                </a:cubicBezTo>
                <a:cubicBezTo>
                  <a:pt x="291514" y="95628"/>
                  <a:pt x="293033" y="92593"/>
                  <a:pt x="292273" y="88042"/>
                </a:cubicBezTo>
                <a:cubicBezTo>
                  <a:pt x="289237" y="88800"/>
                  <a:pt x="286200" y="88800"/>
                  <a:pt x="283922" y="88800"/>
                </a:cubicBezTo>
                <a:cubicBezTo>
                  <a:pt x="282404" y="88800"/>
                  <a:pt x="280126" y="89559"/>
                  <a:pt x="278608" y="89559"/>
                </a:cubicBezTo>
                <a:cubicBezTo>
                  <a:pt x="277090" y="89559"/>
                  <a:pt x="275571" y="89559"/>
                  <a:pt x="274053" y="88800"/>
                </a:cubicBezTo>
                <a:cubicBezTo>
                  <a:pt x="269498" y="88800"/>
                  <a:pt x="264942" y="88800"/>
                  <a:pt x="260387" y="88042"/>
                </a:cubicBezTo>
                <a:cubicBezTo>
                  <a:pt x="248240" y="87283"/>
                  <a:pt x="235334" y="85766"/>
                  <a:pt x="223946" y="82731"/>
                </a:cubicBezTo>
                <a:close/>
                <a:moveTo>
                  <a:pt x="237611" y="66042"/>
                </a:moveTo>
                <a:cubicBezTo>
                  <a:pt x="233815" y="66801"/>
                  <a:pt x="229260" y="68318"/>
                  <a:pt x="226224" y="70594"/>
                </a:cubicBezTo>
                <a:cubicBezTo>
                  <a:pt x="232297" y="72111"/>
                  <a:pt x="239130" y="72870"/>
                  <a:pt x="245203" y="74387"/>
                </a:cubicBezTo>
                <a:cubicBezTo>
                  <a:pt x="247481" y="74387"/>
                  <a:pt x="249759" y="74387"/>
                  <a:pt x="252036" y="75145"/>
                </a:cubicBezTo>
                <a:cubicBezTo>
                  <a:pt x="249759" y="72111"/>
                  <a:pt x="248240" y="69835"/>
                  <a:pt x="247481" y="66801"/>
                </a:cubicBezTo>
                <a:cubicBezTo>
                  <a:pt x="244444" y="66042"/>
                  <a:pt x="240648" y="66042"/>
                  <a:pt x="237611" y="66042"/>
                </a:cubicBezTo>
                <a:close/>
                <a:moveTo>
                  <a:pt x="261146" y="55421"/>
                </a:moveTo>
                <a:cubicBezTo>
                  <a:pt x="260387" y="55421"/>
                  <a:pt x="260387" y="56180"/>
                  <a:pt x="260387" y="56180"/>
                </a:cubicBezTo>
                <a:cubicBezTo>
                  <a:pt x="261906" y="56939"/>
                  <a:pt x="263424" y="56939"/>
                  <a:pt x="264942" y="57697"/>
                </a:cubicBezTo>
                <a:cubicBezTo>
                  <a:pt x="263424" y="56939"/>
                  <a:pt x="261906" y="56180"/>
                  <a:pt x="261146" y="55421"/>
                </a:cubicBezTo>
                <a:close/>
                <a:moveTo>
                  <a:pt x="248240" y="52387"/>
                </a:moveTo>
                <a:cubicBezTo>
                  <a:pt x="245203" y="51628"/>
                  <a:pt x="242167" y="52387"/>
                  <a:pt x="239130" y="53904"/>
                </a:cubicBezTo>
                <a:cubicBezTo>
                  <a:pt x="241407" y="53904"/>
                  <a:pt x="244444" y="53904"/>
                  <a:pt x="247481" y="53904"/>
                </a:cubicBezTo>
                <a:cubicBezTo>
                  <a:pt x="248240" y="53146"/>
                  <a:pt x="248240" y="52387"/>
                  <a:pt x="248240" y="52387"/>
                </a:cubicBezTo>
                <a:close/>
                <a:moveTo>
                  <a:pt x="290755" y="44042"/>
                </a:moveTo>
                <a:cubicBezTo>
                  <a:pt x="285441" y="44801"/>
                  <a:pt x="280126" y="45559"/>
                  <a:pt x="275571" y="46318"/>
                </a:cubicBezTo>
                <a:cubicBezTo>
                  <a:pt x="274812" y="46318"/>
                  <a:pt x="274053" y="47077"/>
                  <a:pt x="272534" y="47077"/>
                </a:cubicBezTo>
                <a:cubicBezTo>
                  <a:pt x="278608" y="50870"/>
                  <a:pt x="284681" y="55421"/>
                  <a:pt x="289237" y="59973"/>
                </a:cubicBezTo>
                <a:cubicBezTo>
                  <a:pt x="293033" y="63008"/>
                  <a:pt x="296069" y="68318"/>
                  <a:pt x="299106" y="73628"/>
                </a:cubicBezTo>
                <a:cubicBezTo>
                  <a:pt x="307457" y="71352"/>
                  <a:pt x="334029" y="58456"/>
                  <a:pt x="317327" y="49352"/>
                </a:cubicBezTo>
                <a:cubicBezTo>
                  <a:pt x="311253" y="46318"/>
                  <a:pt x="304420" y="44801"/>
                  <a:pt x="297588" y="44042"/>
                </a:cubicBezTo>
                <a:cubicBezTo>
                  <a:pt x="296069" y="45559"/>
                  <a:pt x="293033" y="45559"/>
                  <a:pt x="290755" y="44042"/>
                </a:cubicBezTo>
                <a:close/>
                <a:moveTo>
                  <a:pt x="98579" y="36498"/>
                </a:moveTo>
                <a:cubicBezTo>
                  <a:pt x="123746" y="36498"/>
                  <a:pt x="144147" y="56872"/>
                  <a:pt x="144147" y="82005"/>
                </a:cubicBezTo>
                <a:cubicBezTo>
                  <a:pt x="144147" y="107138"/>
                  <a:pt x="123746" y="127512"/>
                  <a:pt x="98579" y="127512"/>
                </a:cubicBezTo>
                <a:cubicBezTo>
                  <a:pt x="73412" y="127512"/>
                  <a:pt x="53011" y="107138"/>
                  <a:pt x="53011" y="82005"/>
                </a:cubicBezTo>
                <a:cubicBezTo>
                  <a:pt x="53011" y="56872"/>
                  <a:pt x="73412" y="36498"/>
                  <a:pt x="98579" y="36498"/>
                </a:cubicBezTo>
                <a:close/>
                <a:moveTo>
                  <a:pt x="277469" y="13129"/>
                </a:moveTo>
                <a:cubicBezTo>
                  <a:pt x="269498" y="11232"/>
                  <a:pt x="258869" y="12560"/>
                  <a:pt x="249759" y="14456"/>
                </a:cubicBezTo>
                <a:cubicBezTo>
                  <a:pt x="233815" y="17491"/>
                  <a:pt x="215595" y="20525"/>
                  <a:pt x="200411" y="28111"/>
                </a:cubicBezTo>
                <a:cubicBezTo>
                  <a:pt x="193578" y="31904"/>
                  <a:pt x="178394" y="37973"/>
                  <a:pt x="185986" y="48594"/>
                </a:cubicBezTo>
                <a:cubicBezTo>
                  <a:pt x="192060" y="56939"/>
                  <a:pt x="200411" y="61490"/>
                  <a:pt x="208762" y="65283"/>
                </a:cubicBezTo>
                <a:cubicBezTo>
                  <a:pt x="210280" y="65283"/>
                  <a:pt x="211799" y="66042"/>
                  <a:pt x="212558" y="66801"/>
                </a:cubicBezTo>
                <a:cubicBezTo>
                  <a:pt x="213317" y="66042"/>
                  <a:pt x="213317" y="65283"/>
                  <a:pt x="214076" y="65283"/>
                </a:cubicBezTo>
                <a:cubicBezTo>
                  <a:pt x="216354" y="57697"/>
                  <a:pt x="220909" y="50870"/>
                  <a:pt x="226983" y="46318"/>
                </a:cubicBezTo>
                <a:cubicBezTo>
                  <a:pt x="236852" y="39491"/>
                  <a:pt x="247481" y="38732"/>
                  <a:pt x="257350" y="41008"/>
                </a:cubicBezTo>
                <a:cubicBezTo>
                  <a:pt x="266461" y="34939"/>
                  <a:pt x="277849" y="31904"/>
                  <a:pt x="289237" y="31146"/>
                </a:cubicBezTo>
                <a:cubicBezTo>
                  <a:pt x="290755" y="20146"/>
                  <a:pt x="285441" y="15025"/>
                  <a:pt x="277469" y="13129"/>
                </a:cubicBezTo>
                <a:close/>
                <a:moveTo>
                  <a:pt x="256876" y="422"/>
                </a:moveTo>
                <a:cubicBezTo>
                  <a:pt x="283543" y="-1854"/>
                  <a:pt x="305939" y="4594"/>
                  <a:pt x="302143" y="31904"/>
                </a:cubicBezTo>
                <a:cubicBezTo>
                  <a:pt x="305939" y="32663"/>
                  <a:pt x="309735" y="33422"/>
                  <a:pt x="312772" y="34180"/>
                </a:cubicBezTo>
                <a:cubicBezTo>
                  <a:pt x="330233" y="38732"/>
                  <a:pt x="342380" y="57697"/>
                  <a:pt x="327196" y="73628"/>
                </a:cubicBezTo>
                <a:cubicBezTo>
                  <a:pt x="321123" y="79697"/>
                  <a:pt x="312772" y="83490"/>
                  <a:pt x="303661" y="85766"/>
                </a:cubicBezTo>
                <a:cubicBezTo>
                  <a:pt x="305939" y="96387"/>
                  <a:pt x="303661" y="106248"/>
                  <a:pt x="289996" y="109283"/>
                </a:cubicBezTo>
                <a:cubicBezTo>
                  <a:pt x="286200" y="110042"/>
                  <a:pt x="280885" y="110800"/>
                  <a:pt x="276330" y="111559"/>
                </a:cubicBezTo>
                <a:cubicBezTo>
                  <a:pt x="275571" y="112317"/>
                  <a:pt x="274812" y="113835"/>
                  <a:pt x="273294" y="115352"/>
                </a:cubicBezTo>
                <a:cubicBezTo>
                  <a:pt x="268738" y="120662"/>
                  <a:pt x="261146" y="122938"/>
                  <a:pt x="253555" y="122938"/>
                </a:cubicBezTo>
                <a:cubicBezTo>
                  <a:pt x="254314" y="129007"/>
                  <a:pt x="248240" y="133559"/>
                  <a:pt x="240648" y="135834"/>
                </a:cubicBezTo>
                <a:cubicBezTo>
                  <a:pt x="247481" y="139627"/>
                  <a:pt x="254314" y="143421"/>
                  <a:pt x="258869" y="148731"/>
                </a:cubicBezTo>
                <a:cubicBezTo>
                  <a:pt x="263424" y="155558"/>
                  <a:pt x="252795" y="161627"/>
                  <a:pt x="248240" y="155558"/>
                </a:cubicBezTo>
                <a:cubicBezTo>
                  <a:pt x="239130" y="143421"/>
                  <a:pt x="207244" y="142662"/>
                  <a:pt x="207244" y="124455"/>
                </a:cubicBezTo>
                <a:cubicBezTo>
                  <a:pt x="206485" y="117628"/>
                  <a:pt x="211040" y="111559"/>
                  <a:pt x="217872" y="106248"/>
                </a:cubicBezTo>
                <a:cubicBezTo>
                  <a:pt x="217113" y="105490"/>
                  <a:pt x="216354" y="104731"/>
                  <a:pt x="216354" y="103214"/>
                </a:cubicBezTo>
                <a:cubicBezTo>
                  <a:pt x="214076" y="99421"/>
                  <a:pt x="212558" y="94869"/>
                  <a:pt x="211799" y="91076"/>
                </a:cubicBezTo>
                <a:cubicBezTo>
                  <a:pt x="210280" y="86525"/>
                  <a:pt x="208762" y="82731"/>
                  <a:pt x="208762" y="78180"/>
                </a:cubicBezTo>
                <a:cubicBezTo>
                  <a:pt x="203448" y="76663"/>
                  <a:pt x="198893" y="74387"/>
                  <a:pt x="193578" y="71352"/>
                </a:cubicBezTo>
                <a:cubicBezTo>
                  <a:pt x="173839" y="59214"/>
                  <a:pt x="161692" y="36456"/>
                  <a:pt x="185986" y="21284"/>
                </a:cubicBezTo>
                <a:cubicBezTo>
                  <a:pt x="199272" y="13698"/>
                  <a:pt x="230209" y="2698"/>
                  <a:pt x="256876" y="422"/>
                </a:cubicBezTo>
                <a:close/>
              </a:path>
            </a:pathLst>
          </a:custGeom>
          <a:solidFill>
            <a:schemeClr val="tx1"/>
          </a:solidFill>
          <a:ln>
            <a:noFill/>
          </a:ln>
        </p:spPr>
      </p:sp>
      <p:grpSp>
        <p:nvGrpSpPr>
          <p:cNvPr id="118" name="组合 117"/>
          <p:cNvGrpSpPr/>
          <p:nvPr/>
        </p:nvGrpSpPr>
        <p:grpSpPr bwMode="gray">
          <a:xfrm>
            <a:off x="8989578" y="2132856"/>
            <a:ext cx="2232248" cy="1475470"/>
            <a:chOff x="4223792" y="1916832"/>
            <a:chExt cx="2232248" cy="1475470"/>
          </a:xfrm>
        </p:grpSpPr>
        <p:sp>
          <p:nvSpPr>
            <p:cNvPr id="120" name="云形 119"/>
            <p:cNvSpPr/>
            <p:nvPr/>
          </p:nvSpPr>
          <p:spPr bwMode="gray">
            <a:xfrm>
              <a:off x="4223792" y="1916832"/>
              <a:ext cx="2232248" cy="1475470"/>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1" name="文本框 120"/>
            <p:cNvSpPr txBox="1"/>
            <p:nvPr/>
          </p:nvSpPr>
          <p:spPr bwMode="gray">
            <a:xfrm rot="21240319">
              <a:off x="4505107" y="2320692"/>
              <a:ext cx="1562313" cy="64265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800" b="1" dirty="0">
                  <a:latin typeface="Huawei Sans" panose="020C0503030203020204" pitchFamily="34" charset="0"/>
                  <a:ea typeface="方正兰亭黑简体" panose="02000000000000000000" pitchFamily="2" charset="-122"/>
                </a:rPr>
                <a:t>根据不同类别</a:t>
              </a:r>
              <a:endParaRPr lang="en-US" altLang="zh-CN" sz="1800" b="1" dirty="0">
                <a:latin typeface="Huawei Sans" panose="020C0503030203020204" pitchFamily="34" charset="0"/>
                <a:ea typeface="方正兰亭黑简体" panose="02000000000000000000" pitchFamily="2" charset="-122"/>
              </a:endParaRPr>
            </a:p>
            <a:p>
              <a:pPr algn="ctr"/>
              <a:r>
                <a:rPr lang="zh-CN" altLang="en-US" sz="1800" b="1" dirty="0">
                  <a:latin typeface="Huawei Sans" panose="020C0503030203020204" pitchFamily="34" charset="0"/>
                  <a:ea typeface="方正兰亭黑简体" panose="02000000000000000000" pitchFamily="2" charset="-122"/>
                </a:rPr>
                <a:t>提供不同服务</a:t>
              </a:r>
            </a:p>
          </p:txBody>
        </p:sp>
      </p:grpSp>
      <p:grpSp>
        <p:nvGrpSpPr>
          <p:cNvPr id="53" name="组合 52"/>
          <p:cNvGrpSpPr/>
          <p:nvPr/>
        </p:nvGrpSpPr>
        <p:grpSpPr bwMode="gray">
          <a:xfrm>
            <a:off x="3084922" y="2492896"/>
            <a:ext cx="1980220" cy="792088"/>
            <a:chOff x="5627948" y="1628800"/>
            <a:chExt cx="1980220" cy="792088"/>
          </a:xfrm>
        </p:grpSpPr>
        <p:sp>
          <p:nvSpPr>
            <p:cNvPr id="55" name="矩形 54"/>
            <p:cNvSpPr/>
            <p:nvPr/>
          </p:nvSpPr>
          <p:spPr bwMode="gray">
            <a:xfrm>
              <a:off x="5663952" y="1952836"/>
              <a:ext cx="1944216" cy="46805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4" name="文本框 53"/>
            <p:cNvSpPr txBox="1"/>
            <p:nvPr/>
          </p:nvSpPr>
          <p:spPr bwMode="gray">
            <a:xfrm>
              <a:off x="5627948" y="1988840"/>
              <a:ext cx="1980220" cy="35796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拥有不同优先级的报文</a:t>
              </a:r>
            </a:p>
          </p:txBody>
        </p:sp>
        <p:sp>
          <p:nvSpPr>
            <p:cNvPr id="56" name="矩形 55"/>
            <p:cNvSpPr/>
            <p:nvPr/>
          </p:nvSpPr>
          <p:spPr bwMode="gray">
            <a:xfrm>
              <a:off x="5663952" y="1628800"/>
              <a:ext cx="1944216"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rPr>
                <a:t>流标记</a:t>
              </a:r>
            </a:p>
          </p:txBody>
        </p:sp>
      </p:grpSp>
      <p:sp>
        <p:nvSpPr>
          <p:cNvPr id="57" name="下箭头 56"/>
          <p:cNvSpPr/>
          <p:nvPr/>
        </p:nvSpPr>
        <p:spPr bwMode="gray">
          <a:xfrm>
            <a:off x="3949018" y="3392996"/>
            <a:ext cx="252028" cy="324036"/>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9" name="文本框 58"/>
          <p:cNvSpPr txBox="1"/>
          <p:nvPr/>
        </p:nvSpPr>
        <p:spPr bwMode="gray">
          <a:xfrm>
            <a:off x="6505302" y="2708920"/>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队列</a:t>
            </a:r>
          </a:p>
        </p:txBody>
      </p:sp>
    </p:spTree>
    <p:extLst>
      <p:ext uri="{BB962C8B-B14F-4D97-AF65-F5344CB8AC3E}">
        <p14:creationId xmlns:p14="http://schemas.microsoft.com/office/powerpoint/2010/main" val="1668096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bwMode="gray">
          <a:xfrm>
            <a:off x="2081628" y="4473116"/>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1" name="矩形 80"/>
          <p:cNvSpPr/>
          <p:nvPr/>
        </p:nvSpPr>
        <p:spPr bwMode="gray">
          <a:xfrm>
            <a:off x="3791744" y="4473116"/>
            <a:ext cx="1332000" cy="1008000"/>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84" name="矩形 83"/>
          <p:cNvSpPr/>
          <p:nvPr/>
        </p:nvSpPr>
        <p:spPr bwMode="gray">
          <a:xfrm>
            <a:off x="5303912" y="4473116"/>
            <a:ext cx="1332000" cy="1008000"/>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简单流分类</a:t>
            </a:r>
          </a:p>
        </p:txBody>
      </p:sp>
      <p:sp>
        <p:nvSpPr>
          <p:cNvPr id="6" name="矩形 5"/>
          <p:cNvSpPr/>
          <p:nvPr/>
        </p:nvSpPr>
        <p:spPr bwMode="gray">
          <a:xfrm>
            <a:off x="2171564" y="1880882"/>
            <a:ext cx="1080120" cy="324036"/>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 name="矩形 6"/>
          <p:cNvSpPr/>
          <p:nvPr/>
        </p:nvSpPr>
        <p:spPr bwMode="gray">
          <a:xfrm>
            <a:off x="2171564" y="2276944"/>
            <a:ext cx="1080120" cy="3240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 name="矩形 8"/>
          <p:cNvSpPr/>
          <p:nvPr/>
        </p:nvSpPr>
        <p:spPr bwMode="gray">
          <a:xfrm>
            <a:off x="2171564" y="2672970"/>
            <a:ext cx="1080120" cy="3240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DSCP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0" name="椭圆 9"/>
          <p:cNvSpPr/>
          <p:nvPr/>
        </p:nvSpPr>
        <p:spPr bwMode="gray">
          <a:xfrm>
            <a:off x="3611724" y="2168914"/>
            <a:ext cx="540000" cy="540000"/>
          </a:xfrm>
          <a:prstGeom prst="ellips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 name="直接箭头连接符 10"/>
          <p:cNvCxnSpPr>
            <a:stCxn id="6" idx="3"/>
            <a:endCxn id="10" idx="1"/>
          </p:cNvCxnSpPr>
          <p:nvPr/>
        </p:nvCxnSpPr>
        <p:spPr bwMode="gray">
          <a:xfrm>
            <a:off x="3251684" y="2042900"/>
            <a:ext cx="439121" cy="2050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p:cNvCxnSpPr>
            <a:stCxn id="7" idx="3"/>
            <a:endCxn id="10" idx="2"/>
          </p:cNvCxnSpPr>
          <p:nvPr/>
        </p:nvCxnSpPr>
        <p:spPr bwMode="gray">
          <a:xfrm flipV="1">
            <a:off x="3251684" y="2438914"/>
            <a:ext cx="360040" cy="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接箭头连接符 12"/>
          <p:cNvCxnSpPr>
            <a:stCxn id="9" idx="3"/>
            <a:endCxn id="10" idx="3"/>
          </p:cNvCxnSpPr>
          <p:nvPr/>
        </p:nvCxnSpPr>
        <p:spPr bwMode="gray">
          <a:xfrm flipV="1">
            <a:off x="3251684" y="2629833"/>
            <a:ext cx="439121" cy="205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文本框 19"/>
          <p:cNvSpPr txBox="1"/>
          <p:nvPr/>
        </p:nvSpPr>
        <p:spPr bwMode="gray">
          <a:xfrm>
            <a:off x="3600099" y="2266081"/>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4187788" y="2433522"/>
            <a:ext cx="32403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aphicFrame>
        <p:nvGraphicFramePr>
          <p:cNvPr id="27" name="表格 26"/>
          <p:cNvGraphicFramePr>
            <a:graphicFrameLocks noGrp="1"/>
          </p:cNvGraphicFramePr>
          <p:nvPr/>
        </p:nvGraphicFramePr>
        <p:xfrm>
          <a:off x="4583832" y="1952890"/>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t>Service Class</a:t>
                      </a:r>
                      <a:endParaRPr lang="zh-CN" alt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t>Color</a:t>
                      </a:r>
                      <a:endParaRPr lang="zh-CN" alt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1" name="右箭头 30"/>
          <p:cNvSpPr/>
          <p:nvPr/>
        </p:nvSpPr>
        <p:spPr bwMode="gray">
          <a:xfrm>
            <a:off x="5843972" y="2168914"/>
            <a:ext cx="540000" cy="540000"/>
          </a:xfrm>
          <a:prstGeom prst="rightArrow">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3" name="矩形 32"/>
          <p:cNvSpPr/>
          <p:nvPr/>
        </p:nvSpPr>
        <p:spPr bwMode="gray">
          <a:xfrm>
            <a:off x="6456040" y="2132910"/>
            <a:ext cx="432048" cy="1476164"/>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4" name="右箭头 33"/>
          <p:cNvSpPr/>
          <p:nvPr/>
        </p:nvSpPr>
        <p:spPr bwMode="gray">
          <a:xfrm>
            <a:off x="6996100" y="2924998"/>
            <a:ext cx="540000" cy="540000"/>
          </a:xfrm>
          <a:prstGeom prst="rightArrow">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35" name="表格 34"/>
          <p:cNvGraphicFramePr>
            <a:graphicFrameLocks noGrp="1"/>
          </p:cNvGraphicFramePr>
          <p:nvPr/>
        </p:nvGraphicFramePr>
        <p:xfrm>
          <a:off x="7608168" y="2744978"/>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t>Service Class</a:t>
                      </a:r>
                      <a:endParaRPr lang="zh-CN" alt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t>Color</a:t>
                      </a:r>
                      <a:endParaRPr lang="zh-CN" altLang="en-US"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6" name="椭圆 35"/>
          <p:cNvSpPr/>
          <p:nvPr/>
        </p:nvSpPr>
        <p:spPr bwMode="gray">
          <a:xfrm>
            <a:off x="9192344" y="2888994"/>
            <a:ext cx="540000" cy="540000"/>
          </a:xfrm>
          <a:prstGeom prst="ellipse">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cxnSp>
        <p:nvCxnSpPr>
          <p:cNvPr id="37" name="直接箭头连接符 36"/>
          <p:cNvCxnSpPr>
            <a:stCxn id="36" idx="7"/>
            <a:endCxn id="52" idx="1"/>
          </p:cNvCxnSpPr>
          <p:nvPr/>
        </p:nvCxnSpPr>
        <p:spPr bwMode="gray">
          <a:xfrm flipV="1">
            <a:off x="9653263" y="2762962"/>
            <a:ext cx="439181" cy="20511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直接箭头连接符 37"/>
          <p:cNvCxnSpPr>
            <a:endCxn id="36" idx="2"/>
          </p:cNvCxnSpPr>
          <p:nvPr/>
        </p:nvCxnSpPr>
        <p:spPr bwMode="gray">
          <a:xfrm flipV="1">
            <a:off x="8832304" y="3158994"/>
            <a:ext cx="360040" cy="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直接箭头连接符 38"/>
          <p:cNvCxnSpPr>
            <a:stCxn id="36" idx="5"/>
            <a:endCxn id="54" idx="1"/>
          </p:cNvCxnSpPr>
          <p:nvPr/>
        </p:nvCxnSpPr>
        <p:spPr bwMode="gray">
          <a:xfrm>
            <a:off x="9653263" y="3349913"/>
            <a:ext cx="439181" cy="20511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1" name="直接箭头连接符 40"/>
          <p:cNvCxnSpPr>
            <a:stCxn id="36" idx="6"/>
            <a:endCxn id="53" idx="1"/>
          </p:cNvCxnSpPr>
          <p:nvPr/>
        </p:nvCxnSpPr>
        <p:spPr bwMode="gray">
          <a:xfrm>
            <a:off x="9732344" y="3158994"/>
            <a:ext cx="3601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2" name="矩形 51"/>
          <p:cNvSpPr/>
          <p:nvPr/>
        </p:nvSpPr>
        <p:spPr bwMode="gray">
          <a:xfrm>
            <a:off x="10092444" y="2600944"/>
            <a:ext cx="1080120" cy="324036"/>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3" name="矩形 52"/>
          <p:cNvSpPr/>
          <p:nvPr/>
        </p:nvSpPr>
        <p:spPr bwMode="gray">
          <a:xfrm>
            <a:off x="10092444" y="2996994"/>
            <a:ext cx="1080120" cy="3240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4" name="矩形 53"/>
          <p:cNvSpPr/>
          <p:nvPr/>
        </p:nvSpPr>
        <p:spPr bwMode="gray">
          <a:xfrm>
            <a:off x="10092444" y="3393032"/>
            <a:ext cx="1080120" cy="324000"/>
          </a:xfrm>
          <a:prstGeom prst="rect">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DSCP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8" name="文本框 57"/>
          <p:cNvSpPr txBox="1"/>
          <p:nvPr/>
        </p:nvSpPr>
        <p:spPr bwMode="gray">
          <a:xfrm>
            <a:off x="9174015" y="300057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rPr>
              <a:t>映射</a:t>
            </a:r>
          </a:p>
        </p:txBody>
      </p:sp>
      <p:cxnSp>
        <p:nvCxnSpPr>
          <p:cNvPr id="60" name="直接连接符 59"/>
          <p:cNvCxnSpPr/>
          <p:nvPr/>
        </p:nvCxnSpPr>
        <p:spPr bwMode="gray">
          <a:xfrm>
            <a:off x="6456040" y="2132910"/>
            <a:ext cx="432048" cy="147616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2" name="直接连接符 61"/>
          <p:cNvCxnSpPr/>
          <p:nvPr/>
        </p:nvCxnSpPr>
        <p:spPr bwMode="gray">
          <a:xfrm flipH="1">
            <a:off x="6456040" y="2132910"/>
            <a:ext cx="432048" cy="147616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5" name="文本框 64"/>
          <p:cNvSpPr txBox="1"/>
          <p:nvPr/>
        </p:nvSpPr>
        <p:spPr bwMode="gray">
          <a:xfrm>
            <a:off x="6168008" y="176202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交换网板</a:t>
            </a:r>
          </a:p>
        </p:txBody>
      </p:sp>
      <p:cxnSp>
        <p:nvCxnSpPr>
          <p:cNvPr id="66" name="直接连接符 65"/>
          <p:cNvCxnSpPr/>
          <p:nvPr/>
        </p:nvCxnSpPr>
        <p:spPr bwMode="gray">
          <a:xfrm>
            <a:off x="6672064" y="1484784"/>
            <a:ext cx="0" cy="2520000"/>
          </a:xfrm>
          <a:prstGeom prst="line">
            <a:avLst/>
          </a:prstGeom>
          <a:solidFill>
            <a:schemeClr val="accent1"/>
          </a:solidFill>
          <a:ln w="19050" cap="flat" cmpd="sng" algn="ctr">
            <a:solidFill>
              <a:srgbClr val="C00000"/>
            </a:solidFill>
            <a:prstDash val="dash"/>
            <a:round/>
            <a:headEnd type="none" w="med" len="med"/>
            <a:tailEnd type="none" w="med" len="med"/>
          </a:ln>
          <a:effectLst/>
        </p:spPr>
      </p:cxnSp>
      <p:sp>
        <p:nvSpPr>
          <p:cNvPr id="69" name="文本框 68"/>
          <p:cNvSpPr txBox="1"/>
          <p:nvPr/>
        </p:nvSpPr>
        <p:spPr bwMode="gray">
          <a:xfrm>
            <a:off x="3503712" y="1412776"/>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rgbClr val="C7000B"/>
                </a:solidFill>
                <a:latin typeface="Huawei Sans" panose="020C0503030203020204" pitchFamily="34" charset="0"/>
                <a:ea typeface="方正兰亭黑简体" panose="02000000000000000000" pitchFamily="2" charset="-122"/>
              </a:rPr>
              <a:t>上行方向</a:t>
            </a:r>
          </a:p>
        </p:txBody>
      </p:sp>
      <p:sp>
        <p:nvSpPr>
          <p:cNvPr id="71" name="下箭头 70"/>
          <p:cNvSpPr/>
          <p:nvPr/>
        </p:nvSpPr>
        <p:spPr bwMode="gray">
          <a:xfrm>
            <a:off x="2603612" y="3159024"/>
            <a:ext cx="288032" cy="827314"/>
          </a:xfrm>
          <a:prstGeom prst="downArrow">
            <a:avLst/>
          </a:prstGeom>
          <a:solidFill>
            <a:srgbClr val="BEE9E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2" name="文本框 71"/>
          <p:cNvSpPr txBox="1"/>
          <p:nvPr/>
        </p:nvSpPr>
        <p:spPr bwMode="gray">
          <a:xfrm>
            <a:off x="2117632" y="4473116"/>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不同的报文</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使用不同的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en-US" altLang="zh-CN" sz="1400" dirty="0">
                <a:latin typeface="Huawei Sans" panose="020C0503030203020204" pitchFamily="34" charset="0"/>
                <a:ea typeface="方正兰亭黑简体" panose="02000000000000000000" pitchFamily="2" charset="-122"/>
              </a:rPr>
              <a:t>QoS</a:t>
            </a:r>
            <a:r>
              <a:rPr lang="zh-CN" altLang="en-US" sz="1400" dirty="0">
                <a:latin typeface="Huawei Sans" panose="020C0503030203020204" pitchFamily="34" charset="0"/>
                <a:ea typeface="方正兰亭黑简体" panose="02000000000000000000" pitchFamily="2" charset="-122"/>
              </a:rPr>
              <a:t>优先级</a:t>
            </a:r>
          </a:p>
        </p:txBody>
      </p:sp>
      <p:sp>
        <p:nvSpPr>
          <p:cNvPr id="79" name="矩形 78"/>
          <p:cNvSpPr/>
          <p:nvPr/>
        </p:nvSpPr>
        <p:spPr bwMode="gray">
          <a:xfrm>
            <a:off x="2081628" y="4149080"/>
            <a:ext cx="13320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solidFill>
                  <a:schemeClr val="bg1"/>
                </a:solidFill>
                <a:latin typeface="Huawei Sans" panose="020C0503030203020204" pitchFamily="34" charset="0"/>
                <a:ea typeface="方正兰亭黑简体" panose="02000000000000000000" pitchFamily="2" charset="-122"/>
              </a:rPr>
              <a:t>报文头优先级</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3827748" y="4473116"/>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报文在</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设备内部的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服务等级</a:t>
            </a:r>
          </a:p>
        </p:txBody>
      </p:sp>
      <p:sp>
        <p:nvSpPr>
          <p:cNvPr id="82" name="矩形 81"/>
          <p:cNvSpPr/>
          <p:nvPr/>
        </p:nvSpPr>
        <p:spPr bwMode="gray">
          <a:xfrm>
            <a:off x="3791744" y="4149080"/>
            <a:ext cx="1332148"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solidFill>
                  <a:schemeClr val="bg1"/>
                </a:solidFill>
                <a:latin typeface="Huawei Sans" panose="020C0503030203020204" pitchFamily="34" charset="0"/>
                <a:ea typeface="方正兰亭黑简体" panose="02000000000000000000" pitchFamily="2" charset="-122"/>
              </a:rPr>
              <a:t>Service Class</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83" name="文本框 82"/>
          <p:cNvSpPr txBox="1"/>
          <p:nvPr/>
        </p:nvSpPr>
        <p:spPr bwMode="gray">
          <a:xfrm>
            <a:off x="5339916" y="4473116"/>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报文在</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设备内部的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丢弃优先级</a:t>
            </a:r>
          </a:p>
        </p:txBody>
      </p:sp>
      <p:sp>
        <p:nvSpPr>
          <p:cNvPr id="85" name="矩形 84"/>
          <p:cNvSpPr/>
          <p:nvPr/>
        </p:nvSpPr>
        <p:spPr bwMode="gray">
          <a:xfrm>
            <a:off x="5303912" y="4149080"/>
            <a:ext cx="1332148"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solidFill>
                  <a:schemeClr val="bg1"/>
                </a:solidFill>
                <a:latin typeface="Huawei Sans" panose="020C0503030203020204" pitchFamily="34" charset="0"/>
                <a:ea typeface="方正兰亭黑简体" panose="02000000000000000000" pitchFamily="2" charset="-122"/>
              </a:rPr>
              <a:t>Color</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86" name="下箭头 85"/>
          <p:cNvSpPr/>
          <p:nvPr/>
        </p:nvSpPr>
        <p:spPr bwMode="gray">
          <a:xfrm>
            <a:off x="5051884" y="2996970"/>
            <a:ext cx="288032" cy="989368"/>
          </a:xfrm>
          <a:prstGeom prst="downArrow">
            <a:avLst/>
          </a:prstGeom>
          <a:solidFill>
            <a:srgbClr val="BEE9E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0" name="矩形 89"/>
          <p:cNvSpPr/>
          <p:nvPr/>
        </p:nvSpPr>
        <p:spPr bwMode="gray">
          <a:xfrm>
            <a:off x="1091444" y="188088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91" name="矩形 90"/>
          <p:cNvSpPr/>
          <p:nvPr/>
        </p:nvSpPr>
        <p:spPr bwMode="gray">
          <a:xfrm>
            <a:off x="1091444" y="2276944"/>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a:spcBef>
                <a:spcPct val="0"/>
              </a:spcBef>
              <a:spcAft>
                <a:spcPct val="0"/>
              </a:spcAft>
            </a:pPr>
            <a:r>
              <a:rPr lang="en-US" altLang="zh-CN" sz="1400" b="1" dirty="0">
                <a:latin typeface="Huawei Sans" panose="020C0503030203020204" pitchFamily="34" charset="0"/>
                <a:ea typeface="方正兰亭黑简体" panose="02000000000000000000" pitchFamily="2" charset="-122"/>
              </a:rPr>
              <a:t>MPLS</a:t>
            </a:r>
            <a:r>
              <a:rPr lang="zh-CN" altLang="en-US" sz="1400" b="1" dirty="0">
                <a:latin typeface="Huawei Sans" panose="020C0503030203020204" pitchFamily="34" charset="0"/>
                <a:ea typeface="方正兰亭黑简体" panose="02000000000000000000" pitchFamily="2" charset="-122"/>
              </a:rPr>
              <a:t>报文</a:t>
            </a:r>
          </a:p>
        </p:txBody>
      </p:sp>
      <p:sp>
        <p:nvSpPr>
          <p:cNvPr id="92" name="矩形 91"/>
          <p:cNvSpPr/>
          <p:nvPr/>
        </p:nvSpPr>
        <p:spPr bwMode="gray">
          <a:xfrm>
            <a:off x="1091444" y="267297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a:spcBef>
                <a:spcPct val="0"/>
              </a:spcBef>
              <a:spcAft>
                <a:spcPct val="0"/>
              </a:spcAft>
            </a:pPr>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报文</a:t>
            </a:r>
          </a:p>
        </p:txBody>
      </p:sp>
      <p:sp>
        <p:nvSpPr>
          <p:cNvPr id="93" name="矩形 92"/>
          <p:cNvSpPr/>
          <p:nvPr/>
        </p:nvSpPr>
        <p:spPr bwMode="gray">
          <a:xfrm>
            <a:off x="1667508" y="1412776"/>
            <a:ext cx="108012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简单流分类</a:t>
            </a:r>
          </a:p>
        </p:txBody>
      </p:sp>
      <p:sp>
        <p:nvSpPr>
          <p:cNvPr id="94" name="矩形 93"/>
          <p:cNvSpPr/>
          <p:nvPr/>
        </p:nvSpPr>
        <p:spPr bwMode="gray">
          <a:xfrm>
            <a:off x="2225644" y="5553236"/>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外部优先级</a:t>
            </a:r>
          </a:p>
        </p:txBody>
      </p:sp>
      <p:sp>
        <p:nvSpPr>
          <p:cNvPr id="95" name="矩形 94"/>
          <p:cNvSpPr/>
          <p:nvPr/>
        </p:nvSpPr>
        <p:spPr bwMode="gray">
          <a:xfrm>
            <a:off x="3899756" y="5553236"/>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latin typeface="Huawei Sans" panose="020C0503030203020204" pitchFamily="34" charset="0"/>
                <a:ea typeface="方正兰亭黑简体" panose="02000000000000000000" pitchFamily="2" charset="-122"/>
              </a:rPr>
              <a:t>内</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部优先级</a:t>
            </a:r>
          </a:p>
        </p:txBody>
      </p:sp>
      <p:sp>
        <p:nvSpPr>
          <p:cNvPr id="96" name="文本框 95"/>
          <p:cNvSpPr txBox="1"/>
          <p:nvPr/>
        </p:nvSpPr>
        <p:spPr bwMode="gray">
          <a:xfrm>
            <a:off x="8436260" y="3861048"/>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rgbClr val="C7000B"/>
                </a:solidFill>
                <a:latin typeface="Huawei Sans" panose="020C0503030203020204" pitchFamily="34" charset="0"/>
                <a:ea typeface="方正兰亭黑简体" panose="02000000000000000000" pitchFamily="2" charset="-122"/>
              </a:rPr>
              <a:t>下行方向</a:t>
            </a:r>
          </a:p>
        </p:txBody>
      </p:sp>
      <p:sp>
        <p:nvSpPr>
          <p:cNvPr id="49" name="矩形 48"/>
          <p:cNvSpPr/>
          <p:nvPr/>
        </p:nvSpPr>
        <p:spPr bwMode="gray">
          <a:xfrm>
            <a:off x="5447928" y="5553236"/>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latin typeface="Huawei Sans" panose="020C0503030203020204" pitchFamily="34" charset="0"/>
                <a:ea typeface="方正兰亭黑简体" panose="02000000000000000000" pitchFamily="2" charset="-122"/>
              </a:rPr>
              <a:t>丢弃</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优先级</a:t>
            </a:r>
          </a:p>
        </p:txBody>
      </p:sp>
      <p:sp>
        <p:nvSpPr>
          <p:cNvPr id="3" name="Rectangle: Rounded Corners 2">
            <a:extLst>
              <a:ext uri="{FF2B5EF4-FFF2-40B4-BE49-F238E27FC236}">
                <a16:creationId xmlns:a16="http://schemas.microsoft.com/office/drawing/2014/main" id="{7EF2E992-8A47-4472-A088-A817D8E54052}"/>
              </a:ext>
            </a:extLst>
          </p:cNvPr>
          <p:cNvSpPr/>
          <p:nvPr/>
        </p:nvSpPr>
        <p:spPr bwMode="gray">
          <a:xfrm>
            <a:off x="1964726" y="4058458"/>
            <a:ext cx="1529948" cy="1771083"/>
          </a:xfrm>
          <a:prstGeom prst="roundRect">
            <a:avLst>
              <a:gd name="adj" fmla="val 3025"/>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C0BC249D-E24C-4BDA-A7AD-83ABD78F4594}"/>
              </a:ext>
            </a:extLst>
          </p:cNvPr>
          <p:cNvSpPr/>
          <p:nvPr/>
        </p:nvSpPr>
        <p:spPr bwMode="gray">
          <a:xfrm>
            <a:off x="3717234" y="4058458"/>
            <a:ext cx="3008761" cy="1782754"/>
          </a:xfrm>
          <a:prstGeom prst="roundRect">
            <a:avLst>
              <a:gd name="adj" fmla="val 3025"/>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4177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bwMode="gray">
          <a:xfrm>
            <a:off x="1969648" y="4540412"/>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68" name="矩形 67"/>
          <p:cNvSpPr/>
          <p:nvPr/>
        </p:nvSpPr>
        <p:spPr bwMode="gray">
          <a:xfrm>
            <a:off x="926126" y="1336056"/>
            <a:ext cx="2375670" cy="1906324"/>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外部优先级 </a:t>
            </a:r>
            <a:r>
              <a:rPr lang="en-US" altLang="zh-CN" dirty="0"/>
              <a:t>- VLAN</a:t>
            </a:r>
            <a:r>
              <a:rPr lang="zh-CN" altLang="en-US" dirty="0"/>
              <a:t>报文</a:t>
            </a:r>
          </a:p>
        </p:txBody>
      </p:sp>
      <p:sp>
        <p:nvSpPr>
          <p:cNvPr id="6" name="矩形 5"/>
          <p:cNvSpPr/>
          <p:nvPr/>
        </p:nvSpPr>
        <p:spPr bwMode="gray">
          <a:xfrm>
            <a:off x="2041656" y="1948178"/>
            <a:ext cx="1080120" cy="324036"/>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 name="矩形 6"/>
          <p:cNvSpPr/>
          <p:nvPr/>
        </p:nvSpPr>
        <p:spPr bwMode="gray">
          <a:xfrm>
            <a:off x="2041656" y="2344240"/>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MPLS </a:t>
            </a:r>
            <a:r>
              <a:rPr lang="en-US" altLang="zh-CN" sz="1400" b="1" dirty="0" err="1">
                <a:latin typeface="Huawei Sans" panose="020C0503030203020204" pitchFamily="34" charset="0"/>
                <a:ea typeface="方正兰亭黑简体" panose="02000000000000000000" pitchFamily="2" charset="-122"/>
              </a:rPr>
              <a:t>Exp</a:t>
            </a:r>
            <a:endParaRPr lang="zh-CN" altLang="en-US" sz="1400" b="1" dirty="0">
              <a:latin typeface="Huawei Sans" panose="020C0503030203020204" pitchFamily="34" charset="0"/>
              <a:ea typeface="方正兰亭黑简体" panose="02000000000000000000" pitchFamily="2" charset="-122"/>
            </a:endParaRPr>
          </a:p>
        </p:txBody>
      </p:sp>
      <p:sp>
        <p:nvSpPr>
          <p:cNvPr id="9" name="矩形 8"/>
          <p:cNvSpPr/>
          <p:nvPr/>
        </p:nvSpPr>
        <p:spPr bwMode="gray">
          <a:xfrm>
            <a:off x="2041656" y="2740266"/>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DSCP</a:t>
            </a:r>
            <a:endParaRPr lang="zh-CN" altLang="en-US" sz="1400" b="1" dirty="0">
              <a:latin typeface="Huawei Sans" panose="020C0503030203020204" pitchFamily="34" charset="0"/>
              <a:ea typeface="方正兰亭黑简体" panose="02000000000000000000" pitchFamily="2" charset="-122"/>
            </a:endParaRPr>
          </a:p>
        </p:txBody>
      </p:sp>
      <p:sp>
        <p:nvSpPr>
          <p:cNvPr id="10" name="椭圆 9"/>
          <p:cNvSpPr/>
          <p:nvPr/>
        </p:nvSpPr>
        <p:spPr bwMode="gray">
          <a:xfrm>
            <a:off x="3481816" y="2236210"/>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 name="直接箭头连接符 10"/>
          <p:cNvCxnSpPr>
            <a:stCxn id="6" idx="3"/>
            <a:endCxn id="10" idx="1"/>
          </p:cNvCxnSpPr>
          <p:nvPr/>
        </p:nvCxnSpPr>
        <p:spPr bwMode="gray">
          <a:xfrm>
            <a:off x="3121776" y="2110196"/>
            <a:ext cx="439121" cy="2050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p:cNvCxnSpPr>
            <a:stCxn id="7" idx="3"/>
            <a:endCxn id="10" idx="2"/>
          </p:cNvCxnSpPr>
          <p:nvPr/>
        </p:nvCxnSpPr>
        <p:spPr bwMode="gray">
          <a:xfrm flipV="1">
            <a:off x="3121776" y="2506210"/>
            <a:ext cx="360040" cy="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接箭头连接符 12"/>
          <p:cNvCxnSpPr>
            <a:stCxn id="9" idx="3"/>
            <a:endCxn id="10" idx="3"/>
          </p:cNvCxnSpPr>
          <p:nvPr/>
        </p:nvCxnSpPr>
        <p:spPr bwMode="gray">
          <a:xfrm flipV="1">
            <a:off x="3121776" y="2697129"/>
            <a:ext cx="439121" cy="205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文本框 19"/>
          <p:cNvSpPr txBox="1"/>
          <p:nvPr/>
        </p:nvSpPr>
        <p:spPr bwMode="gray">
          <a:xfrm>
            <a:off x="3470191" y="2333377"/>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4057880" y="2500818"/>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27" name="表格 26"/>
          <p:cNvGraphicFramePr>
            <a:graphicFrameLocks noGrp="1"/>
          </p:cNvGraphicFramePr>
          <p:nvPr>
            <p:extLst>
              <p:ext uri="{D42A27DB-BD31-4B8C-83A1-F6EECF244321}">
                <p14:modId xmlns:p14="http://schemas.microsoft.com/office/powerpoint/2010/main" val="1307788768"/>
              </p:ext>
            </p:extLst>
          </p:nvPr>
        </p:nvGraphicFramePr>
        <p:xfrm>
          <a:off x="4453924" y="2020186"/>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1" name="右箭头 30"/>
          <p:cNvSpPr/>
          <p:nvPr/>
        </p:nvSpPr>
        <p:spPr bwMode="gray">
          <a:xfrm>
            <a:off x="5714064" y="2236210"/>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3" name="矩形 32"/>
          <p:cNvSpPr/>
          <p:nvPr/>
        </p:nvSpPr>
        <p:spPr bwMode="gray">
          <a:xfrm>
            <a:off x="6326132" y="2200206"/>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4" name="右箭头 33"/>
          <p:cNvSpPr/>
          <p:nvPr/>
        </p:nvSpPr>
        <p:spPr bwMode="gray">
          <a:xfrm>
            <a:off x="6866192" y="2992294"/>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35" name="表格 34"/>
          <p:cNvGraphicFramePr>
            <a:graphicFrameLocks noGrp="1"/>
          </p:cNvGraphicFramePr>
          <p:nvPr>
            <p:extLst>
              <p:ext uri="{D42A27DB-BD31-4B8C-83A1-F6EECF244321}">
                <p14:modId xmlns:p14="http://schemas.microsoft.com/office/powerpoint/2010/main" val="1242807530"/>
              </p:ext>
            </p:extLst>
          </p:nvPr>
        </p:nvGraphicFramePr>
        <p:xfrm>
          <a:off x="7478260" y="2812274"/>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6" name="椭圆 35"/>
          <p:cNvSpPr/>
          <p:nvPr/>
        </p:nvSpPr>
        <p:spPr bwMode="gray">
          <a:xfrm>
            <a:off x="9062436" y="2956290"/>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7" name="直接箭头连接符 36"/>
          <p:cNvCxnSpPr>
            <a:stCxn id="36" idx="7"/>
            <a:endCxn id="52" idx="1"/>
          </p:cNvCxnSpPr>
          <p:nvPr/>
        </p:nvCxnSpPr>
        <p:spPr bwMode="gray">
          <a:xfrm flipV="1">
            <a:off x="9523355" y="2830258"/>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8" name="直接箭头连接符 37"/>
          <p:cNvCxnSpPr>
            <a:endCxn id="36" idx="2"/>
          </p:cNvCxnSpPr>
          <p:nvPr/>
        </p:nvCxnSpPr>
        <p:spPr bwMode="gray">
          <a:xfrm flipV="1">
            <a:off x="8702396" y="3226290"/>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9" name="直接箭头连接符 38"/>
          <p:cNvCxnSpPr>
            <a:stCxn id="36" idx="5"/>
            <a:endCxn id="54" idx="1"/>
          </p:cNvCxnSpPr>
          <p:nvPr/>
        </p:nvCxnSpPr>
        <p:spPr bwMode="gray">
          <a:xfrm>
            <a:off x="9523355" y="3417209"/>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41" name="直接箭头连接符 40"/>
          <p:cNvCxnSpPr>
            <a:stCxn id="36" idx="6"/>
            <a:endCxn id="53" idx="1"/>
          </p:cNvCxnSpPr>
          <p:nvPr/>
        </p:nvCxnSpPr>
        <p:spPr bwMode="gray">
          <a:xfrm>
            <a:off x="9602436" y="3226290"/>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52" name="矩形 51"/>
          <p:cNvSpPr/>
          <p:nvPr/>
        </p:nvSpPr>
        <p:spPr bwMode="gray">
          <a:xfrm>
            <a:off x="9962536" y="2668240"/>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53" name="矩形 52"/>
          <p:cNvSpPr/>
          <p:nvPr/>
        </p:nvSpPr>
        <p:spPr bwMode="gray">
          <a:xfrm>
            <a:off x="9962536" y="306429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54" name="矩形 53"/>
          <p:cNvSpPr/>
          <p:nvPr/>
        </p:nvSpPr>
        <p:spPr bwMode="gray">
          <a:xfrm>
            <a:off x="9962536" y="3460328"/>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58" name="文本框 57"/>
          <p:cNvSpPr txBox="1"/>
          <p:nvPr/>
        </p:nvSpPr>
        <p:spPr bwMode="gray">
          <a:xfrm>
            <a:off x="9050811" y="302829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60" name="直接连接符 59"/>
          <p:cNvCxnSpPr/>
          <p:nvPr/>
        </p:nvCxnSpPr>
        <p:spPr bwMode="gray">
          <a:xfrm>
            <a:off x="6326132" y="2200206"/>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62" name="直接连接符 61"/>
          <p:cNvCxnSpPr/>
          <p:nvPr/>
        </p:nvCxnSpPr>
        <p:spPr bwMode="gray">
          <a:xfrm flipH="1">
            <a:off x="6326132" y="2200206"/>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65" name="文本框 64"/>
          <p:cNvSpPr txBox="1"/>
          <p:nvPr/>
        </p:nvSpPr>
        <p:spPr bwMode="gray">
          <a:xfrm>
            <a:off x="6038100" y="1829321"/>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cxnSp>
        <p:nvCxnSpPr>
          <p:cNvPr id="66" name="直接连接符 65"/>
          <p:cNvCxnSpPr/>
          <p:nvPr/>
        </p:nvCxnSpPr>
        <p:spPr bwMode="gray">
          <a:xfrm>
            <a:off x="6542156" y="1552080"/>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69" name="文本框 68"/>
          <p:cNvSpPr txBox="1"/>
          <p:nvPr/>
        </p:nvSpPr>
        <p:spPr bwMode="gray">
          <a:xfrm>
            <a:off x="3373804" y="1480072"/>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上行方向</a:t>
            </a:r>
          </a:p>
        </p:txBody>
      </p:sp>
      <p:sp>
        <p:nvSpPr>
          <p:cNvPr id="71" name="下箭头 70"/>
          <p:cNvSpPr/>
          <p:nvPr/>
        </p:nvSpPr>
        <p:spPr bwMode="gray">
          <a:xfrm>
            <a:off x="2473704" y="3513634"/>
            <a:ext cx="28803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2" name="文本框 71"/>
          <p:cNvSpPr txBox="1"/>
          <p:nvPr/>
        </p:nvSpPr>
        <p:spPr bwMode="gray">
          <a:xfrm>
            <a:off x="2005652" y="4540412"/>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不同的报文</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使用不同的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en-US" altLang="zh-CN" sz="1400" dirty="0">
                <a:latin typeface="Huawei Sans" panose="020C0503030203020204" pitchFamily="34" charset="0"/>
                <a:ea typeface="方正兰亭黑简体" panose="02000000000000000000" pitchFamily="2" charset="-122"/>
              </a:rPr>
              <a:t>QoS</a:t>
            </a:r>
            <a:r>
              <a:rPr lang="zh-CN" altLang="en-US" sz="1400" dirty="0">
                <a:latin typeface="Huawei Sans" panose="020C0503030203020204" pitchFamily="34" charset="0"/>
                <a:ea typeface="方正兰亭黑简体" panose="02000000000000000000" pitchFamily="2" charset="-122"/>
              </a:rPr>
              <a:t>优先级</a:t>
            </a:r>
          </a:p>
        </p:txBody>
      </p:sp>
      <p:sp>
        <p:nvSpPr>
          <p:cNvPr id="79" name="矩形 78"/>
          <p:cNvSpPr/>
          <p:nvPr/>
        </p:nvSpPr>
        <p:spPr bwMode="gray">
          <a:xfrm>
            <a:off x="1969648" y="4216376"/>
            <a:ext cx="13320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报文头优先级</a:t>
            </a:r>
          </a:p>
        </p:txBody>
      </p:sp>
      <p:sp>
        <p:nvSpPr>
          <p:cNvPr id="90" name="矩形 89"/>
          <p:cNvSpPr/>
          <p:nvPr/>
        </p:nvSpPr>
        <p:spPr bwMode="gray">
          <a:xfrm>
            <a:off x="961536" y="1948178"/>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91" name="矩形 90"/>
          <p:cNvSpPr/>
          <p:nvPr/>
        </p:nvSpPr>
        <p:spPr bwMode="gray">
          <a:xfrm>
            <a:off x="961536" y="234424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92" name="矩形 91"/>
          <p:cNvSpPr/>
          <p:nvPr/>
        </p:nvSpPr>
        <p:spPr bwMode="gray">
          <a:xfrm>
            <a:off x="961536" y="2740266"/>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93" name="矩形 92"/>
          <p:cNvSpPr/>
          <p:nvPr/>
        </p:nvSpPr>
        <p:spPr bwMode="gray">
          <a:xfrm>
            <a:off x="1537600" y="1480072"/>
            <a:ext cx="108012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简单流分类</a:t>
            </a:r>
          </a:p>
        </p:txBody>
      </p:sp>
      <p:sp>
        <p:nvSpPr>
          <p:cNvPr id="94" name="矩形 93"/>
          <p:cNvSpPr/>
          <p:nvPr/>
        </p:nvSpPr>
        <p:spPr bwMode="gray">
          <a:xfrm>
            <a:off x="2113664" y="5584528"/>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外部优先级</a:t>
            </a:r>
          </a:p>
        </p:txBody>
      </p:sp>
      <p:sp>
        <p:nvSpPr>
          <p:cNvPr id="96" name="文本框 95"/>
          <p:cNvSpPr txBox="1"/>
          <p:nvPr/>
        </p:nvSpPr>
        <p:spPr bwMode="gray">
          <a:xfrm>
            <a:off x="8414364" y="148007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graphicFrame>
        <p:nvGraphicFramePr>
          <p:cNvPr id="49" name="表格 48"/>
          <p:cNvGraphicFramePr>
            <a:graphicFrameLocks noGrp="1"/>
          </p:cNvGraphicFramePr>
          <p:nvPr>
            <p:extLst>
              <p:ext uri="{D42A27DB-BD31-4B8C-83A1-F6EECF244321}">
                <p14:modId xmlns:p14="http://schemas.microsoft.com/office/powerpoint/2010/main" val="608644281"/>
              </p:ext>
            </p:extLst>
          </p:nvPr>
        </p:nvGraphicFramePr>
        <p:xfrm>
          <a:off x="3877850" y="4540412"/>
          <a:ext cx="7344826" cy="396044"/>
        </p:xfrm>
        <a:graphic>
          <a:graphicData uri="http://schemas.openxmlformats.org/drawingml/2006/table">
            <a:tbl>
              <a:tblPr firstRow="1" bandRow="1">
                <a:tableStyleId>{5940675A-B579-460E-94D1-54222C63F5DA}</a:tableStyleId>
              </a:tblPr>
              <a:tblGrid>
                <a:gridCol w="1224136">
                  <a:extLst>
                    <a:ext uri="{9D8B030D-6E8A-4147-A177-3AD203B41FA5}">
                      <a16:colId xmlns:a16="http://schemas.microsoft.com/office/drawing/2014/main" val="20000"/>
                    </a:ext>
                  </a:extLst>
                </a:gridCol>
                <a:gridCol w="1262390">
                  <a:extLst>
                    <a:ext uri="{9D8B030D-6E8A-4147-A177-3AD203B41FA5}">
                      <a16:colId xmlns:a16="http://schemas.microsoft.com/office/drawing/2014/main" val="20001"/>
                    </a:ext>
                  </a:extLst>
                </a:gridCol>
                <a:gridCol w="1473740">
                  <a:extLst>
                    <a:ext uri="{9D8B030D-6E8A-4147-A177-3AD203B41FA5}">
                      <a16:colId xmlns:a16="http://schemas.microsoft.com/office/drawing/2014/main" val="20002"/>
                    </a:ext>
                  </a:extLst>
                </a:gridCol>
                <a:gridCol w="1431235">
                  <a:extLst>
                    <a:ext uri="{9D8B030D-6E8A-4147-A177-3AD203B41FA5}">
                      <a16:colId xmlns:a16="http://schemas.microsoft.com/office/drawing/2014/main" val="20003"/>
                    </a:ext>
                  </a:extLst>
                </a:gridCol>
                <a:gridCol w="1035212">
                  <a:extLst>
                    <a:ext uri="{9D8B030D-6E8A-4147-A177-3AD203B41FA5}">
                      <a16:colId xmlns:a16="http://schemas.microsoft.com/office/drawing/2014/main" val="20004"/>
                    </a:ext>
                  </a:extLst>
                </a:gridCol>
                <a:gridCol w="918113">
                  <a:extLst>
                    <a:ext uri="{9D8B030D-6E8A-4147-A177-3AD203B41FA5}">
                      <a16:colId xmlns:a16="http://schemas.microsoft.com/office/drawing/2014/main" val="20005"/>
                    </a:ext>
                  </a:extLst>
                </a:gridCol>
              </a:tblGrid>
              <a:tr h="396044">
                <a:tc>
                  <a:txBody>
                    <a:bodyPr/>
                    <a:lstStyle/>
                    <a:p>
                      <a:pPr algn="ctr"/>
                      <a:r>
                        <a:rPr lang="en-US" altLang="zh-CN" sz="1600" b="0" dirty="0" err="1"/>
                        <a:t>Dest</a:t>
                      </a:r>
                      <a:r>
                        <a:rPr lang="en-US" altLang="zh-CN" sz="1600" b="0" dirty="0"/>
                        <a:t> add</a:t>
                      </a:r>
                      <a:endParaRPr lang="zh-CN" altLang="en-US" sz="16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600" b="0" dirty="0"/>
                        <a:t>Sour add</a:t>
                      </a:r>
                      <a:endParaRPr lang="zh-CN" altLang="en-US" sz="16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600" b="1" dirty="0">
                          <a:solidFill>
                            <a:schemeClr val="bg1"/>
                          </a:solidFill>
                        </a:rPr>
                        <a:t>802.1Q</a:t>
                      </a:r>
                      <a:r>
                        <a:rPr lang="zh-CN" altLang="en-US" sz="1600" b="1" dirty="0">
                          <a:solidFill>
                            <a:schemeClr val="bg1"/>
                          </a:solidFill>
                        </a:rPr>
                        <a:t>（</a:t>
                      </a:r>
                      <a:r>
                        <a:rPr lang="en-US" altLang="zh-CN" sz="1600" b="1" dirty="0">
                          <a:solidFill>
                            <a:schemeClr val="bg1"/>
                          </a:solidFill>
                        </a:rPr>
                        <a:t>PRI</a:t>
                      </a:r>
                      <a:r>
                        <a:rPr lang="zh-CN" altLang="en-US" sz="1600" b="1" dirty="0">
                          <a:solidFill>
                            <a:schemeClr val="bg1"/>
                          </a:solidFill>
                        </a:rPr>
                        <a:t>）</a:t>
                      </a:r>
                      <a:endParaRPr lang="en-US" altLang="zh-CN" sz="16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600" b="0" dirty="0"/>
                        <a:t>Length/Type</a:t>
                      </a:r>
                      <a:endParaRPr lang="zh-CN" altLang="en-US" sz="16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600" b="0" dirty="0"/>
                        <a:t>Data</a:t>
                      </a:r>
                      <a:endParaRPr lang="zh-CN" altLang="en-US" sz="16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600" b="0" dirty="0"/>
                        <a:t>FCS</a:t>
                      </a:r>
                      <a:endParaRPr lang="zh-CN" altLang="en-US" sz="16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50" name="表格 49"/>
          <p:cNvGraphicFramePr>
            <a:graphicFrameLocks noGrp="1"/>
          </p:cNvGraphicFramePr>
          <p:nvPr>
            <p:extLst>
              <p:ext uri="{D42A27DB-BD31-4B8C-83A1-F6EECF244321}">
                <p14:modId xmlns:p14="http://schemas.microsoft.com/office/powerpoint/2010/main" val="614181661"/>
              </p:ext>
            </p:extLst>
          </p:nvPr>
        </p:nvGraphicFramePr>
        <p:xfrm>
          <a:off x="5426030" y="5332500"/>
          <a:ext cx="4788524" cy="304800"/>
        </p:xfrm>
        <a:graphic>
          <a:graphicData uri="http://schemas.openxmlformats.org/drawingml/2006/table">
            <a:tbl>
              <a:tblPr firstRow="1" bandRow="1">
                <a:tableStyleId>{5940675A-B579-460E-94D1-54222C63F5DA}</a:tableStyleId>
              </a:tblPr>
              <a:tblGrid>
                <a:gridCol w="1197131">
                  <a:extLst>
                    <a:ext uri="{9D8B030D-6E8A-4147-A177-3AD203B41FA5}">
                      <a16:colId xmlns:a16="http://schemas.microsoft.com/office/drawing/2014/main" val="20000"/>
                    </a:ext>
                  </a:extLst>
                </a:gridCol>
                <a:gridCol w="1197131">
                  <a:extLst>
                    <a:ext uri="{9D8B030D-6E8A-4147-A177-3AD203B41FA5}">
                      <a16:colId xmlns:a16="http://schemas.microsoft.com/office/drawing/2014/main" val="20001"/>
                    </a:ext>
                  </a:extLst>
                </a:gridCol>
                <a:gridCol w="1197131">
                  <a:extLst>
                    <a:ext uri="{9D8B030D-6E8A-4147-A177-3AD203B41FA5}">
                      <a16:colId xmlns:a16="http://schemas.microsoft.com/office/drawing/2014/main" val="20002"/>
                    </a:ext>
                  </a:extLst>
                </a:gridCol>
                <a:gridCol w="1197131">
                  <a:extLst>
                    <a:ext uri="{9D8B030D-6E8A-4147-A177-3AD203B41FA5}">
                      <a16:colId xmlns:a16="http://schemas.microsoft.com/office/drawing/2014/main" val="20003"/>
                    </a:ext>
                  </a:extLst>
                </a:gridCol>
              </a:tblGrid>
              <a:tr h="271306">
                <a:tc>
                  <a:txBody>
                    <a:bodyPr/>
                    <a:lstStyle/>
                    <a:p>
                      <a:pPr algn="ctr"/>
                      <a:r>
                        <a:rPr lang="en-US" altLang="zh-CN" sz="1400" dirty="0"/>
                        <a:t>TPID</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b="0" dirty="0">
                          <a:solidFill>
                            <a:schemeClr val="bg1"/>
                          </a:solidFill>
                        </a:rPr>
                        <a:t>PRI</a:t>
                      </a:r>
                      <a:r>
                        <a:rPr lang="zh-CN" altLang="en-US" sz="1400" b="0" baseline="0" dirty="0">
                          <a:solidFill>
                            <a:schemeClr val="bg1"/>
                          </a:solidFill>
                        </a:rPr>
                        <a:t>（</a:t>
                      </a:r>
                      <a:r>
                        <a:rPr lang="en-US" altLang="zh-CN" sz="1400" b="0" dirty="0">
                          <a:solidFill>
                            <a:schemeClr val="bg1"/>
                          </a:solidFill>
                        </a:rPr>
                        <a:t>3 bit</a:t>
                      </a:r>
                      <a:r>
                        <a:rPr lang="zh-CN" altLang="en-US" sz="1400" b="0" dirty="0">
                          <a:solidFill>
                            <a:schemeClr val="bg1"/>
                          </a:solidFill>
                        </a:rPr>
                        <a: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CFI</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dirty="0"/>
                        <a:t>VLAN ID</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cxnSp>
        <p:nvCxnSpPr>
          <p:cNvPr id="4" name="直接连接符 3"/>
          <p:cNvCxnSpPr/>
          <p:nvPr/>
        </p:nvCxnSpPr>
        <p:spPr bwMode="gray">
          <a:xfrm flipH="1">
            <a:off x="5426032" y="4936456"/>
            <a:ext cx="936104" cy="396044"/>
          </a:xfrm>
          <a:prstGeom prst="line">
            <a:avLst/>
          </a:prstGeom>
          <a:solidFill>
            <a:schemeClr val="accent1"/>
          </a:solidFill>
          <a:ln w="12700" cap="flat" cmpd="sng" algn="ctr">
            <a:solidFill>
              <a:srgbClr val="56C4D2"/>
            </a:solidFill>
            <a:prstDash val="solid"/>
            <a:round/>
            <a:headEnd type="none" w="med" len="med"/>
            <a:tailEnd type="none" w="med" len="med"/>
          </a:ln>
          <a:effectLst/>
        </p:spPr>
      </p:cxnSp>
      <p:cxnSp>
        <p:nvCxnSpPr>
          <p:cNvPr id="55" name="直接连接符 54"/>
          <p:cNvCxnSpPr>
            <a:cxnSpLocks/>
          </p:cNvCxnSpPr>
          <p:nvPr/>
        </p:nvCxnSpPr>
        <p:spPr bwMode="gray">
          <a:xfrm>
            <a:off x="7828177" y="4936456"/>
            <a:ext cx="2350383" cy="396044"/>
          </a:xfrm>
          <a:prstGeom prst="line">
            <a:avLst/>
          </a:prstGeom>
          <a:solidFill>
            <a:schemeClr val="accent1"/>
          </a:solidFill>
          <a:ln w="12700" cap="flat" cmpd="sng" algn="ctr">
            <a:solidFill>
              <a:srgbClr val="56C4D2"/>
            </a:solidFill>
            <a:prstDash val="solid"/>
            <a:round/>
            <a:headEnd type="none" w="med" len="med"/>
            <a:tailEnd type="none" w="med" len="med"/>
          </a:ln>
          <a:effectLst/>
        </p:spPr>
      </p:cxnSp>
      <p:sp>
        <p:nvSpPr>
          <p:cNvPr id="61" name="矩形 5"/>
          <p:cNvSpPr/>
          <p:nvPr/>
        </p:nvSpPr>
        <p:spPr bwMode="gray">
          <a:xfrm>
            <a:off x="3337652" y="4216316"/>
            <a:ext cx="522795" cy="720140"/>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24" h="722116">
                <a:moveTo>
                  <a:pt x="5516" y="0"/>
                </a:moveTo>
                <a:lnTo>
                  <a:pt x="453105" y="349250"/>
                </a:lnTo>
                <a:cubicBezTo>
                  <a:pt x="457794" y="1121239"/>
                  <a:pt x="445933" y="-49873"/>
                  <a:pt x="450622" y="722116"/>
                </a:cubicBezTo>
                <a:lnTo>
                  <a:pt x="0" y="325559"/>
                </a:lnTo>
                <a:cubicBezTo>
                  <a:pt x="0" y="197989"/>
                  <a:pt x="5516" y="127570"/>
                  <a:pt x="5516" y="0"/>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64" name="文本框 63"/>
          <p:cNvSpPr txBox="1"/>
          <p:nvPr/>
        </p:nvSpPr>
        <p:spPr bwMode="gray">
          <a:xfrm>
            <a:off x="3805852" y="4108364"/>
            <a:ext cx="1181120"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VLAN</a:t>
            </a:r>
            <a:r>
              <a:rPr lang="zh-CN" altLang="en-US" sz="1600" b="1" dirty="0">
                <a:latin typeface="Huawei Sans" panose="020C0503030203020204" pitchFamily="34" charset="0"/>
                <a:ea typeface="方正兰亭黑简体" panose="02000000000000000000" pitchFamily="2" charset="-122"/>
              </a:rPr>
              <a:t>报文</a:t>
            </a:r>
          </a:p>
        </p:txBody>
      </p:sp>
      <p:sp>
        <p:nvSpPr>
          <p:cNvPr id="51" name="矩形 50"/>
          <p:cNvSpPr/>
          <p:nvPr/>
        </p:nvSpPr>
        <p:spPr bwMode="gray">
          <a:xfrm>
            <a:off x="6542156" y="5692540"/>
            <a:ext cx="1656184" cy="36004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取值范围</a:t>
            </a: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 0-7</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027457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bwMode="gray">
          <a:xfrm>
            <a:off x="1973676" y="4540412"/>
            <a:ext cx="1332000" cy="1008000"/>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59" name="矩形 58"/>
          <p:cNvSpPr/>
          <p:nvPr/>
        </p:nvSpPr>
        <p:spPr bwMode="gray">
          <a:xfrm>
            <a:off x="930154" y="1336056"/>
            <a:ext cx="2375670" cy="1906324"/>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外部优先级 </a:t>
            </a:r>
            <a:r>
              <a:rPr lang="en-US" altLang="zh-CN" dirty="0"/>
              <a:t>- MPLS</a:t>
            </a:r>
            <a:r>
              <a:rPr lang="zh-CN" altLang="en-US" dirty="0"/>
              <a:t>报文</a:t>
            </a:r>
          </a:p>
        </p:txBody>
      </p:sp>
      <p:sp>
        <p:nvSpPr>
          <p:cNvPr id="10" name="椭圆 9"/>
          <p:cNvSpPr/>
          <p:nvPr/>
        </p:nvSpPr>
        <p:spPr bwMode="gray">
          <a:xfrm>
            <a:off x="3485844" y="2236210"/>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 name="直接箭头连接符 10"/>
          <p:cNvCxnSpPr>
            <a:endCxn id="10" idx="1"/>
          </p:cNvCxnSpPr>
          <p:nvPr/>
        </p:nvCxnSpPr>
        <p:spPr bwMode="gray">
          <a:xfrm>
            <a:off x="3125804" y="2110196"/>
            <a:ext cx="439121" cy="2050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p:cNvCxnSpPr>
            <a:endCxn id="10" idx="2"/>
          </p:cNvCxnSpPr>
          <p:nvPr/>
        </p:nvCxnSpPr>
        <p:spPr bwMode="gray">
          <a:xfrm flipV="1">
            <a:off x="3125804" y="2506210"/>
            <a:ext cx="360040" cy="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接箭头连接符 12"/>
          <p:cNvCxnSpPr>
            <a:endCxn id="10" idx="3"/>
          </p:cNvCxnSpPr>
          <p:nvPr/>
        </p:nvCxnSpPr>
        <p:spPr bwMode="gray">
          <a:xfrm flipV="1">
            <a:off x="3125804" y="2697129"/>
            <a:ext cx="439121" cy="205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文本框 19"/>
          <p:cNvSpPr txBox="1"/>
          <p:nvPr/>
        </p:nvSpPr>
        <p:spPr bwMode="gray">
          <a:xfrm>
            <a:off x="3474219" y="2333377"/>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4061908" y="2500818"/>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27" name="表格 26"/>
          <p:cNvGraphicFramePr>
            <a:graphicFrameLocks noGrp="1"/>
          </p:cNvGraphicFramePr>
          <p:nvPr>
            <p:extLst>
              <p:ext uri="{D42A27DB-BD31-4B8C-83A1-F6EECF244321}">
                <p14:modId xmlns:p14="http://schemas.microsoft.com/office/powerpoint/2010/main" val="3373692987"/>
              </p:ext>
            </p:extLst>
          </p:nvPr>
        </p:nvGraphicFramePr>
        <p:xfrm>
          <a:off x="4457952" y="2020186"/>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1" name="右箭头 30"/>
          <p:cNvSpPr/>
          <p:nvPr/>
        </p:nvSpPr>
        <p:spPr bwMode="gray">
          <a:xfrm>
            <a:off x="5718092" y="2236210"/>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3" name="矩形 32"/>
          <p:cNvSpPr/>
          <p:nvPr/>
        </p:nvSpPr>
        <p:spPr bwMode="gray">
          <a:xfrm>
            <a:off x="6330160" y="2200206"/>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4" name="右箭头 33"/>
          <p:cNvSpPr/>
          <p:nvPr/>
        </p:nvSpPr>
        <p:spPr bwMode="gray">
          <a:xfrm>
            <a:off x="6870220" y="2992294"/>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35" name="表格 34"/>
          <p:cNvGraphicFramePr>
            <a:graphicFrameLocks noGrp="1"/>
          </p:cNvGraphicFramePr>
          <p:nvPr>
            <p:extLst>
              <p:ext uri="{D42A27DB-BD31-4B8C-83A1-F6EECF244321}">
                <p14:modId xmlns:p14="http://schemas.microsoft.com/office/powerpoint/2010/main" val="638817818"/>
              </p:ext>
            </p:extLst>
          </p:nvPr>
        </p:nvGraphicFramePr>
        <p:xfrm>
          <a:off x="7482288" y="2812274"/>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6" name="椭圆 35"/>
          <p:cNvSpPr/>
          <p:nvPr/>
        </p:nvSpPr>
        <p:spPr bwMode="gray">
          <a:xfrm>
            <a:off x="9066464" y="2956290"/>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7" name="直接箭头连接符 36"/>
          <p:cNvCxnSpPr>
            <a:stCxn id="36" idx="7"/>
          </p:cNvCxnSpPr>
          <p:nvPr/>
        </p:nvCxnSpPr>
        <p:spPr bwMode="gray">
          <a:xfrm flipV="1">
            <a:off x="9527383" y="2830258"/>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8" name="直接箭头连接符 37"/>
          <p:cNvCxnSpPr>
            <a:endCxn id="36" idx="2"/>
          </p:cNvCxnSpPr>
          <p:nvPr/>
        </p:nvCxnSpPr>
        <p:spPr bwMode="gray">
          <a:xfrm flipV="1">
            <a:off x="8706424" y="3226290"/>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9" name="直接箭头连接符 38"/>
          <p:cNvCxnSpPr>
            <a:stCxn id="36" idx="5"/>
          </p:cNvCxnSpPr>
          <p:nvPr/>
        </p:nvCxnSpPr>
        <p:spPr bwMode="gray">
          <a:xfrm>
            <a:off x="9527383" y="3417209"/>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41" name="直接箭头连接符 40"/>
          <p:cNvCxnSpPr>
            <a:stCxn id="36" idx="6"/>
          </p:cNvCxnSpPr>
          <p:nvPr/>
        </p:nvCxnSpPr>
        <p:spPr bwMode="gray">
          <a:xfrm>
            <a:off x="9606464" y="3226290"/>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58" name="文本框 57"/>
          <p:cNvSpPr txBox="1"/>
          <p:nvPr/>
        </p:nvSpPr>
        <p:spPr bwMode="gray">
          <a:xfrm>
            <a:off x="9054839" y="302829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60" name="直接连接符 59"/>
          <p:cNvCxnSpPr/>
          <p:nvPr/>
        </p:nvCxnSpPr>
        <p:spPr bwMode="gray">
          <a:xfrm>
            <a:off x="6330160" y="2200206"/>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62" name="直接连接符 61"/>
          <p:cNvCxnSpPr/>
          <p:nvPr/>
        </p:nvCxnSpPr>
        <p:spPr bwMode="gray">
          <a:xfrm flipH="1">
            <a:off x="6330160" y="2200206"/>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65" name="文本框 64"/>
          <p:cNvSpPr txBox="1"/>
          <p:nvPr/>
        </p:nvSpPr>
        <p:spPr bwMode="gray">
          <a:xfrm>
            <a:off x="6042128" y="1829321"/>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cxnSp>
        <p:nvCxnSpPr>
          <p:cNvPr id="66" name="直接连接符 65"/>
          <p:cNvCxnSpPr/>
          <p:nvPr/>
        </p:nvCxnSpPr>
        <p:spPr bwMode="gray">
          <a:xfrm>
            <a:off x="6546184" y="1552080"/>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69" name="文本框 68"/>
          <p:cNvSpPr txBox="1"/>
          <p:nvPr/>
        </p:nvSpPr>
        <p:spPr bwMode="gray">
          <a:xfrm>
            <a:off x="3377832" y="1480072"/>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上行方向</a:t>
            </a:r>
          </a:p>
        </p:txBody>
      </p:sp>
      <p:sp>
        <p:nvSpPr>
          <p:cNvPr id="71" name="下箭头 70"/>
          <p:cNvSpPr/>
          <p:nvPr/>
        </p:nvSpPr>
        <p:spPr bwMode="gray">
          <a:xfrm>
            <a:off x="2477732" y="3513634"/>
            <a:ext cx="28803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2" name="文本框 71"/>
          <p:cNvSpPr txBox="1"/>
          <p:nvPr/>
        </p:nvSpPr>
        <p:spPr bwMode="gray">
          <a:xfrm>
            <a:off x="2009680" y="4540412"/>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不同的报文</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使用不同的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en-US" altLang="zh-CN" sz="1400" dirty="0">
                <a:latin typeface="Huawei Sans" panose="020C0503030203020204" pitchFamily="34" charset="0"/>
                <a:ea typeface="方正兰亭黑简体" panose="02000000000000000000" pitchFamily="2" charset="-122"/>
              </a:rPr>
              <a:t>QoS</a:t>
            </a:r>
            <a:r>
              <a:rPr lang="zh-CN" altLang="en-US" sz="1400" dirty="0">
                <a:latin typeface="Huawei Sans" panose="020C0503030203020204" pitchFamily="34" charset="0"/>
                <a:ea typeface="方正兰亭黑简体" panose="02000000000000000000" pitchFamily="2" charset="-122"/>
              </a:rPr>
              <a:t>优先级</a:t>
            </a:r>
          </a:p>
        </p:txBody>
      </p:sp>
      <p:sp>
        <p:nvSpPr>
          <p:cNvPr id="79" name="矩形 78"/>
          <p:cNvSpPr/>
          <p:nvPr/>
        </p:nvSpPr>
        <p:spPr bwMode="gray">
          <a:xfrm>
            <a:off x="1973676" y="4216376"/>
            <a:ext cx="13320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报文头优先级</a:t>
            </a:r>
          </a:p>
        </p:txBody>
      </p:sp>
      <p:sp>
        <p:nvSpPr>
          <p:cNvPr id="93" name="矩形 92"/>
          <p:cNvSpPr/>
          <p:nvPr/>
        </p:nvSpPr>
        <p:spPr bwMode="gray">
          <a:xfrm>
            <a:off x="1541628" y="1480072"/>
            <a:ext cx="108012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简单流分类</a:t>
            </a:r>
          </a:p>
        </p:txBody>
      </p:sp>
      <p:sp>
        <p:nvSpPr>
          <p:cNvPr id="94" name="矩形 93"/>
          <p:cNvSpPr/>
          <p:nvPr/>
        </p:nvSpPr>
        <p:spPr bwMode="gray">
          <a:xfrm>
            <a:off x="2117692" y="5584528"/>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外部优先级</a:t>
            </a:r>
          </a:p>
        </p:txBody>
      </p:sp>
      <p:sp>
        <p:nvSpPr>
          <p:cNvPr id="96" name="文本框 95"/>
          <p:cNvSpPr txBox="1"/>
          <p:nvPr/>
        </p:nvSpPr>
        <p:spPr bwMode="gray">
          <a:xfrm>
            <a:off x="8418392" y="148007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cxnSp>
        <p:nvCxnSpPr>
          <p:cNvPr id="4" name="直接连接符 3"/>
          <p:cNvCxnSpPr/>
          <p:nvPr/>
        </p:nvCxnSpPr>
        <p:spPr bwMode="gray">
          <a:xfrm flipH="1">
            <a:off x="5430060" y="4955692"/>
            <a:ext cx="288032" cy="376808"/>
          </a:xfrm>
          <a:prstGeom prst="line">
            <a:avLst/>
          </a:prstGeom>
          <a:solidFill>
            <a:schemeClr val="accent1"/>
          </a:solidFill>
          <a:ln w="12700" cap="flat" cmpd="sng" algn="ctr">
            <a:solidFill>
              <a:srgbClr val="56C4D2"/>
            </a:solidFill>
            <a:prstDash val="solid"/>
            <a:round/>
            <a:headEnd type="none" w="med" len="med"/>
            <a:tailEnd type="none" w="med" len="med"/>
          </a:ln>
          <a:effectLst/>
        </p:spPr>
      </p:cxnSp>
      <p:cxnSp>
        <p:nvCxnSpPr>
          <p:cNvPr id="55" name="直接连接符 54"/>
          <p:cNvCxnSpPr>
            <a:stCxn id="51" idx="2"/>
          </p:cNvCxnSpPr>
          <p:nvPr/>
        </p:nvCxnSpPr>
        <p:spPr bwMode="gray">
          <a:xfrm>
            <a:off x="7596434" y="4955692"/>
            <a:ext cx="2370130" cy="376808"/>
          </a:xfrm>
          <a:prstGeom prst="line">
            <a:avLst/>
          </a:prstGeom>
          <a:solidFill>
            <a:schemeClr val="accent1"/>
          </a:solidFill>
          <a:ln w="12700" cap="flat" cmpd="sng" algn="ctr">
            <a:solidFill>
              <a:srgbClr val="56C4D2"/>
            </a:solidFill>
            <a:prstDash val="solid"/>
            <a:round/>
            <a:headEnd type="none" w="med" len="med"/>
            <a:tailEnd type="none" w="med" len="med"/>
          </a:ln>
          <a:effectLst/>
        </p:spPr>
      </p:cxnSp>
      <p:sp>
        <p:nvSpPr>
          <p:cNvPr id="64" name="文本框 63"/>
          <p:cNvSpPr txBox="1"/>
          <p:nvPr/>
        </p:nvSpPr>
        <p:spPr bwMode="gray">
          <a:xfrm>
            <a:off x="3779647" y="4108364"/>
            <a:ext cx="116957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MPLS</a:t>
            </a:r>
            <a:r>
              <a:rPr lang="zh-CN" altLang="en-US" sz="1600" b="1" dirty="0">
                <a:latin typeface="Huawei Sans" panose="020C0503030203020204" pitchFamily="34" charset="0"/>
                <a:ea typeface="方正兰亭黑简体" panose="02000000000000000000" pitchFamily="2" charset="-122"/>
              </a:rPr>
              <a:t>报文</a:t>
            </a:r>
          </a:p>
        </p:txBody>
      </p:sp>
      <p:graphicFrame>
        <p:nvGraphicFramePr>
          <p:cNvPr id="51" name="表格 50"/>
          <p:cNvGraphicFramePr>
            <a:graphicFrameLocks noGrp="1"/>
          </p:cNvGraphicFramePr>
          <p:nvPr>
            <p:extLst>
              <p:ext uri="{D42A27DB-BD31-4B8C-83A1-F6EECF244321}">
                <p14:modId xmlns:p14="http://schemas.microsoft.com/office/powerpoint/2010/main" val="3029301566"/>
              </p:ext>
            </p:extLst>
          </p:nvPr>
        </p:nvGraphicFramePr>
        <p:xfrm>
          <a:off x="3881888" y="4559648"/>
          <a:ext cx="7429092" cy="396044"/>
        </p:xfrm>
        <a:graphic>
          <a:graphicData uri="http://schemas.openxmlformats.org/drawingml/2006/table">
            <a:tbl>
              <a:tblPr firstRow="1" bandRow="1">
                <a:tableStyleId>{5940675A-B579-460E-94D1-54222C63F5DA}</a:tableStyleId>
              </a:tblPr>
              <a:tblGrid>
                <a:gridCol w="1828699">
                  <a:extLst>
                    <a:ext uri="{9D8B030D-6E8A-4147-A177-3AD203B41FA5}">
                      <a16:colId xmlns:a16="http://schemas.microsoft.com/office/drawing/2014/main" val="20000"/>
                    </a:ext>
                  </a:extLst>
                </a:gridCol>
                <a:gridCol w="1885846">
                  <a:extLst>
                    <a:ext uri="{9D8B030D-6E8A-4147-A177-3AD203B41FA5}">
                      <a16:colId xmlns:a16="http://schemas.microsoft.com/office/drawing/2014/main" val="20001"/>
                    </a:ext>
                  </a:extLst>
                </a:gridCol>
                <a:gridCol w="1828699">
                  <a:extLst>
                    <a:ext uri="{9D8B030D-6E8A-4147-A177-3AD203B41FA5}">
                      <a16:colId xmlns:a16="http://schemas.microsoft.com/office/drawing/2014/main" val="20002"/>
                    </a:ext>
                  </a:extLst>
                </a:gridCol>
                <a:gridCol w="1885848">
                  <a:extLst>
                    <a:ext uri="{9D8B030D-6E8A-4147-A177-3AD203B41FA5}">
                      <a16:colId xmlns:a16="http://schemas.microsoft.com/office/drawing/2014/main" val="20003"/>
                    </a:ext>
                  </a:extLst>
                </a:gridCol>
              </a:tblGrid>
              <a:tr h="396044">
                <a:tc>
                  <a:txBody>
                    <a:bodyPr/>
                    <a:lstStyle/>
                    <a:p>
                      <a:pPr marL="0" algn="ctr" defTabSz="914400" rtl="0" eaLnBrk="1" latinLnBrk="0" hangingPunct="1"/>
                      <a:r>
                        <a:rPr lang="en-US" altLang="zh-CN" sz="1500" b="0" kern="1200" dirty="0">
                          <a:solidFill>
                            <a:schemeClr val="tx1"/>
                          </a:solidFill>
                          <a:latin typeface="+mn-lt"/>
                          <a:ea typeface="+mn-ea"/>
                          <a:cs typeface="+mn-cs"/>
                        </a:rPr>
                        <a:t>Link layer header</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500" b="1" dirty="0">
                          <a:solidFill>
                            <a:schemeClr val="bg1"/>
                          </a:solidFill>
                        </a:rPr>
                        <a:t>Label</a:t>
                      </a:r>
                      <a:r>
                        <a:rPr lang="zh-CN" altLang="en-US" sz="1500" b="1" dirty="0">
                          <a:solidFill>
                            <a:schemeClr val="bg1"/>
                          </a:solidFill>
                        </a:rPr>
                        <a:t>（</a:t>
                      </a:r>
                      <a:r>
                        <a:rPr lang="en-US" altLang="zh-CN" sz="1500" b="1" dirty="0">
                          <a:solidFill>
                            <a:schemeClr val="bg1"/>
                          </a:solidFill>
                        </a:rPr>
                        <a:t>EXP</a:t>
                      </a:r>
                      <a:r>
                        <a:rPr lang="zh-CN" altLang="en-US" sz="1500" b="1" dirty="0">
                          <a:solidFill>
                            <a:schemeClr val="bg1"/>
                          </a:solidFill>
                        </a:rPr>
                        <a: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500" b="0" dirty="0"/>
                        <a:t>Layer 3 header</a:t>
                      </a:r>
                      <a:endParaRPr lang="zh-CN" altLang="en-US" sz="15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500" b="0" dirty="0"/>
                        <a:t>Layer 3 payload</a:t>
                      </a:r>
                      <a:endParaRPr lang="zh-CN" altLang="en-US" sz="15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63" name="矩形 62"/>
          <p:cNvSpPr/>
          <p:nvPr/>
        </p:nvSpPr>
        <p:spPr bwMode="gray">
          <a:xfrm>
            <a:off x="2045684" y="1948178"/>
            <a:ext cx="1080120" cy="324036"/>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802.1P</a:t>
            </a:r>
            <a:endParaRPr lang="zh-CN" altLang="en-US" sz="1400" b="1" dirty="0">
              <a:latin typeface="Huawei Sans" panose="020C0503030203020204" pitchFamily="34" charset="0"/>
              <a:ea typeface="方正兰亭黑简体" panose="02000000000000000000" pitchFamily="2" charset="-122"/>
            </a:endParaRPr>
          </a:p>
        </p:txBody>
      </p:sp>
      <p:sp>
        <p:nvSpPr>
          <p:cNvPr id="68" name="矩形 67"/>
          <p:cNvSpPr/>
          <p:nvPr/>
        </p:nvSpPr>
        <p:spPr bwMode="gray">
          <a:xfrm>
            <a:off x="2045684" y="2344240"/>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MPLS </a:t>
            </a:r>
            <a:r>
              <a:rPr lang="en-US" altLang="zh-CN" sz="1400" b="1" dirty="0" err="1">
                <a:latin typeface="Huawei Sans" panose="020C0503030203020204" pitchFamily="34" charset="0"/>
                <a:ea typeface="方正兰亭黑简体" panose="02000000000000000000" pitchFamily="2" charset="-122"/>
              </a:rPr>
              <a:t>Exp</a:t>
            </a:r>
            <a:endParaRPr lang="zh-CN" altLang="en-US" sz="1400" b="1" dirty="0">
              <a:latin typeface="Huawei Sans" panose="020C0503030203020204" pitchFamily="34" charset="0"/>
              <a:ea typeface="方正兰亭黑简体" panose="02000000000000000000" pitchFamily="2" charset="-122"/>
            </a:endParaRPr>
          </a:p>
        </p:txBody>
      </p:sp>
      <p:sp>
        <p:nvSpPr>
          <p:cNvPr id="70" name="矩形 69"/>
          <p:cNvSpPr/>
          <p:nvPr/>
        </p:nvSpPr>
        <p:spPr bwMode="gray">
          <a:xfrm>
            <a:off x="2045684" y="2740266"/>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DSCP</a:t>
            </a:r>
            <a:endParaRPr lang="zh-CN" altLang="en-US" sz="1400" b="1" dirty="0">
              <a:latin typeface="Huawei Sans" panose="020C0503030203020204" pitchFamily="34" charset="0"/>
              <a:ea typeface="方正兰亭黑简体" panose="02000000000000000000" pitchFamily="2" charset="-122"/>
            </a:endParaRPr>
          </a:p>
        </p:txBody>
      </p:sp>
      <p:sp>
        <p:nvSpPr>
          <p:cNvPr id="74" name="矩形 73"/>
          <p:cNvSpPr/>
          <p:nvPr/>
        </p:nvSpPr>
        <p:spPr bwMode="gray">
          <a:xfrm>
            <a:off x="965564" y="1948178"/>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75" name="矩形 74"/>
          <p:cNvSpPr/>
          <p:nvPr/>
        </p:nvSpPr>
        <p:spPr bwMode="gray">
          <a:xfrm>
            <a:off x="965564" y="234424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76" name="矩形 75"/>
          <p:cNvSpPr/>
          <p:nvPr/>
        </p:nvSpPr>
        <p:spPr bwMode="gray">
          <a:xfrm>
            <a:off x="965564" y="2740266"/>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77" name="矩形 76"/>
          <p:cNvSpPr/>
          <p:nvPr/>
        </p:nvSpPr>
        <p:spPr bwMode="gray">
          <a:xfrm>
            <a:off x="9966564" y="2668240"/>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78" name="矩形 77"/>
          <p:cNvSpPr/>
          <p:nvPr/>
        </p:nvSpPr>
        <p:spPr bwMode="gray">
          <a:xfrm>
            <a:off x="9966564" y="306429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80" name="矩形 79"/>
          <p:cNvSpPr/>
          <p:nvPr/>
        </p:nvSpPr>
        <p:spPr bwMode="gray">
          <a:xfrm>
            <a:off x="9966564" y="3460328"/>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graphicFrame>
        <p:nvGraphicFramePr>
          <p:cNvPr id="50" name="表格 49"/>
          <p:cNvGraphicFramePr>
            <a:graphicFrameLocks noGrp="1"/>
          </p:cNvGraphicFramePr>
          <p:nvPr>
            <p:extLst>
              <p:ext uri="{D42A27DB-BD31-4B8C-83A1-F6EECF244321}">
                <p14:modId xmlns:p14="http://schemas.microsoft.com/office/powerpoint/2010/main" val="176535255"/>
              </p:ext>
            </p:extLst>
          </p:nvPr>
        </p:nvGraphicFramePr>
        <p:xfrm>
          <a:off x="5430060" y="5332500"/>
          <a:ext cx="4536504" cy="304800"/>
        </p:xfrm>
        <a:graphic>
          <a:graphicData uri="http://schemas.openxmlformats.org/drawingml/2006/table">
            <a:tbl>
              <a:tblPr firstRow="1" bandRow="1">
                <a:tableStyleId>{5940675A-B579-460E-94D1-54222C63F5DA}</a:tableStyleId>
              </a:tblPr>
              <a:tblGrid>
                <a:gridCol w="1476164">
                  <a:extLst>
                    <a:ext uri="{9D8B030D-6E8A-4147-A177-3AD203B41FA5}">
                      <a16:colId xmlns:a16="http://schemas.microsoft.com/office/drawing/2014/main" val="20000"/>
                    </a:ext>
                  </a:extLst>
                </a:gridCol>
                <a:gridCol w="1331303">
                  <a:extLst>
                    <a:ext uri="{9D8B030D-6E8A-4147-A177-3AD203B41FA5}">
                      <a16:colId xmlns:a16="http://schemas.microsoft.com/office/drawing/2014/main" val="20001"/>
                    </a:ext>
                  </a:extLst>
                </a:gridCol>
                <a:gridCol w="422562">
                  <a:extLst>
                    <a:ext uri="{9D8B030D-6E8A-4147-A177-3AD203B41FA5}">
                      <a16:colId xmlns:a16="http://schemas.microsoft.com/office/drawing/2014/main" val="20002"/>
                    </a:ext>
                  </a:extLst>
                </a:gridCol>
                <a:gridCol w="1306475">
                  <a:extLst>
                    <a:ext uri="{9D8B030D-6E8A-4147-A177-3AD203B41FA5}">
                      <a16:colId xmlns:a16="http://schemas.microsoft.com/office/drawing/2014/main" val="20003"/>
                    </a:ext>
                  </a:extLst>
                </a:gridCol>
              </a:tblGrid>
              <a:tr h="271306">
                <a:tc>
                  <a:txBody>
                    <a:bodyPr/>
                    <a:lstStyle/>
                    <a:p>
                      <a:pPr marL="0" algn="ctr" defTabSz="914400" rtl="0" eaLnBrk="1" latinLnBrk="0" hangingPunct="1"/>
                      <a:r>
                        <a:rPr lang="en-US" altLang="zh-CN" sz="1400" b="0" kern="1200" dirty="0">
                          <a:solidFill>
                            <a:schemeClr val="tx1"/>
                          </a:solidFill>
                          <a:latin typeface="+mn-lt"/>
                          <a:ea typeface="+mn-ea"/>
                          <a:cs typeface="+mn-cs"/>
                        </a:rPr>
                        <a:t>Label</a:t>
                      </a:r>
                      <a:endParaRPr lang="zh-CN" altLang="en-US" sz="14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dirty="0">
                          <a:solidFill>
                            <a:schemeClr val="bg1"/>
                          </a:solidFill>
                        </a:rPr>
                        <a:t>EXP</a:t>
                      </a:r>
                      <a:r>
                        <a:rPr lang="zh-CN" altLang="en-US" sz="1400" baseline="0" dirty="0">
                          <a:solidFill>
                            <a:schemeClr val="bg1"/>
                          </a:solidFill>
                        </a:rPr>
                        <a:t>（</a:t>
                      </a:r>
                      <a:r>
                        <a:rPr lang="en-US" altLang="zh-CN" sz="1400" dirty="0">
                          <a:solidFill>
                            <a:schemeClr val="bg1"/>
                          </a:solidFill>
                        </a:rPr>
                        <a:t>3 bit</a:t>
                      </a:r>
                      <a:r>
                        <a:rPr lang="zh-CN" altLang="en-US" sz="1400" dirty="0">
                          <a:solidFill>
                            <a:schemeClr val="bg1"/>
                          </a:solidFill>
                        </a:rPr>
                        <a: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S</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dirty="0"/>
                        <a:t>TTL</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52" name="矩形 51"/>
          <p:cNvSpPr/>
          <p:nvPr/>
        </p:nvSpPr>
        <p:spPr bwMode="gray">
          <a:xfrm>
            <a:off x="6834216" y="5692540"/>
            <a:ext cx="1656184" cy="36004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取值范围</a:t>
            </a: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 0-7</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3" name="矩形 5"/>
          <p:cNvSpPr/>
          <p:nvPr/>
        </p:nvSpPr>
        <p:spPr bwMode="gray">
          <a:xfrm>
            <a:off x="3337652" y="4216316"/>
            <a:ext cx="522795" cy="720140"/>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24" h="722116">
                <a:moveTo>
                  <a:pt x="5516" y="0"/>
                </a:moveTo>
                <a:lnTo>
                  <a:pt x="453105" y="349250"/>
                </a:lnTo>
                <a:cubicBezTo>
                  <a:pt x="457794" y="1121239"/>
                  <a:pt x="445933" y="-49873"/>
                  <a:pt x="450622" y="722116"/>
                </a:cubicBezTo>
                <a:lnTo>
                  <a:pt x="0" y="325559"/>
                </a:lnTo>
                <a:cubicBezTo>
                  <a:pt x="0" y="197989"/>
                  <a:pt x="5516" y="127570"/>
                  <a:pt x="5516" y="0"/>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408546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矩形 72"/>
          <p:cNvSpPr/>
          <p:nvPr/>
        </p:nvSpPr>
        <p:spPr bwMode="gray">
          <a:xfrm>
            <a:off x="1873912" y="4542484"/>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76" name="矩形 75"/>
          <p:cNvSpPr/>
          <p:nvPr/>
        </p:nvSpPr>
        <p:spPr bwMode="gray">
          <a:xfrm>
            <a:off x="830390" y="1338128"/>
            <a:ext cx="2375670" cy="1906324"/>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外部优先级 </a:t>
            </a:r>
            <a:r>
              <a:rPr lang="en-US" altLang="zh-CN" dirty="0"/>
              <a:t>- IP</a:t>
            </a:r>
            <a:r>
              <a:rPr lang="zh-CN" altLang="en-US" dirty="0"/>
              <a:t>报文</a:t>
            </a:r>
          </a:p>
        </p:txBody>
      </p:sp>
      <p:sp>
        <p:nvSpPr>
          <p:cNvPr id="10" name="椭圆 9"/>
          <p:cNvSpPr/>
          <p:nvPr/>
        </p:nvSpPr>
        <p:spPr bwMode="gray">
          <a:xfrm>
            <a:off x="3386080" y="2238282"/>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 name="直接箭头连接符 10"/>
          <p:cNvCxnSpPr>
            <a:endCxn id="10" idx="1"/>
          </p:cNvCxnSpPr>
          <p:nvPr/>
        </p:nvCxnSpPr>
        <p:spPr bwMode="gray">
          <a:xfrm>
            <a:off x="3026040" y="2112268"/>
            <a:ext cx="439121" cy="2050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p:cNvCxnSpPr>
            <a:endCxn id="10" idx="2"/>
          </p:cNvCxnSpPr>
          <p:nvPr/>
        </p:nvCxnSpPr>
        <p:spPr bwMode="gray">
          <a:xfrm flipV="1">
            <a:off x="3026040" y="2508282"/>
            <a:ext cx="360040" cy="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直接箭头连接符 12"/>
          <p:cNvCxnSpPr>
            <a:endCxn id="10" idx="3"/>
          </p:cNvCxnSpPr>
          <p:nvPr/>
        </p:nvCxnSpPr>
        <p:spPr bwMode="gray">
          <a:xfrm flipV="1">
            <a:off x="3026040" y="2699201"/>
            <a:ext cx="439121" cy="205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文本框 19"/>
          <p:cNvSpPr txBox="1"/>
          <p:nvPr/>
        </p:nvSpPr>
        <p:spPr bwMode="gray">
          <a:xfrm>
            <a:off x="3374455" y="2335449"/>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3962144" y="2502890"/>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27" name="表格 26"/>
          <p:cNvGraphicFramePr>
            <a:graphicFrameLocks noGrp="1"/>
          </p:cNvGraphicFramePr>
          <p:nvPr>
            <p:extLst>
              <p:ext uri="{D42A27DB-BD31-4B8C-83A1-F6EECF244321}">
                <p14:modId xmlns:p14="http://schemas.microsoft.com/office/powerpoint/2010/main" val="3940343986"/>
              </p:ext>
            </p:extLst>
          </p:nvPr>
        </p:nvGraphicFramePr>
        <p:xfrm>
          <a:off x="4358188" y="2022258"/>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1" name="右箭头 30"/>
          <p:cNvSpPr/>
          <p:nvPr/>
        </p:nvSpPr>
        <p:spPr bwMode="gray">
          <a:xfrm>
            <a:off x="5618328" y="2238282"/>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3" name="矩形 32"/>
          <p:cNvSpPr/>
          <p:nvPr/>
        </p:nvSpPr>
        <p:spPr bwMode="gray">
          <a:xfrm>
            <a:off x="6230396" y="2202278"/>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4" name="右箭头 33"/>
          <p:cNvSpPr/>
          <p:nvPr/>
        </p:nvSpPr>
        <p:spPr bwMode="gray">
          <a:xfrm>
            <a:off x="6770456" y="2994366"/>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35" name="表格 34"/>
          <p:cNvGraphicFramePr>
            <a:graphicFrameLocks noGrp="1"/>
          </p:cNvGraphicFramePr>
          <p:nvPr>
            <p:extLst>
              <p:ext uri="{D42A27DB-BD31-4B8C-83A1-F6EECF244321}">
                <p14:modId xmlns:p14="http://schemas.microsoft.com/office/powerpoint/2010/main" val="2168475145"/>
              </p:ext>
            </p:extLst>
          </p:nvPr>
        </p:nvGraphicFramePr>
        <p:xfrm>
          <a:off x="7382524" y="2814346"/>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6" name="椭圆 35"/>
          <p:cNvSpPr/>
          <p:nvPr/>
        </p:nvSpPr>
        <p:spPr bwMode="gray">
          <a:xfrm>
            <a:off x="8966700" y="2958362"/>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7" name="直接箭头连接符 36"/>
          <p:cNvCxnSpPr>
            <a:stCxn id="36" idx="7"/>
          </p:cNvCxnSpPr>
          <p:nvPr/>
        </p:nvCxnSpPr>
        <p:spPr bwMode="gray">
          <a:xfrm flipV="1">
            <a:off x="9427619" y="2832330"/>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8" name="直接箭头连接符 37"/>
          <p:cNvCxnSpPr>
            <a:endCxn id="36" idx="2"/>
          </p:cNvCxnSpPr>
          <p:nvPr/>
        </p:nvCxnSpPr>
        <p:spPr bwMode="gray">
          <a:xfrm flipV="1">
            <a:off x="8606660" y="3228362"/>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39" name="直接箭头连接符 38"/>
          <p:cNvCxnSpPr>
            <a:stCxn id="36" idx="5"/>
          </p:cNvCxnSpPr>
          <p:nvPr/>
        </p:nvCxnSpPr>
        <p:spPr bwMode="gray">
          <a:xfrm>
            <a:off x="9427619" y="3419281"/>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41" name="直接箭头连接符 40"/>
          <p:cNvCxnSpPr>
            <a:stCxn id="36" idx="6"/>
          </p:cNvCxnSpPr>
          <p:nvPr/>
        </p:nvCxnSpPr>
        <p:spPr bwMode="gray">
          <a:xfrm>
            <a:off x="9506700" y="3228362"/>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58" name="文本框 57"/>
          <p:cNvSpPr txBox="1"/>
          <p:nvPr/>
        </p:nvSpPr>
        <p:spPr bwMode="gray">
          <a:xfrm>
            <a:off x="8955075" y="3030370"/>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60" name="直接连接符 59"/>
          <p:cNvCxnSpPr/>
          <p:nvPr/>
        </p:nvCxnSpPr>
        <p:spPr bwMode="gray">
          <a:xfrm>
            <a:off x="6230396" y="2202278"/>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62" name="直接连接符 61"/>
          <p:cNvCxnSpPr/>
          <p:nvPr/>
        </p:nvCxnSpPr>
        <p:spPr bwMode="gray">
          <a:xfrm flipH="1">
            <a:off x="6230396" y="2202278"/>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65" name="文本框 64"/>
          <p:cNvSpPr txBox="1"/>
          <p:nvPr/>
        </p:nvSpPr>
        <p:spPr bwMode="gray">
          <a:xfrm>
            <a:off x="5942364" y="1831393"/>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cxnSp>
        <p:nvCxnSpPr>
          <p:cNvPr id="66" name="直接连接符 65"/>
          <p:cNvCxnSpPr/>
          <p:nvPr/>
        </p:nvCxnSpPr>
        <p:spPr bwMode="gray">
          <a:xfrm>
            <a:off x="6446420" y="1554152"/>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69" name="文本框 68"/>
          <p:cNvSpPr txBox="1"/>
          <p:nvPr/>
        </p:nvSpPr>
        <p:spPr bwMode="gray">
          <a:xfrm>
            <a:off x="3278068" y="1482144"/>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上行方向</a:t>
            </a:r>
          </a:p>
        </p:txBody>
      </p:sp>
      <p:sp>
        <p:nvSpPr>
          <p:cNvPr id="71" name="下箭头 70"/>
          <p:cNvSpPr/>
          <p:nvPr/>
        </p:nvSpPr>
        <p:spPr bwMode="gray">
          <a:xfrm>
            <a:off x="2377968" y="3515706"/>
            <a:ext cx="28803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2" name="文本框 71"/>
          <p:cNvSpPr txBox="1"/>
          <p:nvPr/>
        </p:nvSpPr>
        <p:spPr bwMode="gray">
          <a:xfrm>
            <a:off x="1909916" y="4542484"/>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不同的报文</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使用不同的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en-US" altLang="zh-CN" sz="1400" dirty="0">
                <a:latin typeface="Huawei Sans" panose="020C0503030203020204" pitchFamily="34" charset="0"/>
                <a:ea typeface="方正兰亭黑简体" panose="02000000000000000000" pitchFamily="2" charset="-122"/>
              </a:rPr>
              <a:t>QoS</a:t>
            </a:r>
            <a:r>
              <a:rPr lang="zh-CN" altLang="en-US" sz="1400" dirty="0">
                <a:latin typeface="Huawei Sans" panose="020C0503030203020204" pitchFamily="34" charset="0"/>
                <a:ea typeface="方正兰亭黑简体" panose="02000000000000000000" pitchFamily="2" charset="-122"/>
              </a:rPr>
              <a:t>优先级</a:t>
            </a:r>
          </a:p>
        </p:txBody>
      </p:sp>
      <p:sp>
        <p:nvSpPr>
          <p:cNvPr id="79" name="矩形 78"/>
          <p:cNvSpPr/>
          <p:nvPr/>
        </p:nvSpPr>
        <p:spPr bwMode="gray">
          <a:xfrm>
            <a:off x="1873912" y="4218448"/>
            <a:ext cx="13320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报文头优先级</a:t>
            </a:r>
          </a:p>
        </p:txBody>
      </p:sp>
      <p:sp>
        <p:nvSpPr>
          <p:cNvPr id="93" name="矩形 92"/>
          <p:cNvSpPr/>
          <p:nvPr/>
        </p:nvSpPr>
        <p:spPr bwMode="gray">
          <a:xfrm>
            <a:off x="1441864" y="1482144"/>
            <a:ext cx="108012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b="1" dirty="0">
                <a:solidFill>
                  <a:schemeClr val="bg1"/>
                </a:solidFill>
                <a:latin typeface="Huawei Sans" panose="020C0503030203020204" pitchFamily="34" charset="0"/>
                <a:ea typeface="方正兰亭黑简体" panose="02000000000000000000" pitchFamily="2" charset="-122"/>
              </a:rPr>
              <a:t>简单流分类</a:t>
            </a:r>
          </a:p>
        </p:txBody>
      </p:sp>
      <p:sp>
        <p:nvSpPr>
          <p:cNvPr id="94" name="矩形 93"/>
          <p:cNvSpPr/>
          <p:nvPr/>
        </p:nvSpPr>
        <p:spPr bwMode="gray">
          <a:xfrm>
            <a:off x="2017928" y="5586600"/>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外部优先级</a:t>
            </a:r>
          </a:p>
        </p:txBody>
      </p:sp>
      <p:sp>
        <p:nvSpPr>
          <p:cNvPr id="96" name="文本框 95"/>
          <p:cNvSpPr txBox="1"/>
          <p:nvPr/>
        </p:nvSpPr>
        <p:spPr bwMode="gray">
          <a:xfrm>
            <a:off x="8318628" y="1482144"/>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graphicFrame>
        <p:nvGraphicFramePr>
          <p:cNvPr id="50" name="表格 49"/>
          <p:cNvGraphicFramePr>
            <a:graphicFrameLocks noGrp="1"/>
          </p:cNvGraphicFramePr>
          <p:nvPr>
            <p:extLst>
              <p:ext uri="{D42A27DB-BD31-4B8C-83A1-F6EECF244321}">
                <p14:modId xmlns:p14="http://schemas.microsoft.com/office/powerpoint/2010/main" val="3327457724"/>
              </p:ext>
            </p:extLst>
          </p:nvPr>
        </p:nvGraphicFramePr>
        <p:xfrm>
          <a:off x="4862245" y="5172554"/>
          <a:ext cx="4212464" cy="304800"/>
        </p:xfrm>
        <a:graphic>
          <a:graphicData uri="http://schemas.openxmlformats.org/drawingml/2006/table">
            <a:tbl>
              <a:tblPr firstRow="1" bandRow="1">
                <a:tableStyleId>{5940675A-B579-460E-94D1-54222C63F5DA}</a:tableStyleId>
              </a:tblPr>
              <a:tblGrid>
                <a:gridCol w="526558">
                  <a:extLst>
                    <a:ext uri="{9D8B030D-6E8A-4147-A177-3AD203B41FA5}">
                      <a16:colId xmlns:a16="http://schemas.microsoft.com/office/drawing/2014/main" val="20000"/>
                    </a:ext>
                  </a:extLst>
                </a:gridCol>
                <a:gridCol w="526558">
                  <a:extLst>
                    <a:ext uri="{9D8B030D-6E8A-4147-A177-3AD203B41FA5}">
                      <a16:colId xmlns:a16="http://schemas.microsoft.com/office/drawing/2014/main" val="20001"/>
                    </a:ext>
                  </a:extLst>
                </a:gridCol>
                <a:gridCol w="526558">
                  <a:extLst>
                    <a:ext uri="{9D8B030D-6E8A-4147-A177-3AD203B41FA5}">
                      <a16:colId xmlns:a16="http://schemas.microsoft.com/office/drawing/2014/main" val="20002"/>
                    </a:ext>
                  </a:extLst>
                </a:gridCol>
                <a:gridCol w="526558">
                  <a:extLst>
                    <a:ext uri="{9D8B030D-6E8A-4147-A177-3AD203B41FA5}">
                      <a16:colId xmlns:a16="http://schemas.microsoft.com/office/drawing/2014/main" val="20003"/>
                    </a:ext>
                  </a:extLst>
                </a:gridCol>
                <a:gridCol w="526558">
                  <a:extLst>
                    <a:ext uri="{9D8B030D-6E8A-4147-A177-3AD203B41FA5}">
                      <a16:colId xmlns:a16="http://schemas.microsoft.com/office/drawing/2014/main" val="20004"/>
                    </a:ext>
                  </a:extLst>
                </a:gridCol>
                <a:gridCol w="526558">
                  <a:extLst>
                    <a:ext uri="{9D8B030D-6E8A-4147-A177-3AD203B41FA5}">
                      <a16:colId xmlns:a16="http://schemas.microsoft.com/office/drawing/2014/main" val="20005"/>
                    </a:ext>
                  </a:extLst>
                </a:gridCol>
                <a:gridCol w="526558">
                  <a:extLst>
                    <a:ext uri="{9D8B030D-6E8A-4147-A177-3AD203B41FA5}">
                      <a16:colId xmlns:a16="http://schemas.microsoft.com/office/drawing/2014/main" val="20006"/>
                    </a:ext>
                  </a:extLst>
                </a:gridCol>
                <a:gridCol w="526558">
                  <a:extLst>
                    <a:ext uri="{9D8B030D-6E8A-4147-A177-3AD203B41FA5}">
                      <a16:colId xmlns:a16="http://schemas.microsoft.com/office/drawing/2014/main" val="20007"/>
                    </a:ext>
                  </a:extLst>
                </a:gridCol>
              </a:tblGrid>
              <a:tr h="271306">
                <a:tc>
                  <a:txBody>
                    <a:bodyPr/>
                    <a:lstStyle/>
                    <a:p>
                      <a:pPr algn="ctr"/>
                      <a:r>
                        <a:rPr lang="en-US" altLang="zh-CN" sz="1400" b="0" dirty="0">
                          <a:solidFill>
                            <a:schemeClr val="bg1"/>
                          </a:solidFill>
                        </a:rPr>
                        <a:t>7</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marL="0" algn="ctr" defTabSz="914034" rtl="0" eaLnBrk="1" latinLnBrk="0" hangingPunct="1"/>
                      <a:r>
                        <a:rPr lang="en-US" altLang="zh-CN" sz="1400" b="0" kern="1200" dirty="0">
                          <a:solidFill>
                            <a:schemeClr val="bg1"/>
                          </a:solidFill>
                          <a:latin typeface="+mn-lt"/>
                          <a:ea typeface="+mn-ea"/>
                          <a:cs typeface="+mn-cs"/>
                        </a:rPr>
                        <a:t>6</a:t>
                      </a:r>
                      <a:endParaRPr lang="zh-CN" altLang="en-US" sz="1400" b="0" kern="1200" dirty="0">
                        <a:solidFill>
                          <a:schemeClr val="bg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marL="0" algn="ctr" defTabSz="914034" rtl="0" eaLnBrk="1" latinLnBrk="0" hangingPunct="1"/>
                      <a:r>
                        <a:rPr lang="en-US" altLang="zh-CN" sz="1400" b="0" kern="1200" dirty="0">
                          <a:solidFill>
                            <a:schemeClr val="bg1"/>
                          </a:solidFill>
                          <a:latin typeface="+mn-lt"/>
                          <a:ea typeface="+mn-ea"/>
                          <a:cs typeface="+mn-cs"/>
                        </a:rPr>
                        <a:t>5</a:t>
                      </a:r>
                      <a:endParaRPr lang="zh-CN" altLang="en-US" sz="1400" b="0" kern="1200" dirty="0">
                        <a:solidFill>
                          <a:schemeClr val="bg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tx1"/>
                          </a:solidFill>
                        </a:rPr>
                        <a:t>4</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b="0" dirty="0">
                          <a:solidFill>
                            <a:schemeClr val="tx1"/>
                          </a:solidFill>
                        </a:rPr>
                        <a:t>3</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400" b="0" dirty="0">
                          <a:solidFill>
                            <a:schemeClr val="tx1"/>
                          </a:solidFill>
                        </a:rPr>
                        <a:t>2</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b="0" dirty="0">
                          <a:solidFill>
                            <a:schemeClr val="tx1"/>
                          </a:solidFill>
                        </a:rPr>
                        <a:t>0</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cxnSp>
        <p:nvCxnSpPr>
          <p:cNvPr id="4" name="直接连接符 3"/>
          <p:cNvCxnSpPr/>
          <p:nvPr/>
        </p:nvCxnSpPr>
        <p:spPr bwMode="gray">
          <a:xfrm flipH="1">
            <a:off x="4862244" y="4902524"/>
            <a:ext cx="504056" cy="252028"/>
          </a:xfrm>
          <a:prstGeom prst="line">
            <a:avLst/>
          </a:prstGeom>
          <a:solidFill>
            <a:schemeClr val="accent1"/>
          </a:solidFill>
          <a:ln w="12700" cap="flat" cmpd="sng" algn="ctr">
            <a:solidFill>
              <a:srgbClr val="56C4D2"/>
            </a:solidFill>
            <a:prstDash val="solid"/>
            <a:round/>
            <a:headEnd type="none" w="med" len="med"/>
            <a:tailEnd type="none" w="med" len="med"/>
          </a:ln>
          <a:effectLst/>
        </p:spPr>
      </p:cxnSp>
      <p:cxnSp>
        <p:nvCxnSpPr>
          <p:cNvPr id="55" name="直接连接符 54"/>
          <p:cNvCxnSpPr/>
          <p:nvPr/>
        </p:nvCxnSpPr>
        <p:spPr bwMode="gray">
          <a:xfrm>
            <a:off x="7166500" y="4902524"/>
            <a:ext cx="1908212" cy="252028"/>
          </a:xfrm>
          <a:prstGeom prst="line">
            <a:avLst/>
          </a:prstGeom>
          <a:solidFill>
            <a:schemeClr val="accent1"/>
          </a:solidFill>
          <a:ln w="12700" cap="flat" cmpd="sng" algn="ctr">
            <a:solidFill>
              <a:srgbClr val="56C4D2"/>
            </a:solidFill>
            <a:prstDash val="solid"/>
            <a:round/>
            <a:headEnd type="none" w="med" len="med"/>
            <a:tailEnd type="none" w="med" len="med"/>
          </a:ln>
          <a:effectLst/>
        </p:spPr>
      </p:cxnSp>
      <p:sp>
        <p:nvSpPr>
          <p:cNvPr id="64" name="文本框 63"/>
          <p:cNvSpPr txBox="1"/>
          <p:nvPr/>
        </p:nvSpPr>
        <p:spPr bwMode="gray">
          <a:xfrm>
            <a:off x="3674112" y="4110436"/>
            <a:ext cx="791270"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IP</a:t>
            </a:r>
            <a:r>
              <a:rPr lang="zh-CN" altLang="en-US" sz="1600" b="1" dirty="0">
                <a:latin typeface="Huawei Sans" panose="020C0503030203020204" pitchFamily="34" charset="0"/>
                <a:ea typeface="方正兰亭黑简体" panose="02000000000000000000" pitchFamily="2" charset="-122"/>
              </a:rPr>
              <a:t>报文</a:t>
            </a:r>
          </a:p>
        </p:txBody>
      </p:sp>
      <p:graphicFrame>
        <p:nvGraphicFramePr>
          <p:cNvPr id="48" name="表格 47"/>
          <p:cNvGraphicFramePr>
            <a:graphicFrameLocks noGrp="1"/>
          </p:cNvGraphicFramePr>
          <p:nvPr>
            <p:extLst>
              <p:ext uri="{D42A27DB-BD31-4B8C-83A1-F6EECF244321}">
                <p14:modId xmlns:p14="http://schemas.microsoft.com/office/powerpoint/2010/main" val="834365647"/>
              </p:ext>
            </p:extLst>
          </p:nvPr>
        </p:nvGraphicFramePr>
        <p:xfrm>
          <a:off x="3782122" y="4506480"/>
          <a:ext cx="7596845" cy="396044"/>
        </p:xfrm>
        <a:graphic>
          <a:graphicData uri="http://schemas.openxmlformats.org/drawingml/2006/table">
            <a:tbl>
              <a:tblPr firstRow="1" bandRow="1">
                <a:tableStyleId>{5940675A-B579-460E-94D1-54222C63F5DA}</a:tableStyleId>
              </a:tblPr>
              <a:tblGrid>
                <a:gridCol w="962983">
                  <a:extLst>
                    <a:ext uri="{9D8B030D-6E8A-4147-A177-3AD203B41FA5}">
                      <a16:colId xmlns:a16="http://schemas.microsoft.com/office/drawing/2014/main" val="20000"/>
                    </a:ext>
                  </a:extLst>
                </a:gridCol>
                <a:gridCol w="606321">
                  <a:extLst>
                    <a:ext uri="{9D8B030D-6E8A-4147-A177-3AD203B41FA5}">
                      <a16:colId xmlns:a16="http://schemas.microsoft.com/office/drawing/2014/main" val="20001"/>
                    </a:ext>
                  </a:extLst>
                </a:gridCol>
                <a:gridCol w="1807068">
                  <a:extLst>
                    <a:ext uri="{9D8B030D-6E8A-4147-A177-3AD203B41FA5}">
                      <a16:colId xmlns:a16="http://schemas.microsoft.com/office/drawing/2014/main" val="20002"/>
                    </a:ext>
                  </a:extLst>
                </a:gridCol>
                <a:gridCol w="422045">
                  <a:extLst>
                    <a:ext uri="{9D8B030D-6E8A-4147-A177-3AD203B41FA5}">
                      <a16:colId xmlns:a16="http://schemas.microsoft.com/office/drawing/2014/main" val="20003"/>
                    </a:ext>
                  </a:extLst>
                </a:gridCol>
                <a:gridCol w="997564">
                  <a:extLst>
                    <a:ext uri="{9D8B030D-6E8A-4147-A177-3AD203B41FA5}">
                      <a16:colId xmlns:a16="http://schemas.microsoft.com/office/drawing/2014/main" val="20004"/>
                    </a:ext>
                  </a:extLst>
                </a:gridCol>
                <a:gridCol w="537151">
                  <a:extLst>
                    <a:ext uri="{9D8B030D-6E8A-4147-A177-3AD203B41FA5}">
                      <a16:colId xmlns:a16="http://schemas.microsoft.com/office/drawing/2014/main" val="20005"/>
                    </a:ext>
                  </a:extLst>
                </a:gridCol>
                <a:gridCol w="690627">
                  <a:extLst>
                    <a:ext uri="{9D8B030D-6E8A-4147-A177-3AD203B41FA5}">
                      <a16:colId xmlns:a16="http://schemas.microsoft.com/office/drawing/2014/main" val="20006"/>
                    </a:ext>
                  </a:extLst>
                </a:gridCol>
                <a:gridCol w="824629">
                  <a:extLst>
                    <a:ext uri="{9D8B030D-6E8A-4147-A177-3AD203B41FA5}">
                      <a16:colId xmlns:a16="http://schemas.microsoft.com/office/drawing/2014/main" val="20007"/>
                    </a:ext>
                  </a:extLst>
                </a:gridCol>
                <a:gridCol w="748457">
                  <a:extLst>
                    <a:ext uri="{9D8B030D-6E8A-4147-A177-3AD203B41FA5}">
                      <a16:colId xmlns:a16="http://schemas.microsoft.com/office/drawing/2014/main" val="20008"/>
                    </a:ext>
                  </a:extLst>
                </a:gridCol>
              </a:tblGrid>
              <a:tr h="396044">
                <a:tc>
                  <a:txBody>
                    <a:bodyPr/>
                    <a:lstStyle/>
                    <a:p>
                      <a:pPr marL="0" algn="ctr" defTabSz="914400" rtl="0" eaLnBrk="1" latinLnBrk="0" hangingPunct="1"/>
                      <a:r>
                        <a:rPr lang="en-US" altLang="zh-CN" sz="1500" b="0" kern="1200" dirty="0">
                          <a:solidFill>
                            <a:schemeClr val="tx1"/>
                          </a:solidFill>
                          <a:latin typeface="+mn-lt"/>
                          <a:ea typeface="+mn-ea"/>
                          <a:cs typeface="+mn-cs"/>
                        </a:rPr>
                        <a:t>Version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Len</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1" kern="1200" dirty="0" err="1">
                          <a:solidFill>
                            <a:schemeClr val="bg1"/>
                          </a:solidFill>
                          <a:latin typeface="+mn-lt"/>
                          <a:ea typeface="+mn-ea"/>
                          <a:cs typeface="+mn-cs"/>
                        </a:rPr>
                        <a:t>ToS</a:t>
                      </a:r>
                      <a:r>
                        <a:rPr lang="zh-CN" altLang="en-US" sz="1500" b="1" kern="1200" dirty="0">
                          <a:solidFill>
                            <a:schemeClr val="bg1"/>
                          </a:solidFill>
                          <a:latin typeface="+mn-lt"/>
                          <a:ea typeface="+mn-ea"/>
                          <a:cs typeface="+mn-cs"/>
                        </a:rPr>
                        <a:t>（</a:t>
                      </a:r>
                      <a:r>
                        <a:rPr lang="en-US" altLang="zh-CN" sz="1500" b="1" kern="1200" dirty="0">
                          <a:solidFill>
                            <a:schemeClr val="bg1"/>
                          </a:solidFill>
                          <a:latin typeface="+mn-lt"/>
                          <a:ea typeface="+mn-ea"/>
                          <a:cs typeface="+mn-cs"/>
                        </a:rPr>
                        <a:t>IPP/DSCP</a:t>
                      </a:r>
                      <a:r>
                        <a:rPr lang="zh-CN" altLang="en-US" sz="1500" b="1" kern="1200" dirty="0">
                          <a:solidFill>
                            <a:schemeClr val="bg1"/>
                          </a:solidFill>
                          <a:latin typeface="+mn-lt"/>
                          <a:ea typeface="+mn-ea"/>
                          <a:cs typeface="+mn-cs"/>
                        </a:rPr>
                        <a:t>）</a:t>
                      </a:r>
                      <a:endParaRPr lang="en-US" altLang="zh-CN" sz="1500" b="1" kern="1200" dirty="0">
                        <a:solidFill>
                          <a:schemeClr val="bg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marL="0" algn="ctr" defTabSz="914400" rtl="0" eaLnBrk="1" latinLnBrk="0" hangingPunct="1"/>
                      <a:r>
                        <a:rPr lang="en-US" altLang="zh-CN" sz="1500" b="0" kern="1200" dirty="0">
                          <a:solidFill>
                            <a:schemeClr val="tx1"/>
                          </a:solidFill>
                          <a:latin typeface="+mn-lt"/>
                          <a:ea typeface="+mn-ea"/>
                          <a:cs typeface="+mn-cs"/>
                        </a:rPr>
                        <a:t>…</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Protocol</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FCS</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IP-SA</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IP-DA</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algn="ctr" defTabSz="914400" rtl="0" eaLnBrk="1" latinLnBrk="0" hangingPunct="1"/>
                      <a:r>
                        <a:rPr lang="en-US" altLang="zh-CN" sz="1500" b="0" kern="1200" dirty="0">
                          <a:solidFill>
                            <a:schemeClr val="tx1"/>
                          </a:solidFill>
                          <a:latin typeface="+mn-lt"/>
                          <a:ea typeface="+mn-ea"/>
                          <a:cs typeface="+mn-cs"/>
                        </a:rPr>
                        <a:t>Data</a:t>
                      </a:r>
                      <a:endParaRPr lang="zh-CN" altLang="en-US" sz="1500" b="0"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59" name="表格 58"/>
          <p:cNvGraphicFramePr>
            <a:graphicFrameLocks noGrp="1"/>
          </p:cNvGraphicFramePr>
          <p:nvPr>
            <p:extLst>
              <p:ext uri="{D42A27DB-BD31-4B8C-83A1-F6EECF244321}">
                <p14:modId xmlns:p14="http://schemas.microsoft.com/office/powerpoint/2010/main" val="1063792743"/>
              </p:ext>
            </p:extLst>
          </p:nvPr>
        </p:nvGraphicFramePr>
        <p:xfrm>
          <a:off x="4862245" y="5682036"/>
          <a:ext cx="4212464" cy="304800"/>
        </p:xfrm>
        <a:graphic>
          <a:graphicData uri="http://schemas.openxmlformats.org/drawingml/2006/table">
            <a:tbl>
              <a:tblPr firstRow="1" bandRow="1">
                <a:tableStyleId>{5940675A-B579-460E-94D1-54222C63F5DA}</a:tableStyleId>
              </a:tblPr>
              <a:tblGrid>
                <a:gridCol w="526558">
                  <a:extLst>
                    <a:ext uri="{9D8B030D-6E8A-4147-A177-3AD203B41FA5}">
                      <a16:colId xmlns:a16="http://schemas.microsoft.com/office/drawing/2014/main" val="20000"/>
                    </a:ext>
                  </a:extLst>
                </a:gridCol>
                <a:gridCol w="526558">
                  <a:extLst>
                    <a:ext uri="{9D8B030D-6E8A-4147-A177-3AD203B41FA5}">
                      <a16:colId xmlns:a16="http://schemas.microsoft.com/office/drawing/2014/main" val="20001"/>
                    </a:ext>
                  </a:extLst>
                </a:gridCol>
                <a:gridCol w="526558">
                  <a:extLst>
                    <a:ext uri="{9D8B030D-6E8A-4147-A177-3AD203B41FA5}">
                      <a16:colId xmlns:a16="http://schemas.microsoft.com/office/drawing/2014/main" val="20002"/>
                    </a:ext>
                  </a:extLst>
                </a:gridCol>
                <a:gridCol w="526558">
                  <a:extLst>
                    <a:ext uri="{9D8B030D-6E8A-4147-A177-3AD203B41FA5}">
                      <a16:colId xmlns:a16="http://schemas.microsoft.com/office/drawing/2014/main" val="20003"/>
                    </a:ext>
                  </a:extLst>
                </a:gridCol>
                <a:gridCol w="526558">
                  <a:extLst>
                    <a:ext uri="{9D8B030D-6E8A-4147-A177-3AD203B41FA5}">
                      <a16:colId xmlns:a16="http://schemas.microsoft.com/office/drawing/2014/main" val="20004"/>
                    </a:ext>
                  </a:extLst>
                </a:gridCol>
                <a:gridCol w="526558">
                  <a:extLst>
                    <a:ext uri="{9D8B030D-6E8A-4147-A177-3AD203B41FA5}">
                      <a16:colId xmlns:a16="http://schemas.microsoft.com/office/drawing/2014/main" val="20005"/>
                    </a:ext>
                  </a:extLst>
                </a:gridCol>
                <a:gridCol w="526558">
                  <a:extLst>
                    <a:ext uri="{9D8B030D-6E8A-4147-A177-3AD203B41FA5}">
                      <a16:colId xmlns:a16="http://schemas.microsoft.com/office/drawing/2014/main" val="20006"/>
                    </a:ext>
                  </a:extLst>
                </a:gridCol>
                <a:gridCol w="526558">
                  <a:extLst>
                    <a:ext uri="{9D8B030D-6E8A-4147-A177-3AD203B41FA5}">
                      <a16:colId xmlns:a16="http://schemas.microsoft.com/office/drawing/2014/main" val="20007"/>
                    </a:ext>
                  </a:extLst>
                </a:gridCol>
              </a:tblGrid>
              <a:tr h="271306">
                <a:tc>
                  <a:txBody>
                    <a:bodyPr/>
                    <a:lstStyle/>
                    <a:p>
                      <a:pPr algn="ctr"/>
                      <a:r>
                        <a:rPr lang="en-US" altLang="zh-CN" sz="1400" b="0" dirty="0">
                          <a:solidFill>
                            <a:schemeClr val="bg1"/>
                          </a:solidFill>
                        </a:rPr>
                        <a:t>7</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bg1"/>
                          </a:solidFill>
                        </a:rPr>
                        <a:t>6</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bg1"/>
                          </a:solidFill>
                        </a:rPr>
                        <a:t>5</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bg1"/>
                          </a:solidFill>
                        </a:rPr>
                        <a:t>4</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bg1"/>
                          </a:solidFill>
                        </a:rPr>
                        <a:t>3</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bg1"/>
                          </a:solidFill>
                        </a:rPr>
                        <a:t>2</a:t>
                      </a:r>
                      <a:endParaRPr lang="zh-CN" altLang="en-US" sz="1400" b="0"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altLang="zh-CN" sz="1400" b="0" dirty="0">
                          <a:solidFill>
                            <a:schemeClr val="tx1"/>
                          </a:solidFill>
                        </a:rPr>
                        <a:t>0</a:t>
                      </a:r>
                      <a:endParaRPr lang="zh-CN" altLang="en-US" sz="1400" b="0" dirty="0">
                        <a:solidFill>
                          <a:schemeClr val="tx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63" name="矩形 62"/>
          <p:cNvSpPr/>
          <p:nvPr/>
        </p:nvSpPr>
        <p:spPr bwMode="gray">
          <a:xfrm>
            <a:off x="3386080" y="5162936"/>
            <a:ext cx="1476164" cy="35165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IP-Precedence</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68" name="矩形 67"/>
          <p:cNvSpPr/>
          <p:nvPr/>
        </p:nvSpPr>
        <p:spPr bwMode="gray">
          <a:xfrm>
            <a:off x="3386080" y="5658608"/>
            <a:ext cx="1476164" cy="35165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DSCP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4" name="矩形 73"/>
          <p:cNvSpPr/>
          <p:nvPr/>
        </p:nvSpPr>
        <p:spPr bwMode="gray">
          <a:xfrm>
            <a:off x="9074712" y="5162936"/>
            <a:ext cx="1476164" cy="35165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取值范围</a:t>
            </a: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 0-7</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5" name="矩形 74"/>
          <p:cNvSpPr/>
          <p:nvPr/>
        </p:nvSpPr>
        <p:spPr bwMode="gray">
          <a:xfrm>
            <a:off x="9074712" y="5658608"/>
            <a:ext cx="1476164" cy="35165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取值范围</a:t>
            </a: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 0-63</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77" name="矩形 76"/>
          <p:cNvSpPr/>
          <p:nvPr/>
        </p:nvSpPr>
        <p:spPr bwMode="gray">
          <a:xfrm>
            <a:off x="1945920" y="1950250"/>
            <a:ext cx="1080120" cy="324036"/>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802.1P</a:t>
            </a:r>
            <a:endParaRPr lang="zh-CN" altLang="en-US" sz="1400" b="1" dirty="0">
              <a:latin typeface="Huawei Sans" panose="020C0503030203020204" pitchFamily="34" charset="0"/>
              <a:ea typeface="方正兰亭黑简体" panose="02000000000000000000" pitchFamily="2" charset="-122"/>
            </a:endParaRPr>
          </a:p>
        </p:txBody>
      </p:sp>
      <p:sp>
        <p:nvSpPr>
          <p:cNvPr id="78" name="矩形 77"/>
          <p:cNvSpPr/>
          <p:nvPr/>
        </p:nvSpPr>
        <p:spPr bwMode="gray">
          <a:xfrm>
            <a:off x="1945920" y="2346312"/>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MPLS </a:t>
            </a:r>
            <a:r>
              <a:rPr lang="en-US" altLang="zh-CN" sz="1400" b="1" dirty="0" err="1">
                <a:latin typeface="Huawei Sans" panose="020C0503030203020204" pitchFamily="34" charset="0"/>
                <a:ea typeface="方正兰亭黑简体" panose="02000000000000000000" pitchFamily="2" charset="-122"/>
              </a:rPr>
              <a:t>Exp</a:t>
            </a:r>
            <a:endParaRPr lang="zh-CN" altLang="en-US" sz="1400" b="1" dirty="0">
              <a:latin typeface="Huawei Sans" panose="020C0503030203020204" pitchFamily="34" charset="0"/>
              <a:ea typeface="方正兰亭黑简体" panose="02000000000000000000" pitchFamily="2" charset="-122"/>
            </a:endParaRPr>
          </a:p>
        </p:txBody>
      </p:sp>
      <p:sp>
        <p:nvSpPr>
          <p:cNvPr id="80" name="矩形 79"/>
          <p:cNvSpPr/>
          <p:nvPr/>
        </p:nvSpPr>
        <p:spPr bwMode="gray">
          <a:xfrm>
            <a:off x="1945920" y="2742338"/>
            <a:ext cx="1080120" cy="324000"/>
          </a:xfrm>
          <a:prstGeom prst="rect">
            <a:avLst/>
          </a:prstGeom>
          <a:solidFill>
            <a:srgbClr val="BEE9E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rPr>
              <a:t>DSCP</a:t>
            </a:r>
            <a:endParaRPr lang="zh-CN" altLang="en-US" sz="1400" b="1" dirty="0">
              <a:latin typeface="Huawei Sans" panose="020C0503030203020204" pitchFamily="34" charset="0"/>
              <a:ea typeface="方正兰亭黑简体" panose="02000000000000000000" pitchFamily="2" charset="-122"/>
            </a:endParaRPr>
          </a:p>
        </p:txBody>
      </p:sp>
      <p:sp>
        <p:nvSpPr>
          <p:cNvPr id="81" name="矩形 80"/>
          <p:cNvSpPr/>
          <p:nvPr/>
        </p:nvSpPr>
        <p:spPr bwMode="gray">
          <a:xfrm>
            <a:off x="865800" y="1950250"/>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82" name="矩形 81"/>
          <p:cNvSpPr/>
          <p:nvPr/>
        </p:nvSpPr>
        <p:spPr bwMode="gray">
          <a:xfrm>
            <a:off x="865800" y="2346312"/>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83" name="矩形 82"/>
          <p:cNvSpPr/>
          <p:nvPr/>
        </p:nvSpPr>
        <p:spPr bwMode="gray">
          <a:xfrm>
            <a:off x="865800" y="2742338"/>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报文</a:t>
            </a:r>
          </a:p>
        </p:txBody>
      </p:sp>
      <p:sp>
        <p:nvSpPr>
          <p:cNvPr id="84" name="矩形 83"/>
          <p:cNvSpPr/>
          <p:nvPr/>
        </p:nvSpPr>
        <p:spPr bwMode="gray">
          <a:xfrm>
            <a:off x="9866800" y="2670312"/>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85" name="矩形 84"/>
          <p:cNvSpPr/>
          <p:nvPr/>
        </p:nvSpPr>
        <p:spPr bwMode="gray">
          <a:xfrm>
            <a:off x="9866800" y="3066362"/>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86" name="矩形 85"/>
          <p:cNvSpPr/>
          <p:nvPr/>
        </p:nvSpPr>
        <p:spPr bwMode="gray">
          <a:xfrm>
            <a:off x="9866800" y="346240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54" name="矩形 5"/>
          <p:cNvSpPr/>
          <p:nvPr/>
        </p:nvSpPr>
        <p:spPr bwMode="gray">
          <a:xfrm>
            <a:off x="3241916" y="4164855"/>
            <a:ext cx="522795" cy="720140"/>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24" h="722116">
                <a:moveTo>
                  <a:pt x="5516" y="0"/>
                </a:moveTo>
                <a:lnTo>
                  <a:pt x="453105" y="349250"/>
                </a:lnTo>
                <a:cubicBezTo>
                  <a:pt x="457794" y="1121239"/>
                  <a:pt x="445933" y="-49873"/>
                  <a:pt x="450622" y="722116"/>
                </a:cubicBezTo>
                <a:lnTo>
                  <a:pt x="0" y="325559"/>
                </a:lnTo>
                <a:cubicBezTo>
                  <a:pt x="0" y="197989"/>
                  <a:pt x="5516" y="127570"/>
                  <a:pt x="5516" y="0"/>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214189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各外部优先级间的对应关系</a:t>
            </a:r>
          </a:p>
        </p:txBody>
      </p:sp>
      <p:graphicFrame>
        <p:nvGraphicFramePr>
          <p:cNvPr id="4" name="表格 3"/>
          <p:cNvGraphicFramePr>
            <a:graphicFrameLocks noGrp="1"/>
          </p:cNvGraphicFramePr>
          <p:nvPr>
            <p:extLst>
              <p:ext uri="{D42A27DB-BD31-4B8C-83A1-F6EECF244321}">
                <p14:modId xmlns:p14="http://schemas.microsoft.com/office/powerpoint/2010/main" val="3871026853"/>
              </p:ext>
            </p:extLst>
          </p:nvPr>
        </p:nvGraphicFramePr>
        <p:xfrm>
          <a:off x="1356734" y="2038654"/>
          <a:ext cx="9837046" cy="2846500"/>
        </p:xfrm>
        <a:graphic>
          <a:graphicData uri="http://schemas.openxmlformats.org/drawingml/2006/table">
            <a:tbl>
              <a:tblPr firstRow="1" bandRow="1">
                <a:tableStyleId>{616DA210-FB5B-4158-B5E0-FEB733F419BA}</a:tableStyleId>
              </a:tblPr>
              <a:tblGrid>
                <a:gridCol w="108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656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gridCol w="936000">
                  <a:extLst>
                    <a:ext uri="{9D8B030D-6E8A-4147-A177-3AD203B41FA5}">
                      <a16:colId xmlns:a16="http://schemas.microsoft.com/office/drawing/2014/main" val="20005"/>
                    </a:ext>
                  </a:extLst>
                </a:gridCol>
                <a:gridCol w="1048981">
                  <a:extLst>
                    <a:ext uri="{9D8B030D-6E8A-4147-A177-3AD203B41FA5}">
                      <a16:colId xmlns:a16="http://schemas.microsoft.com/office/drawing/2014/main" val="20006"/>
                    </a:ext>
                  </a:extLst>
                </a:gridCol>
                <a:gridCol w="1040505">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tblGrid>
              <a:tr h="408100">
                <a:tc>
                  <a:txBody>
                    <a:bodyPr/>
                    <a:lstStyle/>
                    <a:p>
                      <a:pPr algn="ctr"/>
                      <a:r>
                        <a:rPr lang="en-US" altLang="zh-CN" sz="1600" b="1" dirty="0">
                          <a:solidFill>
                            <a:schemeClr val="tx1"/>
                          </a:solidFill>
                          <a:latin typeface="Huawei Sans" panose="020C0503030203020204" pitchFamily="34" charset="0"/>
                          <a:ea typeface="方正兰亭黑简体" panose="02000000000000000000" pitchFamily="2" charset="-122"/>
                        </a:rPr>
                        <a:t>802.1P</a:t>
                      </a:r>
                      <a:endParaRPr lang="zh-CN" altLang="en-US" sz="1600" b="1" dirty="0">
                        <a:solidFill>
                          <a:schemeClr val="tx1"/>
                        </a:solidFill>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dirty="0">
                          <a:solidFill>
                            <a:schemeClr val="tx1"/>
                          </a:solidFill>
                          <a:latin typeface="Huawei Sans" panose="020C0503030203020204" pitchFamily="34" charset="0"/>
                          <a:ea typeface="方正兰亭黑简体" panose="02000000000000000000" pitchFamily="2" charset="-122"/>
                        </a:rPr>
                        <a:t>MPLS</a:t>
                      </a:r>
                      <a:r>
                        <a:rPr lang="en-US" altLang="zh-CN" sz="1600" b="1" baseline="0" dirty="0">
                          <a:solidFill>
                            <a:schemeClr val="tx1"/>
                          </a:solidFill>
                          <a:latin typeface="Huawei Sans" panose="020C0503030203020204" pitchFamily="34" charset="0"/>
                          <a:ea typeface="方正兰亭黑简体" panose="02000000000000000000" pitchFamily="2" charset="-122"/>
                        </a:rPr>
                        <a:t> </a:t>
                      </a:r>
                      <a:r>
                        <a:rPr lang="en-US" altLang="zh-CN" sz="1600" b="1" baseline="0" dirty="0" err="1">
                          <a:solidFill>
                            <a:schemeClr val="tx1"/>
                          </a:solidFill>
                          <a:latin typeface="Huawei Sans" panose="020C0503030203020204" pitchFamily="34" charset="0"/>
                          <a:ea typeface="方正兰亭黑简体" panose="02000000000000000000" pitchFamily="2" charset="-122"/>
                        </a:rPr>
                        <a:t>Exp</a:t>
                      </a:r>
                      <a:endParaRPr lang="zh-CN" altLang="en-US" sz="1600" b="1"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dirty="0">
                          <a:solidFill>
                            <a:schemeClr val="tx1"/>
                          </a:solidFill>
                          <a:latin typeface="Huawei Sans" panose="020C0503030203020204" pitchFamily="34" charset="0"/>
                          <a:ea typeface="方正兰亭黑简体" panose="02000000000000000000" pitchFamily="2" charset="-122"/>
                        </a:rPr>
                        <a:t>IP-Precedence</a:t>
                      </a:r>
                      <a:endParaRPr lang="zh-CN" altLang="en-US" sz="1600" b="1"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rPr>
                        <a:t>DSCP</a:t>
                      </a:r>
                      <a:endParaRPr lang="zh-CN" altLang="en-US" sz="1600" b="1"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latin typeface="Huawei Sans" panose="020C0503030203020204" pitchFamily="34" charset="0"/>
                          <a:ea typeface="方正兰亭黑简体" panose="02000000000000000000" pitchFamily="2" charset="-122"/>
                        </a:rPr>
                        <a:t>DSCP Name</a:t>
                      </a:r>
                      <a:endParaRPr lang="zh-CN" altLang="en-US" sz="1600" b="1"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90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7</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7</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7</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56-63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CN" sz="1400" dirty="0">
                          <a:latin typeface="Huawei Sans" panose="020C0503030203020204" pitchFamily="34" charset="0"/>
                          <a:ea typeface="方正兰亭黑简体" panose="02000000000000000000" pitchFamily="2" charset="-122"/>
                        </a:rPr>
                        <a:t>CS</a:t>
                      </a:r>
                      <a:endParaRPr lang="zh-CN" altLang="en-US" sz="1400" b="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CS7</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56</a:t>
                      </a:r>
                      <a:r>
                        <a:rPr lang="zh-CN" altLang="en-US" sz="140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6</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6</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6</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48-55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CS6</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48</a:t>
                      </a:r>
                      <a:r>
                        <a:rPr lang="zh-CN" altLang="en-US" sz="140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5</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5</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5</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40-47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EF</a:t>
                      </a:r>
                      <a:endParaRPr lang="en-US" altLang="zh-CN" sz="1400" b="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EF</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46</a:t>
                      </a:r>
                      <a:r>
                        <a:rPr lang="zh-CN" altLang="en-US" sz="140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4</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4</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4</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32-39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r>
                        <a:rPr lang="en-US" altLang="zh-CN" sz="1400" b="0" dirty="0">
                          <a:latin typeface="Huawei Sans" panose="020C0503030203020204" pitchFamily="34" charset="0"/>
                          <a:ea typeface="方正兰亭黑简体" panose="02000000000000000000" pitchFamily="2" charset="-122"/>
                        </a:rPr>
                        <a:t>AF</a:t>
                      </a:r>
                      <a:endParaRPr lang="zh-CN" altLang="en-US" sz="1400" b="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AF4</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dirty="0">
                          <a:latin typeface="Huawei Sans" panose="020C0503030203020204" pitchFamily="34" charset="0"/>
                          <a:ea typeface="方正兰亭黑简体" panose="02000000000000000000" pitchFamily="2" charset="-122"/>
                        </a:rPr>
                        <a:t>AF41</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34</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AF42</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36</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AF43</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38</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3</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3</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3</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24-31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AF3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AF31</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26</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AF32</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28</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AF33</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30</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16-23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r>
                        <a:rPr lang="en-US" altLang="zh-CN" sz="1400" kern="1200" dirty="0">
                          <a:latin typeface="Huawei Sans" panose="020C0503030203020204" pitchFamily="34" charset="0"/>
                          <a:ea typeface="方正兰亭黑简体" panose="02000000000000000000" pitchFamily="2" charset="-122"/>
                        </a:rPr>
                        <a:t>AF2</a:t>
                      </a:r>
                      <a:endParaRPr lang="zh-CN" altLang="en-US" sz="1400" kern="1200" dirty="0">
                        <a:solidFill>
                          <a:schemeClr val="tx1"/>
                        </a:solidFill>
                        <a:latin typeface="Huawei Sans" panose="020C0503030203020204" pitchFamily="34" charset="0"/>
                        <a:ea typeface="方正兰亭黑简体" panose="02000000000000000000" pitchFamily="2"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AF21</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18</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AF22</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20</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AF23</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22</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1</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1</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1</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latin typeface="Huawei Sans" panose="020C0503030203020204" pitchFamily="34" charset="0"/>
                          <a:ea typeface="方正兰亭黑简体" panose="02000000000000000000" pitchFamily="2" charset="-122"/>
                        </a:rPr>
                        <a:t>AF1</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AF11</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10</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AF12</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12</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b="0" dirty="0">
                          <a:latin typeface="Huawei Sans" panose="020C0503030203020204" pitchFamily="34" charset="0"/>
                          <a:ea typeface="方正兰亭黑简体" panose="02000000000000000000" pitchFamily="2" charset="-122"/>
                        </a:rPr>
                        <a:t>AF13</a:t>
                      </a:r>
                      <a:r>
                        <a:rPr lang="zh-CN" altLang="en-US" sz="1400" b="0" dirty="0">
                          <a:latin typeface="Huawei Sans" panose="020C0503030203020204" pitchFamily="34" charset="0"/>
                          <a:ea typeface="方正兰亭黑简体" panose="02000000000000000000" pitchFamily="2" charset="-122"/>
                        </a:rPr>
                        <a:t>（</a:t>
                      </a:r>
                      <a:r>
                        <a:rPr lang="en-US" altLang="zh-CN" sz="1400" b="0" dirty="0">
                          <a:latin typeface="Huawei Sans" panose="020C0503030203020204" pitchFamily="34" charset="0"/>
                          <a:ea typeface="方正兰亭黑简体" panose="02000000000000000000" pitchFamily="2" charset="-122"/>
                        </a:rPr>
                        <a:t>14</a:t>
                      </a:r>
                      <a:r>
                        <a:rPr lang="zh-CN" altLang="en-US" sz="1400" b="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82164">
                <a:tc>
                  <a:txBody>
                    <a:bodyPr/>
                    <a:lstStyle/>
                    <a:p>
                      <a:pPr algn="ctr"/>
                      <a:r>
                        <a:rPr lang="en-US" altLang="zh-CN" sz="1400" dirty="0">
                          <a:latin typeface="Huawei Sans" panose="020C0503030203020204" pitchFamily="34" charset="0"/>
                          <a:ea typeface="方正兰亭黑简体" panose="02000000000000000000" pitchFamily="2" charset="-122"/>
                        </a:rPr>
                        <a:t>0</a:t>
                      </a: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0</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0</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0-7</a:t>
                      </a: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BE</a:t>
                      </a:r>
                      <a:endParaRPr lang="zh-CN" altLang="en-US" sz="1400" b="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rPr>
                        <a:t>BE</a:t>
                      </a:r>
                      <a:r>
                        <a:rPr lang="zh-CN" altLang="en-US" sz="1400" dirty="0">
                          <a:latin typeface="Huawei Sans" panose="020C0503030203020204" pitchFamily="34" charset="0"/>
                          <a:ea typeface="方正兰亭黑简体" panose="02000000000000000000" pitchFamily="2" charset="-122"/>
                        </a:rPr>
                        <a:t>（</a:t>
                      </a:r>
                      <a:r>
                        <a:rPr lang="en-US" altLang="zh-CN" sz="1400" dirty="0">
                          <a:latin typeface="Huawei Sans" panose="020C0503030203020204" pitchFamily="34" charset="0"/>
                          <a:ea typeface="方正兰亭黑简体" panose="02000000000000000000" pitchFamily="2" charset="-122"/>
                        </a:rPr>
                        <a:t>0</a:t>
                      </a:r>
                      <a:r>
                        <a:rPr lang="zh-CN" altLang="en-US" sz="1400" dirty="0">
                          <a:latin typeface="Huawei Sans" panose="020C0503030203020204" pitchFamily="34" charset="0"/>
                          <a:ea typeface="方正兰亭黑简体" panose="02000000000000000000" pitchFamily="2" charset="-122"/>
                        </a:rPr>
                        <a: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tc>
                  <a:txBody>
                    <a:bodyPr/>
                    <a:lstStyle/>
                    <a:p>
                      <a:pPr algn="ctr"/>
                      <a:endParaRPr lang="zh-CN" altLang="en-US" sz="1400" dirty="0">
                        <a:latin typeface="Huawei Sans" panose="020C0503030203020204" pitchFamily="34" charset="0"/>
                        <a:ea typeface="方正兰亭黑简体" panose="02000000000000000000" pitchFamily="2" charset="-122"/>
                      </a:endParaRPr>
                    </a:p>
                  </a:txBody>
                  <a:tcPr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任意多边形 7"/>
          <p:cNvSpPr/>
          <p:nvPr/>
        </p:nvSpPr>
        <p:spPr>
          <a:xfrm flipV="1">
            <a:off x="924686" y="2074658"/>
            <a:ext cx="330200" cy="2840236"/>
          </a:xfrm>
          <a:custGeom>
            <a:avLst/>
            <a:gdLst>
              <a:gd name="connsiteX0" fmla="*/ 330200 w 330200"/>
              <a:gd name="connsiteY0" fmla="*/ 3416300 h 3416300"/>
              <a:gd name="connsiteX1" fmla="*/ 330200 w 330200"/>
              <a:gd name="connsiteY1" fmla="*/ 0 h 3416300"/>
              <a:gd name="connsiteX2" fmla="*/ 0 w 330200"/>
              <a:gd name="connsiteY2" fmla="*/ 330200 h 3416300"/>
              <a:gd name="connsiteX3" fmla="*/ 139700 w 330200"/>
              <a:gd name="connsiteY3" fmla="*/ 330200 h 3416300"/>
              <a:gd name="connsiteX4" fmla="*/ 139700 w 330200"/>
              <a:gd name="connsiteY4" fmla="*/ 3403600 h 3416300"/>
              <a:gd name="connsiteX5" fmla="*/ 330200 w 330200"/>
              <a:gd name="connsiteY5" fmla="*/ 3416300 h 34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00" h="3416300">
                <a:moveTo>
                  <a:pt x="330200" y="3416300"/>
                </a:moveTo>
                <a:lnTo>
                  <a:pt x="330200" y="0"/>
                </a:lnTo>
                <a:lnTo>
                  <a:pt x="0" y="330200"/>
                </a:lnTo>
                <a:lnTo>
                  <a:pt x="139700" y="330200"/>
                </a:lnTo>
                <a:lnTo>
                  <a:pt x="139700" y="3403600"/>
                </a:lnTo>
                <a:lnTo>
                  <a:pt x="330200" y="3416300"/>
                </a:lnTo>
                <a:close/>
              </a:path>
            </a:pathLst>
          </a:custGeom>
          <a:gradFill>
            <a:gsLst>
              <a:gs pos="0">
                <a:srgbClr val="56C4D2"/>
              </a:gs>
              <a:gs pos="100000">
                <a:schemeClr val="bg1"/>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endParaRPr>
          </a:p>
        </p:txBody>
      </p:sp>
      <p:sp>
        <p:nvSpPr>
          <p:cNvPr id="9" name="文本框 8"/>
          <p:cNvSpPr txBox="1"/>
          <p:nvPr/>
        </p:nvSpPr>
        <p:spPr bwMode="auto">
          <a:xfrm>
            <a:off x="600650" y="2182670"/>
            <a:ext cx="509689" cy="2651658"/>
          </a:xfrm>
          <a:prstGeom prst="rect">
            <a:avLst/>
          </a:prstGeom>
          <a:noFill/>
          <a:ln w="9525">
            <a:noFill/>
            <a:miter lim="800000"/>
            <a:headEnd/>
            <a:tailEnd/>
          </a:ln>
        </p:spPr>
        <p:txBody>
          <a:bodyPr vert="eaVert" wrap="square" lIns="99980" tIns="49986" rIns="99980" bIns="49986" rtlCol="0">
            <a:spAutoFit/>
          </a:bodyPr>
          <a:lstStyle/>
          <a:p>
            <a:pPr algn="ctr" defTabSz="1001649" eaLnBrk="0" hangingPunct="0"/>
            <a:r>
              <a:rPr lang="zh-CN" altLang="en-US" sz="2000" dirty="0">
                <a:latin typeface="Huawei Sans" panose="020C0503030203020204" pitchFamily="34" charset="0"/>
                <a:ea typeface="方正兰亭黑简体" panose="02000000000000000000" pitchFamily="2" charset="-122"/>
                <a:cs typeface="Arial" pitchFamily="34" charset="0"/>
              </a:rPr>
              <a:t>优先级由高到低</a:t>
            </a:r>
          </a:p>
        </p:txBody>
      </p:sp>
    </p:spTree>
    <p:extLst>
      <p:ext uri="{BB962C8B-B14F-4D97-AF65-F5344CB8AC3E}">
        <p14:creationId xmlns:p14="http://schemas.microsoft.com/office/powerpoint/2010/main" val="3040945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80"/>
          <p:cNvSpPr/>
          <p:nvPr/>
        </p:nvSpPr>
        <p:spPr bwMode="gray">
          <a:xfrm>
            <a:off x="3143672" y="4229276"/>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9" name="矩形 48"/>
          <p:cNvSpPr/>
          <p:nvPr/>
        </p:nvSpPr>
        <p:spPr bwMode="gray">
          <a:xfrm>
            <a:off x="4331804" y="1564980"/>
            <a:ext cx="1656184" cy="1260140"/>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服务等级 </a:t>
            </a:r>
            <a:r>
              <a:rPr lang="en-US" altLang="zh-CN" dirty="0"/>
              <a:t>(Service Class)</a:t>
            </a:r>
            <a:endParaRPr lang="zh-CN" altLang="en-US" dirty="0"/>
          </a:p>
        </p:txBody>
      </p:sp>
      <p:sp>
        <p:nvSpPr>
          <p:cNvPr id="6" name="矩形 5"/>
          <p:cNvSpPr/>
          <p:nvPr/>
        </p:nvSpPr>
        <p:spPr bwMode="gray">
          <a:xfrm>
            <a:off x="2171564" y="1637042"/>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802.1P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 name="矩形 6"/>
          <p:cNvSpPr/>
          <p:nvPr/>
        </p:nvSpPr>
        <p:spPr bwMode="gray">
          <a:xfrm>
            <a:off x="2171564" y="203310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MPLS </a:t>
            </a:r>
            <a:r>
              <a:rPr lang="en-US" altLang="zh-CN" sz="1400" b="1" dirty="0" err="1">
                <a:solidFill>
                  <a:schemeClr val="bg1">
                    <a:lumMod val="50000"/>
                  </a:schemeClr>
                </a:solidFill>
                <a:latin typeface="Huawei Sans" panose="020C0503030203020204" pitchFamily="34" charset="0"/>
                <a:ea typeface="方正兰亭黑简体" panose="02000000000000000000" pitchFamily="2" charset="-122"/>
              </a:rPr>
              <a:t>Exp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9" name="矩形 8"/>
          <p:cNvSpPr/>
          <p:nvPr/>
        </p:nvSpPr>
        <p:spPr bwMode="gray">
          <a:xfrm>
            <a:off x="2171564" y="242913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10" name="椭圆 9"/>
          <p:cNvSpPr/>
          <p:nvPr/>
        </p:nvSpPr>
        <p:spPr bwMode="gray">
          <a:xfrm>
            <a:off x="3611724" y="1925074"/>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cxnSp>
        <p:nvCxnSpPr>
          <p:cNvPr id="11" name="直接箭头连接符 10"/>
          <p:cNvCxnSpPr>
            <a:stCxn id="6" idx="3"/>
            <a:endCxn id="10" idx="1"/>
          </p:cNvCxnSpPr>
          <p:nvPr/>
        </p:nvCxnSpPr>
        <p:spPr bwMode="gray">
          <a:xfrm>
            <a:off x="3251684" y="1799060"/>
            <a:ext cx="439121" cy="205095"/>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2" name="直接箭头连接符 11"/>
          <p:cNvCxnSpPr>
            <a:stCxn id="7" idx="3"/>
            <a:endCxn id="10" idx="2"/>
          </p:cNvCxnSpPr>
          <p:nvPr/>
        </p:nvCxnSpPr>
        <p:spPr bwMode="gray">
          <a:xfrm flipV="1">
            <a:off x="3251684" y="219507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3" name="直接箭头连接符 12"/>
          <p:cNvCxnSpPr>
            <a:stCxn id="9" idx="3"/>
            <a:endCxn id="10" idx="3"/>
          </p:cNvCxnSpPr>
          <p:nvPr/>
        </p:nvCxnSpPr>
        <p:spPr bwMode="gray">
          <a:xfrm flipV="1">
            <a:off x="3251684" y="2385993"/>
            <a:ext cx="439121" cy="205137"/>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20" name="文本框 19"/>
          <p:cNvSpPr txBox="1"/>
          <p:nvPr/>
        </p:nvSpPr>
        <p:spPr bwMode="gray">
          <a:xfrm>
            <a:off x="3600099" y="2022241"/>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4187788" y="2189682"/>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27" name="表格 26"/>
          <p:cNvGraphicFramePr>
            <a:graphicFrameLocks noGrp="1"/>
          </p:cNvGraphicFramePr>
          <p:nvPr/>
        </p:nvGraphicFramePr>
        <p:xfrm>
          <a:off x="4583832" y="1709050"/>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t>Service Class</a:t>
                      </a:r>
                      <a:endParaRPr lang="zh-CN" altLang="en-US" sz="1400" b="1"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0"/>
                  </a:ext>
                </a:extLst>
              </a:tr>
              <a:tr h="370840">
                <a:tc>
                  <a:txBody>
                    <a:bodyPr/>
                    <a:lstStyle/>
                    <a:p>
                      <a:pPr algn="ctr"/>
                      <a:r>
                        <a:rPr lang="en-US" altLang="zh-CN" sz="1400" b="1" dirty="0"/>
                        <a:t>Color</a:t>
                      </a:r>
                      <a:endParaRPr lang="zh-CN" altLang="en-US" sz="1400" b="1"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1"/>
                  </a:ext>
                </a:extLst>
              </a:tr>
            </a:tbl>
          </a:graphicData>
        </a:graphic>
      </p:graphicFrame>
      <p:sp>
        <p:nvSpPr>
          <p:cNvPr id="69" name="文本框 68"/>
          <p:cNvSpPr txBox="1"/>
          <p:nvPr/>
        </p:nvSpPr>
        <p:spPr bwMode="gray">
          <a:xfrm>
            <a:off x="3503712" y="1168936"/>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600" b="1">
                <a:solidFill>
                  <a:schemeClr val="bg1">
                    <a:lumMod val="50000"/>
                  </a:schemeClr>
                </a:solidFill>
                <a:latin typeface="+mn-ea"/>
                <a:ea typeface="+mn-ea"/>
              </a:defRPr>
            </a:lvl1pPr>
          </a:lstStyle>
          <a:p>
            <a:r>
              <a:rPr lang="zh-CN" altLang="en-US" dirty="0">
                <a:latin typeface="Huawei Sans" panose="020C0503030203020204" pitchFamily="34" charset="0"/>
                <a:ea typeface="方正兰亭黑简体" panose="02000000000000000000" pitchFamily="2" charset="-122"/>
              </a:rPr>
              <a:t>上行方向</a:t>
            </a:r>
          </a:p>
        </p:txBody>
      </p:sp>
      <p:sp>
        <p:nvSpPr>
          <p:cNvPr id="80" name="文本框 79"/>
          <p:cNvSpPr txBox="1"/>
          <p:nvPr/>
        </p:nvSpPr>
        <p:spPr bwMode="gray">
          <a:xfrm>
            <a:off x="3179676" y="4229276"/>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报文在</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设备内部的</a:t>
            </a:r>
            <a:endParaRPr lang="en-US" altLang="zh-CN" sz="1400" dirty="0">
              <a:latin typeface="Huawei Sans" panose="020C0503030203020204" pitchFamily="34" charset="0"/>
              <a:ea typeface="方正兰亭黑简体" panose="02000000000000000000" pitchFamily="2" charset="-122"/>
            </a:endParaRPr>
          </a:p>
          <a:p>
            <a:pPr algn="ctr">
              <a:lnSpc>
                <a:spcPct val="125000"/>
              </a:lnSpc>
            </a:pPr>
            <a:r>
              <a:rPr lang="zh-CN" altLang="en-US" sz="1400" dirty="0">
                <a:latin typeface="Huawei Sans" panose="020C0503030203020204" pitchFamily="34" charset="0"/>
                <a:ea typeface="方正兰亭黑简体" panose="02000000000000000000" pitchFamily="2" charset="-122"/>
              </a:rPr>
              <a:t>服务等级</a:t>
            </a:r>
          </a:p>
        </p:txBody>
      </p:sp>
      <p:sp>
        <p:nvSpPr>
          <p:cNvPr id="82" name="矩形 81"/>
          <p:cNvSpPr/>
          <p:nvPr/>
        </p:nvSpPr>
        <p:spPr bwMode="gray">
          <a:xfrm>
            <a:off x="3143672" y="3905240"/>
            <a:ext cx="1332148"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Service Class</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86" name="下箭头 85"/>
          <p:cNvSpPr/>
          <p:nvPr/>
        </p:nvSpPr>
        <p:spPr bwMode="gray">
          <a:xfrm rot="1800000">
            <a:off x="4015462" y="3202498"/>
            <a:ext cx="28803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0" name="矩形 89"/>
          <p:cNvSpPr/>
          <p:nvPr/>
        </p:nvSpPr>
        <p:spPr bwMode="gray">
          <a:xfrm>
            <a:off x="1091444" y="163704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1" name="矩形 90"/>
          <p:cNvSpPr/>
          <p:nvPr/>
        </p:nvSpPr>
        <p:spPr bwMode="gray">
          <a:xfrm>
            <a:off x="1091444" y="2033104"/>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2" name="矩形 91"/>
          <p:cNvSpPr/>
          <p:nvPr/>
        </p:nvSpPr>
        <p:spPr bwMode="gray">
          <a:xfrm>
            <a:off x="1091444" y="242913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3" name="矩形 92"/>
          <p:cNvSpPr/>
          <p:nvPr/>
        </p:nvSpPr>
        <p:spPr bwMode="gray">
          <a:xfrm>
            <a:off x="1667508" y="1168936"/>
            <a:ext cx="1080120" cy="324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简单流分类</a:t>
            </a:r>
          </a:p>
        </p:txBody>
      </p:sp>
      <p:sp>
        <p:nvSpPr>
          <p:cNvPr id="95" name="矩形 94"/>
          <p:cNvSpPr/>
          <p:nvPr/>
        </p:nvSpPr>
        <p:spPr bwMode="gray">
          <a:xfrm>
            <a:off x="3251684" y="527339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latin typeface="Huawei Sans" panose="020C0503030203020204" pitchFamily="34" charset="0"/>
                <a:ea typeface="方正兰亭黑简体" panose="02000000000000000000" pitchFamily="2" charset="-122"/>
              </a:rPr>
              <a:t>内</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部优先级</a:t>
            </a:r>
          </a:p>
        </p:txBody>
      </p:sp>
      <p:sp>
        <p:nvSpPr>
          <p:cNvPr id="50" name="右箭头 49"/>
          <p:cNvSpPr/>
          <p:nvPr/>
        </p:nvSpPr>
        <p:spPr bwMode="gray">
          <a:xfrm>
            <a:off x="5843972" y="1925074"/>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1" name="矩形 50"/>
          <p:cNvSpPr/>
          <p:nvPr/>
        </p:nvSpPr>
        <p:spPr bwMode="gray">
          <a:xfrm>
            <a:off x="6456040" y="1889070"/>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5" name="右箭头 54"/>
          <p:cNvSpPr/>
          <p:nvPr/>
        </p:nvSpPr>
        <p:spPr bwMode="gray">
          <a:xfrm>
            <a:off x="6996100" y="2681158"/>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56" name="表格 55"/>
          <p:cNvGraphicFramePr>
            <a:graphicFrameLocks noGrp="1"/>
          </p:cNvGraphicFramePr>
          <p:nvPr/>
        </p:nvGraphicFramePr>
        <p:xfrm>
          <a:off x="7608168" y="2501138"/>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57" name="椭圆 56"/>
          <p:cNvSpPr/>
          <p:nvPr/>
        </p:nvSpPr>
        <p:spPr bwMode="gray">
          <a:xfrm>
            <a:off x="9192344" y="2645154"/>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59" name="直接箭头连接符 58"/>
          <p:cNvCxnSpPr>
            <a:stCxn id="57" idx="7"/>
          </p:cNvCxnSpPr>
          <p:nvPr/>
        </p:nvCxnSpPr>
        <p:spPr bwMode="gray">
          <a:xfrm flipV="1">
            <a:off x="9653263" y="2519122"/>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1" name="直接箭头连接符 60"/>
          <p:cNvCxnSpPr>
            <a:endCxn id="57" idx="2"/>
          </p:cNvCxnSpPr>
          <p:nvPr/>
        </p:nvCxnSpPr>
        <p:spPr bwMode="gray">
          <a:xfrm flipV="1">
            <a:off x="8832304" y="291515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3" name="直接箭头连接符 62"/>
          <p:cNvCxnSpPr>
            <a:stCxn id="57" idx="5"/>
          </p:cNvCxnSpPr>
          <p:nvPr/>
        </p:nvCxnSpPr>
        <p:spPr bwMode="gray">
          <a:xfrm>
            <a:off x="9653263" y="3106073"/>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4" name="直接箭头连接符 63"/>
          <p:cNvCxnSpPr>
            <a:stCxn id="57" idx="6"/>
          </p:cNvCxnSpPr>
          <p:nvPr/>
        </p:nvCxnSpPr>
        <p:spPr bwMode="gray">
          <a:xfrm>
            <a:off x="9732344" y="2915154"/>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67" name="文本框 66"/>
          <p:cNvSpPr txBox="1"/>
          <p:nvPr/>
        </p:nvSpPr>
        <p:spPr bwMode="gray">
          <a:xfrm>
            <a:off x="9180719" y="271716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68" name="直接连接符 67"/>
          <p:cNvCxnSpPr/>
          <p:nvPr/>
        </p:nvCxnSpPr>
        <p:spPr bwMode="gray">
          <a:xfrm>
            <a:off x="6456040" y="188907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70" name="直接连接符 69"/>
          <p:cNvCxnSpPr/>
          <p:nvPr/>
        </p:nvCxnSpPr>
        <p:spPr bwMode="gray">
          <a:xfrm flipH="1">
            <a:off x="6456040" y="188907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74" name="文本框 73"/>
          <p:cNvSpPr txBox="1"/>
          <p:nvPr/>
        </p:nvSpPr>
        <p:spPr bwMode="gray">
          <a:xfrm>
            <a:off x="6168008" y="151818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cxnSp>
        <p:nvCxnSpPr>
          <p:cNvPr id="75" name="直接连接符 74"/>
          <p:cNvCxnSpPr/>
          <p:nvPr/>
        </p:nvCxnSpPr>
        <p:spPr bwMode="gray">
          <a:xfrm>
            <a:off x="6672064" y="1240944"/>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76" name="文本框 75"/>
          <p:cNvSpPr txBox="1"/>
          <p:nvPr/>
        </p:nvSpPr>
        <p:spPr bwMode="gray">
          <a:xfrm>
            <a:off x="8544272" y="11689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sp>
        <p:nvSpPr>
          <p:cNvPr id="77" name="矩形 76"/>
          <p:cNvSpPr/>
          <p:nvPr/>
        </p:nvSpPr>
        <p:spPr bwMode="gray">
          <a:xfrm>
            <a:off x="10092444" y="2357104"/>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78" name="矩形 77"/>
          <p:cNvSpPr/>
          <p:nvPr/>
        </p:nvSpPr>
        <p:spPr bwMode="gray">
          <a:xfrm>
            <a:off x="10092444" y="275315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87" name="矩形 86"/>
          <p:cNvSpPr/>
          <p:nvPr/>
        </p:nvSpPr>
        <p:spPr bwMode="gray">
          <a:xfrm>
            <a:off x="10092444" y="3149192"/>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graphicFrame>
        <p:nvGraphicFramePr>
          <p:cNvPr id="88" name="表格 87"/>
          <p:cNvGraphicFramePr>
            <a:graphicFrameLocks noGrp="1"/>
          </p:cNvGraphicFramePr>
          <p:nvPr/>
        </p:nvGraphicFramePr>
        <p:xfrm>
          <a:off x="5159896" y="3699510"/>
          <a:ext cx="1872208" cy="2438400"/>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tblGrid>
              <a:tr h="274186">
                <a:tc rowSpan="2">
                  <a:txBody>
                    <a:bodyPr/>
                    <a:lstStyle/>
                    <a:p>
                      <a:pPr algn="ctr"/>
                      <a:r>
                        <a:rPr lang="en-US" altLang="zh-CN" sz="1400" b="1" dirty="0">
                          <a:solidFill>
                            <a:schemeClr val="bg1"/>
                          </a:solidFill>
                        </a:rPr>
                        <a:t>CS</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CS7</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4186">
                <a:tc vMerge="1">
                  <a:txBody>
                    <a:bodyPr/>
                    <a:lstStyle/>
                    <a:p>
                      <a:endParaRPr lang="zh-CN" altLang="en-US" dirty="0"/>
                    </a:p>
                  </a:txBody>
                  <a:tcPr/>
                </a:tc>
                <a:tc>
                  <a:txBody>
                    <a:bodyPr/>
                    <a:lstStyle/>
                    <a:p>
                      <a:pPr algn="ctr"/>
                      <a:r>
                        <a:rPr lang="en-US" altLang="zh-CN" sz="1400" dirty="0"/>
                        <a:t>CS6</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4186">
                <a:tc>
                  <a:txBody>
                    <a:bodyPr/>
                    <a:lstStyle/>
                    <a:p>
                      <a:pPr algn="ctr"/>
                      <a:r>
                        <a:rPr lang="en-US" altLang="zh-CN" sz="1400" b="1" dirty="0">
                          <a:solidFill>
                            <a:schemeClr val="bg1"/>
                          </a:solidFill>
                        </a:rPr>
                        <a:t>EF</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EF</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4186">
                <a:tc rowSpan="4">
                  <a:txBody>
                    <a:bodyPr/>
                    <a:lstStyle/>
                    <a:p>
                      <a:pPr algn="ctr"/>
                      <a:r>
                        <a:rPr lang="en-US" altLang="zh-CN" sz="1400" b="1" dirty="0">
                          <a:solidFill>
                            <a:schemeClr val="bg1"/>
                          </a:solidFill>
                        </a:rPr>
                        <a:t>AF</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AF4</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4186">
                <a:tc vMerge="1">
                  <a:txBody>
                    <a:bodyPr/>
                    <a:lstStyle/>
                    <a:p>
                      <a:endParaRPr lang="zh-CN" altLang="en-US" dirty="0"/>
                    </a:p>
                  </a:txBody>
                  <a:tcPr/>
                </a:tc>
                <a:tc>
                  <a:txBody>
                    <a:bodyPr/>
                    <a:lstStyle/>
                    <a:p>
                      <a:pPr algn="ctr"/>
                      <a:r>
                        <a:rPr lang="en-US" altLang="zh-CN" sz="1400" dirty="0"/>
                        <a:t>AF3</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4186">
                <a:tc vMerge="1">
                  <a:txBody>
                    <a:bodyPr/>
                    <a:lstStyle/>
                    <a:p>
                      <a:endParaRPr lang="zh-CN" altLang="en-US" dirty="0"/>
                    </a:p>
                  </a:txBody>
                  <a:tcPr/>
                </a:tc>
                <a:tc>
                  <a:txBody>
                    <a:bodyPr/>
                    <a:lstStyle/>
                    <a:p>
                      <a:pPr algn="ctr"/>
                      <a:r>
                        <a:rPr lang="en-US" altLang="zh-CN" sz="1400" dirty="0"/>
                        <a:t>AF2</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4186">
                <a:tc vMerge="1">
                  <a:txBody>
                    <a:bodyPr/>
                    <a:lstStyle/>
                    <a:p>
                      <a:endParaRPr lang="zh-CN" altLang="en-US" dirty="0"/>
                    </a:p>
                  </a:txBody>
                  <a:tcPr/>
                </a:tc>
                <a:tc>
                  <a:txBody>
                    <a:bodyPr/>
                    <a:lstStyle/>
                    <a:p>
                      <a:pPr algn="ctr"/>
                      <a:r>
                        <a:rPr lang="en-US" altLang="zh-CN" sz="1400" dirty="0"/>
                        <a:t>AF1</a:t>
                      </a:r>
                      <a:endParaRPr lang="zh-CN" altLang="en-US" sz="1400" dirty="0"/>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74186">
                <a:tc>
                  <a:txBody>
                    <a:bodyPr/>
                    <a:lstStyle/>
                    <a:p>
                      <a:pPr algn="ctr"/>
                      <a:r>
                        <a:rPr lang="en-US" altLang="zh-CN" sz="1400" b="1" dirty="0">
                          <a:solidFill>
                            <a:schemeClr val="bg1"/>
                          </a:solidFill>
                        </a:rPr>
                        <a:t>BE</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tc>
                  <a:txBody>
                    <a:bodyPr/>
                    <a:lstStyle/>
                    <a:p>
                      <a:pPr algn="ctr"/>
                      <a:r>
                        <a:rPr lang="en-US" altLang="zh-CN" sz="1400" dirty="0"/>
                        <a:t>BE</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89" name="矩形 5"/>
          <p:cNvSpPr/>
          <p:nvPr/>
        </p:nvSpPr>
        <p:spPr bwMode="gray">
          <a:xfrm>
            <a:off x="4480074" y="3716149"/>
            <a:ext cx="659003" cy="2392521"/>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842766"/>
              <a:gd name="connsiteX1" fmla="*/ 453105 w 454224"/>
              <a:gd name="connsiteY1" fmla="*/ 349250 h 842766"/>
              <a:gd name="connsiteX2" fmla="*/ 450622 w 454224"/>
              <a:gd name="connsiteY2" fmla="*/ 842766 h 842766"/>
              <a:gd name="connsiteX3" fmla="*/ 0 w 454224"/>
              <a:gd name="connsiteY3" fmla="*/ 325559 h 842766"/>
              <a:gd name="connsiteX4" fmla="*/ 5516 w 454224"/>
              <a:gd name="connsiteY4" fmla="*/ 0 h 842766"/>
              <a:gd name="connsiteX0" fmla="*/ 5516 w 454224"/>
              <a:gd name="connsiteY0" fmla="*/ 0 h 842766"/>
              <a:gd name="connsiteX1" fmla="*/ 453105 w 454224"/>
              <a:gd name="connsiteY1" fmla="*/ 304800 h 842766"/>
              <a:gd name="connsiteX2" fmla="*/ 450622 w 454224"/>
              <a:gd name="connsiteY2" fmla="*/ 842766 h 842766"/>
              <a:gd name="connsiteX3" fmla="*/ 0 w 454224"/>
              <a:gd name="connsiteY3" fmla="*/ 325559 h 842766"/>
              <a:gd name="connsiteX4" fmla="*/ 5516 w 454224"/>
              <a:gd name="connsiteY4" fmla="*/ 0 h 842766"/>
              <a:gd name="connsiteX0" fmla="*/ 5516 w 536030"/>
              <a:gd name="connsiteY0" fmla="*/ 152400 h 995166"/>
              <a:gd name="connsiteX1" fmla="*/ 535862 w 536030"/>
              <a:gd name="connsiteY1" fmla="*/ 0 h 995166"/>
              <a:gd name="connsiteX2" fmla="*/ 450622 w 536030"/>
              <a:gd name="connsiteY2" fmla="*/ 995166 h 995166"/>
              <a:gd name="connsiteX3" fmla="*/ 0 w 536030"/>
              <a:gd name="connsiteY3" fmla="*/ 477959 h 995166"/>
              <a:gd name="connsiteX4" fmla="*/ 5516 w 536030"/>
              <a:gd name="connsiteY4" fmla="*/ 152400 h 995166"/>
              <a:gd name="connsiteX0" fmla="*/ 5516 w 536981"/>
              <a:gd name="connsiteY0" fmla="*/ 152400 h 2366766"/>
              <a:gd name="connsiteX1" fmla="*/ 535862 w 536981"/>
              <a:gd name="connsiteY1" fmla="*/ 0 h 2366766"/>
              <a:gd name="connsiteX2" fmla="*/ 533379 w 536981"/>
              <a:gd name="connsiteY2" fmla="*/ 2366766 h 2366766"/>
              <a:gd name="connsiteX3" fmla="*/ 0 w 536981"/>
              <a:gd name="connsiteY3" fmla="*/ 477959 h 2366766"/>
              <a:gd name="connsiteX4" fmla="*/ 5516 w 536981"/>
              <a:gd name="connsiteY4" fmla="*/ 152400 h 2366766"/>
              <a:gd name="connsiteX0" fmla="*/ 5516 w 536981"/>
              <a:gd name="connsiteY0" fmla="*/ 200025 h 2414391"/>
              <a:gd name="connsiteX1" fmla="*/ 535862 w 536981"/>
              <a:gd name="connsiteY1" fmla="*/ 0 h 2414391"/>
              <a:gd name="connsiteX2" fmla="*/ 533379 w 536981"/>
              <a:gd name="connsiteY2" fmla="*/ 2414391 h 2414391"/>
              <a:gd name="connsiteX3" fmla="*/ 0 w 536981"/>
              <a:gd name="connsiteY3" fmla="*/ 525584 h 2414391"/>
              <a:gd name="connsiteX4" fmla="*/ 5516 w 536981"/>
              <a:gd name="connsiteY4" fmla="*/ 200025 h 2414391"/>
              <a:gd name="connsiteX0" fmla="*/ 5516 w 558376"/>
              <a:gd name="connsiteY0" fmla="*/ 10723107 h 12937473"/>
              <a:gd name="connsiteX1" fmla="*/ 557930 w 558376"/>
              <a:gd name="connsiteY1" fmla="*/ 0 h 12937473"/>
              <a:gd name="connsiteX2" fmla="*/ 533379 w 558376"/>
              <a:gd name="connsiteY2" fmla="*/ 12937473 h 12937473"/>
              <a:gd name="connsiteX3" fmla="*/ 0 w 558376"/>
              <a:gd name="connsiteY3" fmla="*/ 11048666 h 12937473"/>
              <a:gd name="connsiteX4" fmla="*/ 5516 w 558376"/>
              <a:gd name="connsiteY4" fmla="*/ 10723107 h 12937473"/>
              <a:gd name="connsiteX0" fmla="*/ 5516 w 558741"/>
              <a:gd name="connsiteY0" fmla="*/ 10723107 h 23460555"/>
              <a:gd name="connsiteX1" fmla="*/ 557930 w 558741"/>
              <a:gd name="connsiteY1" fmla="*/ 0 h 23460555"/>
              <a:gd name="connsiteX2" fmla="*/ 549930 w 558741"/>
              <a:gd name="connsiteY2" fmla="*/ 23460555 h 23460555"/>
              <a:gd name="connsiteX3" fmla="*/ 0 w 558741"/>
              <a:gd name="connsiteY3" fmla="*/ 11048666 h 23460555"/>
              <a:gd name="connsiteX4" fmla="*/ 5516 w 558741"/>
              <a:gd name="connsiteY4" fmla="*/ 10723107 h 23460555"/>
              <a:gd name="connsiteX0" fmla="*/ 0 w 580810"/>
              <a:gd name="connsiteY0" fmla="*/ 1943497 h 23460555"/>
              <a:gd name="connsiteX1" fmla="*/ 579999 w 580810"/>
              <a:gd name="connsiteY1" fmla="*/ 0 h 23460555"/>
              <a:gd name="connsiteX2" fmla="*/ 571999 w 580810"/>
              <a:gd name="connsiteY2" fmla="*/ 23460555 h 23460555"/>
              <a:gd name="connsiteX3" fmla="*/ 22069 w 580810"/>
              <a:gd name="connsiteY3" fmla="*/ 11048666 h 23460555"/>
              <a:gd name="connsiteX4" fmla="*/ 0 w 580810"/>
              <a:gd name="connsiteY4" fmla="*/ 1943497 h 23460555"/>
              <a:gd name="connsiteX0" fmla="*/ 5516 w 586326"/>
              <a:gd name="connsiteY0" fmla="*/ 1943497 h 23460555"/>
              <a:gd name="connsiteX1" fmla="*/ 585515 w 586326"/>
              <a:gd name="connsiteY1" fmla="*/ 0 h 23460555"/>
              <a:gd name="connsiteX2" fmla="*/ 577515 w 586326"/>
              <a:gd name="connsiteY2" fmla="*/ 23460555 h 23460555"/>
              <a:gd name="connsiteX3" fmla="*/ 0 w 586326"/>
              <a:gd name="connsiteY3" fmla="*/ 5195587 h 23460555"/>
              <a:gd name="connsiteX4" fmla="*/ 5516 w 586326"/>
              <a:gd name="connsiteY4" fmla="*/ 1943497 h 23460555"/>
              <a:gd name="connsiteX0" fmla="*/ 5516 w 586326"/>
              <a:gd name="connsiteY0" fmla="*/ 1756697 h 23460555"/>
              <a:gd name="connsiteX1" fmla="*/ 585515 w 586326"/>
              <a:gd name="connsiteY1" fmla="*/ 0 h 23460555"/>
              <a:gd name="connsiteX2" fmla="*/ 577515 w 586326"/>
              <a:gd name="connsiteY2" fmla="*/ 23460555 h 23460555"/>
              <a:gd name="connsiteX3" fmla="*/ 0 w 586326"/>
              <a:gd name="connsiteY3" fmla="*/ 5195587 h 23460555"/>
              <a:gd name="connsiteX4" fmla="*/ 5516 w 586326"/>
              <a:gd name="connsiteY4" fmla="*/ 1756697 h 23460555"/>
              <a:gd name="connsiteX0" fmla="*/ 5516 w 586326"/>
              <a:gd name="connsiteY0" fmla="*/ 1756697 h 23460555"/>
              <a:gd name="connsiteX1" fmla="*/ 585515 w 586326"/>
              <a:gd name="connsiteY1" fmla="*/ 0 h 23460555"/>
              <a:gd name="connsiteX2" fmla="*/ 577515 w 586326"/>
              <a:gd name="connsiteY2" fmla="*/ 23460555 h 23460555"/>
              <a:gd name="connsiteX3" fmla="*/ 0 w 586326"/>
              <a:gd name="connsiteY3" fmla="*/ 5195587 h 23460555"/>
              <a:gd name="connsiteX4" fmla="*/ 5516 w 586326"/>
              <a:gd name="connsiteY4" fmla="*/ 1756697 h 23460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326" h="23460555">
                <a:moveTo>
                  <a:pt x="5516" y="1756697"/>
                </a:moveTo>
                <a:cubicBezTo>
                  <a:pt x="193332" y="1254151"/>
                  <a:pt x="408733" y="66675"/>
                  <a:pt x="585515" y="0"/>
                </a:cubicBezTo>
                <a:cubicBezTo>
                  <a:pt x="590204" y="771989"/>
                  <a:pt x="572826" y="22688566"/>
                  <a:pt x="577515" y="23460555"/>
                </a:cubicBezTo>
                <a:lnTo>
                  <a:pt x="0" y="5195587"/>
                </a:lnTo>
                <a:cubicBezTo>
                  <a:pt x="0" y="5068017"/>
                  <a:pt x="5516" y="1884267"/>
                  <a:pt x="5516" y="1756697"/>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dirty="0">
              <a:latin typeface="Huawei Sans" panose="020C0503030203020204" pitchFamily="34" charset="0"/>
              <a:ea typeface="方正兰亭黑简体" panose="02000000000000000000" pitchFamily="2" charset="-122"/>
            </a:endParaRPr>
          </a:p>
        </p:txBody>
      </p:sp>
      <p:sp>
        <p:nvSpPr>
          <p:cNvPr id="97" name="矩形 96"/>
          <p:cNvSpPr/>
          <p:nvPr/>
        </p:nvSpPr>
        <p:spPr bwMode="gray">
          <a:xfrm>
            <a:off x="7644172" y="4229276"/>
            <a:ext cx="3564396" cy="756084"/>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25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Service Class</a:t>
            </a:r>
          </a:p>
          <a:p>
            <a:pPr marL="0" marR="0" indent="0" defTabSz="914400" rtl="0" eaLnBrk="1" fontAlgn="t" latinLnBrk="0" hangingPunct="1">
              <a:lnSpc>
                <a:spcPct val="125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决定了报文在设备内部所属的队列类型</a:t>
            </a:r>
          </a:p>
        </p:txBody>
      </p:sp>
      <p:grpSp>
        <p:nvGrpSpPr>
          <p:cNvPr id="3" name="组合 2"/>
          <p:cNvGrpSpPr/>
          <p:nvPr/>
        </p:nvGrpSpPr>
        <p:grpSpPr bwMode="gray">
          <a:xfrm>
            <a:off x="7052923" y="3670814"/>
            <a:ext cx="591249" cy="2430670"/>
            <a:chOff x="6960096" y="3861048"/>
            <a:chExt cx="591249" cy="2430670"/>
          </a:xfrm>
        </p:grpSpPr>
        <p:sp>
          <p:nvSpPr>
            <p:cNvPr id="98" name="任意多边形 97"/>
            <p:cNvSpPr/>
            <p:nvPr/>
          </p:nvSpPr>
          <p:spPr bwMode="gray">
            <a:xfrm flipH="1" flipV="1">
              <a:off x="7083293" y="3969060"/>
              <a:ext cx="468052" cy="2322658"/>
            </a:xfrm>
            <a:custGeom>
              <a:avLst/>
              <a:gdLst>
                <a:gd name="connsiteX0" fmla="*/ 330200 w 330200"/>
                <a:gd name="connsiteY0" fmla="*/ 3416300 h 3416300"/>
                <a:gd name="connsiteX1" fmla="*/ 330200 w 330200"/>
                <a:gd name="connsiteY1" fmla="*/ 0 h 3416300"/>
                <a:gd name="connsiteX2" fmla="*/ 0 w 330200"/>
                <a:gd name="connsiteY2" fmla="*/ 330200 h 3416300"/>
                <a:gd name="connsiteX3" fmla="*/ 139700 w 330200"/>
                <a:gd name="connsiteY3" fmla="*/ 330200 h 3416300"/>
                <a:gd name="connsiteX4" fmla="*/ 139700 w 330200"/>
                <a:gd name="connsiteY4" fmla="*/ 3403600 h 3416300"/>
                <a:gd name="connsiteX5" fmla="*/ 330200 w 330200"/>
                <a:gd name="connsiteY5" fmla="*/ 3416300 h 34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00" h="3416300">
                  <a:moveTo>
                    <a:pt x="330200" y="3416300"/>
                  </a:moveTo>
                  <a:lnTo>
                    <a:pt x="330200" y="0"/>
                  </a:lnTo>
                  <a:lnTo>
                    <a:pt x="0" y="330200"/>
                  </a:lnTo>
                  <a:lnTo>
                    <a:pt x="139700" y="330200"/>
                  </a:lnTo>
                  <a:lnTo>
                    <a:pt x="139700" y="3403600"/>
                  </a:lnTo>
                  <a:lnTo>
                    <a:pt x="330200" y="3416300"/>
                  </a:lnTo>
                  <a:close/>
                </a:path>
              </a:pathLst>
            </a:custGeom>
            <a:gradFill>
              <a:gsLst>
                <a:gs pos="0">
                  <a:srgbClr val="30B5C5"/>
                </a:gs>
                <a:gs pos="100000">
                  <a:schemeClr val="bg1"/>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99" name="文本框 98"/>
            <p:cNvSpPr txBox="1"/>
            <p:nvPr/>
          </p:nvSpPr>
          <p:spPr bwMode="gray">
            <a:xfrm>
              <a:off x="6960096" y="3861048"/>
              <a:ext cx="509689" cy="2255384"/>
            </a:xfrm>
            <a:prstGeom prst="rect">
              <a:avLst/>
            </a:prstGeom>
            <a:noFill/>
            <a:ln w="9525">
              <a:noFill/>
              <a:miter lim="800000"/>
              <a:headEnd/>
              <a:tailEnd/>
            </a:ln>
          </p:spPr>
          <p:txBody>
            <a:bodyPr vert="horz" wrap="square" lIns="99980" tIns="49986" rIns="99980" bIns="49986" rtlCol="0">
              <a:spAutoFit/>
            </a:bodyPr>
            <a:lstStyle/>
            <a:p>
              <a:pPr algn="ctr" defTabSz="1001649" eaLnBrk="0" hangingPunct="0">
                <a:lnSpc>
                  <a:spcPct val="125000"/>
                </a:lnSpc>
              </a:pPr>
              <a:r>
                <a:rPr lang="zh-CN" altLang="en-US" sz="1600" dirty="0">
                  <a:latin typeface="Huawei Sans" panose="020C0503030203020204" pitchFamily="34" charset="0"/>
                  <a:ea typeface="方正兰亭黑简体" panose="02000000000000000000" pitchFamily="2" charset="-122"/>
                  <a:cs typeface="Arial" pitchFamily="34" charset="0"/>
                </a:rPr>
                <a:t>优先级由高到低</a:t>
              </a:r>
            </a:p>
          </p:txBody>
        </p:sp>
      </p:grpSp>
      <p:sp>
        <p:nvSpPr>
          <p:cNvPr id="58" name="Rectangular Callout 53">
            <a:extLst>
              <a:ext uri="{FF2B5EF4-FFF2-40B4-BE49-F238E27FC236}">
                <a16:creationId xmlns:a16="http://schemas.microsoft.com/office/drawing/2014/main" id="{3C98CEEC-54B7-464C-93A8-4CD5D5949511}"/>
              </a:ext>
            </a:extLst>
          </p:cNvPr>
          <p:cNvSpPr/>
          <p:nvPr/>
        </p:nvSpPr>
        <p:spPr bwMode="gray">
          <a:xfrm>
            <a:off x="2211335" y="3617191"/>
            <a:ext cx="680309" cy="419683"/>
          </a:xfrm>
          <a:prstGeom prst="wedgeRectCallout">
            <a:avLst>
              <a:gd name="adj1" fmla="val 79137"/>
              <a:gd name="adj2" fmla="val 3336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队列</a:t>
            </a:r>
          </a:p>
        </p:txBody>
      </p:sp>
    </p:spTree>
    <p:extLst>
      <p:ext uri="{BB962C8B-B14F-4D97-AF65-F5344CB8AC3E}">
        <p14:creationId xmlns:p14="http://schemas.microsoft.com/office/powerpoint/2010/main" val="2565280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80"/>
          <p:cNvSpPr/>
          <p:nvPr/>
        </p:nvSpPr>
        <p:spPr bwMode="gray">
          <a:xfrm>
            <a:off x="3143672" y="4221834"/>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49" name="矩形 48"/>
          <p:cNvSpPr/>
          <p:nvPr/>
        </p:nvSpPr>
        <p:spPr bwMode="gray">
          <a:xfrm>
            <a:off x="4331804" y="1575140"/>
            <a:ext cx="1656184" cy="1260140"/>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en-US" altLang="zh-CN" dirty="0"/>
              <a:t>Color</a:t>
            </a:r>
            <a:endParaRPr lang="zh-CN" altLang="en-US" dirty="0"/>
          </a:p>
        </p:txBody>
      </p:sp>
      <p:sp>
        <p:nvSpPr>
          <p:cNvPr id="6" name="矩形 5"/>
          <p:cNvSpPr/>
          <p:nvPr/>
        </p:nvSpPr>
        <p:spPr bwMode="gray">
          <a:xfrm>
            <a:off x="2171564" y="1647202"/>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802.1P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 name="矩形 6"/>
          <p:cNvSpPr/>
          <p:nvPr/>
        </p:nvSpPr>
        <p:spPr bwMode="gray">
          <a:xfrm>
            <a:off x="2171564" y="204326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MPLS </a:t>
            </a:r>
            <a:r>
              <a:rPr lang="en-US" altLang="zh-CN" sz="1400" b="1" dirty="0" err="1">
                <a:solidFill>
                  <a:schemeClr val="bg1">
                    <a:lumMod val="50000"/>
                  </a:schemeClr>
                </a:solidFill>
                <a:latin typeface="Huawei Sans" panose="020C0503030203020204" pitchFamily="34" charset="0"/>
                <a:ea typeface="方正兰亭黑简体" panose="02000000000000000000" pitchFamily="2" charset="-122"/>
              </a:rPr>
              <a:t>Exp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9" name="矩形 8"/>
          <p:cNvSpPr/>
          <p:nvPr/>
        </p:nvSpPr>
        <p:spPr bwMode="gray">
          <a:xfrm>
            <a:off x="2171564" y="243929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10" name="椭圆 9"/>
          <p:cNvSpPr/>
          <p:nvPr/>
        </p:nvSpPr>
        <p:spPr bwMode="gray">
          <a:xfrm>
            <a:off x="3611724" y="1935234"/>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cxnSp>
        <p:nvCxnSpPr>
          <p:cNvPr id="11" name="直接箭头连接符 10"/>
          <p:cNvCxnSpPr>
            <a:stCxn id="6" idx="3"/>
            <a:endCxn id="10" idx="1"/>
          </p:cNvCxnSpPr>
          <p:nvPr/>
        </p:nvCxnSpPr>
        <p:spPr bwMode="gray">
          <a:xfrm>
            <a:off x="3251684" y="1809220"/>
            <a:ext cx="439121" cy="205095"/>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2" name="直接箭头连接符 11"/>
          <p:cNvCxnSpPr>
            <a:stCxn id="7" idx="3"/>
            <a:endCxn id="10" idx="2"/>
          </p:cNvCxnSpPr>
          <p:nvPr/>
        </p:nvCxnSpPr>
        <p:spPr bwMode="gray">
          <a:xfrm flipV="1">
            <a:off x="3251684" y="220523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3" name="直接箭头连接符 12"/>
          <p:cNvCxnSpPr>
            <a:stCxn id="9" idx="3"/>
            <a:endCxn id="10" idx="3"/>
          </p:cNvCxnSpPr>
          <p:nvPr/>
        </p:nvCxnSpPr>
        <p:spPr bwMode="gray">
          <a:xfrm flipV="1">
            <a:off x="3251684" y="2396153"/>
            <a:ext cx="439121" cy="205137"/>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20" name="文本框 19"/>
          <p:cNvSpPr txBox="1"/>
          <p:nvPr/>
        </p:nvSpPr>
        <p:spPr bwMode="gray">
          <a:xfrm>
            <a:off x="3600099" y="2032401"/>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24" name="直接箭头连接符 23"/>
          <p:cNvCxnSpPr>
            <a:stCxn id="20" idx="3"/>
          </p:cNvCxnSpPr>
          <p:nvPr/>
        </p:nvCxnSpPr>
        <p:spPr bwMode="gray">
          <a:xfrm>
            <a:off x="4187788" y="2199842"/>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27" name="表格 26"/>
          <p:cNvGraphicFramePr>
            <a:graphicFrameLocks noGrp="1"/>
          </p:cNvGraphicFramePr>
          <p:nvPr/>
        </p:nvGraphicFramePr>
        <p:xfrm>
          <a:off x="4583832" y="1719210"/>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marL="0" algn="ctr" defTabSz="914034" rtl="0" eaLnBrk="1" latinLnBrk="0" hangingPunct="1"/>
                      <a:r>
                        <a:rPr lang="en-US" altLang="zh-CN" sz="1400" b="1" kern="1200" dirty="0">
                          <a:solidFill>
                            <a:schemeClr val="tx1"/>
                          </a:solidFill>
                          <a:latin typeface="+mn-lt"/>
                          <a:ea typeface="+mn-ea"/>
                          <a:cs typeface="+mn-cs"/>
                        </a:rPr>
                        <a:t>Service Class</a:t>
                      </a:r>
                      <a:endParaRPr lang="zh-CN" altLang="en-US" sz="1400" b="1"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0"/>
                  </a:ext>
                </a:extLst>
              </a:tr>
              <a:tr h="370840">
                <a:tc>
                  <a:txBody>
                    <a:bodyPr/>
                    <a:lstStyle/>
                    <a:p>
                      <a:pPr marL="0" algn="ctr" defTabSz="914034" rtl="0" eaLnBrk="1" latinLnBrk="0" hangingPunct="1"/>
                      <a:r>
                        <a:rPr lang="en-US" altLang="zh-CN" sz="1400" b="1" kern="1200" dirty="0">
                          <a:solidFill>
                            <a:schemeClr val="tx1"/>
                          </a:solidFill>
                          <a:latin typeface="+mn-lt"/>
                          <a:ea typeface="+mn-ea"/>
                          <a:cs typeface="+mn-cs"/>
                        </a:rPr>
                        <a:t>Color</a:t>
                      </a:r>
                      <a:endParaRPr lang="zh-CN" altLang="en-US" sz="1400" b="1" kern="1200" dirty="0">
                        <a:solidFill>
                          <a:schemeClr val="tx1"/>
                        </a:solidFill>
                        <a:latin typeface="+mn-lt"/>
                        <a:ea typeface="+mn-ea"/>
                        <a:cs typeface="+mn-cs"/>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extLst>
                  <a:ext uri="{0D108BD9-81ED-4DB2-BD59-A6C34878D82A}">
                    <a16:rowId xmlns:a16="http://schemas.microsoft.com/office/drawing/2014/main" val="10001"/>
                  </a:ext>
                </a:extLst>
              </a:tr>
            </a:tbl>
          </a:graphicData>
        </a:graphic>
      </p:graphicFrame>
      <p:sp>
        <p:nvSpPr>
          <p:cNvPr id="69" name="文本框 68"/>
          <p:cNvSpPr txBox="1"/>
          <p:nvPr/>
        </p:nvSpPr>
        <p:spPr bwMode="gray">
          <a:xfrm>
            <a:off x="3503712" y="1179096"/>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600" b="1">
                <a:solidFill>
                  <a:schemeClr val="bg1">
                    <a:lumMod val="50000"/>
                  </a:schemeClr>
                </a:solidFill>
                <a:latin typeface="+mn-ea"/>
                <a:ea typeface="+mn-ea"/>
              </a:defRPr>
            </a:lvl1pPr>
          </a:lstStyle>
          <a:p>
            <a:r>
              <a:rPr lang="zh-CN" altLang="en-US" dirty="0">
                <a:latin typeface="Huawei Sans" panose="020C0503030203020204" pitchFamily="34" charset="0"/>
                <a:ea typeface="方正兰亭黑简体" panose="02000000000000000000" pitchFamily="2" charset="-122"/>
              </a:rPr>
              <a:t>上行方向</a:t>
            </a:r>
          </a:p>
        </p:txBody>
      </p:sp>
      <p:sp>
        <p:nvSpPr>
          <p:cNvPr id="80" name="文本框 79"/>
          <p:cNvSpPr txBox="1"/>
          <p:nvPr/>
        </p:nvSpPr>
        <p:spPr bwMode="gray">
          <a:xfrm>
            <a:off x="3179676" y="4221834"/>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报文在</a:t>
            </a:r>
          </a:p>
          <a:p>
            <a:pPr algn="ctr">
              <a:lnSpc>
                <a:spcPct val="125000"/>
              </a:lnSpc>
            </a:pPr>
            <a:r>
              <a:rPr lang="zh-CN" altLang="en-US" sz="1400" dirty="0">
                <a:latin typeface="Huawei Sans" panose="020C0503030203020204" pitchFamily="34" charset="0"/>
                <a:ea typeface="方正兰亭黑简体" panose="02000000000000000000" pitchFamily="2" charset="-122"/>
              </a:rPr>
              <a:t>设备内部的</a:t>
            </a:r>
          </a:p>
          <a:p>
            <a:pPr algn="ctr">
              <a:lnSpc>
                <a:spcPct val="125000"/>
              </a:lnSpc>
            </a:pPr>
            <a:r>
              <a:rPr lang="zh-CN" altLang="en-US" sz="1400" dirty="0">
                <a:latin typeface="Huawei Sans" panose="020C0503030203020204" pitchFamily="34" charset="0"/>
                <a:ea typeface="方正兰亭黑简体" panose="02000000000000000000" pitchFamily="2" charset="-122"/>
              </a:rPr>
              <a:t>丢弃优先级</a:t>
            </a:r>
          </a:p>
        </p:txBody>
      </p:sp>
      <p:sp>
        <p:nvSpPr>
          <p:cNvPr id="82" name="矩形 81"/>
          <p:cNvSpPr/>
          <p:nvPr/>
        </p:nvSpPr>
        <p:spPr bwMode="gray">
          <a:xfrm>
            <a:off x="3143672" y="3897798"/>
            <a:ext cx="1332148"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en-US" altLang="zh-CN" sz="1400" b="1" dirty="0">
                <a:solidFill>
                  <a:schemeClr val="bg1"/>
                </a:solidFill>
                <a:latin typeface="Huawei Sans" panose="020C0503030203020204" pitchFamily="34" charset="0"/>
                <a:ea typeface="方正兰亭黑简体" panose="02000000000000000000" pitchFamily="2" charset="-122"/>
              </a:rPr>
              <a:t>Color</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86" name="下箭头 85"/>
          <p:cNvSpPr/>
          <p:nvPr/>
        </p:nvSpPr>
        <p:spPr bwMode="gray">
          <a:xfrm rot="1800000">
            <a:off x="4015462" y="3212658"/>
            <a:ext cx="28803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0" name="矩形 89"/>
          <p:cNvSpPr/>
          <p:nvPr/>
        </p:nvSpPr>
        <p:spPr bwMode="gray">
          <a:xfrm>
            <a:off x="1091444" y="164720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1" name="矩形 90"/>
          <p:cNvSpPr/>
          <p:nvPr/>
        </p:nvSpPr>
        <p:spPr bwMode="gray">
          <a:xfrm>
            <a:off x="1091444" y="2043264"/>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2" name="矩形 91"/>
          <p:cNvSpPr/>
          <p:nvPr/>
        </p:nvSpPr>
        <p:spPr bwMode="gray">
          <a:xfrm>
            <a:off x="1091444" y="243929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93" name="矩形 92"/>
          <p:cNvSpPr/>
          <p:nvPr/>
        </p:nvSpPr>
        <p:spPr bwMode="gray">
          <a:xfrm>
            <a:off x="1667508" y="1179096"/>
            <a:ext cx="1080120" cy="324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简单流分类</a:t>
            </a:r>
          </a:p>
        </p:txBody>
      </p:sp>
      <p:sp>
        <p:nvSpPr>
          <p:cNvPr id="50" name="右箭头 49"/>
          <p:cNvSpPr/>
          <p:nvPr/>
        </p:nvSpPr>
        <p:spPr bwMode="gray">
          <a:xfrm>
            <a:off x="5843972" y="1935234"/>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1" name="矩形 50"/>
          <p:cNvSpPr/>
          <p:nvPr/>
        </p:nvSpPr>
        <p:spPr bwMode="gray">
          <a:xfrm>
            <a:off x="6456040" y="1899230"/>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55" name="右箭头 54"/>
          <p:cNvSpPr/>
          <p:nvPr/>
        </p:nvSpPr>
        <p:spPr bwMode="gray">
          <a:xfrm>
            <a:off x="6996100" y="2691318"/>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56" name="表格 55"/>
          <p:cNvGraphicFramePr>
            <a:graphicFrameLocks noGrp="1"/>
          </p:cNvGraphicFramePr>
          <p:nvPr/>
        </p:nvGraphicFramePr>
        <p:xfrm>
          <a:off x="7608168" y="2511298"/>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bg1">
                              <a:lumMod val="50000"/>
                            </a:schemeClr>
                          </a:solidFill>
                        </a:rPr>
                        <a:t>Service Class</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bg1">
                              <a:lumMod val="50000"/>
                            </a:schemeClr>
                          </a:solidFill>
                        </a:rPr>
                        <a:t>Color</a:t>
                      </a:r>
                      <a:endParaRPr lang="zh-CN" altLang="en-US" sz="14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57" name="椭圆 56"/>
          <p:cNvSpPr/>
          <p:nvPr/>
        </p:nvSpPr>
        <p:spPr bwMode="gray">
          <a:xfrm>
            <a:off x="9192344" y="2655314"/>
            <a:ext cx="540000" cy="540000"/>
          </a:xfrm>
          <a:prstGeom prst="ellipse">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59" name="直接箭头连接符 58"/>
          <p:cNvCxnSpPr>
            <a:stCxn id="57" idx="7"/>
          </p:cNvCxnSpPr>
          <p:nvPr/>
        </p:nvCxnSpPr>
        <p:spPr bwMode="gray">
          <a:xfrm flipV="1">
            <a:off x="9653263" y="2529282"/>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1" name="直接箭头连接符 60"/>
          <p:cNvCxnSpPr>
            <a:endCxn id="57" idx="2"/>
          </p:cNvCxnSpPr>
          <p:nvPr/>
        </p:nvCxnSpPr>
        <p:spPr bwMode="gray">
          <a:xfrm flipV="1">
            <a:off x="8832304" y="292531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3" name="直接箭头连接符 62"/>
          <p:cNvCxnSpPr>
            <a:stCxn id="57" idx="5"/>
          </p:cNvCxnSpPr>
          <p:nvPr/>
        </p:nvCxnSpPr>
        <p:spPr bwMode="gray">
          <a:xfrm>
            <a:off x="9653263" y="3116233"/>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4" name="直接箭头连接符 63"/>
          <p:cNvCxnSpPr>
            <a:stCxn id="57" idx="6"/>
          </p:cNvCxnSpPr>
          <p:nvPr/>
        </p:nvCxnSpPr>
        <p:spPr bwMode="gray">
          <a:xfrm>
            <a:off x="9732344" y="2925314"/>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67" name="文本框 66"/>
          <p:cNvSpPr txBox="1"/>
          <p:nvPr/>
        </p:nvSpPr>
        <p:spPr bwMode="gray">
          <a:xfrm>
            <a:off x="9180719" y="272732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映射</a:t>
            </a:r>
          </a:p>
        </p:txBody>
      </p:sp>
      <p:cxnSp>
        <p:nvCxnSpPr>
          <p:cNvPr id="68" name="直接连接符 67"/>
          <p:cNvCxnSpPr/>
          <p:nvPr/>
        </p:nvCxnSpPr>
        <p:spPr bwMode="gray">
          <a:xfrm>
            <a:off x="6456040" y="189923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70" name="直接连接符 69"/>
          <p:cNvCxnSpPr/>
          <p:nvPr/>
        </p:nvCxnSpPr>
        <p:spPr bwMode="gray">
          <a:xfrm flipH="1">
            <a:off x="6456040" y="189923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74" name="文本框 73"/>
          <p:cNvSpPr txBox="1"/>
          <p:nvPr/>
        </p:nvSpPr>
        <p:spPr bwMode="gray">
          <a:xfrm>
            <a:off x="6168008" y="152834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cxnSp>
        <p:nvCxnSpPr>
          <p:cNvPr id="75" name="直接连接符 74"/>
          <p:cNvCxnSpPr/>
          <p:nvPr/>
        </p:nvCxnSpPr>
        <p:spPr bwMode="gray">
          <a:xfrm>
            <a:off x="6672064" y="1251104"/>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76" name="文本框 75"/>
          <p:cNvSpPr txBox="1"/>
          <p:nvPr/>
        </p:nvSpPr>
        <p:spPr bwMode="gray">
          <a:xfrm>
            <a:off x="8544272" y="117909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sp>
        <p:nvSpPr>
          <p:cNvPr id="77" name="矩形 76"/>
          <p:cNvSpPr/>
          <p:nvPr/>
        </p:nvSpPr>
        <p:spPr bwMode="gray">
          <a:xfrm>
            <a:off x="10092444" y="2367264"/>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78" name="矩形 77"/>
          <p:cNvSpPr/>
          <p:nvPr/>
        </p:nvSpPr>
        <p:spPr bwMode="gray">
          <a:xfrm>
            <a:off x="10092444" y="276331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87" name="矩形 86"/>
          <p:cNvSpPr/>
          <p:nvPr/>
        </p:nvSpPr>
        <p:spPr bwMode="gray">
          <a:xfrm>
            <a:off x="10092444" y="3159352"/>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endParaRPr>
          </a:p>
        </p:txBody>
      </p:sp>
      <p:graphicFrame>
        <p:nvGraphicFramePr>
          <p:cNvPr id="88" name="表格 87"/>
          <p:cNvGraphicFramePr>
            <a:graphicFrameLocks noGrp="1"/>
          </p:cNvGraphicFramePr>
          <p:nvPr/>
        </p:nvGraphicFramePr>
        <p:xfrm>
          <a:off x="5159896" y="3717778"/>
          <a:ext cx="1296144" cy="2412690"/>
        </p:xfrm>
        <a:graphic>
          <a:graphicData uri="http://schemas.openxmlformats.org/drawingml/2006/table">
            <a:tbl>
              <a:tblPr firstRow="1" bandRow="1">
                <a:tableStyleId>{5940675A-B579-460E-94D1-54222C63F5DA}</a:tableStyleId>
              </a:tblPr>
              <a:tblGrid>
                <a:gridCol w="1296144">
                  <a:extLst>
                    <a:ext uri="{9D8B030D-6E8A-4147-A177-3AD203B41FA5}">
                      <a16:colId xmlns:a16="http://schemas.microsoft.com/office/drawing/2014/main" val="20000"/>
                    </a:ext>
                  </a:extLst>
                </a:gridCol>
              </a:tblGrid>
              <a:tr h="804230">
                <a:tc>
                  <a:txBody>
                    <a:bodyPr/>
                    <a:lstStyle/>
                    <a:p>
                      <a:pPr algn="ctr"/>
                      <a:r>
                        <a:rPr lang="en-US" altLang="zh-CN" sz="1400" b="1" dirty="0">
                          <a:solidFill>
                            <a:schemeClr val="bg1"/>
                          </a:solidFill>
                        </a:rPr>
                        <a:t>Green</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8BC9A0"/>
                    </a:solidFill>
                  </a:tcPr>
                </a:tc>
                <a:extLst>
                  <a:ext uri="{0D108BD9-81ED-4DB2-BD59-A6C34878D82A}">
                    <a16:rowId xmlns:a16="http://schemas.microsoft.com/office/drawing/2014/main" val="10000"/>
                  </a:ext>
                </a:extLst>
              </a:tr>
              <a:tr h="804230">
                <a:tc>
                  <a:txBody>
                    <a:bodyPr/>
                    <a:lstStyle/>
                    <a:p>
                      <a:pPr algn="ctr"/>
                      <a:r>
                        <a:rPr lang="en-US" altLang="zh-CN" sz="1400" b="1" dirty="0">
                          <a:solidFill>
                            <a:schemeClr val="bg1"/>
                          </a:solidFill>
                        </a:rPr>
                        <a:t>Yellow</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D17D"/>
                    </a:solidFill>
                  </a:tcPr>
                </a:tc>
                <a:extLst>
                  <a:ext uri="{0D108BD9-81ED-4DB2-BD59-A6C34878D82A}">
                    <a16:rowId xmlns:a16="http://schemas.microsoft.com/office/drawing/2014/main" val="10001"/>
                  </a:ext>
                </a:extLst>
              </a:tr>
              <a:tr h="804230">
                <a:tc>
                  <a:txBody>
                    <a:bodyPr/>
                    <a:lstStyle/>
                    <a:p>
                      <a:pPr algn="ctr"/>
                      <a:r>
                        <a:rPr lang="en-US" altLang="zh-CN" sz="1400" b="1" dirty="0">
                          <a:solidFill>
                            <a:schemeClr val="bg1"/>
                          </a:solidFill>
                        </a:rPr>
                        <a:t>Red</a:t>
                      </a:r>
                      <a:endParaRPr lang="zh-CN" altLang="en-US" sz="1400" b="1" dirty="0">
                        <a:solidFill>
                          <a:schemeClr val="bg1"/>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bl>
          </a:graphicData>
        </a:graphic>
      </p:graphicFrame>
      <p:sp>
        <p:nvSpPr>
          <p:cNvPr id="89" name="矩形 5"/>
          <p:cNvSpPr/>
          <p:nvPr/>
        </p:nvSpPr>
        <p:spPr bwMode="gray">
          <a:xfrm>
            <a:off x="4511825" y="3717778"/>
            <a:ext cx="618046" cy="2430291"/>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842766"/>
              <a:gd name="connsiteX1" fmla="*/ 453105 w 454224"/>
              <a:gd name="connsiteY1" fmla="*/ 349250 h 842766"/>
              <a:gd name="connsiteX2" fmla="*/ 450622 w 454224"/>
              <a:gd name="connsiteY2" fmla="*/ 842766 h 842766"/>
              <a:gd name="connsiteX3" fmla="*/ 0 w 454224"/>
              <a:gd name="connsiteY3" fmla="*/ 325559 h 842766"/>
              <a:gd name="connsiteX4" fmla="*/ 5516 w 454224"/>
              <a:gd name="connsiteY4" fmla="*/ 0 h 842766"/>
              <a:gd name="connsiteX0" fmla="*/ 5516 w 454224"/>
              <a:gd name="connsiteY0" fmla="*/ 0 h 842766"/>
              <a:gd name="connsiteX1" fmla="*/ 453105 w 454224"/>
              <a:gd name="connsiteY1" fmla="*/ 304800 h 842766"/>
              <a:gd name="connsiteX2" fmla="*/ 450622 w 454224"/>
              <a:gd name="connsiteY2" fmla="*/ 842766 h 842766"/>
              <a:gd name="connsiteX3" fmla="*/ 0 w 454224"/>
              <a:gd name="connsiteY3" fmla="*/ 325559 h 842766"/>
              <a:gd name="connsiteX4" fmla="*/ 5516 w 454224"/>
              <a:gd name="connsiteY4" fmla="*/ 0 h 842766"/>
              <a:gd name="connsiteX0" fmla="*/ 5516 w 536030"/>
              <a:gd name="connsiteY0" fmla="*/ 152400 h 995166"/>
              <a:gd name="connsiteX1" fmla="*/ 535862 w 536030"/>
              <a:gd name="connsiteY1" fmla="*/ 0 h 995166"/>
              <a:gd name="connsiteX2" fmla="*/ 450622 w 536030"/>
              <a:gd name="connsiteY2" fmla="*/ 995166 h 995166"/>
              <a:gd name="connsiteX3" fmla="*/ 0 w 536030"/>
              <a:gd name="connsiteY3" fmla="*/ 477959 h 995166"/>
              <a:gd name="connsiteX4" fmla="*/ 5516 w 536030"/>
              <a:gd name="connsiteY4" fmla="*/ 152400 h 995166"/>
              <a:gd name="connsiteX0" fmla="*/ 5516 w 536981"/>
              <a:gd name="connsiteY0" fmla="*/ 152400 h 2366766"/>
              <a:gd name="connsiteX1" fmla="*/ 535862 w 536981"/>
              <a:gd name="connsiteY1" fmla="*/ 0 h 2366766"/>
              <a:gd name="connsiteX2" fmla="*/ 533379 w 536981"/>
              <a:gd name="connsiteY2" fmla="*/ 2366766 h 2366766"/>
              <a:gd name="connsiteX3" fmla="*/ 0 w 536981"/>
              <a:gd name="connsiteY3" fmla="*/ 477959 h 2366766"/>
              <a:gd name="connsiteX4" fmla="*/ 5516 w 536981"/>
              <a:gd name="connsiteY4" fmla="*/ 152400 h 2366766"/>
              <a:gd name="connsiteX0" fmla="*/ 5516 w 536981"/>
              <a:gd name="connsiteY0" fmla="*/ 200025 h 2414391"/>
              <a:gd name="connsiteX1" fmla="*/ 535862 w 536981"/>
              <a:gd name="connsiteY1" fmla="*/ 0 h 2414391"/>
              <a:gd name="connsiteX2" fmla="*/ 533379 w 536981"/>
              <a:gd name="connsiteY2" fmla="*/ 2414391 h 2414391"/>
              <a:gd name="connsiteX3" fmla="*/ 0 w 536981"/>
              <a:gd name="connsiteY3" fmla="*/ 525584 h 2414391"/>
              <a:gd name="connsiteX4" fmla="*/ 5516 w 536981"/>
              <a:gd name="connsiteY4" fmla="*/ 200025 h 2414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981" h="2414391">
                <a:moveTo>
                  <a:pt x="5516" y="200025"/>
                </a:moveTo>
                <a:lnTo>
                  <a:pt x="535862" y="0"/>
                </a:lnTo>
                <a:cubicBezTo>
                  <a:pt x="540551" y="771989"/>
                  <a:pt x="528690" y="1642402"/>
                  <a:pt x="533379" y="2414391"/>
                </a:cubicBezTo>
                <a:lnTo>
                  <a:pt x="0" y="525584"/>
                </a:lnTo>
                <a:cubicBezTo>
                  <a:pt x="0" y="398014"/>
                  <a:pt x="5516" y="327595"/>
                  <a:pt x="5516" y="200025"/>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grpSp>
        <p:nvGrpSpPr>
          <p:cNvPr id="3" name="组合 2"/>
          <p:cNvGrpSpPr/>
          <p:nvPr/>
        </p:nvGrpSpPr>
        <p:grpSpPr bwMode="gray">
          <a:xfrm>
            <a:off x="6528048" y="3663372"/>
            <a:ext cx="591249" cy="2430670"/>
            <a:chOff x="6960096" y="3861048"/>
            <a:chExt cx="591249" cy="2430670"/>
          </a:xfrm>
        </p:grpSpPr>
        <p:sp>
          <p:nvSpPr>
            <p:cNvPr id="98" name="任意多边形 97"/>
            <p:cNvSpPr/>
            <p:nvPr/>
          </p:nvSpPr>
          <p:spPr bwMode="gray">
            <a:xfrm flipH="1" flipV="1">
              <a:off x="7083293" y="3969060"/>
              <a:ext cx="468052" cy="2322658"/>
            </a:xfrm>
            <a:custGeom>
              <a:avLst/>
              <a:gdLst>
                <a:gd name="connsiteX0" fmla="*/ 330200 w 330200"/>
                <a:gd name="connsiteY0" fmla="*/ 3416300 h 3416300"/>
                <a:gd name="connsiteX1" fmla="*/ 330200 w 330200"/>
                <a:gd name="connsiteY1" fmla="*/ 0 h 3416300"/>
                <a:gd name="connsiteX2" fmla="*/ 0 w 330200"/>
                <a:gd name="connsiteY2" fmla="*/ 330200 h 3416300"/>
                <a:gd name="connsiteX3" fmla="*/ 139700 w 330200"/>
                <a:gd name="connsiteY3" fmla="*/ 330200 h 3416300"/>
                <a:gd name="connsiteX4" fmla="*/ 139700 w 330200"/>
                <a:gd name="connsiteY4" fmla="*/ 3403600 h 3416300"/>
                <a:gd name="connsiteX5" fmla="*/ 330200 w 330200"/>
                <a:gd name="connsiteY5" fmla="*/ 3416300 h 34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00" h="3416300">
                  <a:moveTo>
                    <a:pt x="330200" y="3416300"/>
                  </a:moveTo>
                  <a:lnTo>
                    <a:pt x="330200" y="0"/>
                  </a:lnTo>
                  <a:lnTo>
                    <a:pt x="0" y="330200"/>
                  </a:lnTo>
                  <a:lnTo>
                    <a:pt x="139700" y="330200"/>
                  </a:lnTo>
                  <a:lnTo>
                    <a:pt x="139700" y="3403600"/>
                  </a:lnTo>
                  <a:lnTo>
                    <a:pt x="330200" y="3416300"/>
                  </a:lnTo>
                  <a:close/>
                </a:path>
              </a:pathLst>
            </a:custGeom>
            <a:gradFill>
              <a:gsLst>
                <a:gs pos="0">
                  <a:srgbClr val="30B5C5"/>
                </a:gs>
                <a:gs pos="100000">
                  <a:schemeClr val="bg1"/>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99" name="文本框 98"/>
            <p:cNvSpPr txBox="1"/>
            <p:nvPr/>
          </p:nvSpPr>
          <p:spPr bwMode="gray">
            <a:xfrm>
              <a:off x="6960096" y="3861048"/>
              <a:ext cx="509689" cy="2255384"/>
            </a:xfrm>
            <a:prstGeom prst="rect">
              <a:avLst/>
            </a:prstGeom>
            <a:noFill/>
            <a:ln w="9525">
              <a:noFill/>
              <a:miter lim="800000"/>
              <a:headEnd/>
              <a:tailEnd/>
            </a:ln>
          </p:spPr>
          <p:txBody>
            <a:bodyPr vert="horz" wrap="square" lIns="99980" tIns="49986" rIns="99980" bIns="49986" rtlCol="0">
              <a:spAutoFit/>
            </a:bodyPr>
            <a:lstStyle/>
            <a:p>
              <a:pPr algn="ctr" defTabSz="1001649" eaLnBrk="0" hangingPunct="0">
                <a:lnSpc>
                  <a:spcPct val="125000"/>
                </a:lnSpc>
              </a:pPr>
              <a:r>
                <a:rPr lang="zh-CN" altLang="en-US" sz="1600" dirty="0">
                  <a:latin typeface="Huawei Sans" panose="020C0503030203020204" pitchFamily="34" charset="0"/>
                  <a:ea typeface="方正兰亭黑简体" panose="02000000000000000000" pitchFamily="2" charset="-122"/>
                  <a:cs typeface="Arial" pitchFamily="34" charset="0"/>
                </a:rPr>
                <a:t>优先级由高到低</a:t>
              </a:r>
            </a:p>
          </p:txBody>
        </p:sp>
      </p:grpSp>
      <p:sp>
        <p:nvSpPr>
          <p:cNvPr id="103" name="矩形 102"/>
          <p:cNvSpPr/>
          <p:nvPr/>
        </p:nvSpPr>
        <p:spPr bwMode="gray">
          <a:xfrm>
            <a:off x="7644172" y="4167428"/>
            <a:ext cx="3744416" cy="115212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25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Color</a:t>
            </a:r>
          </a:p>
          <a:p>
            <a:pPr>
              <a:lnSpc>
                <a:spcPct val="125000"/>
              </a:lnSpc>
            </a:pPr>
            <a:r>
              <a:rPr lang="zh-CN" altLang="en-US" sz="1400" b="1" dirty="0">
                <a:latin typeface="Huawei Sans" panose="020C0503030203020204" pitchFamily="34" charset="0"/>
                <a:ea typeface="方正兰亭黑简体" panose="02000000000000000000" pitchFamily="2" charset="-122"/>
              </a:rPr>
              <a:t>用于实现同一个队列内部，当队列发生拥塞时报文丢弃顺序</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55176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75"/>
          <p:cNvSpPr/>
          <p:nvPr/>
        </p:nvSpPr>
        <p:spPr bwMode="gray">
          <a:xfrm>
            <a:off x="6153988" y="4088985"/>
            <a:ext cx="5481651" cy="202891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内部优先级映射到外部优先级</a:t>
            </a:r>
          </a:p>
        </p:txBody>
      </p:sp>
      <p:sp>
        <p:nvSpPr>
          <p:cNvPr id="39" name="矩形 38"/>
          <p:cNvSpPr/>
          <p:nvPr/>
        </p:nvSpPr>
        <p:spPr bwMode="gray">
          <a:xfrm>
            <a:off x="8947007" y="2515880"/>
            <a:ext cx="936104" cy="864096"/>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映射</a:t>
            </a:r>
          </a:p>
        </p:txBody>
      </p:sp>
      <p:sp>
        <p:nvSpPr>
          <p:cNvPr id="4" name="矩形 3"/>
          <p:cNvSpPr/>
          <p:nvPr/>
        </p:nvSpPr>
        <p:spPr bwMode="gray">
          <a:xfrm>
            <a:off x="3330383" y="1759796"/>
            <a:ext cx="936104" cy="864096"/>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sp>
        <p:nvSpPr>
          <p:cNvPr id="5" name="矩形 4"/>
          <p:cNvSpPr/>
          <p:nvPr/>
        </p:nvSpPr>
        <p:spPr bwMode="gray">
          <a:xfrm>
            <a:off x="2106247" y="1687842"/>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rPr>
              <a:t>802.1P</a:t>
            </a:r>
            <a:endParaRPr lang="zh-CN" altLang="en-US" sz="1400" b="1" dirty="0">
              <a:latin typeface="Huawei Sans" panose="020C0503030203020204" pitchFamily="34" charset="0"/>
              <a:ea typeface="方正兰亭黑简体" panose="02000000000000000000" pitchFamily="2" charset="-122"/>
            </a:endParaRPr>
          </a:p>
        </p:txBody>
      </p:sp>
      <p:sp>
        <p:nvSpPr>
          <p:cNvPr id="6" name="矩形 5"/>
          <p:cNvSpPr/>
          <p:nvPr/>
        </p:nvSpPr>
        <p:spPr bwMode="gray">
          <a:xfrm>
            <a:off x="2106247" y="208390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rPr>
              <a:t>MPLS </a:t>
            </a:r>
            <a:r>
              <a:rPr lang="en-US" altLang="zh-CN" sz="1400" b="1" dirty="0" err="1">
                <a:latin typeface="Huawei Sans" panose="020C0503030203020204" pitchFamily="34" charset="0"/>
                <a:ea typeface="方正兰亭黑简体" panose="02000000000000000000" pitchFamily="2" charset="-122"/>
              </a:rPr>
              <a:t>Exp</a:t>
            </a:r>
            <a:endParaRPr lang="zh-CN" altLang="en-US" sz="1400" b="1" dirty="0">
              <a:latin typeface="Huawei Sans" panose="020C0503030203020204" pitchFamily="34" charset="0"/>
              <a:ea typeface="方正兰亭黑简体" panose="02000000000000000000" pitchFamily="2" charset="-122"/>
            </a:endParaRPr>
          </a:p>
        </p:txBody>
      </p:sp>
      <p:sp>
        <p:nvSpPr>
          <p:cNvPr id="7" name="矩形 6"/>
          <p:cNvSpPr/>
          <p:nvPr/>
        </p:nvSpPr>
        <p:spPr bwMode="gray">
          <a:xfrm>
            <a:off x="2106247" y="2479930"/>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rPr>
              <a:t>DSCP</a:t>
            </a:r>
            <a:endParaRPr lang="zh-CN" altLang="en-US" sz="1400" b="1" dirty="0">
              <a:latin typeface="Huawei Sans" panose="020C0503030203020204" pitchFamily="34" charset="0"/>
              <a:ea typeface="方正兰亭黑简体" panose="02000000000000000000" pitchFamily="2" charset="-122"/>
            </a:endParaRPr>
          </a:p>
        </p:txBody>
      </p:sp>
      <p:sp>
        <p:nvSpPr>
          <p:cNvPr id="8" name="椭圆 7"/>
          <p:cNvSpPr/>
          <p:nvPr/>
        </p:nvSpPr>
        <p:spPr bwMode="gray">
          <a:xfrm>
            <a:off x="3546407" y="1975874"/>
            <a:ext cx="540000" cy="540000"/>
          </a:xfrm>
          <a:prstGeom prst="ellipse">
            <a:avLst/>
          </a:prstGeom>
          <a:solidFill>
            <a:srgbClr val="BEE9EE"/>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solidFill>
              <a:latin typeface="Huawei Sans" panose="020C0503030203020204" pitchFamily="34" charset="0"/>
              <a:ea typeface="方正兰亭黑简体" panose="02000000000000000000" pitchFamily="2" charset="-122"/>
            </a:endParaRPr>
          </a:p>
        </p:txBody>
      </p:sp>
      <p:cxnSp>
        <p:nvCxnSpPr>
          <p:cNvPr id="9" name="直接箭头连接符 8"/>
          <p:cNvCxnSpPr>
            <a:stCxn id="5" idx="3"/>
            <a:endCxn id="8" idx="1"/>
          </p:cNvCxnSpPr>
          <p:nvPr/>
        </p:nvCxnSpPr>
        <p:spPr bwMode="gray">
          <a:xfrm>
            <a:off x="3186367" y="1849860"/>
            <a:ext cx="439121" cy="205095"/>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0" name="直接箭头连接符 9"/>
          <p:cNvCxnSpPr>
            <a:stCxn id="6" idx="3"/>
            <a:endCxn id="8" idx="2"/>
          </p:cNvCxnSpPr>
          <p:nvPr/>
        </p:nvCxnSpPr>
        <p:spPr bwMode="gray">
          <a:xfrm flipV="1">
            <a:off x="3186367" y="224587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1" name="直接箭头连接符 10"/>
          <p:cNvCxnSpPr>
            <a:stCxn id="7" idx="3"/>
            <a:endCxn id="8" idx="3"/>
          </p:cNvCxnSpPr>
          <p:nvPr/>
        </p:nvCxnSpPr>
        <p:spPr bwMode="gray">
          <a:xfrm flipV="1">
            <a:off x="3186367" y="2436793"/>
            <a:ext cx="439121" cy="205137"/>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12" name="文本框 11"/>
          <p:cNvSpPr txBox="1"/>
          <p:nvPr/>
        </p:nvSpPr>
        <p:spPr bwMode="gray">
          <a:xfrm>
            <a:off x="3516779" y="208383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zh-CN" altLang="en-US" sz="1600" dirty="0">
                <a:latin typeface="Huawei Sans" panose="020C0503030203020204" pitchFamily="34" charset="0"/>
                <a:ea typeface="方正兰亭黑简体" panose="02000000000000000000" pitchFamily="2" charset="-122"/>
              </a:rPr>
              <a:t>映射</a:t>
            </a:r>
          </a:p>
        </p:txBody>
      </p:sp>
      <p:cxnSp>
        <p:nvCxnSpPr>
          <p:cNvPr id="13" name="直接箭头连接符 12"/>
          <p:cNvCxnSpPr>
            <a:stCxn id="12" idx="3"/>
          </p:cNvCxnSpPr>
          <p:nvPr/>
        </p:nvCxnSpPr>
        <p:spPr bwMode="gray">
          <a:xfrm>
            <a:off x="4104468" y="2251273"/>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15" name="文本框 14"/>
          <p:cNvSpPr txBox="1"/>
          <p:nvPr/>
        </p:nvSpPr>
        <p:spPr bwMode="gray">
          <a:xfrm>
            <a:off x="3318702" y="1219736"/>
            <a:ext cx="998057"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600" b="1">
                <a:solidFill>
                  <a:schemeClr val="bg1">
                    <a:lumMod val="50000"/>
                  </a:schemeClr>
                </a:solidFill>
                <a:latin typeface="+mn-ea"/>
                <a:ea typeface="+mn-ea"/>
              </a:defRPr>
            </a:lvl1pPr>
          </a:lstStyle>
          <a:p>
            <a:r>
              <a:rPr lang="zh-CN" altLang="en-US" dirty="0">
                <a:solidFill>
                  <a:srgbClr val="C7000B"/>
                </a:solidFill>
                <a:latin typeface="Huawei Sans" panose="020C0503030203020204" pitchFamily="34" charset="0"/>
                <a:ea typeface="方正兰亭黑简体" panose="02000000000000000000" pitchFamily="2" charset="-122"/>
              </a:rPr>
              <a:t>上行方向</a:t>
            </a:r>
          </a:p>
        </p:txBody>
      </p:sp>
      <p:sp>
        <p:nvSpPr>
          <p:cNvPr id="16" name="矩形 15"/>
          <p:cNvSpPr/>
          <p:nvPr/>
        </p:nvSpPr>
        <p:spPr bwMode="gray">
          <a:xfrm>
            <a:off x="1026127" y="168784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VLAN</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17" name="矩形 16"/>
          <p:cNvSpPr/>
          <p:nvPr/>
        </p:nvSpPr>
        <p:spPr bwMode="gray">
          <a:xfrm>
            <a:off x="1026127" y="2083904"/>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MPLS</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18" name="矩形 17"/>
          <p:cNvSpPr/>
          <p:nvPr/>
        </p:nvSpPr>
        <p:spPr bwMode="gray">
          <a:xfrm>
            <a:off x="1026127" y="2479930"/>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rPr>
              <a:t>IP</a:t>
            </a: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19" name="矩形 18"/>
          <p:cNvSpPr/>
          <p:nvPr/>
        </p:nvSpPr>
        <p:spPr bwMode="gray">
          <a:xfrm>
            <a:off x="1602191" y="1219736"/>
            <a:ext cx="1080120" cy="324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简单流分类</a:t>
            </a:r>
          </a:p>
        </p:txBody>
      </p:sp>
      <p:sp>
        <p:nvSpPr>
          <p:cNvPr id="20" name="右箭头 19"/>
          <p:cNvSpPr/>
          <p:nvPr/>
        </p:nvSpPr>
        <p:spPr bwMode="gray">
          <a:xfrm>
            <a:off x="5778655" y="1975874"/>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矩形 20"/>
          <p:cNvSpPr/>
          <p:nvPr/>
        </p:nvSpPr>
        <p:spPr bwMode="gray">
          <a:xfrm>
            <a:off x="6390723" y="1939870"/>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22" name="右箭头 21"/>
          <p:cNvSpPr/>
          <p:nvPr/>
        </p:nvSpPr>
        <p:spPr bwMode="gray">
          <a:xfrm>
            <a:off x="6930783" y="2731958"/>
            <a:ext cx="540000" cy="540000"/>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23" name="表格 22"/>
          <p:cNvGraphicFramePr>
            <a:graphicFrameLocks noGrp="1"/>
          </p:cNvGraphicFramePr>
          <p:nvPr>
            <p:extLst>
              <p:ext uri="{D42A27DB-BD31-4B8C-83A1-F6EECF244321}">
                <p14:modId xmlns:p14="http://schemas.microsoft.com/office/powerpoint/2010/main" val="3100866855"/>
              </p:ext>
            </p:extLst>
          </p:nvPr>
        </p:nvGraphicFramePr>
        <p:xfrm>
          <a:off x="7542851" y="2551938"/>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tx1"/>
                          </a:solidFill>
                        </a:rPr>
                        <a:t>Service Class</a:t>
                      </a:r>
                      <a:endParaRPr lang="zh-CN" altLang="en-US" sz="1400" b="1"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tx1"/>
                          </a:solidFill>
                        </a:rPr>
                        <a:t>Color</a:t>
                      </a:r>
                      <a:endParaRPr lang="zh-CN" altLang="en-US" sz="1400" b="1"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24" name="椭圆 23"/>
          <p:cNvSpPr/>
          <p:nvPr/>
        </p:nvSpPr>
        <p:spPr bwMode="gray">
          <a:xfrm>
            <a:off x="9127027" y="2695954"/>
            <a:ext cx="540000" cy="540000"/>
          </a:xfrm>
          <a:prstGeom prst="ellipse">
            <a:avLst/>
          </a:prstGeom>
          <a:solidFill>
            <a:srgbClr val="BEE9EE"/>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solidFill>
              <a:latin typeface="Huawei Sans" panose="020C0503030203020204" pitchFamily="34" charset="0"/>
              <a:ea typeface="方正兰亭黑简体" panose="02000000000000000000" pitchFamily="2" charset="-122"/>
            </a:endParaRPr>
          </a:p>
        </p:txBody>
      </p:sp>
      <p:cxnSp>
        <p:nvCxnSpPr>
          <p:cNvPr id="25" name="直接箭头连接符 24"/>
          <p:cNvCxnSpPr>
            <a:stCxn id="24" idx="7"/>
          </p:cNvCxnSpPr>
          <p:nvPr/>
        </p:nvCxnSpPr>
        <p:spPr bwMode="gray">
          <a:xfrm flipV="1">
            <a:off x="9587946" y="2569922"/>
            <a:ext cx="439181" cy="205113"/>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26" name="直接箭头连接符 25"/>
          <p:cNvCxnSpPr>
            <a:endCxn id="24" idx="2"/>
          </p:cNvCxnSpPr>
          <p:nvPr/>
        </p:nvCxnSpPr>
        <p:spPr bwMode="gray">
          <a:xfrm flipV="1">
            <a:off x="8766987" y="2965954"/>
            <a:ext cx="360040" cy="3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27" name="直接箭头连接符 26"/>
          <p:cNvCxnSpPr>
            <a:stCxn id="24" idx="5"/>
          </p:cNvCxnSpPr>
          <p:nvPr/>
        </p:nvCxnSpPr>
        <p:spPr bwMode="gray">
          <a:xfrm>
            <a:off x="9587946" y="3156873"/>
            <a:ext cx="439181" cy="205119"/>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28" name="直接箭头连接符 27"/>
          <p:cNvCxnSpPr>
            <a:stCxn id="24" idx="6"/>
          </p:cNvCxnSpPr>
          <p:nvPr/>
        </p:nvCxnSpPr>
        <p:spPr bwMode="gray">
          <a:xfrm>
            <a:off x="9667027" y="2965954"/>
            <a:ext cx="3601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sp>
        <p:nvSpPr>
          <p:cNvPr id="29" name="文本框 28"/>
          <p:cNvSpPr txBox="1"/>
          <p:nvPr/>
        </p:nvSpPr>
        <p:spPr bwMode="gray">
          <a:xfrm>
            <a:off x="9115402" y="280391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zh-CN" altLang="en-US" sz="1600" dirty="0">
                <a:latin typeface="Huawei Sans" panose="020C0503030203020204" pitchFamily="34" charset="0"/>
                <a:ea typeface="方正兰亭黑简体" panose="02000000000000000000" pitchFamily="2" charset="-122"/>
              </a:rPr>
              <a:t>映射</a:t>
            </a:r>
          </a:p>
        </p:txBody>
      </p:sp>
      <p:cxnSp>
        <p:nvCxnSpPr>
          <p:cNvPr id="30" name="直接连接符 29"/>
          <p:cNvCxnSpPr/>
          <p:nvPr/>
        </p:nvCxnSpPr>
        <p:spPr bwMode="gray">
          <a:xfrm>
            <a:off x="6390723" y="193987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31" name="直接连接符 30"/>
          <p:cNvCxnSpPr/>
          <p:nvPr/>
        </p:nvCxnSpPr>
        <p:spPr bwMode="gray">
          <a:xfrm flipH="1">
            <a:off x="6390723" y="193987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sp>
        <p:nvSpPr>
          <p:cNvPr id="32" name="文本框 31"/>
          <p:cNvSpPr txBox="1"/>
          <p:nvPr/>
        </p:nvSpPr>
        <p:spPr bwMode="gray">
          <a:xfrm>
            <a:off x="6102691" y="156898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sp>
        <p:nvSpPr>
          <p:cNvPr id="33" name="文本框 32"/>
          <p:cNvSpPr txBox="1"/>
          <p:nvPr/>
        </p:nvSpPr>
        <p:spPr bwMode="gray">
          <a:xfrm>
            <a:off x="8478955" y="12197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rgbClr val="C7000B"/>
                </a:solidFill>
                <a:latin typeface="Huawei Sans" panose="020C0503030203020204" pitchFamily="34" charset="0"/>
                <a:ea typeface="方正兰亭黑简体" panose="02000000000000000000" pitchFamily="2" charset="-122"/>
              </a:rPr>
              <a:t>下行方向</a:t>
            </a:r>
          </a:p>
        </p:txBody>
      </p:sp>
      <p:sp>
        <p:nvSpPr>
          <p:cNvPr id="34" name="矩形 33"/>
          <p:cNvSpPr/>
          <p:nvPr/>
        </p:nvSpPr>
        <p:spPr bwMode="gray">
          <a:xfrm>
            <a:off x="10027127" y="2407904"/>
            <a:ext cx="1080120" cy="32403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802.1P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5" name="矩形 34"/>
          <p:cNvSpPr/>
          <p:nvPr/>
        </p:nvSpPr>
        <p:spPr bwMode="gray">
          <a:xfrm>
            <a:off x="10027127" y="2803954"/>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MPLS </a:t>
            </a:r>
            <a:r>
              <a:rPr kumimoji="0" lang="en-US" altLang="zh-CN" sz="1400" b="1" i="0" u="none" strike="noStrike" cap="none" normalizeH="0" baseline="0" dirty="0" err="1">
                <a:ln>
                  <a:noFill/>
                </a:ln>
                <a:effectLst/>
                <a:latin typeface="Huawei Sans" panose="020C0503030203020204" pitchFamily="34" charset="0"/>
                <a:ea typeface="方正兰亭黑简体" panose="02000000000000000000" pitchFamily="2" charset="-122"/>
              </a:rPr>
              <a:t>Exp</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6" name="矩形 35"/>
          <p:cNvSpPr/>
          <p:nvPr/>
        </p:nvSpPr>
        <p:spPr bwMode="gray">
          <a:xfrm>
            <a:off x="10027127" y="3199992"/>
            <a:ext cx="1080120" cy="324000"/>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rPr>
              <a:t>DSCP</a:t>
            </a:r>
            <a:endParaRPr lang="zh-CN" altLang="en-US" sz="1400" b="1" dirty="0">
              <a:latin typeface="Huawei Sans" panose="020C0503030203020204" pitchFamily="34" charset="0"/>
              <a:ea typeface="方正兰亭黑简体" panose="02000000000000000000" pitchFamily="2" charset="-122"/>
            </a:endParaRPr>
          </a:p>
        </p:txBody>
      </p:sp>
      <p:graphicFrame>
        <p:nvGraphicFramePr>
          <p:cNvPr id="37" name="表格 36"/>
          <p:cNvGraphicFramePr>
            <a:graphicFrameLocks noGrp="1"/>
          </p:cNvGraphicFramePr>
          <p:nvPr>
            <p:extLst>
              <p:ext uri="{D42A27DB-BD31-4B8C-83A1-F6EECF244321}">
                <p14:modId xmlns:p14="http://schemas.microsoft.com/office/powerpoint/2010/main" val="732029256"/>
              </p:ext>
            </p:extLst>
          </p:nvPr>
        </p:nvGraphicFramePr>
        <p:xfrm>
          <a:off x="4518515" y="1759850"/>
          <a:ext cx="1188132" cy="88900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solidFill>
                            <a:schemeClr val="tx1"/>
                          </a:solidFill>
                        </a:rPr>
                        <a:t>Service Class</a:t>
                      </a:r>
                      <a:endParaRPr lang="zh-CN" altLang="en-US" sz="1400" b="1"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altLang="zh-CN" sz="1400" b="1" dirty="0">
                          <a:solidFill>
                            <a:schemeClr val="tx1"/>
                          </a:solidFill>
                        </a:rPr>
                        <a:t>Color</a:t>
                      </a:r>
                      <a:endParaRPr lang="zh-CN" altLang="en-US" sz="1400" b="1" dirty="0">
                        <a:solidFill>
                          <a:schemeClr val="tx1"/>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38" name="下箭头 37"/>
          <p:cNvSpPr/>
          <p:nvPr/>
        </p:nvSpPr>
        <p:spPr bwMode="gray">
          <a:xfrm>
            <a:off x="3672549" y="2721058"/>
            <a:ext cx="323779" cy="815057"/>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44" name="表格 43"/>
          <p:cNvGraphicFramePr>
            <a:graphicFrameLocks noGrp="1"/>
          </p:cNvGraphicFramePr>
          <p:nvPr>
            <p:extLst>
              <p:ext uri="{D42A27DB-BD31-4B8C-83A1-F6EECF244321}">
                <p14:modId xmlns:p14="http://schemas.microsoft.com/office/powerpoint/2010/main" val="1702656843"/>
              </p:ext>
            </p:extLst>
          </p:nvPr>
        </p:nvGraphicFramePr>
        <p:xfrm>
          <a:off x="715459" y="4143191"/>
          <a:ext cx="5004000" cy="1627300"/>
        </p:xfrm>
        <a:graphic>
          <a:graphicData uri="http://schemas.openxmlformats.org/drawingml/2006/table">
            <a:tbl>
              <a:tblPr firstRow="1" bandRow="1">
                <a:tableStyleId>{616DA210-FB5B-4158-B5E0-FEB733F419BA}</a:tableStyleId>
              </a:tblPr>
              <a:tblGrid>
                <a:gridCol w="72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648000">
                  <a:extLst>
                    <a:ext uri="{9D8B030D-6E8A-4147-A177-3AD203B41FA5}">
                      <a16:colId xmlns:a16="http://schemas.microsoft.com/office/drawing/2014/main" val="20005"/>
                    </a:ext>
                  </a:extLst>
                </a:gridCol>
                <a:gridCol w="648000">
                  <a:extLst>
                    <a:ext uri="{9D8B030D-6E8A-4147-A177-3AD203B41FA5}">
                      <a16:colId xmlns:a16="http://schemas.microsoft.com/office/drawing/2014/main" val="20006"/>
                    </a:ext>
                  </a:extLst>
                </a:gridCol>
                <a:gridCol w="648000">
                  <a:extLst>
                    <a:ext uri="{9D8B030D-6E8A-4147-A177-3AD203B41FA5}">
                      <a16:colId xmlns:a16="http://schemas.microsoft.com/office/drawing/2014/main" val="20007"/>
                    </a:ext>
                  </a:extLst>
                </a:gridCol>
              </a:tblGrid>
              <a:tr h="40810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a:solidFill>
                            <a:schemeClr val="tx1"/>
                          </a:solidFill>
                          <a:latin typeface="Huawei Sans" panose="020C0503030203020204" pitchFamily="34" charset="0"/>
                          <a:ea typeface="方正兰亭黑简体" panose="02000000000000000000" pitchFamily="2" charset="-122"/>
                        </a:rPr>
                        <a:t>DSCP</a:t>
                      </a:r>
                      <a:endParaRPr lang="zh-CN" altLang="en-US" sz="1400" b="1" baseline="0" dirty="0">
                        <a:solidFill>
                          <a:schemeClr val="tx1"/>
                        </a:solidFill>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gridSpan="4">
                  <a:txBody>
                    <a:bodyPr/>
                    <a:lstStyle/>
                    <a:p>
                      <a:pPr algn="ctr"/>
                      <a:r>
                        <a:rPr lang="en-US" altLang="zh-CN" sz="1400" b="1" baseline="0" dirty="0">
                          <a:solidFill>
                            <a:schemeClr val="tx1"/>
                          </a:solidFill>
                          <a:latin typeface="Huawei Sans" panose="020C0503030203020204" pitchFamily="34" charset="0"/>
                          <a:ea typeface="方正兰亭黑简体" panose="02000000000000000000" pitchFamily="2" charset="-122"/>
                        </a:rPr>
                        <a:t>Service Class/Color</a:t>
                      </a:r>
                      <a:endParaRPr lang="zh-CN" altLang="en-US" sz="1400" b="1" baseline="0"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282164">
                <a:tc>
                  <a:txBody>
                    <a:bodyPr/>
                    <a:lstStyle/>
                    <a:p>
                      <a:pPr algn="ctr"/>
                      <a:r>
                        <a:rPr lang="en-US" altLang="zh-CN" sz="1400" baseline="0" dirty="0">
                          <a:latin typeface="Huawei Sans" panose="020C0503030203020204" pitchFamily="34" charset="0"/>
                          <a:ea typeface="方正兰亭黑简体" panose="02000000000000000000" pitchFamily="2" charset="-122"/>
                        </a:rPr>
                        <a:t>32-39</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34</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36</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algn="ctr"/>
                      <a:r>
                        <a:rPr lang="en-US" altLang="zh-CN" sz="1400" b="0" baseline="0" dirty="0">
                          <a:latin typeface="Huawei Sans" panose="020C0503030203020204" pitchFamily="34" charset="0"/>
                          <a:ea typeface="方正兰亭黑简体" panose="02000000000000000000" pitchFamily="2" charset="-122"/>
                        </a:rPr>
                        <a:t>AF</a:t>
                      </a:r>
                      <a:endParaRPr lang="zh-CN" altLang="en-US" sz="1400" b="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1"/>
                  </a:ext>
                </a:extLst>
              </a:tr>
              <a:tr h="282164">
                <a:tc>
                  <a:txBody>
                    <a:bodyPr/>
                    <a:lstStyle/>
                    <a:p>
                      <a:pPr algn="ctr"/>
                      <a:r>
                        <a:rPr lang="en-US" altLang="zh-CN" sz="1400" baseline="0" dirty="0">
                          <a:latin typeface="Huawei Sans" panose="020C0503030203020204" pitchFamily="34" charset="0"/>
                          <a:ea typeface="方正兰亭黑简体" panose="02000000000000000000" pitchFamily="2" charset="-122"/>
                        </a:rPr>
                        <a:t>24-31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26</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r h="282164">
                <a:tc>
                  <a:txBody>
                    <a:bodyPr/>
                    <a:lstStyle/>
                    <a:p>
                      <a:pPr algn="ctr"/>
                      <a:r>
                        <a:rPr lang="en-US" altLang="zh-CN" sz="1400" baseline="0" dirty="0">
                          <a:latin typeface="Huawei Sans" panose="020C0503030203020204" pitchFamily="34" charset="0"/>
                          <a:ea typeface="方正兰亭黑简体" panose="02000000000000000000" pitchFamily="2" charset="-122"/>
                        </a:rPr>
                        <a:t>16-23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22</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3"/>
                  </a:ext>
                </a:extLst>
              </a:tr>
              <a:tr h="282164">
                <a:tc>
                  <a:txBody>
                    <a:bodyPr/>
                    <a:lstStyle/>
                    <a:p>
                      <a:pPr algn="ctr"/>
                      <a:r>
                        <a:rPr lang="en-US" altLang="zh-CN" sz="1400" baseline="0" dirty="0">
                          <a:latin typeface="Huawei Sans" panose="020C0503030203020204" pitchFamily="34" charset="0"/>
                          <a:ea typeface="方正兰亭黑简体" panose="02000000000000000000" pitchFamily="2" charset="-122"/>
                        </a:rPr>
                        <a:t>8-15</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12</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14</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4"/>
                  </a:ext>
                </a:extLst>
              </a:tr>
            </a:tbl>
          </a:graphicData>
        </a:graphic>
      </p:graphicFrame>
      <p:graphicFrame>
        <p:nvGraphicFramePr>
          <p:cNvPr id="51" name="表格 50"/>
          <p:cNvGraphicFramePr>
            <a:graphicFrameLocks noGrp="1"/>
          </p:cNvGraphicFramePr>
          <p:nvPr>
            <p:extLst>
              <p:ext uri="{D42A27DB-BD31-4B8C-83A1-F6EECF244321}">
                <p14:modId xmlns:p14="http://schemas.microsoft.com/office/powerpoint/2010/main" val="3086134237"/>
              </p:ext>
            </p:extLst>
          </p:nvPr>
        </p:nvGraphicFramePr>
        <p:xfrm>
          <a:off x="6356044" y="4152128"/>
          <a:ext cx="5004000" cy="1627300"/>
        </p:xfrm>
        <a:graphic>
          <a:graphicData uri="http://schemas.openxmlformats.org/drawingml/2006/table">
            <a:tbl>
              <a:tblPr firstRow="1" bandRow="1">
                <a:tableStyleId>{616DA210-FB5B-4158-B5E0-FEB733F419BA}</a:tableStyleId>
              </a:tblPr>
              <a:tblGrid>
                <a:gridCol w="720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gridCol w="648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gridCol w="540000">
                  <a:extLst>
                    <a:ext uri="{9D8B030D-6E8A-4147-A177-3AD203B41FA5}">
                      <a16:colId xmlns:a16="http://schemas.microsoft.com/office/drawing/2014/main" val="20006"/>
                    </a:ext>
                  </a:extLst>
                </a:gridCol>
                <a:gridCol w="540000">
                  <a:extLst>
                    <a:ext uri="{9D8B030D-6E8A-4147-A177-3AD203B41FA5}">
                      <a16:colId xmlns:a16="http://schemas.microsoft.com/office/drawing/2014/main" val="20007"/>
                    </a:ext>
                  </a:extLst>
                </a:gridCol>
              </a:tblGrid>
              <a:tr h="408100">
                <a:tc gridSpan="4">
                  <a:txBody>
                    <a:bodyPr/>
                    <a:lstStyle/>
                    <a:p>
                      <a:pPr algn="ctr"/>
                      <a:r>
                        <a:rPr lang="en-US" altLang="zh-CN" sz="1400" b="1" baseline="0" dirty="0">
                          <a:solidFill>
                            <a:schemeClr val="tx1"/>
                          </a:solidFill>
                          <a:latin typeface="Huawei Sans" panose="020C0503030203020204" pitchFamily="34" charset="0"/>
                          <a:ea typeface="方正兰亭黑简体" panose="02000000000000000000" pitchFamily="2" charset="-122"/>
                        </a:rPr>
                        <a:t>Service Class/Color</a:t>
                      </a:r>
                      <a:endParaRPr lang="zh-CN" altLang="en-US" sz="1400" b="1" baseline="0" dirty="0">
                        <a:solidFill>
                          <a:schemeClr val="tx1"/>
                        </a:solidFill>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aseline="0" dirty="0">
                          <a:solidFill>
                            <a:schemeClr val="tx1"/>
                          </a:solidFill>
                          <a:latin typeface="Huawei Sans" panose="020C0503030203020204" pitchFamily="34" charset="0"/>
                          <a:ea typeface="方正兰亭黑简体" panose="02000000000000000000" pitchFamily="2" charset="-122"/>
                        </a:rPr>
                        <a:t>DSCP</a:t>
                      </a:r>
                      <a:endParaRPr lang="zh-CN" altLang="en-US" sz="1400" b="1" baseline="0" dirty="0">
                        <a:solidFill>
                          <a:schemeClr val="tx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282164">
                <a:tc rowSpan="4">
                  <a:txBody>
                    <a:bodyPr/>
                    <a:lstStyle/>
                    <a:p>
                      <a:pPr algn="ctr"/>
                      <a:r>
                        <a:rPr lang="en-US" altLang="zh-CN" sz="1400" b="0" baseline="0" dirty="0">
                          <a:latin typeface="Huawei Sans" panose="020C0503030203020204" pitchFamily="34" charset="0"/>
                          <a:ea typeface="方正兰亭黑简体" panose="02000000000000000000" pitchFamily="2" charset="-122"/>
                        </a:rPr>
                        <a:t>AF</a:t>
                      </a:r>
                      <a:endParaRPr lang="zh-CN" altLang="en-US" sz="1400" b="0" baseline="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AF43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32-39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34</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36</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AF33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24-31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26</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30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AF23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16-23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18</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22</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baseline="0" dirty="0">
                          <a:solidFill>
                            <a:schemeClr val="bg1"/>
                          </a:solidFill>
                          <a:latin typeface="Huawei Sans" panose="020C0503030203020204" pitchFamily="34" charset="0"/>
                          <a:ea typeface="方正兰亭黑简体" panose="02000000000000000000" pitchFamily="2" charset="-122"/>
                        </a:rPr>
                        <a:t>AF13</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EC7061"/>
                    </a:solid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8-15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10</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12</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400" baseline="0" dirty="0">
                          <a:latin typeface="Huawei Sans" panose="020C0503030203020204" pitchFamily="34" charset="0"/>
                          <a:ea typeface="方正兰亭黑简体" panose="02000000000000000000" pitchFamily="2" charset="-122"/>
                        </a:rPr>
                        <a:t>14</a:t>
                      </a:r>
                      <a:endParaRPr lang="zh-CN" altLang="en-US" sz="1400" baseline="0" dirty="0">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52" name="下箭头 51"/>
          <p:cNvSpPr/>
          <p:nvPr/>
        </p:nvSpPr>
        <p:spPr bwMode="gray">
          <a:xfrm>
            <a:off x="9239595" y="3255879"/>
            <a:ext cx="302280" cy="36885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53" name="直接连接符 52"/>
          <p:cNvCxnSpPr/>
          <p:nvPr/>
        </p:nvCxnSpPr>
        <p:spPr bwMode="gray">
          <a:xfrm>
            <a:off x="6606747" y="1291744"/>
            <a:ext cx="0" cy="252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sp>
        <p:nvSpPr>
          <p:cNvPr id="54" name="圆角矩形 75"/>
          <p:cNvSpPr/>
          <p:nvPr/>
        </p:nvSpPr>
        <p:spPr bwMode="gray">
          <a:xfrm>
            <a:off x="475893" y="4072333"/>
            <a:ext cx="5481651" cy="204556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外部优先级映射到内部优先级</a:t>
            </a:r>
          </a:p>
        </p:txBody>
      </p:sp>
      <p:sp>
        <p:nvSpPr>
          <p:cNvPr id="55" name="圆角矩形 75"/>
          <p:cNvSpPr/>
          <p:nvPr/>
        </p:nvSpPr>
        <p:spPr bwMode="gray">
          <a:xfrm>
            <a:off x="474443" y="3644134"/>
            <a:ext cx="5495913"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上行映射</a:t>
            </a:r>
          </a:p>
        </p:txBody>
      </p:sp>
      <p:sp>
        <p:nvSpPr>
          <p:cNvPr id="57" name="圆角矩形 75"/>
          <p:cNvSpPr/>
          <p:nvPr/>
        </p:nvSpPr>
        <p:spPr bwMode="gray">
          <a:xfrm>
            <a:off x="6152538" y="3660786"/>
            <a:ext cx="5495913"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下行映射</a:t>
            </a:r>
          </a:p>
        </p:txBody>
      </p:sp>
    </p:spTree>
    <p:extLst>
      <p:ext uri="{BB962C8B-B14F-4D97-AF65-F5344CB8AC3E}">
        <p14:creationId xmlns:p14="http://schemas.microsoft.com/office/powerpoint/2010/main" val="1760245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复杂流分类</a:t>
            </a:r>
          </a:p>
        </p:txBody>
      </p:sp>
      <p:sp>
        <p:nvSpPr>
          <p:cNvPr id="27" name="圆角矩形 26"/>
          <p:cNvSpPr/>
          <p:nvPr/>
        </p:nvSpPr>
        <p:spPr bwMode="gray">
          <a:xfrm>
            <a:off x="3071664" y="1972504"/>
            <a:ext cx="6336704" cy="1692188"/>
          </a:xfrm>
          <a:prstGeom prst="roundRect">
            <a:avLst/>
          </a:prstGeom>
          <a:solidFill>
            <a:srgbClr val="F4FBFE"/>
          </a:solidFill>
          <a:ln w="9525" cap="flat" cmpd="sng" algn="ctr">
            <a:solidFill>
              <a:srgbClr val="56C4D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8" name="圆角矩形 27"/>
          <p:cNvSpPr/>
          <p:nvPr/>
        </p:nvSpPr>
        <p:spPr bwMode="gray">
          <a:xfrm>
            <a:off x="10308468" y="1180416"/>
            <a:ext cx="1080000" cy="3708834"/>
          </a:xfrm>
          <a:prstGeom prst="roundRect">
            <a:avLst/>
          </a:prstGeom>
          <a:solidFill>
            <a:schemeClr val="bg1"/>
          </a:solidFill>
          <a:ln w="9525" cap="flat" cmpd="sng" algn="ctr">
            <a:solidFill>
              <a:schemeClr val="bg1">
                <a:lumMod val="50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9" name="圆角矩形 28"/>
          <p:cNvSpPr/>
          <p:nvPr/>
        </p:nvSpPr>
        <p:spPr bwMode="gray">
          <a:xfrm>
            <a:off x="1127448" y="1180416"/>
            <a:ext cx="1080120" cy="3708834"/>
          </a:xfrm>
          <a:prstGeom prst="round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0" name="直接连接符 29"/>
          <p:cNvCxnSpPr/>
          <p:nvPr/>
        </p:nvCxnSpPr>
        <p:spPr bwMode="gray">
          <a:xfrm flipV="1">
            <a:off x="2243572" y="3232644"/>
            <a:ext cx="1018967"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1" name="直接连接符 30"/>
          <p:cNvCxnSpPr/>
          <p:nvPr/>
        </p:nvCxnSpPr>
        <p:spPr bwMode="gray">
          <a:xfrm flipV="1">
            <a:off x="9217492" y="1864492"/>
            <a:ext cx="1030341"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31"/>
          <p:cNvCxnSpPr/>
          <p:nvPr/>
        </p:nvCxnSpPr>
        <p:spPr bwMode="gray">
          <a:xfrm>
            <a:off x="9167713" y="3196640"/>
            <a:ext cx="1116124" cy="864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32"/>
          <p:cNvCxnSpPr/>
          <p:nvPr/>
        </p:nvCxnSpPr>
        <p:spPr bwMode="gray">
          <a:xfrm>
            <a:off x="2207568" y="1792484"/>
            <a:ext cx="1080120" cy="104411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4" name="图片 33"/>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621680" y="2710622"/>
            <a:ext cx="790244" cy="648000"/>
          </a:xfrm>
          <a:prstGeom prst="rect">
            <a:avLst/>
          </a:prstGeom>
        </p:spPr>
      </p:pic>
      <p:cxnSp>
        <p:nvCxnSpPr>
          <p:cNvPr id="35" name="直接连接符 34"/>
          <p:cNvCxnSpPr>
            <a:stCxn id="29" idx="3"/>
            <a:endCxn id="39" idx="1"/>
          </p:cNvCxnSpPr>
          <p:nvPr/>
        </p:nvCxnSpPr>
        <p:spPr bwMode="gray">
          <a:xfrm flipV="1">
            <a:off x="2207568" y="3034622"/>
            <a:ext cx="1044116"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a:stCxn id="39" idx="3"/>
            <a:endCxn id="34" idx="1"/>
          </p:cNvCxnSpPr>
          <p:nvPr/>
        </p:nvCxnSpPr>
        <p:spPr bwMode="gray">
          <a:xfrm>
            <a:off x="4041928" y="3034622"/>
            <a:ext cx="57975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36"/>
          <p:cNvCxnSpPr>
            <a:stCxn id="34" idx="3"/>
            <a:endCxn id="66" idx="0"/>
          </p:cNvCxnSpPr>
          <p:nvPr/>
        </p:nvCxnSpPr>
        <p:spPr bwMode="gray">
          <a:xfrm flipV="1">
            <a:off x="5411924" y="2117390"/>
            <a:ext cx="832856" cy="917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8" name="直接连接符 37"/>
          <p:cNvCxnSpPr>
            <a:stCxn id="40" idx="3"/>
            <a:endCxn id="28" idx="1"/>
          </p:cNvCxnSpPr>
          <p:nvPr/>
        </p:nvCxnSpPr>
        <p:spPr bwMode="gray">
          <a:xfrm>
            <a:off x="9237877" y="3034622"/>
            <a:ext cx="1070591"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9" name="图片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51684" y="2710622"/>
            <a:ext cx="790244" cy="648000"/>
          </a:xfrm>
          <a:prstGeom prst="rect">
            <a:avLst/>
          </a:prstGeom>
        </p:spPr>
      </p:pic>
      <p:pic>
        <p:nvPicPr>
          <p:cNvPr id="40" name="图片 39"/>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447633" y="2710622"/>
            <a:ext cx="790244" cy="648000"/>
          </a:xfrm>
          <a:prstGeom prst="rect">
            <a:avLst/>
          </a:prstGeom>
        </p:spPr>
      </p:pic>
      <p:sp>
        <p:nvSpPr>
          <p:cNvPr id="41" name="文本占位符 10"/>
          <p:cNvSpPr txBox="1">
            <a:spLocks/>
          </p:cNvSpPr>
          <p:nvPr/>
        </p:nvSpPr>
        <p:spPr bwMode="gray">
          <a:xfrm>
            <a:off x="3071664" y="3304652"/>
            <a:ext cx="1152128"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边界节点</a:t>
            </a:r>
          </a:p>
        </p:txBody>
      </p:sp>
      <p:cxnSp>
        <p:nvCxnSpPr>
          <p:cNvPr id="43" name="直接箭头连接符 42"/>
          <p:cNvCxnSpPr/>
          <p:nvPr/>
        </p:nvCxnSpPr>
        <p:spPr bwMode="gray">
          <a:xfrm>
            <a:off x="2567608" y="1936500"/>
            <a:ext cx="468052" cy="467358"/>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cxnSp>
        <p:nvCxnSpPr>
          <p:cNvPr id="44" name="直接箭头连接符 43"/>
          <p:cNvCxnSpPr/>
          <p:nvPr/>
        </p:nvCxnSpPr>
        <p:spPr bwMode="gray">
          <a:xfrm>
            <a:off x="2387588" y="2908608"/>
            <a:ext cx="648072" cy="0"/>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sp>
        <p:nvSpPr>
          <p:cNvPr id="49" name="envelope-doodle_16370"/>
          <p:cNvSpPr>
            <a:spLocks noChangeAspect="1"/>
          </p:cNvSpPr>
          <p:nvPr/>
        </p:nvSpPr>
        <p:spPr bwMode="gray">
          <a:xfrm>
            <a:off x="1361751" y="366469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50" name="图片 49" descr="可视电话硬终端.png"/>
          <p:cNvPicPr>
            <a:picLocks noChangeAspect="1"/>
          </p:cNvPicPr>
          <p:nvPr/>
        </p:nvPicPr>
        <p:blipFill>
          <a:blip r:embed="rId5" cstate="print"/>
          <a:stretch>
            <a:fillRect/>
          </a:stretch>
        </p:blipFill>
        <p:spPr bwMode="gray">
          <a:xfrm>
            <a:off x="1357507" y="2567937"/>
            <a:ext cx="609949" cy="540000"/>
          </a:xfrm>
          <a:prstGeom prst="rect">
            <a:avLst/>
          </a:prstGeom>
        </p:spPr>
      </p:pic>
      <p:pic>
        <p:nvPicPr>
          <p:cNvPr id="51" name="图片 50" descr="管理型无线虚链路-蓝.png"/>
          <p:cNvPicPr>
            <a:picLocks noChangeAspect="1"/>
          </p:cNvPicPr>
          <p:nvPr/>
        </p:nvPicPr>
        <p:blipFill>
          <a:blip r:embed="rId6" cstate="print"/>
          <a:stretch>
            <a:fillRect/>
          </a:stretch>
        </p:blipFill>
        <p:spPr bwMode="gray">
          <a:xfrm>
            <a:off x="1371188" y="1360436"/>
            <a:ext cx="582586" cy="540000"/>
          </a:xfrm>
          <a:prstGeom prst="rect">
            <a:avLst/>
          </a:prstGeom>
        </p:spPr>
      </p:pic>
      <p:sp>
        <p:nvSpPr>
          <p:cNvPr id="52" name="文本框 51"/>
          <p:cNvSpPr txBox="1"/>
          <p:nvPr/>
        </p:nvSpPr>
        <p:spPr bwMode="gray">
          <a:xfrm>
            <a:off x="1368637" y="1864684"/>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53" name="文本框 52"/>
          <p:cNvSpPr txBox="1"/>
          <p:nvPr/>
        </p:nvSpPr>
        <p:spPr bwMode="gray">
          <a:xfrm>
            <a:off x="1163453" y="3088628"/>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54" name="文本框 53"/>
          <p:cNvSpPr txBox="1"/>
          <p:nvPr/>
        </p:nvSpPr>
        <p:spPr bwMode="gray">
          <a:xfrm>
            <a:off x="1397556" y="4204752"/>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sp>
        <p:nvSpPr>
          <p:cNvPr id="55" name="文本占位符 10"/>
          <p:cNvSpPr txBox="1">
            <a:spLocks/>
          </p:cNvSpPr>
          <p:nvPr/>
        </p:nvSpPr>
        <p:spPr bwMode="gray">
          <a:xfrm>
            <a:off x="1307468" y="4510439"/>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latin typeface="Huawei Sans" panose="020C0503030203020204" pitchFamily="34" charset="0"/>
                <a:ea typeface="方正兰亭黑简体" panose="02000000000000000000" pitchFamily="2" charset="-122"/>
              </a:rPr>
              <a:t>总部</a:t>
            </a:r>
          </a:p>
        </p:txBody>
      </p:sp>
      <p:sp>
        <p:nvSpPr>
          <p:cNvPr id="56" name="envelope-doodle_16370"/>
          <p:cNvSpPr>
            <a:spLocks noChangeAspect="1"/>
          </p:cNvSpPr>
          <p:nvPr/>
        </p:nvSpPr>
        <p:spPr bwMode="gray">
          <a:xfrm>
            <a:off x="10590148" y="366469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rgbClr val="C2C2C2"/>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57" name="图片 56" descr="可视电话硬终端.png"/>
          <p:cNvPicPr>
            <a:picLocks noChangeAspect="1"/>
          </p:cNvPicPr>
          <p:nvPr/>
        </p:nvPicPr>
        <p:blipFill>
          <a:blip r:embed="rId5" cstate="print">
            <a:duotone>
              <a:schemeClr val="bg2">
                <a:shade val="45000"/>
                <a:satMod val="135000"/>
              </a:schemeClr>
              <a:prstClr val="white"/>
            </a:duotone>
          </a:blip>
          <a:stretch>
            <a:fillRect/>
          </a:stretch>
        </p:blipFill>
        <p:spPr bwMode="gray">
          <a:xfrm>
            <a:off x="10585904" y="2567937"/>
            <a:ext cx="609949" cy="540000"/>
          </a:xfrm>
          <a:prstGeom prst="rect">
            <a:avLst/>
          </a:prstGeom>
        </p:spPr>
      </p:pic>
      <p:pic>
        <p:nvPicPr>
          <p:cNvPr id="58" name="图片 57" descr="管理型无线虚链路-蓝.png"/>
          <p:cNvPicPr>
            <a:picLocks noChangeAspect="1"/>
          </p:cNvPicPr>
          <p:nvPr/>
        </p:nvPicPr>
        <p:blipFill>
          <a:blip r:embed="rId6" cstate="print">
            <a:duotone>
              <a:schemeClr val="bg2">
                <a:shade val="45000"/>
                <a:satMod val="135000"/>
              </a:schemeClr>
              <a:prstClr val="white"/>
            </a:duotone>
          </a:blip>
          <a:stretch>
            <a:fillRect/>
          </a:stretch>
        </p:blipFill>
        <p:spPr bwMode="gray">
          <a:xfrm>
            <a:off x="10599585" y="1360436"/>
            <a:ext cx="582586" cy="540000"/>
          </a:xfrm>
          <a:prstGeom prst="rect">
            <a:avLst/>
          </a:prstGeom>
        </p:spPr>
      </p:pic>
      <p:sp>
        <p:nvSpPr>
          <p:cNvPr id="59" name="文本框 58"/>
          <p:cNvSpPr txBox="1"/>
          <p:nvPr/>
        </p:nvSpPr>
        <p:spPr bwMode="gray">
          <a:xfrm>
            <a:off x="10597034" y="1864684"/>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直播</a:t>
            </a:r>
          </a:p>
        </p:txBody>
      </p:sp>
      <p:sp>
        <p:nvSpPr>
          <p:cNvPr id="60" name="文本框 59"/>
          <p:cNvSpPr txBox="1"/>
          <p:nvPr/>
        </p:nvSpPr>
        <p:spPr bwMode="gray">
          <a:xfrm>
            <a:off x="10391850" y="3088628"/>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rPr>
              <a:t>视频通信</a:t>
            </a:r>
          </a:p>
        </p:txBody>
      </p:sp>
      <p:sp>
        <p:nvSpPr>
          <p:cNvPr id="61" name="文本框 60"/>
          <p:cNvSpPr txBox="1"/>
          <p:nvPr/>
        </p:nvSpPr>
        <p:spPr bwMode="gray">
          <a:xfrm>
            <a:off x="10625953" y="4204752"/>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solidFill>
                  <a:schemeClr val="bg1">
                    <a:lumMod val="50000"/>
                  </a:schemeClr>
                </a:solidFill>
                <a:latin typeface="Huawei Sans" panose="020C0503030203020204" pitchFamily="34" charset="0"/>
                <a:ea typeface="方正兰亭黑简体" panose="02000000000000000000" pitchFamily="2" charset="-122"/>
              </a:rPr>
              <a:t>FTP</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endParaRPr>
          </a:p>
        </p:txBody>
      </p:sp>
      <p:sp>
        <p:nvSpPr>
          <p:cNvPr id="62" name="文本占位符 10"/>
          <p:cNvSpPr txBox="1">
            <a:spLocks/>
          </p:cNvSpPr>
          <p:nvPr/>
        </p:nvSpPr>
        <p:spPr bwMode="gray">
          <a:xfrm>
            <a:off x="10535865" y="4510439"/>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solidFill>
                  <a:schemeClr val="bg1">
                    <a:lumMod val="50000"/>
                  </a:schemeClr>
                </a:solidFill>
                <a:latin typeface="Huawei Sans" panose="020C0503030203020204" pitchFamily="34" charset="0"/>
                <a:ea typeface="方正兰亭黑简体" panose="02000000000000000000" pitchFamily="2" charset="-122"/>
              </a:rPr>
              <a:t>分支</a:t>
            </a:r>
          </a:p>
        </p:txBody>
      </p:sp>
      <p:pic>
        <p:nvPicPr>
          <p:cNvPr id="63" name="图片 62"/>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068108" y="2710622"/>
            <a:ext cx="790244" cy="648000"/>
          </a:xfrm>
          <a:prstGeom prst="rect">
            <a:avLst/>
          </a:prstGeom>
        </p:spPr>
      </p:pic>
      <p:cxnSp>
        <p:nvCxnSpPr>
          <p:cNvPr id="65" name="直接连接符 64"/>
          <p:cNvCxnSpPr>
            <a:stCxn id="63" idx="1"/>
            <a:endCxn id="66" idx="0"/>
          </p:cNvCxnSpPr>
          <p:nvPr/>
        </p:nvCxnSpPr>
        <p:spPr bwMode="gray">
          <a:xfrm flipH="1" flipV="1">
            <a:off x="6244780" y="2117390"/>
            <a:ext cx="823328" cy="917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6" name="图片 65"/>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566672" y="2117390"/>
            <a:ext cx="1356216" cy="683206"/>
          </a:xfrm>
          <a:prstGeom prst="rect">
            <a:avLst/>
          </a:prstGeom>
        </p:spPr>
      </p:pic>
      <p:cxnSp>
        <p:nvCxnSpPr>
          <p:cNvPr id="67" name="直接连接符 66"/>
          <p:cNvCxnSpPr>
            <a:stCxn id="63" idx="3"/>
            <a:endCxn id="40" idx="1"/>
          </p:cNvCxnSpPr>
          <p:nvPr/>
        </p:nvCxnSpPr>
        <p:spPr bwMode="gray">
          <a:xfrm>
            <a:off x="7858352" y="3034622"/>
            <a:ext cx="58928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82" name="组合 81"/>
          <p:cNvGrpSpPr/>
          <p:nvPr/>
        </p:nvGrpSpPr>
        <p:grpSpPr bwMode="gray">
          <a:xfrm>
            <a:off x="3107668" y="3916720"/>
            <a:ext cx="3816424" cy="1404578"/>
            <a:chOff x="3071664" y="4920022"/>
            <a:chExt cx="3816424" cy="1404578"/>
          </a:xfrm>
        </p:grpSpPr>
        <p:sp>
          <p:nvSpPr>
            <p:cNvPr id="70" name="圆角矩形 69"/>
            <p:cNvSpPr/>
            <p:nvPr/>
          </p:nvSpPr>
          <p:spPr bwMode="gray">
            <a:xfrm>
              <a:off x="3071664" y="4920022"/>
              <a:ext cx="3816424" cy="1404578"/>
            </a:xfrm>
            <a:prstGeom prst="roundRect">
              <a:avLst>
                <a:gd name="adj" fmla="val 4586"/>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1" name="文本占位符 10"/>
            <p:cNvSpPr txBox="1">
              <a:spLocks/>
            </p:cNvSpPr>
            <p:nvPr/>
          </p:nvSpPr>
          <p:spPr bwMode="gray">
            <a:xfrm>
              <a:off x="3143672" y="4956026"/>
              <a:ext cx="3456384" cy="136857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ClrTx/>
                <a:buSzPct val="100000"/>
                <a:buNone/>
              </a:pPr>
              <a:r>
                <a:rPr lang="zh-CN" altLang="en-US" sz="1600" b="1" kern="0" dirty="0">
                  <a:latin typeface="Huawei Sans" panose="020C0503030203020204" pitchFamily="34" charset="0"/>
                  <a:ea typeface="方正兰亭黑简体" panose="02000000000000000000" pitchFamily="2" charset="-122"/>
                </a:rPr>
                <a:t>复杂流分类</a:t>
              </a:r>
              <a:endParaRPr lang="en-US" altLang="zh-CN" sz="1600" b="1" kern="0" dirty="0">
                <a:latin typeface="Huawei Sans" panose="020C0503030203020204" pitchFamily="34" charset="0"/>
                <a:ea typeface="方正兰亭黑简体" panose="02000000000000000000" pitchFamily="2" charset="-122"/>
              </a:endParaRPr>
            </a:p>
            <a:p>
              <a:pPr marL="0" indent="0">
                <a:buClrTx/>
                <a:buSzPct val="100000"/>
                <a:buNone/>
              </a:pPr>
              <a:r>
                <a:rPr lang="zh-CN" altLang="en-US" sz="1400" kern="0" dirty="0">
                  <a:latin typeface="Huawei Sans" panose="020C0503030203020204" pitchFamily="34" charset="0"/>
                  <a:ea typeface="方正兰亭黑简体" panose="02000000000000000000" pitchFamily="2" charset="-122"/>
                </a:rPr>
                <a:t>采用复杂的规则，如由五元组（源地址、源端口号、协议号码、目的地址、目的端口号）对报文进行精细的分类。</a:t>
              </a:r>
              <a:endParaRPr lang="en-US" altLang="zh-CN" sz="1400" kern="0" dirty="0">
                <a:latin typeface="Huawei Sans" panose="020C0503030203020204" pitchFamily="34" charset="0"/>
                <a:ea typeface="方正兰亭黑简体" panose="02000000000000000000" pitchFamily="2" charset="-122"/>
              </a:endParaRPr>
            </a:p>
          </p:txBody>
        </p:sp>
      </p:grpSp>
      <p:grpSp>
        <p:nvGrpSpPr>
          <p:cNvPr id="90" name="组合 89"/>
          <p:cNvGrpSpPr/>
          <p:nvPr/>
        </p:nvGrpSpPr>
        <p:grpSpPr bwMode="gray">
          <a:xfrm>
            <a:off x="7428148" y="3953106"/>
            <a:ext cx="1620000" cy="2195822"/>
            <a:chOff x="7428148" y="4149462"/>
            <a:chExt cx="1620000" cy="2195822"/>
          </a:xfrm>
        </p:grpSpPr>
        <p:sp>
          <p:nvSpPr>
            <p:cNvPr id="83" name="圆角矩形 82"/>
            <p:cNvSpPr/>
            <p:nvPr/>
          </p:nvSpPr>
          <p:spPr bwMode="gray">
            <a:xfrm>
              <a:off x="7428148" y="4149462"/>
              <a:ext cx="1620000" cy="360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600" b="1" dirty="0">
                  <a:latin typeface="Huawei Sans" panose="020C0503030203020204" pitchFamily="34" charset="0"/>
                  <a:ea typeface="方正兰亭黑简体" panose="02000000000000000000" pitchFamily="2" charset="-122"/>
                </a:rPr>
                <a:t>配置流分类</a:t>
              </a:r>
              <a:endParaRPr kumimoji="0" lang="zh-CN" altLang="en-US" sz="1600" b="1"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84" name="圆角矩形 83"/>
            <p:cNvSpPr/>
            <p:nvPr/>
          </p:nvSpPr>
          <p:spPr bwMode="gray">
            <a:xfrm>
              <a:off x="7428148" y="4761403"/>
              <a:ext cx="1620000" cy="360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600" b="1" dirty="0">
                  <a:latin typeface="Huawei Sans" panose="020C0503030203020204" pitchFamily="34" charset="0"/>
                  <a:ea typeface="方正兰亭黑简体" panose="02000000000000000000" pitchFamily="2" charset="-122"/>
                </a:rPr>
                <a:t>配置流行为</a:t>
              </a:r>
            </a:p>
          </p:txBody>
        </p:sp>
        <p:sp>
          <p:nvSpPr>
            <p:cNvPr id="85" name="圆角矩形 84"/>
            <p:cNvSpPr/>
            <p:nvPr/>
          </p:nvSpPr>
          <p:spPr bwMode="gray">
            <a:xfrm>
              <a:off x="7428148" y="5373344"/>
              <a:ext cx="1620000" cy="360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600" b="1" dirty="0">
                  <a:latin typeface="Huawei Sans" panose="020C0503030203020204" pitchFamily="34" charset="0"/>
                  <a:ea typeface="方正兰亭黑简体" panose="02000000000000000000" pitchFamily="2" charset="-122"/>
                </a:rPr>
                <a:t>配置流量策略</a:t>
              </a:r>
            </a:p>
          </p:txBody>
        </p:sp>
        <p:sp>
          <p:nvSpPr>
            <p:cNvPr id="86" name="圆角矩形 85"/>
            <p:cNvSpPr/>
            <p:nvPr/>
          </p:nvSpPr>
          <p:spPr bwMode="gray">
            <a:xfrm>
              <a:off x="7428148" y="5985284"/>
              <a:ext cx="1620000" cy="360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600" b="1" dirty="0">
                  <a:latin typeface="Huawei Sans" panose="020C0503030203020204" pitchFamily="34" charset="0"/>
                  <a:ea typeface="方正兰亭黑简体" panose="02000000000000000000" pitchFamily="2" charset="-122"/>
                </a:rPr>
                <a:t>应用流量策略</a:t>
              </a:r>
            </a:p>
          </p:txBody>
        </p:sp>
        <p:cxnSp>
          <p:nvCxnSpPr>
            <p:cNvPr id="87" name="直接箭头连接符 86"/>
            <p:cNvCxnSpPr>
              <a:stCxn id="83" idx="2"/>
              <a:endCxn id="84" idx="0"/>
            </p:cNvCxnSpPr>
            <p:nvPr/>
          </p:nvCxnSpPr>
          <p:spPr bwMode="gray">
            <a:xfrm>
              <a:off x="8238148" y="4509462"/>
              <a:ext cx="0" cy="2519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a:stCxn id="84" idx="2"/>
              <a:endCxn id="85" idx="0"/>
            </p:cNvCxnSpPr>
            <p:nvPr/>
          </p:nvCxnSpPr>
          <p:spPr bwMode="gray">
            <a:xfrm>
              <a:off x="8238148" y="5121403"/>
              <a:ext cx="0" cy="2519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9" name="直接箭头连接符 88"/>
            <p:cNvCxnSpPr>
              <a:stCxn id="85" idx="2"/>
              <a:endCxn id="86" idx="0"/>
            </p:cNvCxnSpPr>
            <p:nvPr/>
          </p:nvCxnSpPr>
          <p:spPr bwMode="gray">
            <a:xfrm>
              <a:off x="8238148" y="5733344"/>
              <a:ext cx="0" cy="2519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
        <p:nvSpPr>
          <p:cNvPr id="72" name="Oval 41"/>
          <p:cNvSpPr>
            <a:spLocks noChangeAspect="1"/>
          </p:cNvSpPr>
          <p:nvPr/>
        </p:nvSpPr>
        <p:spPr bwMode="gray">
          <a:xfrm>
            <a:off x="3170615" y="271082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74" name="Oval 41"/>
          <p:cNvSpPr>
            <a:spLocks noChangeAspect="1"/>
          </p:cNvSpPr>
          <p:nvPr/>
        </p:nvSpPr>
        <p:spPr bwMode="gray">
          <a:xfrm>
            <a:off x="3169797" y="295774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75" name="Rectangular Callout 74"/>
          <p:cNvSpPr/>
          <p:nvPr/>
        </p:nvSpPr>
        <p:spPr bwMode="gray">
          <a:xfrm>
            <a:off x="2405984" y="1088996"/>
            <a:ext cx="1801842" cy="748493"/>
          </a:xfrm>
          <a:prstGeom prst="wedgeRectCallout">
            <a:avLst>
              <a:gd name="adj1" fmla="val -70206"/>
              <a:gd name="adj2" fmla="val 1685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要求为语音、视频等即时性业务提供最优先的转发服务</a:t>
            </a:r>
          </a:p>
        </p:txBody>
      </p:sp>
      <p:sp>
        <p:nvSpPr>
          <p:cNvPr id="77" name="Rectangular Callout 76"/>
          <p:cNvSpPr/>
          <p:nvPr/>
        </p:nvSpPr>
        <p:spPr bwMode="gray">
          <a:xfrm>
            <a:off x="9346912" y="5528479"/>
            <a:ext cx="1801842" cy="331661"/>
          </a:xfrm>
          <a:prstGeom prst="wedgeRectCallout">
            <a:avLst>
              <a:gd name="adj1" fmla="val -63405"/>
              <a:gd name="adj2" fmla="val -3714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Huawei Sans" panose="020C0503030203020204" pitchFamily="34" charset="0"/>
                <a:ea typeface="方正兰亭黑简体" panose="02000000000000000000" pitchFamily="2" charset="-122"/>
              </a:rPr>
              <a:t>“模板化”的</a:t>
            </a:r>
            <a:r>
              <a:rPr lang="en-US" altLang="zh-CN" sz="1400" b="1" dirty="0">
                <a:solidFill>
                  <a:schemeClr val="tx1"/>
                </a:solidFill>
                <a:latin typeface="Huawei Sans" panose="020C0503030203020204" pitchFamily="34" charset="0"/>
                <a:ea typeface="方正兰亭黑简体" panose="02000000000000000000" pitchFamily="2" charset="-122"/>
              </a:rPr>
              <a:t>QoS</a:t>
            </a:r>
          </a:p>
        </p:txBody>
      </p:sp>
    </p:spTree>
    <p:extLst>
      <p:ext uri="{BB962C8B-B14F-4D97-AF65-F5344CB8AC3E}">
        <p14:creationId xmlns:p14="http://schemas.microsoft.com/office/powerpoint/2010/main" val="2078615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ight Arrow 52"/>
          <p:cNvSpPr/>
          <p:nvPr/>
        </p:nvSpPr>
        <p:spPr bwMode="gray">
          <a:xfrm>
            <a:off x="2656958" y="4443426"/>
            <a:ext cx="9068880" cy="463740"/>
          </a:xfrm>
          <a:prstGeom prst="rightArrow">
            <a:avLst/>
          </a:prstGeom>
          <a:solidFill>
            <a:srgbClr val="EC7061"/>
          </a:solid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数据流</a:t>
            </a:r>
          </a:p>
        </p:txBody>
      </p:sp>
      <p:sp>
        <p:nvSpPr>
          <p:cNvPr id="32" name="Rectangle 31"/>
          <p:cNvSpPr/>
          <p:nvPr/>
        </p:nvSpPr>
        <p:spPr bwMode="gray">
          <a:xfrm>
            <a:off x="3161014" y="3361150"/>
            <a:ext cx="3600400" cy="2628292"/>
          </a:xfrm>
          <a:prstGeom prst="rect">
            <a:avLst/>
          </a:prstGeom>
          <a:solidFill>
            <a:schemeClr val="bg1"/>
          </a:solid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Rectangle 43"/>
          <p:cNvSpPr/>
          <p:nvPr/>
        </p:nvSpPr>
        <p:spPr bwMode="gray">
          <a:xfrm>
            <a:off x="7589632" y="3361150"/>
            <a:ext cx="3600400" cy="2628292"/>
          </a:xfrm>
          <a:prstGeom prst="rect">
            <a:avLst/>
          </a:prstGeom>
          <a:solidFill>
            <a:schemeClr val="bg1"/>
          </a:solid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itle 2"/>
          <p:cNvSpPr>
            <a:spLocks noGrp="1"/>
          </p:cNvSpPr>
          <p:nvPr>
            <p:ph type="title"/>
          </p:nvPr>
        </p:nvSpPr>
        <p:spPr bwMode="gray"/>
        <p:txBody>
          <a:bodyPr/>
          <a:lstStyle/>
          <a:p>
            <a:r>
              <a:rPr lang="en-US" altLang="zh-CN" dirty="0"/>
              <a:t>Traffic Policy</a:t>
            </a:r>
            <a:r>
              <a:rPr lang="zh-CN" altLang="en-US" dirty="0"/>
              <a:t>介绍</a:t>
            </a:r>
          </a:p>
        </p:txBody>
      </p:sp>
      <p:sp>
        <p:nvSpPr>
          <p:cNvPr id="4" name="Text Placeholder 3"/>
          <p:cNvSpPr>
            <a:spLocks noGrp="1"/>
          </p:cNvSpPr>
          <p:nvPr>
            <p:ph type="body" sz="quarter" idx="10"/>
          </p:nvPr>
        </p:nvSpPr>
        <p:spPr bwMode="gray">
          <a:xfrm>
            <a:off x="436951" y="1047750"/>
            <a:ext cx="11256962" cy="4879805"/>
          </a:xfrm>
        </p:spPr>
        <p:txBody>
          <a:bodyPr/>
          <a:lstStyle/>
          <a:p>
            <a:r>
              <a:rPr lang="zh-CN" altLang="en-US" sz="1800" dirty="0"/>
              <a:t>配置模板化</a:t>
            </a:r>
            <a:r>
              <a:rPr lang="en-US" altLang="zh-CN" sz="1800" dirty="0"/>
              <a:t>QoS</a:t>
            </a:r>
            <a:r>
              <a:rPr lang="zh-CN" altLang="en-US" sz="1800" dirty="0"/>
              <a:t>需要用到</a:t>
            </a:r>
            <a:r>
              <a:rPr lang="en-US" altLang="zh-CN" sz="1800" dirty="0"/>
              <a:t>Traffic Policy</a:t>
            </a:r>
            <a:r>
              <a:rPr lang="zh-CN" altLang="en-US" sz="1800" dirty="0"/>
              <a:t>工具。</a:t>
            </a:r>
            <a:endParaRPr lang="en-US" altLang="zh-CN" sz="1800" dirty="0"/>
          </a:p>
          <a:p>
            <a:r>
              <a:rPr lang="en-US" altLang="zh-CN" sz="1800" dirty="0"/>
              <a:t>Traffic Policy</a:t>
            </a:r>
            <a:r>
              <a:rPr lang="zh-CN" altLang="en-US" sz="1800" dirty="0"/>
              <a:t>由</a:t>
            </a:r>
            <a:r>
              <a:rPr lang="en-US" altLang="zh-CN" sz="1800" dirty="0"/>
              <a:t>Traffic Classifier</a:t>
            </a:r>
            <a:r>
              <a:rPr lang="zh-CN" altLang="en-US" sz="1800" dirty="0"/>
              <a:t>与</a:t>
            </a:r>
            <a:r>
              <a:rPr lang="en-US" altLang="zh-CN" sz="1800" dirty="0"/>
              <a:t>Traffic Behavior</a:t>
            </a:r>
            <a:r>
              <a:rPr lang="zh-CN" altLang="en-US" sz="1800" dirty="0"/>
              <a:t>组成，</a:t>
            </a:r>
            <a:r>
              <a:rPr lang="en-US" altLang="zh-CN" sz="1800" dirty="0"/>
              <a:t>Traffic Classifier</a:t>
            </a:r>
            <a:r>
              <a:rPr lang="zh-CN" altLang="en-US" sz="1800" dirty="0"/>
              <a:t>用于匹配数据包，</a:t>
            </a:r>
            <a:r>
              <a:rPr lang="en-US" altLang="zh-CN" sz="1800" dirty="0"/>
              <a:t>Traffic Behavior</a:t>
            </a:r>
            <a:r>
              <a:rPr lang="zh-CN" altLang="en-US" sz="1800" dirty="0"/>
              <a:t>用于修改数据包。</a:t>
            </a:r>
          </a:p>
        </p:txBody>
      </p:sp>
      <p:sp>
        <p:nvSpPr>
          <p:cNvPr id="5" name="Rectangle 4"/>
          <p:cNvSpPr/>
          <p:nvPr/>
        </p:nvSpPr>
        <p:spPr bwMode="gray">
          <a:xfrm>
            <a:off x="909441" y="2998410"/>
            <a:ext cx="1332148"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Policy</a:t>
            </a:r>
            <a:endParaRPr lang="zh-CN" altLang="en-US" sz="1400" dirty="0"/>
          </a:p>
        </p:txBody>
      </p:sp>
      <p:sp>
        <p:nvSpPr>
          <p:cNvPr id="6" name="Rectangle 5"/>
          <p:cNvSpPr/>
          <p:nvPr/>
        </p:nvSpPr>
        <p:spPr bwMode="gray">
          <a:xfrm>
            <a:off x="3287375" y="3505166"/>
            <a:ext cx="1476164"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Classifier</a:t>
            </a:r>
            <a:endParaRPr lang="zh-CN" altLang="en-US" sz="1400" dirty="0"/>
          </a:p>
        </p:txBody>
      </p:sp>
      <p:sp>
        <p:nvSpPr>
          <p:cNvPr id="7" name="Rectangle 6"/>
          <p:cNvSpPr/>
          <p:nvPr/>
        </p:nvSpPr>
        <p:spPr bwMode="gray">
          <a:xfrm>
            <a:off x="5159583" y="3505166"/>
            <a:ext cx="1476164"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Behavior</a:t>
            </a:r>
            <a:endParaRPr lang="zh-CN" altLang="en-US" sz="1400" dirty="0"/>
          </a:p>
        </p:txBody>
      </p:sp>
      <p:sp>
        <p:nvSpPr>
          <p:cNvPr id="8" name="Plus 7"/>
          <p:cNvSpPr/>
          <p:nvPr/>
        </p:nvSpPr>
        <p:spPr bwMode="gray">
          <a:xfrm>
            <a:off x="4798849" y="3522821"/>
            <a:ext cx="324730" cy="324730"/>
          </a:xfrm>
          <a:prstGeom prst="mathPlus">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p:cNvSpPr/>
          <p:nvPr/>
        </p:nvSpPr>
        <p:spPr bwMode="gray">
          <a:xfrm>
            <a:off x="3287375" y="418906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rPr>
              <a:t>流量匹配规则</a:t>
            </a:r>
            <a:r>
              <a:rPr lang="en-US" altLang="zh-CN" sz="1400" dirty="0">
                <a:solidFill>
                  <a:schemeClr val="tx1"/>
                </a:solidFill>
              </a:rPr>
              <a:t>1</a:t>
            </a:r>
            <a:endParaRPr lang="zh-CN" altLang="en-US" sz="1400" dirty="0">
              <a:solidFill>
                <a:schemeClr val="tx1"/>
              </a:solidFill>
            </a:endParaRPr>
          </a:p>
        </p:txBody>
      </p:sp>
      <p:sp>
        <p:nvSpPr>
          <p:cNvPr id="13" name="Rectangle 12"/>
          <p:cNvSpPr/>
          <p:nvPr/>
        </p:nvSpPr>
        <p:spPr bwMode="gray">
          <a:xfrm>
            <a:off x="3285463" y="483282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流量匹配规则</a:t>
            </a:r>
            <a:r>
              <a:rPr lang="en-US" altLang="zh-CN" sz="1400" dirty="0">
                <a:solidFill>
                  <a:schemeClr val="tx1"/>
                </a:solidFill>
              </a:rPr>
              <a:t>2</a:t>
            </a:r>
            <a:endParaRPr lang="zh-CN" altLang="en-US" sz="1400" dirty="0">
              <a:solidFill>
                <a:schemeClr val="tx1"/>
              </a:solidFill>
            </a:endParaRPr>
          </a:p>
        </p:txBody>
      </p:sp>
      <p:sp>
        <p:nvSpPr>
          <p:cNvPr id="14" name="Rectangle 13"/>
          <p:cNvSpPr/>
          <p:nvPr/>
        </p:nvSpPr>
        <p:spPr bwMode="gray">
          <a:xfrm>
            <a:off x="3287375" y="5464027"/>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流量匹配规则</a:t>
            </a:r>
            <a:r>
              <a:rPr lang="en-US" altLang="zh-CN" sz="1400" dirty="0">
                <a:solidFill>
                  <a:schemeClr val="tx1"/>
                </a:solidFill>
              </a:rPr>
              <a:t>3</a:t>
            </a:r>
            <a:endParaRPr lang="zh-CN" altLang="en-US" sz="1400" dirty="0">
              <a:solidFill>
                <a:schemeClr val="tx1"/>
              </a:solidFill>
            </a:endParaRPr>
          </a:p>
        </p:txBody>
      </p:sp>
      <p:sp>
        <p:nvSpPr>
          <p:cNvPr id="16" name="Rectangle 15"/>
          <p:cNvSpPr/>
          <p:nvPr/>
        </p:nvSpPr>
        <p:spPr bwMode="gray">
          <a:xfrm>
            <a:off x="3656281" y="3844672"/>
            <a:ext cx="734528"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逻辑或</a:t>
            </a:r>
          </a:p>
        </p:txBody>
      </p:sp>
      <p:sp>
        <p:nvSpPr>
          <p:cNvPr id="23" name="Rectangle 22"/>
          <p:cNvSpPr/>
          <p:nvPr/>
        </p:nvSpPr>
        <p:spPr bwMode="gray">
          <a:xfrm>
            <a:off x="5159583" y="418906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1</a:t>
            </a:r>
            <a:endParaRPr lang="zh-CN" altLang="en-US" sz="1400" dirty="0">
              <a:solidFill>
                <a:schemeClr val="tx1"/>
              </a:solidFill>
            </a:endParaRPr>
          </a:p>
        </p:txBody>
      </p:sp>
      <p:sp>
        <p:nvSpPr>
          <p:cNvPr id="25" name="Rectangle 24"/>
          <p:cNvSpPr/>
          <p:nvPr/>
        </p:nvSpPr>
        <p:spPr bwMode="gray">
          <a:xfrm>
            <a:off x="5159583" y="483282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2</a:t>
            </a:r>
            <a:endParaRPr lang="zh-CN" altLang="en-US" sz="1400" dirty="0">
              <a:solidFill>
                <a:schemeClr val="tx1"/>
              </a:solidFill>
            </a:endParaRPr>
          </a:p>
        </p:txBody>
      </p:sp>
      <p:sp>
        <p:nvSpPr>
          <p:cNvPr id="26" name="Rectangle 25"/>
          <p:cNvSpPr/>
          <p:nvPr/>
        </p:nvSpPr>
        <p:spPr bwMode="gray">
          <a:xfrm>
            <a:off x="5162581" y="547658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3</a:t>
            </a:r>
            <a:endParaRPr lang="zh-CN" altLang="en-US" sz="1400" dirty="0">
              <a:solidFill>
                <a:schemeClr val="tx1"/>
              </a:solidFill>
            </a:endParaRPr>
          </a:p>
        </p:txBody>
      </p:sp>
      <p:sp>
        <p:nvSpPr>
          <p:cNvPr id="31" name="Rectangle 30"/>
          <p:cNvSpPr/>
          <p:nvPr/>
        </p:nvSpPr>
        <p:spPr bwMode="gray">
          <a:xfrm>
            <a:off x="5465890" y="3850894"/>
            <a:ext cx="906171"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依次修改</a:t>
            </a:r>
          </a:p>
        </p:txBody>
      </p:sp>
      <p:sp>
        <p:nvSpPr>
          <p:cNvPr id="33" name="Rectangle 32"/>
          <p:cNvSpPr/>
          <p:nvPr/>
        </p:nvSpPr>
        <p:spPr bwMode="gray">
          <a:xfrm>
            <a:off x="7715993" y="3505166"/>
            <a:ext cx="1476164"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Classifier</a:t>
            </a:r>
            <a:endParaRPr lang="zh-CN" altLang="en-US" sz="1400" dirty="0"/>
          </a:p>
        </p:txBody>
      </p:sp>
      <p:sp>
        <p:nvSpPr>
          <p:cNvPr id="34" name="Rectangle 33"/>
          <p:cNvSpPr/>
          <p:nvPr/>
        </p:nvSpPr>
        <p:spPr bwMode="gray">
          <a:xfrm>
            <a:off x="9588201" y="3505166"/>
            <a:ext cx="1476164"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Behavior</a:t>
            </a:r>
            <a:endParaRPr lang="zh-CN" altLang="en-US" sz="1400" dirty="0"/>
          </a:p>
        </p:txBody>
      </p:sp>
      <p:sp>
        <p:nvSpPr>
          <p:cNvPr id="35" name="Plus 34"/>
          <p:cNvSpPr/>
          <p:nvPr/>
        </p:nvSpPr>
        <p:spPr bwMode="gray">
          <a:xfrm>
            <a:off x="9227467" y="3522821"/>
            <a:ext cx="324730" cy="324730"/>
          </a:xfrm>
          <a:prstGeom prst="mathPlus">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Rectangle 35"/>
          <p:cNvSpPr/>
          <p:nvPr/>
        </p:nvSpPr>
        <p:spPr bwMode="gray">
          <a:xfrm>
            <a:off x="7715993" y="418906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流量匹配规则</a:t>
            </a:r>
            <a:r>
              <a:rPr lang="en-US" altLang="zh-CN" sz="1400" dirty="0">
                <a:solidFill>
                  <a:schemeClr val="tx1"/>
                </a:solidFill>
              </a:rPr>
              <a:t>1</a:t>
            </a:r>
            <a:endParaRPr lang="zh-CN" altLang="en-US" sz="1400" dirty="0">
              <a:solidFill>
                <a:schemeClr val="tx1"/>
              </a:solidFill>
            </a:endParaRPr>
          </a:p>
        </p:txBody>
      </p:sp>
      <p:sp>
        <p:nvSpPr>
          <p:cNvPr id="37" name="Rectangle 36"/>
          <p:cNvSpPr/>
          <p:nvPr/>
        </p:nvSpPr>
        <p:spPr bwMode="gray">
          <a:xfrm>
            <a:off x="7714081" y="483282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流量匹配规则</a:t>
            </a:r>
            <a:r>
              <a:rPr lang="en-US" altLang="zh-CN" sz="1400" dirty="0">
                <a:solidFill>
                  <a:schemeClr val="tx1"/>
                </a:solidFill>
              </a:rPr>
              <a:t>2</a:t>
            </a:r>
            <a:endParaRPr lang="zh-CN" altLang="en-US" sz="1400" dirty="0">
              <a:solidFill>
                <a:schemeClr val="tx1"/>
              </a:solidFill>
            </a:endParaRPr>
          </a:p>
        </p:txBody>
      </p:sp>
      <p:sp>
        <p:nvSpPr>
          <p:cNvPr id="38" name="Rectangle 37"/>
          <p:cNvSpPr/>
          <p:nvPr/>
        </p:nvSpPr>
        <p:spPr bwMode="gray">
          <a:xfrm>
            <a:off x="7715993" y="5464027"/>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流量匹配规则</a:t>
            </a:r>
            <a:r>
              <a:rPr lang="en-US" altLang="zh-CN" sz="1400" dirty="0">
                <a:solidFill>
                  <a:schemeClr val="tx1"/>
                </a:solidFill>
              </a:rPr>
              <a:t>3</a:t>
            </a:r>
            <a:endParaRPr lang="zh-CN" altLang="en-US" sz="1400" dirty="0">
              <a:solidFill>
                <a:schemeClr val="tx1"/>
              </a:solidFill>
            </a:endParaRPr>
          </a:p>
        </p:txBody>
      </p:sp>
      <p:sp>
        <p:nvSpPr>
          <p:cNvPr id="39" name="Rectangle 38"/>
          <p:cNvSpPr/>
          <p:nvPr/>
        </p:nvSpPr>
        <p:spPr bwMode="gray">
          <a:xfrm>
            <a:off x="8084899" y="3844672"/>
            <a:ext cx="734528"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逻辑或</a:t>
            </a:r>
          </a:p>
        </p:txBody>
      </p:sp>
      <p:sp>
        <p:nvSpPr>
          <p:cNvPr id="40" name="Rectangle 39"/>
          <p:cNvSpPr/>
          <p:nvPr/>
        </p:nvSpPr>
        <p:spPr bwMode="gray">
          <a:xfrm>
            <a:off x="9588201" y="418906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1</a:t>
            </a:r>
            <a:endParaRPr lang="zh-CN" altLang="en-US" sz="1400" dirty="0">
              <a:solidFill>
                <a:schemeClr val="tx1"/>
              </a:solidFill>
            </a:endParaRPr>
          </a:p>
        </p:txBody>
      </p:sp>
      <p:sp>
        <p:nvSpPr>
          <p:cNvPr id="41" name="Rectangle 40"/>
          <p:cNvSpPr/>
          <p:nvPr/>
        </p:nvSpPr>
        <p:spPr bwMode="gray">
          <a:xfrm>
            <a:off x="9588201" y="483282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2</a:t>
            </a:r>
            <a:endParaRPr lang="zh-CN" altLang="en-US" sz="1400" dirty="0">
              <a:solidFill>
                <a:schemeClr val="tx1"/>
              </a:solidFill>
            </a:endParaRPr>
          </a:p>
        </p:txBody>
      </p:sp>
      <p:sp>
        <p:nvSpPr>
          <p:cNvPr id="42" name="Rectangle 41"/>
          <p:cNvSpPr/>
          <p:nvPr/>
        </p:nvSpPr>
        <p:spPr bwMode="gray">
          <a:xfrm>
            <a:off x="9591199" y="5476583"/>
            <a:ext cx="1476164" cy="360040"/>
          </a:xfrm>
          <a:prstGeom prst="rect">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流量修改规则</a:t>
            </a:r>
            <a:r>
              <a:rPr lang="en-US" altLang="zh-CN" sz="1400" dirty="0">
                <a:solidFill>
                  <a:schemeClr val="tx1"/>
                </a:solidFill>
              </a:rPr>
              <a:t>3</a:t>
            </a:r>
            <a:endParaRPr lang="zh-CN" altLang="en-US" sz="1400" dirty="0">
              <a:solidFill>
                <a:schemeClr val="tx1"/>
              </a:solidFill>
            </a:endParaRPr>
          </a:p>
        </p:txBody>
      </p:sp>
      <p:sp>
        <p:nvSpPr>
          <p:cNvPr id="43" name="Rectangle 42"/>
          <p:cNvSpPr/>
          <p:nvPr/>
        </p:nvSpPr>
        <p:spPr bwMode="gray">
          <a:xfrm>
            <a:off x="9894508" y="3850894"/>
            <a:ext cx="906171"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依次修改</a:t>
            </a:r>
          </a:p>
        </p:txBody>
      </p:sp>
      <p:sp>
        <p:nvSpPr>
          <p:cNvPr id="45" name="Rectangle 44"/>
          <p:cNvSpPr/>
          <p:nvPr/>
        </p:nvSpPr>
        <p:spPr bwMode="gray">
          <a:xfrm>
            <a:off x="3161014" y="2998410"/>
            <a:ext cx="3600400"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Policy</a:t>
            </a:r>
            <a:r>
              <a:rPr lang="zh-CN" altLang="en-US" sz="1400" dirty="0"/>
              <a:t>规则</a:t>
            </a:r>
            <a:r>
              <a:rPr lang="en-US" altLang="zh-CN" sz="1400" dirty="0"/>
              <a:t>1</a:t>
            </a:r>
            <a:endParaRPr lang="zh-CN" altLang="en-US" sz="1400" dirty="0"/>
          </a:p>
        </p:txBody>
      </p:sp>
      <p:sp>
        <p:nvSpPr>
          <p:cNvPr id="46" name="Rectangle 45"/>
          <p:cNvSpPr/>
          <p:nvPr/>
        </p:nvSpPr>
        <p:spPr bwMode="gray">
          <a:xfrm>
            <a:off x="7589632" y="2998410"/>
            <a:ext cx="3600400" cy="360040"/>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Traffic Policy</a:t>
            </a:r>
            <a:r>
              <a:rPr lang="zh-CN" altLang="en-US" sz="1400" dirty="0"/>
              <a:t>规则</a:t>
            </a:r>
            <a:r>
              <a:rPr lang="en-US" altLang="zh-CN" sz="1400" dirty="0"/>
              <a:t>2</a:t>
            </a:r>
            <a:endParaRPr lang="zh-CN" altLang="en-US" sz="1400" dirty="0"/>
          </a:p>
        </p:txBody>
      </p:sp>
      <p:sp>
        <p:nvSpPr>
          <p:cNvPr id="47" name="Plus 46"/>
          <p:cNvSpPr/>
          <p:nvPr/>
        </p:nvSpPr>
        <p:spPr bwMode="gray">
          <a:xfrm>
            <a:off x="7006665" y="3033720"/>
            <a:ext cx="324730" cy="324730"/>
          </a:xfrm>
          <a:prstGeom prst="mathPlus">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Equal 47"/>
          <p:cNvSpPr/>
          <p:nvPr/>
        </p:nvSpPr>
        <p:spPr bwMode="gray">
          <a:xfrm>
            <a:off x="2474032" y="2998410"/>
            <a:ext cx="379649" cy="360040"/>
          </a:xfrm>
          <a:prstGeom prst="mathEqual">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0" name="Straight Arrow Connector 49"/>
          <p:cNvCxnSpPr/>
          <p:nvPr/>
        </p:nvCxnSpPr>
        <p:spPr bwMode="gray">
          <a:xfrm>
            <a:off x="3285463" y="2767020"/>
            <a:ext cx="751521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bwMode="gray">
          <a:xfrm>
            <a:off x="6717624" y="2445601"/>
            <a:ext cx="902811" cy="307777"/>
          </a:xfrm>
          <a:prstGeom prst="rect">
            <a:avLst/>
          </a:prstGeom>
          <a:noFill/>
        </p:spPr>
        <p:txBody>
          <a:bodyPr wrap="none" rtlCol="0">
            <a:spAutoFit/>
          </a:bodyPr>
          <a:lstStyle/>
          <a:p>
            <a:r>
              <a:rPr lang="zh-CN" altLang="en-US" sz="1400" dirty="0">
                <a:latin typeface="+mn-ea"/>
                <a:ea typeface="+mn-ea"/>
              </a:rPr>
              <a:t>顺序执行</a:t>
            </a:r>
          </a:p>
        </p:txBody>
      </p:sp>
    </p:spTree>
    <p:extLst>
      <p:ext uri="{BB962C8B-B14F-4D97-AF65-F5344CB8AC3E}">
        <p14:creationId xmlns:p14="http://schemas.microsoft.com/office/powerpoint/2010/main" val="2964577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圆角矩形 135"/>
          <p:cNvSpPr/>
          <p:nvPr/>
        </p:nvSpPr>
        <p:spPr bwMode="gray">
          <a:xfrm>
            <a:off x="2894379" y="2712971"/>
            <a:ext cx="6336704" cy="1835510"/>
          </a:xfrm>
          <a:prstGeom prst="roundRect">
            <a:avLst/>
          </a:prstGeom>
          <a:solidFill>
            <a:srgbClr val="F4FBFE"/>
          </a:solidFill>
          <a:ln w="9525" cap="flat" cmpd="sng" algn="ctr">
            <a:solidFill>
              <a:srgbClr val="56C4D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3" name="圆角矩形 122"/>
          <p:cNvSpPr/>
          <p:nvPr/>
        </p:nvSpPr>
        <p:spPr bwMode="gray">
          <a:xfrm>
            <a:off x="10131183" y="1920883"/>
            <a:ext cx="1080000" cy="3708834"/>
          </a:xfrm>
          <a:prstGeom prst="round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9" name="圆角矩形 108"/>
          <p:cNvSpPr/>
          <p:nvPr/>
        </p:nvSpPr>
        <p:spPr bwMode="gray">
          <a:xfrm>
            <a:off x="950163" y="1920883"/>
            <a:ext cx="1080120" cy="3708834"/>
          </a:xfrm>
          <a:prstGeom prst="round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流量分类全过程</a:t>
            </a:r>
          </a:p>
        </p:txBody>
      </p:sp>
      <p:cxnSp>
        <p:nvCxnSpPr>
          <p:cNvPr id="58" name="直接连接符 57"/>
          <p:cNvCxnSpPr/>
          <p:nvPr/>
        </p:nvCxnSpPr>
        <p:spPr bwMode="gray">
          <a:xfrm flipV="1">
            <a:off x="2066287" y="3973111"/>
            <a:ext cx="1018967"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p:cNvCxnSpPr/>
          <p:nvPr/>
        </p:nvCxnSpPr>
        <p:spPr bwMode="gray">
          <a:xfrm flipV="1">
            <a:off x="9040207" y="2604959"/>
            <a:ext cx="1030341" cy="97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0" name="直接连接符 59"/>
          <p:cNvCxnSpPr/>
          <p:nvPr/>
        </p:nvCxnSpPr>
        <p:spPr bwMode="gray">
          <a:xfrm>
            <a:off x="8990428" y="3937107"/>
            <a:ext cx="1116124" cy="864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1" name="直接连接符 60"/>
          <p:cNvCxnSpPr/>
          <p:nvPr/>
        </p:nvCxnSpPr>
        <p:spPr bwMode="gray">
          <a:xfrm>
            <a:off x="2030283" y="2532951"/>
            <a:ext cx="1080120" cy="104411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2" name="图片 6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444395" y="3451089"/>
            <a:ext cx="790244" cy="648000"/>
          </a:xfrm>
          <a:prstGeom prst="rect">
            <a:avLst/>
          </a:prstGeom>
        </p:spPr>
      </p:pic>
      <p:cxnSp>
        <p:nvCxnSpPr>
          <p:cNvPr id="63" name="直接连接符 62"/>
          <p:cNvCxnSpPr>
            <a:stCxn id="109" idx="3"/>
            <a:endCxn id="71" idx="1"/>
          </p:cNvCxnSpPr>
          <p:nvPr/>
        </p:nvCxnSpPr>
        <p:spPr bwMode="gray">
          <a:xfrm flipV="1">
            <a:off x="2030283" y="3775089"/>
            <a:ext cx="1044116"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7" name="直接连接符 66"/>
          <p:cNvCxnSpPr>
            <a:stCxn id="71" idx="3"/>
            <a:endCxn id="62" idx="1"/>
          </p:cNvCxnSpPr>
          <p:nvPr/>
        </p:nvCxnSpPr>
        <p:spPr bwMode="gray">
          <a:xfrm>
            <a:off x="3864643" y="3775089"/>
            <a:ext cx="57975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8" name="直接连接符 67"/>
          <p:cNvCxnSpPr>
            <a:stCxn id="62" idx="3"/>
            <a:endCxn id="133" idx="0"/>
          </p:cNvCxnSpPr>
          <p:nvPr/>
        </p:nvCxnSpPr>
        <p:spPr bwMode="gray">
          <a:xfrm flipV="1">
            <a:off x="5234639" y="2857857"/>
            <a:ext cx="832856" cy="917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a:stCxn id="73" idx="3"/>
            <a:endCxn id="123" idx="1"/>
          </p:cNvCxnSpPr>
          <p:nvPr/>
        </p:nvCxnSpPr>
        <p:spPr bwMode="gray">
          <a:xfrm>
            <a:off x="9060592" y="3775089"/>
            <a:ext cx="1070591" cy="211"/>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1" name="图片 7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74399" y="3451089"/>
            <a:ext cx="790244" cy="648000"/>
          </a:xfrm>
          <a:prstGeom prst="rect">
            <a:avLst/>
          </a:prstGeom>
        </p:spPr>
      </p:pic>
      <p:pic>
        <p:nvPicPr>
          <p:cNvPr id="73" name="图片 72"/>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70348" y="3451089"/>
            <a:ext cx="790244" cy="648000"/>
          </a:xfrm>
          <a:prstGeom prst="rect">
            <a:avLst/>
          </a:prstGeom>
        </p:spPr>
      </p:pic>
      <p:sp>
        <p:nvSpPr>
          <p:cNvPr id="74" name="文本占位符 10"/>
          <p:cNvSpPr txBox="1">
            <a:spLocks/>
          </p:cNvSpPr>
          <p:nvPr/>
        </p:nvSpPr>
        <p:spPr bwMode="gray">
          <a:xfrm>
            <a:off x="2894379" y="4045119"/>
            <a:ext cx="1152128"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边界节点</a:t>
            </a:r>
          </a:p>
        </p:txBody>
      </p:sp>
      <p:sp>
        <p:nvSpPr>
          <p:cNvPr id="76" name="文本占位符 10"/>
          <p:cNvSpPr txBox="1">
            <a:spLocks/>
          </p:cNvSpPr>
          <p:nvPr/>
        </p:nvSpPr>
        <p:spPr bwMode="gray">
          <a:xfrm>
            <a:off x="4406547" y="4045119"/>
            <a:ext cx="900100"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节点</a:t>
            </a:r>
          </a:p>
        </p:txBody>
      </p:sp>
      <p:cxnSp>
        <p:nvCxnSpPr>
          <p:cNvPr id="81" name="直接箭头连接符 80"/>
          <p:cNvCxnSpPr/>
          <p:nvPr/>
        </p:nvCxnSpPr>
        <p:spPr bwMode="gray">
          <a:xfrm>
            <a:off x="2390323" y="2676967"/>
            <a:ext cx="468052" cy="467358"/>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cxnSp>
        <p:nvCxnSpPr>
          <p:cNvPr id="83" name="直接箭头连接符 82"/>
          <p:cNvCxnSpPr/>
          <p:nvPr/>
        </p:nvCxnSpPr>
        <p:spPr bwMode="gray">
          <a:xfrm>
            <a:off x="2210303" y="3649075"/>
            <a:ext cx="648072" cy="0"/>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cxnSp>
        <p:nvCxnSpPr>
          <p:cNvPr id="85" name="直接箭头连接符 84"/>
          <p:cNvCxnSpPr/>
          <p:nvPr/>
        </p:nvCxnSpPr>
        <p:spPr bwMode="gray">
          <a:xfrm flipV="1">
            <a:off x="2354319" y="4009115"/>
            <a:ext cx="504056" cy="432048"/>
          </a:xfrm>
          <a:prstGeom prst="straightConnector1">
            <a:avLst/>
          </a:prstGeom>
          <a:solidFill>
            <a:schemeClr val="accent1"/>
          </a:solidFill>
          <a:ln w="28575" cap="flat" cmpd="sng" algn="ctr">
            <a:solidFill>
              <a:srgbClr val="C00000"/>
            </a:solidFill>
            <a:prstDash val="dashDot"/>
            <a:round/>
            <a:headEnd type="none" w="med" len="med"/>
            <a:tailEnd type="triangle"/>
          </a:ln>
          <a:effectLst/>
        </p:spPr>
      </p:cxnSp>
      <p:sp>
        <p:nvSpPr>
          <p:cNvPr id="110" name="envelope-doodle_16370"/>
          <p:cNvSpPr>
            <a:spLocks noChangeAspect="1"/>
          </p:cNvSpPr>
          <p:nvPr/>
        </p:nvSpPr>
        <p:spPr bwMode="gray">
          <a:xfrm>
            <a:off x="1184466" y="4405159"/>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11" name="图片 110" descr="可视电话硬终端.png"/>
          <p:cNvPicPr>
            <a:picLocks noChangeAspect="1"/>
          </p:cNvPicPr>
          <p:nvPr/>
        </p:nvPicPr>
        <p:blipFill>
          <a:blip r:embed="rId5" cstate="print"/>
          <a:stretch>
            <a:fillRect/>
          </a:stretch>
        </p:blipFill>
        <p:spPr bwMode="gray">
          <a:xfrm>
            <a:off x="1180222" y="3308404"/>
            <a:ext cx="609949" cy="540000"/>
          </a:xfrm>
          <a:prstGeom prst="rect">
            <a:avLst/>
          </a:prstGeom>
        </p:spPr>
      </p:pic>
      <p:pic>
        <p:nvPicPr>
          <p:cNvPr id="112" name="图片 111" descr="管理型无线虚链路-蓝.png"/>
          <p:cNvPicPr>
            <a:picLocks noChangeAspect="1"/>
          </p:cNvPicPr>
          <p:nvPr/>
        </p:nvPicPr>
        <p:blipFill>
          <a:blip r:embed="rId6" cstate="print"/>
          <a:stretch>
            <a:fillRect/>
          </a:stretch>
        </p:blipFill>
        <p:spPr bwMode="gray">
          <a:xfrm>
            <a:off x="1193903" y="2100903"/>
            <a:ext cx="582586" cy="540000"/>
          </a:xfrm>
          <a:prstGeom prst="rect">
            <a:avLst/>
          </a:prstGeom>
        </p:spPr>
      </p:pic>
      <p:sp>
        <p:nvSpPr>
          <p:cNvPr id="114" name="文本框 113"/>
          <p:cNvSpPr txBox="1"/>
          <p:nvPr/>
        </p:nvSpPr>
        <p:spPr bwMode="gray">
          <a:xfrm>
            <a:off x="1191352" y="2605151"/>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115" name="文本框 114"/>
          <p:cNvSpPr txBox="1"/>
          <p:nvPr/>
        </p:nvSpPr>
        <p:spPr bwMode="gray">
          <a:xfrm>
            <a:off x="986168" y="382909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116" name="文本框 115"/>
          <p:cNvSpPr txBox="1"/>
          <p:nvPr/>
        </p:nvSpPr>
        <p:spPr bwMode="gray">
          <a:xfrm>
            <a:off x="1220271" y="4945219"/>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sp>
        <p:nvSpPr>
          <p:cNvPr id="108" name="文本占位符 10"/>
          <p:cNvSpPr txBox="1">
            <a:spLocks/>
          </p:cNvSpPr>
          <p:nvPr/>
        </p:nvSpPr>
        <p:spPr bwMode="gray">
          <a:xfrm>
            <a:off x="1130183" y="5250906"/>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latin typeface="Huawei Sans" panose="020C0503030203020204" pitchFamily="34" charset="0"/>
                <a:ea typeface="方正兰亭黑简体" panose="02000000000000000000" pitchFamily="2" charset="-122"/>
              </a:rPr>
              <a:t>总部</a:t>
            </a:r>
          </a:p>
        </p:txBody>
      </p:sp>
      <p:sp>
        <p:nvSpPr>
          <p:cNvPr id="125" name="envelope-doodle_16370"/>
          <p:cNvSpPr>
            <a:spLocks noChangeAspect="1"/>
          </p:cNvSpPr>
          <p:nvPr/>
        </p:nvSpPr>
        <p:spPr bwMode="gray">
          <a:xfrm>
            <a:off x="10412863" y="4405159"/>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26" name="图片 125" descr="可视电话硬终端.png"/>
          <p:cNvPicPr>
            <a:picLocks noChangeAspect="1"/>
          </p:cNvPicPr>
          <p:nvPr/>
        </p:nvPicPr>
        <p:blipFill>
          <a:blip r:embed="rId5" cstate="print"/>
          <a:stretch>
            <a:fillRect/>
          </a:stretch>
        </p:blipFill>
        <p:spPr bwMode="gray">
          <a:xfrm>
            <a:off x="10408619" y="3308404"/>
            <a:ext cx="609949" cy="540000"/>
          </a:xfrm>
          <a:prstGeom prst="rect">
            <a:avLst/>
          </a:prstGeom>
        </p:spPr>
      </p:pic>
      <p:pic>
        <p:nvPicPr>
          <p:cNvPr id="127" name="图片 126" descr="管理型无线虚链路-蓝.png"/>
          <p:cNvPicPr>
            <a:picLocks noChangeAspect="1"/>
          </p:cNvPicPr>
          <p:nvPr/>
        </p:nvPicPr>
        <p:blipFill>
          <a:blip r:embed="rId6" cstate="print"/>
          <a:stretch>
            <a:fillRect/>
          </a:stretch>
        </p:blipFill>
        <p:spPr bwMode="gray">
          <a:xfrm>
            <a:off x="10422300" y="2100903"/>
            <a:ext cx="582586" cy="540000"/>
          </a:xfrm>
          <a:prstGeom prst="rect">
            <a:avLst/>
          </a:prstGeom>
        </p:spPr>
      </p:pic>
      <p:sp>
        <p:nvSpPr>
          <p:cNvPr id="128" name="文本框 127"/>
          <p:cNvSpPr txBox="1"/>
          <p:nvPr/>
        </p:nvSpPr>
        <p:spPr bwMode="gray">
          <a:xfrm>
            <a:off x="10419749" y="2605151"/>
            <a:ext cx="587688"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直播</a:t>
            </a:r>
          </a:p>
        </p:txBody>
      </p:sp>
      <p:sp>
        <p:nvSpPr>
          <p:cNvPr id="129" name="文本框 128"/>
          <p:cNvSpPr txBox="1"/>
          <p:nvPr/>
        </p:nvSpPr>
        <p:spPr bwMode="gray">
          <a:xfrm>
            <a:off x="10214565" y="3829095"/>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视频通信</a:t>
            </a:r>
          </a:p>
        </p:txBody>
      </p:sp>
      <p:sp>
        <p:nvSpPr>
          <p:cNvPr id="130" name="文本框 129"/>
          <p:cNvSpPr txBox="1"/>
          <p:nvPr/>
        </p:nvSpPr>
        <p:spPr bwMode="gray">
          <a:xfrm>
            <a:off x="10448668" y="4945219"/>
            <a:ext cx="529851"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dirty="0">
                <a:latin typeface="Huawei Sans" panose="020C0503030203020204" pitchFamily="34" charset="0"/>
                <a:ea typeface="方正兰亭黑简体" panose="02000000000000000000" pitchFamily="2" charset="-122"/>
              </a:rPr>
              <a:t>FTP</a:t>
            </a:r>
            <a:endParaRPr lang="zh-CN" altLang="en-US" sz="1600" dirty="0">
              <a:latin typeface="Huawei Sans" panose="020C0503030203020204" pitchFamily="34" charset="0"/>
              <a:ea typeface="方正兰亭黑简体" panose="02000000000000000000" pitchFamily="2" charset="-122"/>
            </a:endParaRPr>
          </a:p>
        </p:txBody>
      </p:sp>
      <p:sp>
        <p:nvSpPr>
          <p:cNvPr id="121" name="文本占位符 10"/>
          <p:cNvSpPr txBox="1">
            <a:spLocks/>
          </p:cNvSpPr>
          <p:nvPr/>
        </p:nvSpPr>
        <p:spPr bwMode="gray">
          <a:xfrm>
            <a:off x="10358580" y="5250906"/>
            <a:ext cx="684076" cy="45039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zh-CN" altLang="en-US" sz="1600" b="1" kern="0" dirty="0">
                <a:latin typeface="Huawei Sans" panose="020C0503030203020204" pitchFamily="34" charset="0"/>
                <a:ea typeface="方正兰亭黑简体" panose="02000000000000000000" pitchFamily="2" charset="-122"/>
              </a:rPr>
              <a:t>分支</a:t>
            </a:r>
          </a:p>
        </p:txBody>
      </p:sp>
      <p:pic>
        <p:nvPicPr>
          <p:cNvPr id="131" name="图片 130"/>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890823" y="3451089"/>
            <a:ext cx="790244" cy="648000"/>
          </a:xfrm>
          <a:prstGeom prst="rect">
            <a:avLst/>
          </a:prstGeom>
        </p:spPr>
      </p:pic>
      <p:sp>
        <p:nvSpPr>
          <p:cNvPr id="132" name="文本占位符 10"/>
          <p:cNvSpPr txBox="1">
            <a:spLocks/>
          </p:cNvSpPr>
          <p:nvPr/>
        </p:nvSpPr>
        <p:spPr bwMode="gray">
          <a:xfrm>
            <a:off x="6854819" y="4045119"/>
            <a:ext cx="900100"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节点</a:t>
            </a:r>
          </a:p>
        </p:txBody>
      </p:sp>
      <p:cxnSp>
        <p:nvCxnSpPr>
          <p:cNvPr id="134" name="直接连接符 133"/>
          <p:cNvCxnSpPr>
            <a:stCxn id="131" idx="1"/>
            <a:endCxn id="133" idx="0"/>
          </p:cNvCxnSpPr>
          <p:nvPr/>
        </p:nvCxnSpPr>
        <p:spPr bwMode="gray">
          <a:xfrm flipH="1" flipV="1">
            <a:off x="6067495" y="2857857"/>
            <a:ext cx="823328" cy="91723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33" name="图片 132"/>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389387" y="2857857"/>
            <a:ext cx="1356216" cy="683206"/>
          </a:xfrm>
          <a:prstGeom prst="rect">
            <a:avLst/>
          </a:prstGeom>
        </p:spPr>
      </p:pic>
      <p:cxnSp>
        <p:nvCxnSpPr>
          <p:cNvPr id="135" name="直接连接符 134"/>
          <p:cNvCxnSpPr>
            <a:stCxn id="131" idx="3"/>
            <a:endCxn id="73" idx="1"/>
          </p:cNvCxnSpPr>
          <p:nvPr/>
        </p:nvCxnSpPr>
        <p:spPr bwMode="gray">
          <a:xfrm>
            <a:off x="7681067" y="3775089"/>
            <a:ext cx="58928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7" name="文本占位符 10"/>
          <p:cNvSpPr txBox="1">
            <a:spLocks/>
          </p:cNvSpPr>
          <p:nvPr/>
        </p:nvSpPr>
        <p:spPr bwMode="gray">
          <a:xfrm>
            <a:off x="8078955" y="4045119"/>
            <a:ext cx="1152128" cy="39604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gn="ctr">
              <a:buNone/>
            </a:pPr>
            <a:r>
              <a:rPr lang="en-US" altLang="zh-CN" sz="1400" b="1" kern="0" dirty="0">
                <a:latin typeface="Huawei Sans" panose="020C0503030203020204" pitchFamily="34" charset="0"/>
                <a:ea typeface="方正兰亭黑简体" panose="02000000000000000000" pitchFamily="2" charset="-122"/>
              </a:rPr>
              <a:t>DS</a:t>
            </a:r>
            <a:r>
              <a:rPr lang="zh-CN" altLang="en-US" sz="1400" b="1" kern="0" dirty="0">
                <a:latin typeface="Huawei Sans" panose="020C0503030203020204" pitchFamily="34" charset="0"/>
                <a:ea typeface="方正兰亭黑简体" panose="02000000000000000000" pitchFamily="2" charset="-122"/>
              </a:rPr>
              <a:t>边界节点</a:t>
            </a:r>
          </a:p>
        </p:txBody>
      </p:sp>
      <p:sp>
        <p:nvSpPr>
          <p:cNvPr id="82" name="Rectangular Callout 81"/>
          <p:cNvSpPr/>
          <p:nvPr/>
        </p:nvSpPr>
        <p:spPr bwMode="gray">
          <a:xfrm>
            <a:off x="2922064" y="2674280"/>
            <a:ext cx="1149968" cy="432237"/>
          </a:xfrm>
          <a:prstGeom prst="wedgeRectCallout">
            <a:avLst>
              <a:gd name="adj1" fmla="val -33194"/>
              <a:gd name="adj2" fmla="val 11229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复杂流分类</a:t>
            </a:r>
            <a:endParaRPr lang="en-US" altLang="zh-CN" sz="1400" b="1" kern="0" dirty="0">
              <a:solidFill>
                <a:prstClr val="black"/>
              </a:solidFill>
              <a:latin typeface="Huawei Sans" panose="020C0503030203020204" pitchFamily="34" charset="0"/>
              <a:ea typeface="方正兰亭黑简体" panose="02000000000000000000" pitchFamily="2" charset="-122"/>
            </a:endParaRPr>
          </a:p>
        </p:txBody>
      </p:sp>
      <p:sp>
        <p:nvSpPr>
          <p:cNvPr id="84" name="Rectangular Callout 83"/>
          <p:cNvSpPr/>
          <p:nvPr/>
        </p:nvSpPr>
        <p:spPr bwMode="gray">
          <a:xfrm>
            <a:off x="4250392" y="2659572"/>
            <a:ext cx="1080000" cy="432237"/>
          </a:xfrm>
          <a:prstGeom prst="wedgeRectCallout">
            <a:avLst>
              <a:gd name="adj1" fmla="val -32439"/>
              <a:gd name="adj2" fmla="val 1688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uSzPct val="100000"/>
            </a:pPr>
            <a:r>
              <a:rPr lang="zh-CN" altLang="en-US" sz="1400" b="1" kern="0" dirty="0">
                <a:solidFill>
                  <a:prstClr val="black"/>
                </a:solidFill>
                <a:latin typeface="Huawei Sans" panose="020C0503030203020204" pitchFamily="34" charset="0"/>
                <a:ea typeface="方正兰亭黑简体" panose="02000000000000000000" pitchFamily="2" charset="-122"/>
              </a:rPr>
              <a:t>简单流分类</a:t>
            </a:r>
          </a:p>
        </p:txBody>
      </p:sp>
      <p:sp>
        <p:nvSpPr>
          <p:cNvPr id="86" name="Rectangular Callout 85"/>
          <p:cNvSpPr/>
          <p:nvPr/>
        </p:nvSpPr>
        <p:spPr bwMode="gray">
          <a:xfrm>
            <a:off x="2030283" y="1382680"/>
            <a:ext cx="1736553" cy="858845"/>
          </a:xfrm>
          <a:prstGeom prst="wedgeRectCallout">
            <a:avLst>
              <a:gd name="adj1" fmla="val -61576"/>
              <a:gd name="adj2" fmla="val 3613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SzPct val="100000"/>
            </a:pPr>
            <a:r>
              <a:rPr lang="zh-CN" altLang="en-US" sz="1400" b="1" kern="0">
                <a:solidFill>
                  <a:prstClr val="black"/>
                </a:solidFill>
                <a:latin typeface="Huawei Sans" panose="020C0503030203020204" pitchFamily="34" charset="0"/>
                <a:ea typeface="方正兰亭黑简体" panose="02000000000000000000" pitchFamily="2" charset="-122"/>
              </a:rPr>
              <a:t>要求为语音、视频等即时性业务提供最优先的转发服务</a:t>
            </a:r>
            <a:endParaRPr lang="zh-CN" altLang="en-US" sz="1400" b="1" kern="0" dirty="0">
              <a:solidFill>
                <a:prstClr val="black"/>
              </a:solidFill>
              <a:latin typeface="Huawei Sans" panose="020C0503030203020204" pitchFamily="34" charset="0"/>
              <a:ea typeface="方正兰亭黑简体" panose="02000000000000000000" pitchFamily="2" charset="-122"/>
            </a:endParaRPr>
          </a:p>
        </p:txBody>
      </p:sp>
      <p:sp>
        <p:nvSpPr>
          <p:cNvPr id="50" name="Oval 41">
            <a:extLst>
              <a:ext uri="{FF2B5EF4-FFF2-40B4-BE49-F238E27FC236}">
                <a16:creationId xmlns:a16="http://schemas.microsoft.com/office/drawing/2014/main" id="{D651A847-C472-431A-BAF6-568E2A229B2B}"/>
              </a:ext>
            </a:extLst>
          </p:cNvPr>
          <p:cNvSpPr>
            <a:spLocks noChangeAspect="1"/>
          </p:cNvSpPr>
          <p:nvPr/>
        </p:nvSpPr>
        <p:spPr bwMode="gray">
          <a:xfrm>
            <a:off x="2994768" y="345510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1" name="Oval 41">
            <a:extLst>
              <a:ext uri="{FF2B5EF4-FFF2-40B4-BE49-F238E27FC236}">
                <a16:creationId xmlns:a16="http://schemas.microsoft.com/office/drawing/2014/main" id="{E84C60A5-6DA8-4E22-A893-B52A64AEE70D}"/>
              </a:ext>
            </a:extLst>
          </p:cNvPr>
          <p:cNvSpPr>
            <a:spLocks noChangeAspect="1"/>
          </p:cNvSpPr>
          <p:nvPr/>
        </p:nvSpPr>
        <p:spPr bwMode="gray">
          <a:xfrm>
            <a:off x="3001824" y="368946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2" name="Oval 41">
            <a:extLst>
              <a:ext uri="{FF2B5EF4-FFF2-40B4-BE49-F238E27FC236}">
                <a16:creationId xmlns:a16="http://schemas.microsoft.com/office/drawing/2014/main" id="{D3BF91F6-84B9-417F-B559-540D2E606E9C}"/>
              </a:ext>
            </a:extLst>
          </p:cNvPr>
          <p:cNvSpPr>
            <a:spLocks noChangeAspect="1"/>
          </p:cNvSpPr>
          <p:nvPr/>
        </p:nvSpPr>
        <p:spPr bwMode="gray">
          <a:xfrm>
            <a:off x="3001824" y="390958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3" name="Oval 41">
            <a:extLst>
              <a:ext uri="{FF2B5EF4-FFF2-40B4-BE49-F238E27FC236}">
                <a16:creationId xmlns:a16="http://schemas.microsoft.com/office/drawing/2014/main" id="{2396DD10-0CAA-4A25-A12F-5AD30B211121}"/>
              </a:ext>
            </a:extLst>
          </p:cNvPr>
          <p:cNvSpPr>
            <a:spLocks noChangeAspect="1"/>
          </p:cNvSpPr>
          <p:nvPr/>
        </p:nvSpPr>
        <p:spPr bwMode="gray">
          <a:xfrm>
            <a:off x="4380072" y="368394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Tree>
    <p:extLst>
      <p:ext uri="{BB962C8B-B14F-4D97-AF65-F5344CB8AC3E}">
        <p14:creationId xmlns:p14="http://schemas.microsoft.com/office/powerpoint/2010/main" val="40846801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135">
            <a:extLst>
              <a:ext uri="{FF2B5EF4-FFF2-40B4-BE49-F238E27FC236}">
                <a16:creationId xmlns:a16="http://schemas.microsoft.com/office/drawing/2014/main" id="{ADB81D25-B299-4F38-9292-5C24534EB58F}"/>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配置复杂流分类</a:t>
            </a:r>
            <a:endParaRPr lang="en-US" dirty="0"/>
          </a:p>
        </p:txBody>
      </p:sp>
      <p:sp>
        <p:nvSpPr>
          <p:cNvPr id="44" name="Text Box 26">
            <a:extLst>
              <a:ext uri="{FF2B5EF4-FFF2-40B4-BE49-F238E27FC236}">
                <a16:creationId xmlns:a16="http://schemas.microsoft.com/office/drawing/2014/main" id="{E754D508-C839-4360-BC57-9F5A6EEE23AB}"/>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46" name="Straight Connector 45">
            <a:extLst>
              <a:ext uri="{FF2B5EF4-FFF2-40B4-BE49-F238E27FC236}">
                <a16:creationId xmlns:a16="http://schemas.microsoft.com/office/drawing/2014/main" id="{F7475B58-7DB9-40CE-9451-17069D55C9DE}"/>
              </a:ext>
            </a:extLst>
          </p:cNvPr>
          <p:cNvCxnSpPr>
            <a:cxnSpLocks/>
            <a:endCxn id="51"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51" name="图片 70">
            <a:extLst>
              <a:ext uri="{FF2B5EF4-FFF2-40B4-BE49-F238E27FC236}">
                <a16:creationId xmlns:a16="http://schemas.microsoft.com/office/drawing/2014/main" id="{38ACF6AA-2EF0-4986-A706-499F30420B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53" name="Straight Connector 52">
            <a:extLst>
              <a:ext uri="{FF2B5EF4-FFF2-40B4-BE49-F238E27FC236}">
                <a16:creationId xmlns:a16="http://schemas.microsoft.com/office/drawing/2014/main" id="{48CF76A3-3A75-4C75-A9F3-48A00DD70258}"/>
              </a:ext>
            </a:extLst>
          </p:cNvPr>
          <p:cNvCxnSpPr>
            <a:cxnSpLocks/>
            <a:stCxn id="51" idx="3"/>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3BE9F69B-5E59-4496-AF0D-5050ADFF4F93}"/>
              </a:ext>
            </a:extLst>
          </p:cNvPr>
          <p:cNvCxnSpPr>
            <a:cxnSpLocks/>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59" name="Text Box 26">
            <a:extLst>
              <a:ext uri="{FF2B5EF4-FFF2-40B4-BE49-F238E27FC236}">
                <a16:creationId xmlns:a16="http://schemas.microsoft.com/office/drawing/2014/main" id="{DE07934D-625C-4363-9411-1166D2527D37}"/>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60" name="Oval 41">
            <a:extLst>
              <a:ext uri="{FF2B5EF4-FFF2-40B4-BE49-F238E27FC236}">
                <a16:creationId xmlns:a16="http://schemas.microsoft.com/office/drawing/2014/main" id="{60ABAE49-7F47-4093-80DE-0764108282B3}"/>
              </a:ext>
            </a:extLst>
          </p:cNvPr>
          <p:cNvSpPr>
            <a:spLocks noChangeAspect="1"/>
          </p:cNvSpPr>
          <p:nvPr/>
        </p:nvSpPr>
        <p:spPr bwMode="gray">
          <a:xfrm>
            <a:off x="180109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408541"/>
            <a:ext cx="5648500" cy="353505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由于</a:t>
            </a:r>
            <a:r>
              <a:rPr lang="en-US" altLang="zh-CN" sz="1800" dirty="0"/>
              <a:t>DS</a:t>
            </a:r>
            <a:r>
              <a:rPr lang="zh-CN" altLang="en-US" sz="1800" dirty="0"/>
              <a:t>边界收到的流量一般未被分类，所以复杂流分类一般在</a:t>
            </a:r>
            <a:r>
              <a:rPr lang="en-US" altLang="zh-CN" sz="1800" dirty="0"/>
              <a:t>DS</a:t>
            </a:r>
            <a:r>
              <a:rPr lang="zh-CN" altLang="en-US" sz="1800" dirty="0"/>
              <a:t>边界设备上配置。配置思路如下：</a:t>
            </a:r>
            <a:endParaRPr lang="en-US" altLang="zh-CN" sz="1800" dirty="0"/>
          </a:p>
          <a:p>
            <a:pPr lvl="1" fontAlgn="auto">
              <a:spcAft>
                <a:spcPts val="0"/>
              </a:spcAft>
            </a:pPr>
            <a:r>
              <a:rPr lang="zh-CN" altLang="en-US" sz="1600" dirty="0"/>
              <a:t>使用</a:t>
            </a:r>
            <a:r>
              <a:rPr lang="en-US" altLang="zh-CN" sz="1600" dirty="0"/>
              <a:t>Traffic classifier</a:t>
            </a:r>
            <a:r>
              <a:rPr lang="zh-CN" altLang="en-US" sz="1600" dirty="0"/>
              <a:t>工具匹配流量</a:t>
            </a:r>
            <a:endParaRPr lang="en-US" altLang="zh-CN" sz="1600" dirty="0"/>
          </a:p>
          <a:p>
            <a:pPr lvl="1" fontAlgn="auto">
              <a:spcAft>
                <a:spcPts val="0"/>
              </a:spcAft>
            </a:pPr>
            <a:r>
              <a:rPr lang="zh-CN" altLang="en-US" sz="1600" dirty="0"/>
              <a:t>使用</a:t>
            </a:r>
            <a:r>
              <a:rPr lang="en-US" altLang="zh-CN" sz="1600" dirty="0"/>
              <a:t>Traffic behavior</a:t>
            </a:r>
            <a:r>
              <a:rPr lang="zh-CN" altLang="en-US" sz="1600" dirty="0"/>
              <a:t>工具定义流分类的规则</a:t>
            </a:r>
            <a:endParaRPr lang="en-US" altLang="zh-CN" sz="1600" dirty="0"/>
          </a:p>
          <a:p>
            <a:pPr lvl="1" fontAlgn="auto">
              <a:spcAft>
                <a:spcPts val="0"/>
              </a:spcAft>
            </a:pPr>
            <a:r>
              <a:rPr lang="zh-CN" altLang="en-US" sz="1600" dirty="0"/>
              <a:t>使用</a:t>
            </a:r>
            <a:r>
              <a:rPr lang="en-US" altLang="zh-CN" sz="1600" dirty="0"/>
              <a:t>Traffic policy</a:t>
            </a:r>
            <a:r>
              <a:rPr lang="zh-CN" altLang="en-US" sz="1600" dirty="0"/>
              <a:t>工具将</a:t>
            </a:r>
            <a:r>
              <a:rPr lang="en-US" altLang="zh-CN" sz="1600" dirty="0"/>
              <a:t>Traffic classifier</a:t>
            </a:r>
            <a:r>
              <a:rPr lang="zh-CN" altLang="en-US" sz="1600" dirty="0"/>
              <a:t>与</a:t>
            </a:r>
            <a:r>
              <a:rPr lang="en-US" altLang="zh-CN" sz="1600" dirty="0"/>
              <a:t>Traffic behavior</a:t>
            </a:r>
            <a:r>
              <a:rPr lang="zh-CN" altLang="en-US" sz="1600" dirty="0"/>
              <a:t>进行绑定</a:t>
            </a:r>
            <a:endParaRPr lang="en-US" altLang="zh-CN" sz="1600" dirty="0"/>
          </a:p>
          <a:p>
            <a:pPr lvl="1" fontAlgn="auto">
              <a:spcAft>
                <a:spcPts val="0"/>
              </a:spcAft>
            </a:pPr>
            <a:r>
              <a:rPr lang="zh-CN" altLang="en-US" sz="1600" dirty="0"/>
              <a:t>将</a:t>
            </a:r>
            <a:r>
              <a:rPr lang="en-US" altLang="zh-CN" sz="1600" dirty="0"/>
              <a:t>Traffic policy</a:t>
            </a:r>
            <a:r>
              <a:rPr lang="zh-CN" altLang="en-US" sz="1600" dirty="0"/>
              <a:t>应用到</a:t>
            </a:r>
            <a:r>
              <a:rPr lang="en-US" altLang="zh-CN" sz="1600" dirty="0"/>
              <a:t>DS</a:t>
            </a:r>
            <a:r>
              <a:rPr lang="zh-CN" altLang="en-US" sz="1600" dirty="0"/>
              <a:t>边界设备接口</a:t>
            </a:r>
            <a:r>
              <a:rPr lang="zh-CN" altLang="en-US" sz="1600" dirty="0">
                <a:solidFill>
                  <a:srgbClr val="C7000B"/>
                </a:solidFill>
              </a:rPr>
              <a:t>入方向</a:t>
            </a:r>
            <a:r>
              <a:rPr lang="zh-CN" altLang="en-US" sz="1600" dirty="0"/>
              <a:t>上</a:t>
            </a:r>
            <a:endParaRPr lang="en-US" sz="1600" dirty="0"/>
          </a:p>
        </p:txBody>
      </p:sp>
      <p:sp>
        <p:nvSpPr>
          <p:cNvPr id="62" name="Text Box 26">
            <a:extLst>
              <a:ext uri="{FF2B5EF4-FFF2-40B4-BE49-F238E27FC236}">
                <a16:creationId xmlns:a16="http://schemas.microsoft.com/office/drawing/2014/main" id="{EC0FFD3E-3EA1-49C0-BDD3-E209EC79923B}"/>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63" name="文本框 30">
            <a:extLst>
              <a:ext uri="{FF2B5EF4-FFF2-40B4-BE49-F238E27FC236}">
                <a16:creationId xmlns:a16="http://schemas.microsoft.com/office/drawing/2014/main" id="{7C65D3D1-F631-4346-9232-5945947BA957}"/>
              </a:ext>
            </a:extLst>
          </p:cNvPr>
          <p:cNvSpPr txBox="1">
            <a:spLocks/>
          </p:cNvSpPr>
          <p:nvPr/>
        </p:nvSpPr>
        <p:spPr bwMode="gray">
          <a:xfrm>
            <a:off x="6105426" y="1315152"/>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 </a:t>
            </a:r>
            <a:r>
              <a:rPr lang="en-US" altLang="zh-CN" dirty="0">
                <a:solidFill>
                  <a:schemeClr val="tx1"/>
                </a:solidFill>
              </a:rPr>
              <a:t>| …. ]       //</a:t>
            </a:r>
            <a:r>
              <a:rPr lang="zh-CN" altLang="en-US" dirty="0">
                <a:solidFill>
                  <a:schemeClr val="tx1"/>
                </a:solidFill>
              </a:rPr>
              <a:t>基于流量特征匹配流量</a:t>
            </a:r>
            <a:endParaRPr lang="en-US" altLang="zh-CN" dirty="0">
              <a:solidFill>
                <a:schemeClr val="tx1"/>
              </a:solidFill>
            </a:endParaRPr>
          </a:p>
        </p:txBody>
      </p:sp>
      <p:sp>
        <p:nvSpPr>
          <p:cNvPr id="64" name="文本框 30">
            <a:extLst>
              <a:ext uri="{FF2B5EF4-FFF2-40B4-BE49-F238E27FC236}">
                <a16:creationId xmlns:a16="http://schemas.microsoft.com/office/drawing/2014/main" id="{2AF05CCD-E336-4F23-95FE-541DCCC8BBFE}"/>
              </a:ext>
            </a:extLst>
          </p:cNvPr>
          <p:cNvSpPr txBox="1">
            <a:spLocks/>
          </p:cNvSpPr>
          <p:nvPr/>
        </p:nvSpPr>
        <p:spPr bwMode="gray">
          <a:xfrm>
            <a:off x="6099146" y="2312599"/>
            <a:ext cx="5613429"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remark </a:t>
            </a:r>
            <a:r>
              <a:rPr lang="en-US" altLang="zh-CN" dirty="0">
                <a:solidFill>
                  <a:schemeClr val="tx1"/>
                </a:solidFill>
              </a:rPr>
              <a:t>[</a:t>
            </a:r>
            <a:r>
              <a:rPr lang="en-US" altLang="zh-CN" i="1" dirty="0" err="1">
                <a:solidFill>
                  <a:schemeClr val="tx1"/>
                </a:solidFill>
              </a:rPr>
              <a:t>dscp</a:t>
            </a:r>
            <a:r>
              <a:rPr lang="en-US" altLang="zh-CN" i="1" dirty="0">
                <a:solidFill>
                  <a:schemeClr val="tx1"/>
                </a:solidFill>
              </a:rPr>
              <a:t>-name</a:t>
            </a:r>
            <a:r>
              <a:rPr lang="en-US" altLang="zh-CN" dirty="0">
                <a:solidFill>
                  <a:schemeClr val="tx1"/>
                </a:solidFill>
              </a:rPr>
              <a:t> | </a:t>
            </a:r>
            <a:r>
              <a:rPr lang="en-US" altLang="zh-CN" i="1" dirty="0">
                <a:solidFill>
                  <a:schemeClr val="tx1"/>
                </a:solidFill>
              </a:rPr>
              <a:t>8021p-value</a:t>
            </a:r>
            <a:r>
              <a:rPr lang="en-US" altLang="zh-CN" dirty="0">
                <a:solidFill>
                  <a:schemeClr val="tx1"/>
                </a:solidFill>
              </a:rPr>
              <a:t> | </a:t>
            </a:r>
            <a:r>
              <a:rPr lang="en-US" altLang="zh-CN" i="1" dirty="0">
                <a:solidFill>
                  <a:schemeClr val="tx1"/>
                </a:solidFill>
              </a:rPr>
              <a:t>EXP</a:t>
            </a:r>
            <a:r>
              <a:rPr lang="en-US" altLang="zh-CN" dirty="0">
                <a:solidFill>
                  <a:schemeClr val="tx1"/>
                </a:solidFill>
              </a:rPr>
              <a:t> | … ]       //</a:t>
            </a:r>
            <a:r>
              <a:rPr lang="zh-CN" altLang="en-US" dirty="0">
                <a:solidFill>
                  <a:schemeClr val="tx1"/>
                </a:solidFill>
              </a:rPr>
              <a:t>对流量的</a:t>
            </a:r>
            <a:r>
              <a:rPr lang="en-US" altLang="zh-CN" dirty="0">
                <a:solidFill>
                  <a:schemeClr val="tx1"/>
                </a:solidFill>
              </a:rPr>
              <a:t>QoS</a:t>
            </a:r>
            <a:r>
              <a:rPr lang="zh-CN" altLang="en-US" dirty="0">
                <a:solidFill>
                  <a:schemeClr val="tx1"/>
                </a:solidFill>
              </a:rPr>
              <a:t>字段赋值</a:t>
            </a:r>
            <a:endParaRPr lang="en-US" altLang="zh-CN" dirty="0">
              <a:solidFill>
                <a:schemeClr val="tx1"/>
              </a:solidFill>
            </a:endParaRPr>
          </a:p>
        </p:txBody>
      </p:sp>
      <p:sp>
        <p:nvSpPr>
          <p:cNvPr id="65" name="文本框 30">
            <a:extLst>
              <a:ext uri="{FF2B5EF4-FFF2-40B4-BE49-F238E27FC236}">
                <a16:creationId xmlns:a16="http://schemas.microsoft.com/office/drawing/2014/main" id="{5BD7256A-1655-47B4-B7FD-045BBF92D05B}"/>
              </a:ext>
            </a:extLst>
          </p:cNvPr>
          <p:cNvSpPr txBox="1">
            <a:spLocks/>
          </p:cNvSpPr>
          <p:nvPr/>
        </p:nvSpPr>
        <p:spPr bwMode="gray">
          <a:xfrm>
            <a:off x="6099146" y="3525489"/>
            <a:ext cx="5613429"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66" name="文本框 30">
            <a:extLst>
              <a:ext uri="{FF2B5EF4-FFF2-40B4-BE49-F238E27FC236}">
                <a16:creationId xmlns:a16="http://schemas.microsoft.com/office/drawing/2014/main" id="{C12380DA-A574-48D0-AC89-D1AAE7CEF6D1}"/>
              </a:ext>
            </a:extLst>
          </p:cNvPr>
          <p:cNvSpPr txBox="1">
            <a:spLocks/>
          </p:cNvSpPr>
          <p:nvPr/>
        </p:nvSpPr>
        <p:spPr bwMode="gray">
          <a:xfrm>
            <a:off x="6105427" y="4738379"/>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[inbound | outbound]     //</a:t>
            </a:r>
            <a:r>
              <a:rPr lang="zh-CN" altLang="en-US" dirty="0">
                <a:solidFill>
                  <a:schemeClr val="tx1"/>
                </a:solidFill>
              </a:rPr>
              <a:t>在接口入方向上应用流策略</a:t>
            </a:r>
            <a:endParaRPr lang="en-US" altLang="zh-CN" dirty="0">
              <a:solidFill>
                <a:schemeClr val="tx1"/>
              </a:solidFill>
            </a:endParaRPr>
          </a:p>
        </p:txBody>
      </p: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pic>
        <p:nvPicPr>
          <p:cNvPr id="22" name="图片 2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250800" y="1638000"/>
            <a:ext cx="540000" cy="442800"/>
          </a:xfrm>
          <a:prstGeom prst="rect">
            <a:avLst/>
          </a:prstGeom>
        </p:spPr>
      </p:pic>
    </p:spTree>
    <p:extLst>
      <p:ext uri="{BB962C8B-B14F-4D97-AF65-F5344CB8AC3E}">
        <p14:creationId xmlns:p14="http://schemas.microsoft.com/office/powerpoint/2010/main" val="3104120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4B67-8A90-421E-BDCC-D5B3872CE0B9}"/>
              </a:ext>
            </a:extLst>
          </p:cNvPr>
          <p:cNvSpPr>
            <a:spLocks noGrp="1"/>
          </p:cNvSpPr>
          <p:nvPr>
            <p:ph type="title"/>
          </p:nvPr>
        </p:nvSpPr>
        <p:spPr bwMode="gray"/>
        <p:txBody>
          <a:bodyPr/>
          <a:lstStyle/>
          <a:p>
            <a:r>
              <a:rPr lang="zh-CN" altLang="en-US" dirty="0"/>
              <a:t>查看复杂流分类配置结果</a:t>
            </a:r>
            <a:endParaRPr lang="en-US" dirty="0"/>
          </a:p>
        </p:txBody>
      </p:sp>
      <p:sp>
        <p:nvSpPr>
          <p:cNvPr id="3" name="Text Placeholder 2">
            <a:extLst>
              <a:ext uri="{FF2B5EF4-FFF2-40B4-BE49-F238E27FC236}">
                <a16:creationId xmlns:a16="http://schemas.microsoft.com/office/drawing/2014/main" id="{4FE72B56-2DE8-4574-AFFA-D68F5DBDF7C7}"/>
              </a:ext>
            </a:extLst>
          </p:cNvPr>
          <p:cNvSpPr>
            <a:spLocks noGrp="1"/>
          </p:cNvSpPr>
          <p:nvPr>
            <p:ph type="body" sz="quarter" idx="10"/>
          </p:nvPr>
        </p:nvSpPr>
        <p:spPr bwMode="gray"/>
        <p:txBody>
          <a:bodyPr/>
          <a:lstStyle/>
          <a:p>
            <a:r>
              <a:rPr lang="zh-CN" altLang="en-US" sz="1800" dirty="0"/>
              <a:t>当配置完成复杂流分类，可以通过以下命令查看结果：</a:t>
            </a:r>
            <a:endParaRPr lang="en-US" sz="1800" dirty="0"/>
          </a:p>
        </p:txBody>
      </p:sp>
      <p:sp>
        <p:nvSpPr>
          <p:cNvPr id="4" name="文本框 30">
            <a:extLst>
              <a:ext uri="{FF2B5EF4-FFF2-40B4-BE49-F238E27FC236}">
                <a16:creationId xmlns:a16="http://schemas.microsoft.com/office/drawing/2014/main" id="{A161B87F-2027-4A8C-B576-136DFF3BE804}"/>
              </a:ext>
            </a:extLst>
          </p:cNvPr>
          <p:cNvSpPr txBox="1"/>
          <p:nvPr/>
        </p:nvSpPr>
        <p:spPr bwMode="gray">
          <a:xfrm>
            <a:off x="844699" y="1635212"/>
            <a:ext cx="9300787"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 </a:t>
            </a:r>
            <a:r>
              <a:rPr lang="en-US" altLang="zh-CN" i="1" dirty="0">
                <a:solidFill>
                  <a:schemeClr val="tx1"/>
                </a:solidFill>
              </a:rPr>
              <a:t>behavior-name</a:t>
            </a:r>
            <a:r>
              <a:rPr lang="en-US" altLang="zh-CN" dirty="0">
                <a:solidFill>
                  <a:schemeClr val="tx1"/>
                </a:solidFill>
              </a:rPr>
              <a:t> ]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Tree>
    <p:extLst>
      <p:ext uri="{BB962C8B-B14F-4D97-AF65-F5344CB8AC3E}">
        <p14:creationId xmlns:p14="http://schemas.microsoft.com/office/powerpoint/2010/main" val="2386852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135">
            <a:extLst>
              <a:ext uri="{FF2B5EF4-FFF2-40B4-BE49-F238E27FC236}">
                <a16:creationId xmlns:a16="http://schemas.microsoft.com/office/drawing/2014/main" id="{ADB81D25-B299-4F38-9292-5C24534EB58F}"/>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修改简单流分类 </a:t>
            </a:r>
            <a:r>
              <a:rPr lang="en-US" altLang="zh-CN" dirty="0"/>
              <a:t>(</a:t>
            </a:r>
            <a:r>
              <a:rPr lang="zh-CN" altLang="en-US" dirty="0"/>
              <a:t>可选</a:t>
            </a:r>
            <a:r>
              <a:rPr lang="en-US" altLang="zh-CN" dirty="0"/>
              <a:t>)</a:t>
            </a:r>
            <a:endParaRPr lang="en-US" dirty="0"/>
          </a:p>
        </p:txBody>
      </p:sp>
      <p:sp>
        <p:nvSpPr>
          <p:cNvPr id="3" name="Text Placeholder 2">
            <a:extLst>
              <a:ext uri="{FF2B5EF4-FFF2-40B4-BE49-F238E27FC236}">
                <a16:creationId xmlns:a16="http://schemas.microsoft.com/office/drawing/2014/main" id="{6770FB9B-3D0C-43BE-A5B8-2F539CCD8313}"/>
              </a:ext>
            </a:extLst>
          </p:cNvPr>
          <p:cNvSpPr>
            <a:spLocks noGrp="1"/>
          </p:cNvSpPr>
          <p:nvPr>
            <p:ph type="body" sz="quarter" idx="10"/>
          </p:nvPr>
        </p:nvSpPr>
        <p:spPr bwMode="gray">
          <a:xfrm>
            <a:off x="6096000" y="1115780"/>
            <a:ext cx="4943390" cy="4879805"/>
          </a:xfrm>
        </p:spPr>
        <p:txBody>
          <a:bodyPr/>
          <a:lstStyle/>
          <a:p>
            <a:r>
              <a:rPr lang="zh-CN" altLang="en-US" sz="1800" dirty="0"/>
              <a:t>配置端口信任的报文优先级</a:t>
            </a:r>
            <a:endParaRPr lang="en-US" altLang="zh-CN" sz="1800" dirty="0"/>
          </a:p>
          <a:p>
            <a:endParaRPr lang="en-US" altLang="zh-CN" sz="1800" dirty="0"/>
          </a:p>
          <a:p>
            <a:endParaRPr lang="en-US" altLang="zh-CN" sz="1800" dirty="0"/>
          </a:p>
          <a:p>
            <a:r>
              <a:rPr lang="zh-CN" altLang="en-US" sz="1800" dirty="0"/>
              <a:t>配置优先级映射表</a:t>
            </a:r>
          </a:p>
          <a:p>
            <a:endParaRPr lang="zh-CN" altLang="en-US" sz="1800" dirty="0"/>
          </a:p>
          <a:p>
            <a:endParaRPr lang="en-US" dirty="0"/>
          </a:p>
        </p:txBody>
      </p:sp>
      <p:sp>
        <p:nvSpPr>
          <p:cNvPr id="44" name="Text Box 26">
            <a:extLst>
              <a:ext uri="{FF2B5EF4-FFF2-40B4-BE49-F238E27FC236}">
                <a16:creationId xmlns:a16="http://schemas.microsoft.com/office/drawing/2014/main" id="{E754D508-C839-4360-BC57-9F5A6EEE23AB}"/>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46" name="Straight Connector 45">
            <a:extLst>
              <a:ext uri="{FF2B5EF4-FFF2-40B4-BE49-F238E27FC236}">
                <a16:creationId xmlns:a16="http://schemas.microsoft.com/office/drawing/2014/main" id="{F7475B58-7DB9-40CE-9451-17069D55C9DE}"/>
              </a:ext>
            </a:extLst>
          </p:cNvPr>
          <p:cNvCxnSpPr>
            <a:cxnSpLocks/>
            <a:endCxn id="51"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51" name="图片 70">
            <a:extLst>
              <a:ext uri="{FF2B5EF4-FFF2-40B4-BE49-F238E27FC236}">
                <a16:creationId xmlns:a16="http://schemas.microsoft.com/office/drawing/2014/main" id="{38ACF6AA-2EF0-4986-A706-499F30420B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53" name="Straight Connector 52">
            <a:extLst>
              <a:ext uri="{FF2B5EF4-FFF2-40B4-BE49-F238E27FC236}">
                <a16:creationId xmlns:a16="http://schemas.microsoft.com/office/drawing/2014/main" id="{48CF76A3-3A75-4C75-A9F3-48A00DD70258}"/>
              </a:ext>
            </a:extLst>
          </p:cNvPr>
          <p:cNvCxnSpPr>
            <a:cxnSpLocks/>
            <a:stCxn id="51" idx="3"/>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3BE9F69B-5E59-4496-AF0D-5050ADFF4F93}"/>
              </a:ext>
            </a:extLst>
          </p:cNvPr>
          <p:cNvCxnSpPr>
            <a:cxnSpLocks/>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59" name="Text Box 26">
            <a:extLst>
              <a:ext uri="{FF2B5EF4-FFF2-40B4-BE49-F238E27FC236}">
                <a16:creationId xmlns:a16="http://schemas.microsoft.com/office/drawing/2014/main" id="{DE07934D-625C-4363-9411-1166D2527D37}"/>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60" name="Oval 41">
            <a:extLst>
              <a:ext uri="{FF2B5EF4-FFF2-40B4-BE49-F238E27FC236}">
                <a16:creationId xmlns:a16="http://schemas.microsoft.com/office/drawing/2014/main" id="{60ABAE49-7F47-4093-80DE-0764108282B3}"/>
              </a:ext>
            </a:extLst>
          </p:cNvPr>
          <p:cNvSpPr>
            <a:spLocks noChangeAspect="1"/>
          </p:cNvSpPr>
          <p:nvPr/>
        </p:nvSpPr>
        <p:spPr bwMode="gray">
          <a:xfrm>
            <a:off x="180109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408540"/>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简单流分类基于优先级映射表，将带有特定</a:t>
            </a:r>
            <a:r>
              <a:rPr lang="en-US" altLang="zh-CN" sz="1800" dirty="0"/>
              <a:t>QoS</a:t>
            </a:r>
            <a:r>
              <a:rPr lang="zh-CN" altLang="en-US" sz="1800" dirty="0"/>
              <a:t>字段数据映射为内部优先级。</a:t>
            </a:r>
            <a:endParaRPr lang="en-US" altLang="zh-CN" sz="1800" dirty="0"/>
          </a:p>
          <a:p>
            <a:pPr>
              <a:spcAft>
                <a:spcPts val="0"/>
              </a:spcAft>
            </a:pPr>
            <a:r>
              <a:rPr lang="zh-CN" altLang="en-US" sz="1800" dirty="0"/>
              <a:t>优先级映射表根据实际需求可以进行一定修改，修改优先级映射表的思路如下：</a:t>
            </a:r>
            <a:endParaRPr lang="en-US" altLang="zh-CN" sz="1800" dirty="0"/>
          </a:p>
          <a:p>
            <a:pPr lvl="1" fontAlgn="auto">
              <a:spcAft>
                <a:spcPts val="0"/>
              </a:spcAft>
            </a:pPr>
            <a:r>
              <a:rPr lang="zh-CN" altLang="en-US" sz="1600" dirty="0"/>
              <a:t>配置端口信任的报文优先级</a:t>
            </a:r>
            <a:endParaRPr lang="en-US" altLang="zh-CN" sz="1600" dirty="0"/>
          </a:p>
          <a:p>
            <a:pPr lvl="1" fontAlgn="auto">
              <a:spcAft>
                <a:spcPts val="0"/>
              </a:spcAft>
            </a:pPr>
            <a:r>
              <a:rPr lang="zh-CN" altLang="en-US" sz="1600" dirty="0"/>
              <a:t>配置优先级映射表</a:t>
            </a:r>
            <a:endParaRPr lang="en-US" sz="1600" dirty="0"/>
          </a:p>
        </p:txBody>
      </p:sp>
      <p:sp>
        <p:nvSpPr>
          <p:cNvPr id="62" name="Text Box 26">
            <a:extLst>
              <a:ext uri="{FF2B5EF4-FFF2-40B4-BE49-F238E27FC236}">
                <a16:creationId xmlns:a16="http://schemas.microsoft.com/office/drawing/2014/main" id="{EC0FFD3E-3EA1-49C0-BDD3-E209EC79923B}"/>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63" name="文本框 30">
            <a:extLst>
              <a:ext uri="{FF2B5EF4-FFF2-40B4-BE49-F238E27FC236}">
                <a16:creationId xmlns:a16="http://schemas.microsoft.com/office/drawing/2014/main" id="{7C65D3D1-F631-4346-9232-5945947BA957}"/>
              </a:ext>
            </a:extLst>
          </p:cNvPr>
          <p:cNvSpPr txBox="1"/>
          <p:nvPr/>
        </p:nvSpPr>
        <p:spPr bwMode="gray">
          <a:xfrm>
            <a:off x="6096000" y="1600511"/>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trust </a:t>
            </a:r>
            <a:r>
              <a:rPr lang="en-US" altLang="zh-CN" dirty="0">
                <a:solidFill>
                  <a:schemeClr val="tx1"/>
                </a:solidFill>
              </a:rPr>
              <a:t>[8021p | </a:t>
            </a:r>
            <a:r>
              <a:rPr lang="en-US" altLang="zh-CN" dirty="0" err="1">
                <a:solidFill>
                  <a:schemeClr val="tx1"/>
                </a:solidFill>
              </a:rPr>
              <a:t>dscp</a:t>
            </a:r>
            <a:r>
              <a:rPr lang="en-US" altLang="zh-CN" dirty="0">
                <a:solidFill>
                  <a:schemeClr val="tx1"/>
                </a:solidFill>
              </a:rPr>
              <a:t>]       //</a:t>
            </a:r>
            <a:r>
              <a:rPr lang="zh-CN" altLang="en-US" dirty="0">
                <a:solidFill>
                  <a:schemeClr val="tx1"/>
                </a:solidFill>
              </a:rPr>
              <a:t>基于</a:t>
            </a:r>
            <a:r>
              <a:rPr lang="en-US" altLang="zh-CN" dirty="0">
                <a:solidFill>
                  <a:schemeClr val="tx1"/>
                </a:solidFill>
              </a:rPr>
              <a:t>802.1P</a:t>
            </a:r>
            <a:r>
              <a:rPr lang="zh-CN" altLang="en-US" dirty="0">
                <a:solidFill>
                  <a:schemeClr val="tx1"/>
                </a:solidFill>
              </a:rPr>
              <a:t>或者基于</a:t>
            </a:r>
            <a:r>
              <a:rPr lang="en-US" altLang="zh-CN" dirty="0">
                <a:solidFill>
                  <a:schemeClr val="tx1"/>
                </a:solidFill>
              </a:rPr>
              <a:t>DSCP</a:t>
            </a:r>
            <a:r>
              <a:rPr lang="zh-CN" altLang="en-US" dirty="0">
                <a:solidFill>
                  <a:schemeClr val="tx1"/>
                </a:solidFill>
              </a:rPr>
              <a:t>景下修改</a:t>
            </a:r>
            <a:endParaRPr lang="en-US" altLang="zh-CN" dirty="0">
              <a:solidFill>
                <a:schemeClr val="tx1"/>
              </a:solidFill>
            </a:endParaRPr>
          </a:p>
        </p:txBody>
      </p:sp>
      <p:sp>
        <p:nvSpPr>
          <p:cNvPr id="64" name="文本框 30">
            <a:extLst>
              <a:ext uri="{FF2B5EF4-FFF2-40B4-BE49-F238E27FC236}">
                <a16:creationId xmlns:a16="http://schemas.microsoft.com/office/drawing/2014/main" id="{2AF05CCD-E336-4F23-95FE-541DCCC8BBFE}"/>
              </a:ext>
            </a:extLst>
          </p:cNvPr>
          <p:cNvSpPr txBox="1"/>
          <p:nvPr/>
        </p:nvSpPr>
        <p:spPr bwMode="gray">
          <a:xfrm>
            <a:off x="6096000" y="3080202"/>
            <a:ext cx="5607148"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qos map-table </a:t>
            </a:r>
            <a:r>
              <a:rPr lang="en-US" altLang="zh-CN" dirty="0">
                <a:solidFill>
                  <a:schemeClr val="tx1"/>
                </a:solidFill>
              </a:rPr>
              <a:t>[ dot1p-dot1p | dot1p-dscp | dot1p-lp | dscp-dot1p | </a:t>
            </a:r>
            <a:r>
              <a:rPr lang="en-US" altLang="zh-CN" dirty="0" err="1">
                <a:solidFill>
                  <a:schemeClr val="tx1"/>
                </a:solidFill>
              </a:rPr>
              <a:t>dscp-dscp</a:t>
            </a:r>
            <a:r>
              <a:rPr lang="en-US" altLang="zh-CN" dirty="0">
                <a:solidFill>
                  <a:schemeClr val="tx1"/>
                </a:solidFill>
              </a:rPr>
              <a:t> | </a:t>
            </a:r>
            <a:r>
              <a:rPr lang="en-US" altLang="zh-CN" dirty="0" err="1">
                <a:solidFill>
                  <a:schemeClr val="tx1"/>
                </a:solidFill>
              </a:rPr>
              <a:t>dscp-lp</a:t>
            </a:r>
            <a:r>
              <a:rPr lang="en-US" altLang="zh-CN" dirty="0">
                <a:solidFill>
                  <a:schemeClr val="tx1"/>
                </a:solidFill>
              </a:rPr>
              <a:t> ]</a:t>
            </a:r>
            <a:r>
              <a:rPr lang="zh-CN" altLang="en-US" dirty="0">
                <a:solidFill>
                  <a:schemeClr val="tx1"/>
                </a:solidFill>
              </a:rPr>
              <a:t>      </a:t>
            </a:r>
            <a:r>
              <a:rPr lang="en-US" altLang="zh-CN" dirty="0">
                <a:solidFill>
                  <a:schemeClr val="tx1"/>
                </a:solidFill>
              </a:rPr>
              <a:t>//</a:t>
            </a:r>
            <a:r>
              <a:rPr lang="zh-CN" altLang="en-US" dirty="0">
                <a:solidFill>
                  <a:schemeClr val="tx1"/>
                </a:solidFill>
              </a:rPr>
              <a:t>进入优先级映射表视图</a:t>
            </a:r>
            <a:endParaRPr lang="en-US" altLang="zh-CN" dirty="0">
              <a:solidFill>
                <a:schemeClr val="tx1"/>
              </a:solidFill>
            </a:endParaRPr>
          </a:p>
          <a:p>
            <a:pPr>
              <a:lnSpc>
                <a:spcPct val="100000"/>
              </a:lnSpc>
            </a:pPr>
            <a:r>
              <a:rPr lang="en-US" altLang="zh-CN" b="1" dirty="0">
                <a:solidFill>
                  <a:schemeClr val="tx1"/>
                </a:solidFill>
              </a:rPr>
              <a:t>      input </a:t>
            </a:r>
            <a:r>
              <a:rPr lang="en-US" altLang="zh-CN" dirty="0">
                <a:solidFill>
                  <a:schemeClr val="tx1"/>
                </a:solidFill>
              </a:rPr>
              <a:t>[</a:t>
            </a:r>
            <a:r>
              <a:rPr lang="en-US" altLang="zh-CN" i="1" dirty="0">
                <a:solidFill>
                  <a:schemeClr val="tx1"/>
                </a:solidFill>
              </a:rPr>
              <a:t>input-value1</a:t>
            </a:r>
            <a:r>
              <a:rPr lang="en-US" altLang="zh-CN" dirty="0">
                <a:solidFill>
                  <a:schemeClr val="tx1"/>
                </a:solidFill>
              </a:rPr>
              <a:t>] </a:t>
            </a:r>
            <a:r>
              <a:rPr lang="en-US" altLang="zh-CN" b="1" dirty="0">
                <a:solidFill>
                  <a:schemeClr val="tx1"/>
                </a:solidFill>
              </a:rPr>
              <a:t>output </a:t>
            </a:r>
            <a:r>
              <a:rPr lang="en-US" altLang="zh-CN" dirty="0">
                <a:solidFill>
                  <a:schemeClr val="tx1"/>
                </a:solidFill>
              </a:rPr>
              <a:t>[</a:t>
            </a:r>
            <a:r>
              <a:rPr lang="en-US" altLang="zh-CN" i="1" dirty="0">
                <a:solidFill>
                  <a:schemeClr val="tx1"/>
                </a:solidFill>
              </a:rPr>
              <a:t>output-value</a:t>
            </a:r>
            <a:r>
              <a:rPr lang="en-US" altLang="zh-CN" dirty="0">
                <a:solidFill>
                  <a:schemeClr val="tx1"/>
                </a:solidFill>
              </a:rPr>
              <a:t>]</a:t>
            </a:r>
            <a:r>
              <a:rPr lang="zh-CN" altLang="en-US" b="1" dirty="0">
                <a:solidFill>
                  <a:schemeClr val="tx1"/>
                </a:solidFill>
              </a:rPr>
              <a:t>     </a:t>
            </a:r>
            <a:r>
              <a:rPr lang="en-US" altLang="zh-CN" dirty="0">
                <a:solidFill>
                  <a:schemeClr val="tx1"/>
                </a:solidFill>
              </a:rPr>
              <a:t>//</a:t>
            </a:r>
            <a:r>
              <a:rPr lang="zh-CN" altLang="en-US" dirty="0">
                <a:solidFill>
                  <a:schemeClr val="tx1"/>
                </a:solidFill>
              </a:rPr>
              <a:t>配置优先级映射表中的映射关系</a:t>
            </a:r>
            <a:endParaRPr lang="en-US" altLang="zh-CN" dirty="0">
              <a:solidFill>
                <a:schemeClr val="tx1"/>
              </a:solidFill>
            </a:endParaRPr>
          </a:p>
        </p:txBody>
      </p:sp>
      <p:pic>
        <p:nvPicPr>
          <p:cNvPr id="18" name="图片 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pic>
        <p:nvPicPr>
          <p:cNvPr id="19" name="图片 1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250800" y="1638000"/>
            <a:ext cx="540000" cy="442800"/>
          </a:xfrm>
          <a:prstGeom prst="rect">
            <a:avLst/>
          </a:prstGeom>
        </p:spPr>
      </p:pic>
    </p:spTree>
    <p:extLst>
      <p:ext uri="{BB962C8B-B14F-4D97-AF65-F5344CB8AC3E}">
        <p14:creationId xmlns:p14="http://schemas.microsoft.com/office/powerpoint/2010/main" val="600153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FDDA4-CD0C-4C50-BC4A-F3B3041469F8}"/>
              </a:ext>
            </a:extLst>
          </p:cNvPr>
          <p:cNvSpPr>
            <a:spLocks noGrp="1"/>
          </p:cNvSpPr>
          <p:nvPr>
            <p:ph type="title"/>
          </p:nvPr>
        </p:nvSpPr>
        <p:spPr bwMode="gray"/>
        <p:txBody>
          <a:bodyPr/>
          <a:lstStyle/>
          <a:p>
            <a:r>
              <a:rPr lang="zh-CN" altLang="en-US" dirty="0"/>
              <a:t>检查优先级映射配置结果</a:t>
            </a:r>
          </a:p>
        </p:txBody>
      </p:sp>
      <p:sp>
        <p:nvSpPr>
          <p:cNvPr id="3" name="Text Placeholder 2">
            <a:extLst>
              <a:ext uri="{FF2B5EF4-FFF2-40B4-BE49-F238E27FC236}">
                <a16:creationId xmlns:a16="http://schemas.microsoft.com/office/drawing/2014/main" id="{D7207DBC-0E41-46E3-B08A-33CBA49A46A9}"/>
              </a:ext>
            </a:extLst>
          </p:cNvPr>
          <p:cNvSpPr>
            <a:spLocks noGrp="1"/>
          </p:cNvSpPr>
          <p:nvPr>
            <p:ph type="body" sz="quarter" idx="10"/>
          </p:nvPr>
        </p:nvSpPr>
        <p:spPr bwMode="gray"/>
        <p:txBody>
          <a:bodyPr/>
          <a:lstStyle/>
          <a:p>
            <a:r>
              <a:rPr lang="zh-CN" altLang="en-US" sz="1800" dirty="0"/>
              <a:t>修改优先级映射配置后，可以通过以下命令查看配置结果：</a:t>
            </a:r>
            <a:endParaRPr lang="en-US" altLang="zh-CN" sz="1800" dirty="0"/>
          </a:p>
          <a:p>
            <a:endParaRPr lang="en-US" sz="1800" dirty="0"/>
          </a:p>
        </p:txBody>
      </p:sp>
      <p:sp>
        <p:nvSpPr>
          <p:cNvPr id="4" name="文本框 30">
            <a:extLst>
              <a:ext uri="{FF2B5EF4-FFF2-40B4-BE49-F238E27FC236}">
                <a16:creationId xmlns:a16="http://schemas.microsoft.com/office/drawing/2014/main" id="{8ECA31A3-84D7-401B-A50F-2E30D6A686C2}"/>
              </a:ext>
            </a:extLst>
          </p:cNvPr>
          <p:cNvSpPr txBox="1"/>
          <p:nvPr/>
        </p:nvSpPr>
        <p:spPr bwMode="gray">
          <a:xfrm>
            <a:off x="824380" y="1635212"/>
            <a:ext cx="8513064" cy="1015663"/>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ltLang="zh-CN" b="1" dirty="0">
                <a:solidFill>
                  <a:schemeClr val="tx1"/>
                </a:solidFill>
              </a:rPr>
              <a:t>System-view</a:t>
            </a:r>
          </a:p>
          <a:p>
            <a:r>
              <a:rPr lang="zh-CN" altLang="en-US" b="1" dirty="0">
                <a:solidFill>
                  <a:schemeClr val="tx1"/>
                </a:solidFill>
              </a:rPr>
              <a:t>   </a:t>
            </a:r>
            <a:r>
              <a:rPr lang="en-US" altLang="zh-CN" b="1" dirty="0">
                <a:solidFill>
                  <a:schemeClr val="tx1"/>
                </a:solidFill>
              </a:rPr>
              <a:t>display qos map-table </a:t>
            </a:r>
            <a:r>
              <a:rPr lang="en-US" altLang="zh-CN" dirty="0">
                <a:solidFill>
                  <a:schemeClr val="tx1"/>
                </a:solidFill>
              </a:rPr>
              <a:t>[ dot1p-dot1p | dot1p-dscp | dot1p-lp | dscp-dot1p | </a:t>
            </a:r>
            <a:r>
              <a:rPr lang="en-US" altLang="zh-CN" dirty="0" err="1">
                <a:solidFill>
                  <a:schemeClr val="tx1"/>
                </a:solidFill>
              </a:rPr>
              <a:t>dscp-dscp</a:t>
            </a:r>
            <a:r>
              <a:rPr lang="en-US" altLang="zh-CN" dirty="0">
                <a:solidFill>
                  <a:schemeClr val="tx1"/>
                </a:solidFill>
              </a:rPr>
              <a:t> | </a:t>
            </a:r>
            <a:r>
              <a:rPr lang="en-US" altLang="zh-CN" dirty="0" err="1">
                <a:solidFill>
                  <a:schemeClr val="tx1"/>
                </a:solidFill>
              </a:rPr>
              <a:t>dscp-lp</a:t>
            </a:r>
            <a:r>
              <a:rPr lang="en-US" altLang="zh-CN" dirty="0">
                <a:solidFill>
                  <a:schemeClr val="tx1"/>
                </a:solidFill>
              </a:rPr>
              <a:t> ]    //</a:t>
            </a:r>
            <a:r>
              <a:rPr lang="zh-CN" altLang="en-US" dirty="0">
                <a:solidFill>
                  <a:schemeClr val="tx1"/>
                </a:solidFill>
              </a:rPr>
              <a:t>查看当前的各优先级间的映射关系。</a:t>
            </a:r>
            <a:endParaRPr lang="en-US" altLang="zh-CN" dirty="0">
              <a:solidFill>
                <a:schemeClr val="tx1"/>
              </a:solidFill>
            </a:endParaRPr>
          </a:p>
        </p:txBody>
      </p:sp>
    </p:spTree>
    <p:extLst>
      <p:ext uri="{BB962C8B-B14F-4D97-AF65-F5344CB8AC3E}">
        <p14:creationId xmlns:p14="http://schemas.microsoft.com/office/powerpoint/2010/main" val="3673865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p:txBody>
          <a:bodyPr/>
          <a:lstStyle/>
          <a:p>
            <a:r>
              <a:rPr lang="en-US" altLang="zh-CN" dirty="0"/>
              <a:t>(</a:t>
            </a:r>
            <a:r>
              <a:rPr lang="zh-CN" altLang="en-US" dirty="0"/>
              <a:t>判断题</a:t>
            </a:r>
            <a:r>
              <a:rPr lang="en-US" altLang="zh-CN" dirty="0"/>
              <a:t>)</a:t>
            </a:r>
            <a:r>
              <a:rPr lang="zh-CN" altLang="en-US" dirty="0"/>
              <a:t>复杂流分类一般在</a:t>
            </a:r>
            <a:r>
              <a:rPr lang="en-US" altLang="zh-CN" dirty="0"/>
              <a:t>DS</a:t>
            </a:r>
            <a:r>
              <a:rPr lang="zh-CN" altLang="en-US" dirty="0"/>
              <a:t>域边界设备入方向部署。（     ）</a:t>
            </a:r>
            <a:endParaRPr lang="en-US" altLang="zh-CN" dirty="0"/>
          </a:p>
          <a:p>
            <a:pPr lvl="1"/>
            <a:r>
              <a:rPr lang="zh-CN" altLang="en-US" dirty="0"/>
              <a:t>正确</a:t>
            </a:r>
            <a:endParaRPr lang="en-US" altLang="zh-CN" dirty="0"/>
          </a:p>
          <a:p>
            <a:pPr lvl="1"/>
            <a:r>
              <a:rPr lang="zh-CN" altLang="en-US" dirty="0"/>
              <a:t>错误</a:t>
            </a:r>
            <a:endParaRPr lang="en-US" altLang="zh-CN" dirty="0"/>
          </a:p>
          <a:p>
            <a:r>
              <a:rPr lang="en-US" altLang="zh-CN" dirty="0"/>
              <a:t>(</a:t>
            </a:r>
            <a:r>
              <a:rPr lang="zh-CN" altLang="en-US" dirty="0"/>
              <a:t>多选题</a:t>
            </a:r>
            <a:r>
              <a:rPr lang="en-US" altLang="zh-CN" dirty="0"/>
              <a:t>)</a:t>
            </a:r>
            <a:r>
              <a:rPr lang="zh-CN" altLang="en-US" dirty="0"/>
              <a:t>用于标记数据包</a:t>
            </a:r>
            <a:r>
              <a:rPr lang="en-US" altLang="zh-CN" dirty="0" err="1"/>
              <a:t>QoS</a:t>
            </a:r>
            <a:r>
              <a:rPr lang="zh-CN" altLang="en-US" dirty="0"/>
              <a:t>优先级的参数是以下哪些项？（     ）</a:t>
            </a:r>
            <a:endParaRPr lang="en-US" altLang="zh-CN" dirty="0"/>
          </a:p>
          <a:p>
            <a:pPr lvl="1"/>
            <a:r>
              <a:rPr lang="en-US" altLang="zh-CN" dirty="0"/>
              <a:t>EXP</a:t>
            </a:r>
          </a:p>
          <a:p>
            <a:pPr lvl="1"/>
            <a:r>
              <a:rPr lang="en-US" altLang="zh-CN" dirty="0"/>
              <a:t>802.1P</a:t>
            </a:r>
          </a:p>
          <a:p>
            <a:pPr lvl="1"/>
            <a:r>
              <a:rPr lang="en-US" altLang="zh-CN" dirty="0"/>
              <a:t>DSCP</a:t>
            </a:r>
          </a:p>
          <a:p>
            <a:pPr lvl="1"/>
            <a:r>
              <a:rPr lang="en-US" altLang="zh-CN" dirty="0"/>
              <a:t>IP-Precedence</a:t>
            </a:r>
            <a:endParaRPr lang="en-US" dirty="0"/>
          </a:p>
        </p:txBody>
      </p:sp>
    </p:spTree>
    <p:extLst>
      <p:ext uri="{BB962C8B-B14F-4D97-AF65-F5344CB8AC3E}">
        <p14:creationId xmlns:p14="http://schemas.microsoft.com/office/powerpoint/2010/main" val="2389190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en-US" dirty="0"/>
              <a:t>DS</a:t>
            </a:r>
            <a:r>
              <a:rPr lang="zh-CN" altLang="en-US" dirty="0"/>
              <a:t>模型需要对报文进行标记才能区分流量，一般在</a:t>
            </a:r>
            <a:r>
              <a:rPr lang="en-US" altLang="zh-CN" dirty="0"/>
              <a:t>DS</a:t>
            </a:r>
            <a:r>
              <a:rPr lang="zh-CN" altLang="en-US" dirty="0"/>
              <a:t>域边界设备的入方向通过复杂流分类标记流量，在</a:t>
            </a:r>
            <a:r>
              <a:rPr lang="en-US" altLang="zh-CN" dirty="0"/>
              <a:t>DS</a:t>
            </a:r>
            <a:r>
              <a:rPr lang="zh-CN" altLang="en-US" dirty="0"/>
              <a:t>域内的设备通过简单流分类标记流量。</a:t>
            </a:r>
            <a:endParaRPr lang="en-US" altLang="zh-CN" dirty="0"/>
          </a:p>
          <a:p>
            <a:r>
              <a:rPr lang="zh-CN" altLang="en-US" dirty="0"/>
              <a:t>标记可以打在多种数据报头内部：</a:t>
            </a:r>
            <a:endParaRPr lang="en-US" altLang="zh-CN" dirty="0"/>
          </a:p>
          <a:p>
            <a:pPr lvl="1"/>
            <a:r>
              <a:rPr lang="zh-CN" altLang="en-US" dirty="0"/>
              <a:t>在</a:t>
            </a:r>
            <a:r>
              <a:rPr lang="en-US" altLang="zh-CN" dirty="0"/>
              <a:t>VLAN</a:t>
            </a:r>
            <a:r>
              <a:rPr lang="zh-CN" altLang="en-US" dirty="0"/>
              <a:t>头部使用</a:t>
            </a:r>
            <a:r>
              <a:rPr lang="en-US" altLang="zh-CN" dirty="0" err="1"/>
              <a:t>Pri</a:t>
            </a:r>
            <a:r>
              <a:rPr lang="zh-CN" altLang="en-US" dirty="0"/>
              <a:t>位（</a:t>
            </a:r>
            <a:r>
              <a:rPr lang="en-US" altLang="zh-CN" dirty="0"/>
              <a:t>802.1P</a:t>
            </a:r>
            <a:r>
              <a:rPr lang="zh-CN" altLang="en-US" dirty="0"/>
              <a:t>）标记</a:t>
            </a:r>
            <a:r>
              <a:rPr lang="en-US" altLang="zh-CN" dirty="0"/>
              <a:t>QoS</a:t>
            </a:r>
            <a:r>
              <a:rPr lang="zh-CN" altLang="en-US" dirty="0"/>
              <a:t>优先级。</a:t>
            </a:r>
            <a:endParaRPr lang="en-US" altLang="zh-CN" dirty="0"/>
          </a:p>
          <a:p>
            <a:pPr lvl="1"/>
            <a:r>
              <a:rPr lang="zh-CN" altLang="en-US" dirty="0"/>
              <a:t>在</a:t>
            </a:r>
            <a:r>
              <a:rPr lang="en-US" altLang="zh-CN" dirty="0"/>
              <a:t>MPLS</a:t>
            </a:r>
            <a:r>
              <a:rPr lang="zh-CN" altLang="en-US" dirty="0"/>
              <a:t>头部使用</a:t>
            </a:r>
            <a:r>
              <a:rPr lang="en-US" altLang="zh-CN" dirty="0"/>
              <a:t>EXP</a:t>
            </a:r>
            <a:r>
              <a:rPr lang="zh-CN" altLang="en-US" dirty="0"/>
              <a:t>位标记</a:t>
            </a:r>
            <a:r>
              <a:rPr lang="en-US" altLang="zh-CN" dirty="0"/>
              <a:t>QoS</a:t>
            </a:r>
            <a:r>
              <a:rPr lang="zh-CN" altLang="en-US" dirty="0"/>
              <a:t>优先级。</a:t>
            </a:r>
            <a:endParaRPr lang="en-US" altLang="zh-CN" dirty="0"/>
          </a:p>
          <a:p>
            <a:pPr lvl="1"/>
            <a:r>
              <a:rPr lang="zh-CN" altLang="en-US" dirty="0"/>
              <a:t>在</a:t>
            </a:r>
            <a:r>
              <a:rPr lang="en-US" altLang="zh-CN" dirty="0"/>
              <a:t>IP</a:t>
            </a:r>
            <a:r>
              <a:rPr lang="zh-CN" altLang="en-US" dirty="0"/>
              <a:t>头部使用</a:t>
            </a:r>
            <a:r>
              <a:rPr lang="en-US" altLang="zh-CN" dirty="0" err="1"/>
              <a:t>ToS</a:t>
            </a:r>
            <a:r>
              <a:rPr lang="zh-CN" altLang="en-US" dirty="0"/>
              <a:t>位（</a:t>
            </a:r>
            <a:r>
              <a:rPr lang="en-US" altLang="zh-CN" dirty="0"/>
              <a:t>DSCP</a:t>
            </a:r>
            <a:r>
              <a:rPr lang="zh-CN" altLang="en-US" dirty="0"/>
              <a:t>，</a:t>
            </a:r>
            <a:r>
              <a:rPr lang="en-US" altLang="zh-CN" dirty="0"/>
              <a:t>IP-Precedence</a:t>
            </a:r>
            <a:r>
              <a:rPr lang="zh-CN" altLang="en-US" dirty="0"/>
              <a:t>）标记</a:t>
            </a:r>
            <a:r>
              <a:rPr lang="en-US" altLang="zh-CN" dirty="0"/>
              <a:t>QoS</a:t>
            </a:r>
            <a:r>
              <a:rPr lang="zh-CN" altLang="en-US" dirty="0"/>
              <a:t>优先级。</a:t>
            </a:r>
            <a:endParaRPr lang="en-US" dirty="0"/>
          </a:p>
        </p:txBody>
      </p:sp>
    </p:spTree>
    <p:extLst>
      <p:ext uri="{BB962C8B-B14F-4D97-AF65-F5344CB8AC3E}">
        <p14:creationId xmlns:p14="http://schemas.microsoft.com/office/powerpoint/2010/main" val="2268926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dirty="0">
                <a:solidFill>
                  <a:schemeClr val="bg1">
                    <a:lumMod val="50000"/>
                  </a:schemeClr>
                </a:solidFill>
              </a:rPr>
              <a:t>QoS</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dirty="0">
                <a:solidFill>
                  <a:schemeClr val="bg1">
                    <a:lumMod val="50000"/>
                  </a:schemeClr>
                </a:solidFill>
              </a:rPr>
              <a:t>QoS</a:t>
            </a:r>
            <a:r>
              <a:rPr lang="zh-CN" altLang="en-US" dirty="0">
                <a:solidFill>
                  <a:schemeClr val="bg1">
                    <a:lumMod val="50000"/>
                  </a:schemeClr>
                </a:solidFill>
              </a:rPr>
              <a:t>流分类和流标记</a:t>
            </a:r>
            <a:endParaRPr lang="en-US" altLang="zh-CN" dirty="0">
              <a:solidFill>
                <a:schemeClr val="bg1">
                  <a:lumMod val="50000"/>
                </a:schemeClr>
              </a:solidFill>
            </a:endParaRPr>
          </a:p>
          <a:p>
            <a:r>
              <a:rPr lang="zh-CN" altLang="en-US" b="1" dirty="0"/>
              <a:t>流量限速技术</a:t>
            </a:r>
            <a:endParaRPr lang="en-US" altLang="zh-CN" b="1" dirty="0"/>
          </a:p>
          <a:p>
            <a:r>
              <a:rPr lang="zh-CN" altLang="en-US" dirty="0">
                <a:solidFill>
                  <a:schemeClr val="bg1">
                    <a:lumMod val="50000"/>
                  </a:schemeClr>
                </a:solidFill>
              </a:rPr>
              <a:t>拥塞避免技术</a:t>
            </a:r>
            <a:endParaRPr lang="en-US" altLang="zh-CN" dirty="0">
              <a:solidFill>
                <a:schemeClr val="bg1">
                  <a:lumMod val="50000"/>
                </a:schemeClr>
              </a:solidFill>
            </a:endParaRPr>
          </a:p>
          <a:p>
            <a:r>
              <a:rPr lang="zh-CN" altLang="en-US" dirty="0">
                <a:solidFill>
                  <a:schemeClr val="bg1">
                    <a:lumMod val="50000"/>
                  </a:schemeClr>
                </a:solidFill>
              </a:rPr>
              <a:t>拥塞管理技术</a:t>
            </a:r>
            <a:endParaRPr lang="en-US" altLang="zh-CN" dirty="0">
              <a:solidFill>
                <a:schemeClr val="bg1">
                  <a:lumMod val="50000"/>
                </a:schemeClr>
              </a:solidFill>
            </a:endParaRPr>
          </a:p>
          <a:p>
            <a:r>
              <a:rPr lang="en-US" altLang="zh-CN" dirty="0">
                <a:solidFill>
                  <a:schemeClr val="bg1">
                    <a:lumMod val="50000"/>
                  </a:schemeClr>
                </a:solidFill>
              </a:rPr>
              <a:t>HQoS</a:t>
            </a:r>
            <a:r>
              <a:rPr lang="zh-CN" altLang="en-US" dirty="0">
                <a:solidFill>
                  <a:schemeClr val="bg1">
                    <a:lumMod val="50000"/>
                  </a:schemeClr>
                </a:solidFill>
              </a:rPr>
              <a:t>介绍</a:t>
            </a:r>
            <a:endParaRPr lang="en-US" altLang="zh-CN" dirty="0">
              <a:solidFill>
                <a:schemeClr val="bg1">
                  <a:lumMod val="50000"/>
                </a:schemeClr>
              </a:solidFill>
            </a:endParaRPr>
          </a:p>
        </p:txBody>
      </p:sp>
    </p:spTree>
    <p:extLst>
      <p:ext uri="{BB962C8B-B14F-4D97-AF65-F5344CB8AC3E}">
        <p14:creationId xmlns:p14="http://schemas.microsoft.com/office/powerpoint/2010/main" val="1719835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矩形 89"/>
          <p:cNvSpPr/>
          <p:nvPr/>
        </p:nvSpPr>
        <p:spPr bwMode="gray">
          <a:xfrm>
            <a:off x="9120336" y="4907828"/>
            <a:ext cx="18002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2" name="矩形 61"/>
          <p:cNvSpPr/>
          <p:nvPr/>
        </p:nvSpPr>
        <p:spPr bwMode="gray">
          <a:xfrm>
            <a:off x="2711624" y="4907828"/>
            <a:ext cx="1656184"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en-US" altLang="zh-CN" dirty="0"/>
              <a:t>QoS</a:t>
            </a:r>
            <a:r>
              <a:rPr lang="zh-CN" altLang="en-US" dirty="0"/>
              <a:t>数据处理流程</a:t>
            </a:r>
          </a:p>
        </p:txBody>
      </p:sp>
      <p:sp>
        <p:nvSpPr>
          <p:cNvPr id="64" name="五边形 63"/>
          <p:cNvSpPr/>
          <p:nvPr/>
        </p:nvSpPr>
        <p:spPr bwMode="gray">
          <a:xfrm>
            <a:off x="6096000" y="1631464"/>
            <a:ext cx="4477322" cy="2160240"/>
          </a:xfrm>
          <a:prstGeom prst="homePlate">
            <a:avLst>
              <a:gd name="adj" fmla="val 12894"/>
            </a:avLst>
          </a:prstGeom>
          <a:solidFill>
            <a:schemeClr val="bg1">
              <a:lumMod val="95000"/>
            </a:schemeClr>
          </a:solidFill>
          <a:ln w="9525" cap="flat" cmpd="sng" algn="ctr">
            <a:solidFill>
              <a:schemeClr val="bg1">
                <a:lumMod val="50000"/>
              </a:schemeClr>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4" name="右箭头标注 23"/>
          <p:cNvSpPr/>
          <p:nvPr/>
        </p:nvSpPr>
        <p:spPr bwMode="gray">
          <a:xfrm>
            <a:off x="2404049" y="2353621"/>
            <a:ext cx="792088" cy="734621"/>
          </a:xfrm>
          <a:prstGeom prst="rightArrowCallout">
            <a:avLst>
              <a:gd name="adj1" fmla="val 23271"/>
              <a:gd name="adj2" fmla="val 25000"/>
              <a:gd name="adj3" fmla="val 19073"/>
              <a:gd name="adj4" fmla="val 75831"/>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流量分类</a:t>
            </a:r>
          </a:p>
        </p:txBody>
      </p:sp>
      <p:sp>
        <p:nvSpPr>
          <p:cNvPr id="32" name="右箭头标注 31"/>
          <p:cNvSpPr/>
          <p:nvPr/>
        </p:nvSpPr>
        <p:spPr bwMode="gray">
          <a:xfrm>
            <a:off x="3254886" y="2353621"/>
            <a:ext cx="828092" cy="734621"/>
          </a:xfrm>
          <a:prstGeom prst="rightArrowCallout">
            <a:avLst>
              <a:gd name="adj1" fmla="val 23271"/>
              <a:gd name="adj2" fmla="val 25000"/>
              <a:gd name="adj3" fmla="val 21048"/>
              <a:gd name="adj4" fmla="val 70347"/>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rPr>
              <a:t>CAR</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34" name="右箭头标注 33"/>
          <p:cNvSpPr/>
          <p:nvPr/>
        </p:nvSpPr>
        <p:spPr bwMode="gray">
          <a:xfrm>
            <a:off x="4165042" y="2353621"/>
            <a:ext cx="1138870" cy="734621"/>
          </a:xfrm>
          <a:prstGeom prst="rightArrowCallout">
            <a:avLst>
              <a:gd name="adj1" fmla="val 23271"/>
              <a:gd name="adj2" fmla="val 25000"/>
              <a:gd name="adj3" fmla="val 25000"/>
              <a:gd name="adj4" fmla="val 7688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Remark</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317170" y="2306886"/>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其它</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处理</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en-US" altLang="zh-CN" sz="1600" b="1" dirty="0">
                  <a:solidFill>
                    <a:schemeClr val="bg1">
                      <a:lumMod val="65000"/>
                    </a:schemeClr>
                  </a:solidFill>
                  <a:latin typeface="Huawei Sans" panose="020C0503030203020204" pitchFamily="34" charset="0"/>
                  <a:ea typeface="方正兰亭黑简体" panose="02000000000000000000" pitchFamily="2" charset="-122"/>
                </a:rPr>
                <a:t>……</a:t>
              </a:r>
              <a:endParaRPr lang="zh-CN" altLang="en-US" sz="1600" b="1" dirty="0">
                <a:solidFill>
                  <a:schemeClr val="bg1">
                    <a:lumMod val="65000"/>
                  </a:schemeClr>
                </a:solidFill>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189378" y="2540912"/>
            <a:ext cx="324036" cy="360040"/>
          </a:xfrm>
          <a:prstGeom prst="ellipse">
            <a:avLst/>
          </a:prstGeom>
          <a:solidFill>
            <a:schemeClr val="bg1">
              <a:lumMod val="9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7909458" y="1883859"/>
            <a:ext cx="720000" cy="288000"/>
          </a:xfrm>
          <a:prstGeom prst="round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7909458" y="2253574"/>
            <a:ext cx="720000" cy="288000"/>
          </a:xfrm>
          <a:prstGeom prst="roundRect">
            <a:avLst/>
          </a:prstGeom>
          <a:solidFill>
            <a:schemeClr val="bg1">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7909458" y="2675947"/>
            <a:ext cx="720000" cy="288000"/>
          </a:xfrm>
          <a:prstGeom prst="roundRect">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7909458" y="3369699"/>
            <a:ext cx="720080" cy="288032"/>
          </a:xfrm>
          <a:prstGeom prst="round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019938" y="2937650"/>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solidFill>
                  <a:schemeClr val="bg2">
                    <a:lumMod val="50000"/>
                  </a:schemeClr>
                </a:solidFill>
                <a:latin typeface="Huawei Sans" panose="020C0503030203020204" pitchFamily="34" charset="0"/>
                <a:ea typeface="方正兰亭黑简体" panose="02000000000000000000" pitchFamily="2" charset="-122"/>
              </a:rPr>
              <a:t>……</a:t>
            </a:r>
            <a:endParaRPr lang="zh-CN" altLang="en-US" sz="1600" b="1" dirty="0">
              <a:solidFill>
                <a:schemeClr val="bg2">
                  <a:lumMod val="50000"/>
                </a:schemeClr>
              </a:solidFill>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351396" y="2027859"/>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465960" y="2397574"/>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7513414" y="2720932"/>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465960" y="2848225"/>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351396" y="2900952"/>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9719713" y="2353621"/>
            <a:ext cx="792088" cy="734621"/>
          </a:xfrm>
          <a:prstGeom prst="rightArrowCallout">
            <a:avLst>
              <a:gd name="adj1" fmla="val 23271"/>
              <a:gd name="adj2" fmla="val 25000"/>
              <a:gd name="adj3" fmla="val 25000"/>
              <a:gd name="adj4" fmla="val 71696"/>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rPr>
              <a:t>GTS</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168008" y="2353621"/>
            <a:ext cx="1044116" cy="734621"/>
          </a:xfrm>
          <a:prstGeom prst="rightArrowCallout">
            <a:avLst>
              <a:gd name="adj1" fmla="val 23271"/>
              <a:gd name="adj2" fmla="val 26086"/>
              <a:gd name="adj3" fmla="val 29989"/>
              <a:gd name="adj4" fmla="val 71276"/>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rot="19047356">
            <a:off x="7096398" y="205039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8881566" y="1857530"/>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调</a:t>
                </a:r>
                <a:endParaRPr lang="en-US" altLang="zh-CN" sz="14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bg1">
                  <a:lumMod val="65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8629538" y="203755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8629538" y="239759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8629538" y="282963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8629538" y="351371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03" name="组合 102"/>
          <p:cNvGrpSpPr/>
          <p:nvPr/>
        </p:nvGrpSpPr>
        <p:grpSpPr bwMode="gray">
          <a:xfrm>
            <a:off x="10668508" y="1497490"/>
            <a:ext cx="432048" cy="2628292"/>
            <a:chOff x="1006178" y="2492896"/>
            <a:chExt cx="432048" cy="2628292"/>
          </a:xfrm>
          <a:solidFill>
            <a:schemeClr val="bg1">
              <a:lumMod val="95000"/>
            </a:schemeClr>
          </a:solidFill>
        </p:grpSpPr>
        <p:sp>
          <p:nvSpPr>
            <p:cNvPr id="106" name="圆角矩形 105"/>
            <p:cNvSpPr/>
            <p:nvPr/>
          </p:nvSpPr>
          <p:spPr bwMode="gray">
            <a:xfrm>
              <a:off x="1006178" y="2492896"/>
              <a:ext cx="432048" cy="262829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出</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接</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口</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421626" y="2073555"/>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421626" y="2433594"/>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421626" y="2720932"/>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421626" y="2973654"/>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2577842">
            <a:off x="9393238" y="188069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出队列</a:t>
            </a:r>
          </a:p>
        </p:txBody>
      </p:sp>
      <p:sp>
        <p:nvSpPr>
          <p:cNvPr id="58" name="文本框 57"/>
          <p:cNvSpPr txBox="1"/>
          <p:nvPr/>
        </p:nvSpPr>
        <p:spPr bwMode="gray">
          <a:xfrm>
            <a:off x="3074866" y="314363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流量监管</a:t>
            </a:r>
          </a:p>
        </p:txBody>
      </p:sp>
      <p:sp>
        <p:nvSpPr>
          <p:cNvPr id="59" name="文本框 58"/>
          <p:cNvSpPr txBox="1"/>
          <p:nvPr/>
        </p:nvSpPr>
        <p:spPr bwMode="gray">
          <a:xfrm>
            <a:off x="9511680" y="314363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流量整形</a:t>
            </a:r>
          </a:p>
        </p:txBody>
      </p:sp>
      <p:sp>
        <p:nvSpPr>
          <p:cNvPr id="60" name="下箭头 59"/>
          <p:cNvSpPr/>
          <p:nvPr/>
        </p:nvSpPr>
        <p:spPr bwMode="gray">
          <a:xfrm>
            <a:off x="3431704" y="4079736"/>
            <a:ext cx="216024" cy="37731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1" name="文本框 60"/>
          <p:cNvSpPr txBox="1"/>
          <p:nvPr/>
        </p:nvSpPr>
        <p:spPr bwMode="gray">
          <a:xfrm>
            <a:off x="2711624" y="4943832"/>
            <a:ext cx="1656184"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对进入设备的流量进行监控，确保其没有滥用网络资源</a:t>
            </a:r>
          </a:p>
        </p:txBody>
      </p:sp>
      <p:sp>
        <p:nvSpPr>
          <p:cNvPr id="63" name="矩形 62"/>
          <p:cNvSpPr/>
          <p:nvPr/>
        </p:nvSpPr>
        <p:spPr bwMode="gray">
          <a:xfrm>
            <a:off x="2711624" y="4583792"/>
            <a:ext cx="1656184"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流量监管</a:t>
            </a:r>
          </a:p>
        </p:txBody>
      </p:sp>
      <p:sp>
        <p:nvSpPr>
          <p:cNvPr id="83" name="下箭头 82"/>
          <p:cNvSpPr/>
          <p:nvPr/>
        </p:nvSpPr>
        <p:spPr bwMode="gray">
          <a:xfrm>
            <a:off x="9912424" y="4079736"/>
            <a:ext cx="216024" cy="37731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5" name="文本框 84"/>
          <p:cNvSpPr txBox="1"/>
          <p:nvPr/>
        </p:nvSpPr>
        <p:spPr bwMode="gray">
          <a:xfrm>
            <a:off x="9120336" y="4943832"/>
            <a:ext cx="1800200"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400" dirty="0">
                <a:latin typeface="Huawei Sans" panose="020C0503030203020204" pitchFamily="34" charset="0"/>
                <a:ea typeface="方正兰亭黑简体" panose="02000000000000000000" pitchFamily="2" charset="-122"/>
              </a:rPr>
              <a:t>对输出报文的速率进行控制，使报文以均匀的速率发送出去</a:t>
            </a:r>
          </a:p>
        </p:txBody>
      </p:sp>
      <p:sp>
        <p:nvSpPr>
          <p:cNvPr id="91" name="矩形 90"/>
          <p:cNvSpPr/>
          <p:nvPr/>
        </p:nvSpPr>
        <p:spPr bwMode="gray">
          <a:xfrm>
            <a:off x="9120336" y="4583792"/>
            <a:ext cx="18002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流量整形</a:t>
            </a:r>
          </a:p>
        </p:txBody>
      </p:sp>
      <p:grpSp>
        <p:nvGrpSpPr>
          <p:cNvPr id="96" name="组合 95"/>
          <p:cNvGrpSpPr/>
          <p:nvPr/>
        </p:nvGrpSpPr>
        <p:grpSpPr bwMode="gray">
          <a:xfrm>
            <a:off x="4979875" y="4547788"/>
            <a:ext cx="3636405" cy="1368152"/>
            <a:chOff x="6860451" y="2384884"/>
            <a:chExt cx="3309332" cy="1368152"/>
          </a:xfrm>
        </p:grpSpPr>
        <p:sp>
          <p:nvSpPr>
            <p:cNvPr id="97" name="矩形 96"/>
            <p:cNvSpPr/>
            <p:nvPr/>
          </p:nvSpPr>
          <p:spPr bwMode="gray">
            <a:xfrm>
              <a:off x="6860451" y="2420888"/>
              <a:ext cx="3309331" cy="1332148"/>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8" name="文本框 97"/>
            <p:cNvSpPr txBox="1"/>
            <p:nvPr/>
          </p:nvSpPr>
          <p:spPr bwMode="gray">
            <a:xfrm>
              <a:off x="6947829" y="2384884"/>
              <a:ext cx="1026654"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作用</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99" name="文本框 98"/>
            <p:cNvSpPr txBox="1"/>
            <p:nvPr/>
          </p:nvSpPr>
          <p:spPr bwMode="gray">
            <a:xfrm>
              <a:off x="6947830" y="2708920"/>
              <a:ext cx="3221953"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在网络边缘，监控网络流量</a:t>
              </a:r>
              <a:endParaRPr lang="en-US" altLang="zh-CN" sz="1400" dirty="0">
                <a:solidFill>
                  <a:srgbClr val="000000"/>
                </a:solidFill>
                <a:latin typeface="Huawei Sans" panose="020C0503030203020204" pitchFamily="34" charset="0"/>
                <a:ea typeface="方正兰亭黑简体" panose="02000000000000000000" pitchFamily="2" charset="-122"/>
              </a:endParaRPr>
            </a:p>
            <a:p>
              <a:pPr marL="285750"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对于进出的不同流量规定带宽占用比例，让不同的业务有不同的流量边界</a:t>
              </a:r>
              <a:endParaRPr lang="en-US" altLang="zh-CN" sz="1400" dirty="0">
                <a:solidFill>
                  <a:srgbClr val="000000"/>
                </a:solidFill>
                <a:latin typeface="Huawei Sans" panose="020C0503030203020204" pitchFamily="34" charset="0"/>
                <a:ea typeface="方正兰亭黑简体" panose="02000000000000000000" pitchFamily="2" charset="-122"/>
              </a:endParaRPr>
            </a:p>
          </p:txBody>
        </p:sp>
      </p:grpSp>
      <p:grpSp>
        <p:nvGrpSpPr>
          <p:cNvPr id="100" name="组合 99"/>
          <p:cNvGrpSpPr/>
          <p:nvPr/>
        </p:nvGrpSpPr>
        <p:grpSpPr bwMode="gray">
          <a:xfrm>
            <a:off x="1010711" y="1307428"/>
            <a:ext cx="1256938" cy="2880320"/>
            <a:chOff x="1006178" y="2014802"/>
            <a:chExt cx="1345406" cy="3403072"/>
          </a:xfrm>
        </p:grpSpPr>
        <p:grpSp>
          <p:nvGrpSpPr>
            <p:cNvPr id="101" name="组合 100"/>
            <p:cNvGrpSpPr/>
            <p:nvPr/>
          </p:nvGrpSpPr>
          <p:grpSpPr bwMode="gray">
            <a:xfrm>
              <a:off x="1006178" y="2014802"/>
              <a:ext cx="1345406" cy="3403072"/>
              <a:chOff x="1438226" y="1592796"/>
              <a:chExt cx="1345406" cy="3403072"/>
            </a:xfrm>
          </p:grpSpPr>
          <p:sp>
            <p:nvSpPr>
              <p:cNvPr id="107" name="圆角矩形 106"/>
              <p:cNvSpPr/>
              <p:nvPr/>
            </p:nvSpPr>
            <p:spPr bwMode="gray">
              <a:xfrm>
                <a:off x="1438226" y="1592796"/>
                <a:ext cx="1345406" cy="340307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08"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75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09" name="图片 108" descr="可视电话硬终端.png"/>
              <p:cNvPicPr>
                <a:picLocks noChangeAspect="1"/>
              </p:cNvPicPr>
              <p:nvPr/>
            </p:nvPicPr>
            <p:blipFill>
              <a:blip r:embed="rId3" cstate="print">
                <a:duotone>
                  <a:schemeClr val="bg2">
                    <a:shade val="45000"/>
                    <a:satMod val="135000"/>
                  </a:schemeClr>
                  <a:prstClr val="white"/>
                </a:duotone>
              </a:blip>
              <a:stretch>
                <a:fillRect/>
              </a:stretch>
            </p:blipFill>
            <p:spPr bwMode="gray">
              <a:xfrm>
                <a:off x="1908939" y="2980317"/>
                <a:ext cx="609949" cy="540000"/>
              </a:xfrm>
              <a:prstGeom prst="rect">
                <a:avLst/>
              </a:prstGeom>
            </p:spPr>
          </p:pic>
          <p:pic>
            <p:nvPicPr>
              <p:cNvPr id="110" name="图片 109" descr="管理型无线虚链路-蓝.png"/>
              <p:cNvPicPr>
                <a:picLocks noChangeAspect="1"/>
              </p:cNvPicPr>
              <p:nvPr/>
            </p:nvPicPr>
            <p:blipFill>
              <a:blip r:embed="rId4" cstate="print">
                <a:duotone>
                  <a:schemeClr val="bg2">
                    <a:shade val="45000"/>
                    <a:satMod val="135000"/>
                  </a:schemeClr>
                  <a:prstClr val="white"/>
                </a:duotone>
              </a:blip>
              <a:stretch>
                <a:fillRect/>
              </a:stretch>
            </p:blipFill>
            <p:spPr bwMode="gray">
              <a:xfrm>
                <a:off x="1922620" y="1772816"/>
                <a:ext cx="582586" cy="540000"/>
              </a:xfrm>
              <a:prstGeom prst="rect">
                <a:avLst/>
              </a:prstGeom>
            </p:spPr>
          </p:pic>
          <p:sp>
            <p:nvSpPr>
              <p:cNvPr id="111" name="文本框 110"/>
              <p:cNvSpPr txBox="1"/>
              <p:nvPr/>
            </p:nvSpPr>
            <p:spPr bwMode="gray">
              <a:xfrm>
                <a:off x="1954292" y="2283040"/>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视频</a:t>
                </a:r>
              </a:p>
            </p:txBody>
          </p:sp>
          <p:sp>
            <p:nvSpPr>
              <p:cNvPr id="112" name="文本框 111"/>
              <p:cNvSpPr txBox="1"/>
              <p:nvPr/>
            </p:nvSpPr>
            <p:spPr bwMode="gray">
              <a:xfrm>
                <a:off x="1954293" y="3506983"/>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语音</a:t>
                </a:r>
              </a:p>
            </p:txBody>
          </p:sp>
          <p:sp>
            <p:nvSpPr>
              <p:cNvPr id="114" name="文本框 113"/>
              <p:cNvSpPr txBox="1"/>
              <p:nvPr/>
            </p:nvSpPr>
            <p:spPr bwMode="gray">
              <a:xfrm>
                <a:off x="1954293" y="4623106"/>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数据</a:t>
                </a:r>
              </a:p>
            </p:txBody>
          </p:sp>
        </p:grpSp>
        <p:sp>
          <p:nvSpPr>
            <p:cNvPr id="104"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p:txBody>
        </p:sp>
      </p:grpSp>
      <p:sp>
        <p:nvSpPr>
          <p:cNvPr id="70" name="五边形 153"/>
          <p:cNvSpPr/>
          <p:nvPr/>
        </p:nvSpPr>
        <p:spPr bwMode="auto">
          <a:xfrm>
            <a:off x="8010515" y="107185"/>
            <a:ext cx="981444"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71"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73"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74"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349380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流量限速技术</a:t>
            </a:r>
          </a:p>
        </p:txBody>
      </p:sp>
      <p:sp>
        <p:nvSpPr>
          <p:cNvPr id="64" name="五边形 63"/>
          <p:cNvSpPr/>
          <p:nvPr/>
        </p:nvSpPr>
        <p:spPr bwMode="gray">
          <a:xfrm>
            <a:off x="6096000" y="1529864"/>
            <a:ext cx="4477322" cy="2160240"/>
          </a:xfrm>
          <a:prstGeom prst="homePlate">
            <a:avLst>
              <a:gd name="adj" fmla="val 12894"/>
            </a:avLst>
          </a:prstGeom>
          <a:solidFill>
            <a:schemeClr val="bg1">
              <a:lumMod val="95000"/>
            </a:schemeClr>
          </a:solidFill>
          <a:ln w="9525" cap="flat" cmpd="sng" algn="ctr">
            <a:solidFill>
              <a:schemeClr val="bg1">
                <a:lumMod val="50000"/>
              </a:schemeClr>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02" name="组合 101"/>
          <p:cNvGrpSpPr/>
          <p:nvPr/>
        </p:nvGrpSpPr>
        <p:grpSpPr bwMode="gray">
          <a:xfrm>
            <a:off x="1010711" y="1205828"/>
            <a:ext cx="1256938" cy="2880320"/>
            <a:chOff x="1006178" y="2014802"/>
            <a:chExt cx="1345406" cy="3403072"/>
          </a:xfrm>
        </p:grpSpPr>
        <p:grpSp>
          <p:nvGrpSpPr>
            <p:cNvPr id="14" name="组合 13"/>
            <p:cNvGrpSpPr/>
            <p:nvPr/>
          </p:nvGrpSpPr>
          <p:grpSpPr bwMode="gray">
            <a:xfrm>
              <a:off x="1006178" y="2014802"/>
              <a:ext cx="1345406" cy="3403072"/>
              <a:chOff x="1438226" y="1592796"/>
              <a:chExt cx="1345406" cy="3403072"/>
            </a:xfrm>
          </p:grpSpPr>
          <p:sp>
            <p:nvSpPr>
              <p:cNvPr id="16" name="圆角矩形 15"/>
              <p:cNvSpPr/>
              <p:nvPr/>
            </p:nvSpPr>
            <p:spPr bwMode="gray">
              <a:xfrm>
                <a:off x="1438226" y="1592796"/>
                <a:ext cx="1345406" cy="340307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7"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75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8" name="图片 17" descr="可视电话硬终端.png"/>
              <p:cNvPicPr>
                <a:picLocks noChangeAspect="1"/>
              </p:cNvPicPr>
              <p:nvPr/>
            </p:nvPicPr>
            <p:blipFill>
              <a:blip r:embed="rId3" cstate="print">
                <a:duotone>
                  <a:schemeClr val="bg2">
                    <a:shade val="45000"/>
                    <a:satMod val="135000"/>
                  </a:schemeClr>
                  <a:prstClr val="white"/>
                </a:duotone>
              </a:blip>
              <a:stretch>
                <a:fillRect/>
              </a:stretch>
            </p:blipFill>
            <p:spPr bwMode="gray">
              <a:xfrm>
                <a:off x="1908939" y="2980317"/>
                <a:ext cx="609949" cy="540000"/>
              </a:xfrm>
              <a:prstGeom prst="rect">
                <a:avLst/>
              </a:prstGeom>
            </p:spPr>
          </p:pic>
          <p:pic>
            <p:nvPicPr>
              <p:cNvPr id="19" name="图片 18" descr="管理型无线虚链路-蓝.png"/>
              <p:cNvPicPr>
                <a:picLocks noChangeAspect="1"/>
              </p:cNvPicPr>
              <p:nvPr/>
            </p:nvPicPr>
            <p:blipFill>
              <a:blip r:embed="rId4" cstate="print">
                <a:duotone>
                  <a:schemeClr val="bg2">
                    <a:shade val="45000"/>
                    <a:satMod val="135000"/>
                  </a:schemeClr>
                  <a:prstClr val="white"/>
                </a:duotone>
              </a:blip>
              <a:stretch>
                <a:fillRect/>
              </a:stretch>
            </p:blipFill>
            <p:spPr bwMode="gray">
              <a:xfrm>
                <a:off x="1922620" y="1772816"/>
                <a:ext cx="582586" cy="540000"/>
              </a:xfrm>
              <a:prstGeom prst="rect">
                <a:avLst/>
              </a:prstGeom>
            </p:spPr>
          </p:pic>
          <p:sp>
            <p:nvSpPr>
              <p:cNvPr id="20" name="文本框 19"/>
              <p:cNvSpPr txBox="1"/>
              <p:nvPr/>
            </p:nvSpPr>
            <p:spPr bwMode="gray">
              <a:xfrm>
                <a:off x="1954292" y="2283040"/>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视频</a:t>
                </a:r>
              </a:p>
            </p:txBody>
          </p:sp>
          <p:sp>
            <p:nvSpPr>
              <p:cNvPr id="21" name="文本框 20"/>
              <p:cNvSpPr txBox="1"/>
              <p:nvPr/>
            </p:nvSpPr>
            <p:spPr bwMode="gray">
              <a:xfrm>
                <a:off x="1954293" y="3506983"/>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语音</a:t>
                </a:r>
              </a:p>
            </p:txBody>
          </p:sp>
          <p:sp>
            <p:nvSpPr>
              <p:cNvPr id="22" name="文本框 21"/>
              <p:cNvSpPr txBox="1"/>
              <p:nvPr/>
            </p:nvSpPr>
            <p:spPr bwMode="gray">
              <a:xfrm>
                <a:off x="1954293" y="4623106"/>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数据</a:t>
                </a:r>
              </a:p>
            </p:txBody>
          </p:sp>
        </p:grpSp>
        <p:sp>
          <p:nvSpPr>
            <p:cNvPr id="23"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p:txBody>
        </p:sp>
      </p:grpSp>
      <p:sp>
        <p:nvSpPr>
          <p:cNvPr id="24" name="右箭头标注 23"/>
          <p:cNvSpPr/>
          <p:nvPr/>
        </p:nvSpPr>
        <p:spPr bwMode="gray">
          <a:xfrm>
            <a:off x="2404049" y="2252021"/>
            <a:ext cx="792088" cy="734621"/>
          </a:xfrm>
          <a:prstGeom prst="rightArrowCallout">
            <a:avLst>
              <a:gd name="adj1" fmla="val 23271"/>
              <a:gd name="adj2" fmla="val 25000"/>
              <a:gd name="adj3" fmla="val 19073"/>
              <a:gd name="adj4" fmla="val 75831"/>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流量分类</a:t>
            </a:r>
          </a:p>
        </p:txBody>
      </p:sp>
      <p:sp>
        <p:nvSpPr>
          <p:cNvPr id="32" name="右箭头标注 31"/>
          <p:cNvSpPr/>
          <p:nvPr/>
        </p:nvSpPr>
        <p:spPr bwMode="gray">
          <a:xfrm>
            <a:off x="3254886" y="2252021"/>
            <a:ext cx="828092" cy="734621"/>
          </a:xfrm>
          <a:prstGeom prst="rightArrowCallout">
            <a:avLst>
              <a:gd name="adj1" fmla="val 23271"/>
              <a:gd name="adj2" fmla="val 25000"/>
              <a:gd name="adj3" fmla="val 21048"/>
              <a:gd name="adj4" fmla="val 70347"/>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rPr>
              <a:t>CAR</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34" name="右箭头标注 33"/>
          <p:cNvSpPr/>
          <p:nvPr/>
        </p:nvSpPr>
        <p:spPr bwMode="gray">
          <a:xfrm>
            <a:off x="4165042" y="2252021"/>
            <a:ext cx="1138870" cy="734621"/>
          </a:xfrm>
          <a:prstGeom prst="rightArrowCallout">
            <a:avLst>
              <a:gd name="adj1" fmla="val 23271"/>
              <a:gd name="adj2" fmla="val 25000"/>
              <a:gd name="adj3" fmla="val 25000"/>
              <a:gd name="adj4" fmla="val 7688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Remark</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317170" y="2205286"/>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其它</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处理</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en-US" altLang="zh-CN" sz="1600" b="1" dirty="0">
                  <a:solidFill>
                    <a:schemeClr val="bg1">
                      <a:lumMod val="65000"/>
                    </a:schemeClr>
                  </a:solidFill>
                  <a:latin typeface="Huawei Sans" panose="020C0503030203020204" pitchFamily="34" charset="0"/>
                  <a:ea typeface="方正兰亭黑简体" panose="02000000000000000000" pitchFamily="2" charset="-122"/>
                </a:rPr>
                <a:t>……</a:t>
              </a:r>
              <a:endParaRPr lang="zh-CN" altLang="en-US" sz="1600" b="1" dirty="0">
                <a:solidFill>
                  <a:schemeClr val="bg1">
                    <a:lumMod val="65000"/>
                  </a:schemeClr>
                </a:solidFill>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189378" y="2439312"/>
            <a:ext cx="324036" cy="360040"/>
          </a:xfrm>
          <a:prstGeom prst="ellipse">
            <a:avLst/>
          </a:prstGeom>
          <a:solidFill>
            <a:schemeClr val="bg1">
              <a:lumMod val="95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7909458" y="1782259"/>
            <a:ext cx="720000" cy="288000"/>
          </a:xfrm>
          <a:prstGeom prst="round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7909458" y="2151974"/>
            <a:ext cx="720000" cy="288000"/>
          </a:xfrm>
          <a:prstGeom prst="roundRect">
            <a:avLst/>
          </a:prstGeom>
          <a:solidFill>
            <a:schemeClr val="bg1">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7909458" y="2574347"/>
            <a:ext cx="720000" cy="288000"/>
          </a:xfrm>
          <a:prstGeom prst="roundRect">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7909458" y="3268099"/>
            <a:ext cx="720080" cy="288032"/>
          </a:xfrm>
          <a:prstGeom prst="roundRect">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rPr>
              <a:t>队列</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bg2">
                  <a:lumMod val="50000"/>
                </a:schemeClr>
              </a:solidFill>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019938" y="2836050"/>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solidFill>
                  <a:schemeClr val="bg2">
                    <a:lumMod val="50000"/>
                  </a:schemeClr>
                </a:solidFill>
                <a:latin typeface="Huawei Sans" panose="020C0503030203020204" pitchFamily="34" charset="0"/>
                <a:ea typeface="方正兰亭黑简体" panose="02000000000000000000" pitchFamily="2" charset="-122"/>
              </a:rPr>
              <a:t>……</a:t>
            </a:r>
            <a:endParaRPr lang="zh-CN" altLang="en-US" sz="1600" b="1" dirty="0">
              <a:solidFill>
                <a:schemeClr val="bg2">
                  <a:lumMod val="50000"/>
                </a:schemeClr>
              </a:solidFill>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351396" y="1926259"/>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465960" y="2295974"/>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7513414" y="2619332"/>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465960" y="2746625"/>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351396" y="2799352"/>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9719713" y="2252021"/>
            <a:ext cx="792088" cy="734621"/>
          </a:xfrm>
          <a:prstGeom prst="rightArrowCallout">
            <a:avLst>
              <a:gd name="adj1" fmla="val 23271"/>
              <a:gd name="adj2" fmla="val 25000"/>
              <a:gd name="adj3" fmla="val 25000"/>
              <a:gd name="adj4" fmla="val 71696"/>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rPr>
              <a:t>GTS</a:t>
            </a:r>
            <a:endParaRPr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168008" y="2252021"/>
            <a:ext cx="1044116" cy="734621"/>
          </a:xfrm>
          <a:prstGeom prst="rightArrowCallout">
            <a:avLst>
              <a:gd name="adj1" fmla="val 23271"/>
              <a:gd name="adj2" fmla="val 26086"/>
              <a:gd name="adj3" fmla="val 29989"/>
              <a:gd name="adj4" fmla="val 71276"/>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rot="19047356">
            <a:off x="7096398" y="194879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8881566" y="1755930"/>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调</a:t>
                </a:r>
                <a:endParaRPr lang="en-US" altLang="zh-CN" sz="14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bg1">
                  <a:lumMod val="65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8629538" y="193595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8629538" y="229599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8629538" y="272803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8629538" y="341211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03" name="组合 102"/>
          <p:cNvGrpSpPr/>
          <p:nvPr/>
        </p:nvGrpSpPr>
        <p:grpSpPr bwMode="gray">
          <a:xfrm>
            <a:off x="10668508" y="1395890"/>
            <a:ext cx="432048" cy="2628292"/>
            <a:chOff x="1006178" y="2492896"/>
            <a:chExt cx="432048" cy="2628292"/>
          </a:xfrm>
          <a:solidFill>
            <a:schemeClr val="bg1">
              <a:lumMod val="95000"/>
            </a:schemeClr>
          </a:solidFill>
        </p:grpSpPr>
        <p:sp>
          <p:nvSpPr>
            <p:cNvPr id="106" name="圆角矩形 105"/>
            <p:cNvSpPr/>
            <p:nvPr/>
          </p:nvSpPr>
          <p:spPr bwMode="gray">
            <a:xfrm>
              <a:off x="1006178" y="2492896"/>
              <a:ext cx="432048" cy="262829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出</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接</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口</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421626" y="1971955"/>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421626" y="2331994"/>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421626" y="2619332"/>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421626" y="2872054"/>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2577842">
            <a:off x="9393238" y="177909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出队列</a:t>
            </a:r>
          </a:p>
        </p:txBody>
      </p:sp>
      <p:sp>
        <p:nvSpPr>
          <p:cNvPr id="58" name="文本框 57"/>
          <p:cNvSpPr txBox="1"/>
          <p:nvPr/>
        </p:nvSpPr>
        <p:spPr bwMode="gray">
          <a:xfrm>
            <a:off x="3074866" y="304203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流量监管</a:t>
            </a:r>
          </a:p>
        </p:txBody>
      </p:sp>
      <p:sp>
        <p:nvSpPr>
          <p:cNvPr id="59" name="文本框 58"/>
          <p:cNvSpPr txBox="1"/>
          <p:nvPr/>
        </p:nvSpPr>
        <p:spPr bwMode="gray">
          <a:xfrm>
            <a:off x="9588390" y="3042032"/>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流量整形</a:t>
            </a:r>
          </a:p>
        </p:txBody>
      </p:sp>
      <p:grpSp>
        <p:nvGrpSpPr>
          <p:cNvPr id="3" name="组合 2"/>
          <p:cNvGrpSpPr/>
          <p:nvPr/>
        </p:nvGrpSpPr>
        <p:grpSpPr bwMode="gray">
          <a:xfrm>
            <a:off x="5955545" y="3824520"/>
            <a:ext cx="1800200" cy="2160240"/>
            <a:chOff x="5555940" y="4329100"/>
            <a:chExt cx="1800200" cy="2160240"/>
          </a:xfrm>
        </p:grpSpPr>
        <p:sp>
          <p:nvSpPr>
            <p:cNvPr id="81" name="矩形 80"/>
            <p:cNvSpPr/>
            <p:nvPr/>
          </p:nvSpPr>
          <p:spPr bwMode="gray">
            <a:xfrm>
              <a:off x="5555940" y="4367729"/>
              <a:ext cx="1800200" cy="2121611"/>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solidFill>
                  <a:srgbClr val="000000"/>
                </a:solidFill>
                <a:latin typeface="Huawei Sans" panose="020C0503030203020204" pitchFamily="34" charset="0"/>
                <a:ea typeface="方正兰亭黑简体" panose="02000000000000000000" pitchFamily="2" charset="-122"/>
              </a:endParaRPr>
            </a:p>
          </p:txBody>
        </p:sp>
        <p:sp>
          <p:nvSpPr>
            <p:cNvPr id="68" name="流程图: 磁盘 67"/>
            <p:cNvSpPr/>
            <p:nvPr/>
          </p:nvSpPr>
          <p:spPr bwMode="gray">
            <a:xfrm>
              <a:off x="6217365" y="5595269"/>
              <a:ext cx="498244" cy="828092"/>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latin typeface="Huawei Sans" panose="020C0503030203020204" pitchFamily="34" charset="0"/>
                <a:ea typeface="方正兰亭黑简体" panose="02000000000000000000" pitchFamily="2" charset="-122"/>
              </a:endParaRPr>
            </a:p>
          </p:txBody>
        </p:sp>
        <p:cxnSp>
          <p:nvCxnSpPr>
            <p:cNvPr id="69" name="直接箭头连接符 68"/>
            <p:cNvCxnSpPr/>
            <p:nvPr/>
          </p:nvCxnSpPr>
          <p:spPr bwMode="gray">
            <a:xfrm>
              <a:off x="6466487" y="5389367"/>
              <a:ext cx="0" cy="7200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70" name="矩形 69"/>
            <p:cNvSpPr/>
            <p:nvPr/>
          </p:nvSpPr>
          <p:spPr bwMode="gray">
            <a:xfrm>
              <a:off x="6358475" y="5173263"/>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latin typeface="Huawei Sans" panose="020C0503030203020204" pitchFamily="34" charset="0"/>
                <a:ea typeface="方正兰亭黑简体" panose="02000000000000000000" pitchFamily="2" charset="-122"/>
              </a:endParaRPr>
            </a:p>
          </p:txBody>
        </p:sp>
        <p:sp>
          <p:nvSpPr>
            <p:cNvPr id="71" name="矩形 70"/>
            <p:cNvSpPr/>
            <p:nvPr/>
          </p:nvSpPr>
          <p:spPr bwMode="gray">
            <a:xfrm>
              <a:off x="6358475" y="4957239"/>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latin typeface="Huawei Sans" panose="020C0503030203020204" pitchFamily="34" charset="0"/>
                <a:ea typeface="方正兰亭黑简体" panose="02000000000000000000" pitchFamily="2" charset="-122"/>
              </a:endParaRPr>
            </a:p>
          </p:txBody>
        </p:sp>
        <p:sp>
          <p:nvSpPr>
            <p:cNvPr id="73" name="文本框 72"/>
            <p:cNvSpPr txBox="1"/>
            <p:nvPr/>
          </p:nvSpPr>
          <p:spPr bwMode="gray">
            <a:xfrm>
              <a:off x="6198291" y="4653136"/>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latin typeface="Huawei Sans" panose="020C0503030203020204" pitchFamily="34" charset="0"/>
                  <a:ea typeface="方正兰亭黑简体" panose="02000000000000000000" pitchFamily="2" charset="-122"/>
                </a:rPr>
                <a:t>令牌</a:t>
              </a:r>
            </a:p>
          </p:txBody>
        </p:sp>
        <p:sp>
          <p:nvSpPr>
            <p:cNvPr id="76" name="文本框 75"/>
            <p:cNvSpPr txBox="1"/>
            <p:nvPr/>
          </p:nvSpPr>
          <p:spPr bwMode="gray">
            <a:xfrm>
              <a:off x="6146995" y="6088070"/>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latin typeface="Huawei Sans" panose="020C0503030203020204" pitchFamily="34" charset="0"/>
                  <a:ea typeface="方正兰亭黑简体" panose="02000000000000000000" pitchFamily="2" charset="-122"/>
                </a:rPr>
                <a:t>令牌桶</a:t>
              </a:r>
            </a:p>
          </p:txBody>
        </p:sp>
        <p:sp>
          <p:nvSpPr>
            <p:cNvPr id="94" name="矩形 93"/>
            <p:cNvSpPr/>
            <p:nvPr/>
          </p:nvSpPr>
          <p:spPr bwMode="gray">
            <a:xfrm>
              <a:off x="5555940" y="4329100"/>
              <a:ext cx="1800200"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b="1" dirty="0">
                  <a:solidFill>
                    <a:srgbClr val="FFFFFF"/>
                  </a:solidFill>
                  <a:latin typeface="Huawei Sans" panose="020C0503030203020204" pitchFamily="34" charset="0"/>
                  <a:ea typeface="方正兰亭黑简体" panose="02000000000000000000" pitchFamily="2" charset="-122"/>
                </a:rPr>
                <a:t>令牌桶技术</a:t>
              </a:r>
            </a:p>
          </p:txBody>
        </p:sp>
      </p:grpSp>
      <p:sp>
        <p:nvSpPr>
          <p:cNvPr id="83" name="下箭头 82"/>
          <p:cNvSpPr/>
          <p:nvPr/>
        </p:nvSpPr>
        <p:spPr bwMode="gray">
          <a:xfrm rot="17401187">
            <a:off x="4763961" y="3050348"/>
            <a:ext cx="360685" cy="1154437"/>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5" name="下箭头 84"/>
          <p:cNvSpPr/>
          <p:nvPr/>
        </p:nvSpPr>
        <p:spPr bwMode="gray">
          <a:xfrm rot="4461665">
            <a:off x="8827434" y="3158850"/>
            <a:ext cx="309641" cy="1323004"/>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9" name="五边形 153"/>
          <p:cNvSpPr/>
          <p:nvPr/>
        </p:nvSpPr>
        <p:spPr bwMode="auto">
          <a:xfrm>
            <a:off x="8010515" y="107185"/>
            <a:ext cx="981444" cy="213037"/>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100"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101"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104"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1528557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Can 9">
            <a:extLst>
              <a:ext uri="{FF2B5EF4-FFF2-40B4-BE49-F238E27FC236}">
                <a16:creationId xmlns:a16="http://schemas.microsoft.com/office/drawing/2014/main" id="{813563E0-78B4-47F6-815A-79137D51731A}"/>
              </a:ext>
            </a:extLst>
          </p:cNvPr>
          <p:cNvSpPr/>
          <p:nvPr/>
        </p:nvSpPr>
        <p:spPr bwMode="gray">
          <a:xfrm rot="5400000">
            <a:off x="9678307" y="4545372"/>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Can 9">
            <a:extLst>
              <a:ext uri="{FF2B5EF4-FFF2-40B4-BE49-F238E27FC236}">
                <a16:creationId xmlns:a16="http://schemas.microsoft.com/office/drawing/2014/main" id="{3165685E-52AA-41CC-B965-D985097A9F59}"/>
              </a:ext>
            </a:extLst>
          </p:cNvPr>
          <p:cNvSpPr/>
          <p:nvPr/>
        </p:nvSpPr>
        <p:spPr bwMode="gray">
          <a:xfrm rot="5400000">
            <a:off x="5809372" y="4507337"/>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单桶单速双色标记法</a:t>
            </a:r>
          </a:p>
        </p:txBody>
      </p:sp>
      <p:grpSp>
        <p:nvGrpSpPr>
          <p:cNvPr id="46" name="组合 45"/>
          <p:cNvGrpSpPr/>
          <p:nvPr/>
        </p:nvGrpSpPr>
        <p:grpSpPr bwMode="gray">
          <a:xfrm>
            <a:off x="6748036" y="4857087"/>
            <a:ext cx="1548172" cy="540060"/>
            <a:chOff x="2639616" y="4689140"/>
            <a:chExt cx="1548172" cy="540060"/>
          </a:xfrm>
        </p:grpSpPr>
        <p:sp>
          <p:nvSpPr>
            <p:cNvPr id="44" name="流程图: 决策 43"/>
            <p:cNvSpPr/>
            <p:nvPr/>
          </p:nvSpPr>
          <p:spPr bwMode="gray">
            <a:xfrm>
              <a:off x="2639616" y="4689140"/>
              <a:ext cx="1548172" cy="540060"/>
            </a:xfrm>
            <a:prstGeom prst="flowChartDecision">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p>
          </p:txBody>
        </p:sp>
        <p:sp>
          <p:nvSpPr>
            <p:cNvPr id="45" name="文本框 44"/>
            <p:cNvSpPr txBox="1"/>
            <p:nvPr/>
          </p:nvSpPr>
          <p:spPr bwMode="gray">
            <a:xfrm>
              <a:off x="3099043" y="4797152"/>
              <a:ext cx="6966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latin typeface="+mn-lt"/>
                </a:rPr>
                <a:t>B&lt;Tc?</a:t>
              </a:r>
              <a:endParaRPr lang="zh-CN" altLang="en-US" dirty="0">
                <a:latin typeface="+mn-lt"/>
              </a:endParaRPr>
            </a:p>
          </p:txBody>
        </p:sp>
      </p:grpSp>
      <p:sp>
        <p:nvSpPr>
          <p:cNvPr id="48" name="矩形 47"/>
          <p:cNvSpPr/>
          <p:nvPr/>
        </p:nvSpPr>
        <p:spPr bwMode="gray">
          <a:xfrm>
            <a:off x="6171972" y="5057741"/>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49" name="矩形 48"/>
          <p:cNvSpPr/>
          <p:nvPr/>
        </p:nvSpPr>
        <p:spPr bwMode="gray">
          <a:xfrm>
            <a:off x="5811932" y="5057741"/>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50" name="矩形 49"/>
          <p:cNvSpPr/>
          <p:nvPr/>
        </p:nvSpPr>
        <p:spPr bwMode="gray">
          <a:xfrm>
            <a:off x="5451892" y="5057741"/>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56" name="文本框 55"/>
          <p:cNvSpPr txBox="1"/>
          <p:nvPr/>
        </p:nvSpPr>
        <p:spPr bwMode="gray">
          <a:xfrm>
            <a:off x="5163860" y="5341838"/>
            <a:ext cx="154628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到达的数据大小</a:t>
            </a:r>
            <a:r>
              <a:rPr lang="en-US" altLang="zh-CN" dirty="0">
                <a:latin typeface="Huawei Sans" panose="020C0503030203020204" pitchFamily="34" charset="0"/>
                <a:ea typeface="方正兰亭黑简体" panose="02000000000000000000" pitchFamily="2" charset="-122"/>
              </a:rPr>
              <a:t>B</a:t>
            </a:r>
            <a:endParaRPr lang="zh-CN" altLang="en-US" dirty="0">
              <a:latin typeface="Huawei Sans" panose="020C0503030203020204" pitchFamily="34" charset="0"/>
              <a:ea typeface="方正兰亭黑简体" panose="02000000000000000000" pitchFamily="2" charset="-122"/>
            </a:endParaRPr>
          </a:p>
        </p:txBody>
      </p:sp>
      <p:cxnSp>
        <p:nvCxnSpPr>
          <p:cNvPr id="57" name="直接箭头连接符 56"/>
          <p:cNvCxnSpPr/>
          <p:nvPr/>
        </p:nvCxnSpPr>
        <p:spPr bwMode="gray">
          <a:xfrm>
            <a:off x="6424000" y="5145119"/>
            <a:ext cx="288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59" name="直接箭头连接符 58"/>
          <p:cNvCxnSpPr/>
          <p:nvPr/>
        </p:nvCxnSpPr>
        <p:spPr bwMode="gray">
          <a:xfrm>
            <a:off x="8368216" y="5145119"/>
            <a:ext cx="72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60" name="直接箭头连接符 59"/>
          <p:cNvCxnSpPr/>
          <p:nvPr/>
        </p:nvCxnSpPr>
        <p:spPr bwMode="gray">
          <a:xfrm>
            <a:off x="7540124" y="5469215"/>
            <a:ext cx="0" cy="288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61" name="文本框 60"/>
          <p:cNvSpPr txBox="1"/>
          <p:nvPr/>
        </p:nvSpPr>
        <p:spPr bwMode="gray">
          <a:xfrm>
            <a:off x="7939049" y="4713699"/>
            <a:ext cx="121837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Yes, Tc=Tc-B</a:t>
            </a:r>
            <a:endParaRPr lang="zh-CN" altLang="en-US" b="0" dirty="0">
              <a:latin typeface="Huawei Sans" panose="020C0503030203020204" pitchFamily="34" charset="0"/>
              <a:ea typeface="方正兰亭黑简体" panose="02000000000000000000" pitchFamily="2" charset="-122"/>
            </a:endParaRPr>
          </a:p>
        </p:txBody>
      </p:sp>
      <p:sp>
        <p:nvSpPr>
          <p:cNvPr id="73" name="文本框 72"/>
          <p:cNvSpPr txBox="1"/>
          <p:nvPr/>
        </p:nvSpPr>
        <p:spPr bwMode="gray">
          <a:xfrm>
            <a:off x="7540124" y="5453084"/>
            <a:ext cx="106461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en-US" altLang="zh-CN" b="0" dirty="0">
                <a:latin typeface="Huawei Sans" panose="020C0503030203020204" pitchFamily="34" charset="0"/>
                <a:ea typeface="方正兰亭黑简体" panose="02000000000000000000" pitchFamily="2" charset="-122"/>
              </a:rPr>
              <a:t>No, Tc</a:t>
            </a:r>
            <a:r>
              <a:rPr lang="zh-CN" altLang="en-US" b="0" dirty="0">
                <a:latin typeface="Huawei Sans" panose="020C0503030203020204" pitchFamily="34" charset="0"/>
                <a:ea typeface="方正兰亭黑简体" panose="02000000000000000000" pitchFamily="2" charset="-122"/>
              </a:rPr>
              <a:t>不变</a:t>
            </a:r>
          </a:p>
        </p:txBody>
      </p:sp>
      <p:grpSp>
        <p:nvGrpSpPr>
          <p:cNvPr id="3" name="组合 2"/>
          <p:cNvGrpSpPr/>
          <p:nvPr/>
        </p:nvGrpSpPr>
        <p:grpSpPr bwMode="gray">
          <a:xfrm>
            <a:off x="6964060" y="2120038"/>
            <a:ext cx="1781303" cy="2374575"/>
            <a:chOff x="2891644" y="1592796"/>
            <a:chExt cx="1781303" cy="2374575"/>
          </a:xfrm>
        </p:grpSpPr>
        <p:sp>
          <p:nvSpPr>
            <p:cNvPr id="5" name="bucket_206442"/>
            <p:cNvSpPr>
              <a:spLocks noChangeAspect="1"/>
            </p:cNvSpPr>
            <p:nvPr/>
          </p:nvSpPr>
          <p:spPr bwMode="gray">
            <a:xfrm>
              <a:off x="2891644" y="2636912"/>
              <a:ext cx="1090143" cy="1330459"/>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28" name="流程图: 磁盘 27"/>
            <p:cNvSpPr/>
            <p:nvPr/>
          </p:nvSpPr>
          <p:spPr bwMode="gray">
            <a:xfrm>
              <a:off x="3323692" y="2168860"/>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29" name="流程图: 磁盘 28"/>
            <p:cNvSpPr/>
            <p:nvPr/>
          </p:nvSpPr>
          <p:spPr bwMode="gray">
            <a:xfrm>
              <a:off x="3323692" y="1916832"/>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dirty="0"/>
            </a:p>
          </p:txBody>
        </p:sp>
        <p:cxnSp>
          <p:nvCxnSpPr>
            <p:cNvPr id="32" name="直接连接符 31"/>
            <p:cNvCxnSpPr/>
            <p:nvPr/>
          </p:nvCxnSpPr>
          <p:spPr bwMode="gray">
            <a:xfrm flipV="1">
              <a:off x="4151784" y="3104964"/>
              <a:ext cx="992"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33"/>
            <p:cNvCxnSpPr/>
            <p:nvPr/>
          </p:nvCxnSpPr>
          <p:spPr bwMode="gray">
            <a:xfrm flipV="1">
              <a:off x="3755740" y="3933056"/>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p:nvPr/>
          </p:nvCxnSpPr>
          <p:spPr bwMode="gray">
            <a:xfrm flipV="1">
              <a:off x="3755740" y="3104964"/>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9" name="直接箭头连接符 38"/>
            <p:cNvCxnSpPr/>
            <p:nvPr/>
          </p:nvCxnSpPr>
          <p:spPr bwMode="gray">
            <a:xfrm>
              <a:off x="3431704" y="2348940"/>
              <a:ext cx="0" cy="540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40" name="文本框 39"/>
            <p:cNvSpPr txBox="1"/>
            <p:nvPr/>
          </p:nvSpPr>
          <p:spPr bwMode="gray">
            <a:xfrm>
              <a:off x="3143672" y="1592796"/>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t>令牌</a:t>
              </a:r>
            </a:p>
          </p:txBody>
        </p:sp>
        <p:sp>
          <p:nvSpPr>
            <p:cNvPr id="58" name="文本框 57"/>
            <p:cNvSpPr txBox="1"/>
            <p:nvPr/>
          </p:nvSpPr>
          <p:spPr bwMode="gray">
            <a:xfrm>
              <a:off x="3423689" y="2312876"/>
              <a:ext cx="4834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solidFill>
                    <a:srgbClr val="C00000"/>
                  </a:solidFill>
                </a:rPr>
                <a:t>CIR</a:t>
              </a:r>
              <a:endParaRPr lang="zh-CN" altLang="en-US" dirty="0">
                <a:solidFill>
                  <a:srgbClr val="C00000"/>
                </a:solidFill>
              </a:endParaRPr>
            </a:p>
          </p:txBody>
        </p:sp>
        <p:sp>
          <p:nvSpPr>
            <p:cNvPr id="78" name="文本框 77"/>
            <p:cNvSpPr txBox="1"/>
            <p:nvPr/>
          </p:nvSpPr>
          <p:spPr bwMode="gray">
            <a:xfrm>
              <a:off x="4144570" y="3376925"/>
              <a:ext cx="52837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solidFill>
                    <a:srgbClr val="C00000"/>
                  </a:solidFill>
                </a:rPr>
                <a:t>CBS</a:t>
              </a:r>
              <a:endParaRPr lang="zh-CN" altLang="en-US" dirty="0">
                <a:solidFill>
                  <a:srgbClr val="C00000"/>
                </a:solidFill>
              </a:endParaRPr>
            </a:p>
          </p:txBody>
        </p:sp>
        <p:sp>
          <p:nvSpPr>
            <p:cNvPr id="64" name="文本框 63"/>
            <p:cNvSpPr txBox="1"/>
            <p:nvPr/>
          </p:nvSpPr>
          <p:spPr bwMode="gray">
            <a:xfrm>
              <a:off x="3173328" y="3412235"/>
              <a:ext cx="47708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t>C</a:t>
              </a:r>
              <a:r>
                <a:rPr lang="zh-CN" altLang="en-US" dirty="0"/>
                <a:t>桶</a:t>
              </a:r>
            </a:p>
          </p:txBody>
        </p:sp>
      </p:grpSp>
      <p:sp>
        <p:nvSpPr>
          <p:cNvPr id="95" name="矩形 94"/>
          <p:cNvSpPr/>
          <p:nvPr/>
        </p:nvSpPr>
        <p:spPr bwMode="gray">
          <a:xfrm>
            <a:off x="10076911" y="508689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96" name="矩形 95"/>
          <p:cNvSpPr/>
          <p:nvPr/>
        </p:nvSpPr>
        <p:spPr bwMode="gray">
          <a:xfrm>
            <a:off x="9716871" y="508689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97" name="矩形 96"/>
          <p:cNvSpPr/>
          <p:nvPr/>
        </p:nvSpPr>
        <p:spPr bwMode="gray">
          <a:xfrm>
            <a:off x="9356831" y="508689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12" name="矩形 111"/>
          <p:cNvSpPr/>
          <p:nvPr/>
        </p:nvSpPr>
        <p:spPr bwMode="gray">
          <a:xfrm>
            <a:off x="8404220" y="5901203"/>
            <a:ext cx="216024" cy="144016"/>
          </a:xfrm>
          <a:prstGeom prst="rect">
            <a:avLst/>
          </a:prstGeom>
          <a:solidFill>
            <a:srgbClr val="E28189"/>
          </a:solidFill>
          <a:ln w="9525" cap="flat" cmpd="sng" algn="ctr">
            <a:solidFill>
              <a:srgbClr val="E2819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13" name="矩形 112"/>
          <p:cNvSpPr/>
          <p:nvPr/>
        </p:nvSpPr>
        <p:spPr bwMode="gray">
          <a:xfrm>
            <a:off x="8044180" y="5901203"/>
            <a:ext cx="216024" cy="144016"/>
          </a:xfrm>
          <a:prstGeom prst="rect">
            <a:avLst/>
          </a:prstGeom>
          <a:solidFill>
            <a:srgbClr val="E28189"/>
          </a:solidFill>
          <a:ln w="9525" cap="flat" cmpd="sng" algn="ctr">
            <a:solidFill>
              <a:srgbClr val="E2819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14" name="矩形 113"/>
          <p:cNvSpPr/>
          <p:nvPr/>
        </p:nvSpPr>
        <p:spPr bwMode="gray">
          <a:xfrm>
            <a:off x="7684140" y="5901203"/>
            <a:ext cx="216024" cy="144016"/>
          </a:xfrm>
          <a:prstGeom prst="rect">
            <a:avLst/>
          </a:prstGeom>
          <a:solidFill>
            <a:srgbClr val="E28189"/>
          </a:solidFill>
          <a:ln w="9525" cap="flat" cmpd="sng" algn="ctr">
            <a:solidFill>
              <a:srgbClr val="E2819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16" name="矩形 115"/>
          <p:cNvSpPr/>
          <p:nvPr/>
        </p:nvSpPr>
        <p:spPr bwMode="gray">
          <a:xfrm>
            <a:off x="5771964" y="1885454"/>
            <a:ext cx="3816424" cy="2665412"/>
          </a:xfrm>
          <a:prstGeom prst="rect">
            <a:avLst/>
          </a:prstGeom>
          <a:noFill/>
          <a:ln w="12700">
            <a:solidFill>
              <a:schemeClr val="tx1"/>
            </a:solidFill>
            <a:prstDash val="dash"/>
            <a:miter lim="800000"/>
            <a:headEnd type="none" w="sm" len="sm"/>
            <a:tailEnd type="none" w="sm" len="sm"/>
          </a:ln>
          <a:effectLst/>
        </p:spPr>
        <p:txBody>
          <a:bodyPr wrap="square" rtlCol="0" anchor="ctr">
            <a:spAutoFit/>
          </a:bodyPr>
          <a:lstStyle/>
          <a:p>
            <a:pPr algn="ctr"/>
            <a:endParaRPr lang="zh-CN" altLang="en-US"/>
          </a:p>
        </p:txBody>
      </p:sp>
      <p:sp>
        <p:nvSpPr>
          <p:cNvPr id="42" name="文本框 41"/>
          <p:cNvSpPr txBox="1"/>
          <p:nvPr/>
        </p:nvSpPr>
        <p:spPr bwMode="gray">
          <a:xfrm>
            <a:off x="8836268" y="3901678"/>
            <a:ext cx="192933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fontAlgn="auto"/>
            <a:r>
              <a:rPr lang="zh-CN" altLang="en-US" b="0" dirty="0">
                <a:latin typeface="Huawei Sans" panose="020C0503030203020204" pitchFamily="34" charset="0"/>
                <a:ea typeface="方正兰亭黑简体" panose="02000000000000000000" pitchFamily="2" charset="-122"/>
              </a:rPr>
              <a:t>令牌初始数量</a:t>
            </a:r>
            <a:r>
              <a:rPr lang="en-US" altLang="zh-CN" dirty="0">
                <a:latin typeface="Huawei Sans" panose="020C0503030203020204" pitchFamily="34" charset="0"/>
                <a:ea typeface="方正兰亭黑简体" panose="02000000000000000000" pitchFamily="2" charset="-122"/>
              </a:rPr>
              <a:t>Tc=CBS</a:t>
            </a:r>
            <a:endParaRPr lang="zh-CN" altLang="en-US" dirty="0">
              <a:latin typeface="Huawei Sans" panose="020C0503030203020204" pitchFamily="34" charset="0"/>
              <a:ea typeface="方正兰亭黑简体" panose="02000000000000000000" pitchFamily="2" charset="-122"/>
            </a:endParaRPr>
          </a:p>
        </p:txBody>
      </p:sp>
      <p:sp>
        <p:nvSpPr>
          <p:cNvPr id="43" name="文本框 42"/>
          <p:cNvSpPr txBox="1"/>
          <p:nvPr/>
        </p:nvSpPr>
        <p:spPr bwMode="gray">
          <a:xfrm>
            <a:off x="8332212" y="2785554"/>
            <a:ext cx="107500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溢出，丢弃</a:t>
            </a:r>
          </a:p>
        </p:txBody>
      </p:sp>
      <p:sp>
        <p:nvSpPr>
          <p:cNvPr id="51" name="任意多边形 50"/>
          <p:cNvSpPr/>
          <p:nvPr/>
        </p:nvSpPr>
        <p:spPr bwMode="gray">
          <a:xfrm>
            <a:off x="7646154" y="3037582"/>
            <a:ext cx="1352282" cy="516121"/>
          </a:xfrm>
          <a:custGeom>
            <a:avLst/>
            <a:gdLst>
              <a:gd name="connsiteX0" fmla="*/ 0 w 1352282"/>
              <a:gd name="connsiteY0" fmla="*/ 413090 h 516121"/>
              <a:gd name="connsiteX1" fmla="*/ 656822 w 1352282"/>
              <a:gd name="connsiteY1" fmla="*/ 966 h 516121"/>
              <a:gd name="connsiteX2" fmla="*/ 1352282 w 1352282"/>
              <a:gd name="connsiteY2" fmla="*/ 516121 h 516121"/>
            </a:gdLst>
            <a:ahLst/>
            <a:cxnLst>
              <a:cxn ang="0">
                <a:pos x="connsiteX0" y="connsiteY0"/>
              </a:cxn>
              <a:cxn ang="0">
                <a:pos x="connsiteX1" y="connsiteY1"/>
              </a:cxn>
              <a:cxn ang="0">
                <a:pos x="connsiteX2" y="connsiteY2"/>
              </a:cxn>
            </a:cxnLst>
            <a:rect l="l" t="t" r="r" b="b"/>
            <a:pathLst>
              <a:path w="1352282" h="516121">
                <a:moveTo>
                  <a:pt x="0" y="413090"/>
                </a:moveTo>
                <a:cubicBezTo>
                  <a:pt x="215721" y="198442"/>
                  <a:pt x="431442" y="-16206"/>
                  <a:pt x="656822" y="966"/>
                </a:cubicBezTo>
                <a:cubicBezTo>
                  <a:pt x="882202" y="18138"/>
                  <a:pt x="1117242" y="267129"/>
                  <a:pt x="1352282" y="516121"/>
                </a:cubicBez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52" name="流程图: 磁盘 51"/>
          <p:cNvSpPr/>
          <p:nvPr/>
        </p:nvSpPr>
        <p:spPr bwMode="gray">
          <a:xfrm>
            <a:off x="8970367" y="3613646"/>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grpSp>
        <p:nvGrpSpPr>
          <p:cNvPr id="67" name="组合 60"/>
          <p:cNvGrpSpPr/>
          <p:nvPr/>
        </p:nvGrpSpPr>
        <p:grpSpPr bwMode="gray">
          <a:xfrm>
            <a:off x="722495" y="1165932"/>
            <a:ext cx="4468396" cy="1908212"/>
            <a:chOff x="6860451" y="2420888"/>
            <a:chExt cx="4468396" cy="1908212"/>
          </a:xfrm>
        </p:grpSpPr>
        <p:sp>
          <p:nvSpPr>
            <p:cNvPr id="68" name="矩形 61"/>
            <p:cNvSpPr/>
            <p:nvPr/>
          </p:nvSpPr>
          <p:spPr bwMode="gray">
            <a:xfrm>
              <a:off x="6860451" y="2420888"/>
              <a:ext cx="4456129" cy="1908212"/>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9" name="文本框 62"/>
            <p:cNvSpPr txBox="1"/>
            <p:nvPr/>
          </p:nvSpPr>
          <p:spPr bwMode="gray">
            <a:xfrm>
              <a:off x="6947829" y="2476128"/>
              <a:ext cx="4281091" cy="6657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CIR</a:t>
              </a:r>
              <a:r>
                <a:rPr lang="zh-CN" altLang="en-US" sz="1600" dirty="0">
                  <a:solidFill>
                    <a:srgbClr val="000000"/>
                  </a:solidFill>
                  <a:latin typeface="Huawei Sans" panose="020C0503030203020204" pitchFamily="34" charset="0"/>
                  <a:ea typeface="方正兰亭黑简体" panose="02000000000000000000" pitchFamily="2" charset="-122"/>
                </a:rPr>
                <a:t>：承诺信息速率，单位是</a:t>
              </a:r>
              <a:r>
                <a:rPr lang="en-US" altLang="zh-CN" sz="1600" dirty="0">
                  <a:solidFill>
                    <a:srgbClr val="000000"/>
                  </a:solidFill>
                  <a:latin typeface="Huawei Sans" panose="020C0503030203020204" pitchFamily="34" charset="0"/>
                  <a:ea typeface="方正兰亭黑简体" panose="02000000000000000000" pitchFamily="2" charset="-122"/>
                </a:rPr>
                <a:t>kbps</a:t>
              </a:r>
            </a:p>
            <a:p>
              <a:pPr marL="742950" lvl="1"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表示向令牌桶中</a:t>
              </a:r>
              <a:r>
                <a:rPr lang="zh-CN" altLang="en-US" sz="1400" b="1" dirty="0">
                  <a:solidFill>
                    <a:srgbClr val="C7000B"/>
                  </a:solidFill>
                  <a:latin typeface="Huawei Sans" panose="020C0503030203020204" pitchFamily="34" charset="0"/>
                  <a:ea typeface="方正兰亭黑简体" panose="02000000000000000000" pitchFamily="2" charset="-122"/>
                </a:rPr>
                <a:t>投放令牌的速率</a:t>
              </a:r>
              <a:endParaRPr lang="en-US" altLang="zh-CN" sz="1400" b="1" dirty="0">
                <a:solidFill>
                  <a:srgbClr val="C7000B"/>
                </a:solidFill>
                <a:latin typeface="Huawei Sans" panose="020C0503030203020204" pitchFamily="34" charset="0"/>
                <a:ea typeface="方正兰亭黑简体" panose="02000000000000000000" pitchFamily="2" charset="-122"/>
              </a:endParaRPr>
            </a:p>
          </p:txBody>
        </p:sp>
        <p:sp>
          <p:nvSpPr>
            <p:cNvPr id="70" name="文本框 63"/>
            <p:cNvSpPr txBox="1"/>
            <p:nvPr/>
          </p:nvSpPr>
          <p:spPr bwMode="gray">
            <a:xfrm>
              <a:off x="6947829" y="3263280"/>
              <a:ext cx="4381018" cy="93504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CBS</a:t>
              </a:r>
              <a:r>
                <a:rPr lang="zh-CN" altLang="en-US" sz="1600" dirty="0">
                  <a:solidFill>
                    <a:srgbClr val="000000"/>
                  </a:solidFill>
                  <a:latin typeface="Huawei Sans" panose="020C0503030203020204" pitchFamily="34" charset="0"/>
                  <a:ea typeface="方正兰亭黑简体" panose="02000000000000000000" pitchFamily="2" charset="-122"/>
                </a:rPr>
                <a:t>：承诺突发尺寸，单位为</a:t>
              </a:r>
              <a:r>
                <a:rPr lang="en-US" altLang="zh-CN" sz="1600" dirty="0">
                  <a:solidFill>
                    <a:srgbClr val="000000"/>
                  </a:solidFill>
                  <a:latin typeface="Huawei Sans" panose="020C0503030203020204" pitchFamily="34" charset="0"/>
                  <a:ea typeface="方正兰亭黑简体" panose="02000000000000000000" pitchFamily="2" charset="-122"/>
                </a:rPr>
                <a:t>byte</a:t>
              </a:r>
            </a:p>
            <a:p>
              <a:pPr marL="742950" lvl="1" indent="-285750" fontAlgn="auto">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用来定义在部分流量超过</a:t>
              </a:r>
              <a:r>
                <a:rPr lang="en-US" altLang="zh-CN" sz="1400" dirty="0">
                  <a:solidFill>
                    <a:srgbClr val="000000"/>
                  </a:solidFill>
                  <a:latin typeface="Huawei Sans" panose="020C0503030203020204" pitchFamily="34" charset="0"/>
                  <a:ea typeface="方正兰亭黑简体" panose="02000000000000000000" pitchFamily="2" charset="-122"/>
                </a:rPr>
                <a:t>CIR</a:t>
              </a:r>
              <a:r>
                <a:rPr lang="zh-CN" altLang="en-US" sz="1400" dirty="0">
                  <a:solidFill>
                    <a:srgbClr val="000000"/>
                  </a:solidFill>
                  <a:latin typeface="Huawei Sans" panose="020C0503030203020204" pitchFamily="34" charset="0"/>
                  <a:ea typeface="方正兰亭黑简体" panose="02000000000000000000" pitchFamily="2" charset="-122"/>
                </a:rPr>
                <a:t>之前的最大突发流量，即为</a:t>
              </a:r>
              <a:r>
                <a:rPr lang="zh-CN" altLang="en-US" sz="1400" b="1" dirty="0">
                  <a:solidFill>
                    <a:srgbClr val="C7000B"/>
                  </a:solidFill>
                  <a:latin typeface="Huawei Sans" panose="020C0503030203020204" pitchFamily="34" charset="0"/>
                  <a:ea typeface="方正兰亭黑简体" panose="02000000000000000000" pitchFamily="2" charset="-122"/>
                </a:rPr>
                <a:t>令牌桶的容量</a:t>
              </a:r>
              <a:endParaRPr lang="en-US" altLang="zh-CN" sz="1400" b="1" dirty="0">
                <a:solidFill>
                  <a:srgbClr val="C7000B"/>
                </a:solidFill>
                <a:latin typeface="Huawei Sans" panose="020C0503030203020204" pitchFamily="34" charset="0"/>
                <a:ea typeface="方正兰亭黑简体" panose="02000000000000000000" pitchFamily="2" charset="-122"/>
              </a:endParaRPr>
            </a:p>
          </p:txBody>
        </p:sp>
      </p:grpSp>
      <p:sp>
        <p:nvSpPr>
          <p:cNvPr id="76" name="文本框 72"/>
          <p:cNvSpPr txBox="1"/>
          <p:nvPr/>
        </p:nvSpPr>
        <p:spPr bwMode="gray">
          <a:xfrm>
            <a:off x="8630121" y="5821159"/>
            <a:ext cx="251129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数据包标记为红色，默认丢弃</a:t>
            </a:r>
          </a:p>
        </p:txBody>
      </p:sp>
      <p:sp>
        <p:nvSpPr>
          <p:cNvPr id="77" name="文本框 72"/>
          <p:cNvSpPr txBox="1"/>
          <p:nvPr/>
        </p:nvSpPr>
        <p:spPr bwMode="gray">
          <a:xfrm>
            <a:off x="9200040" y="4713046"/>
            <a:ext cx="255296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数据包标记为绿色，默认转发</a:t>
            </a:r>
          </a:p>
        </p:txBody>
      </p:sp>
      <p:grpSp>
        <p:nvGrpSpPr>
          <p:cNvPr id="79" name="组合 60"/>
          <p:cNvGrpSpPr/>
          <p:nvPr/>
        </p:nvGrpSpPr>
        <p:grpSpPr bwMode="gray">
          <a:xfrm>
            <a:off x="722495" y="3331275"/>
            <a:ext cx="4468396" cy="912305"/>
            <a:chOff x="6860451" y="2420888"/>
            <a:chExt cx="4468396" cy="912305"/>
          </a:xfrm>
        </p:grpSpPr>
        <p:sp>
          <p:nvSpPr>
            <p:cNvPr id="80" name="矩形 61"/>
            <p:cNvSpPr/>
            <p:nvPr/>
          </p:nvSpPr>
          <p:spPr bwMode="gray">
            <a:xfrm>
              <a:off x="6860451" y="2420888"/>
              <a:ext cx="4456129" cy="912305"/>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1" name="文本框 62"/>
            <p:cNvSpPr txBox="1"/>
            <p:nvPr/>
          </p:nvSpPr>
          <p:spPr bwMode="gray">
            <a:xfrm>
              <a:off x="6947829" y="2630016"/>
              <a:ext cx="4281091" cy="35796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endParaRPr lang="en-US" altLang="zh-CN" sz="1400" b="1" dirty="0">
                <a:solidFill>
                  <a:srgbClr val="000000"/>
                </a:solidFill>
                <a:latin typeface="Huawei Sans" panose="020C0503030203020204" pitchFamily="34" charset="0"/>
                <a:ea typeface="方正兰亭黑简体" panose="02000000000000000000" pitchFamily="2" charset="-122"/>
              </a:endParaRPr>
            </a:p>
          </p:txBody>
        </p:sp>
        <p:sp>
          <p:nvSpPr>
            <p:cNvPr id="82" name="文本框 63"/>
            <p:cNvSpPr txBox="1"/>
            <p:nvPr/>
          </p:nvSpPr>
          <p:spPr bwMode="gray">
            <a:xfrm>
              <a:off x="6947829" y="2505795"/>
              <a:ext cx="4381018"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单桶单速双色标记法，不允许突发流量，只有承诺流量</a:t>
              </a:r>
            </a:p>
          </p:txBody>
        </p:sp>
      </p:grpSp>
      <p:sp>
        <p:nvSpPr>
          <p:cNvPr id="72"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74" name="燕尾形 154"/>
          <p:cNvSpPr/>
          <p:nvPr/>
        </p:nvSpPr>
        <p:spPr bwMode="auto">
          <a:xfrm>
            <a:off x="8920510" y="107185"/>
            <a:ext cx="914043"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75"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84"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4681963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an 9">
            <a:extLst>
              <a:ext uri="{FF2B5EF4-FFF2-40B4-BE49-F238E27FC236}">
                <a16:creationId xmlns:a16="http://schemas.microsoft.com/office/drawing/2014/main" id="{E684CC53-D0AC-4D78-97A4-3FCDF707B7D6}"/>
              </a:ext>
            </a:extLst>
          </p:cNvPr>
          <p:cNvSpPr/>
          <p:nvPr/>
        </p:nvSpPr>
        <p:spPr bwMode="gray">
          <a:xfrm rot="5400000">
            <a:off x="9683646" y="4702941"/>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Can 9">
            <a:extLst>
              <a:ext uri="{FF2B5EF4-FFF2-40B4-BE49-F238E27FC236}">
                <a16:creationId xmlns:a16="http://schemas.microsoft.com/office/drawing/2014/main" id="{816064B3-B215-4CFE-B972-CF4B0D86A09D}"/>
              </a:ext>
            </a:extLst>
          </p:cNvPr>
          <p:cNvSpPr/>
          <p:nvPr/>
        </p:nvSpPr>
        <p:spPr bwMode="gray">
          <a:xfrm rot="5400000">
            <a:off x="9677225" y="3826563"/>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an 9">
            <a:extLst>
              <a:ext uri="{FF2B5EF4-FFF2-40B4-BE49-F238E27FC236}">
                <a16:creationId xmlns:a16="http://schemas.microsoft.com/office/drawing/2014/main" id="{E2A93F72-3E34-4A92-919F-FDBF598CF376}"/>
              </a:ext>
            </a:extLst>
          </p:cNvPr>
          <p:cNvSpPr/>
          <p:nvPr/>
        </p:nvSpPr>
        <p:spPr bwMode="gray">
          <a:xfrm rot="5400000">
            <a:off x="5716785" y="3819597"/>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双桶单速三色标记法</a:t>
            </a:r>
          </a:p>
        </p:txBody>
      </p:sp>
      <p:grpSp>
        <p:nvGrpSpPr>
          <p:cNvPr id="51" name="组合 50"/>
          <p:cNvGrpSpPr/>
          <p:nvPr/>
        </p:nvGrpSpPr>
        <p:grpSpPr bwMode="gray">
          <a:xfrm>
            <a:off x="6666597" y="4188034"/>
            <a:ext cx="1548172" cy="489109"/>
            <a:chOff x="2639616" y="4714615"/>
            <a:chExt cx="1548172" cy="489109"/>
          </a:xfrm>
        </p:grpSpPr>
        <p:sp>
          <p:nvSpPr>
            <p:cNvPr id="52" name="流程图: 决策 51"/>
            <p:cNvSpPr/>
            <p:nvPr/>
          </p:nvSpPr>
          <p:spPr bwMode="gray">
            <a:xfrm>
              <a:off x="2639616" y="4714615"/>
              <a:ext cx="1548172" cy="489109"/>
            </a:xfrm>
            <a:prstGeom prst="flowChartDecision">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53" name="文本框 52"/>
            <p:cNvSpPr txBox="1"/>
            <p:nvPr/>
          </p:nvSpPr>
          <p:spPr bwMode="gray">
            <a:xfrm>
              <a:off x="3064578" y="4797152"/>
              <a:ext cx="76562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latin typeface="Huawei Sans" panose="020C0503030203020204" pitchFamily="34" charset="0"/>
                  <a:ea typeface="方正兰亭黑简体" panose="02000000000000000000" pitchFamily="2" charset="-122"/>
                </a:rPr>
                <a:t>B&lt;Tc</a:t>
              </a:r>
              <a:r>
                <a:rPr lang="zh-CN" altLang="en-US" dirty="0">
                  <a:latin typeface="Huawei Sans" panose="020C0503030203020204" pitchFamily="34" charset="0"/>
                  <a:ea typeface="方正兰亭黑简体" panose="02000000000000000000" pitchFamily="2" charset="-122"/>
                </a:rPr>
                <a:t>？</a:t>
              </a:r>
            </a:p>
          </p:txBody>
        </p:sp>
      </p:grpSp>
      <p:sp>
        <p:nvSpPr>
          <p:cNvPr id="55" name="矩形 54"/>
          <p:cNvSpPr/>
          <p:nvPr/>
        </p:nvSpPr>
        <p:spPr bwMode="gray">
          <a:xfrm>
            <a:off x="6090533" y="4363213"/>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62" name="矩形 61"/>
          <p:cNvSpPr/>
          <p:nvPr/>
        </p:nvSpPr>
        <p:spPr bwMode="gray">
          <a:xfrm>
            <a:off x="5730493" y="4363213"/>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63" name="矩形 62"/>
          <p:cNvSpPr/>
          <p:nvPr/>
        </p:nvSpPr>
        <p:spPr bwMode="gray">
          <a:xfrm>
            <a:off x="5370453" y="4363213"/>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65" name="文本框 64"/>
          <p:cNvSpPr txBox="1"/>
          <p:nvPr/>
        </p:nvSpPr>
        <p:spPr bwMode="gray">
          <a:xfrm>
            <a:off x="5130741" y="4632528"/>
            <a:ext cx="154628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t>到达的数据大小</a:t>
            </a:r>
            <a:r>
              <a:rPr lang="en-US" altLang="zh-CN" dirty="0">
                <a:latin typeface="+mn-lt"/>
              </a:rPr>
              <a:t>B</a:t>
            </a:r>
            <a:endParaRPr lang="zh-CN" altLang="en-US" dirty="0">
              <a:latin typeface="+mn-lt"/>
            </a:endParaRPr>
          </a:p>
        </p:txBody>
      </p:sp>
      <p:cxnSp>
        <p:nvCxnSpPr>
          <p:cNvPr id="66" name="直接箭头连接符 65"/>
          <p:cNvCxnSpPr/>
          <p:nvPr/>
        </p:nvCxnSpPr>
        <p:spPr bwMode="gray">
          <a:xfrm>
            <a:off x="6342561" y="4450591"/>
            <a:ext cx="288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67" name="直接箭头连接符 66"/>
          <p:cNvCxnSpPr/>
          <p:nvPr/>
        </p:nvCxnSpPr>
        <p:spPr bwMode="gray">
          <a:xfrm>
            <a:off x="8286777" y="4450591"/>
            <a:ext cx="72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68" name="直接箭头连接符 67"/>
          <p:cNvCxnSpPr/>
          <p:nvPr/>
        </p:nvCxnSpPr>
        <p:spPr bwMode="gray">
          <a:xfrm>
            <a:off x="7458685" y="4774687"/>
            <a:ext cx="0" cy="288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70" name="文本框 69"/>
          <p:cNvSpPr txBox="1"/>
          <p:nvPr/>
        </p:nvSpPr>
        <p:spPr bwMode="gray">
          <a:xfrm>
            <a:off x="7458685" y="4758556"/>
            <a:ext cx="43700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t>No</a:t>
            </a:r>
            <a:endParaRPr lang="zh-CN" altLang="en-US" b="0" dirty="0"/>
          </a:p>
        </p:txBody>
      </p:sp>
      <p:sp>
        <p:nvSpPr>
          <p:cNvPr id="72" name="矩形 71"/>
          <p:cNvSpPr/>
          <p:nvPr/>
        </p:nvSpPr>
        <p:spPr bwMode="ltGray">
          <a:xfrm>
            <a:off x="10063289" y="4363213"/>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74" name="矩形 73"/>
          <p:cNvSpPr/>
          <p:nvPr/>
        </p:nvSpPr>
        <p:spPr bwMode="ltGray">
          <a:xfrm>
            <a:off x="9703249" y="4363213"/>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75" name="矩形 74"/>
          <p:cNvSpPr/>
          <p:nvPr/>
        </p:nvSpPr>
        <p:spPr bwMode="ltGray">
          <a:xfrm>
            <a:off x="9343209" y="4363213"/>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grpSp>
        <p:nvGrpSpPr>
          <p:cNvPr id="76" name="组合 75"/>
          <p:cNvGrpSpPr/>
          <p:nvPr/>
        </p:nvGrpSpPr>
        <p:grpSpPr bwMode="gray">
          <a:xfrm>
            <a:off x="6666597" y="5088134"/>
            <a:ext cx="1548172" cy="489109"/>
            <a:chOff x="2639616" y="4714615"/>
            <a:chExt cx="1548172" cy="489109"/>
          </a:xfrm>
        </p:grpSpPr>
        <p:sp>
          <p:nvSpPr>
            <p:cNvPr id="77" name="流程图: 决策 76"/>
            <p:cNvSpPr/>
            <p:nvPr/>
          </p:nvSpPr>
          <p:spPr bwMode="gray">
            <a:xfrm>
              <a:off x="2639616" y="4714615"/>
              <a:ext cx="1548172" cy="489109"/>
            </a:xfrm>
            <a:prstGeom prst="flowChartDecision">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79" name="文本框 78"/>
            <p:cNvSpPr txBox="1"/>
            <p:nvPr/>
          </p:nvSpPr>
          <p:spPr bwMode="gray">
            <a:xfrm>
              <a:off x="2956377" y="4797152"/>
              <a:ext cx="98202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latin typeface="Huawei Sans" panose="020C0503030203020204" pitchFamily="34" charset="0"/>
                  <a:ea typeface="方正兰亭黑简体" panose="02000000000000000000" pitchFamily="2" charset="-122"/>
                </a:rPr>
                <a:t>Tc&lt;B&lt;</a:t>
              </a:r>
              <a:r>
                <a:rPr lang="en-US" altLang="zh-CN" dirty="0" err="1">
                  <a:latin typeface="Huawei Sans" panose="020C0503030203020204" pitchFamily="34" charset="0"/>
                  <a:ea typeface="方正兰亭黑简体" panose="02000000000000000000" pitchFamily="2" charset="-122"/>
                </a:rPr>
                <a:t>Te</a:t>
              </a:r>
              <a:r>
                <a:rPr lang="en-US" altLang="zh-CN" dirty="0">
                  <a:latin typeface="Huawei Sans" panose="020C0503030203020204" pitchFamily="34" charset="0"/>
                  <a:ea typeface="方正兰亭黑简体" panose="02000000000000000000" pitchFamily="2" charset="-122"/>
                </a:rPr>
                <a:t>?</a:t>
              </a:r>
              <a:endParaRPr lang="zh-CN" altLang="en-US" dirty="0">
                <a:latin typeface="Huawei Sans" panose="020C0503030203020204" pitchFamily="34" charset="0"/>
                <a:ea typeface="方正兰亭黑简体" panose="02000000000000000000" pitchFamily="2" charset="-122"/>
              </a:endParaRPr>
            </a:p>
          </p:txBody>
        </p:sp>
      </p:grpSp>
      <p:cxnSp>
        <p:nvCxnSpPr>
          <p:cNvPr id="80" name="直接箭头连接符 79"/>
          <p:cNvCxnSpPr/>
          <p:nvPr/>
        </p:nvCxnSpPr>
        <p:spPr bwMode="gray">
          <a:xfrm>
            <a:off x="8286777" y="5350691"/>
            <a:ext cx="72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83" name="矩形 82"/>
          <p:cNvSpPr/>
          <p:nvPr/>
        </p:nvSpPr>
        <p:spPr bwMode="gray">
          <a:xfrm>
            <a:off x="10063289" y="5263313"/>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7" name="矩形 86"/>
          <p:cNvSpPr/>
          <p:nvPr/>
        </p:nvSpPr>
        <p:spPr bwMode="gray">
          <a:xfrm>
            <a:off x="9703249" y="5263313"/>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8" name="矩形 87"/>
          <p:cNvSpPr/>
          <p:nvPr/>
        </p:nvSpPr>
        <p:spPr bwMode="gray">
          <a:xfrm>
            <a:off x="9343209" y="5263313"/>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cxnSp>
        <p:nvCxnSpPr>
          <p:cNvPr id="89" name="直接箭头连接符 88"/>
          <p:cNvCxnSpPr/>
          <p:nvPr/>
        </p:nvCxnSpPr>
        <p:spPr bwMode="gray">
          <a:xfrm>
            <a:off x="7458685" y="5654854"/>
            <a:ext cx="0" cy="288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91" name="文本框 90"/>
          <p:cNvSpPr txBox="1"/>
          <p:nvPr/>
        </p:nvSpPr>
        <p:spPr bwMode="gray">
          <a:xfrm>
            <a:off x="7478472" y="5557720"/>
            <a:ext cx="14293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No, Tc</a:t>
            </a:r>
            <a:r>
              <a:rPr lang="zh-CN" altLang="en-US" b="0" dirty="0">
                <a:latin typeface="Huawei Sans" panose="020C0503030203020204" pitchFamily="34" charset="0"/>
                <a:ea typeface="方正兰亭黑简体" panose="02000000000000000000" pitchFamily="2" charset="-122"/>
              </a:rPr>
              <a:t>和</a:t>
            </a:r>
            <a:r>
              <a:rPr lang="en-US" altLang="zh-CN" b="0" dirty="0" err="1">
                <a:latin typeface="Huawei Sans" panose="020C0503030203020204" pitchFamily="34" charset="0"/>
                <a:ea typeface="方正兰亭黑简体" panose="02000000000000000000" pitchFamily="2" charset="-122"/>
              </a:rPr>
              <a:t>Te</a:t>
            </a:r>
            <a:r>
              <a:rPr lang="zh-CN" altLang="en-US" b="0" dirty="0">
                <a:latin typeface="Huawei Sans" panose="020C0503030203020204" pitchFamily="34" charset="0"/>
                <a:ea typeface="方正兰亭黑简体" panose="02000000000000000000" pitchFamily="2" charset="-122"/>
              </a:rPr>
              <a:t>不变</a:t>
            </a:r>
          </a:p>
        </p:txBody>
      </p:sp>
      <p:sp>
        <p:nvSpPr>
          <p:cNvPr id="93" name="矩形 92"/>
          <p:cNvSpPr/>
          <p:nvPr/>
        </p:nvSpPr>
        <p:spPr bwMode="invGray">
          <a:xfrm>
            <a:off x="8287573" y="5930345"/>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98" name="矩形 97"/>
          <p:cNvSpPr/>
          <p:nvPr/>
        </p:nvSpPr>
        <p:spPr bwMode="invGray">
          <a:xfrm>
            <a:off x="7927533" y="5930345"/>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99" name="矩形 98"/>
          <p:cNvSpPr/>
          <p:nvPr/>
        </p:nvSpPr>
        <p:spPr bwMode="invGray">
          <a:xfrm>
            <a:off x="7567493" y="5930345"/>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grpSp>
        <p:nvGrpSpPr>
          <p:cNvPr id="3" name="组合 2"/>
          <p:cNvGrpSpPr/>
          <p:nvPr/>
        </p:nvGrpSpPr>
        <p:grpSpPr bwMode="gray">
          <a:xfrm>
            <a:off x="5727834" y="1318243"/>
            <a:ext cx="4863199" cy="2665412"/>
            <a:chOff x="4028797" y="1230839"/>
            <a:chExt cx="4863199" cy="2665412"/>
          </a:xfrm>
        </p:grpSpPr>
        <p:sp>
          <p:nvSpPr>
            <p:cNvPr id="102" name="bucket_206442"/>
            <p:cNvSpPr>
              <a:spLocks noChangeAspect="1"/>
            </p:cNvSpPr>
            <p:nvPr/>
          </p:nvSpPr>
          <p:spPr bwMode="gray">
            <a:xfrm>
              <a:off x="4217379" y="2492667"/>
              <a:ext cx="1090143" cy="1330459"/>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104" name="流程图: 磁盘 103"/>
            <p:cNvSpPr/>
            <p:nvPr/>
          </p:nvSpPr>
          <p:spPr bwMode="gray">
            <a:xfrm>
              <a:off x="4649427" y="2024615"/>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05" name="流程图: 磁盘 104"/>
            <p:cNvSpPr/>
            <p:nvPr/>
          </p:nvSpPr>
          <p:spPr bwMode="gray">
            <a:xfrm>
              <a:off x="4649427" y="1772587"/>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cxnSp>
          <p:nvCxnSpPr>
            <p:cNvPr id="106" name="直接连接符 105"/>
            <p:cNvCxnSpPr/>
            <p:nvPr/>
          </p:nvCxnSpPr>
          <p:spPr bwMode="gray">
            <a:xfrm flipV="1">
              <a:off x="5477519" y="2960719"/>
              <a:ext cx="992"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7" name="直接连接符 106"/>
            <p:cNvCxnSpPr/>
            <p:nvPr/>
          </p:nvCxnSpPr>
          <p:spPr bwMode="gray">
            <a:xfrm flipV="1">
              <a:off x="5081475" y="3788811"/>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8" name="直接连接符 107"/>
            <p:cNvCxnSpPr/>
            <p:nvPr/>
          </p:nvCxnSpPr>
          <p:spPr bwMode="gray">
            <a:xfrm flipV="1">
              <a:off x="5081475" y="2960719"/>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9" name="文本框 108"/>
            <p:cNvSpPr txBox="1"/>
            <p:nvPr/>
          </p:nvSpPr>
          <p:spPr bwMode="gray">
            <a:xfrm>
              <a:off x="5515699" y="3211059"/>
              <a:ext cx="50112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solidFill>
                    <a:srgbClr val="C7000B"/>
                  </a:solidFill>
                  <a:latin typeface="+mn-lt"/>
                  <a:ea typeface="+mn-ea"/>
                </a:rPr>
                <a:t>CBS</a:t>
              </a:r>
              <a:endParaRPr lang="zh-CN" altLang="en-US" sz="1400" b="1" dirty="0">
                <a:solidFill>
                  <a:srgbClr val="C7000B"/>
                </a:solidFill>
                <a:latin typeface="+mn-lt"/>
                <a:ea typeface="+mn-ea"/>
              </a:endParaRPr>
            </a:p>
          </p:txBody>
        </p:sp>
        <p:cxnSp>
          <p:nvCxnSpPr>
            <p:cNvPr id="110" name="直接箭头连接符 109"/>
            <p:cNvCxnSpPr/>
            <p:nvPr/>
          </p:nvCxnSpPr>
          <p:spPr bwMode="gray">
            <a:xfrm>
              <a:off x="4757439" y="2204695"/>
              <a:ext cx="0" cy="540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17" name="文本框 116"/>
            <p:cNvSpPr txBox="1"/>
            <p:nvPr/>
          </p:nvSpPr>
          <p:spPr bwMode="gray">
            <a:xfrm>
              <a:off x="4469407" y="1448551"/>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t>令牌</a:t>
              </a:r>
            </a:p>
          </p:txBody>
        </p:sp>
        <p:sp>
          <p:nvSpPr>
            <p:cNvPr id="121" name="bucket_206442"/>
            <p:cNvSpPr>
              <a:spLocks noChangeAspect="1"/>
            </p:cNvSpPr>
            <p:nvPr/>
          </p:nvSpPr>
          <p:spPr bwMode="gray">
            <a:xfrm>
              <a:off x="6767760" y="2084295"/>
              <a:ext cx="1090143" cy="1738832"/>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122" name="文本框 121"/>
            <p:cNvSpPr txBox="1"/>
            <p:nvPr/>
          </p:nvSpPr>
          <p:spPr bwMode="gray">
            <a:xfrm>
              <a:off x="4499508" y="3200418"/>
              <a:ext cx="47708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400" b="1" dirty="0">
                  <a:latin typeface="Huawei Sans" panose="020C0503030203020204" pitchFamily="34" charset="0"/>
                  <a:ea typeface="方正兰亭黑简体" panose="02000000000000000000" pitchFamily="2" charset="-122"/>
                </a:rPr>
                <a:t>C</a:t>
              </a:r>
              <a:r>
                <a:rPr lang="zh-CN" altLang="en-US" sz="1400" b="1" dirty="0">
                  <a:latin typeface="Huawei Sans" panose="020C0503030203020204" pitchFamily="34" charset="0"/>
                  <a:ea typeface="方正兰亭黑简体" panose="02000000000000000000" pitchFamily="2" charset="-122"/>
                </a:rPr>
                <a:t>桶</a:t>
              </a:r>
            </a:p>
          </p:txBody>
        </p:sp>
        <p:sp>
          <p:nvSpPr>
            <p:cNvPr id="123" name="文本框 122"/>
            <p:cNvSpPr txBox="1"/>
            <p:nvPr/>
          </p:nvSpPr>
          <p:spPr bwMode="gray">
            <a:xfrm>
              <a:off x="7064609" y="3200418"/>
              <a:ext cx="45944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400" b="1" dirty="0">
                  <a:latin typeface="Huawei Sans" panose="020C0503030203020204" pitchFamily="34" charset="0"/>
                  <a:ea typeface="方正兰亭黑简体" panose="02000000000000000000" pitchFamily="2" charset="-122"/>
                </a:rPr>
                <a:t>E</a:t>
              </a:r>
              <a:r>
                <a:rPr lang="zh-CN" altLang="en-US" sz="1400" b="1" dirty="0">
                  <a:latin typeface="Huawei Sans" panose="020C0503030203020204" pitchFamily="34" charset="0"/>
                  <a:ea typeface="方正兰亭黑简体" panose="02000000000000000000" pitchFamily="2" charset="-122"/>
                </a:rPr>
                <a:t>桶</a:t>
              </a:r>
            </a:p>
          </p:txBody>
        </p:sp>
        <p:sp>
          <p:nvSpPr>
            <p:cNvPr id="128" name="流程图: 磁盘 127"/>
            <p:cNvSpPr/>
            <p:nvPr/>
          </p:nvSpPr>
          <p:spPr bwMode="gray">
            <a:xfrm>
              <a:off x="7163804" y="2490979"/>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cxnSp>
          <p:nvCxnSpPr>
            <p:cNvPr id="130" name="直接连接符 129"/>
            <p:cNvCxnSpPr/>
            <p:nvPr/>
          </p:nvCxnSpPr>
          <p:spPr bwMode="gray">
            <a:xfrm flipV="1">
              <a:off x="8027900" y="2707003"/>
              <a:ext cx="0" cy="10818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1" name="直接连接符 130"/>
            <p:cNvCxnSpPr/>
            <p:nvPr/>
          </p:nvCxnSpPr>
          <p:spPr bwMode="gray">
            <a:xfrm flipV="1">
              <a:off x="7631856" y="3788811"/>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2" name="直接连接符 131"/>
            <p:cNvCxnSpPr/>
            <p:nvPr/>
          </p:nvCxnSpPr>
          <p:spPr bwMode="gray">
            <a:xfrm flipV="1">
              <a:off x="7631856" y="2707003"/>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3" name="文本框 132"/>
            <p:cNvSpPr txBox="1"/>
            <p:nvPr/>
          </p:nvSpPr>
          <p:spPr bwMode="gray">
            <a:xfrm>
              <a:off x="8047135" y="3211059"/>
              <a:ext cx="48990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solidFill>
                    <a:srgbClr val="C7000B"/>
                  </a:solidFill>
                  <a:latin typeface="+mn-lt"/>
                  <a:ea typeface="+mn-ea"/>
                </a:rPr>
                <a:t>EBS</a:t>
              </a:r>
              <a:endParaRPr lang="zh-CN" altLang="en-US" sz="1400" b="1" dirty="0">
                <a:solidFill>
                  <a:srgbClr val="C7000B"/>
                </a:solidFill>
                <a:latin typeface="+mn-lt"/>
                <a:ea typeface="+mn-ea"/>
              </a:endParaRPr>
            </a:p>
          </p:txBody>
        </p:sp>
        <p:sp>
          <p:nvSpPr>
            <p:cNvPr id="134" name="文本框 133"/>
            <p:cNvSpPr txBox="1"/>
            <p:nvPr/>
          </p:nvSpPr>
          <p:spPr bwMode="gray">
            <a:xfrm>
              <a:off x="4790535" y="2202947"/>
              <a:ext cx="46265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solidFill>
                    <a:srgbClr val="C7000B"/>
                  </a:solidFill>
                  <a:latin typeface="+mn-lt"/>
                </a:rPr>
                <a:t>CIR</a:t>
              </a:r>
              <a:endParaRPr lang="zh-CN" altLang="en-US" dirty="0">
                <a:solidFill>
                  <a:srgbClr val="C7000B"/>
                </a:solidFill>
                <a:latin typeface="+mn-lt"/>
              </a:endParaRPr>
            </a:p>
          </p:txBody>
        </p:sp>
        <p:sp>
          <p:nvSpPr>
            <p:cNvPr id="137" name="矩形 136"/>
            <p:cNvSpPr/>
            <p:nvPr/>
          </p:nvSpPr>
          <p:spPr bwMode="gray">
            <a:xfrm>
              <a:off x="4028797" y="1230839"/>
              <a:ext cx="4863199" cy="2665412"/>
            </a:xfrm>
            <a:prstGeom prst="rect">
              <a:avLst/>
            </a:prstGeom>
            <a:noFill/>
            <a:ln w="12700">
              <a:solidFill>
                <a:schemeClr val="tx1"/>
              </a:solidFill>
              <a:prstDash val="dash"/>
              <a:miter lim="800000"/>
              <a:headEnd type="none" w="sm" len="sm"/>
              <a:tailEnd type="none" w="sm" len="sm"/>
            </a:ln>
            <a:effectLst/>
          </p:spPr>
          <p:txBody>
            <a:bodyPr wrap="square" rtlCol="0" anchor="ctr">
              <a:spAutoFit/>
            </a:bodyPr>
            <a:lstStyle/>
            <a:p>
              <a:pPr algn="ctr"/>
              <a:endParaRPr lang="zh-CN" altLang="en-US"/>
            </a:p>
          </p:txBody>
        </p:sp>
        <p:sp>
          <p:nvSpPr>
            <p:cNvPr id="4" name="任意多边形 3"/>
            <p:cNvSpPr/>
            <p:nvPr/>
          </p:nvSpPr>
          <p:spPr bwMode="gray">
            <a:xfrm>
              <a:off x="4925957" y="2137073"/>
              <a:ext cx="2306472" cy="704989"/>
            </a:xfrm>
            <a:custGeom>
              <a:avLst/>
              <a:gdLst>
                <a:gd name="connsiteX0" fmla="*/ 0 w 2292824"/>
                <a:gd name="connsiteY0" fmla="*/ 687597 h 687597"/>
                <a:gd name="connsiteX1" fmla="*/ 1173707 w 2292824"/>
                <a:gd name="connsiteY1" fmla="*/ 5209 h 687597"/>
                <a:gd name="connsiteX2" fmla="*/ 2292824 w 2292824"/>
                <a:gd name="connsiteY2" fmla="*/ 428289 h 687597"/>
                <a:gd name="connsiteX0" fmla="*/ 0 w 2347415"/>
                <a:gd name="connsiteY0" fmla="*/ 786743 h 786743"/>
                <a:gd name="connsiteX1" fmla="*/ 1228298 w 2347415"/>
                <a:gd name="connsiteY1" fmla="*/ 8821 h 786743"/>
                <a:gd name="connsiteX2" fmla="*/ 2347415 w 2347415"/>
                <a:gd name="connsiteY2" fmla="*/ 431901 h 786743"/>
                <a:gd name="connsiteX0" fmla="*/ 0 w 2347415"/>
                <a:gd name="connsiteY0" fmla="*/ 695106 h 695106"/>
                <a:gd name="connsiteX1" fmla="*/ 1214650 w 2347415"/>
                <a:gd name="connsiteY1" fmla="*/ 12718 h 695106"/>
                <a:gd name="connsiteX2" fmla="*/ 2347415 w 2347415"/>
                <a:gd name="connsiteY2" fmla="*/ 340264 h 695106"/>
                <a:gd name="connsiteX0" fmla="*/ 0 w 2306472"/>
                <a:gd name="connsiteY0" fmla="*/ 704989 h 704989"/>
                <a:gd name="connsiteX1" fmla="*/ 1214650 w 2306472"/>
                <a:gd name="connsiteY1" fmla="*/ 22601 h 704989"/>
                <a:gd name="connsiteX2" fmla="*/ 2306472 w 2306472"/>
                <a:gd name="connsiteY2" fmla="*/ 281909 h 704989"/>
              </a:gdLst>
              <a:ahLst/>
              <a:cxnLst>
                <a:cxn ang="0">
                  <a:pos x="connsiteX0" y="connsiteY0"/>
                </a:cxn>
                <a:cxn ang="0">
                  <a:pos x="connsiteX1" y="connsiteY1"/>
                </a:cxn>
                <a:cxn ang="0">
                  <a:pos x="connsiteX2" y="connsiteY2"/>
                </a:cxn>
              </a:cxnLst>
              <a:rect l="l" t="t" r="r" b="b"/>
              <a:pathLst>
                <a:path w="2306472" h="704989">
                  <a:moveTo>
                    <a:pt x="0" y="704989"/>
                  </a:moveTo>
                  <a:cubicBezTo>
                    <a:pt x="395785" y="385404"/>
                    <a:pt x="830238" y="93114"/>
                    <a:pt x="1214650" y="22601"/>
                  </a:cubicBezTo>
                  <a:cubicBezTo>
                    <a:pt x="1599062" y="-47912"/>
                    <a:pt x="1937982" y="48760"/>
                    <a:pt x="2306472" y="281909"/>
                  </a:cubicBez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43" name="文本框 142"/>
            <p:cNvSpPr txBox="1"/>
            <p:nvPr/>
          </p:nvSpPr>
          <p:spPr bwMode="gray">
            <a:xfrm>
              <a:off x="5723644" y="1806903"/>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b="0" dirty="0"/>
                <a:t>令牌溢出</a:t>
              </a:r>
            </a:p>
          </p:txBody>
        </p:sp>
      </p:grpSp>
      <p:sp>
        <p:nvSpPr>
          <p:cNvPr id="90" name="文本框 89"/>
          <p:cNvSpPr txBox="1"/>
          <p:nvPr/>
        </p:nvSpPr>
        <p:spPr bwMode="gray">
          <a:xfrm>
            <a:off x="9145552" y="1356393"/>
            <a:ext cx="1268964" cy="734990"/>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令牌初始数量</a:t>
            </a:r>
            <a:endParaRPr lang="en-US" altLang="zh-CN" b="0" dirty="0">
              <a:latin typeface="Huawei Sans" panose="020C0503030203020204" pitchFamily="34" charset="0"/>
              <a:ea typeface="方正兰亭黑简体" panose="02000000000000000000" pitchFamily="2" charset="-122"/>
            </a:endParaRPr>
          </a:p>
          <a:p>
            <a:pPr algn="l" fontAlgn="auto"/>
            <a:r>
              <a:rPr lang="en-US" altLang="zh-CN" dirty="0">
                <a:latin typeface="Huawei Sans" panose="020C0503030203020204" pitchFamily="34" charset="0"/>
                <a:ea typeface="方正兰亭黑简体" panose="02000000000000000000" pitchFamily="2" charset="-122"/>
              </a:rPr>
              <a:t>C</a:t>
            </a:r>
            <a:r>
              <a:rPr lang="zh-CN" altLang="en-US" dirty="0">
                <a:latin typeface="Huawei Sans" panose="020C0503030203020204" pitchFamily="34" charset="0"/>
                <a:ea typeface="方正兰亭黑简体" panose="02000000000000000000" pitchFamily="2" charset="-122"/>
              </a:rPr>
              <a:t>桶：</a:t>
            </a:r>
            <a:r>
              <a:rPr lang="en-US" altLang="zh-CN" dirty="0">
                <a:latin typeface="Huawei Sans" panose="020C0503030203020204" pitchFamily="34" charset="0"/>
                <a:ea typeface="方正兰亭黑简体" panose="02000000000000000000" pitchFamily="2" charset="-122"/>
              </a:rPr>
              <a:t>Tc=CBS</a:t>
            </a:r>
          </a:p>
          <a:p>
            <a:pPr algn="l" fontAlgn="auto"/>
            <a:r>
              <a:rPr lang="en-US" altLang="zh-CN" dirty="0">
                <a:latin typeface="Huawei Sans" panose="020C0503030203020204" pitchFamily="34" charset="0"/>
                <a:ea typeface="方正兰亭黑简体" panose="02000000000000000000" pitchFamily="2" charset="-122"/>
              </a:rPr>
              <a:t>E</a:t>
            </a:r>
            <a:r>
              <a:rPr lang="zh-CN" altLang="en-US" dirty="0">
                <a:latin typeface="Huawei Sans" panose="020C0503030203020204" pitchFamily="34" charset="0"/>
                <a:ea typeface="方正兰亭黑简体" panose="02000000000000000000" pitchFamily="2" charset="-122"/>
              </a:rPr>
              <a:t>桶：</a:t>
            </a:r>
            <a:r>
              <a:rPr lang="en-US" altLang="zh-CN" dirty="0" err="1">
                <a:latin typeface="Huawei Sans" panose="020C0503030203020204" pitchFamily="34" charset="0"/>
                <a:ea typeface="方正兰亭黑简体" panose="02000000000000000000" pitchFamily="2" charset="-122"/>
              </a:rPr>
              <a:t>Te</a:t>
            </a:r>
            <a:r>
              <a:rPr lang="en-US" altLang="zh-CN" dirty="0">
                <a:latin typeface="Huawei Sans" panose="020C0503030203020204" pitchFamily="34" charset="0"/>
                <a:ea typeface="方正兰亭黑简体" panose="02000000000000000000" pitchFamily="2" charset="-122"/>
              </a:rPr>
              <a:t>=EBS</a:t>
            </a:r>
            <a:endParaRPr lang="zh-CN" altLang="en-US" dirty="0">
              <a:latin typeface="Huawei Sans" panose="020C0503030203020204" pitchFamily="34" charset="0"/>
              <a:ea typeface="方正兰亭黑简体" panose="02000000000000000000" pitchFamily="2" charset="-122"/>
            </a:endParaRPr>
          </a:p>
        </p:txBody>
      </p:sp>
      <p:sp>
        <p:nvSpPr>
          <p:cNvPr id="94" name="文本框 93"/>
          <p:cNvSpPr txBox="1"/>
          <p:nvPr/>
        </p:nvSpPr>
        <p:spPr bwMode="gray">
          <a:xfrm>
            <a:off x="7815980" y="4063971"/>
            <a:ext cx="121837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Yes, Tc=Tc-B</a:t>
            </a:r>
            <a:endParaRPr lang="zh-CN" altLang="en-US" b="0" dirty="0">
              <a:latin typeface="Huawei Sans" panose="020C0503030203020204" pitchFamily="34" charset="0"/>
              <a:ea typeface="方正兰亭黑简体" panose="02000000000000000000" pitchFamily="2" charset="-122"/>
            </a:endParaRPr>
          </a:p>
        </p:txBody>
      </p:sp>
      <p:sp>
        <p:nvSpPr>
          <p:cNvPr id="95" name="文本框 94"/>
          <p:cNvSpPr txBox="1"/>
          <p:nvPr/>
        </p:nvSpPr>
        <p:spPr bwMode="gray">
          <a:xfrm>
            <a:off x="7844786" y="4955606"/>
            <a:ext cx="124402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Yes, </a:t>
            </a:r>
            <a:r>
              <a:rPr lang="en-US" altLang="zh-CN" b="0" dirty="0" err="1">
                <a:latin typeface="Huawei Sans" panose="020C0503030203020204" pitchFamily="34" charset="0"/>
                <a:ea typeface="方正兰亭黑简体" panose="02000000000000000000" pitchFamily="2" charset="-122"/>
              </a:rPr>
              <a:t>Te</a:t>
            </a:r>
            <a:r>
              <a:rPr lang="en-US" altLang="zh-CN" b="0" dirty="0">
                <a:latin typeface="Huawei Sans" panose="020C0503030203020204" pitchFamily="34" charset="0"/>
                <a:ea typeface="方正兰亭黑简体" panose="02000000000000000000" pitchFamily="2" charset="-122"/>
              </a:rPr>
              <a:t>=</a:t>
            </a:r>
            <a:r>
              <a:rPr lang="en-US" altLang="zh-CN" b="0" dirty="0" err="1">
                <a:latin typeface="Huawei Sans" panose="020C0503030203020204" pitchFamily="34" charset="0"/>
                <a:ea typeface="方正兰亭黑简体" panose="02000000000000000000" pitchFamily="2" charset="-122"/>
              </a:rPr>
              <a:t>Te</a:t>
            </a:r>
            <a:r>
              <a:rPr lang="en-US" altLang="zh-CN" b="0" dirty="0">
                <a:latin typeface="Huawei Sans" panose="020C0503030203020204" pitchFamily="34" charset="0"/>
                <a:ea typeface="方正兰亭黑简体" panose="02000000000000000000" pitchFamily="2" charset="-122"/>
              </a:rPr>
              <a:t>-B</a:t>
            </a:r>
            <a:endParaRPr lang="zh-CN" altLang="en-US" b="0" dirty="0">
              <a:latin typeface="Huawei Sans" panose="020C0503030203020204" pitchFamily="34" charset="0"/>
              <a:ea typeface="方正兰亭黑简体" panose="02000000000000000000" pitchFamily="2" charset="-122"/>
            </a:endParaRPr>
          </a:p>
        </p:txBody>
      </p:sp>
      <p:grpSp>
        <p:nvGrpSpPr>
          <p:cNvPr id="69" name="组合 60"/>
          <p:cNvGrpSpPr/>
          <p:nvPr/>
        </p:nvGrpSpPr>
        <p:grpSpPr bwMode="gray">
          <a:xfrm>
            <a:off x="596741" y="1130234"/>
            <a:ext cx="4468396" cy="1908212"/>
            <a:chOff x="6860451" y="2420888"/>
            <a:chExt cx="4468396" cy="1908212"/>
          </a:xfrm>
        </p:grpSpPr>
        <p:sp>
          <p:nvSpPr>
            <p:cNvPr id="81" name="矩形 61"/>
            <p:cNvSpPr/>
            <p:nvPr/>
          </p:nvSpPr>
          <p:spPr bwMode="gray">
            <a:xfrm>
              <a:off x="6860451" y="2420888"/>
              <a:ext cx="4456129" cy="1908212"/>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5" name="文本框 62"/>
            <p:cNvSpPr txBox="1"/>
            <p:nvPr/>
          </p:nvSpPr>
          <p:spPr bwMode="gray">
            <a:xfrm>
              <a:off x="6947829" y="2476128"/>
              <a:ext cx="4281091" cy="6657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CIR</a:t>
              </a:r>
              <a:r>
                <a:rPr lang="zh-CN" altLang="en-US" sz="1600" dirty="0">
                  <a:solidFill>
                    <a:srgbClr val="000000"/>
                  </a:solidFill>
                  <a:latin typeface="Huawei Sans" panose="020C0503030203020204" pitchFamily="34" charset="0"/>
                  <a:ea typeface="方正兰亭黑简体" panose="02000000000000000000" pitchFamily="2" charset="-122"/>
                </a:rPr>
                <a:t>：承诺信息速率，单位是</a:t>
              </a:r>
              <a:r>
                <a:rPr lang="en-US" altLang="zh-CN" sz="1600" dirty="0">
                  <a:solidFill>
                    <a:srgbClr val="000000"/>
                  </a:solidFill>
                  <a:latin typeface="Huawei Sans" panose="020C0503030203020204" pitchFamily="34" charset="0"/>
                  <a:ea typeface="方正兰亭黑简体" panose="02000000000000000000" pitchFamily="2" charset="-122"/>
                </a:rPr>
                <a:t>kbps</a:t>
              </a:r>
            </a:p>
            <a:p>
              <a:pPr marL="742950" lvl="1" indent="-285750" fontAlgn="auto">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表示向令牌桶中</a:t>
              </a:r>
              <a:r>
                <a:rPr lang="zh-CN" altLang="en-US" sz="1400" b="1" dirty="0">
                  <a:solidFill>
                    <a:srgbClr val="C00000"/>
                  </a:solidFill>
                  <a:latin typeface="Huawei Sans" panose="020C0503030203020204" pitchFamily="34" charset="0"/>
                  <a:ea typeface="方正兰亭黑简体" panose="02000000000000000000" pitchFamily="2" charset="-122"/>
                </a:rPr>
                <a:t>投放令牌的速率</a:t>
              </a:r>
              <a:endParaRPr lang="en-US" altLang="zh-CN" sz="1400" b="1" dirty="0">
                <a:solidFill>
                  <a:srgbClr val="C00000"/>
                </a:solidFill>
                <a:latin typeface="Huawei Sans" panose="020C0503030203020204" pitchFamily="34" charset="0"/>
                <a:ea typeface="方正兰亭黑简体" panose="02000000000000000000" pitchFamily="2" charset="-122"/>
              </a:endParaRPr>
            </a:p>
          </p:txBody>
        </p:sp>
        <p:sp>
          <p:nvSpPr>
            <p:cNvPr id="96" name="文本框 63"/>
            <p:cNvSpPr txBox="1"/>
            <p:nvPr/>
          </p:nvSpPr>
          <p:spPr bwMode="gray">
            <a:xfrm>
              <a:off x="6947829" y="3263280"/>
              <a:ext cx="4381018" cy="93504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CBS</a:t>
              </a:r>
              <a:r>
                <a:rPr lang="zh-CN" altLang="en-US" sz="1600" dirty="0">
                  <a:solidFill>
                    <a:srgbClr val="000000"/>
                  </a:solidFill>
                  <a:latin typeface="Huawei Sans" panose="020C0503030203020204" pitchFamily="34" charset="0"/>
                  <a:ea typeface="方正兰亭黑简体" panose="02000000000000000000" pitchFamily="2" charset="-122"/>
                </a:rPr>
                <a:t>：承诺突发尺寸，单位为</a:t>
              </a:r>
              <a:r>
                <a:rPr lang="en-US" altLang="zh-CN" sz="1600" dirty="0">
                  <a:solidFill>
                    <a:srgbClr val="000000"/>
                  </a:solidFill>
                  <a:latin typeface="Huawei Sans" panose="020C0503030203020204" pitchFamily="34" charset="0"/>
                  <a:ea typeface="方正兰亭黑简体" panose="02000000000000000000" pitchFamily="2" charset="-122"/>
                </a:rPr>
                <a:t>byte</a:t>
              </a:r>
            </a:p>
            <a:p>
              <a:pPr marL="742950" lvl="1" indent="-285750" fontAlgn="auto">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用来定义在部分流量超过</a:t>
              </a:r>
              <a:r>
                <a:rPr lang="en-US" altLang="zh-CN" sz="1400" dirty="0">
                  <a:solidFill>
                    <a:srgbClr val="000000"/>
                  </a:solidFill>
                  <a:latin typeface="Huawei Sans" panose="020C0503030203020204" pitchFamily="34" charset="0"/>
                  <a:ea typeface="方正兰亭黑简体" panose="02000000000000000000" pitchFamily="2" charset="-122"/>
                </a:rPr>
                <a:t>CIR</a:t>
              </a:r>
              <a:r>
                <a:rPr lang="zh-CN" altLang="en-US" sz="1400" dirty="0">
                  <a:solidFill>
                    <a:srgbClr val="000000"/>
                  </a:solidFill>
                  <a:latin typeface="Huawei Sans" panose="020C0503030203020204" pitchFamily="34" charset="0"/>
                  <a:ea typeface="方正兰亭黑简体" panose="02000000000000000000" pitchFamily="2" charset="-122"/>
                </a:rPr>
                <a:t>之前的最大突发流量，即为</a:t>
              </a:r>
              <a:r>
                <a:rPr lang="zh-CN" altLang="en-US" sz="1400" b="1" dirty="0">
                  <a:solidFill>
                    <a:srgbClr val="C00000"/>
                  </a:solidFill>
                  <a:latin typeface="Huawei Sans" panose="020C0503030203020204" pitchFamily="34" charset="0"/>
                  <a:ea typeface="方正兰亭黑简体" panose="02000000000000000000" pitchFamily="2" charset="-122"/>
                </a:rPr>
                <a:t>令牌桶的容量</a:t>
              </a:r>
              <a:endParaRPr lang="en-US" altLang="zh-CN" sz="1400" b="1" dirty="0">
                <a:solidFill>
                  <a:srgbClr val="C00000"/>
                </a:solidFill>
                <a:latin typeface="Huawei Sans" panose="020C0503030203020204" pitchFamily="34" charset="0"/>
                <a:ea typeface="方正兰亭黑简体" panose="02000000000000000000" pitchFamily="2" charset="-122"/>
              </a:endParaRPr>
            </a:p>
          </p:txBody>
        </p:sp>
      </p:grpSp>
      <p:grpSp>
        <p:nvGrpSpPr>
          <p:cNvPr id="111" name="组合 64"/>
          <p:cNvGrpSpPr/>
          <p:nvPr/>
        </p:nvGrpSpPr>
        <p:grpSpPr bwMode="gray">
          <a:xfrm>
            <a:off x="584474" y="3255271"/>
            <a:ext cx="4468396" cy="864096"/>
            <a:chOff x="6860451" y="4257092"/>
            <a:chExt cx="4468396" cy="864096"/>
          </a:xfrm>
        </p:grpSpPr>
        <p:sp>
          <p:nvSpPr>
            <p:cNvPr id="112" name="矩形 65"/>
            <p:cNvSpPr/>
            <p:nvPr/>
          </p:nvSpPr>
          <p:spPr bwMode="gray">
            <a:xfrm>
              <a:off x="6860451" y="4257092"/>
              <a:ext cx="4456129" cy="864096"/>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3" name="文本框 88"/>
            <p:cNvSpPr txBox="1"/>
            <p:nvPr/>
          </p:nvSpPr>
          <p:spPr bwMode="gray">
            <a:xfrm>
              <a:off x="6947829" y="4319736"/>
              <a:ext cx="4381018" cy="6657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EBS</a:t>
              </a:r>
              <a:r>
                <a:rPr lang="zh-CN" altLang="en-US" sz="1600" dirty="0">
                  <a:solidFill>
                    <a:srgbClr val="000000"/>
                  </a:solidFill>
                  <a:latin typeface="Huawei Sans" panose="020C0503030203020204" pitchFamily="34" charset="0"/>
                  <a:ea typeface="方正兰亭黑简体" panose="02000000000000000000" pitchFamily="2" charset="-122"/>
                </a:rPr>
                <a:t>：峰值突发尺寸，单位为</a:t>
              </a:r>
              <a:r>
                <a:rPr lang="en-US" altLang="zh-CN" sz="1600" dirty="0">
                  <a:solidFill>
                    <a:srgbClr val="000000"/>
                  </a:solidFill>
                  <a:latin typeface="Huawei Sans" panose="020C0503030203020204" pitchFamily="34" charset="0"/>
                  <a:ea typeface="方正兰亭黑简体" panose="02000000000000000000" pitchFamily="2" charset="-122"/>
                </a:rPr>
                <a:t>byte</a:t>
              </a:r>
            </a:p>
            <a:p>
              <a:pPr marL="742950" lvl="1" indent="-285750" fontAlgn="auto">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用来定义每次突发所允许的</a:t>
              </a:r>
              <a:r>
                <a:rPr lang="zh-CN" altLang="en-US" sz="1400" b="1" dirty="0">
                  <a:solidFill>
                    <a:srgbClr val="C00000"/>
                  </a:solidFill>
                  <a:latin typeface="Huawei Sans" panose="020C0503030203020204" pitchFamily="34" charset="0"/>
                  <a:ea typeface="方正兰亭黑简体" panose="02000000000000000000" pitchFamily="2" charset="-122"/>
                </a:rPr>
                <a:t>最大的流量尺寸</a:t>
              </a:r>
              <a:endParaRPr lang="en-US" altLang="zh-CN" sz="1400" b="1" dirty="0">
                <a:solidFill>
                  <a:srgbClr val="C00000"/>
                </a:solidFill>
                <a:latin typeface="Huawei Sans" panose="020C0503030203020204" pitchFamily="34" charset="0"/>
                <a:ea typeface="方正兰亭黑简体" panose="02000000000000000000" pitchFamily="2" charset="-122"/>
              </a:endParaRPr>
            </a:p>
          </p:txBody>
        </p:sp>
      </p:grpSp>
      <p:sp>
        <p:nvSpPr>
          <p:cNvPr id="114" name="文本框 72"/>
          <p:cNvSpPr txBox="1"/>
          <p:nvPr/>
        </p:nvSpPr>
        <p:spPr bwMode="gray">
          <a:xfrm>
            <a:off x="8602885" y="5856435"/>
            <a:ext cx="251129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数据包标记为红色，默认丢弃</a:t>
            </a:r>
          </a:p>
        </p:txBody>
      </p:sp>
      <p:sp>
        <p:nvSpPr>
          <p:cNvPr id="115" name="文本框 72"/>
          <p:cNvSpPr txBox="1"/>
          <p:nvPr/>
        </p:nvSpPr>
        <p:spPr bwMode="gray">
          <a:xfrm>
            <a:off x="9199193" y="3983655"/>
            <a:ext cx="255296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数据包标记为绿色，默认转发</a:t>
            </a:r>
          </a:p>
        </p:txBody>
      </p:sp>
      <p:sp>
        <p:nvSpPr>
          <p:cNvPr id="116" name="文本框 72"/>
          <p:cNvSpPr txBox="1"/>
          <p:nvPr/>
        </p:nvSpPr>
        <p:spPr bwMode="gray">
          <a:xfrm>
            <a:off x="9218685" y="4860920"/>
            <a:ext cx="251129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数据包标记为黄色，默认转发</a:t>
            </a:r>
          </a:p>
        </p:txBody>
      </p:sp>
      <p:grpSp>
        <p:nvGrpSpPr>
          <p:cNvPr id="124" name="组合 60"/>
          <p:cNvGrpSpPr/>
          <p:nvPr/>
        </p:nvGrpSpPr>
        <p:grpSpPr bwMode="gray">
          <a:xfrm>
            <a:off x="582978" y="4336192"/>
            <a:ext cx="4478109" cy="726467"/>
            <a:chOff x="6860451" y="2420888"/>
            <a:chExt cx="4478109" cy="726467"/>
          </a:xfrm>
        </p:grpSpPr>
        <p:sp>
          <p:nvSpPr>
            <p:cNvPr id="125" name="矩形 61"/>
            <p:cNvSpPr/>
            <p:nvPr/>
          </p:nvSpPr>
          <p:spPr bwMode="gray">
            <a:xfrm>
              <a:off x="6860451" y="2420888"/>
              <a:ext cx="4456129" cy="726467"/>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6" name="文本框 62"/>
            <p:cNvSpPr txBox="1"/>
            <p:nvPr/>
          </p:nvSpPr>
          <p:spPr bwMode="gray">
            <a:xfrm>
              <a:off x="6947829" y="2630016"/>
              <a:ext cx="4281091" cy="35796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endParaRPr lang="en-US" altLang="zh-CN" sz="1400" b="1" dirty="0">
                <a:solidFill>
                  <a:srgbClr val="000000"/>
                </a:solidFill>
                <a:latin typeface="Huawei Sans" panose="020C0503030203020204" pitchFamily="34" charset="0"/>
                <a:ea typeface="方正兰亭黑简体" panose="02000000000000000000" pitchFamily="2" charset="-122"/>
              </a:endParaRPr>
            </a:p>
          </p:txBody>
        </p:sp>
        <p:sp>
          <p:nvSpPr>
            <p:cNvPr id="127" name="文本框 63"/>
            <p:cNvSpPr txBox="1"/>
            <p:nvPr/>
          </p:nvSpPr>
          <p:spPr bwMode="gray">
            <a:xfrm>
              <a:off x="6957542" y="2565933"/>
              <a:ext cx="4381018"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双桶单速三色标记法，允许短暂的突发流量</a:t>
              </a:r>
            </a:p>
          </p:txBody>
        </p:sp>
      </p:grpSp>
      <p:sp>
        <p:nvSpPr>
          <p:cNvPr id="101"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103" name="燕尾形 154"/>
          <p:cNvSpPr/>
          <p:nvPr/>
        </p:nvSpPr>
        <p:spPr bwMode="auto">
          <a:xfrm>
            <a:off x="8920510" y="107185"/>
            <a:ext cx="914043"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118"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119"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180748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双桶双速三色标记法</a:t>
            </a:r>
          </a:p>
        </p:txBody>
      </p:sp>
      <p:sp>
        <p:nvSpPr>
          <p:cNvPr id="158" name="文本框 157"/>
          <p:cNvSpPr txBox="1"/>
          <p:nvPr/>
        </p:nvSpPr>
        <p:spPr bwMode="gray">
          <a:xfrm>
            <a:off x="9246743" y="1217777"/>
            <a:ext cx="1281788" cy="734990"/>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令牌初始数量</a:t>
            </a:r>
            <a:endParaRPr lang="en-US" altLang="zh-CN" dirty="0">
              <a:latin typeface="Huawei Sans" panose="020C0503030203020204" pitchFamily="34" charset="0"/>
              <a:ea typeface="方正兰亭黑简体" panose="02000000000000000000" pitchFamily="2" charset="-122"/>
            </a:endParaRPr>
          </a:p>
          <a:p>
            <a:pPr algn="l" fontAlgn="auto"/>
            <a:r>
              <a:rPr lang="en-US" altLang="zh-CN" dirty="0">
                <a:latin typeface="Huawei Sans" panose="020C0503030203020204" pitchFamily="34" charset="0"/>
                <a:ea typeface="方正兰亭黑简体" panose="02000000000000000000" pitchFamily="2" charset="-122"/>
              </a:rPr>
              <a:t>P</a:t>
            </a:r>
            <a:r>
              <a:rPr lang="zh-CN" altLang="en-US" dirty="0">
                <a:latin typeface="Huawei Sans" panose="020C0503030203020204" pitchFamily="34" charset="0"/>
                <a:ea typeface="方正兰亭黑简体" panose="02000000000000000000" pitchFamily="2" charset="-122"/>
              </a:rPr>
              <a:t>桶：</a:t>
            </a:r>
            <a:r>
              <a:rPr lang="en-US" altLang="zh-CN" dirty="0" err="1">
                <a:latin typeface="Huawei Sans" panose="020C0503030203020204" pitchFamily="34" charset="0"/>
                <a:ea typeface="方正兰亭黑简体" panose="02000000000000000000" pitchFamily="2" charset="-122"/>
              </a:rPr>
              <a:t>Tp</a:t>
            </a:r>
            <a:r>
              <a:rPr lang="en-US" altLang="zh-CN" dirty="0">
                <a:latin typeface="Huawei Sans" panose="020C0503030203020204" pitchFamily="34" charset="0"/>
                <a:ea typeface="方正兰亭黑简体" panose="02000000000000000000" pitchFamily="2" charset="-122"/>
              </a:rPr>
              <a:t>=PBS</a:t>
            </a:r>
          </a:p>
          <a:p>
            <a:pPr algn="l" fontAlgn="auto"/>
            <a:r>
              <a:rPr lang="en-US" altLang="zh-CN" dirty="0">
                <a:latin typeface="Huawei Sans" panose="020C0503030203020204" pitchFamily="34" charset="0"/>
                <a:ea typeface="方正兰亭黑简体" panose="02000000000000000000" pitchFamily="2" charset="-122"/>
              </a:rPr>
              <a:t>C</a:t>
            </a:r>
            <a:r>
              <a:rPr lang="zh-CN" altLang="en-US" dirty="0">
                <a:latin typeface="Huawei Sans" panose="020C0503030203020204" pitchFamily="34" charset="0"/>
                <a:ea typeface="方正兰亭黑简体" panose="02000000000000000000" pitchFamily="2" charset="-122"/>
              </a:rPr>
              <a:t>桶：</a:t>
            </a:r>
            <a:r>
              <a:rPr lang="en-US" altLang="zh-CN" dirty="0">
                <a:latin typeface="Huawei Sans" panose="020C0503030203020204" pitchFamily="34" charset="0"/>
                <a:ea typeface="方正兰亭黑简体" panose="02000000000000000000" pitchFamily="2" charset="-122"/>
              </a:rPr>
              <a:t>Tc=CBS</a:t>
            </a:r>
          </a:p>
        </p:txBody>
      </p:sp>
      <p:grpSp>
        <p:nvGrpSpPr>
          <p:cNvPr id="160" name="组合 159"/>
          <p:cNvGrpSpPr/>
          <p:nvPr/>
        </p:nvGrpSpPr>
        <p:grpSpPr bwMode="gray">
          <a:xfrm>
            <a:off x="5137014" y="1155194"/>
            <a:ext cx="5591993" cy="2665412"/>
            <a:chOff x="2855640" y="1376772"/>
            <a:chExt cx="5591993" cy="2665412"/>
          </a:xfrm>
        </p:grpSpPr>
        <p:sp>
          <p:nvSpPr>
            <p:cNvPr id="161" name="矩形 160"/>
            <p:cNvSpPr/>
            <p:nvPr/>
          </p:nvSpPr>
          <p:spPr bwMode="gray">
            <a:xfrm>
              <a:off x="2855640" y="1376772"/>
              <a:ext cx="5591993" cy="2665412"/>
            </a:xfrm>
            <a:prstGeom prst="rect">
              <a:avLst/>
            </a:prstGeom>
            <a:noFill/>
            <a:ln w="12700">
              <a:solidFill>
                <a:schemeClr val="tx1"/>
              </a:solidFill>
              <a:prstDash val="dash"/>
              <a:miter lim="800000"/>
              <a:headEnd type="none" w="sm" len="sm"/>
              <a:tailEnd type="none" w="sm" len="sm"/>
            </a:ln>
            <a:effectLst/>
          </p:spPr>
          <p:txBody>
            <a:bodyPr wrap="square" rtlCol="0" anchor="ctr">
              <a:spAutoFit/>
            </a:bodyPr>
            <a:lstStyle/>
            <a:p>
              <a:pPr algn="ctr"/>
              <a:endParaRPr lang="zh-CN" altLang="en-US"/>
            </a:p>
          </p:txBody>
        </p:sp>
        <p:sp>
          <p:nvSpPr>
            <p:cNvPr id="162" name="bucket_206442"/>
            <p:cNvSpPr>
              <a:spLocks noChangeAspect="1"/>
            </p:cNvSpPr>
            <p:nvPr/>
          </p:nvSpPr>
          <p:spPr bwMode="gray">
            <a:xfrm>
              <a:off x="3349503" y="2204865"/>
              <a:ext cx="1090143" cy="1738832"/>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163" name="文本框 162"/>
            <p:cNvSpPr txBox="1"/>
            <p:nvPr/>
          </p:nvSpPr>
          <p:spPr bwMode="gray">
            <a:xfrm>
              <a:off x="3638337" y="3320988"/>
              <a:ext cx="47547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P</a:t>
              </a:r>
              <a:r>
                <a:rPr lang="zh-CN" altLang="en-US" sz="1400" b="1" dirty="0">
                  <a:latin typeface="Huawei Sans" panose="020C0503030203020204" pitchFamily="34" charset="0"/>
                  <a:ea typeface="方正兰亭黑简体" panose="02000000000000000000" pitchFamily="2" charset="-122"/>
                </a:rPr>
                <a:t>桶</a:t>
              </a:r>
            </a:p>
          </p:txBody>
        </p:sp>
        <p:sp>
          <p:nvSpPr>
            <p:cNvPr id="164" name="流程图: 磁盘 163"/>
            <p:cNvSpPr/>
            <p:nvPr/>
          </p:nvSpPr>
          <p:spPr bwMode="gray">
            <a:xfrm>
              <a:off x="3745547" y="1916832"/>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65" name="流程图: 磁盘 164"/>
            <p:cNvSpPr/>
            <p:nvPr/>
          </p:nvSpPr>
          <p:spPr bwMode="gray">
            <a:xfrm>
              <a:off x="3745547" y="1736812"/>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cxnSp>
          <p:nvCxnSpPr>
            <p:cNvPr id="166" name="直接箭头连接符 165"/>
            <p:cNvCxnSpPr/>
            <p:nvPr/>
          </p:nvCxnSpPr>
          <p:spPr bwMode="gray">
            <a:xfrm>
              <a:off x="3853559" y="2096912"/>
              <a:ext cx="0" cy="540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67" name="流程图: 磁盘 166"/>
            <p:cNvSpPr/>
            <p:nvPr/>
          </p:nvSpPr>
          <p:spPr bwMode="gray">
            <a:xfrm>
              <a:off x="3745547" y="1556792"/>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68" name="流程图: 磁盘 167"/>
            <p:cNvSpPr/>
            <p:nvPr/>
          </p:nvSpPr>
          <p:spPr bwMode="gray">
            <a:xfrm>
              <a:off x="5149703" y="2852936"/>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69" name="文本框 168"/>
            <p:cNvSpPr txBox="1"/>
            <p:nvPr/>
          </p:nvSpPr>
          <p:spPr bwMode="gray">
            <a:xfrm>
              <a:off x="4470435" y="1952836"/>
              <a:ext cx="107500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溢出，丢弃</a:t>
              </a:r>
            </a:p>
          </p:txBody>
        </p:sp>
        <p:cxnSp>
          <p:nvCxnSpPr>
            <p:cNvPr id="170" name="直接连接符 169"/>
            <p:cNvCxnSpPr/>
            <p:nvPr/>
          </p:nvCxnSpPr>
          <p:spPr bwMode="gray">
            <a:xfrm flipV="1">
              <a:off x="4609643" y="2827573"/>
              <a:ext cx="0" cy="10818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1" name="直接连接符 170"/>
            <p:cNvCxnSpPr/>
            <p:nvPr/>
          </p:nvCxnSpPr>
          <p:spPr bwMode="gray">
            <a:xfrm flipV="1">
              <a:off x="4213599" y="3909381"/>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2" name="直接连接符 171"/>
            <p:cNvCxnSpPr/>
            <p:nvPr/>
          </p:nvCxnSpPr>
          <p:spPr bwMode="gray">
            <a:xfrm flipV="1">
              <a:off x="4213599" y="2827573"/>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73" name="文本框 172"/>
            <p:cNvSpPr txBox="1"/>
            <p:nvPr/>
          </p:nvSpPr>
          <p:spPr bwMode="gray">
            <a:xfrm>
              <a:off x="4625674" y="3331629"/>
              <a:ext cx="49631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solidFill>
                    <a:srgbClr val="C7000B"/>
                  </a:solidFill>
                  <a:latin typeface="+mn-lt"/>
                  <a:ea typeface="+mn-ea"/>
                </a:rPr>
                <a:t>PBS</a:t>
              </a:r>
              <a:endParaRPr lang="zh-CN" altLang="en-US" sz="1400" b="1" dirty="0">
                <a:solidFill>
                  <a:srgbClr val="C7000B"/>
                </a:solidFill>
                <a:latin typeface="+mn-lt"/>
                <a:ea typeface="+mn-ea"/>
              </a:endParaRPr>
            </a:p>
          </p:txBody>
        </p:sp>
        <p:sp>
          <p:nvSpPr>
            <p:cNvPr id="174" name="任意多边形 173"/>
            <p:cNvSpPr/>
            <p:nvPr/>
          </p:nvSpPr>
          <p:spPr bwMode="gray">
            <a:xfrm>
              <a:off x="3853559" y="2287513"/>
              <a:ext cx="1352282" cy="516121"/>
            </a:xfrm>
            <a:custGeom>
              <a:avLst/>
              <a:gdLst>
                <a:gd name="connsiteX0" fmla="*/ 0 w 1352282"/>
                <a:gd name="connsiteY0" fmla="*/ 413090 h 516121"/>
                <a:gd name="connsiteX1" fmla="*/ 656822 w 1352282"/>
                <a:gd name="connsiteY1" fmla="*/ 966 h 516121"/>
                <a:gd name="connsiteX2" fmla="*/ 1352282 w 1352282"/>
                <a:gd name="connsiteY2" fmla="*/ 516121 h 516121"/>
              </a:gdLst>
              <a:ahLst/>
              <a:cxnLst>
                <a:cxn ang="0">
                  <a:pos x="connsiteX0" y="connsiteY0"/>
                </a:cxn>
                <a:cxn ang="0">
                  <a:pos x="connsiteX1" y="connsiteY1"/>
                </a:cxn>
                <a:cxn ang="0">
                  <a:pos x="connsiteX2" y="connsiteY2"/>
                </a:cxn>
              </a:cxnLst>
              <a:rect l="l" t="t" r="r" b="b"/>
              <a:pathLst>
                <a:path w="1352282" h="516121">
                  <a:moveTo>
                    <a:pt x="0" y="413090"/>
                  </a:moveTo>
                  <a:cubicBezTo>
                    <a:pt x="215721" y="198442"/>
                    <a:pt x="431442" y="-16206"/>
                    <a:pt x="656822" y="966"/>
                  </a:cubicBezTo>
                  <a:cubicBezTo>
                    <a:pt x="882202" y="18138"/>
                    <a:pt x="1117242" y="267129"/>
                    <a:pt x="1352282" y="516121"/>
                  </a:cubicBez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75" name="文本框 174"/>
            <p:cNvSpPr txBox="1"/>
            <p:nvPr/>
          </p:nvSpPr>
          <p:spPr bwMode="gray">
            <a:xfrm>
              <a:off x="3246300" y="2035485"/>
              <a:ext cx="45784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solidFill>
                    <a:srgbClr val="C7000B"/>
                  </a:solidFill>
                  <a:latin typeface="+mn-lt"/>
                </a:rPr>
                <a:t>PIR</a:t>
              </a:r>
              <a:endParaRPr lang="zh-CN" altLang="en-US" dirty="0">
                <a:solidFill>
                  <a:srgbClr val="C7000B"/>
                </a:solidFill>
                <a:latin typeface="+mn-lt"/>
              </a:endParaRPr>
            </a:p>
          </p:txBody>
        </p:sp>
        <p:sp>
          <p:nvSpPr>
            <p:cNvPr id="176" name="bucket_206442"/>
            <p:cNvSpPr>
              <a:spLocks noChangeAspect="1"/>
            </p:cNvSpPr>
            <p:nvPr/>
          </p:nvSpPr>
          <p:spPr bwMode="gray">
            <a:xfrm>
              <a:off x="6000466" y="2600908"/>
              <a:ext cx="1090143" cy="1330459"/>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177" name="流程图: 磁盘 176"/>
            <p:cNvSpPr/>
            <p:nvPr/>
          </p:nvSpPr>
          <p:spPr bwMode="gray">
            <a:xfrm>
              <a:off x="6432514" y="2132856"/>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78" name="流程图: 磁盘 177"/>
            <p:cNvSpPr/>
            <p:nvPr/>
          </p:nvSpPr>
          <p:spPr bwMode="gray">
            <a:xfrm>
              <a:off x="6432514" y="1880828"/>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cxnSp>
          <p:nvCxnSpPr>
            <p:cNvPr id="179" name="直接连接符 178"/>
            <p:cNvCxnSpPr/>
            <p:nvPr/>
          </p:nvCxnSpPr>
          <p:spPr bwMode="gray">
            <a:xfrm flipV="1">
              <a:off x="7260606" y="3068960"/>
              <a:ext cx="992"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0" name="直接连接符 179"/>
            <p:cNvCxnSpPr/>
            <p:nvPr/>
          </p:nvCxnSpPr>
          <p:spPr bwMode="gray">
            <a:xfrm flipV="1">
              <a:off x="6864562" y="3897052"/>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1" name="直接连接符 180"/>
            <p:cNvCxnSpPr/>
            <p:nvPr/>
          </p:nvCxnSpPr>
          <p:spPr bwMode="gray">
            <a:xfrm flipV="1">
              <a:off x="6864562" y="3068960"/>
              <a:ext cx="5400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82" name="文本框 181"/>
            <p:cNvSpPr txBox="1"/>
            <p:nvPr/>
          </p:nvSpPr>
          <p:spPr bwMode="gray">
            <a:xfrm>
              <a:off x="7298786" y="3319300"/>
              <a:ext cx="50112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solidFill>
                    <a:srgbClr val="C7000B"/>
                  </a:solidFill>
                  <a:latin typeface="+mn-lt"/>
                  <a:ea typeface="+mn-ea"/>
                </a:rPr>
                <a:t>CBS</a:t>
              </a:r>
              <a:endParaRPr lang="zh-CN" altLang="en-US" sz="1400" b="1" dirty="0">
                <a:solidFill>
                  <a:srgbClr val="C7000B"/>
                </a:solidFill>
                <a:latin typeface="+mn-lt"/>
                <a:ea typeface="+mn-ea"/>
              </a:endParaRPr>
            </a:p>
          </p:txBody>
        </p:sp>
        <p:cxnSp>
          <p:nvCxnSpPr>
            <p:cNvPr id="183" name="直接箭头连接符 182"/>
            <p:cNvCxnSpPr/>
            <p:nvPr/>
          </p:nvCxnSpPr>
          <p:spPr bwMode="gray">
            <a:xfrm>
              <a:off x="6540526" y="2312936"/>
              <a:ext cx="0" cy="540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84" name="文本框 183"/>
            <p:cNvSpPr txBox="1"/>
            <p:nvPr/>
          </p:nvSpPr>
          <p:spPr bwMode="gray">
            <a:xfrm>
              <a:off x="6252494" y="1576725"/>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t>令牌</a:t>
              </a:r>
            </a:p>
          </p:txBody>
        </p:sp>
        <p:sp>
          <p:nvSpPr>
            <p:cNvPr id="185" name="文本框 184"/>
            <p:cNvSpPr txBox="1"/>
            <p:nvPr/>
          </p:nvSpPr>
          <p:spPr bwMode="gray">
            <a:xfrm>
              <a:off x="7228616" y="2312876"/>
              <a:ext cx="107500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溢出，丢弃</a:t>
              </a:r>
            </a:p>
          </p:txBody>
        </p:sp>
        <p:sp>
          <p:nvSpPr>
            <p:cNvPr id="186" name="文本框 185"/>
            <p:cNvSpPr txBox="1"/>
            <p:nvPr/>
          </p:nvSpPr>
          <p:spPr bwMode="gray">
            <a:xfrm>
              <a:off x="6282595" y="3308659"/>
              <a:ext cx="47708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C</a:t>
              </a:r>
              <a:r>
                <a:rPr lang="zh-CN" altLang="en-US" sz="1400" b="1" dirty="0">
                  <a:latin typeface="Huawei Sans" panose="020C0503030203020204" pitchFamily="34" charset="0"/>
                  <a:ea typeface="方正兰亭黑简体" panose="02000000000000000000" pitchFamily="2" charset="-122"/>
                </a:rPr>
                <a:t>桶</a:t>
              </a:r>
            </a:p>
          </p:txBody>
        </p:sp>
        <p:sp>
          <p:nvSpPr>
            <p:cNvPr id="187" name="文本框 186"/>
            <p:cNvSpPr txBox="1"/>
            <p:nvPr/>
          </p:nvSpPr>
          <p:spPr bwMode="gray">
            <a:xfrm>
              <a:off x="5919057" y="2419200"/>
              <a:ext cx="46265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solidFill>
                    <a:srgbClr val="C7000B"/>
                  </a:solidFill>
                  <a:latin typeface="+mn-lt"/>
                </a:rPr>
                <a:t>CIR</a:t>
              </a:r>
              <a:endParaRPr lang="zh-CN" altLang="en-US" dirty="0">
                <a:solidFill>
                  <a:srgbClr val="C7000B"/>
                </a:solidFill>
                <a:latin typeface="+mn-lt"/>
              </a:endParaRPr>
            </a:p>
          </p:txBody>
        </p:sp>
        <p:sp>
          <p:nvSpPr>
            <p:cNvPr id="188" name="任意多边形 187"/>
            <p:cNvSpPr/>
            <p:nvPr/>
          </p:nvSpPr>
          <p:spPr bwMode="gray">
            <a:xfrm>
              <a:off x="6542558" y="2564904"/>
              <a:ext cx="1352282" cy="516121"/>
            </a:xfrm>
            <a:custGeom>
              <a:avLst/>
              <a:gdLst>
                <a:gd name="connsiteX0" fmla="*/ 0 w 1352282"/>
                <a:gd name="connsiteY0" fmla="*/ 413090 h 516121"/>
                <a:gd name="connsiteX1" fmla="*/ 656822 w 1352282"/>
                <a:gd name="connsiteY1" fmla="*/ 966 h 516121"/>
                <a:gd name="connsiteX2" fmla="*/ 1352282 w 1352282"/>
                <a:gd name="connsiteY2" fmla="*/ 516121 h 516121"/>
              </a:gdLst>
              <a:ahLst/>
              <a:cxnLst>
                <a:cxn ang="0">
                  <a:pos x="connsiteX0" y="connsiteY0"/>
                </a:cxn>
                <a:cxn ang="0">
                  <a:pos x="connsiteX1" y="connsiteY1"/>
                </a:cxn>
                <a:cxn ang="0">
                  <a:pos x="connsiteX2" y="connsiteY2"/>
                </a:cxn>
              </a:cxnLst>
              <a:rect l="l" t="t" r="r" b="b"/>
              <a:pathLst>
                <a:path w="1352282" h="516121">
                  <a:moveTo>
                    <a:pt x="0" y="413090"/>
                  </a:moveTo>
                  <a:cubicBezTo>
                    <a:pt x="215721" y="198442"/>
                    <a:pt x="431442" y="-16206"/>
                    <a:pt x="656822" y="966"/>
                  </a:cubicBezTo>
                  <a:cubicBezTo>
                    <a:pt x="882202" y="18138"/>
                    <a:pt x="1117242" y="267129"/>
                    <a:pt x="1352282" y="516121"/>
                  </a:cubicBez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ea typeface="宋体" pitchFamily="2" charset="-122"/>
              </a:endParaRPr>
            </a:p>
          </p:txBody>
        </p:sp>
        <p:sp>
          <p:nvSpPr>
            <p:cNvPr id="189" name="流程图: 磁盘 188"/>
            <p:cNvSpPr/>
            <p:nvPr/>
          </p:nvSpPr>
          <p:spPr bwMode="gray">
            <a:xfrm>
              <a:off x="7866771" y="3140968"/>
              <a:ext cx="216024" cy="108012"/>
            </a:xfrm>
            <a:prstGeom prst="flowChartMagneticDisk">
              <a:avLst/>
            </a:prstGeom>
            <a:solidFill>
              <a:srgbClr val="FFD17D"/>
            </a:solidFill>
            <a:ln w="3175">
              <a:solidFill>
                <a:srgbClr val="FFF2CC"/>
              </a:solidFill>
              <a:miter lim="800000"/>
              <a:headEnd type="none" w="sm" len="sm"/>
              <a:tailEnd type="none" w="sm" len="sm"/>
            </a:ln>
            <a:effectLst/>
          </p:spPr>
          <p:txBody>
            <a:bodyPr wrap="square" rtlCol="0" anchor="ctr">
              <a:spAutoFit/>
            </a:bodyPr>
            <a:lstStyle/>
            <a:p>
              <a:pPr algn="ctr"/>
              <a:endParaRPr lang="zh-CN" altLang="en-US"/>
            </a:p>
          </p:txBody>
        </p:sp>
        <p:sp>
          <p:nvSpPr>
            <p:cNvPr id="190" name="文本框 189"/>
            <p:cNvSpPr txBox="1"/>
            <p:nvPr/>
          </p:nvSpPr>
          <p:spPr bwMode="gray">
            <a:xfrm>
              <a:off x="4002383" y="1576725"/>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t>令牌</a:t>
              </a:r>
            </a:p>
          </p:txBody>
        </p:sp>
      </p:grpSp>
      <p:grpSp>
        <p:nvGrpSpPr>
          <p:cNvPr id="94" name="组合 4"/>
          <p:cNvGrpSpPr/>
          <p:nvPr/>
        </p:nvGrpSpPr>
        <p:grpSpPr bwMode="gray">
          <a:xfrm>
            <a:off x="515831" y="1155194"/>
            <a:ext cx="4468396" cy="1887132"/>
            <a:chOff x="6104182" y="1253581"/>
            <a:chExt cx="4468396" cy="1887132"/>
          </a:xfrm>
        </p:grpSpPr>
        <p:sp>
          <p:nvSpPr>
            <p:cNvPr id="95" name="矩形 134"/>
            <p:cNvSpPr/>
            <p:nvPr/>
          </p:nvSpPr>
          <p:spPr bwMode="gray">
            <a:xfrm>
              <a:off x="6104182" y="1254313"/>
              <a:ext cx="4456129" cy="1886400"/>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6" name="文本框 137"/>
            <p:cNvSpPr txBox="1"/>
            <p:nvPr/>
          </p:nvSpPr>
          <p:spPr bwMode="gray">
            <a:xfrm>
              <a:off x="6191560" y="1253581"/>
              <a:ext cx="4381018" cy="93504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PIR</a:t>
              </a:r>
              <a:r>
                <a:rPr lang="zh-CN" altLang="en-US" sz="1600" dirty="0">
                  <a:solidFill>
                    <a:srgbClr val="000000"/>
                  </a:solidFill>
                  <a:latin typeface="Huawei Sans" panose="020C0503030203020204" pitchFamily="34" charset="0"/>
                  <a:ea typeface="方正兰亭黑简体" panose="02000000000000000000" pitchFamily="2" charset="-122"/>
                </a:rPr>
                <a:t>：</a:t>
              </a:r>
              <a:r>
                <a:rPr lang="zh-CN" altLang="en-US" sz="1600" b="1" dirty="0">
                  <a:solidFill>
                    <a:srgbClr val="000000"/>
                  </a:solidFill>
                  <a:latin typeface="Huawei Sans" panose="020C0503030203020204" pitchFamily="34" charset="0"/>
                  <a:ea typeface="方正兰亭黑简体" panose="02000000000000000000" pitchFamily="2" charset="-122"/>
                </a:rPr>
                <a:t>峰值</a:t>
              </a:r>
              <a:r>
                <a:rPr lang="zh-CN" altLang="en-US" sz="1600" dirty="0">
                  <a:solidFill>
                    <a:srgbClr val="000000"/>
                  </a:solidFill>
                  <a:latin typeface="Huawei Sans" panose="020C0503030203020204" pitchFamily="34" charset="0"/>
                  <a:ea typeface="方正兰亭黑简体" panose="02000000000000000000" pitchFamily="2" charset="-122"/>
                </a:rPr>
                <a:t>信息速率，单位为</a:t>
              </a:r>
              <a:r>
                <a:rPr lang="en-US" altLang="zh-CN" sz="1600" dirty="0">
                  <a:solidFill>
                    <a:srgbClr val="000000"/>
                  </a:solidFill>
                  <a:latin typeface="Huawei Sans" panose="020C0503030203020204" pitchFamily="34" charset="0"/>
                  <a:ea typeface="方正兰亭黑简体" panose="02000000000000000000" pitchFamily="2" charset="-122"/>
                </a:rPr>
                <a:t>kbps</a:t>
              </a:r>
            </a:p>
            <a:p>
              <a:pPr marL="742950" lvl="1"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表示端口允许的突发流量的最大速率，表示向令牌桶中</a:t>
              </a:r>
              <a:r>
                <a:rPr lang="zh-CN" altLang="en-US" sz="1400" b="1" dirty="0">
                  <a:solidFill>
                    <a:srgbClr val="000000"/>
                  </a:solidFill>
                  <a:latin typeface="Huawei Sans" panose="020C0503030203020204" pitchFamily="34" charset="0"/>
                  <a:ea typeface="方正兰亭黑简体" panose="02000000000000000000" pitchFamily="2" charset="-122"/>
                </a:rPr>
                <a:t>投放令牌的速率</a:t>
              </a:r>
              <a:r>
                <a:rPr lang="zh-CN" altLang="en-US" sz="1400" dirty="0">
                  <a:solidFill>
                    <a:srgbClr val="000000"/>
                  </a:solidFill>
                  <a:latin typeface="Huawei Sans" panose="020C0503030203020204" pitchFamily="34" charset="0"/>
                  <a:ea typeface="方正兰亭黑简体" panose="02000000000000000000" pitchFamily="2" charset="-122"/>
                </a:rPr>
                <a:t>，大于</a:t>
              </a:r>
              <a:r>
                <a:rPr lang="en-US" altLang="zh-CN" sz="1400" dirty="0">
                  <a:solidFill>
                    <a:srgbClr val="000000"/>
                  </a:solidFill>
                  <a:latin typeface="Huawei Sans" panose="020C0503030203020204" pitchFamily="34" charset="0"/>
                  <a:ea typeface="方正兰亭黑简体" panose="02000000000000000000" pitchFamily="2" charset="-122"/>
                </a:rPr>
                <a:t>CIR</a:t>
              </a:r>
              <a:endParaRPr lang="zh-CN" altLang="en-US" sz="1400" dirty="0">
                <a:solidFill>
                  <a:srgbClr val="000000"/>
                </a:solidFill>
                <a:latin typeface="Huawei Sans" panose="020C0503030203020204" pitchFamily="34" charset="0"/>
                <a:ea typeface="方正兰亭黑简体" panose="02000000000000000000" pitchFamily="2" charset="-122"/>
              </a:endParaRPr>
            </a:p>
          </p:txBody>
        </p:sp>
        <p:sp>
          <p:nvSpPr>
            <p:cNvPr id="97" name="文本框 138"/>
            <p:cNvSpPr txBox="1"/>
            <p:nvPr/>
          </p:nvSpPr>
          <p:spPr bwMode="gray">
            <a:xfrm>
              <a:off x="6191560" y="2190744"/>
              <a:ext cx="4381018" cy="93504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PBS</a:t>
              </a:r>
              <a:r>
                <a:rPr lang="zh-CN" altLang="en-US" sz="1600" dirty="0">
                  <a:solidFill>
                    <a:srgbClr val="000000"/>
                  </a:solidFill>
                  <a:latin typeface="Huawei Sans" panose="020C0503030203020204" pitchFamily="34" charset="0"/>
                  <a:ea typeface="方正兰亭黑简体" panose="02000000000000000000" pitchFamily="2" charset="-122"/>
                </a:rPr>
                <a:t>：</a:t>
              </a:r>
              <a:r>
                <a:rPr lang="zh-CN" altLang="en-US" sz="1600" b="1" dirty="0">
                  <a:solidFill>
                    <a:srgbClr val="000000"/>
                  </a:solidFill>
                  <a:latin typeface="Huawei Sans" panose="020C0503030203020204" pitchFamily="34" charset="0"/>
                  <a:ea typeface="方正兰亭黑简体" panose="02000000000000000000" pitchFamily="2" charset="-122"/>
                </a:rPr>
                <a:t>峰值</a:t>
              </a:r>
              <a:r>
                <a:rPr lang="zh-CN" altLang="en-US" sz="1600" dirty="0">
                  <a:solidFill>
                    <a:srgbClr val="000000"/>
                  </a:solidFill>
                  <a:latin typeface="Huawei Sans" panose="020C0503030203020204" pitchFamily="34" charset="0"/>
                  <a:ea typeface="方正兰亭黑简体" panose="02000000000000000000" pitchFamily="2" charset="-122"/>
                </a:rPr>
                <a:t>突发尺寸，单位为</a:t>
              </a:r>
              <a:r>
                <a:rPr lang="en-US" altLang="zh-CN" sz="1600" dirty="0">
                  <a:solidFill>
                    <a:srgbClr val="000000"/>
                  </a:solidFill>
                  <a:latin typeface="Huawei Sans" panose="020C0503030203020204" pitchFamily="34" charset="0"/>
                  <a:ea typeface="方正兰亭黑简体" panose="02000000000000000000" pitchFamily="2" charset="-122"/>
                </a:rPr>
                <a:t>byte</a:t>
              </a:r>
            </a:p>
            <a:p>
              <a:pPr marL="742950" lvl="1"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用来定义每次突发所允许的最大的流量尺寸，即为</a:t>
              </a:r>
              <a:r>
                <a:rPr lang="zh-CN" altLang="en-US" sz="1400" b="1" dirty="0">
                  <a:solidFill>
                    <a:srgbClr val="000000"/>
                  </a:solidFill>
                  <a:latin typeface="Huawei Sans" panose="020C0503030203020204" pitchFamily="34" charset="0"/>
                  <a:ea typeface="方正兰亭黑简体" panose="02000000000000000000" pitchFamily="2" charset="-122"/>
                </a:rPr>
                <a:t>令牌桶的容量</a:t>
              </a:r>
              <a:r>
                <a:rPr lang="zh-CN" altLang="en-US" sz="1400" dirty="0">
                  <a:solidFill>
                    <a:srgbClr val="000000"/>
                  </a:solidFill>
                  <a:latin typeface="Huawei Sans" panose="020C0503030203020204" pitchFamily="34" charset="0"/>
                  <a:ea typeface="方正兰亭黑简体" panose="02000000000000000000" pitchFamily="2" charset="-122"/>
                </a:rPr>
                <a:t>，大于</a:t>
              </a:r>
              <a:r>
                <a:rPr lang="en-US" altLang="zh-CN" sz="1400" dirty="0">
                  <a:solidFill>
                    <a:srgbClr val="000000"/>
                  </a:solidFill>
                  <a:latin typeface="Huawei Sans" panose="020C0503030203020204" pitchFamily="34" charset="0"/>
                  <a:ea typeface="方正兰亭黑简体" panose="02000000000000000000" pitchFamily="2" charset="-122"/>
                </a:rPr>
                <a:t>CBS</a:t>
              </a:r>
            </a:p>
          </p:txBody>
        </p:sp>
      </p:grpSp>
      <p:grpSp>
        <p:nvGrpSpPr>
          <p:cNvPr id="99" name="组合 144"/>
          <p:cNvGrpSpPr/>
          <p:nvPr/>
        </p:nvGrpSpPr>
        <p:grpSpPr bwMode="gray">
          <a:xfrm>
            <a:off x="513137" y="3227486"/>
            <a:ext cx="4468396" cy="1886655"/>
            <a:chOff x="997572" y="1254313"/>
            <a:chExt cx="4468396" cy="1886655"/>
          </a:xfrm>
        </p:grpSpPr>
        <p:sp>
          <p:nvSpPr>
            <p:cNvPr id="100" name="矩形 145"/>
            <p:cNvSpPr/>
            <p:nvPr/>
          </p:nvSpPr>
          <p:spPr bwMode="gray">
            <a:xfrm>
              <a:off x="997572" y="1254313"/>
              <a:ext cx="4456129" cy="1886655"/>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1" name="文本框 146"/>
            <p:cNvSpPr txBox="1"/>
            <p:nvPr/>
          </p:nvSpPr>
          <p:spPr bwMode="gray">
            <a:xfrm>
              <a:off x="1084950" y="1273549"/>
              <a:ext cx="4281091" cy="6657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CIR</a:t>
              </a:r>
              <a:r>
                <a:rPr lang="zh-CN" altLang="en-US" sz="1600" dirty="0">
                  <a:solidFill>
                    <a:srgbClr val="000000"/>
                  </a:solidFill>
                  <a:latin typeface="Huawei Sans" panose="020C0503030203020204" pitchFamily="34" charset="0"/>
                  <a:ea typeface="方正兰亭黑简体" panose="02000000000000000000" pitchFamily="2" charset="-122"/>
                </a:rPr>
                <a:t>：</a:t>
              </a:r>
              <a:r>
                <a:rPr lang="zh-CN" altLang="en-US" sz="1600" b="1" dirty="0">
                  <a:solidFill>
                    <a:srgbClr val="000000"/>
                  </a:solidFill>
                  <a:latin typeface="Huawei Sans" panose="020C0503030203020204" pitchFamily="34" charset="0"/>
                  <a:ea typeface="方正兰亭黑简体" panose="02000000000000000000" pitchFamily="2" charset="-122"/>
                </a:rPr>
                <a:t>承诺</a:t>
              </a:r>
              <a:r>
                <a:rPr lang="zh-CN" altLang="en-US" sz="1600" dirty="0">
                  <a:solidFill>
                    <a:srgbClr val="000000"/>
                  </a:solidFill>
                  <a:latin typeface="Huawei Sans" panose="020C0503030203020204" pitchFamily="34" charset="0"/>
                  <a:ea typeface="方正兰亭黑简体" panose="02000000000000000000" pitchFamily="2" charset="-122"/>
                </a:rPr>
                <a:t>信息速率，单位是</a:t>
              </a:r>
              <a:r>
                <a:rPr lang="en-US" altLang="zh-CN" sz="1600" dirty="0">
                  <a:solidFill>
                    <a:srgbClr val="000000"/>
                  </a:solidFill>
                  <a:latin typeface="Huawei Sans" panose="020C0503030203020204" pitchFamily="34" charset="0"/>
                  <a:ea typeface="方正兰亭黑简体" panose="02000000000000000000" pitchFamily="2" charset="-122"/>
                </a:rPr>
                <a:t>kbps</a:t>
              </a:r>
            </a:p>
            <a:p>
              <a:pPr marL="742950" lvl="1"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表示向令牌桶中</a:t>
              </a:r>
              <a:r>
                <a:rPr lang="zh-CN" altLang="en-US" sz="1400" b="1" dirty="0">
                  <a:solidFill>
                    <a:srgbClr val="000000"/>
                  </a:solidFill>
                  <a:latin typeface="Huawei Sans" panose="020C0503030203020204" pitchFamily="34" charset="0"/>
                  <a:ea typeface="方正兰亭黑简体" panose="02000000000000000000" pitchFamily="2" charset="-122"/>
                </a:rPr>
                <a:t>投放令牌的速率</a:t>
              </a:r>
              <a:endParaRPr lang="en-US" altLang="zh-CN" sz="1400" b="1" dirty="0">
                <a:solidFill>
                  <a:srgbClr val="000000"/>
                </a:solidFill>
                <a:latin typeface="Huawei Sans" panose="020C0503030203020204" pitchFamily="34" charset="0"/>
                <a:ea typeface="方正兰亭黑简体" panose="02000000000000000000" pitchFamily="2" charset="-122"/>
              </a:endParaRPr>
            </a:p>
          </p:txBody>
        </p:sp>
        <p:sp>
          <p:nvSpPr>
            <p:cNvPr id="102" name="文本框 147"/>
            <p:cNvSpPr txBox="1"/>
            <p:nvPr/>
          </p:nvSpPr>
          <p:spPr bwMode="gray">
            <a:xfrm>
              <a:off x="1084950" y="2025903"/>
              <a:ext cx="4381018" cy="93504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CBS</a:t>
              </a:r>
              <a:r>
                <a:rPr lang="zh-CN" altLang="en-US" sz="1600" dirty="0">
                  <a:solidFill>
                    <a:srgbClr val="000000"/>
                  </a:solidFill>
                  <a:latin typeface="Huawei Sans" panose="020C0503030203020204" pitchFamily="34" charset="0"/>
                  <a:ea typeface="方正兰亭黑简体" panose="02000000000000000000" pitchFamily="2" charset="-122"/>
                </a:rPr>
                <a:t>：</a:t>
              </a:r>
              <a:r>
                <a:rPr lang="zh-CN" altLang="en-US" sz="1600" b="1" dirty="0">
                  <a:solidFill>
                    <a:srgbClr val="000000"/>
                  </a:solidFill>
                  <a:latin typeface="Huawei Sans" panose="020C0503030203020204" pitchFamily="34" charset="0"/>
                  <a:ea typeface="方正兰亭黑简体" panose="02000000000000000000" pitchFamily="2" charset="-122"/>
                </a:rPr>
                <a:t>承诺</a:t>
              </a:r>
              <a:r>
                <a:rPr lang="zh-CN" altLang="en-US" sz="1600" dirty="0">
                  <a:solidFill>
                    <a:srgbClr val="000000"/>
                  </a:solidFill>
                  <a:latin typeface="Huawei Sans" panose="020C0503030203020204" pitchFamily="34" charset="0"/>
                  <a:ea typeface="方正兰亭黑简体" panose="02000000000000000000" pitchFamily="2" charset="-122"/>
                </a:rPr>
                <a:t>突发尺寸，单位为</a:t>
              </a:r>
              <a:r>
                <a:rPr lang="en-US" altLang="zh-CN" sz="1600" dirty="0">
                  <a:solidFill>
                    <a:srgbClr val="000000"/>
                  </a:solidFill>
                  <a:latin typeface="Huawei Sans" panose="020C0503030203020204" pitchFamily="34" charset="0"/>
                  <a:ea typeface="方正兰亭黑简体" panose="02000000000000000000" pitchFamily="2" charset="-122"/>
                </a:rPr>
                <a:t>byte</a:t>
              </a:r>
            </a:p>
            <a:p>
              <a:pPr marL="742950" lvl="1" indent="-285750">
                <a:lnSpc>
                  <a:spcPct val="125000"/>
                </a:lnSpc>
                <a:buFont typeface="Arial" panose="020B0604020202020204" pitchFamily="34" charset="0"/>
                <a:buChar char="•"/>
              </a:pPr>
              <a:r>
                <a:rPr lang="zh-CN" altLang="en-US" sz="1400" dirty="0">
                  <a:solidFill>
                    <a:srgbClr val="000000"/>
                  </a:solidFill>
                  <a:latin typeface="Huawei Sans" panose="020C0503030203020204" pitchFamily="34" charset="0"/>
                  <a:ea typeface="方正兰亭黑简体" panose="02000000000000000000" pitchFamily="2" charset="-122"/>
                </a:rPr>
                <a:t>用来定义在部分流量超过</a:t>
              </a:r>
              <a:r>
                <a:rPr lang="en-US" altLang="zh-CN" sz="1400" dirty="0">
                  <a:solidFill>
                    <a:srgbClr val="000000"/>
                  </a:solidFill>
                  <a:latin typeface="Huawei Sans" panose="020C0503030203020204" pitchFamily="34" charset="0"/>
                  <a:ea typeface="方正兰亭黑简体" panose="02000000000000000000" pitchFamily="2" charset="-122"/>
                </a:rPr>
                <a:t>CIR</a:t>
              </a:r>
              <a:r>
                <a:rPr lang="zh-CN" altLang="en-US" sz="1400" dirty="0">
                  <a:solidFill>
                    <a:srgbClr val="000000"/>
                  </a:solidFill>
                  <a:latin typeface="Huawei Sans" panose="020C0503030203020204" pitchFamily="34" charset="0"/>
                  <a:ea typeface="方正兰亭黑简体" panose="02000000000000000000" pitchFamily="2" charset="-122"/>
                </a:rPr>
                <a:t>之前的最大突发流量，即为</a:t>
              </a:r>
              <a:r>
                <a:rPr lang="zh-CN" altLang="en-US" sz="1400" b="1" dirty="0">
                  <a:solidFill>
                    <a:srgbClr val="000000"/>
                  </a:solidFill>
                  <a:latin typeface="Huawei Sans" panose="020C0503030203020204" pitchFamily="34" charset="0"/>
                  <a:ea typeface="方正兰亭黑简体" panose="02000000000000000000" pitchFamily="2" charset="-122"/>
                </a:rPr>
                <a:t>令牌桶的容量</a:t>
              </a:r>
              <a:endParaRPr lang="en-US" altLang="zh-CN" sz="1400" b="1" dirty="0">
                <a:solidFill>
                  <a:srgbClr val="000000"/>
                </a:solidFill>
                <a:latin typeface="Huawei Sans" panose="020C0503030203020204" pitchFamily="34" charset="0"/>
                <a:ea typeface="方正兰亭黑简体" panose="02000000000000000000" pitchFamily="2" charset="-122"/>
              </a:endParaRPr>
            </a:p>
          </p:txBody>
        </p:sp>
      </p:grpSp>
      <p:grpSp>
        <p:nvGrpSpPr>
          <p:cNvPr id="107" name="组合 60"/>
          <p:cNvGrpSpPr/>
          <p:nvPr/>
        </p:nvGrpSpPr>
        <p:grpSpPr bwMode="gray">
          <a:xfrm>
            <a:off x="509093" y="5287083"/>
            <a:ext cx="4478109" cy="726467"/>
            <a:chOff x="6860451" y="2420888"/>
            <a:chExt cx="4478109" cy="726467"/>
          </a:xfrm>
        </p:grpSpPr>
        <p:sp>
          <p:nvSpPr>
            <p:cNvPr id="109" name="矩形 61"/>
            <p:cNvSpPr/>
            <p:nvPr/>
          </p:nvSpPr>
          <p:spPr bwMode="gray">
            <a:xfrm>
              <a:off x="6860451" y="2420888"/>
              <a:ext cx="4456129" cy="726467"/>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0" name="文本框 62"/>
            <p:cNvSpPr txBox="1"/>
            <p:nvPr/>
          </p:nvSpPr>
          <p:spPr bwMode="gray">
            <a:xfrm>
              <a:off x="6947829" y="2630016"/>
              <a:ext cx="4281091" cy="35796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endParaRPr lang="en-US" altLang="zh-CN" sz="1400" b="1" dirty="0">
                <a:solidFill>
                  <a:srgbClr val="000000"/>
                </a:solidFill>
                <a:latin typeface="Huawei Sans" panose="020C0503030203020204" pitchFamily="34" charset="0"/>
                <a:ea typeface="方正兰亭黑简体" panose="02000000000000000000" pitchFamily="2" charset="-122"/>
              </a:endParaRPr>
            </a:p>
          </p:txBody>
        </p:sp>
        <p:sp>
          <p:nvSpPr>
            <p:cNvPr id="111" name="文本框 63"/>
            <p:cNvSpPr txBox="1"/>
            <p:nvPr/>
          </p:nvSpPr>
          <p:spPr bwMode="gray">
            <a:xfrm>
              <a:off x="6957542" y="2565933"/>
              <a:ext cx="4381018"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双桶双速三色标记法，允许长期的突发流量</a:t>
              </a:r>
            </a:p>
          </p:txBody>
        </p:sp>
      </p:grpSp>
      <p:grpSp>
        <p:nvGrpSpPr>
          <p:cNvPr id="4" name="组合 3"/>
          <p:cNvGrpSpPr/>
          <p:nvPr/>
        </p:nvGrpSpPr>
        <p:grpSpPr bwMode="gray">
          <a:xfrm>
            <a:off x="5195764" y="3804475"/>
            <a:ext cx="6575332" cy="2334989"/>
            <a:chOff x="5195764" y="3804475"/>
            <a:chExt cx="6575332" cy="2334989"/>
          </a:xfrm>
        </p:grpSpPr>
        <p:sp>
          <p:nvSpPr>
            <p:cNvPr id="104" name="文本框 72"/>
            <p:cNvSpPr txBox="1"/>
            <p:nvPr/>
          </p:nvSpPr>
          <p:spPr bwMode="gray">
            <a:xfrm>
              <a:off x="9259805" y="3804475"/>
              <a:ext cx="251129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数据包标记为红色，默认丢弃</a:t>
              </a:r>
            </a:p>
          </p:txBody>
        </p:sp>
        <p:sp>
          <p:nvSpPr>
            <p:cNvPr id="105" name="文本框 72"/>
            <p:cNvSpPr txBox="1"/>
            <p:nvPr/>
          </p:nvSpPr>
          <p:spPr bwMode="gray">
            <a:xfrm>
              <a:off x="9246743" y="4727058"/>
              <a:ext cx="251129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数据包标记为黄色，默认转发</a:t>
              </a:r>
            </a:p>
          </p:txBody>
        </p:sp>
        <p:sp>
          <p:nvSpPr>
            <p:cNvPr id="106" name="文本框 72"/>
            <p:cNvSpPr txBox="1"/>
            <p:nvPr/>
          </p:nvSpPr>
          <p:spPr bwMode="gray">
            <a:xfrm>
              <a:off x="8899729" y="5835361"/>
              <a:ext cx="255296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数据包标记为绿色，默认转发</a:t>
              </a:r>
            </a:p>
          </p:txBody>
        </p:sp>
        <p:sp>
          <p:nvSpPr>
            <p:cNvPr id="90" name="Can 9">
              <a:extLst>
                <a:ext uri="{FF2B5EF4-FFF2-40B4-BE49-F238E27FC236}">
                  <a16:creationId xmlns:a16="http://schemas.microsoft.com/office/drawing/2014/main" id="{DB9E60BE-E6ED-49BE-92E5-DC7336E778F3}"/>
                </a:ext>
              </a:extLst>
            </p:cNvPr>
            <p:cNvSpPr/>
            <p:nvPr/>
          </p:nvSpPr>
          <p:spPr bwMode="gray">
            <a:xfrm rot="5400000">
              <a:off x="5778072" y="3653149"/>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Can 9">
              <a:extLst>
                <a:ext uri="{FF2B5EF4-FFF2-40B4-BE49-F238E27FC236}">
                  <a16:creationId xmlns:a16="http://schemas.microsoft.com/office/drawing/2014/main" id="{5D94FAD1-4E46-45BB-863C-B58D5C8A6E93}"/>
                </a:ext>
              </a:extLst>
            </p:cNvPr>
            <p:cNvSpPr/>
            <p:nvPr/>
          </p:nvSpPr>
          <p:spPr bwMode="gray">
            <a:xfrm rot="5400000">
              <a:off x="9848232" y="3663888"/>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Can 9">
              <a:extLst>
                <a:ext uri="{FF2B5EF4-FFF2-40B4-BE49-F238E27FC236}">
                  <a16:creationId xmlns:a16="http://schemas.microsoft.com/office/drawing/2014/main" id="{C7511714-6233-4AD8-A7A1-17B11CBB2931}"/>
                </a:ext>
              </a:extLst>
            </p:cNvPr>
            <p:cNvSpPr/>
            <p:nvPr/>
          </p:nvSpPr>
          <p:spPr bwMode="gray">
            <a:xfrm rot="5400000">
              <a:off x="9848232" y="4545755"/>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Can 9">
              <a:extLst>
                <a:ext uri="{FF2B5EF4-FFF2-40B4-BE49-F238E27FC236}">
                  <a16:creationId xmlns:a16="http://schemas.microsoft.com/office/drawing/2014/main" id="{607FD894-7F0B-462D-A290-20AA8DD3D830}"/>
                </a:ext>
              </a:extLst>
            </p:cNvPr>
            <p:cNvSpPr/>
            <p:nvPr/>
          </p:nvSpPr>
          <p:spPr bwMode="gray">
            <a:xfrm rot="5400000">
              <a:off x="8048032" y="5337843"/>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9" name="组合 78"/>
            <p:cNvGrpSpPr/>
            <p:nvPr/>
          </p:nvGrpSpPr>
          <p:grpSpPr bwMode="gray">
            <a:xfrm>
              <a:off x="6743936" y="3994014"/>
              <a:ext cx="1548172" cy="540060"/>
              <a:chOff x="2639616" y="4689140"/>
              <a:chExt cx="1548172" cy="540060"/>
            </a:xfrm>
          </p:grpSpPr>
          <p:sp>
            <p:nvSpPr>
              <p:cNvPr id="133" name="流程图: 决策 132"/>
              <p:cNvSpPr/>
              <p:nvPr/>
            </p:nvSpPr>
            <p:spPr bwMode="gray">
              <a:xfrm>
                <a:off x="2639616" y="4689140"/>
                <a:ext cx="1548172" cy="540060"/>
              </a:xfrm>
              <a:prstGeom prst="flowChartDecision">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p>
            </p:txBody>
          </p:sp>
          <p:sp>
            <p:nvSpPr>
              <p:cNvPr id="134" name="文本框 133"/>
              <p:cNvSpPr txBox="1"/>
              <p:nvPr/>
            </p:nvSpPr>
            <p:spPr bwMode="gray">
              <a:xfrm>
                <a:off x="3100646" y="4797152"/>
                <a:ext cx="69348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a:latin typeface="Huawei Sans" panose="020C0503030203020204" pitchFamily="34" charset="0"/>
                    <a:ea typeface="方正兰亭黑简体" panose="02000000000000000000" pitchFamily="2" charset="-122"/>
                  </a:rPr>
                  <a:t>B&gt;</a:t>
                </a:r>
                <a:r>
                  <a:rPr lang="en-US" altLang="zh-CN" dirty="0" err="1">
                    <a:latin typeface="Huawei Sans" panose="020C0503030203020204" pitchFamily="34" charset="0"/>
                    <a:ea typeface="方正兰亭黑简体" panose="02000000000000000000" pitchFamily="2" charset="-122"/>
                  </a:rPr>
                  <a:t>Tp</a:t>
                </a:r>
                <a:r>
                  <a:rPr lang="en-US" altLang="zh-CN" dirty="0">
                    <a:latin typeface="Huawei Sans" panose="020C0503030203020204" pitchFamily="34" charset="0"/>
                    <a:ea typeface="方正兰亭黑简体" panose="02000000000000000000" pitchFamily="2" charset="-122"/>
                  </a:rPr>
                  <a:t>?</a:t>
                </a:r>
                <a:endParaRPr lang="zh-CN" altLang="en-US" dirty="0">
                  <a:latin typeface="Huawei Sans" panose="020C0503030203020204" pitchFamily="34" charset="0"/>
                  <a:ea typeface="方正兰亭黑简体" panose="02000000000000000000" pitchFamily="2" charset="-122"/>
                </a:endParaRPr>
              </a:p>
            </p:txBody>
          </p:sp>
        </p:grpSp>
        <p:sp>
          <p:nvSpPr>
            <p:cNvPr id="81" name="矩形 80"/>
            <p:cNvSpPr/>
            <p:nvPr/>
          </p:nvSpPr>
          <p:spPr bwMode="gray">
            <a:xfrm>
              <a:off x="6167872" y="4194668"/>
              <a:ext cx="216024" cy="144016"/>
            </a:xfrm>
            <a:prstGeom prst="rect">
              <a:avLst/>
            </a:prstGeom>
            <a:solidFill>
              <a:schemeClr val="bg1">
                <a:lumMod val="85000"/>
              </a:schemeClr>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2" name="矩形 81"/>
            <p:cNvSpPr/>
            <p:nvPr/>
          </p:nvSpPr>
          <p:spPr bwMode="gray">
            <a:xfrm>
              <a:off x="5807832" y="4194668"/>
              <a:ext cx="216024" cy="144016"/>
            </a:xfrm>
            <a:prstGeom prst="rect">
              <a:avLst/>
            </a:prstGeom>
            <a:solidFill>
              <a:schemeClr val="bg1">
                <a:lumMod val="85000"/>
              </a:schemeClr>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3" name="矩形 82"/>
            <p:cNvSpPr/>
            <p:nvPr/>
          </p:nvSpPr>
          <p:spPr bwMode="gray">
            <a:xfrm>
              <a:off x="5447792" y="4194668"/>
              <a:ext cx="216024" cy="144016"/>
            </a:xfrm>
            <a:prstGeom prst="rect">
              <a:avLst/>
            </a:prstGeom>
            <a:solidFill>
              <a:schemeClr val="bg1">
                <a:lumMod val="85000"/>
              </a:schemeClr>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6" name="文本框 85"/>
            <p:cNvSpPr txBox="1"/>
            <p:nvPr/>
          </p:nvSpPr>
          <p:spPr bwMode="gray">
            <a:xfrm>
              <a:off x="5195764" y="4462066"/>
              <a:ext cx="154628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t>到达的数据大小</a:t>
              </a:r>
              <a:r>
                <a:rPr lang="en-US" altLang="zh-CN" dirty="0"/>
                <a:t>B</a:t>
              </a:r>
              <a:endParaRPr lang="zh-CN" altLang="en-US" dirty="0"/>
            </a:p>
          </p:txBody>
        </p:sp>
        <p:cxnSp>
          <p:nvCxnSpPr>
            <p:cNvPr id="87" name="直接箭头连接符 86"/>
            <p:cNvCxnSpPr/>
            <p:nvPr/>
          </p:nvCxnSpPr>
          <p:spPr bwMode="gray">
            <a:xfrm>
              <a:off x="6419900" y="4282046"/>
              <a:ext cx="288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8364116" y="4282046"/>
              <a:ext cx="72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89" name="直接箭头连接符 88"/>
            <p:cNvCxnSpPr/>
            <p:nvPr/>
          </p:nvCxnSpPr>
          <p:spPr bwMode="gray">
            <a:xfrm>
              <a:off x="7536024" y="4606142"/>
              <a:ext cx="0" cy="288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92" name="文本框 91"/>
            <p:cNvSpPr txBox="1"/>
            <p:nvPr/>
          </p:nvSpPr>
          <p:spPr bwMode="gray">
            <a:xfrm>
              <a:off x="7753176" y="3819490"/>
              <a:ext cx="146356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Yes, Tc</a:t>
              </a:r>
              <a:r>
                <a:rPr lang="zh-CN" altLang="en-US" b="0" dirty="0">
                  <a:latin typeface="Huawei Sans" panose="020C0503030203020204" pitchFamily="34" charset="0"/>
                  <a:ea typeface="方正兰亭黑简体" panose="02000000000000000000" pitchFamily="2" charset="-122"/>
                </a:rPr>
                <a:t>和</a:t>
              </a:r>
              <a:r>
                <a:rPr lang="en-US" altLang="zh-CN" b="0" dirty="0" err="1">
                  <a:latin typeface="Huawei Sans" panose="020C0503030203020204" pitchFamily="34" charset="0"/>
                  <a:ea typeface="方正兰亭黑简体" panose="02000000000000000000" pitchFamily="2" charset="-122"/>
                </a:rPr>
                <a:t>Tp</a:t>
              </a:r>
              <a:r>
                <a:rPr lang="zh-CN" altLang="en-US" b="0" dirty="0">
                  <a:latin typeface="Huawei Sans" panose="020C0503030203020204" pitchFamily="34" charset="0"/>
                  <a:ea typeface="方正兰亭黑简体" panose="02000000000000000000" pitchFamily="2" charset="-122"/>
                </a:rPr>
                <a:t>不变</a:t>
              </a:r>
            </a:p>
          </p:txBody>
        </p:sp>
        <p:sp>
          <p:nvSpPr>
            <p:cNvPr id="93" name="文本框 92"/>
            <p:cNvSpPr txBox="1"/>
            <p:nvPr/>
          </p:nvSpPr>
          <p:spPr bwMode="gray">
            <a:xfrm>
              <a:off x="7536024" y="4590011"/>
              <a:ext cx="43700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t>No</a:t>
              </a:r>
              <a:endParaRPr lang="zh-CN" altLang="en-US" b="0" dirty="0"/>
            </a:p>
          </p:txBody>
        </p:sp>
        <p:sp>
          <p:nvSpPr>
            <p:cNvPr id="103" name="矩形 102"/>
            <p:cNvSpPr/>
            <p:nvPr/>
          </p:nvSpPr>
          <p:spPr bwMode="gray">
            <a:xfrm>
              <a:off x="10188947" y="4194668"/>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08" name="矩形 107"/>
            <p:cNvSpPr/>
            <p:nvPr/>
          </p:nvSpPr>
          <p:spPr bwMode="gray">
            <a:xfrm>
              <a:off x="9828907" y="4194668"/>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16" name="矩形 115"/>
            <p:cNvSpPr/>
            <p:nvPr/>
          </p:nvSpPr>
          <p:spPr bwMode="gray">
            <a:xfrm>
              <a:off x="9468867" y="4194668"/>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grpSp>
          <p:nvGrpSpPr>
            <p:cNvPr id="117" name="组合 116"/>
            <p:cNvGrpSpPr/>
            <p:nvPr/>
          </p:nvGrpSpPr>
          <p:grpSpPr bwMode="gray">
            <a:xfrm>
              <a:off x="6743936" y="4894114"/>
              <a:ext cx="1548172" cy="540060"/>
              <a:chOff x="2639616" y="4689140"/>
              <a:chExt cx="1548172" cy="540060"/>
            </a:xfrm>
          </p:grpSpPr>
          <p:sp>
            <p:nvSpPr>
              <p:cNvPr id="131" name="流程图: 决策 130"/>
              <p:cNvSpPr/>
              <p:nvPr/>
            </p:nvSpPr>
            <p:spPr bwMode="gray">
              <a:xfrm>
                <a:off x="2639616" y="4689140"/>
                <a:ext cx="1548172" cy="540060"/>
              </a:xfrm>
              <a:prstGeom prst="flowChartDecision">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dirty="0"/>
              </a:p>
            </p:txBody>
          </p:sp>
          <p:sp>
            <p:nvSpPr>
              <p:cNvPr id="132" name="文本框 131"/>
              <p:cNvSpPr txBox="1"/>
              <p:nvPr/>
            </p:nvSpPr>
            <p:spPr bwMode="gray">
              <a:xfrm>
                <a:off x="2952368" y="4797152"/>
                <a:ext cx="99004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dirty="0" err="1">
                    <a:latin typeface="Huawei Sans" panose="020C0503030203020204" pitchFamily="34" charset="0"/>
                    <a:ea typeface="方正兰亭黑简体" panose="02000000000000000000" pitchFamily="2" charset="-122"/>
                  </a:rPr>
                  <a:t>Tp</a:t>
                </a:r>
                <a:r>
                  <a:rPr lang="en-US" altLang="zh-CN" dirty="0">
                    <a:latin typeface="Huawei Sans" panose="020C0503030203020204" pitchFamily="34" charset="0"/>
                    <a:ea typeface="方正兰亭黑简体" panose="02000000000000000000" pitchFamily="2" charset="-122"/>
                  </a:rPr>
                  <a:t>&gt;B&gt;Tc?</a:t>
                </a:r>
                <a:endParaRPr lang="zh-CN" altLang="en-US" dirty="0">
                  <a:latin typeface="Huawei Sans" panose="020C0503030203020204" pitchFamily="34" charset="0"/>
                  <a:ea typeface="方正兰亭黑简体" panose="02000000000000000000" pitchFamily="2" charset="-122"/>
                </a:endParaRPr>
              </a:p>
            </p:txBody>
          </p:sp>
        </p:grpSp>
        <p:cxnSp>
          <p:nvCxnSpPr>
            <p:cNvPr id="118" name="直接箭头连接符 117"/>
            <p:cNvCxnSpPr/>
            <p:nvPr/>
          </p:nvCxnSpPr>
          <p:spPr bwMode="gray">
            <a:xfrm>
              <a:off x="8364116" y="5182146"/>
              <a:ext cx="72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20" name="矩形 119"/>
            <p:cNvSpPr/>
            <p:nvPr/>
          </p:nvSpPr>
          <p:spPr bwMode="gray">
            <a:xfrm>
              <a:off x="10188947" y="5094768"/>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21" name="矩形 120"/>
            <p:cNvSpPr/>
            <p:nvPr/>
          </p:nvSpPr>
          <p:spPr bwMode="gray">
            <a:xfrm>
              <a:off x="9828907" y="5094768"/>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22" name="矩形 121"/>
            <p:cNvSpPr/>
            <p:nvPr/>
          </p:nvSpPr>
          <p:spPr bwMode="gray">
            <a:xfrm>
              <a:off x="9468867" y="5094768"/>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cxnSp>
          <p:nvCxnSpPr>
            <p:cNvPr id="123" name="直接箭头连接符 122"/>
            <p:cNvCxnSpPr/>
            <p:nvPr/>
          </p:nvCxnSpPr>
          <p:spPr bwMode="gray">
            <a:xfrm>
              <a:off x="7536024" y="5486309"/>
              <a:ext cx="0" cy="28800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24" name="文本框 123"/>
            <p:cNvSpPr txBox="1"/>
            <p:nvPr/>
          </p:nvSpPr>
          <p:spPr bwMode="gray">
            <a:xfrm>
              <a:off x="7536024" y="5470178"/>
              <a:ext cx="120009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No, Tc=Tc-B</a:t>
              </a:r>
              <a:endParaRPr lang="zh-CN" altLang="en-US" b="0" dirty="0">
                <a:latin typeface="Huawei Sans" panose="020C0503030203020204" pitchFamily="34" charset="0"/>
                <a:ea typeface="方正兰亭黑简体" panose="02000000000000000000" pitchFamily="2" charset="-122"/>
              </a:endParaRPr>
            </a:p>
          </p:txBody>
        </p:sp>
        <p:sp>
          <p:nvSpPr>
            <p:cNvPr id="126" name="矩形 125"/>
            <p:cNvSpPr/>
            <p:nvPr/>
          </p:nvSpPr>
          <p:spPr bwMode="gray">
            <a:xfrm>
              <a:off x="8400120" y="5892352"/>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27" name="矩形 126"/>
            <p:cNvSpPr/>
            <p:nvPr/>
          </p:nvSpPr>
          <p:spPr bwMode="gray">
            <a:xfrm>
              <a:off x="8040080" y="5892352"/>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28" name="矩形 127"/>
            <p:cNvSpPr/>
            <p:nvPr/>
          </p:nvSpPr>
          <p:spPr bwMode="gray">
            <a:xfrm>
              <a:off x="7680040" y="5892352"/>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130" name="文本框 129"/>
            <p:cNvSpPr txBox="1"/>
            <p:nvPr/>
          </p:nvSpPr>
          <p:spPr bwMode="gray">
            <a:xfrm>
              <a:off x="7801653" y="4737669"/>
              <a:ext cx="127595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en-US" altLang="zh-CN" b="0" dirty="0">
                  <a:latin typeface="Huawei Sans" panose="020C0503030203020204" pitchFamily="34" charset="0"/>
                  <a:ea typeface="方正兰亭黑简体" panose="02000000000000000000" pitchFamily="2" charset="-122"/>
                </a:rPr>
                <a:t>Yes, </a:t>
              </a:r>
              <a:r>
                <a:rPr lang="en-US" altLang="zh-CN" b="0" dirty="0" err="1">
                  <a:latin typeface="Huawei Sans" panose="020C0503030203020204" pitchFamily="34" charset="0"/>
                  <a:ea typeface="方正兰亭黑简体" panose="02000000000000000000" pitchFamily="2" charset="-122"/>
                </a:rPr>
                <a:t>Tp</a:t>
              </a:r>
              <a:r>
                <a:rPr lang="en-US" altLang="zh-CN" b="0" dirty="0">
                  <a:latin typeface="Huawei Sans" panose="020C0503030203020204" pitchFamily="34" charset="0"/>
                  <a:ea typeface="方正兰亭黑简体" panose="02000000000000000000" pitchFamily="2" charset="-122"/>
                </a:rPr>
                <a:t>=</a:t>
              </a:r>
              <a:r>
                <a:rPr lang="en-US" altLang="zh-CN" b="0" dirty="0" err="1">
                  <a:latin typeface="Huawei Sans" panose="020C0503030203020204" pitchFamily="34" charset="0"/>
                  <a:ea typeface="方正兰亭黑简体" panose="02000000000000000000" pitchFamily="2" charset="-122"/>
                </a:rPr>
                <a:t>Tp</a:t>
              </a:r>
              <a:r>
                <a:rPr lang="en-US" altLang="zh-CN" b="0" dirty="0">
                  <a:latin typeface="Huawei Sans" panose="020C0503030203020204" pitchFamily="34" charset="0"/>
                  <a:ea typeface="方正兰亭黑简体" panose="02000000000000000000" pitchFamily="2" charset="-122"/>
                </a:rPr>
                <a:t>-B</a:t>
              </a:r>
              <a:endParaRPr lang="zh-CN" altLang="en-US" b="0" dirty="0">
                <a:latin typeface="Huawei Sans" panose="020C0503030203020204" pitchFamily="34" charset="0"/>
                <a:ea typeface="方正兰亭黑简体" panose="02000000000000000000" pitchFamily="2" charset="-122"/>
              </a:endParaRPr>
            </a:p>
          </p:txBody>
        </p:sp>
      </p:grpSp>
      <p:sp>
        <p:nvSpPr>
          <p:cNvPr id="98"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119" name="燕尾形 154"/>
          <p:cNvSpPr/>
          <p:nvPr/>
        </p:nvSpPr>
        <p:spPr bwMode="auto">
          <a:xfrm>
            <a:off x="8920510" y="107185"/>
            <a:ext cx="914043"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125"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136"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1238129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什么是流量监管</a:t>
            </a:r>
          </a:p>
        </p:txBody>
      </p:sp>
      <p:sp>
        <p:nvSpPr>
          <p:cNvPr id="81" name="下箭头 80"/>
          <p:cNvSpPr/>
          <p:nvPr/>
        </p:nvSpPr>
        <p:spPr bwMode="gray">
          <a:xfrm>
            <a:off x="8940316" y="3430325"/>
            <a:ext cx="216024" cy="37731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86" name="组合 85"/>
          <p:cNvGrpSpPr/>
          <p:nvPr/>
        </p:nvGrpSpPr>
        <p:grpSpPr bwMode="gray">
          <a:xfrm>
            <a:off x="6996100" y="3943020"/>
            <a:ext cx="4073980" cy="1800200"/>
            <a:chOff x="6996100" y="4041068"/>
            <a:chExt cx="4073980" cy="1800200"/>
          </a:xfrm>
        </p:grpSpPr>
        <p:grpSp>
          <p:nvGrpSpPr>
            <p:cNvPr id="85" name="组合 84"/>
            <p:cNvGrpSpPr/>
            <p:nvPr/>
          </p:nvGrpSpPr>
          <p:grpSpPr bwMode="gray">
            <a:xfrm>
              <a:off x="6996100" y="4041068"/>
              <a:ext cx="4073980" cy="1800200"/>
              <a:chOff x="7314609" y="4041068"/>
              <a:chExt cx="4073980" cy="1800200"/>
            </a:xfrm>
          </p:grpSpPr>
          <p:sp>
            <p:nvSpPr>
              <p:cNvPr id="78" name="矩形 77"/>
              <p:cNvSpPr/>
              <p:nvPr/>
            </p:nvSpPr>
            <p:spPr bwMode="gray">
              <a:xfrm>
                <a:off x="7320120" y="4041068"/>
                <a:ext cx="4032464" cy="1800200"/>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4" name="文本框 83"/>
              <p:cNvSpPr txBox="1"/>
              <p:nvPr/>
            </p:nvSpPr>
            <p:spPr bwMode="gray">
              <a:xfrm>
                <a:off x="7314609" y="4437112"/>
                <a:ext cx="4073980" cy="128042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marL="285750" indent="-285750" fontAlgn="auto">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流量监管采用承诺访问速率</a:t>
                </a:r>
                <a:r>
                  <a:rPr lang="en-US" altLang="zh-CN" sz="1600" dirty="0">
                    <a:solidFill>
                      <a:srgbClr val="C7000B"/>
                    </a:solidFill>
                    <a:latin typeface="Huawei Sans" panose="020C0503030203020204" pitchFamily="34" charset="0"/>
                    <a:ea typeface="方正兰亭黑简体" panose="02000000000000000000" pitchFamily="2" charset="-122"/>
                  </a:rPr>
                  <a:t>CAR</a:t>
                </a:r>
                <a:r>
                  <a:rPr lang="zh-CN" altLang="en-US" sz="1600" dirty="0">
                    <a:solidFill>
                      <a:srgbClr val="000000"/>
                    </a:solidFill>
                    <a:latin typeface="Huawei Sans" panose="020C0503030203020204" pitchFamily="34" charset="0"/>
                    <a:ea typeface="方正兰亭黑简体" panose="02000000000000000000" pitchFamily="2" charset="-122"/>
                  </a:rPr>
                  <a:t>来对流量进行控制，</a:t>
                </a:r>
                <a:r>
                  <a:rPr lang="en-US" altLang="zh-CN" sz="1600" dirty="0">
                    <a:solidFill>
                      <a:srgbClr val="000000"/>
                    </a:solidFill>
                    <a:latin typeface="Huawei Sans" panose="020C0503030203020204" pitchFamily="34" charset="0"/>
                    <a:ea typeface="方正兰亭黑简体" panose="02000000000000000000" pitchFamily="2" charset="-122"/>
                  </a:rPr>
                  <a:t>CAR</a:t>
                </a:r>
                <a:r>
                  <a:rPr lang="zh-CN" altLang="en-US" sz="1600" dirty="0">
                    <a:solidFill>
                      <a:srgbClr val="000000"/>
                    </a:solidFill>
                    <a:latin typeface="Huawei Sans" panose="020C0503030203020204" pitchFamily="34" charset="0"/>
                    <a:ea typeface="方正兰亭黑简体" panose="02000000000000000000" pitchFamily="2" charset="-122"/>
                  </a:rPr>
                  <a:t>使用</a:t>
                </a:r>
                <a:r>
                  <a:rPr lang="zh-CN" altLang="en-US" sz="1600" dirty="0">
                    <a:solidFill>
                      <a:srgbClr val="C7000B"/>
                    </a:solidFill>
                    <a:latin typeface="Huawei Sans" panose="020C0503030203020204" pitchFamily="34" charset="0"/>
                    <a:ea typeface="方正兰亭黑简体" panose="02000000000000000000" pitchFamily="2" charset="-122"/>
                  </a:rPr>
                  <a:t>令牌桶算法</a:t>
                </a:r>
                <a:r>
                  <a:rPr lang="zh-CN" altLang="en-US" sz="1600" dirty="0">
                    <a:solidFill>
                      <a:srgbClr val="000000"/>
                    </a:solidFill>
                    <a:latin typeface="Huawei Sans" panose="020C0503030203020204" pitchFamily="34" charset="0"/>
                    <a:ea typeface="方正兰亭黑简体" panose="02000000000000000000" pitchFamily="2" charset="-122"/>
                  </a:rPr>
                  <a:t>进行流量速率的评估，依据评估结果，实施预先设定好的监管动作。</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83" name="文本框 82"/>
            <p:cNvSpPr txBox="1"/>
            <p:nvPr/>
          </p:nvSpPr>
          <p:spPr bwMode="gray">
            <a:xfrm>
              <a:off x="7008418" y="4051807"/>
              <a:ext cx="402013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流量监管的实现</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grpSp>
        <p:nvGrpSpPr>
          <p:cNvPr id="109" name="组合 108"/>
          <p:cNvGrpSpPr/>
          <p:nvPr/>
        </p:nvGrpSpPr>
        <p:grpSpPr bwMode="gray">
          <a:xfrm>
            <a:off x="1062720" y="1386736"/>
            <a:ext cx="5040560" cy="1008112"/>
            <a:chOff x="6312024" y="1844824"/>
            <a:chExt cx="5040560" cy="1008112"/>
          </a:xfrm>
        </p:grpSpPr>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52284" y="2276872"/>
              <a:ext cx="570707" cy="467980"/>
            </a:xfrm>
            <a:prstGeom prst="rect">
              <a:avLst/>
            </a:prstGeom>
          </p:spPr>
        </p:pic>
        <p:grpSp>
          <p:nvGrpSpPr>
            <p:cNvPr id="112" name="组合 111"/>
            <p:cNvGrpSpPr/>
            <p:nvPr/>
          </p:nvGrpSpPr>
          <p:grpSpPr bwMode="gray">
            <a:xfrm>
              <a:off x="6312024" y="2168860"/>
              <a:ext cx="1089453" cy="684076"/>
              <a:chOff x="6312024" y="2168860"/>
              <a:chExt cx="1089453" cy="684076"/>
            </a:xfrm>
          </p:grpSpPr>
          <p:pic>
            <p:nvPicPr>
              <p:cNvPr id="127" name="图片 1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168860"/>
                <a:ext cx="1089453" cy="684076"/>
              </a:xfrm>
              <a:prstGeom prst="rect">
                <a:avLst/>
              </a:prstGeom>
            </p:spPr>
          </p:pic>
          <p:sp>
            <p:nvSpPr>
              <p:cNvPr id="128" name="圆角矩形 127"/>
              <p:cNvSpPr/>
              <p:nvPr/>
            </p:nvSpPr>
            <p:spPr bwMode="gray">
              <a:xfrm>
                <a:off x="6420036" y="2348880"/>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grpSp>
        <p:grpSp>
          <p:nvGrpSpPr>
            <p:cNvPr id="113" name="组合 112"/>
            <p:cNvGrpSpPr/>
            <p:nvPr/>
          </p:nvGrpSpPr>
          <p:grpSpPr bwMode="gray">
            <a:xfrm>
              <a:off x="10263131" y="2168860"/>
              <a:ext cx="1089453" cy="684076"/>
              <a:chOff x="6312024" y="2168860"/>
              <a:chExt cx="1089453" cy="684076"/>
            </a:xfrm>
          </p:grpSpPr>
          <p:pic>
            <p:nvPicPr>
              <p:cNvPr id="125" name="图片 1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168860"/>
                <a:ext cx="1089453" cy="684076"/>
              </a:xfrm>
              <a:prstGeom prst="rect">
                <a:avLst/>
              </a:prstGeom>
            </p:spPr>
          </p:pic>
          <p:sp>
            <p:nvSpPr>
              <p:cNvPr id="126" name="圆角矩形 125"/>
              <p:cNvSpPr/>
              <p:nvPr/>
            </p:nvSpPr>
            <p:spPr bwMode="gray">
              <a:xfrm>
                <a:off x="6420036" y="2348880"/>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广域网</a:t>
                </a:r>
              </a:p>
            </p:txBody>
          </p:sp>
        </p:grpSp>
        <p:cxnSp>
          <p:nvCxnSpPr>
            <p:cNvPr id="114" name="直接连接符 113"/>
            <p:cNvCxnSpPr>
              <a:stCxn id="127" idx="3"/>
              <a:endCxn id="111" idx="1"/>
            </p:cNvCxnSpPr>
            <p:nvPr/>
          </p:nvCxnSpPr>
          <p:spPr bwMode="gray">
            <a:xfrm flipV="1">
              <a:off x="7401477" y="2510862"/>
              <a:ext cx="1250807" cy="3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5" name="直接连接符 114"/>
            <p:cNvCxnSpPr>
              <a:stCxn id="111" idx="3"/>
              <a:endCxn id="125" idx="1"/>
            </p:cNvCxnSpPr>
            <p:nvPr/>
          </p:nvCxnSpPr>
          <p:spPr bwMode="gray">
            <a:xfrm>
              <a:off x="9222991" y="2510862"/>
              <a:ext cx="1040140" cy="3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6" name="圆角矩形 115"/>
            <p:cNvSpPr/>
            <p:nvPr/>
          </p:nvSpPr>
          <p:spPr bwMode="gray">
            <a:xfrm>
              <a:off x="7464152" y="245689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b="1" dirty="0">
                  <a:latin typeface="Huawei Sans" panose="020C0503030203020204" pitchFamily="34" charset="0"/>
                  <a:ea typeface="方正兰亭黑简体" panose="02000000000000000000" pitchFamily="2" charset="-122"/>
                </a:rPr>
                <a:t>高速链路</a:t>
              </a:r>
              <a:endParaRPr kumimoji="0" lang="zh-CN" altLang="en-US"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7" name="圆角矩形 116"/>
            <p:cNvSpPr/>
            <p:nvPr/>
          </p:nvSpPr>
          <p:spPr bwMode="gray">
            <a:xfrm>
              <a:off x="9192344" y="245689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b="1" dirty="0">
                  <a:latin typeface="Huawei Sans" panose="020C0503030203020204" pitchFamily="34" charset="0"/>
                  <a:ea typeface="方正兰亭黑简体" panose="02000000000000000000" pitchFamily="2" charset="-122"/>
                </a:rPr>
                <a:t>低速链路</a:t>
              </a:r>
              <a:endParaRPr kumimoji="0" lang="zh-CN" altLang="en-US"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8" name="直接连接符 117"/>
            <p:cNvCxnSpPr/>
            <p:nvPr/>
          </p:nvCxnSpPr>
          <p:spPr bwMode="gray">
            <a:xfrm flipV="1">
              <a:off x="7572164" y="2348880"/>
              <a:ext cx="612068"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sp>
          <p:nvSpPr>
            <p:cNvPr id="119" name="圆角矩形 118"/>
            <p:cNvSpPr/>
            <p:nvPr/>
          </p:nvSpPr>
          <p:spPr bwMode="gray">
            <a:xfrm>
              <a:off x="7320136" y="1844824"/>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数据流：</a:t>
              </a:r>
              <a:endPar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100 M</a:t>
              </a:r>
              <a:r>
                <a:rPr lang="en-US" altLang="zh-CN" sz="1400" dirty="0">
                  <a:latin typeface="Huawei Sans" panose="020C0503030203020204" pitchFamily="34" charset="0"/>
                  <a:ea typeface="方正兰亭黑简体" panose="02000000000000000000" pitchFamily="2" charset="-122"/>
                </a:rPr>
                <a:t>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grpSp>
        <p:nvGrpSpPr>
          <p:cNvPr id="130" name="组合 129"/>
          <p:cNvGrpSpPr/>
          <p:nvPr/>
        </p:nvGrpSpPr>
        <p:grpSpPr bwMode="gray">
          <a:xfrm>
            <a:off x="6456040" y="1170712"/>
            <a:ext cx="4896544" cy="2052228"/>
            <a:chOff x="1012296" y="4041068"/>
            <a:chExt cx="4896544" cy="2052228"/>
          </a:xfrm>
        </p:grpSpPr>
        <p:sp>
          <p:nvSpPr>
            <p:cNvPr id="131" name="矩形 130"/>
            <p:cNvSpPr/>
            <p:nvPr/>
          </p:nvSpPr>
          <p:spPr bwMode="gray">
            <a:xfrm>
              <a:off x="1012296" y="4041068"/>
              <a:ext cx="4896544" cy="2052228"/>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2" name="文本框 131"/>
            <p:cNvSpPr txBox="1"/>
            <p:nvPr/>
          </p:nvSpPr>
          <p:spPr bwMode="gray">
            <a:xfrm>
              <a:off x="1108310" y="4062995"/>
              <a:ext cx="4704206"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流量监管</a:t>
              </a:r>
              <a:r>
                <a:rPr lang="en-US" altLang="zh-CN" sz="1600" b="1" dirty="0">
                  <a:solidFill>
                    <a:srgbClr val="000000"/>
                  </a:solidFill>
                  <a:latin typeface="Huawei Sans" panose="020C0503030203020204" pitchFamily="34" charset="0"/>
                  <a:ea typeface="方正兰亭黑简体" panose="02000000000000000000" pitchFamily="2" charset="-122"/>
                </a:rPr>
                <a:t>TP</a:t>
              </a:r>
              <a:r>
                <a:rPr lang="zh-CN" altLang="en-US" sz="1600" b="1" dirty="0">
                  <a:solidFill>
                    <a:srgbClr val="000000"/>
                  </a:solidFill>
                  <a:latin typeface="Huawei Sans" panose="020C0503030203020204" pitchFamily="34" charset="0"/>
                  <a:ea typeface="方正兰亭黑简体" panose="02000000000000000000" pitchFamily="2" charset="-122"/>
                </a:rPr>
                <a:t>（</a:t>
              </a:r>
              <a:r>
                <a:rPr lang="en-US" altLang="zh-CN" sz="1600" b="1" dirty="0">
                  <a:solidFill>
                    <a:srgbClr val="000000"/>
                  </a:solidFill>
                  <a:latin typeface="Huawei Sans" panose="020C0503030203020204" pitchFamily="34" charset="0"/>
                  <a:ea typeface="方正兰亭黑简体" panose="02000000000000000000" pitchFamily="2" charset="-122"/>
                </a:rPr>
                <a:t>Traffic Policing</a:t>
              </a:r>
              <a:r>
                <a:rPr lang="zh-CN" altLang="en-US" sz="1600" b="1"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133" name="文本框 132"/>
            <p:cNvSpPr txBox="1"/>
            <p:nvPr/>
          </p:nvSpPr>
          <p:spPr bwMode="gray">
            <a:xfrm>
              <a:off x="1108310" y="4401108"/>
              <a:ext cx="4704206" cy="162754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fontAlgn="auto">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通过监控进入网络的某一流量的规格，限制它在一个允许的范围之内，若某个连接的报文流量过大，就丢弃报文，或重新设置该报文的优先级，以保护网络资源不受损害。流量监管可配置在设备的</a:t>
              </a:r>
              <a:r>
                <a:rPr lang="zh-CN" altLang="en-US" sz="1600" dirty="0">
                  <a:solidFill>
                    <a:srgbClr val="C7000B"/>
                  </a:solidFill>
                  <a:latin typeface="Huawei Sans" panose="020C0503030203020204" pitchFamily="34" charset="0"/>
                  <a:ea typeface="方正兰亭黑简体" panose="02000000000000000000" pitchFamily="2" charset="-122"/>
                </a:rPr>
                <a:t>接口进出方向</a:t>
              </a:r>
              <a:r>
                <a:rPr lang="zh-CN" altLang="en-US" sz="1600"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cxnSp>
        <p:nvCxnSpPr>
          <p:cNvPr id="139" name="肘形连接符 138"/>
          <p:cNvCxnSpPr/>
          <p:nvPr/>
        </p:nvCxnSpPr>
        <p:spPr bwMode="gray">
          <a:xfrm>
            <a:off x="1343472" y="4103720"/>
            <a:ext cx="4860540" cy="1548866"/>
          </a:xfrm>
          <a:prstGeom prst="bentConnector3">
            <a:avLst>
              <a:gd name="adj1" fmla="val 94"/>
            </a:avLst>
          </a:prstGeom>
          <a:solidFill>
            <a:schemeClr val="accent1"/>
          </a:solidFill>
          <a:ln w="28575" cap="flat" cmpd="sng" algn="ctr">
            <a:solidFill>
              <a:schemeClr val="tx1"/>
            </a:solidFill>
            <a:prstDash val="solid"/>
            <a:round/>
            <a:headEnd type="triangle"/>
            <a:tailEnd type="triangle"/>
          </a:ln>
          <a:effectLst/>
        </p:spPr>
      </p:cxnSp>
      <p:sp>
        <p:nvSpPr>
          <p:cNvPr id="140" name="任意多边形 139"/>
          <p:cNvSpPr/>
          <p:nvPr/>
        </p:nvSpPr>
        <p:spPr bwMode="gray">
          <a:xfrm>
            <a:off x="1350072" y="4486942"/>
            <a:ext cx="4678680" cy="1165860"/>
          </a:xfrm>
          <a:custGeom>
            <a:avLst/>
            <a:gdLst>
              <a:gd name="connsiteX0" fmla="*/ 0 w 4678680"/>
              <a:gd name="connsiteY0" fmla="*/ 1165860 h 1165860"/>
              <a:gd name="connsiteX1" fmla="*/ 281940 w 4678680"/>
              <a:gd name="connsiteY1" fmla="*/ 525780 h 1165860"/>
              <a:gd name="connsiteX2" fmla="*/ 525780 w 4678680"/>
              <a:gd name="connsiteY2" fmla="*/ 38100 h 1165860"/>
              <a:gd name="connsiteX3" fmla="*/ 807720 w 4678680"/>
              <a:gd name="connsiteY3" fmla="*/ 518160 h 1165860"/>
              <a:gd name="connsiteX4" fmla="*/ 1165860 w 4678680"/>
              <a:gd name="connsiteY4" fmla="*/ 952500 h 1165860"/>
              <a:gd name="connsiteX5" fmla="*/ 1501140 w 4678680"/>
              <a:gd name="connsiteY5" fmla="*/ 525780 h 1165860"/>
              <a:gd name="connsiteX6" fmla="*/ 1729740 w 4678680"/>
              <a:gd name="connsiteY6" fmla="*/ 0 h 1165860"/>
              <a:gd name="connsiteX7" fmla="*/ 2087880 w 4678680"/>
              <a:gd name="connsiteY7" fmla="*/ 525780 h 1165860"/>
              <a:gd name="connsiteX8" fmla="*/ 2377440 w 4678680"/>
              <a:gd name="connsiteY8" fmla="*/ 922020 h 1165860"/>
              <a:gd name="connsiteX9" fmla="*/ 2674620 w 4678680"/>
              <a:gd name="connsiteY9" fmla="*/ 518160 h 1165860"/>
              <a:gd name="connsiteX10" fmla="*/ 3002280 w 4678680"/>
              <a:gd name="connsiteY10" fmla="*/ 922020 h 1165860"/>
              <a:gd name="connsiteX11" fmla="*/ 3314700 w 4678680"/>
              <a:gd name="connsiteY11" fmla="*/ 121920 h 1165860"/>
              <a:gd name="connsiteX12" fmla="*/ 3611880 w 4678680"/>
              <a:gd name="connsiteY12" fmla="*/ 525780 h 1165860"/>
              <a:gd name="connsiteX13" fmla="*/ 3810000 w 4678680"/>
              <a:gd name="connsiteY13" fmla="*/ 906780 h 1165860"/>
              <a:gd name="connsiteX14" fmla="*/ 4015740 w 4678680"/>
              <a:gd name="connsiteY14" fmla="*/ 647700 h 1165860"/>
              <a:gd name="connsiteX15" fmla="*/ 4396740 w 4678680"/>
              <a:gd name="connsiteY15" fmla="*/ 899160 h 1165860"/>
              <a:gd name="connsiteX16" fmla="*/ 4678680 w 4678680"/>
              <a:gd name="connsiteY16" fmla="*/ 28194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78680" h="1165860">
                <a:moveTo>
                  <a:pt x="0" y="1165860"/>
                </a:moveTo>
                <a:cubicBezTo>
                  <a:pt x="97155" y="939800"/>
                  <a:pt x="194310" y="713740"/>
                  <a:pt x="281940" y="525780"/>
                </a:cubicBezTo>
                <a:cubicBezTo>
                  <a:pt x="369570" y="337820"/>
                  <a:pt x="438150" y="39370"/>
                  <a:pt x="525780" y="38100"/>
                </a:cubicBezTo>
                <a:cubicBezTo>
                  <a:pt x="613410" y="36830"/>
                  <a:pt x="701040" y="365760"/>
                  <a:pt x="807720" y="518160"/>
                </a:cubicBezTo>
                <a:cubicBezTo>
                  <a:pt x="914400" y="670560"/>
                  <a:pt x="1050290" y="951230"/>
                  <a:pt x="1165860" y="952500"/>
                </a:cubicBezTo>
                <a:cubicBezTo>
                  <a:pt x="1281430" y="953770"/>
                  <a:pt x="1407160" y="684530"/>
                  <a:pt x="1501140" y="525780"/>
                </a:cubicBezTo>
                <a:cubicBezTo>
                  <a:pt x="1595120" y="367030"/>
                  <a:pt x="1631950" y="0"/>
                  <a:pt x="1729740" y="0"/>
                </a:cubicBezTo>
                <a:cubicBezTo>
                  <a:pt x="1827530" y="0"/>
                  <a:pt x="1979930" y="372110"/>
                  <a:pt x="2087880" y="525780"/>
                </a:cubicBezTo>
                <a:cubicBezTo>
                  <a:pt x="2195830" y="679450"/>
                  <a:pt x="2279650" y="923290"/>
                  <a:pt x="2377440" y="922020"/>
                </a:cubicBezTo>
                <a:cubicBezTo>
                  <a:pt x="2475230" y="920750"/>
                  <a:pt x="2570480" y="518160"/>
                  <a:pt x="2674620" y="518160"/>
                </a:cubicBezTo>
                <a:cubicBezTo>
                  <a:pt x="2778760" y="518160"/>
                  <a:pt x="2895600" y="988060"/>
                  <a:pt x="3002280" y="922020"/>
                </a:cubicBezTo>
                <a:cubicBezTo>
                  <a:pt x="3108960" y="855980"/>
                  <a:pt x="3213100" y="187960"/>
                  <a:pt x="3314700" y="121920"/>
                </a:cubicBezTo>
                <a:cubicBezTo>
                  <a:pt x="3416300" y="55880"/>
                  <a:pt x="3529330" y="394970"/>
                  <a:pt x="3611880" y="525780"/>
                </a:cubicBezTo>
                <a:cubicBezTo>
                  <a:pt x="3694430" y="656590"/>
                  <a:pt x="3742690" y="886460"/>
                  <a:pt x="3810000" y="906780"/>
                </a:cubicBezTo>
                <a:cubicBezTo>
                  <a:pt x="3877310" y="927100"/>
                  <a:pt x="3917950" y="648970"/>
                  <a:pt x="4015740" y="647700"/>
                </a:cubicBezTo>
                <a:cubicBezTo>
                  <a:pt x="4113530" y="646430"/>
                  <a:pt x="4286250" y="960120"/>
                  <a:pt x="4396740" y="899160"/>
                </a:cubicBezTo>
                <a:cubicBezTo>
                  <a:pt x="4507230" y="838200"/>
                  <a:pt x="4592955" y="560070"/>
                  <a:pt x="4678680" y="281940"/>
                </a:cubicBezTo>
              </a:path>
            </a:pathLst>
          </a:custGeom>
          <a:noFill/>
          <a:ln w="19050">
            <a:solidFill>
              <a:srgbClr val="EC7061"/>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42" name="直接连接符 141"/>
          <p:cNvCxnSpPr/>
          <p:nvPr/>
        </p:nvCxnSpPr>
        <p:spPr bwMode="gray">
          <a:xfrm>
            <a:off x="1343520" y="4879124"/>
            <a:ext cx="4788000" cy="0"/>
          </a:xfrm>
          <a:prstGeom prst="line">
            <a:avLst/>
          </a:prstGeom>
          <a:solidFill>
            <a:schemeClr val="accent1"/>
          </a:solidFill>
          <a:ln w="12700" cap="flat" cmpd="sng" algn="ctr">
            <a:solidFill>
              <a:schemeClr val="tx1"/>
            </a:solidFill>
            <a:prstDash val="dash"/>
            <a:round/>
            <a:headEnd type="none" w="med" len="med"/>
            <a:tailEnd type="none" w="med" len="med"/>
          </a:ln>
          <a:effectLst/>
        </p:spPr>
      </p:cxnSp>
      <p:sp>
        <p:nvSpPr>
          <p:cNvPr id="143" name="圆角矩形 142"/>
          <p:cNvSpPr/>
          <p:nvPr/>
        </p:nvSpPr>
        <p:spPr bwMode="gray">
          <a:xfrm>
            <a:off x="839416" y="3799004"/>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报文速率</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4" name="圆角矩形 143"/>
          <p:cNvSpPr/>
          <p:nvPr/>
        </p:nvSpPr>
        <p:spPr bwMode="gray">
          <a:xfrm>
            <a:off x="5879492" y="5660210"/>
            <a:ext cx="57606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p:txBody>
      </p:sp>
      <p:sp>
        <p:nvSpPr>
          <p:cNvPr id="145" name="圆角矩形 144"/>
          <p:cNvSpPr/>
          <p:nvPr/>
        </p:nvSpPr>
        <p:spPr bwMode="gray">
          <a:xfrm>
            <a:off x="766924" y="4699104"/>
            <a:ext cx="612068"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CIR</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6" name="圆角矩形 145"/>
          <p:cNvSpPr/>
          <p:nvPr/>
        </p:nvSpPr>
        <p:spPr bwMode="gray">
          <a:xfrm>
            <a:off x="2531604" y="3546976"/>
            <a:ext cx="2052228" cy="64938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使用流量监管</a:t>
            </a:r>
            <a:endPar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超过限速的报文可能会被丢弃或降低优先级</a:t>
            </a:r>
          </a:p>
        </p:txBody>
      </p:sp>
      <p:cxnSp>
        <p:nvCxnSpPr>
          <p:cNvPr id="147" name="直接箭头连接符 146"/>
          <p:cNvCxnSpPr>
            <a:stCxn id="146" idx="2"/>
          </p:cNvCxnSpPr>
          <p:nvPr/>
        </p:nvCxnSpPr>
        <p:spPr bwMode="gray">
          <a:xfrm flipH="1">
            <a:off x="3107668" y="4196364"/>
            <a:ext cx="450050" cy="6467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任意多边形 2"/>
          <p:cNvSpPr/>
          <p:nvPr/>
        </p:nvSpPr>
        <p:spPr bwMode="gray">
          <a:xfrm>
            <a:off x="1343025" y="4795520"/>
            <a:ext cx="4686300" cy="847725"/>
          </a:xfrm>
          <a:custGeom>
            <a:avLst/>
            <a:gdLst>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 name="connsiteX0" fmla="*/ 0 w 4686300"/>
              <a:gd name="connsiteY0" fmla="*/ 847725 h 847725"/>
              <a:gd name="connsiteX1" fmla="*/ 342900 w 4686300"/>
              <a:gd name="connsiteY1" fmla="*/ 95250 h 847725"/>
              <a:gd name="connsiteX2" fmla="*/ 752475 w 4686300"/>
              <a:gd name="connsiteY2" fmla="*/ 76200 h 847725"/>
              <a:gd name="connsiteX3" fmla="*/ 1152525 w 4686300"/>
              <a:gd name="connsiteY3" fmla="*/ 666750 h 847725"/>
              <a:gd name="connsiteX4" fmla="*/ 1552575 w 4686300"/>
              <a:gd name="connsiteY4" fmla="*/ 95250 h 847725"/>
              <a:gd name="connsiteX5" fmla="*/ 2009775 w 4686300"/>
              <a:gd name="connsiteY5" fmla="*/ 95250 h 847725"/>
              <a:gd name="connsiteX6" fmla="*/ 2352675 w 4686300"/>
              <a:gd name="connsiteY6" fmla="*/ 628650 h 847725"/>
              <a:gd name="connsiteX7" fmla="*/ 2686050 w 4686300"/>
              <a:gd name="connsiteY7" fmla="*/ 209550 h 847725"/>
              <a:gd name="connsiteX8" fmla="*/ 2990850 w 4686300"/>
              <a:gd name="connsiteY8" fmla="*/ 638175 h 847725"/>
              <a:gd name="connsiteX9" fmla="*/ 3200400 w 4686300"/>
              <a:gd name="connsiteY9" fmla="*/ 85725 h 847725"/>
              <a:gd name="connsiteX10" fmla="*/ 3543300 w 4686300"/>
              <a:gd name="connsiteY10" fmla="*/ 76200 h 847725"/>
              <a:gd name="connsiteX11" fmla="*/ 3800475 w 4686300"/>
              <a:gd name="connsiteY11" fmla="*/ 609600 h 847725"/>
              <a:gd name="connsiteX12" fmla="*/ 4010025 w 4686300"/>
              <a:gd name="connsiteY12" fmla="*/ 342900 h 847725"/>
              <a:gd name="connsiteX13" fmla="*/ 4371975 w 4686300"/>
              <a:gd name="connsiteY13" fmla="*/ 600075 h 847725"/>
              <a:gd name="connsiteX14" fmla="*/ 4686300 w 4686300"/>
              <a:gd name="connsiteY14" fmla="*/ 0 h 8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86300" h="847725">
                <a:moveTo>
                  <a:pt x="0" y="847725"/>
                </a:moveTo>
                <a:lnTo>
                  <a:pt x="342900" y="95250"/>
                </a:lnTo>
                <a:lnTo>
                  <a:pt x="752475" y="76200"/>
                </a:lnTo>
                <a:cubicBezTo>
                  <a:pt x="887412" y="171450"/>
                  <a:pt x="971550" y="654050"/>
                  <a:pt x="1152525" y="666750"/>
                </a:cubicBezTo>
                <a:cubicBezTo>
                  <a:pt x="1333500" y="679450"/>
                  <a:pt x="1409700" y="190500"/>
                  <a:pt x="1552575" y="95250"/>
                </a:cubicBezTo>
                <a:lnTo>
                  <a:pt x="2009775" y="95250"/>
                </a:lnTo>
                <a:cubicBezTo>
                  <a:pt x="2143125" y="184150"/>
                  <a:pt x="2239963" y="609600"/>
                  <a:pt x="2352675" y="628650"/>
                </a:cubicBezTo>
                <a:cubicBezTo>
                  <a:pt x="2465387" y="647700"/>
                  <a:pt x="2584450" y="209550"/>
                  <a:pt x="2686050" y="209550"/>
                </a:cubicBezTo>
                <a:cubicBezTo>
                  <a:pt x="2787650" y="209550"/>
                  <a:pt x="2863850" y="688975"/>
                  <a:pt x="2990850" y="638175"/>
                </a:cubicBezTo>
                <a:cubicBezTo>
                  <a:pt x="3117850" y="587375"/>
                  <a:pt x="3130550" y="269875"/>
                  <a:pt x="3200400" y="85725"/>
                </a:cubicBezTo>
                <a:lnTo>
                  <a:pt x="3543300" y="76200"/>
                </a:lnTo>
                <a:cubicBezTo>
                  <a:pt x="3643313" y="163513"/>
                  <a:pt x="3722688" y="565150"/>
                  <a:pt x="3800475" y="609600"/>
                </a:cubicBezTo>
                <a:cubicBezTo>
                  <a:pt x="3878263" y="654050"/>
                  <a:pt x="3860800" y="352425"/>
                  <a:pt x="4010025" y="342900"/>
                </a:cubicBezTo>
                <a:cubicBezTo>
                  <a:pt x="4159250" y="333375"/>
                  <a:pt x="4219575" y="657225"/>
                  <a:pt x="4371975" y="600075"/>
                </a:cubicBezTo>
                <a:cubicBezTo>
                  <a:pt x="4524375" y="542925"/>
                  <a:pt x="4581525" y="200025"/>
                  <a:pt x="4686300" y="0"/>
                </a:cubicBezTo>
              </a:path>
            </a:pathLst>
          </a:custGeom>
          <a:noFill/>
          <a:ln w="19050">
            <a:solidFill>
              <a:srgbClr val="56C4D2"/>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0" name="圆角矩形 49"/>
          <p:cNvSpPr/>
          <p:nvPr/>
        </p:nvSpPr>
        <p:spPr bwMode="gray">
          <a:xfrm>
            <a:off x="4547828" y="4159044"/>
            <a:ext cx="144016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没有流量监管</a:t>
            </a:r>
          </a:p>
        </p:txBody>
      </p:sp>
      <p:cxnSp>
        <p:nvCxnSpPr>
          <p:cNvPr id="51" name="直接箭头连接符 50"/>
          <p:cNvCxnSpPr>
            <a:stCxn id="50" idx="2"/>
          </p:cNvCxnSpPr>
          <p:nvPr/>
        </p:nvCxnSpPr>
        <p:spPr bwMode="gray">
          <a:xfrm flipH="1">
            <a:off x="4943872" y="4484396"/>
            <a:ext cx="324036" cy="25071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9" name="Oval 41"/>
          <p:cNvSpPr>
            <a:spLocks noChangeAspect="1"/>
          </p:cNvSpPr>
          <p:nvPr/>
        </p:nvSpPr>
        <p:spPr bwMode="gray">
          <a:xfrm>
            <a:off x="3317330" y="197314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2" name="Rectangular Callout 51"/>
          <p:cNvSpPr/>
          <p:nvPr/>
        </p:nvSpPr>
        <p:spPr bwMode="gray">
          <a:xfrm>
            <a:off x="3943040" y="2494542"/>
            <a:ext cx="1184217" cy="525784"/>
          </a:xfrm>
          <a:prstGeom prst="wedgeRectCallout">
            <a:avLst>
              <a:gd name="adj1" fmla="val -44928"/>
              <a:gd name="adj2" fmla="val -1047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buSzPct val="100000"/>
            </a:pPr>
            <a:r>
              <a:rPr lang="zh-CN" altLang="en-US" sz="1400" kern="0" dirty="0">
                <a:solidFill>
                  <a:prstClr val="black"/>
                </a:solidFill>
                <a:latin typeface="Huawei Sans" panose="020C0503030203020204" pitchFamily="34" charset="0"/>
                <a:ea typeface="方正兰亭黑简体" panose="02000000000000000000" pitchFamily="2" charset="-122"/>
              </a:rPr>
              <a:t>接口带宽</a:t>
            </a:r>
          </a:p>
          <a:p>
            <a:pPr lvl="0" fontAlgn="auto">
              <a:buSzPct val="100000"/>
            </a:pPr>
            <a:r>
              <a:rPr lang="zh-CN" altLang="en-US" sz="1400" kern="0" dirty="0">
                <a:solidFill>
                  <a:prstClr val="black"/>
                </a:solidFill>
                <a:latin typeface="Huawei Sans" panose="020C0503030203020204" pitchFamily="34" charset="0"/>
                <a:ea typeface="方正兰亭黑简体" panose="02000000000000000000" pitchFamily="2" charset="-122"/>
              </a:rPr>
              <a:t>只有</a:t>
            </a:r>
            <a:r>
              <a:rPr lang="en-US" altLang="zh-CN" sz="1400" kern="0" dirty="0">
                <a:solidFill>
                  <a:prstClr val="black"/>
                </a:solidFill>
                <a:latin typeface="Huawei Sans" panose="020C0503030203020204" pitchFamily="34" charset="0"/>
                <a:ea typeface="方正兰亭黑简体" panose="02000000000000000000" pitchFamily="2" charset="-122"/>
              </a:rPr>
              <a:t>2 Mbps</a:t>
            </a:r>
          </a:p>
        </p:txBody>
      </p:sp>
      <p:sp>
        <p:nvSpPr>
          <p:cNvPr id="54" name="Rectangular Callout 53"/>
          <p:cNvSpPr/>
          <p:nvPr/>
        </p:nvSpPr>
        <p:spPr bwMode="gray">
          <a:xfrm>
            <a:off x="2169817" y="2327020"/>
            <a:ext cx="1184217" cy="525784"/>
          </a:xfrm>
          <a:prstGeom prst="wedgeRectCallout">
            <a:avLst>
              <a:gd name="adj1" fmla="val 46650"/>
              <a:gd name="adj2" fmla="val -8346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7000B"/>
                </a:solidFill>
                <a:latin typeface="Huawei Sans" panose="020C0503030203020204" pitchFamily="34" charset="0"/>
                <a:ea typeface="方正兰亭黑简体" panose="02000000000000000000" pitchFamily="2" charset="-122"/>
              </a:rPr>
              <a:t>接口入方向</a:t>
            </a:r>
            <a:endParaRPr lang="en-US" altLang="zh-CN" sz="1400" dirty="0">
              <a:solidFill>
                <a:srgbClr val="C7000B"/>
              </a:solidFill>
              <a:latin typeface="Huawei Sans" panose="020C0503030203020204" pitchFamily="34" charset="0"/>
              <a:ea typeface="方正兰亭黑简体" panose="02000000000000000000" pitchFamily="2" charset="-122"/>
            </a:endParaRPr>
          </a:p>
          <a:p>
            <a:pPr algn="ctr"/>
            <a:r>
              <a:rPr lang="zh-CN" altLang="en-US" sz="1400" dirty="0">
                <a:solidFill>
                  <a:srgbClr val="C7000B"/>
                </a:solidFill>
                <a:latin typeface="Huawei Sans" panose="020C0503030203020204" pitchFamily="34" charset="0"/>
                <a:ea typeface="方正兰亭黑简体" panose="02000000000000000000" pitchFamily="2" charset="-122"/>
              </a:rPr>
              <a:t>流量监管</a:t>
            </a:r>
          </a:p>
        </p:txBody>
      </p:sp>
      <p:sp>
        <p:nvSpPr>
          <p:cNvPr id="60"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61"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62"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63"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mc:AlternateContent xmlns:mc="http://schemas.openxmlformats.org/markup-compatibility/2006">
        <mc:Choice xmlns:p14="http://schemas.microsoft.com/office/powerpoint/2010/main" Requires="p14">
          <p:contentPart p14:bwMode="auto" r:id="rId5">
            <p14:nvContentPartPr>
              <p14:cNvPr id="4" name="墨迹 3">
                <a:extLst>
                  <a:ext uri="{FF2B5EF4-FFF2-40B4-BE49-F238E27FC236}">
                    <a16:creationId xmlns:a16="http://schemas.microsoft.com/office/drawing/2014/main" id="{669806F5-73F3-30D3-9D94-8F9444C223E1}"/>
                  </a:ext>
                </a:extLst>
              </p14:cNvPr>
              <p14:cNvContentPartPr/>
              <p14:nvPr/>
            </p14:nvContentPartPr>
            <p14:xfrm>
              <a:off x="2420760" y="3410907"/>
              <a:ext cx="2390040" cy="874080"/>
            </p14:xfrm>
          </p:contentPart>
        </mc:Choice>
        <mc:Fallback>
          <p:pic>
            <p:nvPicPr>
              <p:cNvPr id="4" name="墨迹 3">
                <a:extLst>
                  <a:ext uri="{FF2B5EF4-FFF2-40B4-BE49-F238E27FC236}">
                    <a16:creationId xmlns:a16="http://schemas.microsoft.com/office/drawing/2014/main" id="{669806F5-73F3-30D3-9D94-8F9444C223E1}"/>
                  </a:ext>
                </a:extLst>
              </p:cNvPr>
              <p:cNvPicPr/>
              <p:nvPr/>
            </p:nvPicPr>
            <p:blipFill>
              <a:blip r:embed="rId6"/>
              <a:stretch>
                <a:fillRect/>
              </a:stretch>
            </p:blipFill>
            <p:spPr>
              <a:xfrm>
                <a:off x="2412120" y="3402267"/>
                <a:ext cx="2407680" cy="891720"/>
              </a:xfrm>
              <a:prstGeom prst="rect">
                <a:avLst/>
              </a:prstGeom>
            </p:spPr>
          </p:pic>
        </mc:Fallback>
      </mc:AlternateContent>
    </p:spTree>
    <p:extLst>
      <p:ext uri="{BB962C8B-B14F-4D97-AF65-F5344CB8AC3E}">
        <p14:creationId xmlns:p14="http://schemas.microsoft.com/office/powerpoint/2010/main" val="342609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up)">
                                      <p:cBhvr>
                                        <p:cTn id="7" dur="250"/>
                                        <p:tgtEl>
                                          <p:spTgt spid="81"/>
                                        </p:tgtEl>
                                      </p:cBhvr>
                                    </p:animEffect>
                                  </p:childTnLst>
                                </p:cTn>
                              </p:par>
                            </p:childTnLst>
                          </p:cTn>
                        </p:par>
                        <p:par>
                          <p:cTn id="8" fill="hold">
                            <p:stCondLst>
                              <p:cond delay="250"/>
                            </p:stCondLst>
                            <p:childTnLst>
                              <p:par>
                                <p:cTn id="9" presetID="22" presetClass="entr" presetSubtype="1" fill="hold" nodeType="afterEffect">
                                  <p:stCondLst>
                                    <p:cond delay="0"/>
                                  </p:stCondLst>
                                  <p:childTnLst>
                                    <p:set>
                                      <p:cBhvr>
                                        <p:cTn id="10" dur="1" fill="hold">
                                          <p:stCondLst>
                                            <p:cond delay="0"/>
                                          </p:stCondLst>
                                        </p:cTn>
                                        <p:tgtEl>
                                          <p:spTgt spid="86"/>
                                        </p:tgtEl>
                                        <p:attrNameLst>
                                          <p:attrName>style.visibility</p:attrName>
                                        </p:attrNameLst>
                                      </p:cBhvr>
                                      <p:to>
                                        <p:strVal val="visible"/>
                                      </p:to>
                                    </p:set>
                                    <p:animEffect transition="in" filter="wipe(up)">
                                      <p:cBhvr>
                                        <p:cTn id="11" dur="25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承诺访问速率</a:t>
            </a:r>
          </a:p>
        </p:txBody>
      </p:sp>
      <p:sp>
        <p:nvSpPr>
          <p:cNvPr id="3" name="文本占位符 2"/>
          <p:cNvSpPr>
            <a:spLocks noGrp="1"/>
          </p:cNvSpPr>
          <p:nvPr>
            <p:ph type="body" sz="quarter" idx="10"/>
          </p:nvPr>
        </p:nvSpPr>
        <p:spPr bwMode="gray"/>
        <p:txBody>
          <a:bodyPr/>
          <a:lstStyle/>
          <a:p>
            <a:r>
              <a:rPr lang="zh-CN" altLang="en-US" sz="1800" dirty="0"/>
              <a:t>承诺访问速率，</a:t>
            </a:r>
            <a:r>
              <a:rPr lang="en-US" altLang="zh-CN" sz="1800" dirty="0"/>
              <a:t>CAR</a:t>
            </a:r>
            <a:r>
              <a:rPr lang="zh-CN" altLang="en-US" sz="1800" dirty="0"/>
              <a:t>（</a:t>
            </a:r>
            <a:r>
              <a:rPr lang="en-US" altLang="zh-CN" sz="1800" dirty="0"/>
              <a:t>Committed Access Rate</a:t>
            </a:r>
            <a:r>
              <a:rPr lang="zh-CN" altLang="en-US" sz="1800" dirty="0"/>
              <a:t>）利用令牌桶来衡量每个数据报文是超过还是遵守所规定的报文速率。</a:t>
            </a:r>
          </a:p>
        </p:txBody>
      </p:sp>
      <p:grpSp>
        <p:nvGrpSpPr>
          <p:cNvPr id="49" name="组合 48"/>
          <p:cNvGrpSpPr/>
          <p:nvPr/>
        </p:nvGrpSpPr>
        <p:grpSpPr bwMode="gray">
          <a:xfrm>
            <a:off x="2357108" y="4483284"/>
            <a:ext cx="2556284" cy="1342849"/>
            <a:chOff x="6564053" y="5089699"/>
            <a:chExt cx="2556284" cy="1342849"/>
          </a:xfrm>
        </p:grpSpPr>
        <p:sp>
          <p:nvSpPr>
            <p:cNvPr id="50" name="矩形 49"/>
            <p:cNvSpPr/>
            <p:nvPr/>
          </p:nvSpPr>
          <p:spPr bwMode="gray">
            <a:xfrm>
              <a:off x="6564053" y="5094858"/>
              <a:ext cx="2556284" cy="1286892"/>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3" name="文本框 52"/>
            <p:cNvSpPr txBox="1"/>
            <p:nvPr/>
          </p:nvSpPr>
          <p:spPr bwMode="gray">
            <a:xfrm>
              <a:off x="6591982" y="5089699"/>
              <a:ext cx="2100230" cy="134284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可使用令牌桶类型</a:t>
              </a:r>
              <a:endParaRPr lang="en-US" altLang="zh-CN" sz="1600" b="1" dirty="0">
                <a:solidFill>
                  <a:srgbClr val="000000"/>
                </a:solidFill>
                <a:latin typeface="Huawei Sans" panose="020C0503030203020204" pitchFamily="34" charset="0"/>
                <a:ea typeface="方正兰亭黑简体" panose="02000000000000000000" pitchFamily="2" charset="-122"/>
              </a:endParaRP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单桶单速</a:t>
              </a: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双桶单速</a:t>
              </a: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双桶双速</a:t>
              </a:r>
            </a:p>
          </p:txBody>
        </p:sp>
      </p:grpSp>
      <p:grpSp>
        <p:nvGrpSpPr>
          <p:cNvPr id="55" name="组合 54"/>
          <p:cNvGrpSpPr/>
          <p:nvPr/>
        </p:nvGrpSpPr>
        <p:grpSpPr bwMode="gray">
          <a:xfrm>
            <a:off x="5201424" y="4477113"/>
            <a:ext cx="5436604" cy="1617960"/>
            <a:chOff x="6564053" y="5083528"/>
            <a:chExt cx="5436604" cy="1617960"/>
          </a:xfrm>
        </p:grpSpPr>
        <p:sp>
          <p:nvSpPr>
            <p:cNvPr id="56" name="矩形 55"/>
            <p:cNvSpPr/>
            <p:nvPr/>
          </p:nvSpPr>
          <p:spPr bwMode="gray">
            <a:xfrm>
              <a:off x="6564053" y="5094858"/>
              <a:ext cx="5436604" cy="1606630"/>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8" name="文本框 57"/>
            <p:cNvSpPr txBox="1"/>
            <p:nvPr/>
          </p:nvSpPr>
          <p:spPr bwMode="gray">
            <a:xfrm>
              <a:off x="6627986" y="5083528"/>
              <a:ext cx="5124566" cy="158907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令牌桶评估后，报文被标记为绿、黄、红三种颜色</a:t>
              </a:r>
              <a:endParaRPr lang="en-US" altLang="zh-CN" sz="1600" b="1" dirty="0">
                <a:solidFill>
                  <a:srgbClr val="000000"/>
                </a:solidFill>
                <a:latin typeface="Huawei Sans" panose="020C0503030203020204" pitchFamily="34" charset="0"/>
                <a:ea typeface="方正兰亭黑简体" panose="02000000000000000000" pitchFamily="2" charset="-122"/>
              </a:endParaRP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绿色表示符合规定，直接转发；</a:t>
              </a:r>
              <a:endParaRPr lang="en-US" altLang="zh-CN" sz="1600" dirty="0">
                <a:latin typeface="Huawei Sans" panose="020C0503030203020204" pitchFamily="34" charset="0"/>
                <a:ea typeface="方正兰亭黑简体" panose="02000000000000000000" pitchFamily="2" charset="-122"/>
              </a:endParaRP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黄色表示虽然不符合规定，但允许临时的突发，重新标记后，降低优先级进行尽力而为转发；</a:t>
              </a:r>
              <a:endParaRPr lang="en-US" altLang="zh-CN" sz="1600" dirty="0">
                <a:latin typeface="Huawei Sans" panose="020C0503030203020204" pitchFamily="34" charset="0"/>
                <a:ea typeface="方正兰亭黑简体" panose="02000000000000000000" pitchFamily="2" charset="-122"/>
              </a:endParaRPr>
            </a:p>
            <a:p>
              <a:pPr marL="654938" lvl="1" indent="-251899" defTabSz="914034" fontAlgn="ctr">
                <a:spcBef>
                  <a:spcPts val="720"/>
                </a:spcBef>
                <a:buSzPct val="50000"/>
                <a:buFont typeface="Wingdings" panose="05000000000000000000" pitchFamily="2" charset="2"/>
                <a:buChar char="p"/>
              </a:pPr>
              <a:r>
                <a:rPr lang="zh-CN" altLang="en-US" sz="1600" dirty="0">
                  <a:latin typeface="Huawei Sans" panose="020C0503030203020204" pitchFamily="34" charset="0"/>
                  <a:ea typeface="方正兰亭黑简体" panose="02000000000000000000" pitchFamily="2" charset="-122"/>
                </a:rPr>
                <a:t>红色表示报文速率过大，不符合规定，直接丢弃。</a:t>
              </a:r>
            </a:p>
          </p:txBody>
        </p:sp>
      </p:grpSp>
      <p:grpSp>
        <p:nvGrpSpPr>
          <p:cNvPr id="4" name="组合 3"/>
          <p:cNvGrpSpPr/>
          <p:nvPr/>
        </p:nvGrpSpPr>
        <p:grpSpPr bwMode="gray">
          <a:xfrm>
            <a:off x="2373334" y="1936477"/>
            <a:ext cx="7776864" cy="2356127"/>
            <a:chOff x="2373334" y="1936477"/>
            <a:chExt cx="7776864" cy="2356127"/>
          </a:xfrm>
        </p:grpSpPr>
        <p:sp>
          <p:nvSpPr>
            <p:cNvPr id="61" name="矩形 60"/>
            <p:cNvSpPr/>
            <p:nvPr/>
          </p:nvSpPr>
          <p:spPr bwMode="gray">
            <a:xfrm>
              <a:off x="8369776" y="2782703"/>
              <a:ext cx="1621764" cy="1332149"/>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solidFill>
                  <a:srgbClr val="000000"/>
                </a:solidFill>
                <a:latin typeface="Huawei Sans" panose="020C0503030203020204" pitchFamily="34" charset="0"/>
                <a:ea typeface="方正兰亭黑简体" panose="02000000000000000000" pitchFamily="2" charset="-122"/>
              </a:endParaRPr>
            </a:p>
          </p:txBody>
        </p:sp>
        <p:sp>
          <p:nvSpPr>
            <p:cNvPr id="67" name="Can 9">
              <a:extLst>
                <a:ext uri="{FF2B5EF4-FFF2-40B4-BE49-F238E27FC236}">
                  <a16:creationId xmlns:a16="http://schemas.microsoft.com/office/drawing/2014/main" id="{9897C8BB-FE57-41FB-A5D1-BFC455F80070}"/>
                </a:ext>
              </a:extLst>
            </p:cNvPr>
            <p:cNvSpPr/>
            <p:nvPr/>
          </p:nvSpPr>
          <p:spPr bwMode="gray">
            <a:xfrm rot="5400000">
              <a:off x="3053522" y="2809353"/>
              <a:ext cx="341807" cy="123956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2648183" y="3625472"/>
              <a:ext cx="107500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到达的报文</a:t>
              </a:r>
              <a:endParaRPr lang="zh-CN" altLang="en-US" dirty="0">
                <a:latin typeface="Huawei Sans" panose="020C0503030203020204" pitchFamily="34" charset="0"/>
                <a:ea typeface="方正兰亭黑简体" panose="02000000000000000000" pitchFamily="2" charset="-122"/>
              </a:endParaRPr>
            </a:p>
          </p:txBody>
        </p:sp>
        <p:sp>
          <p:nvSpPr>
            <p:cNvPr id="5" name="矩形 4"/>
            <p:cNvSpPr/>
            <p:nvPr/>
          </p:nvSpPr>
          <p:spPr bwMode="gray">
            <a:xfrm>
              <a:off x="3435152" y="3358074"/>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 name="矩形 5"/>
            <p:cNvSpPr/>
            <p:nvPr/>
          </p:nvSpPr>
          <p:spPr bwMode="gray">
            <a:xfrm>
              <a:off x="3219140" y="3358074"/>
              <a:ext cx="108000"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 name="矩形 6"/>
            <p:cNvSpPr/>
            <p:nvPr/>
          </p:nvSpPr>
          <p:spPr bwMode="gray">
            <a:xfrm>
              <a:off x="2751116" y="3358074"/>
              <a:ext cx="360000"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9" name="直接箭头连接符 8"/>
            <p:cNvCxnSpPr/>
            <p:nvPr/>
          </p:nvCxnSpPr>
          <p:spPr bwMode="gray">
            <a:xfrm>
              <a:off x="3759220" y="3445452"/>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grpSp>
          <p:nvGrpSpPr>
            <p:cNvPr id="13" name="组合 12"/>
            <p:cNvGrpSpPr/>
            <p:nvPr/>
          </p:nvGrpSpPr>
          <p:grpSpPr bwMode="gray">
            <a:xfrm>
              <a:off x="4299248" y="3185527"/>
              <a:ext cx="864096" cy="513422"/>
              <a:chOff x="3323692" y="2500369"/>
              <a:chExt cx="864096" cy="513422"/>
            </a:xfrm>
          </p:grpSpPr>
          <p:sp>
            <p:nvSpPr>
              <p:cNvPr id="11" name="等腰三角形 10"/>
              <p:cNvSpPr/>
              <p:nvPr/>
            </p:nvSpPr>
            <p:spPr bwMode="gray">
              <a:xfrm>
                <a:off x="3323692" y="2500369"/>
                <a:ext cx="864096" cy="489109"/>
              </a:xfrm>
              <a:prstGeom prst="triangle">
                <a:avLst/>
              </a:prstGeom>
              <a:solidFill>
                <a:srgbClr val="BEE9EE"/>
              </a:solidFill>
              <a:ln w="28575">
                <a:solidFill>
                  <a:srgbClr val="BEE9EE"/>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2" name="文本框 11"/>
              <p:cNvSpPr txBox="1"/>
              <p:nvPr/>
            </p:nvSpPr>
            <p:spPr bwMode="gray">
              <a:xfrm>
                <a:off x="3382806" y="2709688"/>
                <a:ext cx="736249"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a:latin typeface="Huawei Sans" panose="020C0503030203020204" pitchFamily="34" charset="0"/>
                    <a:ea typeface="方正兰亭黑简体" panose="02000000000000000000" pitchFamily="2" charset="-122"/>
                  </a:rPr>
                  <a:t>流分类</a:t>
                </a:r>
                <a:endParaRPr lang="zh-CN" altLang="en-US" dirty="0">
                  <a:latin typeface="Huawei Sans" panose="020C0503030203020204" pitchFamily="34" charset="0"/>
                  <a:ea typeface="方正兰亭黑简体" panose="02000000000000000000" pitchFamily="2" charset="-122"/>
                </a:endParaRPr>
              </a:p>
            </p:txBody>
          </p:sp>
        </p:grpSp>
        <p:cxnSp>
          <p:nvCxnSpPr>
            <p:cNvPr id="15" name="直接箭头连接符 14"/>
            <p:cNvCxnSpPr/>
            <p:nvPr/>
          </p:nvCxnSpPr>
          <p:spPr bwMode="gray">
            <a:xfrm>
              <a:off x="5127340" y="3445452"/>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6" name="bucket_206442"/>
            <p:cNvSpPr>
              <a:spLocks noChangeAspect="1"/>
            </p:cNvSpPr>
            <p:nvPr/>
          </p:nvSpPr>
          <p:spPr bwMode="gray">
            <a:xfrm>
              <a:off x="5775413" y="3100440"/>
              <a:ext cx="612068" cy="746995"/>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sp>
          <p:nvSpPr>
            <p:cNvPr id="17" name="文本框 16"/>
            <p:cNvSpPr txBox="1"/>
            <p:nvPr/>
          </p:nvSpPr>
          <p:spPr bwMode="gray">
            <a:xfrm>
              <a:off x="5707556" y="3862130"/>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latin typeface="Huawei Sans" panose="020C0503030203020204" pitchFamily="34" charset="0"/>
                  <a:ea typeface="方正兰亭黑简体" panose="02000000000000000000" pitchFamily="2" charset="-122"/>
                </a:rPr>
                <a:t>令牌桶</a:t>
              </a:r>
            </a:p>
          </p:txBody>
        </p:sp>
        <p:sp>
          <p:nvSpPr>
            <p:cNvPr id="18" name="文本框 17"/>
            <p:cNvSpPr txBox="1"/>
            <p:nvPr/>
          </p:nvSpPr>
          <p:spPr bwMode="gray">
            <a:xfrm>
              <a:off x="3723184" y="2620975"/>
              <a:ext cx="107500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不匹配规则</a:t>
              </a:r>
            </a:p>
          </p:txBody>
        </p:sp>
        <p:cxnSp>
          <p:nvCxnSpPr>
            <p:cNvPr id="19" name="直接箭头连接符 18"/>
            <p:cNvCxnSpPr/>
            <p:nvPr/>
          </p:nvCxnSpPr>
          <p:spPr bwMode="gray">
            <a:xfrm rot="16200000">
              <a:off x="4461296" y="2746959"/>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0" name="文本框 19"/>
            <p:cNvSpPr txBox="1"/>
            <p:nvPr/>
          </p:nvSpPr>
          <p:spPr bwMode="gray">
            <a:xfrm>
              <a:off x="3653252" y="1990616"/>
              <a:ext cx="2152218"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b="0" dirty="0">
                  <a:latin typeface="Huawei Sans" panose="020C0503030203020204" pitchFamily="34" charset="0"/>
                  <a:ea typeface="方正兰亭黑简体" panose="02000000000000000000" pitchFamily="2" charset="-122"/>
                </a:rPr>
                <a:t>以原速率转发</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（不需要进行流量监管）</a:t>
              </a:r>
            </a:p>
          </p:txBody>
        </p:sp>
        <p:sp>
          <p:nvSpPr>
            <p:cNvPr id="21" name="文本框 20"/>
            <p:cNvSpPr txBox="1"/>
            <p:nvPr/>
          </p:nvSpPr>
          <p:spPr bwMode="gray">
            <a:xfrm>
              <a:off x="4947320" y="3125031"/>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匹配规则</a:t>
              </a:r>
            </a:p>
          </p:txBody>
        </p:sp>
        <p:cxnSp>
          <p:nvCxnSpPr>
            <p:cNvPr id="22" name="直接箭头连接符 21"/>
            <p:cNvCxnSpPr/>
            <p:nvPr/>
          </p:nvCxnSpPr>
          <p:spPr bwMode="gray">
            <a:xfrm flipV="1">
              <a:off x="6459488" y="3053023"/>
              <a:ext cx="684076" cy="32403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4" name="矩形 23"/>
            <p:cNvSpPr/>
            <p:nvPr/>
          </p:nvSpPr>
          <p:spPr bwMode="gray">
            <a:xfrm>
              <a:off x="7323624" y="2981015"/>
              <a:ext cx="216024" cy="144016"/>
            </a:xfrm>
            <a:prstGeom prst="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5" name="矩形 24"/>
            <p:cNvSpPr/>
            <p:nvPr/>
          </p:nvSpPr>
          <p:spPr bwMode="gray">
            <a:xfrm>
              <a:off x="7323624" y="3377059"/>
              <a:ext cx="108000"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6" name="矩形 25"/>
            <p:cNvSpPr/>
            <p:nvPr/>
          </p:nvSpPr>
          <p:spPr bwMode="gray">
            <a:xfrm>
              <a:off x="7323624" y="3773103"/>
              <a:ext cx="360000"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27" name="直接箭头连接符 26"/>
            <p:cNvCxnSpPr/>
            <p:nvPr/>
          </p:nvCxnSpPr>
          <p:spPr bwMode="gray">
            <a:xfrm>
              <a:off x="6459488" y="3485071"/>
              <a:ext cx="684076"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9" name="直接箭头连接符 28"/>
            <p:cNvCxnSpPr/>
            <p:nvPr/>
          </p:nvCxnSpPr>
          <p:spPr bwMode="gray">
            <a:xfrm>
              <a:off x="6459488" y="3593083"/>
              <a:ext cx="684076" cy="28803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34" name="文本框 33"/>
            <p:cNvSpPr txBox="1"/>
            <p:nvPr/>
          </p:nvSpPr>
          <p:spPr bwMode="gray">
            <a:xfrm rot="20089401">
              <a:off x="6337622" y="2905012"/>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部分符合</a:t>
              </a:r>
            </a:p>
          </p:txBody>
        </p:sp>
        <p:sp>
          <p:nvSpPr>
            <p:cNvPr id="35" name="文本框 34"/>
            <p:cNvSpPr txBox="1"/>
            <p:nvPr/>
          </p:nvSpPr>
          <p:spPr bwMode="gray">
            <a:xfrm>
              <a:off x="6607172" y="3216972"/>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符合</a:t>
              </a:r>
            </a:p>
          </p:txBody>
        </p:sp>
        <p:sp>
          <p:nvSpPr>
            <p:cNvPr id="36" name="文本框 35"/>
            <p:cNvSpPr txBox="1"/>
            <p:nvPr/>
          </p:nvSpPr>
          <p:spPr bwMode="gray">
            <a:xfrm rot="1325838">
              <a:off x="6497665" y="3739318"/>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超标</a:t>
              </a:r>
            </a:p>
          </p:txBody>
        </p:sp>
        <p:cxnSp>
          <p:nvCxnSpPr>
            <p:cNvPr id="37" name="直接箭头连接符 36"/>
            <p:cNvCxnSpPr/>
            <p:nvPr/>
          </p:nvCxnSpPr>
          <p:spPr bwMode="gray">
            <a:xfrm>
              <a:off x="7827640" y="3053023"/>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38" name="直接箭头连接符 37"/>
            <p:cNvCxnSpPr/>
            <p:nvPr/>
          </p:nvCxnSpPr>
          <p:spPr bwMode="gray">
            <a:xfrm>
              <a:off x="7827640" y="3449067"/>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39" name="直接箭头连接符 38"/>
            <p:cNvCxnSpPr/>
            <p:nvPr/>
          </p:nvCxnSpPr>
          <p:spPr bwMode="gray">
            <a:xfrm>
              <a:off x="7827640" y="3845111"/>
              <a:ext cx="540000"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40" name="文本框 39"/>
            <p:cNvSpPr txBox="1"/>
            <p:nvPr/>
          </p:nvSpPr>
          <p:spPr bwMode="gray">
            <a:xfrm>
              <a:off x="8367700" y="2909007"/>
              <a:ext cx="170177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重标记（</a:t>
              </a:r>
              <a:r>
                <a:rPr lang="en-US" altLang="zh-CN" b="0" dirty="0">
                  <a:latin typeface="Huawei Sans" panose="020C0503030203020204" pitchFamily="34" charset="0"/>
                  <a:ea typeface="方正兰亭黑简体" panose="02000000000000000000" pitchFamily="2" charset="-122"/>
                </a:rPr>
                <a:t>Remark</a:t>
              </a:r>
              <a:r>
                <a:rPr lang="zh-CN" altLang="en-US" b="0" dirty="0">
                  <a:latin typeface="Huawei Sans" panose="020C0503030203020204" pitchFamily="34" charset="0"/>
                  <a:ea typeface="方正兰亭黑简体" panose="02000000000000000000" pitchFamily="2" charset="-122"/>
                </a:rPr>
                <a:t>）</a:t>
              </a:r>
            </a:p>
          </p:txBody>
        </p:sp>
        <p:sp>
          <p:nvSpPr>
            <p:cNvPr id="41" name="文本框 40"/>
            <p:cNvSpPr txBox="1"/>
            <p:nvPr/>
          </p:nvSpPr>
          <p:spPr bwMode="gray">
            <a:xfrm>
              <a:off x="8367700" y="3288980"/>
              <a:ext cx="124812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转发（</a:t>
              </a:r>
              <a:r>
                <a:rPr lang="en-US" altLang="zh-CN" b="0" dirty="0">
                  <a:latin typeface="Huawei Sans" panose="020C0503030203020204" pitchFamily="34" charset="0"/>
                  <a:ea typeface="方正兰亭黑简体" panose="02000000000000000000" pitchFamily="2" charset="-122"/>
                </a:rPr>
                <a:t>Pass</a:t>
              </a:r>
              <a:r>
                <a:rPr lang="zh-CN" altLang="en-US" b="0" dirty="0">
                  <a:latin typeface="Huawei Sans" panose="020C0503030203020204" pitchFamily="34" charset="0"/>
                  <a:ea typeface="方正兰亭黑简体" panose="02000000000000000000" pitchFamily="2" charset="-122"/>
                </a:rPr>
                <a:t>）</a:t>
              </a:r>
            </a:p>
          </p:txBody>
        </p:sp>
        <p:sp>
          <p:nvSpPr>
            <p:cNvPr id="42" name="文本框 41"/>
            <p:cNvSpPr txBox="1"/>
            <p:nvPr/>
          </p:nvSpPr>
          <p:spPr bwMode="gray">
            <a:xfrm>
              <a:off x="8367700" y="3701095"/>
              <a:ext cx="14981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fontAlgn="auto"/>
              <a:r>
                <a:rPr lang="zh-CN" altLang="en-US" b="0" dirty="0">
                  <a:latin typeface="Huawei Sans" panose="020C0503030203020204" pitchFamily="34" charset="0"/>
                  <a:ea typeface="方正兰亭黑简体" panose="02000000000000000000" pitchFamily="2" charset="-122"/>
                </a:rPr>
                <a:t>丢弃（</a:t>
              </a:r>
              <a:r>
                <a:rPr lang="en-US" altLang="zh-CN" b="0" dirty="0">
                  <a:latin typeface="Huawei Sans" panose="020C0503030203020204" pitchFamily="34" charset="0"/>
                  <a:ea typeface="方正兰亭黑简体" panose="02000000000000000000" pitchFamily="2" charset="-122"/>
                </a:rPr>
                <a:t>Discard</a:t>
              </a:r>
              <a:r>
                <a:rPr lang="zh-CN" altLang="en-US" b="0" dirty="0">
                  <a:latin typeface="Huawei Sans" panose="020C0503030203020204" pitchFamily="34" charset="0"/>
                  <a:ea typeface="方正兰亭黑简体" panose="02000000000000000000" pitchFamily="2" charset="-122"/>
                </a:rPr>
                <a:t>）</a:t>
              </a:r>
            </a:p>
          </p:txBody>
        </p:sp>
        <p:sp>
          <p:nvSpPr>
            <p:cNvPr id="43" name="矩形 42"/>
            <p:cNvSpPr/>
            <p:nvPr/>
          </p:nvSpPr>
          <p:spPr bwMode="gray">
            <a:xfrm>
              <a:off x="2373334" y="1936477"/>
              <a:ext cx="7776864" cy="2356127"/>
            </a:xfrm>
            <a:prstGeom prst="rect">
              <a:avLst/>
            </a:prstGeom>
            <a:noFill/>
            <a:ln w="12700">
              <a:solidFill>
                <a:schemeClr val="tx1"/>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60" name="文本框 59"/>
            <p:cNvSpPr txBox="1"/>
            <p:nvPr/>
          </p:nvSpPr>
          <p:spPr bwMode="gray">
            <a:xfrm>
              <a:off x="8483390" y="2442597"/>
              <a:ext cx="125453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latin typeface="Huawei Sans" panose="020C0503030203020204" pitchFamily="34" charset="0"/>
                  <a:ea typeface="方正兰亭黑简体" panose="02000000000000000000" pitchFamily="2" charset="-122"/>
                </a:rPr>
                <a:t>流量监管动作</a:t>
              </a:r>
            </a:p>
          </p:txBody>
        </p:sp>
      </p:grpSp>
      <p:sp>
        <p:nvSpPr>
          <p:cNvPr id="51"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52"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54"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57"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grpSp>
        <p:nvGrpSpPr>
          <p:cNvPr id="23" name="组合 22">
            <a:extLst>
              <a:ext uri="{FF2B5EF4-FFF2-40B4-BE49-F238E27FC236}">
                <a16:creationId xmlns:a16="http://schemas.microsoft.com/office/drawing/2014/main" id="{5C2772F3-FDEC-AB5C-3E7D-E1E4ED1428DF}"/>
              </a:ext>
            </a:extLst>
          </p:cNvPr>
          <p:cNvGrpSpPr/>
          <p:nvPr/>
        </p:nvGrpSpPr>
        <p:grpSpPr>
          <a:xfrm>
            <a:off x="5552400" y="5139267"/>
            <a:ext cx="4863960" cy="587520"/>
            <a:chOff x="5552400" y="5139267"/>
            <a:chExt cx="4863960" cy="587520"/>
          </a:xfrm>
        </p:grpSpPr>
        <mc:AlternateContent xmlns:mc="http://schemas.openxmlformats.org/markup-compatibility/2006">
          <mc:Choice xmlns:p14="http://schemas.microsoft.com/office/powerpoint/2010/main" Requires="p14">
            <p:contentPart p14:bwMode="auto" r:id="rId3">
              <p14:nvContentPartPr>
                <p14:cNvPr id="10" name="墨迹 9">
                  <a:extLst>
                    <a:ext uri="{FF2B5EF4-FFF2-40B4-BE49-F238E27FC236}">
                      <a16:creationId xmlns:a16="http://schemas.microsoft.com/office/drawing/2014/main" id="{6D240FD5-36D6-1DB3-DCC7-C795E691F207}"/>
                    </a:ext>
                  </a:extLst>
                </p14:cNvPr>
                <p14:cNvContentPartPr/>
                <p14:nvPr/>
              </p14:nvContentPartPr>
              <p14:xfrm>
                <a:off x="5552400" y="5139267"/>
                <a:ext cx="4863960" cy="585000"/>
              </p14:xfrm>
            </p:contentPart>
          </mc:Choice>
          <mc:Fallback>
            <p:pic>
              <p:nvPicPr>
                <p:cNvPr id="10" name="墨迹 9">
                  <a:extLst>
                    <a:ext uri="{FF2B5EF4-FFF2-40B4-BE49-F238E27FC236}">
                      <a16:creationId xmlns:a16="http://schemas.microsoft.com/office/drawing/2014/main" id="{6D240FD5-36D6-1DB3-DCC7-C795E691F207}"/>
                    </a:ext>
                  </a:extLst>
                </p:cNvPr>
                <p:cNvPicPr/>
                <p:nvPr/>
              </p:nvPicPr>
              <p:blipFill>
                <a:blip r:embed="rId4"/>
                <a:stretch>
                  <a:fillRect/>
                </a:stretch>
              </p:blipFill>
              <p:spPr>
                <a:xfrm>
                  <a:off x="5543760" y="5130627"/>
                  <a:ext cx="488160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4" name="墨迹 13">
                  <a:extLst>
                    <a:ext uri="{FF2B5EF4-FFF2-40B4-BE49-F238E27FC236}">
                      <a16:creationId xmlns:a16="http://schemas.microsoft.com/office/drawing/2014/main" id="{3766F9B6-92EE-7CD4-BAD4-80E0A185828F}"/>
                    </a:ext>
                  </a:extLst>
                </p14:cNvPr>
                <p14:cNvContentPartPr/>
                <p14:nvPr/>
              </p14:nvContentPartPr>
              <p14:xfrm>
                <a:off x="9987960" y="5570907"/>
                <a:ext cx="180720" cy="155880"/>
              </p14:xfrm>
            </p:contentPart>
          </mc:Choice>
          <mc:Fallback>
            <p:pic>
              <p:nvPicPr>
                <p:cNvPr id="14" name="墨迹 13">
                  <a:extLst>
                    <a:ext uri="{FF2B5EF4-FFF2-40B4-BE49-F238E27FC236}">
                      <a16:creationId xmlns:a16="http://schemas.microsoft.com/office/drawing/2014/main" id="{3766F9B6-92EE-7CD4-BAD4-80E0A185828F}"/>
                    </a:ext>
                  </a:extLst>
                </p:cNvPr>
                <p:cNvPicPr/>
                <p:nvPr/>
              </p:nvPicPr>
              <p:blipFill>
                <a:blip r:embed="rId6"/>
                <a:stretch>
                  <a:fillRect/>
                </a:stretch>
              </p:blipFill>
              <p:spPr>
                <a:xfrm>
                  <a:off x="9978960" y="5561907"/>
                  <a:ext cx="198360" cy="173520"/>
                </a:xfrm>
                <a:prstGeom prst="rect">
                  <a:avLst/>
                </a:prstGeom>
              </p:spPr>
            </p:pic>
          </mc:Fallback>
        </mc:AlternateContent>
      </p:grpSp>
    </p:spTree>
    <p:extLst>
      <p:ext uri="{BB962C8B-B14F-4D97-AF65-F5344CB8AC3E}">
        <p14:creationId xmlns:p14="http://schemas.microsoft.com/office/powerpoint/2010/main" val="1303788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p:cNvSpPr/>
          <p:nvPr/>
        </p:nvSpPr>
        <p:spPr bwMode="gray">
          <a:xfrm>
            <a:off x="7263543" y="2836021"/>
            <a:ext cx="2412268" cy="2052228"/>
          </a:xfrm>
          <a:prstGeom prst="rect">
            <a:avLst/>
          </a:prstGeom>
          <a:solidFill>
            <a:srgbClr val="F4FBFE"/>
          </a:solidFill>
          <a:ln w="12700">
            <a:solidFill>
              <a:srgbClr val="94DAE2"/>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18" name="矩形 117"/>
          <p:cNvSpPr/>
          <p:nvPr/>
        </p:nvSpPr>
        <p:spPr bwMode="gray">
          <a:xfrm>
            <a:off x="4383224" y="2836021"/>
            <a:ext cx="2772308" cy="2052228"/>
          </a:xfrm>
          <a:prstGeom prst="rect">
            <a:avLst/>
          </a:prstGeom>
          <a:solidFill>
            <a:srgbClr val="F4FBFE"/>
          </a:solidFill>
          <a:ln w="12700">
            <a:solidFill>
              <a:srgbClr val="94DAE2"/>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流量监管使用场景</a:t>
            </a:r>
          </a:p>
        </p:txBody>
      </p:sp>
      <p:pic>
        <p:nvPicPr>
          <p:cNvPr id="93" name="图片 9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10783" y="3458213"/>
            <a:ext cx="570707" cy="467980"/>
          </a:xfrm>
          <a:prstGeom prst="rect">
            <a:avLst/>
          </a:prstGeom>
        </p:spPr>
      </p:pic>
      <p:grpSp>
        <p:nvGrpSpPr>
          <p:cNvPr id="94" name="组合 93"/>
          <p:cNvGrpSpPr/>
          <p:nvPr/>
        </p:nvGrpSpPr>
        <p:grpSpPr bwMode="gray">
          <a:xfrm>
            <a:off x="4570523" y="3216238"/>
            <a:ext cx="1108844" cy="951931"/>
            <a:chOff x="6312024" y="2024844"/>
            <a:chExt cx="1108844" cy="951931"/>
          </a:xfrm>
        </p:grpSpPr>
        <p:pic>
          <p:nvPicPr>
            <p:cNvPr id="109" name="图片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024844"/>
              <a:ext cx="1089453" cy="951931"/>
            </a:xfrm>
            <a:prstGeom prst="rect">
              <a:avLst/>
            </a:prstGeom>
          </p:spPr>
        </p:pic>
        <p:sp>
          <p:nvSpPr>
            <p:cNvPr id="110" name="圆角矩形 109"/>
            <p:cNvSpPr/>
            <p:nvPr/>
          </p:nvSpPr>
          <p:spPr bwMode="gray">
            <a:xfrm>
              <a:off x="6592776" y="2364707"/>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rPr>
                <a:t>局域网</a:t>
              </a:r>
            </a:p>
          </p:txBody>
        </p:sp>
      </p:grpSp>
      <p:grpSp>
        <p:nvGrpSpPr>
          <p:cNvPr id="95" name="组合 94"/>
          <p:cNvGrpSpPr/>
          <p:nvPr/>
        </p:nvGrpSpPr>
        <p:grpSpPr bwMode="gray">
          <a:xfrm>
            <a:off x="8521630" y="3350165"/>
            <a:ext cx="1089453" cy="684076"/>
            <a:chOff x="6312024" y="2168860"/>
            <a:chExt cx="1089453" cy="684076"/>
          </a:xfrm>
        </p:grpSpPr>
        <p:pic>
          <p:nvPicPr>
            <p:cNvPr id="107" name="图片 10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168860"/>
              <a:ext cx="1089453" cy="684076"/>
            </a:xfrm>
            <a:prstGeom prst="rect">
              <a:avLst/>
            </a:prstGeom>
          </p:spPr>
        </p:pic>
        <p:sp>
          <p:nvSpPr>
            <p:cNvPr id="108" name="圆角矩形 107"/>
            <p:cNvSpPr/>
            <p:nvPr/>
          </p:nvSpPr>
          <p:spPr bwMode="gray">
            <a:xfrm>
              <a:off x="6420036" y="2348880"/>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rPr>
                <a:t>广域网</a:t>
              </a:r>
            </a:p>
          </p:txBody>
        </p:sp>
      </p:grpSp>
      <p:cxnSp>
        <p:nvCxnSpPr>
          <p:cNvPr id="96" name="直接连接符 95"/>
          <p:cNvCxnSpPr>
            <a:stCxn id="109" idx="3"/>
            <a:endCxn id="93" idx="1"/>
          </p:cNvCxnSpPr>
          <p:nvPr/>
        </p:nvCxnSpPr>
        <p:spPr bwMode="gray">
          <a:xfrm flipV="1">
            <a:off x="5659976" y="3692203"/>
            <a:ext cx="1250807"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7" name="直接连接符 96"/>
          <p:cNvCxnSpPr>
            <a:stCxn id="93" idx="3"/>
            <a:endCxn id="107" idx="1"/>
          </p:cNvCxnSpPr>
          <p:nvPr/>
        </p:nvCxnSpPr>
        <p:spPr bwMode="gray">
          <a:xfrm>
            <a:off x="7481490" y="3692203"/>
            <a:ext cx="10401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0" name="直接连接符 99"/>
          <p:cNvCxnSpPr/>
          <p:nvPr/>
        </p:nvCxnSpPr>
        <p:spPr bwMode="gray">
          <a:xfrm flipV="1">
            <a:off x="5830663" y="3540274"/>
            <a:ext cx="612068"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sp>
        <p:nvSpPr>
          <p:cNvPr id="101" name="圆角矩形 100"/>
          <p:cNvSpPr/>
          <p:nvPr/>
        </p:nvSpPr>
        <p:spPr bwMode="gray">
          <a:xfrm>
            <a:off x="5679367" y="3088049"/>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rPr>
              <a:t>流量方向</a:t>
            </a:r>
          </a:p>
        </p:txBody>
      </p:sp>
      <p:sp>
        <p:nvSpPr>
          <p:cNvPr id="91" name="矩形 90"/>
          <p:cNvSpPr/>
          <p:nvPr/>
        </p:nvSpPr>
        <p:spPr bwMode="gray">
          <a:xfrm>
            <a:off x="4239207" y="2692005"/>
            <a:ext cx="5580620" cy="2412268"/>
          </a:xfrm>
          <a:prstGeom prst="rect">
            <a:avLst/>
          </a:prstGeom>
          <a:noFill/>
          <a:ln w="12700">
            <a:solidFill>
              <a:schemeClr val="tx1"/>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pic>
        <p:nvPicPr>
          <p:cNvPr id="113" name="图片 112" descr="可视电话硬终端.png"/>
          <p:cNvPicPr>
            <a:picLocks noChangeAspect="1"/>
          </p:cNvPicPr>
          <p:nvPr/>
        </p:nvPicPr>
        <p:blipFill>
          <a:blip r:embed="rId5" cstate="print"/>
          <a:stretch>
            <a:fillRect/>
          </a:stretch>
        </p:blipFill>
        <p:spPr bwMode="gray">
          <a:xfrm>
            <a:off x="4515866" y="3520097"/>
            <a:ext cx="406632" cy="360000"/>
          </a:xfrm>
          <a:prstGeom prst="rect">
            <a:avLst/>
          </a:prstGeom>
        </p:spPr>
      </p:pic>
      <p:pic>
        <p:nvPicPr>
          <p:cNvPr id="114" name="图片 113" descr="管理型无线虚链路-蓝.png"/>
          <p:cNvPicPr>
            <a:picLocks noChangeAspect="1"/>
          </p:cNvPicPr>
          <p:nvPr/>
        </p:nvPicPr>
        <p:blipFill>
          <a:blip r:embed="rId6" cstate="print"/>
          <a:stretch>
            <a:fillRect/>
          </a:stretch>
        </p:blipFill>
        <p:spPr bwMode="gray">
          <a:xfrm>
            <a:off x="4923283" y="3088049"/>
            <a:ext cx="388391" cy="360000"/>
          </a:xfrm>
          <a:prstGeom prst="rect">
            <a:avLst/>
          </a:prstGeom>
        </p:spPr>
      </p:pic>
      <p:sp>
        <p:nvSpPr>
          <p:cNvPr id="112" name="envelope-doodle_16370"/>
          <p:cNvSpPr>
            <a:spLocks noChangeAspect="1"/>
          </p:cNvSpPr>
          <p:nvPr/>
        </p:nvSpPr>
        <p:spPr bwMode="gray">
          <a:xfrm>
            <a:off x="4959287" y="3988189"/>
            <a:ext cx="355143" cy="360000"/>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sp>
        <p:nvSpPr>
          <p:cNvPr id="115" name="圆角矩形 114"/>
          <p:cNvSpPr/>
          <p:nvPr/>
        </p:nvSpPr>
        <p:spPr bwMode="gray">
          <a:xfrm>
            <a:off x="4851275" y="2800017"/>
            <a:ext cx="540060" cy="28803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视频</a:t>
            </a:r>
            <a:endParaRPr kumimoji="0" lang="zh-CN" altLang="en-US" sz="12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6" name="圆角矩形 115"/>
          <p:cNvSpPr/>
          <p:nvPr/>
        </p:nvSpPr>
        <p:spPr bwMode="gray">
          <a:xfrm>
            <a:off x="4851275" y="4312185"/>
            <a:ext cx="540060" cy="28803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2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rPr>
              <a:t>数据</a:t>
            </a:r>
          </a:p>
        </p:txBody>
      </p:sp>
      <p:sp>
        <p:nvSpPr>
          <p:cNvPr id="117" name="圆角矩形 116"/>
          <p:cNvSpPr/>
          <p:nvPr/>
        </p:nvSpPr>
        <p:spPr bwMode="gray">
          <a:xfrm>
            <a:off x="4491235" y="3844133"/>
            <a:ext cx="540060" cy="28803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2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rPr>
              <a:t>语音</a:t>
            </a:r>
          </a:p>
        </p:txBody>
      </p:sp>
      <p:sp>
        <p:nvSpPr>
          <p:cNvPr id="133" name="流程图: 过程 132"/>
          <p:cNvSpPr/>
          <p:nvPr/>
        </p:nvSpPr>
        <p:spPr bwMode="gray">
          <a:xfrm>
            <a:off x="4272611" y="2460882"/>
            <a:ext cx="878070" cy="246221"/>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34" name="文本框 133"/>
          <p:cNvSpPr txBox="1"/>
          <p:nvPr/>
        </p:nvSpPr>
        <p:spPr bwMode="gray">
          <a:xfrm>
            <a:off x="4442824" y="2416341"/>
            <a:ext cx="76505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应用</a:t>
            </a:r>
            <a:r>
              <a:rPr lang="en-US" altLang="zh-CN" sz="1600" dirty="0">
                <a:latin typeface="Huawei Sans" panose="020C0503030203020204" pitchFamily="34" charset="0"/>
                <a:ea typeface="方正兰亭黑简体" panose="02000000000000000000" pitchFamily="2" charset="-122"/>
              </a:rPr>
              <a:t>1</a:t>
            </a:r>
            <a:endParaRPr lang="zh-CN" altLang="en-US" sz="1600" dirty="0">
              <a:latin typeface="Huawei Sans" panose="020C0503030203020204" pitchFamily="34" charset="0"/>
              <a:ea typeface="方正兰亭黑简体" panose="02000000000000000000" pitchFamily="2" charset="-122"/>
            </a:endParaRPr>
          </a:p>
        </p:txBody>
      </p:sp>
      <p:grpSp>
        <p:nvGrpSpPr>
          <p:cNvPr id="37" name="组合 36"/>
          <p:cNvGrpSpPr/>
          <p:nvPr/>
        </p:nvGrpSpPr>
        <p:grpSpPr bwMode="gray">
          <a:xfrm>
            <a:off x="1517272" y="3133501"/>
            <a:ext cx="2412268" cy="1224136"/>
            <a:chOff x="6996100" y="4041068"/>
            <a:chExt cx="2412268" cy="1224136"/>
          </a:xfrm>
        </p:grpSpPr>
        <p:grpSp>
          <p:nvGrpSpPr>
            <p:cNvPr id="38" name="组合 37"/>
            <p:cNvGrpSpPr/>
            <p:nvPr/>
          </p:nvGrpSpPr>
          <p:grpSpPr bwMode="gray">
            <a:xfrm>
              <a:off x="6996100" y="4041068"/>
              <a:ext cx="2412268" cy="1224136"/>
              <a:chOff x="7314609" y="4041068"/>
              <a:chExt cx="2412268" cy="1224136"/>
            </a:xfrm>
          </p:grpSpPr>
          <p:sp>
            <p:nvSpPr>
              <p:cNvPr id="40" name="矩形 39"/>
              <p:cNvSpPr/>
              <p:nvPr/>
            </p:nvSpPr>
            <p:spPr bwMode="gray">
              <a:xfrm>
                <a:off x="7320120" y="4041068"/>
                <a:ext cx="2406757" cy="1224136"/>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1" name="文本框 40"/>
              <p:cNvSpPr txBox="1"/>
              <p:nvPr/>
            </p:nvSpPr>
            <p:spPr bwMode="gray">
              <a:xfrm>
                <a:off x="7314609" y="4437112"/>
                <a:ext cx="2304256" cy="72008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基于接口的流量监管</a:t>
                </a:r>
                <a:endParaRPr lang="en-US" altLang="zh-CN" sz="1600" dirty="0">
                  <a:solidFill>
                    <a:srgbClr val="000000"/>
                  </a:solidFill>
                  <a:latin typeface="Huawei Sans" panose="020C0503030203020204" pitchFamily="34" charset="0"/>
                  <a:ea typeface="方正兰亭黑简体" panose="02000000000000000000" pitchFamily="2" charset="-122"/>
                </a:endParaRPr>
              </a:p>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基于类的流量监管</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39" name="文本框 38"/>
            <p:cNvSpPr txBox="1"/>
            <p:nvPr/>
          </p:nvSpPr>
          <p:spPr bwMode="gray">
            <a:xfrm>
              <a:off x="7008418" y="4051807"/>
              <a:ext cx="2255934"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流量监管的使用</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43" name="Rectangular Callout 42"/>
          <p:cNvSpPr/>
          <p:nvPr/>
        </p:nvSpPr>
        <p:spPr bwMode="gray">
          <a:xfrm>
            <a:off x="6566110" y="1616311"/>
            <a:ext cx="2700300" cy="921703"/>
          </a:xfrm>
          <a:prstGeom prst="wedgeRectCallout">
            <a:avLst>
              <a:gd name="adj1" fmla="val -37248"/>
              <a:gd name="adj2" fmla="val 13562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SzPct val="100000"/>
            </a:pPr>
            <a:r>
              <a:rPr lang="zh-CN" altLang="en-US" sz="1400" kern="0" dirty="0">
                <a:solidFill>
                  <a:prstClr val="black"/>
                </a:solidFill>
                <a:latin typeface="Huawei Sans" panose="020C0503030203020204" pitchFamily="34" charset="0"/>
                <a:ea typeface="方正兰亭黑简体" panose="02000000000000000000" pitchFamily="2" charset="-122"/>
              </a:rPr>
              <a:t>一般用于控制进方向流量，防止过多流量进入设备</a:t>
            </a:r>
          </a:p>
          <a:p>
            <a:pPr lvl="0">
              <a:buSzPct val="100000"/>
            </a:pPr>
            <a:r>
              <a:rPr lang="zh-CN" altLang="en-US" sz="1400" kern="0" dirty="0">
                <a:solidFill>
                  <a:prstClr val="black"/>
                </a:solidFill>
                <a:latin typeface="Huawei Sans" panose="020C0503030203020204" pitchFamily="34" charset="0"/>
                <a:ea typeface="方正兰亭黑简体" panose="02000000000000000000" pitchFamily="2" charset="-122"/>
              </a:rPr>
              <a:t>对于时延敏感流量（如：视频、语音），推荐使用</a:t>
            </a:r>
          </a:p>
        </p:txBody>
      </p:sp>
      <p:sp>
        <p:nvSpPr>
          <p:cNvPr id="44" name="Rectangular Callout 43"/>
          <p:cNvSpPr/>
          <p:nvPr/>
        </p:nvSpPr>
        <p:spPr bwMode="gray">
          <a:xfrm>
            <a:off x="6068795" y="4213825"/>
            <a:ext cx="1158745" cy="569183"/>
          </a:xfrm>
          <a:prstGeom prst="wedgeRectCallout">
            <a:avLst>
              <a:gd name="adj1" fmla="val 18886"/>
              <a:gd name="adj2" fmla="val -995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7000B"/>
                </a:solidFill>
                <a:latin typeface="Huawei Sans" panose="020C0503030203020204" pitchFamily="34" charset="0"/>
                <a:ea typeface="方正兰亭黑简体" panose="02000000000000000000" pitchFamily="2" charset="-122"/>
              </a:rPr>
              <a:t>接口入方向</a:t>
            </a:r>
            <a:endParaRPr lang="en-US" altLang="zh-CN" sz="1400" dirty="0">
              <a:solidFill>
                <a:srgbClr val="C7000B"/>
              </a:solidFill>
              <a:latin typeface="Huawei Sans" panose="020C0503030203020204" pitchFamily="34" charset="0"/>
              <a:ea typeface="方正兰亭黑简体" panose="02000000000000000000" pitchFamily="2" charset="-122"/>
            </a:endParaRPr>
          </a:p>
          <a:p>
            <a:pPr algn="ctr"/>
            <a:r>
              <a:rPr lang="zh-CN" altLang="en-US" sz="1400" dirty="0">
                <a:solidFill>
                  <a:srgbClr val="C7000B"/>
                </a:solidFill>
                <a:latin typeface="Huawei Sans" panose="020C0503030203020204" pitchFamily="34" charset="0"/>
                <a:ea typeface="方正兰亭黑简体" panose="02000000000000000000" pitchFamily="2" charset="-122"/>
              </a:rPr>
              <a:t>流量监管</a:t>
            </a:r>
          </a:p>
        </p:txBody>
      </p:sp>
      <p:sp>
        <p:nvSpPr>
          <p:cNvPr id="49" name="Oval 41"/>
          <p:cNvSpPr>
            <a:spLocks noChangeAspect="1"/>
          </p:cNvSpPr>
          <p:nvPr/>
        </p:nvSpPr>
        <p:spPr bwMode="gray">
          <a:xfrm>
            <a:off x="6837007" y="359445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2"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45"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46"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47"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33450918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135">
            <a:extLst>
              <a:ext uri="{FF2B5EF4-FFF2-40B4-BE49-F238E27FC236}">
                <a16:creationId xmlns:a16="http://schemas.microsoft.com/office/drawing/2014/main" id="{ADB81D25-B299-4F38-9292-5C24534EB58F}"/>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配置基于接口的流量监管</a:t>
            </a:r>
            <a:endParaRPr lang="en-US" dirty="0"/>
          </a:p>
        </p:txBody>
      </p:sp>
      <p:sp>
        <p:nvSpPr>
          <p:cNvPr id="27" name="Text Placeholder 2">
            <a:extLst>
              <a:ext uri="{FF2B5EF4-FFF2-40B4-BE49-F238E27FC236}">
                <a16:creationId xmlns:a16="http://schemas.microsoft.com/office/drawing/2014/main" id="{6770FB9B-3D0C-43BE-A5B8-2F539CCD8313}"/>
              </a:ext>
            </a:extLst>
          </p:cNvPr>
          <p:cNvSpPr>
            <a:spLocks noGrp="1"/>
          </p:cNvSpPr>
          <p:nvPr>
            <p:ph type="body" sz="quarter" idx="10"/>
          </p:nvPr>
        </p:nvSpPr>
        <p:spPr bwMode="gray">
          <a:xfrm>
            <a:off x="6096000" y="1243693"/>
            <a:ext cx="5616574" cy="4879805"/>
          </a:xfrm>
        </p:spPr>
        <p:txBody>
          <a:bodyPr/>
          <a:lstStyle/>
          <a:p>
            <a:r>
              <a:rPr lang="zh-CN" altLang="en-US" sz="1800" dirty="0"/>
              <a:t>基于接口的流量监管配置命令如下：</a:t>
            </a:r>
            <a:endParaRPr lang="en-US" altLang="zh-CN" sz="1800" dirty="0"/>
          </a:p>
          <a:p>
            <a:endParaRPr lang="en-US" altLang="zh-CN" sz="1800" dirty="0"/>
          </a:p>
          <a:p>
            <a:endParaRPr lang="en-US" altLang="zh-CN" sz="1800" dirty="0"/>
          </a:p>
          <a:p>
            <a:endParaRPr lang="zh-CN" altLang="en-US" sz="1800" dirty="0"/>
          </a:p>
          <a:p>
            <a:endParaRPr lang="en-US" dirty="0"/>
          </a:p>
        </p:txBody>
      </p:sp>
      <p:sp>
        <p:nvSpPr>
          <p:cNvPr id="44" name="Text Box 26">
            <a:extLst>
              <a:ext uri="{FF2B5EF4-FFF2-40B4-BE49-F238E27FC236}">
                <a16:creationId xmlns:a16="http://schemas.microsoft.com/office/drawing/2014/main" id="{E754D508-C839-4360-BC57-9F5A6EEE23AB}"/>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46" name="Straight Connector 45">
            <a:extLst>
              <a:ext uri="{FF2B5EF4-FFF2-40B4-BE49-F238E27FC236}">
                <a16:creationId xmlns:a16="http://schemas.microsoft.com/office/drawing/2014/main" id="{F7475B58-7DB9-40CE-9451-17069D55C9DE}"/>
              </a:ext>
            </a:extLst>
          </p:cNvPr>
          <p:cNvCxnSpPr>
            <a:cxnSpLocks/>
            <a:endCxn id="51"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50" name="Picture 12" descr="E:\2016.01\1.12 扁平化图标\蓝色\AR-蓝色最新-40.png">
            <a:extLst>
              <a:ext uri="{FF2B5EF4-FFF2-40B4-BE49-F238E27FC236}">
                <a16:creationId xmlns:a16="http://schemas.microsoft.com/office/drawing/2014/main" id="{048A93AB-662A-4561-84E9-EE25B4FA41E7}"/>
              </a:ext>
            </a:extLst>
          </p:cNvPr>
          <p:cNvPicPr>
            <a:picLocks noChangeAspect="1" noChangeArrowheads="1"/>
          </p:cNvPicPr>
          <p:nvPr/>
        </p:nvPicPr>
        <p:blipFill>
          <a:blip r:embed="rId3" cstate="print"/>
          <a:srcRect/>
          <a:stretch>
            <a:fillRect/>
          </a:stretch>
        </p:blipFill>
        <p:spPr bwMode="gray">
          <a:xfrm>
            <a:off x="3251684" y="1636574"/>
            <a:ext cx="540000" cy="441818"/>
          </a:xfrm>
          <a:prstGeom prst="rect">
            <a:avLst/>
          </a:prstGeom>
        </p:spPr>
      </p:pic>
      <p:pic>
        <p:nvPicPr>
          <p:cNvPr id="51" name="图片 70">
            <a:extLst>
              <a:ext uri="{FF2B5EF4-FFF2-40B4-BE49-F238E27FC236}">
                <a16:creationId xmlns:a16="http://schemas.microsoft.com/office/drawing/2014/main" id="{38ACF6AA-2EF0-4986-A706-499F30420B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53" name="Straight Connector 52">
            <a:extLst>
              <a:ext uri="{FF2B5EF4-FFF2-40B4-BE49-F238E27FC236}">
                <a16:creationId xmlns:a16="http://schemas.microsoft.com/office/drawing/2014/main" id="{48CF76A3-3A75-4C75-A9F3-48A00DD70258}"/>
              </a:ext>
            </a:extLst>
          </p:cNvPr>
          <p:cNvCxnSpPr>
            <a:cxnSpLocks/>
            <a:stCxn id="51" idx="3"/>
            <a:endCxn id="50" idx="1"/>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3BE9F69B-5E59-4496-AF0D-5050ADFF4F93}"/>
              </a:ext>
            </a:extLst>
          </p:cNvPr>
          <p:cNvCxnSpPr>
            <a:cxnSpLocks/>
            <a:stCxn id="50" idx="3"/>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59" name="Text Box 26">
            <a:extLst>
              <a:ext uri="{FF2B5EF4-FFF2-40B4-BE49-F238E27FC236}">
                <a16:creationId xmlns:a16="http://schemas.microsoft.com/office/drawing/2014/main" id="{DE07934D-625C-4363-9411-1166D2527D37}"/>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60" name="Oval 41">
            <a:extLst>
              <a:ext uri="{FF2B5EF4-FFF2-40B4-BE49-F238E27FC236}">
                <a16:creationId xmlns:a16="http://schemas.microsoft.com/office/drawing/2014/main" id="{60ABAE49-7F47-4093-80DE-0764108282B3}"/>
              </a:ext>
            </a:extLst>
          </p:cNvPr>
          <p:cNvSpPr>
            <a:spLocks noChangeAspect="1"/>
          </p:cNvSpPr>
          <p:nvPr/>
        </p:nvSpPr>
        <p:spPr bwMode="gray">
          <a:xfrm>
            <a:off x="180109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408540"/>
            <a:ext cx="541482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流量监管一般在设备入方向执行，根据需要可在终端测或者出口设备入方向部署，流量监管一般可以基于接口配置，也可以基于</a:t>
            </a:r>
            <a:r>
              <a:rPr lang="en-US" altLang="zh-CN" sz="1800" dirty="0"/>
              <a:t>MQC</a:t>
            </a:r>
            <a:r>
              <a:rPr lang="zh-CN" altLang="en-US" sz="1800" dirty="0"/>
              <a:t>配置。</a:t>
            </a:r>
            <a:endParaRPr lang="en-US" altLang="zh-CN" sz="1800" dirty="0"/>
          </a:p>
          <a:p>
            <a:pPr>
              <a:spcAft>
                <a:spcPts val="0"/>
              </a:spcAft>
            </a:pPr>
            <a:r>
              <a:rPr lang="zh-CN" altLang="en-US" sz="1800" dirty="0"/>
              <a:t>基于接口的流量监管配置思路如下：</a:t>
            </a:r>
            <a:endParaRPr lang="en-US" altLang="zh-CN" sz="1800" dirty="0"/>
          </a:p>
          <a:p>
            <a:pPr lvl="1" fontAlgn="auto">
              <a:spcAft>
                <a:spcPts val="0"/>
              </a:spcAft>
            </a:pPr>
            <a:r>
              <a:rPr lang="zh-CN" altLang="en-US" sz="1600" dirty="0"/>
              <a:t>在接口上配置流量监管的最大带宽，同时可以基于实际需求选择需要对哪些流量进行监管，也可以调整对于超出的流量实行的行为。</a:t>
            </a:r>
            <a:endParaRPr lang="en-US" sz="1600" dirty="0"/>
          </a:p>
        </p:txBody>
      </p:sp>
      <p:sp>
        <p:nvSpPr>
          <p:cNvPr id="62" name="Text Box 26">
            <a:extLst>
              <a:ext uri="{FF2B5EF4-FFF2-40B4-BE49-F238E27FC236}">
                <a16:creationId xmlns:a16="http://schemas.microsoft.com/office/drawing/2014/main" id="{EC0FFD3E-3EA1-49C0-BDD3-E209EC79923B}"/>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66" name="文本框 30">
            <a:extLst>
              <a:ext uri="{FF2B5EF4-FFF2-40B4-BE49-F238E27FC236}">
                <a16:creationId xmlns:a16="http://schemas.microsoft.com/office/drawing/2014/main" id="{C12380DA-A574-48D0-AC89-D1AAE7CEF6D1}"/>
              </a:ext>
            </a:extLst>
          </p:cNvPr>
          <p:cNvSpPr txBox="1"/>
          <p:nvPr/>
        </p:nvSpPr>
        <p:spPr bwMode="gray">
          <a:xfrm>
            <a:off x="6106886" y="1783903"/>
            <a:ext cx="5607148" cy="1600438"/>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car </a:t>
            </a:r>
            <a:r>
              <a:rPr lang="en-US" altLang="zh-CN" dirty="0">
                <a:solidFill>
                  <a:schemeClr val="tx1"/>
                </a:solidFill>
              </a:rPr>
              <a:t>[ inbound | outbound ] [ </a:t>
            </a:r>
            <a:r>
              <a:rPr lang="en-US" altLang="zh-CN" dirty="0" err="1">
                <a:solidFill>
                  <a:schemeClr val="tx1"/>
                </a:solidFill>
              </a:rPr>
              <a:t>acl</a:t>
            </a:r>
            <a:r>
              <a:rPr lang="en-US" altLang="zh-CN" dirty="0">
                <a:solidFill>
                  <a:schemeClr val="tx1"/>
                </a:solidFill>
              </a:rPr>
              <a:t> </a:t>
            </a:r>
            <a:r>
              <a:rPr lang="en-US" altLang="zh-CN" i="1" dirty="0" err="1">
                <a:solidFill>
                  <a:schemeClr val="tx1"/>
                </a:solidFill>
              </a:rPr>
              <a:t>acl</a:t>
            </a:r>
            <a:r>
              <a:rPr lang="en-US" altLang="zh-CN" i="1" dirty="0">
                <a:solidFill>
                  <a:schemeClr val="tx1"/>
                </a:solidFill>
              </a:rPr>
              <a:t>-number</a:t>
            </a:r>
            <a:r>
              <a:rPr lang="en-US" altLang="zh-CN" dirty="0">
                <a:solidFill>
                  <a:schemeClr val="tx1"/>
                </a:solidFill>
              </a:rPr>
              <a:t> |  </a:t>
            </a:r>
            <a:r>
              <a:rPr lang="en-US" altLang="zh-CN" i="1" dirty="0">
                <a:solidFill>
                  <a:schemeClr val="tx1"/>
                </a:solidFill>
              </a:rPr>
              <a:t>destination-</a:t>
            </a:r>
            <a:r>
              <a:rPr lang="en-US" altLang="zh-CN" i="1" dirty="0" err="1">
                <a:solidFill>
                  <a:schemeClr val="tx1"/>
                </a:solidFill>
              </a:rPr>
              <a:t>ip</a:t>
            </a:r>
            <a:r>
              <a:rPr lang="en-US" altLang="zh-CN" i="1" dirty="0">
                <a:solidFill>
                  <a:schemeClr val="tx1"/>
                </a:solidFill>
              </a:rPr>
              <a:t>-address</a:t>
            </a:r>
            <a:r>
              <a:rPr lang="en-US" altLang="zh-CN" dirty="0">
                <a:solidFill>
                  <a:schemeClr val="tx1"/>
                </a:solidFill>
              </a:rPr>
              <a:t> | </a:t>
            </a:r>
            <a:r>
              <a:rPr lang="en-US" altLang="zh-CN" i="1" dirty="0">
                <a:solidFill>
                  <a:schemeClr val="tx1"/>
                </a:solidFill>
              </a:rPr>
              <a:t>source-</a:t>
            </a:r>
            <a:r>
              <a:rPr lang="en-US" altLang="zh-CN" i="1" dirty="0" err="1">
                <a:solidFill>
                  <a:schemeClr val="tx1"/>
                </a:solidFill>
              </a:rPr>
              <a:t>ip</a:t>
            </a:r>
            <a:r>
              <a:rPr lang="en-US" altLang="zh-CN" i="1" dirty="0">
                <a:solidFill>
                  <a:schemeClr val="tx1"/>
                </a:solidFill>
              </a:rPr>
              <a:t>-address</a:t>
            </a:r>
            <a:r>
              <a:rPr lang="en-US" altLang="zh-CN" dirty="0">
                <a:solidFill>
                  <a:schemeClr val="tx1"/>
                </a:solidFill>
              </a:rPr>
              <a:t> ] </a:t>
            </a:r>
            <a:r>
              <a:rPr lang="en-US" altLang="zh-CN" b="1" dirty="0" err="1">
                <a:solidFill>
                  <a:schemeClr val="tx1"/>
                </a:solidFill>
              </a:rPr>
              <a:t>cir</a:t>
            </a:r>
            <a:r>
              <a:rPr lang="en-US" altLang="zh-CN" b="1" dirty="0">
                <a:solidFill>
                  <a:schemeClr val="tx1"/>
                </a:solidFill>
              </a:rPr>
              <a:t> </a:t>
            </a:r>
            <a:r>
              <a:rPr lang="en-US" altLang="zh-CN" dirty="0">
                <a:solidFill>
                  <a:schemeClr val="tx1"/>
                </a:solidFill>
              </a:rPr>
              <a:t>[</a:t>
            </a:r>
            <a:r>
              <a:rPr lang="en-US" altLang="zh-CN" i="1" dirty="0" err="1">
                <a:solidFill>
                  <a:schemeClr val="tx1"/>
                </a:solidFill>
              </a:rPr>
              <a:t>cir</a:t>
            </a:r>
            <a:r>
              <a:rPr lang="en-US" altLang="zh-CN" i="1" dirty="0">
                <a:solidFill>
                  <a:schemeClr val="tx1"/>
                </a:solidFill>
              </a:rPr>
              <a:t>-value</a:t>
            </a:r>
            <a:r>
              <a:rPr lang="en-US" altLang="zh-CN" dirty="0">
                <a:solidFill>
                  <a:schemeClr val="tx1"/>
                </a:solidFill>
              </a:rPr>
              <a:t>] [ </a:t>
            </a:r>
            <a:r>
              <a:rPr lang="en-US" altLang="zh-CN" b="1" dirty="0" err="1">
                <a:solidFill>
                  <a:schemeClr val="tx1"/>
                </a:solidFill>
              </a:rPr>
              <a:t>pir</a:t>
            </a:r>
            <a:r>
              <a:rPr lang="en-US" altLang="zh-CN" dirty="0">
                <a:solidFill>
                  <a:schemeClr val="tx1"/>
                </a:solidFill>
              </a:rPr>
              <a:t> </a:t>
            </a:r>
            <a:r>
              <a:rPr lang="en-US" altLang="zh-CN" i="1" dirty="0" err="1">
                <a:solidFill>
                  <a:schemeClr val="tx1"/>
                </a:solidFill>
              </a:rPr>
              <a:t>pir</a:t>
            </a:r>
            <a:r>
              <a:rPr lang="en-US" altLang="zh-CN" i="1" dirty="0">
                <a:solidFill>
                  <a:schemeClr val="tx1"/>
                </a:solidFill>
              </a:rPr>
              <a:t>-value </a:t>
            </a:r>
            <a:r>
              <a:rPr lang="en-US" altLang="zh-CN" dirty="0">
                <a:solidFill>
                  <a:schemeClr val="tx1"/>
                </a:solidFill>
              </a:rPr>
              <a:t>] [ </a:t>
            </a:r>
            <a:r>
              <a:rPr lang="en-US" altLang="zh-CN" b="1" dirty="0" err="1">
                <a:solidFill>
                  <a:schemeClr val="tx1"/>
                </a:solidFill>
              </a:rPr>
              <a:t>cbs</a:t>
            </a:r>
            <a:r>
              <a:rPr lang="en-US" altLang="zh-CN" dirty="0">
                <a:solidFill>
                  <a:schemeClr val="tx1"/>
                </a:solidFill>
              </a:rPr>
              <a:t> </a:t>
            </a:r>
            <a:r>
              <a:rPr lang="en-US" altLang="zh-CN" i="1" dirty="0" err="1">
                <a:solidFill>
                  <a:schemeClr val="tx1"/>
                </a:solidFill>
              </a:rPr>
              <a:t>cbs</a:t>
            </a:r>
            <a:r>
              <a:rPr lang="en-US" altLang="zh-CN" i="1" dirty="0">
                <a:solidFill>
                  <a:schemeClr val="tx1"/>
                </a:solidFill>
              </a:rPr>
              <a:t>-value</a:t>
            </a:r>
            <a:r>
              <a:rPr lang="en-US" altLang="zh-CN" dirty="0">
                <a:solidFill>
                  <a:schemeClr val="tx1"/>
                </a:solidFill>
              </a:rPr>
              <a:t> </a:t>
            </a:r>
            <a:r>
              <a:rPr lang="en-US" altLang="zh-CN" b="1" dirty="0">
                <a:solidFill>
                  <a:schemeClr val="tx1"/>
                </a:solidFill>
              </a:rPr>
              <a:t>pbs</a:t>
            </a:r>
            <a:r>
              <a:rPr lang="en-US" altLang="zh-CN" dirty="0">
                <a:solidFill>
                  <a:schemeClr val="tx1"/>
                </a:solidFill>
              </a:rPr>
              <a:t> </a:t>
            </a:r>
            <a:r>
              <a:rPr lang="en-US" altLang="zh-CN" i="1" dirty="0">
                <a:solidFill>
                  <a:schemeClr val="tx1"/>
                </a:solidFill>
              </a:rPr>
              <a:t>pbs-value</a:t>
            </a:r>
            <a:r>
              <a:rPr lang="en-US" altLang="zh-CN" dirty="0">
                <a:solidFill>
                  <a:schemeClr val="tx1"/>
                </a:solidFill>
              </a:rPr>
              <a:t> ]     //</a:t>
            </a:r>
            <a:r>
              <a:rPr lang="zh-CN" altLang="en-US" dirty="0">
                <a:solidFill>
                  <a:schemeClr val="tx1"/>
                </a:solidFill>
              </a:rPr>
              <a:t>在接口出或入方向配置对于特定流量的流量监管，其中</a:t>
            </a:r>
            <a:r>
              <a:rPr lang="en-US" altLang="zh-CN" dirty="0">
                <a:solidFill>
                  <a:schemeClr val="tx1"/>
                </a:solidFill>
              </a:rPr>
              <a:t>CIR</a:t>
            </a:r>
            <a:r>
              <a:rPr lang="zh-CN" altLang="en-US" dirty="0">
                <a:solidFill>
                  <a:schemeClr val="tx1"/>
                </a:solidFill>
              </a:rPr>
              <a:t>值必须配置，</a:t>
            </a:r>
            <a:r>
              <a:rPr lang="en-US" altLang="zh-CN" dirty="0">
                <a:solidFill>
                  <a:schemeClr val="tx1"/>
                </a:solidFill>
              </a:rPr>
              <a:t>CIR</a:t>
            </a:r>
            <a:r>
              <a:rPr lang="zh-CN" altLang="en-US" dirty="0">
                <a:solidFill>
                  <a:schemeClr val="tx1"/>
                </a:solidFill>
              </a:rPr>
              <a:t>表示流量监管的最大承诺速率，如果不配置</a:t>
            </a:r>
            <a:r>
              <a:rPr lang="en-US" altLang="zh-CN" dirty="0">
                <a:solidFill>
                  <a:schemeClr val="tx1"/>
                </a:solidFill>
              </a:rPr>
              <a:t>PIR</a:t>
            </a:r>
            <a:r>
              <a:rPr lang="zh-CN" altLang="en-US" dirty="0">
                <a:solidFill>
                  <a:schemeClr val="tx1"/>
                </a:solidFill>
              </a:rPr>
              <a:t>则</a:t>
            </a:r>
            <a:r>
              <a:rPr lang="en-US" altLang="zh-CN" dirty="0">
                <a:solidFill>
                  <a:schemeClr val="tx1"/>
                </a:solidFill>
              </a:rPr>
              <a:t>PIR=CIR</a:t>
            </a:r>
            <a:r>
              <a:rPr lang="zh-CN" altLang="en-US" dirty="0">
                <a:solidFill>
                  <a:schemeClr val="tx1"/>
                </a:solidFill>
              </a:rPr>
              <a:t>，流量无法高于承诺速率。</a:t>
            </a:r>
            <a:endParaRPr lang="en-US" altLang="zh-CN" dirty="0">
              <a:solidFill>
                <a:schemeClr val="tx1"/>
              </a:solidFill>
            </a:endParaRPr>
          </a:p>
        </p:txBody>
      </p:sp>
      <p:sp>
        <p:nvSpPr>
          <p:cNvPr id="25" name="Oval 41">
            <a:extLst>
              <a:ext uri="{FF2B5EF4-FFF2-40B4-BE49-F238E27FC236}">
                <a16:creationId xmlns:a16="http://schemas.microsoft.com/office/drawing/2014/main" id="{D48C7B28-E8C7-42C4-BD5B-CDD01C0AE5B5}"/>
              </a:ext>
            </a:extLst>
          </p:cNvPr>
          <p:cNvSpPr>
            <a:spLocks noChangeAspect="1"/>
          </p:cNvSpPr>
          <p:nvPr/>
        </p:nvSpPr>
        <p:spPr bwMode="gray">
          <a:xfrm>
            <a:off x="3179676" y="177466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26" name="图片 2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sp>
        <p:nvSpPr>
          <p:cNvPr id="28"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29"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30"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31"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925682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135">
            <a:extLst>
              <a:ext uri="{FF2B5EF4-FFF2-40B4-BE49-F238E27FC236}">
                <a16:creationId xmlns:a16="http://schemas.microsoft.com/office/drawing/2014/main" id="{ADB81D25-B299-4F38-9292-5C24534EB58F}"/>
              </a:ext>
            </a:extLst>
          </p:cNvPr>
          <p:cNvSpPr/>
          <p:nvPr/>
        </p:nvSpPr>
        <p:spPr bwMode="gray">
          <a:xfrm>
            <a:off x="1667508" y="110245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a:t>
            </a:r>
            <a:r>
              <a:rPr lang="en-US" altLang="zh-CN" dirty="0"/>
              <a:t>MQC</a:t>
            </a:r>
            <a:r>
              <a:rPr lang="zh-CN" altLang="en-US" dirty="0"/>
              <a:t>实现流量监管</a:t>
            </a:r>
            <a:endParaRPr lang="en-US" dirty="0"/>
          </a:p>
        </p:txBody>
      </p:sp>
      <p:sp>
        <p:nvSpPr>
          <p:cNvPr id="44" name="Text Box 26">
            <a:extLst>
              <a:ext uri="{FF2B5EF4-FFF2-40B4-BE49-F238E27FC236}">
                <a16:creationId xmlns:a16="http://schemas.microsoft.com/office/drawing/2014/main" id="{E754D508-C839-4360-BC57-9F5A6EEE23AB}"/>
              </a:ext>
            </a:extLst>
          </p:cNvPr>
          <p:cNvSpPr txBox="1">
            <a:spLocks noChangeArrowheads="1"/>
          </p:cNvSpPr>
          <p:nvPr/>
        </p:nvSpPr>
        <p:spPr bwMode="gray">
          <a:xfrm>
            <a:off x="1666528" y="110245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46" name="Straight Connector 45">
            <a:extLst>
              <a:ext uri="{FF2B5EF4-FFF2-40B4-BE49-F238E27FC236}">
                <a16:creationId xmlns:a16="http://schemas.microsoft.com/office/drawing/2014/main" id="{F7475B58-7DB9-40CE-9451-17069D55C9DE}"/>
              </a:ext>
            </a:extLst>
          </p:cNvPr>
          <p:cNvCxnSpPr>
            <a:cxnSpLocks/>
            <a:endCxn id="51" idx="1"/>
          </p:cNvCxnSpPr>
          <p:nvPr/>
        </p:nvCxnSpPr>
        <p:spPr bwMode="gray">
          <a:xfrm>
            <a:off x="1268390" y="158365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50" name="Picture 12" descr="E:\2016.01\1.12 扁平化图标\蓝色\AR-蓝色最新-40.png">
            <a:extLst>
              <a:ext uri="{FF2B5EF4-FFF2-40B4-BE49-F238E27FC236}">
                <a16:creationId xmlns:a16="http://schemas.microsoft.com/office/drawing/2014/main" id="{048A93AB-662A-4561-84E9-EE25B4FA41E7}"/>
              </a:ext>
            </a:extLst>
          </p:cNvPr>
          <p:cNvPicPr>
            <a:picLocks noChangeAspect="1" noChangeArrowheads="1"/>
          </p:cNvPicPr>
          <p:nvPr/>
        </p:nvPicPr>
        <p:blipFill>
          <a:blip r:embed="rId3" cstate="print"/>
          <a:srcRect/>
          <a:stretch>
            <a:fillRect/>
          </a:stretch>
        </p:blipFill>
        <p:spPr bwMode="gray">
          <a:xfrm>
            <a:off x="3251684" y="1362254"/>
            <a:ext cx="540000" cy="441818"/>
          </a:xfrm>
          <a:prstGeom prst="rect">
            <a:avLst/>
          </a:prstGeom>
        </p:spPr>
      </p:pic>
      <p:pic>
        <p:nvPicPr>
          <p:cNvPr id="51" name="图片 70">
            <a:extLst>
              <a:ext uri="{FF2B5EF4-FFF2-40B4-BE49-F238E27FC236}">
                <a16:creationId xmlns:a16="http://schemas.microsoft.com/office/drawing/2014/main" id="{38ACF6AA-2EF0-4986-A706-499F30420B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362254"/>
            <a:ext cx="540000" cy="442800"/>
          </a:xfrm>
          <a:prstGeom prst="rect">
            <a:avLst/>
          </a:prstGeom>
        </p:spPr>
      </p:pic>
      <p:cxnSp>
        <p:nvCxnSpPr>
          <p:cNvPr id="53" name="Straight Connector 52">
            <a:extLst>
              <a:ext uri="{FF2B5EF4-FFF2-40B4-BE49-F238E27FC236}">
                <a16:creationId xmlns:a16="http://schemas.microsoft.com/office/drawing/2014/main" id="{48CF76A3-3A75-4C75-A9F3-48A00DD70258}"/>
              </a:ext>
            </a:extLst>
          </p:cNvPr>
          <p:cNvCxnSpPr>
            <a:cxnSpLocks/>
            <a:stCxn id="51" idx="3"/>
            <a:endCxn id="50" idx="1"/>
          </p:cNvCxnSpPr>
          <p:nvPr/>
        </p:nvCxnSpPr>
        <p:spPr bwMode="gray">
          <a:xfrm flipV="1">
            <a:off x="2429025" y="158316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3BE9F69B-5E59-4496-AF0D-5050ADFF4F93}"/>
              </a:ext>
            </a:extLst>
          </p:cNvPr>
          <p:cNvCxnSpPr>
            <a:cxnSpLocks/>
            <a:stCxn id="50" idx="3"/>
          </p:cNvCxnSpPr>
          <p:nvPr/>
        </p:nvCxnSpPr>
        <p:spPr bwMode="gray">
          <a:xfrm>
            <a:off x="3791684" y="158316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59" name="Text Box 26">
            <a:extLst>
              <a:ext uri="{FF2B5EF4-FFF2-40B4-BE49-F238E27FC236}">
                <a16:creationId xmlns:a16="http://schemas.microsoft.com/office/drawing/2014/main" id="{DE07934D-625C-4363-9411-1166D2527D37}"/>
              </a:ext>
            </a:extLst>
          </p:cNvPr>
          <p:cNvSpPr txBox="1">
            <a:spLocks noChangeArrowheads="1"/>
          </p:cNvSpPr>
          <p:nvPr/>
        </p:nvSpPr>
        <p:spPr bwMode="gray">
          <a:xfrm>
            <a:off x="3136864" y="110245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60" name="Oval 41">
            <a:extLst>
              <a:ext uri="{FF2B5EF4-FFF2-40B4-BE49-F238E27FC236}">
                <a16:creationId xmlns:a16="http://schemas.microsoft.com/office/drawing/2014/main" id="{60ABAE49-7F47-4093-80DE-0764108282B3}"/>
              </a:ext>
            </a:extLst>
          </p:cNvPr>
          <p:cNvSpPr>
            <a:spLocks noChangeAspect="1"/>
          </p:cNvSpPr>
          <p:nvPr/>
        </p:nvSpPr>
        <p:spPr bwMode="gray">
          <a:xfrm>
            <a:off x="1801093" y="150353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134220"/>
            <a:ext cx="541482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通过</a:t>
            </a:r>
            <a:r>
              <a:rPr lang="en-US" altLang="zh-CN" sz="1800" dirty="0"/>
              <a:t>MQC</a:t>
            </a:r>
            <a:r>
              <a:rPr lang="zh-CN" altLang="en-US" sz="1800" dirty="0"/>
              <a:t>可以更细致的实现流量监管，设备可以基于数据包的五元组，</a:t>
            </a:r>
            <a:r>
              <a:rPr lang="en-US" altLang="zh-CN" sz="1800" dirty="0"/>
              <a:t>QoS</a:t>
            </a:r>
            <a:r>
              <a:rPr lang="zh-CN" altLang="en-US" sz="1800" dirty="0"/>
              <a:t>值等信息控制流量，分配不同的带宽。</a:t>
            </a:r>
            <a:endParaRPr lang="en-US" altLang="zh-CN" sz="1800" dirty="0"/>
          </a:p>
          <a:p>
            <a:pPr>
              <a:spcAft>
                <a:spcPts val="0"/>
              </a:spcAft>
            </a:pPr>
            <a:r>
              <a:rPr lang="zh-CN" altLang="en-US" sz="1800" dirty="0"/>
              <a:t>基于</a:t>
            </a:r>
            <a:r>
              <a:rPr lang="en-US" altLang="zh-CN" sz="1800" dirty="0"/>
              <a:t>MQC</a:t>
            </a:r>
            <a:r>
              <a:rPr lang="zh-CN" altLang="en-US" sz="1800" dirty="0"/>
              <a:t>的配置思路如下</a:t>
            </a:r>
            <a:endParaRPr lang="en-US" altLang="zh-CN" sz="1600" dirty="0"/>
          </a:p>
          <a:p>
            <a:pPr lvl="1" fontAlgn="auto">
              <a:spcAft>
                <a:spcPts val="0"/>
              </a:spcAft>
            </a:pPr>
            <a:r>
              <a:rPr lang="zh-CN" altLang="en-US" sz="1600" dirty="0"/>
              <a:t>配置</a:t>
            </a:r>
            <a:r>
              <a:rPr lang="en-US" altLang="zh-CN" sz="1600" dirty="0"/>
              <a:t>Traffic classifier</a:t>
            </a:r>
            <a:r>
              <a:rPr lang="zh-CN" altLang="en-US" sz="1600" dirty="0"/>
              <a:t>工具匹配流量</a:t>
            </a:r>
            <a:endParaRPr lang="en-US" altLang="zh-CN" sz="1600" dirty="0"/>
          </a:p>
          <a:p>
            <a:pPr lvl="1" fontAlgn="auto">
              <a:spcAft>
                <a:spcPts val="0"/>
              </a:spcAft>
            </a:pPr>
            <a:r>
              <a:rPr lang="zh-CN" altLang="en-US" sz="1600" dirty="0"/>
              <a:t>配置</a:t>
            </a:r>
            <a:r>
              <a:rPr lang="en-US" altLang="zh-CN" sz="1600" dirty="0"/>
              <a:t>Traffic behavior</a:t>
            </a:r>
            <a:r>
              <a:rPr lang="zh-CN" altLang="en-US" sz="1600" dirty="0"/>
              <a:t>工具定义流分类的规则</a:t>
            </a:r>
            <a:endParaRPr lang="en-US" altLang="zh-CN" sz="1600" dirty="0"/>
          </a:p>
          <a:p>
            <a:pPr lvl="1" fontAlgn="auto">
              <a:spcAft>
                <a:spcPts val="0"/>
              </a:spcAft>
            </a:pPr>
            <a:r>
              <a:rPr lang="zh-CN" altLang="en-US" sz="1600" dirty="0"/>
              <a:t>配置</a:t>
            </a:r>
            <a:r>
              <a:rPr lang="en-US" altLang="zh-CN" sz="1600" dirty="0"/>
              <a:t>Traffic policy</a:t>
            </a:r>
            <a:r>
              <a:rPr lang="zh-CN" altLang="en-US" sz="1600" dirty="0"/>
              <a:t>工具将</a:t>
            </a:r>
            <a:r>
              <a:rPr lang="en-US" altLang="zh-CN" sz="1600" dirty="0"/>
              <a:t>Traffic classifier</a:t>
            </a:r>
            <a:r>
              <a:rPr lang="zh-CN" altLang="en-US" sz="1600" dirty="0"/>
              <a:t>与</a:t>
            </a:r>
            <a:r>
              <a:rPr lang="en-US" altLang="zh-CN" sz="1600" dirty="0"/>
              <a:t>Traffic behavior</a:t>
            </a:r>
            <a:r>
              <a:rPr lang="zh-CN" altLang="en-US" sz="1600" dirty="0"/>
              <a:t>进行绑定</a:t>
            </a:r>
            <a:endParaRPr lang="en-US" altLang="zh-CN" sz="1600" dirty="0"/>
          </a:p>
          <a:p>
            <a:pPr lvl="1" fontAlgn="auto">
              <a:spcAft>
                <a:spcPts val="0"/>
              </a:spcAft>
            </a:pPr>
            <a:r>
              <a:rPr lang="zh-CN" altLang="en-US" sz="1600" dirty="0"/>
              <a:t>将</a:t>
            </a:r>
            <a:r>
              <a:rPr lang="en-US" altLang="zh-CN" sz="1600" dirty="0"/>
              <a:t>Traffic policy</a:t>
            </a:r>
            <a:r>
              <a:rPr lang="zh-CN" altLang="en-US" sz="1600" dirty="0"/>
              <a:t>应用到设备接口上</a:t>
            </a:r>
            <a:endParaRPr lang="en-US" sz="1600" dirty="0"/>
          </a:p>
        </p:txBody>
      </p:sp>
      <p:sp>
        <p:nvSpPr>
          <p:cNvPr id="62" name="Text Box 26">
            <a:extLst>
              <a:ext uri="{FF2B5EF4-FFF2-40B4-BE49-F238E27FC236}">
                <a16:creationId xmlns:a16="http://schemas.microsoft.com/office/drawing/2014/main" id="{EC0FFD3E-3EA1-49C0-BDD3-E209EC79923B}"/>
              </a:ext>
            </a:extLst>
          </p:cNvPr>
          <p:cNvSpPr txBox="1">
            <a:spLocks noChangeArrowheads="1"/>
          </p:cNvSpPr>
          <p:nvPr/>
        </p:nvSpPr>
        <p:spPr bwMode="gray">
          <a:xfrm>
            <a:off x="4009813" y="166279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63" name="文本框 30">
            <a:extLst>
              <a:ext uri="{FF2B5EF4-FFF2-40B4-BE49-F238E27FC236}">
                <a16:creationId xmlns:a16="http://schemas.microsoft.com/office/drawing/2014/main" id="{7C65D3D1-F631-4346-9232-5945947BA957}"/>
              </a:ext>
            </a:extLst>
          </p:cNvPr>
          <p:cNvSpPr txBox="1"/>
          <p:nvPr/>
        </p:nvSpPr>
        <p:spPr bwMode="gray">
          <a:xfrm>
            <a:off x="6106770" y="1095346"/>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基于流量特征匹配流量。</a:t>
            </a:r>
            <a:endParaRPr lang="en-US" altLang="zh-CN" dirty="0">
              <a:solidFill>
                <a:schemeClr val="tx1"/>
              </a:solidFill>
            </a:endParaRPr>
          </a:p>
        </p:txBody>
      </p:sp>
      <p:sp>
        <p:nvSpPr>
          <p:cNvPr id="64" name="文本框 30">
            <a:extLst>
              <a:ext uri="{FF2B5EF4-FFF2-40B4-BE49-F238E27FC236}">
                <a16:creationId xmlns:a16="http://schemas.microsoft.com/office/drawing/2014/main" id="{2AF05CCD-E336-4F23-95FE-541DCCC8BBFE}"/>
              </a:ext>
            </a:extLst>
          </p:cNvPr>
          <p:cNvSpPr txBox="1"/>
          <p:nvPr/>
        </p:nvSpPr>
        <p:spPr bwMode="gray">
          <a:xfrm>
            <a:off x="6100491" y="2222484"/>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car </a:t>
            </a:r>
            <a:r>
              <a:rPr lang="en-US" altLang="zh-CN" b="1" dirty="0" err="1">
                <a:solidFill>
                  <a:schemeClr val="tx1"/>
                </a:solidFill>
              </a:rPr>
              <a:t>cir</a:t>
            </a:r>
            <a:r>
              <a:rPr lang="en-US" altLang="zh-CN" b="1" dirty="0">
                <a:solidFill>
                  <a:schemeClr val="tx1"/>
                </a:solidFill>
              </a:rPr>
              <a:t> </a:t>
            </a:r>
            <a:r>
              <a:rPr lang="en-US" altLang="zh-CN" dirty="0">
                <a:solidFill>
                  <a:schemeClr val="tx1"/>
                </a:solidFill>
              </a:rPr>
              <a:t>[</a:t>
            </a:r>
            <a:r>
              <a:rPr lang="en-US" altLang="zh-CN" i="1" dirty="0" err="1">
                <a:solidFill>
                  <a:schemeClr val="tx1"/>
                </a:solidFill>
              </a:rPr>
              <a:t>cir</a:t>
            </a:r>
            <a:r>
              <a:rPr lang="en-US" altLang="zh-CN" i="1" dirty="0">
                <a:solidFill>
                  <a:schemeClr val="tx1"/>
                </a:solidFill>
              </a:rPr>
              <a:t>-value</a:t>
            </a:r>
            <a:r>
              <a:rPr lang="en-US" altLang="zh-CN" dirty="0">
                <a:solidFill>
                  <a:schemeClr val="tx1"/>
                </a:solidFill>
              </a:rPr>
              <a:t>] [ </a:t>
            </a:r>
            <a:r>
              <a:rPr lang="en-US" altLang="zh-CN" b="1" dirty="0" err="1">
                <a:solidFill>
                  <a:schemeClr val="tx1"/>
                </a:solidFill>
              </a:rPr>
              <a:t>pir</a:t>
            </a:r>
            <a:r>
              <a:rPr lang="en-US" altLang="zh-CN" dirty="0">
                <a:solidFill>
                  <a:schemeClr val="tx1"/>
                </a:solidFill>
              </a:rPr>
              <a:t> </a:t>
            </a:r>
            <a:r>
              <a:rPr lang="en-US" altLang="zh-CN" i="1" dirty="0" err="1">
                <a:solidFill>
                  <a:schemeClr val="tx1"/>
                </a:solidFill>
              </a:rPr>
              <a:t>pir</a:t>
            </a:r>
            <a:r>
              <a:rPr lang="en-US" altLang="zh-CN" i="1" dirty="0">
                <a:solidFill>
                  <a:schemeClr val="tx1"/>
                </a:solidFill>
              </a:rPr>
              <a:t>-value</a:t>
            </a:r>
            <a:r>
              <a:rPr lang="en-US" altLang="zh-CN" dirty="0">
                <a:solidFill>
                  <a:schemeClr val="tx1"/>
                </a:solidFill>
              </a:rPr>
              <a:t> ] [ </a:t>
            </a:r>
            <a:r>
              <a:rPr lang="en-US" altLang="zh-CN" dirty="0" err="1">
                <a:solidFill>
                  <a:schemeClr val="tx1"/>
                </a:solidFill>
              </a:rPr>
              <a:t>cbs</a:t>
            </a:r>
            <a:r>
              <a:rPr lang="en-US" altLang="zh-CN" dirty="0">
                <a:solidFill>
                  <a:schemeClr val="tx1"/>
                </a:solidFill>
              </a:rPr>
              <a:t> </a:t>
            </a:r>
            <a:r>
              <a:rPr lang="en-US" altLang="zh-CN" i="1" dirty="0" err="1">
                <a:solidFill>
                  <a:schemeClr val="tx1"/>
                </a:solidFill>
              </a:rPr>
              <a:t>cbs</a:t>
            </a:r>
            <a:r>
              <a:rPr lang="en-US" altLang="zh-CN" i="1" dirty="0">
                <a:solidFill>
                  <a:schemeClr val="tx1"/>
                </a:solidFill>
              </a:rPr>
              <a:t>-value</a:t>
            </a:r>
            <a:r>
              <a:rPr lang="en-US" altLang="zh-CN" dirty="0">
                <a:solidFill>
                  <a:schemeClr val="tx1"/>
                </a:solidFill>
              </a:rPr>
              <a:t> pbs </a:t>
            </a:r>
            <a:r>
              <a:rPr lang="en-US" altLang="zh-CN" i="1" dirty="0">
                <a:solidFill>
                  <a:schemeClr val="tx1"/>
                </a:solidFill>
              </a:rPr>
              <a:t>pbs-value</a:t>
            </a:r>
            <a:r>
              <a:rPr lang="en-US" altLang="zh-CN" dirty="0">
                <a:solidFill>
                  <a:schemeClr val="tx1"/>
                </a:solidFill>
              </a:rPr>
              <a:t> ]     //</a:t>
            </a:r>
            <a:r>
              <a:rPr lang="zh-CN" altLang="en-US" dirty="0">
                <a:solidFill>
                  <a:schemeClr val="tx1"/>
                </a:solidFill>
              </a:rPr>
              <a:t>通过</a:t>
            </a:r>
            <a:r>
              <a:rPr lang="en-US" altLang="zh-CN" dirty="0">
                <a:solidFill>
                  <a:schemeClr val="tx1"/>
                </a:solidFill>
              </a:rPr>
              <a:t>CIR</a:t>
            </a:r>
            <a:r>
              <a:rPr lang="zh-CN" altLang="en-US" dirty="0">
                <a:solidFill>
                  <a:schemeClr val="tx1"/>
                </a:solidFill>
              </a:rPr>
              <a:t>设置最大的承诺速率，通过</a:t>
            </a:r>
            <a:r>
              <a:rPr lang="en-US" altLang="zh-CN" dirty="0">
                <a:solidFill>
                  <a:schemeClr val="tx1"/>
                </a:solidFill>
              </a:rPr>
              <a:t>PIR</a:t>
            </a:r>
            <a:r>
              <a:rPr lang="zh-CN" altLang="en-US" dirty="0">
                <a:solidFill>
                  <a:schemeClr val="tx1"/>
                </a:solidFill>
              </a:rPr>
              <a:t>设置最大突发速率。</a:t>
            </a:r>
            <a:endParaRPr lang="en-US" altLang="zh-CN" dirty="0">
              <a:solidFill>
                <a:schemeClr val="tx1"/>
              </a:solidFill>
            </a:endParaRPr>
          </a:p>
        </p:txBody>
      </p:sp>
      <p:sp>
        <p:nvSpPr>
          <p:cNvPr id="65" name="文本框 30">
            <a:extLst>
              <a:ext uri="{FF2B5EF4-FFF2-40B4-BE49-F238E27FC236}">
                <a16:creationId xmlns:a16="http://schemas.microsoft.com/office/drawing/2014/main" id="{5BD7256A-1655-47B4-B7FD-045BBF92D05B}"/>
              </a:ext>
            </a:extLst>
          </p:cNvPr>
          <p:cNvSpPr txBox="1"/>
          <p:nvPr/>
        </p:nvSpPr>
        <p:spPr bwMode="gray">
          <a:xfrm>
            <a:off x="6100491" y="3565065"/>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66" name="文本框 30">
            <a:extLst>
              <a:ext uri="{FF2B5EF4-FFF2-40B4-BE49-F238E27FC236}">
                <a16:creationId xmlns:a16="http://schemas.microsoft.com/office/drawing/2014/main" id="{C12380DA-A574-48D0-AC89-D1AAE7CEF6D1}"/>
              </a:ext>
            </a:extLst>
          </p:cNvPr>
          <p:cNvSpPr txBox="1"/>
          <p:nvPr/>
        </p:nvSpPr>
        <p:spPr bwMode="gray">
          <a:xfrm>
            <a:off x="6100491" y="4907645"/>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[inbound | outbound]     //</a:t>
            </a:r>
            <a:r>
              <a:rPr lang="zh-CN" altLang="en-US" dirty="0">
                <a:solidFill>
                  <a:schemeClr val="tx1"/>
                </a:solidFill>
              </a:rPr>
              <a:t>在接口入方向上应用流策略。</a:t>
            </a:r>
            <a:endParaRPr lang="en-US" altLang="zh-CN" dirty="0">
              <a:solidFill>
                <a:schemeClr val="tx1"/>
              </a:solidFill>
            </a:endParaRPr>
          </a:p>
        </p:txBody>
      </p:sp>
      <p:sp>
        <p:nvSpPr>
          <p:cNvPr id="25" name="Oval 41">
            <a:extLst>
              <a:ext uri="{FF2B5EF4-FFF2-40B4-BE49-F238E27FC236}">
                <a16:creationId xmlns:a16="http://schemas.microsoft.com/office/drawing/2014/main" id="{979E19C8-C0BC-468C-9809-F70D8E97A068}"/>
              </a:ext>
            </a:extLst>
          </p:cNvPr>
          <p:cNvSpPr>
            <a:spLocks noChangeAspect="1"/>
          </p:cNvSpPr>
          <p:nvPr/>
        </p:nvSpPr>
        <p:spPr bwMode="gray">
          <a:xfrm>
            <a:off x="3179676" y="150034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27" name="图片 2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363680"/>
            <a:ext cx="540000" cy="442800"/>
          </a:xfrm>
          <a:prstGeom prst="rect">
            <a:avLst/>
          </a:prstGeom>
        </p:spPr>
      </p:pic>
      <p:sp>
        <p:nvSpPr>
          <p:cNvPr id="26"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28"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29"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30"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35614780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4B67-8A90-421E-BDCC-D5B3872CE0B9}"/>
              </a:ext>
            </a:extLst>
          </p:cNvPr>
          <p:cNvSpPr>
            <a:spLocks noGrp="1"/>
          </p:cNvSpPr>
          <p:nvPr>
            <p:ph type="title"/>
          </p:nvPr>
        </p:nvSpPr>
        <p:spPr bwMode="gray"/>
        <p:txBody>
          <a:bodyPr/>
          <a:lstStyle/>
          <a:p>
            <a:r>
              <a:rPr lang="zh-CN" altLang="en-US" dirty="0"/>
              <a:t>检查流量监管配置结果</a:t>
            </a:r>
            <a:endParaRPr lang="en-US" dirty="0"/>
          </a:p>
        </p:txBody>
      </p:sp>
      <p:sp>
        <p:nvSpPr>
          <p:cNvPr id="3" name="Text Placeholder 2">
            <a:extLst>
              <a:ext uri="{FF2B5EF4-FFF2-40B4-BE49-F238E27FC236}">
                <a16:creationId xmlns:a16="http://schemas.microsoft.com/office/drawing/2014/main" id="{4FE72B56-2DE8-4574-AFFA-D68F5DBDF7C7}"/>
              </a:ext>
            </a:extLst>
          </p:cNvPr>
          <p:cNvSpPr>
            <a:spLocks noGrp="1"/>
          </p:cNvSpPr>
          <p:nvPr>
            <p:ph type="body" sz="quarter" idx="10"/>
          </p:nvPr>
        </p:nvSpPr>
        <p:spPr bwMode="gray"/>
        <p:txBody>
          <a:bodyPr/>
          <a:lstStyle/>
          <a:p>
            <a:r>
              <a:rPr lang="zh-CN" altLang="en-US" sz="1800" dirty="0"/>
              <a:t>当基于接口配置流量监管后，可以通过以下命令查看配置结果：</a:t>
            </a:r>
            <a:endParaRPr lang="en-US" altLang="zh-CN" sz="1800" dirty="0"/>
          </a:p>
          <a:p>
            <a:endParaRPr lang="en-US" sz="1800" dirty="0"/>
          </a:p>
          <a:p>
            <a:endParaRPr lang="en-US" sz="1800" dirty="0"/>
          </a:p>
        </p:txBody>
      </p:sp>
      <p:sp>
        <p:nvSpPr>
          <p:cNvPr id="4" name="文本框 30">
            <a:extLst>
              <a:ext uri="{FF2B5EF4-FFF2-40B4-BE49-F238E27FC236}">
                <a16:creationId xmlns:a16="http://schemas.microsoft.com/office/drawing/2014/main" id="{A161B87F-2027-4A8C-B576-136DFF3BE804}"/>
              </a:ext>
            </a:extLst>
          </p:cNvPr>
          <p:cNvSpPr txBox="1"/>
          <p:nvPr/>
        </p:nvSpPr>
        <p:spPr bwMode="gray">
          <a:xfrm>
            <a:off x="499260" y="1574252"/>
            <a:ext cx="9128100"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qos car statistics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[inbound | outbound]    //</a:t>
            </a:r>
            <a:r>
              <a:rPr lang="zh-CN" altLang="en-US" dirty="0">
                <a:solidFill>
                  <a:schemeClr val="tx1"/>
                </a:solidFill>
              </a:rPr>
              <a:t>查看接口上通过和丢弃报文的统计信息。</a:t>
            </a:r>
          </a:p>
        </p:txBody>
      </p:sp>
      <p:sp>
        <p:nvSpPr>
          <p:cNvPr id="5" name="文本框 30">
            <a:extLst>
              <a:ext uri="{FF2B5EF4-FFF2-40B4-BE49-F238E27FC236}">
                <a16:creationId xmlns:a16="http://schemas.microsoft.com/office/drawing/2014/main" id="{F3A8CAB9-FC40-476F-9CE7-FBFAAA91C776}"/>
              </a:ext>
            </a:extLst>
          </p:cNvPr>
          <p:cNvSpPr txBox="1"/>
          <p:nvPr/>
        </p:nvSpPr>
        <p:spPr bwMode="gray">
          <a:xfrm>
            <a:off x="499260" y="3400768"/>
            <a:ext cx="9128100"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 </a:t>
            </a:r>
            <a:r>
              <a:rPr lang="en-US" altLang="zh-CN" i="1" dirty="0">
                <a:solidFill>
                  <a:schemeClr val="tx1"/>
                </a:solidFill>
              </a:rPr>
              <a:t>behavior-name</a:t>
            </a:r>
            <a:r>
              <a:rPr lang="en-US" altLang="zh-CN" dirty="0">
                <a:solidFill>
                  <a:schemeClr val="tx1"/>
                </a:solidFill>
              </a:rPr>
              <a:t> ]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
        <p:nvSpPr>
          <p:cNvPr id="11" name="矩形 10"/>
          <p:cNvSpPr/>
          <p:nvPr/>
        </p:nvSpPr>
        <p:spPr bwMode="gray">
          <a:xfrm>
            <a:off x="442913" y="2848925"/>
            <a:ext cx="8569411" cy="55024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marL="302279" indent="-302279" algn="just" defTabSz="914034" fontAlgn="ctr">
              <a:lnSpc>
                <a:spcPct val="140000"/>
              </a:lnSpc>
              <a:spcBef>
                <a:spcPts val="792"/>
              </a:spcBef>
              <a:buSzPct val="50000"/>
              <a:buFont typeface="Wingdings" panose="05000000000000000000" pitchFamily="2" charset="2"/>
              <a:buChar char="l"/>
            </a:pP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当基于</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MQC</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配置流量监管后，可以通过以下命令查看配置结果：</a:t>
            </a:r>
            <a:endParaRPr lang="en-US" altLang="zh-CN"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13"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14" name="燕尾形 155"/>
          <p:cNvSpPr/>
          <p:nvPr/>
        </p:nvSpPr>
        <p:spPr bwMode="auto">
          <a:xfrm>
            <a:off x="9756137" y="107185"/>
            <a:ext cx="983284"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15" name="燕尾形 155"/>
          <p:cNvSpPr/>
          <p:nvPr/>
        </p:nvSpPr>
        <p:spPr bwMode="auto">
          <a:xfrm>
            <a:off x="10657511" y="107185"/>
            <a:ext cx="1053460"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1484293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什么是流量整形</a:t>
            </a:r>
          </a:p>
        </p:txBody>
      </p:sp>
      <p:grpSp>
        <p:nvGrpSpPr>
          <p:cNvPr id="79" name="组合 78"/>
          <p:cNvGrpSpPr/>
          <p:nvPr/>
        </p:nvGrpSpPr>
        <p:grpSpPr bwMode="gray">
          <a:xfrm>
            <a:off x="6456040" y="1343432"/>
            <a:ext cx="4896544" cy="1800200"/>
            <a:chOff x="6860451" y="2420888"/>
            <a:chExt cx="4456129" cy="1800200"/>
          </a:xfrm>
        </p:grpSpPr>
        <p:sp>
          <p:nvSpPr>
            <p:cNvPr id="80" name="矩形 79"/>
            <p:cNvSpPr/>
            <p:nvPr/>
          </p:nvSpPr>
          <p:spPr bwMode="gray">
            <a:xfrm>
              <a:off x="6860451" y="2420888"/>
              <a:ext cx="4456129" cy="1800200"/>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1" name="文本框 80"/>
            <p:cNvSpPr txBox="1"/>
            <p:nvPr/>
          </p:nvSpPr>
          <p:spPr bwMode="gray">
            <a:xfrm>
              <a:off x="6947829" y="2431627"/>
              <a:ext cx="4281091"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流量整形</a:t>
              </a:r>
              <a:r>
                <a:rPr lang="en-US" altLang="zh-CN" sz="1600" b="1" dirty="0">
                  <a:solidFill>
                    <a:srgbClr val="000000"/>
                  </a:solidFill>
                  <a:latin typeface="Huawei Sans" panose="020C0503030203020204" pitchFamily="34" charset="0"/>
                  <a:ea typeface="方正兰亭黑简体" panose="02000000000000000000" pitchFamily="2" charset="-122"/>
                </a:rPr>
                <a:t>TS</a:t>
              </a:r>
              <a:r>
                <a:rPr lang="zh-CN" altLang="en-US" sz="1600" b="1" dirty="0">
                  <a:solidFill>
                    <a:srgbClr val="000000"/>
                  </a:solidFill>
                  <a:latin typeface="Huawei Sans" panose="020C0503030203020204" pitchFamily="34" charset="0"/>
                  <a:ea typeface="方正兰亭黑简体" panose="02000000000000000000" pitchFamily="2" charset="-122"/>
                </a:rPr>
                <a:t>（</a:t>
              </a:r>
              <a:r>
                <a:rPr lang="en-US" altLang="zh-CN" sz="1600" b="1" dirty="0">
                  <a:solidFill>
                    <a:srgbClr val="000000"/>
                  </a:solidFill>
                  <a:latin typeface="Huawei Sans" panose="020C0503030203020204" pitchFamily="34" charset="0"/>
                  <a:ea typeface="方正兰亭黑简体" panose="02000000000000000000" pitchFamily="2" charset="-122"/>
                </a:rPr>
                <a:t>Traffic Shaping</a:t>
              </a:r>
              <a:r>
                <a:rPr lang="zh-CN" altLang="en-US" sz="1600" b="1"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82" name="文本框 81"/>
            <p:cNvSpPr txBox="1"/>
            <p:nvPr/>
          </p:nvSpPr>
          <p:spPr bwMode="gray">
            <a:xfrm>
              <a:off x="6947829" y="2780928"/>
              <a:ext cx="4364765" cy="131976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是一种主动调整流量输出速率的措施。</a:t>
              </a:r>
              <a:endParaRPr lang="en-US" altLang="zh-CN" sz="1600" dirty="0">
                <a:solidFill>
                  <a:srgbClr val="000000"/>
                </a:solidFill>
                <a:latin typeface="Huawei Sans" panose="020C0503030203020204" pitchFamily="34" charset="0"/>
                <a:ea typeface="方正兰亭黑简体" panose="02000000000000000000" pitchFamily="2" charset="-122"/>
              </a:endParaRPr>
            </a:p>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通过在上游设备的</a:t>
              </a:r>
              <a:r>
                <a:rPr lang="zh-CN" altLang="en-US" sz="1600" dirty="0">
                  <a:solidFill>
                    <a:srgbClr val="C7000B"/>
                  </a:solidFill>
                  <a:latin typeface="Huawei Sans" panose="020C0503030203020204" pitchFamily="34" charset="0"/>
                  <a:ea typeface="方正兰亭黑简体" panose="02000000000000000000" pitchFamily="2" charset="-122"/>
                </a:rPr>
                <a:t>接口出方向</a:t>
              </a:r>
              <a:r>
                <a:rPr lang="zh-CN" altLang="en-US" sz="1600" dirty="0">
                  <a:solidFill>
                    <a:srgbClr val="000000"/>
                  </a:solidFill>
                  <a:latin typeface="Huawei Sans" panose="020C0503030203020204" pitchFamily="34" charset="0"/>
                  <a:ea typeface="方正兰亭黑简体" panose="02000000000000000000" pitchFamily="2" charset="-122"/>
                </a:rPr>
                <a:t>配置流量整形，将上游不规整的流量进行</a:t>
              </a:r>
              <a:r>
                <a:rPr lang="zh-CN" altLang="en-US" sz="1600" dirty="0">
                  <a:solidFill>
                    <a:srgbClr val="C7000B"/>
                  </a:solidFill>
                  <a:latin typeface="Huawei Sans" panose="020C0503030203020204" pitchFamily="34" charset="0"/>
                  <a:ea typeface="方正兰亭黑简体" panose="02000000000000000000" pitchFamily="2" charset="-122"/>
                </a:rPr>
                <a:t>削峰填谷</a:t>
              </a:r>
              <a:r>
                <a:rPr lang="zh-CN" altLang="en-US" sz="1600" dirty="0">
                  <a:solidFill>
                    <a:srgbClr val="000000"/>
                  </a:solidFill>
                  <a:latin typeface="Huawei Sans" panose="020C0503030203020204" pitchFamily="34" charset="0"/>
                  <a:ea typeface="方正兰亭黑简体" panose="02000000000000000000" pitchFamily="2" charset="-122"/>
                </a:rPr>
                <a:t>，输出一条比较平整的流量，从而解决下游设备的瞬时拥塞问题。</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92" name="下箭头 91"/>
          <p:cNvSpPr/>
          <p:nvPr/>
        </p:nvSpPr>
        <p:spPr bwMode="gray">
          <a:xfrm>
            <a:off x="8976320" y="3422331"/>
            <a:ext cx="216024" cy="37731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01" name="组合 100"/>
          <p:cNvGrpSpPr/>
          <p:nvPr/>
        </p:nvGrpSpPr>
        <p:grpSpPr bwMode="gray">
          <a:xfrm>
            <a:off x="7099302" y="4043732"/>
            <a:ext cx="4243144" cy="828092"/>
            <a:chOff x="6860451" y="2420888"/>
            <a:chExt cx="4647468" cy="828092"/>
          </a:xfrm>
        </p:grpSpPr>
        <p:sp>
          <p:nvSpPr>
            <p:cNvPr id="102" name="矩形 101"/>
            <p:cNvSpPr/>
            <p:nvPr/>
          </p:nvSpPr>
          <p:spPr bwMode="gray">
            <a:xfrm>
              <a:off x="6860451" y="2420888"/>
              <a:ext cx="4647468" cy="828092"/>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3" name="文本框 102"/>
            <p:cNvSpPr txBox="1"/>
            <p:nvPr/>
          </p:nvSpPr>
          <p:spPr bwMode="gray">
            <a:xfrm>
              <a:off x="6947829" y="2431627"/>
              <a:ext cx="4281091"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流量整形的实现</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104" name="文本框 103"/>
            <p:cNvSpPr txBox="1"/>
            <p:nvPr/>
          </p:nvSpPr>
          <p:spPr bwMode="gray">
            <a:xfrm>
              <a:off x="6947829" y="2756112"/>
              <a:ext cx="4364765"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通常使用</a:t>
              </a:r>
              <a:r>
                <a:rPr lang="zh-CN" altLang="en-US" sz="1600" dirty="0">
                  <a:solidFill>
                    <a:srgbClr val="C7000B"/>
                  </a:solidFill>
                  <a:latin typeface="Huawei Sans" panose="020C0503030203020204" pitchFamily="34" charset="0"/>
                  <a:ea typeface="方正兰亭黑简体" panose="02000000000000000000" pitchFamily="2" charset="-122"/>
                </a:rPr>
                <a:t>缓冲区</a:t>
              </a:r>
              <a:r>
                <a:rPr lang="zh-CN" altLang="en-US" sz="1600" dirty="0">
                  <a:solidFill>
                    <a:srgbClr val="000000"/>
                  </a:solidFill>
                  <a:latin typeface="Huawei Sans" panose="020C0503030203020204" pitchFamily="34" charset="0"/>
                  <a:ea typeface="方正兰亭黑简体" panose="02000000000000000000" pitchFamily="2" charset="-122"/>
                </a:rPr>
                <a:t>和</a:t>
              </a:r>
              <a:r>
                <a:rPr lang="zh-CN" altLang="en-US" sz="1600" dirty="0">
                  <a:solidFill>
                    <a:srgbClr val="C7000B"/>
                  </a:solidFill>
                  <a:latin typeface="Huawei Sans" panose="020C0503030203020204" pitchFamily="34" charset="0"/>
                  <a:ea typeface="方正兰亭黑简体" panose="02000000000000000000" pitchFamily="2" charset="-122"/>
                </a:rPr>
                <a:t>令牌桶</a:t>
              </a:r>
              <a:r>
                <a:rPr lang="zh-CN" altLang="en-US" sz="1600" dirty="0">
                  <a:solidFill>
                    <a:srgbClr val="000000"/>
                  </a:solidFill>
                  <a:latin typeface="Huawei Sans" panose="020C0503030203020204" pitchFamily="34" charset="0"/>
                  <a:ea typeface="方正兰亭黑简体" panose="02000000000000000000" pitchFamily="2" charset="-122"/>
                </a:rPr>
                <a:t>来完成。</a:t>
              </a:r>
            </a:p>
          </p:txBody>
        </p:sp>
      </p:grpSp>
      <p:grpSp>
        <p:nvGrpSpPr>
          <p:cNvPr id="105" name="组合 104"/>
          <p:cNvGrpSpPr/>
          <p:nvPr/>
        </p:nvGrpSpPr>
        <p:grpSpPr bwMode="gray">
          <a:xfrm>
            <a:off x="7099302" y="4979836"/>
            <a:ext cx="4243144" cy="828092"/>
            <a:chOff x="6860451" y="2420888"/>
            <a:chExt cx="4647469" cy="828092"/>
          </a:xfrm>
        </p:grpSpPr>
        <p:sp>
          <p:nvSpPr>
            <p:cNvPr id="106" name="矩形 105"/>
            <p:cNvSpPr/>
            <p:nvPr/>
          </p:nvSpPr>
          <p:spPr bwMode="gray">
            <a:xfrm>
              <a:off x="6860451" y="2420888"/>
              <a:ext cx="4647469" cy="828092"/>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7" name="文本框 106"/>
            <p:cNvSpPr txBox="1"/>
            <p:nvPr/>
          </p:nvSpPr>
          <p:spPr bwMode="gray">
            <a:xfrm>
              <a:off x="6947829" y="2431627"/>
              <a:ext cx="4281091"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令牌桶类型：</a:t>
              </a:r>
              <a:r>
                <a:rPr lang="zh-CN" altLang="en-US" sz="1600" dirty="0">
                  <a:solidFill>
                    <a:srgbClr val="000000"/>
                  </a:solidFill>
                  <a:latin typeface="Huawei Sans" panose="020C0503030203020204" pitchFamily="34" charset="0"/>
                  <a:ea typeface="方正兰亭黑简体" panose="02000000000000000000" pitchFamily="2" charset="-122"/>
                </a:rPr>
                <a:t>单速单桶</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108" name="文本框 107"/>
            <p:cNvSpPr txBox="1"/>
            <p:nvPr/>
          </p:nvSpPr>
          <p:spPr bwMode="gray">
            <a:xfrm>
              <a:off x="6947828" y="2744924"/>
              <a:ext cx="4456129"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评估结果：</a:t>
              </a:r>
              <a:r>
                <a:rPr lang="zh-CN" altLang="en-US" sz="1600" dirty="0">
                  <a:solidFill>
                    <a:srgbClr val="000000"/>
                  </a:solidFill>
                  <a:latin typeface="Huawei Sans" panose="020C0503030203020204" pitchFamily="34" charset="0"/>
                  <a:ea typeface="方正兰亭黑简体" panose="02000000000000000000" pitchFamily="2" charset="-122"/>
                </a:rPr>
                <a:t>符合（</a:t>
              </a:r>
              <a:r>
                <a:rPr lang="en-US" altLang="zh-CN" sz="1600" dirty="0">
                  <a:solidFill>
                    <a:srgbClr val="000000"/>
                  </a:solidFill>
                  <a:latin typeface="Huawei Sans" panose="020C0503030203020204" pitchFamily="34" charset="0"/>
                  <a:ea typeface="方正兰亭黑简体" panose="02000000000000000000" pitchFamily="2" charset="-122"/>
                </a:rPr>
                <a:t>Green</a:t>
              </a:r>
              <a:r>
                <a:rPr lang="zh-CN" altLang="en-US" sz="1600" dirty="0">
                  <a:solidFill>
                    <a:srgbClr val="000000"/>
                  </a:solidFill>
                  <a:latin typeface="Huawei Sans" panose="020C0503030203020204" pitchFamily="34" charset="0"/>
                  <a:ea typeface="方正兰亭黑简体" panose="02000000000000000000" pitchFamily="2" charset="-122"/>
                </a:rPr>
                <a:t>），超标（</a:t>
              </a:r>
              <a:r>
                <a:rPr lang="en-US" altLang="zh-CN" sz="1600" dirty="0">
                  <a:solidFill>
                    <a:srgbClr val="000000"/>
                  </a:solidFill>
                  <a:latin typeface="Huawei Sans" panose="020C0503030203020204" pitchFamily="34" charset="0"/>
                  <a:ea typeface="方正兰亭黑简体" panose="02000000000000000000" pitchFamily="2" charset="-122"/>
                </a:rPr>
                <a:t>Red</a:t>
              </a:r>
              <a:r>
                <a:rPr lang="zh-CN" altLang="en-US" sz="1600" dirty="0">
                  <a:solidFill>
                    <a:srgbClr val="000000"/>
                  </a:solidFill>
                  <a:latin typeface="Huawei Sans" panose="020C0503030203020204" pitchFamily="34" charset="0"/>
                  <a:ea typeface="方正兰亭黑简体" panose="02000000000000000000" pitchFamily="2" charset="-122"/>
                </a:rPr>
                <a:t>）</a:t>
              </a:r>
            </a:p>
          </p:txBody>
        </p:sp>
      </p:grpSp>
      <p:cxnSp>
        <p:nvCxnSpPr>
          <p:cNvPr id="20" name="肘形连接符 19"/>
          <p:cNvCxnSpPr/>
          <p:nvPr/>
        </p:nvCxnSpPr>
        <p:spPr bwMode="gray">
          <a:xfrm>
            <a:off x="1343472" y="4276440"/>
            <a:ext cx="4860540" cy="1548866"/>
          </a:xfrm>
          <a:prstGeom prst="bentConnector3">
            <a:avLst>
              <a:gd name="adj1" fmla="val 94"/>
            </a:avLst>
          </a:prstGeom>
          <a:solidFill>
            <a:schemeClr val="accent1"/>
          </a:solidFill>
          <a:ln w="28575" cap="flat" cmpd="sng" algn="ctr">
            <a:solidFill>
              <a:schemeClr val="tx1"/>
            </a:solidFill>
            <a:prstDash val="solid"/>
            <a:round/>
            <a:headEnd type="triangle"/>
            <a:tailEnd type="triangle"/>
          </a:ln>
          <a:effectLst/>
        </p:spPr>
      </p:cxnSp>
      <p:sp>
        <p:nvSpPr>
          <p:cNvPr id="68" name="任意多边形 67"/>
          <p:cNvSpPr/>
          <p:nvPr/>
        </p:nvSpPr>
        <p:spPr bwMode="gray">
          <a:xfrm>
            <a:off x="1350072" y="4659662"/>
            <a:ext cx="4678680" cy="1165860"/>
          </a:xfrm>
          <a:custGeom>
            <a:avLst/>
            <a:gdLst>
              <a:gd name="connsiteX0" fmla="*/ 0 w 4678680"/>
              <a:gd name="connsiteY0" fmla="*/ 1165860 h 1165860"/>
              <a:gd name="connsiteX1" fmla="*/ 281940 w 4678680"/>
              <a:gd name="connsiteY1" fmla="*/ 525780 h 1165860"/>
              <a:gd name="connsiteX2" fmla="*/ 525780 w 4678680"/>
              <a:gd name="connsiteY2" fmla="*/ 38100 h 1165860"/>
              <a:gd name="connsiteX3" fmla="*/ 807720 w 4678680"/>
              <a:gd name="connsiteY3" fmla="*/ 518160 h 1165860"/>
              <a:gd name="connsiteX4" fmla="*/ 1165860 w 4678680"/>
              <a:gd name="connsiteY4" fmla="*/ 952500 h 1165860"/>
              <a:gd name="connsiteX5" fmla="*/ 1501140 w 4678680"/>
              <a:gd name="connsiteY5" fmla="*/ 525780 h 1165860"/>
              <a:gd name="connsiteX6" fmla="*/ 1729740 w 4678680"/>
              <a:gd name="connsiteY6" fmla="*/ 0 h 1165860"/>
              <a:gd name="connsiteX7" fmla="*/ 2087880 w 4678680"/>
              <a:gd name="connsiteY7" fmla="*/ 525780 h 1165860"/>
              <a:gd name="connsiteX8" fmla="*/ 2377440 w 4678680"/>
              <a:gd name="connsiteY8" fmla="*/ 922020 h 1165860"/>
              <a:gd name="connsiteX9" fmla="*/ 2674620 w 4678680"/>
              <a:gd name="connsiteY9" fmla="*/ 518160 h 1165860"/>
              <a:gd name="connsiteX10" fmla="*/ 3002280 w 4678680"/>
              <a:gd name="connsiteY10" fmla="*/ 922020 h 1165860"/>
              <a:gd name="connsiteX11" fmla="*/ 3314700 w 4678680"/>
              <a:gd name="connsiteY11" fmla="*/ 121920 h 1165860"/>
              <a:gd name="connsiteX12" fmla="*/ 3611880 w 4678680"/>
              <a:gd name="connsiteY12" fmla="*/ 525780 h 1165860"/>
              <a:gd name="connsiteX13" fmla="*/ 3810000 w 4678680"/>
              <a:gd name="connsiteY13" fmla="*/ 906780 h 1165860"/>
              <a:gd name="connsiteX14" fmla="*/ 4015740 w 4678680"/>
              <a:gd name="connsiteY14" fmla="*/ 647700 h 1165860"/>
              <a:gd name="connsiteX15" fmla="*/ 4396740 w 4678680"/>
              <a:gd name="connsiteY15" fmla="*/ 899160 h 1165860"/>
              <a:gd name="connsiteX16" fmla="*/ 4678680 w 4678680"/>
              <a:gd name="connsiteY16" fmla="*/ 28194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78680" h="1165860">
                <a:moveTo>
                  <a:pt x="0" y="1165860"/>
                </a:moveTo>
                <a:cubicBezTo>
                  <a:pt x="97155" y="939800"/>
                  <a:pt x="194310" y="713740"/>
                  <a:pt x="281940" y="525780"/>
                </a:cubicBezTo>
                <a:cubicBezTo>
                  <a:pt x="369570" y="337820"/>
                  <a:pt x="438150" y="39370"/>
                  <a:pt x="525780" y="38100"/>
                </a:cubicBezTo>
                <a:cubicBezTo>
                  <a:pt x="613410" y="36830"/>
                  <a:pt x="701040" y="365760"/>
                  <a:pt x="807720" y="518160"/>
                </a:cubicBezTo>
                <a:cubicBezTo>
                  <a:pt x="914400" y="670560"/>
                  <a:pt x="1050290" y="951230"/>
                  <a:pt x="1165860" y="952500"/>
                </a:cubicBezTo>
                <a:cubicBezTo>
                  <a:pt x="1281430" y="953770"/>
                  <a:pt x="1407160" y="684530"/>
                  <a:pt x="1501140" y="525780"/>
                </a:cubicBezTo>
                <a:cubicBezTo>
                  <a:pt x="1595120" y="367030"/>
                  <a:pt x="1631950" y="0"/>
                  <a:pt x="1729740" y="0"/>
                </a:cubicBezTo>
                <a:cubicBezTo>
                  <a:pt x="1827530" y="0"/>
                  <a:pt x="1979930" y="372110"/>
                  <a:pt x="2087880" y="525780"/>
                </a:cubicBezTo>
                <a:cubicBezTo>
                  <a:pt x="2195830" y="679450"/>
                  <a:pt x="2279650" y="923290"/>
                  <a:pt x="2377440" y="922020"/>
                </a:cubicBezTo>
                <a:cubicBezTo>
                  <a:pt x="2475230" y="920750"/>
                  <a:pt x="2570480" y="518160"/>
                  <a:pt x="2674620" y="518160"/>
                </a:cubicBezTo>
                <a:cubicBezTo>
                  <a:pt x="2778760" y="518160"/>
                  <a:pt x="2895600" y="988060"/>
                  <a:pt x="3002280" y="922020"/>
                </a:cubicBezTo>
                <a:cubicBezTo>
                  <a:pt x="3108960" y="855980"/>
                  <a:pt x="3213100" y="187960"/>
                  <a:pt x="3314700" y="121920"/>
                </a:cubicBezTo>
                <a:cubicBezTo>
                  <a:pt x="3416300" y="55880"/>
                  <a:pt x="3529330" y="394970"/>
                  <a:pt x="3611880" y="525780"/>
                </a:cubicBezTo>
                <a:cubicBezTo>
                  <a:pt x="3694430" y="656590"/>
                  <a:pt x="3742690" y="886460"/>
                  <a:pt x="3810000" y="906780"/>
                </a:cubicBezTo>
                <a:cubicBezTo>
                  <a:pt x="3877310" y="927100"/>
                  <a:pt x="3917950" y="648970"/>
                  <a:pt x="4015740" y="647700"/>
                </a:cubicBezTo>
                <a:cubicBezTo>
                  <a:pt x="4113530" y="646430"/>
                  <a:pt x="4286250" y="960120"/>
                  <a:pt x="4396740" y="899160"/>
                </a:cubicBezTo>
                <a:cubicBezTo>
                  <a:pt x="4507230" y="838200"/>
                  <a:pt x="4592955" y="560070"/>
                  <a:pt x="4678680" y="281940"/>
                </a:cubicBezTo>
              </a:path>
            </a:pathLst>
          </a:custGeom>
          <a:noFill/>
          <a:ln w="19050">
            <a:solidFill>
              <a:srgbClr val="EC7061"/>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9" name="任意多边形 68"/>
          <p:cNvSpPr/>
          <p:nvPr/>
        </p:nvSpPr>
        <p:spPr bwMode="gray">
          <a:xfrm>
            <a:off x="1350072" y="5112850"/>
            <a:ext cx="4770120" cy="712671"/>
          </a:xfrm>
          <a:custGeom>
            <a:avLst/>
            <a:gdLst>
              <a:gd name="connsiteX0" fmla="*/ 0 w 4770120"/>
              <a:gd name="connsiteY0" fmla="*/ 647700 h 647700"/>
              <a:gd name="connsiteX1" fmla="*/ 281940 w 4770120"/>
              <a:gd name="connsiteY1" fmla="*/ 15240 h 647700"/>
              <a:gd name="connsiteX2" fmla="*/ 2659380 w 4770120"/>
              <a:gd name="connsiteY2" fmla="*/ 0 h 647700"/>
              <a:gd name="connsiteX3" fmla="*/ 2987040 w 4770120"/>
              <a:gd name="connsiteY3" fmla="*/ 419100 h 647700"/>
              <a:gd name="connsiteX4" fmla="*/ 3169920 w 4770120"/>
              <a:gd name="connsiteY4" fmla="*/ 0 h 647700"/>
              <a:gd name="connsiteX5" fmla="*/ 3962400 w 4770120"/>
              <a:gd name="connsiteY5" fmla="*/ 0 h 647700"/>
              <a:gd name="connsiteX6" fmla="*/ 4351020 w 4770120"/>
              <a:gd name="connsiteY6" fmla="*/ 388620 h 647700"/>
              <a:gd name="connsiteX7" fmla="*/ 4625340 w 4770120"/>
              <a:gd name="connsiteY7" fmla="*/ 7620 h 647700"/>
              <a:gd name="connsiteX8" fmla="*/ 4770120 w 4770120"/>
              <a:gd name="connsiteY8" fmla="*/ 7620 h 647700"/>
              <a:gd name="connsiteX0" fmla="*/ 0 w 4770120"/>
              <a:gd name="connsiteY0" fmla="*/ 705857 h 705857"/>
              <a:gd name="connsiteX1" fmla="*/ 281940 w 4770120"/>
              <a:gd name="connsiteY1" fmla="*/ 73397 h 705857"/>
              <a:gd name="connsiteX2" fmla="*/ 2659380 w 4770120"/>
              <a:gd name="connsiteY2" fmla="*/ 58157 h 705857"/>
              <a:gd name="connsiteX3" fmla="*/ 2987040 w 4770120"/>
              <a:gd name="connsiteY3" fmla="*/ 477257 h 705857"/>
              <a:gd name="connsiteX4" fmla="*/ 3169920 w 4770120"/>
              <a:gd name="connsiteY4" fmla="*/ 58157 h 705857"/>
              <a:gd name="connsiteX5" fmla="*/ 3962400 w 4770120"/>
              <a:gd name="connsiteY5" fmla="*/ 58157 h 705857"/>
              <a:gd name="connsiteX6" fmla="*/ 4351020 w 4770120"/>
              <a:gd name="connsiteY6" fmla="*/ 446777 h 705857"/>
              <a:gd name="connsiteX7" fmla="*/ 4625340 w 4770120"/>
              <a:gd name="connsiteY7" fmla="*/ 65777 h 705857"/>
              <a:gd name="connsiteX8" fmla="*/ 4770120 w 4770120"/>
              <a:gd name="connsiteY8" fmla="*/ 65777 h 705857"/>
              <a:gd name="connsiteX0" fmla="*/ 0 w 4770120"/>
              <a:gd name="connsiteY0" fmla="*/ 753240 h 753240"/>
              <a:gd name="connsiteX1" fmla="*/ 281940 w 4770120"/>
              <a:gd name="connsiteY1" fmla="*/ 120780 h 753240"/>
              <a:gd name="connsiteX2" fmla="*/ 2659380 w 4770120"/>
              <a:gd name="connsiteY2" fmla="*/ 105540 h 753240"/>
              <a:gd name="connsiteX3" fmla="*/ 2987040 w 4770120"/>
              <a:gd name="connsiteY3" fmla="*/ 524640 h 753240"/>
              <a:gd name="connsiteX4" fmla="*/ 3169920 w 4770120"/>
              <a:gd name="connsiteY4" fmla="*/ 105540 h 753240"/>
              <a:gd name="connsiteX5" fmla="*/ 3962400 w 4770120"/>
              <a:gd name="connsiteY5" fmla="*/ 105540 h 753240"/>
              <a:gd name="connsiteX6" fmla="*/ 4351020 w 4770120"/>
              <a:gd name="connsiteY6" fmla="*/ 494160 h 753240"/>
              <a:gd name="connsiteX7" fmla="*/ 4625340 w 4770120"/>
              <a:gd name="connsiteY7" fmla="*/ 113160 h 753240"/>
              <a:gd name="connsiteX8" fmla="*/ 4770120 w 4770120"/>
              <a:gd name="connsiteY8" fmla="*/ 113160 h 753240"/>
              <a:gd name="connsiteX0" fmla="*/ 0 w 4770120"/>
              <a:gd name="connsiteY0" fmla="*/ 759805 h 759805"/>
              <a:gd name="connsiteX1" fmla="*/ 281940 w 4770120"/>
              <a:gd name="connsiteY1" fmla="*/ 127345 h 759805"/>
              <a:gd name="connsiteX2" fmla="*/ 2659380 w 4770120"/>
              <a:gd name="connsiteY2" fmla="*/ 112105 h 759805"/>
              <a:gd name="connsiteX3" fmla="*/ 2987040 w 4770120"/>
              <a:gd name="connsiteY3" fmla="*/ 531205 h 759805"/>
              <a:gd name="connsiteX4" fmla="*/ 3169920 w 4770120"/>
              <a:gd name="connsiteY4" fmla="*/ 112105 h 759805"/>
              <a:gd name="connsiteX5" fmla="*/ 3962400 w 4770120"/>
              <a:gd name="connsiteY5" fmla="*/ 112105 h 759805"/>
              <a:gd name="connsiteX6" fmla="*/ 4351020 w 4770120"/>
              <a:gd name="connsiteY6" fmla="*/ 500725 h 759805"/>
              <a:gd name="connsiteX7" fmla="*/ 4625340 w 4770120"/>
              <a:gd name="connsiteY7" fmla="*/ 119725 h 759805"/>
              <a:gd name="connsiteX8" fmla="*/ 4770120 w 4770120"/>
              <a:gd name="connsiteY8" fmla="*/ 119725 h 759805"/>
              <a:gd name="connsiteX0" fmla="*/ 0 w 4770120"/>
              <a:gd name="connsiteY0" fmla="*/ 721079 h 721079"/>
              <a:gd name="connsiteX1" fmla="*/ 281940 w 4770120"/>
              <a:gd name="connsiteY1" fmla="*/ 88619 h 721079"/>
              <a:gd name="connsiteX2" fmla="*/ 2659380 w 4770120"/>
              <a:gd name="connsiteY2" fmla="*/ 73379 h 721079"/>
              <a:gd name="connsiteX3" fmla="*/ 2987040 w 4770120"/>
              <a:gd name="connsiteY3" fmla="*/ 492479 h 721079"/>
              <a:gd name="connsiteX4" fmla="*/ 3169920 w 4770120"/>
              <a:gd name="connsiteY4" fmla="*/ 73379 h 721079"/>
              <a:gd name="connsiteX5" fmla="*/ 3962400 w 4770120"/>
              <a:gd name="connsiteY5" fmla="*/ 73379 h 721079"/>
              <a:gd name="connsiteX6" fmla="*/ 4351020 w 4770120"/>
              <a:gd name="connsiteY6" fmla="*/ 461999 h 721079"/>
              <a:gd name="connsiteX7" fmla="*/ 4625340 w 4770120"/>
              <a:gd name="connsiteY7" fmla="*/ 80999 h 721079"/>
              <a:gd name="connsiteX8" fmla="*/ 4770120 w 4770120"/>
              <a:gd name="connsiteY8" fmla="*/ 80999 h 721079"/>
              <a:gd name="connsiteX0" fmla="*/ 0 w 4770120"/>
              <a:gd name="connsiteY0" fmla="*/ 747427 h 747427"/>
              <a:gd name="connsiteX1" fmla="*/ 281940 w 4770120"/>
              <a:gd name="connsiteY1" fmla="*/ 114967 h 747427"/>
              <a:gd name="connsiteX2" fmla="*/ 2659380 w 4770120"/>
              <a:gd name="connsiteY2" fmla="*/ 99727 h 747427"/>
              <a:gd name="connsiteX3" fmla="*/ 2987040 w 4770120"/>
              <a:gd name="connsiteY3" fmla="*/ 518827 h 747427"/>
              <a:gd name="connsiteX4" fmla="*/ 3169920 w 4770120"/>
              <a:gd name="connsiteY4" fmla="*/ 99727 h 747427"/>
              <a:gd name="connsiteX5" fmla="*/ 3962400 w 4770120"/>
              <a:gd name="connsiteY5" fmla="*/ 99727 h 747427"/>
              <a:gd name="connsiteX6" fmla="*/ 4351020 w 4770120"/>
              <a:gd name="connsiteY6" fmla="*/ 488347 h 747427"/>
              <a:gd name="connsiteX7" fmla="*/ 4625340 w 4770120"/>
              <a:gd name="connsiteY7" fmla="*/ 107347 h 747427"/>
              <a:gd name="connsiteX8" fmla="*/ 4770120 w 4770120"/>
              <a:gd name="connsiteY8" fmla="*/ 107347 h 747427"/>
              <a:gd name="connsiteX0" fmla="*/ 0 w 4770120"/>
              <a:gd name="connsiteY0" fmla="*/ 735822 h 735822"/>
              <a:gd name="connsiteX1" fmla="*/ 281940 w 4770120"/>
              <a:gd name="connsiteY1" fmla="*/ 103362 h 735822"/>
              <a:gd name="connsiteX2" fmla="*/ 2659380 w 4770120"/>
              <a:gd name="connsiteY2" fmla="*/ 88122 h 735822"/>
              <a:gd name="connsiteX3" fmla="*/ 2987040 w 4770120"/>
              <a:gd name="connsiteY3" fmla="*/ 507222 h 735822"/>
              <a:gd name="connsiteX4" fmla="*/ 3169920 w 4770120"/>
              <a:gd name="connsiteY4" fmla="*/ 88122 h 735822"/>
              <a:gd name="connsiteX5" fmla="*/ 3962400 w 4770120"/>
              <a:gd name="connsiteY5" fmla="*/ 88122 h 735822"/>
              <a:gd name="connsiteX6" fmla="*/ 4351020 w 4770120"/>
              <a:gd name="connsiteY6" fmla="*/ 476742 h 735822"/>
              <a:gd name="connsiteX7" fmla="*/ 4625340 w 4770120"/>
              <a:gd name="connsiteY7" fmla="*/ 95742 h 735822"/>
              <a:gd name="connsiteX8" fmla="*/ 4770120 w 4770120"/>
              <a:gd name="connsiteY8" fmla="*/ 95742 h 735822"/>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 name="connsiteX0" fmla="*/ 0 w 4770120"/>
              <a:gd name="connsiteY0" fmla="*/ 712671 h 712671"/>
              <a:gd name="connsiteX1" fmla="*/ 281940 w 4770120"/>
              <a:gd name="connsiteY1" fmla="*/ 80211 h 712671"/>
              <a:gd name="connsiteX2" fmla="*/ 2659380 w 4770120"/>
              <a:gd name="connsiteY2" fmla="*/ 64971 h 712671"/>
              <a:gd name="connsiteX3" fmla="*/ 2987040 w 4770120"/>
              <a:gd name="connsiteY3" fmla="*/ 484071 h 712671"/>
              <a:gd name="connsiteX4" fmla="*/ 3169920 w 4770120"/>
              <a:gd name="connsiteY4" fmla="*/ 64971 h 712671"/>
              <a:gd name="connsiteX5" fmla="*/ 3962400 w 4770120"/>
              <a:gd name="connsiteY5" fmla="*/ 64971 h 712671"/>
              <a:gd name="connsiteX6" fmla="*/ 4351020 w 4770120"/>
              <a:gd name="connsiteY6" fmla="*/ 453591 h 712671"/>
              <a:gd name="connsiteX7" fmla="*/ 4625340 w 4770120"/>
              <a:gd name="connsiteY7" fmla="*/ 72591 h 712671"/>
              <a:gd name="connsiteX8" fmla="*/ 4770120 w 4770120"/>
              <a:gd name="connsiteY8" fmla="*/ 72591 h 71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0120" h="712671">
                <a:moveTo>
                  <a:pt x="0" y="712671"/>
                </a:moveTo>
                <a:cubicBezTo>
                  <a:pt x="93980" y="501851"/>
                  <a:pt x="135890" y="226261"/>
                  <a:pt x="281940" y="80211"/>
                </a:cubicBezTo>
                <a:cubicBezTo>
                  <a:pt x="427990" y="-65839"/>
                  <a:pt x="2595880" y="24331"/>
                  <a:pt x="2659380" y="64971"/>
                </a:cubicBezTo>
                <a:cubicBezTo>
                  <a:pt x="2722880" y="105611"/>
                  <a:pt x="2872740" y="494231"/>
                  <a:pt x="2987040" y="484071"/>
                </a:cubicBezTo>
                <a:cubicBezTo>
                  <a:pt x="3101340" y="473911"/>
                  <a:pt x="3065780" y="80211"/>
                  <a:pt x="3169920" y="64971"/>
                </a:cubicBezTo>
                <a:cubicBezTo>
                  <a:pt x="3274060" y="49731"/>
                  <a:pt x="3832860" y="-3609"/>
                  <a:pt x="3962400" y="64971"/>
                </a:cubicBezTo>
                <a:cubicBezTo>
                  <a:pt x="4091940" y="133551"/>
                  <a:pt x="4244340" y="458671"/>
                  <a:pt x="4351020" y="453591"/>
                </a:cubicBezTo>
                <a:cubicBezTo>
                  <a:pt x="4457700" y="448511"/>
                  <a:pt x="4584700" y="110691"/>
                  <a:pt x="4625340" y="72591"/>
                </a:cubicBezTo>
                <a:cubicBezTo>
                  <a:pt x="4665980" y="34491"/>
                  <a:pt x="4721860" y="72591"/>
                  <a:pt x="4770120" y="72591"/>
                </a:cubicBezTo>
              </a:path>
            </a:pathLst>
          </a:custGeom>
          <a:noFill/>
          <a:ln w="19050">
            <a:solidFill>
              <a:srgbClr val="56C4D2"/>
            </a:solidFill>
            <a:prstDash val="solid"/>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71" name="直接连接符 70"/>
          <p:cNvCxnSpPr/>
          <p:nvPr/>
        </p:nvCxnSpPr>
        <p:spPr bwMode="gray">
          <a:xfrm>
            <a:off x="1343520" y="5148854"/>
            <a:ext cx="4788000" cy="0"/>
          </a:xfrm>
          <a:prstGeom prst="line">
            <a:avLst/>
          </a:prstGeom>
          <a:solidFill>
            <a:schemeClr val="accent1"/>
          </a:solidFill>
          <a:ln w="12700" cap="flat" cmpd="sng" algn="ctr">
            <a:solidFill>
              <a:schemeClr val="tx1"/>
            </a:solidFill>
            <a:prstDash val="dash"/>
            <a:round/>
            <a:headEnd type="none" w="med" len="med"/>
            <a:tailEnd type="none" w="med" len="med"/>
          </a:ln>
          <a:effectLst/>
        </p:spPr>
      </p:cxnSp>
      <p:sp>
        <p:nvSpPr>
          <p:cNvPr id="89" name="圆角矩形 88"/>
          <p:cNvSpPr/>
          <p:nvPr/>
        </p:nvSpPr>
        <p:spPr bwMode="gray">
          <a:xfrm>
            <a:off x="839416" y="3971724"/>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报文速率</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0" name="圆角矩形 89"/>
          <p:cNvSpPr/>
          <p:nvPr/>
        </p:nvSpPr>
        <p:spPr bwMode="gray">
          <a:xfrm>
            <a:off x="5879492" y="5832930"/>
            <a:ext cx="57606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p:txBody>
      </p:sp>
      <p:sp>
        <p:nvSpPr>
          <p:cNvPr id="91" name="圆角矩形 90"/>
          <p:cNvSpPr/>
          <p:nvPr/>
        </p:nvSpPr>
        <p:spPr bwMode="gray">
          <a:xfrm>
            <a:off x="766924" y="4968834"/>
            <a:ext cx="612068"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CIR</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9" name="圆角矩形 98"/>
          <p:cNvSpPr/>
          <p:nvPr/>
        </p:nvSpPr>
        <p:spPr bwMode="gray">
          <a:xfrm>
            <a:off x="2603612" y="4151744"/>
            <a:ext cx="129614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没有流量整形</a:t>
            </a:r>
          </a:p>
        </p:txBody>
      </p:sp>
      <p:cxnSp>
        <p:nvCxnSpPr>
          <p:cNvPr id="78" name="直接箭头连接符 77"/>
          <p:cNvCxnSpPr>
            <a:stCxn id="99" idx="2"/>
          </p:cNvCxnSpPr>
          <p:nvPr/>
        </p:nvCxnSpPr>
        <p:spPr bwMode="gray">
          <a:xfrm flipH="1">
            <a:off x="3143672" y="4477096"/>
            <a:ext cx="108012" cy="2147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43" name="组合 142"/>
          <p:cNvGrpSpPr/>
          <p:nvPr/>
        </p:nvGrpSpPr>
        <p:grpSpPr bwMode="gray">
          <a:xfrm>
            <a:off x="1062720" y="1559456"/>
            <a:ext cx="5040560" cy="1008112"/>
            <a:chOff x="6312024" y="1844824"/>
            <a:chExt cx="5040560" cy="1008112"/>
          </a:xfrm>
        </p:grpSpPr>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52284" y="2276872"/>
              <a:ext cx="570707" cy="467980"/>
            </a:xfrm>
            <a:prstGeom prst="rect">
              <a:avLst/>
            </a:prstGeom>
          </p:spPr>
        </p:pic>
        <p:grpSp>
          <p:nvGrpSpPr>
            <p:cNvPr id="94" name="组合 93"/>
            <p:cNvGrpSpPr/>
            <p:nvPr/>
          </p:nvGrpSpPr>
          <p:grpSpPr bwMode="gray">
            <a:xfrm>
              <a:off x="6312024" y="2168860"/>
              <a:ext cx="1089453" cy="684076"/>
              <a:chOff x="6312024" y="2168860"/>
              <a:chExt cx="1089453" cy="684076"/>
            </a:xfrm>
          </p:grpSpPr>
          <p:pic>
            <p:nvPicPr>
              <p:cNvPr id="112" name="图片 1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168860"/>
                <a:ext cx="1089453" cy="684076"/>
              </a:xfrm>
              <a:prstGeom prst="rect">
                <a:avLst/>
              </a:prstGeom>
            </p:spPr>
          </p:pic>
          <p:sp>
            <p:nvSpPr>
              <p:cNvPr id="113" name="圆角矩形 112"/>
              <p:cNvSpPr/>
              <p:nvPr/>
            </p:nvSpPr>
            <p:spPr bwMode="gray">
              <a:xfrm>
                <a:off x="6420036" y="2348880"/>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grpSp>
        <p:grpSp>
          <p:nvGrpSpPr>
            <p:cNvPr id="114" name="组合 113"/>
            <p:cNvGrpSpPr/>
            <p:nvPr/>
          </p:nvGrpSpPr>
          <p:grpSpPr bwMode="gray">
            <a:xfrm>
              <a:off x="10263131" y="2168860"/>
              <a:ext cx="1089453" cy="684076"/>
              <a:chOff x="6312024" y="2168860"/>
              <a:chExt cx="1089453" cy="684076"/>
            </a:xfrm>
          </p:grpSpPr>
          <p:pic>
            <p:nvPicPr>
              <p:cNvPr id="115" name="图片 1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312024" y="2168860"/>
                <a:ext cx="1089453" cy="684076"/>
              </a:xfrm>
              <a:prstGeom prst="rect">
                <a:avLst/>
              </a:prstGeom>
            </p:spPr>
          </p:pic>
          <p:sp>
            <p:nvSpPr>
              <p:cNvPr id="116" name="圆角矩形 115"/>
              <p:cNvSpPr/>
              <p:nvPr/>
            </p:nvSpPr>
            <p:spPr bwMode="gray">
              <a:xfrm>
                <a:off x="6420036" y="2348880"/>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广域网</a:t>
                </a:r>
              </a:p>
            </p:txBody>
          </p:sp>
        </p:grpSp>
        <p:cxnSp>
          <p:nvCxnSpPr>
            <p:cNvPr id="98" name="直接连接符 97"/>
            <p:cNvCxnSpPr>
              <a:stCxn id="112" idx="3"/>
              <a:endCxn id="111" idx="1"/>
            </p:cNvCxnSpPr>
            <p:nvPr/>
          </p:nvCxnSpPr>
          <p:spPr bwMode="gray">
            <a:xfrm flipV="1">
              <a:off x="7401477" y="2510862"/>
              <a:ext cx="1250807" cy="3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a:stCxn id="111" idx="3"/>
              <a:endCxn id="115" idx="1"/>
            </p:cNvCxnSpPr>
            <p:nvPr/>
          </p:nvCxnSpPr>
          <p:spPr bwMode="gray">
            <a:xfrm>
              <a:off x="9222991" y="2510862"/>
              <a:ext cx="1040140" cy="3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6" name="圆角矩形 125"/>
            <p:cNvSpPr/>
            <p:nvPr/>
          </p:nvSpPr>
          <p:spPr bwMode="gray">
            <a:xfrm>
              <a:off x="7464152" y="245689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b="1" dirty="0">
                  <a:latin typeface="Huawei Sans" panose="020C0503030203020204" pitchFamily="34" charset="0"/>
                  <a:ea typeface="方正兰亭黑简体" panose="02000000000000000000" pitchFamily="2" charset="-122"/>
                </a:rPr>
                <a:t>高速链路</a:t>
              </a:r>
              <a:endParaRPr kumimoji="0" lang="zh-CN" altLang="en-US"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1" name="圆角矩形 130"/>
            <p:cNvSpPr/>
            <p:nvPr/>
          </p:nvSpPr>
          <p:spPr bwMode="gray">
            <a:xfrm>
              <a:off x="9192344" y="245689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b="1" dirty="0">
                  <a:latin typeface="Huawei Sans" panose="020C0503030203020204" pitchFamily="34" charset="0"/>
                  <a:ea typeface="方正兰亭黑简体" panose="02000000000000000000" pitchFamily="2" charset="-122"/>
                </a:rPr>
                <a:t>低速链路</a:t>
              </a:r>
              <a:endParaRPr kumimoji="0" lang="zh-CN" altLang="en-US" sz="12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32" name="直接连接符 131"/>
            <p:cNvCxnSpPr/>
            <p:nvPr/>
          </p:nvCxnSpPr>
          <p:spPr bwMode="gray">
            <a:xfrm flipV="1">
              <a:off x="7572164" y="2348880"/>
              <a:ext cx="612068"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sp>
          <p:nvSpPr>
            <p:cNvPr id="134" name="圆角矩形 133"/>
            <p:cNvSpPr/>
            <p:nvPr/>
          </p:nvSpPr>
          <p:spPr bwMode="gray">
            <a:xfrm>
              <a:off x="7320136" y="1844824"/>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数据流：</a:t>
              </a:r>
              <a:endPar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defTabSz="914400" fontAlgn="t">
                <a:spcBef>
                  <a:spcPct val="0"/>
                </a:spcBef>
                <a:spcAft>
                  <a:spcPct val="0"/>
                </a:spcAf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100 M</a:t>
              </a:r>
              <a:r>
                <a:rPr lang="en-US" altLang="zh-CN" sz="1400" dirty="0">
                  <a:latin typeface="Huawei Sans" panose="020C0503030203020204" pitchFamily="34" charset="0"/>
                  <a:ea typeface="方正兰亭黑简体" panose="02000000000000000000" pitchFamily="2" charset="-122"/>
                </a:rPr>
                <a:t>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sp>
        <p:nvSpPr>
          <p:cNvPr id="52" name="圆角矩形 51"/>
          <p:cNvSpPr/>
          <p:nvPr/>
        </p:nvSpPr>
        <p:spPr bwMode="gray">
          <a:xfrm>
            <a:off x="4907868" y="4583792"/>
            <a:ext cx="129614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使用</a:t>
            </a: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流量整形</a:t>
            </a:r>
          </a:p>
        </p:txBody>
      </p:sp>
      <p:cxnSp>
        <p:nvCxnSpPr>
          <p:cNvPr id="53" name="直接箭头连接符 52"/>
          <p:cNvCxnSpPr>
            <a:stCxn id="52" idx="2"/>
          </p:cNvCxnSpPr>
          <p:nvPr/>
        </p:nvCxnSpPr>
        <p:spPr bwMode="gray">
          <a:xfrm flipH="1">
            <a:off x="5411924" y="4909144"/>
            <a:ext cx="144016" cy="3587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5" name="Oval 41"/>
          <p:cNvSpPr>
            <a:spLocks noChangeAspect="1"/>
          </p:cNvSpPr>
          <p:nvPr/>
        </p:nvSpPr>
        <p:spPr bwMode="gray">
          <a:xfrm>
            <a:off x="3889676" y="214586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6" name="Rectangular Callout 55"/>
          <p:cNvSpPr/>
          <p:nvPr/>
        </p:nvSpPr>
        <p:spPr bwMode="gray">
          <a:xfrm>
            <a:off x="1506051" y="2600369"/>
            <a:ext cx="985546" cy="569183"/>
          </a:xfrm>
          <a:prstGeom prst="wedgeRectCallout">
            <a:avLst>
              <a:gd name="adj1" fmla="val 18886"/>
              <a:gd name="adj2" fmla="val -995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接口带宽</a:t>
            </a:r>
          </a:p>
          <a:p>
            <a:pPr algn="ctr"/>
            <a:r>
              <a:rPr lang="en-US" altLang="zh-CN" sz="1400" dirty="0">
                <a:solidFill>
                  <a:schemeClr val="tx1"/>
                </a:solidFill>
                <a:latin typeface="Huawei Sans" panose="020C0503030203020204" pitchFamily="34" charset="0"/>
                <a:ea typeface="方正兰亭黑简体" panose="02000000000000000000" pitchFamily="2" charset="-122"/>
              </a:rPr>
              <a:t>1 </a:t>
            </a:r>
            <a:r>
              <a:rPr lang="en-US" altLang="zh-CN" sz="1400" dirty="0" err="1">
                <a:solidFill>
                  <a:schemeClr val="tx1"/>
                </a:solidFill>
                <a:latin typeface="Huawei Sans" panose="020C0503030203020204" pitchFamily="34" charset="0"/>
                <a:ea typeface="方正兰亭黑简体" panose="02000000000000000000" pitchFamily="2" charset="-122"/>
              </a:rPr>
              <a:t>Gbps</a:t>
            </a:r>
            <a:endParaRPr lang="en-US" altLang="zh-CN" sz="1400" dirty="0">
              <a:solidFill>
                <a:schemeClr val="tx1"/>
              </a:solidFill>
              <a:latin typeface="Huawei Sans" panose="020C0503030203020204" pitchFamily="34" charset="0"/>
              <a:ea typeface="方正兰亭黑简体" panose="02000000000000000000" pitchFamily="2" charset="-122"/>
            </a:endParaRPr>
          </a:p>
        </p:txBody>
      </p:sp>
      <p:sp>
        <p:nvSpPr>
          <p:cNvPr id="57" name="Rectangular Callout 56"/>
          <p:cNvSpPr/>
          <p:nvPr/>
        </p:nvSpPr>
        <p:spPr bwMode="gray">
          <a:xfrm>
            <a:off x="3189932" y="2621572"/>
            <a:ext cx="1167619" cy="569183"/>
          </a:xfrm>
          <a:prstGeom prst="wedgeRectCallout">
            <a:avLst>
              <a:gd name="adj1" fmla="val 18886"/>
              <a:gd name="adj2" fmla="val -995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接口带宽</a:t>
            </a:r>
          </a:p>
          <a:p>
            <a:pPr algn="ctr"/>
            <a:r>
              <a:rPr lang="zh-CN" altLang="en-US" sz="1400" dirty="0">
                <a:solidFill>
                  <a:schemeClr val="tx1"/>
                </a:solidFill>
                <a:latin typeface="Huawei Sans" panose="020C0503030203020204" pitchFamily="34" charset="0"/>
                <a:ea typeface="方正兰亭黑简体" panose="02000000000000000000" pitchFamily="2" charset="-122"/>
              </a:rPr>
              <a:t>只有</a:t>
            </a:r>
            <a:r>
              <a:rPr lang="en-US" altLang="zh-CN" sz="1400" dirty="0">
                <a:solidFill>
                  <a:schemeClr val="tx1"/>
                </a:solidFill>
                <a:latin typeface="Huawei Sans" panose="020C0503030203020204" pitchFamily="34" charset="0"/>
                <a:ea typeface="方正兰亭黑简体" panose="02000000000000000000" pitchFamily="2" charset="-122"/>
              </a:rPr>
              <a:t>2 Mbps</a:t>
            </a:r>
          </a:p>
        </p:txBody>
      </p:sp>
      <p:sp>
        <p:nvSpPr>
          <p:cNvPr id="58" name="Rectangular Callout 57"/>
          <p:cNvSpPr/>
          <p:nvPr/>
        </p:nvSpPr>
        <p:spPr bwMode="gray">
          <a:xfrm>
            <a:off x="3534584" y="1244620"/>
            <a:ext cx="1167619" cy="569183"/>
          </a:xfrm>
          <a:prstGeom prst="wedgeRectCallout">
            <a:avLst>
              <a:gd name="adj1" fmla="val -6949"/>
              <a:gd name="adj2" fmla="val 9255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7000B"/>
                </a:solidFill>
                <a:latin typeface="Huawei Sans" panose="020C0503030203020204" pitchFamily="34" charset="0"/>
                <a:ea typeface="方正兰亭黑简体" panose="02000000000000000000" pitchFamily="2" charset="-122"/>
              </a:rPr>
              <a:t>接口出方向</a:t>
            </a:r>
            <a:endParaRPr lang="en-US" altLang="zh-CN" sz="1400" dirty="0">
              <a:solidFill>
                <a:srgbClr val="C7000B"/>
              </a:solidFill>
              <a:latin typeface="Huawei Sans" panose="020C0503030203020204" pitchFamily="34" charset="0"/>
              <a:ea typeface="方正兰亭黑简体" panose="02000000000000000000" pitchFamily="2" charset="-122"/>
            </a:endParaRPr>
          </a:p>
          <a:p>
            <a:pPr algn="ctr"/>
            <a:r>
              <a:rPr lang="zh-CN" altLang="en-US" sz="1400" dirty="0">
                <a:solidFill>
                  <a:srgbClr val="C7000B"/>
                </a:solidFill>
                <a:latin typeface="Huawei Sans" panose="020C0503030203020204" pitchFamily="34" charset="0"/>
                <a:ea typeface="方正兰亭黑简体" panose="02000000000000000000" pitchFamily="2" charset="-122"/>
              </a:rPr>
              <a:t>流量整形</a:t>
            </a:r>
          </a:p>
        </p:txBody>
      </p:sp>
      <p:sp>
        <p:nvSpPr>
          <p:cNvPr id="50"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51"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54"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64" name="燕尾形 155"/>
          <p:cNvSpPr/>
          <p:nvPr/>
        </p:nvSpPr>
        <p:spPr bwMode="auto">
          <a:xfrm>
            <a:off x="10657511" y="107185"/>
            <a:ext cx="1053460"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流量整形</a:t>
            </a:r>
          </a:p>
        </p:txBody>
      </p:sp>
      <mc:AlternateContent xmlns:mc="http://schemas.openxmlformats.org/markup-compatibility/2006">
        <mc:Choice xmlns:p14="http://schemas.microsoft.com/office/powerpoint/2010/main" Requires="p14">
          <p:contentPart p14:bwMode="auto" r:id="rId5">
            <p14:nvContentPartPr>
              <p14:cNvPr id="4" name="墨迹 3">
                <a:extLst>
                  <a:ext uri="{FF2B5EF4-FFF2-40B4-BE49-F238E27FC236}">
                    <a16:creationId xmlns:a16="http://schemas.microsoft.com/office/drawing/2014/main" id="{7CF816D1-2A0E-B32E-0617-54A064C7522F}"/>
                  </a:ext>
                </a:extLst>
              </p14:cNvPr>
              <p14:cNvContentPartPr/>
              <p14:nvPr/>
            </p14:nvContentPartPr>
            <p14:xfrm>
              <a:off x="6976200" y="2683707"/>
              <a:ext cx="4463280" cy="26280"/>
            </p14:xfrm>
          </p:contentPart>
        </mc:Choice>
        <mc:Fallback>
          <p:pic>
            <p:nvPicPr>
              <p:cNvPr id="4" name="墨迹 3">
                <a:extLst>
                  <a:ext uri="{FF2B5EF4-FFF2-40B4-BE49-F238E27FC236}">
                    <a16:creationId xmlns:a16="http://schemas.microsoft.com/office/drawing/2014/main" id="{7CF816D1-2A0E-B32E-0617-54A064C7522F}"/>
                  </a:ext>
                </a:extLst>
              </p:cNvPr>
              <p:cNvPicPr/>
              <p:nvPr/>
            </p:nvPicPr>
            <p:blipFill>
              <a:blip r:embed="rId6"/>
              <a:stretch>
                <a:fillRect/>
              </a:stretch>
            </p:blipFill>
            <p:spPr>
              <a:xfrm>
                <a:off x="6967200" y="2674707"/>
                <a:ext cx="44809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墨迹 4">
                <a:extLst>
                  <a:ext uri="{FF2B5EF4-FFF2-40B4-BE49-F238E27FC236}">
                    <a16:creationId xmlns:a16="http://schemas.microsoft.com/office/drawing/2014/main" id="{AD18614E-AA11-D1AA-9BA4-AE46B7787674}"/>
                  </a:ext>
                </a:extLst>
              </p14:cNvPr>
              <p14:cNvContentPartPr/>
              <p14:nvPr/>
            </p14:nvContentPartPr>
            <p14:xfrm>
              <a:off x="6866400" y="3022467"/>
              <a:ext cx="4699080" cy="9360"/>
            </p14:xfrm>
          </p:contentPart>
        </mc:Choice>
        <mc:Fallback>
          <p:pic>
            <p:nvPicPr>
              <p:cNvPr id="5" name="墨迹 4">
                <a:extLst>
                  <a:ext uri="{FF2B5EF4-FFF2-40B4-BE49-F238E27FC236}">
                    <a16:creationId xmlns:a16="http://schemas.microsoft.com/office/drawing/2014/main" id="{AD18614E-AA11-D1AA-9BA4-AE46B7787674}"/>
                  </a:ext>
                </a:extLst>
              </p:cNvPr>
              <p:cNvPicPr/>
              <p:nvPr/>
            </p:nvPicPr>
            <p:blipFill>
              <a:blip r:embed="rId8"/>
              <a:stretch>
                <a:fillRect/>
              </a:stretch>
            </p:blipFill>
            <p:spPr>
              <a:xfrm>
                <a:off x="6857400" y="3013467"/>
                <a:ext cx="47167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墨迹 5">
                <a:extLst>
                  <a:ext uri="{FF2B5EF4-FFF2-40B4-BE49-F238E27FC236}">
                    <a16:creationId xmlns:a16="http://schemas.microsoft.com/office/drawing/2014/main" id="{244FDCE3-93CA-ECA9-85B7-2911E8FD99B7}"/>
                  </a:ext>
                </a:extLst>
              </p14:cNvPr>
              <p14:cNvContentPartPr/>
              <p14:nvPr/>
            </p14:nvContentPartPr>
            <p14:xfrm>
              <a:off x="8280480" y="4817067"/>
              <a:ext cx="2168280" cy="9720"/>
            </p14:xfrm>
          </p:contentPart>
        </mc:Choice>
        <mc:Fallback>
          <p:pic>
            <p:nvPicPr>
              <p:cNvPr id="6" name="墨迹 5">
                <a:extLst>
                  <a:ext uri="{FF2B5EF4-FFF2-40B4-BE49-F238E27FC236}">
                    <a16:creationId xmlns:a16="http://schemas.microsoft.com/office/drawing/2014/main" id="{244FDCE3-93CA-ECA9-85B7-2911E8FD99B7}"/>
                  </a:ext>
                </a:extLst>
              </p:cNvPr>
              <p:cNvPicPr/>
              <p:nvPr/>
            </p:nvPicPr>
            <p:blipFill>
              <a:blip r:embed="rId10"/>
              <a:stretch>
                <a:fillRect/>
              </a:stretch>
            </p:blipFill>
            <p:spPr>
              <a:xfrm>
                <a:off x="8271480" y="4808427"/>
                <a:ext cx="2185920" cy="27360"/>
              </a:xfrm>
              <a:prstGeom prst="rect">
                <a:avLst/>
              </a:prstGeom>
            </p:spPr>
          </p:pic>
        </mc:Fallback>
      </mc:AlternateContent>
    </p:spTree>
    <p:extLst>
      <p:ext uri="{BB962C8B-B14F-4D97-AF65-F5344CB8AC3E}">
        <p14:creationId xmlns:p14="http://schemas.microsoft.com/office/powerpoint/2010/main" val="401693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250"/>
                                        <p:tgtEl>
                                          <p:spTgt spid="92"/>
                                        </p:tgtEl>
                                      </p:cBhvr>
                                    </p:animEffect>
                                  </p:childTnLst>
                                </p:cTn>
                              </p:par>
                            </p:childTnLst>
                          </p:cTn>
                        </p:par>
                        <p:par>
                          <p:cTn id="8" fill="hold">
                            <p:stCondLst>
                              <p:cond delay="250"/>
                            </p:stCondLst>
                            <p:childTnLst>
                              <p:par>
                                <p:cTn id="9" presetID="1" presetClass="entr" presetSubtype="0" fill="hold" nodeType="after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流量整形的实现 </a:t>
            </a:r>
            <a:r>
              <a:rPr lang="en-US" altLang="zh-CN" dirty="0"/>
              <a:t>(1)</a:t>
            </a:r>
            <a:endParaRPr lang="zh-CN" altLang="en-US" dirty="0"/>
          </a:p>
        </p:txBody>
      </p:sp>
      <p:grpSp>
        <p:nvGrpSpPr>
          <p:cNvPr id="4" name="组合 3"/>
          <p:cNvGrpSpPr/>
          <p:nvPr/>
        </p:nvGrpSpPr>
        <p:grpSpPr bwMode="gray">
          <a:xfrm>
            <a:off x="1023765" y="1406798"/>
            <a:ext cx="7344816" cy="4358714"/>
            <a:chOff x="1023765" y="1406798"/>
            <a:chExt cx="7344816" cy="4358714"/>
          </a:xfrm>
        </p:grpSpPr>
        <p:sp>
          <p:nvSpPr>
            <p:cNvPr id="15" name="圆角矩形 14"/>
            <p:cNvSpPr/>
            <p:nvPr/>
          </p:nvSpPr>
          <p:spPr bwMode="gray">
            <a:xfrm>
              <a:off x="1527821" y="2645988"/>
              <a:ext cx="889965" cy="325352"/>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某队列</a:t>
              </a:r>
            </a:p>
          </p:txBody>
        </p:sp>
        <p:sp>
          <p:nvSpPr>
            <p:cNvPr id="16" name="流程图: 决策 15"/>
            <p:cNvSpPr/>
            <p:nvPr/>
          </p:nvSpPr>
          <p:spPr bwMode="gray">
            <a:xfrm>
              <a:off x="4156113" y="2441354"/>
              <a:ext cx="1080120" cy="734621"/>
            </a:xfrm>
            <a:prstGeom prst="flowChartDecision">
              <a:avLst/>
            </a:prstGeom>
            <a:solidFill>
              <a:srgbClr val="BEE9E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latin typeface="Huawei Sans" panose="020C0503030203020204" pitchFamily="34" charset="0"/>
                  <a:ea typeface="方正兰亭黑简体" panose="02000000000000000000" pitchFamily="2" charset="-122"/>
                </a:rPr>
                <a:t>整形</a:t>
              </a: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a:t>
              </a:r>
            </a:p>
          </p:txBody>
        </p:sp>
        <p:grpSp>
          <p:nvGrpSpPr>
            <p:cNvPr id="17" name="组合 16"/>
            <p:cNvGrpSpPr/>
            <p:nvPr/>
          </p:nvGrpSpPr>
          <p:grpSpPr bwMode="gray">
            <a:xfrm>
              <a:off x="2669894" y="1908564"/>
              <a:ext cx="540060" cy="1800200"/>
              <a:chOff x="9804412" y="2852936"/>
              <a:chExt cx="540060" cy="1800200"/>
            </a:xfrm>
          </p:grpSpPr>
          <p:grpSp>
            <p:nvGrpSpPr>
              <p:cNvPr id="18" name="组合 17"/>
              <p:cNvGrpSpPr/>
              <p:nvPr/>
            </p:nvGrpSpPr>
            <p:grpSpPr bwMode="gray">
              <a:xfrm>
                <a:off x="9804412" y="2852936"/>
                <a:ext cx="540060" cy="1800200"/>
                <a:chOff x="7032104" y="2852936"/>
                <a:chExt cx="540060" cy="1800200"/>
              </a:xfrm>
            </p:grpSpPr>
            <p:sp>
              <p:nvSpPr>
                <p:cNvPr id="20" name="圆角矩形 19"/>
                <p:cNvSpPr/>
                <p:nvPr/>
              </p:nvSpPr>
              <p:spPr bwMode="gray">
                <a:xfrm>
                  <a:off x="7032104" y="2852936"/>
                  <a:ext cx="540060" cy="18002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文本框 20"/>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19" name="任意多边形 18"/>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cxnSp>
          <p:nvCxnSpPr>
            <p:cNvPr id="22" name="直接箭头连接符 21"/>
            <p:cNvCxnSpPr/>
            <p:nvPr/>
          </p:nvCxnSpPr>
          <p:spPr bwMode="gray">
            <a:xfrm>
              <a:off x="2417866" y="2808664"/>
              <a:ext cx="25202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4" name="右箭头 23"/>
            <p:cNvSpPr/>
            <p:nvPr/>
          </p:nvSpPr>
          <p:spPr bwMode="gray">
            <a:xfrm>
              <a:off x="3292017" y="2564109"/>
              <a:ext cx="864096" cy="489109"/>
            </a:xfrm>
            <a:prstGeom prst="rightArrow">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25" name="圆角矩形 24"/>
            <p:cNvSpPr/>
            <p:nvPr/>
          </p:nvSpPr>
          <p:spPr bwMode="gray">
            <a:xfrm>
              <a:off x="3220009" y="2645988"/>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出</a:t>
              </a: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p>
          </p:txBody>
        </p:sp>
        <p:cxnSp>
          <p:nvCxnSpPr>
            <p:cNvPr id="26" name="直接箭头连接符 25"/>
            <p:cNvCxnSpPr/>
            <p:nvPr/>
          </p:nvCxnSpPr>
          <p:spPr bwMode="gray">
            <a:xfrm flipV="1">
              <a:off x="5308241" y="2800305"/>
              <a:ext cx="61206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8" name="圆角矩形 27"/>
            <p:cNvSpPr/>
            <p:nvPr/>
          </p:nvSpPr>
          <p:spPr bwMode="gray">
            <a:xfrm>
              <a:off x="6100329" y="2645988"/>
              <a:ext cx="889965" cy="325352"/>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转发</a:t>
              </a:r>
            </a:p>
          </p:txBody>
        </p:sp>
        <p:sp>
          <p:nvSpPr>
            <p:cNvPr id="29" name="圆角矩形 28"/>
            <p:cNvSpPr/>
            <p:nvPr/>
          </p:nvSpPr>
          <p:spPr bwMode="gray">
            <a:xfrm>
              <a:off x="5200229" y="2476269"/>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No</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0" name="直接箭头连接符 29"/>
            <p:cNvCxnSpPr/>
            <p:nvPr/>
          </p:nvCxnSpPr>
          <p:spPr bwMode="gray">
            <a:xfrm>
              <a:off x="4696173" y="3232353"/>
              <a:ext cx="0" cy="467358"/>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33" name="bucket_206442"/>
            <p:cNvSpPr>
              <a:spLocks noChangeAspect="1"/>
            </p:cNvSpPr>
            <p:nvPr/>
          </p:nvSpPr>
          <p:spPr bwMode="gray">
            <a:xfrm>
              <a:off x="4408142" y="3700298"/>
              <a:ext cx="612068" cy="746995"/>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cxnSp>
          <p:nvCxnSpPr>
            <p:cNvPr id="37" name="肘形连接符 36"/>
            <p:cNvCxnSpPr>
              <a:endCxn id="28" idx="2"/>
            </p:cNvCxnSpPr>
            <p:nvPr/>
          </p:nvCxnSpPr>
          <p:spPr bwMode="gray">
            <a:xfrm flipV="1">
              <a:off x="5128221" y="2971340"/>
              <a:ext cx="1417091" cy="1197117"/>
            </a:xfrm>
            <a:prstGeom prst="bentConnector2">
              <a:avLst/>
            </a:prstGeom>
            <a:solidFill>
              <a:schemeClr val="accent1"/>
            </a:solidFill>
            <a:ln w="28575" cap="flat" cmpd="sng" algn="ctr">
              <a:solidFill>
                <a:srgbClr val="AFD89C"/>
              </a:solidFill>
              <a:prstDash val="solid"/>
              <a:round/>
              <a:headEnd type="none" w="med" len="med"/>
              <a:tailEnd type="triangle"/>
            </a:ln>
            <a:effectLst/>
          </p:spPr>
        </p:cxnSp>
        <p:sp>
          <p:nvSpPr>
            <p:cNvPr id="41" name="矩形 40"/>
            <p:cNvSpPr/>
            <p:nvPr/>
          </p:nvSpPr>
          <p:spPr bwMode="gray">
            <a:xfrm>
              <a:off x="5469241" y="4060445"/>
              <a:ext cx="362076" cy="197039"/>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1"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5236233" y="3735093"/>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符合</a:t>
              </a:r>
            </a:p>
          </p:txBody>
        </p:sp>
        <p:cxnSp>
          <p:nvCxnSpPr>
            <p:cNvPr id="43" name="肘形连接符 42"/>
            <p:cNvCxnSpPr/>
            <p:nvPr/>
          </p:nvCxnSpPr>
          <p:spPr bwMode="gray">
            <a:xfrm rot="5400000" flipH="1">
              <a:off x="2887590" y="2735986"/>
              <a:ext cx="844857" cy="2772308"/>
            </a:xfrm>
            <a:prstGeom prst="bentConnector4">
              <a:avLst>
                <a:gd name="adj1" fmla="val -27058"/>
                <a:gd name="adj2" fmla="val 99976"/>
              </a:avLst>
            </a:prstGeom>
            <a:solidFill>
              <a:schemeClr val="accent1"/>
            </a:solidFill>
            <a:ln w="28575" cap="flat" cmpd="sng" algn="ctr">
              <a:solidFill>
                <a:srgbClr val="E28189"/>
              </a:solidFill>
              <a:prstDash val="solid"/>
              <a:round/>
              <a:headEnd type="none" w="med" len="med"/>
              <a:tailEnd type="triangle"/>
            </a:ln>
            <a:effectLst/>
          </p:spPr>
        </p:cxnSp>
        <p:cxnSp>
          <p:nvCxnSpPr>
            <p:cNvPr id="48" name="肘形连接符 47"/>
            <p:cNvCxnSpPr/>
            <p:nvPr/>
          </p:nvCxnSpPr>
          <p:spPr bwMode="gray">
            <a:xfrm rot="5400000" flipH="1" flipV="1">
              <a:off x="4976169" y="2700329"/>
              <a:ext cx="1564243" cy="2124236"/>
            </a:xfrm>
            <a:prstGeom prst="bentConnector4">
              <a:avLst>
                <a:gd name="adj1" fmla="val -14614"/>
                <a:gd name="adj2" fmla="val 100276"/>
              </a:avLst>
            </a:prstGeom>
            <a:solidFill>
              <a:schemeClr val="accent1"/>
            </a:solidFill>
            <a:ln w="28575" cap="flat" cmpd="sng" algn="ctr">
              <a:solidFill>
                <a:srgbClr val="E28189"/>
              </a:solidFill>
              <a:prstDash val="solid"/>
              <a:round/>
              <a:headEnd type="none" w="med" len="med"/>
              <a:tailEnd type="triangle"/>
            </a:ln>
            <a:effectLst/>
          </p:spPr>
        </p:cxnSp>
        <p:sp>
          <p:nvSpPr>
            <p:cNvPr id="55" name="矩形 54"/>
            <p:cNvSpPr/>
            <p:nvPr/>
          </p:nvSpPr>
          <p:spPr bwMode="gray">
            <a:xfrm>
              <a:off x="4497133" y="4672513"/>
              <a:ext cx="362076" cy="197039"/>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1"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4" name="文本框 63"/>
            <p:cNvSpPr txBox="1"/>
            <p:nvPr/>
          </p:nvSpPr>
          <p:spPr bwMode="gray">
            <a:xfrm>
              <a:off x="3760069" y="3988437"/>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b="0" dirty="0">
                  <a:latin typeface="Huawei Sans" panose="020C0503030203020204" pitchFamily="34" charset="0"/>
                  <a:ea typeface="方正兰亭黑简体" panose="02000000000000000000" pitchFamily="2" charset="-122"/>
                </a:rPr>
                <a:t>令牌桶</a:t>
              </a:r>
            </a:p>
          </p:txBody>
        </p:sp>
        <p:sp>
          <p:nvSpPr>
            <p:cNvPr id="65" name="圆角矩形 64"/>
            <p:cNvSpPr/>
            <p:nvPr/>
          </p:nvSpPr>
          <p:spPr bwMode="gray">
            <a:xfrm>
              <a:off x="4264125" y="4888537"/>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超标</a:t>
              </a:r>
            </a:p>
          </p:txBody>
        </p:sp>
        <p:sp>
          <p:nvSpPr>
            <p:cNvPr id="66" name="圆角矩形 65"/>
            <p:cNvSpPr/>
            <p:nvPr/>
          </p:nvSpPr>
          <p:spPr bwMode="gray">
            <a:xfrm>
              <a:off x="6820409" y="4096449"/>
              <a:ext cx="1512168" cy="54006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正在出队的数据包仍然转发出去</a:t>
              </a:r>
            </a:p>
          </p:txBody>
        </p:sp>
        <p:sp>
          <p:nvSpPr>
            <p:cNvPr id="67" name="圆角矩形 66"/>
            <p:cNvSpPr/>
            <p:nvPr/>
          </p:nvSpPr>
          <p:spPr bwMode="gray">
            <a:xfrm>
              <a:off x="1419809" y="4744521"/>
              <a:ext cx="2484276" cy="864096"/>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将超标的报文所在的队列的状态改为不可调度，等空闲再调度此队列。</a:t>
              </a:r>
            </a:p>
          </p:txBody>
        </p:sp>
        <p:sp>
          <p:nvSpPr>
            <p:cNvPr id="68" name="圆角矩形 67"/>
            <p:cNvSpPr/>
            <p:nvPr/>
          </p:nvSpPr>
          <p:spPr bwMode="gray">
            <a:xfrm>
              <a:off x="4696173" y="3232353"/>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Yes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9" name="矩形 68"/>
            <p:cNvSpPr/>
            <p:nvPr/>
          </p:nvSpPr>
          <p:spPr bwMode="gray">
            <a:xfrm>
              <a:off x="1023765" y="1406798"/>
              <a:ext cx="7344816" cy="4358714"/>
            </a:xfrm>
            <a:prstGeom prst="rect">
              <a:avLst/>
            </a:prstGeom>
            <a:noFill/>
            <a:ln w="12700">
              <a:solidFill>
                <a:schemeClr val="tx1"/>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70" name="流程图: 过程 69"/>
            <p:cNvSpPr/>
            <p:nvPr/>
          </p:nvSpPr>
          <p:spPr bwMode="gray">
            <a:xfrm>
              <a:off x="1057540" y="1621443"/>
              <a:ext cx="1622409" cy="246221"/>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71" name="文本框 70"/>
            <p:cNvSpPr txBox="1"/>
            <p:nvPr/>
          </p:nvSpPr>
          <p:spPr bwMode="gray">
            <a:xfrm>
              <a:off x="1215158" y="1576419"/>
              <a:ext cx="1413588"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队列流量整形</a:t>
              </a:r>
            </a:p>
          </p:txBody>
        </p:sp>
      </p:grpSp>
      <p:grpSp>
        <p:nvGrpSpPr>
          <p:cNvPr id="73" name="组合 72"/>
          <p:cNvGrpSpPr/>
          <p:nvPr/>
        </p:nvGrpSpPr>
        <p:grpSpPr bwMode="gray">
          <a:xfrm>
            <a:off x="8596350" y="1740362"/>
            <a:ext cx="2808312" cy="1116124"/>
            <a:chOff x="6564053" y="5081307"/>
            <a:chExt cx="2556284" cy="1116124"/>
          </a:xfrm>
        </p:grpSpPr>
        <p:sp>
          <p:nvSpPr>
            <p:cNvPr id="74" name="矩形 73"/>
            <p:cNvSpPr/>
            <p:nvPr/>
          </p:nvSpPr>
          <p:spPr bwMode="gray">
            <a:xfrm>
              <a:off x="6564053" y="5094858"/>
              <a:ext cx="2556284" cy="1102573"/>
            </a:xfrm>
            <a:prstGeom prst="rect">
              <a:avLst/>
            </a:prstGeom>
            <a:solidFill>
              <a:srgbClr val="F4FBFE"/>
            </a:solidFill>
            <a:ln w="9525" cap="flat" cmpd="sng" algn="ctr">
              <a:solidFill>
                <a:srgbClr val="00B0F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75" name="组合 74"/>
            <p:cNvGrpSpPr/>
            <p:nvPr/>
          </p:nvGrpSpPr>
          <p:grpSpPr bwMode="gray">
            <a:xfrm>
              <a:off x="6660067" y="5081307"/>
              <a:ext cx="2448272" cy="1038121"/>
              <a:chOff x="6660067" y="5081307"/>
              <a:chExt cx="2448272" cy="1038121"/>
            </a:xfrm>
          </p:grpSpPr>
          <p:sp>
            <p:nvSpPr>
              <p:cNvPr id="76" name="文本框 75"/>
              <p:cNvSpPr txBox="1"/>
              <p:nvPr/>
            </p:nvSpPr>
            <p:spPr bwMode="gray">
              <a:xfrm>
                <a:off x="6660067" y="5081307"/>
                <a:ext cx="210023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队列流量整形</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a:off x="6660067" y="5415215"/>
                <a:ext cx="2448272"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对接口的</a:t>
                </a:r>
                <a:r>
                  <a:rPr lang="zh-CN" altLang="en-US" sz="1600" dirty="0">
                    <a:solidFill>
                      <a:srgbClr val="C7000B"/>
                    </a:solidFill>
                    <a:latin typeface="Huawei Sans" panose="020C0503030203020204" pitchFamily="34" charset="0"/>
                    <a:ea typeface="方正兰亭黑简体" panose="02000000000000000000" pitchFamily="2" charset="-122"/>
                  </a:rPr>
                  <a:t>每个队列</a:t>
                </a:r>
                <a:r>
                  <a:rPr lang="zh-CN" altLang="en-US" sz="1600" dirty="0">
                    <a:solidFill>
                      <a:srgbClr val="000000"/>
                    </a:solidFill>
                    <a:latin typeface="Huawei Sans" panose="020C0503030203020204" pitchFamily="34" charset="0"/>
                    <a:ea typeface="方正兰亭黑简体" panose="02000000000000000000" pitchFamily="2" charset="-122"/>
                  </a:rPr>
                  <a:t>进行流量整形，区分优先级。</a:t>
                </a:r>
              </a:p>
            </p:txBody>
          </p:sp>
        </p:grpSp>
      </p:grpSp>
      <p:sp>
        <p:nvSpPr>
          <p:cNvPr id="44"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45"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46"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47" name="燕尾形 155"/>
          <p:cNvSpPr/>
          <p:nvPr/>
        </p:nvSpPr>
        <p:spPr bwMode="auto">
          <a:xfrm>
            <a:off x="10657511" y="107185"/>
            <a:ext cx="1053460"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69164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椭圆 34"/>
          <p:cNvSpPr/>
          <p:nvPr/>
        </p:nvSpPr>
        <p:spPr bwMode="gray">
          <a:xfrm>
            <a:off x="1595872" y="2291929"/>
            <a:ext cx="540060" cy="1656156"/>
          </a:xfrm>
          <a:prstGeom prst="ellipse">
            <a:avLst/>
          </a:prstGeom>
          <a:solidFill>
            <a:srgbClr val="F4FBFE"/>
          </a:solidFill>
          <a:ln w="9525">
            <a:solidFill>
              <a:srgbClr val="56C4D2"/>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流量整形的实现 </a:t>
            </a:r>
            <a:r>
              <a:rPr lang="en-US" altLang="zh-CN" dirty="0"/>
              <a:t>(2)</a:t>
            </a:r>
            <a:endParaRPr lang="zh-CN" altLang="en-US" dirty="0"/>
          </a:p>
        </p:txBody>
      </p:sp>
      <p:sp>
        <p:nvSpPr>
          <p:cNvPr id="15" name="圆角矩形 14"/>
          <p:cNvSpPr/>
          <p:nvPr/>
        </p:nvSpPr>
        <p:spPr bwMode="gray">
          <a:xfrm>
            <a:off x="2052179" y="3046697"/>
            <a:ext cx="889965" cy="252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3</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17" name="组合 16"/>
          <p:cNvGrpSpPr/>
          <p:nvPr/>
        </p:nvGrpSpPr>
        <p:grpSpPr bwMode="gray">
          <a:xfrm>
            <a:off x="3194252" y="2244107"/>
            <a:ext cx="540060" cy="1800200"/>
            <a:chOff x="9804412" y="2852936"/>
            <a:chExt cx="540060" cy="1800200"/>
          </a:xfrm>
        </p:grpSpPr>
        <p:grpSp>
          <p:nvGrpSpPr>
            <p:cNvPr id="18" name="组合 17"/>
            <p:cNvGrpSpPr/>
            <p:nvPr/>
          </p:nvGrpSpPr>
          <p:grpSpPr bwMode="gray">
            <a:xfrm>
              <a:off x="9804412" y="2852936"/>
              <a:ext cx="540060" cy="1800200"/>
              <a:chOff x="7032104" y="2852936"/>
              <a:chExt cx="540060" cy="1800200"/>
            </a:xfrm>
          </p:grpSpPr>
          <p:sp>
            <p:nvSpPr>
              <p:cNvPr id="20" name="圆角矩形 19"/>
              <p:cNvSpPr/>
              <p:nvPr/>
            </p:nvSpPr>
            <p:spPr bwMode="gray">
              <a:xfrm>
                <a:off x="7032104" y="2852936"/>
                <a:ext cx="540060" cy="18002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文本框 20"/>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19" name="任意多边形 18"/>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cxnSp>
        <p:nvCxnSpPr>
          <p:cNvPr id="22" name="直接箭头连接符 21"/>
          <p:cNvCxnSpPr/>
          <p:nvPr/>
        </p:nvCxnSpPr>
        <p:spPr bwMode="gray">
          <a:xfrm>
            <a:off x="2942224" y="3172697"/>
            <a:ext cx="25202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4" name="右箭头 23"/>
          <p:cNvSpPr/>
          <p:nvPr/>
        </p:nvSpPr>
        <p:spPr bwMode="gray">
          <a:xfrm>
            <a:off x="3816375" y="2899652"/>
            <a:ext cx="864096" cy="489109"/>
          </a:xfrm>
          <a:prstGeom prst="rightArrow">
            <a:avLst/>
          </a:prstGeom>
          <a:solidFill>
            <a:srgbClr val="F4FBFE"/>
          </a:solidFill>
          <a:ln w="12700">
            <a:solidFill>
              <a:srgbClr val="56C4D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25" name="圆角矩形 24"/>
          <p:cNvSpPr/>
          <p:nvPr/>
        </p:nvSpPr>
        <p:spPr bwMode="gray">
          <a:xfrm>
            <a:off x="3744367" y="2981531"/>
            <a:ext cx="8280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出</a:t>
            </a: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p>
        </p:txBody>
      </p:sp>
      <p:sp>
        <p:nvSpPr>
          <p:cNvPr id="33" name="bucket_206442"/>
          <p:cNvSpPr>
            <a:spLocks noChangeAspect="1"/>
          </p:cNvSpPr>
          <p:nvPr/>
        </p:nvSpPr>
        <p:spPr bwMode="gray">
          <a:xfrm>
            <a:off x="4872236" y="2725987"/>
            <a:ext cx="612068" cy="746995"/>
          </a:xfrm>
          <a:custGeom>
            <a:avLst/>
            <a:gdLst>
              <a:gd name="T0" fmla="*/ 5355 w 5585"/>
              <a:gd name="T1" fmla="*/ 2216 h 6827"/>
              <a:gd name="T2" fmla="*/ 5188 w 5585"/>
              <a:gd name="T3" fmla="*/ 2216 h 6827"/>
              <a:gd name="T4" fmla="*/ 2792 w 5585"/>
              <a:gd name="T5" fmla="*/ 0 h 6827"/>
              <a:gd name="T6" fmla="*/ 397 w 5585"/>
              <a:gd name="T7" fmla="*/ 2216 h 6827"/>
              <a:gd name="T8" fmla="*/ 230 w 5585"/>
              <a:gd name="T9" fmla="*/ 2216 h 6827"/>
              <a:gd name="T10" fmla="*/ 0 w 5585"/>
              <a:gd name="T11" fmla="*/ 2446 h 6827"/>
              <a:gd name="T12" fmla="*/ 230 w 5585"/>
              <a:gd name="T13" fmla="*/ 2676 h 6827"/>
              <a:gd name="T14" fmla="*/ 484 w 5585"/>
              <a:gd name="T15" fmla="*/ 2676 h 6827"/>
              <a:gd name="T16" fmla="*/ 975 w 5585"/>
              <a:gd name="T17" fmla="*/ 6625 h 6827"/>
              <a:gd name="T18" fmla="*/ 1204 w 5585"/>
              <a:gd name="T19" fmla="*/ 6827 h 6827"/>
              <a:gd name="T20" fmla="*/ 4381 w 5585"/>
              <a:gd name="T21" fmla="*/ 6827 h 6827"/>
              <a:gd name="T22" fmla="*/ 4610 w 5585"/>
              <a:gd name="T23" fmla="*/ 6625 h 6827"/>
              <a:gd name="T24" fmla="*/ 5100 w 5585"/>
              <a:gd name="T25" fmla="*/ 2676 h 6827"/>
              <a:gd name="T26" fmla="*/ 5355 w 5585"/>
              <a:gd name="T27" fmla="*/ 2676 h 6827"/>
              <a:gd name="T28" fmla="*/ 5585 w 5585"/>
              <a:gd name="T29" fmla="*/ 2446 h 6827"/>
              <a:gd name="T30" fmla="*/ 5355 w 5585"/>
              <a:gd name="T31" fmla="*/ 2216 h 6827"/>
              <a:gd name="T32" fmla="*/ 4178 w 5585"/>
              <a:gd name="T33" fmla="*/ 6366 h 6827"/>
              <a:gd name="T34" fmla="*/ 1407 w 5585"/>
              <a:gd name="T35" fmla="*/ 6366 h 6827"/>
              <a:gd name="T36" fmla="*/ 949 w 5585"/>
              <a:gd name="T37" fmla="*/ 2676 h 6827"/>
              <a:gd name="T38" fmla="*/ 4636 w 5585"/>
              <a:gd name="T39" fmla="*/ 2676 h 6827"/>
              <a:gd name="T40" fmla="*/ 4178 w 5585"/>
              <a:gd name="T41" fmla="*/ 6366 h 6827"/>
              <a:gd name="T42" fmla="*/ 859 w 5585"/>
              <a:gd name="T43" fmla="*/ 2216 h 6827"/>
              <a:gd name="T44" fmla="*/ 2792 w 5585"/>
              <a:gd name="T45" fmla="*/ 461 h 6827"/>
              <a:gd name="T46" fmla="*/ 4726 w 5585"/>
              <a:gd name="T47" fmla="*/ 2216 h 6827"/>
              <a:gd name="T48" fmla="*/ 859 w 5585"/>
              <a:gd name="T49" fmla="*/ 2216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85" h="6827">
                <a:moveTo>
                  <a:pt x="5355" y="2216"/>
                </a:moveTo>
                <a:lnTo>
                  <a:pt x="5188" y="2216"/>
                </a:lnTo>
                <a:cubicBezTo>
                  <a:pt x="5092" y="978"/>
                  <a:pt x="4054" y="0"/>
                  <a:pt x="2792" y="0"/>
                </a:cubicBezTo>
                <a:cubicBezTo>
                  <a:pt x="1530" y="0"/>
                  <a:pt x="493" y="978"/>
                  <a:pt x="397" y="2216"/>
                </a:cubicBezTo>
                <a:lnTo>
                  <a:pt x="230" y="2216"/>
                </a:lnTo>
                <a:cubicBezTo>
                  <a:pt x="103" y="2216"/>
                  <a:pt x="0" y="2319"/>
                  <a:pt x="0" y="2446"/>
                </a:cubicBezTo>
                <a:cubicBezTo>
                  <a:pt x="0" y="2573"/>
                  <a:pt x="103" y="2676"/>
                  <a:pt x="230" y="2676"/>
                </a:cubicBezTo>
                <a:lnTo>
                  <a:pt x="484" y="2676"/>
                </a:lnTo>
                <a:lnTo>
                  <a:pt x="975" y="6625"/>
                </a:lnTo>
                <a:cubicBezTo>
                  <a:pt x="989" y="6740"/>
                  <a:pt x="1087" y="6827"/>
                  <a:pt x="1204" y="6827"/>
                </a:cubicBezTo>
                <a:lnTo>
                  <a:pt x="4381" y="6827"/>
                </a:lnTo>
                <a:cubicBezTo>
                  <a:pt x="4497" y="6827"/>
                  <a:pt x="4595" y="6740"/>
                  <a:pt x="4610" y="6625"/>
                </a:cubicBezTo>
                <a:lnTo>
                  <a:pt x="5100" y="2676"/>
                </a:lnTo>
                <a:lnTo>
                  <a:pt x="5355" y="2676"/>
                </a:lnTo>
                <a:cubicBezTo>
                  <a:pt x="5482" y="2676"/>
                  <a:pt x="5585" y="2573"/>
                  <a:pt x="5585" y="2446"/>
                </a:cubicBezTo>
                <a:cubicBezTo>
                  <a:pt x="5585" y="2319"/>
                  <a:pt x="5482" y="2216"/>
                  <a:pt x="5355" y="2216"/>
                </a:cubicBezTo>
                <a:close/>
                <a:moveTo>
                  <a:pt x="4178" y="6366"/>
                </a:moveTo>
                <a:lnTo>
                  <a:pt x="1407" y="6366"/>
                </a:lnTo>
                <a:lnTo>
                  <a:pt x="949" y="2676"/>
                </a:lnTo>
                <a:lnTo>
                  <a:pt x="4636" y="2676"/>
                </a:lnTo>
                <a:lnTo>
                  <a:pt x="4178" y="6366"/>
                </a:lnTo>
                <a:close/>
                <a:moveTo>
                  <a:pt x="859" y="2216"/>
                </a:moveTo>
                <a:cubicBezTo>
                  <a:pt x="954" y="1232"/>
                  <a:pt x="1785" y="461"/>
                  <a:pt x="2792" y="461"/>
                </a:cubicBezTo>
                <a:cubicBezTo>
                  <a:pt x="3800" y="461"/>
                  <a:pt x="4631" y="1232"/>
                  <a:pt x="4726" y="2216"/>
                </a:cubicBezTo>
                <a:lnTo>
                  <a:pt x="859" y="2216"/>
                </a:lnTo>
                <a:close/>
              </a:path>
            </a:pathLst>
          </a:custGeom>
          <a:solidFill>
            <a:schemeClr val="tx1"/>
          </a:solidFill>
          <a:ln>
            <a:noFill/>
          </a:ln>
        </p:spPr>
      </p:sp>
      <p:cxnSp>
        <p:nvCxnSpPr>
          <p:cNvPr id="43" name="肘形连接符 42"/>
          <p:cNvCxnSpPr>
            <a:endCxn id="53" idx="2"/>
          </p:cNvCxnSpPr>
          <p:nvPr/>
        </p:nvCxnSpPr>
        <p:spPr bwMode="gray">
          <a:xfrm rot="5400000">
            <a:off x="3625231" y="2389978"/>
            <a:ext cx="430038" cy="2686176"/>
          </a:xfrm>
          <a:prstGeom prst="bentConnector3">
            <a:avLst>
              <a:gd name="adj1" fmla="val 244708"/>
            </a:avLst>
          </a:prstGeom>
          <a:solidFill>
            <a:schemeClr val="accent1"/>
          </a:solidFill>
          <a:ln w="76200" cap="flat" cmpd="sng" algn="ctr">
            <a:solidFill>
              <a:srgbClr val="E28189"/>
            </a:solidFill>
            <a:prstDash val="solid"/>
            <a:round/>
            <a:headEnd type="none" w="med" len="med"/>
            <a:tailEnd type="triangle"/>
          </a:ln>
          <a:effectLst/>
        </p:spPr>
      </p:cxnSp>
      <p:sp>
        <p:nvSpPr>
          <p:cNvPr id="64" name="文本框 63"/>
          <p:cNvSpPr txBox="1"/>
          <p:nvPr/>
        </p:nvSpPr>
        <p:spPr bwMode="gray">
          <a:xfrm>
            <a:off x="4804380" y="2437955"/>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b="0" dirty="0">
                <a:latin typeface="Huawei Sans" panose="020C0503030203020204" pitchFamily="34" charset="0"/>
                <a:ea typeface="方正兰亭黑简体" panose="02000000000000000000" pitchFamily="2" charset="-122"/>
              </a:rPr>
              <a:t>令牌桶</a:t>
            </a:r>
          </a:p>
        </p:txBody>
      </p:sp>
      <p:sp>
        <p:nvSpPr>
          <p:cNvPr id="65" name="圆角矩形 64"/>
          <p:cNvSpPr/>
          <p:nvPr/>
        </p:nvSpPr>
        <p:spPr bwMode="gray">
          <a:xfrm>
            <a:off x="2892016" y="4668193"/>
            <a:ext cx="1912364" cy="72209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超标，</a:t>
            </a:r>
            <a:endPar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接口暂停调度，等令牌足够在继续调度。</a:t>
            </a:r>
          </a:p>
        </p:txBody>
      </p:sp>
      <p:sp>
        <p:nvSpPr>
          <p:cNvPr id="69" name="矩形 68"/>
          <p:cNvSpPr/>
          <p:nvPr/>
        </p:nvSpPr>
        <p:spPr bwMode="gray">
          <a:xfrm>
            <a:off x="900050" y="1441580"/>
            <a:ext cx="6600478" cy="4072792"/>
          </a:xfrm>
          <a:prstGeom prst="rect">
            <a:avLst/>
          </a:prstGeom>
          <a:noFill/>
          <a:ln w="12700">
            <a:solidFill>
              <a:schemeClr val="tx1"/>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70" name="流程图: 过程 69"/>
          <p:cNvSpPr/>
          <p:nvPr/>
        </p:nvSpPr>
        <p:spPr bwMode="gray">
          <a:xfrm>
            <a:off x="933826" y="1598956"/>
            <a:ext cx="1622409" cy="246221"/>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71" name="文本框 70"/>
          <p:cNvSpPr txBox="1"/>
          <p:nvPr/>
        </p:nvSpPr>
        <p:spPr bwMode="gray">
          <a:xfrm>
            <a:off x="1091444" y="1553932"/>
            <a:ext cx="1413588"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接口流量整形</a:t>
            </a:r>
          </a:p>
        </p:txBody>
      </p:sp>
      <p:sp>
        <p:nvSpPr>
          <p:cNvPr id="49" name="圆角矩形 48"/>
          <p:cNvSpPr/>
          <p:nvPr/>
        </p:nvSpPr>
        <p:spPr bwMode="gray">
          <a:xfrm>
            <a:off x="2052179" y="2291929"/>
            <a:ext cx="889965" cy="252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50" name="直接箭头连接符 49"/>
          <p:cNvCxnSpPr/>
          <p:nvPr/>
        </p:nvCxnSpPr>
        <p:spPr bwMode="gray">
          <a:xfrm>
            <a:off x="2942224" y="2417929"/>
            <a:ext cx="25202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51" name="圆角矩形 50"/>
          <p:cNvSpPr/>
          <p:nvPr/>
        </p:nvSpPr>
        <p:spPr bwMode="gray">
          <a:xfrm>
            <a:off x="2052179" y="2669313"/>
            <a:ext cx="889965" cy="252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dirty="0">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p:txBody>
      </p:sp>
      <p:cxnSp>
        <p:nvCxnSpPr>
          <p:cNvPr id="52" name="直接箭头连接符 51"/>
          <p:cNvCxnSpPr/>
          <p:nvPr/>
        </p:nvCxnSpPr>
        <p:spPr bwMode="gray">
          <a:xfrm>
            <a:off x="2942224" y="2795313"/>
            <a:ext cx="25202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53" name="圆角矩形 52"/>
          <p:cNvSpPr/>
          <p:nvPr/>
        </p:nvSpPr>
        <p:spPr bwMode="gray">
          <a:xfrm>
            <a:off x="2052179" y="3696085"/>
            <a:ext cx="889965" cy="252000"/>
          </a:xfrm>
          <a:prstGeom prst="round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54" name="直接箭头连接符 53"/>
          <p:cNvCxnSpPr/>
          <p:nvPr/>
        </p:nvCxnSpPr>
        <p:spPr bwMode="gray">
          <a:xfrm>
            <a:off x="2942224" y="3822085"/>
            <a:ext cx="252028"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56" name="文本框 55"/>
          <p:cNvSpPr txBox="1"/>
          <p:nvPr/>
        </p:nvSpPr>
        <p:spPr bwMode="gray">
          <a:xfrm>
            <a:off x="2217749" y="3300041"/>
            <a:ext cx="48028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en-US" altLang="zh-CN" b="0" dirty="0">
                <a:latin typeface="Huawei Sans" panose="020C0503030203020204" pitchFamily="34" charset="0"/>
                <a:ea typeface="方正兰亭黑简体" panose="02000000000000000000" pitchFamily="2" charset="-122"/>
              </a:rPr>
              <a:t>… …</a:t>
            </a:r>
            <a:endParaRPr lang="zh-CN" altLang="en-US" b="0" dirty="0">
              <a:latin typeface="Huawei Sans" panose="020C0503030203020204" pitchFamily="34" charset="0"/>
              <a:ea typeface="方正兰亭黑简体" panose="02000000000000000000" pitchFamily="2" charset="-122"/>
            </a:endParaRPr>
          </a:p>
        </p:txBody>
      </p:sp>
      <p:grpSp>
        <p:nvGrpSpPr>
          <p:cNvPr id="73" name="组合 72"/>
          <p:cNvGrpSpPr/>
          <p:nvPr/>
        </p:nvGrpSpPr>
        <p:grpSpPr bwMode="gray">
          <a:xfrm>
            <a:off x="7644544" y="1717875"/>
            <a:ext cx="3636404" cy="1440160"/>
            <a:chOff x="6564053" y="5081307"/>
            <a:chExt cx="2556284" cy="1440160"/>
          </a:xfrm>
        </p:grpSpPr>
        <p:sp>
          <p:nvSpPr>
            <p:cNvPr id="74" name="矩形 73"/>
            <p:cNvSpPr/>
            <p:nvPr/>
          </p:nvSpPr>
          <p:spPr bwMode="gray">
            <a:xfrm>
              <a:off x="6564053" y="5094858"/>
              <a:ext cx="2556284" cy="1426609"/>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6" name="文本框 75"/>
            <p:cNvSpPr txBox="1"/>
            <p:nvPr/>
          </p:nvSpPr>
          <p:spPr bwMode="gray">
            <a:xfrm>
              <a:off x="6660067" y="5081307"/>
              <a:ext cx="210023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接口流量整形</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grpSp>
      <p:sp>
        <p:nvSpPr>
          <p:cNvPr id="59" name="右箭头 58"/>
          <p:cNvSpPr/>
          <p:nvPr/>
        </p:nvSpPr>
        <p:spPr bwMode="gray">
          <a:xfrm>
            <a:off x="5772336" y="2929472"/>
            <a:ext cx="1368152" cy="489109"/>
          </a:xfrm>
          <a:prstGeom prst="rightArrow">
            <a:avLst/>
          </a:prstGeom>
          <a:solidFill>
            <a:srgbClr val="56C4D2"/>
          </a:solidFill>
          <a:ln w="28575">
            <a:solidFill>
              <a:srgbClr val="56C4D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29" name="圆角矩形 28"/>
          <p:cNvSpPr/>
          <p:nvPr/>
        </p:nvSpPr>
        <p:spPr bwMode="gray">
          <a:xfrm>
            <a:off x="5700328" y="2903997"/>
            <a:ext cx="1374688" cy="54006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solidFill>
                  <a:schemeClr val="bg1"/>
                </a:solidFill>
                <a:latin typeface="Huawei Sans" panose="020C0503030203020204" pitchFamily="34" charset="0"/>
                <a:ea typeface="方正兰亭黑简体" panose="02000000000000000000" pitchFamily="2" charset="-122"/>
              </a:rPr>
              <a:t>符合，则转发</a:t>
            </a:r>
            <a:endParaRPr kumimoji="0" lang="zh-CN" alt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85" name="文本框 84"/>
          <p:cNvSpPr txBox="1"/>
          <p:nvPr/>
        </p:nvSpPr>
        <p:spPr bwMode="gray">
          <a:xfrm>
            <a:off x="1703884" y="2473959"/>
            <a:ext cx="356855" cy="138132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b="0" dirty="0">
                <a:latin typeface="Huawei Sans" panose="020C0503030203020204" pitchFamily="34" charset="0"/>
                <a:ea typeface="方正兰亭黑简体" panose="02000000000000000000" pitchFamily="2" charset="-122"/>
              </a:rPr>
              <a:t>端</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口</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所</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有</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队</a:t>
            </a:r>
            <a:endParaRPr lang="en-US" altLang="zh-CN" b="0" dirty="0">
              <a:latin typeface="Huawei Sans" panose="020C0503030203020204" pitchFamily="34" charset="0"/>
              <a:ea typeface="方正兰亭黑简体" panose="02000000000000000000" pitchFamily="2" charset="-122"/>
            </a:endParaRPr>
          </a:p>
          <a:p>
            <a:r>
              <a:rPr lang="zh-CN" altLang="en-US" b="0" dirty="0">
                <a:latin typeface="Huawei Sans" panose="020C0503030203020204" pitchFamily="34" charset="0"/>
                <a:ea typeface="方正兰亭黑简体" panose="02000000000000000000" pitchFamily="2" charset="-122"/>
              </a:rPr>
              <a:t>列</a:t>
            </a:r>
          </a:p>
        </p:txBody>
      </p:sp>
      <p:sp>
        <p:nvSpPr>
          <p:cNvPr id="86" name="文本框 85"/>
          <p:cNvSpPr txBox="1"/>
          <p:nvPr/>
        </p:nvSpPr>
        <p:spPr bwMode="gray">
          <a:xfrm>
            <a:off x="7781127" y="2041911"/>
            <a:ext cx="3482753" cy="101198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限制接口发送的所有报文的总速率，是对</a:t>
            </a:r>
            <a:r>
              <a:rPr lang="zh-CN" altLang="en-US" sz="1600" dirty="0">
                <a:solidFill>
                  <a:srgbClr val="C7000B"/>
                </a:solidFill>
                <a:latin typeface="Huawei Sans" panose="020C0503030203020204" pitchFamily="34" charset="0"/>
                <a:ea typeface="方正兰亭黑简体" panose="02000000000000000000" pitchFamily="2" charset="-122"/>
              </a:rPr>
              <a:t>整个出接口</a:t>
            </a:r>
            <a:r>
              <a:rPr lang="zh-CN" altLang="en-US" sz="1600" dirty="0">
                <a:solidFill>
                  <a:srgbClr val="000000"/>
                </a:solidFill>
                <a:latin typeface="Huawei Sans" panose="020C0503030203020204" pitchFamily="34" charset="0"/>
                <a:ea typeface="方正兰亭黑简体" panose="02000000000000000000" pitchFamily="2" charset="-122"/>
              </a:rPr>
              <a:t>进行流量整形，不区分优先级。</a:t>
            </a:r>
          </a:p>
        </p:txBody>
      </p:sp>
      <p:sp>
        <p:nvSpPr>
          <p:cNvPr id="45"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46"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47"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48" name="燕尾形 155"/>
          <p:cNvSpPr/>
          <p:nvPr/>
        </p:nvSpPr>
        <p:spPr bwMode="auto">
          <a:xfrm>
            <a:off x="10657511" y="107185"/>
            <a:ext cx="1053460"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4643422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75"/>
          <p:cNvSpPr/>
          <p:nvPr/>
        </p:nvSpPr>
        <p:spPr bwMode="gray">
          <a:xfrm>
            <a:off x="1671766" y="2892391"/>
            <a:ext cx="8711517" cy="328177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一般用于接口出方向，多用于流量限速，对于丢包敏感流量（如：上网、下载等），推荐使用。</a:t>
            </a:r>
          </a:p>
        </p:txBody>
      </p:sp>
      <p:sp>
        <p:nvSpPr>
          <p:cNvPr id="2" name="标题 1"/>
          <p:cNvSpPr>
            <a:spLocks noGrp="1"/>
          </p:cNvSpPr>
          <p:nvPr>
            <p:ph type="title"/>
          </p:nvPr>
        </p:nvSpPr>
        <p:spPr bwMode="gray"/>
        <p:txBody>
          <a:bodyPr/>
          <a:lstStyle/>
          <a:p>
            <a:r>
              <a:rPr lang="zh-CN" altLang="en-US" dirty="0"/>
              <a:t>流量整形使用场景</a:t>
            </a:r>
          </a:p>
        </p:txBody>
      </p:sp>
      <p:sp>
        <p:nvSpPr>
          <p:cNvPr id="9" name="Text Placeholder 8"/>
          <p:cNvSpPr>
            <a:spLocks noGrp="1"/>
          </p:cNvSpPr>
          <p:nvPr>
            <p:ph type="body" sz="quarter" idx="10"/>
          </p:nvPr>
        </p:nvSpPr>
        <p:spPr bwMode="gray"/>
        <p:txBody>
          <a:bodyPr/>
          <a:lstStyle/>
          <a:p>
            <a:r>
              <a:rPr lang="zh-CN" altLang="en-US" sz="1800" dirty="0"/>
              <a:t>企业网络中，总部与分支机构通过</a:t>
            </a:r>
            <a:r>
              <a:rPr lang="en-US" altLang="zh-CN" sz="1800" dirty="0"/>
              <a:t>ISP</a:t>
            </a:r>
            <a:r>
              <a:rPr lang="zh-CN" altLang="en-US" sz="1800" dirty="0"/>
              <a:t>网络使用专线相连。分支机构想要访问</a:t>
            </a:r>
            <a:r>
              <a:rPr lang="en-US" altLang="zh-CN" sz="1800" dirty="0"/>
              <a:t>Internet</a:t>
            </a:r>
            <a:r>
              <a:rPr lang="zh-CN" altLang="en-US" sz="1800" dirty="0"/>
              <a:t>必须通过总部。</a:t>
            </a:r>
          </a:p>
          <a:p>
            <a:r>
              <a:rPr lang="zh-CN" altLang="en-US" sz="1800" dirty="0"/>
              <a:t>如果所有分支机构同时访问</a:t>
            </a:r>
            <a:r>
              <a:rPr lang="en-US" altLang="zh-CN" sz="1800" dirty="0"/>
              <a:t>Internet</a:t>
            </a:r>
            <a:r>
              <a:rPr lang="zh-CN" altLang="en-US" sz="1800" dirty="0"/>
              <a:t>，可能导致访问</a:t>
            </a:r>
            <a:r>
              <a:rPr lang="en-US" altLang="zh-CN" sz="1800" dirty="0"/>
              <a:t>Internet</a:t>
            </a:r>
            <a:r>
              <a:rPr lang="zh-CN" altLang="en-US" sz="1800" dirty="0"/>
              <a:t>的</a:t>
            </a:r>
            <a:r>
              <a:rPr lang="en-US" altLang="zh-CN" sz="1800" dirty="0"/>
              <a:t>Web</a:t>
            </a:r>
            <a:r>
              <a:rPr lang="zh-CN" altLang="en-US" sz="1800" dirty="0"/>
              <a:t>流量产生拥塞，从而被丢弃。如图所示，为了防止</a:t>
            </a:r>
            <a:r>
              <a:rPr lang="en-US" altLang="zh-CN" sz="1800" dirty="0"/>
              <a:t>Web</a:t>
            </a:r>
            <a:r>
              <a:rPr lang="zh-CN" altLang="en-US" sz="1800" dirty="0"/>
              <a:t>流量的丢失，可以在企业分支机构的流量进入企业总部之前配置流量整形。</a:t>
            </a:r>
          </a:p>
          <a:p>
            <a:endParaRPr lang="zh-CN" altLang="en-US" dirty="0"/>
          </a:p>
        </p:txBody>
      </p:sp>
      <p:grpSp>
        <p:nvGrpSpPr>
          <p:cNvPr id="101" name="组合 100"/>
          <p:cNvGrpSpPr/>
          <p:nvPr/>
        </p:nvGrpSpPr>
        <p:grpSpPr bwMode="gray">
          <a:xfrm>
            <a:off x="6566860" y="4193947"/>
            <a:ext cx="1089453" cy="684076"/>
            <a:chOff x="6384032" y="2168860"/>
            <a:chExt cx="1089453" cy="684076"/>
          </a:xfrm>
        </p:grpSpPr>
        <p:pic>
          <p:nvPicPr>
            <p:cNvPr id="102" name="图片 10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84032" y="2168860"/>
              <a:ext cx="1089453" cy="684076"/>
            </a:xfrm>
            <a:prstGeom prst="rect">
              <a:avLst/>
            </a:prstGeom>
          </p:spPr>
        </p:pic>
        <p:sp>
          <p:nvSpPr>
            <p:cNvPr id="103" name="圆角矩形 102"/>
            <p:cNvSpPr/>
            <p:nvPr/>
          </p:nvSpPr>
          <p:spPr bwMode="gray">
            <a:xfrm>
              <a:off x="6420036" y="2348880"/>
              <a:ext cx="104411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总部</a:t>
              </a:r>
            </a:p>
          </p:txBody>
        </p:sp>
      </p:grpSp>
      <p:pic>
        <p:nvPicPr>
          <p:cNvPr id="100" name="图片 9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082584" y="3869911"/>
            <a:ext cx="1548172" cy="1260140"/>
          </a:xfrm>
          <a:prstGeom prst="rect">
            <a:avLst/>
          </a:prstGeom>
        </p:spPr>
      </p:pic>
      <p:sp>
        <p:nvSpPr>
          <p:cNvPr id="63" name="圆角矩形 62"/>
          <p:cNvSpPr/>
          <p:nvPr/>
        </p:nvSpPr>
        <p:spPr bwMode="gray">
          <a:xfrm>
            <a:off x="4010576" y="2897803"/>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流量方向</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88" name="组合 87"/>
          <p:cNvGrpSpPr/>
          <p:nvPr/>
        </p:nvGrpSpPr>
        <p:grpSpPr bwMode="gray">
          <a:xfrm>
            <a:off x="2066360" y="3473867"/>
            <a:ext cx="1089453" cy="684076"/>
            <a:chOff x="6384032" y="2168860"/>
            <a:chExt cx="1089453" cy="684076"/>
          </a:xfrm>
        </p:grpSpPr>
        <p:pic>
          <p:nvPicPr>
            <p:cNvPr id="89" name="图片 8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84032" y="2168860"/>
              <a:ext cx="1089453" cy="684076"/>
            </a:xfrm>
            <a:prstGeom prst="rect">
              <a:avLst/>
            </a:prstGeom>
          </p:spPr>
        </p:pic>
        <p:sp>
          <p:nvSpPr>
            <p:cNvPr id="90" name="圆角矩形 89"/>
            <p:cNvSpPr/>
            <p:nvPr/>
          </p:nvSpPr>
          <p:spPr bwMode="gray">
            <a:xfrm>
              <a:off x="6420036" y="2348880"/>
              <a:ext cx="104411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分支机构</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grpSp>
        <p:nvGrpSpPr>
          <p:cNvPr id="91" name="组合 90"/>
          <p:cNvGrpSpPr/>
          <p:nvPr/>
        </p:nvGrpSpPr>
        <p:grpSpPr bwMode="gray">
          <a:xfrm>
            <a:off x="2066360" y="4895331"/>
            <a:ext cx="1089453" cy="684076"/>
            <a:chOff x="6384032" y="2168860"/>
            <a:chExt cx="1089453" cy="684076"/>
          </a:xfrm>
        </p:grpSpPr>
        <p:pic>
          <p:nvPicPr>
            <p:cNvPr id="92" name="图片 9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84032" y="2168860"/>
              <a:ext cx="1089453" cy="684076"/>
            </a:xfrm>
            <a:prstGeom prst="rect">
              <a:avLst/>
            </a:prstGeom>
          </p:spPr>
        </p:pic>
        <p:sp>
          <p:nvSpPr>
            <p:cNvPr id="93" name="圆角矩形 92"/>
            <p:cNvSpPr/>
            <p:nvPr/>
          </p:nvSpPr>
          <p:spPr bwMode="gray">
            <a:xfrm>
              <a:off x="6420036" y="2348880"/>
              <a:ext cx="104411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分支机构</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pic>
        <p:nvPicPr>
          <p:cNvPr id="94" name="图片 9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110476" y="3581879"/>
            <a:ext cx="570732" cy="468000"/>
          </a:xfrm>
          <a:prstGeom prst="rect">
            <a:avLst/>
          </a:prstGeom>
        </p:spPr>
      </p:pic>
      <p:pic>
        <p:nvPicPr>
          <p:cNvPr id="95" name="图片 9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110476" y="5003369"/>
            <a:ext cx="570732" cy="468000"/>
          </a:xfrm>
          <a:prstGeom prst="rect">
            <a:avLst/>
          </a:prstGeom>
        </p:spPr>
      </p:pic>
      <p:pic>
        <p:nvPicPr>
          <p:cNvPr id="99" name="图片 9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106472" y="4302011"/>
            <a:ext cx="570732" cy="468000"/>
          </a:xfrm>
          <a:prstGeom prst="rect">
            <a:avLst/>
          </a:prstGeom>
        </p:spPr>
      </p:pic>
      <p:grpSp>
        <p:nvGrpSpPr>
          <p:cNvPr id="104" name="组合 103"/>
          <p:cNvGrpSpPr/>
          <p:nvPr/>
        </p:nvGrpSpPr>
        <p:grpSpPr bwMode="gray">
          <a:xfrm>
            <a:off x="8691096" y="4085935"/>
            <a:ext cx="1440160" cy="864096"/>
            <a:chOff x="6384032" y="2168860"/>
            <a:chExt cx="1089453" cy="684076"/>
          </a:xfrm>
        </p:grpSpPr>
        <p:pic>
          <p:nvPicPr>
            <p:cNvPr id="105" name="图片 10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84032" y="2168860"/>
              <a:ext cx="1089453" cy="684076"/>
            </a:xfrm>
            <a:prstGeom prst="rect">
              <a:avLst/>
            </a:prstGeom>
          </p:spPr>
        </p:pic>
        <p:sp>
          <p:nvSpPr>
            <p:cNvPr id="106" name="圆角矩形 105"/>
            <p:cNvSpPr/>
            <p:nvPr/>
          </p:nvSpPr>
          <p:spPr bwMode="gray">
            <a:xfrm>
              <a:off x="6420036" y="2348880"/>
              <a:ext cx="104411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Internet</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pic>
        <p:nvPicPr>
          <p:cNvPr id="108" name="图片 10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295052" y="4302021"/>
            <a:ext cx="570707" cy="467980"/>
          </a:xfrm>
          <a:prstGeom prst="rect">
            <a:avLst/>
          </a:prstGeom>
        </p:spPr>
      </p:pic>
      <p:cxnSp>
        <p:nvCxnSpPr>
          <p:cNvPr id="109" name="直接连接符 108"/>
          <p:cNvCxnSpPr>
            <a:stCxn id="102" idx="3"/>
            <a:endCxn id="108" idx="1"/>
          </p:cNvCxnSpPr>
          <p:nvPr/>
        </p:nvCxnSpPr>
        <p:spPr bwMode="gray">
          <a:xfrm>
            <a:off x="7656313" y="4535985"/>
            <a:ext cx="638739" cy="2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0" name="直接连接符 109"/>
          <p:cNvCxnSpPr>
            <a:stCxn id="98" idx="3"/>
            <a:endCxn id="99" idx="1"/>
          </p:cNvCxnSpPr>
          <p:nvPr/>
        </p:nvCxnSpPr>
        <p:spPr bwMode="gray">
          <a:xfrm>
            <a:off x="5522744" y="4536011"/>
            <a:ext cx="58372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1" name="直接连接符 110"/>
          <p:cNvCxnSpPr>
            <a:stCxn id="96" idx="3"/>
          </p:cNvCxnSpPr>
          <p:nvPr/>
        </p:nvCxnSpPr>
        <p:spPr bwMode="gray">
          <a:xfrm>
            <a:off x="4617287" y="4067897"/>
            <a:ext cx="617425" cy="45008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2" name="直接连接符 111"/>
          <p:cNvCxnSpPr>
            <a:stCxn id="97" idx="3"/>
          </p:cNvCxnSpPr>
          <p:nvPr/>
        </p:nvCxnSpPr>
        <p:spPr bwMode="gray">
          <a:xfrm flipV="1">
            <a:off x="4617287" y="4517983"/>
            <a:ext cx="581421" cy="47010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8" name="图片 9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952037" y="4302021"/>
            <a:ext cx="570707" cy="467980"/>
          </a:xfrm>
          <a:prstGeom prst="rect">
            <a:avLst/>
          </a:prstGeom>
        </p:spPr>
      </p:pic>
      <p:cxnSp>
        <p:nvCxnSpPr>
          <p:cNvPr id="113" name="直接连接符 112"/>
          <p:cNvCxnSpPr>
            <a:stCxn id="94" idx="3"/>
            <a:endCxn id="96" idx="3"/>
          </p:cNvCxnSpPr>
          <p:nvPr/>
        </p:nvCxnSpPr>
        <p:spPr bwMode="gray">
          <a:xfrm>
            <a:off x="3681208" y="3815879"/>
            <a:ext cx="936079" cy="25201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6" name="图片 9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046580" y="3833907"/>
            <a:ext cx="570707" cy="467980"/>
          </a:xfrm>
          <a:prstGeom prst="rect">
            <a:avLst/>
          </a:prstGeom>
        </p:spPr>
      </p:pic>
      <p:cxnSp>
        <p:nvCxnSpPr>
          <p:cNvPr id="114" name="直接连接符 113"/>
          <p:cNvCxnSpPr>
            <a:stCxn id="95" idx="3"/>
            <a:endCxn id="97" idx="3"/>
          </p:cNvCxnSpPr>
          <p:nvPr/>
        </p:nvCxnSpPr>
        <p:spPr bwMode="gray">
          <a:xfrm flipV="1">
            <a:off x="3681208" y="4988087"/>
            <a:ext cx="936079" cy="24928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7" name="图片 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046580" y="4754097"/>
            <a:ext cx="570707" cy="467980"/>
          </a:xfrm>
          <a:prstGeom prst="rect">
            <a:avLst/>
          </a:prstGeom>
        </p:spPr>
      </p:pic>
      <p:sp>
        <p:nvSpPr>
          <p:cNvPr id="115" name="圆角矩形 114"/>
          <p:cNvSpPr/>
          <p:nvPr/>
        </p:nvSpPr>
        <p:spPr bwMode="gray">
          <a:xfrm>
            <a:off x="4262604" y="4373967"/>
            <a:ext cx="57606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ISP</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6" name="直接连接符 115"/>
          <p:cNvCxnSpPr/>
          <p:nvPr/>
        </p:nvCxnSpPr>
        <p:spPr bwMode="gray">
          <a:xfrm flipV="1">
            <a:off x="3974572" y="3293847"/>
            <a:ext cx="1296144"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sp>
        <p:nvSpPr>
          <p:cNvPr id="46" name="Oval 41"/>
          <p:cNvSpPr>
            <a:spLocks noChangeAspect="1"/>
          </p:cNvSpPr>
          <p:nvPr/>
        </p:nvSpPr>
        <p:spPr bwMode="gray">
          <a:xfrm>
            <a:off x="5409866" y="44383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7" name="Rectangular Callout 46"/>
          <p:cNvSpPr/>
          <p:nvPr/>
        </p:nvSpPr>
        <p:spPr bwMode="gray">
          <a:xfrm>
            <a:off x="5103593" y="3516991"/>
            <a:ext cx="1184217" cy="525784"/>
          </a:xfrm>
          <a:prstGeom prst="wedgeRectCallout">
            <a:avLst>
              <a:gd name="adj1" fmla="val -13087"/>
              <a:gd name="adj2" fmla="val 10683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C7000B"/>
                </a:solidFill>
                <a:latin typeface="Huawei Sans" panose="020C0503030203020204" pitchFamily="34" charset="0"/>
                <a:ea typeface="方正兰亭黑简体" panose="02000000000000000000" pitchFamily="2" charset="-122"/>
              </a:rPr>
              <a:t>接口出方向</a:t>
            </a:r>
            <a:endParaRPr lang="en-US" altLang="zh-CN" sz="1400" dirty="0">
              <a:solidFill>
                <a:srgbClr val="C7000B"/>
              </a:solidFill>
              <a:latin typeface="Huawei Sans" panose="020C0503030203020204" pitchFamily="34" charset="0"/>
              <a:ea typeface="方正兰亭黑简体" panose="02000000000000000000" pitchFamily="2" charset="-122"/>
            </a:endParaRPr>
          </a:p>
          <a:p>
            <a:pPr algn="ctr"/>
            <a:r>
              <a:rPr lang="zh-CN" altLang="en-US" sz="1400" dirty="0">
                <a:solidFill>
                  <a:srgbClr val="C7000B"/>
                </a:solidFill>
                <a:latin typeface="Huawei Sans" panose="020C0503030203020204" pitchFamily="34" charset="0"/>
                <a:ea typeface="方正兰亭黑简体" panose="02000000000000000000" pitchFamily="2" charset="-122"/>
              </a:rPr>
              <a:t>流量整形</a:t>
            </a:r>
          </a:p>
        </p:txBody>
      </p:sp>
      <p:sp>
        <p:nvSpPr>
          <p:cNvPr id="50" name="圆角矩形 75"/>
          <p:cNvSpPr/>
          <p:nvPr/>
        </p:nvSpPr>
        <p:spPr bwMode="gray">
          <a:xfrm>
            <a:off x="1670316" y="2464192"/>
            <a:ext cx="8734182"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上行映射</a:t>
            </a:r>
          </a:p>
        </p:txBody>
      </p:sp>
      <p:sp>
        <p:nvSpPr>
          <p:cNvPr id="42" name="五边形 153"/>
          <p:cNvSpPr/>
          <p:nvPr/>
        </p:nvSpPr>
        <p:spPr bwMode="auto">
          <a:xfrm>
            <a:off x="8010515" y="107185"/>
            <a:ext cx="981444"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流量限速</a:t>
            </a:r>
          </a:p>
        </p:txBody>
      </p:sp>
      <p:sp>
        <p:nvSpPr>
          <p:cNvPr id="43" name="燕尾形 154"/>
          <p:cNvSpPr/>
          <p:nvPr/>
        </p:nvSpPr>
        <p:spPr bwMode="auto">
          <a:xfrm>
            <a:off x="8920510" y="107185"/>
            <a:ext cx="914043"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令牌桶</a:t>
            </a:r>
          </a:p>
        </p:txBody>
      </p:sp>
      <p:sp>
        <p:nvSpPr>
          <p:cNvPr id="44" name="燕尾形 155"/>
          <p:cNvSpPr/>
          <p:nvPr/>
        </p:nvSpPr>
        <p:spPr bwMode="auto">
          <a:xfrm>
            <a:off x="9756137" y="107185"/>
            <a:ext cx="983284"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流量监管</a:t>
            </a:r>
          </a:p>
        </p:txBody>
      </p:sp>
      <p:sp>
        <p:nvSpPr>
          <p:cNvPr id="45" name="燕尾形 155"/>
          <p:cNvSpPr/>
          <p:nvPr/>
        </p:nvSpPr>
        <p:spPr bwMode="auto">
          <a:xfrm>
            <a:off x="10657511" y="107185"/>
            <a:ext cx="1053460" cy="213037"/>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流量整形</a:t>
            </a:r>
          </a:p>
        </p:txBody>
      </p:sp>
    </p:spTree>
    <p:extLst>
      <p:ext uri="{BB962C8B-B14F-4D97-AF65-F5344CB8AC3E}">
        <p14:creationId xmlns:p14="http://schemas.microsoft.com/office/powerpoint/2010/main" val="21032482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C692-04C3-4DC3-A392-67F9CECA4FF4}"/>
              </a:ext>
            </a:extLst>
          </p:cNvPr>
          <p:cNvSpPr>
            <a:spLocks noGrp="1"/>
          </p:cNvSpPr>
          <p:nvPr>
            <p:ph type="title"/>
          </p:nvPr>
        </p:nvSpPr>
        <p:spPr bwMode="gray"/>
        <p:txBody>
          <a:bodyPr/>
          <a:lstStyle/>
          <a:p>
            <a:r>
              <a:rPr lang="zh-CN" altLang="en-US" dirty="0"/>
              <a:t>基于接口配置流量整形</a:t>
            </a:r>
            <a:endParaRPr lang="en-US" dirty="0"/>
          </a:p>
        </p:txBody>
      </p:sp>
      <p:sp>
        <p:nvSpPr>
          <p:cNvPr id="3" name="Text Placeholder 2">
            <a:extLst>
              <a:ext uri="{FF2B5EF4-FFF2-40B4-BE49-F238E27FC236}">
                <a16:creationId xmlns:a16="http://schemas.microsoft.com/office/drawing/2014/main" id="{F2C04CD3-5B01-4727-822F-C837B6EE92F4}"/>
              </a:ext>
            </a:extLst>
          </p:cNvPr>
          <p:cNvSpPr>
            <a:spLocks noGrp="1"/>
          </p:cNvSpPr>
          <p:nvPr>
            <p:ph type="body" sz="quarter" idx="10"/>
          </p:nvPr>
        </p:nvSpPr>
        <p:spPr bwMode="gray">
          <a:xfrm>
            <a:off x="6094413" y="1098550"/>
            <a:ext cx="5640387" cy="4879805"/>
          </a:xfrm>
        </p:spPr>
        <p:txBody>
          <a:bodyPr/>
          <a:lstStyle/>
          <a:p>
            <a:r>
              <a:rPr lang="zh-CN" altLang="en-US" sz="1800" dirty="0"/>
              <a:t>基于接口配置流量整形命令如下：</a:t>
            </a:r>
            <a:endParaRPr lang="en-US" sz="1800" dirty="0"/>
          </a:p>
        </p:txBody>
      </p:sp>
      <p:sp>
        <p:nvSpPr>
          <p:cNvPr id="4" name="圆角矩形 135">
            <a:extLst>
              <a:ext uri="{FF2B5EF4-FFF2-40B4-BE49-F238E27FC236}">
                <a16:creationId xmlns:a16="http://schemas.microsoft.com/office/drawing/2014/main" id="{39DDA8F9-2B81-41CE-A94F-55D5020F6913}"/>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 name="Text Box 26">
            <a:extLst>
              <a:ext uri="{FF2B5EF4-FFF2-40B4-BE49-F238E27FC236}">
                <a16:creationId xmlns:a16="http://schemas.microsoft.com/office/drawing/2014/main" id="{833E3DB2-1A41-4E50-972C-C3B0D684A3BB}"/>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6" name="Straight Connector 5">
            <a:extLst>
              <a:ext uri="{FF2B5EF4-FFF2-40B4-BE49-F238E27FC236}">
                <a16:creationId xmlns:a16="http://schemas.microsoft.com/office/drawing/2014/main" id="{36F7E074-F8C0-4A0B-913A-5681D7D0C174}"/>
              </a:ext>
            </a:extLst>
          </p:cNvPr>
          <p:cNvCxnSpPr>
            <a:cxnSpLocks/>
            <a:endCxn id="9"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8" name="Picture 12" descr="E:\2016.01\1.12 扁平化图标\蓝色\AR-蓝色最新-40.png">
            <a:extLst>
              <a:ext uri="{FF2B5EF4-FFF2-40B4-BE49-F238E27FC236}">
                <a16:creationId xmlns:a16="http://schemas.microsoft.com/office/drawing/2014/main" id="{354B1F47-A6F2-46BC-A9CF-1F59102BA54E}"/>
              </a:ext>
            </a:extLst>
          </p:cNvPr>
          <p:cNvPicPr>
            <a:picLocks noChangeAspect="1" noChangeArrowheads="1"/>
          </p:cNvPicPr>
          <p:nvPr/>
        </p:nvPicPr>
        <p:blipFill>
          <a:blip r:embed="rId3" cstate="print"/>
          <a:srcRect/>
          <a:stretch>
            <a:fillRect/>
          </a:stretch>
        </p:blipFill>
        <p:spPr bwMode="gray">
          <a:xfrm>
            <a:off x="3251684" y="1636574"/>
            <a:ext cx="540000" cy="441818"/>
          </a:xfrm>
          <a:prstGeom prst="rect">
            <a:avLst/>
          </a:prstGeom>
        </p:spPr>
      </p:pic>
      <p:pic>
        <p:nvPicPr>
          <p:cNvPr id="9" name="图片 70">
            <a:extLst>
              <a:ext uri="{FF2B5EF4-FFF2-40B4-BE49-F238E27FC236}">
                <a16:creationId xmlns:a16="http://schemas.microsoft.com/office/drawing/2014/main" id="{E0DB9CFF-5431-44C1-9A85-E24A1F98E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10" name="Straight Connector 9">
            <a:extLst>
              <a:ext uri="{FF2B5EF4-FFF2-40B4-BE49-F238E27FC236}">
                <a16:creationId xmlns:a16="http://schemas.microsoft.com/office/drawing/2014/main" id="{D9E3E08E-BA61-4DED-B6C7-64EBBB780BB6}"/>
              </a:ext>
            </a:extLst>
          </p:cNvPr>
          <p:cNvCxnSpPr>
            <a:cxnSpLocks/>
            <a:stCxn id="9" idx="3"/>
            <a:endCxn id="8" idx="1"/>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B7A4AA71-0499-46C2-85BF-40D31A3D4E27}"/>
              </a:ext>
            </a:extLst>
          </p:cNvPr>
          <p:cNvCxnSpPr>
            <a:cxnSpLocks/>
            <a:stCxn id="8" idx="3"/>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2" name="Text Box 26">
            <a:extLst>
              <a:ext uri="{FF2B5EF4-FFF2-40B4-BE49-F238E27FC236}">
                <a16:creationId xmlns:a16="http://schemas.microsoft.com/office/drawing/2014/main" id="{F3623F07-C0F9-4238-9874-CC0ED06B7B27}"/>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13" name="Oval 41">
            <a:extLst>
              <a:ext uri="{FF2B5EF4-FFF2-40B4-BE49-F238E27FC236}">
                <a16:creationId xmlns:a16="http://schemas.microsoft.com/office/drawing/2014/main" id="{23D68BE1-5127-44C7-B43D-8754273B3BFC}"/>
              </a:ext>
            </a:extLst>
          </p:cNvPr>
          <p:cNvSpPr>
            <a:spLocks noChangeAspect="1"/>
          </p:cNvSpPr>
          <p:nvPr/>
        </p:nvSpPr>
        <p:spPr bwMode="gray">
          <a:xfrm>
            <a:off x="2351981" y="17806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4" name="Text Box 26">
            <a:extLst>
              <a:ext uri="{FF2B5EF4-FFF2-40B4-BE49-F238E27FC236}">
                <a16:creationId xmlns:a16="http://schemas.microsoft.com/office/drawing/2014/main" id="{995BE50E-3E58-4B9D-938D-576DD029B175}"/>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15" name="Oval 41">
            <a:extLst>
              <a:ext uri="{FF2B5EF4-FFF2-40B4-BE49-F238E27FC236}">
                <a16:creationId xmlns:a16="http://schemas.microsoft.com/office/drawing/2014/main" id="{47F7623F-BF1D-46F4-9703-69BC0863C5CA}"/>
              </a:ext>
            </a:extLst>
          </p:cNvPr>
          <p:cNvSpPr>
            <a:spLocks noChangeAspect="1"/>
          </p:cNvSpPr>
          <p:nvPr/>
        </p:nvSpPr>
        <p:spPr bwMode="gray">
          <a:xfrm>
            <a:off x="371205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6" name="Text Placeholder 2">
            <a:extLst>
              <a:ext uri="{FF2B5EF4-FFF2-40B4-BE49-F238E27FC236}">
                <a16:creationId xmlns:a16="http://schemas.microsoft.com/office/drawing/2014/main" id="{9B3FDBA0-A32C-4D1C-A902-659577D00DD1}"/>
              </a:ext>
            </a:extLst>
          </p:cNvPr>
          <p:cNvSpPr txBox="1">
            <a:spLocks/>
          </p:cNvSpPr>
          <p:nvPr/>
        </p:nvSpPr>
        <p:spPr bwMode="gray">
          <a:xfrm>
            <a:off x="447500" y="2559103"/>
            <a:ext cx="5323380" cy="38350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流量整形只能在设备出方向配置，配置方式上可以分为基于接口的流量整形，基于队列的流量整形和通过</a:t>
            </a:r>
            <a:r>
              <a:rPr lang="en-US" altLang="zh-CN" sz="1800" dirty="0"/>
              <a:t>MQC</a:t>
            </a:r>
            <a:r>
              <a:rPr lang="zh-CN" altLang="en-US" sz="1800" dirty="0"/>
              <a:t>实现整形。</a:t>
            </a:r>
            <a:endParaRPr lang="en-US" altLang="zh-CN" sz="1800" dirty="0"/>
          </a:p>
          <a:p>
            <a:pPr>
              <a:spcAft>
                <a:spcPts val="0"/>
              </a:spcAft>
            </a:pPr>
            <a:r>
              <a:rPr lang="zh-CN" altLang="en-US" sz="1800" dirty="0"/>
              <a:t>基于接口的流量整形颗粒度较粗，配置思路如下：</a:t>
            </a:r>
            <a:endParaRPr lang="en-US" altLang="zh-CN" sz="1800" dirty="0"/>
          </a:p>
          <a:p>
            <a:pPr lvl="1">
              <a:spcAft>
                <a:spcPts val="0"/>
              </a:spcAft>
            </a:pPr>
            <a:r>
              <a:rPr lang="zh-CN" altLang="en-US" sz="1600" dirty="0"/>
              <a:t>在接口出方向部署流量整形，配置最大带宽。</a:t>
            </a:r>
            <a:endParaRPr lang="en-US" altLang="zh-CN" sz="1600" dirty="0"/>
          </a:p>
        </p:txBody>
      </p:sp>
      <p:sp>
        <p:nvSpPr>
          <p:cNvPr id="18" name="文本框 30">
            <a:extLst>
              <a:ext uri="{FF2B5EF4-FFF2-40B4-BE49-F238E27FC236}">
                <a16:creationId xmlns:a16="http://schemas.microsoft.com/office/drawing/2014/main" id="{ED73F372-45B9-4F1F-AF3C-D7EE5C3D6EC1}"/>
              </a:ext>
            </a:extLst>
          </p:cNvPr>
          <p:cNvSpPr txBox="1"/>
          <p:nvPr/>
        </p:nvSpPr>
        <p:spPr bwMode="gray">
          <a:xfrm>
            <a:off x="6099964" y="1686917"/>
            <a:ext cx="5607148"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gts </a:t>
            </a:r>
            <a:r>
              <a:rPr lang="en-US" altLang="zh-CN" b="1" dirty="0" err="1">
                <a:solidFill>
                  <a:schemeClr val="tx1"/>
                </a:solidFill>
              </a:rPr>
              <a:t>cir</a:t>
            </a:r>
            <a:r>
              <a:rPr lang="en-US" altLang="zh-CN" b="1" dirty="0">
                <a:solidFill>
                  <a:schemeClr val="tx1"/>
                </a:solidFill>
              </a:rPr>
              <a:t> </a:t>
            </a:r>
            <a:r>
              <a:rPr lang="en-US" altLang="zh-CN" dirty="0">
                <a:solidFill>
                  <a:schemeClr val="tx1"/>
                </a:solidFill>
              </a:rPr>
              <a:t>[</a:t>
            </a:r>
            <a:r>
              <a:rPr lang="en-US" altLang="zh-CN" i="1" dirty="0" err="1">
                <a:solidFill>
                  <a:schemeClr val="tx1"/>
                </a:solidFill>
              </a:rPr>
              <a:t>cir</a:t>
            </a:r>
            <a:r>
              <a:rPr lang="en-US" altLang="zh-CN" i="1" dirty="0">
                <a:solidFill>
                  <a:schemeClr val="tx1"/>
                </a:solidFill>
              </a:rPr>
              <a:t>-value</a:t>
            </a:r>
            <a:r>
              <a:rPr lang="en-US" altLang="zh-CN" dirty="0">
                <a:solidFill>
                  <a:schemeClr val="tx1"/>
                </a:solidFill>
              </a:rPr>
              <a:t>] [ </a:t>
            </a:r>
            <a:r>
              <a:rPr lang="en-US" altLang="zh-CN" dirty="0" err="1">
                <a:solidFill>
                  <a:schemeClr val="tx1"/>
                </a:solidFill>
              </a:rPr>
              <a:t>cbs</a:t>
            </a:r>
            <a:r>
              <a:rPr lang="en-US" altLang="zh-CN" dirty="0">
                <a:solidFill>
                  <a:schemeClr val="tx1"/>
                </a:solidFill>
              </a:rPr>
              <a:t> </a:t>
            </a:r>
            <a:r>
              <a:rPr lang="en-US" altLang="zh-CN" i="1" dirty="0" err="1">
                <a:solidFill>
                  <a:schemeClr val="tx1"/>
                </a:solidFill>
              </a:rPr>
              <a:t>cbs</a:t>
            </a:r>
            <a:r>
              <a:rPr lang="en-US" altLang="zh-CN" i="1" dirty="0">
                <a:solidFill>
                  <a:schemeClr val="tx1"/>
                </a:solidFill>
              </a:rPr>
              <a:t>-value</a:t>
            </a:r>
            <a:r>
              <a:rPr lang="en-US" altLang="zh-CN" dirty="0">
                <a:solidFill>
                  <a:schemeClr val="tx1"/>
                </a:solidFill>
              </a:rPr>
              <a:t> ]     //</a:t>
            </a:r>
            <a:r>
              <a:rPr lang="zh-CN" altLang="en-US" dirty="0">
                <a:solidFill>
                  <a:schemeClr val="tx1"/>
                </a:solidFill>
              </a:rPr>
              <a:t>在接口出方向配置流量整形，</a:t>
            </a:r>
            <a:r>
              <a:rPr lang="en-US" altLang="zh-CN" dirty="0">
                <a:solidFill>
                  <a:schemeClr val="tx1"/>
                </a:solidFill>
              </a:rPr>
              <a:t>CIR</a:t>
            </a:r>
            <a:r>
              <a:rPr lang="zh-CN" altLang="en-US" dirty="0">
                <a:solidFill>
                  <a:schemeClr val="tx1"/>
                </a:solidFill>
              </a:rPr>
              <a:t>表示整形最大速率，可根据实际需求配置</a:t>
            </a:r>
            <a:r>
              <a:rPr lang="en-US" altLang="zh-CN" dirty="0">
                <a:solidFill>
                  <a:schemeClr val="tx1"/>
                </a:solidFill>
              </a:rPr>
              <a:t>CBS</a:t>
            </a:r>
            <a:r>
              <a:rPr lang="zh-CN" altLang="en-US" dirty="0">
                <a:solidFill>
                  <a:schemeClr val="tx1"/>
                </a:solidFill>
              </a:rPr>
              <a:t>可以控制令牌桶大小，</a:t>
            </a:r>
            <a:r>
              <a:rPr lang="en-US" altLang="zh-CN" dirty="0">
                <a:solidFill>
                  <a:schemeClr val="tx1"/>
                </a:solidFill>
              </a:rPr>
              <a:t>CIR</a:t>
            </a:r>
            <a:r>
              <a:rPr lang="zh-CN" altLang="en-US" dirty="0">
                <a:solidFill>
                  <a:schemeClr val="tx1"/>
                </a:solidFill>
              </a:rPr>
              <a:t>必须配置。</a:t>
            </a:r>
            <a:endParaRPr lang="en-US" altLang="zh-CN" dirty="0">
              <a:solidFill>
                <a:schemeClr val="tx1"/>
              </a:solidFill>
            </a:endParaRPr>
          </a:p>
        </p:txBody>
      </p:sp>
      <p:pic>
        <p:nvPicPr>
          <p:cNvPr id="19" name="图片 1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spTree>
    <p:extLst>
      <p:ext uri="{BB962C8B-B14F-4D97-AF65-F5344CB8AC3E}">
        <p14:creationId xmlns:p14="http://schemas.microsoft.com/office/powerpoint/2010/main" val="31985529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C692-04C3-4DC3-A392-67F9CECA4FF4}"/>
              </a:ext>
            </a:extLst>
          </p:cNvPr>
          <p:cNvSpPr>
            <a:spLocks noGrp="1"/>
          </p:cNvSpPr>
          <p:nvPr>
            <p:ph type="title"/>
          </p:nvPr>
        </p:nvSpPr>
        <p:spPr bwMode="gray"/>
        <p:txBody>
          <a:bodyPr/>
          <a:lstStyle/>
          <a:p>
            <a:r>
              <a:rPr lang="zh-CN" altLang="en-US" dirty="0"/>
              <a:t>配置基于队列的流量整形</a:t>
            </a:r>
          </a:p>
        </p:txBody>
      </p:sp>
      <p:sp>
        <p:nvSpPr>
          <p:cNvPr id="3" name="Text Placeholder 2">
            <a:extLst>
              <a:ext uri="{FF2B5EF4-FFF2-40B4-BE49-F238E27FC236}">
                <a16:creationId xmlns:a16="http://schemas.microsoft.com/office/drawing/2014/main" id="{F2C04CD3-5B01-4727-822F-C837B6EE92F4}"/>
              </a:ext>
            </a:extLst>
          </p:cNvPr>
          <p:cNvSpPr>
            <a:spLocks noGrp="1"/>
          </p:cNvSpPr>
          <p:nvPr>
            <p:ph type="body" sz="quarter" idx="10"/>
          </p:nvPr>
        </p:nvSpPr>
        <p:spPr bwMode="gray">
          <a:xfrm>
            <a:off x="6104573" y="1149350"/>
            <a:ext cx="5644351" cy="4879805"/>
          </a:xfrm>
        </p:spPr>
        <p:txBody>
          <a:bodyPr/>
          <a:lstStyle/>
          <a:p>
            <a:r>
              <a:rPr lang="zh-CN" altLang="en-US" sz="1800" dirty="0"/>
              <a:t>创建队列模板并配置队列整形</a:t>
            </a:r>
            <a:endParaRPr lang="en-US" altLang="zh-CN" sz="1800" dirty="0"/>
          </a:p>
          <a:p>
            <a:endParaRPr lang="en-US" sz="1800" dirty="0"/>
          </a:p>
          <a:p>
            <a:endParaRPr lang="en-US" sz="1800" dirty="0"/>
          </a:p>
          <a:p>
            <a:endParaRPr lang="en-US" sz="1800" dirty="0"/>
          </a:p>
          <a:p>
            <a:pPr marL="0" indent="0">
              <a:buNone/>
            </a:pPr>
            <a:endParaRPr lang="en-US" sz="1800" dirty="0"/>
          </a:p>
          <a:p>
            <a:r>
              <a:rPr lang="zh-CN" altLang="en-US" sz="1800" dirty="0"/>
              <a:t>在接口下应用队列模板</a:t>
            </a:r>
            <a:endParaRPr lang="en-US" sz="1800" dirty="0"/>
          </a:p>
        </p:txBody>
      </p:sp>
      <p:sp>
        <p:nvSpPr>
          <p:cNvPr id="4" name="圆角矩形 135">
            <a:extLst>
              <a:ext uri="{FF2B5EF4-FFF2-40B4-BE49-F238E27FC236}">
                <a16:creationId xmlns:a16="http://schemas.microsoft.com/office/drawing/2014/main" id="{39DDA8F9-2B81-41CE-A94F-55D5020F6913}"/>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 name="Text Box 26">
            <a:extLst>
              <a:ext uri="{FF2B5EF4-FFF2-40B4-BE49-F238E27FC236}">
                <a16:creationId xmlns:a16="http://schemas.microsoft.com/office/drawing/2014/main" id="{833E3DB2-1A41-4E50-972C-C3B0D684A3BB}"/>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6" name="Straight Connector 5">
            <a:extLst>
              <a:ext uri="{FF2B5EF4-FFF2-40B4-BE49-F238E27FC236}">
                <a16:creationId xmlns:a16="http://schemas.microsoft.com/office/drawing/2014/main" id="{36F7E074-F8C0-4A0B-913A-5681D7D0C174}"/>
              </a:ext>
            </a:extLst>
          </p:cNvPr>
          <p:cNvCxnSpPr>
            <a:cxnSpLocks/>
            <a:endCxn id="9"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8" name="Picture 12" descr="E:\2016.01\1.12 扁平化图标\蓝色\AR-蓝色最新-40.png">
            <a:extLst>
              <a:ext uri="{FF2B5EF4-FFF2-40B4-BE49-F238E27FC236}">
                <a16:creationId xmlns:a16="http://schemas.microsoft.com/office/drawing/2014/main" id="{354B1F47-A6F2-46BC-A9CF-1F59102BA54E}"/>
              </a:ext>
            </a:extLst>
          </p:cNvPr>
          <p:cNvPicPr>
            <a:picLocks noChangeAspect="1" noChangeArrowheads="1"/>
          </p:cNvPicPr>
          <p:nvPr/>
        </p:nvPicPr>
        <p:blipFill>
          <a:blip r:embed="rId3" cstate="print"/>
          <a:srcRect/>
          <a:stretch>
            <a:fillRect/>
          </a:stretch>
        </p:blipFill>
        <p:spPr bwMode="gray">
          <a:xfrm>
            <a:off x="3251684" y="1636574"/>
            <a:ext cx="540000" cy="441818"/>
          </a:xfrm>
          <a:prstGeom prst="rect">
            <a:avLst/>
          </a:prstGeom>
        </p:spPr>
      </p:pic>
      <p:pic>
        <p:nvPicPr>
          <p:cNvPr id="9" name="图片 70">
            <a:extLst>
              <a:ext uri="{FF2B5EF4-FFF2-40B4-BE49-F238E27FC236}">
                <a16:creationId xmlns:a16="http://schemas.microsoft.com/office/drawing/2014/main" id="{E0DB9CFF-5431-44C1-9A85-E24A1F98E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10" name="Straight Connector 9">
            <a:extLst>
              <a:ext uri="{FF2B5EF4-FFF2-40B4-BE49-F238E27FC236}">
                <a16:creationId xmlns:a16="http://schemas.microsoft.com/office/drawing/2014/main" id="{D9E3E08E-BA61-4DED-B6C7-64EBBB780BB6}"/>
              </a:ext>
            </a:extLst>
          </p:cNvPr>
          <p:cNvCxnSpPr>
            <a:cxnSpLocks/>
            <a:stCxn id="9" idx="3"/>
            <a:endCxn id="8" idx="1"/>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B7A4AA71-0499-46C2-85BF-40D31A3D4E27}"/>
              </a:ext>
            </a:extLst>
          </p:cNvPr>
          <p:cNvCxnSpPr>
            <a:cxnSpLocks/>
            <a:stCxn id="8" idx="3"/>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2" name="Text Box 26">
            <a:extLst>
              <a:ext uri="{FF2B5EF4-FFF2-40B4-BE49-F238E27FC236}">
                <a16:creationId xmlns:a16="http://schemas.microsoft.com/office/drawing/2014/main" id="{F3623F07-C0F9-4238-9874-CC0ED06B7B27}"/>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13" name="Oval 41">
            <a:extLst>
              <a:ext uri="{FF2B5EF4-FFF2-40B4-BE49-F238E27FC236}">
                <a16:creationId xmlns:a16="http://schemas.microsoft.com/office/drawing/2014/main" id="{23D68BE1-5127-44C7-B43D-8754273B3BFC}"/>
              </a:ext>
            </a:extLst>
          </p:cNvPr>
          <p:cNvSpPr>
            <a:spLocks noChangeAspect="1"/>
          </p:cNvSpPr>
          <p:nvPr/>
        </p:nvSpPr>
        <p:spPr bwMode="gray">
          <a:xfrm>
            <a:off x="2351981" y="17806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4" name="Text Box 26">
            <a:extLst>
              <a:ext uri="{FF2B5EF4-FFF2-40B4-BE49-F238E27FC236}">
                <a16:creationId xmlns:a16="http://schemas.microsoft.com/office/drawing/2014/main" id="{995BE50E-3E58-4B9D-938D-576DD029B175}"/>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15" name="Oval 41">
            <a:extLst>
              <a:ext uri="{FF2B5EF4-FFF2-40B4-BE49-F238E27FC236}">
                <a16:creationId xmlns:a16="http://schemas.microsoft.com/office/drawing/2014/main" id="{47F7623F-BF1D-46F4-9703-69BC0863C5CA}"/>
              </a:ext>
            </a:extLst>
          </p:cNvPr>
          <p:cNvSpPr>
            <a:spLocks noChangeAspect="1"/>
          </p:cNvSpPr>
          <p:nvPr/>
        </p:nvSpPr>
        <p:spPr bwMode="gray">
          <a:xfrm>
            <a:off x="371205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6" name="Text Placeholder 2">
            <a:extLst>
              <a:ext uri="{FF2B5EF4-FFF2-40B4-BE49-F238E27FC236}">
                <a16:creationId xmlns:a16="http://schemas.microsoft.com/office/drawing/2014/main" id="{9B3FDBA0-A32C-4D1C-A902-659577D00DD1}"/>
              </a:ext>
            </a:extLst>
          </p:cNvPr>
          <p:cNvSpPr txBox="1">
            <a:spLocks/>
          </p:cNvSpPr>
          <p:nvPr/>
        </p:nvSpPr>
        <p:spPr bwMode="gray">
          <a:xfrm>
            <a:off x="447500" y="2559103"/>
            <a:ext cx="5648500" cy="38350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通过在接口下应用队列模板，可以实现针对各队列的流量整形。</a:t>
            </a:r>
            <a:endParaRPr lang="en-US" altLang="zh-CN" sz="1800" dirty="0"/>
          </a:p>
          <a:p>
            <a:pPr>
              <a:spcAft>
                <a:spcPts val="0"/>
              </a:spcAft>
            </a:pPr>
            <a:r>
              <a:rPr lang="zh-CN" altLang="en-US" sz="1800" dirty="0"/>
              <a:t>针对不同的优先级队列设置不同的流量整形参数，可以实现对不同业务的差分服务。基本配置思路如下：</a:t>
            </a:r>
            <a:endParaRPr lang="en-US" altLang="zh-CN" sz="1800" dirty="0"/>
          </a:p>
          <a:p>
            <a:pPr lvl="1">
              <a:spcAft>
                <a:spcPts val="0"/>
              </a:spcAft>
            </a:pPr>
            <a:r>
              <a:rPr lang="zh-CN" altLang="en-US" sz="1600" dirty="0"/>
              <a:t>创建队列模板</a:t>
            </a:r>
            <a:endParaRPr lang="en-US" altLang="zh-CN" sz="1600" dirty="0"/>
          </a:p>
          <a:p>
            <a:pPr lvl="1">
              <a:spcAft>
                <a:spcPts val="0"/>
              </a:spcAft>
            </a:pPr>
            <a:r>
              <a:rPr lang="zh-CN" altLang="en-US" sz="1600" dirty="0"/>
              <a:t>配置队列整形</a:t>
            </a:r>
            <a:endParaRPr lang="en-US" altLang="zh-CN" sz="1600" dirty="0"/>
          </a:p>
          <a:p>
            <a:pPr lvl="1">
              <a:spcAft>
                <a:spcPts val="0"/>
              </a:spcAft>
            </a:pPr>
            <a:r>
              <a:rPr lang="zh-CN" altLang="en-US" sz="1600" dirty="0"/>
              <a:t>在接口下应用队列模板</a:t>
            </a:r>
            <a:endParaRPr lang="en-US" altLang="zh-CN" sz="1600" dirty="0"/>
          </a:p>
        </p:txBody>
      </p:sp>
      <p:sp>
        <p:nvSpPr>
          <p:cNvPr id="18" name="文本框 30">
            <a:extLst>
              <a:ext uri="{FF2B5EF4-FFF2-40B4-BE49-F238E27FC236}">
                <a16:creationId xmlns:a16="http://schemas.microsoft.com/office/drawing/2014/main" id="{ED73F372-45B9-4F1F-AF3C-D7EE5C3D6EC1}"/>
              </a:ext>
            </a:extLst>
          </p:cNvPr>
          <p:cNvSpPr txBox="1"/>
          <p:nvPr/>
        </p:nvSpPr>
        <p:spPr bwMode="gray">
          <a:xfrm>
            <a:off x="6099964" y="1689095"/>
            <a:ext cx="5607148" cy="1384995"/>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创建队列模板。</a:t>
            </a:r>
            <a:endParaRPr lang="en-US" altLang="zh-CN" dirty="0">
              <a:solidFill>
                <a:schemeClr val="tx1"/>
              </a:solidFill>
            </a:endParaRPr>
          </a:p>
          <a:p>
            <a:pPr>
              <a:lnSpc>
                <a:spcPct val="100000"/>
              </a:lnSpc>
            </a:pPr>
            <a:r>
              <a:rPr lang="en-US" altLang="zh-CN" dirty="0">
                <a:solidFill>
                  <a:schemeClr val="tx1"/>
                </a:solidFill>
              </a:rPr>
              <a:t>         </a:t>
            </a:r>
            <a:r>
              <a:rPr lang="en-US" altLang="zh-CN" b="1" dirty="0">
                <a:solidFill>
                  <a:schemeClr val="tx1"/>
                </a:solidFill>
              </a:rPr>
              <a:t>queue</a:t>
            </a:r>
            <a:r>
              <a:rPr lang="en-US" altLang="zh-CN" dirty="0">
                <a:solidFill>
                  <a:schemeClr val="tx1"/>
                </a:solidFill>
              </a:rPr>
              <a:t> [</a:t>
            </a:r>
            <a:r>
              <a:rPr lang="en-US" altLang="zh-CN" i="1" dirty="0">
                <a:solidFill>
                  <a:schemeClr val="tx1"/>
                </a:solidFill>
              </a:rPr>
              <a:t>start-queue-index</a:t>
            </a:r>
            <a:r>
              <a:rPr lang="en-US" altLang="zh-CN" dirty="0">
                <a:solidFill>
                  <a:schemeClr val="tx1"/>
                </a:solidFill>
              </a:rPr>
              <a:t>] </a:t>
            </a:r>
            <a:r>
              <a:rPr lang="en-US" altLang="zh-CN" b="1" dirty="0">
                <a:solidFill>
                  <a:schemeClr val="tx1"/>
                </a:solidFill>
              </a:rPr>
              <a:t>to</a:t>
            </a:r>
            <a:r>
              <a:rPr lang="en-US" altLang="zh-CN" dirty="0">
                <a:solidFill>
                  <a:schemeClr val="tx1"/>
                </a:solidFill>
              </a:rPr>
              <a:t> [</a:t>
            </a:r>
            <a:r>
              <a:rPr lang="en-US" altLang="zh-CN" i="1" dirty="0">
                <a:solidFill>
                  <a:schemeClr val="tx1"/>
                </a:solidFill>
              </a:rPr>
              <a:t>end-queue-index</a:t>
            </a:r>
            <a:r>
              <a:rPr lang="en-US" altLang="zh-CN" dirty="0">
                <a:solidFill>
                  <a:schemeClr val="tx1"/>
                </a:solidFill>
              </a:rPr>
              <a:t> ] </a:t>
            </a:r>
            <a:r>
              <a:rPr lang="en-US" altLang="zh-CN" b="1" dirty="0">
                <a:solidFill>
                  <a:schemeClr val="tx1"/>
                </a:solidFill>
              </a:rPr>
              <a:t>gts </a:t>
            </a:r>
            <a:r>
              <a:rPr lang="en-US" altLang="zh-CN" b="1" dirty="0" err="1">
                <a:solidFill>
                  <a:schemeClr val="tx1"/>
                </a:solidFill>
              </a:rPr>
              <a:t>cir</a:t>
            </a:r>
            <a:r>
              <a:rPr lang="en-US" altLang="zh-CN" b="1" dirty="0">
                <a:solidFill>
                  <a:schemeClr val="tx1"/>
                </a:solidFill>
              </a:rPr>
              <a:t> </a:t>
            </a:r>
            <a:r>
              <a:rPr lang="en-US" altLang="zh-CN" dirty="0">
                <a:solidFill>
                  <a:schemeClr val="tx1"/>
                </a:solidFill>
              </a:rPr>
              <a:t>[</a:t>
            </a:r>
            <a:r>
              <a:rPr lang="en-US" altLang="zh-CN" i="1" dirty="0" err="1">
                <a:solidFill>
                  <a:schemeClr val="tx1"/>
                </a:solidFill>
              </a:rPr>
              <a:t>cir</a:t>
            </a:r>
            <a:r>
              <a:rPr lang="en-US" altLang="zh-CN" i="1" dirty="0">
                <a:solidFill>
                  <a:schemeClr val="tx1"/>
                </a:solidFill>
              </a:rPr>
              <a:t>-value</a:t>
            </a:r>
            <a:r>
              <a:rPr lang="en-US" altLang="zh-CN" dirty="0">
                <a:solidFill>
                  <a:schemeClr val="tx1"/>
                </a:solidFill>
              </a:rPr>
              <a:t>] [ </a:t>
            </a:r>
            <a:r>
              <a:rPr lang="en-US" altLang="zh-CN" dirty="0" err="1">
                <a:solidFill>
                  <a:schemeClr val="tx1"/>
                </a:solidFill>
              </a:rPr>
              <a:t>cbs</a:t>
            </a:r>
            <a:r>
              <a:rPr lang="en-US" altLang="zh-CN" dirty="0">
                <a:solidFill>
                  <a:schemeClr val="tx1"/>
                </a:solidFill>
              </a:rPr>
              <a:t> </a:t>
            </a:r>
            <a:r>
              <a:rPr lang="en-US" altLang="zh-CN" i="1" dirty="0" err="1">
                <a:solidFill>
                  <a:schemeClr val="tx1"/>
                </a:solidFill>
              </a:rPr>
              <a:t>cbs</a:t>
            </a:r>
            <a:r>
              <a:rPr lang="en-US" altLang="zh-CN" i="1" dirty="0">
                <a:solidFill>
                  <a:schemeClr val="tx1"/>
                </a:solidFill>
              </a:rPr>
              <a:t>-value</a:t>
            </a:r>
            <a:r>
              <a:rPr lang="en-US" altLang="zh-CN" dirty="0">
                <a:solidFill>
                  <a:schemeClr val="tx1"/>
                </a:solidFill>
              </a:rPr>
              <a:t> ]      //</a:t>
            </a:r>
            <a:r>
              <a:rPr lang="zh-CN" altLang="en-US" dirty="0">
                <a:solidFill>
                  <a:schemeClr val="tx1"/>
                </a:solidFill>
              </a:rPr>
              <a:t>配置对于特定队列设置出方向流量整形，配置</a:t>
            </a:r>
            <a:r>
              <a:rPr lang="en-US" altLang="zh-CN" dirty="0">
                <a:solidFill>
                  <a:schemeClr val="tx1"/>
                </a:solidFill>
              </a:rPr>
              <a:t>CIR</a:t>
            </a:r>
            <a:r>
              <a:rPr lang="zh-CN" altLang="en-US" dirty="0">
                <a:solidFill>
                  <a:schemeClr val="tx1"/>
                </a:solidFill>
              </a:rPr>
              <a:t>设定特定队列所能使用的最大带宽。</a:t>
            </a:r>
            <a:endParaRPr lang="en-US" altLang="zh-CN" dirty="0">
              <a:solidFill>
                <a:schemeClr val="tx1"/>
              </a:solidFill>
            </a:endParaRPr>
          </a:p>
        </p:txBody>
      </p:sp>
      <p:sp>
        <p:nvSpPr>
          <p:cNvPr id="19" name="文本框 30">
            <a:extLst>
              <a:ext uri="{FF2B5EF4-FFF2-40B4-BE49-F238E27FC236}">
                <a16:creationId xmlns:a16="http://schemas.microsoft.com/office/drawing/2014/main" id="{3CBD7D8A-B317-4354-8B75-5D261CCA3DB6}"/>
              </a:ext>
            </a:extLst>
          </p:cNvPr>
          <p:cNvSpPr txBox="1"/>
          <p:nvPr/>
        </p:nvSpPr>
        <p:spPr bwMode="gray">
          <a:xfrm>
            <a:off x="6096000" y="4130938"/>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在接口下应用队列模板。</a:t>
            </a:r>
            <a:endParaRPr lang="en-US" altLang="zh-CN" dirty="0">
              <a:solidFill>
                <a:schemeClr val="tx1"/>
              </a:solidFill>
            </a:endParaRPr>
          </a:p>
        </p:txBody>
      </p:sp>
      <p:pic>
        <p:nvPicPr>
          <p:cNvPr id="20" name="图片 1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spTree>
    <p:extLst>
      <p:ext uri="{BB962C8B-B14F-4D97-AF65-F5344CB8AC3E}">
        <p14:creationId xmlns:p14="http://schemas.microsoft.com/office/powerpoint/2010/main" val="1184472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C692-04C3-4DC3-A392-67F9CECA4FF4}"/>
              </a:ext>
            </a:extLst>
          </p:cNvPr>
          <p:cNvSpPr>
            <a:spLocks noGrp="1"/>
          </p:cNvSpPr>
          <p:nvPr>
            <p:ph type="title"/>
          </p:nvPr>
        </p:nvSpPr>
        <p:spPr bwMode="gray"/>
        <p:txBody>
          <a:bodyPr/>
          <a:lstStyle/>
          <a:p>
            <a:r>
              <a:rPr lang="zh-CN" altLang="en-US" dirty="0"/>
              <a:t>配置</a:t>
            </a:r>
            <a:r>
              <a:rPr lang="en-US" altLang="zh-CN" dirty="0"/>
              <a:t>MQC</a:t>
            </a:r>
            <a:r>
              <a:rPr lang="zh-CN" altLang="en-US" dirty="0"/>
              <a:t>实现流量整形</a:t>
            </a:r>
          </a:p>
        </p:txBody>
      </p:sp>
      <p:sp>
        <p:nvSpPr>
          <p:cNvPr id="4" name="圆角矩形 135">
            <a:extLst>
              <a:ext uri="{FF2B5EF4-FFF2-40B4-BE49-F238E27FC236}">
                <a16:creationId xmlns:a16="http://schemas.microsoft.com/office/drawing/2014/main" id="{39DDA8F9-2B81-41CE-A94F-55D5020F6913}"/>
              </a:ext>
            </a:extLst>
          </p:cNvPr>
          <p:cNvSpPr/>
          <p:nvPr/>
        </p:nvSpPr>
        <p:spPr bwMode="gray">
          <a:xfrm>
            <a:off x="1667508" y="119389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 name="Text Box 26">
            <a:extLst>
              <a:ext uri="{FF2B5EF4-FFF2-40B4-BE49-F238E27FC236}">
                <a16:creationId xmlns:a16="http://schemas.microsoft.com/office/drawing/2014/main" id="{833E3DB2-1A41-4E50-972C-C3B0D684A3BB}"/>
              </a:ext>
            </a:extLst>
          </p:cNvPr>
          <p:cNvSpPr txBox="1">
            <a:spLocks noChangeArrowheads="1"/>
          </p:cNvSpPr>
          <p:nvPr/>
        </p:nvSpPr>
        <p:spPr bwMode="gray">
          <a:xfrm>
            <a:off x="1666528" y="119389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6" name="Straight Connector 5">
            <a:extLst>
              <a:ext uri="{FF2B5EF4-FFF2-40B4-BE49-F238E27FC236}">
                <a16:creationId xmlns:a16="http://schemas.microsoft.com/office/drawing/2014/main" id="{36F7E074-F8C0-4A0B-913A-5681D7D0C174}"/>
              </a:ext>
            </a:extLst>
          </p:cNvPr>
          <p:cNvCxnSpPr>
            <a:cxnSpLocks/>
            <a:endCxn id="9" idx="1"/>
          </p:cNvCxnSpPr>
          <p:nvPr/>
        </p:nvCxnSpPr>
        <p:spPr bwMode="gray">
          <a:xfrm>
            <a:off x="1268390" y="167509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8" name="Picture 12" descr="E:\2016.01\1.12 扁平化图标\蓝色\AR-蓝色最新-40.png">
            <a:extLst>
              <a:ext uri="{FF2B5EF4-FFF2-40B4-BE49-F238E27FC236}">
                <a16:creationId xmlns:a16="http://schemas.microsoft.com/office/drawing/2014/main" id="{354B1F47-A6F2-46BC-A9CF-1F59102BA54E}"/>
              </a:ext>
            </a:extLst>
          </p:cNvPr>
          <p:cNvPicPr>
            <a:picLocks noChangeAspect="1" noChangeArrowheads="1"/>
          </p:cNvPicPr>
          <p:nvPr/>
        </p:nvPicPr>
        <p:blipFill>
          <a:blip r:embed="rId3" cstate="print"/>
          <a:srcRect/>
          <a:stretch>
            <a:fillRect/>
          </a:stretch>
        </p:blipFill>
        <p:spPr bwMode="gray">
          <a:xfrm>
            <a:off x="3251684" y="1453694"/>
            <a:ext cx="540000" cy="441818"/>
          </a:xfrm>
          <a:prstGeom prst="rect">
            <a:avLst/>
          </a:prstGeom>
        </p:spPr>
      </p:pic>
      <p:pic>
        <p:nvPicPr>
          <p:cNvPr id="9" name="图片 70">
            <a:extLst>
              <a:ext uri="{FF2B5EF4-FFF2-40B4-BE49-F238E27FC236}">
                <a16:creationId xmlns:a16="http://schemas.microsoft.com/office/drawing/2014/main" id="{E0DB9CFF-5431-44C1-9A85-E24A1F98E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453694"/>
            <a:ext cx="540000" cy="442800"/>
          </a:xfrm>
          <a:prstGeom prst="rect">
            <a:avLst/>
          </a:prstGeom>
        </p:spPr>
      </p:pic>
      <p:cxnSp>
        <p:nvCxnSpPr>
          <p:cNvPr id="10" name="Straight Connector 9">
            <a:extLst>
              <a:ext uri="{FF2B5EF4-FFF2-40B4-BE49-F238E27FC236}">
                <a16:creationId xmlns:a16="http://schemas.microsoft.com/office/drawing/2014/main" id="{D9E3E08E-BA61-4DED-B6C7-64EBBB780BB6}"/>
              </a:ext>
            </a:extLst>
          </p:cNvPr>
          <p:cNvCxnSpPr>
            <a:cxnSpLocks/>
            <a:stCxn id="9" idx="3"/>
            <a:endCxn id="8" idx="1"/>
          </p:cNvCxnSpPr>
          <p:nvPr/>
        </p:nvCxnSpPr>
        <p:spPr bwMode="gray">
          <a:xfrm flipV="1">
            <a:off x="2429025" y="167460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B7A4AA71-0499-46C2-85BF-40D31A3D4E27}"/>
              </a:ext>
            </a:extLst>
          </p:cNvPr>
          <p:cNvCxnSpPr>
            <a:cxnSpLocks/>
            <a:stCxn id="8" idx="3"/>
          </p:cNvCxnSpPr>
          <p:nvPr/>
        </p:nvCxnSpPr>
        <p:spPr bwMode="gray">
          <a:xfrm>
            <a:off x="3791684" y="167460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2" name="Text Box 26">
            <a:extLst>
              <a:ext uri="{FF2B5EF4-FFF2-40B4-BE49-F238E27FC236}">
                <a16:creationId xmlns:a16="http://schemas.microsoft.com/office/drawing/2014/main" id="{F3623F07-C0F9-4238-9874-CC0ED06B7B27}"/>
              </a:ext>
            </a:extLst>
          </p:cNvPr>
          <p:cNvSpPr txBox="1">
            <a:spLocks noChangeArrowheads="1"/>
          </p:cNvSpPr>
          <p:nvPr/>
        </p:nvSpPr>
        <p:spPr bwMode="gray">
          <a:xfrm>
            <a:off x="3136864" y="119389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13" name="Oval 41">
            <a:extLst>
              <a:ext uri="{FF2B5EF4-FFF2-40B4-BE49-F238E27FC236}">
                <a16:creationId xmlns:a16="http://schemas.microsoft.com/office/drawing/2014/main" id="{23D68BE1-5127-44C7-B43D-8754273B3BFC}"/>
              </a:ext>
            </a:extLst>
          </p:cNvPr>
          <p:cNvSpPr>
            <a:spLocks noChangeAspect="1"/>
          </p:cNvSpPr>
          <p:nvPr/>
        </p:nvSpPr>
        <p:spPr bwMode="gray">
          <a:xfrm>
            <a:off x="2351981" y="159779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4" name="Text Box 26">
            <a:extLst>
              <a:ext uri="{FF2B5EF4-FFF2-40B4-BE49-F238E27FC236}">
                <a16:creationId xmlns:a16="http://schemas.microsoft.com/office/drawing/2014/main" id="{995BE50E-3E58-4B9D-938D-576DD029B175}"/>
              </a:ext>
            </a:extLst>
          </p:cNvPr>
          <p:cNvSpPr txBox="1">
            <a:spLocks noChangeArrowheads="1"/>
          </p:cNvSpPr>
          <p:nvPr/>
        </p:nvSpPr>
        <p:spPr bwMode="gray">
          <a:xfrm>
            <a:off x="4009813" y="175423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15" name="Oval 41">
            <a:extLst>
              <a:ext uri="{FF2B5EF4-FFF2-40B4-BE49-F238E27FC236}">
                <a16:creationId xmlns:a16="http://schemas.microsoft.com/office/drawing/2014/main" id="{47F7623F-BF1D-46F4-9703-69BC0863C5CA}"/>
              </a:ext>
            </a:extLst>
          </p:cNvPr>
          <p:cNvSpPr>
            <a:spLocks noChangeAspect="1"/>
          </p:cNvSpPr>
          <p:nvPr/>
        </p:nvSpPr>
        <p:spPr bwMode="gray">
          <a:xfrm>
            <a:off x="3712053" y="159497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6" name="Text Placeholder 2">
            <a:extLst>
              <a:ext uri="{FF2B5EF4-FFF2-40B4-BE49-F238E27FC236}">
                <a16:creationId xmlns:a16="http://schemas.microsoft.com/office/drawing/2014/main" id="{9B3FDBA0-A32C-4D1C-A902-659577D00DD1}"/>
              </a:ext>
            </a:extLst>
          </p:cNvPr>
          <p:cNvSpPr txBox="1">
            <a:spLocks/>
          </p:cNvSpPr>
          <p:nvPr/>
        </p:nvSpPr>
        <p:spPr bwMode="gray">
          <a:xfrm>
            <a:off x="447500" y="2376223"/>
            <a:ext cx="5648500" cy="38350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配置</a:t>
            </a:r>
            <a:r>
              <a:rPr lang="en-US" altLang="zh-CN" sz="1800" dirty="0"/>
              <a:t>MQC</a:t>
            </a:r>
            <a:r>
              <a:rPr lang="zh-CN" altLang="en-US" sz="1800" dirty="0"/>
              <a:t>实现流量整形，可以通过流分类，为不同业务提供更细致的差分服务。</a:t>
            </a:r>
            <a:endParaRPr lang="en-US" altLang="zh-CN" sz="1800" dirty="0"/>
          </a:p>
          <a:p>
            <a:pPr>
              <a:spcAft>
                <a:spcPts val="0"/>
              </a:spcAft>
            </a:pPr>
            <a:r>
              <a:rPr lang="en-US" altLang="zh-CN" sz="1800" dirty="0"/>
              <a:t>MQC</a:t>
            </a:r>
            <a:r>
              <a:rPr lang="zh-CN" altLang="en-US" sz="1800" dirty="0"/>
              <a:t>实现流量整形的配置思路如下：</a:t>
            </a:r>
            <a:endParaRPr lang="en-US" altLang="zh-CN" sz="1800" dirty="0"/>
          </a:p>
          <a:p>
            <a:pPr lvl="1" fontAlgn="auto">
              <a:spcAft>
                <a:spcPts val="0"/>
              </a:spcAft>
            </a:pPr>
            <a:r>
              <a:rPr lang="zh-CN" altLang="en-US" sz="1600" dirty="0"/>
              <a:t>配置</a:t>
            </a:r>
            <a:r>
              <a:rPr lang="en-US" altLang="zh-CN" sz="1600" dirty="0"/>
              <a:t>Traffic classifier</a:t>
            </a:r>
            <a:r>
              <a:rPr lang="zh-CN" altLang="en-US" sz="1600" dirty="0"/>
              <a:t>工具匹配流量</a:t>
            </a:r>
          </a:p>
          <a:p>
            <a:pPr lvl="1" fontAlgn="auto">
              <a:spcAft>
                <a:spcPts val="0"/>
              </a:spcAft>
            </a:pPr>
            <a:r>
              <a:rPr lang="zh-CN" altLang="en-US" sz="1600" dirty="0"/>
              <a:t>配置</a:t>
            </a:r>
            <a:r>
              <a:rPr lang="en-US" altLang="zh-CN" sz="1600" dirty="0"/>
              <a:t>Traffic behavior</a:t>
            </a:r>
            <a:r>
              <a:rPr lang="zh-CN" altLang="en-US" sz="1600" dirty="0"/>
              <a:t>工具定义流分类的规则</a:t>
            </a:r>
          </a:p>
          <a:p>
            <a:pPr lvl="1" fontAlgn="auto">
              <a:spcAft>
                <a:spcPts val="0"/>
              </a:spcAft>
            </a:pPr>
            <a:r>
              <a:rPr lang="zh-CN" altLang="en-US" sz="1600" dirty="0"/>
              <a:t>使用</a:t>
            </a:r>
            <a:r>
              <a:rPr lang="en-US" altLang="zh-CN" sz="1600" dirty="0"/>
              <a:t>Traffic policy</a:t>
            </a:r>
            <a:r>
              <a:rPr lang="zh-CN" altLang="en-US" sz="1600" dirty="0"/>
              <a:t>工具将</a:t>
            </a:r>
            <a:r>
              <a:rPr lang="en-US" altLang="zh-CN" sz="1600" dirty="0"/>
              <a:t>Traffic classifier</a:t>
            </a:r>
            <a:r>
              <a:rPr lang="zh-CN" altLang="en-US" sz="1600" dirty="0"/>
              <a:t>与</a:t>
            </a:r>
            <a:r>
              <a:rPr lang="en-US" altLang="zh-CN" sz="1600" dirty="0"/>
              <a:t>Traffic behavior</a:t>
            </a:r>
            <a:r>
              <a:rPr lang="zh-CN" altLang="en-US" sz="1600" dirty="0"/>
              <a:t>进行绑定</a:t>
            </a:r>
          </a:p>
          <a:p>
            <a:pPr lvl="1" fontAlgn="auto">
              <a:spcAft>
                <a:spcPts val="0"/>
              </a:spcAft>
            </a:pPr>
            <a:r>
              <a:rPr lang="zh-CN" altLang="en-US" sz="1600" dirty="0"/>
              <a:t>将</a:t>
            </a:r>
            <a:r>
              <a:rPr lang="en-US" altLang="zh-CN" sz="1600" dirty="0"/>
              <a:t>Traffic policy</a:t>
            </a:r>
            <a:r>
              <a:rPr lang="zh-CN" altLang="en-US" sz="1600" dirty="0"/>
              <a:t>应用到设备接口</a:t>
            </a:r>
            <a:r>
              <a:rPr lang="zh-CN" altLang="en-US" sz="1600" dirty="0">
                <a:solidFill>
                  <a:srgbClr val="C7000B"/>
                </a:solidFill>
              </a:rPr>
              <a:t>出方向</a:t>
            </a:r>
            <a:r>
              <a:rPr lang="zh-CN" altLang="en-US" sz="1600" dirty="0"/>
              <a:t>上</a:t>
            </a:r>
          </a:p>
        </p:txBody>
      </p:sp>
      <p:sp>
        <p:nvSpPr>
          <p:cNvPr id="21" name="文本框 30">
            <a:extLst>
              <a:ext uri="{FF2B5EF4-FFF2-40B4-BE49-F238E27FC236}">
                <a16:creationId xmlns:a16="http://schemas.microsoft.com/office/drawing/2014/main" id="{3F94715E-04AF-48FF-9685-FC1844E86394}"/>
              </a:ext>
            </a:extLst>
          </p:cNvPr>
          <p:cNvSpPr txBox="1"/>
          <p:nvPr/>
        </p:nvSpPr>
        <p:spPr bwMode="gray">
          <a:xfrm>
            <a:off x="6112103" y="1216083"/>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基于流量特征匹配流量。</a:t>
            </a:r>
            <a:endParaRPr lang="en-US" altLang="zh-CN" dirty="0">
              <a:solidFill>
                <a:schemeClr val="tx1"/>
              </a:solidFill>
            </a:endParaRPr>
          </a:p>
        </p:txBody>
      </p:sp>
      <p:sp>
        <p:nvSpPr>
          <p:cNvPr id="22" name="文本框 30">
            <a:extLst>
              <a:ext uri="{FF2B5EF4-FFF2-40B4-BE49-F238E27FC236}">
                <a16:creationId xmlns:a16="http://schemas.microsoft.com/office/drawing/2014/main" id="{BC2BA814-779E-4BBC-B14D-48130D091370}"/>
              </a:ext>
            </a:extLst>
          </p:cNvPr>
          <p:cNvSpPr txBox="1"/>
          <p:nvPr/>
        </p:nvSpPr>
        <p:spPr bwMode="gray">
          <a:xfrm>
            <a:off x="6112103" y="2252175"/>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gts </a:t>
            </a:r>
            <a:r>
              <a:rPr lang="en-US" altLang="zh-CN" b="1" dirty="0" err="1">
                <a:solidFill>
                  <a:schemeClr val="tx1"/>
                </a:solidFill>
              </a:rPr>
              <a:t>cir</a:t>
            </a:r>
            <a:r>
              <a:rPr lang="en-US" altLang="zh-CN" b="1" dirty="0">
                <a:solidFill>
                  <a:schemeClr val="tx1"/>
                </a:solidFill>
              </a:rPr>
              <a:t> </a:t>
            </a:r>
            <a:r>
              <a:rPr lang="en-US" altLang="zh-CN" dirty="0">
                <a:solidFill>
                  <a:schemeClr val="tx1"/>
                </a:solidFill>
              </a:rPr>
              <a:t>[</a:t>
            </a:r>
            <a:r>
              <a:rPr lang="en-US" altLang="zh-CN" i="1" dirty="0" err="1">
                <a:solidFill>
                  <a:schemeClr val="tx1"/>
                </a:solidFill>
              </a:rPr>
              <a:t>cir</a:t>
            </a:r>
            <a:r>
              <a:rPr lang="en-US" altLang="zh-CN" i="1" dirty="0">
                <a:solidFill>
                  <a:schemeClr val="tx1"/>
                </a:solidFill>
              </a:rPr>
              <a:t>-value</a:t>
            </a:r>
            <a:r>
              <a:rPr lang="en-US" altLang="zh-CN" dirty="0">
                <a:solidFill>
                  <a:schemeClr val="tx1"/>
                </a:solidFill>
              </a:rPr>
              <a:t>] |</a:t>
            </a:r>
            <a:r>
              <a:rPr lang="en-US" altLang="zh-CN" b="1" dirty="0">
                <a:solidFill>
                  <a:schemeClr val="tx1"/>
                </a:solidFill>
              </a:rPr>
              <a:t> </a:t>
            </a:r>
            <a:r>
              <a:rPr lang="en-US" altLang="zh-CN" b="1" dirty="0" err="1">
                <a:solidFill>
                  <a:schemeClr val="tx1"/>
                </a:solidFill>
              </a:rPr>
              <a:t>pct</a:t>
            </a:r>
            <a:r>
              <a:rPr lang="en-US" altLang="zh-CN" b="1" dirty="0">
                <a:solidFill>
                  <a:schemeClr val="tx1"/>
                </a:solidFill>
              </a:rPr>
              <a:t> </a:t>
            </a:r>
            <a:r>
              <a:rPr lang="en-US" altLang="zh-CN" dirty="0">
                <a:solidFill>
                  <a:schemeClr val="tx1"/>
                </a:solidFill>
              </a:rPr>
              <a:t>[</a:t>
            </a:r>
            <a:r>
              <a:rPr lang="en-US" altLang="zh-CN" i="1" dirty="0" err="1">
                <a:solidFill>
                  <a:schemeClr val="tx1"/>
                </a:solidFill>
              </a:rPr>
              <a:t>pct</a:t>
            </a:r>
            <a:r>
              <a:rPr lang="en-US" altLang="zh-CN" i="1" dirty="0">
                <a:solidFill>
                  <a:schemeClr val="tx1"/>
                </a:solidFill>
              </a:rPr>
              <a:t>-value</a:t>
            </a:r>
            <a:r>
              <a:rPr lang="en-US" altLang="zh-CN" dirty="0">
                <a:solidFill>
                  <a:schemeClr val="tx1"/>
                </a:solidFill>
              </a:rPr>
              <a:t>] //</a:t>
            </a:r>
            <a:r>
              <a:rPr lang="zh-CN" altLang="en-US" dirty="0">
                <a:solidFill>
                  <a:schemeClr val="tx1"/>
                </a:solidFill>
              </a:rPr>
              <a:t>配置流量整形，可以基于流量最大速率配置，也可以基于占用接口带宽百分比配置。</a:t>
            </a:r>
            <a:endParaRPr lang="en-US" altLang="zh-CN" dirty="0">
              <a:solidFill>
                <a:schemeClr val="tx1"/>
              </a:solidFill>
            </a:endParaRPr>
          </a:p>
        </p:txBody>
      </p:sp>
      <p:sp>
        <p:nvSpPr>
          <p:cNvPr id="23" name="文本框 30">
            <a:extLst>
              <a:ext uri="{FF2B5EF4-FFF2-40B4-BE49-F238E27FC236}">
                <a16:creationId xmlns:a16="http://schemas.microsoft.com/office/drawing/2014/main" id="{4C8FF287-1CE5-449A-941A-69888DDB9883}"/>
              </a:ext>
            </a:extLst>
          </p:cNvPr>
          <p:cNvSpPr txBox="1"/>
          <p:nvPr/>
        </p:nvSpPr>
        <p:spPr bwMode="gray">
          <a:xfrm>
            <a:off x="6112103" y="3503710"/>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24" name="文本框 30">
            <a:extLst>
              <a:ext uri="{FF2B5EF4-FFF2-40B4-BE49-F238E27FC236}">
                <a16:creationId xmlns:a16="http://schemas.microsoft.com/office/drawing/2014/main" id="{C352845A-D872-4C69-A727-4D8F919528A2}"/>
              </a:ext>
            </a:extLst>
          </p:cNvPr>
          <p:cNvSpPr txBox="1"/>
          <p:nvPr/>
        </p:nvSpPr>
        <p:spPr bwMode="gray">
          <a:xfrm>
            <a:off x="6112103" y="4755245"/>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[inbound | outbound]     //</a:t>
            </a:r>
            <a:r>
              <a:rPr lang="zh-CN" altLang="en-US" dirty="0">
                <a:solidFill>
                  <a:schemeClr val="tx1"/>
                </a:solidFill>
              </a:rPr>
              <a:t>在接口出方向上应用流策略。</a:t>
            </a:r>
            <a:endParaRPr lang="en-US" altLang="zh-CN" dirty="0">
              <a:solidFill>
                <a:schemeClr val="tx1"/>
              </a:solidFill>
            </a:endParaRPr>
          </a:p>
        </p:txBody>
      </p:sp>
      <p:pic>
        <p:nvPicPr>
          <p:cNvPr id="25" name="图片 2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454400"/>
            <a:ext cx="540000" cy="442800"/>
          </a:xfrm>
          <a:prstGeom prst="rect">
            <a:avLst/>
          </a:prstGeom>
        </p:spPr>
      </p:pic>
    </p:spTree>
    <p:extLst>
      <p:ext uri="{BB962C8B-B14F-4D97-AF65-F5344CB8AC3E}">
        <p14:creationId xmlns:p14="http://schemas.microsoft.com/office/powerpoint/2010/main" val="1973615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CF68-F470-47DD-B546-3EC5BCF2EDD6}"/>
              </a:ext>
            </a:extLst>
          </p:cNvPr>
          <p:cNvSpPr>
            <a:spLocks noGrp="1"/>
          </p:cNvSpPr>
          <p:nvPr>
            <p:ph type="title"/>
          </p:nvPr>
        </p:nvSpPr>
        <p:spPr bwMode="gray"/>
        <p:txBody>
          <a:bodyPr/>
          <a:lstStyle/>
          <a:p>
            <a:r>
              <a:rPr lang="zh-CN" altLang="en-US" dirty="0"/>
              <a:t>检查流量整形配置结果</a:t>
            </a:r>
            <a:endParaRPr lang="en-US" dirty="0"/>
          </a:p>
        </p:txBody>
      </p:sp>
      <p:sp>
        <p:nvSpPr>
          <p:cNvPr id="3" name="Text Placeholder 2">
            <a:extLst>
              <a:ext uri="{FF2B5EF4-FFF2-40B4-BE49-F238E27FC236}">
                <a16:creationId xmlns:a16="http://schemas.microsoft.com/office/drawing/2014/main" id="{ED75A522-5BE0-401D-87F1-3E8D3F86C8D4}"/>
              </a:ext>
            </a:extLst>
          </p:cNvPr>
          <p:cNvSpPr>
            <a:spLocks noGrp="1"/>
          </p:cNvSpPr>
          <p:nvPr>
            <p:ph type="body" sz="quarter" idx="10"/>
          </p:nvPr>
        </p:nvSpPr>
        <p:spPr bwMode="gray"/>
        <p:txBody>
          <a:bodyPr/>
          <a:lstStyle/>
          <a:p>
            <a:r>
              <a:rPr lang="zh-CN" altLang="en-US" sz="1800" dirty="0"/>
              <a:t>配置基于队列的流量整形后，可通过以下命令查看配置结果</a:t>
            </a:r>
            <a:endParaRPr lang="en-US" altLang="zh-CN" sz="1800" dirty="0"/>
          </a:p>
          <a:p>
            <a:endParaRPr lang="en-US" altLang="zh-CN" sz="1800" dirty="0"/>
          </a:p>
          <a:p>
            <a:endParaRPr lang="en-US" altLang="zh-CN" sz="1800" dirty="0"/>
          </a:p>
          <a:p>
            <a:r>
              <a:rPr lang="zh-CN" altLang="en-US" sz="1800" dirty="0"/>
              <a:t>配置基于</a:t>
            </a:r>
            <a:r>
              <a:rPr lang="en-US" altLang="zh-CN" sz="1800" dirty="0"/>
              <a:t>MQC</a:t>
            </a:r>
            <a:r>
              <a:rPr lang="zh-CN" altLang="en-US" sz="1800" dirty="0"/>
              <a:t>的流量整形后，可以通过以下命令查看结果</a:t>
            </a:r>
            <a:endParaRPr lang="en-US" altLang="zh-CN" sz="1800" dirty="0"/>
          </a:p>
          <a:p>
            <a:endParaRPr lang="en-US" sz="1800" dirty="0"/>
          </a:p>
        </p:txBody>
      </p:sp>
      <p:sp>
        <p:nvSpPr>
          <p:cNvPr id="4" name="文本框 30">
            <a:extLst>
              <a:ext uri="{FF2B5EF4-FFF2-40B4-BE49-F238E27FC236}">
                <a16:creationId xmlns:a16="http://schemas.microsoft.com/office/drawing/2014/main" id="{CCA6BC42-847C-47BB-A19C-C724B56C202F}"/>
              </a:ext>
            </a:extLst>
          </p:cNvPr>
          <p:cNvSpPr txBox="1"/>
          <p:nvPr/>
        </p:nvSpPr>
        <p:spPr bwMode="gray">
          <a:xfrm>
            <a:off x="499259" y="1541640"/>
            <a:ext cx="9210797" cy="523220"/>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qos queue-profile </a:t>
            </a:r>
            <a:r>
              <a:rPr lang="en-US" altLang="zh-CN" dirty="0">
                <a:solidFill>
                  <a:schemeClr val="tx1"/>
                </a:solidFill>
              </a:rPr>
              <a:t>[ </a:t>
            </a:r>
            <a:r>
              <a:rPr lang="en-US" altLang="zh-CN" i="1" dirty="0">
                <a:solidFill>
                  <a:schemeClr val="tx1"/>
                </a:solidFill>
              </a:rPr>
              <a:t>queue-profile-name</a:t>
            </a:r>
            <a:r>
              <a:rPr lang="en-US" altLang="zh-CN" dirty="0">
                <a:solidFill>
                  <a:schemeClr val="tx1"/>
                </a:solidFill>
              </a:rPr>
              <a:t> ]</a:t>
            </a:r>
            <a:r>
              <a:rPr lang="zh-CN" altLang="en-US" b="1" dirty="0">
                <a:solidFill>
                  <a:schemeClr val="tx1"/>
                </a:solidFill>
              </a:rPr>
              <a:t>   </a:t>
            </a:r>
            <a:r>
              <a:rPr lang="en-US" altLang="zh-CN" dirty="0">
                <a:solidFill>
                  <a:schemeClr val="tx1"/>
                </a:solidFill>
              </a:rPr>
              <a:t>//</a:t>
            </a:r>
            <a:r>
              <a:rPr lang="zh-CN" altLang="en-US" dirty="0">
                <a:solidFill>
                  <a:schemeClr val="tx1"/>
                </a:solidFill>
              </a:rPr>
              <a:t>查看队列模板的配置信息。</a:t>
            </a:r>
          </a:p>
        </p:txBody>
      </p:sp>
      <p:sp>
        <p:nvSpPr>
          <p:cNvPr id="5" name="文本框 30">
            <a:extLst>
              <a:ext uri="{FF2B5EF4-FFF2-40B4-BE49-F238E27FC236}">
                <a16:creationId xmlns:a16="http://schemas.microsoft.com/office/drawing/2014/main" id="{0824B31C-C65A-4F52-B3B0-3F74942E51AC}"/>
              </a:ext>
            </a:extLst>
          </p:cNvPr>
          <p:cNvSpPr txBox="1"/>
          <p:nvPr/>
        </p:nvSpPr>
        <p:spPr bwMode="gray">
          <a:xfrm>
            <a:off x="499259" y="2972484"/>
            <a:ext cx="9210797"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 </a:t>
            </a:r>
            <a:r>
              <a:rPr lang="en-US" altLang="zh-CN" i="1" dirty="0">
                <a:solidFill>
                  <a:schemeClr val="tx1"/>
                </a:solidFill>
              </a:rPr>
              <a:t>behavior-name</a:t>
            </a:r>
            <a:r>
              <a:rPr lang="en-US" altLang="zh-CN" dirty="0">
                <a:solidFill>
                  <a:schemeClr val="tx1"/>
                </a:solidFill>
              </a:rPr>
              <a:t> ]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Tree>
    <p:extLst>
      <p:ext uri="{BB962C8B-B14F-4D97-AF65-F5344CB8AC3E}">
        <p14:creationId xmlns:p14="http://schemas.microsoft.com/office/powerpoint/2010/main" val="2323607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p:txBody>
          <a:bodyPr/>
          <a:lstStyle/>
          <a:p>
            <a:r>
              <a:rPr lang="en-US" altLang="zh-CN" dirty="0"/>
              <a:t>(</a:t>
            </a:r>
            <a:r>
              <a:rPr lang="zh-CN" altLang="en-US" dirty="0"/>
              <a:t>判断题</a:t>
            </a:r>
            <a:r>
              <a:rPr lang="en-US" altLang="zh-CN" dirty="0"/>
              <a:t>)</a:t>
            </a:r>
            <a:r>
              <a:rPr lang="zh-CN" altLang="en-US" dirty="0"/>
              <a:t>流量整形对于超限的流量默认进行缓存，流量监管对于超限的流量默认进行丢弃。（     ）</a:t>
            </a:r>
            <a:endParaRPr lang="en-US" altLang="zh-CN" dirty="0"/>
          </a:p>
          <a:p>
            <a:pPr lvl="1"/>
            <a:r>
              <a:rPr lang="zh-CN" altLang="en-US" dirty="0"/>
              <a:t>正确</a:t>
            </a:r>
            <a:endParaRPr lang="en-US" altLang="zh-CN" dirty="0"/>
          </a:p>
          <a:p>
            <a:pPr lvl="1"/>
            <a:r>
              <a:rPr lang="zh-CN" altLang="en-US" dirty="0"/>
              <a:t>错误</a:t>
            </a:r>
            <a:endParaRPr lang="en-US" altLang="zh-CN" dirty="0"/>
          </a:p>
          <a:p>
            <a:r>
              <a:rPr lang="en-US" altLang="zh-CN" dirty="0"/>
              <a:t>(</a:t>
            </a:r>
            <a:r>
              <a:rPr lang="zh-CN" altLang="en-US" dirty="0"/>
              <a:t>多选题</a:t>
            </a:r>
            <a:r>
              <a:rPr lang="en-US" altLang="zh-CN" dirty="0"/>
              <a:t>)</a:t>
            </a:r>
            <a:r>
              <a:rPr lang="zh-CN" altLang="en-US" dirty="0"/>
              <a:t>用于度量流量的令牌桶有几种类型？（     ）</a:t>
            </a:r>
            <a:endParaRPr lang="en-US" altLang="zh-CN" dirty="0"/>
          </a:p>
          <a:p>
            <a:pPr lvl="1"/>
            <a:r>
              <a:rPr lang="zh-CN" altLang="en-US" dirty="0"/>
              <a:t>单桶单速</a:t>
            </a:r>
            <a:endParaRPr lang="en-US" altLang="zh-CN" dirty="0"/>
          </a:p>
          <a:p>
            <a:pPr lvl="1"/>
            <a:r>
              <a:rPr lang="zh-CN" altLang="en-US" dirty="0"/>
              <a:t>单桶三速</a:t>
            </a:r>
            <a:endParaRPr lang="en-US" altLang="zh-CN" dirty="0"/>
          </a:p>
          <a:p>
            <a:pPr lvl="1"/>
            <a:r>
              <a:rPr lang="zh-CN" altLang="en-US" dirty="0"/>
              <a:t>双桶单速</a:t>
            </a:r>
            <a:endParaRPr lang="en-US" altLang="zh-CN" dirty="0"/>
          </a:p>
          <a:p>
            <a:pPr lvl="1"/>
            <a:r>
              <a:rPr lang="zh-CN" altLang="en-US" dirty="0"/>
              <a:t>双桶双速</a:t>
            </a:r>
            <a:endParaRPr lang="en-US" dirty="0"/>
          </a:p>
        </p:txBody>
      </p:sp>
    </p:spTree>
    <p:extLst>
      <p:ext uri="{BB962C8B-B14F-4D97-AF65-F5344CB8AC3E}">
        <p14:creationId xmlns:p14="http://schemas.microsoft.com/office/powerpoint/2010/main" val="6733617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zh-CN" altLang="en-US" dirty="0"/>
              <a:t>流量限速技术主要有两种，流量监管和流量整形。</a:t>
            </a:r>
            <a:endParaRPr lang="en-US" dirty="0"/>
          </a:p>
          <a:p>
            <a:r>
              <a:rPr lang="zh-CN" altLang="en-US" dirty="0"/>
              <a:t>流量监管对于超限的流量默认丢弃，流量监管可以在设备进出方向部署</a:t>
            </a:r>
            <a:endParaRPr lang="en-US" altLang="zh-CN" dirty="0"/>
          </a:p>
          <a:p>
            <a:r>
              <a:rPr lang="zh-CN" altLang="en-US" dirty="0"/>
              <a:t>流量整形对于超限的流量默认缓存，流量整形只能在设备出方向部署。</a:t>
            </a:r>
            <a:endParaRPr lang="en-US" altLang="zh-CN" dirty="0"/>
          </a:p>
          <a:p>
            <a:r>
              <a:rPr lang="zh-CN" altLang="en-US" dirty="0"/>
              <a:t>设备使用令牌桶度量流量，令牌桶共有三种：</a:t>
            </a:r>
            <a:endParaRPr lang="en-US" altLang="zh-CN" dirty="0"/>
          </a:p>
          <a:p>
            <a:pPr lvl="1"/>
            <a:r>
              <a:rPr lang="zh-CN" altLang="en-US" dirty="0"/>
              <a:t>单桶单速，可以与流量监管与流量整形配合使用。</a:t>
            </a:r>
            <a:endParaRPr lang="en-US" altLang="zh-CN" dirty="0"/>
          </a:p>
          <a:p>
            <a:pPr lvl="1"/>
            <a:r>
              <a:rPr lang="zh-CN" altLang="en-US" dirty="0"/>
              <a:t>双桶单速，只能与流量监管配合使用，主要用在偶尔有突发流量的场景下。</a:t>
            </a:r>
            <a:endParaRPr lang="en-US" altLang="zh-CN" dirty="0"/>
          </a:p>
          <a:p>
            <a:pPr lvl="1"/>
            <a:r>
              <a:rPr lang="zh-CN" altLang="en-US" dirty="0"/>
              <a:t>双桶双速，只能与流量监管配合使用，主要用在有长期突发流量的场景下。</a:t>
            </a:r>
            <a:endParaRPr lang="en-US" dirty="0"/>
          </a:p>
        </p:txBody>
      </p:sp>
    </p:spTree>
    <p:extLst>
      <p:ext uri="{BB962C8B-B14F-4D97-AF65-F5344CB8AC3E}">
        <p14:creationId xmlns:p14="http://schemas.microsoft.com/office/powerpoint/2010/main" val="3006127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dirty="0">
                <a:solidFill>
                  <a:schemeClr val="bg1">
                    <a:lumMod val="50000"/>
                  </a:schemeClr>
                </a:solidFill>
              </a:rPr>
              <a:t>QoS</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dirty="0">
                <a:solidFill>
                  <a:schemeClr val="bg1">
                    <a:lumMod val="50000"/>
                  </a:schemeClr>
                </a:solidFill>
              </a:rPr>
              <a:t>QoS</a:t>
            </a:r>
            <a:r>
              <a:rPr lang="zh-CN" altLang="en-US" dirty="0">
                <a:solidFill>
                  <a:schemeClr val="bg1">
                    <a:lumMod val="50000"/>
                  </a:schemeClr>
                </a:solidFill>
              </a:rPr>
              <a:t>流分类和流标记</a:t>
            </a:r>
            <a:endParaRPr lang="en-US" altLang="zh-CN" dirty="0">
              <a:solidFill>
                <a:schemeClr val="bg1">
                  <a:lumMod val="50000"/>
                </a:schemeClr>
              </a:solidFill>
            </a:endParaRPr>
          </a:p>
          <a:p>
            <a:r>
              <a:rPr lang="zh-CN" altLang="en-US" dirty="0">
                <a:solidFill>
                  <a:schemeClr val="bg1">
                    <a:lumMod val="50000"/>
                  </a:schemeClr>
                </a:solidFill>
              </a:rPr>
              <a:t>流量限速技术</a:t>
            </a:r>
            <a:endParaRPr lang="en-US" altLang="zh-CN" dirty="0">
              <a:solidFill>
                <a:schemeClr val="bg1">
                  <a:lumMod val="50000"/>
                </a:schemeClr>
              </a:solidFill>
            </a:endParaRPr>
          </a:p>
          <a:p>
            <a:r>
              <a:rPr lang="zh-CN" altLang="en-US" b="1" dirty="0"/>
              <a:t>拥塞避免技术</a:t>
            </a:r>
            <a:endParaRPr lang="en-US" altLang="zh-CN" b="1" dirty="0"/>
          </a:p>
          <a:p>
            <a:r>
              <a:rPr lang="zh-CN" altLang="en-US" dirty="0">
                <a:solidFill>
                  <a:schemeClr val="bg1">
                    <a:lumMod val="50000"/>
                  </a:schemeClr>
                </a:solidFill>
              </a:rPr>
              <a:t>拥塞管理技术</a:t>
            </a:r>
            <a:endParaRPr lang="en-US" altLang="zh-CN" dirty="0">
              <a:solidFill>
                <a:schemeClr val="bg1">
                  <a:lumMod val="50000"/>
                </a:schemeClr>
              </a:solidFill>
            </a:endParaRPr>
          </a:p>
          <a:p>
            <a:r>
              <a:rPr lang="en-US" altLang="zh-CN" dirty="0">
                <a:solidFill>
                  <a:schemeClr val="bg1">
                    <a:lumMod val="50000"/>
                  </a:schemeClr>
                </a:solidFill>
              </a:rPr>
              <a:t>HQoS</a:t>
            </a:r>
            <a:r>
              <a:rPr lang="zh-CN" altLang="en-US" dirty="0">
                <a:solidFill>
                  <a:schemeClr val="bg1">
                    <a:lumMod val="50000"/>
                  </a:schemeClr>
                </a:solidFill>
              </a:rPr>
              <a:t>介绍</a:t>
            </a:r>
            <a:endParaRPr lang="en-US" altLang="zh-CN" dirty="0">
              <a:solidFill>
                <a:schemeClr val="bg1">
                  <a:lumMod val="50000"/>
                </a:schemeClr>
              </a:solidFill>
            </a:endParaRPr>
          </a:p>
        </p:txBody>
      </p:sp>
    </p:spTree>
    <p:extLst>
      <p:ext uri="{BB962C8B-B14F-4D97-AF65-F5344CB8AC3E}">
        <p14:creationId xmlns:p14="http://schemas.microsoft.com/office/powerpoint/2010/main" val="21920592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数据处理流程</a:t>
            </a:r>
          </a:p>
        </p:txBody>
      </p:sp>
      <p:sp>
        <p:nvSpPr>
          <p:cNvPr id="64" name="五边形 63"/>
          <p:cNvSpPr/>
          <p:nvPr/>
        </p:nvSpPr>
        <p:spPr bwMode="gray">
          <a:xfrm>
            <a:off x="6388485" y="2312876"/>
            <a:ext cx="4477322" cy="2160240"/>
          </a:xfrm>
          <a:prstGeom prst="homePlate">
            <a:avLst>
              <a:gd name="adj" fmla="val 12894"/>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4" name="右箭头标注 23"/>
          <p:cNvSpPr/>
          <p:nvPr/>
        </p:nvSpPr>
        <p:spPr bwMode="gray">
          <a:xfrm>
            <a:off x="2156474" y="3035033"/>
            <a:ext cx="792088" cy="734621"/>
          </a:xfrm>
          <a:prstGeom prst="rightArrowCallout">
            <a:avLst>
              <a:gd name="adj1" fmla="val 23271"/>
              <a:gd name="adj2" fmla="val 25000"/>
              <a:gd name="adj3" fmla="val 19073"/>
              <a:gd name="adj4" fmla="val 75831"/>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流量分类</a:t>
            </a:r>
          </a:p>
        </p:txBody>
      </p:sp>
      <p:sp>
        <p:nvSpPr>
          <p:cNvPr id="32" name="右箭头标注 31"/>
          <p:cNvSpPr/>
          <p:nvPr/>
        </p:nvSpPr>
        <p:spPr bwMode="gray">
          <a:xfrm>
            <a:off x="3547371" y="3035033"/>
            <a:ext cx="828092" cy="734621"/>
          </a:xfrm>
          <a:prstGeom prst="rightArrowCallout">
            <a:avLst>
              <a:gd name="adj1" fmla="val 23271"/>
              <a:gd name="adj2" fmla="val 25000"/>
              <a:gd name="adj3" fmla="val 21048"/>
              <a:gd name="adj4" fmla="val 70347"/>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CAR</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34" name="右箭头标注 33"/>
          <p:cNvSpPr/>
          <p:nvPr/>
        </p:nvSpPr>
        <p:spPr bwMode="gray">
          <a:xfrm>
            <a:off x="4457527" y="3035033"/>
            <a:ext cx="1138870" cy="734621"/>
          </a:xfrm>
          <a:prstGeom prst="rightArrowCallout">
            <a:avLst>
              <a:gd name="adj1" fmla="val 23271"/>
              <a:gd name="adj2" fmla="val 25000"/>
              <a:gd name="adj3" fmla="val 25000"/>
              <a:gd name="adj4" fmla="val 7688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Remark</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609655" y="2988298"/>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其它</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处理</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en-US" altLang="zh-CN" sz="1600" b="1" dirty="0">
                  <a:solidFill>
                    <a:schemeClr val="bg1">
                      <a:lumMod val="65000"/>
                    </a:schemeClr>
                  </a:solidFill>
                  <a:latin typeface="Huawei Sans" panose="020C0503030203020204" pitchFamily="34" charset="0"/>
                  <a:ea typeface="方正兰亭黑简体" panose="02000000000000000000" pitchFamily="2" charset="-122"/>
                </a:rPr>
                <a:t>……</a:t>
              </a:r>
              <a:endParaRPr lang="zh-CN" altLang="en-US" sz="1600" b="1" dirty="0">
                <a:solidFill>
                  <a:schemeClr val="bg1">
                    <a:lumMod val="65000"/>
                  </a:schemeClr>
                </a:solidFill>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481863" y="3222324"/>
            <a:ext cx="324036" cy="360040"/>
          </a:xfrm>
          <a:prstGeom prst="ellipse">
            <a:avLst/>
          </a:prstGeom>
          <a:solidFill>
            <a:schemeClr val="bg1">
              <a:lumMod val="50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8201943" y="2565271"/>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8201943" y="2934986"/>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8201943" y="3357359"/>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8201943" y="4051111"/>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312423" y="3619062"/>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solidFill>
                  <a:schemeClr val="bg2">
                    <a:lumMod val="50000"/>
                  </a:schemeClr>
                </a:solidFill>
                <a:latin typeface="Huawei Sans" panose="020C0503030203020204" pitchFamily="34" charset="0"/>
                <a:ea typeface="方正兰亭黑简体" panose="02000000000000000000" pitchFamily="2" charset="-122"/>
              </a:rPr>
              <a:t>……</a:t>
            </a:r>
            <a:endParaRPr lang="zh-CN" altLang="en-US" sz="1600" b="1" dirty="0">
              <a:solidFill>
                <a:schemeClr val="bg2">
                  <a:lumMod val="50000"/>
                </a:schemeClr>
              </a:solidFill>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643881" y="2709271"/>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758445" y="3078986"/>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7805899" y="3402344"/>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758445" y="3529637"/>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643881" y="3582364"/>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10012198" y="3035033"/>
            <a:ext cx="792088" cy="734621"/>
          </a:xfrm>
          <a:prstGeom prst="rightArrowCallout">
            <a:avLst>
              <a:gd name="adj1" fmla="val 23271"/>
              <a:gd name="adj2" fmla="val 25000"/>
              <a:gd name="adj3" fmla="val 25000"/>
              <a:gd name="adj4" fmla="val 7169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GTS</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460493" y="3035033"/>
            <a:ext cx="1044116" cy="734621"/>
          </a:xfrm>
          <a:prstGeom prst="rightArrowCallout">
            <a:avLst>
              <a:gd name="adj1" fmla="val 23271"/>
              <a:gd name="adj2" fmla="val 26086"/>
              <a:gd name="adj3" fmla="val 29989"/>
              <a:gd name="adj4" fmla="val 71276"/>
            </a:avLst>
          </a:prstGeom>
          <a:solidFill>
            <a:srgbClr val="94DAE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latin typeface="Huawei Sans" panose="020C0503030203020204" pitchFamily="34" charset="0"/>
                <a:ea typeface="方正兰亭黑简体" panose="02000000000000000000" pitchFamily="2" charset="-122"/>
              </a:rPr>
              <a:t>WRED</a:t>
            </a:r>
            <a:endParaRPr lang="zh-CN" altLang="en-US" sz="1400" b="1" dirty="0">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rot="19047356">
            <a:off x="7388883" y="273180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9174051" y="2538942"/>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调</a:t>
                </a:r>
                <a:endParaRPr lang="en-US" altLang="zh-CN" sz="14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bg1">
                  <a:lumMod val="65000"/>
                </a:schemeClr>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8922023" y="271896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8922023" y="307900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8922023" y="351105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8922023" y="419512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03" name="组合 102"/>
          <p:cNvGrpSpPr/>
          <p:nvPr/>
        </p:nvGrpSpPr>
        <p:grpSpPr bwMode="gray">
          <a:xfrm>
            <a:off x="10996997" y="2178902"/>
            <a:ext cx="432048" cy="2628292"/>
            <a:chOff x="1006178" y="2492896"/>
            <a:chExt cx="432048" cy="2628292"/>
          </a:xfrm>
          <a:solidFill>
            <a:schemeClr val="bg1">
              <a:lumMod val="95000"/>
            </a:schemeClr>
          </a:solidFill>
        </p:grpSpPr>
        <p:sp>
          <p:nvSpPr>
            <p:cNvPr id="106" name="圆角矩形 105"/>
            <p:cNvSpPr/>
            <p:nvPr/>
          </p:nvSpPr>
          <p:spPr bwMode="gray">
            <a:xfrm>
              <a:off x="1006178" y="2492896"/>
              <a:ext cx="432048" cy="262829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出</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接</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口</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714111" y="2754967"/>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714111" y="3115006"/>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714111" y="3402344"/>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714111" y="3655066"/>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2577842">
            <a:off x="9685723" y="2562106"/>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出队列</a:t>
            </a:r>
          </a:p>
        </p:txBody>
      </p:sp>
      <p:grpSp>
        <p:nvGrpSpPr>
          <p:cNvPr id="100" name="组合 99"/>
          <p:cNvGrpSpPr/>
          <p:nvPr/>
        </p:nvGrpSpPr>
        <p:grpSpPr bwMode="gray">
          <a:xfrm>
            <a:off x="763136" y="1988840"/>
            <a:ext cx="1256938" cy="2880320"/>
            <a:chOff x="1006178" y="2014802"/>
            <a:chExt cx="1345406" cy="3403072"/>
          </a:xfrm>
        </p:grpSpPr>
        <p:grpSp>
          <p:nvGrpSpPr>
            <p:cNvPr id="101" name="组合 100"/>
            <p:cNvGrpSpPr/>
            <p:nvPr/>
          </p:nvGrpSpPr>
          <p:grpSpPr bwMode="gray">
            <a:xfrm>
              <a:off x="1006178" y="2014802"/>
              <a:ext cx="1345406" cy="3403072"/>
              <a:chOff x="1438226" y="1592796"/>
              <a:chExt cx="1345406" cy="3403072"/>
            </a:xfrm>
          </p:grpSpPr>
          <p:sp>
            <p:nvSpPr>
              <p:cNvPr id="107" name="圆角矩形 106"/>
              <p:cNvSpPr/>
              <p:nvPr/>
            </p:nvSpPr>
            <p:spPr bwMode="gray">
              <a:xfrm>
                <a:off x="1438226" y="1592796"/>
                <a:ext cx="1345406" cy="340307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08"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75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09" name="图片 108" descr="可视电话硬终端.png"/>
              <p:cNvPicPr>
                <a:picLocks noChangeAspect="1"/>
              </p:cNvPicPr>
              <p:nvPr/>
            </p:nvPicPr>
            <p:blipFill>
              <a:blip r:embed="rId3" cstate="print">
                <a:duotone>
                  <a:schemeClr val="bg2">
                    <a:shade val="45000"/>
                    <a:satMod val="135000"/>
                  </a:schemeClr>
                  <a:prstClr val="white"/>
                </a:duotone>
              </a:blip>
              <a:stretch>
                <a:fillRect/>
              </a:stretch>
            </p:blipFill>
            <p:spPr bwMode="gray">
              <a:xfrm>
                <a:off x="1908939" y="2980317"/>
                <a:ext cx="609949" cy="540000"/>
              </a:xfrm>
              <a:prstGeom prst="rect">
                <a:avLst/>
              </a:prstGeom>
            </p:spPr>
          </p:pic>
          <p:pic>
            <p:nvPicPr>
              <p:cNvPr id="110" name="图片 109" descr="管理型无线虚链路-蓝.png"/>
              <p:cNvPicPr>
                <a:picLocks noChangeAspect="1"/>
              </p:cNvPicPr>
              <p:nvPr/>
            </p:nvPicPr>
            <p:blipFill>
              <a:blip r:embed="rId4" cstate="print">
                <a:duotone>
                  <a:schemeClr val="bg2">
                    <a:shade val="45000"/>
                    <a:satMod val="135000"/>
                  </a:schemeClr>
                  <a:prstClr val="white"/>
                </a:duotone>
              </a:blip>
              <a:stretch>
                <a:fillRect/>
              </a:stretch>
            </p:blipFill>
            <p:spPr bwMode="gray">
              <a:xfrm>
                <a:off x="1922620" y="1772816"/>
                <a:ext cx="582586" cy="540000"/>
              </a:xfrm>
              <a:prstGeom prst="rect">
                <a:avLst/>
              </a:prstGeom>
            </p:spPr>
          </p:pic>
          <p:sp>
            <p:nvSpPr>
              <p:cNvPr id="111" name="文本框 110"/>
              <p:cNvSpPr txBox="1"/>
              <p:nvPr/>
            </p:nvSpPr>
            <p:spPr bwMode="gray">
              <a:xfrm>
                <a:off x="1954292" y="2283040"/>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视频</a:t>
                </a:r>
              </a:p>
            </p:txBody>
          </p:sp>
          <p:sp>
            <p:nvSpPr>
              <p:cNvPr id="112" name="文本框 111"/>
              <p:cNvSpPr txBox="1"/>
              <p:nvPr/>
            </p:nvSpPr>
            <p:spPr bwMode="gray">
              <a:xfrm>
                <a:off x="1954293" y="3506983"/>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语音</a:t>
                </a:r>
              </a:p>
            </p:txBody>
          </p:sp>
          <p:sp>
            <p:nvSpPr>
              <p:cNvPr id="114" name="文本框 113"/>
              <p:cNvSpPr txBox="1"/>
              <p:nvPr/>
            </p:nvSpPr>
            <p:spPr bwMode="gray">
              <a:xfrm>
                <a:off x="1954293" y="4623106"/>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数据</a:t>
                </a:r>
              </a:p>
            </p:txBody>
          </p:sp>
        </p:grpSp>
        <p:sp>
          <p:nvSpPr>
            <p:cNvPr id="104"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p:txBody>
        </p:sp>
      </p:grpSp>
      <p:sp>
        <p:nvSpPr>
          <p:cNvPr id="69" name="流程图: 磁盘 68"/>
          <p:cNvSpPr/>
          <p:nvPr/>
        </p:nvSpPr>
        <p:spPr bwMode="gray">
          <a:xfrm>
            <a:off x="3011559" y="2996952"/>
            <a:ext cx="498244" cy="828092"/>
          </a:xfrm>
          <a:prstGeom prst="flowChartMagneticDisk">
            <a:avLst/>
          </a:prstGeom>
          <a:no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cxnSp>
        <p:nvCxnSpPr>
          <p:cNvPr id="70" name="直接箭头连接符 69"/>
          <p:cNvCxnSpPr/>
          <p:nvPr/>
        </p:nvCxnSpPr>
        <p:spPr bwMode="gray">
          <a:xfrm>
            <a:off x="3260681" y="2799704"/>
            <a:ext cx="0" cy="720000"/>
          </a:xfrm>
          <a:prstGeom prst="straightConnector1">
            <a:avLst/>
          </a:prstGeom>
          <a:solidFill>
            <a:schemeClr val="accent1"/>
          </a:solidFill>
          <a:ln w="38100" cap="flat" cmpd="sng" algn="ctr">
            <a:solidFill>
              <a:schemeClr val="bg1">
                <a:lumMod val="50000"/>
              </a:schemeClr>
            </a:solidFill>
            <a:prstDash val="solid"/>
            <a:round/>
            <a:headEnd type="none" w="med" len="med"/>
            <a:tailEnd type="triangle"/>
          </a:ln>
          <a:effectLst/>
        </p:spPr>
      </p:cxnSp>
      <p:sp>
        <p:nvSpPr>
          <p:cNvPr id="71" name="矩形 70"/>
          <p:cNvSpPr/>
          <p:nvPr/>
        </p:nvSpPr>
        <p:spPr bwMode="gray">
          <a:xfrm>
            <a:off x="3152669" y="2583600"/>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3" name="矩形 72"/>
          <p:cNvSpPr/>
          <p:nvPr/>
        </p:nvSpPr>
        <p:spPr bwMode="gray">
          <a:xfrm>
            <a:off x="3152669" y="2367576"/>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4" name="文本框 73"/>
          <p:cNvSpPr txBox="1"/>
          <p:nvPr/>
        </p:nvSpPr>
        <p:spPr bwMode="gray">
          <a:xfrm>
            <a:off x="2992485" y="2063473"/>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rPr>
              <a:t>令牌</a:t>
            </a:r>
          </a:p>
        </p:txBody>
      </p:sp>
      <p:sp>
        <p:nvSpPr>
          <p:cNvPr id="76" name="文本框 75"/>
          <p:cNvSpPr txBox="1"/>
          <p:nvPr/>
        </p:nvSpPr>
        <p:spPr bwMode="gray">
          <a:xfrm>
            <a:off x="2941189" y="3508286"/>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solidFill>
                  <a:schemeClr val="bg1">
                    <a:lumMod val="50000"/>
                  </a:schemeClr>
                </a:solidFill>
                <a:latin typeface="Huawei Sans" panose="020C0503030203020204" pitchFamily="34" charset="0"/>
                <a:ea typeface="方正兰亭黑简体" panose="02000000000000000000" pitchFamily="2" charset="-122"/>
              </a:rPr>
              <a:t>令牌桶</a:t>
            </a:r>
          </a:p>
        </p:txBody>
      </p:sp>
      <p:sp>
        <p:nvSpPr>
          <p:cNvPr id="81" name="文本框 80"/>
          <p:cNvSpPr txBox="1"/>
          <p:nvPr/>
        </p:nvSpPr>
        <p:spPr bwMode="gray">
          <a:xfrm>
            <a:off x="6388485" y="3825044"/>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rgbClr val="C7000B"/>
                </a:solidFill>
                <a:latin typeface="Huawei Sans" panose="020C0503030203020204" pitchFamily="34" charset="0"/>
                <a:ea typeface="方正兰亭黑简体" panose="02000000000000000000" pitchFamily="2" charset="-122"/>
              </a:rPr>
              <a:t>拥塞</a:t>
            </a:r>
            <a:r>
              <a:rPr lang="zh-CN" altLang="en-US" sz="1600" b="1" dirty="0">
                <a:latin typeface="Huawei Sans" panose="020C0503030203020204" pitchFamily="34" charset="0"/>
                <a:ea typeface="方正兰亭黑简体" panose="02000000000000000000" pitchFamily="2" charset="-122"/>
              </a:rPr>
              <a:t>避免</a:t>
            </a:r>
          </a:p>
        </p:txBody>
      </p:sp>
      <p:grpSp>
        <p:nvGrpSpPr>
          <p:cNvPr id="93" name="组合 92"/>
          <p:cNvGrpSpPr/>
          <p:nvPr/>
        </p:nvGrpSpPr>
        <p:grpSpPr bwMode="gray">
          <a:xfrm>
            <a:off x="4963856" y="4236741"/>
            <a:ext cx="1764196" cy="374809"/>
            <a:chOff x="9660396" y="4681755"/>
            <a:chExt cx="1764196" cy="374809"/>
          </a:xfrm>
        </p:grpSpPr>
        <p:sp>
          <p:nvSpPr>
            <p:cNvPr id="94" name="云形标注 93"/>
            <p:cNvSpPr/>
            <p:nvPr/>
          </p:nvSpPr>
          <p:spPr bwMode="gray">
            <a:xfrm>
              <a:off x="9660396" y="4681755"/>
              <a:ext cx="1764196" cy="374809"/>
            </a:xfrm>
            <a:prstGeom prst="cloudCallout">
              <a:avLst>
                <a:gd name="adj1" fmla="val 42039"/>
                <a:gd name="adj2" fmla="val -75030"/>
              </a:avLst>
            </a:prstGeom>
            <a:solidFill>
              <a:schemeClr val="bg1"/>
            </a:solidFill>
            <a:ln w="12700">
              <a:solidFill>
                <a:srgbClr val="EC7061"/>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95" name="文本框 94"/>
            <p:cNvSpPr txBox="1"/>
            <p:nvPr/>
          </p:nvSpPr>
          <p:spPr bwMode="gray">
            <a:xfrm>
              <a:off x="9840416" y="4689140"/>
              <a:ext cx="1332148"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什么是拥塞</a:t>
              </a:r>
              <a:r>
                <a:rPr lang="en-US" altLang="zh-CN" sz="1600" dirty="0">
                  <a:latin typeface="Huawei Sans" panose="020C0503030203020204" pitchFamily="34" charset="0"/>
                  <a:ea typeface="方正兰亭黑简体" panose="02000000000000000000" pitchFamily="2" charset="-122"/>
                </a:rPr>
                <a:t>?</a:t>
              </a:r>
              <a:endParaRPr lang="zh-CN" altLang="en-US" sz="160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2132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拥塞的产生</a:t>
            </a:r>
          </a:p>
        </p:txBody>
      </p:sp>
      <p:grpSp>
        <p:nvGrpSpPr>
          <p:cNvPr id="109" name="组合 108"/>
          <p:cNvGrpSpPr/>
          <p:nvPr/>
        </p:nvGrpSpPr>
        <p:grpSpPr bwMode="gray">
          <a:xfrm>
            <a:off x="659396" y="2114160"/>
            <a:ext cx="7243692" cy="3204356"/>
            <a:chOff x="2171564" y="1772816"/>
            <a:chExt cx="7243692" cy="3204356"/>
          </a:xfrm>
        </p:grpSpPr>
        <p:grpSp>
          <p:nvGrpSpPr>
            <p:cNvPr id="53" name="组合 52"/>
            <p:cNvGrpSpPr/>
            <p:nvPr/>
          </p:nvGrpSpPr>
          <p:grpSpPr bwMode="gray">
            <a:xfrm>
              <a:off x="2171564" y="3176972"/>
              <a:ext cx="2814975" cy="1800200"/>
              <a:chOff x="1025160" y="2024844"/>
              <a:chExt cx="3211019" cy="2016224"/>
            </a:xfrm>
          </p:grpSpPr>
          <p:pic>
            <p:nvPicPr>
              <p:cNvPr id="52" name="图片 51"/>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25160" y="2024844"/>
                <a:ext cx="3211019" cy="2016224"/>
              </a:xfrm>
              <a:prstGeom prst="rect">
                <a:avLst/>
              </a:prstGeom>
            </p:spPr>
          </p:pic>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969376" y="2276898"/>
                <a:ext cx="570731" cy="468000"/>
              </a:xfrm>
              <a:prstGeom prst="rect">
                <a:avLst/>
              </a:prstGeom>
            </p:spPr>
          </p:pic>
          <p:pic>
            <p:nvPicPr>
              <p:cNvPr id="37" name="图片 3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997268" y="2276898"/>
                <a:ext cx="570732" cy="468000"/>
              </a:xfrm>
              <a:prstGeom prst="rect">
                <a:avLst/>
              </a:prstGeom>
            </p:spPr>
          </p:pic>
          <p:pic>
            <p:nvPicPr>
              <p:cNvPr id="38" name="图片 37" descr="PC.png"/>
              <p:cNvPicPr>
                <a:picLocks noChangeAspect="1"/>
              </p:cNvPicPr>
              <p:nvPr/>
            </p:nvPicPr>
            <p:blipFill>
              <a:blip r:embed="rId6" cstate="print"/>
              <a:stretch>
                <a:fillRect/>
              </a:stretch>
            </p:blipFill>
            <p:spPr bwMode="gray">
              <a:xfrm>
                <a:off x="1133172" y="2852936"/>
                <a:ext cx="609376" cy="468000"/>
              </a:xfrm>
              <a:prstGeom prst="rect">
                <a:avLst/>
              </a:prstGeom>
            </p:spPr>
          </p:pic>
          <p:cxnSp>
            <p:nvCxnSpPr>
              <p:cNvPr id="39" name="直接连接符 38"/>
              <p:cNvCxnSpPr>
                <a:stCxn id="38" idx="3"/>
              </p:cNvCxnSpPr>
              <p:nvPr/>
            </p:nvCxnSpPr>
            <p:spPr bwMode="gray">
              <a:xfrm>
                <a:off x="1742548" y="3086936"/>
                <a:ext cx="162287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2" name="图片 41" descr="笔记本电脑.png"/>
              <p:cNvPicPr>
                <a:picLocks noChangeAspect="1"/>
              </p:cNvPicPr>
              <p:nvPr/>
            </p:nvPicPr>
            <p:blipFill>
              <a:blip r:embed="rId7" cstate="print"/>
              <a:stretch>
                <a:fillRect/>
              </a:stretch>
            </p:blipFill>
            <p:spPr bwMode="gray">
              <a:xfrm>
                <a:off x="2825360" y="3429052"/>
                <a:ext cx="612068" cy="383720"/>
              </a:xfrm>
              <a:prstGeom prst="rect">
                <a:avLst/>
              </a:prstGeom>
            </p:spPr>
          </p:pic>
          <p:pic>
            <p:nvPicPr>
              <p:cNvPr id="43" name="图片 42" descr="PC.png"/>
              <p:cNvPicPr>
                <a:picLocks noChangeAspect="1"/>
              </p:cNvPicPr>
              <p:nvPr/>
            </p:nvPicPr>
            <p:blipFill>
              <a:blip r:embed="rId6" cstate="print"/>
              <a:stretch>
                <a:fillRect/>
              </a:stretch>
            </p:blipFill>
            <p:spPr bwMode="gray">
              <a:xfrm>
                <a:off x="1853252" y="3429052"/>
                <a:ext cx="609376" cy="468000"/>
              </a:xfrm>
              <a:prstGeom prst="rect">
                <a:avLst/>
              </a:prstGeom>
            </p:spPr>
          </p:pic>
          <p:cxnSp>
            <p:nvCxnSpPr>
              <p:cNvPr id="44" name="直接连接符 43"/>
              <p:cNvCxnSpPr>
                <a:stCxn id="42" idx="0"/>
              </p:cNvCxnSpPr>
              <p:nvPr/>
            </p:nvCxnSpPr>
            <p:spPr bwMode="gray">
              <a:xfrm flipV="1">
                <a:off x="3131394" y="3105658"/>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a:stCxn id="43" idx="0"/>
              </p:cNvCxnSpPr>
              <p:nvPr/>
            </p:nvCxnSpPr>
            <p:spPr bwMode="gray">
              <a:xfrm flipH="1" flipV="1">
                <a:off x="2141284" y="3105658"/>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直接连接符 49"/>
              <p:cNvCxnSpPr/>
              <p:nvPr/>
            </p:nvCxnSpPr>
            <p:spPr bwMode="gray">
              <a:xfrm flipV="1">
                <a:off x="3257408" y="2744924"/>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直接连接符 50"/>
              <p:cNvCxnSpPr/>
              <p:nvPr/>
            </p:nvCxnSpPr>
            <p:spPr bwMode="gray">
              <a:xfrm flipH="1" flipV="1">
                <a:off x="2267298" y="2744924"/>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54" name="组合 53"/>
            <p:cNvGrpSpPr/>
            <p:nvPr/>
          </p:nvGrpSpPr>
          <p:grpSpPr bwMode="gray">
            <a:xfrm flipH="1">
              <a:off x="6600056" y="3176972"/>
              <a:ext cx="2815200" cy="1800000"/>
              <a:chOff x="1025160" y="2024844"/>
              <a:chExt cx="3211019" cy="2016224"/>
            </a:xfrm>
          </p:grpSpPr>
          <p:pic>
            <p:nvPicPr>
              <p:cNvPr id="55" name="图片 54"/>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25160" y="2024844"/>
                <a:ext cx="3211019" cy="2016224"/>
              </a:xfrm>
              <a:prstGeom prst="rect">
                <a:avLst/>
              </a:prstGeom>
            </p:spPr>
          </p:pic>
          <p:pic>
            <p:nvPicPr>
              <p:cNvPr id="56" name="图片 5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flipH="1">
                <a:off x="2969376" y="2276898"/>
                <a:ext cx="570731" cy="468000"/>
              </a:xfrm>
              <a:prstGeom prst="rect">
                <a:avLst/>
              </a:prstGeom>
            </p:spPr>
          </p:pic>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flipH="1">
                <a:off x="1997268" y="2276898"/>
                <a:ext cx="570732" cy="468000"/>
              </a:xfrm>
              <a:prstGeom prst="rect">
                <a:avLst/>
              </a:prstGeom>
            </p:spPr>
          </p:pic>
          <p:pic>
            <p:nvPicPr>
              <p:cNvPr id="60" name="图片 59" descr="笔记本电脑.png"/>
              <p:cNvPicPr>
                <a:picLocks noChangeAspect="1"/>
              </p:cNvPicPr>
              <p:nvPr/>
            </p:nvPicPr>
            <p:blipFill>
              <a:blip r:embed="rId7" cstate="print"/>
              <a:stretch>
                <a:fillRect/>
              </a:stretch>
            </p:blipFill>
            <p:spPr bwMode="gray">
              <a:xfrm>
                <a:off x="2825360" y="3429052"/>
                <a:ext cx="612068" cy="383720"/>
              </a:xfrm>
              <a:prstGeom prst="rect">
                <a:avLst/>
              </a:prstGeom>
            </p:spPr>
          </p:pic>
          <p:pic>
            <p:nvPicPr>
              <p:cNvPr id="61" name="图片 60" descr="PC.png"/>
              <p:cNvPicPr>
                <a:picLocks noChangeAspect="1"/>
              </p:cNvPicPr>
              <p:nvPr/>
            </p:nvPicPr>
            <p:blipFill>
              <a:blip r:embed="rId6" cstate="print"/>
              <a:stretch>
                <a:fillRect/>
              </a:stretch>
            </p:blipFill>
            <p:spPr bwMode="gray">
              <a:xfrm flipH="1">
                <a:off x="1853252" y="3429052"/>
                <a:ext cx="609376" cy="468000"/>
              </a:xfrm>
              <a:prstGeom prst="rect">
                <a:avLst/>
              </a:prstGeom>
            </p:spPr>
          </p:pic>
          <p:cxnSp>
            <p:nvCxnSpPr>
              <p:cNvPr id="62" name="直接连接符 61"/>
              <p:cNvCxnSpPr>
                <a:stCxn id="60" idx="0"/>
              </p:cNvCxnSpPr>
              <p:nvPr/>
            </p:nvCxnSpPr>
            <p:spPr bwMode="gray">
              <a:xfrm flipV="1">
                <a:off x="3131394" y="3105658"/>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3" name="直接连接符 62"/>
              <p:cNvCxnSpPr>
                <a:stCxn id="61" idx="0"/>
              </p:cNvCxnSpPr>
              <p:nvPr/>
            </p:nvCxnSpPr>
            <p:spPr bwMode="gray">
              <a:xfrm flipH="1" flipV="1">
                <a:off x="2157940" y="3105658"/>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gray">
              <a:xfrm flipV="1">
                <a:off x="3257408" y="2744924"/>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5" name="直接连接符 64"/>
              <p:cNvCxnSpPr/>
              <p:nvPr/>
            </p:nvCxnSpPr>
            <p:spPr bwMode="gray">
              <a:xfrm flipH="1" flipV="1">
                <a:off x="2267298" y="2744924"/>
                <a:ext cx="0" cy="3233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58"/>
              <p:cNvCxnSpPr>
                <a:stCxn id="58" idx="3"/>
              </p:cNvCxnSpPr>
              <p:nvPr/>
            </p:nvCxnSpPr>
            <p:spPr bwMode="gray">
              <a:xfrm>
                <a:off x="1133172" y="3086936"/>
                <a:ext cx="223224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8" name="图片 57" descr="PC.png"/>
              <p:cNvPicPr>
                <a:picLocks noChangeAspect="1"/>
              </p:cNvPicPr>
              <p:nvPr/>
            </p:nvPicPr>
            <p:blipFill>
              <a:blip r:embed="rId6" cstate="print"/>
              <a:stretch>
                <a:fillRect/>
              </a:stretch>
            </p:blipFill>
            <p:spPr bwMode="gray">
              <a:xfrm flipH="1">
                <a:off x="1133172" y="2852936"/>
                <a:ext cx="609376" cy="468000"/>
              </a:xfrm>
              <a:prstGeom prst="rect">
                <a:avLst/>
              </a:prstGeom>
            </p:spPr>
          </p:pic>
        </p:grpSp>
        <p:sp>
          <p:nvSpPr>
            <p:cNvPr id="67" name="圆角矩形 66"/>
            <p:cNvSpPr/>
            <p:nvPr/>
          </p:nvSpPr>
          <p:spPr bwMode="gray">
            <a:xfrm rot="19549724">
              <a:off x="4001538" y="2611922"/>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2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71" name="组合 70"/>
            <p:cNvGrpSpPr/>
            <p:nvPr/>
          </p:nvGrpSpPr>
          <p:grpSpPr bwMode="gray">
            <a:xfrm>
              <a:off x="4814855" y="1772816"/>
              <a:ext cx="1956885" cy="1228743"/>
              <a:chOff x="5168232" y="1808820"/>
              <a:chExt cx="1956885" cy="1228743"/>
            </a:xfrm>
          </p:grpSpPr>
          <p:pic>
            <p:nvPicPr>
              <p:cNvPr id="66" name="图片 65"/>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68232" y="1808820"/>
                <a:ext cx="1956885" cy="1228743"/>
              </a:xfrm>
              <a:prstGeom prst="rect">
                <a:avLst/>
              </a:prstGeom>
            </p:spPr>
          </p:pic>
          <p:sp>
            <p:nvSpPr>
              <p:cNvPr id="69" name="圆角矩形 68"/>
              <p:cNvSpPr/>
              <p:nvPr/>
            </p:nvSpPr>
            <p:spPr bwMode="gray">
              <a:xfrm>
                <a:off x="5718819" y="2240868"/>
                <a:ext cx="855712"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广域网</a:t>
                </a:r>
              </a:p>
            </p:txBody>
          </p:sp>
        </p:grpSp>
        <p:sp>
          <p:nvSpPr>
            <p:cNvPr id="70" name="圆角矩形 69"/>
            <p:cNvSpPr/>
            <p:nvPr/>
          </p:nvSpPr>
          <p:spPr bwMode="gray">
            <a:xfrm>
              <a:off x="4043772" y="4041068"/>
              <a:ext cx="828092"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cxnSp>
          <p:nvCxnSpPr>
            <p:cNvPr id="72" name="直接连接符 71"/>
            <p:cNvCxnSpPr>
              <a:stCxn id="36" idx="0"/>
            </p:cNvCxnSpPr>
            <p:nvPr/>
          </p:nvCxnSpPr>
          <p:spPr bwMode="gray">
            <a:xfrm flipV="1">
              <a:off x="4126151" y="2744924"/>
              <a:ext cx="961737" cy="657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6" name="直接连接符 75"/>
            <p:cNvCxnSpPr>
              <a:endCxn id="56" idx="0"/>
            </p:cNvCxnSpPr>
            <p:nvPr/>
          </p:nvCxnSpPr>
          <p:spPr bwMode="gray">
            <a:xfrm>
              <a:off x="6348028" y="2816932"/>
              <a:ext cx="1112485" cy="58506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5" name="圆角矩形 94"/>
            <p:cNvSpPr/>
            <p:nvPr/>
          </p:nvSpPr>
          <p:spPr bwMode="gray">
            <a:xfrm rot="1767111">
              <a:off x="6631829" y="2856237"/>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2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6" name="任意多边形 95"/>
            <p:cNvSpPr/>
            <p:nvPr/>
          </p:nvSpPr>
          <p:spPr bwMode="gray">
            <a:xfrm>
              <a:off x="4288665" y="3032956"/>
              <a:ext cx="2923459" cy="985252"/>
            </a:xfrm>
            <a:custGeom>
              <a:avLst/>
              <a:gdLst>
                <a:gd name="connsiteX0" fmla="*/ 0 w 3451538"/>
                <a:gd name="connsiteY0" fmla="*/ 1043594 h 1146625"/>
                <a:gd name="connsiteX1" fmla="*/ 1803042 w 3451538"/>
                <a:gd name="connsiteY1" fmla="*/ 406 h 1146625"/>
                <a:gd name="connsiteX2" fmla="*/ 3451538 w 3451538"/>
                <a:gd name="connsiteY2" fmla="*/ 1146625 h 1146625"/>
              </a:gdLst>
              <a:ahLst/>
              <a:cxnLst>
                <a:cxn ang="0">
                  <a:pos x="connsiteX0" y="connsiteY0"/>
                </a:cxn>
                <a:cxn ang="0">
                  <a:pos x="connsiteX1" y="connsiteY1"/>
                </a:cxn>
                <a:cxn ang="0">
                  <a:pos x="connsiteX2" y="connsiteY2"/>
                </a:cxn>
              </a:cxnLst>
              <a:rect l="l" t="t" r="r" b="b"/>
              <a:pathLst>
                <a:path w="3451538" h="1146625">
                  <a:moveTo>
                    <a:pt x="0" y="1043594"/>
                  </a:moveTo>
                  <a:cubicBezTo>
                    <a:pt x="613893" y="513414"/>
                    <a:pt x="1227786" y="-16766"/>
                    <a:pt x="1803042" y="406"/>
                  </a:cubicBezTo>
                  <a:cubicBezTo>
                    <a:pt x="2378298" y="17578"/>
                    <a:pt x="2914918" y="582101"/>
                    <a:pt x="3451538" y="1146625"/>
                  </a:cubicBezTo>
                </a:path>
              </a:pathLst>
            </a:custGeom>
            <a:noFill/>
            <a:ln w="28575">
              <a:solidFill>
                <a:srgbClr val="56C4D2"/>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 name="圆角矩形 7"/>
            <p:cNvSpPr/>
            <p:nvPr/>
          </p:nvSpPr>
          <p:spPr bwMode="gray">
            <a:xfrm>
              <a:off x="4763852" y="3284024"/>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数据流</a:t>
              </a:r>
              <a:endPar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en-US" altLang="zh-CN" sz="1400" b="1" dirty="0">
                  <a:latin typeface="Huawei Sans" panose="020C0503030203020204" pitchFamily="34" charset="0"/>
                  <a:ea typeface="方正兰亭黑简体" panose="02000000000000000000" pitchFamily="2" charset="-122"/>
                </a:rPr>
                <a:t>10 Mbps</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4" name="圆角矩形 103"/>
            <p:cNvSpPr/>
            <p:nvPr/>
          </p:nvSpPr>
          <p:spPr bwMode="gray">
            <a:xfrm>
              <a:off x="6888088" y="4041068"/>
              <a:ext cx="828092"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grpSp>
      <p:sp>
        <p:nvSpPr>
          <p:cNvPr id="81" name="Oval 41"/>
          <p:cNvSpPr>
            <a:spLocks noChangeAspect="1"/>
          </p:cNvSpPr>
          <p:nvPr/>
        </p:nvSpPr>
        <p:spPr bwMode="gray">
          <a:xfrm>
            <a:off x="2531384" y="366934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82" name="Rectangular Callout 81"/>
          <p:cNvSpPr/>
          <p:nvPr/>
        </p:nvSpPr>
        <p:spPr bwMode="gray">
          <a:xfrm>
            <a:off x="1808745" y="3122365"/>
            <a:ext cx="763026" cy="309667"/>
          </a:xfrm>
          <a:prstGeom prst="wedgeRectCallout">
            <a:avLst>
              <a:gd name="adj1" fmla="val 43744"/>
              <a:gd name="adj2" fmla="val 1037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latin typeface="Huawei Sans" panose="020C0503030203020204" pitchFamily="34" charset="0"/>
                <a:ea typeface="方正兰亭黑简体" panose="02000000000000000000" pitchFamily="2" charset="-122"/>
              </a:rPr>
              <a:t>拥塞点</a:t>
            </a:r>
          </a:p>
        </p:txBody>
      </p:sp>
      <p:grpSp>
        <p:nvGrpSpPr>
          <p:cNvPr id="4" name="组合 3"/>
          <p:cNvGrpSpPr/>
          <p:nvPr/>
        </p:nvGrpSpPr>
        <p:grpSpPr bwMode="gray">
          <a:xfrm>
            <a:off x="8098456" y="3446308"/>
            <a:ext cx="3417299" cy="1992477"/>
            <a:chOff x="8098456" y="3446308"/>
            <a:chExt cx="3417299" cy="1992477"/>
          </a:xfrm>
        </p:grpSpPr>
        <p:grpSp>
          <p:nvGrpSpPr>
            <p:cNvPr id="121" name="组合 120"/>
            <p:cNvGrpSpPr/>
            <p:nvPr/>
          </p:nvGrpSpPr>
          <p:grpSpPr bwMode="gray">
            <a:xfrm>
              <a:off x="8098456" y="3746175"/>
              <a:ext cx="3417299" cy="1692610"/>
              <a:chOff x="1595500" y="3861048"/>
              <a:chExt cx="3417299" cy="1692610"/>
            </a:xfrm>
          </p:grpSpPr>
          <p:sp>
            <p:nvSpPr>
              <p:cNvPr id="127" name="矩形 126"/>
              <p:cNvSpPr/>
              <p:nvPr/>
            </p:nvSpPr>
            <p:spPr bwMode="gray">
              <a:xfrm>
                <a:off x="1595500" y="3861048"/>
                <a:ext cx="3417299" cy="1692610"/>
              </a:xfrm>
              <a:prstGeom prst="rect">
                <a:avLst/>
              </a:prstGeom>
              <a:solidFill>
                <a:srgbClr val="F4FBFE"/>
              </a:solidFill>
              <a:ln w="12700">
                <a:solidFill>
                  <a:srgbClr val="94DAE2"/>
                </a:solidFill>
                <a:prstDash val="dash"/>
                <a:miter lim="800000"/>
                <a:headEnd type="none" w="sm" len="sm"/>
                <a:tailEnd type="none" w="sm" len="sm"/>
              </a:ln>
              <a:effectLst/>
            </p:spPr>
            <p:txBody>
              <a:bodyPr wrap="square" rtlCol="0" anchor="ctr">
                <a:noAutofit/>
              </a:bodyPr>
              <a:lstStyle/>
              <a:p>
                <a:pPr algn="ctr"/>
                <a:endParaRPr lang="zh-CN" altLang="en-US" dirty="0">
                  <a:latin typeface="Huawei Sans" panose="020C0503030203020204" pitchFamily="34" charset="0"/>
                  <a:ea typeface="方正兰亭黑简体" panose="02000000000000000000" pitchFamily="2" charset="-122"/>
                </a:endParaRPr>
              </a:p>
            </p:txBody>
          </p:sp>
          <p:pic>
            <p:nvPicPr>
              <p:cNvPr id="122" name="图片 1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5660" y="4617132"/>
                <a:ext cx="658536" cy="540000"/>
              </a:xfrm>
              <a:prstGeom prst="rect">
                <a:avLst/>
              </a:prstGeom>
            </p:spPr>
          </p:pic>
          <p:cxnSp>
            <p:nvCxnSpPr>
              <p:cNvPr id="123" name="直接连接符 122"/>
              <p:cNvCxnSpPr>
                <a:endCxn id="122" idx="1"/>
              </p:cNvCxnSpPr>
              <p:nvPr/>
            </p:nvCxnSpPr>
            <p:spPr bwMode="gray">
              <a:xfrm>
                <a:off x="1930000" y="4887132"/>
                <a:ext cx="11056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4" name="直接连接符 123"/>
              <p:cNvCxnSpPr>
                <a:stCxn id="122" idx="3"/>
              </p:cNvCxnSpPr>
              <p:nvPr/>
            </p:nvCxnSpPr>
            <p:spPr bwMode="gray">
              <a:xfrm>
                <a:off x="3694196" y="4887132"/>
                <a:ext cx="10696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5" name="圆角矩形 124"/>
              <p:cNvSpPr/>
              <p:nvPr/>
            </p:nvSpPr>
            <p:spPr bwMode="gray">
              <a:xfrm>
                <a:off x="1667508" y="4401108"/>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6" name="圆角矩形 125"/>
              <p:cNvSpPr/>
              <p:nvPr/>
            </p:nvSpPr>
            <p:spPr bwMode="gray">
              <a:xfrm>
                <a:off x="3755740" y="4401108"/>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28" name="直接连接符 127"/>
              <p:cNvCxnSpPr/>
              <p:nvPr/>
            </p:nvCxnSpPr>
            <p:spPr bwMode="gray">
              <a:xfrm>
                <a:off x="2207568" y="4257092"/>
                <a:ext cx="828092" cy="43204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9" name="圆角矩形 128"/>
              <p:cNvSpPr/>
              <p:nvPr/>
            </p:nvSpPr>
            <p:spPr bwMode="gray">
              <a:xfrm rot="1719450">
                <a:off x="2280342" y="3994205"/>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30" name="直接连接符 129"/>
              <p:cNvCxnSpPr/>
              <p:nvPr/>
            </p:nvCxnSpPr>
            <p:spPr bwMode="gray">
              <a:xfrm flipV="1">
                <a:off x="2207568" y="5049180"/>
                <a:ext cx="828092" cy="43204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1" name="圆角矩形 130"/>
              <p:cNvSpPr/>
              <p:nvPr/>
            </p:nvSpPr>
            <p:spPr bwMode="gray">
              <a:xfrm rot="19893949">
                <a:off x="1739049" y="4964804"/>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32" name="直接连接符 131"/>
              <p:cNvCxnSpPr/>
              <p:nvPr/>
            </p:nvCxnSpPr>
            <p:spPr bwMode="gray">
              <a:xfrm>
                <a:off x="2351584" y="4185084"/>
                <a:ext cx="648072" cy="360004"/>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cxnSp>
            <p:nvCxnSpPr>
              <p:cNvPr id="133" name="直接连接符 132"/>
              <p:cNvCxnSpPr/>
              <p:nvPr/>
            </p:nvCxnSpPr>
            <p:spPr bwMode="gray">
              <a:xfrm flipV="1">
                <a:off x="1775520" y="4797152"/>
                <a:ext cx="900000"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cxnSp>
            <p:nvCxnSpPr>
              <p:cNvPr id="134" name="直接连接符 133"/>
              <p:cNvCxnSpPr/>
              <p:nvPr/>
            </p:nvCxnSpPr>
            <p:spPr bwMode="gray">
              <a:xfrm flipV="1">
                <a:off x="2171564" y="5085184"/>
                <a:ext cx="684076" cy="3240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cxnSp>
            <p:nvCxnSpPr>
              <p:cNvPr id="135" name="直接连接符 134"/>
              <p:cNvCxnSpPr/>
              <p:nvPr/>
            </p:nvCxnSpPr>
            <p:spPr bwMode="gray">
              <a:xfrm flipV="1">
                <a:off x="3827748" y="4797152"/>
                <a:ext cx="900000"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grpSp>
        <p:sp>
          <p:nvSpPr>
            <p:cNvPr id="140" name="流程图: 过程 139"/>
            <p:cNvSpPr/>
            <p:nvPr/>
          </p:nvSpPr>
          <p:spPr bwMode="gray">
            <a:xfrm>
              <a:off x="8120858" y="3446308"/>
              <a:ext cx="1446293" cy="363253"/>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dirty="0">
                <a:latin typeface="Huawei Sans" panose="020C0503030203020204" pitchFamily="34" charset="0"/>
                <a:ea typeface="方正兰亭黑简体" panose="02000000000000000000" pitchFamily="2" charset="-122"/>
              </a:endParaRPr>
            </a:p>
          </p:txBody>
        </p:sp>
        <p:sp>
          <p:nvSpPr>
            <p:cNvPr id="141" name="文本框 140"/>
            <p:cNvSpPr txBox="1"/>
            <p:nvPr/>
          </p:nvSpPr>
          <p:spPr bwMode="gray">
            <a:xfrm>
              <a:off x="8314480" y="3446308"/>
              <a:ext cx="126014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汇聚问题</a:t>
              </a:r>
            </a:p>
          </p:txBody>
        </p:sp>
        <p:sp>
          <p:nvSpPr>
            <p:cNvPr id="84" name="Oval 41"/>
            <p:cNvSpPr>
              <a:spLocks noChangeAspect="1"/>
            </p:cNvSpPr>
            <p:nvPr/>
          </p:nvSpPr>
          <p:spPr bwMode="gray">
            <a:xfrm>
              <a:off x="10099914" y="469230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grpSp>
      <p:grpSp>
        <p:nvGrpSpPr>
          <p:cNvPr id="3" name="组合 2"/>
          <p:cNvGrpSpPr/>
          <p:nvPr/>
        </p:nvGrpSpPr>
        <p:grpSpPr bwMode="gray">
          <a:xfrm>
            <a:off x="8083107" y="1678899"/>
            <a:ext cx="3422505" cy="1434751"/>
            <a:chOff x="8083107" y="1678899"/>
            <a:chExt cx="3422505" cy="1434751"/>
          </a:xfrm>
        </p:grpSpPr>
        <p:grpSp>
          <p:nvGrpSpPr>
            <p:cNvPr id="110" name="组合 109"/>
            <p:cNvGrpSpPr/>
            <p:nvPr/>
          </p:nvGrpSpPr>
          <p:grpSpPr bwMode="gray">
            <a:xfrm>
              <a:off x="8083107" y="1955880"/>
              <a:ext cx="3422505" cy="1157770"/>
              <a:chOff x="1701386" y="1833667"/>
              <a:chExt cx="3422505" cy="1157770"/>
            </a:xfrm>
          </p:grpSpPr>
          <p:sp>
            <p:nvSpPr>
              <p:cNvPr id="118" name="矩形 117"/>
              <p:cNvSpPr/>
              <p:nvPr/>
            </p:nvSpPr>
            <p:spPr bwMode="gray">
              <a:xfrm>
                <a:off x="1701386" y="1833667"/>
                <a:ext cx="3422505" cy="1157770"/>
              </a:xfrm>
              <a:prstGeom prst="rect">
                <a:avLst/>
              </a:prstGeom>
              <a:solidFill>
                <a:srgbClr val="F4FBFE"/>
              </a:solidFill>
              <a:ln w="12700">
                <a:solidFill>
                  <a:srgbClr val="94DAE2"/>
                </a:solidFill>
                <a:prstDash val="dash"/>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pic>
            <p:nvPicPr>
              <p:cNvPr id="111" name="图片 1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035660" y="2168860"/>
                <a:ext cx="658536" cy="540000"/>
              </a:xfrm>
              <a:prstGeom prst="rect">
                <a:avLst/>
              </a:prstGeom>
            </p:spPr>
          </p:pic>
          <p:cxnSp>
            <p:nvCxnSpPr>
              <p:cNvPr id="112" name="直接连接符 111"/>
              <p:cNvCxnSpPr>
                <a:endCxn id="111" idx="1"/>
              </p:cNvCxnSpPr>
              <p:nvPr/>
            </p:nvCxnSpPr>
            <p:spPr bwMode="gray">
              <a:xfrm>
                <a:off x="1930000" y="2438860"/>
                <a:ext cx="110566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3" name="直接连接符 112"/>
              <p:cNvCxnSpPr>
                <a:stCxn id="111" idx="3"/>
              </p:cNvCxnSpPr>
              <p:nvPr/>
            </p:nvCxnSpPr>
            <p:spPr bwMode="gray">
              <a:xfrm>
                <a:off x="3694196" y="2438860"/>
                <a:ext cx="106965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4" name="圆角矩形 113"/>
              <p:cNvSpPr/>
              <p:nvPr/>
            </p:nvSpPr>
            <p:spPr bwMode="gray">
              <a:xfrm>
                <a:off x="1991544" y="2420888"/>
                <a:ext cx="1008112"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高速链路</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5" name="圆角矩形 114"/>
              <p:cNvSpPr/>
              <p:nvPr/>
            </p:nvSpPr>
            <p:spPr bwMode="gray">
              <a:xfrm>
                <a:off x="3755740" y="2420888"/>
                <a:ext cx="1008112"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低速链路</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6" name="圆角矩形 115"/>
              <p:cNvSpPr/>
              <p:nvPr/>
            </p:nvSpPr>
            <p:spPr bwMode="gray">
              <a:xfrm>
                <a:off x="1883532" y="1880828"/>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7" name="圆角矩形 116"/>
              <p:cNvSpPr/>
              <p:nvPr/>
            </p:nvSpPr>
            <p:spPr bwMode="gray">
              <a:xfrm>
                <a:off x="3755740" y="1880828"/>
                <a:ext cx="1116124"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10 Mbps</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19" name="直接连接符 118"/>
              <p:cNvCxnSpPr/>
              <p:nvPr/>
            </p:nvCxnSpPr>
            <p:spPr bwMode="gray">
              <a:xfrm flipV="1">
                <a:off x="1955640" y="2312876"/>
                <a:ext cx="900000"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cxnSp>
            <p:nvCxnSpPr>
              <p:cNvPr id="120" name="直接连接符 119"/>
              <p:cNvCxnSpPr/>
              <p:nvPr/>
            </p:nvCxnSpPr>
            <p:spPr bwMode="gray">
              <a:xfrm flipV="1">
                <a:off x="3827748" y="2312876"/>
                <a:ext cx="900000" cy="36"/>
              </a:xfrm>
              <a:prstGeom prst="line">
                <a:avLst/>
              </a:prstGeom>
              <a:solidFill>
                <a:schemeClr val="accent1"/>
              </a:solidFill>
              <a:ln w="12700" cap="flat" cmpd="sng" algn="ctr">
                <a:solidFill>
                  <a:schemeClr val="tx1"/>
                </a:solidFill>
                <a:prstDash val="dash"/>
                <a:round/>
                <a:headEnd type="none" w="med" len="med"/>
                <a:tailEnd type="triangle" w="med" len="med"/>
              </a:ln>
              <a:effectLst/>
            </p:spPr>
          </p:cxnSp>
        </p:grpSp>
        <p:sp>
          <p:nvSpPr>
            <p:cNvPr id="136" name="流程图: 过程 135"/>
            <p:cNvSpPr/>
            <p:nvPr/>
          </p:nvSpPr>
          <p:spPr bwMode="gray">
            <a:xfrm>
              <a:off x="8141514" y="1678899"/>
              <a:ext cx="1446293" cy="363253"/>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dirty="0">
                <a:latin typeface="Huawei Sans" panose="020C0503030203020204" pitchFamily="34" charset="0"/>
                <a:ea typeface="方正兰亭黑简体" panose="02000000000000000000" pitchFamily="2" charset="-122"/>
              </a:endParaRPr>
            </a:p>
          </p:txBody>
        </p:sp>
        <p:sp>
          <p:nvSpPr>
            <p:cNvPr id="137" name="文本框 136"/>
            <p:cNvSpPr txBox="1"/>
            <p:nvPr/>
          </p:nvSpPr>
          <p:spPr bwMode="gray">
            <a:xfrm>
              <a:off x="8335136" y="1678899"/>
              <a:ext cx="1260140"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带宽不匹配</a:t>
              </a:r>
            </a:p>
          </p:txBody>
        </p:sp>
        <p:sp>
          <p:nvSpPr>
            <p:cNvPr id="85" name="Oval 41"/>
            <p:cNvSpPr>
              <a:spLocks noChangeAspect="1"/>
            </p:cNvSpPr>
            <p:nvPr/>
          </p:nvSpPr>
          <p:spPr bwMode="gray">
            <a:xfrm>
              <a:off x="9984256" y="248292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grpSp>
    </p:spTree>
    <p:extLst>
      <p:ext uri="{BB962C8B-B14F-4D97-AF65-F5344CB8AC3E}">
        <p14:creationId xmlns:p14="http://schemas.microsoft.com/office/powerpoint/2010/main" val="30108217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拥塞的影响</a:t>
            </a:r>
          </a:p>
        </p:txBody>
      </p:sp>
      <p:grpSp>
        <p:nvGrpSpPr>
          <p:cNvPr id="39" name="组合 38"/>
          <p:cNvGrpSpPr/>
          <p:nvPr/>
        </p:nvGrpSpPr>
        <p:grpSpPr bwMode="gray">
          <a:xfrm>
            <a:off x="5231904" y="1745882"/>
            <a:ext cx="5436604" cy="2351270"/>
            <a:chOff x="6564053" y="5094858"/>
            <a:chExt cx="5436604" cy="1274786"/>
          </a:xfrm>
        </p:grpSpPr>
        <p:sp>
          <p:nvSpPr>
            <p:cNvPr id="40" name="矩形 39"/>
            <p:cNvSpPr/>
            <p:nvPr/>
          </p:nvSpPr>
          <p:spPr bwMode="gray">
            <a:xfrm>
              <a:off x="6564053" y="5094858"/>
              <a:ext cx="5436604" cy="1274786"/>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2" name="文本框 41"/>
            <p:cNvSpPr txBox="1"/>
            <p:nvPr/>
          </p:nvSpPr>
          <p:spPr bwMode="gray">
            <a:xfrm>
              <a:off x="6612060" y="5122451"/>
              <a:ext cx="5340590" cy="11813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拥塞有可能会引发一系列的负面影响：</a:t>
              </a:r>
              <a:endParaRPr lang="en-US" altLang="zh-CN" sz="1600" b="1" dirty="0">
                <a:solidFill>
                  <a:srgbClr val="000000"/>
                </a:solidFill>
                <a:latin typeface="Huawei Sans" panose="020C0503030203020204" pitchFamily="34" charset="0"/>
                <a:ea typeface="方正兰亭黑简体" panose="02000000000000000000" pitchFamily="2" charset="-122"/>
              </a:endParaRPr>
            </a:p>
            <a:p>
              <a:pPr marL="654938" lvl="1" indent="-251899" defTabSz="914034" fontAlgn="ctr">
                <a:lnSpc>
                  <a:spcPct val="125000"/>
                </a:lnSpc>
                <a:spcBef>
                  <a:spcPts val="720"/>
                </a:spcBef>
                <a:spcAft>
                  <a:spcPts val="200"/>
                </a:spcAft>
                <a:buSzPct val="50000"/>
                <a:buFont typeface="Wingdings" panose="05000000000000000000" pitchFamily="2" charset="2"/>
                <a:buChar char="p"/>
              </a:pPr>
              <a:r>
                <a:rPr lang="zh-CN" altLang="en-US" sz="1400" dirty="0">
                  <a:highlight>
                    <a:srgbClr val="FFFF00"/>
                  </a:highlight>
                  <a:latin typeface="Huawei Sans" panose="020C0503030203020204" pitchFamily="34" charset="0"/>
                  <a:ea typeface="方正兰亭黑简体" panose="02000000000000000000" pitchFamily="2" charset="-122"/>
                </a:rPr>
                <a:t>拥塞增加了报文传输的延迟和延迟抖动</a:t>
              </a:r>
              <a:r>
                <a:rPr lang="zh-CN" altLang="en-US" sz="1400" dirty="0">
                  <a:latin typeface="Huawei Sans" panose="020C0503030203020204" pitchFamily="34" charset="0"/>
                  <a:ea typeface="方正兰亭黑简体" panose="02000000000000000000" pitchFamily="2" charset="-122"/>
                </a:rPr>
                <a:t>。</a:t>
              </a:r>
            </a:p>
            <a:p>
              <a:pPr marL="654938" lvl="1" indent="-251899" defTabSz="914034" fontAlgn="ctr">
                <a:lnSpc>
                  <a:spcPct val="125000"/>
                </a:lnSpc>
                <a:spcBef>
                  <a:spcPts val="720"/>
                </a:spcBef>
                <a:spcAft>
                  <a:spcPts val="200"/>
                </a:spcAft>
                <a:buSzPct val="50000"/>
                <a:buFont typeface="Wingdings" panose="05000000000000000000" pitchFamily="2" charset="2"/>
                <a:buChar char="p"/>
              </a:pPr>
              <a:r>
                <a:rPr lang="zh-CN" altLang="en-US" sz="1400" dirty="0">
                  <a:highlight>
                    <a:srgbClr val="FFFF00"/>
                  </a:highlight>
                  <a:latin typeface="Huawei Sans" panose="020C0503030203020204" pitchFamily="34" charset="0"/>
                  <a:ea typeface="方正兰亭黑简体" panose="02000000000000000000" pitchFamily="2" charset="-122"/>
                </a:rPr>
                <a:t>过高的延迟会引起报文重传</a:t>
              </a:r>
              <a:r>
                <a:rPr lang="zh-CN" altLang="en-US" sz="1400" dirty="0">
                  <a:latin typeface="Huawei Sans" panose="020C0503030203020204" pitchFamily="34" charset="0"/>
                  <a:ea typeface="方正兰亭黑简体" panose="02000000000000000000" pitchFamily="2" charset="-122"/>
                </a:rPr>
                <a:t>。</a:t>
              </a:r>
            </a:p>
            <a:p>
              <a:pPr marL="654938" lvl="1" indent="-251899" defTabSz="914034" fontAlgn="ctr">
                <a:lnSpc>
                  <a:spcPct val="125000"/>
                </a:lnSpc>
                <a:spcBef>
                  <a:spcPts val="720"/>
                </a:spcBef>
                <a:spcAft>
                  <a:spcPts val="2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拥塞使网络的有效吞吐率降低，造成网络资源的损害。</a:t>
              </a:r>
            </a:p>
            <a:p>
              <a:pPr marL="654938" lvl="1" indent="-251899" defTabSz="914034" fontAlgn="ctr">
                <a:lnSpc>
                  <a:spcPct val="125000"/>
                </a:lnSpc>
                <a:spcBef>
                  <a:spcPts val="720"/>
                </a:spcBef>
                <a:spcAft>
                  <a:spcPts val="2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rPr>
                <a:t>拥塞加剧会耗费大量的网络资源（特别是存储资源），不合理的资源分配甚至可能导致系统陷入资源死锁而崩溃。</a:t>
              </a:r>
            </a:p>
          </p:txBody>
        </p:sp>
      </p:grpSp>
      <p:sp>
        <p:nvSpPr>
          <p:cNvPr id="44" name="iṣ1iḍé"/>
          <p:cNvSpPr/>
          <p:nvPr/>
        </p:nvSpPr>
        <p:spPr bwMode="gray">
          <a:xfrm rot="16200000">
            <a:off x="3627770" y="2591489"/>
            <a:ext cx="2412268" cy="649058"/>
          </a:xfrm>
          <a:prstGeom prst="trapezoid">
            <a:avLst>
              <a:gd name="adj" fmla="val 101311"/>
            </a:avLst>
          </a:prstGeom>
          <a:solidFill>
            <a:srgbClr val="FFFFFF">
              <a:lumMod val="95000"/>
            </a:srgbClr>
          </a:solidFill>
          <a:ln w="19050">
            <a:noFill/>
            <a:rou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6" name="í$ḷiḋê"/>
          <p:cNvSpPr/>
          <p:nvPr/>
        </p:nvSpPr>
        <p:spPr bwMode="gray">
          <a:xfrm>
            <a:off x="2881207" y="2105928"/>
            <a:ext cx="596937" cy="1924655"/>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rgbClr val="FFFFFF">
              <a:lumMod val="95000"/>
            </a:srgbClr>
          </a:solidFill>
          <a:ln>
            <a:solidFill>
              <a:schemeClr val="bg1">
                <a:lumMod val="50000"/>
              </a:schemeClr>
            </a:solid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7" name="íṡľidé"/>
          <p:cNvSpPr/>
          <p:nvPr/>
        </p:nvSpPr>
        <p:spPr bwMode="gray">
          <a:xfrm>
            <a:off x="2063552" y="2160209"/>
            <a:ext cx="2232248" cy="1452114"/>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rgbClr val="FFFFFF">
              <a:lumMod val="75000"/>
            </a:srgbClr>
          </a:solidFill>
          <a:ln>
            <a:solidFill>
              <a:schemeClr val="bg1">
                <a:lumMod val="50000"/>
              </a:schemeClr>
            </a:solidFill>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8" name="îŝľíḍê"/>
          <p:cNvSpPr/>
          <p:nvPr/>
        </p:nvSpPr>
        <p:spPr bwMode="gray">
          <a:xfrm>
            <a:off x="2148302" y="2225676"/>
            <a:ext cx="2062748" cy="1321180"/>
          </a:xfrm>
          <a:prstGeom prst="rect">
            <a:avLst/>
          </a:prstGeom>
          <a:solidFill>
            <a:srgbClr val="FFFFFF"/>
          </a:solidFill>
          <a:ln w="9525">
            <a:solidFill>
              <a:srgbClr val="000000"/>
            </a:solidFill>
            <a:miter lim="800000"/>
            <a:headEnd/>
            <a:tailE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9" name="iṥ1iďe"/>
          <p:cNvSpPr txBox="1"/>
          <p:nvPr/>
        </p:nvSpPr>
        <p:spPr bwMode="gray">
          <a:xfrm>
            <a:off x="2466265" y="2722920"/>
            <a:ext cx="1426822" cy="326692"/>
          </a:xfrm>
          <a:prstGeom prst="rect">
            <a:avLst/>
          </a:prstGeom>
          <a:noFill/>
        </p:spPr>
        <p:txBody>
          <a:bodyPr wrap="square" lIns="91440" tIns="45720" rIns="91440" bIns="45720" anchor="ctr" anchorCtr="1">
            <a:normAutofit fontScale="62500" lnSpcReduction="20000"/>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影响</a:t>
            </a:r>
            <a:endParaRPr kumimoji="0" lang="en-US" altLang="zh-CN"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cxnSp>
        <p:nvCxnSpPr>
          <p:cNvPr id="51" name="肘形连接符 50"/>
          <p:cNvCxnSpPr/>
          <p:nvPr/>
        </p:nvCxnSpPr>
        <p:spPr bwMode="gray">
          <a:xfrm>
            <a:off x="3179676" y="4590204"/>
            <a:ext cx="1944216" cy="684076"/>
          </a:xfrm>
          <a:prstGeom prst="bentConnector3">
            <a:avLst>
              <a:gd name="adj1" fmla="val -344"/>
            </a:avLst>
          </a:prstGeom>
          <a:solidFill>
            <a:schemeClr val="accent1"/>
          </a:solidFill>
          <a:ln w="38100" cap="flat" cmpd="sng" algn="ctr">
            <a:solidFill>
              <a:schemeClr val="tx1"/>
            </a:solidFill>
            <a:prstDash val="solid"/>
            <a:round/>
            <a:headEnd type="oval" w="med" len="med"/>
            <a:tailEnd type="triangle" w="med" len="med"/>
          </a:ln>
          <a:effectLst/>
        </p:spPr>
      </p:cxnSp>
      <p:sp>
        <p:nvSpPr>
          <p:cNvPr id="54" name="iṥ1iďe"/>
          <p:cNvSpPr txBox="1"/>
          <p:nvPr/>
        </p:nvSpPr>
        <p:spPr bwMode="gray">
          <a:xfrm>
            <a:off x="3431704" y="4878236"/>
            <a:ext cx="1426822" cy="326692"/>
          </a:xfrm>
          <a:prstGeom prst="rect">
            <a:avLst/>
          </a:prstGeom>
          <a:noFill/>
        </p:spPr>
        <p:txBody>
          <a:bodyPr wrap="square" lIns="91440" tIns="45720" rIns="91440" bIns="45720" anchor="ctr" anchorCtr="1">
            <a:normAutofit fontScale="62500" lnSpcReduction="20000"/>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对策</a:t>
            </a:r>
            <a:endParaRPr kumimoji="0" lang="en-US" altLang="zh-CN"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60" name="组合 59"/>
          <p:cNvGrpSpPr/>
          <p:nvPr/>
        </p:nvGrpSpPr>
        <p:grpSpPr bwMode="gray">
          <a:xfrm>
            <a:off x="5231904" y="4626211"/>
            <a:ext cx="2268252" cy="972105"/>
            <a:chOff x="6564053" y="5563344"/>
            <a:chExt cx="2268252" cy="527045"/>
          </a:xfrm>
        </p:grpSpPr>
        <p:sp>
          <p:nvSpPr>
            <p:cNvPr id="61" name="矩形 60"/>
            <p:cNvSpPr/>
            <p:nvPr/>
          </p:nvSpPr>
          <p:spPr bwMode="gray">
            <a:xfrm>
              <a:off x="6564053" y="5563344"/>
              <a:ext cx="2268252" cy="527045"/>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4" name="文本框 63"/>
            <p:cNvSpPr txBox="1"/>
            <p:nvPr/>
          </p:nvSpPr>
          <p:spPr bwMode="gray">
            <a:xfrm>
              <a:off x="6924093" y="5607829"/>
              <a:ext cx="1440160" cy="4096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C7000B"/>
                  </a:solidFill>
                  <a:latin typeface="Huawei Sans" panose="020C0503030203020204" pitchFamily="34" charset="0"/>
                  <a:ea typeface="方正兰亭黑简体" panose="02000000000000000000" pitchFamily="2" charset="-122"/>
                </a:rPr>
                <a:t>拥塞避免</a:t>
              </a:r>
              <a:endParaRPr lang="en-US" altLang="zh-CN" sz="1600" dirty="0">
                <a:solidFill>
                  <a:srgbClr val="C7000B"/>
                </a:solidFill>
                <a:latin typeface="Huawei Sans" panose="020C0503030203020204" pitchFamily="34" charset="0"/>
                <a:ea typeface="方正兰亭黑简体" panose="02000000000000000000" pitchFamily="2" charset="-122"/>
              </a:endParaRPr>
            </a:p>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拥塞管理</a:t>
              </a:r>
            </a:p>
          </p:txBody>
        </p:sp>
      </p:grpSp>
    </p:spTree>
    <p:extLst>
      <p:ext uri="{BB962C8B-B14F-4D97-AF65-F5344CB8AC3E}">
        <p14:creationId xmlns:p14="http://schemas.microsoft.com/office/powerpoint/2010/main" val="59169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拥塞避免技术</a:t>
            </a:r>
          </a:p>
        </p:txBody>
      </p:sp>
      <p:sp>
        <p:nvSpPr>
          <p:cNvPr id="3" name="文本占位符 2"/>
          <p:cNvSpPr>
            <a:spLocks noGrp="1"/>
          </p:cNvSpPr>
          <p:nvPr>
            <p:ph type="body" sz="quarter" idx="10"/>
          </p:nvPr>
        </p:nvSpPr>
        <p:spPr bwMode="gray"/>
        <p:txBody>
          <a:bodyPr/>
          <a:lstStyle/>
          <a:p>
            <a:r>
              <a:rPr lang="zh-CN" altLang="en-US" dirty="0"/>
              <a:t>拥塞避免是指通过监视网络资源（如队列或内存缓冲区）的使用情况，在拥塞有加剧的趋势时，</a:t>
            </a:r>
            <a:r>
              <a:rPr lang="zh-CN" altLang="en-US" dirty="0">
                <a:solidFill>
                  <a:srgbClr val="C7000B"/>
                </a:solidFill>
              </a:rPr>
              <a:t>主动丢弃报文</a:t>
            </a:r>
            <a:r>
              <a:rPr lang="zh-CN" altLang="en-US" dirty="0"/>
              <a:t>，通过调整网络的流量来解除网络过载的一种流控机制。</a:t>
            </a:r>
          </a:p>
        </p:txBody>
      </p:sp>
      <p:sp>
        <p:nvSpPr>
          <p:cNvPr id="15" name="椭圆 14"/>
          <p:cNvSpPr/>
          <p:nvPr/>
        </p:nvSpPr>
        <p:spPr bwMode="gray">
          <a:xfrm>
            <a:off x="2652874" y="3625633"/>
            <a:ext cx="324036" cy="360040"/>
          </a:xfrm>
          <a:prstGeom prst="ellipse">
            <a:avLst/>
          </a:prstGeom>
          <a:solidFill>
            <a:schemeClr val="bg1">
              <a:lumMod val="50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6" name="圆角矩形 15"/>
          <p:cNvSpPr/>
          <p:nvPr/>
        </p:nvSpPr>
        <p:spPr bwMode="gray">
          <a:xfrm>
            <a:off x="3372954" y="2968580"/>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7" name="圆角矩形 16"/>
          <p:cNvSpPr/>
          <p:nvPr/>
        </p:nvSpPr>
        <p:spPr bwMode="gray">
          <a:xfrm>
            <a:off x="3372954" y="3338295"/>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8" name="圆角矩形 17"/>
          <p:cNvSpPr/>
          <p:nvPr/>
        </p:nvSpPr>
        <p:spPr bwMode="gray">
          <a:xfrm>
            <a:off x="3372954" y="3760668"/>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9" name="圆角矩形 18"/>
          <p:cNvSpPr/>
          <p:nvPr/>
        </p:nvSpPr>
        <p:spPr bwMode="gray">
          <a:xfrm>
            <a:off x="3372954" y="4454420"/>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20" name="文本框 19"/>
          <p:cNvSpPr txBox="1"/>
          <p:nvPr/>
        </p:nvSpPr>
        <p:spPr bwMode="gray">
          <a:xfrm>
            <a:off x="3483434" y="4022371"/>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solidFill>
                  <a:schemeClr val="bg2">
                    <a:lumMod val="50000"/>
                  </a:schemeClr>
                </a:solidFill>
                <a:latin typeface="Huawei Sans" panose="020C0503030203020204" pitchFamily="34" charset="0"/>
                <a:ea typeface="方正兰亭黑简体" panose="02000000000000000000" pitchFamily="2" charset="-122"/>
              </a:rPr>
              <a:t>……</a:t>
            </a:r>
            <a:endParaRPr lang="zh-CN" altLang="en-US" sz="1600" b="1" dirty="0">
              <a:solidFill>
                <a:schemeClr val="bg2">
                  <a:lumMod val="50000"/>
                </a:schemeClr>
              </a:solidFill>
              <a:latin typeface="Huawei Sans" panose="020C0503030203020204" pitchFamily="34" charset="0"/>
              <a:ea typeface="方正兰亭黑简体" panose="02000000000000000000" pitchFamily="2" charset="-122"/>
            </a:endParaRPr>
          </a:p>
        </p:txBody>
      </p:sp>
      <p:cxnSp>
        <p:nvCxnSpPr>
          <p:cNvPr id="21" name="直接箭头连接符 20"/>
          <p:cNvCxnSpPr>
            <a:stCxn id="15" idx="0"/>
            <a:endCxn id="16" idx="1"/>
          </p:cNvCxnSpPr>
          <p:nvPr/>
        </p:nvCxnSpPr>
        <p:spPr bwMode="gray">
          <a:xfrm flipV="1">
            <a:off x="2814892" y="3112580"/>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直接箭头连接符 21"/>
          <p:cNvCxnSpPr>
            <a:stCxn id="15" idx="7"/>
            <a:endCxn id="17" idx="1"/>
          </p:cNvCxnSpPr>
          <p:nvPr/>
        </p:nvCxnSpPr>
        <p:spPr bwMode="gray">
          <a:xfrm flipV="1">
            <a:off x="2929456" y="3482295"/>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直接箭头连接符 22"/>
          <p:cNvCxnSpPr>
            <a:stCxn id="15" idx="6"/>
            <a:endCxn id="18" idx="1"/>
          </p:cNvCxnSpPr>
          <p:nvPr/>
        </p:nvCxnSpPr>
        <p:spPr bwMode="gray">
          <a:xfrm>
            <a:off x="2976910" y="3805653"/>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直接箭头连接符 23"/>
          <p:cNvCxnSpPr>
            <a:stCxn id="15" idx="5"/>
          </p:cNvCxnSpPr>
          <p:nvPr/>
        </p:nvCxnSpPr>
        <p:spPr bwMode="gray">
          <a:xfrm>
            <a:off x="2929456" y="3932946"/>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直接箭头连接符 24"/>
          <p:cNvCxnSpPr>
            <a:stCxn id="15" idx="4"/>
            <a:endCxn id="19" idx="1"/>
          </p:cNvCxnSpPr>
          <p:nvPr/>
        </p:nvCxnSpPr>
        <p:spPr bwMode="gray">
          <a:xfrm>
            <a:off x="2814892" y="3985673"/>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右箭头标注 26"/>
          <p:cNvSpPr/>
          <p:nvPr/>
        </p:nvSpPr>
        <p:spPr bwMode="gray">
          <a:xfrm>
            <a:off x="1415480" y="3537012"/>
            <a:ext cx="1224136" cy="540060"/>
          </a:xfrm>
          <a:prstGeom prst="rightArrowCallout">
            <a:avLst>
              <a:gd name="adj1" fmla="val 23271"/>
              <a:gd name="adj2" fmla="val 40394"/>
              <a:gd name="adj3" fmla="val 46682"/>
              <a:gd name="adj4" fmla="val 73320"/>
            </a:avLst>
          </a:prstGeom>
          <a:solidFill>
            <a:srgbClr val="94DAE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latin typeface="Huawei Sans" panose="020C0503030203020204" pitchFamily="34" charset="0"/>
                <a:ea typeface="方正兰亭黑简体" panose="02000000000000000000" pitchFamily="2" charset="-122"/>
              </a:rPr>
              <a:t>拥塞避免</a:t>
            </a:r>
          </a:p>
        </p:txBody>
      </p:sp>
      <p:sp>
        <p:nvSpPr>
          <p:cNvPr id="28" name="文本框 27"/>
          <p:cNvSpPr txBox="1"/>
          <p:nvPr/>
        </p:nvSpPr>
        <p:spPr bwMode="gray">
          <a:xfrm rot="19047356">
            <a:off x="2559894" y="3135113"/>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入队列</a:t>
            </a:r>
          </a:p>
        </p:txBody>
      </p:sp>
      <p:sp>
        <p:nvSpPr>
          <p:cNvPr id="50" name="文本框 49"/>
          <p:cNvSpPr txBox="1"/>
          <p:nvPr/>
        </p:nvSpPr>
        <p:spPr bwMode="gray">
          <a:xfrm>
            <a:off x="2017192" y="2868325"/>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监控</a:t>
            </a:r>
          </a:p>
        </p:txBody>
      </p:sp>
      <p:sp>
        <p:nvSpPr>
          <p:cNvPr id="54" name="文本框 53"/>
          <p:cNvSpPr txBox="1"/>
          <p:nvPr/>
        </p:nvSpPr>
        <p:spPr bwMode="gray">
          <a:xfrm>
            <a:off x="3098280" y="2616297"/>
            <a:ext cx="125453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数据发送队列</a:t>
            </a:r>
          </a:p>
        </p:txBody>
      </p:sp>
      <p:grpSp>
        <p:nvGrpSpPr>
          <p:cNvPr id="47" name="组合 46"/>
          <p:cNvGrpSpPr/>
          <p:nvPr/>
        </p:nvGrpSpPr>
        <p:grpSpPr bwMode="gray">
          <a:xfrm>
            <a:off x="947428" y="5337212"/>
            <a:ext cx="4428492" cy="480250"/>
            <a:chOff x="6744073" y="5647854"/>
            <a:chExt cx="4428492" cy="196871"/>
          </a:xfrm>
        </p:grpSpPr>
        <p:sp>
          <p:nvSpPr>
            <p:cNvPr id="48" name="矩形 47"/>
            <p:cNvSpPr/>
            <p:nvPr/>
          </p:nvSpPr>
          <p:spPr bwMode="gray">
            <a:xfrm>
              <a:off x="6744073" y="5652567"/>
              <a:ext cx="4428492" cy="192158"/>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9" name="文本框 48"/>
            <p:cNvSpPr txBox="1"/>
            <p:nvPr/>
          </p:nvSpPr>
          <p:spPr bwMode="gray">
            <a:xfrm>
              <a:off x="6816081" y="5647854"/>
              <a:ext cx="4356484" cy="1625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如果拥塞加剧，主动丢弃未进入队列的报文</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51" name="任意多边形 50"/>
          <p:cNvSpPr/>
          <p:nvPr/>
        </p:nvSpPr>
        <p:spPr bwMode="gray">
          <a:xfrm>
            <a:off x="1755414" y="3026535"/>
            <a:ext cx="272119" cy="399245"/>
          </a:xfrm>
          <a:custGeom>
            <a:avLst/>
            <a:gdLst>
              <a:gd name="connsiteX0" fmla="*/ 1662 w 272119"/>
              <a:gd name="connsiteY0" fmla="*/ 399245 h 399245"/>
              <a:gd name="connsiteX1" fmla="*/ 40299 w 272119"/>
              <a:gd name="connsiteY1" fmla="*/ 103031 h 399245"/>
              <a:gd name="connsiteX2" fmla="*/ 272119 w 272119"/>
              <a:gd name="connsiteY2" fmla="*/ 0 h 399245"/>
            </a:gdLst>
            <a:ahLst/>
            <a:cxnLst>
              <a:cxn ang="0">
                <a:pos x="connsiteX0" y="connsiteY0"/>
              </a:cxn>
              <a:cxn ang="0">
                <a:pos x="connsiteX1" y="connsiteY1"/>
              </a:cxn>
              <a:cxn ang="0">
                <a:pos x="connsiteX2" y="connsiteY2"/>
              </a:cxn>
            </a:cxnLst>
            <a:rect l="l" t="t" r="r" b="b"/>
            <a:pathLst>
              <a:path w="272119" h="399245">
                <a:moveTo>
                  <a:pt x="1662" y="399245"/>
                </a:moveTo>
                <a:cubicBezTo>
                  <a:pt x="-1558" y="284408"/>
                  <a:pt x="-4777" y="169572"/>
                  <a:pt x="40299" y="103031"/>
                </a:cubicBezTo>
                <a:cubicBezTo>
                  <a:pt x="85375" y="36490"/>
                  <a:pt x="178747" y="18245"/>
                  <a:pt x="272119" y="0"/>
                </a:cubicBezTo>
              </a:path>
            </a:pathLst>
          </a:custGeom>
          <a:noFill/>
          <a:ln w="1905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2" name="任意多边形 51"/>
          <p:cNvSpPr/>
          <p:nvPr/>
        </p:nvSpPr>
        <p:spPr bwMode="gray">
          <a:xfrm>
            <a:off x="2529809" y="3026535"/>
            <a:ext cx="334850" cy="154547"/>
          </a:xfrm>
          <a:custGeom>
            <a:avLst/>
            <a:gdLst>
              <a:gd name="connsiteX0" fmla="*/ 0 w 334850"/>
              <a:gd name="connsiteY0" fmla="*/ 0 h 154547"/>
              <a:gd name="connsiteX1" fmla="*/ 244698 w 334850"/>
              <a:gd name="connsiteY1" fmla="*/ 25758 h 154547"/>
              <a:gd name="connsiteX2" fmla="*/ 334850 w 334850"/>
              <a:gd name="connsiteY2" fmla="*/ 154547 h 154547"/>
            </a:gdLst>
            <a:ahLst/>
            <a:cxnLst>
              <a:cxn ang="0">
                <a:pos x="connsiteX0" y="connsiteY0"/>
              </a:cxn>
              <a:cxn ang="0">
                <a:pos x="connsiteX1" y="connsiteY1"/>
              </a:cxn>
              <a:cxn ang="0">
                <a:pos x="connsiteX2" y="connsiteY2"/>
              </a:cxn>
            </a:cxnLst>
            <a:rect l="l" t="t" r="r" b="b"/>
            <a:pathLst>
              <a:path w="334850" h="154547">
                <a:moveTo>
                  <a:pt x="0" y="0"/>
                </a:moveTo>
                <a:cubicBezTo>
                  <a:pt x="94445" y="0"/>
                  <a:pt x="188890" y="0"/>
                  <a:pt x="244698" y="25758"/>
                </a:cubicBezTo>
                <a:cubicBezTo>
                  <a:pt x="300506" y="51516"/>
                  <a:pt x="317678" y="103031"/>
                  <a:pt x="334850" y="154547"/>
                </a:cubicBezTo>
              </a:path>
            </a:pathLst>
          </a:custGeom>
          <a:noFill/>
          <a:ln w="1905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3" name="下箭头 52"/>
          <p:cNvSpPr/>
          <p:nvPr/>
        </p:nvSpPr>
        <p:spPr bwMode="gray">
          <a:xfrm>
            <a:off x="2891644" y="4725144"/>
            <a:ext cx="252027" cy="468052"/>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55" name="组合 54"/>
          <p:cNvGrpSpPr/>
          <p:nvPr/>
        </p:nvGrpSpPr>
        <p:grpSpPr bwMode="gray">
          <a:xfrm>
            <a:off x="7032104" y="3284983"/>
            <a:ext cx="4356484" cy="1188133"/>
            <a:chOff x="6564053" y="5505259"/>
            <a:chExt cx="4356484" cy="487056"/>
          </a:xfrm>
        </p:grpSpPr>
        <p:sp>
          <p:nvSpPr>
            <p:cNvPr id="56" name="矩形 55"/>
            <p:cNvSpPr/>
            <p:nvPr/>
          </p:nvSpPr>
          <p:spPr bwMode="gray">
            <a:xfrm>
              <a:off x="6564053" y="5505259"/>
              <a:ext cx="4356484" cy="487056"/>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7" name="文本框 56"/>
            <p:cNvSpPr txBox="1"/>
            <p:nvPr/>
          </p:nvSpPr>
          <p:spPr bwMode="gray">
            <a:xfrm>
              <a:off x="6636061" y="5524314"/>
              <a:ext cx="4176464" cy="40959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spcBef>
                  <a:spcPts val="200"/>
                </a:spcBef>
                <a:spcAft>
                  <a:spcPts val="200"/>
                </a:spcAft>
                <a:buFont typeface="Arial" panose="020B0604020202020204" pitchFamily="34" charset="0"/>
                <a:buChar char="•"/>
              </a:pPr>
              <a:r>
                <a:rPr lang="zh-CN" altLang="en-US" sz="1400" dirty="0">
                  <a:solidFill>
                    <a:srgbClr val="000000"/>
                  </a:solidFill>
                  <a:highlight>
                    <a:srgbClr val="FFFF00"/>
                  </a:highlight>
                  <a:latin typeface="Huawei Sans" panose="020C0503030203020204" pitchFamily="34" charset="0"/>
                  <a:ea typeface="方正兰亭黑简体" panose="02000000000000000000" pitchFamily="2" charset="-122"/>
                </a:rPr>
                <a:t>尾丢弃</a:t>
              </a:r>
              <a:r>
                <a:rPr lang="en-US" altLang="zh-CN" sz="1400" dirty="0">
                  <a:solidFill>
                    <a:srgbClr val="000000"/>
                  </a:solidFill>
                  <a:highlight>
                    <a:srgbClr val="FFFF00"/>
                  </a:highlight>
                  <a:latin typeface="Huawei Sans" panose="020C0503030203020204" pitchFamily="34" charset="0"/>
                  <a:ea typeface="方正兰亭黑简体" panose="02000000000000000000" pitchFamily="2" charset="-122"/>
                </a:rPr>
                <a:t> - </a:t>
              </a:r>
              <a:r>
                <a:rPr lang="zh-CN" altLang="en-US" sz="1400" dirty="0">
                  <a:solidFill>
                    <a:srgbClr val="000000"/>
                  </a:solidFill>
                  <a:highlight>
                    <a:srgbClr val="FFFF00"/>
                  </a:highlight>
                  <a:latin typeface="Huawei Sans" panose="020C0503030203020204" pitchFamily="34" charset="0"/>
                  <a:ea typeface="方正兰亭黑简体" panose="02000000000000000000" pitchFamily="2" charset="-122"/>
                </a:rPr>
                <a:t>传统处理方式</a:t>
              </a:r>
              <a:endParaRPr lang="en-US" altLang="zh-CN" sz="1400" dirty="0">
                <a:solidFill>
                  <a:srgbClr val="000000"/>
                </a:solidFill>
                <a:highlight>
                  <a:srgbClr val="FFFF00"/>
                </a:highlight>
                <a:latin typeface="Huawei Sans" panose="020C0503030203020204" pitchFamily="34" charset="0"/>
                <a:ea typeface="方正兰亭黑简体" panose="02000000000000000000" pitchFamily="2" charset="-122"/>
              </a:endParaRPr>
            </a:p>
            <a:p>
              <a:pPr marL="285750" indent="-285750">
                <a:lnSpc>
                  <a:spcPct val="125000"/>
                </a:lnSpc>
                <a:spcBef>
                  <a:spcPts val="200"/>
                </a:spcBef>
                <a:spcAft>
                  <a:spcPts val="200"/>
                </a:spcAft>
                <a:buFont typeface="Arial" panose="020B0604020202020204" pitchFamily="34" charset="0"/>
                <a:buChar char="•"/>
              </a:pPr>
              <a:r>
                <a:rPr lang="en-US" altLang="zh-CN" sz="1400" dirty="0">
                  <a:solidFill>
                    <a:srgbClr val="000000"/>
                  </a:solidFill>
                  <a:latin typeface="Huawei Sans" panose="020C0503030203020204" pitchFamily="34" charset="0"/>
                  <a:ea typeface="方正兰亭黑简体" panose="02000000000000000000" pitchFamily="2" charset="-122"/>
                </a:rPr>
                <a:t>RED</a:t>
              </a:r>
              <a:r>
                <a:rPr lang="zh-CN" altLang="en-US" sz="1400" dirty="0">
                  <a:solidFill>
                    <a:srgbClr val="000000"/>
                  </a:solidFill>
                  <a:latin typeface="Huawei Sans" panose="020C0503030203020204" pitchFamily="34" charset="0"/>
                  <a:ea typeface="方正兰亭黑简体" panose="02000000000000000000" pitchFamily="2" charset="-122"/>
                </a:rPr>
                <a:t>（</a:t>
              </a:r>
              <a:r>
                <a:rPr lang="en-US" altLang="zh-CN" sz="1400" dirty="0">
                  <a:solidFill>
                    <a:srgbClr val="000000"/>
                  </a:solidFill>
                  <a:latin typeface="Huawei Sans" panose="020C0503030203020204" pitchFamily="34" charset="0"/>
                  <a:ea typeface="方正兰亭黑简体" panose="02000000000000000000" pitchFamily="2" charset="-122"/>
                </a:rPr>
                <a:t>Random Early Detection</a:t>
              </a:r>
              <a:r>
                <a:rPr lang="zh-CN" altLang="en-US" sz="1400" dirty="0">
                  <a:solidFill>
                    <a:srgbClr val="000000"/>
                  </a:solidFill>
                  <a:latin typeface="Huawei Sans" panose="020C0503030203020204" pitchFamily="34" charset="0"/>
                  <a:ea typeface="方正兰亭黑简体" panose="02000000000000000000" pitchFamily="2" charset="-122"/>
                </a:rPr>
                <a:t>）</a:t>
              </a:r>
              <a:endParaRPr lang="en-US" altLang="zh-CN" sz="1400" dirty="0">
                <a:solidFill>
                  <a:srgbClr val="000000"/>
                </a:solidFill>
                <a:latin typeface="Huawei Sans" panose="020C0503030203020204" pitchFamily="34" charset="0"/>
                <a:ea typeface="方正兰亭黑简体" panose="02000000000000000000" pitchFamily="2" charset="-122"/>
              </a:endParaRPr>
            </a:p>
            <a:p>
              <a:pPr marL="285750" indent="-285750">
                <a:lnSpc>
                  <a:spcPct val="125000"/>
                </a:lnSpc>
                <a:spcBef>
                  <a:spcPts val="200"/>
                </a:spcBef>
                <a:spcAft>
                  <a:spcPts val="200"/>
                </a:spcAft>
                <a:buFont typeface="Arial" panose="020B0604020202020204" pitchFamily="34" charset="0"/>
                <a:buChar char="•"/>
              </a:pPr>
              <a:r>
                <a:rPr lang="en-US" altLang="zh-CN" sz="1400" dirty="0">
                  <a:solidFill>
                    <a:srgbClr val="000000"/>
                  </a:solidFill>
                  <a:latin typeface="Huawei Sans" panose="020C0503030203020204" pitchFamily="34" charset="0"/>
                  <a:ea typeface="方正兰亭黑简体" panose="02000000000000000000" pitchFamily="2" charset="-122"/>
                </a:rPr>
                <a:t>WRED</a:t>
              </a:r>
              <a:r>
                <a:rPr lang="zh-CN" altLang="en-US" sz="1400" dirty="0">
                  <a:solidFill>
                    <a:srgbClr val="000000"/>
                  </a:solidFill>
                  <a:latin typeface="Huawei Sans" panose="020C0503030203020204" pitchFamily="34" charset="0"/>
                  <a:ea typeface="方正兰亭黑简体" panose="02000000000000000000" pitchFamily="2" charset="-122"/>
                </a:rPr>
                <a:t>（</a:t>
              </a:r>
              <a:r>
                <a:rPr lang="en-US" altLang="zh-CN" sz="1400" dirty="0">
                  <a:solidFill>
                    <a:srgbClr val="000000"/>
                  </a:solidFill>
                  <a:latin typeface="Huawei Sans" panose="020C0503030203020204" pitchFamily="34" charset="0"/>
                  <a:ea typeface="方正兰亭黑简体" panose="02000000000000000000" pitchFamily="2" charset="-122"/>
                </a:rPr>
                <a:t>Weighted Random Early Detection</a:t>
              </a:r>
              <a:r>
                <a:rPr lang="zh-CN" altLang="en-US" sz="1400" dirty="0">
                  <a:solidFill>
                    <a:srgbClr val="000000"/>
                  </a:solidFill>
                  <a:latin typeface="Huawei Sans" panose="020C0503030203020204" pitchFamily="34" charset="0"/>
                  <a:ea typeface="方正兰亭黑简体" panose="02000000000000000000" pitchFamily="2" charset="-122"/>
                </a:rPr>
                <a:t>）</a:t>
              </a:r>
            </a:p>
          </p:txBody>
        </p:sp>
      </p:grpSp>
      <p:sp>
        <p:nvSpPr>
          <p:cNvPr id="58" name="iṣ1iḍé"/>
          <p:cNvSpPr/>
          <p:nvPr/>
        </p:nvSpPr>
        <p:spPr bwMode="gray">
          <a:xfrm rot="16200000">
            <a:off x="6186010" y="3663027"/>
            <a:ext cx="1224136" cy="396044"/>
          </a:xfrm>
          <a:prstGeom prst="trapezoid">
            <a:avLst>
              <a:gd name="adj" fmla="val 67717"/>
            </a:avLst>
          </a:prstGeom>
          <a:solidFill>
            <a:srgbClr val="FFFFFF">
              <a:lumMod val="95000"/>
            </a:srgbClr>
          </a:solidFill>
          <a:ln w="19050">
            <a:noFill/>
            <a:rou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267908" y="3356992"/>
            <a:ext cx="1296144" cy="1186575"/>
            <a:chOff x="5267908" y="3356992"/>
            <a:chExt cx="1296144" cy="1186575"/>
          </a:xfrm>
        </p:grpSpPr>
        <p:grpSp>
          <p:nvGrpSpPr>
            <p:cNvPr id="64" name="组合 63"/>
            <p:cNvGrpSpPr/>
            <p:nvPr/>
          </p:nvGrpSpPr>
          <p:grpSpPr bwMode="gray">
            <a:xfrm>
              <a:off x="5267908" y="3356992"/>
              <a:ext cx="1296144" cy="1186575"/>
              <a:chOff x="5123892" y="3356992"/>
              <a:chExt cx="1548172" cy="1186575"/>
            </a:xfrm>
          </p:grpSpPr>
          <p:sp>
            <p:nvSpPr>
              <p:cNvPr id="60" name="í$ḷiḋê"/>
              <p:cNvSpPr/>
              <p:nvPr/>
            </p:nvSpPr>
            <p:spPr bwMode="gray">
              <a:xfrm>
                <a:off x="5690975" y="3356992"/>
                <a:ext cx="414005" cy="1186575"/>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rgbClr val="FFFFFF">
                  <a:lumMod val="95000"/>
                </a:srgbClr>
              </a:solidFill>
              <a:ln>
                <a:solidFill>
                  <a:schemeClr val="bg1">
                    <a:lumMod val="50000"/>
                  </a:schemeClr>
                </a:solid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61" name="íṡľidé"/>
              <p:cNvSpPr/>
              <p:nvPr/>
            </p:nvSpPr>
            <p:spPr bwMode="gray">
              <a:xfrm>
                <a:off x="5123892" y="3390457"/>
                <a:ext cx="1548172" cy="895247"/>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rgbClr val="FFFFFF">
                  <a:lumMod val="75000"/>
                </a:srgbClr>
              </a:solidFill>
              <a:ln>
                <a:solidFill>
                  <a:schemeClr val="bg1">
                    <a:lumMod val="50000"/>
                  </a:schemeClr>
                </a:solidFill>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62" name="îŝľíḍê"/>
              <p:cNvSpPr/>
              <p:nvPr/>
            </p:nvSpPr>
            <p:spPr bwMode="gray">
              <a:xfrm>
                <a:off x="5182670" y="3430818"/>
                <a:ext cx="1430616" cy="814525"/>
              </a:xfrm>
              <a:prstGeom prst="rect">
                <a:avLst/>
              </a:prstGeom>
              <a:solidFill>
                <a:srgbClr val="FFFFFF"/>
              </a:solidFill>
              <a:ln w="9525">
                <a:solidFill>
                  <a:srgbClr val="000000"/>
                </a:solidFill>
                <a:miter lim="800000"/>
                <a:headEnd/>
                <a:tailE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sp>
          <p:nvSpPr>
            <p:cNvPr id="63" name="iṥ1iďe"/>
            <p:cNvSpPr txBox="1"/>
            <p:nvPr/>
          </p:nvSpPr>
          <p:spPr bwMode="gray">
            <a:xfrm>
              <a:off x="5375920" y="3701372"/>
              <a:ext cx="1052847" cy="267688"/>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dirty="0">
                  <a:solidFill>
                    <a:srgbClr val="000000"/>
                  </a:solidFill>
                  <a:latin typeface="Huawei Sans" panose="020C0503030203020204" pitchFamily="34" charset="0"/>
                  <a:ea typeface="方正兰亭黑简体" panose="02000000000000000000" pitchFamily="2" charset="-122"/>
                </a:rPr>
                <a:t>丢弃策略</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23498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an 9">
            <a:extLst>
              <a:ext uri="{FF2B5EF4-FFF2-40B4-BE49-F238E27FC236}">
                <a16:creationId xmlns:a16="http://schemas.microsoft.com/office/drawing/2014/main" id="{11B61863-E5D5-4D83-8B2E-AD9E086143ED}"/>
              </a:ext>
            </a:extLst>
          </p:cNvPr>
          <p:cNvSpPr/>
          <p:nvPr/>
        </p:nvSpPr>
        <p:spPr bwMode="gray">
          <a:xfrm rot="5400000">
            <a:off x="7725639" y="1615958"/>
            <a:ext cx="341807" cy="2335731"/>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Can 9">
            <a:extLst>
              <a:ext uri="{FF2B5EF4-FFF2-40B4-BE49-F238E27FC236}">
                <a16:creationId xmlns:a16="http://schemas.microsoft.com/office/drawing/2014/main" id="{C48A4A85-906A-4318-BC74-970E11C03623}"/>
              </a:ext>
            </a:extLst>
          </p:cNvPr>
          <p:cNvSpPr/>
          <p:nvPr/>
        </p:nvSpPr>
        <p:spPr bwMode="gray">
          <a:xfrm rot="5400000">
            <a:off x="4073154" y="1624843"/>
            <a:ext cx="341807" cy="2335731"/>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策略</a:t>
            </a:r>
            <a:r>
              <a:rPr lang="en-US" altLang="zh-CN" dirty="0"/>
              <a:t>1</a:t>
            </a:r>
            <a:r>
              <a:rPr lang="zh-CN" altLang="en-US" dirty="0"/>
              <a:t>：尾丢弃 </a:t>
            </a:r>
            <a:r>
              <a:rPr lang="en-US" altLang="zh-CN" dirty="0"/>
              <a:t>(Tail Drop)</a:t>
            </a:r>
            <a:endParaRPr lang="zh-CN" altLang="en-US" dirty="0"/>
          </a:p>
        </p:txBody>
      </p:sp>
      <p:sp>
        <p:nvSpPr>
          <p:cNvPr id="3" name="文本占位符 2"/>
          <p:cNvSpPr>
            <a:spLocks noGrp="1"/>
          </p:cNvSpPr>
          <p:nvPr>
            <p:ph type="body" sz="quarter" idx="10"/>
          </p:nvPr>
        </p:nvSpPr>
        <p:spPr bwMode="gray"/>
        <p:txBody>
          <a:bodyPr/>
          <a:lstStyle/>
          <a:p>
            <a:r>
              <a:rPr lang="zh-CN" altLang="en-US" dirty="0"/>
              <a:t>当队列的长度达到最大值后，所有新入队列的报文（缓存在队列尾部）</a:t>
            </a:r>
            <a:r>
              <a:rPr lang="zh-CN" altLang="en-US" dirty="0">
                <a:solidFill>
                  <a:srgbClr val="C7000B"/>
                </a:solidFill>
              </a:rPr>
              <a:t>都将被丢弃</a:t>
            </a:r>
            <a:r>
              <a:rPr lang="zh-CN" altLang="en-US" dirty="0"/>
              <a:t>。</a:t>
            </a:r>
          </a:p>
        </p:txBody>
      </p:sp>
      <p:pic>
        <p:nvPicPr>
          <p:cNvPr id="67" name="图片 6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700878" y="2459556"/>
            <a:ext cx="790243" cy="648000"/>
          </a:xfrm>
          <a:prstGeom prst="rect">
            <a:avLst/>
          </a:prstGeom>
        </p:spPr>
      </p:pic>
      <p:grpSp>
        <p:nvGrpSpPr>
          <p:cNvPr id="75" name="组合 74"/>
          <p:cNvGrpSpPr/>
          <p:nvPr/>
        </p:nvGrpSpPr>
        <p:grpSpPr bwMode="gray">
          <a:xfrm>
            <a:off x="3219932" y="2711584"/>
            <a:ext cx="1980220" cy="144016"/>
            <a:chOff x="2819636" y="2600908"/>
            <a:chExt cx="1980220" cy="144016"/>
          </a:xfrm>
        </p:grpSpPr>
        <p:sp>
          <p:nvSpPr>
            <p:cNvPr id="69" name="矩形 68"/>
            <p:cNvSpPr/>
            <p:nvPr/>
          </p:nvSpPr>
          <p:spPr bwMode="gray">
            <a:xfrm>
              <a:off x="458383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0" name="矩形 69"/>
            <p:cNvSpPr/>
            <p:nvPr/>
          </p:nvSpPr>
          <p:spPr bwMode="gray">
            <a:xfrm>
              <a:off x="423099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1" name="矩形 70"/>
            <p:cNvSpPr/>
            <p:nvPr/>
          </p:nvSpPr>
          <p:spPr bwMode="gray">
            <a:xfrm>
              <a:off x="3878153"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2" name="矩形 71"/>
            <p:cNvSpPr/>
            <p:nvPr/>
          </p:nvSpPr>
          <p:spPr bwMode="gray">
            <a:xfrm>
              <a:off x="3525314"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3" name="矩形 72"/>
            <p:cNvSpPr/>
            <p:nvPr/>
          </p:nvSpPr>
          <p:spPr bwMode="gray">
            <a:xfrm>
              <a:off x="3172475"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4" name="矩形 73"/>
            <p:cNvSpPr/>
            <p:nvPr/>
          </p:nvSpPr>
          <p:spPr bwMode="gray">
            <a:xfrm>
              <a:off x="281963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grpSp>
        <p:nvGrpSpPr>
          <p:cNvPr id="76" name="组合 75"/>
          <p:cNvGrpSpPr/>
          <p:nvPr/>
        </p:nvGrpSpPr>
        <p:grpSpPr bwMode="gray">
          <a:xfrm>
            <a:off x="6820332" y="2711584"/>
            <a:ext cx="1980220" cy="144016"/>
            <a:chOff x="2819636" y="2600908"/>
            <a:chExt cx="1980220" cy="144016"/>
          </a:xfrm>
        </p:grpSpPr>
        <p:sp>
          <p:nvSpPr>
            <p:cNvPr id="78" name="矩形 77"/>
            <p:cNvSpPr/>
            <p:nvPr/>
          </p:nvSpPr>
          <p:spPr bwMode="gray">
            <a:xfrm>
              <a:off x="458383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9" name="矩形 78"/>
            <p:cNvSpPr/>
            <p:nvPr/>
          </p:nvSpPr>
          <p:spPr bwMode="gray">
            <a:xfrm>
              <a:off x="399576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1" name="矩形 80"/>
            <p:cNvSpPr/>
            <p:nvPr/>
          </p:nvSpPr>
          <p:spPr bwMode="gray">
            <a:xfrm>
              <a:off x="3407701"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3" name="矩形 82"/>
            <p:cNvSpPr/>
            <p:nvPr/>
          </p:nvSpPr>
          <p:spPr bwMode="gray">
            <a:xfrm>
              <a:off x="281963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sp>
        <p:nvSpPr>
          <p:cNvPr id="84" name="文本框 83"/>
          <p:cNvSpPr txBox="1"/>
          <p:nvPr/>
        </p:nvSpPr>
        <p:spPr bwMode="gray">
          <a:xfrm>
            <a:off x="3471960" y="3071624"/>
            <a:ext cx="136033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每秒</a:t>
            </a:r>
            <a:r>
              <a:rPr lang="en-US" altLang="zh-CN" b="0" dirty="0">
                <a:latin typeface="Huawei Sans" panose="020C0503030203020204" pitchFamily="34" charset="0"/>
                <a:ea typeface="方正兰亭黑简体" panose="02000000000000000000" pitchFamily="2" charset="-122"/>
              </a:rPr>
              <a:t>6</a:t>
            </a:r>
            <a:r>
              <a:rPr lang="zh-CN" altLang="en-US" b="0" dirty="0">
                <a:latin typeface="Huawei Sans" panose="020C0503030203020204" pitchFamily="34" charset="0"/>
                <a:ea typeface="方正兰亭黑简体" panose="02000000000000000000" pitchFamily="2" charset="-122"/>
              </a:rPr>
              <a:t>个数据包</a:t>
            </a:r>
            <a:endParaRPr lang="zh-CN" altLang="en-US" dirty="0">
              <a:latin typeface="Huawei Sans" panose="020C0503030203020204" pitchFamily="34" charset="0"/>
              <a:ea typeface="方正兰亭黑简体" panose="02000000000000000000" pitchFamily="2" charset="-122"/>
            </a:endParaRPr>
          </a:p>
        </p:txBody>
      </p:sp>
      <p:cxnSp>
        <p:nvCxnSpPr>
          <p:cNvPr id="86" name="直接箭头连接符 85"/>
          <p:cNvCxnSpPr/>
          <p:nvPr/>
        </p:nvCxnSpPr>
        <p:spPr bwMode="gray">
          <a:xfrm>
            <a:off x="3363948" y="3395660"/>
            <a:ext cx="1584176"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88" name="文本框 87"/>
          <p:cNvSpPr txBox="1"/>
          <p:nvPr/>
        </p:nvSpPr>
        <p:spPr bwMode="gray">
          <a:xfrm>
            <a:off x="7216376" y="3071624"/>
            <a:ext cx="136033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b="0" dirty="0">
                <a:latin typeface="Huawei Sans" panose="020C0503030203020204" pitchFamily="34" charset="0"/>
                <a:ea typeface="方正兰亭黑简体" panose="02000000000000000000" pitchFamily="2" charset="-122"/>
              </a:rPr>
              <a:t>每秒</a:t>
            </a:r>
            <a:r>
              <a:rPr lang="en-US" altLang="zh-CN" b="0" dirty="0">
                <a:latin typeface="Huawei Sans" panose="020C0503030203020204" pitchFamily="34" charset="0"/>
                <a:ea typeface="方正兰亭黑简体" panose="02000000000000000000" pitchFamily="2" charset="-122"/>
              </a:rPr>
              <a:t>4</a:t>
            </a:r>
            <a:r>
              <a:rPr lang="zh-CN" altLang="en-US" b="0" dirty="0">
                <a:latin typeface="Huawei Sans" panose="020C0503030203020204" pitchFamily="34" charset="0"/>
                <a:ea typeface="方正兰亭黑简体" panose="02000000000000000000" pitchFamily="2" charset="-122"/>
              </a:rPr>
              <a:t>个数据包</a:t>
            </a:r>
            <a:endParaRPr lang="zh-CN" altLang="en-US" dirty="0">
              <a:latin typeface="Huawei Sans" panose="020C0503030203020204" pitchFamily="34" charset="0"/>
              <a:ea typeface="方正兰亭黑简体" panose="02000000000000000000" pitchFamily="2" charset="-122"/>
            </a:endParaRPr>
          </a:p>
        </p:txBody>
      </p:sp>
      <p:cxnSp>
        <p:nvCxnSpPr>
          <p:cNvPr id="89" name="直接箭头连接符 88"/>
          <p:cNvCxnSpPr/>
          <p:nvPr/>
        </p:nvCxnSpPr>
        <p:spPr bwMode="gray">
          <a:xfrm>
            <a:off x="7108364" y="3395660"/>
            <a:ext cx="1584176"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90" name="下箭头 89"/>
          <p:cNvSpPr/>
          <p:nvPr/>
        </p:nvSpPr>
        <p:spPr bwMode="gray">
          <a:xfrm>
            <a:off x="5969986" y="3251644"/>
            <a:ext cx="252027" cy="468052"/>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91" name="表格 90"/>
          <p:cNvGraphicFramePr>
            <a:graphicFrameLocks noGrp="1"/>
          </p:cNvGraphicFramePr>
          <p:nvPr/>
        </p:nvGraphicFramePr>
        <p:xfrm>
          <a:off x="6604308" y="3935720"/>
          <a:ext cx="2124236" cy="370840"/>
        </p:xfrm>
        <a:graphic>
          <a:graphicData uri="http://schemas.openxmlformats.org/drawingml/2006/table">
            <a:tbl>
              <a:tblPr firstRow="1" bandRow="1">
                <a:tableStyleId>{5C22544A-7EE6-4342-B048-85BDC9FD1C3A}</a:tableStyleId>
              </a:tblPr>
              <a:tblGrid>
                <a:gridCol w="531059">
                  <a:extLst>
                    <a:ext uri="{9D8B030D-6E8A-4147-A177-3AD203B41FA5}">
                      <a16:colId xmlns:a16="http://schemas.microsoft.com/office/drawing/2014/main" val="20000"/>
                    </a:ext>
                  </a:extLst>
                </a:gridCol>
                <a:gridCol w="531059">
                  <a:extLst>
                    <a:ext uri="{9D8B030D-6E8A-4147-A177-3AD203B41FA5}">
                      <a16:colId xmlns:a16="http://schemas.microsoft.com/office/drawing/2014/main" val="20001"/>
                    </a:ext>
                  </a:extLst>
                </a:gridCol>
                <a:gridCol w="531059">
                  <a:extLst>
                    <a:ext uri="{9D8B030D-6E8A-4147-A177-3AD203B41FA5}">
                      <a16:colId xmlns:a16="http://schemas.microsoft.com/office/drawing/2014/main" val="20002"/>
                    </a:ext>
                  </a:extLst>
                </a:gridCol>
                <a:gridCol w="531059">
                  <a:extLst>
                    <a:ext uri="{9D8B030D-6E8A-4147-A177-3AD203B41FA5}">
                      <a16:colId xmlns:a16="http://schemas.microsoft.com/office/drawing/2014/main" val="20003"/>
                    </a:ext>
                  </a:extLst>
                </a:gridCol>
              </a:tblGrid>
              <a:tr h="370840">
                <a:tc>
                  <a:txBody>
                    <a:bodyPr/>
                    <a:lstStyle/>
                    <a:p>
                      <a:pPr algn="ctr"/>
                      <a:r>
                        <a:rPr lang="en-US" altLang="zh-CN" dirty="0">
                          <a:solidFill>
                            <a:schemeClr val="tx1"/>
                          </a:solidFill>
                        </a:rPr>
                        <a:t>4</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rPr>
                        <a:t>3</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rPr>
                        <a:t>2</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rPr>
                        <a:t>1</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92" name="表格 91"/>
          <p:cNvGraphicFramePr>
            <a:graphicFrameLocks noGrp="1"/>
          </p:cNvGraphicFramePr>
          <p:nvPr/>
        </p:nvGraphicFramePr>
        <p:xfrm>
          <a:off x="4534078" y="3935720"/>
          <a:ext cx="1062118" cy="370840"/>
        </p:xfrm>
        <a:graphic>
          <a:graphicData uri="http://schemas.openxmlformats.org/drawingml/2006/table">
            <a:tbl>
              <a:tblPr firstRow="1" bandRow="1">
                <a:tableStyleId>{5C22544A-7EE6-4342-B048-85BDC9FD1C3A}</a:tableStyleId>
              </a:tblPr>
              <a:tblGrid>
                <a:gridCol w="531059">
                  <a:extLst>
                    <a:ext uri="{9D8B030D-6E8A-4147-A177-3AD203B41FA5}">
                      <a16:colId xmlns:a16="http://schemas.microsoft.com/office/drawing/2014/main" val="20000"/>
                    </a:ext>
                  </a:extLst>
                </a:gridCol>
                <a:gridCol w="531059">
                  <a:extLst>
                    <a:ext uri="{9D8B030D-6E8A-4147-A177-3AD203B41FA5}">
                      <a16:colId xmlns:a16="http://schemas.microsoft.com/office/drawing/2014/main" val="20001"/>
                    </a:ext>
                  </a:extLst>
                </a:gridCol>
              </a:tblGrid>
              <a:tr h="370840">
                <a:tc>
                  <a:txBody>
                    <a:bodyPr/>
                    <a:lstStyle/>
                    <a:p>
                      <a:pPr algn="ctr"/>
                      <a:r>
                        <a:rPr lang="en-US" altLang="zh-CN" dirty="0">
                          <a:solidFill>
                            <a:schemeClr val="tx1"/>
                          </a:solidFill>
                        </a:rPr>
                        <a:t>6</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rPr>
                        <a:t>5</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93" name="右大括号 92"/>
          <p:cNvSpPr/>
          <p:nvPr/>
        </p:nvSpPr>
        <p:spPr bwMode="gray">
          <a:xfrm rot="5400000">
            <a:off x="7432400" y="3632197"/>
            <a:ext cx="468052" cy="2124236"/>
          </a:xfrm>
          <a:prstGeom prst="rightBrac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4" name="文本框 93"/>
          <p:cNvSpPr txBox="1"/>
          <p:nvPr/>
        </p:nvSpPr>
        <p:spPr bwMode="gray">
          <a:xfrm>
            <a:off x="6964348" y="4928341"/>
            <a:ext cx="143407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dirty="0">
                <a:latin typeface="Huawei Sans" panose="020C0503030203020204" pitchFamily="34" charset="0"/>
                <a:ea typeface="方正兰亭黑简体" panose="02000000000000000000" pitchFamily="2" charset="-122"/>
              </a:rPr>
              <a:t>队列已经被装满</a:t>
            </a:r>
          </a:p>
        </p:txBody>
      </p:sp>
      <p:sp>
        <p:nvSpPr>
          <p:cNvPr id="96" name="右大括号 95"/>
          <p:cNvSpPr/>
          <p:nvPr/>
        </p:nvSpPr>
        <p:spPr bwMode="gray">
          <a:xfrm rot="5400000">
            <a:off x="4822110" y="4154255"/>
            <a:ext cx="468052" cy="1080120"/>
          </a:xfrm>
          <a:prstGeom prst="rightBrac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7" name="文本框 96"/>
          <p:cNvSpPr txBox="1"/>
          <p:nvPr/>
        </p:nvSpPr>
        <p:spPr bwMode="gray">
          <a:xfrm>
            <a:off x="4156036" y="4928341"/>
            <a:ext cx="1800200" cy="519547"/>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dirty="0">
                <a:latin typeface="Huawei Sans" panose="020C0503030203020204" pitchFamily="34" charset="0"/>
                <a:ea typeface="方正兰亭黑简体" panose="02000000000000000000" pitchFamily="2" charset="-122"/>
              </a:rPr>
              <a:t>后续向该队列发送的报文都将</a:t>
            </a:r>
            <a:r>
              <a:rPr lang="zh-CN" altLang="en-US" dirty="0">
                <a:solidFill>
                  <a:srgbClr val="C7000B"/>
                </a:solidFill>
                <a:latin typeface="Huawei Sans" panose="020C0503030203020204" pitchFamily="34" charset="0"/>
                <a:ea typeface="方正兰亭黑简体" panose="02000000000000000000" pitchFamily="2" charset="-122"/>
              </a:rPr>
              <a:t>直接被丢弃</a:t>
            </a:r>
          </a:p>
        </p:txBody>
      </p:sp>
      <p:grpSp>
        <p:nvGrpSpPr>
          <p:cNvPr id="31" name="组合 7">
            <a:extLst>
              <a:ext uri="{FF2B5EF4-FFF2-40B4-BE49-F238E27FC236}">
                <a16:creationId xmlns:a16="http://schemas.microsoft.com/office/drawing/2014/main" id="{3F0E641F-206C-4B05-B5EE-57AAA9C45692}"/>
              </a:ext>
            </a:extLst>
          </p:cNvPr>
          <p:cNvGrpSpPr/>
          <p:nvPr/>
        </p:nvGrpSpPr>
        <p:grpSpPr bwMode="gray">
          <a:xfrm>
            <a:off x="4790120" y="4097575"/>
            <a:ext cx="532031" cy="532031"/>
            <a:chOff x="856677" y="2615810"/>
            <a:chExt cx="288000" cy="288000"/>
          </a:xfrm>
        </p:grpSpPr>
        <p:sp>
          <p:nvSpPr>
            <p:cNvPr id="32" name="椭圆 84">
              <a:extLst>
                <a:ext uri="{FF2B5EF4-FFF2-40B4-BE49-F238E27FC236}">
                  <a16:creationId xmlns:a16="http://schemas.microsoft.com/office/drawing/2014/main" id="{F051383C-C52C-404E-A346-47103D5AAF10}"/>
                </a:ext>
              </a:extLst>
            </p:cNvPr>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5">
              <a:extLst>
                <a:ext uri="{FF2B5EF4-FFF2-40B4-BE49-F238E27FC236}">
                  <a16:creationId xmlns:a16="http://schemas.microsoft.com/office/drawing/2014/main" id="{42D82A51-7F29-415D-BD3A-DC805175AFD8}"/>
                </a:ext>
              </a:extLst>
            </p:cNvPr>
            <p:cNvGrpSpPr/>
            <p:nvPr/>
          </p:nvGrpSpPr>
          <p:grpSpPr bwMode="gray">
            <a:xfrm>
              <a:off x="923444" y="2692169"/>
              <a:ext cx="144001" cy="144002"/>
              <a:chOff x="898853" y="2657982"/>
              <a:chExt cx="203649" cy="203652"/>
            </a:xfrm>
          </p:grpSpPr>
          <p:cxnSp>
            <p:nvCxnSpPr>
              <p:cNvPr id="34" name="直接连接符 85">
                <a:extLst>
                  <a:ext uri="{FF2B5EF4-FFF2-40B4-BE49-F238E27FC236}">
                    <a16:creationId xmlns:a16="http://schemas.microsoft.com/office/drawing/2014/main" id="{A005F638-779B-4378-8C50-9E8DEA8D6BA1}"/>
                  </a:ext>
                </a:extLst>
              </p:cNvPr>
              <p:cNvCxnSpPr>
                <a:stCxn id="32" idx="3"/>
                <a:endCxn id="32"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35" name="直接连接符 86">
                <a:extLst>
                  <a:ext uri="{FF2B5EF4-FFF2-40B4-BE49-F238E27FC236}">
                    <a16:creationId xmlns:a16="http://schemas.microsoft.com/office/drawing/2014/main" id="{F96FCF22-E07C-4126-AF69-398DA151C980}"/>
                  </a:ext>
                </a:extLst>
              </p:cNvPr>
              <p:cNvCxnSpPr>
                <a:stCxn id="32" idx="1"/>
                <a:endCxn id="32"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mc:AlternateContent xmlns:mc="http://schemas.openxmlformats.org/markup-compatibility/2006">
        <mc:Choice xmlns:p14="http://schemas.microsoft.com/office/powerpoint/2010/main" Requires="p14">
          <p:contentPart p14:bwMode="auto" r:id="rId4">
            <p14:nvContentPartPr>
              <p14:cNvPr id="4" name="墨迹 3">
                <a:extLst>
                  <a:ext uri="{FF2B5EF4-FFF2-40B4-BE49-F238E27FC236}">
                    <a16:creationId xmlns:a16="http://schemas.microsoft.com/office/drawing/2014/main" id="{E797FFF7-AF86-D544-7B3C-303529D4FCEE}"/>
                  </a:ext>
                </a:extLst>
              </p14:cNvPr>
              <p14:cNvContentPartPr/>
              <p14:nvPr/>
            </p14:nvContentPartPr>
            <p14:xfrm>
              <a:off x="2158680" y="2810787"/>
              <a:ext cx="360" cy="360"/>
            </p14:xfrm>
          </p:contentPart>
        </mc:Choice>
        <mc:Fallback>
          <p:pic>
            <p:nvPicPr>
              <p:cNvPr id="4" name="墨迹 3">
                <a:extLst>
                  <a:ext uri="{FF2B5EF4-FFF2-40B4-BE49-F238E27FC236}">
                    <a16:creationId xmlns:a16="http://schemas.microsoft.com/office/drawing/2014/main" id="{E797FFF7-AF86-D544-7B3C-303529D4FCEE}"/>
                  </a:ext>
                </a:extLst>
              </p:cNvPr>
              <p:cNvPicPr/>
              <p:nvPr/>
            </p:nvPicPr>
            <p:blipFill>
              <a:blip r:embed="rId5"/>
              <a:stretch>
                <a:fillRect/>
              </a:stretch>
            </p:blipFill>
            <p:spPr>
              <a:xfrm>
                <a:off x="2150040" y="2801787"/>
                <a:ext cx="18000" cy="18000"/>
              </a:xfrm>
              <a:prstGeom prst="rect">
                <a:avLst/>
              </a:prstGeom>
            </p:spPr>
          </p:pic>
        </mc:Fallback>
      </mc:AlternateContent>
    </p:spTree>
    <p:extLst>
      <p:ext uri="{BB962C8B-B14F-4D97-AF65-F5344CB8AC3E}">
        <p14:creationId xmlns:p14="http://schemas.microsoft.com/office/powerpoint/2010/main" val="22730504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缺点</a:t>
            </a:r>
            <a:r>
              <a:rPr lang="en-US" altLang="zh-CN" dirty="0"/>
              <a:t>1</a:t>
            </a:r>
            <a:r>
              <a:rPr lang="zh-CN" altLang="en-US" dirty="0"/>
              <a:t>：</a:t>
            </a:r>
            <a:r>
              <a:rPr lang="en-US" altLang="zh-CN" dirty="0"/>
              <a:t>TCP</a:t>
            </a:r>
            <a:r>
              <a:rPr lang="zh-CN" altLang="en-US" dirty="0"/>
              <a:t>全局同步现象</a:t>
            </a:r>
          </a:p>
        </p:txBody>
      </p:sp>
      <p:sp>
        <p:nvSpPr>
          <p:cNvPr id="3" name="文本占位符 2"/>
          <p:cNvSpPr>
            <a:spLocks noGrp="1"/>
          </p:cNvSpPr>
          <p:nvPr>
            <p:ph type="body" sz="quarter" idx="10"/>
          </p:nvPr>
        </p:nvSpPr>
        <p:spPr bwMode="gray"/>
        <p:txBody>
          <a:bodyPr/>
          <a:lstStyle/>
          <a:p>
            <a:r>
              <a:rPr lang="zh-CN" altLang="en-US" dirty="0"/>
              <a:t>当队列的长度达到最大值后，所有新入队列的报文（缓存在队列尾部）</a:t>
            </a:r>
            <a:r>
              <a:rPr lang="zh-CN" altLang="en-US" dirty="0">
                <a:solidFill>
                  <a:srgbClr val="C7000B"/>
                </a:solidFill>
              </a:rPr>
              <a:t>都将被丢弃</a:t>
            </a:r>
            <a:r>
              <a:rPr lang="zh-CN" altLang="en-US" dirty="0"/>
              <a:t>。</a:t>
            </a:r>
          </a:p>
        </p:txBody>
      </p:sp>
      <p:cxnSp>
        <p:nvCxnSpPr>
          <p:cNvPr id="4" name="肘形连接符 3"/>
          <p:cNvCxnSpPr/>
          <p:nvPr/>
        </p:nvCxnSpPr>
        <p:spPr bwMode="gray">
          <a:xfrm flipH="1">
            <a:off x="8724292" y="1708108"/>
            <a:ext cx="1944216" cy="684076"/>
          </a:xfrm>
          <a:prstGeom prst="bentConnector3">
            <a:avLst>
              <a:gd name="adj1" fmla="val -344"/>
            </a:avLst>
          </a:prstGeom>
          <a:solidFill>
            <a:schemeClr val="accent1"/>
          </a:solidFill>
          <a:ln w="28575" cap="flat" cmpd="sng" algn="ctr">
            <a:solidFill>
              <a:schemeClr val="tx1"/>
            </a:solidFill>
            <a:prstDash val="solid"/>
            <a:round/>
            <a:headEnd type="oval" w="med" len="med"/>
            <a:tailEnd type="triangle" w="med" len="med"/>
          </a:ln>
          <a:effectLst/>
        </p:spPr>
      </p:cxnSp>
      <p:sp>
        <p:nvSpPr>
          <p:cNvPr id="5" name="iṥ1iďe"/>
          <p:cNvSpPr txBox="1"/>
          <p:nvPr/>
        </p:nvSpPr>
        <p:spPr bwMode="gray">
          <a:xfrm>
            <a:off x="9012324" y="1996140"/>
            <a:ext cx="1426822" cy="326692"/>
          </a:xfrm>
          <a:prstGeom prst="rect">
            <a:avLst/>
          </a:prstGeom>
          <a:noFill/>
        </p:spPr>
        <p:txBody>
          <a:bodyPr wrap="square" lIns="91440" tIns="45720" rIns="91440" bIns="45720" anchor="ctr" anchorCtr="1">
            <a:normAutofit fontScale="62500" lnSpcReduction="20000"/>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问题</a:t>
            </a:r>
            <a:endParaRPr kumimoji="0" lang="en-US" altLang="zh-CN"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6" name="组合 5"/>
          <p:cNvGrpSpPr/>
          <p:nvPr/>
        </p:nvGrpSpPr>
        <p:grpSpPr bwMode="gray">
          <a:xfrm>
            <a:off x="6276020" y="2137299"/>
            <a:ext cx="2268252" cy="506912"/>
            <a:chOff x="6564053" y="5678916"/>
            <a:chExt cx="2268252" cy="274832"/>
          </a:xfrm>
        </p:grpSpPr>
        <p:sp>
          <p:nvSpPr>
            <p:cNvPr id="7" name="矩形 6"/>
            <p:cNvSpPr/>
            <p:nvPr/>
          </p:nvSpPr>
          <p:spPr bwMode="gray">
            <a:xfrm>
              <a:off x="6564053" y="5680465"/>
              <a:ext cx="2268252" cy="273283"/>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 name="文本框 7"/>
            <p:cNvSpPr txBox="1"/>
            <p:nvPr/>
          </p:nvSpPr>
          <p:spPr bwMode="gray">
            <a:xfrm>
              <a:off x="6582055" y="5678916"/>
              <a:ext cx="2232248" cy="23579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spcBef>
                  <a:spcPts val="200"/>
                </a:spcBef>
                <a:spcAft>
                  <a:spcPts val="200"/>
                </a:spcAft>
              </a:pPr>
              <a:r>
                <a:rPr lang="en-US" altLang="zh-CN" sz="1800" b="1" dirty="0">
                  <a:solidFill>
                    <a:srgbClr val="000000"/>
                  </a:solidFill>
                  <a:latin typeface="Huawei Sans" panose="020C0503030203020204" pitchFamily="34" charset="0"/>
                  <a:ea typeface="方正兰亭黑简体" panose="02000000000000000000" pitchFamily="2" charset="-122"/>
                </a:rPr>
                <a:t>TCP</a:t>
              </a:r>
              <a:r>
                <a:rPr lang="zh-CN" altLang="en-US" sz="1800" b="1" dirty="0">
                  <a:solidFill>
                    <a:srgbClr val="000000"/>
                  </a:solidFill>
                  <a:latin typeface="Huawei Sans" panose="020C0503030203020204" pitchFamily="34" charset="0"/>
                  <a:ea typeface="方正兰亭黑简体" panose="02000000000000000000" pitchFamily="2" charset="-122"/>
                </a:rPr>
                <a:t>全局同步现象</a:t>
              </a:r>
            </a:p>
          </p:txBody>
        </p:sp>
      </p:grpSp>
      <p:cxnSp>
        <p:nvCxnSpPr>
          <p:cNvPr id="10" name="肘形连接符 9"/>
          <p:cNvCxnSpPr/>
          <p:nvPr/>
        </p:nvCxnSpPr>
        <p:spPr bwMode="gray">
          <a:xfrm rot="10800000" flipV="1">
            <a:off x="3143674" y="2428188"/>
            <a:ext cx="2952327" cy="684076"/>
          </a:xfrm>
          <a:prstGeom prst="bentConnector3">
            <a:avLst>
              <a:gd name="adj1" fmla="val 99925"/>
            </a:avLst>
          </a:prstGeom>
          <a:solidFill>
            <a:schemeClr val="accent1"/>
          </a:solidFill>
          <a:ln w="28575" cap="flat" cmpd="sng" algn="ctr">
            <a:solidFill>
              <a:schemeClr val="tx1"/>
            </a:solidFill>
            <a:prstDash val="solid"/>
            <a:round/>
            <a:headEnd type="oval" w="med" len="med"/>
            <a:tailEnd type="triangle" w="med" len="med"/>
          </a:ln>
          <a:effectLst/>
        </p:spPr>
      </p:cxnSp>
      <p:sp>
        <p:nvSpPr>
          <p:cNvPr id="14" name="iṥ1iďe"/>
          <p:cNvSpPr txBox="1"/>
          <p:nvPr/>
        </p:nvSpPr>
        <p:spPr bwMode="gray">
          <a:xfrm>
            <a:off x="3395700" y="2464192"/>
            <a:ext cx="226825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6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TCP</a:t>
            </a:r>
            <a:r>
              <a:rPr kumimoji="0" lang="zh-CN" altLang="en-US" sz="16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连接始终无法建立</a:t>
            </a:r>
            <a:endParaRPr kumimoji="0" lang="en-US" altLang="zh-CN" sz="16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20" name="组合 19"/>
          <p:cNvGrpSpPr/>
          <p:nvPr/>
        </p:nvGrpSpPr>
        <p:grpSpPr bwMode="gray">
          <a:xfrm>
            <a:off x="6758911" y="3292285"/>
            <a:ext cx="4713952" cy="2808312"/>
            <a:chOff x="6564053" y="5209430"/>
            <a:chExt cx="5436604" cy="1117081"/>
          </a:xfrm>
        </p:grpSpPr>
        <p:sp>
          <p:nvSpPr>
            <p:cNvPr id="21" name="矩形 20"/>
            <p:cNvSpPr/>
            <p:nvPr/>
          </p:nvSpPr>
          <p:spPr bwMode="gray">
            <a:xfrm>
              <a:off x="6564053" y="5209430"/>
              <a:ext cx="5436604" cy="1117081"/>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22" name="组合 21"/>
            <p:cNvGrpSpPr/>
            <p:nvPr/>
          </p:nvGrpSpPr>
          <p:grpSpPr bwMode="gray">
            <a:xfrm>
              <a:off x="6629987" y="5223595"/>
              <a:ext cx="5370670" cy="1088594"/>
              <a:chOff x="6629987" y="5223595"/>
              <a:chExt cx="5370670" cy="1088594"/>
            </a:xfrm>
          </p:grpSpPr>
          <p:sp>
            <p:nvSpPr>
              <p:cNvPr id="23" name="文本框 22"/>
              <p:cNvSpPr txBox="1"/>
              <p:nvPr/>
            </p:nvSpPr>
            <p:spPr bwMode="gray">
              <a:xfrm>
                <a:off x="6660067" y="5223595"/>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步骤：</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24" name="文本框 23"/>
              <p:cNvSpPr txBox="1"/>
              <p:nvPr/>
            </p:nvSpPr>
            <p:spPr bwMode="gray">
              <a:xfrm>
                <a:off x="6629987" y="5358725"/>
                <a:ext cx="5370670" cy="95346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启动过程</a:t>
                </a: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流量过大，导致队列被装满，发生尾丢弃行为</a:t>
                </a: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服务器回复的</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确认包由于拥塞被丢掉，故发送方未收到</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确认，则认为网络发生了拥塞，于是同时将</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滑动窗口</a:t>
                </a:r>
                <a:r>
                  <a:rPr lang="en-US" altLang="zh-CN" sz="1400" dirty="0">
                    <a:solidFill>
                      <a:srgbClr val="000000"/>
                    </a:solidFill>
                    <a:latin typeface="Huawei Sans" panose="020C0503030203020204" pitchFamily="34" charset="0"/>
                    <a:ea typeface="方正兰亭黑简体" panose="02000000000000000000" pitchFamily="2" charset="-122"/>
                  </a:rPr>
                  <a:t>Size</a:t>
                </a:r>
                <a:r>
                  <a:rPr lang="zh-CN" altLang="en-US" sz="1400" dirty="0">
                    <a:solidFill>
                      <a:srgbClr val="000000"/>
                    </a:solidFill>
                    <a:latin typeface="Huawei Sans" panose="020C0503030203020204" pitchFamily="34" charset="0"/>
                    <a:ea typeface="方正兰亭黑简体" panose="02000000000000000000" pitchFamily="2" charset="-122"/>
                  </a:rPr>
                  <a:t>减小，则整体流量同时减小</a:t>
                </a: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此时网络拥塞消除，发送方又都能收到</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确认包，故认为网络不再拥塞，于是都进入</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慢启动过程，周而复始</a:t>
                </a:r>
              </a:p>
            </p:txBody>
          </p:sp>
        </p:grpSp>
      </p:grpSp>
      <p:grpSp>
        <p:nvGrpSpPr>
          <p:cNvPr id="32" name="组合 31"/>
          <p:cNvGrpSpPr/>
          <p:nvPr/>
        </p:nvGrpSpPr>
        <p:grpSpPr bwMode="gray">
          <a:xfrm>
            <a:off x="515380" y="3040256"/>
            <a:ext cx="6132004" cy="3168774"/>
            <a:chOff x="515380" y="3212976"/>
            <a:chExt cx="6132004" cy="3168774"/>
          </a:xfrm>
        </p:grpSpPr>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008063" y="3573016"/>
              <a:ext cx="5386388" cy="2614613"/>
            </a:xfrm>
            <a:prstGeom prst="rect">
              <a:avLst/>
            </a:prstGeom>
          </p:spPr>
        </p:pic>
        <p:sp>
          <p:nvSpPr>
            <p:cNvPr id="17" name="iṥ1iďe"/>
            <p:cNvSpPr txBox="1"/>
            <p:nvPr/>
          </p:nvSpPr>
          <p:spPr bwMode="gray">
            <a:xfrm>
              <a:off x="839416" y="3212976"/>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6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流量</a:t>
              </a:r>
              <a:endParaRPr kumimoji="0" lang="en-US" altLang="zh-CN" sz="16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8" name="iṥ1iďe"/>
            <p:cNvSpPr txBox="1"/>
            <p:nvPr/>
          </p:nvSpPr>
          <p:spPr bwMode="gray">
            <a:xfrm>
              <a:off x="5843972" y="6055058"/>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6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时间</a:t>
              </a:r>
              <a:endParaRPr kumimoji="0" lang="en-US" altLang="zh-CN" sz="16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9" name="iṥ1iďe"/>
            <p:cNvSpPr txBox="1"/>
            <p:nvPr/>
          </p:nvSpPr>
          <p:spPr bwMode="gray">
            <a:xfrm>
              <a:off x="515380" y="4257092"/>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最大值</a:t>
              </a:r>
              <a:endParaRPr kumimoji="0" lang="en-US" altLang="zh-CN"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sp>
        <p:nvSpPr>
          <p:cNvPr id="29" name="Rectangular Callout 28"/>
          <p:cNvSpPr/>
          <p:nvPr/>
        </p:nvSpPr>
        <p:spPr bwMode="gray">
          <a:xfrm>
            <a:off x="1642828" y="5759213"/>
            <a:ext cx="364203" cy="309667"/>
          </a:xfrm>
          <a:prstGeom prst="wedgeRectCallout">
            <a:avLst>
              <a:gd name="adj1" fmla="val -22631"/>
              <a:gd name="adj2" fmla="val -8627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1</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1" name="Rectangular Callout 30"/>
          <p:cNvSpPr/>
          <p:nvPr/>
        </p:nvSpPr>
        <p:spPr bwMode="gray">
          <a:xfrm>
            <a:off x="2327495" y="3569497"/>
            <a:ext cx="364203" cy="309667"/>
          </a:xfrm>
          <a:prstGeom prst="wedgeRectCallout">
            <a:avLst>
              <a:gd name="adj1" fmla="val 40858"/>
              <a:gd name="adj2" fmla="val 8342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2</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3" name="Rectangular Callout 32"/>
          <p:cNvSpPr/>
          <p:nvPr/>
        </p:nvSpPr>
        <p:spPr bwMode="gray">
          <a:xfrm>
            <a:off x="3159592" y="3696851"/>
            <a:ext cx="364203" cy="309667"/>
          </a:xfrm>
          <a:prstGeom prst="wedgeRectCallout">
            <a:avLst>
              <a:gd name="adj1" fmla="val -83234"/>
              <a:gd name="adj2" fmla="val 5966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3</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4" name="Rectangular Callout 33"/>
          <p:cNvSpPr/>
          <p:nvPr/>
        </p:nvSpPr>
        <p:spPr bwMode="gray">
          <a:xfrm>
            <a:off x="3213598" y="4696441"/>
            <a:ext cx="364203" cy="309667"/>
          </a:xfrm>
          <a:prstGeom prst="wedgeRectCallout">
            <a:avLst>
              <a:gd name="adj1" fmla="val -39946"/>
              <a:gd name="adj2" fmla="val -8967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4</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mc:AlternateContent xmlns:mc="http://schemas.openxmlformats.org/markup-compatibility/2006">
        <mc:Choice xmlns:p14="http://schemas.microsoft.com/office/powerpoint/2010/main" Requires="p14">
          <p:contentPart p14:bwMode="auto" r:id="rId4">
            <p14:nvContentPartPr>
              <p14:cNvPr id="12" name="墨迹 11">
                <a:extLst>
                  <a:ext uri="{FF2B5EF4-FFF2-40B4-BE49-F238E27FC236}">
                    <a16:creationId xmlns:a16="http://schemas.microsoft.com/office/drawing/2014/main" id="{A6F506EB-7EDC-FE48-C79D-FFA704359897}"/>
                  </a:ext>
                </a:extLst>
              </p14:cNvPr>
              <p14:cNvContentPartPr/>
              <p14:nvPr/>
            </p14:nvContentPartPr>
            <p14:xfrm>
              <a:off x="9880320" y="5740107"/>
              <a:ext cx="1378080" cy="9720"/>
            </p14:xfrm>
          </p:contentPart>
        </mc:Choice>
        <mc:Fallback>
          <p:pic>
            <p:nvPicPr>
              <p:cNvPr id="12" name="墨迹 11">
                <a:extLst>
                  <a:ext uri="{FF2B5EF4-FFF2-40B4-BE49-F238E27FC236}">
                    <a16:creationId xmlns:a16="http://schemas.microsoft.com/office/drawing/2014/main" id="{A6F506EB-7EDC-FE48-C79D-FFA704359897}"/>
                  </a:ext>
                </a:extLst>
              </p:cNvPr>
              <p:cNvPicPr/>
              <p:nvPr/>
            </p:nvPicPr>
            <p:blipFill>
              <a:blip r:embed="rId5"/>
              <a:stretch>
                <a:fillRect/>
              </a:stretch>
            </p:blipFill>
            <p:spPr>
              <a:xfrm>
                <a:off x="9871320" y="5731467"/>
                <a:ext cx="13957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墨迹 12">
                <a:extLst>
                  <a:ext uri="{FF2B5EF4-FFF2-40B4-BE49-F238E27FC236}">
                    <a16:creationId xmlns:a16="http://schemas.microsoft.com/office/drawing/2014/main" id="{7A992D04-6093-C7D0-1F1D-CC875ABA7969}"/>
                  </a:ext>
                </a:extLst>
              </p14:cNvPr>
              <p14:cNvContentPartPr/>
              <p14:nvPr/>
            </p14:nvContentPartPr>
            <p14:xfrm>
              <a:off x="9880320" y="5816067"/>
              <a:ext cx="1336320" cy="34920"/>
            </p14:xfrm>
          </p:contentPart>
        </mc:Choice>
        <mc:Fallback>
          <p:pic>
            <p:nvPicPr>
              <p:cNvPr id="13" name="墨迹 12">
                <a:extLst>
                  <a:ext uri="{FF2B5EF4-FFF2-40B4-BE49-F238E27FC236}">
                    <a16:creationId xmlns:a16="http://schemas.microsoft.com/office/drawing/2014/main" id="{7A992D04-6093-C7D0-1F1D-CC875ABA7969}"/>
                  </a:ext>
                </a:extLst>
              </p:cNvPr>
              <p:cNvPicPr/>
              <p:nvPr/>
            </p:nvPicPr>
            <p:blipFill>
              <a:blip r:embed="rId7"/>
              <a:stretch>
                <a:fillRect/>
              </a:stretch>
            </p:blipFill>
            <p:spPr>
              <a:xfrm>
                <a:off x="9871320" y="5807427"/>
                <a:ext cx="1353960" cy="52560"/>
              </a:xfrm>
              <a:prstGeom prst="rect">
                <a:avLst/>
              </a:prstGeom>
            </p:spPr>
          </p:pic>
        </mc:Fallback>
      </mc:AlternateContent>
    </p:spTree>
    <p:extLst>
      <p:ext uri="{BB962C8B-B14F-4D97-AF65-F5344CB8AC3E}">
        <p14:creationId xmlns:p14="http://schemas.microsoft.com/office/powerpoint/2010/main" val="39729038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Can 9">
            <a:extLst>
              <a:ext uri="{FF2B5EF4-FFF2-40B4-BE49-F238E27FC236}">
                <a16:creationId xmlns:a16="http://schemas.microsoft.com/office/drawing/2014/main" id="{CEC9D86C-7CDF-4734-A46C-E166DE58CB8F}"/>
              </a:ext>
            </a:extLst>
          </p:cNvPr>
          <p:cNvSpPr/>
          <p:nvPr/>
        </p:nvSpPr>
        <p:spPr bwMode="gray">
          <a:xfrm rot="5400000">
            <a:off x="5695999" y="2875580"/>
            <a:ext cx="341807" cy="2335731"/>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Can 9">
            <a:extLst>
              <a:ext uri="{FF2B5EF4-FFF2-40B4-BE49-F238E27FC236}">
                <a16:creationId xmlns:a16="http://schemas.microsoft.com/office/drawing/2014/main" id="{3F8CA389-1E87-4244-BDF6-DCBA62A45B25}"/>
              </a:ext>
            </a:extLst>
          </p:cNvPr>
          <p:cNvSpPr/>
          <p:nvPr/>
        </p:nvSpPr>
        <p:spPr bwMode="gray">
          <a:xfrm rot="5400000">
            <a:off x="2113857" y="2870811"/>
            <a:ext cx="341807" cy="2335731"/>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缺点</a:t>
            </a:r>
            <a:r>
              <a:rPr lang="en-US" altLang="zh-CN" dirty="0"/>
              <a:t>2</a:t>
            </a:r>
            <a:r>
              <a:rPr lang="zh-CN" altLang="en-US" dirty="0"/>
              <a:t>：无差别丢弃</a:t>
            </a:r>
          </a:p>
        </p:txBody>
      </p:sp>
      <p:sp>
        <p:nvSpPr>
          <p:cNvPr id="3" name="文本占位符 2"/>
          <p:cNvSpPr>
            <a:spLocks noGrp="1"/>
          </p:cNvSpPr>
          <p:nvPr>
            <p:ph type="body" sz="quarter" idx="10"/>
          </p:nvPr>
        </p:nvSpPr>
        <p:spPr bwMode="gray"/>
        <p:txBody>
          <a:bodyPr/>
          <a:lstStyle/>
          <a:p>
            <a:r>
              <a:rPr lang="zh-CN" altLang="en-US" dirty="0"/>
              <a:t>当队列的长度达到最大值后，所有新入队列的报文（缓存在队列尾部）</a:t>
            </a:r>
            <a:r>
              <a:rPr lang="zh-CN" altLang="en-US" dirty="0">
                <a:solidFill>
                  <a:srgbClr val="C00000"/>
                </a:solidFill>
              </a:rPr>
              <a:t>都将被丢弃</a:t>
            </a:r>
            <a:r>
              <a:rPr lang="zh-CN" altLang="en-US" dirty="0"/>
              <a:t>。</a:t>
            </a:r>
          </a:p>
        </p:txBody>
      </p:sp>
      <p:cxnSp>
        <p:nvCxnSpPr>
          <p:cNvPr id="4" name="肘形连接符 3"/>
          <p:cNvCxnSpPr/>
          <p:nvPr/>
        </p:nvCxnSpPr>
        <p:spPr bwMode="gray">
          <a:xfrm flipH="1">
            <a:off x="8679072" y="1983271"/>
            <a:ext cx="1944216" cy="684076"/>
          </a:xfrm>
          <a:prstGeom prst="bentConnector3">
            <a:avLst>
              <a:gd name="adj1" fmla="val -344"/>
            </a:avLst>
          </a:prstGeom>
          <a:solidFill>
            <a:schemeClr val="accent1"/>
          </a:solidFill>
          <a:ln w="28575" cap="flat" cmpd="sng" algn="ctr">
            <a:solidFill>
              <a:schemeClr val="tx1"/>
            </a:solidFill>
            <a:prstDash val="solid"/>
            <a:round/>
            <a:headEnd type="oval" w="med" len="med"/>
            <a:tailEnd type="triangle" w="med" len="med"/>
          </a:ln>
          <a:effectLst/>
        </p:spPr>
      </p:cxnSp>
      <p:sp>
        <p:nvSpPr>
          <p:cNvPr id="5" name="iṥ1iďe"/>
          <p:cNvSpPr txBox="1"/>
          <p:nvPr/>
        </p:nvSpPr>
        <p:spPr bwMode="gray">
          <a:xfrm>
            <a:off x="8967104" y="2271303"/>
            <a:ext cx="1426822" cy="326692"/>
          </a:xfrm>
          <a:prstGeom prst="rect">
            <a:avLst/>
          </a:prstGeom>
          <a:noFill/>
        </p:spPr>
        <p:txBody>
          <a:bodyPr wrap="square" lIns="91440" tIns="45720" rIns="91440" bIns="45720" anchor="ctr" anchorCtr="1">
            <a:normAutofit fontScale="62500" lnSpcReduction="20000"/>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问题</a:t>
            </a:r>
            <a:endParaRPr kumimoji="0" lang="en-US" altLang="zh-CN" sz="2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6" name="组合 5"/>
          <p:cNvGrpSpPr/>
          <p:nvPr/>
        </p:nvGrpSpPr>
        <p:grpSpPr bwMode="gray">
          <a:xfrm>
            <a:off x="6230800" y="2412462"/>
            <a:ext cx="2268252" cy="506912"/>
            <a:chOff x="6564053" y="5678916"/>
            <a:chExt cx="2268252" cy="274832"/>
          </a:xfrm>
        </p:grpSpPr>
        <p:sp>
          <p:nvSpPr>
            <p:cNvPr id="7" name="矩形 6"/>
            <p:cNvSpPr/>
            <p:nvPr/>
          </p:nvSpPr>
          <p:spPr bwMode="gray">
            <a:xfrm>
              <a:off x="6564053" y="5680465"/>
              <a:ext cx="2268252" cy="273283"/>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 name="文本框 7"/>
            <p:cNvSpPr txBox="1"/>
            <p:nvPr/>
          </p:nvSpPr>
          <p:spPr bwMode="gray">
            <a:xfrm>
              <a:off x="6582055" y="5678916"/>
              <a:ext cx="2232248" cy="235794"/>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spcBef>
                  <a:spcPts val="200"/>
                </a:spcBef>
                <a:spcAft>
                  <a:spcPts val="200"/>
                </a:spcAft>
              </a:pPr>
              <a:r>
                <a:rPr lang="zh-CN" altLang="en-US" sz="1800" b="1" dirty="0">
                  <a:solidFill>
                    <a:srgbClr val="000000"/>
                  </a:solidFill>
                  <a:latin typeface="Huawei Sans" panose="020C0503030203020204" pitchFamily="34" charset="0"/>
                  <a:ea typeface="方正兰亭黑简体" panose="02000000000000000000" pitchFamily="2" charset="-122"/>
                </a:rPr>
                <a:t>无差别丢弃</a:t>
              </a:r>
            </a:p>
          </p:txBody>
        </p:sp>
      </p:grpSp>
      <p:cxnSp>
        <p:nvCxnSpPr>
          <p:cNvPr id="10" name="肘形连接符 9"/>
          <p:cNvCxnSpPr/>
          <p:nvPr/>
        </p:nvCxnSpPr>
        <p:spPr bwMode="gray">
          <a:xfrm rot="10800000" flipV="1">
            <a:off x="4034556" y="2703351"/>
            <a:ext cx="2016226" cy="756084"/>
          </a:xfrm>
          <a:prstGeom prst="bentConnector3">
            <a:avLst>
              <a:gd name="adj1" fmla="val 100090"/>
            </a:avLst>
          </a:prstGeom>
          <a:solidFill>
            <a:schemeClr val="accent1"/>
          </a:solidFill>
          <a:ln w="28575" cap="flat" cmpd="sng" algn="ctr">
            <a:solidFill>
              <a:schemeClr val="tx1"/>
            </a:solidFill>
            <a:prstDash val="solid"/>
            <a:round/>
            <a:headEnd type="oval" w="med" len="med"/>
            <a:tailEnd type="triangle" w="med" len="med"/>
          </a:ln>
          <a:effectLst/>
        </p:spPr>
      </p:cxnSp>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07190" y="3723876"/>
            <a:ext cx="790243" cy="648000"/>
          </a:xfrm>
          <a:prstGeom prst="rect">
            <a:avLst/>
          </a:prstGeom>
        </p:spPr>
      </p:pic>
      <p:grpSp>
        <p:nvGrpSpPr>
          <p:cNvPr id="30" name="组合 29"/>
          <p:cNvGrpSpPr/>
          <p:nvPr/>
        </p:nvGrpSpPr>
        <p:grpSpPr bwMode="gray">
          <a:xfrm>
            <a:off x="1226244" y="3975904"/>
            <a:ext cx="1980220" cy="144016"/>
            <a:chOff x="2819636" y="2600908"/>
            <a:chExt cx="1980220" cy="144016"/>
          </a:xfrm>
        </p:grpSpPr>
        <p:sp>
          <p:nvSpPr>
            <p:cNvPr id="33" name="矩形 32"/>
            <p:cNvSpPr/>
            <p:nvPr/>
          </p:nvSpPr>
          <p:spPr bwMode="gray">
            <a:xfrm>
              <a:off x="458383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4" name="矩形 33"/>
            <p:cNvSpPr/>
            <p:nvPr/>
          </p:nvSpPr>
          <p:spPr bwMode="gray">
            <a:xfrm>
              <a:off x="423099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5" name="矩形 34"/>
            <p:cNvSpPr/>
            <p:nvPr/>
          </p:nvSpPr>
          <p:spPr bwMode="gray">
            <a:xfrm>
              <a:off x="3878153"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6" name="矩形 35"/>
            <p:cNvSpPr/>
            <p:nvPr/>
          </p:nvSpPr>
          <p:spPr bwMode="gray">
            <a:xfrm>
              <a:off x="3525314"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7" name="矩形 36"/>
            <p:cNvSpPr/>
            <p:nvPr/>
          </p:nvSpPr>
          <p:spPr bwMode="gray">
            <a:xfrm>
              <a:off x="3172475"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8" name="矩形 37"/>
            <p:cNvSpPr/>
            <p:nvPr/>
          </p:nvSpPr>
          <p:spPr bwMode="gray">
            <a:xfrm>
              <a:off x="281963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grpSp>
        <p:nvGrpSpPr>
          <p:cNvPr id="39" name="组合 38"/>
          <p:cNvGrpSpPr/>
          <p:nvPr/>
        </p:nvGrpSpPr>
        <p:grpSpPr bwMode="gray">
          <a:xfrm>
            <a:off x="4826644" y="3975904"/>
            <a:ext cx="1980220" cy="144016"/>
            <a:chOff x="2819636" y="2600908"/>
            <a:chExt cx="1980220" cy="144016"/>
          </a:xfrm>
        </p:grpSpPr>
        <p:sp>
          <p:nvSpPr>
            <p:cNvPr id="41" name="矩形 40"/>
            <p:cNvSpPr/>
            <p:nvPr/>
          </p:nvSpPr>
          <p:spPr bwMode="gray">
            <a:xfrm>
              <a:off x="4583832"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2" name="矩形 41"/>
            <p:cNvSpPr/>
            <p:nvPr/>
          </p:nvSpPr>
          <p:spPr bwMode="gray">
            <a:xfrm>
              <a:off x="399576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3" name="矩形 42"/>
            <p:cNvSpPr/>
            <p:nvPr/>
          </p:nvSpPr>
          <p:spPr bwMode="gray">
            <a:xfrm>
              <a:off x="3407701"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4" name="矩形 43"/>
            <p:cNvSpPr/>
            <p:nvPr/>
          </p:nvSpPr>
          <p:spPr bwMode="gray">
            <a:xfrm>
              <a:off x="2819636" y="2600908"/>
              <a:ext cx="216024" cy="144016"/>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graphicFrame>
        <p:nvGraphicFramePr>
          <p:cNvPr id="50" name="表格 49"/>
          <p:cNvGraphicFramePr>
            <a:graphicFrameLocks noGrp="1"/>
          </p:cNvGraphicFramePr>
          <p:nvPr/>
        </p:nvGraphicFramePr>
        <p:xfrm>
          <a:off x="4535282" y="4498912"/>
          <a:ext cx="2663243" cy="457200"/>
        </p:xfrm>
        <a:graphic>
          <a:graphicData uri="http://schemas.openxmlformats.org/drawingml/2006/table">
            <a:tbl>
              <a:tblPr firstRow="1" bandRow="1">
                <a:tableStyleId>{5C22544A-7EE6-4342-B048-85BDC9FD1C3A}</a:tableStyleId>
              </a:tblPr>
              <a:tblGrid>
                <a:gridCol w="666000">
                  <a:extLst>
                    <a:ext uri="{9D8B030D-6E8A-4147-A177-3AD203B41FA5}">
                      <a16:colId xmlns:a16="http://schemas.microsoft.com/office/drawing/2014/main" val="20000"/>
                    </a:ext>
                  </a:extLst>
                </a:gridCol>
                <a:gridCol w="666000">
                  <a:extLst>
                    <a:ext uri="{9D8B030D-6E8A-4147-A177-3AD203B41FA5}">
                      <a16:colId xmlns:a16="http://schemas.microsoft.com/office/drawing/2014/main" val="20001"/>
                    </a:ext>
                  </a:extLst>
                </a:gridCol>
                <a:gridCol w="665243">
                  <a:extLst>
                    <a:ext uri="{9D8B030D-6E8A-4147-A177-3AD203B41FA5}">
                      <a16:colId xmlns:a16="http://schemas.microsoft.com/office/drawing/2014/main" val="20002"/>
                    </a:ext>
                  </a:extLst>
                </a:gridCol>
                <a:gridCol w="666000">
                  <a:extLst>
                    <a:ext uri="{9D8B030D-6E8A-4147-A177-3AD203B41FA5}">
                      <a16:colId xmlns:a16="http://schemas.microsoft.com/office/drawing/2014/main" val="20003"/>
                    </a:ext>
                  </a:extLst>
                </a:gridCol>
              </a:tblGrid>
              <a:tr h="431630">
                <a:tc>
                  <a:txBody>
                    <a:bodyPr/>
                    <a:lstStyle/>
                    <a:p>
                      <a:pPr algn="ctr"/>
                      <a:r>
                        <a:rPr lang="zh-CN" altLang="en-US" sz="1200" b="0" dirty="0">
                          <a:solidFill>
                            <a:schemeClr val="tx1"/>
                          </a:solidFill>
                        </a:rPr>
                        <a:t>非关键</a:t>
                      </a:r>
                      <a:r>
                        <a:rPr lang="en-US" altLang="zh-CN" sz="1200" b="0" dirty="0">
                          <a:solidFill>
                            <a:schemeClr val="tx1"/>
                          </a:solidFill>
                        </a:rPr>
                        <a:t>4</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200" b="0" dirty="0">
                          <a:solidFill>
                            <a:schemeClr val="tx1"/>
                          </a:solidFill>
                        </a:rPr>
                        <a:t>非关键</a:t>
                      </a:r>
                      <a:r>
                        <a:rPr lang="en-US" altLang="zh-CN" sz="1200" b="0" dirty="0">
                          <a:solidFill>
                            <a:schemeClr val="tx1"/>
                          </a:solidFill>
                        </a:rPr>
                        <a:t>3</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200" b="0" dirty="0">
                          <a:solidFill>
                            <a:schemeClr val="tx1"/>
                          </a:solidFill>
                        </a:rPr>
                        <a:t>非关键</a:t>
                      </a:r>
                      <a:endParaRPr lang="en-US" altLang="zh-CN" sz="1200" b="0" dirty="0">
                        <a:solidFill>
                          <a:schemeClr val="tx1"/>
                        </a:solidFill>
                      </a:endParaRPr>
                    </a:p>
                    <a:p>
                      <a:pPr algn="ctr"/>
                      <a:r>
                        <a:rPr lang="en-US" altLang="zh-CN" sz="1200" b="0" dirty="0">
                          <a:solidFill>
                            <a:schemeClr val="tx1"/>
                          </a:solidFill>
                        </a:rPr>
                        <a:t>2</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200" b="0" dirty="0">
                          <a:solidFill>
                            <a:schemeClr val="tx1"/>
                          </a:solidFill>
                        </a:rPr>
                        <a:t>关键</a:t>
                      </a:r>
                      <a:endParaRPr lang="en-US" altLang="zh-CN" sz="1200" b="0" dirty="0">
                        <a:solidFill>
                          <a:schemeClr val="tx1"/>
                        </a:solidFill>
                      </a:endParaRPr>
                    </a:p>
                    <a:p>
                      <a:pPr algn="ctr"/>
                      <a:r>
                        <a:rPr lang="en-US" altLang="zh-CN" sz="1200" b="0" dirty="0">
                          <a:solidFill>
                            <a:schemeClr val="tx1"/>
                          </a:solidFill>
                        </a:rPr>
                        <a:t>1</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52" name="右大括号 51"/>
          <p:cNvSpPr/>
          <p:nvPr/>
        </p:nvSpPr>
        <p:spPr bwMode="gray">
          <a:xfrm rot="5400000">
            <a:off x="5635069" y="3892329"/>
            <a:ext cx="468052" cy="2667626"/>
          </a:xfrm>
          <a:prstGeom prst="rightBrac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3" name="文本框 52"/>
          <p:cNvSpPr txBox="1"/>
          <p:nvPr/>
        </p:nvSpPr>
        <p:spPr bwMode="gray">
          <a:xfrm>
            <a:off x="5156767" y="5460168"/>
            <a:ext cx="143407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dirty="0">
                <a:latin typeface="Huawei Sans" panose="020C0503030203020204" pitchFamily="34" charset="0"/>
                <a:ea typeface="方正兰亭黑简体" panose="02000000000000000000" pitchFamily="2" charset="-122"/>
              </a:rPr>
              <a:t>队列已经被装满</a:t>
            </a:r>
          </a:p>
        </p:txBody>
      </p:sp>
      <p:sp>
        <p:nvSpPr>
          <p:cNvPr id="55" name="右大括号 54"/>
          <p:cNvSpPr/>
          <p:nvPr/>
        </p:nvSpPr>
        <p:spPr bwMode="gray">
          <a:xfrm rot="5400000">
            <a:off x="2144346" y="4218030"/>
            <a:ext cx="468052" cy="2016224"/>
          </a:xfrm>
          <a:prstGeom prst="rightBrace">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6" name="文本框 55"/>
          <p:cNvSpPr txBox="1"/>
          <p:nvPr/>
        </p:nvSpPr>
        <p:spPr bwMode="gray">
          <a:xfrm>
            <a:off x="1075568" y="5460168"/>
            <a:ext cx="2847646" cy="519547"/>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latin typeface="Huawei Sans" panose="020C0503030203020204" pitchFamily="34" charset="0"/>
                <a:ea typeface="方正兰亭黑简体" panose="02000000000000000000" pitchFamily="2" charset="-122"/>
              </a:rPr>
              <a:t>后续向该队列发送的报文都将</a:t>
            </a:r>
            <a:endParaRPr lang="en-US" altLang="zh-CN" dirty="0">
              <a:latin typeface="Huawei Sans" panose="020C0503030203020204" pitchFamily="34" charset="0"/>
              <a:ea typeface="方正兰亭黑简体" panose="02000000000000000000" pitchFamily="2" charset="-122"/>
            </a:endParaRPr>
          </a:p>
          <a:p>
            <a:r>
              <a:rPr lang="zh-CN" altLang="en-US" dirty="0">
                <a:solidFill>
                  <a:srgbClr val="C00000"/>
                </a:solidFill>
                <a:latin typeface="Huawei Sans" panose="020C0503030203020204" pitchFamily="34" charset="0"/>
                <a:ea typeface="方正兰亭黑简体" panose="02000000000000000000" pitchFamily="2" charset="-122"/>
              </a:rPr>
              <a:t>直接被丢弃</a:t>
            </a:r>
          </a:p>
        </p:txBody>
      </p:sp>
      <p:grpSp>
        <p:nvGrpSpPr>
          <p:cNvPr id="9" name="组合 8"/>
          <p:cNvGrpSpPr/>
          <p:nvPr/>
        </p:nvGrpSpPr>
        <p:grpSpPr bwMode="gray">
          <a:xfrm>
            <a:off x="7418932" y="3875992"/>
            <a:ext cx="4008711" cy="1548175"/>
            <a:chOff x="7320135" y="3573013"/>
            <a:chExt cx="4008711" cy="1548175"/>
          </a:xfrm>
        </p:grpSpPr>
        <p:sp>
          <p:nvSpPr>
            <p:cNvPr id="21" name="矩形 20"/>
            <p:cNvSpPr/>
            <p:nvPr/>
          </p:nvSpPr>
          <p:spPr bwMode="gray">
            <a:xfrm>
              <a:off x="7320135" y="3573013"/>
              <a:ext cx="4008711" cy="1548175"/>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4" name="文本框 23"/>
            <p:cNvSpPr txBox="1"/>
            <p:nvPr/>
          </p:nvSpPr>
          <p:spPr bwMode="gray">
            <a:xfrm>
              <a:off x="7356139" y="3573016"/>
              <a:ext cx="3960441"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尾丢弃很可能导致大量非关键数据被转发，而大量关键数据被丢弃</a:t>
              </a:r>
            </a:p>
          </p:txBody>
        </p:sp>
        <p:sp>
          <p:nvSpPr>
            <p:cNvPr id="60" name="文本框 59"/>
            <p:cNvSpPr txBox="1"/>
            <p:nvPr/>
          </p:nvSpPr>
          <p:spPr bwMode="gray">
            <a:xfrm>
              <a:off x="7644173" y="4616740"/>
              <a:ext cx="3024336"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尾丢弃无法对流量进行区分</a:t>
              </a:r>
            </a:p>
          </p:txBody>
        </p:sp>
        <p:sp>
          <p:nvSpPr>
            <p:cNvPr id="59" name="文本框 58"/>
            <p:cNvSpPr txBox="1"/>
            <p:nvPr/>
          </p:nvSpPr>
          <p:spPr bwMode="gray">
            <a:xfrm>
              <a:off x="7356139" y="4257092"/>
              <a:ext cx="946026"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原因：</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grpSp>
      <p:graphicFrame>
        <p:nvGraphicFramePr>
          <p:cNvPr id="61" name="表格 60"/>
          <p:cNvGraphicFramePr>
            <a:graphicFrameLocks noGrp="1"/>
          </p:cNvGraphicFramePr>
          <p:nvPr/>
        </p:nvGraphicFramePr>
        <p:xfrm>
          <a:off x="1389241" y="4498912"/>
          <a:ext cx="1997243" cy="457200"/>
        </p:xfrm>
        <a:graphic>
          <a:graphicData uri="http://schemas.openxmlformats.org/drawingml/2006/table">
            <a:tbl>
              <a:tblPr firstRow="1" bandRow="1">
                <a:tableStyleId>{5C22544A-7EE6-4342-B048-85BDC9FD1C3A}</a:tableStyleId>
              </a:tblPr>
              <a:tblGrid>
                <a:gridCol w="666000">
                  <a:extLst>
                    <a:ext uri="{9D8B030D-6E8A-4147-A177-3AD203B41FA5}">
                      <a16:colId xmlns:a16="http://schemas.microsoft.com/office/drawing/2014/main" val="20000"/>
                    </a:ext>
                  </a:extLst>
                </a:gridCol>
                <a:gridCol w="665243">
                  <a:extLst>
                    <a:ext uri="{9D8B030D-6E8A-4147-A177-3AD203B41FA5}">
                      <a16:colId xmlns:a16="http://schemas.microsoft.com/office/drawing/2014/main" val="20001"/>
                    </a:ext>
                  </a:extLst>
                </a:gridCol>
                <a:gridCol w="666000">
                  <a:extLst>
                    <a:ext uri="{9D8B030D-6E8A-4147-A177-3AD203B41FA5}">
                      <a16:colId xmlns:a16="http://schemas.microsoft.com/office/drawing/2014/main" val="20002"/>
                    </a:ext>
                  </a:extLst>
                </a:gridCol>
              </a:tblGrid>
              <a:tr h="431630">
                <a:tc>
                  <a:txBody>
                    <a:bodyPr/>
                    <a:lstStyle/>
                    <a:p>
                      <a:pPr algn="ctr"/>
                      <a:r>
                        <a:rPr lang="zh-CN" altLang="en-US" sz="1200" b="0" dirty="0">
                          <a:solidFill>
                            <a:schemeClr val="tx1"/>
                          </a:solidFill>
                        </a:rPr>
                        <a:t>关键</a:t>
                      </a:r>
                      <a:endParaRPr lang="en-US" altLang="zh-CN" sz="1200" b="0" dirty="0">
                        <a:solidFill>
                          <a:schemeClr val="tx1"/>
                        </a:solidFill>
                      </a:endParaRPr>
                    </a:p>
                    <a:p>
                      <a:pPr algn="ctr"/>
                      <a:r>
                        <a:rPr lang="en-US" altLang="zh-CN" sz="1200" b="0" dirty="0">
                          <a:solidFill>
                            <a:schemeClr val="tx1"/>
                          </a:solidFill>
                        </a:rPr>
                        <a:t>7</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200" b="0" dirty="0">
                          <a:solidFill>
                            <a:schemeClr val="tx1"/>
                          </a:solidFill>
                        </a:rPr>
                        <a:t>关键</a:t>
                      </a:r>
                      <a:endParaRPr lang="en-US" altLang="zh-CN" sz="1200" b="0" dirty="0">
                        <a:solidFill>
                          <a:schemeClr val="tx1"/>
                        </a:solidFill>
                      </a:endParaRPr>
                    </a:p>
                    <a:p>
                      <a:pPr algn="ctr"/>
                      <a:r>
                        <a:rPr lang="en-US" altLang="zh-CN" sz="1200" b="0" dirty="0">
                          <a:solidFill>
                            <a:schemeClr val="tx1"/>
                          </a:solidFill>
                        </a:rPr>
                        <a:t>6</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200" b="0" dirty="0">
                          <a:solidFill>
                            <a:schemeClr val="tx1"/>
                          </a:solidFill>
                        </a:rPr>
                        <a:t>关键</a:t>
                      </a:r>
                      <a:endParaRPr lang="en-US" altLang="zh-CN" sz="1200" b="0" dirty="0">
                        <a:solidFill>
                          <a:schemeClr val="tx1"/>
                        </a:solidFill>
                      </a:endParaRPr>
                    </a:p>
                    <a:p>
                      <a:pPr algn="ctr"/>
                      <a:r>
                        <a:rPr lang="en-US" altLang="zh-CN" sz="1200" b="0" dirty="0">
                          <a:solidFill>
                            <a:schemeClr val="tx1"/>
                          </a:solidFill>
                        </a:rPr>
                        <a:t>5</a:t>
                      </a:r>
                      <a:endParaRPr lang="zh-CN" alt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pSp>
        <p:nvGrpSpPr>
          <p:cNvPr id="45" name="组合 7">
            <a:extLst>
              <a:ext uri="{FF2B5EF4-FFF2-40B4-BE49-F238E27FC236}">
                <a16:creationId xmlns:a16="http://schemas.microsoft.com/office/drawing/2014/main" id="{3D026F89-9789-4965-836E-D7C4070F8E60}"/>
              </a:ext>
            </a:extLst>
          </p:cNvPr>
          <p:cNvGrpSpPr/>
          <p:nvPr/>
        </p:nvGrpSpPr>
        <p:grpSpPr bwMode="gray">
          <a:xfrm>
            <a:off x="2458409" y="4669599"/>
            <a:ext cx="532031" cy="532031"/>
            <a:chOff x="856677" y="2615810"/>
            <a:chExt cx="288000" cy="288000"/>
          </a:xfrm>
        </p:grpSpPr>
        <p:sp>
          <p:nvSpPr>
            <p:cNvPr id="46" name="椭圆 84">
              <a:extLst>
                <a:ext uri="{FF2B5EF4-FFF2-40B4-BE49-F238E27FC236}">
                  <a16:creationId xmlns:a16="http://schemas.microsoft.com/office/drawing/2014/main" id="{FA6CD925-B46A-4009-B773-816F504A69B6}"/>
                </a:ext>
              </a:extLst>
            </p:cNvPr>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5">
              <a:extLst>
                <a:ext uri="{FF2B5EF4-FFF2-40B4-BE49-F238E27FC236}">
                  <a16:creationId xmlns:a16="http://schemas.microsoft.com/office/drawing/2014/main" id="{05AB6A07-3BE0-4005-8EA2-B6BFD8E3B623}"/>
                </a:ext>
              </a:extLst>
            </p:cNvPr>
            <p:cNvGrpSpPr/>
            <p:nvPr/>
          </p:nvGrpSpPr>
          <p:grpSpPr bwMode="gray">
            <a:xfrm>
              <a:off x="923444" y="2692169"/>
              <a:ext cx="144001" cy="144002"/>
              <a:chOff x="898853" y="2657982"/>
              <a:chExt cx="203649" cy="203652"/>
            </a:xfrm>
          </p:grpSpPr>
          <p:cxnSp>
            <p:nvCxnSpPr>
              <p:cNvPr id="48" name="直接连接符 85">
                <a:extLst>
                  <a:ext uri="{FF2B5EF4-FFF2-40B4-BE49-F238E27FC236}">
                    <a16:creationId xmlns:a16="http://schemas.microsoft.com/office/drawing/2014/main" id="{CAC5F255-23C9-42C1-91BC-1F322A02A2E0}"/>
                  </a:ext>
                </a:extLst>
              </p:cNvPr>
              <p:cNvCxnSpPr>
                <a:stCxn id="46" idx="3"/>
                <a:endCxn id="46"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9" name="直接连接符 86">
                <a:extLst>
                  <a:ext uri="{FF2B5EF4-FFF2-40B4-BE49-F238E27FC236}">
                    <a16:creationId xmlns:a16="http://schemas.microsoft.com/office/drawing/2014/main" id="{38A11811-9C7C-4569-8B72-1922DDFA0478}"/>
                  </a:ext>
                </a:extLst>
              </p:cNvPr>
              <p:cNvCxnSpPr>
                <a:stCxn id="46" idx="1"/>
                <a:endCxn id="46"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25" name="组合 24">
            <a:extLst>
              <a:ext uri="{FF2B5EF4-FFF2-40B4-BE49-F238E27FC236}">
                <a16:creationId xmlns:a16="http://schemas.microsoft.com/office/drawing/2014/main" id="{5A24055F-1167-5AC6-0C45-16B258F37A60}"/>
              </a:ext>
            </a:extLst>
          </p:cNvPr>
          <p:cNvGrpSpPr/>
          <p:nvPr/>
        </p:nvGrpSpPr>
        <p:grpSpPr>
          <a:xfrm>
            <a:off x="1551000" y="3606747"/>
            <a:ext cx="1645560" cy="493200"/>
            <a:chOff x="1551000" y="3606747"/>
            <a:chExt cx="1645560" cy="493200"/>
          </a:xfrm>
        </p:grpSpPr>
        <mc:AlternateContent xmlns:mc="http://schemas.openxmlformats.org/markup-compatibility/2006">
          <mc:Choice xmlns:p14="http://schemas.microsoft.com/office/powerpoint/2010/main" Requires="p14">
            <p:contentPart p14:bwMode="auto" r:id="rId4">
              <p14:nvContentPartPr>
                <p14:cNvPr id="13" name="墨迹 12">
                  <a:extLst>
                    <a:ext uri="{FF2B5EF4-FFF2-40B4-BE49-F238E27FC236}">
                      <a16:creationId xmlns:a16="http://schemas.microsoft.com/office/drawing/2014/main" id="{31CB3F70-2CB1-D257-A4A6-ECC41D73C6D4}"/>
                    </a:ext>
                  </a:extLst>
                </p14:cNvPr>
                <p14:cNvContentPartPr/>
                <p14:nvPr/>
              </p14:nvContentPartPr>
              <p14:xfrm>
                <a:off x="1624440" y="3648867"/>
                <a:ext cx="94680" cy="297720"/>
              </p14:xfrm>
            </p:contentPart>
          </mc:Choice>
          <mc:Fallback>
            <p:pic>
              <p:nvPicPr>
                <p:cNvPr id="13" name="墨迹 12">
                  <a:extLst>
                    <a:ext uri="{FF2B5EF4-FFF2-40B4-BE49-F238E27FC236}">
                      <a16:creationId xmlns:a16="http://schemas.microsoft.com/office/drawing/2014/main" id="{31CB3F70-2CB1-D257-A4A6-ECC41D73C6D4}"/>
                    </a:ext>
                  </a:extLst>
                </p:cNvPr>
                <p:cNvPicPr/>
                <p:nvPr/>
              </p:nvPicPr>
              <p:blipFill>
                <a:blip r:embed="rId5"/>
                <a:stretch>
                  <a:fillRect/>
                </a:stretch>
              </p:blipFill>
              <p:spPr>
                <a:xfrm>
                  <a:off x="1615800" y="3639867"/>
                  <a:ext cx="11232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墨迹 13">
                  <a:extLst>
                    <a:ext uri="{FF2B5EF4-FFF2-40B4-BE49-F238E27FC236}">
                      <a16:creationId xmlns:a16="http://schemas.microsoft.com/office/drawing/2014/main" id="{CE16326E-0FD8-447D-0AA3-ED01B7B92593}"/>
                    </a:ext>
                  </a:extLst>
                </p14:cNvPr>
                <p14:cNvContentPartPr/>
                <p14:nvPr/>
              </p14:nvContentPartPr>
              <p14:xfrm>
                <a:off x="1551000" y="3606747"/>
                <a:ext cx="347400" cy="350280"/>
              </p14:xfrm>
            </p:contentPart>
          </mc:Choice>
          <mc:Fallback>
            <p:pic>
              <p:nvPicPr>
                <p:cNvPr id="14" name="墨迹 13">
                  <a:extLst>
                    <a:ext uri="{FF2B5EF4-FFF2-40B4-BE49-F238E27FC236}">
                      <a16:creationId xmlns:a16="http://schemas.microsoft.com/office/drawing/2014/main" id="{CE16326E-0FD8-447D-0AA3-ED01B7B92593}"/>
                    </a:ext>
                  </a:extLst>
                </p:cNvPr>
                <p:cNvPicPr/>
                <p:nvPr/>
              </p:nvPicPr>
              <p:blipFill>
                <a:blip r:embed="rId7"/>
                <a:stretch>
                  <a:fillRect/>
                </a:stretch>
              </p:blipFill>
              <p:spPr>
                <a:xfrm>
                  <a:off x="1542360" y="3597747"/>
                  <a:ext cx="365040" cy="367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5" name="墨迹 14">
                  <a:extLst>
                    <a:ext uri="{FF2B5EF4-FFF2-40B4-BE49-F238E27FC236}">
                      <a16:creationId xmlns:a16="http://schemas.microsoft.com/office/drawing/2014/main" id="{07FABBAB-4DD1-478B-D031-7A9A3F5EAE6B}"/>
                    </a:ext>
                  </a:extLst>
                </p14:cNvPr>
                <p14:cNvContentPartPr/>
                <p14:nvPr/>
              </p14:nvContentPartPr>
              <p14:xfrm>
                <a:off x="1921800" y="3699627"/>
                <a:ext cx="319320" cy="31680"/>
              </p14:xfrm>
            </p:contentPart>
          </mc:Choice>
          <mc:Fallback>
            <p:pic>
              <p:nvPicPr>
                <p:cNvPr id="15" name="墨迹 14">
                  <a:extLst>
                    <a:ext uri="{FF2B5EF4-FFF2-40B4-BE49-F238E27FC236}">
                      <a16:creationId xmlns:a16="http://schemas.microsoft.com/office/drawing/2014/main" id="{07FABBAB-4DD1-478B-D031-7A9A3F5EAE6B}"/>
                    </a:ext>
                  </a:extLst>
                </p:cNvPr>
                <p:cNvPicPr/>
                <p:nvPr/>
              </p:nvPicPr>
              <p:blipFill>
                <a:blip r:embed="rId9"/>
                <a:stretch>
                  <a:fillRect/>
                </a:stretch>
              </p:blipFill>
              <p:spPr>
                <a:xfrm>
                  <a:off x="1912800" y="3690987"/>
                  <a:ext cx="33696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墨迹 15">
                  <a:extLst>
                    <a:ext uri="{FF2B5EF4-FFF2-40B4-BE49-F238E27FC236}">
                      <a16:creationId xmlns:a16="http://schemas.microsoft.com/office/drawing/2014/main" id="{FDE4FD14-8C06-513D-C7E9-4BF9A620DF61}"/>
                    </a:ext>
                  </a:extLst>
                </p14:cNvPr>
                <p14:cNvContentPartPr/>
                <p14:nvPr/>
              </p14:nvContentPartPr>
              <p14:xfrm>
                <a:off x="2067600" y="3784227"/>
                <a:ext cx="248760" cy="43920"/>
              </p14:xfrm>
            </p:contentPart>
          </mc:Choice>
          <mc:Fallback>
            <p:pic>
              <p:nvPicPr>
                <p:cNvPr id="16" name="墨迹 15">
                  <a:extLst>
                    <a:ext uri="{FF2B5EF4-FFF2-40B4-BE49-F238E27FC236}">
                      <a16:creationId xmlns:a16="http://schemas.microsoft.com/office/drawing/2014/main" id="{FDE4FD14-8C06-513D-C7E9-4BF9A620DF61}"/>
                    </a:ext>
                  </a:extLst>
                </p:cNvPr>
                <p:cNvPicPr/>
                <p:nvPr/>
              </p:nvPicPr>
              <p:blipFill>
                <a:blip r:embed="rId11"/>
                <a:stretch>
                  <a:fillRect/>
                </a:stretch>
              </p:blipFill>
              <p:spPr>
                <a:xfrm>
                  <a:off x="2058600" y="3775227"/>
                  <a:ext cx="26640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7" name="墨迹 16">
                  <a:extLst>
                    <a:ext uri="{FF2B5EF4-FFF2-40B4-BE49-F238E27FC236}">
                      <a16:creationId xmlns:a16="http://schemas.microsoft.com/office/drawing/2014/main" id="{F6FF84CC-87B3-92D8-195C-0038173EFF6C}"/>
                    </a:ext>
                  </a:extLst>
                </p14:cNvPr>
                <p14:cNvContentPartPr/>
                <p14:nvPr/>
              </p14:nvContentPartPr>
              <p14:xfrm>
                <a:off x="1922520" y="3708267"/>
                <a:ext cx="24120" cy="216720"/>
              </p14:xfrm>
            </p:contentPart>
          </mc:Choice>
          <mc:Fallback>
            <p:pic>
              <p:nvPicPr>
                <p:cNvPr id="17" name="墨迹 16">
                  <a:extLst>
                    <a:ext uri="{FF2B5EF4-FFF2-40B4-BE49-F238E27FC236}">
                      <a16:creationId xmlns:a16="http://schemas.microsoft.com/office/drawing/2014/main" id="{F6FF84CC-87B3-92D8-195C-0038173EFF6C}"/>
                    </a:ext>
                  </a:extLst>
                </p:cNvPr>
                <p:cNvPicPr/>
                <p:nvPr/>
              </p:nvPicPr>
              <p:blipFill>
                <a:blip r:embed="rId13"/>
                <a:stretch>
                  <a:fillRect/>
                </a:stretch>
              </p:blipFill>
              <p:spPr>
                <a:xfrm>
                  <a:off x="1913520" y="3699627"/>
                  <a:ext cx="4176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8" name="墨迹 17">
                  <a:extLst>
                    <a:ext uri="{FF2B5EF4-FFF2-40B4-BE49-F238E27FC236}">
                      <a16:creationId xmlns:a16="http://schemas.microsoft.com/office/drawing/2014/main" id="{F5E74104-60BA-D7EA-F544-D5F3EFEEABEF}"/>
                    </a:ext>
                  </a:extLst>
                </p14:cNvPr>
                <p14:cNvContentPartPr/>
                <p14:nvPr/>
              </p14:nvContentPartPr>
              <p14:xfrm>
                <a:off x="2352360" y="3708267"/>
                <a:ext cx="27000" cy="239760"/>
              </p14:xfrm>
            </p:contentPart>
          </mc:Choice>
          <mc:Fallback>
            <p:pic>
              <p:nvPicPr>
                <p:cNvPr id="18" name="墨迹 17">
                  <a:extLst>
                    <a:ext uri="{FF2B5EF4-FFF2-40B4-BE49-F238E27FC236}">
                      <a16:creationId xmlns:a16="http://schemas.microsoft.com/office/drawing/2014/main" id="{F5E74104-60BA-D7EA-F544-D5F3EFEEABEF}"/>
                    </a:ext>
                  </a:extLst>
                </p:cNvPr>
                <p:cNvPicPr/>
                <p:nvPr/>
              </p:nvPicPr>
              <p:blipFill>
                <a:blip r:embed="rId15"/>
                <a:stretch>
                  <a:fillRect/>
                </a:stretch>
              </p:blipFill>
              <p:spPr>
                <a:xfrm>
                  <a:off x="2343720" y="3699627"/>
                  <a:ext cx="446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9" name="墨迹 18">
                  <a:extLst>
                    <a:ext uri="{FF2B5EF4-FFF2-40B4-BE49-F238E27FC236}">
                      <a16:creationId xmlns:a16="http://schemas.microsoft.com/office/drawing/2014/main" id="{55985238-A565-E4D9-29AA-CB11303266C3}"/>
                    </a:ext>
                  </a:extLst>
                </p14:cNvPr>
                <p14:cNvContentPartPr/>
                <p14:nvPr/>
              </p14:nvContentPartPr>
              <p14:xfrm>
                <a:off x="2231760" y="3716547"/>
                <a:ext cx="380880" cy="264240"/>
              </p14:xfrm>
            </p:contentPart>
          </mc:Choice>
          <mc:Fallback>
            <p:pic>
              <p:nvPicPr>
                <p:cNvPr id="19" name="墨迹 18">
                  <a:extLst>
                    <a:ext uri="{FF2B5EF4-FFF2-40B4-BE49-F238E27FC236}">
                      <a16:creationId xmlns:a16="http://schemas.microsoft.com/office/drawing/2014/main" id="{55985238-A565-E4D9-29AA-CB11303266C3}"/>
                    </a:ext>
                  </a:extLst>
                </p:cNvPr>
                <p:cNvPicPr/>
                <p:nvPr/>
              </p:nvPicPr>
              <p:blipFill>
                <a:blip r:embed="rId17"/>
                <a:stretch>
                  <a:fillRect/>
                </a:stretch>
              </p:blipFill>
              <p:spPr>
                <a:xfrm>
                  <a:off x="2223120" y="3707547"/>
                  <a:ext cx="39852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墨迹 21">
                  <a:extLst>
                    <a:ext uri="{FF2B5EF4-FFF2-40B4-BE49-F238E27FC236}">
                      <a16:creationId xmlns:a16="http://schemas.microsoft.com/office/drawing/2014/main" id="{B9C99F23-E65D-0C54-BC5E-DDFA4C0A10D8}"/>
                    </a:ext>
                  </a:extLst>
                </p14:cNvPr>
                <p14:cNvContentPartPr/>
                <p14:nvPr/>
              </p14:nvContentPartPr>
              <p14:xfrm>
                <a:off x="3022320" y="3640587"/>
                <a:ext cx="174240" cy="396000"/>
              </p14:xfrm>
            </p:contentPart>
          </mc:Choice>
          <mc:Fallback>
            <p:pic>
              <p:nvPicPr>
                <p:cNvPr id="22" name="墨迹 21">
                  <a:extLst>
                    <a:ext uri="{FF2B5EF4-FFF2-40B4-BE49-F238E27FC236}">
                      <a16:creationId xmlns:a16="http://schemas.microsoft.com/office/drawing/2014/main" id="{B9C99F23-E65D-0C54-BC5E-DDFA4C0A10D8}"/>
                    </a:ext>
                  </a:extLst>
                </p:cNvPr>
                <p:cNvPicPr/>
                <p:nvPr/>
              </p:nvPicPr>
              <p:blipFill>
                <a:blip r:embed="rId19"/>
                <a:stretch>
                  <a:fillRect/>
                </a:stretch>
              </p:blipFill>
              <p:spPr>
                <a:xfrm>
                  <a:off x="3013320" y="3631947"/>
                  <a:ext cx="191880" cy="413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墨迹 22">
                  <a:extLst>
                    <a:ext uri="{FF2B5EF4-FFF2-40B4-BE49-F238E27FC236}">
                      <a16:creationId xmlns:a16="http://schemas.microsoft.com/office/drawing/2014/main" id="{6654826E-A46B-D60E-3F64-B52F2C0BF617}"/>
                    </a:ext>
                  </a:extLst>
                </p14:cNvPr>
                <p14:cNvContentPartPr/>
                <p14:nvPr/>
              </p14:nvContentPartPr>
              <p14:xfrm>
                <a:off x="2702280" y="3759387"/>
                <a:ext cx="489960" cy="340560"/>
              </p14:xfrm>
            </p:contentPart>
          </mc:Choice>
          <mc:Fallback>
            <p:pic>
              <p:nvPicPr>
                <p:cNvPr id="23" name="墨迹 22">
                  <a:extLst>
                    <a:ext uri="{FF2B5EF4-FFF2-40B4-BE49-F238E27FC236}">
                      <a16:creationId xmlns:a16="http://schemas.microsoft.com/office/drawing/2014/main" id="{6654826E-A46B-D60E-3F64-B52F2C0BF617}"/>
                    </a:ext>
                  </a:extLst>
                </p:cNvPr>
                <p:cNvPicPr/>
                <p:nvPr/>
              </p:nvPicPr>
              <p:blipFill>
                <a:blip r:embed="rId21"/>
                <a:stretch>
                  <a:fillRect/>
                </a:stretch>
              </p:blipFill>
              <p:spPr>
                <a:xfrm>
                  <a:off x="2693280" y="3750387"/>
                  <a:ext cx="507600" cy="358200"/>
                </a:xfrm>
                <a:prstGeom prst="rect">
                  <a:avLst/>
                </a:prstGeom>
              </p:spPr>
            </p:pic>
          </mc:Fallback>
        </mc:AlternateContent>
      </p:grpSp>
    </p:spTree>
    <p:extLst>
      <p:ext uri="{BB962C8B-B14F-4D97-AF65-F5344CB8AC3E}">
        <p14:creationId xmlns:p14="http://schemas.microsoft.com/office/powerpoint/2010/main" val="24704974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策略</a:t>
            </a:r>
            <a:r>
              <a:rPr lang="en-US" altLang="zh-CN" dirty="0"/>
              <a:t>2</a:t>
            </a:r>
            <a:r>
              <a:rPr lang="zh-CN" altLang="en-US" dirty="0"/>
              <a:t>：早期随机检测 </a:t>
            </a:r>
            <a:r>
              <a:rPr lang="en-US" altLang="zh-CN" dirty="0"/>
              <a:t>(RED)</a:t>
            </a:r>
            <a:endParaRPr lang="zh-CN" altLang="en-US" dirty="0"/>
          </a:p>
        </p:txBody>
      </p:sp>
      <p:sp>
        <p:nvSpPr>
          <p:cNvPr id="3" name="文本占位符 2"/>
          <p:cNvSpPr>
            <a:spLocks noGrp="1"/>
          </p:cNvSpPr>
          <p:nvPr>
            <p:ph type="body" sz="quarter" idx="10"/>
          </p:nvPr>
        </p:nvSpPr>
        <p:spPr bwMode="gray"/>
        <p:txBody>
          <a:bodyPr/>
          <a:lstStyle/>
          <a:p>
            <a:r>
              <a:rPr lang="en-US" altLang="zh-CN" dirty="0"/>
              <a:t>RED</a:t>
            </a:r>
            <a:r>
              <a:rPr lang="zh-CN" altLang="en-US" dirty="0"/>
              <a:t>（</a:t>
            </a:r>
            <a:r>
              <a:rPr lang="en-US" altLang="zh-CN" dirty="0"/>
              <a:t>Random Early Detection</a:t>
            </a:r>
            <a:r>
              <a:rPr lang="zh-CN" altLang="en-US" dirty="0"/>
              <a:t>）</a:t>
            </a:r>
            <a:r>
              <a:rPr lang="zh-CN" altLang="en-US" dirty="0">
                <a:solidFill>
                  <a:srgbClr val="C00000"/>
                </a:solidFill>
              </a:rPr>
              <a:t>随机地丢弃</a:t>
            </a:r>
            <a:r>
              <a:rPr lang="zh-CN" altLang="en-US" dirty="0"/>
              <a:t>数据报文。</a:t>
            </a:r>
          </a:p>
        </p:txBody>
      </p:sp>
      <p:grpSp>
        <p:nvGrpSpPr>
          <p:cNvPr id="41" name="组合 40"/>
          <p:cNvGrpSpPr/>
          <p:nvPr/>
        </p:nvGrpSpPr>
        <p:grpSpPr bwMode="gray">
          <a:xfrm>
            <a:off x="6947829" y="2885192"/>
            <a:ext cx="4548771" cy="2088232"/>
            <a:chOff x="6564053" y="5209430"/>
            <a:chExt cx="5436604" cy="830649"/>
          </a:xfrm>
        </p:grpSpPr>
        <p:sp>
          <p:nvSpPr>
            <p:cNvPr id="42" name="矩形 41"/>
            <p:cNvSpPr/>
            <p:nvPr/>
          </p:nvSpPr>
          <p:spPr bwMode="gray">
            <a:xfrm>
              <a:off x="6564053" y="5209430"/>
              <a:ext cx="5436604" cy="830649"/>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43" name="组合 42"/>
            <p:cNvGrpSpPr/>
            <p:nvPr/>
          </p:nvGrpSpPr>
          <p:grpSpPr bwMode="gray">
            <a:xfrm>
              <a:off x="6629987" y="5223595"/>
              <a:ext cx="5370670" cy="769382"/>
              <a:chOff x="6629987" y="5223595"/>
              <a:chExt cx="5370670" cy="769382"/>
            </a:xfrm>
          </p:grpSpPr>
          <p:sp>
            <p:nvSpPr>
              <p:cNvPr id="44" name="文本框 43"/>
              <p:cNvSpPr txBox="1"/>
              <p:nvPr/>
            </p:nvSpPr>
            <p:spPr bwMode="gray">
              <a:xfrm>
                <a:off x="6660067" y="5223595"/>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过程：</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45" name="文本框 44"/>
              <p:cNvSpPr txBox="1"/>
              <p:nvPr/>
            </p:nvSpPr>
            <p:spPr bwMode="gray">
              <a:xfrm>
                <a:off x="6629987" y="5381287"/>
                <a:ext cx="5370670" cy="61169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当队列小于低门限时，</a:t>
                </a:r>
                <a:r>
                  <a:rPr lang="zh-CN" altLang="en-US" sz="1400" dirty="0">
                    <a:solidFill>
                      <a:srgbClr val="C00000"/>
                    </a:solidFill>
                    <a:latin typeface="Huawei Sans" panose="020C0503030203020204" pitchFamily="34" charset="0"/>
                    <a:ea typeface="方正兰亭黑简体" panose="02000000000000000000" pitchFamily="2" charset="-122"/>
                  </a:rPr>
                  <a:t>不丢弃</a:t>
                </a:r>
                <a:r>
                  <a:rPr lang="zh-CN" altLang="en-US" sz="1400" dirty="0">
                    <a:solidFill>
                      <a:srgbClr val="000000"/>
                    </a:solidFill>
                    <a:latin typeface="Huawei Sans" panose="020C0503030203020204" pitchFamily="34" charset="0"/>
                    <a:ea typeface="方正兰亭黑简体" panose="02000000000000000000" pitchFamily="2" charset="-122"/>
                  </a:rPr>
                  <a:t>报文</a:t>
                </a: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当队列长度在高门限和低门限之间时，开始</a:t>
                </a:r>
                <a:r>
                  <a:rPr lang="zh-CN" altLang="en-US" sz="1400" dirty="0">
                    <a:solidFill>
                      <a:srgbClr val="C00000"/>
                    </a:solidFill>
                    <a:latin typeface="Huawei Sans" panose="020C0503030203020204" pitchFamily="34" charset="0"/>
                    <a:ea typeface="方正兰亭黑简体" panose="02000000000000000000" pitchFamily="2" charset="-122"/>
                  </a:rPr>
                  <a:t>随机丢弃</a:t>
                </a:r>
                <a:r>
                  <a:rPr lang="zh-CN" altLang="en-US" sz="1400" dirty="0">
                    <a:solidFill>
                      <a:srgbClr val="000000"/>
                    </a:solidFill>
                    <a:latin typeface="Huawei Sans" panose="020C0503030203020204" pitchFamily="34" charset="0"/>
                    <a:ea typeface="方正兰亭黑简体" panose="02000000000000000000" pitchFamily="2" charset="-122"/>
                  </a:rPr>
                  <a:t>新到来的报文，且队列越长，丢弃概率越大</a:t>
                </a:r>
                <a:endParaRPr lang="en-US" altLang="zh-CN" sz="1400" dirty="0">
                  <a:solidFill>
                    <a:srgbClr val="000000"/>
                  </a:solidFill>
                  <a:latin typeface="Huawei Sans" panose="020C0503030203020204" pitchFamily="34" charset="0"/>
                  <a:ea typeface="方正兰亭黑简体" panose="02000000000000000000" pitchFamily="2" charset="-122"/>
                </a:endParaRP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当队列长度超过高门限时，丢弃所有新到来的报文，即</a:t>
                </a:r>
                <a:r>
                  <a:rPr lang="zh-CN" altLang="en-US" sz="1400" dirty="0">
                    <a:solidFill>
                      <a:srgbClr val="C00000"/>
                    </a:solidFill>
                    <a:latin typeface="Huawei Sans" panose="020C0503030203020204" pitchFamily="34" charset="0"/>
                    <a:ea typeface="方正兰亭黑简体" panose="02000000000000000000" pitchFamily="2" charset="-122"/>
                  </a:rPr>
                  <a:t>尾丢弃</a:t>
                </a:r>
              </a:p>
            </p:txBody>
          </p:sp>
        </p:grpSp>
      </p:grpSp>
      <p:cxnSp>
        <p:nvCxnSpPr>
          <p:cNvPr id="14" name="直接箭头连接符 13"/>
          <p:cNvCxnSpPr/>
          <p:nvPr/>
        </p:nvCxnSpPr>
        <p:spPr bwMode="gray">
          <a:xfrm>
            <a:off x="1667508" y="3137220"/>
            <a:ext cx="900100" cy="0"/>
          </a:xfrm>
          <a:prstGeom prst="straightConnector1">
            <a:avLst/>
          </a:prstGeom>
          <a:solidFill>
            <a:schemeClr val="accent1"/>
          </a:solidFill>
          <a:ln w="12700" cap="flat" cmpd="sng" algn="ctr">
            <a:solidFill>
              <a:schemeClr val="bg1">
                <a:lumMod val="50000"/>
              </a:schemeClr>
            </a:solidFill>
            <a:prstDash val="solid"/>
            <a:round/>
            <a:headEnd type="triangle"/>
            <a:tailEnd type="triangle"/>
          </a:ln>
          <a:effectLst/>
        </p:spPr>
      </p:cxnSp>
      <p:cxnSp>
        <p:nvCxnSpPr>
          <p:cNvPr id="48" name="直接箭头连接符 47"/>
          <p:cNvCxnSpPr/>
          <p:nvPr/>
        </p:nvCxnSpPr>
        <p:spPr bwMode="gray">
          <a:xfrm>
            <a:off x="2567608" y="3137220"/>
            <a:ext cx="1332148" cy="0"/>
          </a:xfrm>
          <a:prstGeom prst="straightConnector1">
            <a:avLst/>
          </a:prstGeom>
          <a:solidFill>
            <a:schemeClr val="accent1"/>
          </a:solidFill>
          <a:ln w="12700" cap="flat" cmpd="sng" algn="ctr">
            <a:solidFill>
              <a:schemeClr val="bg1">
                <a:lumMod val="50000"/>
              </a:schemeClr>
            </a:solidFill>
            <a:prstDash val="solid"/>
            <a:round/>
            <a:headEnd type="triangle"/>
            <a:tailEnd type="triangle"/>
          </a:ln>
          <a:effectLst/>
        </p:spPr>
      </p:cxnSp>
      <p:cxnSp>
        <p:nvCxnSpPr>
          <p:cNvPr id="49" name="直接箭头连接符 48"/>
          <p:cNvCxnSpPr/>
          <p:nvPr/>
        </p:nvCxnSpPr>
        <p:spPr bwMode="gray">
          <a:xfrm>
            <a:off x="3899756" y="3137220"/>
            <a:ext cx="1296144" cy="0"/>
          </a:xfrm>
          <a:prstGeom prst="straightConnector1">
            <a:avLst/>
          </a:prstGeom>
          <a:solidFill>
            <a:schemeClr val="accent1"/>
          </a:solidFill>
          <a:ln w="12700" cap="flat" cmpd="sng" algn="ctr">
            <a:solidFill>
              <a:schemeClr val="bg1">
                <a:lumMod val="50000"/>
              </a:schemeClr>
            </a:solidFill>
            <a:prstDash val="solid"/>
            <a:round/>
            <a:headEnd type="triangle"/>
            <a:tailEnd type="triangle"/>
          </a:ln>
          <a:effectLst/>
        </p:spPr>
      </p:cxnSp>
      <p:grpSp>
        <p:nvGrpSpPr>
          <p:cNvPr id="40" name="组合 39"/>
          <p:cNvGrpSpPr/>
          <p:nvPr/>
        </p:nvGrpSpPr>
        <p:grpSpPr bwMode="gray">
          <a:xfrm>
            <a:off x="767408" y="2381136"/>
            <a:ext cx="6120680" cy="2882952"/>
            <a:chOff x="659880" y="3607704"/>
            <a:chExt cx="6120680" cy="2882952"/>
          </a:xfrm>
        </p:grpSpPr>
        <p:cxnSp>
          <p:nvCxnSpPr>
            <p:cNvPr id="4" name="肘形连接符 3"/>
            <p:cNvCxnSpPr/>
            <p:nvPr/>
          </p:nvCxnSpPr>
          <p:spPr bwMode="gray">
            <a:xfrm>
              <a:off x="1559496" y="4005064"/>
              <a:ext cx="4320000" cy="2160000"/>
            </a:xfrm>
            <a:prstGeom prst="bentConnector3">
              <a:avLst>
                <a:gd name="adj1" fmla="val 94"/>
              </a:avLst>
            </a:prstGeom>
            <a:solidFill>
              <a:schemeClr val="accent1"/>
            </a:solidFill>
            <a:ln w="28575" cap="flat" cmpd="sng" algn="ctr">
              <a:solidFill>
                <a:schemeClr val="tx1"/>
              </a:solidFill>
              <a:prstDash val="solid"/>
              <a:round/>
              <a:headEnd type="triangle"/>
              <a:tailEnd type="triangle"/>
            </a:ln>
            <a:effectLst/>
          </p:spPr>
        </p:cxnSp>
        <p:cxnSp>
          <p:nvCxnSpPr>
            <p:cNvPr id="7" name="直接连接符 6"/>
            <p:cNvCxnSpPr/>
            <p:nvPr/>
          </p:nvCxnSpPr>
          <p:spPr bwMode="gray">
            <a:xfrm>
              <a:off x="1559496" y="5229200"/>
              <a:ext cx="2232248"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8" name="圆角矩形 7"/>
            <p:cNvSpPr/>
            <p:nvPr/>
          </p:nvSpPr>
          <p:spPr bwMode="gray">
            <a:xfrm>
              <a:off x="1091444" y="3607704"/>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a:t>
              </a:r>
            </a:p>
          </p:txBody>
        </p:sp>
        <p:sp>
          <p:nvSpPr>
            <p:cNvPr id="9" name="圆角矩形 8"/>
            <p:cNvSpPr/>
            <p:nvPr/>
          </p:nvSpPr>
          <p:spPr bwMode="gray">
            <a:xfrm>
              <a:off x="5735960" y="5887380"/>
              <a:ext cx="1044600" cy="49437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实际</a:t>
              </a:r>
              <a:endParaRPr lang="en-US" altLang="zh-CN" sz="14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队列长度</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 name="圆角矩形 9"/>
            <p:cNvSpPr/>
            <p:nvPr/>
          </p:nvSpPr>
          <p:spPr bwMode="gray">
            <a:xfrm>
              <a:off x="839416" y="4401108"/>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100%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6" name="直接连接符 15"/>
            <p:cNvCxnSpPr/>
            <p:nvPr/>
          </p:nvCxnSpPr>
          <p:spPr bwMode="gray">
            <a:xfrm>
              <a:off x="2459596" y="5949304"/>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 name="直接连接符 17"/>
            <p:cNvCxnSpPr/>
            <p:nvPr/>
          </p:nvCxnSpPr>
          <p:spPr bwMode="gray">
            <a:xfrm>
              <a:off x="3791744" y="5949304"/>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9" name="直接连接符 18"/>
            <p:cNvCxnSpPr/>
            <p:nvPr/>
          </p:nvCxnSpPr>
          <p:spPr bwMode="gray">
            <a:xfrm>
              <a:off x="5087888" y="5949304"/>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1" name="直接连接符 20"/>
            <p:cNvCxnSpPr/>
            <p:nvPr/>
          </p:nvCxnSpPr>
          <p:spPr bwMode="gray">
            <a:xfrm>
              <a:off x="1559496" y="4581128"/>
              <a:ext cx="3528392"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26" name="任意多边形 25"/>
            <p:cNvSpPr/>
            <p:nvPr/>
          </p:nvSpPr>
          <p:spPr bwMode="gray">
            <a:xfrm>
              <a:off x="1562100" y="5227320"/>
              <a:ext cx="2232660" cy="922020"/>
            </a:xfrm>
            <a:custGeom>
              <a:avLst/>
              <a:gdLst>
                <a:gd name="connsiteX0" fmla="*/ 0 w 2232660"/>
                <a:gd name="connsiteY0" fmla="*/ 922020 h 922020"/>
                <a:gd name="connsiteX1" fmla="*/ 899160 w 2232660"/>
                <a:gd name="connsiteY1" fmla="*/ 922020 h 922020"/>
                <a:gd name="connsiteX2" fmla="*/ 2232660 w 2232660"/>
                <a:gd name="connsiteY2" fmla="*/ 0 h 922020"/>
              </a:gdLst>
              <a:ahLst/>
              <a:cxnLst>
                <a:cxn ang="0">
                  <a:pos x="connsiteX0" y="connsiteY0"/>
                </a:cxn>
                <a:cxn ang="0">
                  <a:pos x="connsiteX1" y="connsiteY1"/>
                </a:cxn>
                <a:cxn ang="0">
                  <a:pos x="connsiteX2" y="connsiteY2"/>
                </a:cxn>
              </a:cxnLst>
              <a:rect l="l" t="t" r="r" b="b"/>
              <a:pathLst>
                <a:path w="2232660" h="922020">
                  <a:moveTo>
                    <a:pt x="0" y="922020"/>
                  </a:moveTo>
                  <a:lnTo>
                    <a:pt x="899160" y="922020"/>
                  </a:lnTo>
                  <a:lnTo>
                    <a:pt x="2232660" y="0"/>
                  </a:lnTo>
                </a:path>
              </a:pathLst>
            </a:custGeom>
            <a:noFill/>
            <a:ln w="19050">
              <a:solidFill>
                <a:srgbClr val="56C4D2"/>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29" name="直接连接符 28"/>
            <p:cNvCxnSpPr/>
            <p:nvPr/>
          </p:nvCxnSpPr>
          <p:spPr bwMode="gray">
            <a:xfrm>
              <a:off x="3791744" y="4581128"/>
              <a:ext cx="1296144"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sp>
          <p:nvSpPr>
            <p:cNvPr id="32" name="圆角矩形 31"/>
            <p:cNvSpPr/>
            <p:nvPr/>
          </p:nvSpPr>
          <p:spPr bwMode="gray">
            <a:xfrm>
              <a:off x="659880" y="4977172"/>
              <a:ext cx="971624"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最大</a:t>
              </a:r>
              <a:endParaRPr lang="en-US" altLang="zh-CN" sz="14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a:t>
              </a:r>
            </a:p>
          </p:txBody>
        </p:sp>
        <p:sp>
          <p:nvSpPr>
            <p:cNvPr id="33" name="圆角矩形 32"/>
            <p:cNvSpPr/>
            <p:nvPr/>
          </p:nvSpPr>
          <p:spPr bwMode="gray">
            <a:xfrm>
              <a:off x="2063552" y="6165304"/>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低门限</a:t>
              </a:r>
            </a:p>
          </p:txBody>
        </p:sp>
        <p:sp>
          <p:nvSpPr>
            <p:cNvPr id="34" name="圆角矩形 33"/>
            <p:cNvSpPr/>
            <p:nvPr/>
          </p:nvSpPr>
          <p:spPr bwMode="gray">
            <a:xfrm>
              <a:off x="3432188" y="6165304"/>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高</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门限</a:t>
              </a:r>
            </a:p>
          </p:txBody>
        </p:sp>
        <p:sp>
          <p:nvSpPr>
            <p:cNvPr id="35" name="圆角矩形 34"/>
            <p:cNvSpPr/>
            <p:nvPr/>
          </p:nvSpPr>
          <p:spPr bwMode="gray">
            <a:xfrm>
              <a:off x="4439816" y="6165304"/>
              <a:ext cx="1332148"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队列最大长度</a:t>
              </a:r>
            </a:p>
          </p:txBody>
        </p:sp>
        <p:sp>
          <p:nvSpPr>
            <p:cNvPr id="30" name="圆角矩形 29"/>
            <p:cNvSpPr/>
            <p:nvPr/>
          </p:nvSpPr>
          <p:spPr bwMode="gray">
            <a:xfrm>
              <a:off x="5160380" y="4336776"/>
              <a:ext cx="1332148" cy="49437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丢弃概率曲线</a:t>
              </a:r>
            </a:p>
          </p:txBody>
        </p:sp>
        <p:cxnSp>
          <p:nvCxnSpPr>
            <p:cNvPr id="31" name="直接连接符 30"/>
            <p:cNvCxnSpPr/>
            <p:nvPr/>
          </p:nvCxnSpPr>
          <p:spPr bwMode="gray">
            <a:xfrm>
              <a:off x="2460080" y="4003748"/>
              <a:ext cx="0" cy="216000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46" name="直接连接符 45"/>
            <p:cNvCxnSpPr/>
            <p:nvPr/>
          </p:nvCxnSpPr>
          <p:spPr bwMode="gray">
            <a:xfrm>
              <a:off x="3792228" y="4003748"/>
              <a:ext cx="0" cy="216000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50" name="圆角矩形 49"/>
            <p:cNvSpPr/>
            <p:nvPr/>
          </p:nvSpPr>
          <p:spPr bwMode="gray">
            <a:xfrm>
              <a:off x="1667992" y="4039752"/>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rgbClr val="C00000"/>
                  </a:solidFill>
                  <a:effectLst/>
                  <a:latin typeface="Huawei Sans" panose="020C0503030203020204" pitchFamily="34" charset="0"/>
                  <a:ea typeface="方正兰亭黑简体" panose="02000000000000000000" pitchFamily="2" charset="-122"/>
                </a:rPr>
                <a:t>不丢弃</a:t>
              </a:r>
            </a:p>
          </p:txBody>
        </p:sp>
        <p:sp>
          <p:nvSpPr>
            <p:cNvPr id="51" name="圆角矩形 50"/>
            <p:cNvSpPr/>
            <p:nvPr/>
          </p:nvSpPr>
          <p:spPr bwMode="gray">
            <a:xfrm>
              <a:off x="2676104" y="403975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solidFill>
                    <a:srgbClr val="C00000"/>
                  </a:solidFill>
                  <a:latin typeface="Huawei Sans" panose="020C0503030203020204" pitchFamily="34" charset="0"/>
                  <a:ea typeface="方正兰亭黑简体" panose="02000000000000000000" pitchFamily="2" charset="-122"/>
                </a:rPr>
                <a:t>随机</a:t>
              </a:r>
              <a:r>
                <a:rPr kumimoji="0" lang="zh-CN" altLang="en-US" sz="1400" i="0" u="none" strike="noStrike" cap="none" normalizeH="0" baseline="0" dirty="0">
                  <a:ln>
                    <a:noFill/>
                  </a:ln>
                  <a:solidFill>
                    <a:srgbClr val="C00000"/>
                  </a:solidFill>
                  <a:effectLst/>
                  <a:latin typeface="Huawei Sans" panose="020C0503030203020204" pitchFamily="34" charset="0"/>
                  <a:ea typeface="方正兰亭黑简体" panose="02000000000000000000" pitchFamily="2" charset="-122"/>
                </a:rPr>
                <a:t>丢弃</a:t>
              </a:r>
            </a:p>
          </p:txBody>
        </p:sp>
        <p:sp>
          <p:nvSpPr>
            <p:cNvPr id="52" name="圆角矩形 51"/>
            <p:cNvSpPr/>
            <p:nvPr/>
          </p:nvSpPr>
          <p:spPr bwMode="gray">
            <a:xfrm>
              <a:off x="3972248" y="403975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solidFill>
                    <a:srgbClr val="C00000"/>
                  </a:solidFill>
                  <a:latin typeface="Huawei Sans" panose="020C0503030203020204" pitchFamily="34" charset="0"/>
                  <a:ea typeface="方正兰亭黑简体" panose="02000000000000000000" pitchFamily="2" charset="-122"/>
                </a:rPr>
                <a:t>尾</a:t>
              </a:r>
              <a:r>
                <a:rPr kumimoji="0" lang="zh-CN" altLang="en-US" sz="1400" i="0" u="none" strike="noStrike" cap="none" normalizeH="0" baseline="0" dirty="0">
                  <a:ln>
                    <a:noFill/>
                  </a:ln>
                  <a:solidFill>
                    <a:srgbClr val="C00000"/>
                  </a:solidFill>
                  <a:effectLst/>
                  <a:latin typeface="Huawei Sans" panose="020C0503030203020204" pitchFamily="34" charset="0"/>
                  <a:ea typeface="方正兰亭黑简体" panose="02000000000000000000" pitchFamily="2" charset="-122"/>
                </a:rPr>
                <a:t>丢弃</a:t>
              </a:r>
            </a:p>
          </p:txBody>
        </p:sp>
        <p:cxnSp>
          <p:nvCxnSpPr>
            <p:cNvPr id="27" name="直接连接符 26"/>
            <p:cNvCxnSpPr/>
            <p:nvPr/>
          </p:nvCxnSpPr>
          <p:spPr bwMode="gray">
            <a:xfrm>
              <a:off x="3792228" y="4581128"/>
              <a:ext cx="0" cy="648072"/>
            </a:xfrm>
            <a:prstGeom prst="line">
              <a:avLst/>
            </a:prstGeom>
            <a:solidFill>
              <a:schemeClr val="accent1"/>
            </a:solidFill>
            <a:ln w="28575" cap="flat" cmpd="sng" algn="ctr">
              <a:solidFill>
                <a:srgbClr val="56C4D2"/>
              </a:solidFill>
              <a:prstDash val="sysDot"/>
              <a:round/>
              <a:headEnd type="none" w="med" len="med"/>
              <a:tailEnd type="none" w="med" len="med"/>
            </a:ln>
            <a:effectLst/>
          </p:spPr>
        </p:cxnSp>
        <p:sp>
          <p:nvSpPr>
            <p:cNvPr id="36" name="流程图: 联系 35"/>
            <p:cNvSpPr/>
            <p:nvPr/>
          </p:nvSpPr>
          <p:spPr bwMode="gray">
            <a:xfrm>
              <a:off x="3720219" y="5113305"/>
              <a:ext cx="132957" cy="142813"/>
            </a:xfrm>
            <a:prstGeom prst="flowChartConnector">
              <a:avLst/>
            </a:prstGeom>
            <a:solidFill>
              <a:schemeClr val="bg1"/>
            </a:solidFill>
            <a:ln w="12700">
              <a:solidFill>
                <a:schemeClr val="tx1"/>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grpSp>
      <p:sp>
        <p:nvSpPr>
          <p:cNvPr id="47" name="Rectangular Callout 46"/>
          <p:cNvSpPr/>
          <p:nvPr/>
        </p:nvSpPr>
        <p:spPr bwMode="gray">
          <a:xfrm>
            <a:off x="1777526" y="4946578"/>
            <a:ext cx="364203" cy="309667"/>
          </a:xfrm>
          <a:prstGeom prst="wedgeRectCallout">
            <a:avLst>
              <a:gd name="adj1" fmla="val -22631"/>
              <a:gd name="adj2" fmla="val -8627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1</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3" name="Rectangular Callout 52"/>
          <p:cNvSpPr/>
          <p:nvPr/>
        </p:nvSpPr>
        <p:spPr bwMode="gray">
          <a:xfrm>
            <a:off x="3316963" y="4537925"/>
            <a:ext cx="364203" cy="309667"/>
          </a:xfrm>
          <a:prstGeom prst="wedgeRectCallout">
            <a:avLst>
              <a:gd name="adj1" fmla="val -37060"/>
              <a:gd name="adj2" fmla="val -8627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2</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4" name="Rectangular Callout 53"/>
          <p:cNvSpPr/>
          <p:nvPr/>
        </p:nvSpPr>
        <p:spPr bwMode="gray">
          <a:xfrm>
            <a:off x="4408308" y="3511641"/>
            <a:ext cx="364203" cy="309667"/>
          </a:xfrm>
          <a:prstGeom prst="wedgeRectCallout">
            <a:avLst>
              <a:gd name="adj1" fmla="val -22631"/>
              <a:gd name="adj2" fmla="val -8627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3</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mc:AlternateContent xmlns:mc="http://schemas.openxmlformats.org/markup-compatibility/2006">
        <mc:Choice xmlns:p14="http://schemas.microsoft.com/office/powerpoint/2010/main" Requires="p14">
          <p:contentPart p14:bwMode="auto" r:id="rId3">
            <p14:nvContentPartPr>
              <p14:cNvPr id="5" name="墨迹 4">
                <a:extLst>
                  <a:ext uri="{FF2B5EF4-FFF2-40B4-BE49-F238E27FC236}">
                    <a16:creationId xmlns:a16="http://schemas.microsoft.com/office/drawing/2014/main" id="{115F7B64-BD18-EE18-771D-89DCD0E64CF8}"/>
                  </a:ext>
                </a:extLst>
              </p14:cNvPr>
              <p14:cNvContentPartPr/>
              <p14:nvPr/>
            </p14:nvContentPartPr>
            <p14:xfrm>
              <a:off x="2208000" y="4945587"/>
              <a:ext cx="732240" cy="421200"/>
            </p14:xfrm>
          </p:contentPart>
        </mc:Choice>
        <mc:Fallback>
          <p:pic>
            <p:nvPicPr>
              <p:cNvPr id="5" name="墨迹 4">
                <a:extLst>
                  <a:ext uri="{FF2B5EF4-FFF2-40B4-BE49-F238E27FC236}">
                    <a16:creationId xmlns:a16="http://schemas.microsoft.com/office/drawing/2014/main" id="{115F7B64-BD18-EE18-771D-89DCD0E64CF8}"/>
                  </a:ext>
                </a:extLst>
              </p:cNvPr>
              <p:cNvPicPr/>
              <p:nvPr/>
            </p:nvPicPr>
            <p:blipFill>
              <a:blip r:embed="rId4"/>
              <a:stretch>
                <a:fillRect/>
              </a:stretch>
            </p:blipFill>
            <p:spPr>
              <a:xfrm>
                <a:off x="2199000" y="4936587"/>
                <a:ext cx="749880" cy="438840"/>
              </a:xfrm>
              <a:prstGeom prst="rect">
                <a:avLst/>
              </a:prstGeom>
            </p:spPr>
          </p:pic>
        </mc:Fallback>
      </mc:AlternateContent>
      <p:grpSp>
        <p:nvGrpSpPr>
          <p:cNvPr id="17" name="组合 16">
            <a:extLst>
              <a:ext uri="{FF2B5EF4-FFF2-40B4-BE49-F238E27FC236}">
                <a16:creationId xmlns:a16="http://schemas.microsoft.com/office/drawing/2014/main" id="{858BD285-5FBD-82AE-88F3-F7477816FC13}"/>
              </a:ext>
            </a:extLst>
          </p:cNvPr>
          <p:cNvGrpSpPr/>
          <p:nvPr/>
        </p:nvGrpSpPr>
        <p:grpSpPr>
          <a:xfrm>
            <a:off x="2217360" y="5460747"/>
            <a:ext cx="653400" cy="460440"/>
            <a:chOff x="2217360" y="5460747"/>
            <a:chExt cx="653400" cy="460440"/>
          </a:xfrm>
        </p:grpSpPr>
        <mc:AlternateContent xmlns:mc="http://schemas.openxmlformats.org/markup-compatibility/2006">
          <mc:Choice xmlns:p14="http://schemas.microsoft.com/office/powerpoint/2010/main" Requires="p14">
            <p:contentPart p14:bwMode="auto" r:id="rId5">
              <p14:nvContentPartPr>
                <p14:cNvPr id="6" name="墨迹 5">
                  <a:extLst>
                    <a:ext uri="{FF2B5EF4-FFF2-40B4-BE49-F238E27FC236}">
                      <a16:creationId xmlns:a16="http://schemas.microsoft.com/office/drawing/2014/main" id="{541185D9-DA88-346E-0B0D-EDE015A59BD9}"/>
                    </a:ext>
                  </a:extLst>
                </p14:cNvPr>
                <p14:cNvContentPartPr/>
                <p14:nvPr/>
              </p14:nvContentPartPr>
              <p14:xfrm>
                <a:off x="2217360" y="5460747"/>
                <a:ext cx="225000" cy="313560"/>
              </p14:xfrm>
            </p:contentPart>
          </mc:Choice>
          <mc:Fallback>
            <p:pic>
              <p:nvPicPr>
                <p:cNvPr id="6" name="墨迹 5">
                  <a:extLst>
                    <a:ext uri="{FF2B5EF4-FFF2-40B4-BE49-F238E27FC236}">
                      <a16:creationId xmlns:a16="http://schemas.microsoft.com/office/drawing/2014/main" id="{541185D9-DA88-346E-0B0D-EDE015A59BD9}"/>
                    </a:ext>
                  </a:extLst>
                </p:cNvPr>
                <p:cNvPicPr/>
                <p:nvPr/>
              </p:nvPicPr>
              <p:blipFill>
                <a:blip r:embed="rId6"/>
                <a:stretch>
                  <a:fillRect/>
                </a:stretch>
              </p:blipFill>
              <p:spPr>
                <a:xfrm>
                  <a:off x="2208360" y="5452107"/>
                  <a:ext cx="24264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墨迹 10">
                  <a:extLst>
                    <a:ext uri="{FF2B5EF4-FFF2-40B4-BE49-F238E27FC236}">
                      <a16:creationId xmlns:a16="http://schemas.microsoft.com/office/drawing/2014/main" id="{AA16CE51-6A2C-129D-F2C2-D813500CACF7}"/>
                    </a:ext>
                  </a:extLst>
                </p14:cNvPr>
                <p14:cNvContentPartPr/>
                <p14:nvPr/>
              </p14:nvContentPartPr>
              <p14:xfrm>
                <a:off x="2487720" y="5595747"/>
                <a:ext cx="105840" cy="144720"/>
              </p14:xfrm>
            </p:contentPart>
          </mc:Choice>
          <mc:Fallback>
            <p:pic>
              <p:nvPicPr>
                <p:cNvPr id="11" name="墨迹 10">
                  <a:extLst>
                    <a:ext uri="{FF2B5EF4-FFF2-40B4-BE49-F238E27FC236}">
                      <a16:creationId xmlns:a16="http://schemas.microsoft.com/office/drawing/2014/main" id="{AA16CE51-6A2C-129D-F2C2-D813500CACF7}"/>
                    </a:ext>
                  </a:extLst>
                </p:cNvPr>
                <p:cNvPicPr/>
                <p:nvPr/>
              </p:nvPicPr>
              <p:blipFill>
                <a:blip r:embed="rId8"/>
                <a:stretch>
                  <a:fillRect/>
                </a:stretch>
              </p:blipFill>
              <p:spPr>
                <a:xfrm>
                  <a:off x="2478720" y="5587107"/>
                  <a:ext cx="12348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墨迹 11">
                  <a:extLst>
                    <a:ext uri="{FF2B5EF4-FFF2-40B4-BE49-F238E27FC236}">
                      <a16:creationId xmlns:a16="http://schemas.microsoft.com/office/drawing/2014/main" id="{4614EC6D-118C-02A5-1969-6C13E84AE329}"/>
                    </a:ext>
                  </a:extLst>
                </p14:cNvPr>
                <p14:cNvContentPartPr/>
                <p14:nvPr/>
              </p14:nvContentPartPr>
              <p14:xfrm>
                <a:off x="2641080" y="5537067"/>
                <a:ext cx="112320" cy="69120"/>
              </p14:xfrm>
            </p:contentPart>
          </mc:Choice>
          <mc:Fallback>
            <p:pic>
              <p:nvPicPr>
                <p:cNvPr id="12" name="墨迹 11">
                  <a:extLst>
                    <a:ext uri="{FF2B5EF4-FFF2-40B4-BE49-F238E27FC236}">
                      <a16:creationId xmlns:a16="http://schemas.microsoft.com/office/drawing/2014/main" id="{4614EC6D-118C-02A5-1969-6C13E84AE329}"/>
                    </a:ext>
                  </a:extLst>
                </p:cNvPr>
                <p:cNvPicPr/>
                <p:nvPr/>
              </p:nvPicPr>
              <p:blipFill>
                <a:blip r:embed="rId10"/>
                <a:stretch>
                  <a:fillRect/>
                </a:stretch>
              </p:blipFill>
              <p:spPr>
                <a:xfrm>
                  <a:off x="2632440" y="5528427"/>
                  <a:ext cx="12996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3" name="墨迹 12">
                  <a:extLst>
                    <a:ext uri="{FF2B5EF4-FFF2-40B4-BE49-F238E27FC236}">
                      <a16:creationId xmlns:a16="http://schemas.microsoft.com/office/drawing/2014/main" id="{6A6CF92D-9AB8-AEA4-90A0-6878D2364595}"/>
                    </a:ext>
                  </a:extLst>
                </p14:cNvPr>
                <p14:cNvContentPartPr/>
                <p14:nvPr/>
              </p14:nvContentPartPr>
              <p14:xfrm>
                <a:off x="2523720" y="5562267"/>
                <a:ext cx="304560" cy="358920"/>
              </p14:xfrm>
            </p:contentPart>
          </mc:Choice>
          <mc:Fallback>
            <p:pic>
              <p:nvPicPr>
                <p:cNvPr id="13" name="墨迹 12">
                  <a:extLst>
                    <a:ext uri="{FF2B5EF4-FFF2-40B4-BE49-F238E27FC236}">
                      <a16:creationId xmlns:a16="http://schemas.microsoft.com/office/drawing/2014/main" id="{6A6CF92D-9AB8-AEA4-90A0-6878D2364595}"/>
                    </a:ext>
                  </a:extLst>
                </p:cNvPr>
                <p:cNvPicPr/>
                <p:nvPr/>
              </p:nvPicPr>
              <p:blipFill>
                <a:blip r:embed="rId12"/>
                <a:stretch>
                  <a:fillRect/>
                </a:stretch>
              </p:blipFill>
              <p:spPr>
                <a:xfrm>
                  <a:off x="2514720" y="5553267"/>
                  <a:ext cx="322200" cy="376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墨迹 14">
                  <a:extLst>
                    <a:ext uri="{FF2B5EF4-FFF2-40B4-BE49-F238E27FC236}">
                      <a16:creationId xmlns:a16="http://schemas.microsoft.com/office/drawing/2014/main" id="{83DD5796-EEB6-A2A1-7958-9E579A565DF1}"/>
                    </a:ext>
                  </a:extLst>
                </p14:cNvPr>
                <p14:cNvContentPartPr/>
                <p14:nvPr/>
              </p14:nvContentPartPr>
              <p14:xfrm>
                <a:off x="2725680" y="5774667"/>
                <a:ext cx="145080" cy="126000"/>
              </p14:xfrm>
            </p:contentPart>
          </mc:Choice>
          <mc:Fallback>
            <p:pic>
              <p:nvPicPr>
                <p:cNvPr id="15" name="墨迹 14">
                  <a:extLst>
                    <a:ext uri="{FF2B5EF4-FFF2-40B4-BE49-F238E27FC236}">
                      <a16:creationId xmlns:a16="http://schemas.microsoft.com/office/drawing/2014/main" id="{83DD5796-EEB6-A2A1-7958-9E579A565DF1}"/>
                    </a:ext>
                  </a:extLst>
                </p:cNvPr>
                <p:cNvPicPr/>
                <p:nvPr/>
              </p:nvPicPr>
              <p:blipFill>
                <a:blip r:embed="rId14"/>
                <a:stretch>
                  <a:fillRect/>
                </a:stretch>
              </p:blipFill>
              <p:spPr>
                <a:xfrm>
                  <a:off x="2717040" y="5766027"/>
                  <a:ext cx="162720" cy="143640"/>
                </a:xfrm>
                <a:prstGeom prst="rect">
                  <a:avLst/>
                </a:prstGeom>
              </p:spPr>
            </p:pic>
          </mc:Fallback>
        </mc:AlternateContent>
      </p:grpSp>
      <p:grpSp>
        <p:nvGrpSpPr>
          <p:cNvPr id="37" name="组合 36">
            <a:extLst>
              <a:ext uri="{FF2B5EF4-FFF2-40B4-BE49-F238E27FC236}">
                <a16:creationId xmlns:a16="http://schemas.microsoft.com/office/drawing/2014/main" id="{EC7D612C-A1AF-1D60-A913-657B353A4DA4}"/>
              </a:ext>
            </a:extLst>
          </p:cNvPr>
          <p:cNvGrpSpPr/>
          <p:nvPr/>
        </p:nvGrpSpPr>
        <p:grpSpPr>
          <a:xfrm>
            <a:off x="3451080" y="4834347"/>
            <a:ext cx="816120" cy="1103760"/>
            <a:chOff x="3451080" y="4834347"/>
            <a:chExt cx="816120" cy="1103760"/>
          </a:xfrm>
        </p:grpSpPr>
        <mc:AlternateContent xmlns:mc="http://schemas.openxmlformats.org/markup-compatibility/2006">
          <mc:Choice xmlns:p14="http://schemas.microsoft.com/office/powerpoint/2010/main" Requires="p14">
            <p:contentPart p14:bwMode="auto" r:id="rId15">
              <p14:nvContentPartPr>
                <p14:cNvPr id="20" name="墨迹 19">
                  <a:extLst>
                    <a:ext uri="{FF2B5EF4-FFF2-40B4-BE49-F238E27FC236}">
                      <a16:creationId xmlns:a16="http://schemas.microsoft.com/office/drawing/2014/main" id="{3E1293A0-0568-36E2-F708-D51BC55B6074}"/>
                    </a:ext>
                  </a:extLst>
                </p14:cNvPr>
                <p14:cNvContentPartPr/>
                <p14:nvPr/>
              </p14:nvContentPartPr>
              <p14:xfrm>
                <a:off x="3451080" y="4834347"/>
                <a:ext cx="707760" cy="500040"/>
              </p14:xfrm>
            </p:contentPart>
          </mc:Choice>
          <mc:Fallback>
            <p:pic>
              <p:nvPicPr>
                <p:cNvPr id="20" name="墨迹 19">
                  <a:extLst>
                    <a:ext uri="{FF2B5EF4-FFF2-40B4-BE49-F238E27FC236}">
                      <a16:creationId xmlns:a16="http://schemas.microsoft.com/office/drawing/2014/main" id="{3E1293A0-0568-36E2-F708-D51BC55B6074}"/>
                    </a:ext>
                  </a:extLst>
                </p:cNvPr>
                <p:cNvPicPr/>
                <p:nvPr/>
              </p:nvPicPr>
              <p:blipFill>
                <a:blip r:embed="rId16"/>
                <a:stretch>
                  <a:fillRect/>
                </a:stretch>
              </p:blipFill>
              <p:spPr>
                <a:xfrm>
                  <a:off x="3442080" y="4825707"/>
                  <a:ext cx="725400" cy="5176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2" name="墨迹 21">
                  <a:extLst>
                    <a:ext uri="{FF2B5EF4-FFF2-40B4-BE49-F238E27FC236}">
                      <a16:creationId xmlns:a16="http://schemas.microsoft.com/office/drawing/2014/main" id="{A8B43D51-F50A-3596-6431-E906A9C15228}"/>
                    </a:ext>
                  </a:extLst>
                </p14:cNvPr>
                <p14:cNvContentPartPr/>
                <p14:nvPr/>
              </p14:nvContentPartPr>
              <p14:xfrm>
                <a:off x="3614520" y="5409987"/>
                <a:ext cx="223200" cy="390240"/>
              </p14:xfrm>
            </p:contentPart>
          </mc:Choice>
          <mc:Fallback>
            <p:pic>
              <p:nvPicPr>
                <p:cNvPr id="22" name="墨迹 21">
                  <a:extLst>
                    <a:ext uri="{FF2B5EF4-FFF2-40B4-BE49-F238E27FC236}">
                      <a16:creationId xmlns:a16="http://schemas.microsoft.com/office/drawing/2014/main" id="{A8B43D51-F50A-3596-6431-E906A9C15228}"/>
                    </a:ext>
                  </a:extLst>
                </p:cNvPr>
                <p:cNvPicPr/>
                <p:nvPr/>
              </p:nvPicPr>
              <p:blipFill>
                <a:blip r:embed="rId18"/>
                <a:stretch>
                  <a:fillRect/>
                </a:stretch>
              </p:blipFill>
              <p:spPr>
                <a:xfrm>
                  <a:off x="3605880" y="5401347"/>
                  <a:ext cx="24084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3" name="墨迹 22">
                  <a:extLst>
                    <a:ext uri="{FF2B5EF4-FFF2-40B4-BE49-F238E27FC236}">
                      <a16:creationId xmlns:a16="http://schemas.microsoft.com/office/drawing/2014/main" id="{D00683F9-CACC-692C-C1ED-9B3139223863}"/>
                    </a:ext>
                  </a:extLst>
                </p14:cNvPr>
                <p14:cNvContentPartPr/>
                <p14:nvPr/>
              </p14:nvContentPartPr>
              <p14:xfrm>
                <a:off x="3801360" y="5630307"/>
                <a:ext cx="136800" cy="147240"/>
              </p14:xfrm>
            </p:contentPart>
          </mc:Choice>
          <mc:Fallback>
            <p:pic>
              <p:nvPicPr>
                <p:cNvPr id="23" name="墨迹 22">
                  <a:extLst>
                    <a:ext uri="{FF2B5EF4-FFF2-40B4-BE49-F238E27FC236}">
                      <a16:creationId xmlns:a16="http://schemas.microsoft.com/office/drawing/2014/main" id="{D00683F9-CACC-692C-C1ED-9B3139223863}"/>
                    </a:ext>
                  </a:extLst>
                </p:cNvPr>
                <p:cNvPicPr/>
                <p:nvPr/>
              </p:nvPicPr>
              <p:blipFill>
                <a:blip r:embed="rId20"/>
                <a:stretch>
                  <a:fillRect/>
                </a:stretch>
              </p:blipFill>
              <p:spPr>
                <a:xfrm>
                  <a:off x="3792720" y="5621667"/>
                  <a:ext cx="1544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4" name="墨迹 23">
                  <a:extLst>
                    <a:ext uri="{FF2B5EF4-FFF2-40B4-BE49-F238E27FC236}">
                      <a16:creationId xmlns:a16="http://schemas.microsoft.com/office/drawing/2014/main" id="{96071123-D2E2-6D47-16A9-3D515FC0D066}"/>
                    </a:ext>
                  </a:extLst>
                </p14:cNvPr>
                <p14:cNvContentPartPr/>
                <p14:nvPr/>
              </p14:nvContentPartPr>
              <p14:xfrm>
                <a:off x="3996120" y="5540307"/>
                <a:ext cx="86400" cy="91440"/>
              </p14:xfrm>
            </p:contentPart>
          </mc:Choice>
          <mc:Fallback>
            <p:pic>
              <p:nvPicPr>
                <p:cNvPr id="24" name="墨迹 23">
                  <a:extLst>
                    <a:ext uri="{FF2B5EF4-FFF2-40B4-BE49-F238E27FC236}">
                      <a16:creationId xmlns:a16="http://schemas.microsoft.com/office/drawing/2014/main" id="{96071123-D2E2-6D47-16A9-3D515FC0D066}"/>
                    </a:ext>
                  </a:extLst>
                </p:cNvPr>
                <p:cNvPicPr/>
                <p:nvPr/>
              </p:nvPicPr>
              <p:blipFill>
                <a:blip r:embed="rId22"/>
                <a:stretch>
                  <a:fillRect/>
                </a:stretch>
              </p:blipFill>
              <p:spPr>
                <a:xfrm>
                  <a:off x="3987120" y="5531307"/>
                  <a:ext cx="10404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5" name="墨迹 24">
                  <a:extLst>
                    <a:ext uri="{FF2B5EF4-FFF2-40B4-BE49-F238E27FC236}">
                      <a16:creationId xmlns:a16="http://schemas.microsoft.com/office/drawing/2014/main" id="{58AD6989-C5E4-A331-9583-B3D52E4E25EC}"/>
                    </a:ext>
                  </a:extLst>
                </p14:cNvPr>
                <p14:cNvContentPartPr/>
                <p14:nvPr/>
              </p14:nvContentPartPr>
              <p14:xfrm>
                <a:off x="3903960" y="5553987"/>
                <a:ext cx="363240" cy="364320"/>
              </p14:xfrm>
            </p:contentPart>
          </mc:Choice>
          <mc:Fallback>
            <p:pic>
              <p:nvPicPr>
                <p:cNvPr id="25" name="墨迹 24">
                  <a:extLst>
                    <a:ext uri="{FF2B5EF4-FFF2-40B4-BE49-F238E27FC236}">
                      <a16:creationId xmlns:a16="http://schemas.microsoft.com/office/drawing/2014/main" id="{58AD6989-C5E4-A331-9583-B3D52E4E25EC}"/>
                    </a:ext>
                  </a:extLst>
                </p:cNvPr>
                <p:cNvPicPr/>
                <p:nvPr/>
              </p:nvPicPr>
              <p:blipFill>
                <a:blip r:embed="rId24"/>
                <a:stretch>
                  <a:fillRect/>
                </a:stretch>
              </p:blipFill>
              <p:spPr>
                <a:xfrm>
                  <a:off x="3895320" y="5545347"/>
                  <a:ext cx="380880" cy="3819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8" name="墨迹 27">
                  <a:extLst>
                    <a:ext uri="{FF2B5EF4-FFF2-40B4-BE49-F238E27FC236}">
                      <a16:creationId xmlns:a16="http://schemas.microsoft.com/office/drawing/2014/main" id="{4188AA3D-30F5-876C-CFB2-2890FD66C6E0}"/>
                    </a:ext>
                  </a:extLst>
                </p14:cNvPr>
                <p14:cNvContentPartPr/>
                <p14:nvPr/>
              </p14:nvContentPartPr>
              <p14:xfrm>
                <a:off x="4104840" y="5858907"/>
                <a:ext cx="129240" cy="79200"/>
              </p14:xfrm>
            </p:contentPart>
          </mc:Choice>
          <mc:Fallback>
            <p:pic>
              <p:nvPicPr>
                <p:cNvPr id="28" name="墨迹 27">
                  <a:extLst>
                    <a:ext uri="{FF2B5EF4-FFF2-40B4-BE49-F238E27FC236}">
                      <a16:creationId xmlns:a16="http://schemas.microsoft.com/office/drawing/2014/main" id="{4188AA3D-30F5-876C-CFB2-2890FD66C6E0}"/>
                    </a:ext>
                  </a:extLst>
                </p:cNvPr>
                <p:cNvPicPr/>
                <p:nvPr/>
              </p:nvPicPr>
              <p:blipFill>
                <a:blip r:embed="rId26"/>
                <a:stretch>
                  <a:fillRect/>
                </a:stretch>
              </p:blipFill>
              <p:spPr>
                <a:xfrm>
                  <a:off x="4096200" y="5849907"/>
                  <a:ext cx="146880" cy="96840"/>
                </a:xfrm>
                <a:prstGeom prst="rect">
                  <a:avLst/>
                </a:prstGeom>
              </p:spPr>
            </p:pic>
          </mc:Fallback>
        </mc:AlternateContent>
      </p:grpSp>
      <p:grpSp>
        <p:nvGrpSpPr>
          <p:cNvPr id="55" name="组合 54">
            <a:extLst>
              <a:ext uri="{FF2B5EF4-FFF2-40B4-BE49-F238E27FC236}">
                <a16:creationId xmlns:a16="http://schemas.microsoft.com/office/drawing/2014/main" id="{2BA932C7-4D0C-BEF6-8FF9-0B75032F3114}"/>
              </a:ext>
            </a:extLst>
          </p:cNvPr>
          <p:cNvGrpSpPr/>
          <p:nvPr/>
        </p:nvGrpSpPr>
        <p:grpSpPr>
          <a:xfrm>
            <a:off x="1667640" y="4004547"/>
            <a:ext cx="907560" cy="821880"/>
            <a:chOff x="1667640" y="4004547"/>
            <a:chExt cx="907560" cy="821880"/>
          </a:xfrm>
        </p:grpSpPr>
        <mc:AlternateContent xmlns:mc="http://schemas.openxmlformats.org/markup-compatibility/2006">
          <mc:Choice xmlns:p14="http://schemas.microsoft.com/office/powerpoint/2010/main" Requires="p14">
            <p:contentPart p14:bwMode="auto" r:id="rId27">
              <p14:nvContentPartPr>
                <p14:cNvPr id="38" name="墨迹 37">
                  <a:extLst>
                    <a:ext uri="{FF2B5EF4-FFF2-40B4-BE49-F238E27FC236}">
                      <a16:creationId xmlns:a16="http://schemas.microsoft.com/office/drawing/2014/main" id="{7B520229-D870-5E9F-7D4A-87C79C093355}"/>
                    </a:ext>
                  </a:extLst>
                </p14:cNvPr>
                <p14:cNvContentPartPr/>
                <p14:nvPr/>
              </p14:nvContentPartPr>
              <p14:xfrm>
                <a:off x="1667640" y="4004547"/>
                <a:ext cx="907560" cy="821880"/>
              </p14:xfrm>
            </p:contentPart>
          </mc:Choice>
          <mc:Fallback>
            <p:pic>
              <p:nvPicPr>
                <p:cNvPr id="38" name="墨迹 37">
                  <a:extLst>
                    <a:ext uri="{FF2B5EF4-FFF2-40B4-BE49-F238E27FC236}">
                      <a16:creationId xmlns:a16="http://schemas.microsoft.com/office/drawing/2014/main" id="{7B520229-D870-5E9F-7D4A-87C79C093355}"/>
                    </a:ext>
                  </a:extLst>
                </p:cNvPr>
                <p:cNvPicPr/>
                <p:nvPr/>
              </p:nvPicPr>
              <p:blipFill>
                <a:blip r:embed="rId28"/>
                <a:stretch>
                  <a:fillRect/>
                </a:stretch>
              </p:blipFill>
              <p:spPr>
                <a:xfrm>
                  <a:off x="1659000" y="3995547"/>
                  <a:ext cx="925200" cy="839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9" name="墨迹 38">
                  <a:extLst>
                    <a:ext uri="{FF2B5EF4-FFF2-40B4-BE49-F238E27FC236}">
                      <a16:creationId xmlns:a16="http://schemas.microsoft.com/office/drawing/2014/main" id="{3B25591B-CE00-9876-44A4-6A665A5C42D1}"/>
                    </a:ext>
                  </a:extLst>
                </p14:cNvPr>
                <p14:cNvContentPartPr/>
                <p14:nvPr/>
              </p14:nvContentPartPr>
              <p14:xfrm>
                <a:off x="1938360" y="4372107"/>
                <a:ext cx="303480" cy="266400"/>
              </p14:xfrm>
            </p:contentPart>
          </mc:Choice>
          <mc:Fallback>
            <p:pic>
              <p:nvPicPr>
                <p:cNvPr id="39" name="墨迹 38">
                  <a:extLst>
                    <a:ext uri="{FF2B5EF4-FFF2-40B4-BE49-F238E27FC236}">
                      <a16:creationId xmlns:a16="http://schemas.microsoft.com/office/drawing/2014/main" id="{3B25591B-CE00-9876-44A4-6A665A5C42D1}"/>
                    </a:ext>
                  </a:extLst>
                </p:cNvPr>
                <p:cNvPicPr/>
                <p:nvPr/>
              </p:nvPicPr>
              <p:blipFill>
                <a:blip r:embed="rId30"/>
                <a:stretch>
                  <a:fillRect/>
                </a:stretch>
              </p:blipFill>
              <p:spPr>
                <a:xfrm>
                  <a:off x="1929720" y="4363107"/>
                  <a:ext cx="321120" cy="284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1">
            <p14:nvContentPartPr>
              <p14:cNvPr id="57" name="墨迹 56">
                <a:extLst>
                  <a:ext uri="{FF2B5EF4-FFF2-40B4-BE49-F238E27FC236}">
                    <a16:creationId xmlns:a16="http://schemas.microsoft.com/office/drawing/2014/main" id="{3DFB15C5-798E-FA3D-EDB4-49EAC5F14968}"/>
                  </a:ext>
                </a:extLst>
              </p14:cNvPr>
              <p14:cNvContentPartPr/>
              <p14:nvPr/>
            </p14:nvContentPartPr>
            <p14:xfrm>
              <a:off x="2502840" y="3663987"/>
              <a:ext cx="1418040" cy="1225080"/>
            </p14:xfrm>
          </p:contentPart>
        </mc:Choice>
        <mc:Fallback>
          <p:pic>
            <p:nvPicPr>
              <p:cNvPr id="57" name="墨迹 56">
                <a:extLst>
                  <a:ext uri="{FF2B5EF4-FFF2-40B4-BE49-F238E27FC236}">
                    <a16:creationId xmlns:a16="http://schemas.microsoft.com/office/drawing/2014/main" id="{3DFB15C5-798E-FA3D-EDB4-49EAC5F14968}"/>
                  </a:ext>
                </a:extLst>
              </p:cNvPr>
              <p:cNvPicPr/>
              <p:nvPr/>
            </p:nvPicPr>
            <p:blipFill>
              <a:blip r:embed="rId32"/>
              <a:stretch>
                <a:fillRect/>
              </a:stretch>
            </p:blipFill>
            <p:spPr>
              <a:xfrm>
                <a:off x="2493840" y="3655347"/>
                <a:ext cx="1435680" cy="1242720"/>
              </a:xfrm>
              <a:prstGeom prst="rect">
                <a:avLst/>
              </a:prstGeom>
            </p:spPr>
          </p:pic>
        </mc:Fallback>
      </mc:AlternateContent>
    </p:spTree>
    <p:extLst>
      <p:ext uri="{BB962C8B-B14F-4D97-AF65-F5344CB8AC3E}">
        <p14:creationId xmlns:p14="http://schemas.microsoft.com/office/powerpoint/2010/main" val="41976696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缓解</a:t>
            </a:r>
            <a:r>
              <a:rPr lang="en-US" altLang="zh-CN" dirty="0"/>
              <a:t>TCP</a:t>
            </a:r>
            <a:r>
              <a:rPr lang="zh-CN" altLang="en-US" dirty="0"/>
              <a:t>全局同步现象</a:t>
            </a:r>
          </a:p>
        </p:txBody>
      </p:sp>
      <p:sp>
        <p:nvSpPr>
          <p:cNvPr id="3" name="文本占位符 2"/>
          <p:cNvSpPr>
            <a:spLocks noGrp="1"/>
          </p:cNvSpPr>
          <p:nvPr>
            <p:ph type="body" sz="quarter" idx="10"/>
          </p:nvPr>
        </p:nvSpPr>
        <p:spPr bwMode="gray"/>
        <p:txBody>
          <a:bodyPr/>
          <a:lstStyle/>
          <a:p>
            <a:r>
              <a:rPr lang="en-US" altLang="zh-CN" dirty="0"/>
              <a:t>RED</a:t>
            </a:r>
            <a:r>
              <a:rPr lang="zh-CN" altLang="en-US" dirty="0"/>
              <a:t>通过随机地丢弃数据报文，让多个</a:t>
            </a:r>
            <a:r>
              <a:rPr lang="en-US" altLang="zh-CN" dirty="0"/>
              <a:t>TCP</a:t>
            </a:r>
            <a:r>
              <a:rPr lang="zh-CN" altLang="en-US" dirty="0"/>
              <a:t>连接不同时降低发送速度，从而避免了</a:t>
            </a:r>
            <a:r>
              <a:rPr lang="en-US" altLang="zh-CN" dirty="0"/>
              <a:t>TCP</a:t>
            </a:r>
            <a:r>
              <a:rPr lang="zh-CN" altLang="en-US" dirty="0"/>
              <a:t>的全局同步现象。</a:t>
            </a:r>
          </a:p>
        </p:txBody>
      </p:sp>
      <p:pic>
        <p:nvPicPr>
          <p:cNvPr id="30" name="图片 2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199456" y="2816510"/>
            <a:ext cx="5303961" cy="2670509"/>
          </a:xfrm>
          <a:prstGeom prst="rect">
            <a:avLst/>
          </a:prstGeom>
        </p:spPr>
      </p:pic>
      <p:sp>
        <p:nvSpPr>
          <p:cNvPr id="31" name="iṥ1iďe"/>
          <p:cNvSpPr txBox="1"/>
          <p:nvPr/>
        </p:nvSpPr>
        <p:spPr bwMode="gray">
          <a:xfrm>
            <a:off x="1174826" y="2492474"/>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流量</a:t>
            </a:r>
            <a:endParaRPr kumimoji="0" lang="en-US" altLang="zh-CN"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6" name="iṥ1iďe"/>
          <p:cNvSpPr txBox="1"/>
          <p:nvPr/>
        </p:nvSpPr>
        <p:spPr bwMode="gray">
          <a:xfrm>
            <a:off x="6035366" y="5334556"/>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时间</a:t>
            </a:r>
            <a:endParaRPr kumimoji="0" lang="en-US" altLang="zh-CN"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7" name="iṥ1iďe"/>
          <p:cNvSpPr txBox="1"/>
          <p:nvPr/>
        </p:nvSpPr>
        <p:spPr bwMode="gray">
          <a:xfrm>
            <a:off x="839466" y="3353914"/>
            <a:ext cx="803412"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rPr>
              <a:t>最大值</a:t>
            </a:r>
            <a:endParaRPr kumimoji="0" lang="en-US" altLang="zh-CN" sz="1400"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49" name="组合 48"/>
          <p:cNvGrpSpPr/>
          <p:nvPr/>
        </p:nvGrpSpPr>
        <p:grpSpPr bwMode="gray">
          <a:xfrm>
            <a:off x="6924092" y="3320567"/>
            <a:ext cx="4548771" cy="1980219"/>
            <a:chOff x="6535683" y="5538820"/>
            <a:chExt cx="5436604" cy="787684"/>
          </a:xfrm>
        </p:grpSpPr>
        <p:sp>
          <p:nvSpPr>
            <p:cNvPr id="50" name="矩形 49"/>
            <p:cNvSpPr/>
            <p:nvPr/>
          </p:nvSpPr>
          <p:spPr bwMode="gray">
            <a:xfrm>
              <a:off x="6535683" y="5538820"/>
              <a:ext cx="5436604" cy="787684"/>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51" name="组合 50"/>
            <p:cNvGrpSpPr/>
            <p:nvPr/>
          </p:nvGrpSpPr>
          <p:grpSpPr bwMode="gray">
            <a:xfrm>
              <a:off x="6578714" y="5553141"/>
              <a:ext cx="5370670" cy="730555"/>
              <a:chOff x="6578714" y="5553141"/>
              <a:chExt cx="5370670" cy="730555"/>
            </a:xfrm>
          </p:grpSpPr>
          <p:sp>
            <p:nvSpPr>
              <p:cNvPr id="54" name="文本框 53"/>
              <p:cNvSpPr txBox="1"/>
              <p:nvPr/>
            </p:nvSpPr>
            <p:spPr bwMode="gray">
              <a:xfrm>
                <a:off x="6608794" y="5982638"/>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缺点：</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55" name="文本框 54"/>
              <p:cNvSpPr txBox="1"/>
              <p:nvPr/>
            </p:nvSpPr>
            <p:spPr bwMode="gray">
              <a:xfrm>
                <a:off x="6578714" y="6126003"/>
                <a:ext cx="5370670"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Arial" panose="020B0604020202020204" pitchFamily="34" charset="0"/>
                  <a:buChar char="•"/>
                </a:pPr>
                <a:r>
                  <a:rPr lang="en-US" altLang="zh-CN" sz="1600" dirty="0">
                    <a:solidFill>
                      <a:srgbClr val="000000"/>
                    </a:solidFill>
                    <a:latin typeface="Huawei Sans" panose="020C0503030203020204" pitchFamily="34" charset="0"/>
                    <a:ea typeface="方正兰亭黑简体" panose="02000000000000000000" pitchFamily="2" charset="-122"/>
                  </a:rPr>
                  <a:t>RED</a:t>
                </a:r>
                <a:r>
                  <a:rPr lang="zh-CN" altLang="en-US" sz="1600" dirty="0">
                    <a:solidFill>
                      <a:srgbClr val="000000"/>
                    </a:solidFill>
                    <a:latin typeface="Huawei Sans" panose="020C0503030203020204" pitchFamily="34" charset="0"/>
                    <a:ea typeface="方正兰亭黑简体" panose="02000000000000000000" pitchFamily="2" charset="-122"/>
                  </a:rPr>
                  <a:t>也无法对流量进行区分</a:t>
                </a:r>
              </a:p>
            </p:txBody>
          </p:sp>
          <p:sp>
            <p:nvSpPr>
              <p:cNvPr id="56" name="文本框 55"/>
              <p:cNvSpPr txBox="1"/>
              <p:nvPr/>
            </p:nvSpPr>
            <p:spPr bwMode="gray">
              <a:xfrm>
                <a:off x="6608794" y="5553141"/>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现象：</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57" name="文本框 56"/>
              <p:cNvSpPr txBox="1"/>
              <p:nvPr/>
            </p:nvSpPr>
            <p:spPr bwMode="gray">
              <a:xfrm>
                <a:off x="6578714" y="5682035"/>
                <a:ext cx="5370670" cy="28011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仍可能出现</a:t>
                </a:r>
                <a:r>
                  <a:rPr lang="en-US" altLang="zh-CN" sz="1600" dirty="0">
                    <a:solidFill>
                      <a:srgbClr val="000000"/>
                    </a:solidFill>
                    <a:latin typeface="Huawei Sans" panose="020C0503030203020204" pitchFamily="34" charset="0"/>
                    <a:ea typeface="方正兰亭黑简体" panose="02000000000000000000" pitchFamily="2" charset="-122"/>
                  </a:rPr>
                  <a:t>TCP</a:t>
                </a:r>
                <a:r>
                  <a:rPr lang="zh-CN" altLang="en-US" sz="1600" dirty="0">
                    <a:solidFill>
                      <a:srgbClr val="000000"/>
                    </a:solidFill>
                    <a:latin typeface="Huawei Sans" panose="020C0503030203020204" pitchFamily="34" charset="0"/>
                    <a:ea typeface="方正兰亭黑简体" panose="02000000000000000000" pitchFamily="2" charset="-122"/>
                  </a:rPr>
                  <a:t>全局同步现象，但链路利用率已大大增加</a:t>
                </a:r>
              </a:p>
            </p:txBody>
          </p:sp>
        </p:grpSp>
      </p:grpSp>
      <p:sp>
        <p:nvSpPr>
          <p:cNvPr id="16" name="Rectangular Callout 15"/>
          <p:cNvSpPr/>
          <p:nvPr/>
        </p:nvSpPr>
        <p:spPr bwMode="gray">
          <a:xfrm>
            <a:off x="3011004" y="3753006"/>
            <a:ext cx="1680864" cy="309667"/>
          </a:xfrm>
          <a:prstGeom prst="wedgeRectCallout">
            <a:avLst>
              <a:gd name="adj1" fmla="val -29509"/>
              <a:gd name="adj2" fmla="val -8967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TCP</a:t>
            </a:r>
            <a:r>
              <a:rPr lang="zh-CN" altLang="en-US" sz="1400" b="1" dirty="0">
                <a:solidFill>
                  <a:schemeClr val="tx1"/>
                </a:solidFill>
                <a:latin typeface="Huawei Sans" panose="020C0503030203020204" pitchFamily="34" charset="0"/>
                <a:ea typeface="方正兰亭黑简体" panose="02000000000000000000" pitchFamily="2" charset="-122"/>
              </a:rPr>
              <a:t>全局同步现象</a:t>
            </a:r>
          </a:p>
        </p:txBody>
      </p:sp>
      <p:grpSp>
        <p:nvGrpSpPr>
          <p:cNvPr id="6" name="组合 5">
            <a:extLst>
              <a:ext uri="{FF2B5EF4-FFF2-40B4-BE49-F238E27FC236}">
                <a16:creationId xmlns:a16="http://schemas.microsoft.com/office/drawing/2014/main" id="{F7291712-C4EE-DB7C-E93D-3A8F28C0A780}"/>
              </a:ext>
            </a:extLst>
          </p:cNvPr>
          <p:cNvGrpSpPr/>
          <p:nvPr/>
        </p:nvGrpSpPr>
        <p:grpSpPr>
          <a:xfrm>
            <a:off x="6738240" y="4444827"/>
            <a:ext cx="3659040" cy="1043280"/>
            <a:chOff x="6738240" y="4444827"/>
            <a:chExt cx="3659040" cy="1043280"/>
          </a:xfrm>
        </p:grpSpPr>
        <mc:AlternateContent xmlns:mc="http://schemas.openxmlformats.org/markup-compatibility/2006">
          <mc:Choice xmlns:p14="http://schemas.microsoft.com/office/powerpoint/2010/main" Requires="p14">
            <p:contentPart p14:bwMode="auto" r:id="rId4">
              <p14:nvContentPartPr>
                <p14:cNvPr id="4" name="墨迹 3">
                  <a:extLst>
                    <a:ext uri="{FF2B5EF4-FFF2-40B4-BE49-F238E27FC236}">
                      <a16:creationId xmlns:a16="http://schemas.microsoft.com/office/drawing/2014/main" id="{560C0D4F-D936-D332-4805-6F4FA89EF9B1}"/>
                    </a:ext>
                  </a:extLst>
                </p14:cNvPr>
                <p14:cNvContentPartPr/>
                <p14:nvPr/>
              </p14:nvContentPartPr>
              <p14:xfrm>
                <a:off x="6738240" y="4444827"/>
                <a:ext cx="3659040" cy="1043280"/>
              </p14:xfrm>
            </p:contentPart>
          </mc:Choice>
          <mc:Fallback>
            <p:pic>
              <p:nvPicPr>
                <p:cNvPr id="4" name="墨迹 3">
                  <a:extLst>
                    <a:ext uri="{FF2B5EF4-FFF2-40B4-BE49-F238E27FC236}">
                      <a16:creationId xmlns:a16="http://schemas.microsoft.com/office/drawing/2014/main" id="{560C0D4F-D936-D332-4805-6F4FA89EF9B1}"/>
                    </a:ext>
                  </a:extLst>
                </p:cNvPr>
                <p:cNvPicPr/>
                <p:nvPr/>
              </p:nvPicPr>
              <p:blipFill>
                <a:blip r:embed="rId5"/>
                <a:stretch>
                  <a:fillRect/>
                </a:stretch>
              </p:blipFill>
              <p:spPr>
                <a:xfrm>
                  <a:off x="6729240" y="4435827"/>
                  <a:ext cx="3676680" cy="1060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墨迹 4">
                  <a:extLst>
                    <a:ext uri="{FF2B5EF4-FFF2-40B4-BE49-F238E27FC236}">
                      <a16:creationId xmlns:a16="http://schemas.microsoft.com/office/drawing/2014/main" id="{0F48F799-D717-CBC9-D33D-D374042647AA}"/>
                    </a:ext>
                  </a:extLst>
                </p14:cNvPr>
                <p14:cNvContentPartPr/>
                <p14:nvPr/>
              </p14:nvContentPartPr>
              <p14:xfrm>
                <a:off x="8127840" y="5223147"/>
                <a:ext cx="1602360" cy="21600"/>
              </p14:xfrm>
            </p:contentPart>
          </mc:Choice>
          <mc:Fallback>
            <p:pic>
              <p:nvPicPr>
                <p:cNvPr id="5" name="墨迹 4">
                  <a:extLst>
                    <a:ext uri="{FF2B5EF4-FFF2-40B4-BE49-F238E27FC236}">
                      <a16:creationId xmlns:a16="http://schemas.microsoft.com/office/drawing/2014/main" id="{0F48F799-D717-CBC9-D33D-D374042647AA}"/>
                    </a:ext>
                  </a:extLst>
                </p:cNvPr>
                <p:cNvPicPr/>
                <p:nvPr/>
              </p:nvPicPr>
              <p:blipFill>
                <a:blip r:embed="rId7"/>
                <a:stretch>
                  <a:fillRect/>
                </a:stretch>
              </p:blipFill>
              <p:spPr>
                <a:xfrm>
                  <a:off x="8118840" y="5214147"/>
                  <a:ext cx="1620000" cy="39240"/>
                </a:xfrm>
                <a:prstGeom prst="rect">
                  <a:avLst/>
                </a:prstGeom>
              </p:spPr>
            </p:pic>
          </mc:Fallback>
        </mc:AlternateContent>
      </p:grpSp>
    </p:spTree>
    <p:extLst>
      <p:ext uri="{BB962C8B-B14F-4D97-AF65-F5344CB8AC3E}">
        <p14:creationId xmlns:p14="http://schemas.microsoft.com/office/powerpoint/2010/main" val="27090784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策略</a:t>
            </a:r>
            <a:r>
              <a:rPr lang="en-US" altLang="zh-CN" dirty="0"/>
              <a:t>3</a:t>
            </a:r>
            <a:r>
              <a:rPr lang="zh-CN" altLang="en-US" dirty="0"/>
              <a:t>：加权随机先期检测 </a:t>
            </a:r>
            <a:r>
              <a:rPr lang="en-US" altLang="zh-CN" dirty="0"/>
              <a:t>(WRED)</a:t>
            </a:r>
            <a:endParaRPr lang="zh-CN" altLang="en-US" dirty="0"/>
          </a:p>
        </p:txBody>
      </p:sp>
      <p:sp>
        <p:nvSpPr>
          <p:cNvPr id="3" name="文本占位符 2"/>
          <p:cNvSpPr>
            <a:spLocks noGrp="1"/>
          </p:cNvSpPr>
          <p:nvPr>
            <p:ph type="body" sz="quarter" idx="10"/>
          </p:nvPr>
        </p:nvSpPr>
        <p:spPr bwMode="gray"/>
        <p:txBody>
          <a:bodyPr/>
          <a:lstStyle/>
          <a:p>
            <a:r>
              <a:rPr lang="en-US" altLang="zh-CN" dirty="0"/>
              <a:t>WRED</a:t>
            </a:r>
            <a:r>
              <a:rPr lang="zh-CN" altLang="en-US" dirty="0"/>
              <a:t>（</a:t>
            </a:r>
            <a:r>
              <a:rPr lang="en-US" altLang="zh-CN" dirty="0"/>
              <a:t>Weighted Random Early Detection</a:t>
            </a:r>
            <a:r>
              <a:rPr lang="zh-CN" altLang="en-US" dirty="0"/>
              <a:t>）通过对不同优先级数据包或队列设置相应的丢弃策略，以实现对不同流量进行</a:t>
            </a:r>
            <a:r>
              <a:rPr lang="zh-CN" altLang="en-US" dirty="0">
                <a:solidFill>
                  <a:srgbClr val="C00000"/>
                </a:solidFill>
              </a:rPr>
              <a:t>区分丢弃</a:t>
            </a:r>
            <a:r>
              <a:rPr lang="zh-CN" altLang="en-US" dirty="0"/>
              <a:t>。</a:t>
            </a:r>
          </a:p>
        </p:txBody>
      </p:sp>
      <p:grpSp>
        <p:nvGrpSpPr>
          <p:cNvPr id="41" name="组合 40"/>
          <p:cNvGrpSpPr/>
          <p:nvPr/>
        </p:nvGrpSpPr>
        <p:grpSpPr bwMode="gray">
          <a:xfrm>
            <a:off x="6910184" y="2567568"/>
            <a:ext cx="4728792" cy="2808310"/>
            <a:chOff x="6564052" y="5209430"/>
            <a:chExt cx="5436605" cy="1117079"/>
          </a:xfrm>
        </p:grpSpPr>
        <p:sp>
          <p:nvSpPr>
            <p:cNvPr id="42" name="矩形 41"/>
            <p:cNvSpPr/>
            <p:nvPr/>
          </p:nvSpPr>
          <p:spPr bwMode="gray">
            <a:xfrm>
              <a:off x="6564052" y="5209430"/>
              <a:ext cx="5353818" cy="1117079"/>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43" name="组合 42"/>
            <p:cNvGrpSpPr/>
            <p:nvPr/>
          </p:nvGrpSpPr>
          <p:grpSpPr bwMode="gray">
            <a:xfrm>
              <a:off x="6629987" y="5223595"/>
              <a:ext cx="5370670" cy="1064784"/>
              <a:chOff x="6629987" y="5223595"/>
              <a:chExt cx="5370670" cy="1064784"/>
            </a:xfrm>
          </p:grpSpPr>
          <p:sp>
            <p:nvSpPr>
              <p:cNvPr id="44" name="文本框 43"/>
              <p:cNvSpPr txBox="1"/>
              <p:nvPr/>
            </p:nvSpPr>
            <p:spPr bwMode="gray">
              <a:xfrm>
                <a:off x="6660067" y="5223595"/>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举例：</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45" name="文本框 44"/>
              <p:cNvSpPr txBox="1"/>
              <p:nvPr/>
            </p:nvSpPr>
            <p:spPr bwMode="gray">
              <a:xfrm>
                <a:off x="6629987" y="5363241"/>
                <a:ext cx="5370670" cy="3770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en-US" altLang="zh-CN" sz="1400" dirty="0">
                    <a:solidFill>
                      <a:srgbClr val="000000"/>
                    </a:solidFill>
                    <a:latin typeface="Huawei Sans" panose="020C0503030203020204" pitchFamily="34" charset="0"/>
                    <a:ea typeface="方正兰亭黑简体" panose="02000000000000000000" pitchFamily="2" charset="-122"/>
                  </a:rPr>
                  <a:t>IP Precedence=0</a:t>
                </a:r>
                <a:r>
                  <a:rPr lang="zh-CN" altLang="en-US" sz="1400" dirty="0">
                    <a:solidFill>
                      <a:srgbClr val="000000"/>
                    </a:solidFill>
                    <a:latin typeface="Huawei Sans" panose="020C0503030203020204" pitchFamily="34" charset="0"/>
                    <a:ea typeface="方正兰亭黑简体" panose="02000000000000000000" pitchFamily="2" charset="-122"/>
                  </a:rPr>
                  <a:t>的流量低门限为</a:t>
                </a:r>
                <a:r>
                  <a:rPr lang="en-US" altLang="zh-CN" sz="1400" dirty="0">
                    <a:solidFill>
                      <a:srgbClr val="000000"/>
                    </a:solidFill>
                    <a:latin typeface="Huawei Sans" panose="020C0503030203020204" pitchFamily="34" charset="0"/>
                    <a:ea typeface="方正兰亭黑简体" panose="02000000000000000000" pitchFamily="2" charset="-122"/>
                  </a:rPr>
                  <a:t>20</a:t>
                </a:r>
                <a:r>
                  <a:rPr lang="zh-CN" altLang="en-US" sz="1400" dirty="0">
                    <a:solidFill>
                      <a:srgbClr val="000000"/>
                    </a:solidFill>
                    <a:latin typeface="Huawei Sans" panose="020C0503030203020204" pitchFamily="34" charset="0"/>
                    <a:ea typeface="方正兰亭黑简体" panose="02000000000000000000" pitchFamily="2" charset="-122"/>
                  </a:rPr>
                  <a:t>，高门限为</a:t>
                </a:r>
                <a:r>
                  <a:rPr lang="en-US" altLang="zh-CN" sz="1400" dirty="0">
                    <a:solidFill>
                      <a:srgbClr val="000000"/>
                    </a:solidFill>
                    <a:latin typeface="Huawei Sans" panose="020C0503030203020204" pitchFamily="34" charset="0"/>
                    <a:ea typeface="方正兰亭黑简体" panose="02000000000000000000" pitchFamily="2" charset="-122"/>
                  </a:rPr>
                  <a:t>40</a:t>
                </a:r>
              </a:p>
              <a:p>
                <a:pPr marL="342900" indent="-342900">
                  <a:lnSpc>
                    <a:spcPct val="125000"/>
                  </a:lnSpc>
                  <a:spcBef>
                    <a:spcPts val="200"/>
                  </a:spcBef>
                  <a:spcAft>
                    <a:spcPts val="200"/>
                  </a:spcAft>
                  <a:buFont typeface="+mj-lt"/>
                  <a:buAutoNum type="arabicPeriod"/>
                </a:pPr>
                <a:r>
                  <a:rPr lang="en-US" altLang="zh-CN" sz="1400" dirty="0">
                    <a:solidFill>
                      <a:srgbClr val="000000"/>
                    </a:solidFill>
                    <a:latin typeface="Huawei Sans" panose="020C0503030203020204" pitchFamily="34" charset="0"/>
                    <a:ea typeface="方正兰亭黑简体" panose="02000000000000000000" pitchFamily="2" charset="-122"/>
                  </a:rPr>
                  <a:t>IP Precedence=2</a:t>
                </a:r>
                <a:r>
                  <a:rPr lang="zh-CN" altLang="en-US" sz="1400" dirty="0">
                    <a:solidFill>
                      <a:srgbClr val="000000"/>
                    </a:solidFill>
                    <a:latin typeface="Huawei Sans" panose="020C0503030203020204" pitchFamily="34" charset="0"/>
                    <a:ea typeface="方正兰亭黑简体" panose="02000000000000000000" pitchFamily="2" charset="-122"/>
                  </a:rPr>
                  <a:t>的流量低门限为</a:t>
                </a:r>
                <a:r>
                  <a:rPr lang="en-US" altLang="zh-CN" sz="1400" dirty="0">
                    <a:solidFill>
                      <a:srgbClr val="000000"/>
                    </a:solidFill>
                    <a:latin typeface="Huawei Sans" panose="020C0503030203020204" pitchFamily="34" charset="0"/>
                    <a:ea typeface="方正兰亭黑简体" panose="02000000000000000000" pitchFamily="2" charset="-122"/>
                  </a:rPr>
                  <a:t>35</a:t>
                </a:r>
                <a:r>
                  <a:rPr lang="zh-CN" altLang="en-US" sz="1400" dirty="0">
                    <a:solidFill>
                      <a:srgbClr val="000000"/>
                    </a:solidFill>
                    <a:latin typeface="Huawei Sans" panose="020C0503030203020204" pitchFamily="34" charset="0"/>
                    <a:ea typeface="方正兰亭黑简体" panose="02000000000000000000" pitchFamily="2" charset="-122"/>
                  </a:rPr>
                  <a:t>，高门限为</a:t>
                </a:r>
                <a:r>
                  <a:rPr lang="en-US" altLang="zh-CN" sz="1400" dirty="0">
                    <a:solidFill>
                      <a:srgbClr val="000000"/>
                    </a:solidFill>
                    <a:latin typeface="Huawei Sans" panose="020C0503030203020204" pitchFamily="34" charset="0"/>
                    <a:ea typeface="方正兰亭黑简体" panose="02000000000000000000" pitchFamily="2" charset="-122"/>
                  </a:rPr>
                  <a:t>40</a:t>
                </a:r>
                <a:r>
                  <a:rPr lang="zh-CN" altLang="en-US" sz="1400" dirty="0">
                    <a:solidFill>
                      <a:srgbClr val="000000"/>
                    </a:solidFill>
                    <a:latin typeface="Huawei Sans" panose="020C0503030203020204" pitchFamily="34" charset="0"/>
                    <a:ea typeface="方正兰亭黑简体" panose="02000000000000000000" pitchFamily="2" charset="-122"/>
                  </a:rPr>
                  <a:t>，相对于</a:t>
                </a:r>
                <a:r>
                  <a:rPr lang="en-US" altLang="zh-CN" sz="1400" dirty="0">
                    <a:solidFill>
                      <a:srgbClr val="000000"/>
                    </a:solidFill>
                    <a:latin typeface="Huawei Sans" panose="020C0503030203020204" pitchFamily="34" charset="0"/>
                    <a:ea typeface="方正兰亭黑简体" panose="02000000000000000000" pitchFamily="2" charset="-122"/>
                  </a:rPr>
                  <a:t>IPP=0</a:t>
                </a:r>
                <a:r>
                  <a:rPr lang="zh-CN" altLang="en-US" sz="1400" dirty="0">
                    <a:solidFill>
                      <a:srgbClr val="000000"/>
                    </a:solidFill>
                    <a:latin typeface="Huawei Sans" panose="020C0503030203020204" pitchFamily="34" charset="0"/>
                    <a:ea typeface="方正兰亭黑简体" panose="02000000000000000000" pitchFamily="2" charset="-122"/>
                  </a:rPr>
                  <a:t>的流量晚丢</a:t>
                </a:r>
                <a:endParaRPr lang="en-US" altLang="zh-CN" sz="1400" dirty="0">
                  <a:solidFill>
                    <a:srgbClr val="000000"/>
                  </a:solidFill>
                  <a:latin typeface="Huawei Sans" panose="020C0503030203020204" pitchFamily="34" charset="0"/>
                  <a:ea typeface="方正兰亭黑简体" panose="02000000000000000000" pitchFamily="2" charset="-122"/>
                </a:endParaRPr>
              </a:p>
            </p:txBody>
          </p:sp>
          <p:sp>
            <p:nvSpPr>
              <p:cNvPr id="53" name="文本框 52"/>
              <p:cNvSpPr txBox="1"/>
              <p:nvPr/>
            </p:nvSpPr>
            <p:spPr bwMode="gray">
              <a:xfrm>
                <a:off x="6660067" y="5753647"/>
                <a:ext cx="1091052" cy="15769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buFont typeface="Arial" panose="020B0604020202020204" pitchFamily="34" charset="0"/>
                  <a:buChar char="•"/>
                </a:pPr>
                <a:r>
                  <a:rPr lang="zh-CN" altLang="en-US" sz="1600" b="1" dirty="0">
                    <a:solidFill>
                      <a:srgbClr val="000000"/>
                    </a:solidFill>
                    <a:latin typeface="Huawei Sans" panose="020C0503030203020204" pitchFamily="34" charset="0"/>
                    <a:ea typeface="方正兰亭黑简体" panose="02000000000000000000" pitchFamily="2" charset="-122"/>
                  </a:rPr>
                  <a:t>优点：</a:t>
                </a:r>
                <a:endParaRPr lang="en-US" altLang="zh-CN" sz="1600" b="1" dirty="0">
                  <a:solidFill>
                    <a:srgbClr val="000000"/>
                  </a:solidFill>
                  <a:latin typeface="Huawei Sans" panose="020C0503030203020204" pitchFamily="34" charset="0"/>
                  <a:ea typeface="方正兰亭黑简体" panose="02000000000000000000" pitchFamily="2" charset="-122"/>
                </a:endParaRPr>
              </a:p>
            </p:txBody>
          </p:sp>
          <p:sp>
            <p:nvSpPr>
              <p:cNvPr id="54" name="文本框 53"/>
              <p:cNvSpPr txBox="1"/>
              <p:nvPr/>
            </p:nvSpPr>
            <p:spPr bwMode="gray">
              <a:xfrm>
                <a:off x="6629987" y="5911339"/>
                <a:ext cx="5370670" cy="377040"/>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打乱</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滑动窗口的调整时间，避免</a:t>
                </a:r>
                <a:r>
                  <a:rPr lang="en-US" altLang="zh-CN" sz="1400" dirty="0">
                    <a:solidFill>
                      <a:srgbClr val="000000"/>
                    </a:solidFill>
                    <a:latin typeface="Huawei Sans" panose="020C0503030203020204" pitchFamily="34" charset="0"/>
                    <a:ea typeface="方正兰亭黑简体" panose="02000000000000000000" pitchFamily="2" charset="-122"/>
                  </a:rPr>
                  <a:t>TCP</a:t>
                </a:r>
                <a:r>
                  <a:rPr lang="zh-CN" altLang="en-US" sz="1400" dirty="0">
                    <a:solidFill>
                      <a:srgbClr val="000000"/>
                    </a:solidFill>
                    <a:latin typeface="Huawei Sans" panose="020C0503030203020204" pitchFamily="34" charset="0"/>
                    <a:ea typeface="方正兰亭黑简体" panose="02000000000000000000" pitchFamily="2" charset="-122"/>
                  </a:rPr>
                  <a:t>全局同步现象</a:t>
                </a:r>
                <a:endParaRPr lang="en-US" altLang="zh-CN" sz="1400" dirty="0">
                  <a:solidFill>
                    <a:srgbClr val="000000"/>
                  </a:solidFill>
                  <a:latin typeface="Huawei Sans" panose="020C0503030203020204" pitchFamily="34" charset="0"/>
                  <a:ea typeface="方正兰亭黑简体" panose="02000000000000000000" pitchFamily="2" charset="-122"/>
                </a:endParaRPr>
              </a:p>
              <a:p>
                <a:pPr marL="342900" indent="-342900">
                  <a:lnSpc>
                    <a:spcPct val="125000"/>
                  </a:lnSpc>
                  <a:spcBef>
                    <a:spcPts val="200"/>
                  </a:spcBef>
                  <a:spcAft>
                    <a:spcPts val="200"/>
                  </a:spcAft>
                  <a:buFont typeface="+mj-lt"/>
                  <a:buAutoNum type="arabicPeriod"/>
                </a:pPr>
                <a:r>
                  <a:rPr lang="zh-CN" altLang="en-US" sz="1400" dirty="0">
                    <a:solidFill>
                      <a:srgbClr val="000000"/>
                    </a:solidFill>
                    <a:latin typeface="Huawei Sans" panose="020C0503030203020204" pitchFamily="34" charset="0"/>
                    <a:ea typeface="方正兰亭黑简体" panose="02000000000000000000" pitchFamily="2" charset="-122"/>
                  </a:rPr>
                  <a:t>基于权重，实现了不同流量的区分丢弃</a:t>
                </a:r>
                <a:endParaRPr lang="en-US" altLang="zh-CN" sz="1400" dirty="0">
                  <a:solidFill>
                    <a:srgbClr val="000000"/>
                  </a:solidFill>
                  <a:latin typeface="Huawei Sans" panose="020C0503030203020204" pitchFamily="34" charset="0"/>
                  <a:ea typeface="方正兰亭黑简体" panose="02000000000000000000" pitchFamily="2" charset="-122"/>
                </a:endParaRPr>
              </a:p>
            </p:txBody>
          </p:sp>
        </p:grpSp>
      </p:grpSp>
      <p:grpSp>
        <p:nvGrpSpPr>
          <p:cNvPr id="15" name="组合 14"/>
          <p:cNvGrpSpPr/>
          <p:nvPr/>
        </p:nvGrpSpPr>
        <p:grpSpPr bwMode="gray">
          <a:xfrm>
            <a:off x="753500" y="2279536"/>
            <a:ext cx="6120680" cy="2882952"/>
            <a:chOff x="911424" y="2492896"/>
            <a:chExt cx="6120680" cy="2882952"/>
          </a:xfrm>
        </p:grpSpPr>
        <p:cxnSp>
          <p:nvCxnSpPr>
            <p:cNvPr id="4" name="肘形连接符 3"/>
            <p:cNvCxnSpPr/>
            <p:nvPr/>
          </p:nvCxnSpPr>
          <p:spPr bwMode="gray">
            <a:xfrm>
              <a:off x="1811040" y="2890256"/>
              <a:ext cx="4320000" cy="2160000"/>
            </a:xfrm>
            <a:prstGeom prst="bentConnector3">
              <a:avLst>
                <a:gd name="adj1" fmla="val 94"/>
              </a:avLst>
            </a:prstGeom>
            <a:solidFill>
              <a:schemeClr val="accent1"/>
            </a:solidFill>
            <a:ln w="28575" cap="flat" cmpd="sng" algn="ctr">
              <a:solidFill>
                <a:schemeClr val="tx1"/>
              </a:solidFill>
              <a:prstDash val="solid"/>
              <a:round/>
              <a:headEnd type="triangle"/>
              <a:tailEnd type="triangle"/>
            </a:ln>
            <a:effectLst/>
          </p:spPr>
        </p:cxnSp>
        <p:cxnSp>
          <p:nvCxnSpPr>
            <p:cNvPr id="7" name="直接连接符 6"/>
            <p:cNvCxnSpPr/>
            <p:nvPr/>
          </p:nvCxnSpPr>
          <p:spPr bwMode="gray">
            <a:xfrm>
              <a:off x="1811524" y="4113076"/>
              <a:ext cx="3204356"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8" name="圆角矩形 7"/>
            <p:cNvSpPr/>
            <p:nvPr/>
          </p:nvSpPr>
          <p:spPr bwMode="gray">
            <a:xfrm>
              <a:off x="1342988" y="2492896"/>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a:t>
              </a:r>
            </a:p>
          </p:txBody>
        </p:sp>
        <p:sp>
          <p:nvSpPr>
            <p:cNvPr id="9" name="圆角矩形 8"/>
            <p:cNvSpPr/>
            <p:nvPr/>
          </p:nvSpPr>
          <p:spPr bwMode="gray">
            <a:xfrm>
              <a:off x="5987504" y="4772572"/>
              <a:ext cx="1044600" cy="49437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实际</a:t>
              </a:r>
              <a:endParaRPr lang="en-US" altLang="zh-CN" sz="14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队列长度</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 name="圆角矩形 9"/>
            <p:cNvSpPr/>
            <p:nvPr/>
          </p:nvSpPr>
          <p:spPr bwMode="gray">
            <a:xfrm>
              <a:off x="1090960" y="3286300"/>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100%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6" name="直接连接符 15"/>
            <p:cNvCxnSpPr/>
            <p:nvPr/>
          </p:nvCxnSpPr>
          <p:spPr bwMode="gray">
            <a:xfrm>
              <a:off x="3394732" y="4834496"/>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 name="直接连接符 17"/>
            <p:cNvCxnSpPr/>
            <p:nvPr/>
          </p:nvCxnSpPr>
          <p:spPr bwMode="gray">
            <a:xfrm>
              <a:off x="4223792" y="4834496"/>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9" name="直接连接符 18"/>
            <p:cNvCxnSpPr/>
            <p:nvPr/>
          </p:nvCxnSpPr>
          <p:spPr bwMode="gray">
            <a:xfrm>
              <a:off x="5015880" y="4834496"/>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1" name="直接连接符 20"/>
            <p:cNvCxnSpPr/>
            <p:nvPr/>
          </p:nvCxnSpPr>
          <p:spPr bwMode="gray">
            <a:xfrm>
              <a:off x="1811040" y="3466320"/>
              <a:ext cx="3528392"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27" name="直接连接符 26"/>
            <p:cNvCxnSpPr/>
            <p:nvPr/>
          </p:nvCxnSpPr>
          <p:spPr bwMode="gray">
            <a:xfrm>
              <a:off x="5015880" y="3466320"/>
              <a:ext cx="0" cy="648072"/>
            </a:xfrm>
            <a:prstGeom prst="line">
              <a:avLst/>
            </a:prstGeom>
            <a:solidFill>
              <a:schemeClr val="accent1"/>
            </a:solidFill>
            <a:ln w="19050" cap="flat" cmpd="sng" algn="ctr">
              <a:solidFill>
                <a:schemeClr val="tx1"/>
              </a:solidFill>
              <a:prstDash val="sysDot"/>
              <a:round/>
              <a:headEnd type="none" w="med" len="med"/>
              <a:tailEnd type="none" w="med" len="med"/>
            </a:ln>
            <a:effectLst/>
          </p:spPr>
        </p:cxnSp>
        <p:cxnSp>
          <p:nvCxnSpPr>
            <p:cNvPr id="29" name="直接连接符 28"/>
            <p:cNvCxnSpPr/>
            <p:nvPr/>
          </p:nvCxnSpPr>
          <p:spPr bwMode="gray">
            <a:xfrm>
              <a:off x="5015880" y="3466320"/>
              <a:ext cx="1080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圆角矩形 31"/>
            <p:cNvSpPr/>
            <p:nvPr/>
          </p:nvSpPr>
          <p:spPr bwMode="gray">
            <a:xfrm>
              <a:off x="911424" y="3862364"/>
              <a:ext cx="971624"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最大</a:t>
              </a:r>
              <a:endParaRPr lang="en-US" altLang="zh-CN" sz="14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a:t>
              </a:r>
            </a:p>
          </p:txBody>
        </p:sp>
        <p:sp>
          <p:nvSpPr>
            <p:cNvPr id="33" name="圆角矩形 32"/>
            <p:cNvSpPr/>
            <p:nvPr/>
          </p:nvSpPr>
          <p:spPr bwMode="gray">
            <a:xfrm>
              <a:off x="2891160" y="5049180"/>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20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4" name="圆角矩形 33"/>
            <p:cNvSpPr/>
            <p:nvPr/>
          </p:nvSpPr>
          <p:spPr bwMode="gray">
            <a:xfrm>
              <a:off x="3864236" y="5050496"/>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30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5" name="圆角矩形 34"/>
            <p:cNvSpPr/>
            <p:nvPr/>
          </p:nvSpPr>
          <p:spPr bwMode="gray">
            <a:xfrm>
              <a:off x="4367808" y="5050496"/>
              <a:ext cx="1332148"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40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30" name="直接连接符 29"/>
            <p:cNvCxnSpPr/>
            <p:nvPr/>
          </p:nvCxnSpPr>
          <p:spPr bwMode="gray">
            <a:xfrm>
              <a:off x="4619836" y="4834496"/>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1" name="圆角矩形 30"/>
            <p:cNvSpPr/>
            <p:nvPr/>
          </p:nvSpPr>
          <p:spPr bwMode="gray">
            <a:xfrm>
              <a:off x="4260280" y="5050496"/>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35</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 name="任意多边形 11"/>
            <p:cNvSpPr/>
            <p:nvPr/>
          </p:nvSpPr>
          <p:spPr bwMode="gray">
            <a:xfrm>
              <a:off x="1821180" y="4114800"/>
              <a:ext cx="3200400" cy="922020"/>
            </a:xfrm>
            <a:custGeom>
              <a:avLst/>
              <a:gdLst>
                <a:gd name="connsiteX0" fmla="*/ 0 w 3200400"/>
                <a:gd name="connsiteY0" fmla="*/ 922020 h 922020"/>
                <a:gd name="connsiteX1" fmla="*/ 1577340 w 3200400"/>
                <a:gd name="connsiteY1" fmla="*/ 922020 h 922020"/>
                <a:gd name="connsiteX2" fmla="*/ 3200400 w 3200400"/>
                <a:gd name="connsiteY2" fmla="*/ 0 h 922020"/>
              </a:gdLst>
              <a:ahLst/>
              <a:cxnLst>
                <a:cxn ang="0">
                  <a:pos x="connsiteX0" y="connsiteY0"/>
                </a:cxn>
                <a:cxn ang="0">
                  <a:pos x="connsiteX1" y="connsiteY1"/>
                </a:cxn>
                <a:cxn ang="0">
                  <a:pos x="connsiteX2" y="connsiteY2"/>
                </a:cxn>
              </a:cxnLst>
              <a:rect l="l" t="t" r="r" b="b"/>
              <a:pathLst>
                <a:path w="3200400" h="922020">
                  <a:moveTo>
                    <a:pt x="0" y="922020"/>
                  </a:moveTo>
                  <a:lnTo>
                    <a:pt x="1577340" y="922020"/>
                  </a:lnTo>
                  <a:lnTo>
                    <a:pt x="3200400" y="0"/>
                  </a:lnTo>
                </a:path>
              </a:pathLst>
            </a:custGeom>
            <a:noFill/>
            <a:ln w="19050">
              <a:solidFill>
                <a:srgbClr val="AFD89C"/>
              </a:solidFill>
              <a:prstDash val="dash"/>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 name="任意多边形 12"/>
            <p:cNvSpPr/>
            <p:nvPr/>
          </p:nvSpPr>
          <p:spPr bwMode="gray">
            <a:xfrm>
              <a:off x="3398520" y="4107180"/>
              <a:ext cx="1623060" cy="929640"/>
            </a:xfrm>
            <a:custGeom>
              <a:avLst/>
              <a:gdLst>
                <a:gd name="connsiteX0" fmla="*/ 0 w 1623060"/>
                <a:gd name="connsiteY0" fmla="*/ 929640 h 929640"/>
                <a:gd name="connsiteX1" fmla="*/ 822960 w 1623060"/>
                <a:gd name="connsiteY1" fmla="*/ 929640 h 929640"/>
                <a:gd name="connsiteX2" fmla="*/ 1623060 w 1623060"/>
                <a:gd name="connsiteY2" fmla="*/ 0 h 929640"/>
              </a:gdLst>
              <a:ahLst/>
              <a:cxnLst>
                <a:cxn ang="0">
                  <a:pos x="connsiteX0" y="connsiteY0"/>
                </a:cxn>
                <a:cxn ang="0">
                  <a:pos x="connsiteX1" y="connsiteY1"/>
                </a:cxn>
                <a:cxn ang="0">
                  <a:pos x="connsiteX2" y="connsiteY2"/>
                </a:cxn>
              </a:cxnLst>
              <a:rect l="l" t="t" r="r" b="b"/>
              <a:pathLst>
                <a:path w="1623060" h="929640">
                  <a:moveTo>
                    <a:pt x="0" y="929640"/>
                  </a:moveTo>
                  <a:lnTo>
                    <a:pt x="822960" y="929640"/>
                  </a:lnTo>
                  <a:lnTo>
                    <a:pt x="1623060" y="0"/>
                  </a:lnTo>
                </a:path>
              </a:pathLst>
            </a:custGeom>
            <a:noFill/>
            <a:ln w="19050">
              <a:solidFill>
                <a:srgbClr val="FDE397"/>
              </a:solidFill>
              <a:prstDash val="dashDot"/>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 name="任意多边形 13"/>
            <p:cNvSpPr/>
            <p:nvPr/>
          </p:nvSpPr>
          <p:spPr bwMode="gray">
            <a:xfrm>
              <a:off x="4221480" y="4114800"/>
              <a:ext cx="800100" cy="929640"/>
            </a:xfrm>
            <a:custGeom>
              <a:avLst/>
              <a:gdLst>
                <a:gd name="connsiteX0" fmla="*/ 0 w 800100"/>
                <a:gd name="connsiteY0" fmla="*/ 929640 h 929640"/>
                <a:gd name="connsiteX1" fmla="*/ 396240 w 800100"/>
                <a:gd name="connsiteY1" fmla="*/ 929640 h 929640"/>
                <a:gd name="connsiteX2" fmla="*/ 800100 w 800100"/>
                <a:gd name="connsiteY2" fmla="*/ 0 h 929640"/>
              </a:gdLst>
              <a:ahLst/>
              <a:cxnLst>
                <a:cxn ang="0">
                  <a:pos x="connsiteX0" y="connsiteY0"/>
                </a:cxn>
                <a:cxn ang="0">
                  <a:pos x="connsiteX1" y="connsiteY1"/>
                </a:cxn>
                <a:cxn ang="0">
                  <a:pos x="connsiteX2" y="connsiteY2"/>
                </a:cxn>
              </a:cxnLst>
              <a:rect l="l" t="t" r="r" b="b"/>
              <a:pathLst>
                <a:path w="800100" h="929640">
                  <a:moveTo>
                    <a:pt x="0" y="929640"/>
                  </a:moveTo>
                  <a:lnTo>
                    <a:pt x="396240" y="929640"/>
                  </a:lnTo>
                  <a:lnTo>
                    <a:pt x="800100" y="0"/>
                  </a:lnTo>
                </a:path>
              </a:pathLst>
            </a:custGeom>
            <a:noFill/>
            <a:ln w="19050">
              <a:solidFill>
                <a:srgbClr val="94DAE2"/>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6" name="流程图: 联系 35"/>
            <p:cNvSpPr/>
            <p:nvPr/>
          </p:nvSpPr>
          <p:spPr bwMode="gray">
            <a:xfrm>
              <a:off x="4923353" y="3988800"/>
              <a:ext cx="216734" cy="226461"/>
            </a:xfrm>
            <a:prstGeom prst="flowChartConnector">
              <a:avLst/>
            </a:prstGeom>
            <a:solidFill>
              <a:schemeClr val="bg1"/>
            </a:solidFill>
            <a:ln w="12700">
              <a:solidFill>
                <a:schemeClr val="tx1"/>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grpSp>
      <p:sp>
        <p:nvSpPr>
          <p:cNvPr id="46" name="圆角矩形 45"/>
          <p:cNvSpPr/>
          <p:nvPr/>
        </p:nvSpPr>
        <p:spPr bwMode="gray">
          <a:xfrm>
            <a:off x="850139" y="5231864"/>
            <a:ext cx="2088232"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以</a:t>
            </a: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IP Precedence</a:t>
            </a:r>
            <a:r>
              <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为例</a:t>
            </a:r>
            <a:endPar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latin typeface="Huawei Sans" panose="020C0503030203020204" pitchFamily="34" charset="0"/>
                <a:ea typeface="方正兰亭黑简体" panose="02000000000000000000" pitchFamily="2" charset="-122"/>
              </a:rPr>
              <a:t>对应优先级分别为：</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7" name="圆角矩形 46"/>
          <p:cNvSpPr/>
          <p:nvPr/>
        </p:nvSpPr>
        <p:spPr bwMode="gray">
          <a:xfrm>
            <a:off x="2985748" y="5411884"/>
            <a:ext cx="468052"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0</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8" name="圆角矩形 47"/>
          <p:cNvSpPr/>
          <p:nvPr/>
        </p:nvSpPr>
        <p:spPr bwMode="gray">
          <a:xfrm>
            <a:off x="3849844" y="5411884"/>
            <a:ext cx="468052"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9" name="圆角矩形 48"/>
          <p:cNvSpPr/>
          <p:nvPr/>
        </p:nvSpPr>
        <p:spPr bwMode="gray">
          <a:xfrm>
            <a:off x="4245888" y="5411884"/>
            <a:ext cx="468052"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2</a:t>
            </a:r>
            <a:endParaRPr kumimoji="0" lang="zh-CN" altLang="en-US" sz="14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20" name="直接箭头连接符 19"/>
          <p:cNvCxnSpPr>
            <a:stCxn id="33" idx="2"/>
            <a:endCxn id="47" idx="0"/>
          </p:cNvCxnSpPr>
          <p:nvPr/>
        </p:nvCxnSpPr>
        <p:spPr bwMode="gray">
          <a:xfrm>
            <a:off x="3219532" y="5161172"/>
            <a:ext cx="242" cy="360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0" name="直接箭头连接符 49"/>
          <p:cNvCxnSpPr/>
          <p:nvPr/>
        </p:nvCxnSpPr>
        <p:spPr bwMode="gray">
          <a:xfrm>
            <a:off x="4065868" y="5161172"/>
            <a:ext cx="242" cy="360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1" name="直接箭头连接符 50"/>
          <p:cNvCxnSpPr/>
          <p:nvPr/>
        </p:nvCxnSpPr>
        <p:spPr bwMode="gray">
          <a:xfrm>
            <a:off x="4461912" y="5161172"/>
            <a:ext cx="242" cy="360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6" name="Straight Connector 5"/>
          <p:cNvCxnSpPr/>
          <p:nvPr/>
        </p:nvCxnSpPr>
        <p:spPr bwMode="gray">
          <a:xfrm>
            <a:off x="4857956" y="5367577"/>
            <a:ext cx="451857" cy="0"/>
          </a:xfrm>
          <a:prstGeom prst="line">
            <a:avLst/>
          </a:prstGeom>
          <a:ln w="19050">
            <a:solidFill>
              <a:srgbClr val="AFD89C"/>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gray">
          <a:xfrm>
            <a:off x="4857956" y="5655609"/>
            <a:ext cx="451857" cy="0"/>
          </a:xfrm>
          <a:prstGeom prst="line">
            <a:avLst/>
          </a:prstGeom>
          <a:ln w="19050">
            <a:solidFill>
              <a:srgbClr val="FDE397"/>
            </a:solidFill>
            <a:prstDash val="dashDot"/>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gray">
          <a:xfrm>
            <a:off x="4857956" y="5943641"/>
            <a:ext cx="451857" cy="0"/>
          </a:xfrm>
          <a:prstGeom prst="line">
            <a:avLst/>
          </a:prstGeom>
          <a:ln w="19050">
            <a:solidFill>
              <a:srgbClr val="94DAE2"/>
            </a:solidFill>
          </a:ln>
        </p:spPr>
        <p:style>
          <a:lnRef idx="1">
            <a:schemeClr val="accent1"/>
          </a:lnRef>
          <a:fillRef idx="0">
            <a:schemeClr val="accent1"/>
          </a:fillRef>
          <a:effectRef idx="0">
            <a:schemeClr val="accent1"/>
          </a:effectRef>
          <a:fontRef idx="minor">
            <a:schemeClr val="tx1"/>
          </a:fontRef>
        </p:style>
      </p:cxnSp>
      <p:sp>
        <p:nvSpPr>
          <p:cNvPr id="57" name="圆角矩形 8"/>
          <p:cNvSpPr/>
          <p:nvPr/>
        </p:nvSpPr>
        <p:spPr bwMode="gray">
          <a:xfrm>
            <a:off x="5262930" y="5208063"/>
            <a:ext cx="704369" cy="30140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流量</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8" name="圆角矩形 8"/>
          <p:cNvSpPr/>
          <p:nvPr/>
        </p:nvSpPr>
        <p:spPr bwMode="gray">
          <a:xfrm>
            <a:off x="5260147" y="5518868"/>
            <a:ext cx="704369" cy="30140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流量</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9" name="圆角矩形 8"/>
          <p:cNvSpPr/>
          <p:nvPr/>
        </p:nvSpPr>
        <p:spPr bwMode="gray">
          <a:xfrm>
            <a:off x="5255554" y="5801754"/>
            <a:ext cx="704369" cy="30140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流量</a:t>
            </a:r>
            <a:r>
              <a:rPr lang="en-US" altLang="zh-CN" sz="1400" dirty="0">
                <a:latin typeface="Huawei Sans" panose="020C0503030203020204" pitchFamily="34" charset="0"/>
                <a:ea typeface="方正兰亭黑简体" panose="02000000000000000000" pitchFamily="2" charset="-122"/>
              </a:rPr>
              <a:t>3</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0" name="Rectangular Callout 59"/>
          <p:cNvSpPr/>
          <p:nvPr/>
        </p:nvSpPr>
        <p:spPr bwMode="gray">
          <a:xfrm>
            <a:off x="3373068" y="4085037"/>
            <a:ext cx="330448" cy="309667"/>
          </a:xfrm>
          <a:prstGeom prst="wedgeRectCallout">
            <a:avLst>
              <a:gd name="adj1" fmla="val 37284"/>
              <a:gd name="adj2" fmla="val 7663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1</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62" name="Rectangular Callout 61"/>
          <p:cNvSpPr/>
          <p:nvPr/>
        </p:nvSpPr>
        <p:spPr bwMode="gray">
          <a:xfrm>
            <a:off x="4857956" y="4167453"/>
            <a:ext cx="330448" cy="309667"/>
          </a:xfrm>
          <a:prstGeom prst="wedgeRectCallout">
            <a:avLst>
              <a:gd name="adj1" fmla="val -86760"/>
              <a:gd name="adj2" fmla="val -2179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Huawei Sans" panose="020C0503030203020204" pitchFamily="34" charset="0"/>
                <a:ea typeface="方正兰亭黑简体" panose="02000000000000000000" pitchFamily="2" charset="-122"/>
              </a:rPr>
              <a:t>2</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707913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bwMode="gray">
          <a:xfrm>
            <a:off x="997338" y="4076761"/>
            <a:ext cx="1332000" cy="1008112"/>
          </a:xfrm>
          <a:prstGeom prst="rect">
            <a:avLst/>
          </a:prstGeom>
          <a:solidFill>
            <a:srgbClr val="F4FBFE"/>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en-US" altLang="zh-CN" dirty="0"/>
              <a:t>WRED</a:t>
            </a:r>
            <a:r>
              <a:rPr lang="zh-CN" altLang="en-US" dirty="0"/>
              <a:t>丢弃优先级</a:t>
            </a:r>
          </a:p>
        </p:txBody>
      </p:sp>
      <p:sp>
        <p:nvSpPr>
          <p:cNvPr id="48" name="矩形 47"/>
          <p:cNvSpPr/>
          <p:nvPr/>
        </p:nvSpPr>
        <p:spPr bwMode="gray">
          <a:xfrm>
            <a:off x="4331804" y="1595460"/>
            <a:ext cx="1656184" cy="1260140"/>
          </a:xfrm>
          <a:prstGeom prst="rect">
            <a:avLst/>
          </a:prstGeom>
          <a:solidFill>
            <a:srgbClr val="F4FBFE"/>
          </a:solidFill>
          <a:ln w="9525" cap="flat" cmpd="sng" algn="ctr">
            <a:solidFill>
              <a:srgbClr val="00B0F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endParaRPr>
          </a:p>
        </p:txBody>
      </p:sp>
      <p:cxnSp>
        <p:nvCxnSpPr>
          <p:cNvPr id="57" name="直接箭头连接符 56"/>
          <p:cNvCxnSpPr>
            <a:stCxn id="116" idx="3"/>
            <a:endCxn id="114" idx="1"/>
          </p:cNvCxnSpPr>
          <p:nvPr/>
        </p:nvCxnSpPr>
        <p:spPr bwMode="gray">
          <a:xfrm>
            <a:off x="3431704" y="1901471"/>
            <a:ext cx="404344" cy="153298"/>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58" name="直接箭头连接符 57"/>
          <p:cNvCxnSpPr>
            <a:stCxn id="117" idx="3"/>
            <a:endCxn id="114" idx="2"/>
          </p:cNvCxnSpPr>
          <p:nvPr/>
        </p:nvCxnSpPr>
        <p:spPr bwMode="gray">
          <a:xfrm flipV="1">
            <a:off x="3431704" y="2207504"/>
            <a:ext cx="341079" cy="18026"/>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59" name="直接箭头连接符 58"/>
          <p:cNvCxnSpPr>
            <a:stCxn id="118" idx="3"/>
            <a:endCxn id="114" idx="3"/>
          </p:cNvCxnSpPr>
          <p:nvPr/>
        </p:nvCxnSpPr>
        <p:spPr bwMode="gray">
          <a:xfrm flipV="1">
            <a:off x="3431704" y="2360239"/>
            <a:ext cx="404344" cy="189336"/>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61" name="直接箭头连接符 60"/>
          <p:cNvCxnSpPr/>
          <p:nvPr/>
        </p:nvCxnSpPr>
        <p:spPr bwMode="gray">
          <a:xfrm>
            <a:off x="4187788" y="2220162"/>
            <a:ext cx="324036"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aphicFrame>
        <p:nvGraphicFramePr>
          <p:cNvPr id="62" name="表格 61"/>
          <p:cNvGraphicFramePr>
            <a:graphicFrameLocks noGrp="1"/>
          </p:cNvGraphicFramePr>
          <p:nvPr/>
        </p:nvGraphicFramePr>
        <p:xfrm>
          <a:off x="4583832" y="1739530"/>
          <a:ext cx="1188132" cy="741680"/>
        </p:xfrm>
        <a:graphic>
          <a:graphicData uri="http://schemas.openxmlformats.org/drawingml/2006/table">
            <a:tbl>
              <a:tblPr firstRow="1" bandRow="1">
                <a:tableStyleId>{C083E6E3-FA7D-4D7B-A595-EF9225AFEA82}</a:tableStyleId>
              </a:tblPr>
              <a:tblGrid>
                <a:gridCol w="1188132">
                  <a:extLst>
                    <a:ext uri="{9D8B030D-6E8A-4147-A177-3AD203B41FA5}">
                      <a16:colId xmlns:a16="http://schemas.microsoft.com/office/drawing/2014/main" val="20000"/>
                    </a:ext>
                  </a:extLst>
                </a:gridCol>
              </a:tblGrid>
              <a:tr h="370840">
                <a:tc>
                  <a:txBody>
                    <a:bodyPr/>
                    <a:lstStyle/>
                    <a:p>
                      <a:pPr algn="ctr"/>
                      <a:r>
                        <a:rPr lang="en-US" altLang="zh-CN" sz="1400" b="1" dirty="0"/>
                        <a:t>Service Class</a:t>
                      </a:r>
                      <a:endParaRPr lang="zh-CN" altLang="en-US" sz="1400" b="1" dirty="0"/>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BEE9EE"/>
                    </a:solidFill>
                  </a:tcPr>
                </a:tc>
                <a:extLst>
                  <a:ext uri="{0D108BD9-81ED-4DB2-BD59-A6C34878D82A}">
                    <a16:rowId xmlns:a16="http://schemas.microsoft.com/office/drawing/2014/main" val="10000"/>
                  </a:ext>
                </a:extLst>
              </a:tr>
              <a:tr h="370840">
                <a:tc>
                  <a:txBody>
                    <a:bodyPr/>
                    <a:lstStyle/>
                    <a:p>
                      <a:pPr algn="ctr"/>
                      <a:r>
                        <a:rPr lang="en-US" altLang="zh-CN" sz="1400" b="1" dirty="0"/>
                        <a:t>Color</a:t>
                      </a:r>
                      <a:endParaRPr lang="zh-CN" altLang="en-US" sz="1400" b="1" dirty="0"/>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BEE9EE"/>
                    </a:solidFill>
                  </a:tcPr>
                </a:tc>
                <a:extLst>
                  <a:ext uri="{0D108BD9-81ED-4DB2-BD59-A6C34878D82A}">
                    <a16:rowId xmlns:a16="http://schemas.microsoft.com/office/drawing/2014/main" val="10001"/>
                  </a:ext>
                </a:extLst>
              </a:tr>
            </a:tbl>
          </a:graphicData>
        </a:graphic>
      </p:graphicFrame>
      <p:sp>
        <p:nvSpPr>
          <p:cNvPr id="63" name="文本框 62"/>
          <p:cNvSpPr txBox="1"/>
          <p:nvPr/>
        </p:nvSpPr>
        <p:spPr bwMode="gray">
          <a:xfrm>
            <a:off x="3308400" y="1292039"/>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600" b="1">
                <a:solidFill>
                  <a:schemeClr val="bg1">
                    <a:lumMod val="50000"/>
                  </a:schemeClr>
                </a:solidFill>
                <a:latin typeface="+mn-ea"/>
                <a:ea typeface="+mn-ea"/>
              </a:defRPr>
            </a:lvl1pPr>
          </a:lstStyle>
          <a:p>
            <a:r>
              <a:rPr lang="zh-CN" altLang="en-US" sz="1400" dirty="0">
                <a:latin typeface="Huawei Sans" panose="020C0503030203020204" pitchFamily="34" charset="0"/>
                <a:ea typeface="方正兰亭黑简体" panose="02000000000000000000" pitchFamily="2" charset="-122"/>
              </a:rPr>
              <a:t>上行方向</a:t>
            </a:r>
          </a:p>
        </p:txBody>
      </p:sp>
      <p:sp>
        <p:nvSpPr>
          <p:cNvPr id="64" name="文本框 63"/>
          <p:cNvSpPr txBox="1"/>
          <p:nvPr/>
        </p:nvSpPr>
        <p:spPr bwMode="gray">
          <a:xfrm>
            <a:off x="1033342" y="4076761"/>
            <a:ext cx="1224136" cy="89657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latin typeface="Huawei Sans" panose="020C0503030203020204" pitchFamily="34" charset="0"/>
                <a:ea typeface="方正兰亭黑简体" panose="02000000000000000000" pitchFamily="2" charset="-122"/>
              </a:rPr>
              <a:t>报文在</a:t>
            </a:r>
          </a:p>
          <a:p>
            <a:pPr algn="ctr">
              <a:lnSpc>
                <a:spcPct val="125000"/>
              </a:lnSpc>
            </a:pPr>
            <a:r>
              <a:rPr lang="zh-CN" altLang="en-US" sz="1400" dirty="0">
                <a:latin typeface="Huawei Sans" panose="020C0503030203020204" pitchFamily="34" charset="0"/>
                <a:ea typeface="方正兰亭黑简体" panose="02000000000000000000" pitchFamily="2" charset="-122"/>
              </a:rPr>
              <a:t>设备内部的</a:t>
            </a:r>
          </a:p>
          <a:p>
            <a:pPr algn="ctr">
              <a:lnSpc>
                <a:spcPct val="125000"/>
              </a:lnSpc>
            </a:pPr>
            <a:r>
              <a:rPr lang="zh-CN" altLang="en-US" sz="1400" dirty="0">
                <a:solidFill>
                  <a:srgbClr val="C7000B"/>
                </a:solidFill>
                <a:latin typeface="Huawei Sans" panose="020C0503030203020204" pitchFamily="34" charset="0"/>
                <a:ea typeface="方正兰亭黑简体" panose="02000000000000000000" pitchFamily="2" charset="-122"/>
              </a:rPr>
              <a:t>丢弃优先级</a:t>
            </a:r>
          </a:p>
        </p:txBody>
      </p:sp>
      <p:sp>
        <p:nvSpPr>
          <p:cNvPr id="66" name="矩形 65"/>
          <p:cNvSpPr/>
          <p:nvPr/>
        </p:nvSpPr>
        <p:spPr bwMode="gray">
          <a:xfrm>
            <a:off x="997338" y="3752725"/>
            <a:ext cx="1332148" cy="32400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rPr>
              <a:t>Color</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67" name="下箭头 66"/>
          <p:cNvSpPr/>
          <p:nvPr/>
        </p:nvSpPr>
        <p:spPr bwMode="gray">
          <a:xfrm rot="3325612">
            <a:off x="3589667" y="2861324"/>
            <a:ext cx="297572" cy="540000"/>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8" name="矩形 67"/>
          <p:cNvSpPr/>
          <p:nvPr/>
        </p:nvSpPr>
        <p:spPr bwMode="gray">
          <a:xfrm>
            <a:off x="1415480" y="1703472"/>
            <a:ext cx="1080120" cy="32403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VLAN</a:t>
            </a:r>
            <a:r>
              <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69" name="矩形 68"/>
          <p:cNvSpPr/>
          <p:nvPr/>
        </p:nvSpPr>
        <p:spPr bwMode="gray">
          <a:xfrm>
            <a:off x="1415480" y="2063548"/>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b="1" dirty="0">
                <a:solidFill>
                  <a:schemeClr val="bg1">
                    <a:lumMod val="50000"/>
                  </a:schemeClr>
                </a:solidFill>
                <a:latin typeface="Huawei Sans" panose="020C0503030203020204" pitchFamily="34" charset="0"/>
                <a:ea typeface="方正兰亭黑简体" panose="02000000000000000000" pitchFamily="2" charset="-122"/>
              </a:rPr>
              <a:t>MPLS</a:t>
            </a:r>
            <a:r>
              <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70" name="矩形 69"/>
          <p:cNvSpPr/>
          <p:nvPr/>
        </p:nvSpPr>
        <p:spPr bwMode="gray">
          <a:xfrm>
            <a:off x="1415480" y="2351544"/>
            <a:ext cx="108012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200" b="1" dirty="0">
                <a:solidFill>
                  <a:schemeClr val="bg1">
                    <a:lumMod val="50000"/>
                  </a:schemeClr>
                </a:solidFill>
                <a:latin typeface="Huawei Sans" panose="020C0503030203020204" pitchFamily="34" charset="0"/>
                <a:ea typeface="方正兰亭黑简体" panose="02000000000000000000" pitchFamily="2" charset="-122"/>
              </a:rPr>
              <a:t>IP</a:t>
            </a:r>
            <a:r>
              <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报文</a:t>
            </a:r>
          </a:p>
        </p:txBody>
      </p:sp>
      <p:sp>
        <p:nvSpPr>
          <p:cNvPr id="72" name="右箭头 71"/>
          <p:cNvSpPr/>
          <p:nvPr/>
        </p:nvSpPr>
        <p:spPr bwMode="gray">
          <a:xfrm>
            <a:off x="5861974" y="2135520"/>
            <a:ext cx="468052" cy="431994"/>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90" name="表格 89"/>
          <p:cNvGraphicFramePr>
            <a:graphicFrameLocks noGrp="1"/>
          </p:cNvGraphicFramePr>
          <p:nvPr/>
        </p:nvGraphicFramePr>
        <p:xfrm>
          <a:off x="3013562" y="3572705"/>
          <a:ext cx="994206" cy="2412690"/>
        </p:xfrm>
        <a:graphic>
          <a:graphicData uri="http://schemas.openxmlformats.org/drawingml/2006/table">
            <a:tbl>
              <a:tblPr firstRow="1" bandRow="1">
                <a:tableStyleId>{5940675A-B579-460E-94D1-54222C63F5DA}</a:tableStyleId>
              </a:tblPr>
              <a:tblGrid>
                <a:gridCol w="994206">
                  <a:extLst>
                    <a:ext uri="{9D8B030D-6E8A-4147-A177-3AD203B41FA5}">
                      <a16:colId xmlns:a16="http://schemas.microsoft.com/office/drawing/2014/main" val="20000"/>
                    </a:ext>
                  </a:extLst>
                </a:gridCol>
              </a:tblGrid>
              <a:tr h="804230">
                <a:tc>
                  <a:txBody>
                    <a:bodyPr/>
                    <a:lstStyle/>
                    <a:p>
                      <a:pPr algn="ctr"/>
                      <a:r>
                        <a:rPr lang="en-US" altLang="zh-CN" sz="1400" b="1" dirty="0">
                          <a:solidFill>
                            <a:schemeClr val="bg1"/>
                          </a:solidFill>
                        </a:rPr>
                        <a:t>Green</a:t>
                      </a:r>
                      <a:endParaRPr lang="zh-CN" altLang="en-US" sz="1400" b="1" dirty="0">
                        <a:solidFill>
                          <a:schemeClr val="bg1"/>
                        </a:solidFill>
                      </a:endParaRPr>
                    </a:p>
                  </a:txBody>
                  <a:tcPr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8BC9A0"/>
                    </a:solidFill>
                  </a:tcPr>
                </a:tc>
                <a:extLst>
                  <a:ext uri="{0D108BD9-81ED-4DB2-BD59-A6C34878D82A}">
                    <a16:rowId xmlns:a16="http://schemas.microsoft.com/office/drawing/2014/main" val="10000"/>
                  </a:ext>
                </a:extLst>
              </a:tr>
              <a:tr h="804230">
                <a:tc>
                  <a:txBody>
                    <a:bodyPr/>
                    <a:lstStyle/>
                    <a:p>
                      <a:pPr algn="ctr"/>
                      <a:r>
                        <a:rPr lang="en-US" altLang="zh-CN" sz="1400" b="1" dirty="0">
                          <a:solidFill>
                            <a:schemeClr val="bg1"/>
                          </a:solidFill>
                        </a:rPr>
                        <a:t>Yellow</a:t>
                      </a:r>
                      <a:endParaRPr lang="zh-CN" altLang="en-US" sz="1400" b="1" dirty="0">
                        <a:solidFill>
                          <a:schemeClr val="bg1"/>
                        </a:solidFill>
                      </a:endParaRPr>
                    </a:p>
                  </a:txBody>
                  <a:tcPr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FFD17D"/>
                    </a:solidFill>
                  </a:tcPr>
                </a:tc>
                <a:extLst>
                  <a:ext uri="{0D108BD9-81ED-4DB2-BD59-A6C34878D82A}">
                    <a16:rowId xmlns:a16="http://schemas.microsoft.com/office/drawing/2014/main" val="10001"/>
                  </a:ext>
                </a:extLst>
              </a:tr>
              <a:tr h="804230">
                <a:tc>
                  <a:txBody>
                    <a:bodyPr/>
                    <a:lstStyle/>
                    <a:p>
                      <a:pPr algn="ctr"/>
                      <a:r>
                        <a:rPr lang="en-US" altLang="zh-CN" sz="1400" b="1" dirty="0">
                          <a:solidFill>
                            <a:schemeClr val="bg1"/>
                          </a:solidFill>
                        </a:rPr>
                        <a:t>Red</a:t>
                      </a:r>
                      <a:endParaRPr lang="zh-CN" altLang="en-US" sz="1400" b="1" dirty="0">
                        <a:solidFill>
                          <a:schemeClr val="bg1"/>
                        </a:solidFill>
                      </a:endParaRPr>
                    </a:p>
                  </a:txBody>
                  <a:tcPr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bl>
          </a:graphicData>
        </a:graphic>
      </p:graphicFrame>
      <p:sp>
        <p:nvSpPr>
          <p:cNvPr id="91" name="矩形 5"/>
          <p:cNvSpPr/>
          <p:nvPr/>
        </p:nvSpPr>
        <p:spPr bwMode="gray">
          <a:xfrm>
            <a:off x="2365491" y="3572705"/>
            <a:ext cx="618046" cy="2412689"/>
          </a:xfrm>
          <a:custGeom>
            <a:avLst/>
            <a:gdLst>
              <a:gd name="connsiteX0" fmla="*/ 0 w 1368152"/>
              <a:gd name="connsiteY0" fmla="*/ 0 h 1214559"/>
              <a:gd name="connsiteX1" fmla="*/ 1368152 w 1368152"/>
              <a:gd name="connsiteY1" fmla="*/ 0 h 1214559"/>
              <a:gd name="connsiteX2" fmla="*/ 1368152 w 1368152"/>
              <a:gd name="connsiteY2" fmla="*/ 1214559 h 1214559"/>
              <a:gd name="connsiteX3" fmla="*/ 0 w 1368152"/>
              <a:gd name="connsiteY3" fmla="*/ 1214559 h 1214559"/>
              <a:gd name="connsiteX4" fmla="*/ 0 w 1368152"/>
              <a:gd name="connsiteY4" fmla="*/ 0 h 1214559"/>
              <a:gd name="connsiteX0" fmla="*/ 0 w 1533252"/>
              <a:gd name="connsiteY0" fmla="*/ 0 h 1214559"/>
              <a:gd name="connsiteX1" fmla="*/ 1533252 w 1533252"/>
              <a:gd name="connsiteY1" fmla="*/ 355600 h 1214559"/>
              <a:gd name="connsiteX2" fmla="*/ 1368152 w 1533252"/>
              <a:gd name="connsiteY2" fmla="*/ 1214559 h 1214559"/>
              <a:gd name="connsiteX3" fmla="*/ 0 w 1533252"/>
              <a:gd name="connsiteY3" fmla="*/ 1214559 h 1214559"/>
              <a:gd name="connsiteX4" fmla="*/ 0 w 1533252"/>
              <a:gd name="connsiteY4" fmla="*/ 0 h 1214559"/>
              <a:gd name="connsiteX0" fmla="*/ 0 w 1533252"/>
              <a:gd name="connsiteY0" fmla="*/ 0 h 2217859"/>
              <a:gd name="connsiteX1" fmla="*/ 1533252 w 1533252"/>
              <a:gd name="connsiteY1" fmla="*/ 355600 h 2217859"/>
              <a:gd name="connsiteX2" fmla="*/ 695052 w 1533252"/>
              <a:gd name="connsiteY2" fmla="*/ 2217859 h 2217859"/>
              <a:gd name="connsiteX3" fmla="*/ 0 w 1533252"/>
              <a:gd name="connsiteY3" fmla="*/ 1214559 h 2217859"/>
              <a:gd name="connsiteX4" fmla="*/ 0 w 1533252"/>
              <a:gd name="connsiteY4" fmla="*/ 0 h 2217859"/>
              <a:gd name="connsiteX0" fmla="*/ 0 w 720452"/>
              <a:gd name="connsiteY0" fmla="*/ 0 h 2217859"/>
              <a:gd name="connsiteX1" fmla="*/ 720452 w 720452"/>
              <a:gd name="connsiteY1" fmla="*/ 355600 h 2217859"/>
              <a:gd name="connsiteX2" fmla="*/ 695052 w 720452"/>
              <a:gd name="connsiteY2" fmla="*/ 2217859 h 2217859"/>
              <a:gd name="connsiteX3" fmla="*/ 0 w 720452"/>
              <a:gd name="connsiteY3" fmla="*/ 1214559 h 2217859"/>
              <a:gd name="connsiteX4" fmla="*/ 0 w 720452"/>
              <a:gd name="connsiteY4" fmla="*/ 0 h 2217859"/>
              <a:gd name="connsiteX0" fmla="*/ 0 w 695052"/>
              <a:gd name="connsiteY0" fmla="*/ 0 h 2217859"/>
              <a:gd name="connsiteX1" fmla="*/ 377552 w 695052"/>
              <a:gd name="connsiteY1" fmla="*/ 330200 h 2217859"/>
              <a:gd name="connsiteX2" fmla="*/ 695052 w 695052"/>
              <a:gd name="connsiteY2" fmla="*/ 2217859 h 2217859"/>
              <a:gd name="connsiteX3" fmla="*/ 0 w 695052"/>
              <a:gd name="connsiteY3" fmla="*/ 1214559 h 2217859"/>
              <a:gd name="connsiteX4" fmla="*/ 0 w 695052"/>
              <a:gd name="connsiteY4" fmla="*/ 0 h 2217859"/>
              <a:gd name="connsiteX0" fmla="*/ 0 w 695052"/>
              <a:gd name="connsiteY0" fmla="*/ 0 h 2217859"/>
              <a:gd name="connsiteX1" fmla="*/ 669652 w 695052"/>
              <a:gd name="connsiteY1" fmla="*/ 368300 h 2217859"/>
              <a:gd name="connsiteX2" fmla="*/ 695052 w 695052"/>
              <a:gd name="connsiteY2" fmla="*/ 2217859 h 2217859"/>
              <a:gd name="connsiteX3" fmla="*/ 0 w 695052"/>
              <a:gd name="connsiteY3" fmla="*/ 1214559 h 2217859"/>
              <a:gd name="connsiteX4" fmla="*/ 0 w 695052"/>
              <a:gd name="connsiteY4" fmla="*/ 0 h 2217859"/>
              <a:gd name="connsiteX0" fmla="*/ 0 w 669652"/>
              <a:gd name="connsiteY0" fmla="*/ 0 h 2255959"/>
              <a:gd name="connsiteX1" fmla="*/ 669652 w 669652"/>
              <a:gd name="connsiteY1" fmla="*/ 368300 h 2255959"/>
              <a:gd name="connsiteX2" fmla="*/ 568052 w 669652"/>
              <a:gd name="connsiteY2" fmla="*/ 2255959 h 2255959"/>
              <a:gd name="connsiteX3" fmla="*/ 0 w 669652"/>
              <a:gd name="connsiteY3" fmla="*/ 1214559 h 2255959"/>
              <a:gd name="connsiteX4" fmla="*/ 0 w 669652"/>
              <a:gd name="connsiteY4" fmla="*/ 0 h 2255959"/>
              <a:gd name="connsiteX0" fmla="*/ 0 w 669652"/>
              <a:gd name="connsiteY0" fmla="*/ 0 h 2192459"/>
              <a:gd name="connsiteX1" fmla="*/ 669652 w 669652"/>
              <a:gd name="connsiteY1" fmla="*/ 368300 h 2192459"/>
              <a:gd name="connsiteX2" fmla="*/ 631552 w 669652"/>
              <a:gd name="connsiteY2" fmla="*/ 2192459 h 2192459"/>
              <a:gd name="connsiteX3" fmla="*/ 0 w 669652"/>
              <a:gd name="connsiteY3" fmla="*/ 1214559 h 2192459"/>
              <a:gd name="connsiteX4" fmla="*/ 0 w 669652"/>
              <a:gd name="connsiteY4" fmla="*/ 0 h 2192459"/>
              <a:gd name="connsiteX0" fmla="*/ 0 w 669652"/>
              <a:gd name="connsiteY0" fmla="*/ 0 h 2281359"/>
              <a:gd name="connsiteX1" fmla="*/ 669652 w 669652"/>
              <a:gd name="connsiteY1" fmla="*/ 368300 h 2281359"/>
              <a:gd name="connsiteX2" fmla="*/ 669652 w 669652"/>
              <a:gd name="connsiteY2" fmla="*/ 2281359 h 2281359"/>
              <a:gd name="connsiteX3" fmla="*/ 0 w 669652"/>
              <a:gd name="connsiteY3" fmla="*/ 1214559 h 2281359"/>
              <a:gd name="connsiteX4" fmla="*/ 0 w 669652"/>
              <a:gd name="connsiteY4" fmla="*/ 0 h 2281359"/>
              <a:gd name="connsiteX0" fmla="*/ 0 w 669652"/>
              <a:gd name="connsiteY0" fmla="*/ 0 h 2219446"/>
              <a:gd name="connsiteX1" fmla="*/ 669652 w 669652"/>
              <a:gd name="connsiteY1" fmla="*/ 368300 h 2219446"/>
              <a:gd name="connsiteX2" fmla="*/ 595171 w 669652"/>
              <a:gd name="connsiteY2" fmla="*/ 2219446 h 2219446"/>
              <a:gd name="connsiteX3" fmla="*/ 0 w 669652"/>
              <a:gd name="connsiteY3" fmla="*/ 1214559 h 2219446"/>
              <a:gd name="connsiteX4" fmla="*/ 0 w 669652"/>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1214559 h 2219446"/>
              <a:gd name="connsiteX4" fmla="*/ 0 w 607585"/>
              <a:gd name="connsiteY4" fmla="*/ 0 h 2219446"/>
              <a:gd name="connsiteX0" fmla="*/ 0 w 607585"/>
              <a:gd name="connsiteY0" fmla="*/ 0 h 2219446"/>
              <a:gd name="connsiteX1" fmla="*/ 607585 w 607585"/>
              <a:gd name="connsiteY1" fmla="*/ 330200 h 2219446"/>
              <a:gd name="connsiteX2" fmla="*/ 595171 w 607585"/>
              <a:gd name="connsiteY2" fmla="*/ 2219446 h 2219446"/>
              <a:gd name="connsiteX3" fmla="*/ 0 w 607585"/>
              <a:gd name="connsiteY3" fmla="*/ 592259 h 2219446"/>
              <a:gd name="connsiteX4" fmla="*/ 0 w 607585"/>
              <a:gd name="connsiteY4" fmla="*/ 0 h 2219446"/>
              <a:gd name="connsiteX0" fmla="*/ 0 w 621653"/>
              <a:gd name="connsiteY0" fmla="*/ 0 h 2646166"/>
              <a:gd name="connsiteX1" fmla="*/ 607585 w 621653"/>
              <a:gd name="connsiteY1" fmla="*/ 330200 h 2646166"/>
              <a:gd name="connsiteX2" fmla="*/ 621653 w 621653"/>
              <a:gd name="connsiteY2" fmla="*/ 2646166 h 2646166"/>
              <a:gd name="connsiteX3" fmla="*/ 0 w 621653"/>
              <a:gd name="connsiteY3" fmla="*/ 592259 h 2646166"/>
              <a:gd name="connsiteX4" fmla="*/ 0 w 621653"/>
              <a:gd name="connsiteY4" fmla="*/ 0 h 2646166"/>
              <a:gd name="connsiteX0" fmla="*/ 0 w 621653"/>
              <a:gd name="connsiteY0" fmla="*/ 0 h 2646166"/>
              <a:gd name="connsiteX1" fmla="*/ 607585 w 621653"/>
              <a:gd name="connsiteY1" fmla="*/ 330200 h 2646166"/>
              <a:gd name="connsiteX2" fmla="*/ 621653 w 621653"/>
              <a:gd name="connsiteY2" fmla="*/ 2646166 h 2646166"/>
              <a:gd name="connsiteX3" fmla="*/ 176548 w 621653"/>
              <a:gd name="connsiteY3" fmla="*/ 643059 h 2646166"/>
              <a:gd name="connsiteX4" fmla="*/ 0 w 621653"/>
              <a:gd name="connsiteY4" fmla="*/ 0 h 2646166"/>
              <a:gd name="connsiteX0" fmla="*/ 0 w 467174"/>
              <a:gd name="connsiteY0" fmla="*/ 0 h 2608066"/>
              <a:gd name="connsiteX1" fmla="*/ 453106 w 467174"/>
              <a:gd name="connsiteY1" fmla="*/ 292100 h 2608066"/>
              <a:gd name="connsiteX2" fmla="*/ 467174 w 467174"/>
              <a:gd name="connsiteY2" fmla="*/ 2608066 h 2608066"/>
              <a:gd name="connsiteX3" fmla="*/ 22069 w 467174"/>
              <a:gd name="connsiteY3" fmla="*/ 604959 h 2608066"/>
              <a:gd name="connsiteX4" fmla="*/ 0 w 467174"/>
              <a:gd name="connsiteY4" fmla="*/ 0 h 2608066"/>
              <a:gd name="connsiteX0" fmla="*/ 0 w 654756"/>
              <a:gd name="connsiteY0" fmla="*/ 0 h 1490466"/>
              <a:gd name="connsiteX1" fmla="*/ 453106 w 654756"/>
              <a:gd name="connsiteY1" fmla="*/ 292100 h 1490466"/>
              <a:gd name="connsiteX2" fmla="*/ 654756 w 654756"/>
              <a:gd name="connsiteY2" fmla="*/ 1490466 h 1490466"/>
              <a:gd name="connsiteX3" fmla="*/ 22069 w 654756"/>
              <a:gd name="connsiteY3" fmla="*/ 604959 h 1490466"/>
              <a:gd name="connsiteX4" fmla="*/ 0 w 654756"/>
              <a:gd name="connsiteY4" fmla="*/ 0 h 1490466"/>
              <a:gd name="connsiteX0" fmla="*/ 0 w 456140"/>
              <a:gd name="connsiteY0" fmla="*/ 0 h 1896866"/>
              <a:gd name="connsiteX1" fmla="*/ 453106 w 456140"/>
              <a:gd name="connsiteY1" fmla="*/ 292100 h 1896866"/>
              <a:gd name="connsiteX2" fmla="*/ 456140 w 456140"/>
              <a:gd name="connsiteY2" fmla="*/ 1896866 h 1896866"/>
              <a:gd name="connsiteX3" fmla="*/ 22069 w 456140"/>
              <a:gd name="connsiteY3" fmla="*/ 604959 h 1896866"/>
              <a:gd name="connsiteX4" fmla="*/ 0 w 456140"/>
              <a:gd name="connsiteY4" fmla="*/ 0 h 1896866"/>
              <a:gd name="connsiteX0" fmla="*/ 0 w 456140"/>
              <a:gd name="connsiteY0" fmla="*/ 0 h 1896866"/>
              <a:gd name="connsiteX1" fmla="*/ 453106 w 456140"/>
              <a:gd name="connsiteY1" fmla="*/ 292100 h 1896866"/>
              <a:gd name="connsiteX2" fmla="*/ 456140 w 456140"/>
              <a:gd name="connsiteY2" fmla="*/ 1896866 h 1896866"/>
              <a:gd name="connsiteX3" fmla="*/ 1 w 456140"/>
              <a:gd name="connsiteY3" fmla="*/ 382709 h 1896866"/>
              <a:gd name="connsiteX4" fmla="*/ 0 w 456140"/>
              <a:gd name="connsiteY4" fmla="*/ 0 h 1896866"/>
              <a:gd name="connsiteX0" fmla="*/ 5516 w 456139"/>
              <a:gd name="connsiteY0" fmla="*/ 0 h 1839716"/>
              <a:gd name="connsiteX1" fmla="*/ 453105 w 456139"/>
              <a:gd name="connsiteY1" fmla="*/ 234950 h 1839716"/>
              <a:gd name="connsiteX2" fmla="*/ 456139 w 456139"/>
              <a:gd name="connsiteY2" fmla="*/ 1839716 h 1839716"/>
              <a:gd name="connsiteX3" fmla="*/ 0 w 456139"/>
              <a:gd name="connsiteY3" fmla="*/ 325559 h 1839716"/>
              <a:gd name="connsiteX4" fmla="*/ 5516 w 456139"/>
              <a:gd name="connsiteY4" fmla="*/ 0 h 1839716"/>
              <a:gd name="connsiteX0" fmla="*/ 5516 w 454224"/>
              <a:gd name="connsiteY0" fmla="*/ 0 h 785616"/>
              <a:gd name="connsiteX1" fmla="*/ 453105 w 454224"/>
              <a:gd name="connsiteY1" fmla="*/ 23495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85616"/>
              <a:gd name="connsiteX1" fmla="*/ 453105 w 454224"/>
              <a:gd name="connsiteY1" fmla="*/ 292100 h 785616"/>
              <a:gd name="connsiteX2" fmla="*/ 450622 w 454224"/>
              <a:gd name="connsiteY2" fmla="*/ 785616 h 785616"/>
              <a:gd name="connsiteX3" fmla="*/ 0 w 454224"/>
              <a:gd name="connsiteY3" fmla="*/ 325559 h 785616"/>
              <a:gd name="connsiteX4" fmla="*/ 5516 w 454224"/>
              <a:gd name="connsiteY4" fmla="*/ 0 h 785616"/>
              <a:gd name="connsiteX0" fmla="*/ 5516 w 454224"/>
              <a:gd name="connsiteY0" fmla="*/ 0 h 722116"/>
              <a:gd name="connsiteX1" fmla="*/ 453105 w 454224"/>
              <a:gd name="connsiteY1" fmla="*/ 29210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722116"/>
              <a:gd name="connsiteX1" fmla="*/ 453105 w 454224"/>
              <a:gd name="connsiteY1" fmla="*/ 349250 h 722116"/>
              <a:gd name="connsiteX2" fmla="*/ 450622 w 454224"/>
              <a:gd name="connsiteY2" fmla="*/ 722116 h 722116"/>
              <a:gd name="connsiteX3" fmla="*/ 0 w 454224"/>
              <a:gd name="connsiteY3" fmla="*/ 325559 h 722116"/>
              <a:gd name="connsiteX4" fmla="*/ 5516 w 454224"/>
              <a:gd name="connsiteY4" fmla="*/ 0 h 722116"/>
              <a:gd name="connsiteX0" fmla="*/ 5516 w 454224"/>
              <a:gd name="connsiteY0" fmla="*/ 0 h 842766"/>
              <a:gd name="connsiteX1" fmla="*/ 453105 w 454224"/>
              <a:gd name="connsiteY1" fmla="*/ 349250 h 842766"/>
              <a:gd name="connsiteX2" fmla="*/ 450622 w 454224"/>
              <a:gd name="connsiteY2" fmla="*/ 842766 h 842766"/>
              <a:gd name="connsiteX3" fmla="*/ 0 w 454224"/>
              <a:gd name="connsiteY3" fmla="*/ 325559 h 842766"/>
              <a:gd name="connsiteX4" fmla="*/ 5516 w 454224"/>
              <a:gd name="connsiteY4" fmla="*/ 0 h 842766"/>
              <a:gd name="connsiteX0" fmla="*/ 5516 w 454224"/>
              <a:gd name="connsiteY0" fmla="*/ 0 h 842766"/>
              <a:gd name="connsiteX1" fmla="*/ 453105 w 454224"/>
              <a:gd name="connsiteY1" fmla="*/ 304800 h 842766"/>
              <a:gd name="connsiteX2" fmla="*/ 450622 w 454224"/>
              <a:gd name="connsiteY2" fmla="*/ 842766 h 842766"/>
              <a:gd name="connsiteX3" fmla="*/ 0 w 454224"/>
              <a:gd name="connsiteY3" fmla="*/ 325559 h 842766"/>
              <a:gd name="connsiteX4" fmla="*/ 5516 w 454224"/>
              <a:gd name="connsiteY4" fmla="*/ 0 h 842766"/>
              <a:gd name="connsiteX0" fmla="*/ 5516 w 536030"/>
              <a:gd name="connsiteY0" fmla="*/ 152400 h 995166"/>
              <a:gd name="connsiteX1" fmla="*/ 535862 w 536030"/>
              <a:gd name="connsiteY1" fmla="*/ 0 h 995166"/>
              <a:gd name="connsiteX2" fmla="*/ 450622 w 536030"/>
              <a:gd name="connsiteY2" fmla="*/ 995166 h 995166"/>
              <a:gd name="connsiteX3" fmla="*/ 0 w 536030"/>
              <a:gd name="connsiteY3" fmla="*/ 477959 h 995166"/>
              <a:gd name="connsiteX4" fmla="*/ 5516 w 536030"/>
              <a:gd name="connsiteY4" fmla="*/ 152400 h 995166"/>
              <a:gd name="connsiteX0" fmla="*/ 5516 w 536981"/>
              <a:gd name="connsiteY0" fmla="*/ 152400 h 2366766"/>
              <a:gd name="connsiteX1" fmla="*/ 535862 w 536981"/>
              <a:gd name="connsiteY1" fmla="*/ 0 h 2366766"/>
              <a:gd name="connsiteX2" fmla="*/ 533379 w 536981"/>
              <a:gd name="connsiteY2" fmla="*/ 2366766 h 2366766"/>
              <a:gd name="connsiteX3" fmla="*/ 0 w 536981"/>
              <a:gd name="connsiteY3" fmla="*/ 477959 h 2366766"/>
              <a:gd name="connsiteX4" fmla="*/ 5516 w 536981"/>
              <a:gd name="connsiteY4" fmla="*/ 152400 h 2366766"/>
              <a:gd name="connsiteX0" fmla="*/ 5516 w 536981"/>
              <a:gd name="connsiteY0" fmla="*/ 200025 h 2414391"/>
              <a:gd name="connsiteX1" fmla="*/ 535862 w 536981"/>
              <a:gd name="connsiteY1" fmla="*/ 0 h 2414391"/>
              <a:gd name="connsiteX2" fmla="*/ 533379 w 536981"/>
              <a:gd name="connsiteY2" fmla="*/ 2414391 h 2414391"/>
              <a:gd name="connsiteX3" fmla="*/ 0 w 536981"/>
              <a:gd name="connsiteY3" fmla="*/ 525584 h 2414391"/>
              <a:gd name="connsiteX4" fmla="*/ 5516 w 536981"/>
              <a:gd name="connsiteY4" fmla="*/ 200025 h 2414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981" h="2414391">
                <a:moveTo>
                  <a:pt x="5516" y="200025"/>
                </a:moveTo>
                <a:lnTo>
                  <a:pt x="535862" y="0"/>
                </a:lnTo>
                <a:cubicBezTo>
                  <a:pt x="540551" y="771989"/>
                  <a:pt x="528690" y="1642402"/>
                  <a:pt x="533379" y="2414391"/>
                </a:cubicBezTo>
                <a:lnTo>
                  <a:pt x="0" y="525584"/>
                </a:lnTo>
                <a:cubicBezTo>
                  <a:pt x="0" y="398014"/>
                  <a:pt x="5516" y="327595"/>
                  <a:pt x="5516" y="200025"/>
                </a:cubicBezTo>
                <a:close/>
              </a:path>
            </a:pathLst>
          </a:cu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grpSp>
        <p:nvGrpSpPr>
          <p:cNvPr id="92" name="组合 91"/>
          <p:cNvGrpSpPr/>
          <p:nvPr/>
        </p:nvGrpSpPr>
        <p:grpSpPr bwMode="gray">
          <a:xfrm>
            <a:off x="3971764" y="3518299"/>
            <a:ext cx="591249" cy="2430670"/>
            <a:chOff x="6960096" y="3861048"/>
            <a:chExt cx="591249" cy="2430670"/>
          </a:xfrm>
        </p:grpSpPr>
        <p:sp>
          <p:nvSpPr>
            <p:cNvPr id="93" name="任意多边形 92"/>
            <p:cNvSpPr/>
            <p:nvPr/>
          </p:nvSpPr>
          <p:spPr bwMode="gray">
            <a:xfrm flipH="1" flipV="1">
              <a:off x="7083293" y="3969060"/>
              <a:ext cx="468052" cy="2322658"/>
            </a:xfrm>
            <a:custGeom>
              <a:avLst/>
              <a:gdLst>
                <a:gd name="connsiteX0" fmla="*/ 330200 w 330200"/>
                <a:gd name="connsiteY0" fmla="*/ 3416300 h 3416300"/>
                <a:gd name="connsiteX1" fmla="*/ 330200 w 330200"/>
                <a:gd name="connsiteY1" fmla="*/ 0 h 3416300"/>
                <a:gd name="connsiteX2" fmla="*/ 0 w 330200"/>
                <a:gd name="connsiteY2" fmla="*/ 330200 h 3416300"/>
                <a:gd name="connsiteX3" fmla="*/ 139700 w 330200"/>
                <a:gd name="connsiteY3" fmla="*/ 330200 h 3416300"/>
                <a:gd name="connsiteX4" fmla="*/ 139700 w 330200"/>
                <a:gd name="connsiteY4" fmla="*/ 3403600 h 3416300"/>
                <a:gd name="connsiteX5" fmla="*/ 330200 w 330200"/>
                <a:gd name="connsiteY5" fmla="*/ 3416300 h 34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00" h="3416300">
                  <a:moveTo>
                    <a:pt x="330200" y="3416300"/>
                  </a:moveTo>
                  <a:lnTo>
                    <a:pt x="330200" y="0"/>
                  </a:lnTo>
                  <a:lnTo>
                    <a:pt x="0" y="330200"/>
                  </a:lnTo>
                  <a:lnTo>
                    <a:pt x="139700" y="330200"/>
                  </a:lnTo>
                  <a:lnTo>
                    <a:pt x="139700" y="3403600"/>
                  </a:lnTo>
                  <a:lnTo>
                    <a:pt x="330200" y="3416300"/>
                  </a:lnTo>
                  <a:close/>
                </a:path>
              </a:pathLst>
            </a:custGeom>
            <a:gradFill>
              <a:gsLst>
                <a:gs pos="0">
                  <a:srgbClr val="30B5C5"/>
                </a:gs>
                <a:gs pos="100000">
                  <a:schemeClr val="bg1"/>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94" name="文本框 93"/>
            <p:cNvSpPr txBox="1"/>
            <p:nvPr/>
          </p:nvSpPr>
          <p:spPr bwMode="gray">
            <a:xfrm>
              <a:off x="6960096" y="3861048"/>
              <a:ext cx="509689" cy="2255384"/>
            </a:xfrm>
            <a:prstGeom prst="rect">
              <a:avLst/>
            </a:prstGeom>
            <a:noFill/>
            <a:ln w="9525">
              <a:noFill/>
              <a:miter lim="800000"/>
              <a:headEnd/>
              <a:tailEnd/>
            </a:ln>
          </p:spPr>
          <p:txBody>
            <a:bodyPr vert="horz" wrap="square" lIns="99980" tIns="49986" rIns="99980" bIns="49986" rtlCol="0">
              <a:spAutoFit/>
            </a:bodyPr>
            <a:lstStyle/>
            <a:p>
              <a:pPr algn="ctr" defTabSz="1001649" eaLnBrk="0" hangingPunct="0">
                <a:lnSpc>
                  <a:spcPct val="125000"/>
                </a:lnSpc>
              </a:pPr>
              <a:r>
                <a:rPr lang="zh-CN" altLang="en-US" sz="1600" dirty="0">
                  <a:latin typeface="Huawei Sans" panose="020C0503030203020204" pitchFamily="34" charset="0"/>
                  <a:ea typeface="方正兰亭黑简体" panose="02000000000000000000" pitchFamily="2" charset="-122"/>
                  <a:cs typeface="Arial" pitchFamily="34" charset="0"/>
                </a:rPr>
                <a:t>优先级由高到低</a:t>
              </a:r>
            </a:p>
          </p:txBody>
        </p:sp>
      </p:grpSp>
      <p:sp>
        <p:nvSpPr>
          <p:cNvPr id="96" name="右箭头 95"/>
          <p:cNvSpPr/>
          <p:nvPr/>
        </p:nvSpPr>
        <p:spPr bwMode="gray">
          <a:xfrm>
            <a:off x="6852084" y="2459556"/>
            <a:ext cx="396044" cy="323982"/>
          </a:xfrm>
          <a:prstGeom prst="rightArrow">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97" name="表格 96"/>
          <p:cNvGraphicFramePr>
            <a:graphicFrameLocks noGrp="1"/>
          </p:cNvGraphicFramePr>
          <p:nvPr/>
        </p:nvGraphicFramePr>
        <p:xfrm>
          <a:off x="7320136" y="2207528"/>
          <a:ext cx="828092" cy="731520"/>
        </p:xfrm>
        <a:graphic>
          <a:graphicData uri="http://schemas.openxmlformats.org/drawingml/2006/table">
            <a:tbl>
              <a:tblPr firstRow="1" bandRow="1">
                <a:tableStyleId>{C083E6E3-FA7D-4D7B-A595-EF9225AFEA82}</a:tableStyleId>
              </a:tblPr>
              <a:tblGrid>
                <a:gridCol w="828092">
                  <a:extLst>
                    <a:ext uri="{9D8B030D-6E8A-4147-A177-3AD203B41FA5}">
                      <a16:colId xmlns:a16="http://schemas.microsoft.com/office/drawing/2014/main" val="20000"/>
                    </a:ext>
                  </a:extLst>
                </a:gridCol>
              </a:tblGrid>
              <a:tr h="233999">
                <a:tc>
                  <a:txBody>
                    <a:bodyPr/>
                    <a:lstStyle/>
                    <a:p>
                      <a:pPr algn="ctr"/>
                      <a:r>
                        <a:rPr lang="en-US" altLang="zh-CN" sz="1200" b="1" dirty="0">
                          <a:solidFill>
                            <a:schemeClr val="bg1">
                              <a:lumMod val="50000"/>
                            </a:schemeClr>
                          </a:solidFill>
                        </a:rPr>
                        <a:t>Service Class</a:t>
                      </a:r>
                      <a:endParaRPr lang="zh-CN" altLang="en-US" sz="12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33999">
                <a:tc>
                  <a:txBody>
                    <a:bodyPr/>
                    <a:lstStyle/>
                    <a:p>
                      <a:pPr algn="ctr"/>
                      <a:r>
                        <a:rPr lang="en-US" altLang="zh-CN" sz="1200" b="1" dirty="0">
                          <a:solidFill>
                            <a:schemeClr val="bg1">
                              <a:lumMod val="50000"/>
                            </a:schemeClr>
                          </a:solidFill>
                        </a:rPr>
                        <a:t>Color</a:t>
                      </a:r>
                      <a:endParaRPr lang="zh-CN" altLang="en-US" sz="1200" b="1" dirty="0">
                        <a:solidFill>
                          <a:schemeClr val="bg1">
                            <a:lumMod val="50000"/>
                          </a:schemeClr>
                        </a:solidFill>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cxnSp>
        <p:nvCxnSpPr>
          <p:cNvPr id="99" name="直接箭头连接符 98"/>
          <p:cNvCxnSpPr>
            <a:stCxn id="98" idx="7"/>
            <a:endCxn id="110" idx="1"/>
          </p:cNvCxnSpPr>
          <p:nvPr/>
        </p:nvCxnSpPr>
        <p:spPr bwMode="gray">
          <a:xfrm flipV="1">
            <a:off x="8804995" y="2261511"/>
            <a:ext cx="351345" cy="189342"/>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00" name="直接箭头连接符 99"/>
          <p:cNvCxnSpPr/>
          <p:nvPr/>
        </p:nvCxnSpPr>
        <p:spPr bwMode="gray">
          <a:xfrm flipV="1">
            <a:off x="8184232" y="2603588"/>
            <a:ext cx="252000" cy="0"/>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01" name="直接箭头连接符 100"/>
          <p:cNvCxnSpPr>
            <a:stCxn id="98" idx="5"/>
            <a:endCxn id="112" idx="1"/>
          </p:cNvCxnSpPr>
          <p:nvPr/>
        </p:nvCxnSpPr>
        <p:spPr bwMode="gray">
          <a:xfrm>
            <a:off x="8804995" y="2756323"/>
            <a:ext cx="351345" cy="153292"/>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cxnSp>
        <p:nvCxnSpPr>
          <p:cNvPr id="102" name="直接箭头连接符 101"/>
          <p:cNvCxnSpPr>
            <a:stCxn id="98" idx="6"/>
            <a:endCxn id="111" idx="1"/>
          </p:cNvCxnSpPr>
          <p:nvPr/>
        </p:nvCxnSpPr>
        <p:spPr bwMode="gray">
          <a:xfrm flipV="1">
            <a:off x="8868260" y="2585570"/>
            <a:ext cx="288080" cy="18018"/>
          </a:xfrm>
          <a:prstGeom prst="straightConnector1">
            <a:avLst/>
          </a:prstGeom>
          <a:solidFill>
            <a:schemeClr val="accent1"/>
          </a:solidFill>
          <a:ln w="9525" cap="flat" cmpd="sng" algn="ctr">
            <a:solidFill>
              <a:schemeClr val="bg1">
                <a:lumMod val="50000"/>
              </a:schemeClr>
            </a:solidFill>
            <a:prstDash val="solid"/>
            <a:round/>
            <a:headEnd type="none" w="med" len="med"/>
            <a:tailEnd type="triangle"/>
          </a:ln>
          <a:effectLst/>
        </p:spPr>
      </p:cxnSp>
      <p:grpSp>
        <p:nvGrpSpPr>
          <p:cNvPr id="4" name="组合 3"/>
          <p:cNvGrpSpPr/>
          <p:nvPr/>
        </p:nvGrpSpPr>
        <p:grpSpPr bwMode="gray">
          <a:xfrm>
            <a:off x="8419217" y="2387588"/>
            <a:ext cx="485095" cy="432000"/>
            <a:chOff x="8419217" y="2600948"/>
            <a:chExt cx="485095" cy="432000"/>
          </a:xfrm>
        </p:grpSpPr>
        <p:sp>
          <p:nvSpPr>
            <p:cNvPr id="98" name="椭圆 97"/>
            <p:cNvSpPr/>
            <p:nvPr/>
          </p:nvSpPr>
          <p:spPr bwMode="gray">
            <a:xfrm>
              <a:off x="8436260" y="2600948"/>
              <a:ext cx="432000" cy="432000"/>
            </a:xfrm>
            <a:prstGeom prst="ellipse">
              <a:avLst/>
            </a:prstGeom>
            <a:solidFill>
              <a:srgbClr val="D9D9D9"/>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9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3" name="文本框 102"/>
            <p:cNvSpPr txBox="1"/>
            <p:nvPr/>
          </p:nvSpPr>
          <p:spPr bwMode="gray">
            <a:xfrm>
              <a:off x="8419217" y="2680286"/>
              <a:ext cx="48509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映射</a:t>
              </a:r>
            </a:p>
          </p:txBody>
        </p:sp>
      </p:grpSp>
      <p:grpSp>
        <p:nvGrpSpPr>
          <p:cNvPr id="104" name="组合 103"/>
          <p:cNvGrpSpPr/>
          <p:nvPr/>
        </p:nvGrpSpPr>
        <p:grpSpPr bwMode="gray">
          <a:xfrm>
            <a:off x="6456040" y="1919550"/>
            <a:ext cx="288032" cy="864042"/>
            <a:chOff x="6456040" y="2132910"/>
            <a:chExt cx="432048" cy="1476164"/>
          </a:xfrm>
        </p:grpSpPr>
        <p:sp>
          <p:nvSpPr>
            <p:cNvPr id="105" name="矩形 104"/>
            <p:cNvSpPr/>
            <p:nvPr/>
          </p:nvSpPr>
          <p:spPr bwMode="gray">
            <a:xfrm>
              <a:off x="6456040" y="2132910"/>
              <a:ext cx="432048" cy="1476164"/>
            </a:xfrm>
            <a:prstGeom prst="rect">
              <a:avLst/>
            </a:prstGeom>
            <a:solidFill>
              <a:schemeClr val="bg1">
                <a:lumMod val="85000"/>
              </a:schemeClr>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106" name="直接连接符 105"/>
            <p:cNvCxnSpPr/>
            <p:nvPr/>
          </p:nvCxnSpPr>
          <p:spPr bwMode="gray">
            <a:xfrm>
              <a:off x="6456040" y="213291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cxnSp>
          <p:nvCxnSpPr>
            <p:cNvPr id="107" name="直接连接符 106"/>
            <p:cNvCxnSpPr/>
            <p:nvPr/>
          </p:nvCxnSpPr>
          <p:spPr bwMode="gray">
            <a:xfrm flipH="1">
              <a:off x="6456040" y="2132910"/>
              <a:ext cx="432048" cy="1476164"/>
            </a:xfrm>
            <a:prstGeom prst="line">
              <a:avLst/>
            </a:prstGeom>
            <a:solidFill>
              <a:schemeClr val="accent1"/>
            </a:solidFill>
            <a:ln w="9525" cap="flat" cmpd="sng" algn="ctr">
              <a:solidFill>
                <a:schemeClr val="bg1">
                  <a:lumMod val="65000"/>
                </a:schemeClr>
              </a:solidFill>
              <a:prstDash val="solid"/>
              <a:round/>
              <a:headEnd type="none" w="med" len="med"/>
              <a:tailEnd type="none" w="med" len="med"/>
            </a:ln>
            <a:effectLst/>
          </p:spPr>
        </p:cxnSp>
      </p:grpSp>
      <p:sp>
        <p:nvSpPr>
          <p:cNvPr id="108" name="文本框 107"/>
          <p:cNvSpPr txBox="1"/>
          <p:nvPr/>
        </p:nvSpPr>
        <p:spPr bwMode="gray">
          <a:xfrm>
            <a:off x="6204012" y="1559456"/>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rPr>
              <a:t>交换网板</a:t>
            </a:r>
          </a:p>
        </p:txBody>
      </p:sp>
      <p:sp>
        <p:nvSpPr>
          <p:cNvPr id="109" name="文本框 108"/>
          <p:cNvSpPr txBox="1"/>
          <p:nvPr/>
        </p:nvSpPr>
        <p:spPr bwMode="gray">
          <a:xfrm>
            <a:off x="8096932" y="1580071"/>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下行方向</a:t>
            </a:r>
          </a:p>
        </p:txBody>
      </p:sp>
      <p:sp>
        <p:nvSpPr>
          <p:cNvPr id="110" name="矩形 109"/>
          <p:cNvSpPr/>
          <p:nvPr/>
        </p:nvSpPr>
        <p:spPr bwMode="gray">
          <a:xfrm>
            <a:off x="9156340" y="2135474"/>
            <a:ext cx="1008112" cy="252074"/>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111" name="矩形 110"/>
          <p:cNvSpPr/>
          <p:nvPr/>
        </p:nvSpPr>
        <p:spPr bwMode="gray">
          <a:xfrm>
            <a:off x="9156340" y="2459547"/>
            <a:ext cx="1008112" cy="25204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2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112" name="矩形 111"/>
          <p:cNvSpPr/>
          <p:nvPr/>
        </p:nvSpPr>
        <p:spPr bwMode="gray">
          <a:xfrm>
            <a:off x="9156340" y="2783592"/>
            <a:ext cx="1008112" cy="25204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endParaRPr>
          </a:p>
        </p:txBody>
      </p:sp>
      <p:cxnSp>
        <p:nvCxnSpPr>
          <p:cNvPr id="85" name="直接连接符 84"/>
          <p:cNvCxnSpPr/>
          <p:nvPr/>
        </p:nvCxnSpPr>
        <p:spPr bwMode="gray">
          <a:xfrm>
            <a:off x="6600056" y="1595620"/>
            <a:ext cx="0" cy="1440000"/>
          </a:xfrm>
          <a:prstGeom prst="line">
            <a:avLst/>
          </a:prstGeom>
          <a:solidFill>
            <a:schemeClr val="accent1"/>
          </a:solidFill>
          <a:ln w="19050" cap="flat" cmpd="sng" algn="ctr">
            <a:solidFill>
              <a:schemeClr val="bg1">
                <a:lumMod val="65000"/>
              </a:schemeClr>
            </a:solidFill>
            <a:prstDash val="dash"/>
            <a:round/>
            <a:headEnd type="none" w="med" len="med"/>
            <a:tailEnd type="none" w="med" len="med"/>
          </a:ln>
          <a:effectLst/>
        </p:spPr>
      </p:cxnSp>
      <p:grpSp>
        <p:nvGrpSpPr>
          <p:cNvPr id="113" name="组合 112"/>
          <p:cNvGrpSpPr/>
          <p:nvPr/>
        </p:nvGrpSpPr>
        <p:grpSpPr bwMode="gray">
          <a:xfrm>
            <a:off x="3755740" y="1991504"/>
            <a:ext cx="485095" cy="432000"/>
            <a:chOff x="8419217" y="2600948"/>
            <a:chExt cx="485095" cy="432000"/>
          </a:xfrm>
        </p:grpSpPr>
        <p:sp>
          <p:nvSpPr>
            <p:cNvPr id="114" name="椭圆 113"/>
            <p:cNvSpPr/>
            <p:nvPr/>
          </p:nvSpPr>
          <p:spPr bwMode="gray">
            <a:xfrm>
              <a:off x="8436260" y="2600948"/>
              <a:ext cx="432000" cy="432000"/>
            </a:xfrm>
            <a:prstGeom prst="ellipse">
              <a:avLst/>
            </a:prstGeom>
            <a:solidFill>
              <a:srgbClr val="D9D9D9"/>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9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5" name="文本框 114"/>
            <p:cNvSpPr txBox="1"/>
            <p:nvPr/>
          </p:nvSpPr>
          <p:spPr bwMode="gray">
            <a:xfrm>
              <a:off x="8419217" y="2680286"/>
              <a:ext cx="48509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映射</a:t>
              </a:r>
            </a:p>
          </p:txBody>
        </p:sp>
      </p:grpSp>
      <p:sp>
        <p:nvSpPr>
          <p:cNvPr id="116" name="矩形 115"/>
          <p:cNvSpPr/>
          <p:nvPr/>
        </p:nvSpPr>
        <p:spPr bwMode="gray">
          <a:xfrm>
            <a:off x="2423592" y="1775434"/>
            <a:ext cx="1008112" cy="252074"/>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802.1P</a:t>
            </a:r>
            <a:endPar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117" name="矩形 116"/>
          <p:cNvSpPr/>
          <p:nvPr/>
        </p:nvSpPr>
        <p:spPr bwMode="gray">
          <a:xfrm>
            <a:off x="2423592" y="2099507"/>
            <a:ext cx="1008112" cy="25204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rPr>
              <a:t>MPLS </a:t>
            </a:r>
            <a:r>
              <a:rPr kumimoji="0" lang="en-US" altLang="zh-CN" sz="1200" b="1" i="0" u="none" strike="noStrike" cap="none" normalizeH="0" baseline="0" dirty="0" err="1">
                <a:ln>
                  <a:noFill/>
                </a:ln>
                <a:solidFill>
                  <a:schemeClr val="bg1">
                    <a:lumMod val="50000"/>
                  </a:schemeClr>
                </a:solidFill>
                <a:effectLst/>
                <a:latin typeface="Huawei Sans" panose="020C0503030203020204" pitchFamily="34" charset="0"/>
                <a:ea typeface="方正兰亭黑简体" panose="02000000000000000000" pitchFamily="2" charset="-122"/>
              </a:rPr>
              <a:t>Exp</a:t>
            </a:r>
            <a:endParaRPr kumimoji="0" lang="zh-CN" altLang="en-US" sz="1200" b="1" i="0" u="none" strike="noStrike" cap="none" normalizeH="0" baseline="0" dirty="0">
              <a:ln>
                <a:noFill/>
              </a:ln>
              <a:solidFill>
                <a:schemeClr val="bg1">
                  <a:lumMod val="50000"/>
                </a:schemeClr>
              </a:solidFill>
              <a:effectLst/>
              <a:latin typeface="Huawei Sans" panose="020C0503030203020204" pitchFamily="34" charset="0"/>
              <a:ea typeface="方正兰亭黑简体" panose="02000000000000000000" pitchFamily="2" charset="-122"/>
            </a:endParaRPr>
          </a:p>
        </p:txBody>
      </p:sp>
      <p:sp>
        <p:nvSpPr>
          <p:cNvPr id="118" name="矩形 117"/>
          <p:cNvSpPr/>
          <p:nvPr/>
        </p:nvSpPr>
        <p:spPr bwMode="gray">
          <a:xfrm>
            <a:off x="2423592" y="2423552"/>
            <a:ext cx="1008112" cy="252046"/>
          </a:xfrm>
          <a:prstGeom prst="rect">
            <a:avLst/>
          </a:prstGeom>
          <a:solidFill>
            <a:schemeClr val="bg1">
              <a:lumMod val="85000"/>
            </a:schemeClr>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rPr>
              <a:t>DSCP</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endParaRPr>
          </a:p>
        </p:txBody>
      </p:sp>
      <p:graphicFrame>
        <p:nvGraphicFramePr>
          <p:cNvPr id="180" name="表格 179"/>
          <p:cNvGraphicFramePr>
            <a:graphicFrameLocks noGrp="1"/>
          </p:cNvGraphicFramePr>
          <p:nvPr>
            <p:extLst>
              <p:ext uri="{D42A27DB-BD31-4B8C-83A1-F6EECF244321}">
                <p14:modId xmlns:p14="http://schemas.microsoft.com/office/powerpoint/2010/main" val="677237864"/>
              </p:ext>
            </p:extLst>
          </p:nvPr>
        </p:nvGraphicFramePr>
        <p:xfrm>
          <a:off x="8449696" y="3726234"/>
          <a:ext cx="3108611" cy="1902256"/>
        </p:xfrm>
        <a:graphic>
          <a:graphicData uri="http://schemas.openxmlformats.org/drawingml/2006/table">
            <a:tbl>
              <a:tblPr firstRow="1" bandRow="1">
                <a:tableStyleId>{2D5ABB26-0587-4C30-8999-92F81FD0307C}</a:tableStyleId>
              </a:tblPr>
              <a:tblGrid>
                <a:gridCol w="900839">
                  <a:extLst>
                    <a:ext uri="{9D8B030D-6E8A-4147-A177-3AD203B41FA5}">
                      <a16:colId xmlns:a16="http://schemas.microsoft.com/office/drawing/2014/main" val="20000"/>
                    </a:ext>
                  </a:extLst>
                </a:gridCol>
                <a:gridCol w="735924">
                  <a:extLst>
                    <a:ext uri="{9D8B030D-6E8A-4147-A177-3AD203B41FA5}">
                      <a16:colId xmlns:a16="http://schemas.microsoft.com/office/drawing/2014/main" val="20001"/>
                    </a:ext>
                  </a:extLst>
                </a:gridCol>
                <a:gridCol w="735924">
                  <a:extLst>
                    <a:ext uri="{9D8B030D-6E8A-4147-A177-3AD203B41FA5}">
                      <a16:colId xmlns:a16="http://schemas.microsoft.com/office/drawing/2014/main" val="20002"/>
                    </a:ext>
                  </a:extLst>
                </a:gridCol>
                <a:gridCol w="735924">
                  <a:extLst>
                    <a:ext uri="{9D8B030D-6E8A-4147-A177-3AD203B41FA5}">
                      <a16:colId xmlns:a16="http://schemas.microsoft.com/office/drawing/2014/main" val="20003"/>
                    </a:ext>
                  </a:extLst>
                </a:gridCol>
              </a:tblGrid>
              <a:tr h="408100">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baseline="0" dirty="0">
                          <a:solidFill>
                            <a:schemeClr val="tx1"/>
                          </a:solidFill>
                          <a:latin typeface="Huawei Sans" panose="020C0503030203020204" pitchFamily="34" charset="0"/>
                          <a:ea typeface="方正兰亭黑简体" panose="02000000000000000000" pitchFamily="2" charset="-122"/>
                        </a:rPr>
                        <a:t>Color/</a:t>
                      </a:r>
                      <a:r>
                        <a:rPr lang="zh-CN" altLang="en-US" sz="1400" b="1" kern="1200" baseline="0" dirty="0">
                          <a:solidFill>
                            <a:schemeClr val="tx1"/>
                          </a:solidFill>
                          <a:latin typeface="Huawei Sans" panose="020C0503030203020204" pitchFamily="34" charset="0"/>
                          <a:ea typeface="方正兰亭黑简体" panose="02000000000000000000" pitchFamily="2" charset="-122"/>
                        </a:rPr>
                        <a:t>丢弃概率</a:t>
                      </a:r>
                      <a:endParaRPr lang="zh-CN" altLang="en-US" sz="1400" b="1" kern="1200" baseline="0" dirty="0">
                        <a:solidFill>
                          <a:schemeClr val="tx1"/>
                        </a:solidFill>
                        <a:latin typeface="Huawei Sans" panose="020C0503030203020204" pitchFamily="34" charset="0"/>
                        <a:ea typeface="方正兰亭黑简体" panose="02000000000000000000" pitchFamily="2" charset="-122"/>
                        <a:cs typeface="+mn-cs"/>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348678">
                <a:tc>
                  <a:txBody>
                    <a:bodyPr/>
                    <a:lstStyle/>
                    <a:p>
                      <a:pPr algn="ctr"/>
                      <a:r>
                        <a:rPr lang="zh-CN" altLang="en-US" sz="1400" baseline="0" dirty="0">
                          <a:latin typeface="Huawei Sans" panose="020C0503030203020204" pitchFamily="34" charset="0"/>
                          <a:ea typeface="方正兰亭黑简体" panose="02000000000000000000" pitchFamily="2" charset="-122"/>
                        </a:rPr>
                        <a:t>例：</a:t>
                      </a:r>
                      <a:r>
                        <a:rPr lang="en-US" altLang="zh-CN" sz="1400" baseline="0" dirty="0">
                          <a:latin typeface="Huawei Sans" panose="020C0503030203020204" pitchFamily="34" charset="0"/>
                          <a:ea typeface="方正兰亭黑简体" panose="02000000000000000000" pitchFamily="2" charset="-122"/>
                        </a:rPr>
                        <a:t>AF</a:t>
                      </a:r>
                      <a:endParaRPr lang="en-US" altLang="zh-CN" sz="1400" b="0" baseline="0" dirty="0">
                        <a:solidFill>
                          <a:schemeClr val="tx1"/>
                        </a:solidFill>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AF41</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AF42</a:t>
                      </a:r>
                      <a:endParaRPr lang="zh-CN" altLang="en-US"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AF43</a:t>
                      </a:r>
                      <a:endParaRPr lang="en-US" altLang="zh-CN" sz="1400" b="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1"/>
                  </a:ext>
                </a:extLst>
              </a:tr>
              <a:tr h="300618">
                <a:tc>
                  <a:txBody>
                    <a:bodyPr/>
                    <a:lstStyle/>
                    <a:p>
                      <a:pPr algn="ctr"/>
                      <a:r>
                        <a:rPr lang="zh-CN" altLang="en-US" sz="1400" baseline="0" dirty="0">
                          <a:latin typeface="Huawei Sans" panose="020C0503030203020204" pitchFamily="34" charset="0"/>
                          <a:ea typeface="方正兰亭黑简体" panose="02000000000000000000" pitchFamily="2" charset="-122"/>
                        </a:rPr>
                        <a:t>低门限</a:t>
                      </a:r>
                      <a:endParaRPr lang="en-US" altLang="zh-CN" sz="1400" baseline="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70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50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30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r h="322518">
                <a:tc>
                  <a:txBody>
                    <a:bodyPr/>
                    <a:lstStyle/>
                    <a:p>
                      <a:pPr algn="ctr"/>
                      <a:r>
                        <a:rPr lang="zh-CN" altLang="en-US" sz="1400" baseline="0" dirty="0">
                          <a:latin typeface="Huawei Sans" panose="020C0503030203020204" pitchFamily="34" charset="0"/>
                          <a:ea typeface="方正兰亭黑简体" panose="02000000000000000000" pitchFamily="2" charset="-122"/>
                        </a:rPr>
                        <a:t>高门限</a:t>
                      </a:r>
                      <a:endParaRPr lang="en-US" altLang="zh-CN" sz="1400" baseline="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80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60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40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3"/>
                  </a:ext>
                </a:extLst>
              </a:tr>
              <a:tr h="518160">
                <a:tc>
                  <a:txBody>
                    <a:bodyPr/>
                    <a:lstStyle/>
                    <a:p>
                      <a:pPr algn="ctr"/>
                      <a:r>
                        <a:rPr lang="zh-CN" altLang="en-US" sz="1400" baseline="0" dirty="0">
                          <a:latin typeface="Huawei Sans" panose="020C0503030203020204" pitchFamily="34" charset="0"/>
                          <a:ea typeface="方正兰亭黑简体" panose="02000000000000000000" pitchFamily="2" charset="-122"/>
                        </a:rPr>
                        <a:t>丢弃概率</a:t>
                      </a:r>
                      <a:endParaRPr lang="en-US" altLang="zh-CN" sz="1400" baseline="0" dirty="0">
                        <a:latin typeface="Huawei Sans" panose="020C0503030203020204" pitchFamily="34" charset="0"/>
                        <a:ea typeface="方正兰亭黑简体" panose="02000000000000000000" pitchFamily="2"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70%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80%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aseline="0" dirty="0">
                          <a:solidFill>
                            <a:schemeClr val="bg1"/>
                          </a:solidFill>
                          <a:latin typeface="Huawei Sans" panose="020C0503030203020204" pitchFamily="34" charset="0"/>
                          <a:ea typeface="方正兰亭黑简体" panose="02000000000000000000" pitchFamily="2" charset="-122"/>
                        </a:rPr>
                        <a:t>90%</a:t>
                      </a:r>
                      <a:endParaRPr lang="zh-CN" altLang="en-US" sz="1400" baseline="0" dirty="0">
                        <a:solidFill>
                          <a:schemeClr val="bg1"/>
                        </a:solidFill>
                        <a:latin typeface="Huawei Sans" panose="020C0503030203020204" pitchFamily="34" charset="0"/>
                        <a:ea typeface="方正兰亭黑简体" panose="02000000000000000000" pitchFamily="2"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4"/>
                  </a:ext>
                </a:extLst>
              </a:tr>
            </a:tbl>
          </a:graphicData>
        </a:graphic>
      </p:graphicFrame>
      <p:sp>
        <p:nvSpPr>
          <p:cNvPr id="181" name="下箭头 180"/>
          <p:cNvSpPr/>
          <p:nvPr/>
        </p:nvSpPr>
        <p:spPr bwMode="gray">
          <a:xfrm rot="16200000">
            <a:off x="4577176" y="4410428"/>
            <a:ext cx="301344" cy="43204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aphicFrame>
        <p:nvGraphicFramePr>
          <p:cNvPr id="183" name="表格 182"/>
          <p:cNvGraphicFramePr>
            <a:graphicFrameLocks noGrp="1"/>
          </p:cNvGraphicFramePr>
          <p:nvPr>
            <p:extLst>
              <p:ext uri="{D42A27DB-BD31-4B8C-83A1-F6EECF244321}">
                <p14:modId xmlns:p14="http://schemas.microsoft.com/office/powerpoint/2010/main" val="2559385662"/>
              </p:ext>
            </p:extLst>
          </p:nvPr>
        </p:nvGraphicFramePr>
        <p:xfrm>
          <a:off x="5087888" y="3863712"/>
          <a:ext cx="2664000" cy="1627300"/>
        </p:xfrm>
        <a:graphic>
          <a:graphicData uri="http://schemas.openxmlformats.org/drawingml/2006/table">
            <a:tbl>
              <a:tblPr firstRow="1" bandRow="1">
                <a:tableStyleId>{616DA210-FB5B-4158-B5E0-FEB733F419BA}</a:tableStyleId>
              </a:tblPr>
              <a:tblGrid>
                <a:gridCol w="720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gridCol w="648000">
                  <a:extLst>
                    <a:ext uri="{9D8B030D-6E8A-4147-A177-3AD203B41FA5}">
                      <a16:colId xmlns:a16="http://schemas.microsoft.com/office/drawing/2014/main" val="20003"/>
                    </a:ext>
                  </a:extLst>
                </a:gridCol>
              </a:tblGrid>
              <a:tr h="408100">
                <a:tc gridSpan="4">
                  <a:txBody>
                    <a:bodyPr/>
                    <a:lstStyle/>
                    <a:p>
                      <a:pPr algn="ctr"/>
                      <a:r>
                        <a:rPr lang="en-US" altLang="zh-CN" sz="1400" b="1" dirty="0">
                          <a:solidFill>
                            <a:schemeClr val="tx1"/>
                          </a:solidFill>
                          <a:latin typeface="+mn-lt"/>
                          <a:ea typeface="+mn-ea"/>
                        </a:rPr>
                        <a:t>Service Class/Color</a:t>
                      </a:r>
                      <a:endParaRPr lang="zh-CN" altLang="en-US" sz="1400" b="1" dirty="0">
                        <a:solidFill>
                          <a:schemeClr val="tx1"/>
                        </a:solidFill>
                        <a:latin typeface="+mn-lt"/>
                        <a:ea typeface="+mn-ea"/>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282164">
                <a:tc rowSpan="4">
                  <a:txBody>
                    <a:bodyPr/>
                    <a:lstStyle/>
                    <a:p>
                      <a:pPr algn="ctr"/>
                      <a:r>
                        <a:rPr lang="en-US" altLang="zh-CN" sz="1400" b="0" dirty="0">
                          <a:latin typeface="+mn-lt"/>
                          <a:ea typeface="+mn-ea"/>
                        </a:rPr>
                        <a:t>AF</a:t>
                      </a:r>
                      <a:endParaRPr lang="zh-CN" altLang="en-US" sz="1400" b="0" dirty="0">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b="0" dirty="0">
                          <a:solidFill>
                            <a:schemeClr val="bg1"/>
                          </a:solidFill>
                          <a:latin typeface="+mn-lt"/>
                          <a:ea typeface="+mn-ea"/>
                        </a:rPr>
                        <a:t>AF41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dirty="0">
                          <a:solidFill>
                            <a:schemeClr val="bg1"/>
                          </a:solidFill>
                          <a:latin typeface="+mn-lt"/>
                          <a:ea typeface="+mn-ea"/>
                        </a:rPr>
                        <a:t>AF42</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dirty="0">
                          <a:solidFill>
                            <a:schemeClr val="bg1"/>
                          </a:solidFill>
                          <a:latin typeface="+mn-lt"/>
                          <a:ea typeface="+mn-ea"/>
                        </a:rPr>
                        <a:t>AF43</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1"/>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0" dirty="0">
                          <a:solidFill>
                            <a:schemeClr val="bg1"/>
                          </a:solidFill>
                          <a:latin typeface="+mn-lt"/>
                          <a:ea typeface="+mn-ea"/>
                        </a:rPr>
                        <a:t>AF31</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dirty="0">
                          <a:solidFill>
                            <a:schemeClr val="bg1"/>
                          </a:solidFill>
                          <a:latin typeface="+mn-lt"/>
                          <a:ea typeface="+mn-ea"/>
                        </a:rPr>
                        <a:t>AF32</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dirty="0">
                          <a:solidFill>
                            <a:schemeClr val="bg1"/>
                          </a:solidFill>
                          <a:latin typeface="+mn-lt"/>
                          <a:ea typeface="+mn-ea"/>
                        </a:rPr>
                        <a:t>AF33</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dirty="0">
                          <a:solidFill>
                            <a:schemeClr val="bg1"/>
                          </a:solidFill>
                          <a:latin typeface="+mn-lt"/>
                          <a:ea typeface="+mn-ea"/>
                        </a:rPr>
                        <a:t>AF21</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dirty="0">
                          <a:solidFill>
                            <a:schemeClr val="bg1"/>
                          </a:solidFill>
                          <a:latin typeface="+mn-lt"/>
                          <a:ea typeface="+mn-ea"/>
                        </a:rPr>
                        <a:t>AF22</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dirty="0">
                          <a:solidFill>
                            <a:schemeClr val="bg1"/>
                          </a:solidFill>
                          <a:latin typeface="+mn-lt"/>
                          <a:ea typeface="+mn-ea"/>
                        </a:rPr>
                        <a:t>AF23</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3"/>
                  </a:ext>
                </a:extLst>
              </a:tr>
              <a:tr h="282164">
                <a:tc vMerge="1">
                  <a:txBody>
                    <a:bodyPr/>
                    <a:lstStyle/>
                    <a:p>
                      <a:pPr algn="ctr"/>
                      <a:endParaRPr lang="zh-CN" altLang="en-US" sz="1400" b="0"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b="0" dirty="0">
                          <a:solidFill>
                            <a:schemeClr val="bg1"/>
                          </a:solidFill>
                          <a:latin typeface="+mn-lt"/>
                          <a:ea typeface="+mn-ea"/>
                        </a:rPr>
                        <a:t>AF11</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b="0" dirty="0">
                          <a:solidFill>
                            <a:schemeClr val="bg1"/>
                          </a:solidFill>
                          <a:latin typeface="+mn-lt"/>
                          <a:ea typeface="+mn-ea"/>
                        </a:rPr>
                        <a:t>AF12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b="0" dirty="0">
                          <a:solidFill>
                            <a:schemeClr val="bg1"/>
                          </a:solidFill>
                          <a:latin typeface="+mn-lt"/>
                          <a:ea typeface="+mn-ea"/>
                        </a:rPr>
                        <a:t>AF13</a:t>
                      </a:r>
                      <a:endParaRPr lang="zh-CN" altLang="en-US" sz="1400" b="0" dirty="0">
                        <a:solidFill>
                          <a:schemeClr val="bg1"/>
                        </a:solidFill>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4"/>
                  </a:ext>
                </a:extLst>
              </a:tr>
            </a:tbl>
          </a:graphicData>
        </a:graphic>
      </p:graphicFrame>
      <p:sp>
        <p:nvSpPr>
          <p:cNvPr id="185" name="下箭头 184"/>
          <p:cNvSpPr/>
          <p:nvPr/>
        </p:nvSpPr>
        <p:spPr bwMode="gray">
          <a:xfrm rot="16200000">
            <a:off x="7997556" y="4410428"/>
            <a:ext cx="301344" cy="43204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089874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丢弃概率曲线</a:t>
            </a:r>
          </a:p>
        </p:txBody>
      </p:sp>
      <p:graphicFrame>
        <p:nvGraphicFramePr>
          <p:cNvPr id="80" name="表格 79"/>
          <p:cNvGraphicFramePr>
            <a:graphicFrameLocks noGrp="1"/>
          </p:cNvGraphicFramePr>
          <p:nvPr>
            <p:extLst>
              <p:ext uri="{D42A27DB-BD31-4B8C-83A1-F6EECF244321}">
                <p14:modId xmlns:p14="http://schemas.microsoft.com/office/powerpoint/2010/main" val="792134079"/>
              </p:ext>
            </p:extLst>
          </p:nvPr>
        </p:nvGraphicFramePr>
        <p:xfrm>
          <a:off x="957638" y="2350505"/>
          <a:ext cx="3132688" cy="1794615"/>
        </p:xfrm>
        <a:graphic>
          <a:graphicData uri="http://schemas.openxmlformats.org/drawingml/2006/table">
            <a:tbl>
              <a:tblPr firstRow="1" bandRow="1">
                <a:tableStyleId>{2D5ABB26-0587-4C30-8999-92F81FD0307C}</a:tableStyleId>
              </a:tblPr>
              <a:tblGrid>
                <a:gridCol w="907816">
                  <a:extLst>
                    <a:ext uri="{9D8B030D-6E8A-4147-A177-3AD203B41FA5}">
                      <a16:colId xmlns:a16="http://schemas.microsoft.com/office/drawing/2014/main" val="20000"/>
                    </a:ext>
                  </a:extLst>
                </a:gridCol>
                <a:gridCol w="741624">
                  <a:extLst>
                    <a:ext uri="{9D8B030D-6E8A-4147-A177-3AD203B41FA5}">
                      <a16:colId xmlns:a16="http://schemas.microsoft.com/office/drawing/2014/main" val="20001"/>
                    </a:ext>
                  </a:extLst>
                </a:gridCol>
                <a:gridCol w="741624">
                  <a:extLst>
                    <a:ext uri="{9D8B030D-6E8A-4147-A177-3AD203B41FA5}">
                      <a16:colId xmlns:a16="http://schemas.microsoft.com/office/drawing/2014/main" val="20002"/>
                    </a:ext>
                  </a:extLst>
                </a:gridCol>
                <a:gridCol w="741624">
                  <a:extLst>
                    <a:ext uri="{9D8B030D-6E8A-4147-A177-3AD203B41FA5}">
                      <a16:colId xmlns:a16="http://schemas.microsoft.com/office/drawing/2014/main" val="20003"/>
                    </a:ext>
                  </a:extLst>
                </a:gridCol>
              </a:tblGrid>
              <a:tr h="308934">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dirty="0">
                          <a:solidFill>
                            <a:schemeClr val="tx1"/>
                          </a:solidFill>
                        </a:rPr>
                        <a:t>Color/</a:t>
                      </a:r>
                      <a:r>
                        <a:rPr lang="zh-CN" altLang="en-US" sz="1400" b="1" kern="1200" dirty="0">
                          <a:solidFill>
                            <a:schemeClr val="tx1"/>
                          </a:solidFill>
                        </a:rPr>
                        <a:t>丢弃概率</a:t>
                      </a:r>
                      <a:endParaRPr lang="zh-CN" altLang="en-US" sz="1400" b="1" kern="1200" dirty="0">
                        <a:solidFill>
                          <a:schemeClr val="tx1"/>
                        </a:solidFill>
                        <a:latin typeface="+mn-ea"/>
                        <a:ea typeface="+mn-ea"/>
                        <a:cs typeface="+mn-cs"/>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0"/>
                  </a:ext>
                </a:extLst>
              </a:tr>
              <a:tr h="308934">
                <a:tc>
                  <a:txBody>
                    <a:bodyPr/>
                    <a:lstStyle/>
                    <a:p>
                      <a:pPr algn="ctr"/>
                      <a:r>
                        <a:rPr lang="zh-CN" altLang="en-US" sz="1400" dirty="0"/>
                        <a:t>例：</a:t>
                      </a:r>
                      <a:r>
                        <a:rPr lang="en-US" altLang="zh-CN" sz="1400" dirty="0"/>
                        <a:t>AF</a:t>
                      </a:r>
                      <a:endParaRPr lang="en-US" altLang="zh-CN" sz="1400" b="0" dirty="0">
                        <a:solidFill>
                          <a:schemeClr val="tx1"/>
                        </a:solidFill>
                        <a:latin typeface="+mn-ea"/>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bg1"/>
                          </a:solidFill>
                        </a:rPr>
                        <a:t>AF41</a:t>
                      </a:r>
                      <a:endParaRPr lang="zh-CN" altLang="en-US" sz="1400" b="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dirty="0">
                          <a:solidFill>
                            <a:schemeClr val="bg1"/>
                          </a:solidFill>
                        </a:rPr>
                        <a:t>AF42</a:t>
                      </a:r>
                      <a:endParaRPr lang="zh-CN" altLang="en-US" sz="1400" b="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dirty="0">
                          <a:solidFill>
                            <a:schemeClr val="bg1"/>
                          </a:solidFill>
                        </a:rPr>
                        <a:t>AF43</a:t>
                      </a:r>
                      <a:endParaRPr lang="en-US" altLang="zh-CN" sz="1400" b="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1"/>
                  </a:ext>
                </a:extLst>
              </a:tr>
              <a:tr h="392249">
                <a:tc>
                  <a:txBody>
                    <a:bodyPr/>
                    <a:lstStyle/>
                    <a:p>
                      <a:pPr algn="ctr"/>
                      <a:r>
                        <a:rPr lang="zh-CN" altLang="en-US" sz="1400" dirty="0"/>
                        <a:t>低门限</a:t>
                      </a:r>
                      <a:endParaRPr lang="en-US" altLang="zh-CN" sz="1400" dirty="0">
                        <a:latin typeface="+mn-ea"/>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bg1"/>
                          </a:solidFill>
                        </a:rPr>
                        <a:t>70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dirty="0">
                          <a:solidFill>
                            <a:schemeClr val="bg1"/>
                          </a:solidFill>
                        </a:rPr>
                        <a:t>50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dirty="0">
                          <a:solidFill>
                            <a:schemeClr val="bg1"/>
                          </a:solidFill>
                        </a:rPr>
                        <a:t>30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2"/>
                  </a:ext>
                </a:extLst>
              </a:tr>
              <a:tr h="392249">
                <a:tc>
                  <a:txBody>
                    <a:bodyPr/>
                    <a:lstStyle/>
                    <a:p>
                      <a:pPr algn="ctr"/>
                      <a:r>
                        <a:rPr lang="zh-CN" altLang="en-US" sz="1400" dirty="0"/>
                        <a:t>高门限</a:t>
                      </a:r>
                      <a:endParaRPr lang="en-US" altLang="zh-CN" sz="1400" dirty="0">
                        <a:latin typeface="+mn-ea"/>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bg1"/>
                          </a:solidFill>
                        </a:rPr>
                        <a:t>80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dirty="0">
                          <a:solidFill>
                            <a:schemeClr val="bg1"/>
                          </a:solidFill>
                        </a:rPr>
                        <a:t>60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dirty="0">
                          <a:solidFill>
                            <a:schemeClr val="bg1"/>
                          </a:solidFill>
                        </a:rPr>
                        <a:t>40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3"/>
                  </a:ext>
                </a:extLst>
              </a:tr>
              <a:tr h="392249">
                <a:tc>
                  <a:txBody>
                    <a:bodyPr/>
                    <a:lstStyle/>
                    <a:p>
                      <a:pPr algn="ctr"/>
                      <a:r>
                        <a:rPr lang="zh-CN" altLang="en-US" sz="1400" dirty="0"/>
                        <a:t>丢弃概率</a:t>
                      </a:r>
                      <a:endParaRPr lang="en-US" altLang="zh-CN" sz="1400" dirty="0">
                        <a:latin typeface="+mn-ea"/>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solidFill>
                            <a:schemeClr val="bg1"/>
                          </a:solidFill>
                        </a:rPr>
                        <a:t>70%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tc>
                  <a:txBody>
                    <a:bodyPr/>
                    <a:lstStyle/>
                    <a:p>
                      <a:pPr algn="ctr"/>
                      <a:r>
                        <a:rPr lang="en-US" altLang="zh-CN" sz="1400" dirty="0">
                          <a:solidFill>
                            <a:schemeClr val="bg1"/>
                          </a:solidFill>
                        </a:rPr>
                        <a:t>80%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D17D"/>
                    </a:solidFill>
                  </a:tcPr>
                </a:tc>
                <a:tc>
                  <a:txBody>
                    <a:bodyPr/>
                    <a:lstStyle/>
                    <a:p>
                      <a:pPr algn="ctr"/>
                      <a:r>
                        <a:rPr lang="en-US" altLang="zh-CN" sz="1400" dirty="0">
                          <a:solidFill>
                            <a:schemeClr val="bg1"/>
                          </a:solidFill>
                        </a:rPr>
                        <a:t>90%</a:t>
                      </a:r>
                      <a:endParaRPr lang="zh-CN" altLang="en-US" sz="1400" dirty="0">
                        <a:solidFill>
                          <a:schemeClr val="bg1"/>
                        </a:solidFill>
                        <a:latin typeface="+mn-ea"/>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10004"/>
                  </a:ext>
                </a:extLst>
              </a:tr>
            </a:tbl>
          </a:graphicData>
        </a:graphic>
      </p:graphicFrame>
      <p:grpSp>
        <p:nvGrpSpPr>
          <p:cNvPr id="81" name="组合 80"/>
          <p:cNvGrpSpPr/>
          <p:nvPr/>
        </p:nvGrpSpPr>
        <p:grpSpPr bwMode="gray">
          <a:xfrm>
            <a:off x="4199645" y="2059532"/>
            <a:ext cx="7560840" cy="2845632"/>
            <a:chOff x="4404296" y="3499692"/>
            <a:chExt cx="7560840" cy="2845632"/>
          </a:xfrm>
        </p:grpSpPr>
        <p:cxnSp>
          <p:nvCxnSpPr>
            <p:cNvPr id="82" name="肘形连接符 81"/>
            <p:cNvCxnSpPr/>
            <p:nvPr/>
          </p:nvCxnSpPr>
          <p:spPr bwMode="gray">
            <a:xfrm>
              <a:off x="5555940" y="3826360"/>
              <a:ext cx="5400000" cy="2160000"/>
            </a:xfrm>
            <a:prstGeom prst="bentConnector3">
              <a:avLst>
                <a:gd name="adj1" fmla="val 94"/>
              </a:avLst>
            </a:prstGeom>
            <a:solidFill>
              <a:schemeClr val="accent1"/>
            </a:solidFill>
            <a:ln w="28575" cap="flat" cmpd="sng" algn="ctr">
              <a:solidFill>
                <a:schemeClr val="tx1"/>
              </a:solidFill>
              <a:prstDash val="solid"/>
              <a:round/>
              <a:headEnd type="triangle"/>
              <a:tailEnd type="triangle"/>
            </a:ln>
            <a:effectLst/>
          </p:spPr>
        </p:cxnSp>
        <p:cxnSp>
          <p:nvCxnSpPr>
            <p:cNvPr id="83" name="直接连接符 82"/>
            <p:cNvCxnSpPr/>
            <p:nvPr/>
          </p:nvCxnSpPr>
          <p:spPr bwMode="gray">
            <a:xfrm>
              <a:off x="5556424" y="4507804"/>
              <a:ext cx="5004000"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84" name="圆角矩形 83"/>
            <p:cNvSpPr/>
            <p:nvPr/>
          </p:nvSpPr>
          <p:spPr bwMode="gray">
            <a:xfrm>
              <a:off x="5087888" y="3499692"/>
              <a:ext cx="936104"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丢弃概率</a:t>
              </a:r>
            </a:p>
          </p:txBody>
        </p:sp>
        <p:sp>
          <p:nvSpPr>
            <p:cNvPr id="86" name="圆角矩形 85"/>
            <p:cNvSpPr/>
            <p:nvPr/>
          </p:nvSpPr>
          <p:spPr bwMode="gray">
            <a:xfrm>
              <a:off x="10920536" y="5697252"/>
              <a:ext cx="1044600" cy="494370"/>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实际</a:t>
              </a:r>
              <a:endParaRPr lang="en-US" altLang="zh-CN" sz="14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队列长度</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7" name="圆角矩形 86"/>
            <p:cNvSpPr/>
            <p:nvPr/>
          </p:nvSpPr>
          <p:spPr bwMode="gray">
            <a:xfrm>
              <a:off x="4835860" y="3967744"/>
              <a:ext cx="755600"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100%</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88" name="直接连接符 87"/>
            <p:cNvCxnSpPr/>
            <p:nvPr/>
          </p:nvCxnSpPr>
          <p:spPr bwMode="gray">
            <a:xfrm>
              <a:off x="6528048"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9" name="直接连接符 88"/>
            <p:cNvCxnSpPr/>
            <p:nvPr/>
          </p:nvCxnSpPr>
          <p:spPr bwMode="gray">
            <a:xfrm>
              <a:off x="7176217"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95" name="直接连接符 94"/>
            <p:cNvCxnSpPr/>
            <p:nvPr/>
          </p:nvCxnSpPr>
          <p:spPr bwMode="gray">
            <a:xfrm>
              <a:off x="8472555"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9" name="直接连接符 118"/>
            <p:cNvCxnSpPr/>
            <p:nvPr/>
          </p:nvCxnSpPr>
          <p:spPr bwMode="gray">
            <a:xfrm>
              <a:off x="5555940" y="4149080"/>
              <a:ext cx="5005040"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120" name="圆角矩形 119"/>
            <p:cNvSpPr/>
            <p:nvPr/>
          </p:nvSpPr>
          <p:spPr bwMode="gray">
            <a:xfrm>
              <a:off x="4404296" y="4257092"/>
              <a:ext cx="1223652"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红色丢弃概率</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1" name="圆角矩形 120"/>
            <p:cNvSpPr/>
            <p:nvPr/>
          </p:nvSpPr>
          <p:spPr bwMode="gray">
            <a:xfrm>
              <a:off x="6059996"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红色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低门限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22" name="直接连接符 121"/>
            <p:cNvCxnSpPr/>
            <p:nvPr/>
          </p:nvCxnSpPr>
          <p:spPr bwMode="gray">
            <a:xfrm>
              <a:off x="7824386"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23" name="圆角矩形 122"/>
            <p:cNvSpPr/>
            <p:nvPr/>
          </p:nvSpPr>
          <p:spPr bwMode="gray">
            <a:xfrm>
              <a:off x="6708068"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红色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高门限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24" name="直接连接符 123"/>
            <p:cNvCxnSpPr/>
            <p:nvPr/>
          </p:nvCxnSpPr>
          <p:spPr bwMode="gray">
            <a:xfrm>
              <a:off x="9120724"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5" name="直接连接符 124"/>
            <p:cNvCxnSpPr/>
            <p:nvPr/>
          </p:nvCxnSpPr>
          <p:spPr bwMode="gray">
            <a:xfrm>
              <a:off x="9768892"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26" name="圆角矩形 125"/>
            <p:cNvSpPr/>
            <p:nvPr/>
          </p:nvSpPr>
          <p:spPr bwMode="gray">
            <a:xfrm>
              <a:off x="7356140"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黄</a:t>
              </a: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高门限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6" name="圆角矩形 135"/>
            <p:cNvSpPr/>
            <p:nvPr/>
          </p:nvSpPr>
          <p:spPr bwMode="gray">
            <a:xfrm>
              <a:off x="8004696"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黄</a:t>
              </a: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高门限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7" name="圆角矩形 136"/>
            <p:cNvSpPr/>
            <p:nvPr/>
          </p:nvSpPr>
          <p:spPr bwMode="gray">
            <a:xfrm>
              <a:off x="8652284"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绿</a:t>
              </a: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高门限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0" name="圆角矩形 139"/>
            <p:cNvSpPr/>
            <p:nvPr/>
          </p:nvSpPr>
          <p:spPr bwMode="gray">
            <a:xfrm>
              <a:off x="9300840"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绿</a:t>
              </a:r>
              <a:r>
                <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色</a:t>
              </a:r>
              <a:endParaRPr kumimoji="0" lang="en-US" altLang="zh-CN"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高门限</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41" name="直接连接符 140"/>
            <p:cNvCxnSpPr/>
            <p:nvPr/>
          </p:nvCxnSpPr>
          <p:spPr bwMode="gray">
            <a:xfrm>
              <a:off x="10557356" y="5770600"/>
              <a:ext cx="0" cy="21600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42" name="圆角矩形 141"/>
            <p:cNvSpPr/>
            <p:nvPr/>
          </p:nvSpPr>
          <p:spPr bwMode="gray">
            <a:xfrm>
              <a:off x="10089304" y="6019972"/>
              <a:ext cx="972592"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队列</a:t>
              </a:r>
              <a:endParaRPr lang="en-US" altLang="zh-CN" sz="1200" dirty="0">
                <a:latin typeface="Huawei Sans" panose="020C0503030203020204" pitchFamily="34" charset="0"/>
                <a:ea typeface="方正兰亭黑简体" panose="02000000000000000000" pitchFamily="2" charset="-122"/>
              </a:endParaRPr>
            </a:p>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最大长度</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44" name="直接连接符 143"/>
            <p:cNvCxnSpPr/>
            <p:nvPr/>
          </p:nvCxnSpPr>
          <p:spPr bwMode="gray">
            <a:xfrm>
              <a:off x="5556424" y="4886504"/>
              <a:ext cx="5004000"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145" name="圆角矩形 144"/>
            <p:cNvSpPr/>
            <p:nvPr/>
          </p:nvSpPr>
          <p:spPr bwMode="gray">
            <a:xfrm>
              <a:off x="4440300" y="4653136"/>
              <a:ext cx="1151644"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黄色丢弃概率</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46" name="直接连接符 145"/>
            <p:cNvCxnSpPr/>
            <p:nvPr/>
          </p:nvCxnSpPr>
          <p:spPr bwMode="gray">
            <a:xfrm>
              <a:off x="5556424" y="5265204"/>
              <a:ext cx="5004000" cy="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147" name="圆角矩形 146"/>
            <p:cNvSpPr/>
            <p:nvPr/>
          </p:nvSpPr>
          <p:spPr bwMode="gray">
            <a:xfrm>
              <a:off x="4422298" y="5049180"/>
              <a:ext cx="1187648" cy="4680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latin typeface="Huawei Sans" panose="020C0503030203020204" pitchFamily="34" charset="0"/>
                  <a:ea typeface="方正兰亭黑简体" panose="02000000000000000000" pitchFamily="2" charset="-122"/>
                </a:rPr>
                <a:t>绿色丢弃概率</a:t>
              </a:r>
              <a:endParaRPr kumimoji="0" lang="zh-CN" altLang="en-US" sz="12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148" name="直接连接符 147"/>
            <p:cNvCxnSpPr/>
            <p:nvPr/>
          </p:nvCxnSpPr>
          <p:spPr bwMode="gray">
            <a:xfrm>
              <a:off x="7176120" y="4509120"/>
              <a:ext cx="0" cy="144016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149" name="直接连接符 148"/>
            <p:cNvCxnSpPr/>
            <p:nvPr/>
          </p:nvCxnSpPr>
          <p:spPr bwMode="gray">
            <a:xfrm>
              <a:off x="8472264" y="4869160"/>
              <a:ext cx="0" cy="1080120"/>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163" name="直接连接符 162"/>
            <p:cNvCxnSpPr/>
            <p:nvPr/>
          </p:nvCxnSpPr>
          <p:spPr bwMode="gray">
            <a:xfrm>
              <a:off x="9768408" y="5265204"/>
              <a:ext cx="0" cy="684076"/>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165" name="任意多边形 164"/>
            <p:cNvSpPr/>
            <p:nvPr/>
          </p:nvSpPr>
          <p:spPr bwMode="gray">
            <a:xfrm>
              <a:off x="5577840" y="4145280"/>
              <a:ext cx="4983480" cy="1813560"/>
            </a:xfrm>
            <a:custGeom>
              <a:avLst/>
              <a:gdLst>
                <a:gd name="connsiteX0" fmla="*/ 0 w 4983480"/>
                <a:gd name="connsiteY0" fmla="*/ 1813560 h 1813560"/>
                <a:gd name="connsiteX1" fmla="*/ 952500 w 4983480"/>
                <a:gd name="connsiteY1" fmla="*/ 1813560 h 1813560"/>
                <a:gd name="connsiteX2" fmla="*/ 1600200 w 4983480"/>
                <a:gd name="connsiteY2" fmla="*/ 365760 h 1813560"/>
                <a:gd name="connsiteX3" fmla="*/ 4983480 w 4983480"/>
                <a:gd name="connsiteY3" fmla="*/ 365760 h 1813560"/>
                <a:gd name="connsiteX4" fmla="*/ 4983480 w 4983480"/>
                <a:gd name="connsiteY4" fmla="*/ 0 h 181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3480" h="1813560">
                  <a:moveTo>
                    <a:pt x="0" y="1813560"/>
                  </a:moveTo>
                  <a:lnTo>
                    <a:pt x="952500" y="1813560"/>
                  </a:lnTo>
                  <a:lnTo>
                    <a:pt x="1600200" y="365760"/>
                  </a:lnTo>
                  <a:lnTo>
                    <a:pt x="4983480" y="365760"/>
                  </a:lnTo>
                  <a:lnTo>
                    <a:pt x="4983480" y="0"/>
                  </a:lnTo>
                </a:path>
              </a:pathLst>
            </a:custGeom>
            <a:noFill/>
            <a:ln w="19050">
              <a:solidFill>
                <a:srgbClr val="EC7061"/>
              </a:solidFill>
              <a:prstDash val="dash"/>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66" name="任意多边形 165"/>
            <p:cNvSpPr/>
            <p:nvPr/>
          </p:nvSpPr>
          <p:spPr bwMode="gray">
            <a:xfrm>
              <a:off x="5570220" y="4145280"/>
              <a:ext cx="5006340" cy="1836420"/>
            </a:xfrm>
            <a:custGeom>
              <a:avLst/>
              <a:gdLst>
                <a:gd name="connsiteX0" fmla="*/ 0 w 5006340"/>
                <a:gd name="connsiteY0" fmla="*/ 1836420 h 1836420"/>
                <a:gd name="connsiteX1" fmla="*/ 2255520 w 5006340"/>
                <a:gd name="connsiteY1" fmla="*/ 1836420 h 1836420"/>
                <a:gd name="connsiteX2" fmla="*/ 2903220 w 5006340"/>
                <a:gd name="connsiteY2" fmla="*/ 739140 h 1836420"/>
                <a:gd name="connsiteX3" fmla="*/ 5006340 w 5006340"/>
                <a:gd name="connsiteY3" fmla="*/ 739140 h 1836420"/>
                <a:gd name="connsiteX4" fmla="*/ 5006340 w 5006340"/>
                <a:gd name="connsiteY4" fmla="*/ 0 h 1836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6340" h="1836420">
                  <a:moveTo>
                    <a:pt x="0" y="1836420"/>
                  </a:moveTo>
                  <a:lnTo>
                    <a:pt x="2255520" y="1836420"/>
                  </a:lnTo>
                  <a:lnTo>
                    <a:pt x="2903220" y="739140"/>
                  </a:lnTo>
                  <a:lnTo>
                    <a:pt x="5006340" y="739140"/>
                  </a:lnTo>
                  <a:lnTo>
                    <a:pt x="5006340" y="0"/>
                  </a:lnTo>
                </a:path>
              </a:pathLst>
            </a:custGeom>
            <a:noFill/>
            <a:ln w="28575">
              <a:solidFill>
                <a:srgbClr val="FFD17D"/>
              </a:solidFill>
              <a:prstDash val="dashDot"/>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67" name="任意多边形 166"/>
            <p:cNvSpPr/>
            <p:nvPr/>
          </p:nvSpPr>
          <p:spPr bwMode="gray">
            <a:xfrm>
              <a:off x="5562600" y="4145280"/>
              <a:ext cx="5036820" cy="1851660"/>
            </a:xfrm>
            <a:custGeom>
              <a:avLst/>
              <a:gdLst>
                <a:gd name="connsiteX0" fmla="*/ 0 w 5036820"/>
                <a:gd name="connsiteY0" fmla="*/ 1851660 h 1851660"/>
                <a:gd name="connsiteX1" fmla="*/ 3558540 w 5036820"/>
                <a:gd name="connsiteY1" fmla="*/ 1851660 h 1851660"/>
                <a:gd name="connsiteX2" fmla="*/ 4206240 w 5036820"/>
                <a:gd name="connsiteY2" fmla="*/ 1120140 h 1851660"/>
                <a:gd name="connsiteX3" fmla="*/ 5036820 w 5036820"/>
                <a:gd name="connsiteY3" fmla="*/ 1120140 h 1851660"/>
                <a:gd name="connsiteX4" fmla="*/ 5036820 w 5036820"/>
                <a:gd name="connsiteY4" fmla="*/ 0 h 1851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820" h="1851660">
                  <a:moveTo>
                    <a:pt x="0" y="1851660"/>
                  </a:moveTo>
                  <a:lnTo>
                    <a:pt x="3558540" y="1851660"/>
                  </a:lnTo>
                  <a:lnTo>
                    <a:pt x="4206240" y="1120140"/>
                  </a:lnTo>
                  <a:lnTo>
                    <a:pt x="5036820" y="1120140"/>
                  </a:lnTo>
                  <a:lnTo>
                    <a:pt x="5036820" y="0"/>
                  </a:lnTo>
                </a:path>
              </a:pathLst>
            </a:custGeom>
            <a:noFill/>
            <a:ln w="19050">
              <a:solidFill>
                <a:srgbClr val="8BC9A0"/>
              </a:solidFill>
              <a:miter lim="800000"/>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sp>
        <p:nvSpPr>
          <p:cNvPr id="38" name="Rectangular Callout 37"/>
          <p:cNvSpPr/>
          <p:nvPr/>
        </p:nvSpPr>
        <p:spPr bwMode="gray">
          <a:xfrm>
            <a:off x="8454992" y="2029378"/>
            <a:ext cx="1836138" cy="309667"/>
          </a:xfrm>
          <a:prstGeom prst="wedgeRectCallout">
            <a:avLst>
              <a:gd name="adj1" fmla="val 14387"/>
              <a:gd name="adj2" fmla="val 13773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Huawei Sans" panose="020C0503030203020204" pitchFamily="34" charset="0"/>
                <a:ea typeface="方正兰亭黑简体" panose="02000000000000000000" pitchFamily="2" charset="-122"/>
              </a:rPr>
              <a:t>不同流量的区分丢弃</a:t>
            </a:r>
          </a:p>
        </p:txBody>
      </p:sp>
    </p:spTree>
    <p:extLst>
      <p:ext uri="{BB962C8B-B14F-4D97-AF65-F5344CB8AC3E}">
        <p14:creationId xmlns:p14="http://schemas.microsoft.com/office/powerpoint/2010/main" val="261810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矩形 129"/>
          <p:cNvSpPr/>
          <p:nvPr/>
        </p:nvSpPr>
        <p:spPr bwMode="gray">
          <a:xfrm>
            <a:off x="4547828" y="2057100"/>
            <a:ext cx="2772308" cy="3456384"/>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33" name="矩形 132"/>
          <p:cNvSpPr/>
          <p:nvPr/>
        </p:nvSpPr>
        <p:spPr bwMode="gray">
          <a:xfrm>
            <a:off x="7428148" y="2057100"/>
            <a:ext cx="3348372" cy="3456384"/>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29" name="矩形 128"/>
          <p:cNvSpPr/>
          <p:nvPr/>
        </p:nvSpPr>
        <p:spPr bwMode="gray">
          <a:xfrm>
            <a:off x="1595500" y="2057100"/>
            <a:ext cx="2844316" cy="3456384"/>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28" name="矩形 127"/>
          <p:cNvSpPr/>
          <p:nvPr/>
        </p:nvSpPr>
        <p:spPr bwMode="gray">
          <a:xfrm>
            <a:off x="9516380" y="4361356"/>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27" name="矩形 126"/>
          <p:cNvSpPr/>
          <p:nvPr/>
        </p:nvSpPr>
        <p:spPr bwMode="gray">
          <a:xfrm>
            <a:off x="9516380" y="3353244"/>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19" name="矩形 118"/>
          <p:cNvSpPr/>
          <p:nvPr/>
        </p:nvSpPr>
        <p:spPr bwMode="gray">
          <a:xfrm>
            <a:off x="9516380" y="234513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cxnSp>
        <p:nvCxnSpPr>
          <p:cNvPr id="100" name="直接连接符 99"/>
          <p:cNvCxnSpPr>
            <a:stCxn id="72" idx="3"/>
            <a:endCxn id="74" idx="1"/>
          </p:cNvCxnSpPr>
          <p:nvPr/>
        </p:nvCxnSpPr>
        <p:spPr bwMode="gray">
          <a:xfrm>
            <a:off x="6610519" y="3830013"/>
            <a:ext cx="49359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矩形 64"/>
          <p:cNvSpPr/>
          <p:nvPr/>
        </p:nvSpPr>
        <p:spPr bwMode="gray">
          <a:xfrm>
            <a:off x="1739516" y="4361356"/>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64" name="矩形 63"/>
          <p:cNvSpPr/>
          <p:nvPr/>
        </p:nvSpPr>
        <p:spPr bwMode="gray">
          <a:xfrm>
            <a:off x="1739516" y="3353244"/>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拥塞避免的应用</a:t>
            </a:r>
          </a:p>
        </p:txBody>
      </p:sp>
      <p:sp>
        <p:nvSpPr>
          <p:cNvPr id="57" name="矩形 56"/>
          <p:cNvSpPr/>
          <p:nvPr/>
        </p:nvSpPr>
        <p:spPr bwMode="gray">
          <a:xfrm>
            <a:off x="1739516" y="234513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58" name="envelope-doodle_16370"/>
          <p:cNvSpPr>
            <a:spLocks noChangeAspect="1"/>
          </p:cNvSpPr>
          <p:nvPr/>
        </p:nvSpPr>
        <p:spPr bwMode="gray">
          <a:xfrm>
            <a:off x="1967218" y="4447794"/>
            <a:ext cx="561911" cy="516030"/>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59" name="图片 58" descr="可视电话硬终端.png"/>
          <p:cNvPicPr>
            <a:picLocks noChangeAspect="1"/>
          </p:cNvPicPr>
          <p:nvPr/>
        </p:nvPicPr>
        <p:blipFill>
          <a:blip r:embed="rId3" cstate="print">
            <a:duotone>
              <a:schemeClr val="accent4">
                <a:shade val="45000"/>
                <a:satMod val="135000"/>
              </a:schemeClr>
              <a:prstClr val="white"/>
            </a:duotone>
          </a:blip>
          <a:stretch>
            <a:fillRect/>
          </a:stretch>
        </p:blipFill>
        <p:spPr bwMode="gray">
          <a:xfrm>
            <a:off x="1963253" y="3519513"/>
            <a:ext cx="569841" cy="457050"/>
          </a:xfrm>
          <a:prstGeom prst="rect">
            <a:avLst/>
          </a:prstGeom>
        </p:spPr>
      </p:pic>
      <p:pic>
        <p:nvPicPr>
          <p:cNvPr id="60" name="图片 59" descr="管理型无线虚链路-蓝.png"/>
          <p:cNvPicPr>
            <a:picLocks noChangeAspect="1"/>
          </p:cNvPicPr>
          <p:nvPr/>
        </p:nvPicPr>
        <p:blipFill>
          <a:blip r:embed="rId4" cstate="print">
            <a:duotone>
              <a:schemeClr val="accent4">
                <a:shade val="45000"/>
                <a:satMod val="135000"/>
              </a:schemeClr>
              <a:prstClr val="white"/>
            </a:duotone>
          </a:blip>
          <a:stretch>
            <a:fillRect/>
          </a:stretch>
        </p:blipFill>
        <p:spPr bwMode="gray">
          <a:xfrm>
            <a:off x="1976034" y="2497499"/>
            <a:ext cx="544278" cy="457050"/>
          </a:xfrm>
          <a:prstGeom prst="rect">
            <a:avLst/>
          </a:prstGeom>
        </p:spPr>
      </p:pic>
      <p:sp>
        <p:nvSpPr>
          <p:cNvPr id="61" name="文本框 60"/>
          <p:cNvSpPr txBox="1"/>
          <p:nvPr/>
        </p:nvSpPr>
        <p:spPr bwMode="gray">
          <a:xfrm>
            <a:off x="1890208" y="2913957"/>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视频流</a:t>
            </a:r>
          </a:p>
        </p:txBody>
      </p:sp>
      <p:sp>
        <p:nvSpPr>
          <p:cNvPr id="62" name="文本框 61"/>
          <p:cNvSpPr txBox="1"/>
          <p:nvPr/>
        </p:nvSpPr>
        <p:spPr bwMode="gray">
          <a:xfrm>
            <a:off x="1890209" y="3949888"/>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语音流</a:t>
            </a:r>
          </a:p>
        </p:txBody>
      </p:sp>
      <p:sp>
        <p:nvSpPr>
          <p:cNvPr id="63" name="文本框 62"/>
          <p:cNvSpPr txBox="1"/>
          <p:nvPr/>
        </p:nvSpPr>
        <p:spPr bwMode="gray">
          <a:xfrm>
            <a:off x="1890209" y="489456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数据流</a:t>
            </a:r>
          </a:p>
        </p:txBody>
      </p:sp>
      <p:pic>
        <p:nvPicPr>
          <p:cNvPr id="66" name="图片 6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143672" y="3560013"/>
            <a:ext cx="658537" cy="540000"/>
          </a:xfrm>
          <a:prstGeom prst="rect">
            <a:avLst/>
          </a:prstGeom>
        </p:spPr>
      </p:pic>
      <p:pic>
        <p:nvPicPr>
          <p:cNvPr id="67" name="图片 6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331803" y="3560013"/>
            <a:ext cx="658536" cy="540000"/>
          </a:xfrm>
          <a:prstGeom prst="rect">
            <a:avLst/>
          </a:prstGeom>
        </p:spPr>
      </p:pic>
      <p:pic>
        <p:nvPicPr>
          <p:cNvPr id="70" name="图片 6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159895" y="2849248"/>
            <a:ext cx="658536" cy="540000"/>
          </a:xfrm>
          <a:prstGeom prst="rect">
            <a:avLst/>
          </a:prstGeom>
        </p:spPr>
      </p:pic>
      <p:pic>
        <p:nvPicPr>
          <p:cNvPr id="72" name="图片 7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951983" y="3560013"/>
            <a:ext cx="658536" cy="540000"/>
          </a:xfrm>
          <a:prstGeom prst="rect">
            <a:avLst/>
          </a:prstGeom>
        </p:spPr>
      </p:pic>
      <p:pic>
        <p:nvPicPr>
          <p:cNvPr id="73" name="图片 7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159895" y="4253404"/>
            <a:ext cx="658536" cy="540000"/>
          </a:xfrm>
          <a:prstGeom prst="rect">
            <a:avLst/>
          </a:prstGeom>
        </p:spPr>
      </p:pic>
      <p:pic>
        <p:nvPicPr>
          <p:cNvPr id="74" name="图片 7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7104111" y="3560013"/>
            <a:ext cx="658536" cy="540000"/>
          </a:xfrm>
          <a:prstGeom prst="rect">
            <a:avLst/>
          </a:prstGeom>
        </p:spPr>
      </p:pic>
      <p:pic>
        <p:nvPicPr>
          <p:cNvPr id="75" name="图片 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508268" y="3560013"/>
            <a:ext cx="658537" cy="540000"/>
          </a:xfrm>
          <a:prstGeom prst="rect">
            <a:avLst/>
          </a:prstGeom>
        </p:spPr>
      </p:pic>
      <p:cxnSp>
        <p:nvCxnSpPr>
          <p:cNvPr id="76" name="直接连接符 75"/>
          <p:cNvCxnSpPr>
            <a:stCxn id="57" idx="3"/>
            <a:endCxn id="66" idx="0"/>
          </p:cNvCxnSpPr>
          <p:nvPr/>
        </p:nvCxnSpPr>
        <p:spPr bwMode="gray">
          <a:xfrm>
            <a:off x="2783632" y="2813184"/>
            <a:ext cx="689309"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7" name="图片 7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15081" y="2417260"/>
            <a:ext cx="646714" cy="540000"/>
          </a:xfrm>
          <a:prstGeom prst="rect">
            <a:avLst/>
          </a:prstGeom>
        </p:spPr>
      </p:pic>
      <p:pic>
        <p:nvPicPr>
          <p:cNvPr id="83" name="图片 8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15081" y="3452001"/>
            <a:ext cx="646714" cy="540000"/>
          </a:xfrm>
          <a:prstGeom prst="rect">
            <a:avLst/>
          </a:prstGeom>
        </p:spPr>
      </p:pic>
      <p:pic>
        <p:nvPicPr>
          <p:cNvPr id="84" name="图片 8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15081" y="4433424"/>
            <a:ext cx="646714" cy="540000"/>
          </a:xfrm>
          <a:prstGeom prst="rect">
            <a:avLst/>
          </a:prstGeom>
        </p:spPr>
      </p:pic>
      <p:cxnSp>
        <p:nvCxnSpPr>
          <p:cNvPr id="85" name="直接连接符 84"/>
          <p:cNvCxnSpPr>
            <a:stCxn id="64" idx="3"/>
            <a:endCxn id="66" idx="1"/>
          </p:cNvCxnSpPr>
          <p:nvPr/>
        </p:nvCxnSpPr>
        <p:spPr bwMode="gray">
          <a:xfrm>
            <a:off x="2783632" y="3821296"/>
            <a:ext cx="3600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p:cNvCxnSpPr>
            <a:stCxn id="65" idx="3"/>
            <a:endCxn id="66" idx="2"/>
          </p:cNvCxnSpPr>
          <p:nvPr/>
        </p:nvCxnSpPr>
        <p:spPr bwMode="gray">
          <a:xfrm flipV="1">
            <a:off x="2783632" y="4100013"/>
            <a:ext cx="689309"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7" name="直接连接符 86"/>
          <p:cNvCxnSpPr>
            <a:stCxn id="66" idx="3"/>
            <a:endCxn id="67" idx="1"/>
          </p:cNvCxnSpPr>
          <p:nvPr/>
        </p:nvCxnSpPr>
        <p:spPr bwMode="gray">
          <a:xfrm>
            <a:off x="3802209" y="3830013"/>
            <a:ext cx="52959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stCxn id="67" idx="0"/>
            <a:endCxn id="70" idx="1"/>
          </p:cNvCxnSpPr>
          <p:nvPr/>
        </p:nvCxnSpPr>
        <p:spPr bwMode="gray">
          <a:xfrm flipV="1">
            <a:off x="4661071" y="3119248"/>
            <a:ext cx="498824"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3" name="直接连接符 92"/>
          <p:cNvCxnSpPr>
            <a:stCxn id="70" idx="3"/>
            <a:endCxn id="72" idx="0"/>
          </p:cNvCxnSpPr>
          <p:nvPr/>
        </p:nvCxnSpPr>
        <p:spPr bwMode="gray">
          <a:xfrm>
            <a:off x="5818431" y="3119248"/>
            <a:ext cx="462820"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5" name="直接连接符 94"/>
          <p:cNvCxnSpPr>
            <a:stCxn id="73" idx="3"/>
            <a:endCxn id="72" idx="2"/>
          </p:cNvCxnSpPr>
          <p:nvPr/>
        </p:nvCxnSpPr>
        <p:spPr bwMode="gray">
          <a:xfrm flipV="1">
            <a:off x="5818431" y="4100013"/>
            <a:ext cx="462820"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8" name="直接连接符 117"/>
          <p:cNvCxnSpPr>
            <a:stCxn id="74" idx="3"/>
            <a:endCxn id="75" idx="1"/>
          </p:cNvCxnSpPr>
          <p:nvPr/>
        </p:nvCxnSpPr>
        <p:spPr bwMode="gray">
          <a:xfrm>
            <a:off x="7762647" y="3830013"/>
            <a:ext cx="74562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文本框 122"/>
          <p:cNvSpPr txBox="1"/>
          <p:nvPr/>
        </p:nvSpPr>
        <p:spPr bwMode="gray">
          <a:xfrm>
            <a:off x="9770242" y="2957200"/>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a:t>
            </a:r>
          </a:p>
        </p:txBody>
      </p:sp>
      <p:sp>
        <p:nvSpPr>
          <p:cNvPr id="124" name="文本框 123"/>
          <p:cNvSpPr txBox="1"/>
          <p:nvPr/>
        </p:nvSpPr>
        <p:spPr bwMode="gray">
          <a:xfrm>
            <a:off x="9770242" y="3985245"/>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a:t>
            </a:r>
          </a:p>
        </p:txBody>
      </p:sp>
      <p:sp>
        <p:nvSpPr>
          <p:cNvPr id="125" name="文本框 124"/>
          <p:cNvSpPr txBox="1"/>
          <p:nvPr/>
        </p:nvSpPr>
        <p:spPr bwMode="gray">
          <a:xfrm>
            <a:off x="9770242" y="4993357"/>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a:t>
            </a:r>
          </a:p>
        </p:txBody>
      </p:sp>
      <p:cxnSp>
        <p:nvCxnSpPr>
          <p:cNvPr id="135" name="直接连接符 134"/>
          <p:cNvCxnSpPr>
            <a:stCxn id="75" idx="0"/>
            <a:endCxn id="119" idx="1"/>
          </p:cNvCxnSpPr>
          <p:nvPr/>
        </p:nvCxnSpPr>
        <p:spPr bwMode="gray">
          <a:xfrm flipV="1">
            <a:off x="8837537" y="2813184"/>
            <a:ext cx="678843"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连接符 135"/>
          <p:cNvCxnSpPr>
            <a:stCxn id="75" idx="3"/>
            <a:endCxn id="127" idx="1"/>
          </p:cNvCxnSpPr>
          <p:nvPr/>
        </p:nvCxnSpPr>
        <p:spPr bwMode="gray">
          <a:xfrm flipV="1">
            <a:off x="9166805" y="3821296"/>
            <a:ext cx="34957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7" name="直接连接符 136"/>
          <p:cNvCxnSpPr>
            <a:stCxn id="75" idx="2"/>
            <a:endCxn id="128" idx="1"/>
          </p:cNvCxnSpPr>
          <p:nvPr/>
        </p:nvCxnSpPr>
        <p:spPr bwMode="gray">
          <a:xfrm>
            <a:off x="8837537" y="4100013"/>
            <a:ext cx="678843"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2" name="圆角矩形 141"/>
          <p:cNvSpPr/>
          <p:nvPr/>
        </p:nvSpPr>
        <p:spPr bwMode="gray">
          <a:xfrm>
            <a:off x="2891643" y="5153444"/>
            <a:ext cx="91056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sp>
        <p:nvSpPr>
          <p:cNvPr id="144" name="圆角矩形 143"/>
          <p:cNvSpPr/>
          <p:nvPr/>
        </p:nvSpPr>
        <p:spPr bwMode="gray">
          <a:xfrm>
            <a:off x="5442857" y="5153444"/>
            <a:ext cx="1049187"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600" b="1" dirty="0">
                <a:latin typeface="Huawei Sans" panose="020C0503030203020204" pitchFamily="34" charset="0"/>
                <a:ea typeface="方正兰亭黑简体" panose="02000000000000000000" pitchFamily="2" charset="-122"/>
              </a:rPr>
              <a:t>广</a:t>
            </a: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域网</a:t>
            </a:r>
          </a:p>
        </p:txBody>
      </p:sp>
      <p:sp>
        <p:nvSpPr>
          <p:cNvPr id="146" name="圆角矩形 145"/>
          <p:cNvSpPr/>
          <p:nvPr/>
        </p:nvSpPr>
        <p:spPr bwMode="gray">
          <a:xfrm>
            <a:off x="8508268" y="5153444"/>
            <a:ext cx="86409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cxnSp>
        <p:nvCxnSpPr>
          <p:cNvPr id="147" name="直接连接符 146"/>
          <p:cNvCxnSpPr/>
          <p:nvPr/>
        </p:nvCxnSpPr>
        <p:spPr bwMode="gray">
          <a:xfrm flipV="1">
            <a:off x="3935760" y="1805072"/>
            <a:ext cx="1404156" cy="36"/>
          </a:xfrm>
          <a:prstGeom prst="line">
            <a:avLst/>
          </a:prstGeom>
          <a:solidFill>
            <a:schemeClr val="accent1"/>
          </a:solidFill>
          <a:ln w="19050" cap="flat" cmpd="sng" algn="ctr">
            <a:solidFill>
              <a:schemeClr val="tx1"/>
            </a:solidFill>
            <a:prstDash val="dash"/>
            <a:round/>
            <a:headEnd type="none" w="med" len="med"/>
            <a:tailEnd type="triangle" w="med" len="med"/>
          </a:ln>
          <a:effectLst/>
        </p:spPr>
      </p:cxnSp>
      <p:sp>
        <p:nvSpPr>
          <p:cNvPr id="148" name="圆角矩形 147"/>
          <p:cNvSpPr/>
          <p:nvPr/>
        </p:nvSpPr>
        <p:spPr bwMode="gray">
          <a:xfrm>
            <a:off x="4079776" y="1373024"/>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流量方向</a:t>
            </a:r>
          </a:p>
        </p:txBody>
      </p:sp>
      <p:sp>
        <p:nvSpPr>
          <p:cNvPr id="52" name="Oval 41"/>
          <p:cNvSpPr>
            <a:spLocks noChangeAspect="1"/>
          </p:cNvSpPr>
          <p:nvPr/>
        </p:nvSpPr>
        <p:spPr bwMode="gray">
          <a:xfrm>
            <a:off x="4599325" y="348034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3" name="Rectangular Callout 52"/>
          <p:cNvSpPr/>
          <p:nvPr/>
        </p:nvSpPr>
        <p:spPr bwMode="gray">
          <a:xfrm>
            <a:off x="3572249" y="2539707"/>
            <a:ext cx="1159070" cy="561659"/>
          </a:xfrm>
          <a:prstGeom prst="wedgeRectCallout">
            <a:avLst>
              <a:gd name="adj1" fmla="val 43744"/>
              <a:gd name="adj2" fmla="val 1037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latin typeface="Huawei Sans" panose="020C0503030203020204" pitchFamily="34" charset="0"/>
                <a:ea typeface="方正兰亭黑简体" panose="02000000000000000000" pitchFamily="2" charset="-122"/>
              </a:rPr>
              <a:t>接口出方向</a:t>
            </a:r>
            <a:endParaRPr lang="en-US" altLang="zh-CN" sz="1400" b="1" dirty="0">
              <a:solidFill>
                <a:srgbClr val="C7000B"/>
              </a:solidFill>
              <a:latin typeface="Huawei Sans" panose="020C0503030203020204" pitchFamily="34" charset="0"/>
              <a:ea typeface="方正兰亭黑简体" panose="02000000000000000000" pitchFamily="2" charset="-122"/>
            </a:endParaRPr>
          </a:p>
          <a:p>
            <a:pPr algn="ctr"/>
            <a:r>
              <a:rPr lang="zh-CN" altLang="en-US" sz="1400" b="1" dirty="0">
                <a:solidFill>
                  <a:srgbClr val="C7000B"/>
                </a:solidFill>
                <a:latin typeface="Huawei Sans" panose="020C0503030203020204" pitchFamily="34" charset="0"/>
                <a:ea typeface="方正兰亭黑简体" panose="02000000000000000000" pitchFamily="2" charset="-122"/>
              </a:rPr>
              <a:t>拥塞避免</a:t>
            </a:r>
          </a:p>
        </p:txBody>
      </p:sp>
      <p:cxnSp>
        <p:nvCxnSpPr>
          <p:cNvPr id="51" name="直接连接符 94">
            <a:extLst>
              <a:ext uri="{FF2B5EF4-FFF2-40B4-BE49-F238E27FC236}">
                <a16:creationId xmlns:a16="http://schemas.microsoft.com/office/drawing/2014/main" id="{C41C9232-CB9F-42D1-904F-FB56BDFB6C8B}"/>
              </a:ext>
            </a:extLst>
          </p:cNvPr>
          <p:cNvCxnSpPr>
            <a:cxnSpLocks/>
            <a:stCxn id="73" idx="1"/>
            <a:endCxn id="67" idx="2"/>
          </p:cNvCxnSpPr>
          <p:nvPr/>
        </p:nvCxnSpPr>
        <p:spPr bwMode="gray">
          <a:xfrm flipH="1" flipV="1">
            <a:off x="4661071" y="4100013"/>
            <a:ext cx="498824"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3737311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配置基于队列的</a:t>
            </a:r>
            <a:r>
              <a:rPr lang="en-US" altLang="zh-CN" dirty="0"/>
              <a:t>WRED</a:t>
            </a:r>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408540"/>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设备支持基于</a:t>
            </a:r>
            <a:r>
              <a:rPr lang="en-US" altLang="zh-CN" sz="1800" dirty="0"/>
              <a:t>DSCP</a:t>
            </a:r>
            <a:r>
              <a:rPr lang="zh-CN" altLang="en-US" sz="1800" dirty="0"/>
              <a:t>优先级的</a:t>
            </a:r>
            <a:r>
              <a:rPr lang="en-US" altLang="zh-CN" sz="1800" dirty="0"/>
              <a:t>WRED</a:t>
            </a:r>
            <a:r>
              <a:rPr lang="zh-CN" altLang="en-US" sz="1800" dirty="0"/>
              <a:t>和基于</a:t>
            </a:r>
            <a:r>
              <a:rPr lang="en-US" altLang="zh-CN" sz="1800" dirty="0"/>
              <a:t>IP</a:t>
            </a:r>
            <a:r>
              <a:rPr lang="zh-CN" altLang="en-US" sz="1800" dirty="0"/>
              <a:t>优先级的</a:t>
            </a:r>
            <a:r>
              <a:rPr lang="en-US" altLang="zh-CN" sz="1800" dirty="0"/>
              <a:t>WRED</a:t>
            </a:r>
            <a:r>
              <a:rPr lang="zh-CN" altLang="en-US" sz="1800" dirty="0"/>
              <a:t>，配置思路如下：</a:t>
            </a:r>
            <a:endParaRPr lang="en-US" altLang="zh-CN" sz="1800" dirty="0"/>
          </a:p>
          <a:p>
            <a:pPr lvl="1" fontAlgn="auto">
              <a:spcAft>
                <a:spcPts val="0"/>
              </a:spcAft>
            </a:pPr>
            <a:r>
              <a:rPr lang="zh-CN" altLang="en-US" sz="1600" dirty="0"/>
              <a:t>配置丢弃模板</a:t>
            </a:r>
            <a:endParaRPr lang="en-US" altLang="zh-CN" sz="1600" dirty="0"/>
          </a:p>
          <a:p>
            <a:pPr lvl="1" fontAlgn="auto">
              <a:spcAft>
                <a:spcPts val="0"/>
              </a:spcAft>
            </a:pPr>
            <a:r>
              <a:rPr lang="zh-CN" altLang="en-US" sz="1600" dirty="0"/>
              <a:t>配置</a:t>
            </a:r>
            <a:r>
              <a:rPr lang="en-US" altLang="zh-CN" sz="1600" dirty="0"/>
              <a:t>WRED</a:t>
            </a:r>
            <a:r>
              <a:rPr lang="zh-CN" altLang="en-US" sz="1600" dirty="0"/>
              <a:t>参数</a:t>
            </a:r>
            <a:endParaRPr lang="en-US" altLang="zh-CN" sz="1600" dirty="0"/>
          </a:p>
          <a:p>
            <a:pPr lvl="1" fontAlgn="auto">
              <a:spcAft>
                <a:spcPts val="0"/>
              </a:spcAft>
            </a:pPr>
            <a:r>
              <a:rPr lang="zh-CN" altLang="en-US" sz="1600" dirty="0"/>
              <a:t>在队列模板中调用丢弃模板</a:t>
            </a:r>
            <a:endParaRPr lang="en-US" altLang="zh-CN" sz="1600" dirty="0"/>
          </a:p>
          <a:p>
            <a:pPr lvl="1" fontAlgn="auto">
              <a:spcAft>
                <a:spcPts val="0"/>
              </a:spcAft>
            </a:pPr>
            <a:r>
              <a:rPr lang="zh-CN" altLang="en-US" sz="1600" dirty="0"/>
              <a:t>在接口</a:t>
            </a:r>
            <a:r>
              <a:rPr lang="zh-CN" altLang="en-US" sz="1600" dirty="0">
                <a:solidFill>
                  <a:srgbClr val="C7000B"/>
                </a:solidFill>
              </a:rPr>
              <a:t>出方向</a:t>
            </a:r>
            <a:r>
              <a:rPr lang="zh-CN" altLang="en-US" sz="1600" dirty="0"/>
              <a:t>调用队列模板</a:t>
            </a:r>
            <a:endParaRPr lang="en-US" altLang="zh-CN" sz="1600" dirty="0"/>
          </a:p>
        </p:txBody>
      </p:sp>
      <p:sp>
        <p:nvSpPr>
          <p:cNvPr id="64" name="文本框 30">
            <a:extLst>
              <a:ext uri="{FF2B5EF4-FFF2-40B4-BE49-F238E27FC236}">
                <a16:creationId xmlns:a16="http://schemas.microsoft.com/office/drawing/2014/main" id="{2AF05CCD-E336-4F23-95FE-541DCCC8BBFE}"/>
              </a:ext>
            </a:extLst>
          </p:cNvPr>
          <p:cNvSpPr txBox="1"/>
          <p:nvPr/>
        </p:nvSpPr>
        <p:spPr bwMode="gray">
          <a:xfrm>
            <a:off x="6096000" y="1298803"/>
            <a:ext cx="5616574" cy="375487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drop-profile </a:t>
            </a:r>
            <a:r>
              <a:rPr lang="en-US" altLang="zh-CN" dirty="0">
                <a:solidFill>
                  <a:schemeClr val="tx1"/>
                </a:solidFill>
              </a:rPr>
              <a:t>[</a:t>
            </a:r>
            <a:r>
              <a:rPr lang="en-US" altLang="zh-CN" i="1" dirty="0">
                <a:solidFill>
                  <a:schemeClr val="tx1"/>
                </a:solidFill>
              </a:rPr>
              <a:t>drop-profile-name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创建丢弃模板</a:t>
            </a:r>
            <a:endParaRPr lang="en-US" altLang="zh-CN" dirty="0">
              <a:solidFill>
                <a:schemeClr val="tx1"/>
              </a:solidFill>
            </a:endParaRPr>
          </a:p>
          <a:p>
            <a:pPr>
              <a:lnSpc>
                <a:spcPct val="100000"/>
              </a:lnSpc>
            </a:pPr>
            <a:r>
              <a:rPr lang="en-US" altLang="zh-CN" b="1" dirty="0">
                <a:solidFill>
                  <a:schemeClr val="tx1"/>
                </a:solidFill>
              </a:rPr>
              <a:t>      wred </a:t>
            </a:r>
            <a:r>
              <a:rPr lang="en-US" altLang="zh-CN" dirty="0">
                <a:solidFill>
                  <a:schemeClr val="tx1"/>
                </a:solidFill>
              </a:rPr>
              <a:t>[</a:t>
            </a:r>
            <a:r>
              <a:rPr lang="en-US" altLang="zh-CN" dirty="0" err="1">
                <a:solidFill>
                  <a:schemeClr val="tx1"/>
                </a:solidFill>
              </a:rPr>
              <a:t>dscp</a:t>
            </a:r>
            <a:r>
              <a:rPr lang="en-US" altLang="zh-CN" dirty="0">
                <a:solidFill>
                  <a:schemeClr val="tx1"/>
                </a:solidFill>
              </a:rPr>
              <a:t> | </a:t>
            </a:r>
            <a:r>
              <a:rPr lang="en-US" altLang="zh-CN" dirty="0" err="1">
                <a:solidFill>
                  <a:schemeClr val="tx1"/>
                </a:solidFill>
              </a:rPr>
              <a:t>ip</a:t>
            </a:r>
            <a:r>
              <a:rPr lang="en-US" altLang="zh-CN" dirty="0">
                <a:solidFill>
                  <a:schemeClr val="tx1"/>
                </a:solidFill>
              </a:rPr>
              <a:t>-precedence]      //</a:t>
            </a:r>
            <a:r>
              <a:rPr lang="zh-CN" altLang="en-US" dirty="0">
                <a:solidFill>
                  <a:schemeClr val="tx1"/>
                </a:solidFill>
              </a:rPr>
              <a:t>配置当前</a:t>
            </a:r>
            <a:r>
              <a:rPr lang="en-US" altLang="zh-CN" dirty="0">
                <a:solidFill>
                  <a:schemeClr val="tx1"/>
                </a:solidFill>
              </a:rPr>
              <a:t>WRED</a:t>
            </a:r>
            <a:r>
              <a:rPr lang="zh-CN" altLang="en-US" dirty="0">
                <a:solidFill>
                  <a:schemeClr val="tx1"/>
                </a:solidFill>
              </a:rPr>
              <a:t>丢弃模板基于</a:t>
            </a:r>
            <a:r>
              <a:rPr lang="en-US" altLang="zh-CN" dirty="0">
                <a:solidFill>
                  <a:schemeClr val="tx1"/>
                </a:solidFill>
              </a:rPr>
              <a:t>DSCP</a:t>
            </a:r>
            <a:r>
              <a:rPr lang="zh-CN" altLang="en-US" dirty="0">
                <a:solidFill>
                  <a:schemeClr val="tx1"/>
                </a:solidFill>
              </a:rPr>
              <a:t>优先级或</a:t>
            </a:r>
            <a:r>
              <a:rPr lang="en-US" altLang="zh-CN" dirty="0">
                <a:solidFill>
                  <a:schemeClr val="tx1"/>
                </a:solidFill>
              </a:rPr>
              <a:t>IP</a:t>
            </a:r>
            <a:r>
              <a:rPr lang="zh-CN" altLang="en-US" dirty="0">
                <a:solidFill>
                  <a:schemeClr val="tx1"/>
                </a:solidFill>
              </a:rPr>
              <a:t>优先级进行丢弃</a:t>
            </a:r>
            <a:endParaRPr lang="en-US" altLang="zh-CN" dirty="0">
              <a:solidFill>
                <a:schemeClr val="tx1"/>
              </a:solidFill>
            </a:endParaRPr>
          </a:p>
          <a:p>
            <a:pPr>
              <a:lnSpc>
                <a:spcPct val="100000"/>
              </a:lnSpc>
            </a:pPr>
            <a:r>
              <a:rPr lang="en-US" altLang="zh-CN" b="1" dirty="0">
                <a:solidFill>
                  <a:schemeClr val="tx1"/>
                </a:solidFill>
              </a:rPr>
              <a:t>      </a:t>
            </a:r>
            <a:r>
              <a:rPr lang="en-US" altLang="zh-CN" b="1" dirty="0" err="1">
                <a:solidFill>
                  <a:schemeClr val="tx1"/>
                </a:solidFill>
              </a:rPr>
              <a:t>dscp</a:t>
            </a:r>
            <a:r>
              <a:rPr lang="en-US" altLang="zh-CN" b="1" dirty="0">
                <a:solidFill>
                  <a:schemeClr val="tx1"/>
                </a:solidFill>
              </a:rPr>
              <a:t> </a:t>
            </a:r>
            <a:r>
              <a:rPr lang="en-US" altLang="zh-CN" dirty="0">
                <a:solidFill>
                  <a:schemeClr val="tx1"/>
                </a:solidFill>
              </a:rPr>
              <a:t>[</a:t>
            </a:r>
            <a:r>
              <a:rPr lang="en-US" altLang="zh-CN" i="1" dirty="0" err="1">
                <a:solidFill>
                  <a:schemeClr val="tx1"/>
                </a:solidFill>
              </a:rPr>
              <a:t>dscp</a:t>
            </a:r>
            <a:r>
              <a:rPr lang="en-US" altLang="zh-CN" i="1" dirty="0">
                <a:solidFill>
                  <a:schemeClr val="tx1"/>
                </a:solidFill>
              </a:rPr>
              <a:t>-value</a:t>
            </a:r>
            <a:r>
              <a:rPr lang="en-US" altLang="zh-CN" dirty="0">
                <a:solidFill>
                  <a:schemeClr val="tx1"/>
                </a:solidFill>
              </a:rPr>
              <a:t>] </a:t>
            </a:r>
            <a:r>
              <a:rPr lang="en-US" altLang="zh-CN" b="1" dirty="0">
                <a:solidFill>
                  <a:schemeClr val="tx1"/>
                </a:solidFill>
              </a:rPr>
              <a:t>low-limit </a:t>
            </a:r>
            <a:r>
              <a:rPr lang="en-US" altLang="zh-CN" dirty="0">
                <a:solidFill>
                  <a:schemeClr val="tx1"/>
                </a:solidFill>
              </a:rPr>
              <a:t>[</a:t>
            </a:r>
            <a:r>
              <a:rPr lang="en-US" altLang="zh-CN" i="1" dirty="0">
                <a:solidFill>
                  <a:schemeClr val="tx1"/>
                </a:solidFill>
              </a:rPr>
              <a:t>low-limit-percentage</a:t>
            </a:r>
            <a:r>
              <a:rPr lang="en-US" altLang="zh-CN" dirty="0">
                <a:solidFill>
                  <a:schemeClr val="tx1"/>
                </a:solidFill>
              </a:rPr>
              <a:t>]</a:t>
            </a:r>
            <a:r>
              <a:rPr lang="en-US" altLang="zh-CN" b="1" dirty="0">
                <a:solidFill>
                  <a:schemeClr val="tx1"/>
                </a:solidFill>
              </a:rPr>
              <a:t> high-limit </a:t>
            </a:r>
            <a:r>
              <a:rPr lang="en-US" altLang="zh-CN" dirty="0">
                <a:solidFill>
                  <a:schemeClr val="tx1"/>
                </a:solidFill>
              </a:rPr>
              <a:t>[</a:t>
            </a:r>
            <a:r>
              <a:rPr lang="en-US" altLang="zh-CN" i="1" dirty="0">
                <a:solidFill>
                  <a:schemeClr val="tx1"/>
                </a:solidFill>
              </a:rPr>
              <a:t>high-limit-percentage</a:t>
            </a:r>
            <a:r>
              <a:rPr lang="en-US" altLang="zh-CN" dirty="0">
                <a:solidFill>
                  <a:schemeClr val="tx1"/>
                </a:solidFill>
              </a:rPr>
              <a:t>] </a:t>
            </a:r>
            <a:r>
              <a:rPr lang="en-US" altLang="zh-CN" b="1" dirty="0">
                <a:solidFill>
                  <a:schemeClr val="tx1"/>
                </a:solidFill>
              </a:rPr>
              <a:t>discard-percentage </a:t>
            </a:r>
            <a:r>
              <a:rPr lang="en-US" altLang="zh-CN" dirty="0">
                <a:solidFill>
                  <a:schemeClr val="tx1"/>
                </a:solidFill>
              </a:rPr>
              <a:t>[</a:t>
            </a:r>
            <a:r>
              <a:rPr lang="en-US" altLang="zh-CN" i="1" dirty="0">
                <a:solidFill>
                  <a:schemeClr val="tx1"/>
                </a:solidFill>
              </a:rPr>
              <a:t>discard-percentage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配置基于</a:t>
            </a:r>
            <a:r>
              <a:rPr lang="en-US" altLang="zh-CN" dirty="0">
                <a:solidFill>
                  <a:schemeClr val="tx1"/>
                </a:solidFill>
              </a:rPr>
              <a:t>DSCP</a:t>
            </a:r>
            <a:r>
              <a:rPr lang="zh-CN" altLang="en-US" dirty="0">
                <a:solidFill>
                  <a:schemeClr val="tx1"/>
                </a:solidFill>
              </a:rPr>
              <a:t>优先级的</a:t>
            </a:r>
            <a:r>
              <a:rPr lang="en-US" altLang="zh-CN" dirty="0">
                <a:solidFill>
                  <a:schemeClr val="tx1"/>
                </a:solidFill>
              </a:rPr>
              <a:t>WRED</a:t>
            </a:r>
            <a:r>
              <a:rPr lang="zh-CN" altLang="en-US" dirty="0">
                <a:solidFill>
                  <a:schemeClr val="tx1"/>
                </a:solidFill>
              </a:rPr>
              <a:t>参数</a:t>
            </a:r>
            <a:endParaRPr lang="en-US" altLang="zh-CN" dirty="0">
              <a:solidFill>
                <a:schemeClr val="tx1"/>
              </a:solidFill>
            </a:endParaRPr>
          </a:p>
          <a:p>
            <a:pPr>
              <a:lnSpc>
                <a:spcPct val="100000"/>
              </a:lnSpc>
            </a:pPr>
            <a:r>
              <a:rPr lang="en-US" altLang="zh-CN" b="1" dirty="0">
                <a:solidFill>
                  <a:schemeClr val="tx1"/>
                </a:solidFill>
              </a:rPr>
              <a:t>      </a:t>
            </a:r>
            <a:r>
              <a:rPr lang="en-US" altLang="zh-CN" b="1" dirty="0" err="1">
                <a:solidFill>
                  <a:schemeClr val="tx1"/>
                </a:solidFill>
              </a:rPr>
              <a:t>ip</a:t>
            </a:r>
            <a:r>
              <a:rPr lang="en-US" altLang="zh-CN" b="1" dirty="0">
                <a:solidFill>
                  <a:schemeClr val="tx1"/>
                </a:solidFill>
              </a:rPr>
              <a:t>-precedence </a:t>
            </a:r>
            <a:r>
              <a:rPr lang="en-US" altLang="zh-CN" dirty="0">
                <a:solidFill>
                  <a:schemeClr val="tx1"/>
                </a:solidFill>
              </a:rPr>
              <a:t>[</a:t>
            </a:r>
            <a:r>
              <a:rPr lang="en-US" altLang="zh-CN" i="1" dirty="0" err="1">
                <a:solidFill>
                  <a:schemeClr val="tx1"/>
                </a:solidFill>
              </a:rPr>
              <a:t>ip</a:t>
            </a:r>
            <a:r>
              <a:rPr lang="en-US" altLang="zh-CN" i="1" dirty="0">
                <a:solidFill>
                  <a:schemeClr val="tx1"/>
                </a:solidFill>
              </a:rPr>
              <a:t>-precedence-value</a:t>
            </a:r>
            <a:r>
              <a:rPr lang="en-US" altLang="zh-CN" dirty="0">
                <a:solidFill>
                  <a:schemeClr val="tx1"/>
                </a:solidFill>
              </a:rPr>
              <a:t>] </a:t>
            </a:r>
            <a:r>
              <a:rPr lang="en-US" altLang="zh-CN" b="1" dirty="0">
                <a:solidFill>
                  <a:schemeClr val="tx1"/>
                </a:solidFill>
              </a:rPr>
              <a:t>low-limit</a:t>
            </a:r>
            <a:r>
              <a:rPr lang="en-US" altLang="zh-CN" dirty="0">
                <a:solidFill>
                  <a:schemeClr val="tx1"/>
                </a:solidFill>
              </a:rPr>
              <a:t> [</a:t>
            </a:r>
            <a:r>
              <a:rPr lang="en-US" altLang="zh-CN" i="1" dirty="0">
                <a:solidFill>
                  <a:schemeClr val="tx1"/>
                </a:solidFill>
              </a:rPr>
              <a:t>low-limit-percentage</a:t>
            </a:r>
            <a:r>
              <a:rPr lang="en-US" altLang="zh-CN" dirty="0">
                <a:solidFill>
                  <a:schemeClr val="tx1"/>
                </a:solidFill>
              </a:rPr>
              <a:t>] </a:t>
            </a:r>
            <a:r>
              <a:rPr lang="en-US" altLang="zh-CN" b="1" dirty="0">
                <a:solidFill>
                  <a:schemeClr val="tx1"/>
                </a:solidFill>
              </a:rPr>
              <a:t>high-limit</a:t>
            </a:r>
            <a:r>
              <a:rPr lang="en-US" altLang="zh-CN" dirty="0">
                <a:solidFill>
                  <a:schemeClr val="tx1"/>
                </a:solidFill>
              </a:rPr>
              <a:t> [</a:t>
            </a:r>
            <a:r>
              <a:rPr lang="en-US" altLang="zh-CN" i="1" dirty="0">
                <a:solidFill>
                  <a:schemeClr val="tx1"/>
                </a:solidFill>
              </a:rPr>
              <a:t>high-limit-percentage</a:t>
            </a:r>
            <a:r>
              <a:rPr lang="en-US" altLang="zh-CN" dirty="0">
                <a:solidFill>
                  <a:schemeClr val="tx1"/>
                </a:solidFill>
              </a:rPr>
              <a:t>] </a:t>
            </a:r>
            <a:r>
              <a:rPr lang="en-US" altLang="zh-CN" b="1" dirty="0">
                <a:solidFill>
                  <a:schemeClr val="tx1"/>
                </a:solidFill>
              </a:rPr>
              <a:t>discard-percentage</a:t>
            </a:r>
            <a:r>
              <a:rPr lang="en-US" altLang="zh-CN" dirty="0">
                <a:solidFill>
                  <a:schemeClr val="tx1"/>
                </a:solidFill>
              </a:rPr>
              <a:t> [</a:t>
            </a:r>
            <a:r>
              <a:rPr lang="en-US" altLang="zh-CN" i="1" dirty="0">
                <a:solidFill>
                  <a:schemeClr val="tx1"/>
                </a:solidFill>
              </a:rPr>
              <a:t>discard-percentage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（可选）配置基于</a:t>
            </a:r>
            <a:r>
              <a:rPr lang="en-US" altLang="zh-CN" dirty="0">
                <a:solidFill>
                  <a:schemeClr val="tx1"/>
                </a:solidFill>
              </a:rPr>
              <a:t>IP</a:t>
            </a:r>
            <a:r>
              <a:rPr lang="zh-CN" altLang="en-US" dirty="0">
                <a:solidFill>
                  <a:schemeClr val="tx1"/>
                </a:solidFill>
              </a:rPr>
              <a:t>优先级的</a:t>
            </a:r>
            <a:r>
              <a:rPr lang="en-US" altLang="zh-CN" dirty="0">
                <a:solidFill>
                  <a:schemeClr val="tx1"/>
                </a:solidFill>
              </a:rPr>
              <a:t>WRED</a:t>
            </a:r>
            <a:r>
              <a:rPr lang="zh-CN" altLang="en-US" dirty="0">
                <a:solidFill>
                  <a:schemeClr val="tx1"/>
                </a:solidFill>
              </a:rPr>
              <a:t>参数</a:t>
            </a:r>
            <a:endParaRPr lang="en-US" altLang="zh-CN" dirty="0">
              <a:solidFill>
                <a:schemeClr val="tx1"/>
              </a:solidFill>
            </a:endParaRP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进入队列模板视图</a:t>
            </a:r>
            <a:endParaRPr lang="en-US" altLang="zh-CN" dirty="0">
              <a:solidFill>
                <a:schemeClr val="tx1"/>
              </a:solidFill>
            </a:endParaRPr>
          </a:p>
          <a:p>
            <a:pPr>
              <a:lnSpc>
                <a:spcPct val="100000"/>
              </a:lnSpc>
            </a:pPr>
            <a:r>
              <a:rPr lang="en-US" altLang="zh-CN" dirty="0">
                <a:solidFill>
                  <a:schemeClr val="tx1"/>
                </a:solidFill>
              </a:rPr>
              <a:t>      </a:t>
            </a:r>
            <a:r>
              <a:rPr lang="en-US" altLang="zh-CN" b="1" dirty="0">
                <a:solidFill>
                  <a:schemeClr val="tx1"/>
                </a:solidFill>
              </a:rPr>
              <a:t>queue</a:t>
            </a:r>
            <a:r>
              <a:rPr lang="en-US" altLang="zh-CN" dirty="0">
                <a:solidFill>
                  <a:schemeClr val="tx1"/>
                </a:solidFill>
              </a:rPr>
              <a:t> [</a:t>
            </a:r>
            <a:r>
              <a:rPr lang="en-US" altLang="zh-CN" i="1" dirty="0">
                <a:solidFill>
                  <a:schemeClr val="tx1"/>
                </a:solidFill>
              </a:rPr>
              <a:t>queue-index</a:t>
            </a:r>
            <a:r>
              <a:rPr lang="en-US" altLang="zh-CN" dirty="0">
                <a:solidFill>
                  <a:schemeClr val="tx1"/>
                </a:solidFill>
              </a:rPr>
              <a:t>] </a:t>
            </a:r>
            <a:r>
              <a:rPr lang="en-US" altLang="zh-CN" b="1" dirty="0">
                <a:solidFill>
                  <a:schemeClr val="tx1"/>
                </a:solidFill>
              </a:rPr>
              <a:t>drop-profile</a:t>
            </a:r>
            <a:r>
              <a:rPr lang="en-US" altLang="zh-CN" dirty="0">
                <a:solidFill>
                  <a:schemeClr val="tx1"/>
                </a:solidFill>
              </a:rPr>
              <a:t> [</a:t>
            </a:r>
            <a:r>
              <a:rPr lang="en-US" altLang="zh-CN" i="1" dirty="0">
                <a:solidFill>
                  <a:schemeClr val="tx1"/>
                </a:solidFill>
              </a:rPr>
              <a:t>drop-profile-name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在队列模板中为指定队列绑定丢弃模板</a:t>
            </a:r>
            <a:endParaRPr lang="en-US" altLang="zh-CN" dirty="0">
              <a:solidFill>
                <a:schemeClr val="tx1"/>
              </a:solidFill>
            </a:endParaRP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在接口下应用队列模板</a:t>
            </a:r>
            <a:endParaRPr lang="en-US" altLang="zh-CN" dirty="0">
              <a:solidFill>
                <a:schemeClr val="tx1"/>
              </a:solidFill>
            </a:endParaRPr>
          </a:p>
        </p:txBody>
      </p:sp>
      <p:sp>
        <p:nvSpPr>
          <p:cNvPr id="20" name="圆角矩形 135">
            <a:extLst>
              <a:ext uri="{FF2B5EF4-FFF2-40B4-BE49-F238E27FC236}">
                <a16:creationId xmlns:a16="http://schemas.microsoft.com/office/drawing/2014/main" id="{EE602E42-5BBD-4CA3-9022-622C6C3FF339}"/>
              </a:ext>
            </a:extLst>
          </p:cNvPr>
          <p:cNvSpPr/>
          <p:nvPr/>
        </p:nvSpPr>
        <p:spPr bwMode="gray">
          <a:xfrm>
            <a:off x="1667508" y="1376772"/>
            <a:ext cx="2964717" cy="858769"/>
          </a:xfrm>
          <a:prstGeom prst="roundRect">
            <a:avLst/>
          </a:prstGeom>
          <a:solidFill>
            <a:srgbClr val="F4FBFE"/>
          </a:solidFill>
          <a:ln w="9525" cap="flat" cmpd="sng" algn="ctr">
            <a:solidFill>
              <a:srgbClr val="BEE9EE"/>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22" name="Straight Connector 21">
            <a:extLst>
              <a:ext uri="{FF2B5EF4-FFF2-40B4-BE49-F238E27FC236}">
                <a16:creationId xmlns:a16="http://schemas.microsoft.com/office/drawing/2014/main" id="{96086830-1E9A-4142-B4BF-8BB729693C93}"/>
              </a:ext>
            </a:extLst>
          </p:cNvPr>
          <p:cNvCxnSpPr>
            <a:cxnSpLocks/>
            <a:endCxn id="25"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24"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51684" y="1636574"/>
            <a:ext cx="540000" cy="441818"/>
          </a:xfrm>
          <a:prstGeom prst="rect">
            <a:avLst/>
          </a:prstGeom>
        </p:spPr>
      </p:pic>
      <p:pic>
        <p:nvPicPr>
          <p:cNvPr id="25"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26" name="Straight Connector 25">
            <a:extLst>
              <a:ext uri="{FF2B5EF4-FFF2-40B4-BE49-F238E27FC236}">
                <a16:creationId xmlns:a16="http://schemas.microsoft.com/office/drawing/2014/main" id="{2AD57301-E8AB-4A8E-8B70-3BA2DDB3650E}"/>
              </a:ext>
            </a:extLst>
          </p:cNvPr>
          <p:cNvCxnSpPr>
            <a:cxnSpLocks/>
            <a:stCxn id="25" idx="3"/>
            <a:endCxn id="24" idx="1"/>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4B40C51-BF98-4140-ABE3-298D1975F510}"/>
              </a:ext>
            </a:extLst>
          </p:cNvPr>
          <p:cNvCxnSpPr>
            <a:cxnSpLocks/>
            <a:stCxn id="24" idx="3"/>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8"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29" name="Oval 41">
            <a:extLst>
              <a:ext uri="{FF2B5EF4-FFF2-40B4-BE49-F238E27FC236}">
                <a16:creationId xmlns:a16="http://schemas.microsoft.com/office/drawing/2014/main" id="{25AD5355-862E-4527-BB8D-2653C7401795}"/>
              </a:ext>
            </a:extLst>
          </p:cNvPr>
          <p:cNvSpPr>
            <a:spLocks noChangeAspect="1"/>
          </p:cNvSpPr>
          <p:nvPr/>
        </p:nvSpPr>
        <p:spPr bwMode="gray">
          <a:xfrm>
            <a:off x="2351981" y="17806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0"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31" name="Oval 41">
            <a:extLst>
              <a:ext uri="{FF2B5EF4-FFF2-40B4-BE49-F238E27FC236}">
                <a16:creationId xmlns:a16="http://schemas.microsoft.com/office/drawing/2014/main" id="{6A20C70F-7BF7-4B08-8CEB-4AD4F9B9F3C9}"/>
              </a:ext>
            </a:extLst>
          </p:cNvPr>
          <p:cNvSpPr>
            <a:spLocks noChangeAspect="1"/>
          </p:cNvSpPr>
          <p:nvPr/>
        </p:nvSpPr>
        <p:spPr bwMode="gray">
          <a:xfrm>
            <a:off x="371205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19" name="图片 1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spTree>
    <p:extLst>
      <p:ext uri="{BB962C8B-B14F-4D97-AF65-F5344CB8AC3E}">
        <p14:creationId xmlns:p14="http://schemas.microsoft.com/office/powerpoint/2010/main" val="37372572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a:t>
            </a:r>
            <a:r>
              <a:rPr lang="en-US" altLang="zh-CN" dirty="0"/>
              <a:t>MQC</a:t>
            </a:r>
            <a:r>
              <a:rPr lang="zh-CN" altLang="en-US" dirty="0"/>
              <a:t>实现拥塞避免 </a:t>
            </a:r>
            <a:r>
              <a:rPr lang="en-US" altLang="zh-CN" dirty="0"/>
              <a:t>(1)</a:t>
            </a:r>
            <a:endParaRPr lang="zh-CN" altLang="en-US" dirty="0"/>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2913" y="2120345"/>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丢弃模板在流行为中绑定后，将流行为和对应的流分类在流策略下进行关联，并将此流策略应用到接口上，可以实现对匹配流分类规则的流量的拥塞避免，配置思路如下：</a:t>
            </a:r>
            <a:endParaRPr lang="en-US" altLang="zh-CN" sz="1800" dirty="0"/>
          </a:p>
          <a:p>
            <a:pPr lvl="1">
              <a:spcAft>
                <a:spcPts val="0"/>
              </a:spcAft>
            </a:pPr>
            <a:r>
              <a:rPr lang="zh-CN" altLang="en-US" sz="1600" dirty="0"/>
              <a:t>配置丢弃模板</a:t>
            </a:r>
          </a:p>
          <a:p>
            <a:pPr lvl="1" fontAlgn="auto">
              <a:spcAft>
                <a:spcPts val="0"/>
              </a:spcAft>
            </a:pPr>
            <a:r>
              <a:rPr lang="zh-CN" altLang="en-US" sz="1600" dirty="0">
                <a:solidFill>
                  <a:schemeClr val="bg1">
                    <a:lumMod val="50000"/>
                  </a:schemeClr>
                </a:solidFill>
              </a:rPr>
              <a:t>配置</a:t>
            </a:r>
            <a:r>
              <a:rPr lang="en-US" altLang="zh-CN" sz="1600" dirty="0">
                <a:solidFill>
                  <a:schemeClr val="bg1">
                    <a:lumMod val="50000"/>
                  </a:schemeClr>
                </a:solidFill>
              </a:rPr>
              <a:t>Traffic classifier</a:t>
            </a:r>
            <a:r>
              <a:rPr lang="zh-CN" altLang="en-US" sz="1600" dirty="0">
                <a:solidFill>
                  <a:schemeClr val="bg1">
                    <a:lumMod val="50000"/>
                  </a:schemeClr>
                </a:solidFill>
              </a:rPr>
              <a:t>与</a:t>
            </a:r>
            <a:r>
              <a:rPr lang="en-US" altLang="zh-CN" sz="1600" dirty="0">
                <a:solidFill>
                  <a:schemeClr val="bg1">
                    <a:lumMod val="50000"/>
                  </a:schemeClr>
                </a:solidFill>
              </a:rPr>
              <a:t>Traffic behavior</a:t>
            </a:r>
            <a:endParaRPr lang="zh-CN" altLang="en-US" sz="1600" dirty="0">
              <a:solidFill>
                <a:schemeClr val="bg1">
                  <a:lumMod val="50000"/>
                </a:schemeClr>
              </a:solidFill>
            </a:endParaRPr>
          </a:p>
          <a:p>
            <a:pPr lvl="1" fontAlgn="auto">
              <a:spcAft>
                <a:spcPts val="0"/>
              </a:spcAft>
            </a:pPr>
            <a:r>
              <a:rPr lang="zh-CN" altLang="en-US" sz="1600" dirty="0">
                <a:solidFill>
                  <a:schemeClr val="bg1">
                    <a:lumMod val="50000"/>
                  </a:schemeClr>
                </a:solidFill>
              </a:rPr>
              <a:t>使用</a:t>
            </a:r>
            <a:r>
              <a:rPr lang="en-US" altLang="zh-CN" sz="1600" dirty="0">
                <a:solidFill>
                  <a:schemeClr val="bg1">
                    <a:lumMod val="50000"/>
                  </a:schemeClr>
                </a:solidFill>
              </a:rPr>
              <a:t>Traffic policy</a:t>
            </a:r>
            <a:r>
              <a:rPr lang="zh-CN" altLang="en-US" sz="1600" dirty="0">
                <a:solidFill>
                  <a:schemeClr val="bg1">
                    <a:lumMod val="50000"/>
                  </a:schemeClr>
                </a:solidFill>
              </a:rPr>
              <a:t>工具将</a:t>
            </a:r>
            <a:r>
              <a:rPr lang="en-US" altLang="zh-CN" sz="1600" dirty="0">
                <a:solidFill>
                  <a:schemeClr val="bg1">
                    <a:lumMod val="50000"/>
                  </a:schemeClr>
                </a:solidFill>
              </a:rPr>
              <a:t>Traffic classifier</a:t>
            </a:r>
            <a:r>
              <a:rPr lang="zh-CN" altLang="en-US" sz="1600" dirty="0">
                <a:solidFill>
                  <a:schemeClr val="bg1">
                    <a:lumMod val="50000"/>
                  </a:schemeClr>
                </a:solidFill>
              </a:rPr>
              <a:t>与</a:t>
            </a:r>
            <a:r>
              <a:rPr lang="en-US" altLang="zh-CN" sz="1600" dirty="0">
                <a:solidFill>
                  <a:schemeClr val="bg1">
                    <a:lumMod val="50000"/>
                  </a:schemeClr>
                </a:solidFill>
              </a:rPr>
              <a:t>Traffic behavior</a:t>
            </a:r>
            <a:r>
              <a:rPr lang="zh-CN" altLang="en-US" sz="1600" dirty="0">
                <a:solidFill>
                  <a:schemeClr val="bg1">
                    <a:lumMod val="50000"/>
                  </a:schemeClr>
                </a:solidFill>
              </a:rPr>
              <a:t>进行绑定</a:t>
            </a:r>
          </a:p>
          <a:p>
            <a:pPr lvl="1" fontAlgn="auto">
              <a:spcAft>
                <a:spcPts val="0"/>
              </a:spcAft>
            </a:pPr>
            <a:r>
              <a:rPr lang="zh-CN" altLang="en-US" sz="1600" dirty="0">
                <a:solidFill>
                  <a:schemeClr val="bg1">
                    <a:lumMod val="50000"/>
                  </a:schemeClr>
                </a:solidFill>
              </a:rPr>
              <a:t>将</a:t>
            </a:r>
            <a:r>
              <a:rPr lang="en-US" altLang="zh-CN" sz="1600" dirty="0">
                <a:solidFill>
                  <a:schemeClr val="bg1">
                    <a:lumMod val="50000"/>
                  </a:schemeClr>
                </a:solidFill>
              </a:rPr>
              <a:t>Traffic policy</a:t>
            </a:r>
            <a:r>
              <a:rPr lang="zh-CN" altLang="en-US" sz="1600" dirty="0">
                <a:solidFill>
                  <a:schemeClr val="bg1">
                    <a:lumMod val="50000"/>
                  </a:schemeClr>
                </a:solidFill>
              </a:rPr>
              <a:t>应用到设备接口出方向上</a:t>
            </a:r>
          </a:p>
        </p:txBody>
      </p:sp>
      <p:sp>
        <p:nvSpPr>
          <p:cNvPr id="64" name="文本框 30">
            <a:extLst>
              <a:ext uri="{FF2B5EF4-FFF2-40B4-BE49-F238E27FC236}">
                <a16:creationId xmlns:a16="http://schemas.microsoft.com/office/drawing/2014/main" id="{2AF05CCD-E336-4F23-95FE-541DCCC8BBFE}"/>
              </a:ext>
            </a:extLst>
          </p:cNvPr>
          <p:cNvSpPr txBox="1"/>
          <p:nvPr/>
        </p:nvSpPr>
        <p:spPr bwMode="gray">
          <a:xfrm>
            <a:off x="6106885" y="1209359"/>
            <a:ext cx="5614985" cy="2462213"/>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drop-profile </a:t>
            </a:r>
            <a:r>
              <a:rPr lang="en-US" altLang="zh-CN" dirty="0">
                <a:solidFill>
                  <a:schemeClr val="tx1"/>
                </a:solidFill>
              </a:rPr>
              <a:t>[</a:t>
            </a:r>
            <a:r>
              <a:rPr lang="en-US" altLang="zh-CN" i="1" dirty="0">
                <a:solidFill>
                  <a:schemeClr val="tx1"/>
                </a:solidFill>
              </a:rPr>
              <a:t>drop-profile-name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创建丢弃模板。</a:t>
            </a:r>
            <a:endParaRPr lang="en-US" altLang="zh-CN" dirty="0">
              <a:solidFill>
                <a:schemeClr val="tx1"/>
              </a:solidFill>
            </a:endParaRPr>
          </a:p>
          <a:p>
            <a:pPr>
              <a:lnSpc>
                <a:spcPct val="100000"/>
              </a:lnSpc>
            </a:pPr>
            <a:r>
              <a:rPr lang="en-US" altLang="zh-CN" b="1" dirty="0">
                <a:solidFill>
                  <a:schemeClr val="tx1"/>
                </a:solidFill>
              </a:rPr>
              <a:t>      wred </a:t>
            </a:r>
            <a:r>
              <a:rPr lang="en-US" altLang="zh-CN" dirty="0">
                <a:solidFill>
                  <a:schemeClr val="tx1"/>
                </a:solidFill>
              </a:rPr>
              <a:t>[</a:t>
            </a:r>
            <a:r>
              <a:rPr lang="en-US" altLang="zh-CN" dirty="0" err="1">
                <a:solidFill>
                  <a:schemeClr val="tx1"/>
                </a:solidFill>
              </a:rPr>
              <a:t>dscp</a:t>
            </a:r>
            <a:r>
              <a:rPr lang="en-US" altLang="zh-CN" dirty="0">
                <a:solidFill>
                  <a:schemeClr val="tx1"/>
                </a:solidFill>
              </a:rPr>
              <a:t> | </a:t>
            </a:r>
            <a:r>
              <a:rPr lang="en-US" altLang="zh-CN" dirty="0" err="1">
                <a:solidFill>
                  <a:schemeClr val="tx1"/>
                </a:solidFill>
              </a:rPr>
              <a:t>ip</a:t>
            </a:r>
            <a:r>
              <a:rPr lang="en-US" altLang="zh-CN" dirty="0">
                <a:solidFill>
                  <a:schemeClr val="tx1"/>
                </a:solidFill>
              </a:rPr>
              <a:t>-precedence]      //</a:t>
            </a:r>
            <a:r>
              <a:rPr lang="zh-CN" altLang="en-US" dirty="0">
                <a:solidFill>
                  <a:schemeClr val="tx1"/>
                </a:solidFill>
              </a:rPr>
              <a:t>配置当前</a:t>
            </a:r>
            <a:r>
              <a:rPr lang="en-US" altLang="zh-CN" dirty="0">
                <a:solidFill>
                  <a:schemeClr val="tx1"/>
                </a:solidFill>
              </a:rPr>
              <a:t>WRED</a:t>
            </a:r>
            <a:r>
              <a:rPr lang="zh-CN" altLang="en-US" dirty="0">
                <a:solidFill>
                  <a:schemeClr val="tx1"/>
                </a:solidFill>
              </a:rPr>
              <a:t>丢弃模板基于</a:t>
            </a:r>
            <a:r>
              <a:rPr lang="en-US" altLang="zh-CN" dirty="0">
                <a:solidFill>
                  <a:schemeClr val="tx1"/>
                </a:solidFill>
              </a:rPr>
              <a:t>DSCP</a:t>
            </a:r>
            <a:r>
              <a:rPr lang="zh-CN" altLang="en-US" dirty="0">
                <a:solidFill>
                  <a:schemeClr val="tx1"/>
                </a:solidFill>
              </a:rPr>
              <a:t>优先级或</a:t>
            </a:r>
            <a:r>
              <a:rPr lang="en-US" altLang="zh-CN" dirty="0">
                <a:solidFill>
                  <a:schemeClr val="tx1"/>
                </a:solidFill>
              </a:rPr>
              <a:t>IP</a:t>
            </a:r>
            <a:r>
              <a:rPr lang="zh-CN" altLang="en-US" dirty="0">
                <a:solidFill>
                  <a:schemeClr val="tx1"/>
                </a:solidFill>
              </a:rPr>
              <a:t>优先级进行丢弃。</a:t>
            </a:r>
            <a:endParaRPr lang="en-US" altLang="zh-CN" dirty="0">
              <a:solidFill>
                <a:schemeClr val="tx1"/>
              </a:solidFill>
            </a:endParaRPr>
          </a:p>
          <a:p>
            <a:pPr>
              <a:lnSpc>
                <a:spcPct val="100000"/>
              </a:lnSpc>
            </a:pPr>
            <a:r>
              <a:rPr lang="en-US" altLang="zh-CN" b="1" dirty="0">
                <a:solidFill>
                  <a:schemeClr val="tx1"/>
                </a:solidFill>
              </a:rPr>
              <a:t>      </a:t>
            </a:r>
            <a:r>
              <a:rPr lang="en-US" altLang="zh-CN" b="1" dirty="0" err="1">
                <a:solidFill>
                  <a:schemeClr val="tx1"/>
                </a:solidFill>
              </a:rPr>
              <a:t>dscp</a:t>
            </a:r>
            <a:r>
              <a:rPr lang="en-US" altLang="zh-CN" b="1" dirty="0">
                <a:solidFill>
                  <a:schemeClr val="tx1"/>
                </a:solidFill>
              </a:rPr>
              <a:t> </a:t>
            </a:r>
            <a:r>
              <a:rPr lang="en-US" altLang="zh-CN" dirty="0">
                <a:solidFill>
                  <a:schemeClr val="tx1"/>
                </a:solidFill>
              </a:rPr>
              <a:t>[</a:t>
            </a:r>
            <a:r>
              <a:rPr lang="en-US" altLang="zh-CN" i="1" dirty="0" err="1">
                <a:solidFill>
                  <a:schemeClr val="tx1"/>
                </a:solidFill>
              </a:rPr>
              <a:t>dscp</a:t>
            </a:r>
            <a:r>
              <a:rPr lang="en-US" altLang="zh-CN" i="1" dirty="0">
                <a:solidFill>
                  <a:schemeClr val="tx1"/>
                </a:solidFill>
              </a:rPr>
              <a:t>-value</a:t>
            </a:r>
            <a:r>
              <a:rPr lang="en-US" altLang="zh-CN" dirty="0">
                <a:solidFill>
                  <a:schemeClr val="tx1"/>
                </a:solidFill>
              </a:rPr>
              <a:t>] </a:t>
            </a:r>
            <a:r>
              <a:rPr lang="en-US" altLang="zh-CN" b="1" dirty="0">
                <a:solidFill>
                  <a:schemeClr val="tx1"/>
                </a:solidFill>
              </a:rPr>
              <a:t>low-limit </a:t>
            </a:r>
            <a:r>
              <a:rPr lang="en-US" altLang="zh-CN" dirty="0">
                <a:solidFill>
                  <a:schemeClr val="tx1"/>
                </a:solidFill>
              </a:rPr>
              <a:t>[</a:t>
            </a:r>
            <a:r>
              <a:rPr lang="en-US" altLang="zh-CN" i="1" dirty="0">
                <a:solidFill>
                  <a:schemeClr val="tx1"/>
                </a:solidFill>
              </a:rPr>
              <a:t>low-limit-percentage</a:t>
            </a:r>
            <a:r>
              <a:rPr lang="en-US" altLang="zh-CN" dirty="0">
                <a:solidFill>
                  <a:schemeClr val="tx1"/>
                </a:solidFill>
              </a:rPr>
              <a:t>]</a:t>
            </a:r>
            <a:r>
              <a:rPr lang="en-US" altLang="zh-CN" b="1" dirty="0">
                <a:solidFill>
                  <a:schemeClr val="tx1"/>
                </a:solidFill>
              </a:rPr>
              <a:t> high-limit </a:t>
            </a:r>
            <a:r>
              <a:rPr lang="en-US" altLang="zh-CN" dirty="0">
                <a:solidFill>
                  <a:schemeClr val="tx1"/>
                </a:solidFill>
              </a:rPr>
              <a:t>[</a:t>
            </a:r>
            <a:r>
              <a:rPr lang="en-US" altLang="zh-CN" i="1" dirty="0">
                <a:solidFill>
                  <a:schemeClr val="tx1"/>
                </a:solidFill>
              </a:rPr>
              <a:t>high-limit-percentage</a:t>
            </a:r>
            <a:r>
              <a:rPr lang="en-US" altLang="zh-CN" dirty="0">
                <a:solidFill>
                  <a:schemeClr val="tx1"/>
                </a:solidFill>
              </a:rPr>
              <a:t>] </a:t>
            </a:r>
            <a:r>
              <a:rPr lang="en-US" altLang="zh-CN" b="1" dirty="0">
                <a:solidFill>
                  <a:schemeClr val="tx1"/>
                </a:solidFill>
              </a:rPr>
              <a:t>discard-percentage </a:t>
            </a:r>
            <a:r>
              <a:rPr lang="en-US" altLang="zh-CN" dirty="0">
                <a:solidFill>
                  <a:schemeClr val="tx1"/>
                </a:solidFill>
              </a:rPr>
              <a:t>[</a:t>
            </a:r>
            <a:r>
              <a:rPr lang="en-US" altLang="zh-CN" i="1" dirty="0">
                <a:solidFill>
                  <a:schemeClr val="tx1"/>
                </a:solidFill>
              </a:rPr>
              <a:t>discard-percentage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配置基于</a:t>
            </a:r>
            <a:r>
              <a:rPr lang="en-US" altLang="zh-CN" dirty="0">
                <a:solidFill>
                  <a:schemeClr val="tx1"/>
                </a:solidFill>
              </a:rPr>
              <a:t>DSCP</a:t>
            </a:r>
            <a:r>
              <a:rPr lang="zh-CN" altLang="en-US" dirty="0">
                <a:solidFill>
                  <a:schemeClr val="tx1"/>
                </a:solidFill>
              </a:rPr>
              <a:t>优先级的</a:t>
            </a:r>
            <a:r>
              <a:rPr lang="en-US" altLang="zh-CN" dirty="0">
                <a:solidFill>
                  <a:schemeClr val="tx1"/>
                </a:solidFill>
              </a:rPr>
              <a:t>WRED</a:t>
            </a:r>
            <a:r>
              <a:rPr lang="zh-CN" altLang="en-US" dirty="0">
                <a:solidFill>
                  <a:schemeClr val="tx1"/>
                </a:solidFill>
              </a:rPr>
              <a:t>参数。</a:t>
            </a:r>
            <a:endParaRPr lang="en-US" altLang="zh-CN" dirty="0">
              <a:solidFill>
                <a:schemeClr val="tx1"/>
              </a:solidFill>
            </a:endParaRPr>
          </a:p>
          <a:p>
            <a:pPr>
              <a:lnSpc>
                <a:spcPct val="100000"/>
              </a:lnSpc>
            </a:pPr>
            <a:r>
              <a:rPr lang="en-US" altLang="zh-CN" b="1" dirty="0">
                <a:solidFill>
                  <a:schemeClr val="tx1"/>
                </a:solidFill>
              </a:rPr>
              <a:t>      </a:t>
            </a:r>
            <a:r>
              <a:rPr lang="en-US" altLang="zh-CN" b="1" dirty="0" err="1">
                <a:solidFill>
                  <a:schemeClr val="tx1"/>
                </a:solidFill>
              </a:rPr>
              <a:t>ip</a:t>
            </a:r>
            <a:r>
              <a:rPr lang="en-US" altLang="zh-CN" b="1" dirty="0">
                <a:solidFill>
                  <a:schemeClr val="tx1"/>
                </a:solidFill>
              </a:rPr>
              <a:t>-precedence </a:t>
            </a:r>
            <a:r>
              <a:rPr lang="en-US" altLang="zh-CN" dirty="0">
                <a:solidFill>
                  <a:schemeClr val="tx1"/>
                </a:solidFill>
              </a:rPr>
              <a:t>[</a:t>
            </a:r>
            <a:r>
              <a:rPr lang="en-US" altLang="zh-CN" i="1" dirty="0" err="1">
                <a:solidFill>
                  <a:schemeClr val="tx1"/>
                </a:solidFill>
              </a:rPr>
              <a:t>ip</a:t>
            </a:r>
            <a:r>
              <a:rPr lang="en-US" altLang="zh-CN" i="1" dirty="0">
                <a:solidFill>
                  <a:schemeClr val="tx1"/>
                </a:solidFill>
              </a:rPr>
              <a:t>-precedence-value</a:t>
            </a:r>
            <a:r>
              <a:rPr lang="en-US" altLang="zh-CN" dirty="0">
                <a:solidFill>
                  <a:schemeClr val="tx1"/>
                </a:solidFill>
              </a:rPr>
              <a:t>] </a:t>
            </a:r>
            <a:r>
              <a:rPr lang="en-US" altLang="zh-CN" b="1" dirty="0">
                <a:solidFill>
                  <a:schemeClr val="tx1"/>
                </a:solidFill>
              </a:rPr>
              <a:t>low-limit</a:t>
            </a:r>
            <a:r>
              <a:rPr lang="en-US" altLang="zh-CN" dirty="0">
                <a:solidFill>
                  <a:schemeClr val="tx1"/>
                </a:solidFill>
              </a:rPr>
              <a:t> [</a:t>
            </a:r>
            <a:r>
              <a:rPr lang="en-US" altLang="zh-CN" i="1" dirty="0">
                <a:solidFill>
                  <a:schemeClr val="tx1"/>
                </a:solidFill>
              </a:rPr>
              <a:t>low-limit-percentage</a:t>
            </a:r>
            <a:r>
              <a:rPr lang="en-US" altLang="zh-CN" dirty="0">
                <a:solidFill>
                  <a:schemeClr val="tx1"/>
                </a:solidFill>
              </a:rPr>
              <a:t>] </a:t>
            </a:r>
            <a:r>
              <a:rPr lang="en-US" altLang="zh-CN" b="1" dirty="0">
                <a:solidFill>
                  <a:schemeClr val="tx1"/>
                </a:solidFill>
              </a:rPr>
              <a:t>high-limit</a:t>
            </a:r>
            <a:r>
              <a:rPr lang="en-US" altLang="zh-CN" dirty="0">
                <a:solidFill>
                  <a:schemeClr val="tx1"/>
                </a:solidFill>
              </a:rPr>
              <a:t> [</a:t>
            </a:r>
            <a:r>
              <a:rPr lang="en-US" altLang="zh-CN" i="1" dirty="0">
                <a:solidFill>
                  <a:schemeClr val="tx1"/>
                </a:solidFill>
              </a:rPr>
              <a:t>high-limit-percentage</a:t>
            </a:r>
            <a:r>
              <a:rPr lang="en-US" altLang="zh-CN" dirty="0">
                <a:solidFill>
                  <a:schemeClr val="tx1"/>
                </a:solidFill>
              </a:rPr>
              <a:t>] </a:t>
            </a:r>
            <a:r>
              <a:rPr lang="en-US" altLang="zh-CN" b="1" dirty="0">
                <a:solidFill>
                  <a:schemeClr val="tx1"/>
                </a:solidFill>
              </a:rPr>
              <a:t>discard-percentage</a:t>
            </a:r>
            <a:r>
              <a:rPr lang="en-US" altLang="zh-CN" dirty="0">
                <a:solidFill>
                  <a:schemeClr val="tx1"/>
                </a:solidFill>
              </a:rPr>
              <a:t> [</a:t>
            </a:r>
            <a:r>
              <a:rPr lang="en-US" altLang="zh-CN" i="1" dirty="0">
                <a:solidFill>
                  <a:schemeClr val="tx1"/>
                </a:solidFill>
              </a:rPr>
              <a:t>discard-percentage</a:t>
            </a:r>
            <a:r>
              <a:rPr lang="en-US" altLang="zh-CN" dirty="0">
                <a:solidFill>
                  <a:schemeClr val="tx1"/>
                </a:solidFill>
              </a:rPr>
              <a:t>]</a:t>
            </a:r>
            <a:r>
              <a:rPr lang="zh-CN" altLang="en-US" dirty="0">
                <a:solidFill>
                  <a:schemeClr val="tx1"/>
                </a:solidFill>
              </a:rPr>
              <a:t>    </a:t>
            </a:r>
            <a:r>
              <a:rPr lang="en-US" altLang="zh-CN" dirty="0">
                <a:solidFill>
                  <a:schemeClr val="tx1"/>
                </a:solidFill>
              </a:rPr>
              <a:t>//</a:t>
            </a:r>
            <a:r>
              <a:rPr lang="zh-CN" altLang="en-US" dirty="0">
                <a:solidFill>
                  <a:schemeClr val="tx1"/>
                </a:solidFill>
              </a:rPr>
              <a:t>（可选）配置基于</a:t>
            </a:r>
            <a:r>
              <a:rPr lang="en-US" altLang="zh-CN" dirty="0">
                <a:solidFill>
                  <a:schemeClr val="tx1"/>
                </a:solidFill>
              </a:rPr>
              <a:t>IP</a:t>
            </a:r>
            <a:r>
              <a:rPr lang="zh-CN" altLang="en-US" dirty="0">
                <a:solidFill>
                  <a:schemeClr val="tx1"/>
                </a:solidFill>
              </a:rPr>
              <a:t>优先级的</a:t>
            </a:r>
            <a:r>
              <a:rPr lang="en-US" altLang="zh-CN" dirty="0">
                <a:solidFill>
                  <a:schemeClr val="tx1"/>
                </a:solidFill>
              </a:rPr>
              <a:t>WRED</a:t>
            </a:r>
            <a:r>
              <a:rPr lang="zh-CN" altLang="en-US" dirty="0">
                <a:solidFill>
                  <a:schemeClr val="tx1"/>
                </a:solidFill>
              </a:rPr>
              <a:t>参数。</a:t>
            </a:r>
            <a:endParaRPr lang="en-US" altLang="zh-CN" dirty="0">
              <a:solidFill>
                <a:schemeClr val="tx1"/>
              </a:solidFill>
            </a:endParaRPr>
          </a:p>
        </p:txBody>
      </p:sp>
      <p:sp>
        <p:nvSpPr>
          <p:cNvPr id="20" name="圆角矩形 135">
            <a:extLst>
              <a:ext uri="{FF2B5EF4-FFF2-40B4-BE49-F238E27FC236}">
                <a16:creationId xmlns:a16="http://schemas.microsoft.com/office/drawing/2014/main" id="{EE602E42-5BBD-4CA3-9022-622C6C3FF339}"/>
              </a:ext>
            </a:extLst>
          </p:cNvPr>
          <p:cNvSpPr/>
          <p:nvPr/>
        </p:nvSpPr>
        <p:spPr bwMode="gray">
          <a:xfrm>
            <a:off x="1662921" y="1220245"/>
            <a:ext cx="2964717" cy="858769"/>
          </a:xfrm>
          <a:prstGeom prst="roundRect">
            <a:avLst/>
          </a:prstGeom>
          <a:solidFill>
            <a:srgbClr val="F4FBFE"/>
          </a:solidFill>
          <a:ln w="9525" cap="flat" cmpd="sng" algn="ctr">
            <a:solidFill>
              <a:srgbClr val="BEE9EE"/>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1941" y="1220245"/>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22" name="Straight Connector 21">
            <a:extLst>
              <a:ext uri="{FF2B5EF4-FFF2-40B4-BE49-F238E27FC236}">
                <a16:creationId xmlns:a16="http://schemas.microsoft.com/office/drawing/2014/main" id="{96086830-1E9A-4142-B4BF-8BB729693C93}"/>
              </a:ext>
            </a:extLst>
          </p:cNvPr>
          <p:cNvCxnSpPr>
            <a:cxnSpLocks/>
            <a:endCxn id="25" idx="1"/>
          </p:cNvCxnSpPr>
          <p:nvPr/>
        </p:nvCxnSpPr>
        <p:spPr bwMode="gray">
          <a:xfrm>
            <a:off x="1263803" y="1701447"/>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24"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47097" y="1480047"/>
            <a:ext cx="540000" cy="441818"/>
          </a:xfrm>
          <a:prstGeom prst="rect">
            <a:avLst/>
          </a:prstGeom>
        </p:spPr>
      </p:pic>
      <p:pic>
        <p:nvPicPr>
          <p:cNvPr id="25"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4438" y="1480047"/>
            <a:ext cx="540000" cy="442800"/>
          </a:xfrm>
          <a:prstGeom prst="rect">
            <a:avLst/>
          </a:prstGeom>
        </p:spPr>
      </p:pic>
      <p:cxnSp>
        <p:nvCxnSpPr>
          <p:cNvPr id="26" name="Straight Connector 25">
            <a:extLst>
              <a:ext uri="{FF2B5EF4-FFF2-40B4-BE49-F238E27FC236}">
                <a16:creationId xmlns:a16="http://schemas.microsoft.com/office/drawing/2014/main" id="{2AD57301-E8AB-4A8E-8B70-3BA2DDB3650E}"/>
              </a:ext>
            </a:extLst>
          </p:cNvPr>
          <p:cNvCxnSpPr>
            <a:cxnSpLocks/>
            <a:stCxn id="25" idx="3"/>
            <a:endCxn id="24" idx="1"/>
          </p:cNvCxnSpPr>
          <p:nvPr/>
        </p:nvCxnSpPr>
        <p:spPr bwMode="gray">
          <a:xfrm flipV="1">
            <a:off x="2424438" y="1700956"/>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4B40C51-BF98-4140-ABE3-298D1975F510}"/>
              </a:ext>
            </a:extLst>
          </p:cNvPr>
          <p:cNvCxnSpPr>
            <a:cxnSpLocks/>
            <a:stCxn id="24" idx="3"/>
          </p:cNvCxnSpPr>
          <p:nvPr/>
        </p:nvCxnSpPr>
        <p:spPr bwMode="gray">
          <a:xfrm>
            <a:off x="3787097" y="1700956"/>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8"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2277" y="1220245"/>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29" name="Oval 41">
            <a:extLst>
              <a:ext uri="{FF2B5EF4-FFF2-40B4-BE49-F238E27FC236}">
                <a16:creationId xmlns:a16="http://schemas.microsoft.com/office/drawing/2014/main" id="{25AD5355-862E-4527-BB8D-2653C7401795}"/>
              </a:ext>
            </a:extLst>
          </p:cNvPr>
          <p:cNvSpPr>
            <a:spLocks noChangeAspect="1"/>
          </p:cNvSpPr>
          <p:nvPr/>
        </p:nvSpPr>
        <p:spPr bwMode="gray">
          <a:xfrm>
            <a:off x="2347394" y="162414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0"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5226" y="1780586"/>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31" name="Oval 41">
            <a:extLst>
              <a:ext uri="{FF2B5EF4-FFF2-40B4-BE49-F238E27FC236}">
                <a16:creationId xmlns:a16="http://schemas.microsoft.com/office/drawing/2014/main" id="{6A20C70F-7BF7-4B08-8CEB-4AD4F9B9F3C9}"/>
              </a:ext>
            </a:extLst>
          </p:cNvPr>
          <p:cNvSpPr>
            <a:spLocks noChangeAspect="1"/>
          </p:cNvSpPr>
          <p:nvPr/>
        </p:nvSpPr>
        <p:spPr bwMode="gray">
          <a:xfrm>
            <a:off x="3707466" y="162132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19" name="图片 1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2613" y="1481473"/>
            <a:ext cx="540000" cy="442800"/>
          </a:xfrm>
          <a:prstGeom prst="rect">
            <a:avLst/>
          </a:prstGeom>
        </p:spPr>
      </p:pic>
    </p:spTree>
    <p:extLst>
      <p:ext uri="{BB962C8B-B14F-4D97-AF65-F5344CB8AC3E}">
        <p14:creationId xmlns:p14="http://schemas.microsoft.com/office/powerpoint/2010/main" val="36838651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a:t>
            </a:r>
            <a:r>
              <a:rPr lang="en-US" altLang="zh-CN" dirty="0"/>
              <a:t>MQC</a:t>
            </a:r>
            <a:r>
              <a:rPr lang="zh-CN" altLang="en-US" dirty="0"/>
              <a:t>实现拥塞避免 </a:t>
            </a:r>
            <a:r>
              <a:rPr lang="en-US" altLang="zh-CN" dirty="0"/>
              <a:t>(2)</a:t>
            </a:r>
            <a:endParaRPr lang="zh-CN" altLang="en-US" dirty="0"/>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1221" y="2051159"/>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丢弃模板在流行为中绑定后，将流行为和对应的流分类在流策略下进行关联，并将此流策略应用到接口上，可以实现对匹配流分类规则的流量的拥塞避免，配置思路如下：</a:t>
            </a:r>
            <a:endParaRPr lang="en-US" altLang="zh-CN" sz="1800" dirty="0"/>
          </a:p>
          <a:p>
            <a:pPr lvl="1">
              <a:spcAft>
                <a:spcPts val="0"/>
              </a:spcAft>
            </a:pPr>
            <a:r>
              <a:rPr lang="zh-CN" altLang="en-US" sz="1600" dirty="0">
                <a:solidFill>
                  <a:schemeClr val="bg1">
                    <a:lumMod val="50000"/>
                  </a:schemeClr>
                </a:solidFill>
              </a:rPr>
              <a:t>配置丢弃模板</a:t>
            </a:r>
            <a:endParaRPr lang="en-US" altLang="zh-CN" sz="1600" dirty="0">
              <a:solidFill>
                <a:schemeClr val="bg1">
                  <a:lumMod val="50000"/>
                </a:schemeClr>
              </a:solidFill>
            </a:endParaRPr>
          </a:p>
          <a:p>
            <a:pPr lvl="1" fontAlgn="auto">
              <a:spcAft>
                <a:spcPts val="0"/>
              </a:spcAft>
            </a:pPr>
            <a:r>
              <a:rPr lang="zh-CN" altLang="en-US" sz="1600" dirty="0"/>
              <a:t>配置</a:t>
            </a:r>
            <a:r>
              <a:rPr lang="en-US" altLang="zh-CN" sz="1600" dirty="0"/>
              <a:t>Traffic classifier</a:t>
            </a:r>
            <a:r>
              <a:rPr lang="zh-CN" altLang="en-US" sz="1600" dirty="0"/>
              <a:t>与</a:t>
            </a:r>
            <a:r>
              <a:rPr lang="en-US" altLang="zh-CN" sz="1600" dirty="0"/>
              <a:t>Traffic behavior</a:t>
            </a:r>
            <a:endParaRPr lang="zh-CN" altLang="en-US" sz="1600" dirty="0"/>
          </a:p>
          <a:p>
            <a:pPr lvl="1" fontAlgn="auto">
              <a:spcAft>
                <a:spcPts val="0"/>
              </a:spcAft>
            </a:pPr>
            <a:r>
              <a:rPr lang="zh-CN" altLang="en-US" sz="1600" dirty="0"/>
              <a:t>使用</a:t>
            </a:r>
            <a:r>
              <a:rPr lang="en-US" altLang="zh-CN" sz="1600" dirty="0"/>
              <a:t>Traffic policy</a:t>
            </a:r>
            <a:r>
              <a:rPr lang="zh-CN" altLang="en-US" sz="1600" dirty="0"/>
              <a:t>工具将</a:t>
            </a:r>
            <a:r>
              <a:rPr lang="en-US" altLang="zh-CN" sz="1600" dirty="0"/>
              <a:t>Traffic classifier</a:t>
            </a:r>
            <a:r>
              <a:rPr lang="zh-CN" altLang="en-US" sz="1600" dirty="0"/>
              <a:t>与</a:t>
            </a:r>
            <a:r>
              <a:rPr lang="en-US" altLang="zh-CN" sz="1600" dirty="0"/>
              <a:t>Traffic behavior</a:t>
            </a:r>
            <a:r>
              <a:rPr lang="zh-CN" altLang="en-US" sz="1600" dirty="0"/>
              <a:t>进行绑定</a:t>
            </a:r>
          </a:p>
          <a:p>
            <a:pPr lvl="1" fontAlgn="auto">
              <a:spcAft>
                <a:spcPts val="0"/>
              </a:spcAft>
            </a:pPr>
            <a:r>
              <a:rPr lang="zh-CN" altLang="en-US" sz="1600" dirty="0"/>
              <a:t>将</a:t>
            </a:r>
            <a:r>
              <a:rPr lang="en-US" altLang="zh-CN" sz="1600" dirty="0"/>
              <a:t>Traffic policy</a:t>
            </a:r>
            <a:r>
              <a:rPr lang="zh-CN" altLang="en-US" sz="1600" dirty="0"/>
              <a:t>应用到设备接口</a:t>
            </a:r>
            <a:r>
              <a:rPr lang="zh-CN" altLang="en-US" sz="1600" dirty="0">
                <a:solidFill>
                  <a:srgbClr val="C7000B"/>
                </a:solidFill>
              </a:rPr>
              <a:t>出方向</a:t>
            </a:r>
            <a:r>
              <a:rPr lang="zh-CN" altLang="en-US" sz="1600" dirty="0"/>
              <a:t>上</a:t>
            </a:r>
          </a:p>
        </p:txBody>
      </p:sp>
      <p:sp>
        <p:nvSpPr>
          <p:cNvPr id="20" name="圆角矩形 135">
            <a:extLst>
              <a:ext uri="{FF2B5EF4-FFF2-40B4-BE49-F238E27FC236}">
                <a16:creationId xmlns:a16="http://schemas.microsoft.com/office/drawing/2014/main" id="{EE602E42-5BBD-4CA3-9022-622C6C3FF339}"/>
              </a:ext>
            </a:extLst>
          </p:cNvPr>
          <p:cNvSpPr/>
          <p:nvPr/>
        </p:nvSpPr>
        <p:spPr bwMode="gray">
          <a:xfrm>
            <a:off x="1661229" y="1151059"/>
            <a:ext cx="2964717" cy="858769"/>
          </a:xfrm>
          <a:prstGeom prst="roundRect">
            <a:avLst/>
          </a:prstGeom>
          <a:solidFill>
            <a:srgbClr val="F4FBFE"/>
          </a:solidFill>
          <a:ln w="9525" cap="flat" cmpd="sng" algn="ctr">
            <a:solidFill>
              <a:srgbClr val="BEE9EE"/>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0249" y="1151059"/>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22" name="Straight Connector 21">
            <a:extLst>
              <a:ext uri="{FF2B5EF4-FFF2-40B4-BE49-F238E27FC236}">
                <a16:creationId xmlns:a16="http://schemas.microsoft.com/office/drawing/2014/main" id="{96086830-1E9A-4142-B4BF-8BB729693C93}"/>
              </a:ext>
            </a:extLst>
          </p:cNvPr>
          <p:cNvCxnSpPr>
            <a:cxnSpLocks/>
            <a:endCxn id="25" idx="1"/>
          </p:cNvCxnSpPr>
          <p:nvPr/>
        </p:nvCxnSpPr>
        <p:spPr bwMode="gray">
          <a:xfrm>
            <a:off x="1262111" y="1632261"/>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24"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45405" y="1410861"/>
            <a:ext cx="540000" cy="441818"/>
          </a:xfrm>
          <a:prstGeom prst="rect">
            <a:avLst/>
          </a:prstGeom>
        </p:spPr>
      </p:pic>
      <p:pic>
        <p:nvPicPr>
          <p:cNvPr id="25"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2746" y="1410861"/>
            <a:ext cx="540000" cy="442800"/>
          </a:xfrm>
          <a:prstGeom prst="rect">
            <a:avLst/>
          </a:prstGeom>
        </p:spPr>
      </p:pic>
      <p:cxnSp>
        <p:nvCxnSpPr>
          <p:cNvPr id="26" name="Straight Connector 25">
            <a:extLst>
              <a:ext uri="{FF2B5EF4-FFF2-40B4-BE49-F238E27FC236}">
                <a16:creationId xmlns:a16="http://schemas.microsoft.com/office/drawing/2014/main" id="{2AD57301-E8AB-4A8E-8B70-3BA2DDB3650E}"/>
              </a:ext>
            </a:extLst>
          </p:cNvPr>
          <p:cNvCxnSpPr>
            <a:cxnSpLocks/>
            <a:stCxn id="25" idx="3"/>
            <a:endCxn id="24" idx="1"/>
          </p:cNvCxnSpPr>
          <p:nvPr/>
        </p:nvCxnSpPr>
        <p:spPr bwMode="gray">
          <a:xfrm flipV="1">
            <a:off x="2422746" y="1631770"/>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4B40C51-BF98-4140-ABE3-298D1975F510}"/>
              </a:ext>
            </a:extLst>
          </p:cNvPr>
          <p:cNvCxnSpPr>
            <a:cxnSpLocks/>
            <a:stCxn id="24" idx="3"/>
          </p:cNvCxnSpPr>
          <p:nvPr/>
        </p:nvCxnSpPr>
        <p:spPr bwMode="gray">
          <a:xfrm>
            <a:off x="3785405" y="1631770"/>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8"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0585" y="1151059"/>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29" name="Oval 41">
            <a:extLst>
              <a:ext uri="{FF2B5EF4-FFF2-40B4-BE49-F238E27FC236}">
                <a16:creationId xmlns:a16="http://schemas.microsoft.com/office/drawing/2014/main" id="{25AD5355-862E-4527-BB8D-2653C7401795}"/>
              </a:ext>
            </a:extLst>
          </p:cNvPr>
          <p:cNvSpPr>
            <a:spLocks noChangeAspect="1"/>
          </p:cNvSpPr>
          <p:nvPr/>
        </p:nvSpPr>
        <p:spPr bwMode="gray">
          <a:xfrm>
            <a:off x="2345702" y="155495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0"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3534" y="1711400"/>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31" name="Oval 41">
            <a:extLst>
              <a:ext uri="{FF2B5EF4-FFF2-40B4-BE49-F238E27FC236}">
                <a16:creationId xmlns:a16="http://schemas.microsoft.com/office/drawing/2014/main" id="{6A20C70F-7BF7-4B08-8CEB-4AD4F9B9F3C9}"/>
              </a:ext>
            </a:extLst>
          </p:cNvPr>
          <p:cNvSpPr>
            <a:spLocks noChangeAspect="1"/>
          </p:cNvSpPr>
          <p:nvPr/>
        </p:nvSpPr>
        <p:spPr bwMode="gray">
          <a:xfrm>
            <a:off x="3705774" y="155213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8" name="文本框 30">
            <a:extLst>
              <a:ext uri="{FF2B5EF4-FFF2-40B4-BE49-F238E27FC236}">
                <a16:creationId xmlns:a16="http://schemas.microsoft.com/office/drawing/2014/main" id="{DA5734BD-E801-4D82-85D9-F9B298CFCBB9}"/>
              </a:ext>
            </a:extLst>
          </p:cNvPr>
          <p:cNvSpPr txBox="1"/>
          <p:nvPr/>
        </p:nvSpPr>
        <p:spPr bwMode="gray">
          <a:xfrm>
            <a:off x="6105824" y="1159842"/>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基于流量特征匹配流量。</a:t>
            </a:r>
            <a:endParaRPr lang="en-US" altLang="zh-CN" dirty="0">
              <a:solidFill>
                <a:schemeClr val="tx1"/>
              </a:solidFill>
            </a:endParaRPr>
          </a:p>
        </p:txBody>
      </p:sp>
      <p:sp>
        <p:nvSpPr>
          <p:cNvPr id="19" name="文本框 30">
            <a:extLst>
              <a:ext uri="{FF2B5EF4-FFF2-40B4-BE49-F238E27FC236}">
                <a16:creationId xmlns:a16="http://schemas.microsoft.com/office/drawing/2014/main" id="{4BEC7D88-E812-4E0E-A932-BBC18F040B99}"/>
              </a:ext>
            </a:extLst>
          </p:cNvPr>
          <p:cNvSpPr txBox="1"/>
          <p:nvPr/>
        </p:nvSpPr>
        <p:spPr bwMode="gray">
          <a:xfrm>
            <a:off x="6105824" y="2216482"/>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drop-profile </a:t>
            </a:r>
            <a:r>
              <a:rPr lang="en-US" altLang="zh-CN" dirty="0">
                <a:solidFill>
                  <a:schemeClr val="tx1"/>
                </a:solidFill>
              </a:rPr>
              <a:t>[</a:t>
            </a:r>
            <a:r>
              <a:rPr lang="en-US" altLang="zh-CN" i="1" dirty="0">
                <a:solidFill>
                  <a:schemeClr val="tx1"/>
                </a:solidFill>
              </a:rPr>
              <a:t>drop-profile-name</a:t>
            </a:r>
            <a:r>
              <a:rPr lang="en-US" altLang="zh-CN" dirty="0">
                <a:solidFill>
                  <a:schemeClr val="tx1"/>
                </a:solidFill>
              </a:rPr>
              <a:t>]    //</a:t>
            </a:r>
            <a:r>
              <a:rPr lang="zh-CN" altLang="en-US" dirty="0">
                <a:solidFill>
                  <a:schemeClr val="tx1"/>
                </a:solidFill>
              </a:rPr>
              <a:t>在流行为中绑定已创建的丢弃模板。</a:t>
            </a:r>
            <a:endParaRPr lang="en-US" altLang="zh-CN" dirty="0">
              <a:solidFill>
                <a:schemeClr val="tx1"/>
              </a:solidFill>
            </a:endParaRPr>
          </a:p>
        </p:txBody>
      </p:sp>
      <p:sp>
        <p:nvSpPr>
          <p:cNvPr id="32" name="文本框 30">
            <a:extLst>
              <a:ext uri="{FF2B5EF4-FFF2-40B4-BE49-F238E27FC236}">
                <a16:creationId xmlns:a16="http://schemas.microsoft.com/office/drawing/2014/main" id="{591F0BF2-A667-4F0A-8D57-ED0063870A13}"/>
              </a:ext>
            </a:extLst>
          </p:cNvPr>
          <p:cNvSpPr txBox="1"/>
          <p:nvPr/>
        </p:nvSpPr>
        <p:spPr bwMode="gray">
          <a:xfrm>
            <a:off x="6105824" y="3488565"/>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33" name="文本框 30">
            <a:extLst>
              <a:ext uri="{FF2B5EF4-FFF2-40B4-BE49-F238E27FC236}">
                <a16:creationId xmlns:a16="http://schemas.microsoft.com/office/drawing/2014/main" id="{F3E0C674-3486-47E7-B249-0DD448A56D1A}"/>
              </a:ext>
            </a:extLst>
          </p:cNvPr>
          <p:cNvSpPr txBox="1"/>
          <p:nvPr/>
        </p:nvSpPr>
        <p:spPr bwMode="gray">
          <a:xfrm>
            <a:off x="6105824" y="4760648"/>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en-US" altLang="zh-CN" b="1" dirty="0">
                <a:solidFill>
                  <a:schemeClr val="tx1"/>
                </a:solidFill>
              </a:rPr>
              <a:t>outbound</a:t>
            </a:r>
            <a:r>
              <a:rPr lang="en-US" altLang="zh-CN" dirty="0">
                <a:solidFill>
                  <a:schemeClr val="tx1"/>
                </a:solidFill>
              </a:rPr>
              <a:t>     //</a:t>
            </a:r>
            <a:r>
              <a:rPr lang="zh-CN" altLang="en-US" dirty="0">
                <a:solidFill>
                  <a:schemeClr val="tx1"/>
                </a:solidFill>
              </a:rPr>
              <a:t>在接口出方向上应用流策略。</a:t>
            </a:r>
            <a:endParaRPr lang="en-US" altLang="zh-CN" dirty="0">
              <a:solidFill>
                <a:schemeClr val="tx1"/>
              </a:solidFill>
            </a:endParaRPr>
          </a:p>
        </p:txBody>
      </p:sp>
      <p:pic>
        <p:nvPicPr>
          <p:cNvPr id="34" name="图片 3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0921" y="1412287"/>
            <a:ext cx="540000" cy="442800"/>
          </a:xfrm>
          <a:prstGeom prst="rect">
            <a:avLst/>
          </a:prstGeom>
        </p:spPr>
      </p:pic>
    </p:spTree>
    <p:extLst>
      <p:ext uri="{BB962C8B-B14F-4D97-AF65-F5344CB8AC3E}">
        <p14:creationId xmlns:p14="http://schemas.microsoft.com/office/powerpoint/2010/main" val="34060285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641D4-65E4-420A-8100-A23E5A630B43}"/>
              </a:ext>
            </a:extLst>
          </p:cNvPr>
          <p:cNvSpPr>
            <a:spLocks noGrp="1"/>
          </p:cNvSpPr>
          <p:nvPr>
            <p:ph type="title"/>
          </p:nvPr>
        </p:nvSpPr>
        <p:spPr bwMode="gray"/>
        <p:txBody>
          <a:bodyPr/>
          <a:lstStyle/>
          <a:p>
            <a:r>
              <a:rPr lang="zh-CN" altLang="en-US" dirty="0"/>
              <a:t>检查拥塞避免的配置结果</a:t>
            </a:r>
            <a:endParaRPr lang="en-US" dirty="0"/>
          </a:p>
        </p:txBody>
      </p:sp>
      <p:sp>
        <p:nvSpPr>
          <p:cNvPr id="3" name="Text Placeholder 2">
            <a:extLst>
              <a:ext uri="{FF2B5EF4-FFF2-40B4-BE49-F238E27FC236}">
                <a16:creationId xmlns:a16="http://schemas.microsoft.com/office/drawing/2014/main" id="{05304A67-2172-4F63-A282-8BEF5966FCE9}"/>
              </a:ext>
            </a:extLst>
          </p:cNvPr>
          <p:cNvSpPr>
            <a:spLocks noGrp="1"/>
          </p:cNvSpPr>
          <p:nvPr>
            <p:ph type="body" sz="quarter" idx="10"/>
          </p:nvPr>
        </p:nvSpPr>
        <p:spPr bwMode="gray"/>
        <p:txBody>
          <a:bodyPr/>
          <a:lstStyle/>
          <a:p>
            <a:r>
              <a:rPr lang="zh-CN" altLang="en-US" sz="1800" dirty="0"/>
              <a:t>检查基于队列的拥塞避免配置结果</a:t>
            </a:r>
            <a:endParaRPr lang="en-US" altLang="zh-CN" sz="1800" dirty="0"/>
          </a:p>
          <a:p>
            <a:endParaRPr lang="en-US" altLang="zh-CN" sz="1800" dirty="0"/>
          </a:p>
          <a:p>
            <a:endParaRPr lang="en-US" altLang="zh-CN" sz="1800" dirty="0"/>
          </a:p>
          <a:p>
            <a:endParaRPr lang="en-US" altLang="zh-CN" sz="1800" dirty="0"/>
          </a:p>
          <a:p>
            <a:endParaRPr lang="en-US" altLang="zh-CN" sz="1800" dirty="0"/>
          </a:p>
          <a:p>
            <a:r>
              <a:rPr lang="zh-CN" altLang="en-US" sz="1800" dirty="0"/>
              <a:t>检查基于</a:t>
            </a:r>
            <a:r>
              <a:rPr lang="en-US" altLang="zh-CN" sz="1800" dirty="0"/>
              <a:t>MQC</a:t>
            </a:r>
            <a:r>
              <a:rPr lang="zh-CN" altLang="en-US" sz="1800" dirty="0"/>
              <a:t>的拥塞避免配置结果</a:t>
            </a:r>
          </a:p>
          <a:p>
            <a:endParaRPr lang="en-US" altLang="zh-CN" sz="1800" dirty="0"/>
          </a:p>
          <a:p>
            <a:endParaRPr lang="en-US" dirty="0"/>
          </a:p>
        </p:txBody>
      </p:sp>
      <p:sp>
        <p:nvSpPr>
          <p:cNvPr id="4" name="文本框 30">
            <a:extLst>
              <a:ext uri="{FF2B5EF4-FFF2-40B4-BE49-F238E27FC236}">
                <a16:creationId xmlns:a16="http://schemas.microsoft.com/office/drawing/2014/main" id="{10D9A538-1DA2-42CC-A8EE-BA151AFA0B88}"/>
              </a:ext>
            </a:extLst>
          </p:cNvPr>
          <p:cNvSpPr txBox="1"/>
          <p:nvPr/>
        </p:nvSpPr>
        <p:spPr bwMode="gray">
          <a:xfrm>
            <a:off x="569917" y="1519182"/>
            <a:ext cx="8513064" cy="1384995"/>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a:t>
            </a:r>
            <a:endParaRPr lang="en-US" altLang="zh-CN" b="1" dirty="0">
              <a:solidFill>
                <a:schemeClr val="tx1"/>
              </a:solidFill>
            </a:endParaRPr>
          </a:p>
          <a:p>
            <a:pPr>
              <a:lnSpc>
                <a:spcPct val="100000"/>
              </a:lnSpc>
            </a:pPr>
            <a:r>
              <a:rPr lang="en-US" altLang="zh-CN" b="1" dirty="0">
                <a:solidFill>
                  <a:schemeClr val="tx1"/>
                </a:solidFill>
              </a:rPr>
              <a:t>      display this    </a:t>
            </a:r>
            <a:r>
              <a:rPr lang="en-US" altLang="zh-CN" dirty="0">
                <a:solidFill>
                  <a:schemeClr val="tx1"/>
                </a:solidFill>
              </a:rPr>
              <a:t>//</a:t>
            </a:r>
            <a:r>
              <a:rPr lang="zh-CN" altLang="en-US" dirty="0">
                <a:solidFill>
                  <a:schemeClr val="tx1"/>
                </a:solidFill>
              </a:rPr>
              <a:t>查看接口下绑定的队列模板。</a:t>
            </a: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p>
          <a:p>
            <a:pPr>
              <a:lnSpc>
                <a:spcPct val="100000"/>
              </a:lnSpc>
            </a:pPr>
            <a:r>
              <a:rPr lang="en-US" altLang="zh-CN" b="1" dirty="0">
                <a:solidFill>
                  <a:schemeClr val="tx1"/>
                </a:solidFill>
              </a:rPr>
              <a:t>      display this   </a:t>
            </a:r>
            <a:r>
              <a:rPr lang="en-US" altLang="zh-CN" dirty="0">
                <a:solidFill>
                  <a:schemeClr val="tx1"/>
                </a:solidFill>
              </a:rPr>
              <a:t>//</a:t>
            </a:r>
            <a:r>
              <a:rPr lang="zh-CN" altLang="en-US" dirty="0">
                <a:solidFill>
                  <a:schemeClr val="tx1"/>
                </a:solidFill>
              </a:rPr>
              <a:t>查看队列模板绑定的丢弃模板。</a:t>
            </a:r>
          </a:p>
          <a:p>
            <a:pPr>
              <a:lnSpc>
                <a:spcPct val="100000"/>
              </a:lnSpc>
            </a:pPr>
            <a:r>
              <a:rPr lang="en-US" altLang="zh-CN" b="1" dirty="0">
                <a:solidFill>
                  <a:schemeClr val="tx1"/>
                </a:solidFill>
              </a:rPr>
              <a:t>   display drop-profile </a:t>
            </a:r>
            <a:r>
              <a:rPr lang="en-US" altLang="zh-CN" dirty="0">
                <a:solidFill>
                  <a:schemeClr val="tx1"/>
                </a:solidFill>
              </a:rPr>
              <a:t>[ </a:t>
            </a:r>
            <a:r>
              <a:rPr lang="en-US" altLang="zh-CN" i="1" dirty="0">
                <a:solidFill>
                  <a:schemeClr val="tx1"/>
                </a:solidFill>
              </a:rPr>
              <a:t>drop-profile-name</a:t>
            </a:r>
            <a:r>
              <a:rPr lang="en-US" altLang="zh-CN" dirty="0">
                <a:solidFill>
                  <a:schemeClr val="tx1"/>
                </a:solidFill>
              </a:rPr>
              <a:t> ]   //</a:t>
            </a:r>
            <a:r>
              <a:rPr lang="zh-CN" altLang="en-US" dirty="0">
                <a:solidFill>
                  <a:schemeClr val="tx1"/>
                </a:solidFill>
              </a:rPr>
              <a:t>查看丢弃模板的配置信息。</a:t>
            </a:r>
          </a:p>
        </p:txBody>
      </p:sp>
      <p:sp>
        <p:nvSpPr>
          <p:cNvPr id="5" name="文本框 30">
            <a:extLst>
              <a:ext uri="{FF2B5EF4-FFF2-40B4-BE49-F238E27FC236}">
                <a16:creationId xmlns:a16="http://schemas.microsoft.com/office/drawing/2014/main" id="{721A2DDA-7672-4007-941A-F970079045AA}"/>
              </a:ext>
            </a:extLst>
          </p:cNvPr>
          <p:cNvSpPr txBox="1"/>
          <p:nvPr/>
        </p:nvSpPr>
        <p:spPr bwMode="gray">
          <a:xfrm>
            <a:off x="569917" y="3983180"/>
            <a:ext cx="8513064" cy="1600438"/>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a:t>
            </a:r>
            <a:r>
              <a:rPr lang="en-US" altLang="zh-CN" i="1" dirty="0">
                <a:solidFill>
                  <a:schemeClr val="tx1"/>
                </a:solidFill>
              </a:rPr>
              <a:t> behavior-name </a:t>
            </a:r>
            <a:r>
              <a:rPr lang="en-US" altLang="zh-CN" dirty="0">
                <a:solidFill>
                  <a:schemeClr val="tx1"/>
                </a:solidFill>
              </a:rPr>
              <a:t>]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a:t>
            </a:r>
            <a:r>
              <a:rPr lang="en-US" altLang="zh-CN" i="1" dirty="0">
                <a:solidFill>
                  <a:schemeClr val="tx1"/>
                </a:solidFill>
              </a:rPr>
              <a:t> policy-name </a:t>
            </a:r>
            <a:r>
              <a:rPr lang="en-US" altLang="zh-CN" dirty="0">
                <a:solidFill>
                  <a:schemeClr val="tx1"/>
                </a:solidFill>
              </a:rPr>
              <a:t>]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Tree>
    <p:extLst>
      <p:ext uri="{BB962C8B-B14F-4D97-AF65-F5344CB8AC3E}">
        <p14:creationId xmlns:p14="http://schemas.microsoft.com/office/powerpoint/2010/main" val="38067861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p:txBody>
          <a:bodyPr/>
          <a:lstStyle/>
          <a:p>
            <a:r>
              <a:rPr lang="en-US" altLang="zh-CN" dirty="0"/>
              <a:t>(</a:t>
            </a:r>
            <a:r>
              <a:rPr lang="zh-CN" altLang="en-US" dirty="0"/>
              <a:t>多选题</a:t>
            </a:r>
            <a:r>
              <a:rPr lang="en-US" altLang="zh-CN" dirty="0"/>
              <a:t>)QoS</a:t>
            </a:r>
            <a:r>
              <a:rPr lang="zh-CN" altLang="en-US" dirty="0"/>
              <a:t>主动丢弃报文的机制有以下哪些项？（      ）</a:t>
            </a:r>
            <a:endParaRPr lang="en-US" altLang="zh-CN" dirty="0"/>
          </a:p>
          <a:p>
            <a:pPr lvl="1"/>
            <a:r>
              <a:rPr lang="zh-CN" altLang="en-US" dirty="0"/>
              <a:t>尾丢弃</a:t>
            </a:r>
            <a:endParaRPr lang="en-US" altLang="zh-CN" dirty="0"/>
          </a:p>
          <a:p>
            <a:pPr lvl="1"/>
            <a:r>
              <a:rPr lang="en-US" altLang="zh-CN" dirty="0"/>
              <a:t>RED</a:t>
            </a:r>
          </a:p>
          <a:p>
            <a:pPr lvl="1"/>
            <a:r>
              <a:rPr lang="en-US" altLang="zh-CN" dirty="0"/>
              <a:t>MRED</a:t>
            </a:r>
          </a:p>
          <a:p>
            <a:pPr lvl="1"/>
            <a:r>
              <a:rPr lang="en-US" altLang="zh-CN" dirty="0"/>
              <a:t>WRED</a:t>
            </a:r>
            <a:endParaRPr lang="en-US" dirty="0"/>
          </a:p>
        </p:txBody>
      </p:sp>
    </p:spTree>
    <p:extLst>
      <p:ext uri="{BB962C8B-B14F-4D97-AF65-F5344CB8AC3E}">
        <p14:creationId xmlns:p14="http://schemas.microsoft.com/office/powerpoint/2010/main" val="28008374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zh-CN" altLang="en-US" dirty="0"/>
              <a:t>拥塞避免技术不避免拥塞，拥塞避免技术避免由于拥塞导致的问题（尾丢弃导致</a:t>
            </a:r>
            <a:r>
              <a:rPr lang="en-US" altLang="zh-CN" dirty="0"/>
              <a:t>TCP</a:t>
            </a:r>
            <a:r>
              <a:rPr lang="zh-CN" altLang="en-US" dirty="0"/>
              <a:t>全局同步，接口流量时大时小，</a:t>
            </a:r>
            <a:r>
              <a:rPr lang="en-US" altLang="zh-CN" dirty="0"/>
              <a:t>UDP</a:t>
            </a:r>
            <a:r>
              <a:rPr lang="zh-CN" altLang="en-US" dirty="0"/>
              <a:t>流量抢占</a:t>
            </a:r>
            <a:r>
              <a:rPr lang="en-US" altLang="zh-CN" dirty="0"/>
              <a:t>TCP</a:t>
            </a:r>
            <a:r>
              <a:rPr lang="zh-CN" altLang="en-US" dirty="0"/>
              <a:t>流量所用带宽）。</a:t>
            </a:r>
            <a:endParaRPr lang="en-US" altLang="zh-CN" dirty="0"/>
          </a:p>
          <a:p>
            <a:r>
              <a:rPr lang="en-US" dirty="0"/>
              <a:t>RED/WRED</a:t>
            </a:r>
            <a:r>
              <a:rPr lang="zh-CN" altLang="en-US" dirty="0"/>
              <a:t>通过随机丢弃数据包保证不会存在</a:t>
            </a:r>
            <a:r>
              <a:rPr lang="en-US" altLang="zh-CN" dirty="0"/>
              <a:t>TCP</a:t>
            </a:r>
            <a:r>
              <a:rPr lang="zh-CN" altLang="en-US" dirty="0"/>
              <a:t>全局同步等问题。</a:t>
            </a:r>
            <a:endParaRPr lang="en-US" dirty="0"/>
          </a:p>
        </p:txBody>
      </p:sp>
    </p:spTree>
    <p:extLst>
      <p:ext uri="{BB962C8B-B14F-4D97-AF65-F5344CB8AC3E}">
        <p14:creationId xmlns:p14="http://schemas.microsoft.com/office/powerpoint/2010/main" val="29281675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dirty="0" err="1">
                <a:solidFill>
                  <a:schemeClr val="bg1">
                    <a:lumMod val="50000"/>
                  </a:schemeClr>
                </a:solidFill>
              </a:rPr>
              <a:t>QoS</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dirty="0" err="1">
                <a:solidFill>
                  <a:schemeClr val="bg1">
                    <a:lumMod val="50000"/>
                  </a:schemeClr>
                </a:solidFill>
              </a:rPr>
              <a:t>QoS</a:t>
            </a:r>
            <a:r>
              <a:rPr lang="zh-CN" altLang="en-US" dirty="0">
                <a:solidFill>
                  <a:schemeClr val="bg1">
                    <a:lumMod val="50000"/>
                  </a:schemeClr>
                </a:solidFill>
              </a:rPr>
              <a:t>流分类和流标记</a:t>
            </a:r>
            <a:endParaRPr lang="en-US" altLang="zh-CN" dirty="0">
              <a:solidFill>
                <a:schemeClr val="bg1">
                  <a:lumMod val="50000"/>
                </a:schemeClr>
              </a:solidFill>
            </a:endParaRPr>
          </a:p>
          <a:p>
            <a:r>
              <a:rPr lang="zh-CN" altLang="en-US" dirty="0">
                <a:solidFill>
                  <a:schemeClr val="bg1">
                    <a:lumMod val="50000"/>
                  </a:schemeClr>
                </a:solidFill>
              </a:rPr>
              <a:t>流量限速技术</a:t>
            </a:r>
            <a:endParaRPr lang="en-US" altLang="zh-CN" dirty="0">
              <a:solidFill>
                <a:schemeClr val="bg1">
                  <a:lumMod val="50000"/>
                </a:schemeClr>
              </a:solidFill>
            </a:endParaRPr>
          </a:p>
          <a:p>
            <a:r>
              <a:rPr lang="zh-CN" altLang="en-US" dirty="0">
                <a:solidFill>
                  <a:schemeClr val="bg1">
                    <a:lumMod val="50000"/>
                  </a:schemeClr>
                </a:solidFill>
              </a:rPr>
              <a:t>拥塞避免技术</a:t>
            </a:r>
            <a:endParaRPr lang="en-US" altLang="zh-CN" dirty="0">
              <a:solidFill>
                <a:schemeClr val="bg1">
                  <a:lumMod val="50000"/>
                </a:schemeClr>
              </a:solidFill>
            </a:endParaRPr>
          </a:p>
          <a:p>
            <a:r>
              <a:rPr lang="zh-CN" altLang="en-US" b="1" dirty="0"/>
              <a:t>拥塞管理技术</a:t>
            </a:r>
            <a:endParaRPr lang="en-US" altLang="zh-CN" b="1" dirty="0"/>
          </a:p>
          <a:p>
            <a:r>
              <a:rPr lang="en-US" altLang="zh-CN" dirty="0" err="1">
                <a:solidFill>
                  <a:schemeClr val="bg1">
                    <a:lumMod val="50000"/>
                  </a:schemeClr>
                </a:solidFill>
              </a:rPr>
              <a:t>HQoS</a:t>
            </a:r>
            <a:r>
              <a:rPr lang="zh-CN" altLang="en-US" dirty="0">
                <a:solidFill>
                  <a:schemeClr val="bg1">
                    <a:lumMod val="50000"/>
                  </a:schemeClr>
                </a:solidFill>
              </a:rPr>
              <a:t>介绍</a:t>
            </a:r>
            <a:endParaRPr lang="en-US" altLang="zh-CN" dirty="0">
              <a:solidFill>
                <a:schemeClr val="bg1">
                  <a:lumMod val="50000"/>
                </a:schemeClr>
              </a:solidFill>
            </a:endParaRPr>
          </a:p>
        </p:txBody>
      </p:sp>
    </p:spTree>
    <p:extLst>
      <p:ext uri="{BB962C8B-B14F-4D97-AF65-F5344CB8AC3E}">
        <p14:creationId xmlns:p14="http://schemas.microsoft.com/office/powerpoint/2010/main" val="5506994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数据处理流程</a:t>
            </a:r>
          </a:p>
        </p:txBody>
      </p:sp>
      <p:sp>
        <p:nvSpPr>
          <p:cNvPr id="64" name="五边形 63"/>
          <p:cNvSpPr/>
          <p:nvPr/>
        </p:nvSpPr>
        <p:spPr bwMode="gray">
          <a:xfrm>
            <a:off x="6492044" y="2449244"/>
            <a:ext cx="4477322" cy="2412268"/>
          </a:xfrm>
          <a:prstGeom prst="homePlate">
            <a:avLst>
              <a:gd name="adj" fmla="val 12894"/>
            </a:avLst>
          </a:prstGeom>
          <a:solidFill>
            <a:srgbClr val="F4FBFE"/>
          </a:solidFill>
          <a:ln w="9525" cap="flat" cmpd="sng" algn="ctr">
            <a:solidFill>
              <a:srgbClr val="BEE9EE"/>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4" name="右箭头标注 23"/>
          <p:cNvSpPr/>
          <p:nvPr/>
        </p:nvSpPr>
        <p:spPr bwMode="gray">
          <a:xfrm>
            <a:off x="2260033" y="3171401"/>
            <a:ext cx="792088" cy="734621"/>
          </a:xfrm>
          <a:prstGeom prst="rightArrowCallout">
            <a:avLst>
              <a:gd name="adj1" fmla="val 23271"/>
              <a:gd name="adj2" fmla="val 25000"/>
              <a:gd name="adj3" fmla="val 19073"/>
              <a:gd name="adj4" fmla="val 75831"/>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solidFill>
                  <a:schemeClr val="bg1">
                    <a:lumMod val="65000"/>
                  </a:schemeClr>
                </a:solidFill>
                <a:latin typeface="Huawei Sans" panose="020C0503030203020204" pitchFamily="34" charset="0"/>
                <a:ea typeface="方正兰亭黑简体" panose="02000000000000000000" pitchFamily="2" charset="-122"/>
              </a:rPr>
              <a:t>流量分类</a:t>
            </a:r>
          </a:p>
        </p:txBody>
      </p:sp>
      <p:sp>
        <p:nvSpPr>
          <p:cNvPr id="32" name="右箭头标注 31"/>
          <p:cNvSpPr/>
          <p:nvPr/>
        </p:nvSpPr>
        <p:spPr bwMode="gray">
          <a:xfrm>
            <a:off x="3650930" y="3171401"/>
            <a:ext cx="828092" cy="734621"/>
          </a:xfrm>
          <a:prstGeom prst="rightArrowCallout">
            <a:avLst>
              <a:gd name="adj1" fmla="val 23271"/>
              <a:gd name="adj2" fmla="val 25000"/>
              <a:gd name="adj3" fmla="val 21048"/>
              <a:gd name="adj4" fmla="val 70347"/>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CAR</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34" name="右箭头标注 33"/>
          <p:cNvSpPr/>
          <p:nvPr/>
        </p:nvSpPr>
        <p:spPr bwMode="gray">
          <a:xfrm>
            <a:off x="4561086" y="3171401"/>
            <a:ext cx="1138870" cy="734621"/>
          </a:xfrm>
          <a:prstGeom prst="rightArrowCallout">
            <a:avLst>
              <a:gd name="adj1" fmla="val 23271"/>
              <a:gd name="adj2" fmla="val 25000"/>
              <a:gd name="adj3" fmla="val 25000"/>
              <a:gd name="adj4" fmla="val 7688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Remark</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65" name="组合 64"/>
          <p:cNvGrpSpPr/>
          <p:nvPr/>
        </p:nvGrpSpPr>
        <p:grpSpPr bwMode="gray">
          <a:xfrm>
            <a:off x="5713214" y="3124666"/>
            <a:ext cx="720080" cy="828092"/>
            <a:chOff x="6852084" y="3302292"/>
            <a:chExt cx="720080" cy="828092"/>
          </a:xfrm>
        </p:grpSpPr>
        <p:sp>
          <p:nvSpPr>
            <p:cNvPr id="37" name="圆角矩形 36"/>
            <p:cNvSpPr/>
            <p:nvPr/>
          </p:nvSpPr>
          <p:spPr bwMode="gray">
            <a:xfrm>
              <a:off x="6852084" y="3302292"/>
              <a:ext cx="720080" cy="828092"/>
            </a:xfrm>
            <a:prstGeom prst="roundRect">
              <a:avLst/>
            </a:prstGeom>
            <a:solidFill>
              <a:schemeClr val="bg1"/>
            </a:solid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其它</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zh-CN" altLang="en-US" sz="1600" b="1" dirty="0">
                  <a:solidFill>
                    <a:schemeClr val="bg1">
                      <a:lumMod val="65000"/>
                    </a:schemeClr>
                  </a:solidFill>
                  <a:latin typeface="Huawei Sans" panose="020C0503030203020204" pitchFamily="34" charset="0"/>
                  <a:ea typeface="方正兰亭黑简体" panose="02000000000000000000" pitchFamily="2" charset="-122"/>
                </a:rPr>
                <a:t>处理</a:t>
              </a:r>
              <a:endParaRPr lang="en-US" altLang="zh-CN" sz="1600" b="1" dirty="0">
                <a:solidFill>
                  <a:schemeClr val="bg1">
                    <a:lumMod val="65000"/>
                  </a:schemeClr>
                </a:solidFill>
                <a:latin typeface="Huawei Sans" panose="020C0503030203020204" pitchFamily="34" charset="0"/>
                <a:ea typeface="方正兰亭黑简体" panose="02000000000000000000" pitchFamily="2" charset="-122"/>
              </a:endParaRPr>
            </a:p>
            <a:p>
              <a:pPr algn="ctr"/>
              <a:r>
                <a:rPr lang="en-US" altLang="zh-CN" sz="1600" b="1" dirty="0">
                  <a:solidFill>
                    <a:schemeClr val="bg1">
                      <a:lumMod val="65000"/>
                    </a:schemeClr>
                  </a:solidFill>
                  <a:latin typeface="Huawei Sans" panose="020C0503030203020204" pitchFamily="34" charset="0"/>
                  <a:ea typeface="方正兰亭黑简体" panose="02000000000000000000" pitchFamily="2" charset="-122"/>
                </a:rPr>
                <a:t>……</a:t>
              </a:r>
              <a:endParaRPr lang="zh-CN" altLang="en-US" sz="1600" b="1" dirty="0">
                <a:solidFill>
                  <a:schemeClr val="bg1">
                    <a:lumMod val="65000"/>
                  </a:schemeClr>
                </a:solidFill>
                <a:latin typeface="Huawei Sans" panose="020C0503030203020204" pitchFamily="34" charset="0"/>
                <a:ea typeface="方正兰亭黑简体" panose="02000000000000000000" pitchFamily="2" charset="-122"/>
              </a:endParaRPr>
            </a:p>
          </p:txBody>
        </p:sp>
      </p:grpSp>
      <p:sp>
        <p:nvSpPr>
          <p:cNvPr id="39" name="椭圆 38"/>
          <p:cNvSpPr/>
          <p:nvPr/>
        </p:nvSpPr>
        <p:spPr bwMode="gray">
          <a:xfrm>
            <a:off x="7585422" y="3358692"/>
            <a:ext cx="324036" cy="360040"/>
          </a:xfrm>
          <a:prstGeom prst="ellipse">
            <a:avLst/>
          </a:prstGeom>
          <a:solidFill>
            <a:schemeClr val="bg1">
              <a:lumMod val="5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8305502" y="2701639"/>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1" name="圆角矩形 40"/>
          <p:cNvSpPr/>
          <p:nvPr/>
        </p:nvSpPr>
        <p:spPr bwMode="gray">
          <a:xfrm>
            <a:off x="8305502" y="3071354"/>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2" name="圆角矩形 41"/>
          <p:cNvSpPr/>
          <p:nvPr/>
        </p:nvSpPr>
        <p:spPr bwMode="gray">
          <a:xfrm>
            <a:off x="8305502" y="3493727"/>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3" name="圆角矩形 42"/>
          <p:cNvSpPr/>
          <p:nvPr/>
        </p:nvSpPr>
        <p:spPr bwMode="gray">
          <a:xfrm>
            <a:off x="8305502" y="4187479"/>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8415982" y="3755430"/>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cxnSp>
        <p:nvCxnSpPr>
          <p:cNvPr id="46" name="直接箭头连接符 45"/>
          <p:cNvCxnSpPr>
            <a:stCxn id="39" idx="0"/>
            <a:endCxn id="40" idx="1"/>
          </p:cNvCxnSpPr>
          <p:nvPr/>
        </p:nvCxnSpPr>
        <p:spPr bwMode="gray">
          <a:xfrm flipV="1">
            <a:off x="7747440" y="2845639"/>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9" name="直接箭头连接符 48"/>
          <p:cNvCxnSpPr>
            <a:stCxn id="39" idx="7"/>
            <a:endCxn id="41" idx="1"/>
          </p:cNvCxnSpPr>
          <p:nvPr/>
        </p:nvCxnSpPr>
        <p:spPr bwMode="gray">
          <a:xfrm flipV="1">
            <a:off x="7862004" y="3215354"/>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2" name="直接箭头连接符 51"/>
          <p:cNvCxnSpPr>
            <a:stCxn id="39" idx="6"/>
            <a:endCxn id="42" idx="1"/>
          </p:cNvCxnSpPr>
          <p:nvPr/>
        </p:nvCxnSpPr>
        <p:spPr bwMode="gray">
          <a:xfrm>
            <a:off x="7909458" y="3538712"/>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5" name="直接箭头连接符 54"/>
          <p:cNvCxnSpPr>
            <a:stCxn id="39" idx="5"/>
          </p:cNvCxnSpPr>
          <p:nvPr/>
        </p:nvCxnSpPr>
        <p:spPr bwMode="gray">
          <a:xfrm>
            <a:off x="7862004" y="3666005"/>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a:stCxn id="39" idx="4"/>
            <a:endCxn id="43" idx="1"/>
          </p:cNvCxnSpPr>
          <p:nvPr/>
        </p:nvCxnSpPr>
        <p:spPr bwMode="gray">
          <a:xfrm>
            <a:off x="7747440" y="3718732"/>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2" name="右箭头标注 71"/>
          <p:cNvSpPr/>
          <p:nvPr/>
        </p:nvSpPr>
        <p:spPr bwMode="gray">
          <a:xfrm>
            <a:off x="10115757" y="3171401"/>
            <a:ext cx="792088" cy="734621"/>
          </a:xfrm>
          <a:prstGeom prst="rightArrowCallout">
            <a:avLst>
              <a:gd name="adj1" fmla="val 23271"/>
              <a:gd name="adj2" fmla="val 25000"/>
              <a:gd name="adj3" fmla="val 25000"/>
              <a:gd name="adj4" fmla="val 7169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GTS</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75" name="右箭头标注 74"/>
          <p:cNvSpPr/>
          <p:nvPr/>
        </p:nvSpPr>
        <p:spPr bwMode="gray">
          <a:xfrm>
            <a:off x="6564052" y="3171401"/>
            <a:ext cx="1044116" cy="734621"/>
          </a:xfrm>
          <a:prstGeom prst="rightArrowCallout">
            <a:avLst>
              <a:gd name="adj1" fmla="val 23271"/>
              <a:gd name="adj2" fmla="val 26086"/>
              <a:gd name="adj3" fmla="val 29989"/>
              <a:gd name="adj4" fmla="val 71276"/>
            </a:avLst>
          </a:prstGeom>
          <a:noFill/>
          <a:ln w="9525"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altLang="zh-CN" sz="1400" b="1" dirty="0">
                <a:solidFill>
                  <a:schemeClr val="bg1">
                    <a:lumMod val="65000"/>
                  </a:schemeClr>
                </a:solidFill>
                <a:latin typeface="Huawei Sans" panose="020C0503030203020204" pitchFamily="34" charset="0"/>
                <a:ea typeface="方正兰亭黑简体" panose="02000000000000000000" pitchFamily="2" charset="-122"/>
              </a:rPr>
              <a:t>WRED</a:t>
            </a:r>
            <a:endParaRPr lang="zh-CN" altLang="en-US" sz="1400" b="1" dirty="0">
              <a:solidFill>
                <a:schemeClr val="bg1">
                  <a:lumMod val="65000"/>
                </a:schemeClr>
              </a:solidFill>
              <a:latin typeface="Huawei Sans" panose="020C0503030203020204" pitchFamily="34" charset="0"/>
              <a:ea typeface="方正兰亭黑简体" panose="02000000000000000000" pitchFamily="2" charset="-122"/>
            </a:endParaRPr>
          </a:p>
        </p:txBody>
      </p:sp>
      <p:sp>
        <p:nvSpPr>
          <p:cNvPr id="77" name="文本框 76"/>
          <p:cNvSpPr txBox="1"/>
          <p:nvPr/>
        </p:nvSpPr>
        <p:spPr bwMode="gray">
          <a:xfrm rot="19047356">
            <a:off x="7492442" y="286817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入队列</a:t>
            </a:r>
          </a:p>
        </p:txBody>
      </p:sp>
      <p:grpSp>
        <p:nvGrpSpPr>
          <p:cNvPr id="89" name="组合 88"/>
          <p:cNvGrpSpPr/>
          <p:nvPr/>
        </p:nvGrpSpPr>
        <p:grpSpPr bwMode="gray">
          <a:xfrm>
            <a:off x="9277610" y="2675310"/>
            <a:ext cx="540060" cy="1800200"/>
            <a:chOff x="9804412" y="2852936"/>
            <a:chExt cx="540060" cy="1800200"/>
          </a:xfrm>
        </p:grpSpPr>
        <p:grpSp>
          <p:nvGrpSpPr>
            <p:cNvPr id="78" name="组合 77"/>
            <p:cNvGrpSpPr/>
            <p:nvPr/>
          </p:nvGrpSpPr>
          <p:grpSpPr bwMode="gray">
            <a:xfrm>
              <a:off x="9804412" y="2852936"/>
              <a:ext cx="540060" cy="1800200"/>
              <a:chOff x="7032104" y="2852936"/>
              <a:chExt cx="540060" cy="1800200"/>
            </a:xfrm>
          </p:grpSpPr>
          <p:sp>
            <p:nvSpPr>
              <p:cNvPr id="79" name="圆角矩形 78"/>
              <p:cNvSpPr/>
              <p:nvPr/>
            </p:nvSpPr>
            <p:spPr bwMode="gray">
              <a:xfrm>
                <a:off x="7032104" y="2852936"/>
                <a:ext cx="540060" cy="1800200"/>
              </a:xfrm>
              <a:prstGeom prst="roundRect">
                <a:avLst/>
              </a:prstGeom>
              <a:solidFill>
                <a:srgbClr val="99DFF9"/>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0" name="文本框 79"/>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82" name="任意多边形 8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84" name="直接箭头连接符 83"/>
          <p:cNvCxnSpPr/>
          <p:nvPr/>
        </p:nvCxnSpPr>
        <p:spPr bwMode="gray">
          <a:xfrm>
            <a:off x="9025582" y="285533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6" name="直接箭头连接符 85"/>
          <p:cNvCxnSpPr/>
          <p:nvPr/>
        </p:nvCxnSpPr>
        <p:spPr bwMode="gray">
          <a:xfrm>
            <a:off x="9025582" y="321537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直接箭头连接符 86"/>
          <p:cNvCxnSpPr/>
          <p:nvPr/>
        </p:nvCxnSpPr>
        <p:spPr bwMode="gray">
          <a:xfrm>
            <a:off x="9025582" y="364741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直接箭头连接符 87"/>
          <p:cNvCxnSpPr/>
          <p:nvPr/>
        </p:nvCxnSpPr>
        <p:spPr bwMode="gray">
          <a:xfrm>
            <a:off x="9025582" y="433149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03" name="组合 102"/>
          <p:cNvGrpSpPr/>
          <p:nvPr/>
        </p:nvGrpSpPr>
        <p:grpSpPr bwMode="gray">
          <a:xfrm>
            <a:off x="11100556" y="2315270"/>
            <a:ext cx="432048" cy="2628292"/>
            <a:chOff x="1006178" y="2492896"/>
            <a:chExt cx="432048" cy="2628292"/>
          </a:xfrm>
          <a:solidFill>
            <a:schemeClr val="bg1">
              <a:lumMod val="95000"/>
            </a:schemeClr>
          </a:solidFill>
        </p:grpSpPr>
        <p:sp>
          <p:nvSpPr>
            <p:cNvPr id="106" name="圆角矩形 105"/>
            <p:cNvSpPr/>
            <p:nvPr/>
          </p:nvSpPr>
          <p:spPr bwMode="gray">
            <a:xfrm>
              <a:off x="1006178" y="2492896"/>
              <a:ext cx="432048" cy="262829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05"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出</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接</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a:p>
              <a:r>
                <a:rPr lang="zh-CN" altLang="en-US" b="1" dirty="0">
                  <a:solidFill>
                    <a:schemeClr val="bg1">
                      <a:lumMod val="65000"/>
                    </a:schemeClr>
                  </a:solidFill>
                  <a:latin typeface="Huawei Sans" panose="020C0503030203020204" pitchFamily="34" charset="0"/>
                  <a:ea typeface="方正兰亭黑简体" panose="02000000000000000000" pitchFamily="2" charset="-122"/>
                </a:rPr>
                <a:t>口</a:t>
              </a:r>
              <a:endParaRPr lang="en-US" altLang="zh-CN" b="1" dirty="0">
                <a:solidFill>
                  <a:schemeClr val="bg1">
                    <a:lumMod val="65000"/>
                  </a:schemeClr>
                </a:solidFill>
                <a:latin typeface="Huawei Sans" panose="020C0503030203020204" pitchFamily="34" charset="0"/>
                <a:ea typeface="方正兰亭黑简体" panose="02000000000000000000" pitchFamily="2" charset="-122"/>
              </a:endParaRPr>
            </a:p>
          </p:txBody>
        </p:sp>
      </p:grpSp>
      <p:cxnSp>
        <p:nvCxnSpPr>
          <p:cNvPr id="113" name="直接箭头连接符 112"/>
          <p:cNvCxnSpPr/>
          <p:nvPr/>
        </p:nvCxnSpPr>
        <p:spPr bwMode="gray">
          <a:xfrm>
            <a:off x="9817670" y="2891335"/>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a:off x="9817670" y="3251374"/>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9" name="直接箭头连接符 118"/>
          <p:cNvCxnSpPr>
            <a:endCxn id="72" idx="1"/>
          </p:cNvCxnSpPr>
          <p:nvPr/>
        </p:nvCxnSpPr>
        <p:spPr bwMode="gray">
          <a:xfrm flipV="1">
            <a:off x="9817670" y="3538712"/>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2" name="直接箭头连接符 121"/>
          <p:cNvCxnSpPr/>
          <p:nvPr/>
        </p:nvCxnSpPr>
        <p:spPr bwMode="gray">
          <a:xfrm flipV="1">
            <a:off x="9817670" y="3791434"/>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4" name="文本框 123"/>
          <p:cNvSpPr txBox="1"/>
          <p:nvPr/>
        </p:nvSpPr>
        <p:spPr bwMode="gray">
          <a:xfrm rot="3100077">
            <a:off x="9751733" y="2744303"/>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出队列</a:t>
            </a:r>
          </a:p>
        </p:txBody>
      </p:sp>
      <p:grpSp>
        <p:nvGrpSpPr>
          <p:cNvPr id="100" name="组合 99"/>
          <p:cNvGrpSpPr/>
          <p:nvPr/>
        </p:nvGrpSpPr>
        <p:grpSpPr bwMode="gray">
          <a:xfrm>
            <a:off x="866695" y="2125208"/>
            <a:ext cx="1256938" cy="2880320"/>
            <a:chOff x="1006178" y="2014802"/>
            <a:chExt cx="1345406" cy="3403072"/>
          </a:xfrm>
        </p:grpSpPr>
        <p:grpSp>
          <p:nvGrpSpPr>
            <p:cNvPr id="101" name="组合 100"/>
            <p:cNvGrpSpPr/>
            <p:nvPr/>
          </p:nvGrpSpPr>
          <p:grpSpPr bwMode="gray">
            <a:xfrm>
              <a:off x="1006178" y="2014802"/>
              <a:ext cx="1345406" cy="3403072"/>
              <a:chOff x="1438226" y="1592796"/>
              <a:chExt cx="1345406" cy="3403072"/>
            </a:xfrm>
          </p:grpSpPr>
          <p:sp>
            <p:nvSpPr>
              <p:cNvPr id="107" name="圆角矩形 106"/>
              <p:cNvSpPr/>
              <p:nvPr/>
            </p:nvSpPr>
            <p:spPr bwMode="gray">
              <a:xfrm>
                <a:off x="1438226" y="1592796"/>
                <a:ext cx="1345406" cy="3403072"/>
              </a:xfrm>
              <a:prstGeom prst="roundRect">
                <a:avLst/>
              </a:prstGeom>
              <a:grpFill/>
              <a:ln w="9525" cap="flat" cmpd="sng" algn="ctr">
                <a:solidFill>
                  <a:schemeClr val="bg1">
                    <a:lumMod val="6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08"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75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09" name="图片 108" descr="可视电话硬终端.png"/>
              <p:cNvPicPr>
                <a:picLocks noChangeAspect="1"/>
              </p:cNvPicPr>
              <p:nvPr/>
            </p:nvPicPr>
            <p:blipFill>
              <a:blip r:embed="rId3" cstate="print">
                <a:duotone>
                  <a:schemeClr val="bg2">
                    <a:shade val="45000"/>
                    <a:satMod val="135000"/>
                  </a:schemeClr>
                  <a:prstClr val="white"/>
                </a:duotone>
              </a:blip>
              <a:stretch>
                <a:fillRect/>
              </a:stretch>
            </p:blipFill>
            <p:spPr bwMode="gray">
              <a:xfrm>
                <a:off x="1908939" y="2980317"/>
                <a:ext cx="609949" cy="540000"/>
              </a:xfrm>
              <a:prstGeom prst="rect">
                <a:avLst/>
              </a:prstGeom>
            </p:spPr>
          </p:pic>
          <p:pic>
            <p:nvPicPr>
              <p:cNvPr id="110" name="图片 109" descr="管理型无线虚链路-蓝.png"/>
              <p:cNvPicPr>
                <a:picLocks noChangeAspect="1"/>
              </p:cNvPicPr>
              <p:nvPr/>
            </p:nvPicPr>
            <p:blipFill>
              <a:blip r:embed="rId4" cstate="print">
                <a:duotone>
                  <a:schemeClr val="bg2">
                    <a:shade val="45000"/>
                    <a:satMod val="135000"/>
                  </a:schemeClr>
                  <a:prstClr val="white"/>
                </a:duotone>
              </a:blip>
              <a:stretch>
                <a:fillRect/>
              </a:stretch>
            </p:blipFill>
            <p:spPr bwMode="gray">
              <a:xfrm>
                <a:off x="1922620" y="1772816"/>
                <a:ext cx="582586" cy="540000"/>
              </a:xfrm>
              <a:prstGeom prst="rect">
                <a:avLst/>
              </a:prstGeom>
            </p:spPr>
          </p:pic>
          <p:sp>
            <p:nvSpPr>
              <p:cNvPr id="111" name="文本框 110"/>
              <p:cNvSpPr txBox="1"/>
              <p:nvPr/>
            </p:nvSpPr>
            <p:spPr bwMode="gray">
              <a:xfrm>
                <a:off x="1954292" y="2283040"/>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视频</a:t>
                </a:r>
              </a:p>
            </p:txBody>
          </p:sp>
          <p:sp>
            <p:nvSpPr>
              <p:cNvPr id="112" name="文本框 111"/>
              <p:cNvSpPr txBox="1"/>
              <p:nvPr/>
            </p:nvSpPr>
            <p:spPr bwMode="gray">
              <a:xfrm>
                <a:off x="1954293" y="3506983"/>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语音</a:t>
                </a:r>
              </a:p>
            </p:txBody>
          </p:sp>
          <p:sp>
            <p:nvSpPr>
              <p:cNvPr id="114" name="文本框 113"/>
              <p:cNvSpPr txBox="1"/>
              <p:nvPr/>
            </p:nvSpPr>
            <p:spPr bwMode="gray">
              <a:xfrm>
                <a:off x="1954293" y="4623106"/>
                <a:ext cx="519239" cy="32293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rPr>
                  <a:t>数据</a:t>
                </a:r>
              </a:p>
            </p:txBody>
          </p:sp>
        </p:grpSp>
        <p:sp>
          <p:nvSpPr>
            <p:cNvPr id="104"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接</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rPr>
                <a:t>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endParaRPr>
            </a:p>
          </p:txBody>
        </p:sp>
      </p:grpSp>
      <p:sp>
        <p:nvSpPr>
          <p:cNvPr id="69" name="流程图: 磁盘 68"/>
          <p:cNvSpPr/>
          <p:nvPr/>
        </p:nvSpPr>
        <p:spPr bwMode="gray">
          <a:xfrm>
            <a:off x="3115118" y="3133320"/>
            <a:ext cx="498244" cy="828092"/>
          </a:xfrm>
          <a:prstGeom prst="flowChartMagneticDisk">
            <a:avLst/>
          </a:prstGeom>
          <a:no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cxnSp>
        <p:nvCxnSpPr>
          <p:cNvPr id="70" name="直接箭头连接符 69"/>
          <p:cNvCxnSpPr/>
          <p:nvPr/>
        </p:nvCxnSpPr>
        <p:spPr bwMode="gray">
          <a:xfrm>
            <a:off x="3364240" y="2936072"/>
            <a:ext cx="0" cy="720000"/>
          </a:xfrm>
          <a:prstGeom prst="straightConnector1">
            <a:avLst/>
          </a:prstGeom>
          <a:solidFill>
            <a:schemeClr val="accent1"/>
          </a:solidFill>
          <a:ln w="38100" cap="flat" cmpd="sng" algn="ctr">
            <a:solidFill>
              <a:schemeClr val="bg1">
                <a:lumMod val="50000"/>
              </a:schemeClr>
            </a:solidFill>
            <a:prstDash val="solid"/>
            <a:round/>
            <a:headEnd type="none" w="med" len="med"/>
            <a:tailEnd type="triangle"/>
          </a:ln>
          <a:effectLst/>
        </p:spPr>
      </p:cxnSp>
      <p:sp>
        <p:nvSpPr>
          <p:cNvPr id="71" name="矩形 70"/>
          <p:cNvSpPr/>
          <p:nvPr/>
        </p:nvSpPr>
        <p:spPr bwMode="gray">
          <a:xfrm>
            <a:off x="3256228" y="2719968"/>
            <a:ext cx="216024" cy="144016"/>
          </a:xfrm>
          <a:prstGeom prst="rect">
            <a:avLst/>
          </a:prstGeom>
          <a:solidFill>
            <a:schemeClr val="bg1">
              <a:lumMod val="7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3" name="矩形 72"/>
          <p:cNvSpPr/>
          <p:nvPr/>
        </p:nvSpPr>
        <p:spPr bwMode="gray">
          <a:xfrm>
            <a:off x="3256228" y="2503944"/>
            <a:ext cx="216024" cy="144016"/>
          </a:xfrm>
          <a:prstGeom prst="rect">
            <a:avLst/>
          </a:prstGeom>
          <a:solidFill>
            <a:schemeClr val="bg1">
              <a:lumMod val="7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50000"/>
                </a:schemeClr>
              </a:solidFill>
              <a:latin typeface="Huawei Sans" panose="020C0503030203020204" pitchFamily="34" charset="0"/>
              <a:ea typeface="方正兰亭黑简体" panose="02000000000000000000" pitchFamily="2" charset="-122"/>
            </a:endParaRPr>
          </a:p>
        </p:txBody>
      </p:sp>
      <p:sp>
        <p:nvSpPr>
          <p:cNvPr id="74" name="文本框 73"/>
          <p:cNvSpPr txBox="1"/>
          <p:nvPr/>
        </p:nvSpPr>
        <p:spPr bwMode="gray">
          <a:xfrm>
            <a:off x="3096044" y="2199841"/>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rPr>
              <a:t>令牌</a:t>
            </a:r>
          </a:p>
        </p:txBody>
      </p:sp>
      <p:sp>
        <p:nvSpPr>
          <p:cNvPr id="76" name="文本框 75"/>
          <p:cNvSpPr txBox="1"/>
          <p:nvPr/>
        </p:nvSpPr>
        <p:spPr bwMode="gray">
          <a:xfrm>
            <a:off x="3044748" y="3644654"/>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solidFill>
                  <a:schemeClr val="bg1">
                    <a:lumMod val="50000"/>
                  </a:schemeClr>
                </a:solidFill>
                <a:latin typeface="Huawei Sans" panose="020C0503030203020204" pitchFamily="34" charset="0"/>
                <a:ea typeface="方正兰亭黑简体" panose="02000000000000000000" pitchFamily="2" charset="-122"/>
              </a:rPr>
              <a:t>令牌桶</a:t>
            </a:r>
          </a:p>
        </p:txBody>
      </p:sp>
      <p:sp>
        <p:nvSpPr>
          <p:cNvPr id="62" name="文本框 61"/>
          <p:cNvSpPr txBox="1"/>
          <p:nvPr/>
        </p:nvSpPr>
        <p:spPr bwMode="gray">
          <a:xfrm>
            <a:off x="8616280" y="453747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拥塞管理</a:t>
            </a:r>
          </a:p>
        </p:txBody>
      </p:sp>
    </p:spTree>
    <p:extLst>
      <p:ext uri="{BB962C8B-B14F-4D97-AF65-F5344CB8AC3E}">
        <p14:creationId xmlns:p14="http://schemas.microsoft.com/office/powerpoint/2010/main" val="9504453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拥塞管理技术</a:t>
            </a:r>
          </a:p>
        </p:txBody>
      </p:sp>
      <p:sp>
        <p:nvSpPr>
          <p:cNvPr id="3" name="文本占位符 2"/>
          <p:cNvSpPr>
            <a:spLocks noGrp="1"/>
          </p:cNvSpPr>
          <p:nvPr>
            <p:ph type="body" sz="quarter" idx="10"/>
          </p:nvPr>
        </p:nvSpPr>
        <p:spPr bwMode="gray"/>
        <p:txBody>
          <a:bodyPr/>
          <a:lstStyle/>
          <a:p>
            <a:r>
              <a:rPr lang="zh-CN" altLang="en-US" dirty="0"/>
              <a:t>拥塞管理是指网络在发生拥塞时，针对不同类型的业务流量，如何进行管理和控制。</a:t>
            </a:r>
            <a:endParaRPr lang="en-US" altLang="zh-CN" dirty="0"/>
          </a:p>
          <a:p>
            <a:r>
              <a:rPr lang="zh-CN" altLang="en-US" dirty="0"/>
              <a:t>处理的方法是：使用</a:t>
            </a:r>
            <a:r>
              <a:rPr lang="zh-CN" altLang="en-US" dirty="0">
                <a:solidFill>
                  <a:srgbClr val="C7000B"/>
                </a:solidFill>
              </a:rPr>
              <a:t>队列技术</a:t>
            </a:r>
            <a:r>
              <a:rPr lang="zh-CN" altLang="en-US" dirty="0"/>
              <a:t>。</a:t>
            </a:r>
          </a:p>
        </p:txBody>
      </p:sp>
      <p:grpSp>
        <p:nvGrpSpPr>
          <p:cNvPr id="7" name="组合 6"/>
          <p:cNvGrpSpPr/>
          <p:nvPr/>
        </p:nvGrpSpPr>
        <p:grpSpPr bwMode="gray">
          <a:xfrm>
            <a:off x="1919536" y="2816932"/>
            <a:ext cx="2223643" cy="2117140"/>
            <a:chOff x="1889135" y="2456892"/>
            <a:chExt cx="2223643" cy="2117140"/>
          </a:xfrm>
        </p:grpSpPr>
        <p:grpSp>
          <p:nvGrpSpPr>
            <p:cNvPr id="77" name="组合 76"/>
            <p:cNvGrpSpPr/>
            <p:nvPr/>
          </p:nvGrpSpPr>
          <p:grpSpPr bwMode="gray">
            <a:xfrm>
              <a:off x="2156532" y="2636912"/>
              <a:ext cx="1956246" cy="1937120"/>
              <a:chOff x="2963652" y="2428679"/>
              <a:chExt cx="1956246" cy="1937120"/>
            </a:xfrm>
          </p:grpSpPr>
          <p:sp>
            <p:nvSpPr>
              <p:cNvPr id="89" name="圆角矩形 88"/>
              <p:cNvSpPr/>
              <p:nvPr/>
            </p:nvSpPr>
            <p:spPr bwMode="gray">
              <a:xfrm>
                <a:off x="2963652" y="2591927"/>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0" name="圆角矩形 89"/>
              <p:cNvSpPr/>
              <p:nvPr/>
            </p:nvSpPr>
            <p:spPr bwMode="gray">
              <a:xfrm>
                <a:off x="2963652" y="2961642"/>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1" name="圆角矩形 90"/>
              <p:cNvSpPr/>
              <p:nvPr/>
            </p:nvSpPr>
            <p:spPr bwMode="gray">
              <a:xfrm>
                <a:off x="2963652" y="3384015"/>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2" name="圆角矩形 91"/>
              <p:cNvSpPr/>
              <p:nvPr/>
            </p:nvSpPr>
            <p:spPr bwMode="gray">
              <a:xfrm>
                <a:off x="2963652" y="4077767"/>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3" name="文本框 92"/>
              <p:cNvSpPr txBox="1"/>
              <p:nvPr/>
            </p:nvSpPr>
            <p:spPr bwMode="gray">
              <a:xfrm>
                <a:off x="3074132" y="3645718"/>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grpSp>
            <p:nvGrpSpPr>
              <p:cNvPr id="110" name="组合 109"/>
              <p:cNvGrpSpPr/>
              <p:nvPr/>
            </p:nvGrpSpPr>
            <p:grpSpPr bwMode="gray">
              <a:xfrm>
                <a:off x="3935760" y="2565598"/>
                <a:ext cx="540060" cy="1800200"/>
                <a:chOff x="9804412" y="2852936"/>
                <a:chExt cx="540060" cy="1800200"/>
              </a:xfrm>
            </p:grpSpPr>
            <p:grpSp>
              <p:nvGrpSpPr>
                <p:cNvPr id="126" name="组合 125"/>
                <p:cNvGrpSpPr/>
                <p:nvPr/>
              </p:nvGrpSpPr>
              <p:grpSpPr bwMode="gray">
                <a:xfrm>
                  <a:off x="9804412" y="2852936"/>
                  <a:ext cx="540060" cy="1800200"/>
                  <a:chOff x="7032104" y="2852936"/>
                  <a:chExt cx="540060" cy="1800200"/>
                </a:xfrm>
              </p:grpSpPr>
              <p:sp>
                <p:nvSpPr>
                  <p:cNvPr id="138" name="圆角矩形 137"/>
                  <p:cNvSpPr/>
                  <p:nvPr/>
                </p:nvSpPr>
                <p:spPr bwMode="gray">
                  <a:xfrm>
                    <a:off x="7032104" y="2852936"/>
                    <a:ext cx="540060" cy="1800200"/>
                  </a:xfrm>
                  <a:prstGeom prst="roundRect">
                    <a:avLst/>
                  </a:prstGeom>
                  <a:solidFill>
                    <a:srgbClr val="F4FBFE"/>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139" name="文本框 138"/>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127" name="任意多边形 126"/>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cxnSp>
            <p:nvCxnSpPr>
              <p:cNvPr id="111" name="直接箭头连接符 110"/>
              <p:cNvCxnSpPr/>
              <p:nvPr/>
            </p:nvCxnSpPr>
            <p:spPr bwMode="gray">
              <a:xfrm>
                <a:off x="3683732" y="274561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2" name="直接箭头连接符 111"/>
              <p:cNvCxnSpPr/>
              <p:nvPr/>
            </p:nvCxnSpPr>
            <p:spPr bwMode="gray">
              <a:xfrm>
                <a:off x="3683732" y="3105658"/>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3" name="直接箭头连接符 112"/>
              <p:cNvCxnSpPr/>
              <p:nvPr/>
            </p:nvCxnSpPr>
            <p:spPr bwMode="gray">
              <a:xfrm>
                <a:off x="3683732" y="353770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4" name="直接箭头连接符 113"/>
              <p:cNvCxnSpPr/>
              <p:nvPr/>
            </p:nvCxnSpPr>
            <p:spPr bwMode="gray">
              <a:xfrm>
                <a:off x="3683732" y="422178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直接箭头连接符 114"/>
              <p:cNvCxnSpPr/>
              <p:nvPr/>
            </p:nvCxnSpPr>
            <p:spPr bwMode="gray">
              <a:xfrm>
                <a:off x="4475820" y="2781623"/>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6" name="直接箭头连接符 115"/>
              <p:cNvCxnSpPr/>
              <p:nvPr/>
            </p:nvCxnSpPr>
            <p:spPr bwMode="gray">
              <a:xfrm>
                <a:off x="4475820" y="3141662"/>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7" name="直接箭头连接符 116"/>
              <p:cNvCxnSpPr/>
              <p:nvPr/>
            </p:nvCxnSpPr>
            <p:spPr bwMode="gray">
              <a:xfrm flipV="1">
                <a:off x="4475820" y="3429000"/>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8" name="直接箭头连接符 117"/>
              <p:cNvCxnSpPr/>
              <p:nvPr/>
            </p:nvCxnSpPr>
            <p:spPr bwMode="gray">
              <a:xfrm flipV="1">
                <a:off x="4475820" y="3681722"/>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5" name="文本框 124"/>
              <p:cNvSpPr txBox="1"/>
              <p:nvPr/>
            </p:nvSpPr>
            <p:spPr bwMode="gray">
              <a:xfrm rot="3100077">
                <a:off x="4409883" y="2634591"/>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出队列</a:t>
                </a:r>
              </a:p>
            </p:txBody>
          </p:sp>
        </p:grpSp>
        <p:sp>
          <p:nvSpPr>
            <p:cNvPr id="140" name="文本框 139"/>
            <p:cNvSpPr txBox="1"/>
            <p:nvPr/>
          </p:nvSpPr>
          <p:spPr bwMode="gray">
            <a:xfrm>
              <a:off x="1889135" y="2456892"/>
              <a:ext cx="125453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数据发送队列</a:t>
              </a:r>
            </a:p>
          </p:txBody>
        </p:sp>
      </p:grpSp>
      <p:sp>
        <p:nvSpPr>
          <p:cNvPr id="153" name="左箭头标注 152"/>
          <p:cNvSpPr/>
          <p:nvPr/>
        </p:nvSpPr>
        <p:spPr bwMode="gray">
          <a:xfrm>
            <a:off x="4007768" y="2888940"/>
            <a:ext cx="1431528" cy="432048"/>
          </a:xfrm>
          <a:custGeom>
            <a:avLst/>
            <a:gdLst>
              <a:gd name="connsiteX0" fmla="*/ 0 w 1224136"/>
              <a:gd name="connsiteY0" fmla="*/ 270030 h 540060"/>
              <a:gd name="connsiteX1" fmla="*/ 135015 w 1224136"/>
              <a:gd name="connsiteY1" fmla="*/ 135015 h 540060"/>
              <a:gd name="connsiteX2" fmla="*/ 135015 w 1224136"/>
              <a:gd name="connsiteY2" fmla="*/ 202523 h 540060"/>
              <a:gd name="connsiteX3" fmla="*/ 263630 w 1224136"/>
              <a:gd name="connsiteY3" fmla="*/ 202523 h 540060"/>
              <a:gd name="connsiteX4" fmla="*/ 263630 w 1224136"/>
              <a:gd name="connsiteY4" fmla="*/ 0 h 540060"/>
              <a:gd name="connsiteX5" fmla="*/ 1224136 w 1224136"/>
              <a:gd name="connsiteY5" fmla="*/ 0 h 540060"/>
              <a:gd name="connsiteX6" fmla="*/ 1224136 w 1224136"/>
              <a:gd name="connsiteY6" fmla="*/ 540060 h 540060"/>
              <a:gd name="connsiteX7" fmla="*/ 263630 w 1224136"/>
              <a:gd name="connsiteY7" fmla="*/ 540060 h 540060"/>
              <a:gd name="connsiteX8" fmla="*/ 263630 w 1224136"/>
              <a:gd name="connsiteY8" fmla="*/ 337538 h 540060"/>
              <a:gd name="connsiteX9" fmla="*/ 135015 w 1224136"/>
              <a:gd name="connsiteY9" fmla="*/ 337538 h 540060"/>
              <a:gd name="connsiteX10" fmla="*/ 135015 w 1224136"/>
              <a:gd name="connsiteY10" fmla="*/ 405045 h 540060"/>
              <a:gd name="connsiteX11" fmla="*/ 0 w 1224136"/>
              <a:gd name="connsiteY11" fmla="*/ 270030 h 540060"/>
              <a:gd name="connsiteX0" fmla="*/ 0 w 1503536"/>
              <a:gd name="connsiteY0" fmla="*/ 397030 h 540060"/>
              <a:gd name="connsiteX1" fmla="*/ 414415 w 1503536"/>
              <a:gd name="connsiteY1" fmla="*/ 135015 h 540060"/>
              <a:gd name="connsiteX2" fmla="*/ 414415 w 1503536"/>
              <a:gd name="connsiteY2" fmla="*/ 202523 h 540060"/>
              <a:gd name="connsiteX3" fmla="*/ 543030 w 1503536"/>
              <a:gd name="connsiteY3" fmla="*/ 202523 h 540060"/>
              <a:gd name="connsiteX4" fmla="*/ 543030 w 1503536"/>
              <a:gd name="connsiteY4" fmla="*/ 0 h 540060"/>
              <a:gd name="connsiteX5" fmla="*/ 1503536 w 1503536"/>
              <a:gd name="connsiteY5" fmla="*/ 0 h 540060"/>
              <a:gd name="connsiteX6" fmla="*/ 1503536 w 1503536"/>
              <a:gd name="connsiteY6" fmla="*/ 540060 h 540060"/>
              <a:gd name="connsiteX7" fmla="*/ 543030 w 1503536"/>
              <a:gd name="connsiteY7" fmla="*/ 540060 h 540060"/>
              <a:gd name="connsiteX8" fmla="*/ 543030 w 1503536"/>
              <a:gd name="connsiteY8" fmla="*/ 337538 h 540060"/>
              <a:gd name="connsiteX9" fmla="*/ 414415 w 1503536"/>
              <a:gd name="connsiteY9" fmla="*/ 337538 h 540060"/>
              <a:gd name="connsiteX10" fmla="*/ 414415 w 1503536"/>
              <a:gd name="connsiteY10" fmla="*/ 405045 h 540060"/>
              <a:gd name="connsiteX11" fmla="*/ 0 w 1503536"/>
              <a:gd name="connsiteY11" fmla="*/ 397030 h 540060"/>
              <a:gd name="connsiteX0" fmla="*/ 0 w 1503536"/>
              <a:gd name="connsiteY0" fmla="*/ 397030 h 540060"/>
              <a:gd name="connsiteX1" fmla="*/ 135015 w 1503536"/>
              <a:gd name="connsiteY1" fmla="*/ 160415 h 540060"/>
              <a:gd name="connsiteX2" fmla="*/ 414415 w 1503536"/>
              <a:gd name="connsiteY2" fmla="*/ 202523 h 540060"/>
              <a:gd name="connsiteX3" fmla="*/ 543030 w 1503536"/>
              <a:gd name="connsiteY3" fmla="*/ 202523 h 540060"/>
              <a:gd name="connsiteX4" fmla="*/ 543030 w 1503536"/>
              <a:gd name="connsiteY4" fmla="*/ 0 h 540060"/>
              <a:gd name="connsiteX5" fmla="*/ 1503536 w 1503536"/>
              <a:gd name="connsiteY5" fmla="*/ 0 h 540060"/>
              <a:gd name="connsiteX6" fmla="*/ 1503536 w 1503536"/>
              <a:gd name="connsiteY6" fmla="*/ 540060 h 540060"/>
              <a:gd name="connsiteX7" fmla="*/ 543030 w 1503536"/>
              <a:gd name="connsiteY7" fmla="*/ 540060 h 540060"/>
              <a:gd name="connsiteX8" fmla="*/ 543030 w 1503536"/>
              <a:gd name="connsiteY8" fmla="*/ 337538 h 540060"/>
              <a:gd name="connsiteX9" fmla="*/ 414415 w 1503536"/>
              <a:gd name="connsiteY9" fmla="*/ 337538 h 540060"/>
              <a:gd name="connsiteX10" fmla="*/ 414415 w 1503536"/>
              <a:gd name="connsiteY10" fmla="*/ 405045 h 540060"/>
              <a:gd name="connsiteX11" fmla="*/ 0 w 1503536"/>
              <a:gd name="connsiteY11" fmla="*/ 397030 h 540060"/>
              <a:gd name="connsiteX0" fmla="*/ 0 w 1503536"/>
              <a:gd name="connsiteY0" fmla="*/ 397030 h 540060"/>
              <a:gd name="connsiteX1" fmla="*/ 135015 w 1503536"/>
              <a:gd name="connsiteY1" fmla="*/ 160415 h 540060"/>
              <a:gd name="connsiteX2" fmla="*/ 414415 w 1503536"/>
              <a:gd name="connsiteY2" fmla="*/ 202523 h 540060"/>
              <a:gd name="connsiteX3" fmla="*/ 543030 w 1503536"/>
              <a:gd name="connsiteY3" fmla="*/ 202523 h 540060"/>
              <a:gd name="connsiteX4" fmla="*/ 543030 w 1503536"/>
              <a:gd name="connsiteY4" fmla="*/ 0 h 540060"/>
              <a:gd name="connsiteX5" fmla="*/ 1503536 w 1503536"/>
              <a:gd name="connsiteY5" fmla="*/ 0 h 540060"/>
              <a:gd name="connsiteX6" fmla="*/ 1503536 w 1503536"/>
              <a:gd name="connsiteY6" fmla="*/ 540060 h 540060"/>
              <a:gd name="connsiteX7" fmla="*/ 543030 w 1503536"/>
              <a:gd name="connsiteY7" fmla="*/ 540060 h 540060"/>
              <a:gd name="connsiteX8" fmla="*/ 543030 w 1503536"/>
              <a:gd name="connsiteY8" fmla="*/ 337538 h 540060"/>
              <a:gd name="connsiteX9" fmla="*/ 414415 w 1503536"/>
              <a:gd name="connsiteY9" fmla="*/ 337538 h 540060"/>
              <a:gd name="connsiteX10" fmla="*/ 427115 w 1503536"/>
              <a:gd name="connsiteY10" fmla="*/ 519345 h 540060"/>
              <a:gd name="connsiteX11" fmla="*/ 0 w 1503536"/>
              <a:gd name="connsiteY11" fmla="*/ 397030 h 540060"/>
              <a:gd name="connsiteX0" fmla="*/ 0 w 1503536"/>
              <a:gd name="connsiteY0" fmla="*/ 397030 h 540060"/>
              <a:gd name="connsiteX1" fmla="*/ 135015 w 1503536"/>
              <a:gd name="connsiteY1" fmla="*/ 160415 h 540060"/>
              <a:gd name="connsiteX2" fmla="*/ 249315 w 1503536"/>
              <a:gd name="connsiteY2" fmla="*/ 291423 h 540060"/>
              <a:gd name="connsiteX3" fmla="*/ 543030 w 1503536"/>
              <a:gd name="connsiteY3" fmla="*/ 202523 h 540060"/>
              <a:gd name="connsiteX4" fmla="*/ 543030 w 1503536"/>
              <a:gd name="connsiteY4" fmla="*/ 0 h 540060"/>
              <a:gd name="connsiteX5" fmla="*/ 1503536 w 1503536"/>
              <a:gd name="connsiteY5" fmla="*/ 0 h 540060"/>
              <a:gd name="connsiteX6" fmla="*/ 1503536 w 1503536"/>
              <a:gd name="connsiteY6" fmla="*/ 540060 h 540060"/>
              <a:gd name="connsiteX7" fmla="*/ 543030 w 1503536"/>
              <a:gd name="connsiteY7" fmla="*/ 540060 h 540060"/>
              <a:gd name="connsiteX8" fmla="*/ 543030 w 1503536"/>
              <a:gd name="connsiteY8" fmla="*/ 337538 h 540060"/>
              <a:gd name="connsiteX9" fmla="*/ 414415 w 1503536"/>
              <a:gd name="connsiteY9" fmla="*/ 337538 h 540060"/>
              <a:gd name="connsiteX10" fmla="*/ 427115 w 1503536"/>
              <a:gd name="connsiteY10" fmla="*/ 519345 h 540060"/>
              <a:gd name="connsiteX11" fmla="*/ 0 w 1503536"/>
              <a:gd name="connsiteY11" fmla="*/ 397030 h 540060"/>
              <a:gd name="connsiteX0" fmla="*/ 0 w 1503536"/>
              <a:gd name="connsiteY0" fmla="*/ 397030 h 540060"/>
              <a:gd name="connsiteX1" fmla="*/ 135015 w 1503536"/>
              <a:gd name="connsiteY1" fmla="*/ 160415 h 540060"/>
              <a:gd name="connsiteX2" fmla="*/ 249315 w 1503536"/>
              <a:gd name="connsiteY2" fmla="*/ 291423 h 540060"/>
              <a:gd name="connsiteX3" fmla="*/ 543030 w 1503536"/>
              <a:gd name="connsiteY3" fmla="*/ 202523 h 540060"/>
              <a:gd name="connsiteX4" fmla="*/ 543030 w 1503536"/>
              <a:gd name="connsiteY4" fmla="*/ 0 h 540060"/>
              <a:gd name="connsiteX5" fmla="*/ 1503536 w 1503536"/>
              <a:gd name="connsiteY5" fmla="*/ 0 h 540060"/>
              <a:gd name="connsiteX6" fmla="*/ 1503536 w 1503536"/>
              <a:gd name="connsiteY6" fmla="*/ 540060 h 540060"/>
              <a:gd name="connsiteX7" fmla="*/ 543030 w 1503536"/>
              <a:gd name="connsiteY7" fmla="*/ 540060 h 540060"/>
              <a:gd name="connsiteX8" fmla="*/ 543030 w 1503536"/>
              <a:gd name="connsiteY8" fmla="*/ 337538 h 540060"/>
              <a:gd name="connsiteX9" fmla="*/ 287415 w 1503536"/>
              <a:gd name="connsiteY9" fmla="*/ 362938 h 540060"/>
              <a:gd name="connsiteX10" fmla="*/ 427115 w 1503536"/>
              <a:gd name="connsiteY10" fmla="*/ 519345 h 540060"/>
              <a:gd name="connsiteX11" fmla="*/ 0 w 1503536"/>
              <a:gd name="connsiteY11" fmla="*/ 397030 h 54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536" h="540060">
                <a:moveTo>
                  <a:pt x="0" y="397030"/>
                </a:moveTo>
                <a:lnTo>
                  <a:pt x="135015" y="160415"/>
                </a:lnTo>
                <a:lnTo>
                  <a:pt x="249315" y="291423"/>
                </a:lnTo>
                <a:lnTo>
                  <a:pt x="543030" y="202523"/>
                </a:lnTo>
                <a:lnTo>
                  <a:pt x="543030" y="0"/>
                </a:lnTo>
                <a:lnTo>
                  <a:pt x="1503536" y="0"/>
                </a:lnTo>
                <a:lnTo>
                  <a:pt x="1503536" y="540060"/>
                </a:lnTo>
                <a:lnTo>
                  <a:pt x="543030" y="540060"/>
                </a:lnTo>
                <a:lnTo>
                  <a:pt x="543030" y="337538"/>
                </a:lnTo>
                <a:lnTo>
                  <a:pt x="287415" y="362938"/>
                </a:lnTo>
                <a:lnTo>
                  <a:pt x="427115" y="519345"/>
                </a:lnTo>
                <a:lnTo>
                  <a:pt x="0" y="397030"/>
                </a:lnTo>
                <a:close/>
              </a:path>
            </a:pathLst>
          </a:cu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400" b="1" dirty="0">
                <a:solidFill>
                  <a:schemeClr val="bg1"/>
                </a:solidFill>
                <a:latin typeface="Huawei Sans" panose="020C0503030203020204" pitchFamily="34" charset="0"/>
                <a:ea typeface="方正兰亭黑简体" panose="02000000000000000000" pitchFamily="2" charset="-122"/>
              </a:rPr>
              <a:t>        拥塞管理</a:t>
            </a:r>
          </a:p>
        </p:txBody>
      </p:sp>
      <p:cxnSp>
        <p:nvCxnSpPr>
          <p:cNvPr id="38" name="肘形连接符 37"/>
          <p:cNvCxnSpPr/>
          <p:nvPr/>
        </p:nvCxnSpPr>
        <p:spPr bwMode="gray">
          <a:xfrm>
            <a:off x="5735960" y="3140968"/>
            <a:ext cx="2939595" cy="576064"/>
          </a:xfrm>
          <a:prstGeom prst="bentConnector2">
            <a:avLst/>
          </a:prstGeom>
          <a:solidFill>
            <a:schemeClr val="accent1"/>
          </a:solidFill>
          <a:ln w="19050" cap="flat" cmpd="sng" algn="ctr">
            <a:solidFill>
              <a:schemeClr val="tx1"/>
            </a:solidFill>
            <a:prstDash val="solid"/>
            <a:round/>
            <a:headEnd type="oval" w="med" len="med"/>
            <a:tailEnd type="triangle" w="med" len="med"/>
          </a:ln>
          <a:effectLst/>
        </p:spPr>
      </p:cxnSp>
      <p:grpSp>
        <p:nvGrpSpPr>
          <p:cNvPr id="41" name="组合 40"/>
          <p:cNvGrpSpPr/>
          <p:nvPr/>
        </p:nvGrpSpPr>
        <p:grpSpPr bwMode="gray">
          <a:xfrm>
            <a:off x="6816080" y="3861048"/>
            <a:ext cx="3564396" cy="756097"/>
            <a:chOff x="6744073" y="5651118"/>
            <a:chExt cx="4428492" cy="180668"/>
          </a:xfrm>
        </p:grpSpPr>
        <p:sp>
          <p:nvSpPr>
            <p:cNvPr id="42" name="矩形 41"/>
            <p:cNvSpPr/>
            <p:nvPr/>
          </p:nvSpPr>
          <p:spPr bwMode="gray">
            <a:xfrm>
              <a:off x="6744073" y="5652567"/>
              <a:ext cx="4428492" cy="179219"/>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3" name="文本框 42"/>
            <p:cNvSpPr txBox="1"/>
            <p:nvPr/>
          </p:nvSpPr>
          <p:spPr bwMode="gray">
            <a:xfrm>
              <a:off x="6816081" y="5651118"/>
              <a:ext cx="4356484" cy="1729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noAutofit/>
            </a:bodyPr>
            <a:lstStyle/>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按照各个队列的优先级，对报文的转发进行不同的调度处理</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6422668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什么是队列</a:t>
            </a:r>
          </a:p>
        </p:txBody>
      </p:sp>
      <p:sp>
        <p:nvSpPr>
          <p:cNvPr id="3" name="文本占位符 2"/>
          <p:cNvSpPr>
            <a:spLocks noGrp="1"/>
          </p:cNvSpPr>
          <p:nvPr>
            <p:ph type="body" sz="quarter" idx="10"/>
          </p:nvPr>
        </p:nvSpPr>
        <p:spPr bwMode="gray"/>
        <p:txBody>
          <a:bodyPr/>
          <a:lstStyle/>
          <a:p>
            <a:r>
              <a:rPr lang="zh-CN" altLang="en-US" dirty="0"/>
              <a:t>队列指在缓存中对报文进行排序的逻辑。</a:t>
            </a:r>
          </a:p>
          <a:p>
            <a:endParaRPr lang="zh-CN" altLang="en-US" dirty="0"/>
          </a:p>
        </p:txBody>
      </p:sp>
      <p:grpSp>
        <p:nvGrpSpPr>
          <p:cNvPr id="11" name="组合 10"/>
          <p:cNvGrpSpPr/>
          <p:nvPr/>
        </p:nvGrpSpPr>
        <p:grpSpPr bwMode="gray">
          <a:xfrm>
            <a:off x="5231904" y="3096573"/>
            <a:ext cx="5616624" cy="1404149"/>
            <a:chOff x="6564053" y="5600655"/>
            <a:chExt cx="4284476" cy="273764"/>
          </a:xfrm>
        </p:grpSpPr>
        <p:sp>
          <p:nvSpPr>
            <p:cNvPr id="12" name="矩形 11"/>
            <p:cNvSpPr/>
            <p:nvPr/>
          </p:nvSpPr>
          <p:spPr bwMode="gray">
            <a:xfrm>
              <a:off x="6564053" y="5600655"/>
              <a:ext cx="4284476" cy="273764"/>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 name="文本框 12"/>
            <p:cNvSpPr txBox="1"/>
            <p:nvPr/>
          </p:nvSpPr>
          <p:spPr bwMode="gray">
            <a:xfrm>
              <a:off x="6591518" y="5625454"/>
              <a:ext cx="4257011" cy="20730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每个端口上都有</a:t>
              </a:r>
              <a:r>
                <a:rPr lang="en-US" altLang="zh-CN" sz="1600" dirty="0">
                  <a:solidFill>
                    <a:srgbClr val="000000"/>
                  </a:solidFill>
                  <a:latin typeface="Huawei Sans" panose="020C0503030203020204" pitchFamily="34" charset="0"/>
                  <a:ea typeface="方正兰亭黑简体" panose="02000000000000000000" pitchFamily="2" charset="-122"/>
                </a:rPr>
                <a:t>8</a:t>
              </a:r>
              <a:r>
                <a:rPr lang="zh-CN" altLang="en-US" sz="1600" dirty="0">
                  <a:solidFill>
                    <a:srgbClr val="000000"/>
                  </a:solidFill>
                  <a:latin typeface="Huawei Sans" panose="020C0503030203020204" pitchFamily="34" charset="0"/>
                  <a:ea typeface="方正兰亭黑简体" panose="02000000000000000000" pitchFamily="2" charset="-122"/>
                </a:rPr>
                <a:t>个下行队列，称为</a:t>
              </a:r>
              <a:r>
                <a:rPr lang="en-US" altLang="zh-CN" sz="1600" dirty="0">
                  <a:solidFill>
                    <a:srgbClr val="000000"/>
                  </a:solidFill>
                  <a:latin typeface="Huawei Sans" panose="020C0503030203020204" pitchFamily="34" charset="0"/>
                  <a:ea typeface="方正兰亭黑简体" panose="02000000000000000000" pitchFamily="2" charset="-122"/>
                </a:rPr>
                <a:t>CQ</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Class Queue</a:t>
              </a:r>
              <a:r>
                <a:rPr lang="zh-CN" altLang="en-US" sz="1600" dirty="0">
                  <a:solidFill>
                    <a:srgbClr val="000000"/>
                  </a:solidFill>
                  <a:latin typeface="Huawei Sans" panose="020C0503030203020204" pitchFamily="34" charset="0"/>
                  <a:ea typeface="方正兰亭黑简体" panose="02000000000000000000" pitchFamily="2" charset="-122"/>
                </a:rPr>
                <a:t>）队列，也叫端口队列（</a:t>
              </a:r>
              <a:r>
                <a:rPr lang="en-US" altLang="zh-CN" sz="1600" dirty="0">
                  <a:solidFill>
                    <a:srgbClr val="000000"/>
                  </a:solidFill>
                  <a:latin typeface="Huawei Sans" panose="020C0503030203020204" pitchFamily="34" charset="0"/>
                  <a:ea typeface="方正兰亭黑简体" panose="02000000000000000000" pitchFamily="2" charset="-122"/>
                </a:rPr>
                <a:t>Port-queue</a:t>
              </a:r>
              <a:r>
                <a:rPr lang="zh-CN" altLang="en-US" sz="1600"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a:p>
              <a:pPr marL="285750" indent="-285750">
                <a:lnSpc>
                  <a:spcPct val="125000"/>
                </a:lnSpc>
                <a:spcBef>
                  <a:spcPts val="200"/>
                </a:spcBef>
                <a:spcAft>
                  <a:spcPts val="200"/>
                </a:spcAft>
                <a:buFont typeface="Arial" panose="020B0604020202020204" pitchFamily="34" charset="0"/>
                <a:buChar char="•"/>
              </a:pPr>
              <a:r>
                <a:rPr lang="zh-CN" altLang="en-US" sz="1600" dirty="0">
                  <a:solidFill>
                    <a:srgbClr val="000000"/>
                  </a:solidFill>
                  <a:latin typeface="Huawei Sans" panose="020C0503030203020204" pitchFamily="34" charset="0"/>
                  <a:ea typeface="方正兰亭黑简体" panose="02000000000000000000" pitchFamily="2" charset="-122"/>
                </a:rPr>
                <a:t>分别为</a:t>
              </a:r>
              <a:r>
                <a:rPr lang="en-US" altLang="zh-CN" sz="1600" dirty="0">
                  <a:solidFill>
                    <a:srgbClr val="000000"/>
                  </a:solidFill>
                  <a:latin typeface="Huawei Sans" panose="020C0503030203020204" pitchFamily="34" charset="0"/>
                  <a:ea typeface="方正兰亭黑简体" panose="02000000000000000000" pitchFamily="2" charset="-122"/>
                </a:rPr>
                <a:t>BE</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AF1</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AF2</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AF3</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AF4</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EF</a:t>
              </a:r>
              <a:r>
                <a:rPr lang="zh-CN" altLang="en-US" sz="1600" dirty="0">
                  <a:solidFill>
                    <a:srgbClr val="000000"/>
                  </a:solidFill>
                  <a:latin typeface="Huawei Sans" panose="020C0503030203020204" pitchFamily="34" charset="0"/>
                  <a:ea typeface="方正兰亭黑简体" panose="02000000000000000000" pitchFamily="2" charset="-122"/>
                </a:rPr>
                <a:t>、</a:t>
              </a:r>
              <a:r>
                <a:rPr lang="en-US" altLang="zh-CN" sz="1600" dirty="0">
                  <a:solidFill>
                    <a:srgbClr val="000000"/>
                  </a:solidFill>
                  <a:latin typeface="Huawei Sans" panose="020C0503030203020204" pitchFamily="34" charset="0"/>
                  <a:ea typeface="方正兰亭黑简体" panose="02000000000000000000" pitchFamily="2" charset="-122"/>
                </a:rPr>
                <a:t>CS6</a:t>
              </a:r>
              <a:r>
                <a:rPr lang="zh-CN" altLang="en-US" sz="1600" dirty="0">
                  <a:solidFill>
                    <a:srgbClr val="000000"/>
                  </a:solidFill>
                  <a:latin typeface="Huawei Sans" panose="020C0503030203020204" pitchFamily="34" charset="0"/>
                  <a:ea typeface="方正兰亭黑简体" panose="02000000000000000000" pitchFamily="2" charset="-122"/>
                </a:rPr>
                <a:t>和</a:t>
              </a:r>
              <a:r>
                <a:rPr lang="en-US" altLang="zh-CN" sz="1600" dirty="0">
                  <a:solidFill>
                    <a:srgbClr val="000000"/>
                  </a:solidFill>
                  <a:latin typeface="Huawei Sans" panose="020C0503030203020204" pitchFamily="34" charset="0"/>
                  <a:ea typeface="方正兰亭黑简体" panose="02000000000000000000" pitchFamily="2" charset="-122"/>
                </a:rPr>
                <a:t>CS7</a:t>
              </a:r>
              <a:r>
                <a:rPr lang="zh-CN" altLang="en-US" sz="1600" dirty="0">
                  <a:solidFill>
                    <a:srgbClr val="000000"/>
                  </a:solidFill>
                  <a:latin typeface="Huawei Sans" panose="020C0503030203020204" pitchFamily="34" charset="0"/>
                  <a:ea typeface="方正兰亭黑简体" panose="02000000000000000000" pitchFamily="2" charset="-122"/>
                </a:rPr>
                <a:t>。</a:t>
              </a:r>
            </a:p>
          </p:txBody>
        </p:sp>
      </p:grpSp>
      <p:sp>
        <p:nvSpPr>
          <p:cNvPr id="14" name="iṣ1iḍé"/>
          <p:cNvSpPr/>
          <p:nvPr/>
        </p:nvSpPr>
        <p:spPr bwMode="gray">
          <a:xfrm rot="16200000">
            <a:off x="4061043" y="3475353"/>
            <a:ext cx="1476164" cy="718617"/>
          </a:xfrm>
          <a:custGeom>
            <a:avLst/>
            <a:gdLst>
              <a:gd name="connsiteX0" fmla="*/ 0 w 2232248"/>
              <a:gd name="connsiteY0" fmla="*/ 649058 h 649058"/>
              <a:gd name="connsiteX1" fmla="*/ 439523 w 2232248"/>
              <a:gd name="connsiteY1" fmla="*/ 0 h 649058"/>
              <a:gd name="connsiteX2" fmla="*/ 1792725 w 2232248"/>
              <a:gd name="connsiteY2" fmla="*/ 0 h 649058"/>
              <a:gd name="connsiteX3" fmla="*/ 2232248 w 2232248"/>
              <a:gd name="connsiteY3" fmla="*/ 649058 h 649058"/>
              <a:gd name="connsiteX4" fmla="*/ 0 w 2232248"/>
              <a:gd name="connsiteY4" fmla="*/ 649058 h 649058"/>
              <a:gd name="connsiteX0" fmla="*/ 0 w 2232248"/>
              <a:gd name="connsiteY0" fmla="*/ 656678 h 656678"/>
              <a:gd name="connsiteX1" fmla="*/ 43952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0 h 656678"/>
              <a:gd name="connsiteX2" fmla="*/ 1548885 w 2232248"/>
              <a:gd name="connsiteY2" fmla="*/ 0 h 656678"/>
              <a:gd name="connsiteX3" fmla="*/ 2232248 w 2232248"/>
              <a:gd name="connsiteY3" fmla="*/ 656678 h 656678"/>
              <a:gd name="connsiteX4" fmla="*/ 0 w 2232248"/>
              <a:gd name="connsiteY4" fmla="*/ 656678 h 65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2248" h="656678">
                <a:moveTo>
                  <a:pt x="0" y="656678"/>
                </a:moveTo>
                <a:lnTo>
                  <a:pt x="736703" y="0"/>
                </a:lnTo>
                <a:lnTo>
                  <a:pt x="1548885" y="0"/>
                </a:lnTo>
                <a:lnTo>
                  <a:pt x="2232248" y="656678"/>
                </a:lnTo>
                <a:lnTo>
                  <a:pt x="0" y="656678"/>
                </a:lnTo>
                <a:close/>
              </a:path>
            </a:pathLst>
          </a:custGeom>
          <a:solidFill>
            <a:srgbClr val="FFFFFF">
              <a:lumMod val="95000"/>
            </a:srgbClr>
          </a:solidFill>
          <a:ln w="19050">
            <a:noFill/>
            <a:rou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 name="í$ḷiḋê"/>
          <p:cNvSpPr/>
          <p:nvPr/>
        </p:nvSpPr>
        <p:spPr bwMode="gray">
          <a:xfrm>
            <a:off x="2881207" y="3024572"/>
            <a:ext cx="596937" cy="1924655"/>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rgbClr val="FFFFFF">
              <a:lumMod val="95000"/>
            </a:srgbClr>
          </a:solidFill>
          <a:ln>
            <a:solidFill>
              <a:schemeClr val="bg1">
                <a:lumMod val="50000"/>
              </a:schemeClr>
            </a:solid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6" name="íṡľidé"/>
          <p:cNvSpPr/>
          <p:nvPr/>
        </p:nvSpPr>
        <p:spPr bwMode="gray">
          <a:xfrm>
            <a:off x="2063552" y="3078853"/>
            <a:ext cx="2232248" cy="1452114"/>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rgbClr val="FFFFFF">
              <a:lumMod val="75000"/>
            </a:srgbClr>
          </a:solidFill>
          <a:ln>
            <a:solidFill>
              <a:schemeClr val="bg1">
                <a:lumMod val="50000"/>
              </a:schemeClr>
            </a:solidFill>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7" name="îŝľíḍê"/>
          <p:cNvSpPr/>
          <p:nvPr/>
        </p:nvSpPr>
        <p:spPr bwMode="gray">
          <a:xfrm>
            <a:off x="2148302" y="3144320"/>
            <a:ext cx="2062748" cy="1321180"/>
          </a:xfrm>
          <a:prstGeom prst="rect">
            <a:avLst/>
          </a:prstGeom>
          <a:solidFill>
            <a:srgbClr val="FFFFFF"/>
          </a:solidFill>
          <a:ln w="9525">
            <a:solidFill>
              <a:srgbClr val="000000"/>
            </a:solidFill>
            <a:miter lim="800000"/>
            <a:headEnd/>
            <a:tailE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8" name="iṥ1iďe"/>
          <p:cNvSpPr txBox="1"/>
          <p:nvPr/>
        </p:nvSpPr>
        <p:spPr bwMode="gray">
          <a:xfrm>
            <a:off x="2395470" y="3641564"/>
            <a:ext cx="1612297"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800" b="1" kern="0" dirty="0">
                <a:solidFill>
                  <a:srgbClr val="000000"/>
                </a:solidFill>
                <a:latin typeface="Huawei Sans" panose="020C0503030203020204" pitchFamily="34" charset="0"/>
                <a:ea typeface="方正兰亭黑简体" panose="02000000000000000000" pitchFamily="2" charset="-122"/>
              </a:rPr>
              <a:t>队列</a:t>
            </a:r>
            <a:endParaRPr kumimoji="0" lang="en-US" altLang="zh-CN" sz="1800" b="1" i="0" u="none" strike="noStrike" kern="0" cap="none" spc="0" normalizeH="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4381580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队列调度算法</a:t>
            </a:r>
          </a:p>
        </p:txBody>
      </p:sp>
      <p:sp>
        <p:nvSpPr>
          <p:cNvPr id="3" name="文本占位符 2"/>
          <p:cNvSpPr>
            <a:spLocks noGrp="1"/>
          </p:cNvSpPr>
          <p:nvPr>
            <p:ph type="body" sz="quarter" idx="10"/>
          </p:nvPr>
        </p:nvSpPr>
        <p:spPr bwMode="gray"/>
        <p:txBody>
          <a:bodyPr/>
          <a:lstStyle/>
          <a:p>
            <a:r>
              <a:rPr lang="zh-CN" altLang="en-US" dirty="0"/>
              <a:t>拥塞管理使用</a:t>
            </a:r>
            <a:r>
              <a:rPr lang="zh-CN" altLang="en-US" dirty="0">
                <a:solidFill>
                  <a:srgbClr val="C7000B"/>
                </a:solidFill>
              </a:rPr>
              <a:t>队列技术</a:t>
            </a:r>
            <a:r>
              <a:rPr lang="zh-CN" altLang="en-US" dirty="0"/>
              <a:t>。</a:t>
            </a:r>
          </a:p>
        </p:txBody>
      </p:sp>
      <p:grpSp>
        <p:nvGrpSpPr>
          <p:cNvPr id="4" name="组合 3"/>
          <p:cNvGrpSpPr/>
          <p:nvPr/>
        </p:nvGrpSpPr>
        <p:grpSpPr bwMode="gray">
          <a:xfrm>
            <a:off x="5231904" y="3035613"/>
            <a:ext cx="5616624" cy="1404149"/>
            <a:chOff x="6564053" y="5600655"/>
            <a:chExt cx="4284476" cy="273764"/>
          </a:xfrm>
        </p:grpSpPr>
        <p:sp>
          <p:nvSpPr>
            <p:cNvPr id="5" name="矩形 4"/>
            <p:cNvSpPr/>
            <p:nvPr/>
          </p:nvSpPr>
          <p:spPr bwMode="gray">
            <a:xfrm>
              <a:off x="6564053" y="5600655"/>
              <a:ext cx="4284476" cy="273764"/>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 name="文本框 7"/>
            <p:cNvSpPr txBox="1"/>
            <p:nvPr/>
          </p:nvSpPr>
          <p:spPr bwMode="gray">
            <a:xfrm>
              <a:off x="6816081" y="5620454"/>
              <a:ext cx="3816424" cy="2173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zh-CN" altLang="en-US" sz="1600" dirty="0">
                  <a:solidFill>
                    <a:srgbClr val="000000"/>
                  </a:solidFill>
                  <a:latin typeface="微软雅黑"/>
                  <a:ea typeface="微软雅黑"/>
                </a:rPr>
                <a:t>先进先出，</a:t>
              </a:r>
              <a:r>
                <a:rPr lang="en-US" altLang="zh-CN" sz="1600" dirty="0">
                  <a:solidFill>
                    <a:srgbClr val="000000"/>
                  </a:solidFill>
                  <a:latin typeface="微软雅黑"/>
                  <a:ea typeface="微软雅黑"/>
                </a:rPr>
                <a:t>FIFO</a:t>
              </a:r>
              <a:r>
                <a:rPr lang="zh-CN" altLang="en-US" sz="1600" dirty="0">
                  <a:solidFill>
                    <a:srgbClr val="000000"/>
                  </a:solidFill>
                  <a:latin typeface="微软雅黑"/>
                  <a:ea typeface="微软雅黑"/>
                </a:rPr>
                <a:t>（</a:t>
              </a:r>
              <a:r>
                <a:rPr lang="en-US" altLang="zh-CN" sz="1600" dirty="0">
                  <a:solidFill>
                    <a:srgbClr val="000000"/>
                  </a:solidFill>
                  <a:latin typeface="微软雅黑"/>
                  <a:ea typeface="微软雅黑"/>
                </a:rPr>
                <a:t>First In First Out</a:t>
              </a:r>
              <a:r>
                <a:rPr lang="zh-CN" altLang="en-US" sz="1600" dirty="0">
                  <a:solidFill>
                    <a:srgbClr val="000000"/>
                  </a:solidFill>
                  <a:latin typeface="微软雅黑"/>
                  <a:ea typeface="微软雅黑"/>
                </a:rPr>
                <a:t>）</a:t>
              </a:r>
              <a:endParaRPr lang="en-US" altLang="zh-CN" sz="1600" dirty="0">
                <a:solidFill>
                  <a:srgbClr val="000000"/>
                </a:solidFill>
                <a:latin typeface="微软雅黑"/>
                <a:ea typeface="微软雅黑"/>
              </a:endParaRPr>
            </a:p>
            <a:p>
              <a:pPr marL="342900" indent="-342900">
                <a:lnSpc>
                  <a:spcPct val="125000"/>
                </a:lnSpc>
                <a:spcBef>
                  <a:spcPts val="200"/>
                </a:spcBef>
                <a:spcAft>
                  <a:spcPts val="200"/>
                </a:spcAft>
                <a:buFont typeface="+mj-lt"/>
                <a:buAutoNum type="arabicPeriod"/>
              </a:pPr>
              <a:r>
                <a:rPr lang="zh-CN" altLang="en-US" sz="1600" dirty="0">
                  <a:solidFill>
                    <a:srgbClr val="000000"/>
                  </a:solidFill>
                  <a:latin typeface="微软雅黑"/>
                  <a:ea typeface="微软雅黑"/>
                </a:rPr>
                <a:t>严格优先级，</a:t>
              </a:r>
              <a:r>
                <a:rPr lang="en-US" altLang="zh-CN" sz="1600" dirty="0">
                  <a:solidFill>
                    <a:srgbClr val="000000"/>
                  </a:solidFill>
                  <a:latin typeface="微软雅黑"/>
                  <a:ea typeface="微软雅黑"/>
                </a:rPr>
                <a:t>SP</a:t>
              </a:r>
              <a:r>
                <a:rPr lang="zh-CN" altLang="en-US" sz="1600" dirty="0">
                  <a:solidFill>
                    <a:srgbClr val="000000"/>
                  </a:solidFill>
                  <a:latin typeface="微软雅黑"/>
                  <a:ea typeface="微软雅黑"/>
                </a:rPr>
                <a:t>（</a:t>
              </a:r>
              <a:r>
                <a:rPr lang="en-US" altLang="zh-CN" sz="1600" dirty="0">
                  <a:solidFill>
                    <a:srgbClr val="000000"/>
                  </a:solidFill>
                  <a:latin typeface="微软雅黑"/>
                  <a:ea typeface="微软雅黑"/>
                </a:rPr>
                <a:t>Strict Priority</a:t>
              </a:r>
              <a:r>
                <a:rPr lang="zh-CN" altLang="en-US" sz="1600" dirty="0">
                  <a:solidFill>
                    <a:srgbClr val="000000"/>
                  </a:solidFill>
                  <a:latin typeface="微软雅黑"/>
                  <a:ea typeface="微软雅黑"/>
                </a:rPr>
                <a:t>）</a:t>
              </a:r>
              <a:endParaRPr lang="en-US" altLang="zh-CN" sz="1600" dirty="0">
                <a:solidFill>
                  <a:srgbClr val="000000"/>
                </a:solidFill>
                <a:latin typeface="微软雅黑"/>
                <a:ea typeface="微软雅黑"/>
              </a:endParaRPr>
            </a:p>
            <a:p>
              <a:pPr marL="342900" indent="-342900">
                <a:lnSpc>
                  <a:spcPct val="125000"/>
                </a:lnSpc>
                <a:spcBef>
                  <a:spcPts val="200"/>
                </a:spcBef>
                <a:spcAft>
                  <a:spcPts val="200"/>
                </a:spcAft>
                <a:buFont typeface="+mj-lt"/>
                <a:buAutoNum type="arabicPeriod"/>
              </a:pPr>
              <a:r>
                <a:rPr lang="zh-CN" altLang="en-US" sz="1600" dirty="0">
                  <a:solidFill>
                    <a:srgbClr val="000000"/>
                  </a:solidFill>
                  <a:latin typeface="微软雅黑"/>
                  <a:ea typeface="微软雅黑"/>
                </a:rPr>
                <a:t>加权公平队列，</a:t>
              </a:r>
              <a:r>
                <a:rPr lang="en-US" altLang="zh-CN" sz="1600" dirty="0">
                  <a:solidFill>
                    <a:srgbClr val="000000"/>
                  </a:solidFill>
                  <a:latin typeface="微软雅黑"/>
                  <a:ea typeface="微软雅黑"/>
                </a:rPr>
                <a:t>WFQ</a:t>
              </a:r>
              <a:r>
                <a:rPr lang="zh-CN" altLang="en-US" sz="1600" dirty="0">
                  <a:solidFill>
                    <a:srgbClr val="000000"/>
                  </a:solidFill>
                  <a:latin typeface="微软雅黑"/>
                  <a:ea typeface="微软雅黑"/>
                </a:rPr>
                <a:t>（</a:t>
              </a:r>
              <a:r>
                <a:rPr lang="en-US" altLang="zh-CN" sz="1600" dirty="0">
                  <a:solidFill>
                    <a:srgbClr val="000000"/>
                  </a:solidFill>
                  <a:latin typeface="微软雅黑"/>
                  <a:ea typeface="微软雅黑"/>
                </a:rPr>
                <a:t>Weighted Fair Queuing</a:t>
              </a:r>
              <a:r>
                <a:rPr lang="zh-CN" altLang="en-US" sz="1600" dirty="0">
                  <a:solidFill>
                    <a:srgbClr val="000000"/>
                  </a:solidFill>
                  <a:latin typeface="微软雅黑"/>
                  <a:ea typeface="微软雅黑"/>
                </a:rPr>
                <a:t>）</a:t>
              </a:r>
              <a:endParaRPr lang="en-US" altLang="zh-CN" sz="1600" dirty="0">
                <a:solidFill>
                  <a:srgbClr val="000000"/>
                </a:solidFill>
                <a:latin typeface="微软雅黑"/>
                <a:ea typeface="微软雅黑"/>
              </a:endParaRPr>
            </a:p>
          </p:txBody>
        </p:sp>
      </p:grpSp>
      <p:sp>
        <p:nvSpPr>
          <p:cNvPr id="9" name="iṣ1iḍé"/>
          <p:cNvSpPr/>
          <p:nvPr/>
        </p:nvSpPr>
        <p:spPr bwMode="gray">
          <a:xfrm rot="16200000">
            <a:off x="4061043" y="3414393"/>
            <a:ext cx="1476164" cy="718617"/>
          </a:xfrm>
          <a:custGeom>
            <a:avLst/>
            <a:gdLst>
              <a:gd name="connsiteX0" fmla="*/ 0 w 2232248"/>
              <a:gd name="connsiteY0" fmla="*/ 649058 h 649058"/>
              <a:gd name="connsiteX1" fmla="*/ 439523 w 2232248"/>
              <a:gd name="connsiteY1" fmla="*/ 0 h 649058"/>
              <a:gd name="connsiteX2" fmla="*/ 1792725 w 2232248"/>
              <a:gd name="connsiteY2" fmla="*/ 0 h 649058"/>
              <a:gd name="connsiteX3" fmla="*/ 2232248 w 2232248"/>
              <a:gd name="connsiteY3" fmla="*/ 649058 h 649058"/>
              <a:gd name="connsiteX4" fmla="*/ 0 w 2232248"/>
              <a:gd name="connsiteY4" fmla="*/ 649058 h 649058"/>
              <a:gd name="connsiteX0" fmla="*/ 0 w 2232248"/>
              <a:gd name="connsiteY0" fmla="*/ 656678 h 656678"/>
              <a:gd name="connsiteX1" fmla="*/ 43952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0 h 656678"/>
              <a:gd name="connsiteX2" fmla="*/ 1548885 w 2232248"/>
              <a:gd name="connsiteY2" fmla="*/ 0 h 656678"/>
              <a:gd name="connsiteX3" fmla="*/ 2232248 w 2232248"/>
              <a:gd name="connsiteY3" fmla="*/ 656678 h 656678"/>
              <a:gd name="connsiteX4" fmla="*/ 0 w 2232248"/>
              <a:gd name="connsiteY4" fmla="*/ 656678 h 65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2248" h="656678">
                <a:moveTo>
                  <a:pt x="0" y="656678"/>
                </a:moveTo>
                <a:lnTo>
                  <a:pt x="736703" y="0"/>
                </a:lnTo>
                <a:lnTo>
                  <a:pt x="1548885" y="0"/>
                </a:lnTo>
                <a:lnTo>
                  <a:pt x="2232248" y="656678"/>
                </a:lnTo>
                <a:lnTo>
                  <a:pt x="0" y="656678"/>
                </a:lnTo>
                <a:close/>
              </a:path>
            </a:pathLst>
          </a:custGeom>
          <a:solidFill>
            <a:srgbClr val="FFFFFF">
              <a:lumMod val="95000"/>
            </a:srgbClr>
          </a:solidFill>
          <a:ln w="19050">
            <a:noFill/>
            <a:rou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FrutigerNext LT Regular" pitchFamily="34" charset="0"/>
              <a:ea typeface="宋体" charset="-122"/>
            </a:endParaRPr>
          </a:p>
        </p:txBody>
      </p:sp>
      <p:sp>
        <p:nvSpPr>
          <p:cNvPr id="10" name="í$ḷiḋê"/>
          <p:cNvSpPr/>
          <p:nvPr/>
        </p:nvSpPr>
        <p:spPr bwMode="gray">
          <a:xfrm>
            <a:off x="2881207" y="2963612"/>
            <a:ext cx="596937" cy="1924655"/>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rgbClr val="FFFFFF">
              <a:lumMod val="95000"/>
            </a:srgbClr>
          </a:solidFill>
          <a:ln>
            <a:solidFill>
              <a:schemeClr val="bg1">
                <a:lumMod val="50000"/>
              </a:schemeClr>
            </a:solid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FrutigerNext LT Regular" pitchFamily="34" charset="0"/>
              <a:ea typeface="宋体" charset="-122"/>
            </a:endParaRPr>
          </a:p>
        </p:txBody>
      </p:sp>
      <p:sp>
        <p:nvSpPr>
          <p:cNvPr id="11" name="íṡľidé"/>
          <p:cNvSpPr/>
          <p:nvPr/>
        </p:nvSpPr>
        <p:spPr bwMode="gray">
          <a:xfrm>
            <a:off x="2063552" y="3017893"/>
            <a:ext cx="2232248" cy="1452114"/>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rgbClr val="FFFFFF">
              <a:lumMod val="75000"/>
            </a:srgbClr>
          </a:solidFill>
          <a:ln>
            <a:solidFill>
              <a:schemeClr val="bg1">
                <a:lumMod val="50000"/>
              </a:schemeClr>
            </a:solidFill>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FrutigerNext LT Regular" pitchFamily="34" charset="0"/>
              <a:ea typeface="宋体" charset="-122"/>
            </a:endParaRPr>
          </a:p>
        </p:txBody>
      </p:sp>
      <p:sp>
        <p:nvSpPr>
          <p:cNvPr id="12" name="îŝľíḍê"/>
          <p:cNvSpPr/>
          <p:nvPr/>
        </p:nvSpPr>
        <p:spPr bwMode="gray">
          <a:xfrm>
            <a:off x="2148302" y="3083360"/>
            <a:ext cx="2062748" cy="1321180"/>
          </a:xfrm>
          <a:prstGeom prst="rect">
            <a:avLst/>
          </a:prstGeom>
          <a:solidFill>
            <a:srgbClr val="FFFFFF"/>
          </a:solidFill>
          <a:ln w="9525">
            <a:solidFill>
              <a:srgbClr val="000000"/>
            </a:solidFill>
            <a:miter lim="800000"/>
            <a:headEnd/>
            <a:tailE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FrutigerNext LT Regular" pitchFamily="34" charset="0"/>
              <a:ea typeface="宋体" charset="-122"/>
            </a:endParaRPr>
          </a:p>
        </p:txBody>
      </p:sp>
      <p:sp>
        <p:nvSpPr>
          <p:cNvPr id="13" name="iṥ1iďe"/>
          <p:cNvSpPr txBox="1"/>
          <p:nvPr/>
        </p:nvSpPr>
        <p:spPr bwMode="gray">
          <a:xfrm>
            <a:off x="2395470" y="3580604"/>
            <a:ext cx="1612297" cy="32669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800" b="1" kern="0" dirty="0">
                <a:solidFill>
                  <a:srgbClr val="000000"/>
                </a:solidFill>
                <a:latin typeface="微软雅黑"/>
                <a:ea typeface="微软雅黑"/>
              </a:rPr>
              <a:t>队列调度算法</a:t>
            </a:r>
            <a:endParaRPr kumimoji="0" lang="en-US" altLang="zh-CN" sz="1800" b="1" i="0" u="none" strike="noStrike" kern="0" cap="none" spc="0" normalizeH="0" baseline="0" noProof="0" dirty="0">
              <a:ln>
                <a:noFill/>
              </a:ln>
              <a:solidFill>
                <a:srgbClr val="000000"/>
              </a:solidFill>
              <a:effectLst/>
              <a:uLnTx/>
              <a:uFillTx/>
              <a:latin typeface="微软雅黑"/>
              <a:ea typeface="微软雅黑"/>
            </a:endParaRPr>
          </a:p>
        </p:txBody>
      </p:sp>
    </p:spTree>
    <p:extLst>
      <p:ext uri="{BB962C8B-B14F-4D97-AF65-F5344CB8AC3E}">
        <p14:creationId xmlns:p14="http://schemas.microsoft.com/office/powerpoint/2010/main" val="29326855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an 9">
            <a:extLst>
              <a:ext uri="{FF2B5EF4-FFF2-40B4-BE49-F238E27FC236}">
                <a16:creationId xmlns:a16="http://schemas.microsoft.com/office/drawing/2014/main" id="{B4A8E2E7-B7FB-498D-9A8C-FC5FF36E12F6}"/>
              </a:ext>
            </a:extLst>
          </p:cNvPr>
          <p:cNvSpPr/>
          <p:nvPr/>
        </p:nvSpPr>
        <p:spPr bwMode="gray">
          <a:xfrm rot="5400000">
            <a:off x="9240607" y="2045934"/>
            <a:ext cx="341807" cy="2886604"/>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Can 9">
            <a:extLst>
              <a:ext uri="{FF2B5EF4-FFF2-40B4-BE49-F238E27FC236}">
                <a16:creationId xmlns:a16="http://schemas.microsoft.com/office/drawing/2014/main" id="{4094261F-8D1A-4E51-A502-0E8CDE8C68BE}"/>
              </a:ext>
            </a:extLst>
          </p:cNvPr>
          <p:cNvSpPr/>
          <p:nvPr/>
        </p:nvSpPr>
        <p:spPr bwMode="gray">
          <a:xfrm rot="5400000">
            <a:off x="2609585" y="2029895"/>
            <a:ext cx="341807" cy="2886604"/>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先进先出 </a:t>
            </a:r>
            <a:r>
              <a:rPr lang="en-US" altLang="zh-CN" dirty="0"/>
              <a:t>(FIFO)</a:t>
            </a:r>
            <a:endParaRPr lang="zh-CN" altLang="en-US" dirty="0"/>
          </a:p>
        </p:txBody>
      </p:sp>
      <p:sp>
        <p:nvSpPr>
          <p:cNvPr id="3" name="文本占位符 2"/>
          <p:cNvSpPr>
            <a:spLocks noGrp="1"/>
          </p:cNvSpPr>
          <p:nvPr>
            <p:ph type="body" sz="quarter" idx="10"/>
          </p:nvPr>
        </p:nvSpPr>
        <p:spPr bwMode="gray"/>
        <p:txBody>
          <a:bodyPr/>
          <a:lstStyle/>
          <a:p>
            <a:r>
              <a:rPr lang="zh-CN" altLang="en-US" b="1" dirty="0"/>
              <a:t>单个队列</a:t>
            </a:r>
            <a:r>
              <a:rPr lang="zh-CN" altLang="en-US" dirty="0"/>
              <a:t>的报文采用</a:t>
            </a:r>
            <a:r>
              <a:rPr lang="en-US" altLang="zh-CN" b="1" dirty="0"/>
              <a:t>FIFO</a:t>
            </a:r>
            <a:r>
              <a:rPr lang="zh-CN" altLang="en-US" dirty="0"/>
              <a:t>（</a:t>
            </a:r>
            <a:r>
              <a:rPr lang="en-US" altLang="zh-CN" dirty="0"/>
              <a:t>First In First Out</a:t>
            </a:r>
            <a:r>
              <a:rPr lang="zh-CN" altLang="en-US" dirty="0"/>
              <a:t>）原则入队和出队。</a:t>
            </a:r>
          </a:p>
        </p:txBody>
      </p:sp>
      <p:grpSp>
        <p:nvGrpSpPr>
          <p:cNvPr id="42" name="组合 41"/>
          <p:cNvGrpSpPr/>
          <p:nvPr/>
        </p:nvGrpSpPr>
        <p:grpSpPr bwMode="gray">
          <a:xfrm>
            <a:off x="1534886" y="3318332"/>
            <a:ext cx="2488378" cy="326692"/>
            <a:chOff x="1667508" y="3553686"/>
            <a:chExt cx="2340260" cy="326692"/>
          </a:xfrm>
        </p:grpSpPr>
        <p:grpSp>
          <p:nvGrpSpPr>
            <p:cNvPr id="17" name="组合 16"/>
            <p:cNvGrpSpPr/>
            <p:nvPr/>
          </p:nvGrpSpPr>
          <p:grpSpPr bwMode="gray">
            <a:xfrm>
              <a:off x="3395700" y="3553686"/>
              <a:ext cx="612068" cy="326692"/>
              <a:chOff x="4511824" y="2958986"/>
              <a:chExt cx="612068" cy="326692"/>
            </a:xfrm>
          </p:grpSpPr>
          <p:sp>
            <p:nvSpPr>
              <p:cNvPr id="7" name="矩形 6"/>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algn="ctr" defTabSz="914400">
                  <a:spcBef>
                    <a:spcPct val="0"/>
                  </a:spcBef>
                  <a:spcAft>
                    <a:spcPct val="0"/>
                  </a:spcAft>
                  <a:defRPr/>
                </a:pPr>
                <a:r>
                  <a:rPr lang="zh-CN" altLang="en-US" sz="1400" kern="0" dirty="0">
                    <a:solidFill>
                      <a:srgbClr val="000000"/>
                    </a:solidFill>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1</a:t>
                </a:r>
              </a:p>
            </p:txBody>
          </p:sp>
        </p:grpSp>
        <p:grpSp>
          <p:nvGrpSpPr>
            <p:cNvPr id="18" name="组合 17"/>
            <p:cNvGrpSpPr/>
            <p:nvPr/>
          </p:nvGrpSpPr>
          <p:grpSpPr bwMode="gray">
            <a:xfrm>
              <a:off x="2531604" y="3553686"/>
              <a:ext cx="612068" cy="326692"/>
              <a:chOff x="4511824" y="2958986"/>
              <a:chExt cx="612068" cy="326692"/>
            </a:xfrm>
          </p:grpSpPr>
          <p:sp>
            <p:nvSpPr>
              <p:cNvPr id="19" name="矩形 18"/>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0"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algn="ctr" defTabSz="914400">
                  <a:spcBef>
                    <a:spcPct val="0"/>
                  </a:spcBef>
                  <a:spcAft>
                    <a:spcPct val="0"/>
                  </a:spcAft>
                  <a:defRPr/>
                </a:pPr>
                <a:r>
                  <a:rPr lang="zh-CN" altLang="en-US" sz="1400" kern="0" dirty="0">
                    <a:solidFill>
                      <a:srgbClr val="000000"/>
                    </a:solidFill>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2</a:t>
                </a:r>
              </a:p>
            </p:txBody>
          </p:sp>
        </p:grpSp>
        <p:grpSp>
          <p:nvGrpSpPr>
            <p:cNvPr id="21" name="组合 20"/>
            <p:cNvGrpSpPr/>
            <p:nvPr/>
          </p:nvGrpSpPr>
          <p:grpSpPr bwMode="gray">
            <a:xfrm>
              <a:off x="1667508" y="3553686"/>
              <a:ext cx="612068" cy="326692"/>
              <a:chOff x="4511824" y="2958986"/>
              <a:chExt cx="612068" cy="326692"/>
            </a:xfrm>
          </p:grpSpPr>
          <p:sp>
            <p:nvSpPr>
              <p:cNvPr id="22" name="矩形 21"/>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3"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3</a:t>
                </a:r>
              </a:p>
            </p:txBody>
          </p:sp>
        </p:grpSp>
      </p:grpSp>
      <p:grpSp>
        <p:nvGrpSpPr>
          <p:cNvPr id="27" name="组合 26"/>
          <p:cNvGrpSpPr/>
          <p:nvPr/>
        </p:nvGrpSpPr>
        <p:grpSpPr bwMode="gray">
          <a:xfrm>
            <a:off x="6456040" y="2582212"/>
            <a:ext cx="587689" cy="1800200"/>
            <a:chOff x="6852084" y="2348880"/>
            <a:chExt cx="587689" cy="1800200"/>
          </a:xfrm>
        </p:grpSpPr>
        <p:sp>
          <p:nvSpPr>
            <p:cNvPr id="24" name="圆角矩形 23"/>
            <p:cNvSpPr/>
            <p:nvPr/>
          </p:nvSpPr>
          <p:spPr bwMode="gray">
            <a:xfrm>
              <a:off x="6852084" y="2348880"/>
              <a:ext cx="540060" cy="1800200"/>
            </a:xfrm>
            <a:prstGeom prst="roundRect">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25" name="文本框 24"/>
            <p:cNvSpPr txBox="1"/>
            <p:nvPr/>
          </p:nvSpPr>
          <p:spPr bwMode="gray">
            <a:xfrm>
              <a:off x="6852084" y="3000738"/>
              <a:ext cx="587689" cy="734990"/>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FIFO</a:t>
              </a:r>
            </a:p>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sp>
          <p:nvSpPr>
            <p:cNvPr id="26" name="任意多边形 25"/>
            <p:cNvSpPr/>
            <p:nvPr/>
          </p:nvSpPr>
          <p:spPr bwMode="gray">
            <a:xfrm>
              <a:off x="6891275" y="2483262"/>
              <a:ext cx="403483"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sp>
        <p:nvSpPr>
          <p:cNvPr id="28" name="下箭头 27"/>
          <p:cNvSpPr/>
          <p:nvPr/>
        </p:nvSpPr>
        <p:spPr bwMode="gray">
          <a:xfrm rot="16200000">
            <a:off x="4619835" y="3122274"/>
            <a:ext cx="360040"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9" name="圆角矩形 28"/>
          <p:cNvSpPr/>
          <p:nvPr/>
        </p:nvSpPr>
        <p:spPr bwMode="gray">
          <a:xfrm>
            <a:off x="5358389" y="3284290"/>
            <a:ext cx="972108" cy="396044"/>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队列</a:t>
            </a:r>
          </a:p>
        </p:txBody>
      </p:sp>
      <p:sp>
        <p:nvSpPr>
          <p:cNvPr id="31" name="下箭头 30"/>
          <p:cNvSpPr/>
          <p:nvPr/>
        </p:nvSpPr>
        <p:spPr bwMode="gray">
          <a:xfrm rot="16200000">
            <a:off x="7284131" y="3122274"/>
            <a:ext cx="360040"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43" name="组合 42"/>
          <p:cNvGrpSpPr/>
          <p:nvPr/>
        </p:nvGrpSpPr>
        <p:grpSpPr bwMode="gray">
          <a:xfrm>
            <a:off x="8087615" y="3318332"/>
            <a:ext cx="2488378" cy="326692"/>
            <a:chOff x="8112224" y="3553686"/>
            <a:chExt cx="2340260" cy="326692"/>
          </a:xfrm>
        </p:grpSpPr>
        <p:grpSp>
          <p:nvGrpSpPr>
            <p:cNvPr id="33" name="组合 32"/>
            <p:cNvGrpSpPr/>
            <p:nvPr/>
          </p:nvGrpSpPr>
          <p:grpSpPr bwMode="gray">
            <a:xfrm>
              <a:off x="9840416" y="3553686"/>
              <a:ext cx="612068" cy="326692"/>
              <a:chOff x="4511824" y="2958986"/>
              <a:chExt cx="612068" cy="326692"/>
            </a:xfrm>
          </p:grpSpPr>
          <p:sp>
            <p:nvSpPr>
              <p:cNvPr id="34" name="矩形 33"/>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5"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grpSp>
        <p:grpSp>
          <p:nvGrpSpPr>
            <p:cNvPr id="36" name="组合 35"/>
            <p:cNvGrpSpPr/>
            <p:nvPr/>
          </p:nvGrpSpPr>
          <p:grpSpPr bwMode="gray">
            <a:xfrm>
              <a:off x="8976320" y="3553686"/>
              <a:ext cx="612068" cy="326692"/>
              <a:chOff x="4511824" y="2958986"/>
              <a:chExt cx="612068" cy="326692"/>
            </a:xfrm>
          </p:grpSpPr>
          <p:sp>
            <p:nvSpPr>
              <p:cNvPr id="37" name="矩形 36"/>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8"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2</a:t>
                </a:r>
              </a:p>
            </p:txBody>
          </p:sp>
        </p:grpSp>
        <p:grpSp>
          <p:nvGrpSpPr>
            <p:cNvPr id="39" name="组合 38"/>
            <p:cNvGrpSpPr/>
            <p:nvPr/>
          </p:nvGrpSpPr>
          <p:grpSpPr bwMode="gray">
            <a:xfrm>
              <a:off x="8112224" y="3553686"/>
              <a:ext cx="612068" cy="326692"/>
              <a:chOff x="4511824" y="2958986"/>
              <a:chExt cx="612068" cy="326692"/>
            </a:xfrm>
          </p:grpSpPr>
          <p:sp>
            <p:nvSpPr>
              <p:cNvPr id="40" name="矩形 39"/>
              <p:cNvSpPr/>
              <p:nvPr/>
            </p:nvSpPr>
            <p:spPr bwMode="gray">
              <a:xfrm>
                <a:off x="4547858" y="3008194"/>
                <a:ext cx="540000" cy="22688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1" name="iṥ1iďe"/>
              <p:cNvSpPr txBox="1"/>
              <p:nvPr/>
            </p:nvSpPr>
            <p:spPr bwMode="gray">
              <a:xfrm>
                <a:off x="4511824" y="2958986"/>
                <a:ext cx="612068" cy="32669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3</a:t>
                </a:r>
              </a:p>
            </p:txBody>
          </p:sp>
        </p:grpSp>
      </p:grpSp>
      <p:sp>
        <p:nvSpPr>
          <p:cNvPr id="44" name="iṥ1iďe"/>
          <p:cNvSpPr txBox="1"/>
          <p:nvPr/>
        </p:nvSpPr>
        <p:spPr bwMode="gray">
          <a:xfrm>
            <a:off x="4151784" y="2638240"/>
            <a:ext cx="1152128" cy="5393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en-US" altLang="zh-CN" sz="1600" b="1" kern="0" dirty="0">
                <a:solidFill>
                  <a:srgbClr val="000000"/>
                </a:solidFill>
                <a:latin typeface="Huawei Sans" panose="020C0503030203020204" pitchFamily="34" charset="0"/>
                <a:ea typeface="方正兰亭黑简体" panose="02000000000000000000" pitchFamily="2" charset="-122"/>
              </a:rPr>
              <a:t>FIFO</a:t>
            </a:r>
            <a:r>
              <a:rPr lang="zh-CN" altLang="en-US" sz="1600" b="1" kern="0" dirty="0">
                <a:solidFill>
                  <a:srgbClr val="000000"/>
                </a:solidFill>
                <a:latin typeface="Huawei Sans" panose="020C0503030203020204" pitchFamily="34" charset="0"/>
                <a:ea typeface="方正兰亭黑简体" panose="02000000000000000000" pitchFamily="2" charset="-122"/>
              </a:rPr>
              <a:t>原则</a:t>
            </a:r>
            <a:endParaRPr lang="en-US" altLang="zh-CN" sz="1600" b="1" kern="0" dirty="0">
              <a:solidFill>
                <a:srgbClr val="000000"/>
              </a:solidFill>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入队列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5" name="iṥ1iďe"/>
          <p:cNvSpPr txBox="1"/>
          <p:nvPr/>
        </p:nvSpPr>
        <p:spPr bwMode="gray">
          <a:xfrm>
            <a:off x="7248128" y="2638240"/>
            <a:ext cx="1152128" cy="5393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en-US" altLang="zh-CN" sz="1600" b="1" kern="0" dirty="0">
                <a:solidFill>
                  <a:srgbClr val="000000"/>
                </a:solidFill>
                <a:latin typeface="Huawei Sans" panose="020C0503030203020204" pitchFamily="34" charset="0"/>
                <a:ea typeface="方正兰亭黑简体" panose="02000000000000000000" pitchFamily="2" charset="-122"/>
              </a:rPr>
              <a:t>FIFO</a:t>
            </a:r>
            <a:r>
              <a:rPr lang="zh-CN" altLang="en-US" sz="1600" b="1" kern="0" dirty="0">
                <a:solidFill>
                  <a:srgbClr val="000000"/>
                </a:solidFill>
                <a:latin typeface="Huawei Sans" panose="020C0503030203020204" pitchFamily="34" charset="0"/>
                <a:ea typeface="方正兰亭黑简体" panose="02000000000000000000" pitchFamily="2" charset="-122"/>
              </a:rPr>
              <a:t>原则</a:t>
            </a:r>
            <a:endParaRPr lang="en-US" altLang="zh-CN" sz="1600" b="1" kern="0" dirty="0">
              <a:solidFill>
                <a:srgbClr val="000000"/>
              </a:solidFill>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dirty="0">
                <a:solidFill>
                  <a:srgbClr val="000000"/>
                </a:solidFill>
                <a:latin typeface="Huawei Sans" panose="020C0503030203020204" pitchFamily="34" charset="0"/>
                <a:ea typeface="方正兰亭黑简体" panose="02000000000000000000" pitchFamily="2" charset="-122"/>
              </a:rPr>
              <a:t>出</a:t>
            </a: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135480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an 9">
            <a:extLst>
              <a:ext uri="{FF2B5EF4-FFF2-40B4-BE49-F238E27FC236}">
                <a16:creationId xmlns:a16="http://schemas.microsoft.com/office/drawing/2014/main" id="{B0A5C52A-2F18-40DD-9350-39E8B1CF1A8A}"/>
              </a:ext>
            </a:extLst>
          </p:cNvPr>
          <p:cNvSpPr/>
          <p:nvPr/>
        </p:nvSpPr>
        <p:spPr bwMode="gray">
          <a:xfrm rot="5400000">
            <a:off x="3465917" y="196325"/>
            <a:ext cx="432047" cy="4252447"/>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t>严格优先级 </a:t>
            </a:r>
            <a:r>
              <a:rPr lang="en-US" altLang="zh-CN" dirty="0"/>
              <a:t>(SP)</a:t>
            </a:r>
            <a:endParaRPr lang="zh-CN" altLang="en-US" dirty="0"/>
          </a:p>
        </p:txBody>
      </p:sp>
      <p:sp>
        <p:nvSpPr>
          <p:cNvPr id="3" name="文本占位符 2"/>
          <p:cNvSpPr>
            <a:spLocks noGrp="1"/>
          </p:cNvSpPr>
          <p:nvPr>
            <p:ph type="body" sz="quarter" idx="10"/>
          </p:nvPr>
        </p:nvSpPr>
        <p:spPr bwMode="gray"/>
        <p:txBody>
          <a:bodyPr/>
          <a:lstStyle/>
          <a:p>
            <a:r>
              <a:rPr lang="en-US" altLang="zh-CN" b="1" dirty="0"/>
              <a:t>SP</a:t>
            </a:r>
            <a:r>
              <a:rPr lang="zh-CN" altLang="en-US" dirty="0"/>
              <a:t>（</a:t>
            </a:r>
            <a:r>
              <a:rPr lang="en-US" altLang="zh-CN" dirty="0"/>
              <a:t>Strict Priority</a:t>
            </a:r>
            <a:r>
              <a:rPr lang="zh-CN" altLang="en-US" dirty="0"/>
              <a:t>）调度就是严格按照</a:t>
            </a:r>
            <a:r>
              <a:rPr lang="zh-CN" altLang="en-US" b="1" dirty="0"/>
              <a:t>队列优先级</a:t>
            </a:r>
            <a:r>
              <a:rPr lang="zh-CN" altLang="en-US" dirty="0"/>
              <a:t>的高低顺序进行调度。</a:t>
            </a:r>
            <a:endParaRPr lang="en-US" altLang="zh-CN" dirty="0"/>
          </a:p>
        </p:txBody>
      </p:sp>
      <p:grpSp>
        <p:nvGrpSpPr>
          <p:cNvPr id="27" name="组合 26"/>
          <p:cNvGrpSpPr/>
          <p:nvPr/>
        </p:nvGrpSpPr>
        <p:grpSpPr bwMode="gray">
          <a:xfrm>
            <a:off x="5268104" y="3728080"/>
            <a:ext cx="540060" cy="1800200"/>
            <a:chOff x="6852084" y="2348880"/>
            <a:chExt cx="540060" cy="1800200"/>
          </a:xfrm>
        </p:grpSpPr>
        <p:sp>
          <p:nvSpPr>
            <p:cNvPr id="24" name="圆角矩形 23"/>
            <p:cNvSpPr/>
            <p:nvPr/>
          </p:nvSpPr>
          <p:spPr bwMode="gray">
            <a:xfrm>
              <a:off x="6852084" y="2348880"/>
              <a:ext cx="540060" cy="1800200"/>
            </a:xfrm>
            <a:prstGeom prst="roundRect">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25" name="文本框 24"/>
            <p:cNvSpPr txBox="1"/>
            <p:nvPr/>
          </p:nvSpPr>
          <p:spPr bwMode="gray">
            <a:xfrm>
              <a:off x="6923290" y="2844787"/>
              <a:ext cx="384106" cy="734990"/>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SP</a:t>
              </a:r>
            </a:p>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sp>
          <p:nvSpPr>
            <p:cNvPr id="26" name="任意多边形 25"/>
            <p:cNvSpPr/>
            <p:nvPr/>
          </p:nvSpPr>
          <p:spPr bwMode="gray">
            <a:xfrm>
              <a:off x="6931758" y="2483262"/>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sp>
        <p:nvSpPr>
          <p:cNvPr id="31" name="下箭头 30"/>
          <p:cNvSpPr/>
          <p:nvPr/>
        </p:nvSpPr>
        <p:spPr bwMode="gray">
          <a:xfrm rot="16200000">
            <a:off x="6096195" y="4268142"/>
            <a:ext cx="360040"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5" name="iṥ1iďe"/>
          <p:cNvSpPr txBox="1"/>
          <p:nvPr/>
        </p:nvSpPr>
        <p:spPr bwMode="gray">
          <a:xfrm>
            <a:off x="5808164" y="4106816"/>
            <a:ext cx="864096" cy="2886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dirty="0">
                <a:solidFill>
                  <a:srgbClr val="000000"/>
                </a:solidFill>
                <a:latin typeface="Huawei Sans" panose="020C0503030203020204" pitchFamily="34" charset="0"/>
                <a:ea typeface="方正兰亭黑简体" panose="02000000000000000000" pitchFamily="2" charset="-122"/>
              </a:rPr>
              <a:t>出</a:t>
            </a: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7" name="iṥ1iďe"/>
          <p:cNvSpPr txBox="1"/>
          <p:nvPr/>
        </p:nvSpPr>
        <p:spPr bwMode="gray">
          <a:xfrm>
            <a:off x="1598937" y="3908100"/>
            <a:ext cx="1328907" cy="252028"/>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高优先级队列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8" name="iṥ1iďe"/>
          <p:cNvSpPr txBox="1"/>
          <p:nvPr/>
        </p:nvSpPr>
        <p:spPr bwMode="gray">
          <a:xfrm>
            <a:off x="1598937" y="4502166"/>
            <a:ext cx="1328907" cy="252028"/>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中</a:t>
            </a: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优先级队列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9" name="iṥ1iďe"/>
          <p:cNvSpPr txBox="1"/>
          <p:nvPr/>
        </p:nvSpPr>
        <p:spPr bwMode="gray">
          <a:xfrm>
            <a:off x="1598937" y="5096232"/>
            <a:ext cx="1328907" cy="252028"/>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低</a:t>
            </a: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优先级队列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6" name="组合 5"/>
          <p:cNvGrpSpPr/>
          <p:nvPr/>
        </p:nvGrpSpPr>
        <p:grpSpPr bwMode="gray">
          <a:xfrm>
            <a:off x="2963848" y="3800088"/>
            <a:ext cx="2124236" cy="1656184"/>
            <a:chOff x="2963848" y="3800088"/>
            <a:chExt cx="2124236" cy="1656184"/>
          </a:xfrm>
        </p:grpSpPr>
        <p:sp>
          <p:nvSpPr>
            <p:cNvPr id="125" name="圆角矩形 124"/>
            <p:cNvSpPr/>
            <p:nvPr/>
          </p:nvSpPr>
          <p:spPr bwMode="gray">
            <a:xfrm>
              <a:off x="2963848" y="5024224"/>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4" name="圆角矩形 123"/>
            <p:cNvSpPr/>
            <p:nvPr/>
          </p:nvSpPr>
          <p:spPr bwMode="gray">
            <a:xfrm>
              <a:off x="2963848" y="4412156"/>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3" name="圆角矩形 122"/>
            <p:cNvSpPr/>
            <p:nvPr/>
          </p:nvSpPr>
          <p:spPr bwMode="gray">
            <a:xfrm>
              <a:off x="2963848" y="3800088"/>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7" name="矩形 6"/>
            <p:cNvSpPr/>
            <p:nvPr/>
          </p:nvSpPr>
          <p:spPr bwMode="gray">
            <a:xfrm>
              <a:off x="4442323" y="5089525"/>
              <a:ext cx="574177"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 name="iṥ1iďe"/>
            <p:cNvSpPr txBox="1"/>
            <p:nvPr/>
          </p:nvSpPr>
          <p:spPr bwMode="gray">
            <a:xfrm>
              <a:off x="4404008" y="5024224"/>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51" name="矩形 50"/>
            <p:cNvSpPr/>
            <p:nvPr/>
          </p:nvSpPr>
          <p:spPr bwMode="gray">
            <a:xfrm>
              <a:off x="4442323" y="3866083"/>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2" name="iṥ1iďe"/>
            <p:cNvSpPr txBox="1"/>
            <p:nvPr/>
          </p:nvSpPr>
          <p:spPr bwMode="gray">
            <a:xfrm>
              <a:off x="4404008" y="3800088"/>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2</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54" name="矩形 53"/>
            <p:cNvSpPr/>
            <p:nvPr/>
          </p:nvSpPr>
          <p:spPr bwMode="gray">
            <a:xfrm>
              <a:off x="4442323" y="4477804"/>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5" name="iṥ1iďe"/>
            <p:cNvSpPr txBox="1"/>
            <p:nvPr/>
          </p:nvSpPr>
          <p:spPr bwMode="gray">
            <a:xfrm>
              <a:off x="4404008" y="441215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3</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57" name="矩形 56"/>
            <p:cNvSpPr/>
            <p:nvPr/>
          </p:nvSpPr>
          <p:spPr bwMode="gray">
            <a:xfrm>
              <a:off x="3722243" y="3866083"/>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8" name="iṥ1iďe"/>
            <p:cNvSpPr txBox="1"/>
            <p:nvPr/>
          </p:nvSpPr>
          <p:spPr bwMode="gray">
            <a:xfrm>
              <a:off x="3683928" y="3800088"/>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6</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60" name="矩形 59"/>
            <p:cNvSpPr/>
            <p:nvPr/>
          </p:nvSpPr>
          <p:spPr bwMode="gray">
            <a:xfrm>
              <a:off x="3758247" y="4477804"/>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1" name="iṥ1iďe"/>
            <p:cNvSpPr txBox="1"/>
            <p:nvPr/>
          </p:nvSpPr>
          <p:spPr bwMode="gray">
            <a:xfrm>
              <a:off x="3719932" y="441215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4</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63" name="矩形 62"/>
            <p:cNvSpPr/>
            <p:nvPr/>
          </p:nvSpPr>
          <p:spPr bwMode="gray">
            <a:xfrm>
              <a:off x="3074171" y="4477804"/>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4" name="iṥ1iďe"/>
            <p:cNvSpPr txBox="1"/>
            <p:nvPr/>
          </p:nvSpPr>
          <p:spPr bwMode="gray">
            <a:xfrm>
              <a:off x="3035856" y="441215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5</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65" name="组合 64"/>
          <p:cNvGrpSpPr/>
          <p:nvPr/>
        </p:nvGrpSpPr>
        <p:grpSpPr bwMode="gray">
          <a:xfrm>
            <a:off x="10344668" y="4376152"/>
            <a:ext cx="650806" cy="432048"/>
            <a:chOff x="4007768" y="2492896"/>
            <a:chExt cx="650806" cy="432048"/>
          </a:xfrm>
        </p:grpSpPr>
        <p:sp>
          <p:nvSpPr>
            <p:cNvPr id="66" name="矩形 65"/>
            <p:cNvSpPr/>
            <p:nvPr/>
          </p:nvSpPr>
          <p:spPr bwMode="gray">
            <a:xfrm>
              <a:off x="4046083" y="2558891"/>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7" name="iṥ1iďe"/>
            <p:cNvSpPr txBox="1"/>
            <p:nvPr/>
          </p:nvSpPr>
          <p:spPr bwMode="gray">
            <a:xfrm>
              <a:off x="4007768" y="249289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2</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68" name="组合 67"/>
          <p:cNvGrpSpPr/>
          <p:nvPr/>
        </p:nvGrpSpPr>
        <p:grpSpPr bwMode="gray">
          <a:xfrm>
            <a:off x="9653392" y="4376152"/>
            <a:ext cx="650806" cy="432048"/>
            <a:chOff x="4007768" y="2492896"/>
            <a:chExt cx="650806" cy="432048"/>
          </a:xfrm>
        </p:grpSpPr>
        <p:sp>
          <p:nvSpPr>
            <p:cNvPr id="69" name="矩形 68"/>
            <p:cNvSpPr/>
            <p:nvPr/>
          </p:nvSpPr>
          <p:spPr bwMode="gray">
            <a:xfrm>
              <a:off x="4046083" y="2558891"/>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0" name="iṥ1iďe"/>
            <p:cNvSpPr txBox="1"/>
            <p:nvPr/>
          </p:nvSpPr>
          <p:spPr bwMode="gray">
            <a:xfrm>
              <a:off x="4007768" y="249289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6</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71" name="组合 70"/>
          <p:cNvGrpSpPr/>
          <p:nvPr/>
        </p:nvGrpSpPr>
        <p:grpSpPr bwMode="gray">
          <a:xfrm>
            <a:off x="8962115" y="4376152"/>
            <a:ext cx="650806" cy="432048"/>
            <a:chOff x="4007768" y="3104617"/>
            <a:chExt cx="650806" cy="432048"/>
          </a:xfrm>
        </p:grpSpPr>
        <p:sp>
          <p:nvSpPr>
            <p:cNvPr id="72" name="矩形 71"/>
            <p:cNvSpPr/>
            <p:nvPr/>
          </p:nvSpPr>
          <p:spPr bwMode="gray">
            <a:xfrm>
              <a:off x="4046083" y="3170612"/>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3" name="iṥ1iďe"/>
            <p:cNvSpPr txBox="1"/>
            <p:nvPr/>
          </p:nvSpPr>
          <p:spPr bwMode="gray">
            <a:xfrm>
              <a:off x="4007768" y="3104617"/>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3</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74" name="组合 73"/>
          <p:cNvGrpSpPr/>
          <p:nvPr/>
        </p:nvGrpSpPr>
        <p:grpSpPr bwMode="gray">
          <a:xfrm>
            <a:off x="8270838" y="4376152"/>
            <a:ext cx="650806" cy="432048"/>
            <a:chOff x="4007768" y="3104617"/>
            <a:chExt cx="650806" cy="432048"/>
          </a:xfrm>
        </p:grpSpPr>
        <p:sp>
          <p:nvSpPr>
            <p:cNvPr id="75" name="矩形 74"/>
            <p:cNvSpPr/>
            <p:nvPr/>
          </p:nvSpPr>
          <p:spPr bwMode="gray">
            <a:xfrm>
              <a:off x="4046083" y="3170612"/>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6" name="iṥ1iďe"/>
            <p:cNvSpPr txBox="1"/>
            <p:nvPr/>
          </p:nvSpPr>
          <p:spPr bwMode="gray">
            <a:xfrm>
              <a:off x="4007768" y="3104617"/>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4</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77" name="组合 76"/>
          <p:cNvGrpSpPr/>
          <p:nvPr/>
        </p:nvGrpSpPr>
        <p:grpSpPr bwMode="gray">
          <a:xfrm>
            <a:off x="7579561" y="4376152"/>
            <a:ext cx="650806" cy="432048"/>
            <a:chOff x="4007768" y="3104617"/>
            <a:chExt cx="650806" cy="432048"/>
          </a:xfrm>
        </p:grpSpPr>
        <p:sp>
          <p:nvSpPr>
            <p:cNvPr id="78" name="矩形 77"/>
            <p:cNvSpPr/>
            <p:nvPr/>
          </p:nvSpPr>
          <p:spPr bwMode="gray">
            <a:xfrm>
              <a:off x="4046083" y="3170612"/>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9" name="iṥ1iďe"/>
            <p:cNvSpPr txBox="1"/>
            <p:nvPr/>
          </p:nvSpPr>
          <p:spPr bwMode="gray">
            <a:xfrm>
              <a:off x="4007768" y="3104617"/>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5</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80" name="组合 79"/>
          <p:cNvGrpSpPr/>
          <p:nvPr/>
        </p:nvGrpSpPr>
        <p:grpSpPr bwMode="gray">
          <a:xfrm>
            <a:off x="6888284" y="4376152"/>
            <a:ext cx="650806" cy="432048"/>
            <a:chOff x="4007768" y="3716338"/>
            <a:chExt cx="650806" cy="432048"/>
          </a:xfrm>
        </p:grpSpPr>
        <p:sp>
          <p:nvSpPr>
            <p:cNvPr id="81" name="矩形 80"/>
            <p:cNvSpPr/>
            <p:nvPr/>
          </p:nvSpPr>
          <p:spPr bwMode="gray">
            <a:xfrm>
              <a:off x="4046083" y="3782333"/>
              <a:ext cx="574177"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2" name="iṥ1iďe"/>
            <p:cNvSpPr txBox="1"/>
            <p:nvPr/>
          </p:nvSpPr>
          <p:spPr bwMode="gray">
            <a:xfrm>
              <a:off x="4007768" y="3716338"/>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grpSp>
      <p:grpSp>
        <p:nvGrpSpPr>
          <p:cNvPr id="10" name="组合 9"/>
          <p:cNvGrpSpPr/>
          <p:nvPr/>
        </p:nvGrpSpPr>
        <p:grpSpPr bwMode="gray">
          <a:xfrm>
            <a:off x="1597367" y="2107900"/>
            <a:ext cx="3999178" cy="432048"/>
            <a:chOff x="1201127" y="2168860"/>
            <a:chExt cx="3999178" cy="432048"/>
          </a:xfrm>
        </p:grpSpPr>
        <p:sp>
          <p:nvSpPr>
            <p:cNvPr id="103" name="矩形 102"/>
            <p:cNvSpPr/>
            <p:nvPr/>
          </p:nvSpPr>
          <p:spPr bwMode="gray">
            <a:xfrm>
              <a:off x="4587814"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4" name="iṥ1iďe"/>
            <p:cNvSpPr txBox="1"/>
            <p:nvPr/>
          </p:nvSpPr>
          <p:spPr bwMode="gray">
            <a:xfrm>
              <a:off x="4549499"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106" name="矩形 105"/>
            <p:cNvSpPr/>
            <p:nvPr/>
          </p:nvSpPr>
          <p:spPr bwMode="gray">
            <a:xfrm>
              <a:off x="3918138"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07" name="iṥ1iďe"/>
            <p:cNvSpPr txBox="1"/>
            <p:nvPr/>
          </p:nvSpPr>
          <p:spPr bwMode="gray">
            <a:xfrm>
              <a:off x="3879823"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2</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09" name="矩形 108"/>
            <p:cNvSpPr/>
            <p:nvPr/>
          </p:nvSpPr>
          <p:spPr bwMode="gray">
            <a:xfrm>
              <a:off x="3248464"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0" name="iṥ1iďe"/>
            <p:cNvSpPr txBox="1"/>
            <p:nvPr/>
          </p:nvSpPr>
          <p:spPr bwMode="gray">
            <a:xfrm>
              <a:off x="3210149"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3</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12" name="矩形 111"/>
            <p:cNvSpPr/>
            <p:nvPr/>
          </p:nvSpPr>
          <p:spPr bwMode="gray">
            <a:xfrm>
              <a:off x="2578790"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3" name="iṥ1iďe"/>
            <p:cNvSpPr txBox="1"/>
            <p:nvPr/>
          </p:nvSpPr>
          <p:spPr bwMode="gray">
            <a:xfrm>
              <a:off x="2540475"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4</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15" name="矩形 114"/>
            <p:cNvSpPr/>
            <p:nvPr/>
          </p:nvSpPr>
          <p:spPr bwMode="gray">
            <a:xfrm>
              <a:off x="1909116"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6" name="iṥ1iďe"/>
            <p:cNvSpPr txBox="1"/>
            <p:nvPr/>
          </p:nvSpPr>
          <p:spPr bwMode="gray">
            <a:xfrm>
              <a:off x="1870801"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5</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18" name="矩形 117"/>
            <p:cNvSpPr/>
            <p:nvPr/>
          </p:nvSpPr>
          <p:spPr bwMode="gray">
            <a:xfrm>
              <a:off x="1239442"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9" name="iṥ1iďe"/>
            <p:cNvSpPr txBox="1"/>
            <p:nvPr/>
          </p:nvSpPr>
          <p:spPr bwMode="gray">
            <a:xfrm>
              <a:off x="1201127"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6</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sp>
        <p:nvSpPr>
          <p:cNvPr id="120" name="下箭头 119"/>
          <p:cNvSpPr/>
          <p:nvPr/>
        </p:nvSpPr>
        <p:spPr bwMode="gray">
          <a:xfrm>
            <a:off x="4043968" y="2827980"/>
            <a:ext cx="576064"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1" name="iṥ1iďe"/>
          <p:cNvSpPr txBox="1"/>
          <p:nvPr/>
        </p:nvSpPr>
        <p:spPr bwMode="gray">
          <a:xfrm>
            <a:off x="4133978" y="2827980"/>
            <a:ext cx="396044" cy="576064"/>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分</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类</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22" name="iṥ1iďe"/>
          <p:cNvSpPr txBox="1"/>
          <p:nvPr/>
        </p:nvSpPr>
        <p:spPr bwMode="gray">
          <a:xfrm>
            <a:off x="3179872" y="2935358"/>
            <a:ext cx="864096" cy="2886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noProof="0" dirty="0">
                <a:solidFill>
                  <a:srgbClr val="000000"/>
                </a:solidFill>
                <a:latin typeface="Huawei Sans" panose="020C0503030203020204" pitchFamily="34" charset="0"/>
                <a:ea typeface="方正兰亭黑简体" panose="02000000000000000000" pitchFamily="2" charset="-122"/>
              </a:rPr>
              <a:t>入</a:t>
            </a: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40339803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圆角矩形 124"/>
          <p:cNvSpPr/>
          <p:nvPr/>
        </p:nvSpPr>
        <p:spPr bwMode="gray">
          <a:xfrm>
            <a:off x="2963848" y="4902304"/>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4" name="圆角矩形 123"/>
          <p:cNvSpPr/>
          <p:nvPr/>
        </p:nvSpPr>
        <p:spPr bwMode="gray">
          <a:xfrm>
            <a:off x="2963848" y="4290236"/>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3" name="圆角矩形 122"/>
          <p:cNvSpPr/>
          <p:nvPr/>
        </p:nvSpPr>
        <p:spPr bwMode="gray">
          <a:xfrm>
            <a:off x="2963848" y="3678168"/>
            <a:ext cx="2124236" cy="432048"/>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 name="标题 1"/>
          <p:cNvSpPr>
            <a:spLocks noGrp="1"/>
          </p:cNvSpPr>
          <p:nvPr>
            <p:ph type="title"/>
          </p:nvPr>
        </p:nvSpPr>
        <p:spPr bwMode="gray"/>
        <p:txBody>
          <a:bodyPr/>
          <a:lstStyle/>
          <a:p>
            <a:r>
              <a:rPr lang="zh-CN" altLang="en-US" dirty="0"/>
              <a:t>加权公平队列 </a:t>
            </a:r>
            <a:r>
              <a:rPr lang="en-US" altLang="zh-CN" dirty="0"/>
              <a:t>(WFQ)</a:t>
            </a:r>
            <a:endParaRPr lang="zh-CN" altLang="en-US" dirty="0"/>
          </a:p>
        </p:txBody>
      </p:sp>
      <p:sp>
        <p:nvSpPr>
          <p:cNvPr id="3" name="文本占位符 2"/>
          <p:cNvSpPr>
            <a:spLocks noGrp="1"/>
          </p:cNvSpPr>
          <p:nvPr>
            <p:ph type="body" sz="quarter" idx="10"/>
          </p:nvPr>
        </p:nvSpPr>
        <p:spPr bwMode="gray"/>
        <p:txBody>
          <a:bodyPr/>
          <a:lstStyle/>
          <a:p>
            <a:r>
              <a:rPr lang="en-US" altLang="zh-CN" dirty="0"/>
              <a:t>WFQ</a:t>
            </a:r>
            <a:r>
              <a:rPr lang="zh-CN" altLang="en-US" dirty="0"/>
              <a:t>（</a:t>
            </a:r>
            <a:r>
              <a:rPr lang="en-US" altLang="zh-CN" dirty="0"/>
              <a:t>Weighted Fair Queuing</a:t>
            </a:r>
            <a:r>
              <a:rPr lang="zh-CN" altLang="en-US" dirty="0"/>
              <a:t>）调度是按队列权重来分配每个流占有出口的带宽。</a:t>
            </a:r>
            <a:endParaRPr lang="en-US" altLang="zh-CN" dirty="0"/>
          </a:p>
        </p:txBody>
      </p:sp>
      <p:grpSp>
        <p:nvGrpSpPr>
          <p:cNvPr id="8" name="组合 7"/>
          <p:cNvGrpSpPr/>
          <p:nvPr/>
        </p:nvGrpSpPr>
        <p:grpSpPr bwMode="gray">
          <a:xfrm>
            <a:off x="3179872" y="4902304"/>
            <a:ext cx="1874942" cy="432048"/>
            <a:chOff x="4007768" y="3717032"/>
            <a:chExt cx="650806" cy="432048"/>
          </a:xfrm>
        </p:grpSpPr>
        <p:sp>
          <p:nvSpPr>
            <p:cNvPr id="7" name="矩形 6"/>
            <p:cNvSpPr/>
            <p:nvPr/>
          </p:nvSpPr>
          <p:spPr bwMode="gray">
            <a:xfrm>
              <a:off x="4046083" y="3782333"/>
              <a:ext cx="574177"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 name="iṥ1iďe"/>
            <p:cNvSpPr txBox="1"/>
            <p:nvPr/>
          </p:nvSpPr>
          <p:spPr bwMode="gray">
            <a:xfrm>
              <a:off x="4007768" y="3717032"/>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8bit</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27" name="组合 26"/>
          <p:cNvGrpSpPr/>
          <p:nvPr/>
        </p:nvGrpSpPr>
        <p:grpSpPr bwMode="gray">
          <a:xfrm>
            <a:off x="5268104" y="3606160"/>
            <a:ext cx="631336" cy="1800200"/>
            <a:chOff x="6852084" y="2348880"/>
            <a:chExt cx="631336" cy="1800200"/>
          </a:xfrm>
        </p:grpSpPr>
        <p:sp>
          <p:nvSpPr>
            <p:cNvPr id="24" name="圆角矩形 23"/>
            <p:cNvSpPr/>
            <p:nvPr/>
          </p:nvSpPr>
          <p:spPr bwMode="gray">
            <a:xfrm>
              <a:off x="6852084" y="2348880"/>
              <a:ext cx="540060" cy="1800200"/>
            </a:xfrm>
            <a:prstGeom prst="roundRect">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25" name="文本框 24"/>
            <p:cNvSpPr txBox="1"/>
            <p:nvPr/>
          </p:nvSpPr>
          <p:spPr bwMode="gray">
            <a:xfrm>
              <a:off x="6863671" y="2975335"/>
              <a:ext cx="619749" cy="734990"/>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WFQ</a:t>
              </a:r>
            </a:p>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sp>
          <p:nvSpPr>
            <p:cNvPr id="26" name="任意多边形 25"/>
            <p:cNvSpPr/>
            <p:nvPr/>
          </p:nvSpPr>
          <p:spPr bwMode="gray">
            <a:xfrm>
              <a:off x="6931758" y="2483262"/>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grpSp>
      <p:sp>
        <p:nvSpPr>
          <p:cNvPr id="31" name="下箭头 30"/>
          <p:cNvSpPr/>
          <p:nvPr/>
        </p:nvSpPr>
        <p:spPr bwMode="gray">
          <a:xfrm rot="16200000">
            <a:off x="6096195" y="4146222"/>
            <a:ext cx="360040"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5" name="iṥ1iďe"/>
          <p:cNvSpPr txBox="1"/>
          <p:nvPr/>
        </p:nvSpPr>
        <p:spPr bwMode="gray">
          <a:xfrm>
            <a:off x="5808164" y="3984896"/>
            <a:ext cx="864096" cy="2886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dirty="0">
                <a:solidFill>
                  <a:srgbClr val="000000"/>
                </a:solidFill>
                <a:latin typeface="Huawei Sans" panose="020C0503030203020204" pitchFamily="34" charset="0"/>
                <a:ea typeface="方正兰亭黑简体" panose="02000000000000000000" pitchFamily="2" charset="-122"/>
              </a:rPr>
              <a:t>出</a:t>
            </a: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7" name="iṥ1iďe"/>
          <p:cNvSpPr txBox="1"/>
          <p:nvPr/>
        </p:nvSpPr>
        <p:spPr bwMode="gray">
          <a:xfrm>
            <a:off x="1127645" y="3750176"/>
            <a:ext cx="1800200" cy="28803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高优先级队列</a:t>
            </a:r>
            <a:r>
              <a:rPr lang="en-US" altLang="zh-CN" sz="1400" b="1" kern="0" dirty="0">
                <a:solidFill>
                  <a:srgbClr val="000000"/>
                </a:solidFill>
                <a:latin typeface="Huawei Sans" panose="020C0503030203020204" pitchFamily="34" charset="0"/>
                <a:ea typeface="方正兰亭黑简体" panose="02000000000000000000" pitchFamily="2" charset="-122"/>
              </a:rPr>
              <a:t>: 50%</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8" name="iṥ1iďe"/>
          <p:cNvSpPr txBox="1"/>
          <p:nvPr/>
        </p:nvSpPr>
        <p:spPr bwMode="gray">
          <a:xfrm>
            <a:off x="1127645" y="4380246"/>
            <a:ext cx="1800200" cy="28803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中优先级队列</a:t>
            </a:r>
            <a:r>
              <a:rPr lang="en-US" altLang="zh-CN" sz="1400" b="1" kern="0" dirty="0">
                <a:solidFill>
                  <a:srgbClr val="000000"/>
                </a:solidFill>
                <a:latin typeface="Huawei Sans" panose="020C0503030203020204" pitchFamily="34" charset="0"/>
                <a:ea typeface="方正兰亭黑简体" panose="02000000000000000000" pitchFamily="2" charset="-122"/>
              </a:rPr>
              <a:t>: 25%</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49" name="iṥ1iďe"/>
          <p:cNvSpPr txBox="1"/>
          <p:nvPr/>
        </p:nvSpPr>
        <p:spPr bwMode="gray">
          <a:xfrm>
            <a:off x="1127645" y="4974312"/>
            <a:ext cx="1800200" cy="288032"/>
          </a:xfrm>
          <a:prstGeom prst="rect">
            <a:avLst/>
          </a:prstGeom>
          <a:noFill/>
        </p:spPr>
        <p:txBody>
          <a:bodyPr wrap="square" lIns="91440" tIns="45720" rIns="91440" bIns="45720" anchor="ctr" anchorCtr="1">
            <a:noAutofit/>
          </a:bodyPr>
          <a:lstStyle/>
          <a:p>
            <a:pPr lvl="0" algn="ctr">
              <a:defRPr/>
            </a:pPr>
            <a:r>
              <a:rPr lang="zh-CN" altLang="en-US" sz="1400" b="1" kern="0" dirty="0">
                <a:solidFill>
                  <a:srgbClr val="000000"/>
                </a:solidFill>
                <a:latin typeface="Huawei Sans" panose="020C0503030203020204" pitchFamily="34" charset="0"/>
                <a:ea typeface="方正兰亭黑简体" panose="02000000000000000000" pitchFamily="2" charset="-122"/>
              </a:rPr>
              <a:t>低优先级队列</a:t>
            </a:r>
            <a:r>
              <a:rPr lang="en-US" altLang="zh-CN" sz="1400" b="1" kern="0" dirty="0">
                <a:solidFill>
                  <a:srgbClr val="000000"/>
                </a:solidFill>
                <a:latin typeface="Huawei Sans" panose="020C0503030203020204" pitchFamily="34" charset="0"/>
                <a:ea typeface="方正兰亭黑简体" panose="02000000000000000000" pitchFamily="2" charset="-122"/>
              </a:rPr>
              <a:t>: 25%</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nvGrpSpPr>
          <p:cNvPr id="4" name="组合 3"/>
          <p:cNvGrpSpPr/>
          <p:nvPr/>
        </p:nvGrpSpPr>
        <p:grpSpPr bwMode="gray">
          <a:xfrm>
            <a:off x="3971960" y="3678168"/>
            <a:ext cx="1082854" cy="432048"/>
            <a:chOff x="4007768" y="2492896"/>
            <a:chExt cx="650806" cy="432048"/>
          </a:xfrm>
        </p:grpSpPr>
        <p:sp>
          <p:nvSpPr>
            <p:cNvPr id="51" name="矩形 50"/>
            <p:cNvSpPr/>
            <p:nvPr/>
          </p:nvSpPr>
          <p:spPr bwMode="gray">
            <a:xfrm>
              <a:off x="4046083" y="2558891"/>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2" name="iṥ1iďe"/>
            <p:cNvSpPr txBox="1"/>
            <p:nvPr/>
          </p:nvSpPr>
          <p:spPr bwMode="gray">
            <a:xfrm>
              <a:off x="4007768" y="249289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4</a:t>
              </a:r>
              <a:r>
                <a:rPr lang="en-US" altLang="zh-CN" sz="1400" kern="0" dirty="0">
                  <a:solidFill>
                    <a:srgbClr val="000000"/>
                  </a:solidFill>
                  <a:latin typeface="Huawei Sans" panose="020C0503030203020204" pitchFamily="34" charset="0"/>
                  <a:ea typeface="方正兰亭黑简体" panose="02000000000000000000" pitchFamily="2" charset="-122"/>
                </a:rPr>
                <a:t>bit</a:t>
              </a:r>
              <a:r>
                <a:rPr lang="zh-CN" altLang="en-US" sz="1400" kern="0" dirty="0">
                  <a:solidFill>
                    <a:srgbClr val="000000"/>
                  </a:solidFill>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5" name="组合 4"/>
          <p:cNvGrpSpPr/>
          <p:nvPr/>
        </p:nvGrpSpPr>
        <p:grpSpPr bwMode="gray">
          <a:xfrm>
            <a:off x="3539912" y="4290236"/>
            <a:ext cx="1514902" cy="432048"/>
            <a:chOff x="4007768" y="3104964"/>
            <a:chExt cx="650806" cy="432048"/>
          </a:xfrm>
        </p:grpSpPr>
        <p:sp>
          <p:nvSpPr>
            <p:cNvPr id="54" name="矩形 53"/>
            <p:cNvSpPr/>
            <p:nvPr/>
          </p:nvSpPr>
          <p:spPr bwMode="gray">
            <a:xfrm>
              <a:off x="4046083" y="3170612"/>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5" name="iṥ1iďe"/>
            <p:cNvSpPr txBox="1"/>
            <p:nvPr/>
          </p:nvSpPr>
          <p:spPr bwMode="gray">
            <a:xfrm>
              <a:off x="4007768" y="3104964"/>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6bit</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sp>
        <p:nvSpPr>
          <p:cNvPr id="120" name="下箭头 119"/>
          <p:cNvSpPr/>
          <p:nvPr/>
        </p:nvSpPr>
        <p:spPr bwMode="gray">
          <a:xfrm>
            <a:off x="4043968" y="2706060"/>
            <a:ext cx="576064" cy="720078"/>
          </a:xfrm>
          <a:prstGeom prst="downArrow">
            <a:avLst/>
          </a:prstGeom>
          <a:solidFill>
            <a:schemeClr val="bg1">
              <a:lumMod val="95000"/>
            </a:schemeClr>
          </a:solid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1" name="iṥ1iďe"/>
          <p:cNvSpPr txBox="1"/>
          <p:nvPr/>
        </p:nvSpPr>
        <p:spPr bwMode="gray">
          <a:xfrm>
            <a:off x="4133978" y="2706060"/>
            <a:ext cx="396044" cy="576064"/>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分</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类</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22" name="iṥ1iďe"/>
          <p:cNvSpPr txBox="1"/>
          <p:nvPr/>
        </p:nvSpPr>
        <p:spPr bwMode="gray">
          <a:xfrm>
            <a:off x="3179872" y="2813438"/>
            <a:ext cx="864096" cy="28866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600" b="1" kern="0" noProof="0" dirty="0">
                <a:solidFill>
                  <a:srgbClr val="000000"/>
                </a:solidFill>
                <a:latin typeface="Huawei Sans" panose="020C0503030203020204" pitchFamily="34" charset="0"/>
                <a:ea typeface="方正兰亭黑简体" panose="02000000000000000000" pitchFamily="2" charset="-122"/>
              </a:rPr>
              <a:t>入</a:t>
            </a:r>
            <a:r>
              <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endPar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00" name="矩形 99"/>
          <p:cNvSpPr/>
          <p:nvPr/>
        </p:nvSpPr>
        <p:spPr bwMode="gray">
          <a:xfrm>
            <a:off x="8045568" y="4326240"/>
            <a:ext cx="144000"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02" name="矩形 101"/>
          <p:cNvSpPr/>
          <p:nvPr/>
        </p:nvSpPr>
        <p:spPr bwMode="gray">
          <a:xfrm>
            <a:off x="8230731" y="4326240"/>
            <a:ext cx="144000"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05" name="矩形 104"/>
          <p:cNvSpPr/>
          <p:nvPr/>
        </p:nvSpPr>
        <p:spPr bwMode="gray">
          <a:xfrm>
            <a:off x="7860405"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08" name="矩形 107"/>
          <p:cNvSpPr/>
          <p:nvPr/>
        </p:nvSpPr>
        <p:spPr bwMode="gray">
          <a:xfrm>
            <a:off x="7675242" y="4326240"/>
            <a:ext cx="144000"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11" name="矩形 110"/>
          <p:cNvSpPr/>
          <p:nvPr/>
        </p:nvSpPr>
        <p:spPr bwMode="gray">
          <a:xfrm>
            <a:off x="7490079"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14" name="矩形 113"/>
          <p:cNvSpPr/>
          <p:nvPr/>
        </p:nvSpPr>
        <p:spPr bwMode="gray">
          <a:xfrm>
            <a:off x="7304916" y="4326240"/>
            <a:ext cx="144000"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7" name="矩形 116"/>
          <p:cNvSpPr/>
          <p:nvPr/>
        </p:nvSpPr>
        <p:spPr bwMode="gray">
          <a:xfrm>
            <a:off x="7119753"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26" name="矩形 125"/>
          <p:cNvSpPr/>
          <p:nvPr/>
        </p:nvSpPr>
        <p:spPr bwMode="gray">
          <a:xfrm>
            <a:off x="6749427"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8" name="矩形 127"/>
          <p:cNvSpPr/>
          <p:nvPr/>
        </p:nvSpPr>
        <p:spPr bwMode="gray">
          <a:xfrm>
            <a:off x="8415894" y="4326240"/>
            <a:ext cx="144000"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29" name="矩形 128"/>
          <p:cNvSpPr/>
          <p:nvPr/>
        </p:nvSpPr>
        <p:spPr bwMode="gray">
          <a:xfrm>
            <a:off x="6934590"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30" name="矩形 129"/>
          <p:cNvSpPr/>
          <p:nvPr/>
        </p:nvSpPr>
        <p:spPr bwMode="gray">
          <a:xfrm>
            <a:off x="8601057" y="4326240"/>
            <a:ext cx="144000"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31" name="矩形 130"/>
          <p:cNvSpPr/>
          <p:nvPr/>
        </p:nvSpPr>
        <p:spPr bwMode="gray">
          <a:xfrm>
            <a:off x="8786220" y="4326240"/>
            <a:ext cx="144000"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32" name="矩形 131"/>
          <p:cNvSpPr/>
          <p:nvPr/>
        </p:nvSpPr>
        <p:spPr bwMode="gray">
          <a:xfrm>
            <a:off x="8971383" y="4326240"/>
            <a:ext cx="144000"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400" dirty="0">
              <a:latin typeface="Huawei Sans" panose="020C0503030203020204" pitchFamily="34" charset="0"/>
              <a:ea typeface="方正兰亭黑简体" panose="02000000000000000000" pitchFamily="2" charset="-122"/>
            </a:endParaRPr>
          </a:p>
        </p:txBody>
      </p:sp>
      <p:sp>
        <p:nvSpPr>
          <p:cNvPr id="133" name="矩形 132"/>
          <p:cNvSpPr/>
          <p:nvPr/>
        </p:nvSpPr>
        <p:spPr bwMode="gray">
          <a:xfrm>
            <a:off x="9156552" y="4326240"/>
            <a:ext cx="144000"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4" name="iṥ1iďe"/>
          <p:cNvSpPr txBox="1"/>
          <p:nvPr/>
        </p:nvSpPr>
        <p:spPr bwMode="gray">
          <a:xfrm>
            <a:off x="7392340" y="3984896"/>
            <a:ext cx="1116124" cy="26933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Bit-by-bit</a:t>
            </a:r>
          </a:p>
        </p:txBody>
      </p:sp>
      <p:grpSp>
        <p:nvGrpSpPr>
          <p:cNvPr id="6" name="组合 5"/>
          <p:cNvGrpSpPr/>
          <p:nvPr/>
        </p:nvGrpSpPr>
        <p:grpSpPr bwMode="gray">
          <a:xfrm>
            <a:off x="7026832" y="5262344"/>
            <a:ext cx="4253940" cy="432048"/>
            <a:chOff x="7026832" y="5262344"/>
            <a:chExt cx="4253940" cy="432048"/>
          </a:xfrm>
        </p:grpSpPr>
        <p:grpSp>
          <p:nvGrpSpPr>
            <p:cNvPr id="137" name="组合 136"/>
            <p:cNvGrpSpPr/>
            <p:nvPr/>
          </p:nvGrpSpPr>
          <p:grpSpPr bwMode="gray">
            <a:xfrm>
              <a:off x="10197918" y="5262344"/>
              <a:ext cx="1082854" cy="432048"/>
              <a:chOff x="4007768" y="2474894"/>
              <a:chExt cx="650806" cy="432048"/>
            </a:xfrm>
          </p:grpSpPr>
          <p:sp>
            <p:nvSpPr>
              <p:cNvPr id="138" name="矩形 137"/>
              <p:cNvSpPr/>
              <p:nvPr/>
            </p:nvSpPr>
            <p:spPr bwMode="gray">
              <a:xfrm>
                <a:off x="4046083" y="2558891"/>
                <a:ext cx="574177" cy="300058"/>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39" name="iṥ1iďe"/>
              <p:cNvSpPr txBox="1"/>
              <p:nvPr/>
            </p:nvSpPr>
            <p:spPr bwMode="gray">
              <a:xfrm>
                <a:off x="4007768" y="2474894"/>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4</a:t>
                </a:r>
                <a:r>
                  <a:rPr lang="en-US" altLang="zh-CN" sz="1400" kern="0" dirty="0">
                    <a:solidFill>
                      <a:srgbClr val="000000"/>
                    </a:solidFill>
                    <a:latin typeface="Huawei Sans" panose="020C0503030203020204" pitchFamily="34" charset="0"/>
                    <a:ea typeface="方正兰亭黑简体" panose="02000000000000000000" pitchFamily="2" charset="-122"/>
                  </a:rPr>
                  <a:t>bit</a:t>
                </a:r>
                <a:r>
                  <a:rPr lang="zh-CN" altLang="en-US" sz="1400" kern="0" dirty="0">
                    <a:solidFill>
                      <a:srgbClr val="000000"/>
                    </a:solidFill>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40" name="组合 139"/>
            <p:cNvGrpSpPr/>
            <p:nvPr/>
          </p:nvGrpSpPr>
          <p:grpSpPr bwMode="gray">
            <a:xfrm>
              <a:off x="8775760" y="5262344"/>
              <a:ext cx="1514902" cy="432048"/>
              <a:chOff x="4007768" y="3086615"/>
              <a:chExt cx="650806" cy="432048"/>
            </a:xfrm>
          </p:grpSpPr>
          <p:sp>
            <p:nvSpPr>
              <p:cNvPr id="141" name="矩形 140"/>
              <p:cNvSpPr/>
              <p:nvPr/>
            </p:nvSpPr>
            <p:spPr bwMode="gray">
              <a:xfrm>
                <a:off x="4046083" y="3170612"/>
                <a:ext cx="574177" cy="300058"/>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2" name="iṥ1iďe"/>
              <p:cNvSpPr txBox="1"/>
              <p:nvPr/>
            </p:nvSpPr>
            <p:spPr bwMode="gray">
              <a:xfrm>
                <a:off x="4007768" y="3086615"/>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6bit</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43" name="组合 142"/>
            <p:cNvGrpSpPr/>
            <p:nvPr/>
          </p:nvGrpSpPr>
          <p:grpSpPr bwMode="gray">
            <a:xfrm>
              <a:off x="7026832" y="5262344"/>
              <a:ext cx="1874942" cy="432048"/>
              <a:chOff x="4007768" y="3698336"/>
              <a:chExt cx="650806" cy="432048"/>
            </a:xfrm>
          </p:grpSpPr>
          <p:sp>
            <p:nvSpPr>
              <p:cNvPr id="144" name="矩形 143"/>
              <p:cNvSpPr/>
              <p:nvPr/>
            </p:nvSpPr>
            <p:spPr bwMode="gray">
              <a:xfrm>
                <a:off x="4046083" y="3782333"/>
                <a:ext cx="574177" cy="300058"/>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45" name="iṥ1iďe"/>
              <p:cNvSpPr txBox="1"/>
              <p:nvPr/>
            </p:nvSpPr>
            <p:spPr bwMode="gray">
              <a:xfrm>
                <a:off x="4007768" y="3698336"/>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8bit</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cxnSp>
        <p:nvCxnSpPr>
          <p:cNvPr id="146" name="肘形连接符 145"/>
          <p:cNvCxnSpPr/>
          <p:nvPr/>
        </p:nvCxnSpPr>
        <p:spPr bwMode="gray">
          <a:xfrm rot="16200000" flipH="1">
            <a:off x="9426566" y="4668278"/>
            <a:ext cx="648072" cy="396044"/>
          </a:xfrm>
          <a:prstGeom prst="bentConnector3">
            <a:avLst>
              <a:gd name="adj1" fmla="val -951"/>
            </a:avLst>
          </a:prstGeom>
          <a:solidFill>
            <a:schemeClr val="accent1"/>
          </a:solidFill>
          <a:ln w="19050" cap="flat" cmpd="sng" algn="ctr">
            <a:solidFill>
              <a:schemeClr val="tx1"/>
            </a:solidFill>
            <a:prstDash val="solid"/>
            <a:round/>
            <a:headEnd type="oval" w="med" len="med"/>
            <a:tailEnd type="triangle" w="med" len="med"/>
          </a:ln>
          <a:effectLst/>
        </p:spPr>
      </p:cxnSp>
      <p:sp>
        <p:nvSpPr>
          <p:cNvPr id="147" name="iṥ1iďe"/>
          <p:cNvSpPr txBox="1"/>
          <p:nvPr/>
        </p:nvSpPr>
        <p:spPr bwMode="gray">
          <a:xfrm>
            <a:off x="9876616" y="4686280"/>
            <a:ext cx="1116124" cy="26933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报文组装</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48" name="iṥ1iďe"/>
          <p:cNvSpPr txBox="1"/>
          <p:nvPr/>
        </p:nvSpPr>
        <p:spPr bwMode="gray">
          <a:xfrm>
            <a:off x="8940512" y="5802404"/>
            <a:ext cx="1116124" cy="26933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离开的报文</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71" name="Can 9">
            <a:extLst>
              <a:ext uri="{FF2B5EF4-FFF2-40B4-BE49-F238E27FC236}">
                <a16:creationId xmlns:a16="http://schemas.microsoft.com/office/drawing/2014/main" id="{FB3EF7AF-12FC-4926-B541-68FBEA592DB6}"/>
              </a:ext>
            </a:extLst>
          </p:cNvPr>
          <p:cNvSpPr/>
          <p:nvPr/>
        </p:nvSpPr>
        <p:spPr bwMode="gray">
          <a:xfrm rot="5400000">
            <a:off x="3465917" y="74405"/>
            <a:ext cx="432047" cy="4252447"/>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9">
            <a:extLst>
              <a:ext uri="{FF2B5EF4-FFF2-40B4-BE49-F238E27FC236}">
                <a16:creationId xmlns:a16="http://schemas.microsoft.com/office/drawing/2014/main" id="{DA8ADC26-3A3B-46DA-B615-0A3EA35DBAD4}"/>
              </a:ext>
            </a:extLst>
          </p:cNvPr>
          <p:cNvGrpSpPr/>
          <p:nvPr/>
        </p:nvGrpSpPr>
        <p:grpSpPr bwMode="gray">
          <a:xfrm>
            <a:off x="1597367" y="1985980"/>
            <a:ext cx="3999178" cy="432048"/>
            <a:chOff x="1201127" y="2168860"/>
            <a:chExt cx="3999178" cy="432048"/>
          </a:xfrm>
        </p:grpSpPr>
        <p:sp>
          <p:nvSpPr>
            <p:cNvPr id="73" name="矩形 102">
              <a:extLst>
                <a:ext uri="{FF2B5EF4-FFF2-40B4-BE49-F238E27FC236}">
                  <a16:creationId xmlns:a16="http://schemas.microsoft.com/office/drawing/2014/main" id="{681B3886-7288-4906-8461-E0AC75CBA1CD}"/>
                </a:ext>
              </a:extLst>
            </p:cNvPr>
            <p:cNvSpPr/>
            <p:nvPr/>
          </p:nvSpPr>
          <p:spPr bwMode="gray">
            <a:xfrm>
              <a:off x="4587814"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4" name="iṥ1iďe">
              <a:extLst>
                <a:ext uri="{FF2B5EF4-FFF2-40B4-BE49-F238E27FC236}">
                  <a16:creationId xmlns:a16="http://schemas.microsoft.com/office/drawing/2014/main" id="{A133E3E9-31F3-4479-A680-A0484C649045}"/>
                </a:ext>
              </a:extLst>
            </p:cNvPr>
            <p:cNvSpPr txBox="1"/>
            <p:nvPr/>
          </p:nvSpPr>
          <p:spPr bwMode="gray">
            <a:xfrm>
              <a:off x="4549499"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75" name="矩形 105">
              <a:extLst>
                <a:ext uri="{FF2B5EF4-FFF2-40B4-BE49-F238E27FC236}">
                  <a16:creationId xmlns:a16="http://schemas.microsoft.com/office/drawing/2014/main" id="{60591204-AE2C-4BD4-B5DB-67D5ACC4E21A}"/>
                </a:ext>
              </a:extLst>
            </p:cNvPr>
            <p:cNvSpPr/>
            <p:nvPr/>
          </p:nvSpPr>
          <p:spPr bwMode="gray">
            <a:xfrm>
              <a:off x="3918138"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6" name="iṥ1iďe">
              <a:extLst>
                <a:ext uri="{FF2B5EF4-FFF2-40B4-BE49-F238E27FC236}">
                  <a16:creationId xmlns:a16="http://schemas.microsoft.com/office/drawing/2014/main" id="{26D34662-39F8-4268-8E11-F8668449B00A}"/>
                </a:ext>
              </a:extLst>
            </p:cNvPr>
            <p:cNvSpPr txBox="1"/>
            <p:nvPr/>
          </p:nvSpPr>
          <p:spPr bwMode="gray">
            <a:xfrm>
              <a:off x="3879823"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2</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77" name="矩形 108">
              <a:extLst>
                <a:ext uri="{FF2B5EF4-FFF2-40B4-BE49-F238E27FC236}">
                  <a16:creationId xmlns:a16="http://schemas.microsoft.com/office/drawing/2014/main" id="{60EA09FD-AB58-4390-8209-12C5515076C1}"/>
                </a:ext>
              </a:extLst>
            </p:cNvPr>
            <p:cNvSpPr/>
            <p:nvPr/>
          </p:nvSpPr>
          <p:spPr bwMode="gray">
            <a:xfrm>
              <a:off x="3248464"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8" name="iṥ1iďe">
              <a:extLst>
                <a:ext uri="{FF2B5EF4-FFF2-40B4-BE49-F238E27FC236}">
                  <a16:creationId xmlns:a16="http://schemas.microsoft.com/office/drawing/2014/main" id="{17156C78-6FB4-4AC5-AD77-C8AB957DD0D1}"/>
                </a:ext>
              </a:extLst>
            </p:cNvPr>
            <p:cNvSpPr txBox="1"/>
            <p:nvPr/>
          </p:nvSpPr>
          <p:spPr bwMode="gray">
            <a:xfrm>
              <a:off x="3210149"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3</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79" name="矩形 111">
              <a:extLst>
                <a:ext uri="{FF2B5EF4-FFF2-40B4-BE49-F238E27FC236}">
                  <a16:creationId xmlns:a16="http://schemas.microsoft.com/office/drawing/2014/main" id="{358055BB-CE75-4AFD-983D-351026FC34DB}"/>
                </a:ext>
              </a:extLst>
            </p:cNvPr>
            <p:cNvSpPr/>
            <p:nvPr/>
          </p:nvSpPr>
          <p:spPr bwMode="gray">
            <a:xfrm>
              <a:off x="2578790"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0" name="iṥ1iďe">
              <a:extLst>
                <a:ext uri="{FF2B5EF4-FFF2-40B4-BE49-F238E27FC236}">
                  <a16:creationId xmlns:a16="http://schemas.microsoft.com/office/drawing/2014/main" id="{D350D68B-BE0C-4BE7-8815-241642997527}"/>
                </a:ext>
              </a:extLst>
            </p:cNvPr>
            <p:cNvSpPr txBox="1"/>
            <p:nvPr/>
          </p:nvSpPr>
          <p:spPr bwMode="gray">
            <a:xfrm>
              <a:off x="2540475"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4</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81" name="矩形 114">
              <a:extLst>
                <a:ext uri="{FF2B5EF4-FFF2-40B4-BE49-F238E27FC236}">
                  <a16:creationId xmlns:a16="http://schemas.microsoft.com/office/drawing/2014/main" id="{A4D57DFB-A368-4235-A250-FEEEAEAD866C}"/>
                </a:ext>
              </a:extLst>
            </p:cNvPr>
            <p:cNvSpPr/>
            <p:nvPr/>
          </p:nvSpPr>
          <p:spPr bwMode="gray">
            <a:xfrm>
              <a:off x="1909116"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2" name="iṥ1iďe">
              <a:extLst>
                <a:ext uri="{FF2B5EF4-FFF2-40B4-BE49-F238E27FC236}">
                  <a16:creationId xmlns:a16="http://schemas.microsoft.com/office/drawing/2014/main" id="{C09140CD-A77F-4205-B399-87FF7C24973B}"/>
                </a:ext>
              </a:extLst>
            </p:cNvPr>
            <p:cNvSpPr txBox="1"/>
            <p:nvPr/>
          </p:nvSpPr>
          <p:spPr bwMode="gray">
            <a:xfrm>
              <a:off x="1870801" y="2168860"/>
              <a:ext cx="650806" cy="432048"/>
            </a:xfrm>
            <a:prstGeom prst="rect">
              <a:avLst/>
            </a:prstGeom>
            <a:noFill/>
          </p:spPr>
          <p:txBody>
            <a:bodyPr wrap="square" lIns="91440" tIns="45720" rIns="91440" bIns="45720" anchor="ctr" anchorCtr="1">
              <a:noAutofit/>
            </a:bodyPr>
            <a:lstStyle/>
            <a:p>
              <a:pPr algn="ctr" defTabSz="914400">
                <a:spcBef>
                  <a:spcPct val="0"/>
                </a:spcBef>
                <a:spcAft>
                  <a:spcPct val="0"/>
                </a:spcAft>
                <a:defRPr/>
              </a:pPr>
              <a:r>
                <a:rPr lang="zh-CN" altLang="en-US" sz="1400" kern="0" dirty="0">
                  <a:solidFill>
                    <a:srgbClr val="000000"/>
                  </a:solidFill>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5</a:t>
              </a:r>
            </a:p>
          </p:txBody>
        </p:sp>
        <p:sp>
          <p:nvSpPr>
            <p:cNvPr id="83" name="矩形 117">
              <a:extLst>
                <a:ext uri="{FF2B5EF4-FFF2-40B4-BE49-F238E27FC236}">
                  <a16:creationId xmlns:a16="http://schemas.microsoft.com/office/drawing/2014/main" id="{09970B71-5C6E-4E8F-95AC-A6034EF0DCE1}"/>
                </a:ext>
              </a:extLst>
            </p:cNvPr>
            <p:cNvSpPr/>
            <p:nvPr/>
          </p:nvSpPr>
          <p:spPr bwMode="gray">
            <a:xfrm>
              <a:off x="1239442" y="2234855"/>
              <a:ext cx="574177" cy="300058"/>
            </a:xfrm>
            <a:prstGeom prst="rect">
              <a:avLst/>
            </a:prstGeom>
            <a:solidFill>
              <a:srgbClr val="D9D9D9"/>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8" name="iṥ1iďe">
              <a:extLst>
                <a:ext uri="{FF2B5EF4-FFF2-40B4-BE49-F238E27FC236}">
                  <a16:creationId xmlns:a16="http://schemas.microsoft.com/office/drawing/2014/main" id="{77114BCB-D59E-4BA6-9129-60024B75142D}"/>
                </a:ext>
              </a:extLst>
            </p:cNvPr>
            <p:cNvSpPr txBox="1"/>
            <p:nvPr/>
          </p:nvSpPr>
          <p:spPr bwMode="gray">
            <a:xfrm>
              <a:off x="1201127" y="2168860"/>
              <a:ext cx="650806" cy="43204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报文</a:t>
              </a:r>
              <a:r>
                <a:rPr lang="en-US" altLang="zh-CN" sz="1400" kern="0" dirty="0">
                  <a:solidFill>
                    <a:srgbClr val="000000"/>
                  </a:solidFill>
                  <a:latin typeface="Huawei Sans" panose="020C0503030203020204" pitchFamily="34" charset="0"/>
                  <a:ea typeface="方正兰亭黑简体" panose="02000000000000000000" pitchFamily="2" charset="-122"/>
                </a:rPr>
                <a:t>6</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6" name="组合 15">
            <a:extLst>
              <a:ext uri="{FF2B5EF4-FFF2-40B4-BE49-F238E27FC236}">
                <a16:creationId xmlns:a16="http://schemas.microsoft.com/office/drawing/2014/main" id="{79EE68E7-0667-B242-148F-4B38483D00AA}"/>
              </a:ext>
            </a:extLst>
          </p:cNvPr>
          <p:cNvGrpSpPr/>
          <p:nvPr/>
        </p:nvGrpSpPr>
        <p:grpSpPr>
          <a:xfrm>
            <a:off x="508969" y="3274519"/>
            <a:ext cx="766080" cy="2312280"/>
            <a:chOff x="508969" y="3274519"/>
            <a:chExt cx="766080" cy="2312280"/>
          </a:xfrm>
        </p:grpSpPr>
        <mc:AlternateContent xmlns:mc="http://schemas.openxmlformats.org/markup-compatibility/2006">
          <mc:Choice xmlns:p14="http://schemas.microsoft.com/office/powerpoint/2010/main" Requires="p14">
            <p:contentPart p14:bwMode="auto" r:id="rId3">
              <p14:nvContentPartPr>
                <p14:cNvPr id="9" name="墨迹 8">
                  <a:extLst>
                    <a:ext uri="{FF2B5EF4-FFF2-40B4-BE49-F238E27FC236}">
                      <a16:creationId xmlns:a16="http://schemas.microsoft.com/office/drawing/2014/main" id="{ADF3FB1F-4E3D-11A1-BF48-4C5B8CEDD8DE}"/>
                    </a:ext>
                  </a:extLst>
                </p14:cNvPr>
                <p14:cNvContentPartPr/>
                <p14:nvPr/>
              </p14:nvContentPartPr>
              <p14:xfrm>
                <a:off x="764209" y="3747199"/>
                <a:ext cx="188640" cy="210600"/>
              </p14:xfrm>
            </p:contentPart>
          </mc:Choice>
          <mc:Fallback>
            <p:pic>
              <p:nvPicPr>
                <p:cNvPr id="9" name="墨迹 8">
                  <a:extLst>
                    <a:ext uri="{FF2B5EF4-FFF2-40B4-BE49-F238E27FC236}">
                      <a16:creationId xmlns:a16="http://schemas.microsoft.com/office/drawing/2014/main" id="{ADF3FB1F-4E3D-11A1-BF48-4C5B8CEDD8DE}"/>
                    </a:ext>
                  </a:extLst>
                </p:cNvPr>
                <p:cNvPicPr/>
                <p:nvPr/>
              </p:nvPicPr>
              <p:blipFill>
                <a:blip r:embed="rId4"/>
                <a:stretch>
                  <a:fillRect/>
                </a:stretch>
              </p:blipFill>
              <p:spPr>
                <a:xfrm>
                  <a:off x="755569" y="3738559"/>
                  <a:ext cx="2062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墨迹 9">
                  <a:extLst>
                    <a:ext uri="{FF2B5EF4-FFF2-40B4-BE49-F238E27FC236}">
                      <a16:creationId xmlns:a16="http://schemas.microsoft.com/office/drawing/2014/main" id="{77613FE1-575A-EF9E-4C71-A161A8192887}"/>
                    </a:ext>
                  </a:extLst>
                </p14:cNvPr>
                <p14:cNvContentPartPr/>
                <p14:nvPr/>
              </p14:nvContentPartPr>
              <p14:xfrm>
                <a:off x="839089" y="3972199"/>
                <a:ext cx="258840" cy="360"/>
              </p14:xfrm>
            </p:contentPart>
          </mc:Choice>
          <mc:Fallback>
            <p:pic>
              <p:nvPicPr>
                <p:cNvPr id="10" name="墨迹 9">
                  <a:extLst>
                    <a:ext uri="{FF2B5EF4-FFF2-40B4-BE49-F238E27FC236}">
                      <a16:creationId xmlns:a16="http://schemas.microsoft.com/office/drawing/2014/main" id="{77613FE1-575A-EF9E-4C71-A161A8192887}"/>
                    </a:ext>
                  </a:extLst>
                </p:cNvPr>
                <p:cNvPicPr/>
                <p:nvPr/>
              </p:nvPicPr>
              <p:blipFill>
                <a:blip r:embed="rId6"/>
                <a:stretch>
                  <a:fillRect/>
                </a:stretch>
              </p:blipFill>
              <p:spPr>
                <a:xfrm>
                  <a:off x="830449" y="3963199"/>
                  <a:ext cx="2764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墨迹 10">
                  <a:extLst>
                    <a:ext uri="{FF2B5EF4-FFF2-40B4-BE49-F238E27FC236}">
                      <a16:creationId xmlns:a16="http://schemas.microsoft.com/office/drawing/2014/main" id="{4ACD5E19-6C28-ED54-9B7E-172C67788958}"/>
                    </a:ext>
                  </a:extLst>
                </p14:cNvPr>
                <p14:cNvContentPartPr/>
                <p14:nvPr/>
              </p14:nvContentPartPr>
              <p14:xfrm>
                <a:off x="900649" y="4414639"/>
                <a:ext cx="14400" cy="293400"/>
              </p14:xfrm>
            </p:contentPart>
          </mc:Choice>
          <mc:Fallback>
            <p:pic>
              <p:nvPicPr>
                <p:cNvPr id="11" name="墨迹 10">
                  <a:extLst>
                    <a:ext uri="{FF2B5EF4-FFF2-40B4-BE49-F238E27FC236}">
                      <a16:creationId xmlns:a16="http://schemas.microsoft.com/office/drawing/2014/main" id="{4ACD5E19-6C28-ED54-9B7E-172C67788958}"/>
                    </a:ext>
                  </a:extLst>
                </p:cNvPr>
                <p:cNvPicPr/>
                <p:nvPr/>
              </p:nvPicPr>
              <p:blipFill>
                <a:blip r:embed="rId8"/>
                <a:stretch>
                  <a:fillRect/>
                </a:stretch>
              </p:blipFill>
              <p:spPr>
                <a:xfrm>
                  <a:off x="892009" y="4405639"/>
                  <a:ext cx="3204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墨迹 12">
                  <a:extLst>
                    <a:ext uri="{FF2B5EF4-FFF2-40B4-BE49-F238E27FC236}">
                      <a16:creationId xmlns:a16="http://schemas.microsoft.com/office/drawing/2014/main" id="{C459C121-BA1E-173C-8AD3-A7869E2852BB}"/>
                    </a:ext>
                  </a:extLst>
                </p14:cNvPr>
                <p14:cNvContentPartPr/>
                <p14:nvPr/>
              </p14:nvContentPartPr>
              <p14:xfrm>
                <a:off x="846649" y="4931599"/>
                <a:ext cx="53280" cy="316440"/>
              </p14:xfrm>
            </p:contentPart>
          </mc:Choice>
          <mc:Fallback>
            <p:pic>
              <p:nvPicPr>
                <p:cNvPr id="13" name="墨迹 12">
                  <a:extLst>
                    <a:ext uri="{FF2B5EF4-FFF2-40B4-BE49-F238E27FC236}">
                      <a16:creationId xmlns:a16="http://schemas.microsoft.com/office/drawing/2014/main" id="{C459C121-BA1E-173C-8AD3-A7869E2852BB}"/>
                    </a:ext>
                  </a:extLst>
                </p:cNvPr>
                <p:cNvPicPr/>
                <p:nvPr/>
              </p:nvPicPr>
              <p:blipFill>
                <a:blip r:embed="rId10"/>
                <a:stretch>
                  <a:fillRect/>
                </a:stretch>
              </p:blipFill>
              <p:spPr>
                <a:xfrm>
                  <a:off x="837649" y="4922959"/>
                  <a:ext cx="70920" cy="3340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墨迹 14">
                  <a:extLst>
                    <a:ext uri="{FF2B5EF4-FFF2-40B4-BE49-F238E27FC236}">
                      <a16:creationId xmlns:a16="http://schemas.microsoft.com/office/drawing/2014/main" id="{6D962128-9508-063B-1A8B-C2317E1BB4F7}"/>
                    </a:ext>
                  </a:extLst>
                </p14:cNvPr>
                <p14:cNvContentPartPr/>
                <p14:nvPr/>
              </p14:nvContentPartPr>
              <p14:xfrm>
                <a:off x="508969" y="3274519"/>
                <a:ext cx="766080" cy="2312280"/>
              </p14:xfrm>
            </p:contentPart>
          </mc:Choice>
          <mc:Fallback>
            <p:pic>
              <p:nvPicPr>
                <p:cNvPr id="15" name="墨迹 14">
                  <a:extLst>
                    <a:ext uri="{FF2B5EF4-FFF2-40B4-BE49-F238E27FC236}">
                      <a16:creationId xmlns:a16="http://schemas.microsoft.com/office/drawing/2014/main" id="{6D962128-9508-063B-1A8B-C2317E1BB4F7}"/>
                    </a:ext>
                  </a:extLst>
                </p:cNvPr>
                <p:cNvPicPr/>
                <p:nvPr/>
              </p:nvPicPr>
              <p:blipFill>
                <a:blip r:embed="rId12"/>
                <a:stretch>
                  <a:fillRect/>
                </a:stretch>
              </p:blipFill>
              <p:spPr>
                <a:xfrm>
                  <a:off x="500329" y="3265519"/>
                  <a:ext cx="783720" cy="2329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32" name="墨迹 31">
                <a:extLst>
                  <a:ext uri="{FF2B5EF4-FFF2-40B4-BE49-F238E27FC236}">
                    <a16:creationId xmlns:a16="http://schemas.microsoft.com/office/drawing/2014/main" id="{17D6D5D7-44F1-C256-A941-CB2EBFCDFE53}"/>
                  </a:ext>
                </a:extLst>
              </p14:cNvPr>
              <p14:cNvContentPartPr/>
              <p14:nvPr/>
            </p14:nvContentPartPr>
            <p14:xfrm>
              <a:off x="3841489" y="4234639"/>
              <a:ext cx="25920" cy="543960"/>
            </p14:xfrm>
          </p:contentPart>
        </mc:Choice>
        <mc:Fallback>
          <p:pic>
            <p:nvPicPr>
              <p:cNvPr id="32" name="墨迹 31">
                <a:extLst>
                  <a:ext uri="{FF2B5EF4-FFF2-40B4-BE49-F238E27FC236}">
                    <a16:creationId xmlns:a16="http://schemas.microsoft.com/office/drawing/2014/main" id="{17D6D5D7-44F1-C256-A941-CB2EBFCDFE53}"/>
                  </a:ext>
                </a:extLst>
              </p:cNvPr>
              <p:cNvPicPr/>
              <p:nvPr/>
            </p:nvPicPr>
            <p:blipFill>
              <a:blip r:embed="rId14"/>
              <a:stretch>
                <a:fillRect/>
              </a:stretch>
            </p:blipFill>
            <p:spPr>
              <a:xfrm>
                <a:off x="3832489" y="4225999"/>
                <a:ext cx="43560" cy="561600"/>
              </a:xfrm>
              <a:prstGeom prst="rect">
                <a:avLst/>
              </a:prstGeom>
            </p:spPr>
          </p:pic>
        </mc:Fallback>
      </mc:AlternateContent>
      <p:grpSp>
        <p:nvGrpSpPr>
          <p:cNvPr id="37" name="组合 36">
            <a:extLst>
              <a:ext uri="{FF2B5EF4-FFF2-40B4-BE49-F238E27FC236}">
                <a16:creationId xmlns:a16="http://schemas.microsoft.com/office/drawing/2014/main" id="{1C8DDD1F-7D6C-D0AC-BEDB-6F35C0652233}"/>
              </a:ext>
            </a:extLst>
          </p:cNvPr>
          <p:cNvGrpSpPr/>
          <p:nvPr/>
        </p:nvGrpSpPr>
        <p:grpSpPr>
          <a:xfrm>
            <a:off x="4174849" y="3597439"/>
            <a:ext cx="726840" cy="1294200"/>
            <a:chOff x="4174849" y="3597439"/>
            <a:chExt cx="726840" cy="1294200"/>
          </a:xfrm>
        </p:grpSpPr>
        <mc:AlternateContent xmlns:mc="http://schemas.openxmlformats.org/markup-compatibility/2006">
          <mc:Choice xmlns:p14="http://schemas.microsoft.com/office/powerpoint/2010/main" Requires="p14">
            <p:contentPart p14:bwMode="auto" r:id="rId15">
              <p14:nvContentPartPr>
                <p14:cNvPr id="23" name="墨迹 22">
                  <a:extLst>
                    <a:ext uri="{FF2B5EF4-FFF2-40B4-BE49-F238E27FC236}">
                      <a16:creationId xmlns:a16="http://schemas.microsoft.com/office/drawing/2014/main" id="{056C85A5-AF73-F284-D3EE-63C808CC2FB8}"/>
                    </a:ext>
                  </a:extLst>
                </p14:cNvPr>
                <p14:cNvContentPartPr/>
                <p14:nvPr/>
              </p14:nvContentPartPr>
              <p14:xfrm>
                <a:off x="4199329" y="3597439"/>
                <a:ext cx="12960" cy="607680"/>
              </p14:xfrm>
            </p:contentPart>
          </mc:Choice>
          <mc:Fallback>
            <p:pic>
              <p:nvPicPr>
                <p:cNvPr id="23" name="墨迹 22">
                  <a:extLst>
                    <a:ext uri="{FF2B5EF4-FFF2-40B4-BE49-F238E27FC236}">
                      <a16:creationId xmlns:a16="http://schemas.microsoft.com/office/drawing/2014/main" id="{056C85A5-AF73-F284-D3EE-63C808CC2FB8}"/>
                    </a:ext>
                  </a:extLst>
                </p:cNvPr>
                <p:cNvPicPr/>
                <p:nvPr/>
              </p:nvPicPr>
              <p:blipFill>
                <a:blip r:embed="rId16"/>
                <a:stretch>
                  <a:fillRect/>
                </a:stretch>
              </p:blipFill>
              <p:spPr>
                <a:xfrm>
                  <a:off x="4190689" y="3588439"/>
                  <a:ext cx="30600" cy="6253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8" name="墨迹 27">
                  <a:extLst>
                    <a:ext uri="{FF2B5EF4-FFF2-40B4-BE49-F238E27FC236}">
                      <a16:creationId xmlns:a16="http://schemas.microsoft.com/office/drawing/2014/main" id="{186215CA-63D6-E6BC-7581-E901024E93F5}"/>
                    </a:ext>
                  </a:extLst>
                </p14:cNvPr>
                <p14:cNvContentPartPr/>
                <p14:nvPr/>
              </p14:nvContentPartPr>
              <p14:xfrm>
                <a:off x="4489129" y="3612559"/>
                <a:ext cx="8640" cy="536040"/>
              </p14:xfrm>
            </p:contentPart>
          </mc:Choice>
          <mc:Fallback>
            <p:pic>
              <p:nvPicPr>
                <p:cNvPr id="28" name="墨迹 27">
                  <a:extLst>
                    <a:ext uri="{FF2B5EF4-FFF2-40B4-BE49-F238E27FC236}">
                      <a16:creationId xmlns:a16="http://schemas.microsoft.com/office/drawing/2014/main" id="{186215CA-63D6-E6BC-7581-E901024E93F5}"/>
                    </a:ext>
                  </a:extLst>
                </p:cNvPr>
                <p:cNvPicPr/>
                <p:nvPr/>
              </p:nvPicPr>
              <p:blipFill>
                <a:blip r:embed="rId18"/>
                <a:stretch>
                  <a:fillRect/>
                </a:stretch>
              </p:blipFill>
              <p:spPr>
                <a:xfrm>
                  <a:off x="4480489" y="3603919"/>
                  <a:ext cx="26280" cy="5536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9" name="墨迹 28">
                  <a:extLst>
                    <a:ext uri="{FF2B5EF4-FFF2-40B4-BE49-F238E27FC236}">
                      <a16:creationId xmlns:a16="http://schemas.microsoft.com/office/drawing/2014/main" id="{3C0D152A-4A7A-FD36-CF26-CA1DDA474A86}"/>
                    </a:ext>
                  </a:extLst>
                </p14:cNvPr>
                <p14:cNvContentPartPr/>
                <p14:nvPr/>
              </p14:nvContentPartPr>
              <p14:xfrm>
                <a:off x="4736449" y="3597439"/>
                <a:ext cx="16920" cy="584640"/>
              </p14:xfrm>
            </p:contentPart>
          </mc:Choice>
          <mc:Fallback>
            <p:pic>
              <p:nvPicPr>
                <p:cNvPr id="29" name="墨迹 28">
                  <a:extLst>
                    <a:ext uri="{FF2B5EF4-FFF2-40B4-BE49-F238E27FC236}">
                      <a16:creationId xmlns:a16="http://schemas.microsoft.com/office/drawing/2014/main" id="{3C0D152A-4A7A-FD36-CF26-CA1DDA474A86}"/>
                    </a:ext>
                  </a:extLst>
                </p:cNvPr>
                <p:cNvPicPr/>
                <p:nvPr/>
              </p:nvPicPr>
              <p:blipFill>
                <a:blip r:embed="rId20"/>
                <a:stretch>
                  <a:fillRect/>
                </a:stretch>
              </p:blipFill>
              <p:spPr>
                <a:xfrm>
                  <a:off x="4727809" y="3588439"/>
                  <a:ext cx="34560" cy="602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3" name="墨迹 32">
                  <a:extLst>
                    <a:ext uri="{FF2B5EF4-FFF2-40B4-BE49-F238E27FC236}">
                      <a16:creationId xmlns:a16="http://schemas.microsoft.com/office/drawing/2014/main" id="{26B39AAC-EDA3-A0DD-9CB1-9193F5CAF838}"/>
                    </a:ext>
                  </a:extLst>
                </p14:cNvPr>
                <p14:cNvContentPartPr/>
                <p14:nvPr/>
              </p14:nvContentPartPr>
              <p14:xfrm>
                <a:off x="4174849" y="4241839"/>
                <a:ext cx="360" cy="491400"/>
              </p14:xfrm>
            </p:contentPart>
          </mc:Choice>
          <mc:Fallback>
            <p:pic>
              <p:nvPicPr>
                <p:cNvPr id="33" name="墨迹 32">
                  <a:extLst>
                    <a:ext uri="{FF2B5EF4-FFF2-40B4-BE49-F238E27FC236}">
                      <a16:creationId xmlns:a16="http://schemas.microsoft.com/office/drawing/2014/main" id="{26B39AAC-EDA3-A0DD-9CB1-9193F5CAF838}"/>
                    </a:ext>
                  </a:extLst>
                </p:cNvPr>
                <p:cNvPicPr/>
                <p:nvPr/>
              </p:nvPicPr>
              <p:blipFill>
                <a:blip r:embed="rId22"/>
                <a:stretch>
                  <a:fillRect/>
                </a:stretch>
              </p:blipFill>
              <p:spPr>
                <a:xfrm>
                  <a:off x="4165849" y="4233199"/>
                  <a:ext cx="18000" cy="509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4" name="墨迹 33">
                  <a:extLst>
                    <a:ext uri="{FF2B5EF4-FFF2-40B4-BE49-F238E27FC236}">
                      <a16:creationId xmlns:a16="http://schemas.microsoft.com/office/drawing/2014/main" id="{46D7CC19-0889-7E6D-5A0F-038B8312F3AB}"/>
                    </a:ext>
                  </a:extLst>
                </p14:cNvPr>
                <p14:cNvContentPartPr/>
                <p14:nvPr/>
              </p14:nvContentPartPr>
              <p14:xfrm>
                <a:off x="4451689" y="4264519"/>
                <a:ext cx="8640" cy="509760"/>
              </p14:xfrm>
            </p:contentPart>
          </mc:Choice>
          <mc:Fallback>
            <p:pic>
              <p:nvPicPr>
                <p:cNvPr id="34" name="墨迹 33">
                  <a:extLst>
                    <a:ext uri="{FF2B5EF4-FFF2-40B4-BE49-F238E27FC236}">
                      <a16:creationId xmlns:a16="http://schemas.microsoft.com/office/drawing/2014/main" id="{46D7CC19-0889-7E6D-5A0F-038B8312F3AB}"/>
                    </a:ext>
                  </a:extLst>
                </p:cNvPr>
                <p:cNvPicPr/>
                <p:nvPr/>
              </p:nvPicPr>
              <p:blipFill>
                <a:blip r:embed="rId24"/>
                <a:stretch>
                  <a:fillRect/>
                </a:stretch>
              </p:blipFill>
              <p:spPr>
                <a:xfrm>
                  <a:off x="4443049" y="4255519"/>
                  <a:ext cx="26280" cy="5274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5" name="墨迹 34">
                  <a:extLst>
                    <a:ext uri="{FF2B5EF4-FFF2-40B4-BE49-F238E27FC236}">
                      <a16:creationId xmlns:a16="http://schemas.microsoft.com/office/drawing/2014/main" id="{C796E363-C232-92A8-57D6-E8C7049595B3}"/>
                    </a:ext>
                  </a:extLst>
                </p14:cNvPr>
                <p14:cNvContentPartPr/>
                <p14:nvPr/>
              </p14:nvContentPartPr>
              <p14:xfrm>
                <a:off x="4699009" y="4234639"/>
                <a:ext cx="30960" cy="516600"/>
              </p14:xfrm>
            </p:contentPart>
          </mc:Choice>
          <mc:Fallback>
            <p:pic>
              <p:nvPicPr>
                <p:cNvPr id="35" name="墨迹 34">
                  <a:extLst>
                    <a:ext uri="{FF2B5EF4-FFF2-40B4-BE49-F238E27FC236}">
                      <a16:creationId xmlns:a16="http://schemas.microsoft.com/office/drawing/2014/main" id="{C796E363-C232-92A8-57D6-E8C7049595B3}"/>
                    </a:ext>
                  </a:extLst>
                </p:cNvPr>
                <p:cNvPicPr/>
                <p:nvPr/>
              </p:nvPicPr>
              <p:blipFill>
                <a:blip r:embed="rId26"/>
                <a:stretch>
                  <a:fillRect/>
                </a:stretch>
              </p:blipFill>
              <p:spPr>
                <a:xfrm>
                  <a:off x="4690009" y="4225999"/>
                  <a:ext cx="48600" cy="534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6" name="墨迹 35">
                  <a:extLst>
                    <a:ext uri="{FF2B5EF4-FFF2-40B4-BE49-F238E27FC236}">
                      <a16:creationId xmlns:a16="http://schemas.microsoft.com/office/drawing/2014/main" id="{A2EBC4E7-0A15-7C94-19EC-80B3D0F920A9}"/>
                    </a:ext>
                  </a:extLst>
                </p14:cNvPr>
                <p14:cNvContentPartPr/>
                <p14:nvPr/>
              </p14:nvContentPartPr>
              <p14:xfrm>
                <a:off x="4843009" y="4227079"/>
                <a:ext cx="58680" cy="664560"/>
              </p14:xfrm>
            </p:contentPart>
          </mc:Choice>
          <mc:Fallback>
            <p:pic>
              <p:nvPicPr>
                <p:cNvPr id="36" name="墨迹 35">
                  <a:extLst>
                    <a:ext uri="{FF2B5EF4-FFF2-40B4-BE49-F238E27FC236}">
                      <a16:creationId xmlns:a16="http://schemas.microsoft.com/office/drawing/2014/main" id="{A2EBC4E7-0A15-7C94-19EC-80B3D0F920A9}"/>
                    </a:ext>
                  </a:extLst>
                </p:cNvPr>
                <p:cNvPicPr/>
                <p:nvPr/>
              </p:nvPicPr>
              <p:blipFill>
                <a:blip r:embed="rId28"/>
                <a:stretch>
                  <a:fillRect/>
                </a:stretch>
              </p:blipFill>
              <p:spPr>
                <a:xfrm>
                  <a:off x="4834369" y="4218439"/>
                  <a:ext cx="76320" cy="682200"/>
                </a:xfrm>
                <a:prstGeom prst="rect">
                  <a:avLst/>
                </a:prstGeom>
              </p:spPr>
            </p:pic>
          </mc:Fallback>
        </mc:AlternateContent>
      </p:grpSp>
    </p:spTree>
    <p:extLst>
      <p:ext uri="{BB962C8B-B14F-4D97-AF65-F5344CB8AC3E}">
        <p14:creationId xmlns:p14="http://schemas.microsoft.com/office/powerpoint/2010/main" val="16729475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端口队列调度方式</a:t>
            </a:r>
          </a:p>
        </p:txBody>
      </p:sp>
      <p:sp>
        <p:nvSpPr>
          <p:cNvPr id="3" name="文本占位符 2"/>
          <p:cNvSpPr>
            <a:spLocks noGrp="1"/>
          </p:cNvSpPr>
          <p:nvPr>
            <p:ph type="body" sz="quarter" idx="10"/>
          </p:nvPr>
        </p:nvSpPr>
        <p:spPr bwMode="gray"/>
        <p:txBody>
          <a:bodyPr/>
          <a:lstStyle/>
          <a:p>
            <a:r>
              <a:rPr lang="zh-CN" altLang="en-US" dirty="0"/>
              <a:t>每个接口有</a:t>
            </a:r>
            <a:r>
              <a:rPr lang="en-US" altLang="zh-CN" dirty="0"/>
              <a:t>8</a:t>
            </a:r>
            <a:r>
              <a:rPr lang="zh-CN" altLang="en-US" dirty="0"/>
              <a:t>个端口队列，用户可以为其都配置成</a:t>
            </a:r>
            <a:r>
              <a:rPr lang="en-US" altLang="zh-CN" dirty="0"/>
              <a:t>SP</a:t>
            </a:r>
            <a:r>
              <a:rPr lang="zh-CN" altLang="en-US" dirty="0"/>
              <a:t>调度，或者是基于权重的调度。</a:t>
            </a:r>
            <a:endParaRPr lang="en-US" altLang="zh-CN" dirty="0"/>
          </a:p>
          <a:p>
            <a:r>
              <a:rPr lang="zh-CN" altLang="en-US" dirty="0"/>
              <a:t>根据队列调度算法，</a:t>
            </a:r>
            <a:r>
              <a:rPr lang="en-US" altLang="zh-CN" dirty="0"/>
              <a:t>8</a:t>
            </a:r>
            <a:r>
              <a:rPr lang="zh-CN" altLang="en-US" dirty="0"/>
              <a:t>个端口队列可以分为三组：</a:t>
            </a:r>
          </a:p>
        </p:txBody>
      </p:sp>
      <p:grpSp>
        <p:nvGrpSpPr>
          <p:cNvPr id="4" name="组合 3"/>
          <p:cNvGrpSpPr/>
          <p:nvPr/>
        </p:nvGrpSpPr>
        <p:grpSpPr bwMode="gray">
          <a:xfrm>
            <a:off x="5282704" y="3176965"/>
            <a:ext cx="5616624" cy="1404149"/>
            <a:chOff x="6564053" y="5600655"/>
            <a:chExt cx="4284476" cy="273764"/>
          </a:xfrm>
        </p:grpSpPr>
        <p:sp>
          <p:nvSpPr>
            <p:cNvPr id="5" name="矩形 4"/>
            <p:cNvSpPr/>
            <p:nvPr/>
          </p:nvSpPr>
          <p:spPr bwMode="gray">
            <a:xfrm>
              <a:off x="6564053" y="5600655"/>
              <a:ext cx="4284476" cy="273764"/>
            </a:xfrm>
            <a:prstGeom prst="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 name="文本框 7"/>
            <p:cNvSpPr txBox="1"/>
            <p:nvPr/>
          </p:nvSpPr>
          <p:spPr bwMode="gray">
            <a:xfrm>
              <a:off x="6816081" y="5620454"/>
              <a:ext cx="3816424" cy="2173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marL="342900" indent="-342900">
                <a:lnSpc>
                  <a:spcPct val="125000"/>
                </a:lnSpc>
                <a:spcBef>
                  <a:spcPts val="200"/>
                </a:spcBef>
                <a:spcAft>
                  <a:spcPts val="200"/>
                </a:spcAft>
                <a:buFont typeface="+mj-lt"/>
                <a:buAutoNum type="arabicPeriod"/>
              </a:pPr>
              <a:r>
                <a:rPr lang="en-US" altLang="zh-CN" sz="1600" dirty="0">
                  <a:solidFill>
                    <a:srgbClr val="000000"/>
                  </a:solidFill>
                  <a:latin typeface="Huawei Sans" panose="020C0503030203020204" pitchFamily="34" charset="0"/>
                  <a:ea typeface="方正兰亭黑简体" panose="02000000000000000000" pitchFamily="2" charset="-122"/>
                </a:rPr>
                <a:t>PQ</a:t>
              </a:r>
              <a:r>
                <a:rPr lang="zh-CN" altLang="en-US" sz="1600" dirty="0">
                  <a:solidFill>
                    <a:srgbClr val="000000"/>
                  </a:solidFill>
                  <a:latin typeface="Huawei Sans" panose="020C0503030203020204" pitchFamily="34" charset="0"/>
                  <a:ea typeface="方正兰亭黑简体" panose="02000000000000000000" pitchFamily="2" charset="-122"/>
                </a:rPr>
                <a:t>队列：采用</a:t>
              </a:r>
              <a:r>
                <a:rPr lang="en-US" altLang="zh-CN" sz="1600" dirty="0">
                  <a:solidFill>
                    <a:srgbClr val="000000"/>
                  </a:solidFill>
                  <a:latin typeface="Huawei Sans" panose="020C0503030203020204" pitchFamily="34" charset="0"/>
                  <a:ea typeface="方正兰亭黑简体" panose="02000000000000000000" pitchFamily="2" charset="-122"/>
                </a:rPr>
                <a:t>SP</a:t>
              </a:r>
              <a:r>
                <a:rPr lang="zh-CN" altLang="en-US" sz="1600" dirty="0">
                  <a:solidFill>
                    <a:srgbClr val="000000"/>
                  </a:solidFill>
                  <a:latin typeface="Huawei Sans" panose="020C0503030203020204" pitchFamily="34" charset="0"/>
                  <a:ea typeface="方正兰亭黑简体" panose="02000000000000000000" pitchFamily="2" charset="-122"/>
                </a:rPr>
                <a:t>调度算法</a:t>
              </a:r>
              <a:endParaRPr lang="en-US" altLang="zh-CN" sz="1600" dirty="0">
                <a:solidFill>
                  <a:srgbClr val="000000"/>
                </a:solidFill>
                <a:latin typeface="Huawei Sans" panose="020C0503030203020204" pitchFamily="34" charset="0"/>
                <a:ea typeface="方正兰亭黑简体" panose="02000000000000000000" pitchFamily="2" charset="-122"/>
              </a:endParaRPr>
            </a:p>
            <a:p>
              <a:pPr marL="342900" indent="-342900">
                <a:lnSpc>
                  <a:spcPct val="125000"/>
                </a:lnSpc>
                <a:spcBef>
                  <a:spcPts val="200"/>
                </a:spcBef>
                <a:spcAft>
                  <a:spcPts val="200"/>
                </a:spcAft>
                <a:buFont typeface="+mj-lt"/>
                <a:buAutoNum type="arabicPeriod"/>
              </a:pPr>
              <a:r>
                <a:rPr lang="en-US" altLang="zh-CN" sz="1600" dirty="0">
                  <a:solidFill>
                    <a:srgbClr val="000000"/>
                  </a:solidFill>
                  <a:latin typeface="Huawei Sans" panose="020C0503030203020204" pitchFamily="34" charset="0"/>
                  <a:ea typeface="方正兰亭黑简体" panose="02000000000000000000" pitchFamily="2" charset="-122"/>
                </a:rPr>
                <a:t>WFQ</a:t>
              </a:r>
              <a:r>
                <a:rPr lang="zh-CN" altLang="en-US" sz="1600" dirty="0">
                  <a:solidFill>
                    <a:srgbClr val="000000"/>
                  </a:solidFill>
                  <a:latin typeface="Huawei Sans" panose="020C0503030203020204" pitchFamily="34" charset="0"/>
                  <a:ea typeface="方正兰亭黑简体" panose="02000000000000000000" pitchFamily="2" charset="-122"/>
                </a:rPr>
                <a:t>队列：采用</a:t>
              </a:r>
              <a:r>
                <a:rPr lang="en-US" altLang="zh-CN" sz="1600" dirty="0">
                  <a:solidFill>
                    <a:srgbClr val="000000"/>
                  </a:solidFill>
                  <a:latin typeface="Huawei Sans" panose="020C0503030203020204" pitchFamily="34" charset="0"/>
                  <a:ea typeface="方正兰亭黑简体" panose="02000000000000000000" pitchFamily="2" charset="-122"/>
                </a:rPr>
                <a:t>WFQ</a:t>
              </a:r>
              <a:r>
                <a:rPr lang="zh-CN" altLang="en-US" sz="1600" dirty="0">
                  <a:solidFill>
                    <a:srgbClr val="000000"/>
                  </a:solidFill>
                  <a:latin typeface="Huawei Sans" panose="020C0503030203020204" pitchFamily="34" charset="0"/>
                  <a:ea typeface="方正兰亭黑简体" panose="02000000000000000000" pitchFamily="2" charset="-122"/>
                </a:rPr>
                <a:t>调度算法</a:t>
              </a:r>
              <a:endParaRPr lang="en-US" altLang="zh-CN" sz="1600" dirty="0">
                <a:solidFill>
                  <a:srgbClr val="000000"/>
                </a:solidFill>
                <a:latin typeface="Huawei Sans" panose="020C0503030203020204" pitchFamily="34" charset="0"/>
                <a:ea typeface="方正兰亭黑简体" panose="02000000000000000000" pitchFamily="2" charset="-122"/>
              </a:endParaRPr>
            </a:p>
            <a:p>
              <a:pPr marL="342900" indent="-342900">
                <a:lnSpc>
                  <a:spcPct val="125000"/>
                </a:lnSpc>
                <a:spcBef>
                  <a:spcPts val="200"/>
                </a:spcBef>
                <a:spcAft>
                  <a:spcPts val="200"/>
                </a:spcAft>
                <a:buFont typeface="+mj-lt"/>
                <a:buAutoNum type="arabicPeriod"/>
              </a:pPr>
              <a:r>
                <a:rPr lang="en-US" altLang="zh-CN" sz="1600" dirty="0">
                  <a:solidFill>
                    <a:srgbClr val="000000"/>
                  </a:solidFill>
                  <a:latin typeface="Huawei Sans" panose="020C0503030203020204" pitchFamily="34" charset="0"/>
                  <a:ea typeface="方正兰亭黑简体" panose="02000000000000000000" pitchFamily="2" charset="-122"/>
                </a:rPr>
                <a:t>LPQ</a:t>
              </a:r>
              <a:r>
                <a:rPr lang="zh-CN" altLang="en-US" sz="1600" dirty="0">
                  <a:solidFill>
                    <a:srgbClr val="000000"/>
                  </a:solidFill>
                  <a:latin typeface="Huawei Sans" panose="020C0503030203020204" pitchFamily="34" charset="0"/>
                  <a:ea typeface="方正兰亭黑简体" panose="02000000000000000000" pitchFamily="2" charset="-122"/>
                </a:rPr>
                <a:t>队列：采用</a:t>
              </a:r>
              <a:r>
                <a:rPr lang="en-US" altLang="zh-CN" sz="1600" dirty="0">
                  <a:solidFill>
                    <a:srgbClr val="000000"/>
                  </a:solidFill>
                  <a:latin typeface="Huawei Sans" panose="020C0503030203020204" pitchFamily="34" charset="0"/>
                  <a:ea typeface="方正兰亭黑简体" panose="02000000000000000000" pitchFamily="2" charset="-122"/>
                </a:rPr>
                <a:t>SP</a:t>
              </a:r>
              <a:r>
                <a:rPr lang="zh-CN" altLang="en-US" sz="1600" dirty="0">
                  <a:solidFill>
                    <a:srgbClr val="000000"/>
                  </a:solidFill>
                  <a:latin typeface="Huawei Sans" panose="020C0503030203020204" pitchFamily="34" charset="0"/>
                  <a:ea typeface="方正兰亭黑简体" panose="02000000000000000000" pitchFamily="2" charset="-122"/>
                </a:rPr>
                <a:t>调度算法</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grpSp>
      <p:sp>
        <p:nvSpPr>
          <p:cNvPr id="9" name="iṣ1iḍé"/>
          <p:cNvSpPr/>
          <p:nvPr/>
        </p:nvSpPr>
        <p:spPr bwMode="gray">
          <a:xfrm rot="16200000">
            <a:off x="4111843" y="3555745"/>
            <a:ext cx="1476164" cy="718617"/>
          </a:xfrm>
          <a:custGeom>
            <a:avLst/>
            <a:gdLst>
              <a:gd name="connsiteX0" fmla="*/ 0 w 2232248"/>
              <a:gd name="connsiteY0" fmla="*/ 649058 h 649058"/>
              <a:gd name="connsiteX1" fmla="*/ 439523 w 2232248"/>
              <a:gd name="connsiteY1" fmla="*/ 0 h 649058"/>
              <a:gd name="connsiteX2" fmla="*/ 1792725 w 2232248"/>
              <a:gd name="connsiteY2" fmla="*/ 0 h 649058"/>
              <a:gd name="connsiteX3" fmla="*/ 2232248 w 2232248"/>
              <a:gd name="connsiteY3" fmla="*/ 649058 h 649058"/>
              <a:gd name="connsiteX4" fmla="*/ 0 w 2232248"/>
              <a:gd name="connsiteY4" fmla="*/ 649058 h 649058"/>
              <a:gd name="connsiteX0" fmla="*/ 0 w 2232248"/>
              <a:gd name="connsiteY0" fmla="*/ 656678 h 656678"/>
              <a:gd name="connsiteX1" fmla="*/ 43952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7620 h 656678"/>
              <a:gd name="connsiteX2" fmla="*/ 1548885 w 2232248"/>
              <a:gd name="connsiteY2" fmla="*/ 0 h 656678"/>
              <a:gd name="connsiteX3" fmla="*/ 2232248 w 2232248"/>
              <a:gd name="connsiteY3" fmla="*/ 656678 h 656678"/>
              <a:gd name="connsiteX4" fmla="*/ 0 w 2232248"/>
              <a:gd name="connsiteY4" fmla="*/ 656678 h 656678"/>
              <a:gd name="connsiteX0" fmla="*/ 0 w 2232248"/>
              <a:gd name="connsiteY0" fmla="*/ 656678 h 656678"/>
              <a:gd name="connsiteX1" fmla="*/ 736703 w 2232248"/>
              <a:gd name="connsiteY1" fmla="*/ 0 h 656678"/>
              <a:gd name="connsiteX2" fmla="*/ 1548885 w 2232248"/>
              <a:gd name="connsiteY2" fmla="*/ 0 h 656678"/>
              <a:gd name="connsiteX3" fmla="*/ 2232248 w 2232248"/>
              <a:gd name="connsiteY3" fmla="*/ 656678 h 656678"/>
              <a:gd name="connsiteX4" fmla="*/ 0 w 2232248"/>
              <a:gd name="connsiteY4" fmla="*/ 656678 h 656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2248" h="656678">
                <a:moveTo>
                  <a:pt x="0" y="656678"/>
                </a:moveTo>
                <a:lnTo>
                  <a:pt x="736703" y="0"/>
                </a:lnTo>
                <a:lnTo>
                  <a:pt x="1548885" y="0"/>
                </a:lnTo>
                <a:lnTo>
                  <a:pt x="2232248" y="656678"/>
                </a:lnTo>
                <a:lnTo>
                  <a:pt x="0" y="656678"/>
                </a:lnTo>
                <a:close/>
              </a:path>
            </a:pathLst>
          </a:custGeom>
          <a:solidFill>
            <a:srgbClr val="FFFFFF">
              <a:lumMod val="95000"/>
            </a:srgbClr>
          </a:solidFill>
          <a:ln w="19050">
            <a:noFill/>
            <a:rou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0" name="í$ḷiḋê"/>
          <p:cNvSpPr/>
          <p:nvPr/>
        </p:nvSpPr>
        <p:spPr bwMode="gray">
          <a:xfrm>
            <a:off x="2932007" y="3104964"/>
            <a:ext cx="596937" cy="1924655"/>
          </a:xfrm>
          <a:custGeom>
            <a:avLst/>
            <a:gdLst>
              <a:gd name="T0" fmla="*/ 1764 w 4053"/>
              <a:gd name="T1" fmla="*/ 0 h 16197"/>
              <a:gd name="T2" fmla="*/ 2323 w 4053"/>
              <a:gd name="T3" fmla="*/ 0 h 16197"/>
              <a:gd name="T4" fmla="*/ 2323 w 4053"/>
              <a:gd name="T5" fmla="*/ 892 h 16197"/>
              <a:gd name="T6" fmla="*/ 1764 w 4053"/>
              <a:gd name="T7" fmla="*/ 892 h 16197"/>
              <a:gd name="T8" fmla="*/ 1764 w 4053"/>
              <a:gd name="T9" fmla="*/ 0 h 16197"/>
              <a:gd name="T10" fmla="*/ 1831 w 4053"/>
              <a:gd name="T11" fmla="*/ 11317 h 16197"/>
              <a:gd name="T12" fmla="*/ 2256 w 4053"/>
              <a:gd name="T13" fmla="*/ 11317 h 16197"/>
              <a:gd name="T14" fmla="*/ 2256 w 4053"/>
              <a:gd name="T15" fmla="*/ 13709 h 16197"/>
              <a:gd name="T16" fmla="*/ 4053 w 4053"/>
              <a:gd name="T17" fmla="*/ 15988 h 16197"/>
              <a:gd name="T18" fmla="*/ 3787 w 4053"/>
              <a:gd name="T19" fmla="*/ 16197 h 16197"/>
              <a:gd name="T20" fmla="*/ 2256 w 4053"/>
              <a:gd name="T21" fmla="*/ 14256 h 16197"/>
              <a:gd name="T22" fmla="*/ 2256 w 4053"/>
              <a:gd name="T23" fmla="*/ 16151 h 16197"/>
              <a:gd name="T24" fmla="*/ 1831 w 4053"/>
              <a:gd name="T25" fmla="*/ 16151 h 16197"/>
              <a:gd name="T26" fmla="*/ 1831 w 4053"/>
              <a:gd name="T27" fmla="*/ 14215 h 16197"/>
              <a:gd name="T28" fmla="*/ 266 w 4053"/>
              <a:gd name="T29" fmla="*/ 16197 h 16197"/>
              <a:gd name="T30" fmla="*/ 0 w 4053"/>
              <a:gd name="T31" fmla="*/ 15988 h 16197"/>
              <a:gd name="T32" fmla="*/ 1831 w 4053"/>
              <a:gd name="T33" fmla="*/ 13668 h 16197"/>
              <a:gd name="T34" fmla="*/ 1831 w 4053"/>
              <a:gd name="T35" fmla="*/ 11317 h 16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53" h="16197">
                <a:moveTo>
                  <a:pt x="1764" y="0"/>
                </a:moveTo>
                <a:lnTo>
                  <a:pt x="2323" y="0"/>
                </a:lnTo>
                <a:lnTo>
                  <a:pt x="2323" y="892"/>
                </a:lnTo>
                <a:lnTo>
                  <a:pt x="1764" y="892"/>
                </a:lnTo>
                <a:lnTo>
                  <a:pt x="1764" y="0"/>
                </a:lnTo>
                <a:close/>
                <a:moveTo>
                  <a:pt x="1831" y="11317"/>
                </a:moveTo>
                <a:lnTo>
                  <a:pt x="2256" y="11317"/>
                </a:lnTo>
                <a:lnTo>
                  <a:pt x="2256" y="13709"/>
                </a:lnTo>
                <a:lnTo>
                  <a:pt x="4053" y="15988"/>
                </a:lnTo>
                <a:lnTo>
                  <a:pt x="3787" y="16197"/>
                </a:lnTo>
                <a:lnTo>
                  <a:pt x="2256" y="14256"/>
                </a:lnTo>
                <a:lnTo>
                  <a:pt x="2256" y="16151"/>
                </a:lnTo>
                <a:lnTo>
                  <a:pt x="1831" y="16151"/>
                </a:lnTo>
                <a:lnTo>
                  <a:pt x="1831" y="14215"/>
                </a:lnTo>
                <a:lnTo>
                  <a:pt x="266" y="16197"/>
                </a:lnTo>
                <a:lnTo>
                  <a:pt x="0" y="15988"/>
                </a:lnTo>
                <a:lnTo>
                  <a:pt x="1831" y="13668"/>
                </a:lnTo>
                <a:lnTo>
                  <a:pt x="1831" y="11317"/>
                </a:lnTo>
                <a:close/>
              </a:path>
            </a:pathLst>
          </a:custGeom>
          <a:solidFill>
            <a:srgbClr val="FFFFFF">
              <a:lumMod val="95000"/>
            </a:srgbClr>
          </a:solidFill>
          <a:ln>
            <a:solidFill>
              <a:schemeClr val="bg1">
                <a:lumMod val="50000"/>
              </a:schemeClr>
            </a:solidFill>
          </a:ln>
          <a:effectLst>
            <a:outerShdw blurRad="76200" dir="13500000" sy="23000" kx="1200000" algn="br" rotWithShape="0">
              <a:prstClr val="black">
                <a:alpha val="20000"/>
              </a:prstClr>
            </a:outerShdw>
          </a:effectLst>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1" name="íṡľidé"/>
          <p:cNvSpPr/>
          <p:nvPr/>
        </p:nvSpPr>
        <p:spPr bwMode="gray">
          <a:xfrm>
            <a:off x="2114352" y="3159245"/>
            <a:ext cx="2232248" cy="1452114"/>
          </a:xfrm>
          <a:custGeom>
            <a:avLst/>
            <a:gdLst>
              <a:gd name="T0" fmla="*/ 233 w 15146"/>
              <a:gd name="T1" fmla="*/ 466 h 10425"/>
              <a:gd name="T2" fmla="*/ 186 w 15146"/>
              <a:gd name="T3" fmla="*/ 460 h 10425"/>
              <a:gd name="T4" fmla="*/ 142 w 15146"/>
              <a:gd name="T5" fmla="*/ 447 h 10425"/>
              <a:gd name="T6" fmla="*/ 68 w 15146"/>
              <a:gd name="T7" fmla="*/ 397 h 10425"/>
              <a:gd name="T8" fmla="*/ 19 w 15146"/>
              <a:gd name="T9" fmla="*/ 323 h 10425"/>
              <a:gd name="T10" fmla="*/ 5 w 15146"/>
              <a:gd name="T11" fmla="*/ 279 h 10425"/>
              <a:gd name="T12" fmla="*/ 0 w 15146"/>
              <a:gd name="T13" fmla="*/ 233 h 10425"/>
              <a:gd name="T14" fmla="*/ 3 w 15146"/>
              <a:gd name="T15" fmla="*/ 197 h 10425"/>
              <a:gd name="T16" fmla="*/ 15 w 15146"/>
              <a:gd name="T17" fmla="*/ 154 h 10425"/>
              <a:gd name="T18" fmla="*/ 54 w 15146"/>
              <a:gd name="T19" fmla="*/ 85 h 10425"/>
              <a:gd name="T20" fmla="*/ 123 w 15146"/>
              <a:gd name="T21" fmla="*/ 28 h 10425"/>
              <a:gd name="T22" fmla="*/ 175 w 15146"/>
              <a:gd name="T23" fmla="*/ 8 h 10425"/>
              <a:gd name="T24" fmla="*/ 221 w 15146"/>
              <a:gd name="T25" fmla="*/ 1 h 10425"/>
              <a:gd name="T26" fmla="*/ 14938 w 15146"/>
              <a:gd name="T27" fmla="*/ 2 h 10425"/>
              <a:gd name="T28" fmla="*/ 14983 w 15146"/>
              <a:gd name="T29" fmla="*/ 11 h 10425"/>
              <a:gd name="T30" fmla="*/ 15044 w 15146"/>
              <a:gd name="T31" fmla="*/ 40 h 10425"/>
              <a:gd name="T32" fmla="*/ 15106 w 15146"/>
              <a:gd name="T33" fmla="*/ 104 h 10425"/>
              <a:gd name="T34" fmla="*/ 15135 w 15146"/>
              <a:gd name="T35" fmla="*/ 164 h 10425"/>
              <a:gd name="T36" fmla="*/ 15145 w 15146"/>
              <a:gd name="T37" fmla="*/ 209 h 10425"/>
              <a:gd name="T38" fmla="*/ 15146 w 15146"/>
              <a:gd name="T39" fmla="*/ 245 h 10425"/>
              <a:gd name="T40" fmla="*/ 15138 w 15146"/>
              <a:gd name="T41" fmla="*/ 291 h 10425"/>
              <a:gd name="T42" fmla="*/ 15118 w 15146"/>
              <a:gd name="T43" fmla="*/ 343 h 10425"/>
              <a:gd name="T44" fmla="*/ 15061 w 15146"/>
              <a:gd name="T45" fmla="*/ 412 h 10425"/>
              <a:gd name="T46" fmla="*/ 14993 w 15146"/>
              <a:gd name="T47" fmla="*/ 451 h 10425"/>
              <a:gd name="T48" fmla="*/ 14949 w 15146"/>
              <a:gd name="T49" fmla="*/ 462 h 10425"/>
              <a:gd name="T50" fmla="*/ 14729 w 15146"/>
              <a:gd name="T51" fmla="*/ 466 h 10425"/>
              <a:gd name="T52" fmla="*/ 14938 w 15146"/>
              <a:gd name="T53" fmla="*/ 9960 h 10425"/>
              <a:gd name="T54" fmla="*/ 14983 w 15146"/>
              <a:gd name="T55" fmla="*/ 9970 h 10425"/>
              <a:gd name="T56" fmla="*/ 15044 w 15146"/>
              <a:gd name="T57" fmla="*/ 9999 h 10425"/>
              <a:gd name="T58" fmla="*/ 15106 w 15146"/>
              <a:gd name="T59" fmla="*/ 10062 h 10425"/>
              <a:gd name="T60" fmla="*/ 15135 w 15146"/>
              <a:gd name="T61" fmla="*/ 10123 h 10425"/>
              <a:gd name="T62" fmla="*/ 15145 w 15146"/>
              <a:gd name="T63" fmla="*/ 10168 h 10425"/>
              <a:gd name="T64" fmla="*/ 15146 w 15146"/>
              <a:gd name="T65" fmla="*/ 10203 h 10425"/>
              <a:gd name="T66" fmla="*/ 15138 w 15146"/>
              <a:gd name="T67" fmla="*/ 10249 h 10425"/>
              <a:gd name="T68" fmla="*/ 15118 w 15146"/>
              <a:gd name="T69" fmla="*/ 10303 h 10425"/>
              <a:gd name="T70" fmla="*/ 15061 w 15146"/>
              <a:gd name="T71" fmla="*/ 10371 h 10425"/>
              <a:gd name="T72" fmla="*/ 14993 w 15146"/>
              <a:gd name="T73" fmla="*/ 10410 h 10425"/>
              <a:gd name="T74" fmla="*/ 14949 w 15146"/>
              <a:gd name="T75" fmla="*/ 10421 h 10425"/>
              <a:gd name="T76" fmla="*/ 233 w 15146"/>
              <a:gd name="T77" fmla="*/ 10425 h 10425"/>
              <a:gd name="T78" fmla="*/ 186 w 15146"/>
              <a:gd name="T79" fmla="*/ 10419 h 10425"/>
              <a:gd name="T80" fmla="*/ 142 w 15146"/>
              <a:gd name="T81" fmla="*/ 10406 h 10425"/>
              <a:gd name="T82" fmla="*/ 68 w 15146"/>
              <a:gd name="T83" fmla="*/ 10356 h 10425"/>
              <a:gd name="T84" fmla="*/ 19 w 15146"/>
              <a:gd name="T85" fmla="*/ 10282 h 10425"/>
              <a:gd name="T86" fmla="*/ 5 w 15146"/>
              <a:gd name="T87" fmla="*/ 10238 h 10425"/>
              <a:gd name="T88" fmla="*/ 0 w 15146"/>
              <a:gd name="T89" fmla="*/ 10191 h 10425"/>
              <a:gd name="T90" fmla="*/ 3 w 15146"/>
              <a:gd name="T91" fmla="*/ 10156 h 10425"/>
              <a:gd name="T92" fmla="*/ 15 w 15146"/>
              <a:gd name="T93" fmla="*/ 10112 h 10425"/>
              <a:gd name="T94" fmla="*/ 54 w 15146"/>
              <a:gd name="T95" fmla="*/ 10044 h 10425"/>
              <a:gd name="T96" fmla="*/ 123 w 15146"/>
              <a:gd name="T97" fmla="*/ 9987 h 10425"/>
              <a:gd name="T98" fmla="*/ 175 w 15146"/>
              <a:gd name="T99" fmla="*/ 9967 h 10425"/>
              <a:gd name="T100" fmla="*/ 221 w 15146"/>
              <a:gd name="T101" fmla="*/ 9959 h 10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146" h="10425">
                <a:moveTo>
                  <a:pt x="233" y="9959"/>
                </a:moveTo>
                <a:lnTo>
                  <a:pt x="418" y="9959"/>
                </a:lnTo>
                <a:lnTo>
                  <a:pt x="418" y="466"/>
                </a:lnTo>
                <a:lnTo>
                  <a:pt x="233" y="466"/>
                </a:lnTo>
                <a:lnTo>
                  <a:pt x="221" y="466"/>
                </a:lnTo>
                <a:lnTo>
                  <a:pt x="209" y="465"/>
                </a:lnTo>
                <a:lnTo>
                  <a:pt x="198" y="462"/>
                </a:lnTo>
                <a:lnTo>
                  <a:pt x="186" y="460"/>
                </a:lnTo>
                <a:lnTo>
                  <a:pt x="175" y="458"/>
                </a:lnTo>
                <a:lnTo>
                  <a:pt x="164" y="455"/>
                </a:lnTo>
                <a:lnTo>
                  <a:pt x="153" y="451"/>
                </a:lnTo>
                <a:lnTo>
                  <a:pt x="142" y="447"/>
                </a:lnTo>
                <a:lnTo>
                  <a:pt x="123" y="437"/>
                </a:lnTo>
                <a:lnTo>
                  <a:pt x="103" y="425"/>
                </a:lnTo>
                <a:lnTo>
                  <a:pt x="85" y="412"/>
                </a:lnTo>
                <a:lnTo>
                  <a:pt x="68" y="397"/>
                </a:lnTo>
                <a:lnTo>
                  <a:pt x="54" y="381"/>
                </a:lnTo>
                <a:lnTo>
                  <a:pt x="40" y="363"/>
                </a:lnTo>
                <a:lnTo>
                  <a:pt x="29" y="343"/>
                </a:lnTo>
                <a:lnTo>
                  <a:pt x="19" y="323"/>
                </a:lnTo>
                <a:lnTo>
                  <a:pt x="15" y="313"/>
                </a:lnTo>
                <a:lnTo>
                  <a:pt x="10" y="302"/>
                </a:lnTo>
                <a:lnTo>
                  <a:pt x="8" y="291"/>
                </a:lnTo>
                <a:lnTo>
                  <a:pt x="5" y="279"/>
                </a:lnTo>
                <a:lnTo>
                  <a:pt x="3" y="268"/>
                </a:lnTo>
                <a:lnTo>
                  <a:pt x="2" y="256"/>
                </a:lnTo>
                <a:lnTo>
                  <a:pt x="0" y="245"/>
                </a:lnTo>
                <a:lnTo>
                  <a:pt x="0" y="233"/>
                </a:lnTo>
                <a:lnTo>
                  <a:pt x="0" y="233"/>
                </a:lnTo>
                <a:lnTo>
                  <a:pt x="0" y="221"/>
                </a:lnTo>
                <a:lnTo>
                  <a:pt x="2" y="209"/>
                </a:lnTo>
                <a:lnTo>
                  <a:pt x="3" y="197"/>
                </a:lnTo>
                <a:lnTo>
                  <a:pt x="5" y="186"/>
                </a:lnTo>
                <a:lnTo>
                  <a:pt x="8" y="174"/>
                </a:lnTo>
                <a:lnTo>
                  <a:pt x="10" y="164"/>
                </a:lnTo>
                <a:lnTo>
                  <a:pt x="15" y="154"/>
                </a:lnTo>
                <a:lnTo>
                  <a:pt x="19" y="143"/>
                </a:lnTo>
                <a:lnTo>
                  <a:pt x="29" y="122"/>
                </a:lnTo>
                <a:lnTo>
                  <a:pt x="40" y="104"/>
                </a:lnTo>
                <a:lnTo>
                  <a:pt x="54" y="85"/>
                </a:lnTo>
                <a:lnTo>
                  <a:pt x="68" y="69"/>
                </a:lnTo>
                <a:lnTo>
                  <a:pt x="85" y="53"/>
                </a:lnTo>
                <a:lnTo>
                  <a:pt x="103" y="40"/>
                </a:lnTo>
                <a:lnTo>
                  <a:pt x="123" y="28"/>
                </a:lnTo>
                <a:lnTo>
                  <a:pt x="142" y="19"/>
                </a:lnTo>
                <a:lnTo>
                  <a:pt x="153" y="14"/>
                </a:lnTo>
                <a:lnTo>
                  <a:pt x="164" y="11"/>
                </a:lnTo>
                <a:lnTo>
                  <a:pt x="175" y="8"/>
                </a:lnTo>
                <a:lnTo>
                  <a:pt x="186" y="5"/>
                </a:lnTo>
                <a:lnTo>
                  <a:pt x="198" y="3"/>
                </a:lnTo>
                <a:lnTo>
                  <a:pt x="209" y="2"/>
                </a:lnTo>
                <a:lnTo>
                  <a:pt x="221" y="1"/>
                </a:lnTo>
                <a:lnTo>
                  <a:pt x="233" y="0"/>
                </a:lnTo>
                <a:lnTo>
                  <a:pt x="14914" y="0"/>
                </a:lnTo>
                <a:lnTo>
                  <a:pt x="14926" y="1"/>
                </a:lnTo>
                <a:lnTo>
                  <a:pt x="14938" y="2"/>
                </a:lnTo>
                <a:lnTo>
                  <a:pt x="14949" y="3"/>
                </a:lnTo>
                <a:lnTo>
                  <a:pt x="14961" y="5"/>
                </a:lnTo>
                <a:lnTo>
                  <a:pt x="14972" y="8"/>
                </a:lnTo>
                <a:lnTo>
                  <a:pt x="14983" y="11"/>
                </a:lnTo>
                <a:lnTo>
                  <a:pt x="14993" y="14"/>
                </a:lnTo>
                <a:lnTo>
                  <a:pt x="15004" y="19"/>
                </a:lnTo>
                <a:lnTo>
                  <a:pt x="15024" y="28"/>
                </a:lnTo>
                <a:lnTo>
                  <a:pt x="15044" y="40"/>
                </a:lnTo>
                <a:lnTo>
                  <a:pt x="15061" y="53"/>
                </a:lnTo>
                <a:lnTo>
                  <a:pt x="15077" y="69"/>
                </a:lnTo>
                <a:lnTo>
                  <a:pt x="15093" y="85"/>
                </a:lnTo>
                <a:lnTo>
                  <a:pt x="15106" y="104"/>
                </a:lnTo>
                <a:lnTo>
                  <a:pt x="15118" y="122"/>
                </a:lnTo>
                <a:lnTo>
                  <a:pt x="15127" y="143"/>
                </a:lnTo>
                <a:lnTo>
                  <a:pt x="15132" y="154"/>
                </a:lnTo>
                <a:lnTo>
                  <a:pt x="15135" y="164"/>
                </a:lnTo>
                <a:lnTo>
                  <a:pt x="15138" y="174"/>
                </a:lnTo>
                <a:lnTo>
                  <a:pt x="15142" y="186"/>
                </a:lnTo>
                <a:lnTo>
                  <a:pt x="15144" y="197"/>
                </a:lnTo>
                <a:lnTo>
                  <a:pt x="15145" y="209"/>
                </a:lnTo>
                <a:lnTo>
                  <a:pt x="15146" y="221"/>
                </a:lnTo>
                <a:lnTo>
                  <a:pt x="15146" y="233"/>
                </a:lnTo>
                <a:lnTo>
                  <a:pt x="15146" y="233"/>
                </a:lnTo>
                <a:lnTo>
                  <a:pt x="15146" y="245"/>
                </a:lnTo>
                <a:lnTo>
                  <a:pt x="15145" y="256"/>
                </a:lnTo>
                <a:lnTo>
                  <a:pt x="15144" y="268"/>
                </a:lnTo>
                <a:lnTo>
                  <a:pt x="15142" y="279"/>
                </a:lnTo>
                <a:lnTo>
                  <a:pt x="15138" y="291"/>
                </a:lnTo>
                <a:lnTo>
                  <a:pt x="15135" y="302"/>
                </a:lnTo>
                <a:lnTo>
                  <a:pt x="15132" y="313"/>
                </a:lnTo>
                <a:lnTo>
                  <a:pt x="15127" y="323"/>
                </a:lnTo>
                <a:lnTo>
                  <a:pt x="15118" y="343"/>
                </a:lnTo>
                <a:lnTo>
                  <a:pt x="15106" y="363"/>
                </a:lnTo>
                <a:lnTo>
                  <a:pt x="15093" y="381"/>
                </a:lnTo>
                <a:lnTo>
                  <a:pt x="15077" y="397"/>
                </a:lnTo>
                <a:lnTo>
                  <a:pt x="15061" y="412"/>
                </a:lnTo>
                <a:lnTo>
                  <a:pt x="15044" y="425"/>
                </a:lnTo>
                <a:lnTo>
                  <a:pt x="15024" y="437"/>
                </a:lnTo>
                <a:lnTo>
                  <a:pt x="15004" y="447"/>
                </a:lnTo>
                <a:lnTo>
                  <a:pt x="14993" y="451"/>
                </a:lnTo>
                <a:lnTo>
                  <a:pt x="14983" y="455"/>
                </a:lnTo>
                <a:lnTo>
                  <a:pt x="14972" y="458"/>
                </a:lnTo>
                <a:lnTo>
                  <a:pt x="14961" y="460"/>
                </a:lnTo>
                <a:lnTo>
                  <a:pt x="14949" y="462"/>
                </a:lnTo>
                <a:lnTo>
                  <a:pt x="14938" y="465"/>
                </a:lnTo>
                <a:lnTo>
                  <a:pt x="14926" y="466"/>
                </a:lnTo>
                <a:lnTo>
                  <a:pt x="14914" y="466"/>
                </a:lnTo>
                <a:lnTo>
                  <a:pt x="14729" y="466"/>
                </a:lnTo>
                <a:lnTo>
                  <a:pt x="14729" y="9959"/>
                </a:lnTo>
                <a:lnTo>
                  <a:pt x="14914" y="9959"/>
                </a:lnTo>
                <a:lnTo>
                  <a:pt x="14926" y="9959"/>
                </a:lnTo>
                <a:lnTo>
                  <a:pt x="14938" y="9960"/>
                </a:lnTo>
                <a:lnTo>
                  <a:pt x="14949" y="9962"/>
                </a:lnTo>
                <a:lnTo>
                  <a:pt x="14961" y="9964"/>
                </a:lnTo>
                <a:lnTo>
                  <a:pt x="14972" y="9967"/>
                </a:lnTo>
                <a:lnTo>
                  <a:pt x="14983" y="9970"/>
                </a:lnTo>
                <a:lnTo>
                  <a:pt x="14993" y="9973"/>
                </a:lnTo>
                <a:lnTo>
                  <a:pt x="15004" y="9978"/>
                </a:lnTo>
                <a:lnTo>
                  <a:pt x="15024" y="9987"/>
                </a:lnTo>
                <a:lnTo>
                  <a:pt x="15044" y="9999"/>
                </a:lnTo>
                <a:lnTo>
                  <a:pt x="15061" y="10012"/>
                </a:lnTo>
                <a:lnTo>
                  <a:pt x="15077" y="10028"/>
                </a:lnTo>
                <a:lnTo>
                  <a:pt x="15093" y="10044"/>
                </a:lnTo>
                <a:lnTo>
                  <a:pt x="15106" y="10062"/>
                </a:lnTo>
                <a:lnTo>
                  <a:pt x="15118" y="10081"/>
                </a:lnTo>
                <a:lnTo>
                  <a:pt x="15127" y="10102"/>
                </a:lnTo>
                <a:lnTo>
                  <a:pt x="15132" y="10112"/>
                </a:lnTo>
                <a:lnTo>
                  <a:pt x="15135" y="10123"/>
                </a:lnTo>
                <a:lnTo>
                  <a:pt x="15138" y="10133"/>
                </a:lnTo>
                <a:lnTo>
                  <a:pt x="15142" y="10145"/>
                </a:lnTo>
                <a:lnTo>
                  <a:pt x="15144" y="10156"/>
                </a:lnTo>
                <a:lnTo>
                  <a:pt x="15145" y="10168"/>
                </a:lnTo>
                <a:lnTo>
                  <a:pt x="15146" y="10179"/>
                </a:lnTo>
                <a:lnTo>
                  <a:pt x="15146" y="10191"/>
                </a:lnTo>
                <a:lnTo>
                  <a:pt x="15146" y="10191"/>
                </a:lnTo>
                <a:lnTo>
                  <a:pt x="15146" y="10203"/>
                </a:lnTo>
                <a:lnTo>
                  <a:pt x="15145" y="10215"/>
                </a:lnTo>
                <a:lnTo>
                  <a:pt x="15144" y="10227"/>
                </a:lnTo>
                <a:lnTo>
                  <a:pt x="15142" y="10238"/>
                </a:lnTo>
                <a:lnTo>
                  <a:pt x="15138" y="10249"/>
                </a:lnTo>
                <a:lnTo>
                  <a:pt x="15135" y="10261"/>
                </a:lnTo>
                <a:lnTo>
                  <a:pt x="15132" y="10271"/>
                </a:lnTo>
                <a:lnTo>
                  <a:pt x="15127" y="10282"/>
                </a:lnTo>
                <a:lnTo>
                  <a:pt x="15118" y="10303"/>
                </a:lnTo>
                <a:lnTo>
                  <a:pt x="15106" y="10321"/>
                </a:lnTo>
                <a:lnTo>
                  <a:pt x="15093" y="10340"/>
                </a:lnTo>
                <a:lnTo>
                  <a:pt x="15077" y="10356"/>
                </a:lnTo>
                <a:lnTo>
                  <a:pt x="15061" y="10371"/>
                </a:lnTo>
                <a:lnTo>
                  <a:pt x="15044" y="10384"/>
                </a:lnTo>
                <a:lnTo>
                  <a:pt x="15024" y="10396"/>
                </a:lnTo>
                <a:lnTo>
                  <a:pt x="15004" y="10406"/>
                </a:lnTo>
                <a:lnTo>
                  <a:pt x="14993" y="10410"/>
                </a:lnTo>
                <a:lnTo>
                  <a:pt x="14983" y="10414"/>
                </a:lnTo>
                <a:lnTo>
                  <a:pt x="14972" y="10417"/>
                </a:lnTo>
                <a:lnTo>
                  <a:pt x="14961" y="10419"/>
                </a:lnTo>
                <a:lnTo>
                  <a:pt x="14949" y="10421"/>
                </a:lnTo>
                <a:lnTo>
                  <a:pt x="14938" y="10422"/>
                </a:lnTo>
                <a:lnTo>
                  <a:pt x="14926" y="10424"/>
                </a:lnTo>
                <a:lnTo>
                  <a:pt x="14914" y="10425"/>
                </a:lnTo>
                <a:lnTo>
                  <a:pt x="233" y="10425"/>
                </a:lnTo>
                <a:lnTo>
                  <a:pt x="221" y="10424"/>
                </a:lnTo>
                <a:lnTo>
                  <a:pt x="209" y="10422"/>
                </a:lnTo>
                <a:lnTo>
                  <a:pt x="198" y="10421"/>
                </a:lnTo>
                <a:lnTo>
                  <a:pt x="186" y="10419"/>
                </a:lnTo>
                <a:lnTo>
                  <a:pt x="175" y="10417"/>
                </a:lnTo>
                <a:lnTo>
                  <a:pt x="164" y="10414"/>
                </a:lnTo>
                <a:lnTo>
                  <a:pt x="153" y="10410"/>
                </a:lnTo>
                <a:lnTo>
                  <a:pt x="142" y="10406"/>
                </a:lnTo>
                <a:lnTo>
                  <a:pt x="123" y="10396"/>
                </a:lnTo>
                <a:lnTo>
                  <a:pt x="103" y="10384"/>
                </a:lnTo>
                <a:lnTo>
                  <a:pt x="85" y="10371"/>
                </a:lnTo>
                <a:lnTo>
                  <a:pt x="68" y="10356"/>
                </a:lnTo>
                <a:lnTo>
                  <a:pt x="54" y="10340"/>
                </a:lnTo>
                <a:lnTo>
                  <a:pt x="40" y="10321"/>
                </a:lnTo>
                <a:lnTo>
                  <a:pt x="29" y="10303"/>
                </a:lnTo>
                <a:lnTo>
                  <a:pt x="19" y="10282"/>
                </a:lnTo>
                <a:lnTo>
                  <a:pt x="15" y="10271"/>
                </a:lnTo>
                <a:lnTo>
                  <a:pt x="10" y="10261"/>
                </a:lnTo>
                <a:lnTo>
                  <a:pt x="8" y="10249"/>
                </a:lnTo>
                <a:lnTo>
                  <a:pt x="5" y="10238"/>
                </a:lnTo>
                <a:lnTo>
                  <a:pt x="3" y="10227"/>
                </a:lnTo>
                <a:lnTo>
                  <a:pt x="2" y="10215"/>
                </a:lnTo>
                <a:lnTo>
                  <a:pt x="0" y="10203"/>
                </a:lnTo>
                <a:lnTo>
                  <a:pt x="0" y="10191"/>
                </a:lnTo>
                <a:lnTo>
                  <a:pt x="0" y="10191"/>
                </a:lnTo>
                <a:lnTo>
                  <a:pt x="0" y="10179"/>
                </a:lnTo>
                <a:lnTo>
                  <a:pt x="2" y="10168"/>
                </a:lnTo>
                <a:lnTo>
                  <a:pt x="3" y="10156"/>
                </a:lnTo>
                <a:lnTo>
                  <a:pt x="5" y="10145"/>
                </a:lnTo>
                <a:lnTo>
                  <a:pt x="8" y="10133"/>
                </a:lnTo>
                <a:lnTo>
                  <a:pt x="10" y="10123"/>
                </a:lnTo>
                <a:lnTo>
                  <a:pt x="15" y="10112"/>
                </a:lnTo>
                <a:lnTo>
                  <a:pt x="19" y="10102"/>
                </a:lnTo>
                <a:lnTo>
                  <a:pt x="29" y="10081"/>
                </a:lnTo>
                <a:lnTo>
                  <a:pt x="40" y="10062"/>
                </a:lnTo>
                <a:lnTo>
                  <a:pt x="54" y="10044"/>
                </a:lnTo>
                <a:lnTo>
                  <a:pt x="68" y="10028"/>
                </a:lnTo>
                <a:lnTo>
                  <a:pt x="85" y="10012"/>
                </a:lnTo>
                <a:lnTo>
                  <a:pt x="103" y="9999"/>
                </a:lnTo>
                <a:lnTo>
                  <a:pt x="123" y="9987"/>
                </a:lnTo>
                <a:lnTo>
                  <a:pt x="142" y="9978"/>
                </a:lnTo>
                <a:lnTo>
                  <a:pt x="153" y="9973"/>
                </a:lnTo>
                <a:lnTo>
                  <a:pt x="164" y="9970"/>
                </a:lnTo>
                <a:lnTo>
                  <a:pt x="175" y="9967"/>
                </a:lnTo>
                <a:lnTo>
                  <a:pt x="186" y="9964"/>
                </a:lnTo>
                <a:lnTo>
                  <a:pt x="198" y="9962"/>
                </a:lnTo>
                <a:lnTo>
                  <a:pt x="209" y="9960"/>
                </a:lnTo>
                <a:lnTo>
                  <a:pt x="221" y="9959"/>
                </a:lnTo>
                <a:lnTo>
                  <a:pt x="233" y="9959"/>
                </a:lnTo>
                <a:close/>
              </a:path>
            </a:pathLst>
          </a:custGeom>
          <a:solidFill>
            <a:srgbClr val="FFFFFF">
              <a:lumMod val="75000"/>
            </a:srgbClr>
          </a:solidFill>
          <a:ln>
            <a:solidFill>
              <a:schemeClr val="bg1">
                <a:lumMod val="50000"/>
              </a:schemeClr>
            </a:solidFill>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2" name="îŝľíḍê"/>
          <p:cNvSpPr/>
          <p:nvPr/>
        </p:nvSpPr>
        <p:spPr bwMode="gray">
          <a:xfrm>
            <a:off x="2199102" y="3224712"/>
            <a:ext cx="2062748" cy="1321180"/>
          </a:xfrm>
          <a:prstGeom prst="rect">
            <a:avLst/>
          </a:prstGeom>
          <a:solidFill>
            <a:srgbClr val="FFFFFF"/>
          </a:solidFill>
          <a:ln w="9525">
            <a:solidFill>
              <a:srgbClr val="000000"/>
            </a:solidFill>
            <a:miter lim="800000"/>
            <a:headEnd/>
            <a:tailEnd/>
          </a:ln>
        </p:spPr>
        <p:txBody>
          <a:bodyPr wrap="square" lIns="91440" tIns="45720" rIns="91440" bIns="45720" anchor="ctr">
            <a:normAutofit/>
          </a:bodyPr>
          <a:lstStyle/>
          <a:p>
            <a:pPr marL="0" marR="0" lvl="0" indent="0" algn="ctr" defTabSz="914400" eaLnBrk="1" fontAlgn="t" latinLnBrk="0" hangingPunct="1">
              <a:lnSpc>
                <a:spcPct val="100000"/>
              </a:lnSpc>
              <a:spcBef>
                <a:spcPct val="0"/>
              </a:spcBef>
              <a:spcAft>
                <a:spcPct val="0"/>
              </a:spcAft>
              <a:buClrTx/>
              <a:buSzTx/>
              <a:buFontTx/>
              <a:buNone/>
              <a:tabLst/>
              <a:defRPr/>
            </a:pPr>
            <a:endParaRPr kumimoji="0"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3" name="iṥ1iďe"/>
          <p:cNvSpPr txBox="1"/>
          <p:nvPr/>
        </p:nvSpPr>
        <p:spPr bwMode="gray">
          <a:xfrm>
            <a:off x="2446270" y="3501008"/>
            <a:ext cx="1612297" cy="68407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en-US" altLang="zh-CN" sz="1800" b="1" kern="0" dirty="0">
                <a:solidFill>
                  <a:srgbClr val="000000"/>
                </a:solidFill>
                <a:latin typeface="Huawei Sans" panose="020C0503030203020204" pitchFamily="34" charset="0"/>
                <a:ea typeface="方正兰亭黑简体" panose="02000000000000000000" pitchFamily="2" charset="-122"/>
              </a:rPr>
              <a:t>8</a:t>
            </a:r>
            <a:r>
              <a:rPr lang="zh-CN" altLang="en-US" sz="1800" b="1" kern="0" dirty="0">
                <a:solidFill>
                  <a:srgbClr val="000000"/>
                </a:solidFill>
                <a:latin typeface="Huawei Sans" panose="020C0503030203020204" pitchFamily="34" charset="0"/>
                <a:ea typeface="方正兰亭黑简体" panose="02000000000000000000" pitchFamily="2" charset="-122"/>
              </a:rPr>
              <a:t>个端口队列</a:t>
            </a:r>
            <a:endParaRPr lang="en-US" altLang="zh-CN" sz="1800" b="1" kern="0" dirty="0">
              <a:solidFill>
                <a:srgbClr val="000000"/>
              </a:solidFill>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分为</a:t>
            </a:r>
            <a:r>
              <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3</a:t>
            </a:r>
            <a:r>
              <a:rPr kumimoji="0" lang="zh-CN" altLang="en-US"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组</a:t>
            </a:r>
            <a:endParaRPr kumimoji="0" lang="en-US" altLang="zh-CN" sz="18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9975446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a:t>三种队列的调度顺序</a:t>
            </a:r>
          </a:p>
        </p:txBody>
      </p:sp>
      <p:grpSp>
        <p:nvGrpSpPr>
          <p:cNvPr id="159" name="组合 158"/>
          <p:cNvGrpSpPr/>
          <p:nvPr/>
        </p:nvGrpSpPr>
        <p:grpSpPr bwMode="gray">
          <a:xfrm>
            <a:off x="1163452" y="1364640"/>
            <a:ext cx="5040560" cy="4752528"/>
            <a:chOff x="1163452" y="1340768"/>
            <a:chExt cx="5040560" cy="4752528"/>
          </a:xfrm>
        </p:grpSpPr>
        <p:sp>
          <p:nvSpPr>
            <p:cNvPr id="157" name="矩形 156"/>
            <p:cNvSpPr/>
            <p:nvPr/>
          </p:nvSpPr>
          <p:spPr bwMode="gray">
            <a:xfrm>
              <a:off x="1163452" y="1340768"/>
              <a:ext cx="5040560" cy="4752528"/>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7" name="圆角矩形 6"/>
            <p:cNvSpPr/>
            <p:nvPr/>
          </p:nvSpPr>
          <p:spPr bwMode="gray">
            <a:xfrm>
              <a:off x="1379476" y="1556792"/>
              <a:ext cx="1872208" cy="1332148"/>
            </a:xfrm>
            <a:prstGeom prst="roundRect">
              <a:avLst/>
            </a:prstGeom>
            <a:solidFill>
              <a:srgbClr val="FFFEEF"/>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8" name="iṥ1iďe"/>
            <p:cNvSpPr txBox="1"/>
            <p:nvPr/>
          </p:nvSpPr>
          <p:spPr bwMode="gray">
            <a:xfrm>
              <a:off x="1379476" y="1952836"/>
              <a:ext cx="612068"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PQ</a:t>
              </a: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0" name="圆角矩形 9"/>
            <p:cNvSpPr/>
            <p:nvPr/>
          </p:nvSpPr>
          <p:spPr bwMode="gray">
            <a:xfrm>
              <a:off x="2207568" y="1700808"/>
              <a:ext cx="828092" cy="324036"/>
            </a:xfrm>
            <a:prstGeom prst="roundRect">
              <a:avLst/>
            </a:prstGeom>
            <a:solidFill>
              <a:srgbClr val="EC7061">
                <a:alpha val="62000"/>
              </a:srgbClr>
            </a:solidFill>
            <a:ln w="9525" cap="flat" cmpd="sng" algn="ctr">
              <a:solidFill>
                <a:srgbClr val="EC706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1" name="圆角矩形 10"/>
            <p:cNvSpPr/>
            <p:nvPr/>
          </p:nvSpPr>
          <p:spPr bwMode="gray">
            <a:xfrm>
              <a:off x="2207568" y="2384884"/>
              <a:ext cx="828092" cy="324036"/>
            </a:xfrm>
            <a:prstGeom prst="roundRect">
              <a:avLst/>
            </a:prstGeom>
            <a:solidFill>
              <a:srgbClr val="FFD17D">
                <a:alpha val="62000"/>
              </a:srgbClr>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 name="iṥ1iďe"/>
            <p:cNvSpPr txBox="1"/>
            <p:nvPr/>
          </p:nvSpPr>
          <p:spPr bwMode="gray">
            <a:xfrm>
              <a:off x="2243572" y="1736812"/>
              <a:ext cx="720080" cy="216024"/>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 </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13" name="iṥ1iďe"/>
            <p:cNvSpPr txBox="1"/>
            <p:nvPr/>
          </p:nvSpPr>
          <p:spPr bwMode="gray">
            <a:xfrm>
              <a:off x="2207568" y="2420888"/>
              <a:ext cx="792088" cy="288032"/>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 </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m</a:t>
              </a:r>
            </a:p>
          </p:txBody>
        </p:sp>
        <p:sp>
          <p:nvSpPr>
            <p:cNvPr id="14" name="iṥ1iďe"/>
            <p:cNvSpPr txBox="1"/>
            <p:nvPr/>
          </p:nvSpPr>
          <p:spPr bwMode="gray">
            <a:xfrm>
              <a:off x="2315580" y="1880828"/>
              <a:ext cx="612068"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 …</a:t>
              </a:r>
            </a:p>
          </p:txBody>
        </p:sp>
        <p:sp>
          <p:nvSpPr>
            <p:cNvPr id="17" name="圆角矩形 16"/>
            <p:cNvSpPr/>
            <p:nvPr/>
          </p:nvSpPr>
          <p:spPr bwMode="gray">
            <a:xfrm>
              <a:off x="1379476" y="3050264"/>
              <a:ext cx="1872208" cy="1332148"/>
            </a:xfrm>
            <a:prstGeom prst="roundRect">
              <a:avLst/>
            </a:prstGeom>
            <a:solidFill>
              <a:srgbClr val="FFFEEF"/>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8" name="iṥ1iďe"/>
            <p:cNvSpPr txBox="1"/>
            <p:nvPr/>
          </p:nvSpPr>
          <p:spPr bwMode="gray">
            <a:xfrm>
              <a:off x="1379476" y="3446308"/>
              <a:ext cx="684076"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lang="en-US" altLang="zh-CN" sz="1400" b="1" kern="0" dirty="0">
                  <a:solidFill>
                    <a:srgbClr val="000000"/>
                  </a:solidFill>
                  <a:latin typeface="Huawei Sans" panose="020C0503030203020204" pitchFamily="34" charset="0"/>
                  <a:ea typeface="方正兰亭黑简体" panose="02000000000000000000" pitchFamily="2" charset="-122"/>
                </a:rPr>
                <a:t>WFQ</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9" name="圆角矩形 18"/>
            <p:cNvSpPr/>
            <p:nvPr/>
          </p:nvSpPr>
          <p:spPr bwMode="gray">
            <a:xfrm>
              <a:off x="2207568" y="3194280"/>
              <a:ext cx="828092" cy="324036"/>
            </a:xfrm>
            <a:prstGeom prst="roundRect">
              <a:avLst/>
            </a:prstGeom>
            <a:solidFill>
              <a:srgbClr val="D9D9D9">
                <a:alpha val="62000"/>
              </a:srgbClr>
            </a:solidFill>
            <a:ln w="9525" cap="flat" cmpd="sng" algn="ctr">
              <a:solidFill>
                <a:srgbClr val="D9D9D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0" name="圆角矩形 19"/>
            <p:cNvSpPr/>
            <p:nvPr/>
          </p:nvSpPr>
          <p:spPr bwMode="gray">
            <a:xfrm>
              <a:off x="2207568" y="3878356"/>
              <a:ext cx="828092" cy="324036"/>
            </a:xfrm>
            <a:prstGeom prst="roundRect">
              <a:avLst/>
            </a:prstGeom>
            <a:solidFill>
              <a:srgbClr val="99DFF9">
                <a:alpha val="62000"/>
              </a:srgbClr>
            </a:solidFill>
            <a:ln w="9525"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1" name="iṥ1iďe"/>
            <p:cNvSpPr txBox="1"/>
            <p:nvPr/>
          </p:nvSpPr>
          <p:spPr bwMode="gray">
            <a:xfrm>
              <a:off x="2243572" y="3230284"/>
              <a:ext cx="720080" cy="270724"/>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 </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22" name="iṥ1iďe"/>
            <p:cNvSpPr txBox="1"/>
            <p:nvPr/>
          </p:nvSpPr>
          <p:spPr bwMode="gray">
            <a:xfrm>
              <a:off x="2243572" y="3914360"/>
              <a:ext cx="756084" cy="25202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a:t>
              </a:r>
              <a:r>
                <a:rPr lang="en-US" altLang="zh-CN" sz="1400" kern="0" noProof="0" dirty="0">
                  <a:solidFill>
                    <a:srgbClr val="000000"/>
                  </a:solidFill>
                  <a:latin typeface="Huawei Sans" panose="020C0503030203020204" pitchFamily="34" charset="0"/>
                  <a:ea typeface="方正兰亭黑简体" panose="02000000000000000000" pitchFamily="2" charset="-122"/>
                </a:rPr>
                <a:t> </a:t>
              </a:r>
              <a:r>
                <a:rPr lang="en-US" altLang="zh-CN" sz="1400" kern="0" noProof="0" dirty="0" err="1">
                  <a:solidFill>
                    <a:srgbClr val="000000"/>
                  </a:solidFill>
                  <a:latin typeface="Huawei Sans" panose="020C0503030203020204" pitchFamily="34" charset="0"/>
                  <a:ea typeface="方正兰亭黑简体" panose="02000000000000000000" pitchFamily="2" charset="-122"/>
                </a:rPr>
                <a:t>i</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23" name="iṥ1iďe"/>
            <p:cNvSpPr txBox="1"/>
            <p:nvPr/>
          </p:nvSpPr>
          <p:spPr bwMode="gray">
            <a:xfrm>
              <a:off x="2315580" y="3374300"/>
              <a:ext cx="612068"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 …</a:t>
              </a:r>
            </a:p>
          </p:txBody>
        </p:sp>
        <p:sp>
          <p:nvSpPr>
            <p:cNvPr id="25" name="圆角矩形 24"/>
            <p:cNvSpPr/>
            <p:nvPr/>
          </p:nvSpPr>
          <p:spPr bwMode="gray">
            <a:xfrm>
              <a:off x="1379476" y="4581128"/>
              <a:ext cx="1872208" cy="1332148"/>
            </a:xfrm>
            <a:prstGeom prst="roundRect">
              <a:avLst/>
            </a:prstGeom>
            <a:solidFill>
              <a:srgbClr val="FFFEEF"/>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6" name="iṥ1iďe"/>
            <p:cNvSpPr txBox="1"/>
            <p:nvPr/>
          </p:nvSpPr>
          <p:spPr bwMode="gray">
            <a:xfrm>
              <a:off x="1379476" y="4977172"/>
              <a:ext cx="612068"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LPQ</a:t>
              </a:r>
            </a:p>
            <a:p>
              <a:pPr marL="0" marR="0" lvl="0" indent="0" algn="ctr" defTabSz="914400" eaLnBrk="1" fontAlgn="t" latinLnBrk="0" hangingPunct="1">
                <a:lnSpc>
                  <a:spcPct val="100000"/>
                </a:lnSpc>
                <a:spcBef>
                  <a:spcPct val="0"/>
                </a:spcBef>
                <a:spcAft>
                  <a:spcPct val="0"/>
                </a:spcAft>
                <a:buClrTx/>
                <a:buSzTx/>
                <a:buFontTx/>
                <a:buNone/>
                <a:tabLst/>
                <a:defRPr/>
              </a:pPr>
              <a:r>
                <a:rPr lang="zh-CN" altLang="en-US" sz="1400" b="1" kern="0" dirty="0">
                  <a:solidFill>
                    <a:srgbClr val="000000"/>
                  </a:solidFill>
                  <a:latin typeface="Huawei Sans" panose="020C0503030203020204" pitchFamily="34" charset="0"/>
                  <a:ea typeface="方正兰亭黑简体" panose="02000000000000000000" pitchFamily="2" charset="-122"/>
                </a:rPr>
                <a:t>队列</a:t>
              </a:r>
              <a:endPar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27" name="圆角矩形 26"/>
            <p:cNvSpPr/>
            <p:nvPr/>
          </p:nvSpPr>
          <p:spPr bwMode="gray">
            <a:xfrm>
              <a:off x="2279576" y="4725144"/>
              <a:ext cx="756084" cy="324036"/>
            </a:xfrm>
            <a:prstGeom prst="roundRect">
              <a:avLst/>
            </a:prstGeom>
            <a:solidFill>
              <a:srgbClr val="00B0F0">
                <a:alpha val="62000"/>
              </a:srgbClr>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8" name="圆角矩形 27"/>
            <p:cNvSpPr/>
            <p:nvPr/>
          </p:nvSpPr>
          <p:spPr bwMode="gray">
            <a:xfrm>
              <a:off x="2279576" y="5409220"/>
              <a:ext cx="756084" cy="324036"/>
            </a:xfrm>
            <a:prstGeom prst="roundRect">
              <a:avLst/>
            </a:prstGeom>
            <a:solidFill>
              <a:srgbClr val="8BC9A0">
                <a:alpha val="62000"/>
              </a:srgbClr>
            </a:solidFill>
            <a:ln w="9525" cap="flat" cmpd="sng" algn="ctr">
              <a:solidFill>
                <a:srgbClr val="8BC9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29" name="iṥ1iďe"/>
            <p:cNvSpPr txBox="1"/>
            <p:nvPr/>
          </p:nvSpPr>
          <p:spPr bwMode="gray">
            <a:xfrm>
              <a:off x="2279576" y="4761148"/>
              <a:ext cx="756084" cy="25202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 </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1</a:t>
              </a:r>
            </a:p>
          </p:txBody>
        </p:sp>
        <p:sp>
          <p:nvSpPr>
            <p:cNvPr id="30" name="iṥ1iďe"/>
            <p:cNvSpPr txBox="1"/>
            <p:nvPr/>
          </p:nvSpPr>
          <p:spPr bwMode="gray">
            <a:xfrm>
              <a:off x="2279576" y="5445224"/>
              <a:ext cx="756084" cy="252028"/>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 </a:t>
              </a: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k</a:t>
              </a:r>
            </a:p>
          </p:txBody>
        </p:sp>
        <p:sp>
          <p:nvSpPr>
            <p:cNvPr id="31" name="iṥ1iďe"/>
            <p:cNvSpPr txBox="1"/>
            <p:nvPr/>
          </p:nvSpPr>
          <p:spPr bwMode="gray">
            <a:xfrm>
              <a:off x="2315580" y="4905164"/>
              <a:ext cx="612068" cy="540060"/>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 …</a:t>
              </a:r>
            </a:p>
          </p:txBody>
        </p:sp>
        <p:grpSp>
          <p:nvGrpSpPr>
            <p:cNvPr id="32" name="组合 31"/>
            <p:cNvGrpSpPr/>
            <p:nvPr/>
          </p:nvGrpSpPr>
          <p:grpSpPr bwMode="gray">
            <a:xfrm>
              <a:off x="3431704" y="3392988"/>
              <a:ext cx="619748" cy="576000"/>
              <a:chOff x="6902250" y="3037168"/>
              <a:chExt cx="619748" cy="576000"/>
            </a:xfrm>
          </p:grpSpPr>
          <p:sp>
            <p:nvSpPr>
              <p:cNvPr id="33" name="流程图: 联系 32"/>
              <p:cNvSpPr/>
              <p:nvPr/>
            </p:nvSpPr>
            <p:spPr bwMode="gray">
              <a:xfrm>
                <a:off x="6924124" y="3037168"/>
                <a:ext cx="576000" cy="576000"/>
              </a:xfrm>
              <a:prstGeom prst="flowChartConnector">
                <a:avLst/>
              </a:prstGeom>
              <a:solidFill>
                <a:srgbClr val="F4FBFE"/>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4" name="文本框 33"/>
              <p:cNvSpPr txBox="1"/>
              <p:nvPr/>
            </p:nvSpPr>
            <p:spPr bwMode="gray">
              <a:xfrm>
                <a:off x="6902250" y="3065395"/>
                <a:ext cx="619748"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WFQ</a:t>
                </a:r>
              </a:p>
              <a:p>
                <a:pPr algn="ctr"/>
                <a:r>
                  <a:rPr lang="zh-CN" altLang="en-US" sz="1400" b="1" dirty="0">
                    <a:latin typeface="Huawei Sans" panose="020C0503030203020204" pitchFamily="34" charset="0"/>
                    <a:ea typeface="方正兰亭黑简体" panose="02000000000000000000" pitchFamily="2" charset="-122"/>
                  </a:rPr>
                  <a:t>调度</a:t>
                </a:r>
              </a:p>
            </p:txBody>
          </p:sp>
        </p:grpSp>
        <p:grpSp>
          <p:nvGrpSpPr>
            <p:cNvPr id="36" name="组合 35"/>
            <p:cNvGrpSpPr/>
            <p:nvPr/>
          </p:nvGrpSpPr>
          <p:grpSpPr bwMode="gray">
            <a:xfrm>
              <a:off x="3453578" y="1916832"/>
              <a:ext cx="576000" cy="576000"/>
              <a:chOff x="6924156" y="3069024"/>
              <a:chExt cx="576000" cy="576000"/>
            </a:xfrm>
          </p:grpSpPr>
          <p:sp>
            <p:nvSpPr>
              <p:cNvPr id="37" name="流程图: 联系 36"/>
              <p:cNvSpPr/>
              <p:nvPr/>
            </p:nvSpPr>
            <p:spPr bwMode="gray">
              <a:xfrm>
                <a:off x="6924156" y="3069024"/>
                <a:ext cx="576000" cy="576000"/>
              </a:xfrm>
              <a:prstGeom prst="flowChartConnector">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943960" y="3097251"/>
                <a:ext cx="536392"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SP</a:t>
                </a:r>
              </a:p>
              <a:p>
                <a:pPr algn="ctr"/>
                <a:r>
                  <a:rPr lang="zh-CN" altLang="en-US" sz="1400" b="1" dirty="0">
                    <a:latin typeface="Huawei Sans" panose="020C0503030203020204" pitchFamily="34" charset="0"/>
                    <a:ea typeface="方正兰亭黑简体" panose="02000000000000000000" pitchFamily="2" charset="-122"/>
                  </a:rPr>
                  <a:t>调度</a:t>
                </a:r>
              </a:p>
            </p:txBody>
          </p:sp>
        </p:grpSp>
        <p:grpSp>
          <p:nvGrpSpPr>
            <p:cNvPr id="57" name="组合 56"/>
            <p:cNvGrpSpPr/>
            <p:nvPr/>
          </p:nvGrpSpPr>
          <p:grpSpPr bwMode="gray">
            <a:xfrm>
              <a:off x="3453578" y="4977172"/>
              <a:ext cx="576000" cy="576000"/>
              <a:chOff x="6924124" y="3037168"/>
              <a:chExt cx="576000" cy="576000"/>
            </a:xfrm>
          </p:grpSpPr>
          <p:sp>
            <p:nvSpPr>
              <p:cNvPr id="58" name="流程图: 联系 57"/>
              <p:cNvSpPr/>
              <p:nvPr/>
            </p:nvSpPr>
            <p:spPr bwMode="gray">
              <a:xfrm>
                <a:off x="6924124" y="3037168"/>
                <a:ext cx="576000" cy="576000"/>
              </a:xfrm>
              <a:prstGeom prst="flowChartConnector">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59" name="文本框 58"/>
              <p:cNvSpPr txBox="1"/>
              <p:nvPr/>
            </p:nvSpPr>
            <p:spPr bwMode="gray">
              <a:xfrm>
                <a:off x="6943928" y="3065395"/>
                <a:ext cx="536392"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SP</a:t>
                </a:r>
              </a:p>
              <a:p>
                <a:pPr algn="ctr"/>
                <a:r>
                  <a:rPr lang="zh-CN" altLang="en-US" sz="1400" b="1" dirty="0">
                    <a:latin typeface="Huawei Sans" panose="020C0503030203020204" pitchFamily="34" charset="0"/>
                    <a:ea typeface="方正兰亭黑简体" panose="02000000000000000000" pitchFamily="2" charset="-122"/>
                  </a:rPr>
                  <a:t>调度</a:t>
                </a:r>
              </a:p>
            </p:txBody>
          </p:sp>
        </p:grpSp>
        <p:sp>
          <p:nvSpPr>
            <p:cNvPr id="60" name="任意多边形 59"/>
            <p:cNvSpPr/>
            <p:nvPr/>
          </p:nvSpPr>
          <p:spPr bwMode="gray">
            <a:xfrm>
              <a:off x="3070860" y="1808820"/>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1" name="任意多边形 60"/>
            <p:cNvSpPr/>
            <p:nvPr/>
          </p:nvSpPr>
          <p:spPr bwMode="gray">
            <a:xfrm flipV="1">
              <a:off x="3070860" y="2405668"/>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63" name="直接箭头连接符 62"/>
            <p:cNvCxnSpPr>
              <a:endCxn id="37" idx="2"/>
            </p:cNvCxnSpPr>
            <p:nvPr/>
          </p:nvCxnSpPr>
          <p:spPr bwMode="gray">
            <a:xfrm>
              <a:off x="3071664" y="2204800"/>
              <a:ext cx="381914" cy="3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66" name="任意多边形 65"/>
            <p:cNvSpPr/>
            <p:nvPr/>
          </p:nvSpPr>
          <p:spPr bwMode="gray">
            <a:xfrm>
              <a:off x="3070860" y="3320988"/>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7" name="任意多边形 66"/>
            <p:cNvSpPr/>
            <p:nvPr/>
          </p:nvSpPr>
          <p:spPr bwMode="gray">
            <a:xfrm flipV="1">
              <a:off x="3070860" y="3917836"/>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68" name="直接箭头连接符 67"/>
            <p:cNvCxnSpPr/>
            <p:nvPr/>
          </p:nvCxnSpPr>
          <p:spPr bwMode="gray">
            <a:xfrm>
              <a:off x="3071664" y="3716968"/>
              <a:ext cx="381914" cy="3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69" name="任意多边形 68"/>
            <p:cNvSpPr/>
            <p:nvPr/>
          </p:nvSpPr>
          <p:spPr bwMode="gray">
            <a:xfrm>
              <a:off x="3070860" y="4884380"/>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70" name="任意多边形 69"/>
            <p:cNvSpPr/>
            <p:nvPr/>
          </p:nvSpPr>
          <p:spPr bwMode="gray">
            <a:xfrm flipV="1">
              <a:off x="3070860" y="5481228"/>
              <a:ext cx="449580" cy="152400"/>
            </a:xfrm>
            <a:custGeom>
              <a:avLst/>
              <a:gdLst>
                <a:gd name="connsiteX0" fmla="*/ 0 w 449580"/>
                <a:gd name="connsiteY0" fmla="*/ 0 h 152400"/>
                <a:gd name="connsiteX1" fmla="*/ 297180 w 449580"/>
                <a:gd name="connsiteY1" fmla="*/ 0 h 152400"/>
                <a:gd name="connsiteX2" fmla="*/ 449580 w 449580"/>
                <a:gd name="connsiteY2" fmla="*/ 152400 h 152400"/>
              </a:gdLst>
              <a:ahLst/>
              <a:cxnLst>
                <a:cxn ang="0">
                  <a:pos x="connsiteX0" y="connsiteY0"/>
                </a:cxn>
                <a:cxn ang="0">
                  <a:pos x="connsiteX1" y="connsiteY1"/>
                </a:cxn>
                <a:cxn ang="0">
                  <a:pos x="connsiteX2" y="connsiteY2"/>
                </a:cxn>
              </a:cxnLst>
              <a:rect l="l" t="t" r="r" b="b"/>
              <a:pathLst>
                <a:path w="449580" h="152400">
                  <a:moveTo>
                    <a:pt x="0" y="0"/>
                  </a:moveTo>
                  <a:lnTo>
                    <a:pt x="297180" y="0"/>
                  </a:lnTo>
                  <a:lnTo>
                    <a:pt x="449580" y="152400"/>
                  </a:lnTo>
                </a:path>
              </a:pathLst>
            </a:custGeom>
            <a:noFill/>
            <a:ln w="12700">
              <a:solidFill>
                <a:schemeClr val="tx1"/>
              </a:solidFill>
              <a:miter lim="800000"/>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cxnSp>
          <p:nvCxnSpPr>
            <p:cNvPr id="71" name="直接箭头连接符 70"/>
            <p:cNvCxnSpPr/>
            <p:nvPr/>
          </p:nvCxnSpPr>
          <p:spPr bwMode="gray">
            <a:xfrm>
              <a:off x="3071664" y="5280360"/>
              <a:ext cx="381914" cy="3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grpSp>
          <p:nvGrpSpPr>
            <p:cNvPr id="72" name="组合 71"/>
            <p:cNvGrpSpPr/>
            <p:nvPr/>
          </p:nvGrpSpPr>
          <p:grpSpPr bwMode="gray">
            <a:xfrm>
              <a:off x="4547828" y="3320988"/>
              <a:ext cx="720000" cy="720000"/>
              <a:chOff x="6866326" y="2997686"/>
              <a:chExt cx="720000" cy="720000"/>
            </a:xfrm>
          </p:grpSpPr>
          <p:sp>
            <p:nvSpPr>
              <p:cNvPr id="73" name="流程图: 联系 72"/>
              <p:cNvSpPr/>
              <p:nvPr/>
            </p:nvSpPr>
            <p:spPr bwMode="gray">
              <a:xfrm>
                <a:off x="6866326" y="2997686"/>
                <a:ext cx="720000" cy="720000"/>
              </a:xfrm>
              <a:prstGeom prst="flowChartConnector">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74" name="文本框 73"/>
              <p:cNvSpPr txBox="1"/>
              <p:nvPr/>
            </p:nvSpPr>
            <p:spPr bwMode="gray">
              <a:xfrm>
                <a:off x="6958130" y="3097913"/>
                <a:ext cx="536392"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400" b="1" dirty="0">
                    <a:latin typeface="Huawei Sans" panose="020C0503030203020204" pitchFamily="34" charset="0"/>
                    <a:ea typeface="方正兰亭黑简体" panose="02000000000000000000" pitchFamily="2" charset="-122"/>
                  </a:rPr>
                  <a:t>SP</a:t>
                </a:r>
              </a:p>
              <a:p>
                <a:pPr algn="ctr"/>
                <a:r>
                  <a:rPr lang="zh-CN" altLang="en-US" sz="1400" b="1" dirty="0">
                    <a:latin typeface="Huawei Sans" panose="020C0503030203020204" pitchFamily="34" charset="0"/>
                    <a:ea typeface="方正兰亭黑简体" panose="02000000000000000000" pitchFamily="2" charset="-122"/>
                  </a:rPr>
                  <a:t>调度</a:t>
                </a:r>
              </a:p>
            </p:txBody>
          </p:sp>
        </p:grpSp>
        <p:cxnSp>
          <p:nvCxnSpPr>
            <p:cNvPr id="75" name="直接箭头连接符 74"/>
            <p:cNvCxnSpPr>
              <a:stCxn id="38" idx="3"/>
              <a:endCxn id="73" idx="1"/>
            </p:cNvCxnSpPr>
            <p:nvPr/>
          </p:nvCxnSpPr>
          <p:spPr bwMode="gray">
            <a:xfrm>
              <a:off x="4009774" y="2204833"/>
              <a:ext cx="643496" cy="1221597"/>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78" name="直接箭头连接符 77"/>
            <p:cNvCxnSpPr>
              <a:stCxn id="34" idx="3"/>
              <a:endCxn id="73" idx="2"/>
            </p:cNvCxnSpPr>
            <p:nvPr/>
          </p:nvCxnSpPr>
          <p:spPr bwMode="gray">
            <a:xfrm flipV="1">
              <a:off x="4051452" y="3680988"/>
              <a:ext cx="496376" cy="1"/>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81" name="直接箭头连接符 80"/>
            <p:cNvCxnSpPr>
              <a:stCxn id="58" idx="6"/>
              <a:endCxn id="73" idx="3"/>
            </p:cNvCxnSpPr>
            <p:nvPr/>
          </p:nvCxnSpPr>
          <p:spPr bwMode="gray">
            <a:xfrm flipV="1">
              <a:off x="4029578" y="3935546"/>
              <a:ext cx="623692" cy="1329626"/>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nvGrpSpPr>
            <p:cNvPr id="85" name="组合 84"/>
            <p:cNvGrpSpPr/>
            <p:nvPr/>
          </p:nvGrpSpPr>
          <p:grpSpPr bwMode="gray">
            <a:xfrm>
              <a:off x="5700732" y="3140968"/>
              <a:ext cx="356855" cy="1080120"/>
              <a:chOff x="7047122" y="2997686"/>
              <a:chExt cx="356855" cy="1080120"/>
            </a:xfrm>
          </p:grpSpPr>
          <p:sp>
            <p:nvSpPr>
              <p:cNvPr id="86" name="矩形 85"/>
              <p:cNvSpPr/>
              <p:nvPr/>
            </p:nvSpPr>
            <p:spPr bwMode="gray">
              <a:xfrm>
                <a:off x="7063531" y="2997686"/>
                <a:ext cx="324036" cy="1080120"/>
              </a:xfrm>
              <a:prstGeom prst="rect">
                <a:avLst/>
              </a:prstGeom>
              <a:solidFill>
                <a:srgbClr val="F4FBFE"/>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bg1">
                      <a:lumMod val="65000"/>
                    </a:schemeClr>
                  </a:solidFill>
                  <a:effectLst/>
                  <a:latin typeface="Huawei Sans" panose="020C0503030203020204" pitchFamily="34" charset="0"/>
                  <a:ea typeface="方正兰亭黑简体" panose="02000000000000000000" pitchFamily="2" charset="-122"/>
                </a:endParaRPr>
              </a:p>
            </p:txBody>
          </p:sp>
          <p:sp>
            <p:nvSpPr>
              <p:cNvPr id="87" name="文本框 86"/>
              <p:cNvSpPr txBox="1"/>
              <p:nvPr/>
            </p:nvSpPr>
            <p:spPr bwMode="gray">
              <a:xfrm>
                <a:off x="7047122" y="3062529"/>
                <a:ext cx="356855" cy="950434"/>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目</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的</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端</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口</a:t>
                </a:r>
              </a:p>
            </p:txBody>
          </p:sp>
        </p:grpSp>
        <p:cxnSp>
          <p:nvCxnSpPr>
            <p:cNvPr id="88" name="直接箭头连接符 87"/>
            <p:cNvCxnSpPr>
              <a:stCxn id="73" idx="6"/>
              <a:endCxn id="86" idx="1"/>
            </p:cNvCxnSpPr>
            <p:nvPr/>
          </p:nvCxnSpPr>
          <p:spPr bwMode="gray">
            <a:xfrm>
              <a:off x="5267828" y="3680988"/>
              <a:ext cx="449313" cy="4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sp>
        <p:nvSpPr>
          <p:cNvPr id="158" name="矩形 157"/>
          <p:cNvSpPr/>
          <p:nvPr/>
        </p:nvSpPr>
        <p:spPr bwMode="gray">
          <a:xfrm>
            <a:off x="6636060" y="1364640"/>
            <a:ext cx="4608512" cy="4752528"/>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grpSp>
        <p:nvGrpSpPr>
          <p:cNvPr id="167" name="组合 166"/>
          <p:cNvGrpSpPr/>
          <p:nvPr/>
        </p:nvGrpSpPr>
        <p:grpSpPr bwMode="gray">
          <a:xfrm>
            <a:off x="6942144" y="1959128"/>
            <a:ext cx="3978392" cy="3725992"/>
            <a:chOff x="6906140" y="2295296"/>
            <a:chExt cx="3978392" cy="3725992"/>
          </a:xfrm>
        </p:grpSpPr>
        <p:grpSp>
          <p:nvGrpSpPr>
            <p:cNvPr id="96" name="组合 95"/>
            <p:cNvGrpSpPr/>
            <p:nvPr/>
          </p:nvGrpSpPr>
          <p:grpSpPr bwMode="gray">
            <a:xfrm>
              <a:off x="7176170" y="2295296"/>
              <a:ext cx="1224136" cy="324036"/>
              <a:chOff x="6708068" y="1574794"/>
              <a:chExt cx="1224136" cy="324036"/>
            </a:xfrm>
          </p:grpSpPr>
          <p:sp>
            <p:nvSpPr>
              <p:cNvPr id="91" name="圆角矩形 90"/>
              <p:cNvSpPr/>
              <p:nvPr/>
            </p:nvSpPr>
            <p:spPr bwMode="gray">
              <a:xfrm>
                <a:off x="6708068" y="1600604"/>
                <a:ext cx="1224136" cy="272415"/>
              </a:xfrm>
              <a:prstGeom prst="roundRect">
                <a:avLst/>
              </a:prstGeom>
              <a:solidFill>
                <a:srgbClr val="F4FBFE"/>
              </a:solidFill>
              <a:ln w="12700">
                <a:solidFill>
                  <a:srgbClr val="94DAE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92" name="iṥ1iďe"/>
              <p:cNvSpPr txBox="1"/>
              <p:nvPr/>
            </p:nvSpPr>
            <p:spPr bwMode="gray">
              <a:xfrm>
                <a:off x="7014102" y="1574794"/>
                <a:ext cx="612068" cy="324036"/>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开始</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95" name="组合 94"/>
            <p:cNvGrpSpPr/>
            <p:nvPr/>
          </p:nvGrpSpPr>
          <p:grpSpPr bwMode="gray">
            <a:xfrm>
              <a:off x="6906140" y="3094859"/>
              <a:ext cx="1764196" cy="489109"/>
              <a:chOff x="6708068" y="2352114"/>
              <a:chExt cx="1548172" cy="353572"/>
            </a:xfrm>
          </p:grpSpPr>
          <p:sp>
            <p:nvSpPr>
              <p:cNvPr id="93" name="流程图: 决策 92"/>
              <p:cNvSpPr/>
              <p:nvPr/>
            </p:nvSpPr>
            <p:spPr bwMode="gray">
              <a:xfrm>
                <a:off x="6708068" y="2352114"/>
                <a:ext cx="1548172" cy="353572"/>
              </a:xfrm>
              <a:prstGeom prst="flowChartDecision">
                <a:avLst/>
              </a:prstGeom>
              <a:solidFill>
                <a:srgbClr val="F4FBFE"/>
              </a:solidFill>
              <a:ln w="12700">
                <a:solidFill>
                  <a:srgbClr val="94DAE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94" name="iṥ1iďe"/>
              <p:cNvSpPr txBox="1"/>
              <p:nvPr/>
            </p:nvSpPr>
            <p:spPr bwMode="gray">
              <a:xfrm>
                <a:off x="7014102" y="2366882"/>
                <a:ext cx="1098122"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PQ</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队列空？</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97" name="组合 96"/>
            <p:cNvGrpSpPr/>
            <p:nvPr/>
          </p:nvGrpSpPr>
          <p:grpSpPr bwMode="gray">
            <a:xfrm>
              <a:off x="6906140" y="4104839"/>
              <a:ext cx="1764196" cy="489109"/>
              <a:chOff x="6708068" y="2352114"/>
              <a:chExt cx="1548172" cy="353572"/>
            </a:xfrm>
          </p:grpSpPr>
          <p:sp>
            <p:nvSpPr>
              <p:cNvPr id="98" name="流程图: 决策 97"/>
              <p:cNvSpPr/>
              <p:nvPr/>
            </p:nvSpPr>
            <p:spPr bwMode="gray">
              <a:xfrm>
                <a:off x="6708068" y="2352114"/>
                <a:ext cx="1548172" cy="353572"/>
              </a:xfrm>
              <a:prstGeom prst="flowChartDecision">
                <a:avLst/>
              </a:prstGeom>
              <a:solidFill>
                <a:srgbClr val="F4FBFE"/>
              </a:solidFill>
              <a:ln w="12700">
                <a:solidFill>
                  <a:srgbClr val="94DAE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99" name="iṥ1iďe"/>
              <p:cNvSpPr txBox="1"/>
              <p:nvPr/>
            </p:nvSpPr>
            <p:spPr bwMode="gray">
              <a:xfrm>
                <a:off x="7014102" y="2366882"/>
                <a:ext cx="1098122"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lang="en-US" altLang="zh-CN" sz="1400" kern="0" dirty="0">
                    <a:solidFill>
                      <a:srgbClr val="000000"/>
                    </a:solidFill>
                    <a:latin typeface="Huawei Sans" panose="020C0503030203020204" pitchFamily="34" charset="0"/>
                    <a:ea typeface="方正兰亭黑简体" panose="02000000000000000000" pitchFamily="2" charset="-122"/>
                  </a:rPr>
                  <a:t>WFQ</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队列空？</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00" name="组合 99"/>
            <p:cNvGrpSpPr/>
            <p:nvPr/>
          </p:nvGrpSpPr>
          <p:grpSpPr bwMode="gray">
            <a:xfrm>
              <a:off x="6906140" y="5114819"/>
              <a:ext cx="1764196" cy="489109"/>
              <a:chOff x="6708068" y="2352114"/>
              <a:chExt cx="1548172" cy="353572"/>
            </a:xfrm>
          </p:grpSpPr>
          <p:sp>
            <p:nvSpPr>
              <p:cNvPr id="101" name="流程图: 决策 100"/>
              <p:cNvSpPr/>
              <p:nvPr/>
            </p:nvSpPr>
            <p:spPr bwMode="gray">
              <a:xfrm>
                <a:off x="6708068" y="2352114"/>
                <a:ext cx="1548172" cy="353572"/>
              </a:xfrm>
              <a:prstGeom prst="flowChartDecision">
                <a:avLst/>
              </a:prstGeom>
              <a:solidFill>
                <a:srgbClr val="F4FBFE"/>
              </a:solidFill>
              <a:ln w="12700">
                <a:solidFill>
                  <a:srgbClr val="94DAE2"/>
                </a:solid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02" name="iṥ1iďe"/>
              <p:cNvSpPr txBox="1"/>
              <p:nvPr/>
            </p:nvSpPr>
            <p:spPr bwMode="gray">
              <a:xfrm>
                <a:off x="7014102" y="2366882"/>
                <a:ext cx="1098122"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lang="en-US" altLang="zh-CN" sz="1400" kern="0" noProof="0" dirty="0">
                    <a:solidFill>
                      <a:srgbClr val="000000"/>
                    </a:solidFill>
                    <a:latin typeface="Huawei Sans" panose="020C0503030203020204" pitchFamily="34" charset="0"/>
                    <a:ea typeface="方正兰亭黑简体" panose="02000000000000000000" pitchFamily="2" charset="-122"/>
                  </a:rPr>
                  <a:t>LPQ</a:t>
                </a: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队列空？</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03" name="组合 102"/>
            <p:cNvGrpSpPr/>
            <p:nvPr/>
          </p:nvGrpSpPr>
          <p:grpSpPr bwMode="gray">
            <a:xfrm>
              <a:off x="9138388" y="3051381"/>
              <a:ext cx="1296144" cy="576064"/>
              <a:chOff x="6708068" y="2278939"/>
              <a:chExt cx="1548172" cy="416430"/>
            </a:xfrm>
          </p:grpSpPr>
          <p:sp>
            <p:nvSpPr>
              <p:cNvPr id="104" name="矩形 103"/>
              <p:cNvSpPr/>
              <p:nvPr/>
            </p:nvSpPr>
            <p:spPr bwMode="gray">
              <a:xfrm>
                <a:off x="6708068" y="2278939"/>
                <a:ext cx="1548172" cy="416430"/>
              </a:xfrm>
              <a:prstGeom prst="rect">
                <a:avLst/>
              </a:prstGeom>
              <a:solidFill>
                <a:srgbClr val="F4FBFE"/>
              </a:solidFill>
              <a:ln w="12700">
                <a:solidFill>
                  <a:srgbClr val="94DAE2"/>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05" name="iṥ1iďe"/>
              <p:cNvSpPr txBox="1"/>
              <p:nvPr/>
            </p:nvSpPr>
            <p:spPr bwMode="gray">
              <a:xfrm>
                <a:off x="6933093" y="2325136"/>
                <a:ext cx="1098122"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执行一轮</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latinLnBrk="0" hangingPunct="1">
                  <a:lnSpc>
                    <a:spcPct val="100000"/>
                  </a:lnSpc>
                  <a:spcBef>
                    <a:spcPct val="0"/>
                  </a:spcBef>
                  <a:spcAft>
                    <a:spcPct val="0"/>
                  </a:spcAft>
                  <a:buClrTx/>
                  <a:buSzTx/>
                  <a:buFontTx/>
                  <a:buNone/>
                  <a:tabLst/>
                  <a:defRPr/>
                </a:pPr>
                <a:r>
                  <a:rPr lang="en-US" altLang="zh-CN" sz="1400" kern="0" dirty="0">
                    <a:solidFill>
                      <a:srgbClr val="000000"/>
                    </a:solidFill>
                    <a:latin typeface="Huawei Sans" panose="020C0503030203020204" pitchFamily="34" charset="0"/>
                    <a:ea typeface="方正兰亭黑简体" panose="02000000000000000000" pitchFamily="2" charset="-122"/>
                  </a:rPr>
                  <a:t>PQ</a:t>
                </a:r>
                <a:r>
                  <a:rPr lang="zh-CN" altLang="en-US" sz="1400" kern="0" dirty="0">
                    <a:solidFill>
                      <a:srgbClr val="000000"/>
                    </a:solidFill>
                    <a:latin typeface="Huawei Sans" panose="020C0503030203020204" pitchFamily="34" charset="0"/>
                    <a:ea typeface="方正兰亭黑简体" panose="02000000000000000000" pitchFamily="2" charset="-122"/>
                  </a:rPr>
                  <a:t>调度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06" name="组合 105"/>
            <p:cNvGrpSpPr/>
            <p:nvPr/>
          </p:nvGrpSpPr>
          <p:grpSpPr bwMode="gray">
            <a:xfrm>
              <a:off x="9138388" y="4061361"/>
              <a:ext cx="1296144" cy="576064"/>
              <a:chOff x="6708068" y="2278939"/>
              <a:chExt cx="1548172" cy="416430"/>
            </a:xfrm>
          </p:grpSpPr>
          <p:sp>
            <p:nvSpPr>
              <p:cNvPr id="107" name="矩形 106"/>
              <p:cNvSpPr/>
              <p:nvPr/>
            </p:nvSpPr>
            <p:spPr bwMode="gray">
              <a:xfrm>
                <a:off x="6708068" y="2278939"/>
                <a:ext cx="1548172" cy="416430"/>
              </a:xfrm>
              <a:prstGeom prst="rect">
                <a:avLst/>
              </a:prstGeom>
              <a:solidFill>
                <a:srgbClr val="F4FBFE"/>
              </a:solidFill>
              <a:ln w="12700">
                <a:solidFill>
                  <a:srgbClr val="94DAE2"/>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08" name="iṥ1iďe"/>
              <p:cNvSpPr txBox="1"/>
              <p:nvPr/>
            </p:nvSpPr>
            <p:spPr bwMode="gray">
              <a:xfrm>
                <a:off x="6906591" y="2325136"/>
                <a:ext cx="1151128"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执行一轮</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latinLnBrk="0" hangingPunct="1">
                  <a:lnSpc>
                    <a:spcPct val="100000"/>
                  </a:lnSpc>
                  <a:spcBef>
                    <a:spcPct val="0"/>
                  </a:spcBef>
                  <a:spcAft>
                    <a:spcPct val="0"/>
                  </a:spcAft>
                  <a:buClrTx/>
                  <a:buSzTx/>
                  <a:buFontTx/>
                  <a:buNone/>
                  <a:tabLst/>
                  <a:defRPr/>
                </a:pPr>
                <a:r>
                  <a:rPr lang="en-US" altLang="zh-CN" sz="1400" kern="0" dirty="0">
                    <a:solidFill>
                      <a:srgbClr val="000000"/>
                    </a:solidFill>
                    <a:latin typeface="Huawei Sans" panose="020C0503030203020204" pitchFamily="34" charset="0"/>
                    <a:ea typeface="方正兰亭黑简体" panose="02000000000000000000" pitchFamily="2" charset="-122"/>
                  </a:rPr>
                  <a:t>WFQ</a:t>
                </a:r>
                <a:r>
                  <a:rPr lang="zh-CN" altLang="en-US" sz="1400" kern="0" dirty="0">
                    <a:solidFill>
                      <a:srgbClr val="000000"/>
                    </a:solidFill>
                    <a:latin typeface="Huawei Sans" panose="020C0503030203020204" pitchFamily="34" charset="0"/>
                    <a:ea typeface="方正兰亭黑简体" panose="02000000000000000000" pitchFamily="2" charset="-122"/>
                  </a:rPr>
                  <a:t>调度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09" name="组合 108"/>
            <p:cNvGrpSpPr/>
            <p:nvPr/>
          </p:nvGrpSpPr>
          <p:grpSpPr bwMode="gray">
            <a:xfrm>
              <a:off x="9138388" y="5071341"/>
              <a:ext cx="1296144" cy="576064"/>
              <a:chOff x="6708068" y="2278939"/>
              <a:chExt cx="1548172" cy="416430"/>
            </a:xfrm>
          </p:grpSpPr>
          <p:sp>
            <p:nvSpPr>
              <p:cNvPr id="110" name="矩形 109"/>
              <p:cNvSpPr/>
              <p:nvPr/>
            </p:nvSpPr>
            <p:spPr bwMode="gray">
              <a:xfrm>
                <a:off x="6708068" y="2278939"/>
                <a:ext cx="1548172" cy="416430"/>
              </a:xfrm>
              <a:prstGeom prst="rect">
                <a:avLst/>
              </a:prstGeom>
              <a:solidFill>
                <a:srgbClr val="F4FBFE"/>
              </a:solidFill>
              <a:ln w="12700">
                <a:solidFill>
                  <a:srgbClr val="94DAE2"/>
                </a:solidFill>
                <a:miter lim="800000"/>
                <a:headEnd type="none" w="sm" len="sm"/>
                <a:tailEnd type="none" w="sm" len="sm"/>
              </a:ln>
              <a:effectLst/>
            </p:spPr>
            <p:txBody>
              <a:bodyPr wrap="square" rtlCol="0" anchor="ctr">
                <a:no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11" name="iṥ1iďe"/>
              <p:cNvSpPr txBox="1"/>
              <p:nvPr/>
            </p:nvSpPr>
            <p:spPr bwMode="gray">
              <a:xfrm>
                <a:off x="6906591" y="2325136"/>
                <a:ext cx="1151128" cy="324036"/>
              </a:xfrm>
              <a:prstGeom prst="rect">
                <a:avLst/>
              </a:prstGeom>
              <a:noFill/>
            </p:spPr>
            <p:txBody>
              <a:bodyPr wrap="square" lIns="91440" tIns="45720" rIns="91440" bIns="45720" anchor="ctr" anchorCtr="1">
                <a:noAutofit/>
              </a:bodyPr>
              <a:lstStyle/>
              <a:p>
                <a:pPr marL="0" marR="0" lvl="0" indent="0" algn="ctr" defTabSz="914400" eaLnBrk="1"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执行一轮</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a:p>
                <a:pPr marL="0" marR="0" lvl="0" indent="0" algn="ctr" defTabSz="914400" eaLnBrk="1" latinLnBrk="0" hangingPunct="1">
                  <a:lnSpc>
                    <a:spcPct val="100000"/>
                  </a:lnSpc>
                  <a:spcBef>
                    <a:spcPct val="0"/>
                  </a:spcBef>
                  <a:spcAft>
                    <a:spcPct val="0"/>
                  </a:spcAft>
                  <a:buClrTx/>
                  <a:buSzTx/>
                  <a:buFontTx/>
                  <a:buNone/>
                  <a:tabLst/>
                  <a:defRPr/>
                </a:pPr>
                <a:r>
                  <a:rPr lang="en-US" altLang="zh-CN" sz="1400" kern="0" dirty="0">
                    <a:solidFill>
                      <a:srgbClr val="000000"/>
                    </a:solidFill>
                    <a:latin typeface="Huawei Sans" panose="020C0503030203020204" pitchFamily="34" charset="0"/>
                    <a:ea typeface="方正兰亭黑简体" panose="02000000000000000000" pitchFamily="2" charset="-122"/>
                  </a:rPr>
                  <a:t>LPQ</a:t>
                </a:r>
                <a:r>
                  <a:rPr lang="zh-CN" altLang="en-US" sz="1400" kern="0" dirty="0">
                    <a:solidFill>
                      <a:srgbClr val="000000"/>
                    </a:solidFill>
                    <a:latin typeface="Huawei Sans" panose="020C0503030203020204" pitchFamily="34" charset="0"/>
                    <a:ea typeface="方正兰亭黑简体" panose="02000000000000000000" pitchFamily="2" charset="-122"/>
                  </a:rPr>
                  <a:t>调度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cxnSp>
          <p:nvCxnSpPr>
            <p:cNvPr id="113" name="直接箭头连接符 112"/>
            <p:cNvCxnSpPr>
              <a:stCxn id="91" idx="2"/>
              <a:endCxn id="93" idx="0"/>
            </p:cNvCxnSpPr>
            <p:nvPr/>
          </p:nvCxnSpPr>
          <p:spPr bwMode="gray">
            <a:xfrm>
              <a:off x="7788238" y="2593521"/>
              <a:ext cx="0" cy="501338"/>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15" name="直接箭头连接符 114"/>
            <p:cNvCxnSpPr>
              <a:stCxn id="93" idx="2"/>
              <a:endCxn id="98" idx="0"/>
            </p:cNvCxnSpPr>
            <p:nvPr/>
          </p:nvCxnSpPr>
          <p:spPr bwMode="gray">
            <a:xfrm>
              <a:off x="7788238" y="3583968"/>
              <a:ext cx="0" cy="52087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18" name="直接箭头连接符 117"/>
            <p:cNvCxnSpPr>
              <a:stCxn id="98" idx="2"/>
              <a:endCxn id="101" idx="0"/>
            </p:cNvCxnSpPr>
            <p:nvPr/>
          </p:nvCxnSpPr>
          <p:spPr bwMode="gray">
            <a:xfrm>
              <a:off x="7788238" y="4593948"/>
              <a:ext cx="0" cy="52087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21" name="直接箭头连接符 120"/>
            <p:cNvCxnSpPr>
              <a:stCxn id="93" idx="3"/>
              <a:endCxn id="104" idx="1"/>
            </p:cNvCxnSpPr>
            <p:nvPr/>
          </p:nvCxnSpPr>
          <p:spPr bwMode="gray">
            <a:xfrm flipV="1">
              <a:off x="8670336" y="3339413"/>
              <a:ext cx="468052" cy="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25" name="直接箭头连接符 124"/>
            <p:cNvCxnSpPr>
              <a:stCxn id="98" idx="3"/>
              <a:endCxn id="107" idx="1"/>
            </p:cNvCxnSpPr>
            <p:nvPr/>
          </p:nvCxnSpPr>
          <p:spPr bwMode="gray">
            <a:xfrm flipV="1">
              <a:off x="8670336" y="4349393"/>
              <a:ext cx="468052" cy="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28" name="直接箭头连接符 127"/>
            <p:cNvCxnSpPr>
              <a:stCxn id="101" idx="3"/>
              <a:endCxn id="110" idx="1"/>
            </p:cNvCxnSpPr>
            <p:nvPr/>
          </p:nvCxnSpPr>
          <p:spPr bwMode="gray">
            <a:xfrm flipV="1">
              <a:off x="8670336" y="5359373"/>
              <a:ext cx="468052" cy="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32" name="肘形连接符 131"/>
            <p:cNvCxnSpPr>
              <a:stCxn id="101" idx="2"/>
            </p:cNvCxnSpPr>
            <p:nvPr/>
          </p:nvCxnSpPr>
          <p:spPr bwMode="gray">
            <a:xfrm rot="5400000" flipH="1" flipV="1">
              <a:off x="6403605" y="4201293"/>
              <a:ext cx="2787268" cy="18002"/>
            </a:xfrm>
            <a:prstGeom prst="bentConnector5">
              <a:avLst>
                <a:gd name="adj1" fmla="val -8202"/>
                <a:gd name="adj2" fmla="val -6169859"/>
                <a:gd name="adj3" fmla="val 99876"/>
              </a:avLst>
            </a:prstGeom>
            <a:solidFill>
              <a:schemeClr val="accent1"/>
            </a:solidFill>
            <a:ln w="12700" cap="flat" cmpd="sng" algn="ctr">
              <a:solidFill>
                <a:schemeClr val="tx1"/>
              </a:solidFill>
              <a:prstDash val="solid"/>
              <a:round/>
              <a:headEnd type="none" w="med" len="med"/>
              <a:tailEnd type="triangle"/>
            </a:ln>
            <a:effectLst/>
          </p:spPr>
        </p:cxnSp>
        <p:cxnSp>
          <p:nvCxnSpPr>
            <p:cNvPr id="141" name="直接箭头连接符 140"/>
            <p:cNvCxnSpPr>
              <a:stCxn id="104" idx="3"/>
            </p:cNvCxnSpPr>
            <p:nvPr/>
          </p:nvCxnSpPr>
          <p:spPr bwMode="gray">
            <a:xfrm>
              <a:off x="10434532" y="3339413"/>
              <a:ext cx="450000" cy="0"/>
            </a:xfrm>
            <a:prstGeom prst="straightConnector1">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5" name="直接箭头连接符 144"/>
            <p:cNvCxnSpPr>
              <a:stCxn id="107" idx="3"/>
            </p:cNvCxnSpPr>
            <p:nvPr/>
          </p:nvCxnSpPr>
          <p:spPr bwMode="gray">
            <a:xfrm>
              <a:off x="10434532" y="4349393"/>
              <a:ext cx="450000" cy="0"/>
            </a:xfrm>
            <a:prstGeom prst="straightConnector1">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8" name="直接箭头连接符 147"/>
            <p:cNvCxnSpPr>
              <a:stCxn id="110" idx="3"/>
            </p:cNvCxnSpPr>
            <p:nvPr/>
          </p:nvCxnSpPr>
          <p:spPr bwMode="gray">
            <a:xfrm>
              <a:off x="10434532" y="5359373"/>
              <a:ext cx="450000" cy="0"/>
            </a:xfrm>
            <a:prstGeom prst="straightConnector1">
              <a:avLst/>
            </a:prstGeom>
            <a:solidFill>
              <a:schemeClr val="accent1"/>
            </a:solidFill>
            <a:ln w="12700" cap="flat" cmpd="sng" algn="ctr">
              <a:solidFill>
                <a:schemeClr val="tx1"/>
              </a:solidFill>
              <a:prstDash val="solid"/>
              <a:round/>
              <a:headEnd type="none" w="med" len="med"/>
              <a:tailEnd type="none" w="med" len="med"/>
            </a:ln>
            <a:effectLst/>
          </p:spPr>
        </p:cxnSp>
        <p:sp>
          <p:nvSpPr>
            <p:cNvPr id="150" name="iṥ1iďe"/>
            <p:cNvSpPr txBox="1"/>
            <p:nvPr/>
          </p:nvSpPr>
          <p:spPr bwMode="gray">
            <a:xfrm>
              <a:off x="7662224" y="3609442"/>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是</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1" name="iṥ1iďe"/>
            <p:cNvSpPr txBox="1"/>
            <p:nvPr/>
          </p:nvSpPr>
          <p:spPr bwMode="gray">
            <a:xfrm>
              <a:off x="7662224" y="4617554"/>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是</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2" name="iṥ1iďe"/>
            <p:cNvSpPr txBox="1"/>
            <p:nvPr/>
          </p:nvSpPr>
          <p:spPr bwMode="gray">
            <a:xfrm>
              <a:off x="7662224" y="5625666"/>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是</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3" name="iṥ1iďe"/>
            <p:cNvSpPr txBox="1"/>
            <p:nvPr/>
          </p:nvSpPr>
          <p:spPr bwMode="gray">
            <a:xfrm>
              <a:off x="8598328" y="2997796"/>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5" name="iṥ1iďe"/>
            <p:cNvSpPr txBox="1"/>
            <p:nvPr/>
          </p:nvSpPr>
          <p:spPr bwMode="gray">
            <a:xfrm>
              <a:off x="8598328" y="5050024"/>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sp>
          <p:nvSpPr>
            <p:cNvPr id="156" name="iṥ1iďe"/>
            <p:cNvSpPr txBox="1"/>
            <p:nvPr/>
          </p:nvSpPr>
          <p:spPr bwMode="gray">
            <a:xfrm>
              <a:off x="8598328" y="4008727"/>
              <a:ext cx="576064" cy="395622"/>
            </a:xfrm>
            <a:prstGeom prst="rect">
              <a:avLst/>
            </a:prstGeom>
            <a:noFill/>
          </p:spPr>
          <p:txBody>
            <a:bodyPr wrap="square" lIns="91440" tIns="45720" rIns="91440" bIns="45720" anchor="ctr" anchorCtr="1">
              <a:noAutofit/>
            </a:bodyPr>
            <a:lstStyle/>
            <a:p>
              <a:pPr marL="0" marR="0" lvl="0" indent="0" algn="ctr" defTabSz="914400" eaLnBrk="1" fontAlgn="t" latinLnBrk="0" hangingPunct="1">
                <a:lnSpc>
                  <a:spcPct val="100000"/>
                </a:lnSpc>
                <a:spcBef>
                  <a:spcPct val="0"/>
                </a:spcBef>
                <a:spcAft>
                  <a:spcPct val="0"/>
                </a:spcAft>
                <a:buClrTx/>
                <a:buSzTx/>
                <a:buFontTx/>
                <a:buNone/>
                <a:tabLst/>
                <a:defRPr/>
              </a:pPr>
              <a:r>
                <a:rPr kumimoji="0" lang="zh-CN" altLang="en-US"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rPr>
                <a:t>否</a:t>
              </a:r>
              <a:endParaRPr kumimoji="0" lang="en-US" altLang="zh-CN" sz="140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endParaRPr>
            </a:p>
          </p:txBody>
        </p:sp>
      </p:grpSp>
      <p:grpSp>
        <p:nvGrpSpPr>
          <p:cNvPr id="163" name="组合 162"/>
          <p:cNvGrpSpPr/>
          <p:nvPr/>
        </p:nvGrpSpPr>
        <p:grpSpPr bwMode="gray">
          <a:xfrm>
            <a:off x="1188084" y="1112612"/>
            <a:ext cx="2099604" cy="334881"/>
            <a:chOff x="1188084" y="1376772"/>
            <a:chExt cx="2099604" cy="334881"/>
          </a:xfrm>
        </p:grpSpPr>
        <p:sp>
          <p:nvSpPr>
            <p:cNvPr id="161" name="流程图: 过程 160"/>
            <p:cNvSpPr/>
            <p:nvPr/>
          </p:nvSpPr>
          <p:spPr bwMode="gray">
            <a:xfrm>
              <a:off x="1188084" y="1421796"/>
              <a:ext cx="2099604" cy="246221"/>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62" name="文本框 161"/>
            <p:cNvSpPr txBox="1"/>
            <p:nvPr/>
          </p:nvSpPr>
          <p:spPr bwMode="gray">
            <a:xfrm>
              <a:off x="1415478" y="1376772"/>
              <a:ext cx="1872209"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端口队列调度顺序</a:t>
              </a:r>
            </a:p>
          </p:txBody>
        </p:sp>
      </p:grpSp>
      <p:grpSp>
        <p:nvGrpSpPr>
          <p:cNvPr id="164" name="组合 163"/>
          <p:cNvGrpSpPr/>
          <p:nvPr/>
        </p:nvGrpSpPr>
        <p:grpSpPr bwMode="gray">
          <a:xfrm>
            <a:off x="6672064" y="1112612"/>
            <a:ext cx="2135607" cy="334881"/>
            <a:chOff x="1188084" y="1376772"/>
            <a:chExt cx="2135607" cy="334881"/>
          </a:xfrm>
        </p:grpSpPr>
        <p:sp>
          <p:nvSpPr>
            <p:cNvPr id="165" name="流程图: 过程 164"/>
            <p:cNvSpPr/>
            <p:nvPr/>
          </p:nvSpPr>
          <p:spPr bwMode="gray">
            <a:xfrm>
              <a:off x="1188084" y="1421796"/>
              <a:ext cx="2099604" cy="246221"/>
            </a:xfrm>
            <a:prstGeom prst="flowChartProcess">
              <a:avLst/>
            </a:prstGeom>
            <a:gradFill flip="none" rotWithShape="1">
              <a:gsLst>
                <a:gs pos="0">
                  <a:srgbClr val="56C4D2"/>
                </a:gs>
                <a:gs pos="100000">
                  <a:schemeClr val="bg1"/>
                </a:gs>
              </a:gsLst>
              <a:lin ang="10800000" scaled="1"/>
              <a:tileRect/>
            </a:gradFill>
            <a:ln w="28575">
              <a:noFill/>
              <a:miter lim="800000"/>
              <a:headEnd type="none" w="sm" len="sm"/>
              <a:tailEnd type="none" w="sm" len="sm"/>
            </a:ln>
            <a:effectLst/>
          </p:spPr>
          <p:txBody>
            <a:bodyPr wrap="square" rtlCol="0" anchor="ctr">
              <a:spAutoFit/>
            </a:bodyPr>
            <a:lstStyle/>
            <a:p>
              <a:pPr algn="ctr"/>
              <a:endParaRPr lang="zh-CN" altLang="en-US">
                <a:latin typeface="Huawei Sans" panose="020C0503030203020204" pitchFamily="34" charset="0"/>
                <a:ea typeface="方正兰亭黑简体" panose="02000000000000000000" pitchFamily="2" charset="-122"/>
              </a:endParaRPr>
            </a:p>
          </p:txBody>
        </p:sp>
        <p:sp>
          <p:nvSpPr>
            <p:cNvPr id="166" name="文本框 165"/>
            <p:cNvSpPr txBox="1"/>
            <p:nvPr/>
          </p:nvSpPr>
          <p:spPr bwMode="gray">
            <a:xfrm>
              <a:off x="1415478" y="1376772"/>
              <a:ext cx="1908213" cy="33488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zh-CN"/>
              </a:defPPr>
              <a:lvl1pPr algn="ctr">
                <a:defRPr sz="1400" b="1">
                  <a:latin typeface="+mn-ea"/>
                  <a:ea typeface="+mn-ea"/>
                </a:defRPr>
              </a:lvl1pPr>
            </a:lstStyle>
            <a:p>
              <a:pPr algn="l"/>
              <a:r>
                <a:rPr lang="zh-CN" altLang="en-US" sz="1600" dirty="0">
                  <a:latin typeface="Huawei Sans" panose="020C0503030203020204" pitchFamily="34" charset="0"/>
                  <a:ea typeface="方正兰亭黑简体" panose="02000000000000000000" pitchFamily="2" charset="-122"/>
                </a:rPr>
                <a:t>队列间的调度流程</a:t>
              </a:r>
            </a:p>
          </p:txBody>
        </p:sp>
      </p:grpSp>
    </p:spTree>
    <p:extLst>
      <p:ext uri="{BB962C8B-B14F-4D97-AF65-F5344CB8AC3E}">
        <p14:creationId xmlns:p14="http://schemas.microsoft.com/office/powerpoint/2010/main" val="16516649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拥塞管理的应用</a:t>
            </a:r>
          </a:p>
        </p:txBody>
      </p:sp>
      <p:grpSp>
        <p:nvGrpSpPr>
          <p:cNvPr id="3" name="Group 2">
            <a:extLst>
              <a:ext uri="{FF2B5EF4-FFF2-40B4-BE49-F238E27FC236}">
                <a16:creationId xmlns:a16="http://schemas.microsoft.com/office/drawing/2014/main" id="{D277744D-34C7-4FE1-BABC-6EC35210117C}"/>
              </a:ext>
            </a:extLst>
          </p:cNvPr>
          <p:cNvGrpSpPr/>
          <p:nvPr/>
        </p:nvGrpSpPr>
        <p:grpSpPr bwMode="gray">
          <a:xfrm>
            <a:off x="1739516" y="1624164"/>
            <a:ext cx="8712968" cy="3744416"/>
            <a:chOff x="1739516" y="1624164"/>
            <a:chExt cx="8712968" cy="3744416"/>
          </a:xfrm>
        </p:grpSpPr>
        <p:pic>
          <p:nvPicPr>
            <p:cNvPr id="51" name="图片 5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547828" y="2398392"/>
              <a:ext cx="4156900" cy="2646152"/>
            </a:xfrm>
            <a:prstGeom prst="rect">
              <a:avLst/>
            </a:prstGeom>
          </p:spPr>
        </p:pic>
        <p:sp>
          <p:nvSpPr>
            <p:cNvPr id="128" name="矩形 127"/>
            <p:cNvSpPr/>
            <p:nvPr/>
          </p:nvSpPr>
          <p:spPr bwMode="gray">
            <a:xfrm>
              <a:off x="9408368" y="4432476"/>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27" name="矩形 126"/>
            <p:cNvSpPr/>
            <p:nvPr/>
          </p:nvSpPr>
          <p:spPr bwMode="gray">
            <a:xfrm>
              <a:off x="9408368" y="3424364"/>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19" name="矩形 118"/>
            <p:cNvSpPr/>
            <p:nvPr/>
          </p:nvSpPr>
          <p:spPr bwMode="gray">
            <a:xfrm>
              <a:off x="9408368" y="241625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cxnSp>
          <p:nvCxnSpPr>
            <p:cNvPr id="100" name="直接连接符 99"/>
            <p:cNvCxnSpPr>
              <a:stCxn id="72" idx="3"/>
              <a:endCxn id="74" idx="1"/>
            </p:cNvCxnSpPr>
            <p:nvPr/>
          </p:nvCxnSpPr>
          <p:spPr bwMode="gray">
            <a:xfrm>
              <a:off x="6610519" y="3901133"/>
              <a:ext cx="49359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矩形 64"/>
            <p:cNvSpPr/>
            <p:nvPr/>
          </p:nvSpPr>
          <p:spPr bwMode="gray">
            <a:xfrm>
              <a:off x="1739516" y="4432476"/>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64" name="矩形 63"/>
            <p:cNvSpPr/>
            <p:nvPr/>
          </p:nvSpPr>
          <p:spPr bwMode="gray">
            <a:xfrm>
              <a:off x="1739516" y="3424364"/>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57" name="矩形 56"/>
            <p:cNvSpPr/>
            <p:nvPr/>
          </p:nvSpPr>
          <p:spPr bwMode="gray">
            <a:xfrm>
              <a:off x="1739516" y="241625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58" name="envelope-doodle_16370"/>
            <p:cNvSpPr>
              <a:spLocks noChangeAspect="1"/>
            </p:cNvSpPr>
            <p:nvPr/>
          </p:nvSpPr>
          <p:spPr bwMode="gray">
            <a:xfrm>
              <a:off x="1967218" y="4518914"/>
              <a:ext cx="561911" cy="516030"/>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59" name="图片 58" descr="可视电话硬终端.png"/>
            <p:cNvPicPr>
              <a:picLocks noChangeAspect="1"/>
            </p:cNvPicPr>
            <p:nvPr/>
          </p:nvPicPr>
          <p:blipFill>
            <a:blip r:embed="rId4" cstate="print">
              <a:duotone>
                <a:schemeClr val="accent4">
                  <a:shade val="45000"/>
                  <a:satMod val="135000"/>
                </a:schemeClr>
                <a:prstClr val="white"/>
              </a:duotone>
            </a:blip>
            <a:stretch>
              <a:fillRect/>
            </a:stretch>
          </p:blipFill>
          <p:spPr bwMode="gray">
            <a:xfrm>
              <a:off x="1963253" y="3590633"/>
              <a:ext cx="569841" cy="457050"/>
            </a:xfrm>
            <a:prstGeom prst="rect">
              <a:avLst/>
            </a:prstGeom>
          </p:spPr>
        </p:pic>
        <p:pic>
          <p:nvPicPr>
            <p:cNvPr id="60" name="图片 59" descr="管理型无线虚链路-蓝.png"/>
            <p:cNvPicPr>
              <a:picLocks noChangeAspect="1"/>
            </p:cNvPicPr>
            <p:nvPr/>
          </p:nvPicPr>
          <p:blipFill>
            <a:blip r:embed="rId5" cstate="print">
              <a:duotone>
                <a:schemeClr val="accent4">
                  <a:shade val="45000"/>
                  <a:satMod val="135000"/>
                </a:schemeClr>
                <a:prstClr val="white"/>
              </a:duotone>
            </a:blip>
            <a:stretch>
              <a:fillRect/>
            </a:stretch>
          </p:blipFill>
          <p:spPr bwMode="gray">
            <a:xfrm>
              <a:off x="1976034" y="2568619"/>
              <a:ext cx="544278" cy="457050"/>
            </a:xfrm>
            <a:prstGeom prst="rect">
              <a:avLst/>
            </a:prstGeom>
          </p:spPr>
        </p:pic>
        <p:sp>
          <p:nvSpPr>
            <p:cNvPr id="61" name="文本框 60"/>
            <p:cNvSpPr txBox="1"/>
            <p:nvPr/>
          </p:nvSpPr>
          <p:spPr bwMode="gray">
            <a:xfrm>
              <a:off x="1890208" y="2985077"/>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视频流</a:t>
              </a:r>
            </a:p>
          </p:txBody>
        </p:sp>
        <p:sp>
          <p:nvSpPr>
            <p:cNvPr id="62" name="文本框 61"/>
            <p:cNvSpPr txBox="1"/>
            <p:nvPr/>
          </p:nvSpPr>
          <p:spPr bwMode="gray">
            <a:xfrm>
              <a:off x="1890209" y="4021008"/>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语音流</a:t>
              </a:r>
            </a:p>
          </p:txBody>
        </p:sp>
        <p:sp>
          <p:nvSpPr>
            <p:cNvPr id="63" name="文本框 62"/>
            <p:cNvSpPr txBox="1"/>
            <p:nvPr/>
          </p:nvSpPr>
          <p:spPr bwMode="gray">
            <a:xfrm>
              <a:off x="1890209" y="496568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数据流</a:t>
              </a:r>
            </a:p>
          </p:txBody>
        </p:sp>
        <p:pic>
          <p:nvPicPr>
            <p:cNvPr id="66" name="图片 6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143672" y="3631133"/>
              <a:ext cx="658537" cy="540000"/>
            </a:xfrm>
            <a:prstGeom prst="rect">
              <a:avLst/>
            </a:prstGeom>
          </p:spPr>
        </p:pic>
        <p:pic>
          <p:nvPicPr>
            <p:cNvPr id="67" name="图片 6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331803" y="3631133"/>
              <a:ext cx="658536" cy="540000"/>
            </a:xfrm>
            <a:prstGeom prst="rect">
              <a:avLst/>
            </a:prstGeom>
          </p:spPr>
        </p:pic>
        <p:pic>
          <p:nvPicPr>
            <p:cNvPr id="70" name="图片 6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5159895" y="2920368"/>
              <a:ext cx="658536" cy="540000"/>
            </a:xfrm>
            <a:prstGeom prst="rect">
              <a:avLst/>
            </a:prstGeom>
          </p:spPr>
        </p:pic>
        <p:pic>
          <p:nvPicPr>
            <p:cNvPr id="72" name="图片 7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5951983" y="3631133"/>
              <a:ext cx="658536" cy="540000"/>
            </a:xfrm>
            <a:prstGeom prst="rect">
              <a:avLst/>
            </a:prstGeom>
          </p:spPr>
        </p:pic>
        <p:pic>
          <p:nvPicPr>
            <p:cNvPr id="73" name="图片 7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5159895" y="4324524"/>
              <a:ext cx="658536" cy="540000"/>
            </a:xfrm>
            <a:prstGeom prst="rect">
              <a:avLst/>
            </a:prstGeom>
          </p:spPr>
        </p:pic>
        <p:pic>
          <p:nvPicPr>
            <p:cNvPr id="74" name="图片 7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7104111" y="3631133"/>
              <a:ext cx="658536" cy="540000"/>
            </a:xfrm>
            <a:prstGeom prst="rect">
              <a:avLst/>
            </a:prstGeom>
          </p:spPr>
        </p:pic>
        <p:pic>
          <p:nvPicPr>
            <p:cNvPr id="75" name="图片 7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400256" y="3631133"/>
              <a:ext cx="658537" cy="540000"/>
            </a:xfrm>
            <a:prstGeom prst="rect">
              <a:avLst/>
            </a:prstGeom>
          </p:spPr>
        </p:pic>
        <p:cxnSp>
          <p:nvCxnSpPr>
            <p:cNvPr id="76" name="直接连接符 75"/>
            <p:cNvCxnSpPr>
              <a:stCxn id="57" idx="3"/>
              <a:endCxn id="66" idx="0"/>
            </p:cNvCxnSpPr>
            <p:nvPr/>
          </p:nvCxnSpPr>
          <p:spPr bwMode="gray">
            <a:xfrm>
              <a:off x="2783632" y="2884304"/>
              <a:ext cx="689309"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7" name="图片 7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9607069" y="2488380"/>
              <a:ext cx="646714" cy="540000"/>
            </a:xfrm>
            <a:prstGeom prst="rect">
              <a:avLst/>
            </a:prstGeom>
          </p:spPr>
        </p:pic>
        <p:pic>
          <p:nvPicPr>
            <p:cNvPr id="83" name="图片 8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9607069" y="3523121"/>
              <a:ext cx="646714" cy="540000"/>
            </a:xfrm>
            <a:prstGeom prst="rect">
              <a:avLst/>
            </a:prstGeom>
          </p:spPr>
        </p:pic>
        <p:pic>
          <p:nvPicPr>
            <p:cNvPr id="84" name="图片 8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9607069" y="4504544"/>
              <a:ext cx="646714" cy="540000"/>
            </a:xfrm>
            <a:prstGeom prst="rect">
              <a:avLst/>
            </a:prstGeom>
          </p:spPr>
        </p:pic>
        <p:cxnSp>
          <p:nvCxnSpPr>
            <p:cNvPr id="85" name="直接连接符 84"/>
            <p:cNvCxnSpPr>
              <a:stCxn id="64" idx="3"/>
              <a:endCxn id="66" idx="1"/>
            </p:cNvCxnSpPr>
            <p:nvPr/>
          </p:nvCxnSpPr>
          <p:spPr bwMode="gray">
            <a:xfrm>
              <a:off x="2783632" y="3892416"/>
              <a:ext cx="3600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6" name="直接连接符 85"/>
            <p:cNvCxnSpPr>
              <a:stCxn id="65" idx="3"/>
              <a:endCxn id="66" idx="2"/>
            </p:cNvCxnSpPr>
            <p:nvPr/>
          </p:nvCxnSpPr>
          <p:spPr bwMode="gray">
            <a:xfrm flipV="1">
              <a:off x="2783632" y="4171133"/>
              <a:ext cx="689309"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7" name="直接连接符 86"/>
            <p:cNvCxnSpPr>
              <a:stCxn id="66" idx="3"/>
              <a:endCxn id="67" idx="1"/>
            </p:cNvCxnSpPr>
            <p:nvPr/>
          </p:nvCxnSpPr>
          <p:spPr bwMode="gray">
            <a:xfrm>
              <a:off x="3802209" y="3901133"/>
              <a:ext cx="52959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stCxn id="67" idx="0"/>
              <a:endCxn id="70" idx="1"/>
            </p:cNvCxnSpPr>
            <p:nvPr/>
          </p:nvCxnSpPr>
          <p:spPr bwMode="gray">
            <a:xfrm flipV="1">
              <a:off x="4661071" y="3190368"/>
              <a:ext cx="498824"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3" name="直接连接符 92"/>
            <p:cNvCxnSpPr>
              <a:stCxn id="70" idx="3"/>
              <a:endCxn id="72" idx="0"/>
            </p:cNvCxnSpPr>
            <p:nvPr/>
          </p:nvCxnSpPr>
          <p:spPr bwMode="gray">
            <a:xfrm>
              <a:off x="5818431" y="3190368"/>
              <a:ext cx="462820"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5" name="直接连接符 94"/>
            <p:cNvCxnSpPr>
              <a:stCxn id="73" idx="3"/>
              <a:endCxn id="72" idx="2"/>
            </p:cNvCxnSpPr>
            <p:nvPr/>
          </p:nvCxnSpPr>
          <p:spPr bwMode="gray">
            <a:xfrm flipV="1">
              <a:off x="5818431" y="4171133"/>
              <a:ext cx="462820"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8" name="直接连接符 117"/>
            <p:cNvCxnSpPr>
              <a:stCxn id="74" idx="3"/>
              <a:endCxn id="75" idx="1"/>
            </p:cNvCxnSpPr>
            <p:nvPr/>
          </p:nvCxnSpPr>
          <p:spPr bwMode="gray">
            <a:xfrm>
              <a:off x="7762647" y="3901133"/>
              <a:ext cx="63760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3" name="文本框 122"/>
            <p:cNvSpPr txBox="1"/>
            <p:nvPr/>
          </p:nvSpPr>
          <p:spPr bwMode="gray">
            <a:xfrm>
              <a:off x="9662230" y="3028320"/>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a:t>
              </a:r>
            </a:p>
          </p:txBody>
        </p:sp>
        <p:sp>
          <p:nvSpPr>
            <p:cNvPr id="124" name="文本框 123"/>
            <p:cNvSpPr txBox="1"/>
            <p:nvPr/>
          </p:nvSpPr>
          <p:spPr bwMode="gray">
            <a:xfrm>
              <a:off x="9662230" y="4056365"/>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a:t>
              </a:r>
            </a:p>
          </p:txBody>
        </p:sp>
        <p:sp>
          <p:nvSpPr>
            <p:cNvPr id="125" name="文本框 124"/>
            <p:cNvSpPr txBox="1"/>
            <p:nvPr/>
          </p:nvSpPr>
          <p:spPr bwMode="gray">
            <a:xfrm>
              <a:off x="9662230" y="5064477"/>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a:t>
              </a:r>
            </a:p>
          </p:txBody>
        </p:sp>
        <p:cxnSp>
          <p:nvCxnSpPr>
            <p:cNvPr id="135" name="直接连接符 134"/>
            <p:cNvCxnSpPr>
              <a:stCxn id="75" idx="0"/>
              <a:endCxn id="119" idx="1"/>
            </p:cNvCxnSpPr>
            <p:nvPr/>
          </p:nvCxnSpPr>
          <p:spPr bwMode="gray">
            <a:xfrm flipV="1">
              <a:off x="8729525" y="2884304"/>
              <a:ext cx="678843"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6" name="直接连接符 135"/>
            <p:cNvCxnSpPr>
              <a:stCxn id="75" idx="3"/>
              <a:endCxn id="127" idx="1"/>
            </p:cNvCxnSpPr>
            <p:nvPr/>
          </p:nvCxnSpPr>
          <p:spPr bwMode="gray">
            <a:xfrm flipV="1">
              <a:off x="9058793" y="3892416"/>
              <a:ext cx="34957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7" name="直接连接符 136"/>
            <p:cNvCxnSpPr>
              <a:stCxn id="75" idx="2"/>
              <a:endCxn id="128" idx="1"/>
            </p:cNvCxnSpPr>
            <p:nvPr/>
          </p:nvCxnSpPr>
          <p:spPr bwMode="gray">
            <a:xfrm>
              <a:off x="8729525" y="4171133"/>
              <a:ext cx="678843"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7" name="直接连接符 146"/>
            <p:cNvCxnSpPr/>
            <p:nvPr/>
          </p:nvCxnSpPr>
          <p:spPr bwMode="gray">
            <a:xfrm flipV="1">
              <a:off x="4007768" y="2056212"/>
              <a:ext cx="1404156" cy="36"/>
            </a:xfrm>
            <a:prstGeom prst="line">
              <a:avLst/>
            </a:prstGeom>
            <a:solidFill>
              <a:schemeClr val="accent1"/>
            </a:solidFill>
            <a:ln w="19050" cap="flat" cmpd="sng" algn="ctr">
              <a:solidFill>
                <a:schemeClr val="tx1"/>
              </a:solidFill>
              <a:prstDash val="dash"/>
              <a:round/>
              <a:headEnd type="none" w="med" len="med"/>
              <a:tailEnd type="triangle" w="med" len="med"/>
            </a:ln>
            <a:effectLst/>
          </p:spPr>
        </p:cxnSp>
        <p:sp>
          <p:nvSpPr>
            <p:cNvPr id="148" name="圆角矩形 147"/>
            <p:cNvSpPr/>
            <p:nvPr/>
          </p:nvSpPr>
          <p:spPr bwMode="gray">
            <a:xfrm>
              <a:off x="4151784" y="1624164"/>
              <a:ext cx="1152128" cy="43204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流量方向</a:t>
              </a:r>
            </a:p>
          </p:txBody>
        </p:sp>
        <p:sp>
          <p:nvSpPr>
            <p:cNvPr id="48" name="Oval 41"/>
            <p:cNvSpPr>
              <a:spLocks noChangeAspect="1"/>
            </p:cNvSpPr>
            <p:nvPr/>
          </p:nvSpPr>
          <p:spPr bwMode="gray">
            <a:xfrm>
              <a:off x="4565385" y="352608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9" name="Rectangular Callout 48"/>
            <p:cNvSpPr/>
            <p:nvPr/>
          </p:nvSpPr>
          <p:spPr bwMode="gray">
            <a:xfrm>
              <a:off x="3469749" y="2591010"/>
              <a:ext cx="1159070" cy="561659"/>
            </a:xfrm>
            <a:prstGeom prst="wedgeRectCallout">
              <a:avLst>
                <a:gd name="adj1" fmla="val 43744"/>
                <a:gd name="adj2" fmla="val 1037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7000B"/>
                  </a:solidFill>
                  <a:latin typeface="Huawei Sans" panose="020C0503030203020204" pitchFamily="34" charset="0"/>
                  <a:ea typeface="方正兰亭黑简体" panose="02000000000000000000" pitchFamily="2" charset="-122"/>
                </a:rPr>
                <a:t>接口出方向</a:t>
              </a:r>
              <a:endParaRPr lang="en-US" altLang="zh-CN" sz="1400" b="1" dirty="0">
                <a:solidFill>
                  <a:srgbClr val="C7000B"/>
                </a:solidFill>
                <a:latin typeface="Huawei Sans" panose="020C0503030203020204" pitchFamily="34" charset="0"/>
                <a:ea typeface="方正兰亭黑简体" panose="02000000000000000000" pitchFamily="2" charset="-122"/>
              </a:endParaRPr>
            </a:p>
            <a:p>
              <a:pPr algn="ctr"/>
              <a:r>
                <a:rPr lang="zh-CN" altLang="en-US" sz="1400" b="1" dirty="0">
                  <a:solidFill>
                    <a:srgbClr val="C7000B"/>
                  </a:solidFill>
                  <a:latin typeface="Huawei Sans" panose="020C0503030203020204" pitchFamily="34" charset="0"/>
                  <a:ea typeface="方正兰亭黑简体" panose="02000000000000000000" pitchFamily="2" charset="-122"/>
                </a:rPr>
                <a:t>拥塞管理</a:t>
              </a:r>
            </a:p>
          </p:txBody>
        </p:sp>
      </p:grpSp>
      <p:cxnSp>
        <p:nvCxnSpPr>
          <p:cNvPr id="46" name="直接连接符 94"/>
          <p:cNvCxnSpPr>
            <a:stCxn id="67" idx="2"/>
            <a:endCxn id="73" idx="1"/>
          </p:cNvCxnSpPr>
          <p:nvPr/>
        </p:nvCxnSpPr>
        <p:spPr bwMode="gray">
          <a:xfrm>
            <a:off x="4661071" y="4171133"/>
            <a:ext cx="498824"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022375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处理流程回顾</a:t>
            </a:r>
          </a:p>
        </p:txBody>
      </p:sp>
      <p:cxnSp>
        <p:nvCxnSpPr>
          <p:cNvPr id="3" name="直接箭头连接符 2"/>
          <p:cNvCxnSpPr/>
          <p:nvPr/>
        </p:nvCxnSpPr>
        <p:spPr bwMode="gray">
          <a:xfrm>
            <a:off x="3312324" y="3044084"/>
            <a:ext cx="0" cy="7200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4" name="五边形 3"/>
          <p:cNvSpPr/>
          <p:nvPr/>
        </p:nvSpPr>
        <p:spPr bwMode="gray">
          <a:xfrm>
            <a:off x="6476132" y="2323924"/>
            <a:ext cx="4477322" cy="2700300"/>
          </a:xfrm>
          <a:prstGeom prst="homePlate">
            <a:avLst>
              <a:gd name="adj" fmla="val 12894"/>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5" name="组合 4"/>
          <p:cNvGrpSpPr/>
          <p:nvPr/>
        </p:nvGrpSpPr>
        <p:grpSpPr bwMode="gray">
          <a:xfrm>
            <a:off x="751496" y="1953842"/>
            <a:ext cx="1345406" cy="3403072"/>
            <a:chOff x="1006178" y="2014802"/>
            <a:chExt cx="1345406" cy="3403072"/>
          </a:xfrm>
        </p:grpSpPr>
        <p:grpSp>
          <p:nvGrpSpPr>
            <p:cNvPr id="6" name="组合 5"/>
            <p:cNvGrpSpPr/>
            <p:nvPr/>
          </p:nvGrpSpPr>
          <p:grpSpPr bwMode="gray">
            <a:xfrm>
              <a:off x="1006178" y="2014802"/>
              <a:ext cx="1345406" cy="3403072"/>
              <a:chOff x="1438226" y="1592796"/>
              <a:chExt cx="1345406" cy="3403072"/>
            </a:xfrm>
          </p:grpSpPr>
          <p:sp>
            <p:nvSpPr>
              <p:cNvPr id="8" name="圆角矩形 7"/>
              <p:cNvSpPr/>
              <p:nvPr/>
            </p:nvSpPr>
            <p:spPr bwMode="gray">
              <a:xfrm>
                <a:off x="1438226" y="1592796"/>
                <a:ext cx="1345406" cy="3403072"/>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9" name="envelope-doodle_16370"/>
              <p:cNvSpPr>
                <a:spLocks noChangeAspect="1"/>
              </p:cNvSpPr>
              <p:nvPr/>
            </p:nvSpPr>
            <p:spPr bwMode="gray">
              <a:xfrm>
                <a:off x="1913183" y="4077072"/>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0" name="图片 9" descr="可视电话硬终端.png"/>
              <p:cNvPicPr>
                <a:picLocks noChangeAspect="1"/>
              </p:cNvPicPr>
              <p:nvPr/>
            </p:nvPicPr>
            <p:blipFill>
              <a:blip r:embed="rId3" cstate="print"/>
              <a:stretch>
                <a:fillRect/>
              </a:stretch>
            </p:blipFill>
            <p:spPr bwMode="gray">
              <a:xfrm>
                <a:off x="1908939" y="2980317"/>
                <a:ext cx="609949" cy="540000"/>
              </a:xfrm>
              <a:prstGeom prst="rect">
                <a:avLst/>
              </a:prstGeom>
            </p:spPr>
          </p:pic>
          <p:pic>
            <p:nvPicPr>
              <p:cNvPr id="11" name="图片 10" descr="管理型无线虚链路-蓝.png"/>
              <p:cNvPicPr>
                <a:picLocks noChangeAspect="1"/>
              </p:cNvPicPr>
              <p:nvPr/>
            </p:nvPicPr>
            <p:blipFill>
              <a:blip r:embed="rId4" cstate="print"/>
              <a:stretch>
                <a:fillRect/>
              </a:stretch>
            </p:blipFill>
            <p:spPr bwMode="gray">
              <a:xfrm>
                <a:off x="1922620" y="1772816"/>
                <a:ext cx="582586" cy="540000"/>
              </a:xfrm>
              <a:prstGeom prst="rect">
                <a:avLst/>
              </a:prstGeom>
            </p:spPr>
          </p:pic>
          <p:sp>
            <p:nvSpPr>
              <p:cNvPr id="12" name="文本框 11"/>
              <p:cNvSpPr txBox="1"/>
              <p:nvPr/>
            </p:nvSpPr>
            <p:spPr bwMode="gray">
              <a:xfrm>
                <a:off x="1920068" y="2277064"/>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a:t>
                </a:r>
              </a:p>
            </p:txBody>
          </p:sp>
          <p:sp>
            <p:nvSpPr>
              <p:cNvPr id="13" name="文本框 12"/>
              <p:cNvSpPr txBox="1"/>
              <p:nvPr/>
            </p:nvSpPr>
            <p:spPr bwMode="gray">
              <a:xfrm>
                <a:off x="1920069" y="3501008"/>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语音</a:t>
                </a:r>
              </a:p>
            </p:txBody>
          </p:sp>
          <p:sp>
            <p:nvSpPr>
              <p:cNvPr id="14" name="文本框 13"/>
              <p:cNvSpPr txBox="1"/>
              <p:nvPr/>
            </p:nvSpPr>
            <p:spPr bwMode="gray">
              <a:xfrm>
                <a:off x="1920069" y="4617132"/>
                <a:ext cx="587689"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数据</a:t>
                </a:r>
              </a:p>
            </p:txBody>
          </p:sp>
        </p:grpSp>
        <p:sp>
          <p:nvSpPr>
            <p:cNvPr id="7"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sp>
        <p:nvSpPr>
          <p:cNvPr id="15" name="右箭头标注 14"/>
          <p:cNvSpPr/>
          <p:nvPr/>
        </p:nvSpPr>
        <p:spPr bwMode="gray">
          <a:xfrm>
            <a:off x="2168911" y="3288067"/>
            <a:ext cx="792088" cy="734621"/>
          </a:xfrm>
          <a:prstGeom prst="rightArrowCallout">
            <a:avLst>
              <a:gd name="adj1" fmla="val 23271"/>
              <a:gd name="adj2" fmla="val 25000"/>
              <a:gd name="adj3" fmla="val 19073"/>
              <a:gd name="adj4" fmla="val 75831"/>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Huawei Sans" panose="020C0503030203020204" pitchFamily="34" charset="0"/>
                <a:ea typeface="方正兰亭黑简体" panose="02000000000000000000" pitchFamily="2" charset="-122"/>
              </a:rPr>
              <a:t>流量分类</a:t>
            </a:r>
          </a:p>
        </p:txBody>
      </p:sp>
      <p:sp>
        <p:nvSpPr>
          <p:cNvPr id="16" name="流程图: 磁盘 15"/>
          <p:cNvSpPr/>
          <p:nvPr/>
        </p:nvSpPr>
        <p:spPr bwMode="gray">
          <a:xfrm>
            <a:off x="3063202" y="3241332"/>
            <a:ext cx="498244" cy="828092"/>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7" name="文本框 16"/>
          <p:cNvSpPr txBox="1"/>
          <p:nvPr/>
        </p:nvSpPr>
        <p:spPr bwMode="gray">
          <a:xfrm>
            <a:off x="2992832" y="3764084"/>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latin typeface="Huawei Sans" panose="020C0503030203020204" pitchFamily="34" charset="0"/>
                <a:ea typeface="方正兰亭黑简体" panose="02000000000000000000" pitchFamily="2" charset="-122"/>
              </a:rPr>
              <a:t>令牌桶</a:t>
            </a:r>
          </a:p>
        </p:txBody>
      </p:sp>
      <p:sp>
        <p:nvSpPr>
          <p:cNvPr id="18" name="矩形 17"/>
          <p:cNvSpPr/>
          <p:nvPr/>
        </p:nvSpPr>
        <p:spPr bwMode="gray">
          <a:xfrm>
            <a:off x="3204312" y="2827980"/>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9" name="矩形 18"/>
          <p:cNvSpPr/>
          <p:nvPr/>
        </p:nvSpPr>
        <p:spPr bwMode="gray">
          <a:xfrm>
            <a:off x="3204312" y="261195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0" name="文本框 19"/>
          <p:cNvSpPr txBox="1"/>
          <p:nvPr/>
        </p:nvSpPr>
        <p:spPr bwMode="gray">
          <a:xfrm>
            <a:off x="3044128" y="2307853"/>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令牌</a:t>
            </a:r>
          </a:p>
        </p:txBody>
      </p:sp>
      <p:sp>
        <p:nvSpPr>
          <p:cNvPr id="21" name="右箭头标注 20"/>
          <p:cNvSpPr/>
          <p:nvPr/>
        </p:nvSpPr>
        <p:spPr bwMode="gray">
          <a:xfrm>
            <a:off x="4495912" y="3288067"/>
            <a:ext cx="1138870" cy="734621"/>
          </a:xfrm>
          <a:prstGeom prst="rightArrowCallout">
            <a:avLst>
              <a:gd name="adj1" fmla="val 23271"/>
              <a:gd name="adj2" fmla="val 25000"/>
              <a:gd name="adj3" fmla="val 25000"/>
              <a:gd name="adj4" fmla="val 7688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Remark</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grpSp>
        <p:nvGrpSpPr>
          <p:cNvPr id="22" name="组合 21"/>
          <p:cNvGrpSpPr/>
          <p:nvPr/>
        </p:nvGrpSpPr>
        <p:grpSpPr bwMode="gray">
          <a:xfrm>
            <a:off x="5697302" y="3241332"/>
            <a:ext cx="720080" cy="828092"/>
            <a:chOff x="6852084" y="3302292"/>
            <a:chExt cx="720080" cy="828092"/>
          </a:xfrm>
        </p:grpSpPr>
        <p:sp>
          <p:nvSpPr>
            <p:cNvPr id="23" name="圆角矩形 22"/>
            <p:cNvSpPr/>
            <p:nvPr/>
          </p:nvSpPr>
          <p:spPr bwMode="gray">
            <a:xfrm>
              <a:off x="6852084" y="3302292"/>
              <a:ext cx="720080" cy="828092"/>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4" name="文本框 23"/>
            <p:cNvSpPr txBox="1"/>
            <p:nvPr/>
          </p:nvSpPr>
          <p:spPr bwMode="gray">
            <a:xfrm>
              <a:off x="6924092" y="3302676"/>
              <a:ext cx="587688" cy="82732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其它</a:t>
              </a:r>
              <a:endParaRPr lang="en-US" altLang="zh-CN" sz="1600" b="1" dirty="0">
                <a:latin typeface="Huawei Sans" panose="020C0503030203020204" pitchFamily="34" charset="0"/>
                <a:ea typeface="方正兰亭黑简体" panose="02000000000000000000" pitchFamily="2" charset="-122"/>
              </a:endParaRPr>
            </a:p>
            <a:p>
              <a:pPr algn="ctr"/>
              <a:r>
                <a:rPr lang="zh-CN" altLang="en-US" sz="1600" b="1" dirty="0">
                  <a:latin typeface="Huawei Sans" panose="020C0503030203020204" pitchFamily="34" charset="0"/>
                  <a:ea typeface="方正兰亭黑简体" panose="02000000000000000000" pitchFamily="2" charset="-122"/>
                </a:rPr>
                <a:t>处理</a:t>
              </a:r>
              <a:endParaRPr lang="en-US" altLang="zh-CN" sz="1600" b="1" dirty="0">
                <a:latin typeface="Huawei Sans" panose="020C0503030203020204" pitchFamily="34" charset="0"/>
                <a:ea typeface="方正兰亭黑简体" panose="02000000000000000000" pitchFamily="2" charset="-122"/>
              </a:endParaRPr>
            </a:p>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grpSp>
      <p:sp>
        <p:nvSpPr>
          <p:cNvPr id="25" name="椭圆 24"/>
          <p:cNvSpPr/>
          <p:nvPr/>
        </p:nvSpPr>
        <p:spPr bwMode="gray">
          <a:xfrm>
            <a:off x="7569510" y="3475358"/>
            <a:ext cx="324036" cy="360040"/>
          </a:xfrm>
          <a:prstGeom prst="ellipse">
            <a:avLst/>
          </a:prstGeom>
          <a:solidFill>
            <a:schemeClr val="bg1">
              <a:lumMod val="5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6" name="圆角矩形 25"/>
          <p:cNvSpPr/>
          <p:nvPr/>
        </p:nvSpPr>
        <p:spPr bwMode="gray">
          <a:xfrm>
            <a:off x="8289590" y="2818305"/>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7" name="圆角矩形 26"/>
          <p:cNvSpPr/>
          <p:nvPr/>
        </p:nvSpPr>
        <p:spPr bwMode="gray">
          <a:xfrm>
            <a:off x="8289590" y="3188020"/>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8" name="圆角矩形 27"/>
          <p:cNvSpPr/>
          <p:nvPr/>
        </p:nvSpPr>
        <p:spPr bwMode="gray">
          <a:xfrm>
            <a:off x="8289590" y="3610393"/>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9" name="圆角矩形 28"/>
          <p:cNvSpPr/>
          <p:nvPr/>
        </p:nvSpPr>
        <p:spPr bwMode="gray">
          <a:xfrm>
            <a:off x="8289590" y="4304145"/>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0" name="文本框 29"/>
          <p:cNvSpPr txBox="1"/>
          <p:nvPr/>
        </p:nvSpPr>
        <p:spPr bwMode="gray">
          <a:xfrm>
            <a:off x="8400070" y="3872096"/>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cxnSp>
        <p:nvCxnSpPr>
          <p:cNvPr id="31" name="直接箭头连接符 30"/>
          <p:cNvCxnSpPr>
            <a:stCxn id="25" idx="0"/>
            <a:endCxn id="26" idx="1"/>
          </p:cNvCxnSpPr>
          <p:nvPr/>
        </p:nvCxnSpPr>
        <p:spPr bwMode="gray">
          <a:xfrm flipV="1">
            <a:off x="7731528" y="2962305"/>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直接箭头连接符 31"/>
          <p:cNvCxnSpPr>
            <a:stCxn id="25" idx="7"/>
            <a:endCxn id="27" idx="1"/>
          </p:cNvCxnSpPr>
          <p:nvPr/>
        </p:nvCxnSpPr>
        <p:spPr bwMode="gray">
          <a:xfrm flipV="1">
            <a:off x="7846092" y="3332020"/>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直接箭头连接符 32"/>
          <p:cNvCxnSpPr>
            <a:stCxn id="25" idx="6"/>
            <a:endCxn id="28" idx="1"/>
          </p:cNvCxnSpPr>
          <p:nvPr/>
        </p:nvCxnSpPr>
        <p:spPr bwMode="gray">
          <a:xfrm>
            <a:off x="7893546" y="3655378"/>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直接箭头连接符 33"/>
          <p:cNvCxnSpPr>
            <a:stCxn id="25" idx="5"/>
          </p:cNvCxnSpPr>
          <p:nvPr/>
        </p:nvCxnSpPr>
        <p:spPr bwMode="gray">
          <a:xfrm>
            <a:off x="7846092" y="3782671"/>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直接箭头连接符 34"/>
          <p:cNvCxnSpPr>
            <a:stCxn id="25" idx="4"/>
            <a:endCxn id="29" idx="1"/>
          </p:cNvCxnSpPr>
          <p:nvPr/>
        </p:nvCxnSpPr>
        <p:spPr bwMode="gray">
          <a:xfrm>
            <a:off x="7731528" y="3835398"/>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6" name="右箭头标注 35"/>
          <p:cNvSpPr/>
          <p:nvPr/>
        </p:nvSpPr>
        <p:spPr bwMode="gray">
          <a:xfrm>
            <a:off x="10099845" y="3288067"/>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GTS</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7" name="右箭头标注 36"/>
          <p:cNvSpPr/>
          <p:nvPr/>
        </p:nvSpPr>
        <p:spPr bwMode="gray">
          <a:xfrm>
            <a:off x="6561398" y="3288067"/>
            <a:ext cx="1044116" cy="734621"/>
          </a:xfrm>
          <a:prstGeom prst="rightArrowCallout">
            <a:avLst>
              <a:gd name="adj1" fmla="val 23271"/>
              <a:gd name="adj2" fmla="val 19073"/>
              <a:gd name="adj3" fmla="val 28952"/>
              <a:gd name="adj4" fmla="val 7127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8" name="文本框 37"/>
          <p:cNvSpPr txBox="1"/>
          <p:nvPr/>
        </p:nvSpPr>
        <p:spPr bwMode="gray">
          <a:xfrm>
            <a:off x="6453386" y="4088120"/>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拥塞避免</a:t>
            </a:r>
          </a:p>
        </p:txBody>
      </p:sp>
      <p:sp>
        <p:nvSpPr>
          <p:cNvPr id="39" name="文本框 38"/>
          <p:cNvSpPr txBox="1"/>
          <p:nvPr/>
        </p:nvSpPr>
        <p:spPr bwMode="gray">
          <a:xfrm rot="19047356">
            <a:off x="7476530" y="2984838"/>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入队列</a:t>
            </a:r>
          </a:p>
        </p:txBody>
      </p:sp>
      <p:grpSp>
        <p:nvGrpSpPr>
          <p:cNvPr id="40" name="组合 39"/>
          <p:cNvGrpSpPr/>
          <p:nvPr/>
        </p:nvGrpSpPr>
        <p:grpSpPr bwMode="gray">
          <a:xfrm>
            <a:off x="9261698" y="2791976"/>
            <a:ext cx="540060" cy="1800200"/>
            <a:chOff x="9804412" y="2852936"/>
            <a:chExt cx="540060" cy="1800200"/>
          </a:xfrm>
        </p:grpSpPr>
        <p:grpSp>
          <p:nvGrpSpPr>
            <p:cNvPr id="41" name="组合 40"/>
            <p:cNvGrpSpPr/>
            <p:nvPr/>
          </p:nvGrpSpPr>
          <p:grpSpPr bwMode="gray">
            <a:xfrm>
              <a:off x="9804412" y="2852936"/>
              <a:ext cx="540060" cy="1800200"/>
              <a:chOff x="7032104" y="2852936"/>
              <a:chExt cx="540060" cy="1800200"/>
            </a:xfrm>
          </p:grpSpPr>
          <p:sp>
            <p:nvSpPr>
              <p:cNvPr id="43" name="圆角矩形 42"/>
              <p:cNvSpPr/>
              <p:nvPr/>
            </p:nvSpPr>
            <p:spPr bwMode="gray">
              <a:xfrm>
                <a:off x="7032104" y="2852936"/>
                <a:ext cx="540060" cy="1800200"/>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44" name="文本框 43"/>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42" name="任意多边形 41"/>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cxnSp>
        <p:nvCxnSpPr>
          <p:cNvPr id="45" name="直接箭头连接符 44"/>
          <p:cNvCxnSpPr/>
          <p:nvPr/>
        </p:nvCxnSpPr>
        <p:spPr bwMode="gray">
          <a:xfrm>
            <a:off x="9009670" y="297199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6" name="直接箭头连接符 45"/>
          <p:cNvCxnSpPr/>
          <p:nvPr/>
        </p:nvCxnSpPr>
        <p:spPr bwMode="gray">
          <a:xfrm>
            <a:off x="9009670" y="333203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直接箭头连接符 46"/>
          <p:cNvCxnSpPr/>
          <p:nvPr/>
        </p:nvCxnSpPr>
        <p:spPr bwMode="gray">
          <a:xfrm>
            <a:off x="9009670" y="3764084"/>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直接箭头连接符 47"/>
          <p:cNvCxnSpPr/>
          <p:nvPr/>
        </p:nvCxnSpPr>
        <p:spPr bwMode="gray">
          <a:xfrm>
            <a:off x="9009670" y="444816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9" name="文本框 48"/>
          <p:cNvSpPr txBox="1"/>
          <p:nvPr/>
        </p:nvSpPr>
        <p:spPr bwMode="gray">
          <a:xfrm>
            <a:off x="9009670" y="4664184"/>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拥塞管理</a:t>
            </a:r>
          </a:p>
        </p:txBody>
      </p:sp>
      <p:sp>
        <p:nvSpPr>
          <p:cNvPr id="50" name="文本框 49"/>
          <p:cNvSpPr txBox="1"/>
          <p:nvPr/>
        </p:nvSpPr>
        <p:spPr bwMode="gray">
          <a:xfrm>
            <a:off x="10027838" y="4088120"/>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流量整形</a:t>
            </a:r>
          </a:p>
        </p:txBody>
      </p:sp>
      <p:sp>
        <p:nvSpPr>
          <p:cNvPr id="51" name="文本框 50"/>
          <p:cNvSpPr txBox="1"/>
          <p:nvPr/>
        </p:nvSpPr>
        <p:spPr bwMode="gray">
          <a:xfrm>
            <a:off x="3091756" y="4088120"/>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流量监管</a:t>
            </a:r>
          </a:p>
        </p:txBody>
      </p:sp>
      <p:grpSp>
        <p:nvGrpSpPr>
          <p:cNvPr id="52" name="组合 51"/>
          <p:cNvGrpSpPr/>
          <p:nvPr/>
        </p:nvGrpSpPr>
        <p:grpSpPr bwMode="gray">
          <a:xfrm>
            <a:off x="10989890" y="2431936"/>
            <a:ext cx="432048" cy="2628292"/>
            <a:chOff x="1006178" y="2492896"/>
            <a:chExt cx="432048" cy="2628292"/>
          </a:xfrm>
        </p:grpSpPr>
        <p:sp>
          <p:nvSpPr>
            <p:cNvPr id="53" name="圆角矩形 52"/>
            <p:cNvSpPr/>
            <p:nvPr/>
          </p:nvSpPr>
          <p:spPr bwMode="gray">
            <a:xfrm>
              <a:off x="1006178" y="2492896"/>
              <a:ext cx="432048" cy="2628292"/>
            </a:xfrm>
            <a:prstGeom prst="roundRect">
              <a:avLst/>
            </a:prstGeom>
            <a:solidFill>
              <a:srgbClr val="F4FBFE"/>
            </a:solidFill>
            <a:ln w="9525" cap="flat" cmpd="sng" algn="ctr">
              <a:solidFill>
                <a:srgbClr val="94DAE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4" name="îṧlîḋè">
              <a:extLst>
                <a:ext uri="{FF2B5EF4-FFF2-40B4-BE49-F238E27FC236}">
                  <a16:creationId xmlns:a16="http://schemas.microsoft.com/office/drawing/2014/main" id="{03370132-C199-466C-9FF3-97790D081173}"/>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出</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cxnSp>
        <p:nvCxnSpPr>
          <p:cNvPr id="55" name="直接箭头连接符 54"/>
          <p:cNvCxnSpPr/>
          <p:nvPr/>
        </p:nvCxnSpPr>
        <p:spPr bwMode="gray">
          <a:xfrm>
            <a:off x="9801758" y="3008001"/>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直接箭头连接符 55"/>
          <p:cNvCxnSpPr/>
          <p:nvPr/>
        </p:nvCxnSpPr>
        <p:spPr bwMode="gray">
          <a:xfrm>
            <a:off x="9801758" y="3368040"/>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7" name="直接箭头连接符 56"/>
          <p:cNvCxnSpPr>
            <a:endCxn id="36" idx="1"/>
          </p:cNvCxnSpPr>
          <p:nvPr/>
        </p:nvCxnSpPr>
        <p:spPr bwMode="gray">
          <a:xfrm flipV="1">
            <a:off x="9801758" y="3655378"/>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8" name="直接箭头连接符 57"/>
          <p:cNvCxnSpPr/>
          <p:nvPr/>
        </p:nvCxnSpPr>
        <p:spPr bwMode="gray">
          <a:xfrm flipV="1">
            <a:off x="9801758" y="3908100"/>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文本框 58"/>
          <p:cNvSpPr txBox="1"/>
          <p:nvPr/>
        </p:nvSpPr>
        <p:spPr bwMode="gray">
          <a:xfrm rot="3087858">
            <a:off x="9695822" y="2859122"/>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出队列</a:t>
            </a:r>
          </a:p>
        </p:txBody>
      </p:sp>
      <p:sp>
        <p:nvSpPr>
          <p:cNvPr id="60" name="右箭头标注 59"/>
          <p:cNvSpPr/>
          <p:nvPr/>
        </p:nvSpPr>
        <p:spPr bwMode="gray">
          <a:xfrm>
            <a:off x="3631816" y="3288067"/>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CAR</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5102873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配置基于队列的拥塞管理</a:t>
            </a:r>
            <a:endParaRPr lang="en-US" altLang="zh-CN" dirty="0"/>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408540"/>
            <a:ext cx="5140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en-US" altLang="zh-CN" sz="1800" dirty="0"/>
              <a:t>WAN</a:t>
            </a:r>
            <a:r>
              <a:rPr lang="zh-CN" altLang="en-US" sz="1800" dirty="0"/>
              <a:t>接口支持</a:t>
            </a:r>
            <a:r>
              <a:rPr lang="en-US" altLang="zh-CN" sz="1800" dirty="0"/>
              <a:t>PQ</a:t>
            </a:r>
            <a:r>
              <a:rPr lang="zh-CN" altLang="en-US" sz="1800" dirty="0"/>
              <a:t>，</a:t>
            </a:r>
            <a:r>
              <a:rPr lang="en-US" altLang="zh-CN" sz="1800" dirty="0"/>
              <a:t>WFQ</a:t>
            </a:r>
            <a:r>
              <a:rPr lang="zh-CN" altLang="en-US" sz="1800" dirty="0"/>
              <a:t>，</a:t>
            </a:r>
            <a:r>
              <a:rPr lang="en-US" altLang="zh-CN" sz="1800" dirty="0"/>
              <a:t>PQ+WFQ</a:t>
            </a:r>
            <a:r>
              <a:rPr lang="zh-CN" altLang="en-US" sz="1800" dirty="0"/>
              <a:t>三种调度模式。拥塞管理的配置思路如下：</a:t>
            </a:r>
            <a:endParaRPr lang="en-US" altLang="zh-CN" sz="1800" dirty="0"/>
          </a:p>
          <a:p>
            <a:pPr lvl="1" fontAlgn="auto">
              <a:spcAft>
                <a:spcPts val="0"/>
              </a:spcAft>
            </a:pPr>
            <a:r>
              <a:rPr lang="zh-CN" altLang="en-US" sz="1600" dirty="0"/>
              <a:t>创建</a:t>
            </a:r>
            <a:r>
              <a:rPr lang="en-US" altLang="zh-CN" sz="1600" dirty="0"/>
              <a:t>QoS</a:t>
            </a:r>
            <a:r>
              <a:rPr lang="zh-CN" altLang="en-US" sz="1600" dirty="0"/>
              <a:t>队列模板</a:t>
            </a:r>
            <a:endParaRPr lang="en-US" altLang="zh-CN" sz="1600" dirty="0"/>
          </a:p>
          <a:p>
            <a:pPr lvl="1" fontAlgn="auto">
              <a:spcAft>
                <a:spcPts val="0"/>
              </a:spcAft>
            </a:pPr>
            <a:r>
              <a:rPr lang="zh-CN" altLang="en-US" sz="1600" dirty="0"/>
              <a:t>配置调度模式</a:t>
            </a:r>
            <a:endParaRPr lang="en-US" altLang="zh-CN" sz="1600" dirty="0"/>
          </a:p>
          <a:p>
            <a:pPr lvl="1" fontAlgn="auto">
              <a:spcAft>
                <a:spcPts val="0"/>
              </a:spcAft>
            </a:pPr>
            <a:r>
              <a:rPr lang="zh-CN" altLang="en-US" sz="1600" dirty="0"/>
              <a:t>在接口下应用队列模板</a:t>
            </a:r>
            <a:endParaRPr lang="en-US" altLang="zh-CN" sz="1600" dirty="0"/>
          </a:p>
          <a:p>
            <a:pPr lvl="1" fontAlgn="auto">
              <a:spcAft>
                <a:spcPts val="0"/>
              </a:spcAft>
            </a:pPr>
            <a:endParaRPr lang="en-US" altLang="zh-CN" sz="1600" dirty="0"/>
          </a:p>
        </p:txBody>
      </p:sp>
      <p:sp>
        <p:nvSpPr>
          <p:cNvPr id="64" name="文本框 30">
            <a:extLst>
              <a:ext uri="{FF2B5EF4-FFF2-40B4-BE49-F238E27FC236}">
                <a16:creationId xmlns:a16="http://schemas.microsoft.com/office/drawing/2014/main" id="{2AF05CCD-E336-4F23-95FE-541DCCC8BBFE}"/>
              </a:ext>
            </a:extLst>
          </p:cNvPr>
          <p:cNvSpPr txBox="1"/>
          <p:nvPr/>
        </p:nvSpPr>
        <p:spPr bwMode="gray">
          <a:xfrm>
            <a:off x="6105427" y="1376772"/>
            <a:ext cx="5607148" cy="1600438"/>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创建队列模板。</a:t>
            </a:r>
            <a:endParaRPr lang="en-US" altLang="zh-CN" dirty="0">
              <a:solidFill>
                <a:schemeClr val="tx1"/>
              </a:solidFill>
            </a:endParaRPr>
          </a:p>
          <a:p>
            <a:pPr>
              <a:lnSpc>
                <a:spcPct val="100000"/>
              </a:lnSpc>
            </a:pPr>
            <a:r>
              <a:rPr lang="zh-CN" altLang="en-US" b="1" dirty="0">
                <a:solidFill>
                  <a:schemeClr val="tx1"/>
                </a:solidFill>
              </a:rPr>
              <a:t>      </a:t>
            </a:r>
            <a:r>
              <a:rPr lang="en-US" altLang="zh-CN" b="1" dirty="0">
                <a:solidFill>
                  <a:schemeClr val="tx1"/>
                </a:solidFill>
              </a:rPr>
              <a:t>schedule </a:t>
            </a:r>
            <a:r>
              <a:rPr lang="en-US" altLang="zh-CN" b="1" dirty="0" err="1">
                <a:solidFill>
                  <a:schemeClr val="tx1"/>
                </a:solidFill>
              </a:rPr>
              <a:t>pq</a:t>
            </a:r>
            <a:r>
              <a:rPr lang="en-US" altLang="zh-CN" b="1" dirty="0">
                <a:solidFill>
                  <a:schemeClr val="tx1"/>
                </a:solidFill>
              </a:rPr>
              <a:t> </a:t>
            </a:r>
            <a:r>
              <a:rPr lang="en-US" altLang="zh-CN" dirty="0">
                <a:solidFill>
                  <a:schemeClr val="tx1"/>
                </a:solidFill>
              </a:rPr>
              <a:t>[</a:t>
            </a:r>
            <a:r>
              <a:rPr lang="en-US" altLang="zh-CN" i="1" dirty="0">
                <a:solidFill>
                  <a:schemeClr val="tx1"/>
                </a:solidFill>
              </a:rPr>
              <a:t>queue-index</a:t>
            </a:r>
            <a:r>
              <a:rPr lang="en-US" altLang="zh-CN" dirty="0">
                <a:solidFill>
                  <a:schemeClr val="tx1"/>
                </a:solidFill>
              </a:rPr>
              <a:t>] </a:t>
            </a:r>
            <a:r>
              <a:rPr lang="en-US" altLang="zh-CN" b="1" dirty="0">
                <a:solidFill>
                  <a:schemeClr val="tx1"/>
                </a:solidFill>
              </a:rPr>
              <a:t>| </a:t>
            </a:r>
            <a:r>
              <a:rPr lang="en-US" altLang="zh-CN" b="1" dirty="0" err="1">
                <a:solidFill>
                  <a:schemeClr val="tx1"/>
                </a:solidFill>
              </a:rPr>
              <a:t>wfq</a:t>
            </a:r>
            <a:r>
              <a:rPr lang="en-US" altLang="zh-CN" b="1" dirty="0">
                <a:solidFill>
                  <a:schemeClr val="tx1"/>
                </a:solidFill>
              </a:rPr>
              <a:t> </a:t>
            </a:r>
            <a:r>
              <a:rPr lang="en-US" altLang="zh-CN" dirty="0">
                <a:solidFill>
                  <a:schemeClr val="tx1"/>
                </a:solidFill>
              </a:rPr>
              <a:t>[</a:t>
            </a:r>
            <a:r>
              <a:rPr lang="en-US" altLang="zh-CN" i="1" dirty="0">
                <a:solidFill>
                  <a:schemeClr val="tx1"/>
                </a:solidFill>
              </a:rPr>
              <a:t>queue-index</a:t>
            </a:r>
            <a:r>
              <a:rPr lang="en-US" altLang="zh-CN" dirty="0">
                <a:solidFill>
                  <a:schemeClr val="tx1"/>
                </a:solidFill>
              </a:rPr>
              <a:t>]   //</a:t>
            </a:r>
            <a:r>
              <a:rPr lang="zh-CN" altLang="en-US" dirty="0">
                <a:solidFill>
                  <a:schemeClr val="tx1"/>
                </a:solidFill>
              </a:rPr>
              <a:t>配置</a:t>
            </a:r>
            <a:r>
              <a:rPr lang="en-US" altLang="zh-CN" dirty="0">
                <a:solidFill>
                  <a:schemeClr val="tx1"/>
                </a:solidFill>
              </a:rPr>
              <a:t>WAN</a:t>
            </a:r>
            <a:r>
              <a:rPr lang="zh-CN" altLang="en-US" dirty="0">
                <a:solidFill>
                  <a:schemeClr val="tx1"/>
                </a:solidFill>
              </a:rPr>
              <a:t>接口下各队列的调度模式。</a:t>
            </a:r>
            <a:endParaRPr lang="en-US" altLang="zh-CN" dirty="0">
              <a:solidFill>
                <a:schemeClr val="tx1"/>
              </a:solidFill>
            </a:endParaRP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在接口下应用队列模板。</a:t>
            </a:r>
            <a:endParaRPr lang="en-US" altLang="zh-CN" dirty="0">
              <a:solidFill>
                <a:schemeClr val="tx1"/>
              </a:solidFill>
            </a:endParaRPr>
          </a:p>
        </p:txBody>
      </p:sp>
      <p:sp>
        <p:nvSpPr>
          <p:cNvPr id="20" name="圆角矩形 135">
            <a:extLst>
              <a:ext uri="{FF2B5EF4-FFF2-40B4-BE49-F238E27FC236}">
                <a16:creationId xmlns:a16="http://schemas.microsoft.com/office/drawing/2014/main" id="{EE602E42-5BBD-4CA3-9022-622C6C3FF339}"/>
              </a:ext>
            </a:extLst>
          </p:cNvPr>
          <p:cNvSpPr/>
          <p:nvPr/>
        </p:nvSpPr>
        <p:spPr bwMode="gray">
          <a:xfrm>
            <a:off x="1667508" y="137677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6528" y="137677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22" name="Straight Connector 21">
            <a:extLst>
              <a:ext uri="{FF2B5EF4-FFF2-40B4-BE49-F238E27FC236}">
                <a16:creationId xmlns:a16="http://schemas.microsoft.com/office/drawing/2014/main" id="{96086830-1E9A-4142-B4BF-8BB729693C93}"/>
              </a:ext>
            </a:extLst>
          </p:cNvPr>
          <p:cNvCxnSpPr>
            <a:cxnSpLocks/>
            <a:endCxn id="25" idx="1"/>
          </p:cNvCxnSpPr>
          <p:nvPr/>
        </p:nvCxnSpPr>
        <p:spPr bwMode="gray">
          <a:xfrm>
            <a:off x="1268390" y="185797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24"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51684" y="1636574"/>
            <a:ext cx="540000" cy="441818"/>
          </a:xfrm>
          <a:prstGeom prst="rect">
            <a:avLst/>
          </a:prstGeom>
        </p:spPr>
      </p:pic>
      <p:pic>
        <p:nvPicPr>
          <p:cNvPr id="25"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636574"/>
            <a:ext cx="540000" cy="442800"/>
          </a:xfrm>
          <a:prstGeom prst="rect">
            <a:avLst/>
          </a:prstGeom>
        </p:spPr>
      </p:pic>
      <p:cxnSp>
        <p:nvCxnSpPr>
          <p:cNvPr id="26" name="Straight Connector 25">
            <a:extLst>
              <a:ext uri="{FF2B5EF4-FFF2-40B4-BE49-F238E27FC236}">
                <a16:creationId xmlns:a16="http://schemas.microsoft.com/office/drawing/2014/main" id="{2AD57301-E8AB-4A8E-8B70-3BA2DDB3650E}"/>
              </a:ext>
            </a:extLst>
          </p:cNvPr>
          <p:cNvCxnSpPr>
            <a:cxnSpLocks/>
            <a:stCxn id="25" idx="3"/>
            <a:endCxn id="24" idx="1"/>
          </p:cNvCxnSpPr>
          <p:nvPr/>
        </p:nvCxnSpPr>
        <p:spPr bwMode="gray">
          <a:xfrm flipV="1">
            <a:off x="2429025" y="185748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4B40C51-BF98-4140-ABE3-298D1975F510}"/>
              </a:ext>
            </a:extLst>
          </p:cNvPr>
          <p:cNvCxnSpPr>
            <a:cxnSpLocks/>
            <a:stCxn id="24" idx="3"/>
          </p:cNvCxnSpPr>
          <p:nvPr/>
        </p:nvCxnSpPr>
        <p:spPr bwMode="gray">
          <a:xfrm>
            <a:off x="3791684" y="185748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8"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6864" y="137677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29" name="Oval 41">
            <a:extLst>
              <a:ext uri="{FF2B5EF4-FFF2-40B4-BE49-F238E27FC236}">
                <a16:creationId xmlns:a16="http://schemas.microsoft.com/office/drawing/2014/main" id="{25AD5355-862E-4527-BB8D-2653C7401795}"/>
              </a:ext>
            </a:extLst>
          </p:cNvPr>
          <p:cNvSpPr>
            <a:spLocks noChangeAspect="1"/>
          </p:cNvSpPr>
          <p:nvPr/>
        </p:nvSpPr>
        <p:spPr bwMode="gray">
          <a:xfrm>
            <a:off x="2351981" y="17806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0"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9813" y="193711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31" name="Oval 41">
            <a:extLst>
              <a:ext uri="{FF2B5EF4-FFF2-40B4-BE49-F238E27FC236}">
                <a16:creationId xmlns:a16="http://schemas.microsoft.com/office/drawing/2014/main" id="{6A20C70F-7BF7-4B08-8CEB-4AD4F9B9F3C9}"/>
              </a:ext>
            </a:extLst>
          </p:cNvPr>
          <p:cNvSpPr>
            <a:spLocks noChangeAspect="1"/>
          </p:cNvSpPr>
          <p:nvPr/>
        </p:nvSpPr>
        <p:spPr bwMode="gray">
          <a:xfrm>
            <a:off x="3712053" y="17778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19" name="图片 1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638000"/>
            <a:ext cx="540000" cy="442800"/>
          </a:xfrm>
          <a:prstGeom prst="rect">
            <a:avLst/>
          </a:prstGeom>
        </p:spPr>
      </p:pic>
    </p:spTree>
    <p:extLst>
      <p:ext uri="{BB962C8B-B14F-4D97-AF65-F5344CB8AC3E}">
        <p14:creationId xmlns:p14="http://schemas.microsoft.com/office/powerpoint/2010/main" val="29831633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a:t>
            </a:r>
            <a:r>
              <a:rPr lang="en-US" altLang="zh-CN" dirty="0"/>
              <a:t>MQC</a:t>
            </a:r>
            <a:r>
              <a:rPr lang="zh-CN" altLang="en-US" dirty="0"/>
              <a:t>实现拥塞管理 </a:t>
            </a:r>
            <a:r>
              <a:rPr lang="en-US" altLang="zh-CN" dirty="0"/>
              <a:t>(1)</a:t>
            </a:r>
            <a:endParaRPr lang="zh-CN" altLang="en-US" dirty="0"/>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7500" y="2195180"/>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en-US" altLang="zh-CN" sz="1800" dirty="0"/>
              <a:t>MQC</a:t>
            </a:r>
            <a:r>
              <a:rPr lang="zh-CN" altLang="en-US" sz="1800" dirty="0"/>
              <a:t>中的流分类提供了三种队列：</a:t>
            </a:r>
            <a:endParaRPr lang="en-US" altLang="zh-CN" sz="1800" dirty="0"/>
          </a:p>
          <a:p>
            <a:pPr lvl="1" fontAlgn="auto">
              <a:spcAft>
                <a:spcPts val="0"/>
              </a:spcAft>
            </a:pPr>
            <a:r>
              <a:rPr lang="zh-CN" altLang="en-US" sz="1600" dirty="0"/>
              <a:t>确保转发队列（</a:t>
            </a:r>
            <a:r>
              <a:rPr lang="en-US" altLang="zh-CN" sz="1600" dirty="0"/>
              <a:t>AF</a:t>
            </a:r>
            <a:r>
              <a:rPr lang="zh-CN" altLang="en-US" sz="1600" dirty="0"/>
              <a:t>）</a:t>
            </a:r>
            <a:endParaRPr lang="en-US" altLang="zh-CN" sz="1600" dirty="0"/>
          </a:p>
          <a:p>
            <a:pPr lvl="1" fontAlgn="auto">
              <a:spcAft>
                <a:spcPts val="0"/>
              </a:spcAft>
            </a:pPr>
            <a:r>
              <a:rPr lang="zh-CN" altLang="en-US" sz="1600" dirty="0"/>
              <a:t>加速转发队列（</a:t>
            </a:r>
            <a:r>
              <a:rPr lang="en-US" altLang="zh-CN" sz="1600" dirty="0"/>
              <a:t>EF/LLQ</a:t>
            </a:r>
            <a:r>
              <a:rPr lang="zh-CN" altLang="en-US" sz="1600" dirty="0"/>
              <a:t>）</a:t>
            </a:r>
            <a:endParaRPr lang="en-US" altLang="zh-CN" sz="1600" dirty="0"/>
          </a:p>
          <a:p>
            <a:pPr lvl="1" fontAlgn="auto">
              <a:spcAft>
                <a:spcPts val="0"/>
              </a:spcAft>
            </a:pPr>
            <a:r>
              <a:rPr lang="zh-CN" altLang="en-US" sz="1600" dirty="0"/>
              <a:t>尽力而为队列（</a:t>
            </a:r>
            <a:r>
              <a:rPr lang="en-US" altLang="zh-CN" sz="1600" dirty="0"/>
              <a:t>BE</a:t>
            </a:r>
            <a:r>
              <a:rPr lang="zh-CN" altLang="en-US" sz="1600" dirty="0"/>
              <a:t>）</a:t>
            </a:r>
            <a:endParaRPr lang="en-US" altLang="zh-CN" sz="1600" dirty="0"/>
          </a:p>
          <a:p>
            <a:pPr>
              <a:spcAft>
                <a:spcPts val="0"/>
              </a:spcAft>
            </a:pPr>
            <a:r>
              <a:rPr lang="en-US" altLang="zh-CN" sz="1800" dirty="0"/>
              <a:t>MQC</a:t>
            </a:r>
            <a:r>
              <a:rPr lang="zh-CN" altLang="en-US" sz="1800" dirty="0"/>
              <a:t>方式的拥塞管理配置思路如下：</a:t>
            </a:r>
            <a:endParaRPr lang="en-US" altLang="zh-CN" sz="1800" dirty="0"/>
          </a:p>
          <a:p>
            <a:pPr lvl="1" fontAlgn="auto">
              <a:spcAft>
                <a:spcPts val="0"/>
              </a:spcAft>
            </a:pPr>
            <a:r>
              <a:rPr lang="zh-CN" altLang="en-US" sz="1600" dirty="0"/>
              <a:t>配置</a:t>
            </a:r>
            <a:r>
              <a:rPr lang="en-US" altLang="zh-CN" sz="1600" dirty="0"/>
              <a:t>Traffic classifier</a:t>
            </a:r>
            <a:r>
              <a:rPr lang="zh-CN" altLang="en-US" sz="1600" dirty="0"/>
              <a:t>与</a:t>
            </a:r>
            <a:r>
              <a:rPr lang="en-US" altLang="zh-CN" sz="1600" dirty="0"/>
              <a:t>Traffic behavior</a:t>
            </a:r>
          </a:p>
          <a:p>
            <a:pPr lvl="1" fontAlgn="auto">
              <a:spcAft>
                <a:spcPts val="0"/>
              </a:spcAft>
            </a:pPr>
            <a:r>
              <a:rPr lang="zh-CN" altLang="en-US" sz="1600" dirty="0">
                <a:solidFill>
                  <a:schemeClr val="bg1">
                    <a:lumMod val="50000"/>
                  </a:schemeClr>
                </a:solidFill>
              </a:rPr>
              <a:t>使用</a:t>
            </a:r>
            <a:r>
              <a:rPr lang="en-US" altLang="zh-CN" sz="1600" dirty="0">
                <a:solidFill>
                  <a:schemeClr val="bg1">
                    <a:lumMod val="50000"/>
                  </a:schemeClr>
                </a:solidFill>
              </a:rPr>
              <a:t>Traffic policy</a:t>
            </a:r>
            <a:r>
              <a:rPr lang="zh-CN" altLang="en-US" sz="1600" dirty="0">
                <a:solidFill>
                  <a:schemeClr val="bg1">
                    <a:lumMod val="50000"/>
                  </a:schemeClr>
                </a:solidFill>
              </a:rPr>
              <a:t>工具将</a:t>
            </a:r>
            <a:r>
              <a:rPr lang="en-US" altLang="zh-CN" sz="1600" dirty="0">
                <a:solidFill>
                  <a:schemeClr val="bg1">
                    <a:lumMod val="50000"/>
                  </a:schemeClr>
                </a:solidFill>
              </a:rPr>
              <a:t>Traffic classifier</a:t>
            </a:r>
            <a:r>
              <a:rPr lang="zh-CN" altLang="en-US" sz="1600" dirty="0">
                <a:solidFill>
                  <a:schemeClr val="bg1">
                    <a:lumMod val="50000"/>
                  </a:schemeClr>
                </a:solidFill>
              </a:rPr>
              <a:t>与</a:t>
            </a:r>
            <a:r>
              <a:rPr lang="en-US" altLang="zh-CN" sz="1600" dirty="0">
                <a:solidFill>
                  <a:schemeClr val="bg1">
                    <a:lumMod val="50000"/>
                  </a:schemeClr>
                </a:solidFill>
              </a:rPr>
              <a:t>Traffic behavior</a:t>
            </a:r>
            <a:r>
              <a:rPr lang="zh-CN" altLang="en-US" sz="1600" dirty="0">
                <a:solidFill>
                  <a:schemeClr val="bg1">
                    <a:lumMod val="50000"/>
                  </a:schemeClr>
                </a:solidFill>
              </a:rPr>
              <a:t>进行绑定</a:t>
            </a:r>
          </a:p>
          <a:p>
            <a:pPr lvl="1" fontAlgn="auto">
              <a:spcAft>
                <a:spcPts val="0"/>
              </a:spcAft>
            </a:pPr>
            <a:r>
              <a:rPr lang="zh-CN" altLang="en-US" sz="1600" dirty="0">
                <a:solidFill>
                  <a:schemeClr val="bg1">
                    <a:lumMod val="50000"/>
                  </a:schemeClr>
                </a:solidFill>
              </a:rPr>
              <a:t>将</a:t>
            </a:r>
            <a:r>
              <a:rPr lang="en-US" altLang="zh-CN" sz="1600" dirty="0">
                <a:solidFill>
                  <a:schemeClr val="bg1">
                    <a:lumMod val="50000"/>
                  </a:schemeClr>
                </a:solidFill>
              </a:rPr>
              <a:t>Traffic policy</a:t>
            </a:r>
            <a:r>
              <a:rPr lang="zh-CN" altLang="en-US" sz="1600" dirty="0">
                <a:solidFill>
                  <a:schemeClr val="bg1">
                    <a:lumMod val="50000"/>
                  </a:schemeClr>
                </a:solidFill>
              </a:rPr>
              <a:t>应用到设备接口出方向上</a:t>
            </a:r>
          </a:p>
        </p:txBody>
      </p:sp>
      <p:sp>
        <p:nvSpPr>
          <p:cNvPr id="20" name="圆角矩形 135">
            <a:extLst>
              <a:ext uri="{FF2B5EF4-FFF2-40B4-BE49-F238E27FC236}">
                <a16:creationId xmlns:a16="http://schemas.microsoft.com/office/drawing/2014/main" id="{EE602E42-5BBD-4CA3-9022-622C6C3FF339}"/>
              </a:ext>
            </a:extLst>
          </p:cNvPr>
          <p:cNvSpPr/>
          <p:nvPr/>
        </p:nvSpPr>
        <p:spPr bwMode="gray">
          <a:xfrm>
            <a:off x="1667508" y="116341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21"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6528" y="116341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22" name="Straight Connector 21">
            <a:extLst>
              <a:ext uri="{FF2B5EF4-FFF2-40B4-BE49-F238E27FC236}">
                <a16:creationId xmlns:a16="http://schemas.microsoft.com/office/drawing/2014/main" id="{96086830-1E9A-4142-B4BF-8BB729693C93}"/>
              </a:ext>
            </a:extLst>
          </p:cNvPr>
          <p:cNvCxnSpPr>
            <a:cxnSpLocks/>
            <a:endCxn id="25" idx="1"/>
          </p:cNvCxnSpPr>
          <p:nvPr/>
        </p:nvCxnSpPr>
        <p:spPr bwMode="gray">
          <a:xfrm>
            <a:off x="1268390" y="164461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24"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51684" y="1423214"/>
            <a:ext cx="540000" cy="441818"/>
          </a:xfrm>
          <a:prstGeom prst="rect">
            <a:avLst/>
          </a:prstGeom>
        </p:spPr>
      </p:pic>
      <p:pic>
        <p:nvPicPr>
          <p:cNvPr id="25"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423214"/>
            <a:ext cx="540000" cy="442800"/>
          </a:xfrm>
          <a:prstGeom prst="rect">
            <a:avLst/>
          </a:prstGeom>
        </p:spPr>
      </p:pic>
      <p:cxnSp>
        <p:nvCxnSpPr>
          <p:cNvPr id="26" name="Straight Connector 25">
            <a:extLst>
              <a:ext uri="{FF2B5EF4-FFF2-40B4-BE49-F238E27FC236}">
                <a16:creationId xmlns:a16="http://schemas.microsoft.com/office/drawing/2014/main" id="{2AD57301-E8AB-4A8E-8B70-3BA2DDB3650E}"/>
              </a:ext>
            </a:extLst>
          </p:cNvPr>
          <p:cNvCxnSpPr>
            <a:cxnSpLocks/>
            <a:stCxn id="25" idx="3"/>
            <a:endCxn id="24" idx="1"/>
          </p:cNvCxnSpPr>
          <p:nvPr/>
        </p:nvCxnSpPr>
        <p:spPr bwMode="gray">
          <a:xfrm flipV="1">
            <a:off x="2429025" y="164412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E4B40C51-BF98-4140-ABE3-298D1975F510}"/>
              </a:ext>
            </a:extLst>
          </p:cNvPr>
          <p:cNvCxnSpPr>
            <a:cxnSpLocks/>
            <a:stCxn id="24" idx="3"/>
          </p:cNvCxnSpPr>
          <p:nvPr/>
        </p:nvCxnSpPr>
        <p:spPr bwMode="gray">
          <a:xfrm>
            <a:off x="3791684" y="164412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8"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6864" y="116341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29" name="Oval 41">
            <a:extLst>
              <a:ext uri="{FF2B5EF4-FFF2-40B4-BE49-F238E27FC236}">
                <a16:creationId xmlns:a16="http://schemas.microsoft.com/office/drawing/2014/main" id="{25AD5355-862E-4527-BB8D-2653C7401795}"/>
              </a:ext>
            </a:extLst>
          </p:cNvPr>
          <p:cNvSpPr>
            <a:spLocks noChangeAspect="1"/>
          </p:cNvSpPr>
          <p:nvPr/>
        </p:nvSpPr>
        <p:spPr bwMode="gray">
          <a:xfrm>
            <a:off x="2351981" y="156731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0"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9813" y="172375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31" name="Oval 41">
            <a:extLst>
              <a:ext uri="{FF2B5EF4-FFF2-40B4-BE49-F238E27FC236}">
                <a16:creationId xmlns:a16="http://schemas.microsoft.com/office/drawing/2014/main" id="{6A20C70F-7BF7-4B08-8CEB-4AD4F9B9F3C9}"/>
              </a:ext>
            </a:extLst>
          </p:cNvPr>
          <p:cNvSpPr>
            <a:spLocks noChangeAspect="1"/>
          </p:cNvSpPr>
          <p:nvPr/>
        </p:nvSpPr>
        <p:spPr bwMode="gray">
          <a:xfrm>
            <a:off x="3712053" y="156449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8" name="文本框 30">
            <a:extLst>
              <a:ext uri="{FF2B5EF4-FFF2-40B4-BE49-F238E27FC236}">
                <a16:creationId xmlns:a16="http://schemas.microsoft.com/office/drawing/2014/main" id="{53FB7CA9-BF88-40DE-A4FF-900C047FCA96}"/>
              </a:ext>
            </a:extLst>
          </p:cNvPr>
          <p:cNvSpPr txBox="1"/>
          <p:nvPr/>
        </p:nvSpPr>
        <p:spPr bwMode="gray">
          <a:xfrm>
            <a:off x="6112103" y="1206384"/>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基于流量特征匹配流量。</a:t>
            </a:r>
            <a:endParaRPr lang="en-US" altLang="zh-CN" dirty="0">
              <a:solidFill>
                <a:schemeClr val="tx1"/>
              </a:solidFill>
            </a:endParaRPr>
          </a:p>
        </p:txBody>
      </p:sp>
      <p:sp>
        <p:nvSpPr>
          <p:cNvPr id="19" name="文本框 30">
            <a:extLst>
              <a:ext uri="{FF2B5EF4-FFF2-40B4-BE49-F238E27FC236}">
                <a16:creationId xmlns:a16="http://schemas.microsoft.com/office/drawing/2014/main" id="{FCD1B5D5-FF04-436B-BD8F-5806D1470010}"/>
              </a:ext>
            </a:extLst>
          </p:cNvPr>
          <p:cNvSpPr txBox="1"/>
          <p:nvPr/>
        </p:nvSpPr>
        <p:spPr bwMode="gray">
          <a:xfrm>
            <a:off x="6112103" y="2267149"/>
            <a:ext cx="5607148" cy="2246769"/>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queue </a:t>
            </a:r>
            <a:r>
              <a:rPr lang="en-US" altLang="zh-CN" b="1" dirty="0" err="1">
                <a:solidFill>
                  <a:schemeClr val="tx1"/>
                </a:solidFill>
              </a:rPr>
              <a:t>af</a:t>
            </a:r>
            <a:r>
              <a:rPr lang="en-US" altLang="zh-CN" b="1" dirty="0">
                <a:solidFill>
                  <a:schemeClr val="tx1"/>
                </a:solidFill>
              </a:rPr>
              <a:t> bandwidth </a:t>
            </a:r>
            <a:r>
              <a:rPr lang="en-US" altLang="zh-CN" dirty="0">
                <a:solidFill>
                  <a:schemeClr val="tx1"/>
                </a:solidFill>
              </a:rPr>
              <a:t>[</a:t>
            </a:r>
            <a:r>
              <a:rPr lang="en-US" altLang="zh-CN" i="1" dirty="0">
                <a:solidFill>
                  <a:schemeClr val="tx1"/>
                </a:solidFill>
              </a:rPr>
              <a:t>bandwidth</a:t>
            </a:r>
            <a:r>
              <a:rPr lang="en-US" altLang="zh-CN" dirty="0">
                <a:solidFill>
                  <a:schemeClr val="tx1"/>
                </a:solidFill>
              </a:rPr>
              <a:t> | </a:t>
            </a:r>
            <a:r>
              <a:rPr lang="en-US" altLang="zh-CN" b="1" dirty="0" err="1">
                <a:solidFill>
                  <a:schemeClr val="tx1"/>
                </a:solidFill>
              </a:rPr>
              <a:t>pct</a:t>
            </a:r>
            <a:r>
              <a:rPr lang="en-US" altLang="zh-CN" dirty="0">
                <a:solidFill>
                  <a:schemeClr val="tx1"/>
                </a:solidFill>
              </a:rPr>
              <a:t> </a:t>
            </a:r>
            <a:r>
              <a:rPr lang="en-US" altLang="zh-CN" i="1" dirty="0">
                <a:solidFill>
                  <a:schemeClr val="tx1"/>
                </a:solidFill>
              </a:rPr>
              <a:t>percentage</a:t>
            </a:r>
            <a:r>
              <a:rPr lang="en-US" altLang="zh-CN" dirty="0">
                <a:solidFill>
                  <a:schemeClr val="tx1"/>
                </a:solidFill>
              </a:rPr>
              <a:t>]    //</a:t>
            </a:r>
            <a:r>
              <a:rPr lang="zh-CN" altLang="en-US" dirty="0">
                <a:solidFill>
                  <a:schemeClr val="tx1"/>
                </a:solidFill>
              </a:rPr>
              <a:t>在流行为中配置</a:t>
            </a:r>
            <a:r>
              <a:rPr lang="en-US" altLang="zh-CN" dirty="0">
                <a:solidFill>
                  <a:schemeClr val="tx1"/>
                </a:solidFill>
              </a:rPr>
              <a:t>AF</a:t>
            </a:r>
            <a:r>
              <a:rPr lang="zh-CN" altLang="en-US" dirty="0">
                <a:solidFill>
                  <a:schemeClr val="tx1"/>
                </a:solidFill>
              </a:rPr>
              <a:t>队列最小确保带宽。</a:t>
            </a:r>
            <a:endParaRPr lang="en-US" altLang="zh-CN" dirty="0">
              <a:solidFill>
                <a:schemeClr val="tx1"/>
              </a:solidFill>
            </a:endParaRPr>
          </a:p>
          <a:p>
            <a:pPr>
              <a:lnSpc>
                <a:spcPct val="100000"/>
              </a:lnSpc>
            </a:pPr>
            <a:r>
              <a:rPr lang="en-US" altLang="zh-CN" b="1" dirty="0">
                <a:solidFill>
                  <a:schemeClr val="tx1"/>
                </a:solidFill>
              </a:rPr>
              <a:t>      queue </a:t>
            </a:r>
            <a:r>
              <a:rPr lang="en-US" altLang="zh-CN" b="1" dirty="0" err="1">
                <a:solidFill>
                  <a:schemeClr val="tx1"/>
                </a:solidFill>
              </a:rPr>
              <a:t>ef</a:t>
            </a:r>
            <a:r>
              <a:rPr lang="en-US" altLang="zh-CN" b="1" dirty="0">
                <a:solidFill>
                  <a:schemeClr val="tx1"/>
                </a:solidFill>
              </a:rPr>
              <a:t> bandwidth </a:t>
            </a:r>
            <a:r>
              <a:rPr lang="en-US" altLang="zh-CN" dirty="0">
                <a:solidFill>
                  <a:schemeClr val="tx1"/>
                </a:solidFill>
              </a:rPr>
              <a:t>[</a:t>
            </a:r>
            <a:r>
              <a:rPr lang="en-US" altLang="zh-CN" i="1" dirty="0">
                <a:solidFill>
                  <a:schemeClr val="tx1"/>
                </a:solidFill>
              </a:rPr>
              <a:t>bandwidth</a:t>
            </a:r>
            <a:r>
              <a:rPr lang="en-US" altLang="zh-CN" dirty="0">
                <a:solidFill>
                  <a:schemeClr val="tx1"/>
                </a:solidFill>
              </a:rPr>
              <a:t> | </a:t>
            </a:r>
            <a:r>
              <a:rPr lang="en-US" altLang="zh-CN" b="1" dirty="0" err="1">
                <a:solidFill>
                  <a:schemeClr val="tx1"/>
                </a:solidFill>
              </a:rPr>
              <a:t>pct</a:t>
            </a:r>
            <a:r>
              <a:rPr lang="en-US" altLang="zh-CN" dirty="0">
                <a:solidFill>
                  <a:schemeClr val="tx1"/>
                </a:solidFill>
              </a:rPr>
              <a:t> </a:t>
            </a:r>
            <a:r>
              <a:rPr lang="en-US" altLang="zh-CN" i="1" dirty="0">
                <a:solidFill>
                  <a:schemeClr val="tx1"/>
                </a:solidFill>
              </a:rPr>
              <a:t>percentage</a:t>
            </a:r>
            <a:r>
              <a:rPr lang="en-US" altLang="zh-CN" dirty="0">
                <a:solidFill>
                  <a:schemeClr val="tx1"/>
                </a:solidFill>
              </a:rPr>
              <a:t>]    //</a:t>
            </a:r>
            <a:r>
              <a:rPr lang="zh-CN" altLang="en-US" dirty="0">
                <a:solidFill>
                  <a:schemeClr val="tx1"/>
                </a:solidFill>
              </a:rPr>
              <a:t>在流行为中配置</a:t>
            </a:r>
            <a:r>
              <a:rPr lang="en-US" altLang="zh-CN" dirty="0">
                <a:solidFill>
                  <a:schemeClr val="tx1"/>
                </a:solidFill>
              </a:rPr>
              <a:t>EF</a:t>
            </a:r>
            <a:r>
              <a:rPr lang="zh-CN" altLang="en-US" dirty="0">
                <a:solidFill>
                  <a:schemeClr val="tx1"/>
                </a:solidFill>
              </a:rPr>
              <a:t>队列的最小带宽</a:t>
            </a:r>
            <a:r>
              <a:rPr lang="en-US" altLang="zh-CN" dirty="0">
                <a:solidFill>
                  <a:schemeClr val="tx1"/>
                </a:solidFill>
              </a:rPr>
              <a:t>  </a:t>
            </a:r>
            <a:r>
              <a:rPr lang="zh-CN" altLang="en-US" dirty="0">
                <a:solidFill>
                  <a:schemeClr val="tx1"/>
                </a:solidFill>
              </a:rPr>
              <a:t>。</a:t>
            </a:r>
            <a:r>
              <a:rPr lang="en-US" altLang="zh-CN" dirty="0">
                <a:solidFill>
                  <a:schemeClr val="tx1"/>
                </a:solidFill>
              </a:rPr>
              <a:t>  </a:t>
            </a:r>
          </a:p>
          <a:p>
            <a:pPr>
              <a:lnSpc>
                <a:spcPct val="100000"/>
              </a:lnSpc>
            </a:pPr>
            <a:r>
              <a:rPr lang="en-US" altLang="zh-CN" b="1" dirty="0">
                <a:solidFill>
                  <a:schemeClr val="tx1"/>
                </a:solidFill>
              </a:rPr>
              <a:t>      queue </a:t>
            </a:r>
            <a:r>
              <a:rPr lang="en-US" altLang="zh-CN" b="1" dirty="0" err="1">
                <a:solidFill>
                  <a:schemeClr val="tx1"/>
                </a:solidFill>
              </a:rPr>
              <a:t>llq</a:t>
            </a:r>
            <a:r>
              <a:rPr lang="en-US" altLang="zh-CN" b="1" dirty="0">
                <a:solidFill>
                  <a:schemeClr val="tx1"/>
                </a:solidFill>
              </a:rPr>
              <a:t> bandwidth </a:t>
            </a:r>
            <a:r>
              <a:rPr lang="en-US" altLang="zh-CN" dirty="0">
                <a:solidFill>
                  <a:schemeClr val="tx1"/>
                </a:solidFill>
              </a:rPr>
              <a:t>[</a:t>
            </a:r>
            <a:r>
              <a:rPr lang="en-US" altLang="zh-CN" i="1" dirty="0">
                <a:solidFill>
                  <a:schemeClr val="tx1"/>
                </a:solidFill>
              </a:rPr>
              <a:t>bandwidth</a:t>
            </a:r>
            <a:r>
              <a:rPr lang="en-US" altLang="zh-CN" dirty="0">
                <a:solidFill>
                  <a:schemeClr val="tx1"/>
                </a:solidFill>
              </a:rPr>
              <a:t> | </a:t>
            </a:r>
            <a:r>
              <a:rPr lang="en-US" altLang="zh-CN" b="1" dirty="0" err="1">
                <a:solidFill>
                  <a:schemeClr val="tx1"/>
                </a:solidFill>
              </a:rPr>
              <a:t>pct</a:t>
            </a:r>
            <a:r>
              <a:rPr lang="en-US" altLang="zh-CN" dirty="0">
                <a:solidFill>
                  <a:schemeClr val="tx1"/>
                </a:solidFill>
              </a:rPr>
              <a:t> </a:t>
            </a:r>
            <a:r>
              <a:rPr lang="en-US" altLang="zh-CN" i="1" dirty="0">
                <a:solidFill>
                  <a:schemeClr val="tx1"/>
                </a:solidFill>
              </a:rPr>
              <a:t>percentage</a:t>
            </a:r>
            <a:r>
              <a:rPr lang="en-US" altLang="zh-CN" dirty="0">
                <a:solidFill>
                  <a:schemeClr val="tx1"/>
                </a:solidFill>
              </a:rPr>
              <a:t>]    //</a:t>
            </a:r>
            <a:r>
              <a:rPr lang="zh-CN" altLang="en-US" dirty="0">
                <a:solidFill>
                  <a:schemeClr val="tx1"/>
                </a:solidFill>
              </a:rPr>
              <a:t>在流行为中配置</a:t>
            </a:r>
            <a:r>
              <a:rPr lang="en-US" altLang="zh-CN" dirty="0">
                <a:solidFill>
                  <a:schemeClr val="tx1"/>
                </a:solidFill>
              </a:rPr>
              <a:t>LLQ</a:t>
            </a:r>
            <a:r>
              <a:rPr lang="zh-CN" altLang="en-US" dirty="0">
                <a:solidFill>
                  <a:schemeClr val="tx1"/>
                </a:solidFill>
              </a:rPr>
              <a:t>队列的最大带宽</a:t>
            </a:r>
            <a:r>
              <a:rPr lang="en-US" altLang="zh-CN" dirty="0">
                <a:solidFill>
                  <a:schemeClr val="tx1"/>
                </a:solidFill>
              </a:rPr>
              <a:t> </a:t>
            </a:r>
            <a:r>
              <a:rPr lang="zh-CN" altLang="en-US" dirty="0">
                <a:solidFill>
                  <a:schemeClr val="tx1"/>
                </a:solidFill>
              </a:rPr>
              <a:t>。</a:t>
            </a:r>
            <a:endParaRPr lang="en-US" altLang="zh-CN" dirty="0">
              <a:solidFill>
                <a:schemeClr val="tx1"/>
              </a:solidFill>
            </a:endParaRPr>
          </a:p>
          <a:p>
            <a:pPr>
              <a:lnSpc>
                <a:spcPct val="100000"/>
              </a:lnSpc>
            </a:pPr>
            <a:r>
              <a:rPr lang="en-US" altLang="zh-CN" dirty="0">
                <a:solidFill>
                  <a:schemeClr val="tx1"/>
                </a:solidFill>
              </a:rPr>
              <a:t>      </a:t>
            </a:r>
            <a:r>
              <a:rPr lang="en-US" altLang="zh-CN" b="1" dirty="0">
                <a:solidFill>
                  <a:schemeClr val="tx1"/>
                </a:solidFill>
              </a:rPr>
              <a:t>queue </a:t>
            </a:r>
            <a:r>
              <a:rPr lang="en-US" altLang="zh-CN" b="1" dirty="0" err="1">
                <a:solidFill>
                  <a:schemeClr val="tx1"/>
                </a:solidFill>
              </a:rPr>
              <a:t>wfq</a:t>
            </a:r>
            <a:r>
              <a:rPr lang="en-US" altLang="zh-CN" b="1" dirty="0">
                <a:solidFill>
                  <a:schemeClr val="tx1"/>
                </a:solidFill>
              </a:rPr>
              <a:t> queue-number</a:t>
            </a:r>
            <a:r>
              <a:rPr lang="en-US" altLang="zh-CN" dirty="0">
                <a:solidFill>
                  <a:schemeClr val="tx1"/>
                </a:solidFill>
              </a:rPr>
              <a:t> [</a:t>
            </a:r>
            <a:r>
              <a:rPr lang="en-US" altLang="zh-CN" i="1" dirty="0">
                <a:solidFill>
                  <a:schemeClr val="tx1"/>
                </a:solidFill>
              </a:rPr>
              <a:t>total-queue-number</a:t>
            </a:r>
            <a:r>
              <a:rPr lang="en-US" altLang="zh-CN" dirty="0">
                <a:solidFill>
                  <a:schemeClr val="tx1"/>
                </a:solidFill>
              </a:rPr>
              <a:t>]   //</a:t>
            </a:r>
            <a:r>
              <a:rPr lang="zh-CN" altLang="en-US" dirty="0">
                <a:solidFill>
                  <a:schemeClr val="tx1"/>
                </a:solidFill>
              </a:rPr>
              <a:t>在流行为中配置</a:t>
            </a:r>
            <a:r>
              <a:rPr lang="en-US" altLang="zh-CN" dirty="0">
                <a:solidFill>
                  <a:schemeClr val="tx1"/>
                </a:solidFill>
              </a:rPr>
              <a:t>BE</a:t>
            </a:r>
            <a:r>
              <a:rPr lang="zh-CN" altLang="en-US" dirty="0">
                <a:solidFill>
                  <a:schemeClr val="tx1"/>
                </a:solidFill>
              </a:rPr>
              <a:t>队列的</a:t>
            </a:r>
            <a:r>
              <a:rPr lang="en-US" altLang="zh-CN" dirty="0">
                <a:solidFill>
                  <a:schemeClr val="tx1"/>
                </a:solidFill>
              </a:rPr>
              <a:t>WFQ</a:t>
            </a:r>
            <a:r>
              <a:rPr lang="zh-CN" altLang="en-US" dirty="0">
                <a:solidFill>
                  <a:schemeClr val="tx1"/>
                </a:solidFill>
              </a:rPr>
              <a:t>调度参数。</a:t>
            </a:r>
            <a:endParaRPr lang="en-US" altLang="zh-CN" dirty="0">
              <a:solidFill>
                <a:schemeClr val="tx1"/>
              </a:solidFill>
            </a:endParaRPr>
          </a:p>
        </p:txBody>
      </p:sp>
      <p:pic>
        <p:nvPicPr>
          <p:cNvPr id="32" name="图片 3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424640"/>
            <a:ext cx="540000" cy="442800"/>
          </a:xfrm>
          <a:prstGeom prst="rect">
            <a:avLst/>
          </a:prstGeom>
        </p:spPr>
      </p:pic>
    </p:spTree>
    <p:extLst>
      <p:ext uri="{BB962C8B-B14F-4D97-AF65-F5344CB8AC3E}">
        <p14:creationId xmlns:p14="http://schemas.microsoft.com/office/powerpoint/2010/main" val="8401334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86E-C792-42E0-9504-AB7F382A6B30}"/>
              </a:ext>
            </a:extLst>
          </p:cNvPr>
          <p:cNvSpPr>
            <a:spLocks noGrp="1"/>
          </p:cNvSpPr>
          <p:nvPr>
            <p:ph type="title"/>
          </p:nvPr>
        </p:nvSpPr>
        <p:spPr bwMode="gray"/>
        <p:txBody>
          <a:bodyPr/>
          <a:lstStyle/>
          <a:p>
            <a:r>
              <a:rPr lang="zh-CN" altLang="en-US" dirty="0"/>
              <a:t>配置</a:t>
            </a:r>
            <a:r>
              <a:rPr lang="en-US" altLang="zh-CN" dirty="0"/>
              <a:t>MQC</a:t>
            </a:r>
            <a:r>
              <a:rPr lang="zh-CN" altLang="en-US" dirty="0"/>
              <a:t>实现拥塞管理 </a:t>
            </a:r>
            <a:r>
              <a:rPr lang="en-US" altLang="zh-CN" dirty="0"/>
              <a:t>(2)</a:t>
            </a:r>
            <a:endParaRPr lang="zh-CN" altLang="en-US" dirty="0"/>
          </a:p>
        </p:txBody>
      </p:sp>
      <p:sp>
        <p:nvSpPr>
          <p:cNvPr id="61" name="Text Placeholder 2">
            <a:extLst>
              <a:ext uri="{FF2B5EF4-FFF2-40B4-BE49-F238E27FC236}">
                <a16:creationId xmlns:a16="http://schemas.microsoft.com/office/drawing/2014/main" id="{4480AC84-A6DE-49E0-8824-91581914CAC9}"/>
              </a:ext>
            </a:extLst>
          </p:cNvPr>
          <p:cNvSpPr txBox="1">
            <a:spLocks/>
          </p:cNvSpPr>
          <p:nvPr/>
        </p:nvSpPr>
        <p:spPr bwMode="gray">
          <a:xfrm>
            <a:off x="446400" y="2196000"/>
            <a:ext cx="5648500" cy="397320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en-US" altLang="zh-CN" sz="1800" dirty="0"/>
              <a:t>MQC</a:t>
            </a:r>
            <a:r>
              <a:rPr lang="zh-CN" altLang="en-US" sz="1800" dirty="0"/>
              <a:t>中的流分类提供了三种队列：</a:t>
            </a:r>
            <a:endParaRPr lang="en-US" altLang="zh-CN" sz="1800" dirty="0"/>
          </a:p>
          <a:p>
            <a:pPr lvl="1" fontAlgn="auto">
              <a:spcAft>
                <a:spcPts val="0"/>
              </a:spcAft>
            </a:pPr>
            <a:r>
              <a:rPr lang="zh-CN" altLang="en-US" sz="1600" dirty="0"/>
              <a:t>确保转发队列（</a:t>
            </a:r>
            <a:r>
              <a:rPr lang="en-US" altLang="zh-CN" sz="1600" dirty="0"/>
              <a:t>AF</a:t>
            </a:r>
            <a:r>
              <a:rPr lang="zh-CN" altLang="en-US" sz="1600" dirty="0"/>
              <a:t>）</a:t>
            </a:r>
            <a:endParaRPr lang="en-US" altLang="zh-CN" sz="1600" dirty="0"/>
          </a:p>
          <a:p>
            <a:pPr lvl="1" fontAlgn="auto">
              <a:spcAft>
                <a:spcPts val="0"/>
              </a:spcAft>
            </a:pPr>
            <a:r>
              <a:rPr lang="zh-CN" altLang="en-US" sz="1600" dirty="0"/>
              <a:t>加速转发队列（</a:t>
            </a:r>
            <a:r>
              <a:rPr lang="en-US" altLang="zh-CN" sz="1600" dirty="0"/>
              <a:t>EF/LLQ</a:t>
            </a:r>
            <a:r>
              <a:rPr lang="zh-CN" altLang="en-US" sz="1600" dirty="0"/>
              <a:t>）</a:t>
            </a:r>
            <a:endParaRPr lang="en-US" altLang="zh-CN" sz="1600" dirty="0"/>
          </a:p>
          <a:p>
            <a:pPr lvl="1" fontAlgn="auto">
              <a:spcAft>
                <a:spcPts val="0"/>
              </a:spcAft>
            </a:pPr>
            <a:r>
              <a:rPr lang="zh-CN" altLang="en-US" sz="1600" dirty="0"/>
              <a:t>尽力而为队列（</a:t>
            </a:r>
            <a:r>
              <a:rPr lang="en-US" altLang="zh-CN" sz="1600" dirty="0"/>
              <a:t>BE</a:t>
            </a:r>
            <a:r>
              <a:rPr lang="zh-CN" altLang="en-US" sz="1600" dirty="0"/>
              <a:t>）</a:t>
            </a:r>
            <a:endParaRPr lang="en-US" altLang="zh-CN" sz="1600" dirty="0"/>
          </a:p>
          <a:p>
            <a:pPr>
              <a:spcAft>
                <a:spcPts val="0"/>
              </a:spcAft>
            </a:pPr>
            <a:r>
              <a:rPr lang="en-US" altLang="zh-CN" sz="1800" dirty="0"/>
              <a:t>MQC</a:t>
            </a:r>
            <a:r>
              <a:rPr lang="zh-CN" altLang="en-US" sz="1800" dirty="0"/>
              <a:t>方式的拥塞管理配置思路如下：</a:t>
            </a:r>
            <a:endParaRPr lang="en-US" altLang="zh-CN" sz="1800" dirty="0"/>
          </a:p>
          <a:p>
            <a:pPr lvl="1" fontAlgn="auto">
              <a:spcAft>
                <a:spcPts val="0"/>
              </a:spcAft>
            </a:pPr>
            <a:r>
              <a:rPr lang="zh-CN" altLang="en-US" sz="1600" dirty="0">
                <a:solidFill>
                  <a:schemeClr val="bg1">
                    <a:lumMod val="50000"/>
                  </a:schemeClr>
                </a:solidFill>
              </a:rPr>
              <a:t>配置</a:t>
            </a:r>
            <a:r>
              <a:rPr lang="en-US" altLang="zh-CN" sz="1600" dirty="0">
                <a:solidFill>
                  <a:schemeClr val="bg1">
                    <a:lumMod val="50000"/>
                  </a:schemeClr>
                </a:solidFill>
              </a:rPr>
              <a:t>Traffic classifier</a:t>
            </a:r>
            <a:r>
              <a:rPr lang="zh-CN" altLang="en-US" sz="1600" dirty="0">
                <a:solidFill>
                  <a:schemeClr val="bg1">
                    <a:lumMod val="50000"/>
                  </a:schemeClr>
                </a:solidFill>
              </a:rPr>
              <a:t>与</a:t>
            </a:r>
            <a:r>
              <a:rPr lang="en-US" altLang="zh-CN" sz="1600" dirty="0">
                <a:solidFill>
                  <a:schemeClr val="bg1">
                    <a:lumMod val="50000"/>
                  </a:schemeClr>
                </a:solidFill>
              </a:rPr>
              <a:t>Traffic behavior</a:t>
            </a:r>
          </a:p>
          <a:p>
            <a:pPr lvl="1" fontAlgn="auto">
              <a:spcAft>
                <a:spcPts val="0"/>
              </a:spcAft>
            </a:pPr>
            <a:r>
              <a:rPr lang="zh-CN" altLang="en-US" sz="1600" dirty="0"/>
              <a:t>使用</a:t>
            </a:r>
            <a:r>
              <a:rPr lang="en-US" altLang="zh-CN" sz="1600" dirty="0"/>
              <a:t>Traffic policy</a:t>
            </a:r>
            <a:r>
              <a:rPr lang="zh-CN" altLang="en-US" sz="1600" dirty="0"/>
              <a:t>工具将</a:t>
            </a:r>
            <a:r>
              <a:rPr lang="en-US" altLang="zh-CN" sz="1600" dirty="0"/>
              <a:t>Traffic classifier</a:t>
            </a:r>
            <a:r>
              <a:rPr lang="zh-CN" altLang="en-US" sz="1600" dirty="0"/>
              <a:t>与</a:t>
            </a:r>
            <a:r>
              <a:rPr lang="en-US" altLang="zh-CN" sz="1600" dirty="0"/>
              <a:t>Traffic behavior</a:t>
            </a:r>
            <a:r>
              <a:rPr lang="zh-CN" altLang="en-US" sz="1600" dirty="0"/>
              <a:t>进行绑定</a:t>
            </a:r>
          </a:p>
          <a:p>
            <a:pPr lvl="1" fontAlgn="auto">
              <a:spcAft>
                <a:spcPts val="0"/>
              </a:spcAft>
            </a:pPr>
            <a:r>
              <a:rPr lang="zh-CN" altLang="en-US" sz="1600" dirty="0"/>
              <a:t>将</a:t>
            </a:r>
            <a:r>
              <a:rPr lang="en-US" altLang="zh-CN" sz="1600" dirty="0"/>
              <a:t>Traffic policy</a:t>
            </a:r>
            <a:r>
              <a:rPr lang="zh-CN" altLang="en-US" sz="1600" dirty="0"/>
              <a:t>应用到设备接口</a:t>
            </a:r>
            <a:r>
              <a:rPr lang="zh-CN" altLang="en-US" sz="1600" dirty="0">
                <a:solidFill>
                  <a:srgbClr val="C7000B"/>
                </a:solidFill>
              </a:rPr>
              <a:t>出方向</a:t>
            </a:r>
            <a:r>
              <a:rPr lang="zh-CN" altLang="en-US" sz="1600" dirty="0"/>
              <a:t>上</a:t>
            </a:r>
          </a:p>
        </p:txBody>
      </p:sp>
      <p:sp>
        <p:nvSpPr>
          <p:cNvPr id="32" name="文本框 30">
            <a:extLst>
              <a:ext uri="{FF2B5EF4-FFF2-40B4-BE49-F238E27FC236}">
                <a16:creationId xmlns:a16="http://schemas.microsoft.com/office/drawing/2014/main" id="{CB2BED24-6C08-4B10-B42B-9169905739D0}"/>
              </a:ext>
            </a:extLst>
          </p:cNvPr>
          <p:cNvSpPr txBox="1"/>
          <p:nvPr/>
        </p:nvSpPr>
        <p:spPr bwMode="gray">
          <a:xfrm>
            <a:off x="6108311" y="1179784"/>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33" name="文本框 30">
            <a:extLst>
              <a:ext uri="{FF2B5EF4-FFF2-40B4-BE49-F238E27FC236}">
                <a16:creationId xmlns:a16="http://schemas.microsoft.com/office/drawing/2014/main" id="{850DDA93-C4B8-4F40-B0BF-DAEEECD05CD9}"/>
              </a:ext>
            </a:extLst>
          </p:cNvPr>
          <p:cNvSpPr txBox="1"/>
          <p:nvPr/>
        </p:nvSpPr>
        <p:spPr bwMode="gray">
          <a:xfrm>
            <a:off x="6108311" y="2547667"/>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en-US" altLang="zh-CN" b="1" dirty="0">
                <a:solidFill>
                  <a:schemeClr val="tx1"/>
                </a:solidFill>
              </a:rPr>
              <a:t>outbound</a:t>
            </a:r>
            <a:r>
              <a:rPr lang="en-US" altLang="zh-CN" dirty="0">
                <a:solidFill>
                  <a:schemeClr val="tx1"/>
                </a:solidFill>
              </a:rPr>
              <a:t>     //</a:t>
            </a:r>
            <a:r>
              <a:rPr lang="zh-CN" altLang="en-US" dirty="0">
                <a:solidFill>
                  <a:schemeClr val="tx1"/>
                </a:solidFill>
              </a:rPr>
              <a:t>在接口出方向上应用流策略。</a:t>
            </a:r>
            <a:endParaRPr lang="en-US" altLang="zh-CN" dirty="0">
              <a:solidFill>
                <a:schemeClr val="tx1"/>
              </a:solidFill>
            </a:endParaRPr>
          </a:p>
        </p:txBody>
      </p:sp>
      <p:sp>
        <p:nvSpPr>
          <p:cNvPr id="35" name="圆角矩形 135">
            <a:extLst>
              <a:ext uri="{FF2B5EF4-FFF2-40B4-BE49-F238E27FC236}">
                <a16:creationId xmlns:a16="http://schemas.microsoft.com/office/drawing/2014/main" id="{EE602E42-5BBD-4CA3-9022-622C6C3FF339}"/>
              </a:ext>
            </a:extLst>
          </p:cNvPr>
          <p:cNvSpPr/>
          <p:nvPr/>
        </p:nvSpPr>
        <p:spPr bwMode="gray">
          <a:xfrm>
            <a:off x="1667508" y="1163412"/>
            <a:ext cx="2964717" cy="858769"/>
          </a:xfrm>
          <a:prstGeom prst="roundRect">
            <a:avLst/>
          </a:prstGeom>
          <a:solidFill>
            <a:srgbClr val="F4FBFE"/>
          </a:solidFill>
          <a:ln w="9525" cap="flat" cmpd="sng" algn="ctr">
            <a:solidFill>
              <a:srgbClr val="94DAE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a:ln>
                <a:noFill/>
              </a:ln>
              <a:solidFill>
                <a:schemeClr val="tx1"/>
              </a:solidFill>
              <a:effectLst/>
              <a:latin typeface="Huawei Sans" panose="020C0503030203020204" pitchFamily="34" charset="0"/>
              <a:ea typeface="方正兰亭黑简体" panose="02000000000000000000" pitchFamily="2" charset="-122"/>
            </a:endParaRPr>
          </a:p>
        </p:txBody>
      </p:sp>
      <p:sp>
        <p:nvSpPr>
          <p:cNvPr id="36" name="Text Box 26">
            <a:extLst>
              <a:ext uri="{FF2B5EF4-FFF2-40B4-BE49-F238E27FC236}">
                <a16:creationId xmlns:a16="http://schemas.microsoft.com/office/drawing/2014/main" id="{2688C99C-75AA-453C-A319-A5D116D77017}"/>
              </a:ext>
            </a:extLst>
          </p:cNvPr>
          <p:cNvSpPr txBox="1">
            <a:spLocks noChangeArrowheads="1"/>
          </p:cNvSpPr>
          <p:nvPr/>
        </p:nvSpPr>
        <p:spPr bwMode="gray">
          <a:xfrm>
            <a:off x="1666528" y="1163412"/>
            <a:ext cx="1128712"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边界设备</a:t>
            </a:r>
          </a:p>
        </p:txBody>
      </p:sp>
      <p:cxnSp>
        <p:nvCxnSpPr>
          <p:cNvPr id="37" name="Straight Connector 21">
            <a:extLst>
              <a:ext uri="{FF2B5EF4-FFF2-40B4-BE49-F238E27FC236}">
                <a16:creationId xmlns:a16="http://schemas.microsoft.com/office/drawing/2014/main" id="{96086830-1E9A-4142-B4BF-8BB729693C93}"/>
              </a:ext>
            </a:extLst>
          </p:cNvPr>
          <p:cNvCxnSpPr>
            <a:cxnSpLocks/>
            <a:endCxn id="39" idx="1"/>
          </p:cNvCxnSpPr>
          <p:nvPr/>
        </p:nvCxnSpPr>
        <p:spPr bwMode="gray">
          <a:xfrm>
            <a:off x="1268390" y="1644614"/>
            <a:ext cx="62063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38" name="Picture 12" descr="E:\2016.01\1.12 扁平化图标\蓝色\AR-蓝色最新-40.png">
            <a:extLst>
              <a:ext uri="{FF2B5EF4-FFF2-40B4-BE49-F238E27FC236}">
                <a16:creationId xmlns:a16="http://schemas.microsoft.com/office/drawing/2014/main" id="{7B7CD4FE-9E12-448B-B371-9B8939CDDFCC}"/>
              </a:ext>
            </a:extLst>
          </p:cNvPr>
          <p:cNvPicPr>
            <a:picLocks noChangeAspect="1" noChangeArrowheads="1"/>
          </p:cNvPicPr>
          <p:nvPr/>
        </p:nvPicPr>
        <p:blipFill>
          <a:blip r:embed="rId3" cstate="print"/>
          <a:srcRect/>
          <a:stretch>
            <a:fillRect/>
          </a:stretch>
        </p:blipFill>
        <p:spPr bwMode="gray">
          <a:xfrm>
            <a:off x="3251684" y="1423214"/>
            <a:ext cx="540000" cy="441818"/>
          </a:xfrm>
          <a:prstGeom prst="rect">
            <a:avLst/>
          </a:prstGeom>
        </p:spPr>
      </p:pic>
      <p:pic>
        <p:nvPicPr>
          <p:cNvPr id="39" name="图片 70">
            <a:extLst>
              <a:ext uri="{FF2B5EF4-FFF2-40B4-BE49-F238E27FC236}">
                <a16:creationId xmlns:a16="http://schemas.microsoft.com/office/drawing/2014/main" id="{351C5831-08C3-4B7A-A766-A8033AB640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889025" y="1423214"/>
            <a:ext cx="540000" cy="442800"/>
          </a:xfrm>
          <a:prstGeom prst="rect">
            <a:avLst/>
          </a:prstGeom>
        </p:spPr>
      </p:pic>
      <p:cxnSp>
        <p:nvCxnSpPr>
          <p:cNvPr id="40" name="Straight Connector 25">
            <a:extLst>
              <a:ext uri="{FF2B5EF4-FFF2-40B4-BE49-F238E27FC236}">
                <a16:creationId xmlns:a16="http://schemas.microsoft.com/office/drawing/2014/main" id="{2AD57301-E8AB-4A8E-8B70-3BA2DDB3650E}"/>
              </a:ext>
            </a:extLst>
          </p:cNvPr>
          <p:cNvCxnSpPr>
            <a:cxnSpLocks/>
            <a:stCxn id="39" idx="3"/>
            <a:endCxn id="38" idx="1"/>
          </p:cNvCxnSpPr>
          <p:nvPr/>
        </p:nvCxnSpPr>
        <p:spPr bwMode="gray">
          <a:xfrm flipV="1">
            <a:off x="2429025" y="1644123"/>
            <a:ext cx="822659"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1" name="Straight Connector 26">
            <a:extLst>
              <a:ext uri="{FF2B5EF4-FFF2-40B4-BE49-F238E27FC236}">
                <a16:creationId xmlns:a16="http://schemas.microsoft.com/office/drawing/2014/main" id="{E4B40C51-BF98-4140-ABE3-298D1975F510}"/>
              </a:ext>
            </a:extLst>
          </p:cNvPr>
          <p:cNvCxnSpPr>
            <a:cxnSpLocks/>
            <a:stCxn id="38" idx="3"/>
          </p:cNvCxnSpPr>
          <p:nvPr/>
        </p:nvCxnSpPr>
        <p:spPr bwMode="gray">
          <a:xfrm>
            <a:off x="3791684" y="1644123"/>
            <a:ext cx="61231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42" name="Text Box 26">
            <a:extLst>
              <a:ext uri="{FF2B5EF4-FFF2-40B4-BE49-F238E27FC236}">
                <a16:creationId xmlns:a16="http://schemas.microsoft.com/office/drawing/2014/main" id="{BE362D6B-5F20-4A44-8229-48B1D0740F6E}"/>
              </a:ext>
            </a:extLst>
          </p:cNvPr>
          <p:cNvSpPr txBox="1">
            <a:spLocks noChangeArrowheads="1"/>
          </p:cNvSpPr>
          <p:nvPr/>
        </p:nvSpPr>
        <p:spPr bwMode="gray">
          <a:xfrm>
            <a:off x="3136864" y="1163412"/>
            <a:ext cx="769639"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节点</a:t>
            </a:r>
          </a:p>
        </p:txBody>
      </p:sp>
      <p:sp>
        <p:nvSpPr>
          <p:cNvPr id="43" name="Oval 41">
            <a:extLst>
              <a:ext uri="{FF2B5EF4-FFF2-40B4-BE49-F238E27FC236}">
                <a16:creationId xmlns:a16="http://schemas.microsoft.com/office/drawing/2014/main" id="{25AD5355-862E-4527-BB8D-2653C7401795}"/>
              </a:ext>
            </a:extLst>
          </p:cNvPr>
          <p:cNvSpPr>
            <a:spLocks noChangeAspect="1"/>
          </p:cNvSpPr>
          <p:nvPr/>
        </p:nvSpPr>
        <p:spPr bwMode="gray">
          <a:xfrm>
            <a:off x="2351981" y="156731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4" name="Text Box 26">
            <a:extLst>
              <a:ext uri="{FF2B5EF4-FFF2-40B4-BE49-F238E27FC236}">
                <a16:creationId xmlns:a16="http://schemas.microsoft.com/office/drawing/2014/main" id="{172E39C3-6252-45DC-8136-629E92624025}"/>
              </a:ext>
            </a:extLst>
          </p:cNvPr>
          <p:cNvSpPr txBox="1">
            <a:spLocks noChangeArrowheads="1"/>
          </p:cNvSpPr>
          <p:nvPr/>
        </p:nvSpPr>
        <p:spPr bwMode="gray">
          <a:xfrm>
            <a:off x="4009813" y="1723753"/>
            <a:ext cx="604530"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DS</a:t>
            </a:r>
            <a:r>
              <a:rPr kumimoji="1" lang="zh-CN" altLang="en-US" sz="1400" dirty="0">
                <a:latin typeface="Huawei Sans" panose="020C0503030203020204" pitchFamily="34" charset="0"/>
                <a:ea typeface="方正兰亭黑简体" panose="02000000000000000000" pitchFamily="2" charset="-122"/>
              </a:rPr>
              <a:t>域</a:t>
            </a:r>
          </a:p>
        </p:txBody>
      </p:sp>
      <p:sp>
        <p:nvSpPr>
          <p:cNvPr id="45" name="Oval 41">
            <a:extLst>
              <a:ext uri="{FF2B5EF4-FFF2-40B4-BE49-F238E27FC236}">
                <a16:creationId xmlns:a16="http://schemas.microsoft.com/office/drawing/2014/main" id="{6A20C70F-7BF7-4B08-8CEB-4AD4F9B9F3C9}"/>
              </a:ext>
            </a:extLst>
          </p:cNvPr>
          <p:cNvSpPr>
            <a:spLocks noChangeAspect="1"/>
          </p:cNvSpPr>
          <p:nvPr/>
        </p:nvSpPr>
        <p:spPr bwMode="gray">
          <a:xfrm>
            <a:off x="3712053" y="156449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pic>
        <p:nvPicPr>
          <p:cNvPr id="46" name="图片 4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27200" y="1424640"/>
            <a:ext cx="540000" cy="442800"/>
          </a:xfrm>
          <a:prstGeom prst="rect">
            <a:avLst/>
          </a:prstGeom>
        </p:spPr>
      </p:pic>
    </p:spTree>
    <p:extLst>
      <p:ext uri="{BB962C8B-B14F-4D97-AF65-F5344CB8AC3E}">
        <p14:creationId xmlns:p14="http://schemas.microsoft.com/office/powerpoint/2010/main" val="19768486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5459-7483-4FFA-88AF-59BD2D03B4D6}"/>
              </a:ext>
            </a:extLst>
          </p:cNvPr>
          <p:cNvSpPr>
            <a:spLocks noGrp="1"/>
          </p:cNvSpPr>
          <p:nvPr>
            <p:ph type="title"/>
          </p:nvPr>
        </p:nvSpPr>
        <p:spPr bwMode="gray"/>
        <p:txBody>
          <a:bodyPr/>
          <a:lstStyle/>
          <a:p>
            <a:r>
              <a:rPr lang="zh-CN" altLang="en-US" dirty="0"/>
              <a:t>检查拥塞管理配置结果</a:t>
            </a:r>
            <a:endParaRPr lang="en-US" dirty="0"/>
          </a:p>
        </p:txBody>
      </p:sp>
      <p:sp>
        <p:nvSpPr>
          <p:cNvPr id="3" name="Text Placeholder 2">
            <a:extLst>
              <a:ext uri="{FF2B5EF4-FFF2-40B4-BE49-F238E27FC236}">
                <a16:creationId xmlns:a16="http://schemas.microsoft.com/office/drawing/2014/main" id="{031ACDC1-D24A-4DD3-9F58-464765A561DB}"/>
              </a:ext>
            </a:extLst>
          </p:cNvPr>
          <p:cNvSpPr>
            <a:spLocks noGrp="1"/>
          </p:cNvSpPr>
          <p:nvPr>
            <p:ph type="body" sz="quarter" idx="10"/>
          </p:nvPr>
        </p:nvSpPr>
        <p:spPr bwMode="gray"/>
        <p:txBody>
          <a:bodyPr/>
          <a:lstStyle/>
          <a:p>
            <a:r>
              <a:rPr lang="zh-CN" altLang="en-US" sz="1800" dirty="0"/>
              <a:t>检查基于队列的拥塞管理配置结果</a:t>
            </a:r>
            <a:endParaRPr lang="en-US" altLang="zh-CN" sz="1800" dirty="0"/>
          </a:p>
          <a:p>
            <a:endParaRPr lang="en-US" altLang="zh-CN" sz="1800" dirty="0"/>
          </a:p>
          <a:p>
            <a:endParaRPr lang="en-US" altLang="zh-CN" sz="1800" dirty="0"/>
          </a:p>
          <a:p>
            <a:endParaRPr lang="en-US" altLang="zh-CN" sz="1800" dirty="0"/>
          </a:p>
          <a:p>
            <a:r>
              <a:rPr lang="zh-CN" altLang="en-US" sz="1800" dirty="0"/>
              <a:t>检查基于流分类的拥塞管理配置结果</a:t>
            </a:r>
          </a:p>
          <a:p>
            <a:endParaRPr lang="en-US" dirty="0"/>
          </a:p>
        </p:txBody>
      </p:sp>
      <p:sp>
        <p:nvSpPr>
          <p:cNvPr id="4" name="文本框 30">
            <a:extLst>
              <a:ext uri="{FF2B5EF4-FFF2-40B4-BE49-F238E27FC236}">
                <a16:creationId xmlns:a16="http://schemas.microsoft.com/office/drawing/2014/main" id="{B5AF159F-013A-492C-B447-B87FBDB0A0D7}"/>
              </a:ext>
            </a:extLst>
          </p:cNvPr>
          <p:cNvSpPr txBox="1"/>
          <p:nvPr/>
        </p:nvSpPr>
        <p:spPr bwMode="gray">
          <a:xfrm>
            <a:off x="703507" y="1555855"/>
            <a:ext cx="9104521"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a:t>
            </a:r>
            <a:endParaRPr lang="en-US" altLang="zh-CN" b="1" dirty="0">
              <a:solidFill>
                <a:schemeClr val="tx1"/>
              </a:solidFill>
            </a:endParaRPr>
          </a:p>
          <a:p>
            <a:pPr>
              <a:lnSpc>
                <a:spcPct val="100000"/>
              </a:lnSpc>
            </a:pPr>
            <a:r>
              <a:rPr lang="en-US" altLang="zh-CN" b="1" dirty="0">
                <a:solidFill>
                  <a:schemeClr val="tx1"/>
                </a:solidFill>
              </a:rPr>
              <a:t>      display this    </a:t>
            </a:r>
            <a:r>
              <a:rPr lang="en-US" altLang="zh-CN" dirty="0">
                <a:solidFill>
                  <a:schemeClr val="tx1"/>
                </a:solidFill>
              </a:rPr>
              <a:t>//</a:t>
            </a:r>
            <a:r>
              <a:rPr lang="zh-CN" altLang="en-US" dirty="0">
                <a:solidFill>
                  <a:schemeClr val="tx1"/>
                </a:solidFill>
              </a:rPr>
              <a:t>查看接口下绑定的队列模板。</a:t>
            </a:r>
          </a:p>
          <a:p>
            <a:pPr>
              <a:lnSpc>
                <a:spcPct val="100000"/>
              </a:lnSpc>
            </a:pPr>
            <a:r>
              <a:rPr lang="en-US" altLang="zh-CN" b="1" dirty="0">
                <a:solidFill>
                  <a:schemeClr val="tx1"/>
                </a:solidFill>
              </a:rPr>
              <a:t>   display qos queue-profile </a:t>
            </a:r>
            <a:r>
              <a:rPr lang="en-US" altLang="zh-CN" dirty="0">
                <a:solidFill>
                  <a:schemeClr val="tx1"/>
                </a:solidFill>
              </a:rPr>
              <a:t>[</a:t>
            </a:r>
            <a:r>
              <a:rPr lang="en-US" altLang="zh-CN" i="1" dirty="0">
                <a:solidFill>
                  <a:schemeClr val="tx1"/>
                </a:solidFill>
              </a:rPr>
              <a:t>queue-profile-name</a:t>
            </a:r>
            <a:r>
              <a:rPr lang="en-US" altLang="zh-CN" dirty="0">
                <a:solidFill>
                  <a:schemeClr val="tx1"/>
                </a:solidFill>
              </a:rPr>
              <a:t>]   //</a:t>
            </a:r>
            <a:r>
              <a:rPr lang="zh-CN" altLang="en-US" dirty="0">
                <a:solidFill>
                  <a:schemeClr val="tx1"/>
                </a:solidFill>
              </a:rPr>
              <a:t>查看队列模板的配置信息。</a:t>
            </a:r>
            <a:endParaRPr lang="en-US" altLang="zh-CN" dirty="0">
              <a:solidFill>
                <a:schemeClr val="tx1"/>
              </a:solidFill>
            </a:endParaRPr>
          </a:p>
        </p:txBody>
      </p:sp>
      <p:sp>
        <p:nvSpPr>
          <p:cNvPr id="5" name="文本框 30">
            <a:extLst>
              <a:ext uri="{FF2B5EF4-FFF2-40B4-BE49-F238E27FC236}">
                <a16:creationId xmlns:a16="http://schemas.microsoft.com/office/drawing/2014/main" id="{68BB034B-3BD6-4C3E-B29E-E0B5B8E7FC16}"/>
              </a:ext>
            </a:extLst>
          </p:cNvPr>
          <p:cNvSpPr txBox="1"/>
          <p:nvPr/>
        </p:nvSpPr>
        <p:spPr bwMode="gray">
          <a:xfrm>
            <a:off x="703507" y="3498538"/>
            <a:ext cx="9104521"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 </a:t>
            </a:r>
            <a:r>
              <a:rPr lang="en-US" altLang="zh-CN" i="1" dirty="0">
                <a:solidFill>
                  <a:schemeClr val="tx1"/>
                </a:solidFill>
              </a:rPr>
              <a:t>behavior-name</a:t>
            </a:r>
            <a:r>
              <a:rPr lang="en-US" altLang="zh-CN" dirty="0">
                <a:solidFill>
                  <a:schemeClr val="tx1"/>
                </a:solidFill>
              </a:rPr>
              <a:t> ]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Tree>
    <p:extLst>
      <p:ext uri="{BB962C8B-B14F-4D97-AF65-F5344CB8AC3E}">
        <p14:creationId xmlns:p14="http://schemas.microsoft.com/office/powerpoint/2010/main" val="37891480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a:xfrm>
            <a:off x="1019176" y="1793874"/>
            <a:ext cx="10153650" cy="4545965"/>
          </a:xfrm>
        </p:spPr>
        <p:txBody>
          <a:bodyPr/>
          <a:lstStyle/>
          <a:p>
            <a:pPr>
              <a:lnSpc>
                <a:spcPct val="125000"/>
              </a:lnSpc>
            </a:pPr>
            <a:r>
              <a:rPr lang="en-US" altLang="zh-CN" dirty="0"/>
              <a:t>(</a:t>
            </a:r>
            <a:r>
              <a:rPr lang="zh-CN" altLang="en-US" dirty="0"/>
              <a:t>单选题</a:t>
            </a:r>
            <a:r>
              <a:rPr lang="en-US" altLang="zh-CN" dirty="0"/>
              <a:t>)</a:t>
            </a:r>
            <a:r>
              <a:rPr lang="zh-CN" altLang="en-US" dirty="0"/>
              <a:t>接口下的队列有几条？（     ）</a:t>
            </a:r>
            <a:endParaRPr lang="en-US" altLang="zh-CN" dirty="0"/>
          </a:p>
          <a:p>
            <a:pPr lvl="1">
              <a:lnSpc>
                <a:spcPct val="125000"/>
              </a:lnSpc>
            </a:pPr>
            <a:r>
              <a:rPr lang="en-US" altLang="zh-CN" dirty="0"/>
              <a:t>6</a:t>
            </a:r>
          </a:p>
          <a:p>
            <a:pPr lvl="1">
              <a:lnSpc>
                <a:spcPct val="125000"/>
              </a:lnSpc>
            </a:pPr>
            <a:r>
              <a:rPr lang="en-US" altLang="zh-CN" dirty="0"/>
              <a:t>7</a:t>
            </a:r>
          </a:p>
          <a:p>
            <a:pPr lvl="1">
              <a:lnSpc>
                <a:spcPct val="125000"/>
              </a:lnSpc>
            </a:pPr>
            <a:r>
              <a:rPr lang="en-US" altLang="zh-CN" dirty="0"/>
              <a:t>8</a:t>
            </a:r>
          </a:p>
          <a:p>
            <a:pPr lvl="1">
              <a:lnSpc>
                <a:spcPct val="125000"/>
              </a:lnSpc>
            </a:pPr>
            <a:r>
              <a:rPr lang="en-US" altLang="zh-CN" dirty="0"/>
              <a:t>9</a:t>
            </a:r>
            <a:endParaRPr lang="en-US" dirty="0"/>
          </a:p>
          <a:p>
            <a:pPr>
              <a:lnSpc>
                <a:spcPct val="125000"/>
              </a:lnSpc>
            </a:pPr>
            <a:r>
              <a:rPr lang="en-US" altLang="zh-CN" dirty="0"/>
              <a:t>(</a:t>
            </a:r>
            <a:r>
              <a:rPr lang="zh-CN" altLang="en-US" dirty="0"/>
              <a:t>单选题</a:t>
            </a:r>
            <a:r>
              <a:rPr lang="en-US" altLang="zh-CN" dirty="0"/>
              <a:t>)</a:t>
            </a:r>
            <a:r>
              <a:rPr lang="zh-CN" altLang="en-US" dirty="0"/>
              <a:t>以下哪些是队列调度技术？（     ）</a:t>
            </a:r>
            <a:endParaRPr lang="en-US" altLang="zh-CN" dirty="0"/>
          </a:p>
          <a:p>
            <a:pPr lvl="1">
              <a:lnSpc>
                <a:spcPct val="125000"/>
              </a:lnSpc>
            </a:pPr>
            <a:r>
              <a:rPr lang="en-US" altLang="zh-CN" dirty="0"/>
              <a:t>PQ</a:t>
            </a:r>
          </a:p>
          <a:p>
            <a:pPr lvl="1">
              <a:lnSpc>
                <a:spcPct val="125000"/>
              </a:lnSpc>
            </a:pPr>
            <a:r>
              <a:rPr lang="en-US" altLang="zh-CN" dirty="0"/>
              <a:t>WFQ</a:t>
            </a:r>
          </a:p>
          <a:p>
            <a:pPr lvl="1">
              <a:lnSpc>
                <a:spcPct val="125000"/>
              </a:lnSpc>
            </a:pPr>
            <a:r>
              <a:rPr lang="en-US" altLang="zh-CN" dirty="0"/>
              <a:t>WRED</a:t>
            </a:r>
          </a:p>
          <a:p>
            <a:pPr lvl="1">
              <a:lnSpc>
                <a:spcPct val="125000"/>
              </a:lnSpc>
            </a:pPr>
            <a:r>
              <a:rPr lang="en-US" altLang="zh-CN" dirty="0"/>
              <a:t>FIFO</a:t>
            </a:r>
            <a:endParaRPr lang="en-US" dirty="0"/>
          </a:p>
        </p:txBody>
      </p:sp>
    </p:spTree>
    <p:extLst>
      <p:ext uri="{BB962C8B-B14F-4D97-AF65-F5344CB8AC3E}">
        <p14:creationId xmlns:p14="http://schemas.microsoft.com/office/powerpoint/2010/main" val="13211060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zh-CN" altLang="en-US" dirty="0"/>
              <a:t>当数据包进入队列后，设备根据队列调度机制向外发送数据。</a:t>
            </a:r>
            <a:endParaRPr lang="en-US" altLang="zh-CN" dirty="0"/>
          </a:p>
          <a:p>
            <a:r>
              <a:rPr lang="zh-CN" altLang="en-US" dirty="0"/>
              <a:t>常用的队列调度技术有</a:t>
            </a:r>
            <a:r>
              <a:rPr lang="en-US" altLang="zh-CN" dirty="0"/>
              <a:t>FIFO</a:t>
            </a:r>
            <a:r>
              <a:rPr lang="zh-CN" altLang="en-US" dirty="0"/>
              <a:t>，</a:t>
            </a:r>
            <a:r>
              <a:rPr lang="en-US" altLang="zh-CN" dirty="0"/>
              <a:t>PQ</a:t>
            </a:r>
            <a:r>
              <a:rPr lang="zh-CN" altLang="en-US" dirty="0"/>
              <a:t>，</a:t>
            </a:r>
            <a:r>
              <a:rPr lang="en-US" altLang="zh-CN" dirty="0"/>
              <a:t>WFQ</a:t>
            </a:r>
            <a:r>
              <a:rPr lang="zh-CN" altLang="en-US" dirty="0"/>
              <a:t>等。</a:t>
            </a:r>
            <a:endParaRPr lang="en-US" altLang="zh-CN" dirty="0"/>
          </a:p>
          <a:p>
            <a:r>
              <a:rPr lang="en-US" dirty="0"/>
              <a:t>PQ</a:t>
            </a:r>
            <a:r>
              <a:rPr lang="zh-CN" altLang="en-US" dirty="0"/>
              <a:t>调度方式先于</a:t>
            </a:r>
            <a:r>
              <a:rPr lang="en-US" altLang="zh-CN" dirty="0"/>
              <a:t>WFQ</a:t>
            </a:r>
            <a:r>
              <a:rPr lang="zh-CN" altLang="en-US" dirty="0"/>
              <a:t>与</a:t>
            </a:r>
            <a:r>
              <a:rPr lang="en-US" altLang="zh-CN" dirty="0"/>
              <a:t>FIFO</a:t>
            </a:r>
            <a:r>
              <a:rPr lang="zh-CN" altLang="en-US" dirty="0"/>
              <a:t>执行，当使用</a:t>
            </a:r>
            <a:r>
              <a:rPr lang="en-US" altLang="zh-CN" dirty="0"/>
              <a:t>PQ</a:t>
            </a:r>
            <a:r>
              <a:rPr lang="zh-CN" altLang="en-US" dirty="0"/>
              <a:t>调度方式调度的队列内没有数据后，使用</a:t>
            </a:r>
            <a:r>
              <a:rPr lang="en-US" altLang="zh-CN" dirty="0"/>
              <a:t>WFQ</a:t>
            </a:r>
            <a:r>
              <a:rPr lang="zh-CN" altLang="en-US" dirty="0"/>
              <a:t>调度方式调度的队列才能发送数据，当使用</a:t>
            </a:r>
            <a:r>
              <a:rPr lang="en-US" altLang="zh-CN" dirty="0"/>
              <a:t>PQ</a:t>
            </a:r>
            <a:r>
              <a:rPr lang="zh-CN" altLang="en-US" dirty="0"/>
              <a:t>和</a:t>
            </a:r>
            <a:r>
              <a:rPr lang="en-US" altLang="zh-CN" dirty="0"/>
              <a:t>WFQ</a:t>
            </a:r>
            <a:r>
              <a:rPr lang="zh-CN" altLang="en-US" dirty="0"/>
              <a:t>调度方式调度的队列内没有数据时，使用</a:t>
            </a:r>
            <a:r>
              <a:rPr lang="en-US" altLang="zh-CN" dirty="0"/>
              <a:t>FIFO</a:t>
            </a:r>
            <a:r>
              <a:rPr lang="zh-CN" altLang="en-US" dirty="0"/>
              <a:t>调度方式调度的队列才能发送数据。</a:t>
            </a:r>
            <a:endParaRPr lang="en-US" dirty="0"/>
          </a:p>
        </p:txBody>
      </p:sp>
    </p:spTree>
    <p:extLst>
      <p:ext uri="{BB962C8B-B14F-4D97-AF65-F5344CB8AC3E}">
        <p14:creationId xmlns:p14="http://schemas.microsoft.com/office/powerpoint/2010/main" val="21478267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bwMode="gray"/>
        <p:txBody>
          <a:bodyPr/>
          <a:lstStyle/>
          <a:p>
            <a:r>
              <a:rPr lang="en-US" altLang="zh-CN" dirty="0" err="1">
                <a:solidFill>
                  <a:schemeClr val="bg1">
                    <a:lumMod val="50000"/>
                  </a:schemeClr>
                </a:solidFill>
              </a:rPr>
              <a:t>QoS</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dirty="0" err="1">
                <a:solidFill>
                  <a:schemeClr val="bg1">
                    <a:lumMod val="50000"/>
                  </a:schemeClr>
                </a:solidFill>
              </a:rPr>
              <a:t>QoS</a:t>
            </a:r>
            <a:r>
              <a:rPr lang="zh-CN" altLang="en-US" dirty="0">
                <a:solidFill>
                  <a:schemeClr val="bg1">
                    <a:lumMod val="50000"/>
                  </a:schemeClr>
                </a:solidFill>
              </a:rPr>
              <a:t>流分类和流标记</a:t>
            </a:r>
            <a:endParaRPr lang="en-US" altLang="zh-CN" dirty="0">
              <a:solidFill>
                <a:schemeClr val="bg1">
                  <a:lumMod val="50000"/>
                </a:schemeClr>
              </a:solidFill>
            </a:endParaRPr>
          </a:p>
          <a:p>
            <a:r>
              <a:rPr lang="zh-CN" altLang="en-US" dirty="0">
                <a:solidFill>
                  <a:schemeClr val="bg1">
                    <a:lumMod val="50000"/>
                  </a:schemeClr>
                </a:solidFill>
              </a:rPr>
              <a:t>流量限速技术</a:t>
            </a:r>
            <a:endParaRPr lang="en-US" altLang="zh-CN" dirty="0">
              <a:solidFill>
                <a:schemeClr val="bg1">
                  <a:lumMod val="50000"/>
                </a:schemeClr>
              </a:solidFill>
            </a:endParaRPr>
          </a:p>
          <a:p>
            <a:r>
              <a:rPr lang="zh-CN" altLang="en-US" dirty="0">
                <a:solidFill>
                  <a:schemeClr val="bg1">
                    <a:lumMod val="50000"/>
                  </a:schemeClr>
                </a:solidFill>
              </a:rPr>
              <a:t>拥塞避免技术</a:t>
            </a:r>
            <a:endParaRPr lang="en-US" altLang="zh-CN" dirty="0">
              <a:solidFill>
                <a:schemeClr val="bg1">
                  <a:lumMod val="50000"/>
                </a:schemeClr>
              </a:solidFill>
            </a:endParaRPr>
          </a:p>
          <a:p>
            <a:r>
              <a:rPr lang="zh-CN" altLang="en-US" dirty="0">
                <a:solidFill>
                  <a:schemeClr val="bg1">
                    <a:lumMod val="50000"/>
                  </a:schemeClr>
                </a:solidFill>
              </a:rPr>
              <a:t>拥塞管理技术</a:t>
            </a:r>
            <a:endParaRPr lang="en-US" altLang="zh-CN" dirty="0">
              <a:solidFill>
                <a:schemeClr val="bg1">
                  <a:lumMod val="50000"/>
                </a:schemeClr>
              </a:solidFill>
            </a:endParaRPr>
          </a:p>
          <a:p>
            <a:r>
              <a:rPr lang="en-US" altLang="zh-CN" b="1" dirty="0" err="1"/>
              <a:t>HQoS</a:t>
            </a:r>
            <a:r>
              <a:rPr lang="zh-CN" altLang="en-US" b="1" dirty="0"/>
              <a:t>介绍</a:t>
            </a:r>
            <a:endParaRPr lang="en-US" altLang="zh-CN" b="1" dirty="0"/>
          </a:p>
        </p:txBody>
      </p:sp>
    </p:spTree>
    <p:extLst>
      <p:ext uri="{BB962C8B-B14F-4D97-AF65-F5344CB8AC3E}">
        <p14:creationId xmlns:p14="http://schemas.microsoft.com/office/powerpoint/2010/main" val="26274933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a:t>QoS</a:t>
            </a:r>
            <a:r>
              <a:rPr lang="zh-CN" altLang="en-US" dirty="0"/>
              <a:t>的局限</a:t>
            </a:r>
          </a:p>
        </p:txBody>
      </p:sp>
      <p:sp>
        <p:nvSpPr>
          <p:cNvPr id="4" name="Text Placeholder 3"/>
          <p:cNvSpPr>
            <a:spLocks noGrp="1"/>
          </p:cNvSpPr>
          <p:nvPr>
            <p:ph type="body" sz="quarter" idx="10"/>
          </p:nvPr>
        </p:nvSpPr>
        <p:spPr bwMode="gray"/>
        <p:txBody>
          <a:bodyPr/>
          <a:lstStyle/>
          <a:p>
            <a:r>
              <a:rPr lang="zh-CN" altLang="en-US" sz="1800" dirty="0"/>
              <a:t>由于传统</a:t>
            </a:r>
            <a:r>
              <a:rPr lang="en-US" altLang="zh-CN" sz="1800" dirty="0"/>
              <a:t>QoS</a:t>
            </a:r>
            <a:r>
              <a:rPr lang="zh-CN" altLang="en-US" sz="1800" dirty="0"/>
              <a:t>只能将流分成</a:t>
            </a:r>
            <a:r>
              <a:rPr lang="en-US" altLang="zh-CN" sz="1800" dirty="0"/>
              <a:t>8</a:t>
            </a:r>
            <a:r>
              <a:rPr lang="zh-CN" altLang="en-US" sz="1800" dirty="0"/>
              <a:t>个队列进行调度控制，因此在多租户的场景下限制很大。</a:t>
            </a:r>
            <a:endParaRPr lang="en-US" altLang="zh-CN" sz="1800" dirty="0"/>
          </a:p>
          <a:p>
            <a:endParaRPr lang="zh-CN" altLang="en-US" dirty="0"/>
          </a:p>
        </p:txBody>
      </p:sp>
      <p:sp>
        <p:nvSpPr>
          <p:cNvPr id="5" name="圆角矩形 75"/>
          <p:cNvSpPr/>
          <p:nvPr/>
        </p:nvSpPr>
        <p:spPr bwMode="gray">
          <a:xfrm>
            <a:off x="1730359" y="2094778"/>
            <a:ext cx="8711517" cy="403629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家宽场景下，不同的家庭可能会租用不同的网络带宽，不同的网络服务，</a:t>
            </a:r>
            <a:r>
              <a:rPr lang="en-US" altLang="zh-CN" sz="1400" dirty="0">
                <a:solidFill>
                  <a:prstClr val="black"/>
                </a:solidFill>
                <a:sym typeface="Huawei Sans" panose="020C0503030203020204" pitchFamily="34" charset="0"/>
              </a:rPr>
              <a:t>QoS</a:t>
            </a:r>
            <a:r>
              <a:rPr lang="zh-CN" altLang="en-US" sz="1400" dirty="0">
                <a:solidFill>
                  <a:prstClr val="black"/>
                </a:solidFill>
                <a:sym typeface="Huawei Sans" panose="020C0503030203020204" pitchFamily="34" charset="0"/>
              </a:rPr>
              <a:t>无法精细化的管理这些家庭。</a:t>
            </a:r>
          </a:p>
        </p:txBody>
      </p:sp>
      <p:sp>
        <p:nvSpPr>
          <p:cNvPr id="6" name="圆角矩形 75"/>
          <p:cNvSpPr/>
          <p:nvPr/>
        </p:nvSpPr>
        <p:spPr bwMode="gray">
          <a:xfrm>
            <a:off x="1728909" y="1666580"/>
            <a:ext cx="8734182"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家庭宽带场景下的</a:t>
            </a:r>
            <a:r>
              <a:rPr lang="en-US" altLang="zh-CN" sz="1600" dirty="0">
                <a:solidFill>
                  <a:srgbClr val="30B5C5"/>
                </a:solidFill>
                <a:latin typeface="Huawei Sans" panose="020C0503030203020204" pitchFamily="34" charset="0"/>
                <a:ea typeface="方正兰亭黑简体" panose="02000000000000000000" pitchFamily="2" charset="-122"/>
              </a:rPr>
              <a:t>QoS</a:t>
            </a:r>
            <a:r>
              <a:rPr lang="zh-CN" altLang="en-US" sz="1600" dirty="0">
                <a:solidFill>
                  <a:srgbClr val="30B5C5"/>
                </a:solidFill>
                <a:latin typeface="Huawei Sans" panose="020C0503030203020204" pitchFamily="34" charset="0"/>
                <a:ea typeface="方正兰亭黑简体" panose="02000000000000000000" pitchFamily="2" charset="-122"/>
              </a:rPr>
              <a:t>局限</a:t>
            </a:r>
          </a:p>
        </p:txBody>
      </p:sp>
      <p:sp>
        <p:nvSpPr>
          <p:cNvPr id="18" name="Freeform 159"/>
          <p:cNvSpPr/>
          <p:nvPr/>
        </p:nvSpPr>
        <p:spPr bwMode="gray">
          <a:xfrm flipH="1">
            <a:off x="2070295" y="2263112"/>
            <a:ext cx="1684767" cy="810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159"/>
          <p:cNvSpPr/>
          <p:nvPr/>
        </p:nvSpPr>
        <p:spPr bwMode="gray">
          <a:xfrm flipH="1">
            <a:off x="2070296" y="3371972"/>
            <a:ext cx="1684767" cy="810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159"/>
          <p:cNvSpPr/>
          <p:nvPr/>
        </p:nvSpPr>
        <p:spPr bwMode="gray">
          <a:xfrm flipH="1">
            <a:off x="2070294" y="4438888"/>
            <a:ext cx="1684767" cy="810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6" descr="PC.png"/>
          <p:cNvPicPr>
            <a:picLocks noChangeAspect="1"/>
          </p:cNvPicPr>
          <p:nvPr/>
        </p:nvPicPr>
        <p:blipFill>
          <a:blip r:embed="rId3" cstate="print"/>
          <a:stretch>
            <a:fillRect/>
          </a:stretch>
        </p:blipFill>
        <p:spPr bwMode="gray">
          <a:xfrm>
            <a:off x="2140016" y="2503559"/>
            <a:ext cx="538853" cy="413838"/>
          </a:xfrm>
          <a:prstGeom prst="rect">
            <a:avLst/>
          </a:prstGeom>
        </p:spPr>
      </p:pic>
      <p:pic>
        <p:nvPicPr>
          <p:cNvPr id="10" name="图片 6" descr="PC.png"/>
          <p:cNvPicPr>
            <a:picLocks noChangeAspect="1"/>
          </p:cNvPicPr>
          <p:nvPr/>
        </p:nvPicPr>
        <p:blipFill>
          <a:blip r:embed="rId3" cstate="print"/>
          <a:stretch>
            <a:fillRect/>
          </a:stretch>
        </p:blipFill>
        <p:spPr bwMode="gray">
          <a:xfrm>
            <a:off x="2146940" y="3342585"/>
            <a:ext cx="538853" cy="413838"/>
          </a:xfrm>
          <a:prstGeom prst="rect">
            <a:avLst/>
          </a:prstGeom>
        </p:spPr>
      </p:pic>
      <p:pic>
        <p:nvPicPr>
          <p:cNvPr id="11" name="图片 6" descr="PC.png"/>
          <p:cNvPicPr>
            <a:picLocks noChangeAspect="1"/>
          </p:cNvPicPr>
          <p:nvPr/>
        </p:nvPicPr>
        <p:blipFill>
          <a:blip r:embed="rId3" cstate="print"/>
          <a:stretch>
            <a:fillRect/>
          </a:stretch>
        </p:blipFill>
        <p:spPr bwMode="gray">
          <a:xfrm>
            <a:off x="2143978" y="4438888"/>
            <a:ext cx="538853" cy="413838"/>
          </a:xfrm>
          <a:prstGeom prst="rect">
            <a:avLst/>
          </a:prstGeom>
        </p:spPr>
      </p:pic>
      <p:pic>
        <p:nvPicPr>
          <p:cNvPr id="13" name="图片 38" descr="企业-蓝.png"/>
          <p:cNvPicPr>
            <a:picLocks noChangeAspect="1"/>
          </p:cNvPicPr>
          <p:nvPr/>
        </p:nvPicPr>
        <p:blipFill>
          <a:blip r:embed="rId4" cstate="print"/>
          <a:stretch>
            <a:fillRect/>
          </a:stretch>
        </p:blipFill>
        <p:spPr bwMode="gray">
          <a:xfrm>
            <a:off x="3251683" y="2510404"/>
            <a:ext cx="539607" cy="441817"/>
          </a:xfrm>
          <a:prstGeom prst="rect">
            <a:avLst/>
          </a:prstGeom>
        </p:spPr>
      </p:pic>
      <p:pic>
        <p:nvPicPr>
          <p:cNvPr id="15" name="图片 38" descr="企业-蓝.png"/>
          <p:cNvPicPr>
            <a:picLocks noChangeAspect="1"/>
          </p:cNvPicPr>
          <p:nvPr/>
        </p:nvPicPr>
        <p:blipFill>
          <a:blip r:embed="rId4" cstate="print"/>
          <a:stretch>
            <a:fillRect/>
          </a:stretch>
        </p:blipFill>
        <p:spPr bwMode="gray">
          <a:xfrm>
            <a:off x="3251683" y="3648128"/>
            <a:ext cx="539607" cy="441817"/>
          </a:xfrm>
          <a:prstGeom prst="rect">
            <a:avLst/>
          </a:prstGeom>
        </p:spPr>
      </p:pic>
      <p:pic>
        <p:nvPicPr>
          <p:cNvPr id="16" name="图片 38" descr="企业-蓝.png"/>
          <p:cNvPicPr>
            <a:picLocks noChangeAspect="1"/>
          </p:cNvPicPr>
          <p:nvPr/>
        </p:nvPicPr>
        <p:blipFill>
          <a:blip r:embed="rId4" cstate="print"/>
          <a:stretch>
            <a:fillRect/>
          </a:stretch>
        </p:blipFill>
        <p:spPr bwMode="gray">
          <a:xfrm>
            <a:off x="3251683" y="4736985"/>
            <a:ext cx="539607" cy="441817"/>
          </a:xfrm>
          <a:prstGeom prst="rect">
            <a:avLst/>
          </a:prstGeom>
        </p:spPr>
      </p:pic>
      <p:pic>
        <p:nvPicPr>
          <p:cNvPr id="23" name="图片 6" descr="PC.png"/>
          <p:cNvPicPr>
            <a:picLocks noChangeAspect="1"/>
          </p:cNvPicPr>
          <p:nvPr/>
        </p:nvPicPr>
        <p:blipFill>
          <a:blip r:embed="rId3" cstate="print"/>
          <a:stretch>
            <a:fillRect/>
          </a:stretch>
        </p:blipFill>
        <p:spPr bwMode="gray">
          <a:xfrm>
            <a:off x="2158181" y="3897016"/>
            <a:ext cx="538853" cy="413838"/>
          </a:xfrm>
          <a:prstGeom prst="rect">
            <a:avLst/>
          </a:prstGeom>
        </p:spPr>
      </p:pic>
      <p:pic>
        <p:nvPicPr>
          <p:cNvPr id="24" name="图片 6" descr="PC.png"/>
          <p:cNvPicPr>
            <a:picLocks noChangeAspect="1"/>
          </p:cNvPicPr>
          <p:nvPr/>
        </p:nvPicPr>
        <p:blipFill>
          <a:blip r:embed="rId3" cstate="print"/>
          <a:stretch>
            <a:fillRect/>
          </a:stretch>
        </p:blipFill>
        <p:spPr bwMode="gray">
          <a:xfrm>
            <a:off x="2146940" y="5001210"/>
            <a:ext cx="538853" cy="413838"/>
          </a:xfrm>
          <a:prstGeom prst="rect">
            <a:avLst/>
          </a:prstGeom>
        </p:spPr>
      </p:pic>
      <p:sp>
        <p:nvSpPr>
          <p:cNvPr id="25" name="Freeform 159"/>
          <p:cNvSpPr/>
          <p:nvPr/>
        </p:nvSpPr>
        <p:spPr bwMode="gray">
          <a:xfrm flipH="1">
            <a:off x="7411222" y="3160399"/>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7363817" y="3648128"/>
            <a:ext cx="540989" cy="442626"/>
          </a:xfrm>
          <a:prstGeom prst="rect">
            <a:avLst/>
          </a:prstGeom>
          <a:noFill/>
        </p:spPr>
      </p:pic>
      <p:cxnSp>
        <p:nvCxnSpPr>
          <p:cNvPr id="26" name="直接连接符 75"/>
          <p:cNvCxnSpPr>
            <a:stCxn id="13" idx="3"/>
            <a:endCxn id="14" idx="1"/>
          </p:cNvCxnSpPr>
          <p:nvPr/>
        </p:nvCxnSpPr>
        <p:spPr bwMode="gray">
          <a:xfrm>
            <a:off x="3791290" y="2731313"/>
            <a:ext cx="3572527" cy="113812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9" name="直接连接符 75"/>
          <p:cNvCxnSpPr>
            <a:stCxn id="15" idx="3"/>
            <a:endCxn id="14" idx="1"/>
          </p:cNvCxnSpPr>
          <p:nvPr/>
        </p:nvCxnSpPr>
        <p:spPr bwMode="gray">
          <a:xfrm>
            <a:off x="3791290" y="3869037"/>
            <a:ext cx="3572527" cy="4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75"/>
          <p:cNvCxnSpPr>
            <a:stCxn id="16" idx="3"/>
            <a:endCxn id="14" idx="1"/>
          </p:cNvCxnSpPr>
          <p:nvPr/>
        </p:nvCxnSpPr>
        <p:spPr bwMode="gray">
          <a:xfrm flipV="1">
            <a:off x="3791290" y="3869441"/>
            <a:ext cx="3572527" cy="108845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9" name="TextBox 120">
            <a:extLst>
              <a:ext uri="{FF2B5EF4-FFF2-40B4-BE49-F238E27FC236}">
                <a16:creationId xmlns:a16="http://schemas.microsoft.com/office/drawing/2014/main" id="{31930744-3D36-4F81-8426-6F129C1A6804}"/>
              </a:ext>
            </a:extLst>
          </p:cNvPr>
          <p:cNvSpPr txBox="1"/>
          <p:nvPr/>
        </p:nvSpPr>
        <p:spPr bwMode="gray">
          <a:xfrm rot="1102153">
            <a:off x="4435664" y="2595719"/>
            <a:ext cx="2612920" cy="671334"/>
          </a:xfrm>
          <a:prstGeom prst="roundRect">
            <a:avLst>
              <a:gd name="adj" fmla="val 6721"/>
            </a:avLst>
          </a:prstGeom>
          <a:solidFill>
            <a:srgbClr val="F4FBFE"/>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位租户包</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20M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带宽，租用上网业务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位租户包</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30M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带宽，租用</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IPTV</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位租户包</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50M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带宽，租用</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VoIP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0">
            <a:extLst>
              <a:ext uri="{FF2B5EF4-FFF2-40B4-BE49-F238E27FC236}">
                <a16:creationId xmlns:a16="http://schemas.microsoft.com/office/drawing/2014/main" id="{31930744-3D36-4F81-8426-6F129C1A6804}"/>
              </a:ext>
            </a:extLst>
          </p:cNvPr>
          <p:cNvSpPr txBox="1"/>
          <p:nvPr/>
        </p:nvSpPr>
        <p:spPr bwMode="gray">
          <a:xfrm rot="20551932">
            <a:off x="4509532" y="4453493"/>
            <a:ext cx="2612920" cy="671334"/>
          </a:xfrm>
          <a:prstGeom prst="roundRect">
            <a:avLst>
              <a:gd name="adj" fmla="val 6721"/>
            </a:avLst>
          </a:prstGeom>
          <a:solidFill>
            <a:srgbClr val="F4FBFE"/>
          </a:solidFill>
          <a:ln w="12700">
            <a:solidFill>
              <a:srgbClr val="56C4D2"/>
            </a:solidFill>
          </a:ln>
        </p:spPr>
        <p:txBody>
          <a:bodyPr wrap="square" rtlCol="0" anchor="ctr">
            <a:spAutoFit/>
          </a:bodyPr>
          <a:lstStyle>
            <a:defPPr>
              <a:defRPr lang="en-US"/>
            </a:defPPr>
            <a:lvl1pPr marR="0" lvl="0" indent="0" defTabSz="914400" fontAlgn="auto">
              <a:lnSpc>
                <a:spcPct val="100000"/>
              </a:lnSpc>
              <a:spcBef>
                <a:spcPts val="0"/>
              </a:spcBef>
              <a:spcAft>
                <a:spcPts val="0"/>
              </a:spcAft>
              <a:buClrTx/>
              <a:buSzTx/>
              <a:buFontTx/>
              <a:buNone/>
              <a:tabLst/>
              <a:defRPr sz="1200" kern="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2</a:t>
            </a:r>
            <a:r>
              <a:rPr lang="zh-CN" altLang="en-US" dirty="0">
                <a:sym typeface="Huawei Sans" panose="020C0503030203020204" pitchFamily="34" charset="0"/>
              </a:rPr>
              <a:t>位租户包</a:t>
            </a:r>
            <a:r>
              <a:rPr lang="en-US" altLang="zh-CN" dirty="0">
                <a:sym typeface="Huawei Sans" panose="020C0503030203020204" pitchFamily="34" charset="0"/>
              </a:rPr>
              <a:t>10M</a:t>
            </a:r>
            <a:r>
              <a:rPr lang="zh-CN" altLang="en-US" dirty="0">
                <a:sym typeface="Huawei Sans" panose="020C0503030203020204" pitchFamily="34" charset="0"/>
              </a:rPr>
              <a:t>带宽，租用</a:t>
            </a:r>
            <a:r>
              <a:rPr lang="en-US" altLang="zh-CN" dirty="0">
                <a:sym typeface="Huawei Sans" panose="020C0503030203020204" pitchFamily="34" charset="0"/>
              </a:rPr>
              <a:t>IPTV</a:t>
            </a:r>
            <a:r>
              <a:rPr lang="zh-CN" altLang="en-US" dirty="0">
                <a:sym typeface="Huawei Sans" panose="020C0503030203020204" pitchFamily="34" charset="0"/>
              </a:rPr>
              <a:t>业务</a:t>
            </a:r>
            <a:endParaRPr lang="en-US" altLang="zh-CN" dirty="0">
              <a:sym typeface="Huawei Sans" panose="020C0503030203020204" pitchFamily="34" charset="0"/>
            </a:endParaRPr>
          </a:p>
          <a:p>
            <a:r>
              <a:rPr lang="en-US" altLang="zh-CN" dirty="0">
                <a:sym typeface="Huawei Sans" panose="020C0503030203020204" pitchFamily="34" charset="0"/>
              </a:rPr>
              <a:t>2</a:t>
            </a:r>
            <a:r>
              <a:rPr lang="zh-CN" altLang="en-US" dirty="0">
                <a:sym typeface="Huawei Sans" panose="020C0503030203020204" pitchFamily="34" charset="0"/>
              </a:rPr>
              <a:t>位租户包</a:t>
            </a:r>
            <a:r>
              <a:rPr lang="en-US" altLang="zh-CN" dirty="0">
                <a:sym typeface="Huawei Sans" panose="020C0503030203020204" pitchFamily="34" charset="0"/>
              </a:rPr>
              <a:t>20M</a:t>
            </a:r>
            <a:r>
              <a:rPr lang="zh-CN" altLang="en-US" dirty="0">
                <a:sym typeface="Huawei Sans" panose="020C0503030203020204" pitchFamily="34" charset="0"/>
              </a:rPr>
              <a:t>带宽，租用上网业务</a:t>
            </a:r>
            <a:endParaRPr lang="en-US" altLang="zh-CN" dirty="0">
              <a:sym typeface="Huawei Sans" panose="020C0503030203020204" pitchFamily="34" charset="0"/>
            </a:endParaRPr>
          </a:p>
          <a:p>
            <a:r>
              <a:rPr lang="en-US" altLang="zh-CN" dirty="0">
                <a:sym typeface="Huawei Sans" panose="020C0503030203020204" pitchFamily="34" charset="0"/>
              </a:rPr>
              <a:t>2</a:t>
            </a:r>
            <a:r>
              <a:rPr lang="zh-CN" altLang="en-US" dirty="0">
                <a:sym typeface="Huawei Sans" panose="020C0503030203020204" pitchFamily="34" charset="0"/>
              </a:rPr>
              <a:t>位租户包</a:t>
            </a:r>
            <a:r>
              <a:rPr lang="en-US" altLang="zh-CN" dirty="0">
                <a:sym typeface="Huawei Sans" panose="020C0503030203020204" pitchFamily="34" charset="0"/>
              </a:rPr>
              <a:t>30M</a:t>
            </a:r>
            <a:r>
              <a:rPr lang="zh-CN" altLang="en-US" dirty="0">
                <a:sym typeface="Huawei Sans" panose="020C0503030203020204" pitchFamily="34" charset="0"/>
              </a:rPr>
              <a:t>带宽，租用</a:t>
            </a:r>
            <a:r>
              <a:rPr lang="en-US" altLang="zh-CN" dirty="0">
                <a:sym typeface="Huawei Sans" panose="020C0503030203020204" pitchFamily="34" charset="0"/>
              </a:rPr>
              <a:t>VoIP</a:t>
            </a:r>
            <a:r>
              <a:rPr lang="zh-CN" altLang="en-US" dirty="0">
                <a:sym typeface="Huawei Sans" panose="020C0503030203020204" pitchFamily="34" charset="0"/>
              </a:rPr>
              <a:t>业务</a:t>
            </a:r>
            <a:endParaRPr lang="en-US" altLang="zh-CN" dirty="0">
              <a:sym typeface="Huawei Sans" panose="020C0503030203020204" pitchFamily="34" charset="0"/>
            </a:endParaRPr>
          </a:p>
        </p:txBody>
      </p:sp>
      <p:pic>
        <p:nvPicPr>
          <p:cNvPr id="48" name="Picture 2" descr="G:\做的项目\公共\扁平图标切换\更新2015_01_21\oss扁平图标库2015_01_21更新-04.png"/>
          <p:cNvPicPr>
            <a:picLocks noChangeAspect="1" noChangeArrowheads="1"/>
          </p:cNvPicPr>
          <p:nvPr/>
        </p:nvPicPr>
        <p:blipFill>
          <a:blip r:embed="rId5" cstate="print"/>
          <a:stretch>
            <a:fillRect/>
          </a:stretch>
        </p:blipFill>
        <p:spPr bwMode="gray">
          <a:xfrm>
            <a:off x="9080621" y="3647723"/>
            <a:ext cx="540989" cy="442626"/>
          </a:xfrm>
          <a:prstGeom prst="rect">
            <a:avLst/>
          </a:prstGeom>
          <a:noFill/>
        </p:spPr>
      </p:pic>
      <p:cxnSp>
        <p:nvCxnSpPr>
          <p:cNvPr id="49" name="直接连接符 75"/>
          <p:cNvCxnSpPr>
            <a:stCxn id="14" idx="3"/>
            <a:endCxn id="48" idx="1"/>
          </p:cNvCxnSpPr>
          <p:nvPr/>
        </p:nvCxnSpPr>
        <p:spPr bwMode="gray">
          <a:xfrm flipV="1">
            <a:off x="7904806" y="3869036"/>
            <a:ext cx="1175815" cy="40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7" name="TextBox 120">
            <a:extLst>
              <a:ext uri="{FF2B5EF4-FFF2-40B4-BE49-F238E27FC236}">
                <a16:creationId xmlns:a16="http://schemas.microsoft.com/office/drawing/2014/main" id="{31930744-3D36-4F81-8426-6F129C1A6804}"/>
              </a:ext>
            </a:extLst>
          </p:cNvPr>
          <p:cNvSpPr txBox="1"/>
          <p:nvPr/>
        </p:nvSpPr>
        <p:spPr bwMode="gray">
          <a:xfrm>
            <a:off x="3851999" y="3633402"/>
            <a:ext cx="2612920" cy="479524"/>
          </a:xfrm>
          <a:prstGeom prst="roundRect">
            <a:avLst>
              <a:gd name="adj" fmla="val 6721"/>
            </a:avLst>
          </a:prstGeom>
          <a:solidFill>
            <a:srgbClr val="F4FBFE"/>
          </a:solidFill>
          <a:ln w="12700">
            <a:solidFill>
              <a:srgbClr val="56C4D2"/>
            </a:solidFill>
          </a:ln>
        </p:spPr>
        <p:txBody>
          <a:bodyPr wrap="square" rtlCol="0" anchor="ctr">
            <a:spAutoFit/>
          </a:bodyPr>
          <a:lstStyle>
            <a:defPPr>
              <a:defRPr lang="en-US"/>
            </a:defPPr>
            <a:lvl1pPr marR="0" lvl="0" indent="0" defTabSz="914400" fontAlgn="auto">
              <a:lnSpc>
                <a:spcPct val="100000"/>
              </a:lnSpc>
              <a:spcBef>
                <a:spcPts val="0"/>
              </a:spcBef>
              <a:spcAft>
                <a:spcPts val="0"/>
              </a:spcAft>
              <a:buClrTx/>
              <a:buSzTx/>
              <a:buFontTx/>
              <a:buNone/>
              <a:tabLst/>
              <a:defRPr sz="1200" kern="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3</a:t>
            </a:r>
            <a:r>
              <a:rPr lang="zh-CN" altLang="en-US" dirty="0">
                <a:sym typeface="Huawei Sans" panose="020C0503030203020204" pitchFamily="34" charset="0"/>
              </a:rPr>
              <a:t>位租户包</a:t>
            </a:r>
            <a:r>
              <a:rPr lang="en-US" altLang="zh-CN" dirty="0">
                <a:sym typeface="Huawei Sans" panose="020C0503030203020204" pitchFamily="34" charset="0"/>
              </a:rPr>
              <a:t>20M</a:t>
            </a:r>
            <a:r>
              <a:rPr lang="zh-CN" altLang="en-US" dirty="0">
                <a:sym typeface="Huawei Sans" panose="020C0503030203020204" pitchFamily="34" charset="0"/>
              </a:rPr>
              <a:t>带宽，租用</a:t>
            </a:r>
            <a:r>
              <a:rPr lang="en-US" altLang="zh-CN" dirty="0">
                <a:sym typeface="Huawei Sans" panose="020C0503030203020204" pitchFamily="34" charset="0"/>
              </a:rPr>
              <a:t>IPTV</a:t>
            </a:r>
            <a:r>
              <a:rPr lang="zh-CN" altLang="en-US" dirty="0">
                <a:sym typeface="Huawei Sans" panose="020C0503030203020204" pitchFamily="34" charset="0"/>
              </a:rPr>
              <a:t>业务</a:t>
            </a:r>
            <a:endParaRPr lang="en-US" altLang="zh-CN" dirty="0">
              <a:sym typeface="Huawei Sans" panose="020C0503030203020204" pitchFamily="34" charset="0"/>
            </a:endParaRPr>
          </a:p>
          <a:p>
            <a:r>
              <a:rPr lang="en-US" altLang="zh-CN" dirty="0">
                <a:sym typeface="Huawei Sans" panose="020C0503030203020204" pitchFamily="34" charset="0"/>
              </a:rPr>
              <a:t>3</a:t>
            </a:r>
            <a:r>
              <a:rPr lang="zh-CN" altLang="en-US" dirty="0">
                <a:sym typeface="Huawei Sans" panose="020C0503030203020204" pitchFamily="34" charset="0"/>
              </a:rPr>
              <a:t>位租户包</a:t>
            </a:r>
            <a:r>
              <a:rPr lang="en-US" altLang="zh-CN" dirty="0">
                <a:sym typeface="Huawei Sans" panose="020C0503030203020204" pitchFamily="34" charset="0"/>
              </a:rPr>
              <a:t>50M</a:t>
            </a:r>
            <a:r>
              <a:rPr lang="zh-CN" altLang="en-US" dirty="0">
                <a:sym typeface="Huawei Sans" panose="020C0503030203020204" pitchFamily="34" charset="0"/>
              </a:rPr>
              <a:t>带宽，租用</a:t>
            </a:r>
            <a:r>
              <a:rPr lang="en-US" altLang="zh-CN" dirty="0">
                <a:sym typeface="Huawei Sans" panose="020C0503030203020204" pitchFamily="34" charset="0"/>
              </a:rPr>
              <a:t>VoIP</a:t>
            </a:r>
            <a:r>
              <a:rPr lang="zh-CN" altLang="en-US" dirty="0">
                <a:sym typeface="Huawei Sans" panose="020C0503030203020204" pitchFamily="34" charset="0"/>
              </a:rPr>
              <a:t>业务</a:t>
            </a:r>
            <a:endParaRPr lang="en-US" altLang="zh-CN" dirty="0">
              <a:sym typeface="Huawei Sans" panose="020C0503030203020204" pitchFamily="34" charset="0"/>
            </a:endParaRPr>
          </a:p>
        </p:txBody>
      </p:sp>
      <p:sp>
        <p:nvSpPr>
          <p:cNvPr id="28" name="Rectangular Callout 27"/>
          <p:cNvSpPr/>
          <p:nvPr/>
        </p:nvSpPr>
        <p:spPr bwMode="gray">
          <a:xfrm>
            <a:off x="7623130" y="4205669"/>
            <a:ext cx="1727985" cy="768414"/>
          </a:xfrm>
          <a:prstGeom prst="wedgeRectCallout">
            <a:avLst>
              <a:gd name="adj1" fmla="val -32481"/>
              <a:gd name="adj2" fmla="val -8235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出口无法基于用户进行</a:t>
            </a:r>
            <a:r>
              <a:rPr lang="en-US" altLang="zh-CN" sz="1400" dirty="0">
                <a:solidFill>
                  <a:schemeClr val="tx1"/>
                </a:solidFill>
                <a:latin typeface="Huawei Sans" panose="020C0503030203020204" pitchFamily="34" charset="0"/>
                <a:ea typeface="方正兰亭黑简体" panose="02000000000000000000" pitchFamily="2" charset="-122"/>
              </a:rPr>
              <a:t>QoS</a:t>
            </a:r>
            <a:r>
              <a:rPr lang="zh-CN" altLang="en-US" sz="1400" dirty="0">
                <a:solidFill>
                  <a:schemeClr val="tx1"/>
                </a:solidFill>
                <a:latin typeface="Huawei Sans" panose="020C0503030203020204" pitchFamily="34" charset="0"/>
                <a:ea typeface="方正兰亭黑简体" panose="02000000000000000000" pitchFamily="2" charset="-122"/>
              </a:rPr>
              <a:t>，只能使用</a:t>
            </a:r>
            <a:r>
              <a:rPr lang="en-US" altLang="zh-CN" sz="1400" dirty="0">
                <a:solidFill>
                  <a:schemeClr val="tx1"/>
                </a:solidFill>
                <a:latin typeface="Huawei Sans" panose="020C0503030203020204" pitchFamily="34" charset="0"/>
                <a:ea typeface="方正兰亭黑简体" panose="02000000000000000000" pitchFamily="2" charset="-122"/>
              </a:rPr>
              <a:t>8</a:t>
            </a:r>
            <a:r>
              <a:rPr lang="zh-CN" altLang="en-US" sz="1400" dirty="0">
                <a:solidFill>
                  <a:schemeClr val="tx1"/>
                </a:solidFill>
                <a:latin typeface="Huawei Sans" panose="020C0503030203020204" pitchFamily="34" charset="0"/>
                <a:ea typeface="方正兰亭黑简体" panose="02000000000000000000" pitchFamily="2" charset="-122"/>
              </a:rPr>
              <a:t>个队列区分流量</a:t>
            </a:r>
          </a:p>
        </p:txBody>
      </p:sp>
      <p:sp>
        <p:nvSpPr>
          <p:cNvPr id="30" name="Oval 41"/>
          <p:cNvSpPr>
            <a:spLocks noChangeAspect="1"/>
          </p:cNvSpPr>
          <p:nvPr/>
        </p:nvSpPr>
        <p:spPr bwMode="gray">
          <a:xfrm>
            <a:off x="7825175" y="379550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31" name="Rectangular Callout 30"/>
          <p:cNvSpPr/>
          <p:nvPr/>
        </p:nvSpPr>
        <p:spPr bwMode="gray">
          <a:xfrm>
            <a:off x="7034677" y="2388871"/>
            <a:ext cx="1591182" cy="536521"/>
          </a:xfrm>
          <a:prstGeom prst="wedgeRectCallout">
            <a:avLst>
              <a:gd name="adj1" fmla="val -61308"/>
              <a:gd name="adj2" fmla="val 4303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20</a:t>
            </a:r>
            <a:r>
              <a:rPr lang="zh-CN" altLang="en-US" sz="1400" dirty="0">
                <a:solidFill>
                  <a:schemeClr val="tx1"/>
                </a:solidFill>
                <a:latin typeface="Huawei Sans" panose="020C0503030203020204" pitchFamily="34" charset="0"/>
                <a:ea typeface="方正兰亭黑简体" panose="02000000000000000000" pitchFamily="2" charset="-122"/>
              </a:rPr>
              <a:t>户家庭租用不同的带宽和业务</a:t>
            </a:r>
          </a:p>
        </p:txBody>
      </p:sp>
    </p:spTree>
    <p:extLst>
      <p:ext uri="{BB962C8B-B14F-4D97-AF65-F5344CB8AC3E}">
        <p14:creationId xmlns:p14="http://schemas.microsoft.com/office/powerpoint/2010/main" val="30702455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概述</a:t>
            </a:r>
          </a:p>
        </p:txBody>
      </p:sp>
      <p:sp>
        <p:nvSpPr>
          <p:cNvPr id="3" name="Text Placeholder 2"/>
          <p:cNvSpPr>
            <a:spLocks noGrp="1"/>
          </p:cNvSpPr>
          <p:nvPr>
            <p:ph type="body" sz="quarter" idx="10"/>
          </p:nvPr>
        </p:nvSpPr>
        <p:spPr bwMode="gray"/>
        <p:txBody>
          <a:bodyPr/>
          <a:lstStyle/>
          <a:p>
            <a:r>
              <a:rPr lang="zh-CN" altLang="en-US" sz="1800" dirty="0"/>
              <a:t>传统的</a:t>
            </a:r>
            <a:r>
              <a:rPr lang="en-US" altLang="zh-CN" sz="1800" dirty="0"/>
              <a:t>QoS</a:t>
            </a:r>
            <a:r>
              <a:rPr lang="zh-CN" altLang="en-US" sz="1800" dirty="0"/>
              <a:t>基于接口进行流量调度，单个接口只能区分业务优先级，只要属于同一优先级的流量，就使用同一个端口队列，彼此之间竞争同一个队列资源。因此，传统的</a:t>
            </a:r>
            <a:r>
              <a:rPr lang="en-US" altLang="zh-CN" sz="1800" dirty="0"/>
              <a:t>QoS</a:t>
            </a:r>
            <a:r>
              <a:rPr lang="zh-CN" altLang="en-US" sz="1800" dirty="0"/>
              <a:t>无法对接口上多个用户的多个流量进行区分服务。</a:t>
            </a:r>
            <a:endParaRPr lang="en-US" altLang="zh-CN" sz="1800" dirty="0"/>
          </a:p>
          <a:p>
            <a:r>
              <a:rPr lang="en-US" altLang="zh-CN" sz="1800" dirty="0"/>
              <a:t>HQoS</a:t>
            </a:r>
            <a:r>
              <a:rPr lang="zh-CN" altLang="en-US" sz="1800" dirty="0"/>
              <a:t>基于多级队列实现层次化调度，不仅区分了业务，也区分了用户，实现了精细化的</a:t>
            </a:r>
            <a:r>
              <a:rPr lang="en-US" altLang="zh-CN" sz="1800" dirty="0"/>
              <a:t>QoS</a:t>
            </a:r>
            <a:r>
              <a:rPr lang="zh-CN" altLang="en-US" sz="1800" dirty="0"/>
              <a:t>服务。</a:t>
            </a:r>
            <a:endParaRPr lang="en-US" altLang="zh-CN" sz="1800" dirty="0"/>
          </a:p>
          <a:p>
            <a:r>
              <a:rPr lang="zh-CN" altLang="en-US" sz="1800" dirty="0"/>
              <a:t>不同设备的</a:t>
            </a:r>
            <a:r>
              <a:rPr lang="en-US" altLang="zh-CN" sz="1800" dirty="0"/>
              <a:t>HQoS</a:t>
            </a:r>
            <a:r>
              <a:rPr lang="zh-CN" altLang="en-US" sz="1800" dirty="0"/>
              <a:t>特性有一定区别，本节主要介绍</a:t>
            </a:r>
            <a:r>
              <a:rPr lang="en-US" altLang="zh-CN" sz="1800" dirty="0"/>
              <a:t>CPE</a:t>
            </a:r>
            <a:r>
              <a:rPr lang="zh-CN" altLang="en-US" sz="1800" dirty="0"/>
              <a:t>（</a:t>
            </a:r>
            <a:r>
              <a:rPr lang="en-US" altLang="zh-CN" sz="1800" dirty="0"/>
              <a:t>AR</a:t>
            </a:r>
            <a:r>
              <a:rPr lang="zh-CN" altLang="en-US" sz="1800" dirty="0"/>
              <a:t>系列路由器）的</a:t>
            </a:r>
            <a:r>
              <a:rPr lang="en-US" altLang="zh-CN" sz="1800" dirty="0"/>
              <a:t>HQoS</a:t>
            </a:r>
            <a:r>
              <a:rPr lang="zh-CN" altLang="en-US" sz="1800" dirty="0"/>
              <a:t>特性。</a:t>
            </a:r>
          </a:p>
        </p:txBody>
      </p:sp>
    </p:spTree>
    <p:extLst>
      <p:ext uri="{BB962C8B-B14F-4D97-AF65-F5344CB8AC3E}">
        <p14:creationId xmlns:p14="http://schemas.microsoft.com/office/powerpoint/2010/main" val="7738541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Can 9">
            <a:extLst>
              <a:ext uri="{FF2B5EF4-FFF2-40B4-BE49-F238E27FC236}">
                <a16:creationId xmlns:a16="http://schemas.microsoft.com/office/drawing/2014/main" id="{34CDE097-5A72-414F-94EB-46D8C2CFDECA}"/>
              </a:ext>
            </a:extLst>
          </p:cNvPr>
          <p:cNvSpPr/>
          <p:nvPr/>
        </p:nvSpPr>
        <p:spPr bwMode="gray">
          <a:xfrm rot="5400000">
            <a:off x="4543883" y="249266"/>
            <a:ext cx="2691045" cy="6317602"/>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Can 9">
            <a:extLst>
              <a:ext uri="{FF2B5EF4-FFF2-40B4-BE49-F238E27FC236}">
                <a16:creationId xmlns:a16="http://schemas.microsoft.com/office/drawing/2014/main" id="{70328AE4-FDAF-4F20-AD1D-6E1D88386657}"/>
              </a:ext>
            </a:extLst>
          </p:cNvPr>
          <p:cNvSpPr/>
          <p:nvPr/>
        </p:nvSpPr>
        <p:spPr bwMode="gray">
          <a:xfrm rot="5400000">
            <a:off x="5430764" y="2592585"/>
            <a:ext cx="917282" cy="6012669"/>
          </a:xfrm>
          <a:prstGeom prst="can">
            <a:avLst>
              <a:gd name="adj" fmla="val 40000"/>
            </a:avLst>
          </a:prstGeom>
          <a:solidFill>
            <a:srgbClr val="F4FBFE"/>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Can 9">
            <a:extLst>
              <a:ext uri="{FF2B5EF4-FFF2-40B4-BE49-F238E27FC236}">
                <a16:creationId xmlns:a16="http://schemas.microsoft.com/office/drawing/2014/main" id="{44489BE6-453A-4137-9085-E751DAA0F11B}"/>
              </a:ext>
            </a:extLst>
          </p:cNvPr>
          <p:cNvSpPr/>
          <p:nvPr/>
        </p:nvSpPr>
        <p:spPr bwMode="gray">
          <a:xfrm rot="5400000">
            <a:off x="4324414" y="45819"/>
            <a:ext cx="4114563" cy="8035532"/>
          </a:xfrm>
          <a:prstGeom prst="can">
            <a:avLst>
              <a:gd name="adj" fmla="val 40000"/>
            </a:avLst>
          </a:prstGeom>
          <a:no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Can 9">
            <a:extLst>
              <a:ext uri="{FF2B5EF4-FFF2-40B4-BE49-F238E27FC236}">
                <a16:creationId xmlns:a16="http://schemas.microsoft.com/office/drawing/2014/main" id="{CBA8889D-8BD8-4AF0-B45F-31EDEB95AC79}"/>
              </a:ext>
            </a:extLst>
          </p:cNvPr>
          <p:cNvSpPr/>
          <p:nvPr/>
        </p:nvSpPr>
        <p:spPr bwMode="gray">
          <a:xfrm rot="5400000">
            <a:off x="5077211" y="3163425"/>
            <a:ext cx="734491" cy="4788534"/>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Can 225">
            <a:extLst>
              <a:ext uri="{FF2B5EF4-FFF2-40B4-BE49-F238E27FC236}">
                <a16:creationId xmlns:a16="http://schemas.microsoft.com/office/drawing/2014/main" id="{AC826045-A344-4167-B1DE-F5878066628A}"/>
              </a:ext>
            </a:extLst>
          </p:cNvPr>
          <p:cNvSpPr/>
          <p:nvPr/>
        </p:nvSpPr>
        <p:spPr bwMode="gray">
          <a:xfrm rot="5400000">
            <a:off x="4833295" y="3567407"/>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Can 225">
            <a:extLst>
              <a:ext uri="{FF2B5EF4-FFF2-40B4-BE49-F238E27FC236}">
                <a16:creationId xmlns:a16="http://schemas.microsoft.com/office/drawing/2014/main" id="{69BC07C4-2AA2-44E3-B5AE-36E521F5FDBB}"/>
              </a:ext>
            </a:extLst>
          </p:cNvPr>
          <p:cNvSpPr/>
          <p:nvPr/>
        </p:nvSpPr>
        <p:spPr bwMode="gray">
          <a:xfrm rot="5400000">
            <a:off x="4844548" y="3941059"/>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Can 9">
            <a:extLst>
              <a:ext uri="{FF2B5EF4-FFF2-40B4-BE49-F238E27FC236}">
                <a16:creationId xmlns:a16="http://schemas.microsoft.com/office/drawing/2014/main" id="{A737AC94-AF72-418D-B185-BFDB80FDBF86}"/>
              </a:ext>
            </a:extLst>
          </p:cNvPr>
          <p:cNvSpPr/>
          <p:nvPr/>
        </p:nvSpPr>
        <p:spPr bwMode="gray">
          <a:xfrm rot="5400000">
            <a:off x="4903749" y="216161"/>
            <a:ext cx="973277" cy="4788536"/>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Can 9">
            <a:extLst>
              <a:ext uri="{FF2B5EF4-FFF2-40B4-BE49-F238E27FC236}">
                <a16:creationId xmlns:a16="http://schemas.microsoft.com/office/drawing/2014/main" id="{C9183690-07C9-450E-A5CF-EC159B044173}"/>
              </a:ext>
            </a:extLst>
          </p:cNvPr>
          <p:cNvSpPr/>
          <p:nvPr/>
        </p:nvSpPr>
        <p:spPr bwMode="gray">
          <a:xfrm rot="5400000">
            <a:off x="4906943" y="1782869"/>
            <a:ext cx="973277" cy="4788534"/>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Can 225">
            <a:extLst>
              <a:ext uri="{FF2B5EF4-FFF2-40B4-BE49-F238E27FC236}">
                <a16:creationId xmlns:a16="http://schemas.microsoft.com/office/drawing/2014/main" id="{4147AE5C-77E1-44B1-81EC-8B3D7D64A989}"/>
              </a:ext>
            </a:extLst>
          </p:cNvPr>
          <p:cNvSpPr/>
          <p:nvPr/>
        </p:nvSpPr>
        <p:spPr bwMode="gray">
          <a:xfrm rot="5400000">
            <a:off x="4835185" y="487596"/>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Can 225">
            <a:extLst>
              <a:ext uri="{FF2B5EF4-FFF2-40B4-BE49-F238E27FC236}">
                <a16:creationId xmlns:a16="http://schemas.microsoft.com/office/drawing/2014/main" id="{5F7116B6-AFA8-4A45-95B6-851007DA3E52}"/>
              </a:ext>
            </a:extLst>
          </p:cNvPr>
          <p:cNvSpPr/>
          <p:nvPr/>
        </p:nvSpPr>
        <p:spPr bwMode="gray">
          <a:xfrm rot="5400000">
            <a:off x="4844548" y="1122048"/>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Can 225">
            <a:extLst>
              <a:ext uri="{FF2B5EF4-FFF2-40B4-BE49-F238E27FC236}">
                <a16:creationId xmlns:a16="http://schemas.microsoft.com/office/drawing/2014/main" id="{F4BB3979-950A-4E65-8489-B87CC8931B2E}"/>
              </a:ext>
            </a:extLst>
          </p:cNvPr>
          <p:cNvSpPr/>
          <p:nvPr/>
        </p:nvSpPr>
        <p:spPr bwMode="gray">
          <a:xfrm rot="5400000">
            <a:off x="4828528" y="2051694"/>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Can 225">
            <a:extLst>
              <a:ext uri="{FF2B5EF4-FFF2-40B4-BE49-F238E27FC236}">
                <a16:creationId xmlns:a16="http://schemas.microsoft.com/office/drawing/2014/main" id="{1E175C2F-A92A-48DA-BA9C-F0B522C21FB8}"/>
              </a:ext>
            </a:extLst>
          </p:cNvPr>
          <p:cNvSpPr/>
          <p:nvPr/>
        </p:nvSpPr>
        <p:spPr bwMode="gray">
          <a:xfrm rot="5400000">
            <a:off x="4828528" y="2699516"/>
            <a:ext cx="253196" cy="359958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p:cNvSpPr>
            <a:spLocks noGrp="1"/>
          </p:cNvSpPr>
          <p:nvPr>
            <p:ph type="title"/>
          </p:nvPr>
        </p:nvSpPr>
        <p:spPr bwMode="gray"/>
        <p:txBody>
          <a:bodyPr/>
          <a:lstStyle/>
          <a:p>
            <a:r>
              <a:rPr lang="en-US" altLang="zh-CN" dirty="0"/>
              <a:t>HQoS</a:t>
            </a:r>
            <a:r>
              <a:rPr lang="zh-CN" altLang="en-US" dirty="0"/>
              <a:t>队列介绍</a:t>
            </a:r>
          </a:p>
        </p:txBody>
      </p:sp>
      <p:sp>
        <p:nvSpPr>
          <p:cNvPr id="3" name="Text Placeholder 2"/>
          <p:cNvSpPr>
            <a:spLocks noGrp="1"/>
          </p:cNvSpPr>
          <p:nvPr>
            <p:ph type="body" sz="quarter" idx="10"/>
          </p:nvPr>
        </p:nvSpPr>
        <p:spPr bwMode="gray"/>
        <p:txBody>
          <a:bodyPr/>
          <a:lstStyle/>
          <a:p>
            <a:r>
              <a:rPr lang="en-US" altLang="zh-CN" sz="1800" dirty="0"/>
              <a:t>HQoS</a:t>
            </a:r>
            <a:r>
              <a:rPr lang="zh-CN" altLang="en-US" sz="1800" dirty="0"/>
              <a:t>基于队列实现层次化调度，</a:t>
            </a:r>
            <a:r>
              <a:rPr lang="en-US" altLang="zh-CN" sz="1800" dirty="0"/>
              <a:t>CPE</a:t>
            </a:r>
            <a:r>
              <a:rPr lang="zh-CN" altLang="en-US" sz="1800" dirty="0"/>
              <a:t>上支持三级队列：</a:t>
            </a:r>
            <a:r>
              <a:rPr lang="en-US" altLang="zh-CN" sz="1800" dirty="0"/>
              <a:t>Level3</a:t>
            </a:r>
            <a:r>
              <a:rPr lang="zh-CN" altLang="en-US" sz="1800" dirty="0"/>
              <a:t>流队列（</a:t>
            </a:r>
            <a:r>
              <a:rPr lang="en-US" altLang="zh-CN" sz="1800" dirty="0"/>
              <a:t>Flow Queue</a:t>
            </a:r>
            <a:r>
              <a:rPr lang="zh-CN" altLang="en-US" sz="1800" dirty="0"/>
              <a:t>）、</a:t>
            </a:r>
            <a:r>
              <a:rPr lang="en-US" altLang="zh-CN" sz="1800" dirty="0"/>
              <a:t>Level2</a:t>
            </a:r>
            <a:r>
              <a:rPr lang="zh-CN" altLang="en-US" sz="1800" dirty="0"/>
              <a:t>用户队列（</a:t>
            </a:r>
            <a:r>
              <a:rPr lang="en-US" altLang="zh-CN" sz="1800" dirty="0"/>
              <a:t>Subscriber Queue</a:t>
            </a:r>
            <a:r>
              <a:rPr lang="zh-CN" altLang="en-US" sz="1800" dirty="0"/>
              <a:t>）、</a:t>
            </a:r>
            <a:r>
              <a:rPr lang="en-US" altLang="zh-CN" sz="1800" dirty="0"/>
              <a:t>Level1</a:t>
            </a:r>
            <a:r>
              <a:rPr lang="zh-CN" altLang="en-US" sz="1800" dirty="0"/>
              <a:t>接口队列（</a:t>
            </a:r>
            <a:r>
              <a:rPr lang="en-US" altLang="zh-CN" sz="1800" dirty="0"/>
              <a:t>Port Queue</a:t>
            </a:r>
            <a:r>
              <a:rPr lang="zh-CN" altLang="en-US" sz="1800" dirty="0"/>
              <a:t>）。</a:t>
            </a:r>
            <a:endParaRPr lang="en-US" altLang="zh-CN" sz="1800" dirty="0"/>
          </a:p>
        </p:txBody>
      </p:sp>
      <p:sp>
        <p:nvSpPr>
          <p:cNvPr id="72" name="TextBox 71"/>
          <p:cNvSpPr txBox="1"/>
          <p:nvPr/>
        </p:nvSpPr>
        <p:spPr bwMode="gray">
          <a:xfrm>
            <a:off x="4314784" y="2409277"/>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73" name="TextBox 72"/>
          <p:cNvSpPr txBox="1"/>
          <p:nvPr/>
        </p:nvSpPr>
        <p:spPr bwMode="gray">
          <a:xfrm>
            <a:off x="4314783" y="3159493"/>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74" name="TextBox 73"/>
          <p:cNvSpPr txBox="1"/>
          <p:nvPr/>
        </p:nvSpPr>
        <p:spPr bwMode="gray">
          <a:xfrm>
            <a:off x="4314783" y="3965550"/>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75" name="TextBox 74"/>
          <p:cNvSpPr txBox="1"/>
          <p:nvPr/>
        </p:nvSpPr>
        <p:spPr bwMode="gray">
          <a:xfrm>
            <a:off x="4314783" y="4743455"/>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76" name="TextBox 75"/>
          <p:cNvSpPr txBox="1"/>
          <p:nvPr/>
        </p:nvSpPr>
        <p:spPr bwMode="gray">
          <a:xfrm>
            <a:off x="4481778" y="2446194"/>
            <a:ext cx="3342582" cy="307777"/>
          </a:xfrm>
          <a:prstGeom prst="rect">
            <a:avLst/>
          </a:prstGeom>
          <a:noFill/>
        </p:spPr>
        <p:txBody>
          <a:bodyPr wrap="none" rtlCol="0">
            <a:spAutoFit/>
          </a:bodyPr>
          <a:lstStyle/>
          <a:p>
            <a:pPr fontAlgn="auto"/>
            <a:r>
              <a:rPr lang="en-US" altLang="zh-CN" sz="1400" b="1" dirty="0">
                <a:latin typeface="Huawei Sans" panose="020C0503030203020204" pitchFamily="34" charset="0"/>
                <a:ea typeface="方正兰亭黑简体" panose="02000000000000000000" pitchFamily="2" charset="-122"/>
              </a:rPr>
              <a:t>Level2</a:t>
            </a:r>
            <a:r>
              <a:rPr lang="zh-CN" altLang="en-US" sz="1400" b="1" dirty="0">
                <a:latin typeface="Huawei Sans" panose="020C0503030203020204" pitchFamily="34" charset="0"/>
                <a:ea typeface="方正兰亭黑简体" panose="02000000000000000000" pitchFamily="2" charset="-122"/>
              </a:rPr>
              <a:t>用户队列（</a:t>
            </a:r>
            <a:r>
              <a:rPr lang="en-US" altLang="zh-CN" sz="1400" b="1" dirty="0">
                <a:latin typeface="Huawei Sans" panose="020C0503030203020204" pitchFamily="34" charset="0"/>
                <a:ea typeface="方正兰亭黑简体" panose="02000000000000000000" pitchFamily="2" charset="-122"/>
              </a:rPr>
              <a:t>Subscriber Queue</a:t>
            </a:r>
            <a:r>
              <a:rPr lang="zh-CN" altLang="en-US" sz="1400" b="1" dirty="0">
                <a:latin typeface="Huawei Sans" panose="020C0503030203020204" pitchFamily="34" charset="0"/>
                <a:ea typeface="方正兰亭黑简体" panose="02000000000000000000" pitchFamily="2" charset="-122"/>
              </a:rPr>
              <a:t>）</a:t>
            </a:r>
          </a:p>
        </p:txBody>
      </p:sp>
      <p:sp>
        <p:nvSpPr>
          <p:cNvPr id="77" name="TextBox 76"/>
          <p:cNvSpPr txBox="1"/>
          <p:nvPr/>
        </p:nvSpPr>
        <p:spPr bwMode="gray">
          <a:xfrm>
            <a:off x="4882703" y="3263374"/>
            <a:ext cx="2807179" cy="307777"/>
          </a:xfrm>
          <a:prstGeom prst="rect">
            <a:avLst/>
          </a:prstGeom>
          <a:noFill/>
        </p:spPr>
        <p:txBody>
          <a:bodyPr wrap="none" rtlCol="0">
            <a:spAutoFit/>
          </a:bodyPr>
          <a:lstStyle/>
          <a:p>
            <a:pPr fontAlgn="auto"/>
            <a:r>
              <a:rPr lang="en-US" altLang="zh-CN" sz="1400" b="1" dirty="0">
                <a:latin typeface="Huawei Sans" panose="020C0503030203020204" pitchFamily="34" charset="0"/>
                <a:ea typeface="方正兰亭黑简体" panose="02000000000000000000" pitchFamily="2" charset="-122"/>
              </a:rPr>
              <a:t>Level1</a:t>
            </a:r>
            <a:r>
              <a:rPr lang="zh-CN" altLang="en-US" sz="1400" b="1" dirty="0">
                <a:latin typeface="Huawei Sans" panose="020C0503030203020204" pitchFamily="34" charset="0"/>
                <a:ea typeface="方正兰亭黑简体" panose="02000000000000000000" pitchFamily="2" charset="-122"/>
              </a:rPr>
              <a:t>接口队列（</a:t>
            </a:r>
            <a:r>
              <a:rPr lang="en-US" altLang="zh-CN" sz="1400" b="1" dirty="0">
                <a:latin typeface="Huawei Sans" panose="020C0503030203020204" pitchFamily="34" charset="0"/>
                <a:ea typeface="方正兰亭黑简体" panose="02000000000000000000" pitchFamily="2" charset="-122"/>
              </a:rPr>
              <a:t>Port Queue</a:t>
            </a:r>
            <a:r>
              <a:rPr lang="zh-CN" altLang="en-US" sz="1400" b="1" dirty="0">
                <a:latin typeface="Huawei Sans" panose="020C0503030203020204" pitchFamily="34" charset="0"/>
                <a:ea typeface="方正兰亭黑简体" panose="02000000000000000000" pitchFamily="2" charset="-122"/>
              </a:rPr>
              <a:t>）</a:t>
            </a:r>
          </a:p>
        </p:txBody>
      </p:sp>
      <p:sp>
        <p:nvSpPr>
          <p:cNvPr id="83" name="TextBox 82"/>
          <p:cNvSpPr txBox="1"/>
          <p:nvPr/>
        </p:nvSpPr>
        <p:spPr bwMode="gray">
          <a:xfrm>
            <a:off x="9158472" y="3946765"/>
            <a:ext cx="1036878" cy="307777"/>
          </a:xfrm>
          <a:prstGeom prst="rect">
            <a:avLst/>
          </a:prstGeom>
          <a:noFill/>
        </p:spPr>
        <p:txBody>
          <a:bodyPr wrap="square" rtlCol="0">
            <a:spAutoFit/>
          </a:bodyPr>
          <a:lstStyle/>
          <a:p>
            <a:r>
              <a:rPr lang="zh-CN" altLang="en-US" sz="1400" b="1" dirty="0">
                <a:latin typeface="Huawei Sans" panose="020C0503030203020204" pitchFamily="34" charset="0"/>
                <a:ea typeface="方正兰亭黑简体" panose="02000000000000000000" pitchFamily="2" charset="-122"/>
              </a:rPr>
              <a:t>物理接口</a:t>
            </a:r>
          </a:p>
        </p:txBody>
      </p:sp>
      <p:sp>
        <p:nvSpPr>
          <p:cNvPr id="26" name="Freeform 25"/>
          <p:cNvSpPr/>
          <p:nvPr/>
        </p:nvSpPr>
        <p:spPr bwMode="gray">
          <a:xfrm>
            <a:off x="2195371" y="2222203"/>
            <a:ext cx="9461500" cy="700437"/>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Freeform 85"/>
          <p:cNvSpPr/>
          <p:nvPr/>
        </p:nvSpPr>
        <p:spPr bwMode="gray">
          <a:xfrm>
            <a:off x="2176321" y="2893901"/>
            <a:ext cx="9461500" cy="247351"/>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bwMode="gray">
          <a:xfrm>
            <a:off x="3858117" y="2130657"/>
            <a:ext cx="2581156" cy="307777"/>
          </a:xfrm>
          <a:prstGeom prst="rect">
            <a:avLst/>
          </a:prstGeom>
          <a:noFill/>
        </p:spPr>
        <p:txBody>
          <a:bodyPr wrap="none" rtlCol="0">
            <a:spAutoFit/>
          </a:bodyPr>
          <a:lstStyle/>
          <a:p>
            <a:pPr fontAlgn="auto"/>
            <a:r>
              <a:rPr lang="en-US" altLang="zh-CN" sz="1400" b="1" dirty="0">
                <a:solidFill>
                  <a:schemeClr val="bg1"/>
                </a:solidFill>
                <a:latin typeface="Huawei Sans" panose="020C0503030203020204" pitchFamily="34" charset="0"/>
                <a:ea typeface="方正兰亭黑简体" panose="02000000000000000000" pitchFamily="2" charset="-122"/>
              </a:rPr>
              <a:t>Level3</a:t>
            </a:r>
            <a:r>
              <a:rPr lang="zh-CN" altLang="en-US" sz="1400" b="1" dirty="0">
                <a:solidFill>
                  <a:schemeClr val="bg1"/>
                </a:solidFill>
                <a:latin typeface="Huawei Sans" panose="020C0503030203020204" pitchFamily="34" charset="0"/>
                <a:ea typeface="方正兰亭黑简体" panose="02000000000000000000" pitchFamily="2" charset="-122"/>
              </a:rPr>
              <a:t>流队列（</a:t>
            </a:r>
            <a:r>
              <a:rPr lang="en-US" altLang="zh-CN" sz="1400" b="1" dirty="0">
                <a:solidFill>
                  <a:schemeClr val="bg1"/>
                </a:solidFill>
                <a:latin typeface="Huawei Sans" panose="020C0503030203020204" pitchFamily="34" charset="0"/>
                <a:ea typeface="方正兰亭黑简体" panose="02000000000000000000" pitchFamily="2" charset="-122"/>
              </a:rPr>
              <a:t>Flow </a:t>
            </a:r>
            <a:r>
              <a:rPr lang="en-US" altLang="zh-CN" sz="1400" b="1" dirty="0" err="1">
                <a:solidFill>
                  <a:schemeClr val="bg1"/>
                </a:solidFill>
                <a:latin typeface="Huawei Sans" panose="020C0503030203020204" pitchFamily="34" charset="0"/>
                <a:ea typeface="方正兰亭黑简体" panose="02000000000000000000" pitchFamily="2" charset="-122"/>
              </a:rPr>
              <a:t>Queu</a:t>
            </a:r>
            <a:r>
              <a:rPr lang="zh-CN" altLang="en-US" sz="1400" b="1" dirty="0">
                <a:solidFill>
                  <a:schemeClr val="bg1"/>
                </a:solidFill>
                <a:latin typeface="Huawei Sans" panose="020C0503030203020204" pitchFamily="34" charset="0"/>
                <a:ea typeface="方正兰亭黑简体" panose="02000000000000000000" pitchFamily="2" charset="-122"/>
              </a:rPr>
              <a:t>）</a:t>
            </a:r>
          </a:p>
        </p:txBody>
      </p:sp>
      <p:sp>
        <p:nvSpPr>
          <p:cNvPr id="78" name="TextBox 77"/>
          <p:cNvSpPr txBox="1"/>
          <p:nvPr/>
        </p:nvSpPr>
        <p:spPr bwMode="gray">
          <a:xfrm>
            <a:off x="3870713" y="2765079"/>
            <a:ext cx="2581156" cy="307777"/>
          </a:xfrm>
          <a:prstGeom prst="rect">
            <a:avLst/>
          </a:prstGeom>
          <a:noFill/>
        </p:spPr>
        <p:txBody>
          <a:bodyPr wrap="none" rtlCol="0">
            <a:spAutoFit/>
          </a:bodyPr>
          <a:lstStyle/>
          <a:p>
            <a:pPr fontAlgn="auto"/>
            <a:r>
              <a:rPr lang="en-US" altLang="zh-CN" sz="1400" b="1" dirty="0">
                <a:solidFill>
                  <a:schemeClr val="bg1"/>
                </a:solidFill>
                <a:latin typeface="Huawei Sans" panose="020C0503030203020204" pitchFamily="34" charset="0"/>
                <a:ea typeface="方正兰亭黑简体" panose="02000000000000000000" pitchFamily="2" charset="-122"/>
              </a:rPr>
              <a:t>Level3</a:t>
            </a:r>
            <a:r>
              <a:rPr lang="zh-CN" altLang="en-US" sz="1400" b="1" dirty="0">
                <a:solidFill>
                  <a:schemeClr val="bg1"/>
                </a:solidFill>
                <a:latin typeface="Huawei Sans" panose="020C0503030203020204" pitchFamily="34" charset="0"/>
                <a:ea typeface="方正兰亭黑简体" panose="02000000000000000000" pitchFamily="2" charset="-122"/>
              </a:rPr>
              <a:t>流队列（</a:t>
            </a:r>
            <a:r>
              <a:rPr lang="en-US" altLang="zh-CN" sz="1400" b="1" dirty="0">
                <a:solidFill>
                  <a:schemeClr val="bg1"/>
                </a:solidFill>
                <a:latin typeface="Huawei Sans" panose="020C0503030203020204" pitchFamily="34" charset="0"/>
                <a:ea typeface="方正兰亭黑简体" panose="02000000000000000000" pitchFamily="2" charset="-122"/>
              </a:rPr>
              <a:t>Flow </a:t>
            </a:r>
            <a:r>
              <a:rPr lang="en-US" altLang="zh-CN" sz="1400" b="1" dirty="0" err="1">
                <a:solidFill>
                  <a:schemeClr val="bg1"/>
                </a:solidFill>
                <a:latin typeface="Huawei Sans" panose="020C0503030203020204" pitchFamily="34" charset="0"/>
                <a:ea typeface="方正兰亭黑简体" panose="02000000000000000000" pitchFamily="2" charset="-122"/>
              </a:rPr>
              <a:t>Queu</a:t>
            </a:r>
            <a:r>
              <a:rPr lang="zh-CN" altLang="en-US" sz="1400" b="1" dirty="0">
                <a:solidFill>
                  <a:schemeClr val="bg1"/>
                </a:solidFill>
                <a:latin typeface="Huawei Sans" panose="020C0503030203020204" pitchFamily="34" charset="0"/>
                <a:ea typeface="方正兰亭黑简体" panose="02000000000000000000" pitchFamily="2" charset="-122"/>
              </a:rPr>
              <a:t>）</a:t>
            </a:r>
          </a:p>
        </p:txBody>
      </p:sp>
      <p:sp>
        <p:nvSpPr>
          <p:cNvPr id="87" name="TextBox 86"/>
          <p:cNvSpPr txBox="1"/>
          <p:nvPr/>
        </p:nvSpPr>
        <p:spPr bwMode="gray">
          <a:xfrm>
            <a:off x="1399975" y="2123791"/>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语音流量</a:t>
            </a:r>
          </a:p>
        </p:txBody>
      </p:sp>
      <p:sp>
        <p:nvSpPr>
          <p:cNvPr id="88" name="TextBox 87"/>
          <p:cNvSpPr txBox="1"/>
          <p:nvPr/>
        </p:nvSpPr>
        <p:spPr bwMode="gray">
          <a:xfrm>
            <a:off x="1364109" y="2743489"/>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视频流量</a:t>
            </a:r>
          </a:p>
        </p:txBody>
      </p:sp>
      <p:pic>
        <p:nvPicPr>
          <p:cNvPr id="89" name="图片 6" descr="PC.png"/>
          <p:cNvPicPr>
            <a:picLocks noChangeAspect="1"/>
          </p:cNvPicPr>
          <p:nvPr/>
        </p:nvPicPr>
        <p:blipFill>
          <a:blip r:embed="rId3" cstate="print"/>
          <a:stretch>
            <a:fillRect/>
          </a:stretch>
        </p:blipFill>
        <p:spPr bwMode="gray">
          <a:xfrm>
            <a:off x="554174" y="2218934"/>
            <a:ext cx="878866" cy="674967"/>
          </a:xfrm>
          <a:prstGeom prst="rect">
            <a:avLst/>
          </a:prstGeom>
        </p:spPr>
      </p:pic>
      <p:sp>
        <p:nvSpPr>
          <p:cNvPr id="90" name="TextBox 89"/>
          <p:cNvSpPr txBox="1"/>
          <p:nvPr/>
        </p:nvSpPr>
        <p:spPr bwMode="gray">
          <a:xfrm>
            <a:off x="655062" y="2899369"/>
            <a:ext cx="647934"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租户</a:t>
            </a:r>
            <a:r>
              <a:rPr lang="en-US" altLang="zh-CN" sz="1400" dirty="0">
                <a:latin typeface="Huawei Sans" panose="020C0503030203020204" pitchFamily="34" charset="0"/>
                <a:ea typeface="方正兰亭黑简体" panose="02000000000000000000" pitchFamily="2" charset="-122"/>
              </a:rPr>
              <a:t>1</a:t>
            </a:r>
            <a:endParaRPr lang="zh-CN" altLang="en-US" sz="1400" dirty="0">
              <a:latin typeface="Huawei Sans" panose="020C0503030203020204" pitchFamily="34" charset="0"/>
              <a:ea typeface="方正兰亭黑简体" panose="02000000000000000000" pitchFamily="2" charset="-122"/>
            </a:endParaRPr>
          </a:p>
        </p:txBody>
      </p:sp>
      <p:sp>
        <p:nvSpPr>
          <p:cNvPr id="91" name="TextBox 90"/>
          <p:cNvSpPr txBox="1"/>
          <p:nvPr/>
        </p:nvSpPr>
        <p:spPr bwMode="gray">
          <a:xfrm>
            <a:off x="1422555" y="3699201"/>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上网流量</a:t>
            </a:r>
          </a:p>
        </p:txBody>
      </p:sp>
      <p:sp>
        <p:nvSpPr>
          <p:cNvPr id="92" name="TextBox 91"/>
          <p:cNvSpPr txBox="1"/>
          <p:nvPr/>
        </p:nvSpPr>
        <p:spPr bwMode="gray">
          <a:xfrm>
            <a:off x="1439940" y="4320891"/>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游戏流量</a:t>
            </a:r>
          </a:p>
        </p:txBody>
      </p:sp>
      <p:pic>
        <p:nvPicPr>
          <p:cNvPr id="93" name="图片 6" descr="PC.png"/>
          <p:cNvPicPr>
            <a:picLocks noChangeAspect="1"/>
          </p:cNvPicPr>
          <p:nvPr/>
        </p:nvPicPr>
        <p:blipFill>
          <a:blip r:embed="rId3" cstate="print"/>
          <a:stretch>
            <a:fillRect/>
          </a:stretch>
        </p:blipFill>
        <p:spPr bwMode="gray">
          <a:xfrm>
            <a:off x="576754" y="3794344"/>
            <a:ext cx="878866" cy="674967"/>
          </a:xfrm>
          <a:prstGeom prst="rect">
            <a:avLst/>
          </a:prstGeom>
        </p:spPr>
      </p:pic>
      <p:sp>
        <p:nvSpPr>
          <p:cNvPr id="94" name="TextBox 93"/>
          <p:cNvSpPr txBox="1"/>
          <p:nvPr/>
        </p:nvSpPr>
        <p:spPr bwMode="gray">
          <a:xfrm>
            <a:off x="677642" y="4474779"/>
            <a:ext cx="647934"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租户</a:t>
            </a:r>
            <a:r>
              <a:rPr lang="en-US" altLang="zh-CN" sz="1400" dirty="0">
                <a:latin typeface="Huawei Sans" panose="020C0503030203020204" pitchFamily="34" charset="0"/>
                <a:ea typeface="方正兰亭黑简体" panose="02000000000000000000" pitchFamily="2" charset="-122"/>
              </a:rPr>
              <a:t>2</a:t>
            </a:r>
            <a:endParaRPr lang="zh-CN" altLang="en-US" sz="1400" dirty="0">
              <a:latin typeface="Huawei Sans" panose="020C0503030203020204" pitchFamily="34" charset="0"/>
              <a:ea typeface="方正兰亭黑简体" panose="02000000000000000000" pitchFamily="2" charset="-122"/>
            </a:endParaRPr>
          </a:p>
        </p:txBody>
      </p:sp>
      <p:sp>
        <p:nvSpPr>
          <p:cNvPr id="95" name="Freeform 94"/>
          <p:cNvSpPr/>
          <p:nvPr/>
        </p:nvSpPr>
        <p:spPr bwMode="gray">
          <a:xfrm flipV="1">
            <a:off x="2266920" y="3784208"/>
            <a:ext cx="9461500" cy="700437"/>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Freeform 95"/>
          <p:cNvSpPr/>
          <p:nvPr/>
        </p:nvSpPr>
        <p:spPr bwMode="gray">
          <a:xfrm flipV="1">
            <a:off x="2247632" y="3605704"/>
            <a:ext cx="9461500" cy="247351"/>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TextBox 96"/>
          <p:cNvSpPr txBox="1"/>
          <p:nvPr/>
        </p:nvSpPr>
        <p:spPr bwMode="gray">
          <a:xfrm>
            <a:off x="841331" y="4726931"/>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pic>
        <p:nvPicPr>
          <p:cNvPr id="98" name="图片 6" descr="PC.png"/>
          <p:cNvPicPr>
            <a:picLocks noChangeAspect="1"/>
          </p:cNvPicPr>
          <p:nvPr/>
        </p:nvPicPr>
        <p:blipFill>
          <a:blip r:embed="rId3" cstate="print"/>
          <a:stretch>
            <a:fillRect/>
          </a:stretch>
        </p:blipFill>
        <p:spPr bwMode="gray">
          <a:xfrm>
            <a:off x="602480" y="5118296"/>
            <a:ext cx="878866" cy="674967"/>
          </a:xfrm>
          <a:prstGeom prst="rect">
            <a:avLst/>
          </a:prstGeom>
        </p:spPr>
      </p:pic>
      <p:sp>
        <p:nvSpPr>
          <p:cNvPr id="99" name="TextBox 98"/>
          <p:cNvSpPr txBox="1"/>
          <p:nvPr/>
        </p:nvSpPr>
        <p:spPr bwMode="gray">
          <a:xfrm>
            <a:off x="703368" y="5798731"/>
            <a:ext cx="68159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租户</a:t>
            </a:r>
            <a:r>
              <a:rPr lang="en-US" altLang="zh-CN" sz="1400" dirty="0">
                <a:latin typeface="Huawei Sans" panose="020C0503030203020204" pitchFamily="34" charset="0"/>
                <a:ea typeface="方正兰亭黑简体" panose="02000000000000000000" pitchFamily="2" charset="-122"/>
              </a:rPr>
              <a:t>N</a:t>
            </a:r>
            <a:endParaRPr lang="zh-CN" altLang="en-US" sz="1400" dirty="0">
              <a:latin typeface="Huawei Sans" panose="020C0503030203020204" pitchFamily="34" charset="0"/>
              <a:ea typeface="方正兰亭黑简体" panose="02000000000000000000" pitchFamily="2" charset="-122"/>
            </a:endParaRPr>
          </a:p>
        </p:txBody>
      </p:sp>
      <p:sp>
        <p:nvSpPr>
          <p:cNvPr id="100" name="Freeform 99"/>
          <p:cNvSpPr/>
          <p:nvPr/>
        </p:nvSpPr>
        <p:spPr bwMode="gray">
          <a:xfrm flipV="1">
            <a:off x="2228003" y="5642704"/>
            <a:ext cx="9461500" cy="130416"/>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Freeform 100"/>
          <p:cNvSpPr/>
          <p:nvPr/>
        </p:nvSpPr>
        <p:spPr bwMode="gray">
          <a:xfrm>
            <a:off x="2261704" y="5368131"/>
            <a:ext cx="9461500" cy="126788"/>
          </a:xfrm>
          <a:custGeom>
            <a:avLst/>
            <a:gdLst>
              <a:gd name="connsiteX0" fmla="*/ 0 w 9461500"/>
              <a:gd name="connsiteY0" fmla="*/ 12943 h 700437"/>
              <a:gd name="connsiteX1" fmla="*/ 927100 w 9461500"/>
              <a:gd name="connsiteY1" fmla="*/ 25643 h 700437"/>
              <a:gd name="connsiteX2" fmla="*/ 4711700 w 9461500"/>
              <a:gd name="connsiteY2" fmla="*/ 51043 h 700437"/>
              <a:gd name="connsiteX3" fmla="*/ 6718300 w 9461500"/>
              <a:gd name="connsiteY3" fmla="*/ 635243 h 700437"/>
              <a:gd name="connsiteX4" fmla="*/ 9461500 w 9461500"/>
              <a:gd name="connsiteY4" fmla="*/ 660643 h 700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00" h="700437">
                <a:moveTo>
                  <a:pt x="0" y="12943"/>
                </a:moveTo>
                <a:lnTo>
                  <a:pt x="927100" y="25643"/>
                </a:lnTo>
                <a:cubicBezTo>
                  <a:pt x="1712383" y="31993"/>
                  <a:pt x="3746500" y="-50557"/>
                  <a:pt x="4711700" y="51043"/>
                </a:cubicBezTo>
                <a:cubicBezTo>
                  <a:pt x="5676900" y="152643"/>
                  <a:pt x="5926667" y="533643"/>
                  <a:pt x="6718300" y="635243"/>
                </a:cubicBezTo>
                <a:cubicBezTo>
                  <a:pt x="7509933" y="736843"/>
                  <a:pt x="8485716" y="698743"/>
                  <a:pt x="9461500" y="660643"/>
                </a:cubicBezTo>
              </a:path>
            </a:pathLst>
          </a:cu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02" name="TextBox 101"/>
          <p:cNvSpPr txBox="1"/>
          <p:nvPr/>
        </p:nvSpPr>
        <p:spPr bwMode="gray">
          <a:xfrm>
            <a:off x="1450067" y="5226915"/>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视频流量</a:t>
            </a:r>
          </a:p>
        </p:txBody>
      </p:sp>
      <p:sp>
        <p:nvSpPr>
          <p:cNvPr id="103" name="TextBox 102"/>
          <p:cNvSpPr txBox="1"/>
          <p:nvPr/>
        </p:nvSpPr>
        <p:spPr bwMode="gray">
          <a:xfrm>
            <a:off x="1422554" y="5639452"/>
            <a:ext cx="898003"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其他流量</a:t>
            </a:r>
          </a:p>
        </p:txBody>
      </p:sp>
      <p:sp>
        <p:nvSpPr>
          <p:cNvPr id="84" name="TextBox 83"/>
          <p:cNvSpPr txBox="1"/>
          <p:nvPr/>
        </p:nvSpPr>
        <p:spPr bwMode="gray">
          <a:xfrm>
            <a:off x="8013536" y="3085805"/>
            <a:ext cx="967143" cy="523220"/>
          </a:xfrm>
          <a:prstGeom prst="rect">
            <a:avLst/>
          </a:prstGeom>
          <a:noFill/>
        </p:spPr>
        <p:txBody>
          <a:bodyPr wrap="square" rtlCol="0">
            <a:spAutoFit/>
          </a:bodyPr>
          <a:lstStyle/>
          <a:p>
            <a:pPr fontAlgn="auto"/>
            <a:r>
              <a:rPr lang="zh-CN" altLang="en-US" sz="1400" b="1" dirty="0">
                <a:latin typeface="Huawei Sans" panose="020C0503030203020204" pitchFamily="34" charset="0"/>
                <a:ea typeface="方正兰亭黑简体" panose="02000000000000000000" pitchFamily="2" charset="-122"/>
              </a:rPr>
              <a:t>子接口，</a:t>
            </a:r>
            <a:r>
              <a:rPr lang="en-US" altLang="zh-CN" sz="1400" b="1" dirty="0">
                <a:latin typeface="Huawei Sans" panose="020C0503030203020204" pitchFamily="34" charset="0"/>
                <a:ea typeface="方正兰亭黑简体" panose="02000000000000000000" pitchFamily="2" charset="-122"/>
              </a:rPr>
              <a:t>Tunnel</a:t>
            </a:r>
            <a:r>
              <a:rPr lang="zh-CN" altLang="en-US" sz="1400" b="1" dirty="0">
                <a:latin typeface="Huawei Sans" panose="020C0503030203020204" pitchFamily="34" charset="0"/>
                <a:ea typeface="方正兰亭黑简体" panose="02000000000000000000" pitchFamily="2" charset="-122"/>
              </a:rPr>
              <a:t>等</a:t>
            </a:r>
          </a:p>
        </p:txBody>
      </p:sp>
    </p:spTree>
    <p:extLst>
      <p:ext uri="{BB962C8B-B14F-4D97-AF65-F5344CB8AC3E}">
        <p14:creationId xmlns:p14="http://schemas.microsoft.com/office/powerpoint/2010/main" val="10975925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队列调度介绍</a:t>
            </a:r>
          </a:p>
        </p:txBody>
      </p:sp>
      <p:sp>
        <p:nvSpPr>
          <p:cNvPr id="3" name="Text Placeholder 2"/>
          <p:cNvSpPr>
            <a:spLocks noGrp="1"/>
          </p:cNvSpPr>
          <p:nvPr>
            <p:ph type="body" sz="quarter" idx="10"/>
          </p:nvPr>
        </p:nvSpPr>
        <p:spPr bwMode="gray"/>
        <p:txBody>
          <a:bodyPr/>
          <a:lstStyle/>
          <a:p>
            <a:r>
              <a:rPr lang="zh-CN" altLang="en-US" sz="1800" dirty="0">
                <a:latin typeface="微软雅黑" panose="020B0503020204020204" pitchFamily="34" charset="-122"/>
                <a:ea typeface="微软雅黑" panose="020B0503020204020204" pitchFamily="34" charset="-122"/>
              </a:rPr>
              <a:t>流队列调度器和用户队列调度器都支持</a:t>
            </a:r>
            <a:r>
              <a:rPr lang="en-US" altLang="zh-CN" sz="1800" dirty="0">
                <a:latin typeface="微软雅黑" panose="020B0503020204020204" pitchFamily="34" charset="-122"/>
                <a:ea typeface="微软雅黑" panose="020B0503020204020204" pitchFamily="34" charset="-122"/>
              </a:rPr>
              <a:t>PQ</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WFQ</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PQ+WFQ</a:t>
            </a:r>
            <a:r>
              <a:rPr lang="zh-CN" altLang="en-US" sz="1800" dirty="0">
                <a:latin typeface="微软雅黑" panose="020B0503020204020204" pitchFamily="34" charset="-122"/>
                <a:ea typeface="微软雅黑" panose="020B0503020204020204" pitchFamily="34" charset="-122"/>
              </a:rPr>
              <a:t>调度。接口队列调度器使用轮询调度</a:t>
            </a:r>
            <a:r>
              <a:rPr lang="en-US" altLang="zh-CN" sz="1800" dirty="0">
                <a:latin typeface="微软雅黑" panose="020B0503020204020204" pitchFamily="34" charset="-122"/>
                <a:ea typeface="微软雅黑" panose="020B0503020204020204" pitchFamily="34" charset="-122"/>
              </a:rPr>
              <a:t>RR</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Round Robin</a:t>
            </a:r>
            <a:r>
              <a:rPr lang="zh-CN" altLang="en-US" sz="1800" dirty="0">
                <a:latin typeface="微软雅黑" panose="020B0503020204020204" pitchFamily="34" charset="-122"/>
                <a:ea typeface="微软雅黑" panose="020B0503020204020204" pitchFamily="34" charset="-122"/>
              </a:rPr>
              <a:t>）方式。</a:t>
            </a:r>
            <a:endParaRPr lang="zh-CN" altLang="en-US" sz="1800" dirty="0"/>
          </a:p>
        </p:txBody>
      </p:sp>
      <p:sp>
        <p:nvSpPr>
          <p:cNvPr id="4" name="圆角矩形 75"/>
          <p:cNvSpPr/>
          <p:nvPr/>
        </p:nvSpPr>
        <p:spPr bwMode="gray">
          <a:xfrm>
            <a:off x="1874821" y="2377287"/>
            <a:ext cx="8711517" cy="382027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5" name="圆角矩形 75"/>
          <p:cNvSpPr/>
          <p:nvPr/>
        </p:nvSpPr>
        <p:spPr bwMode="gray">
          <a:xfrm>
            <a:off x="1847528" y="1949088"/>
            <a:ext cx="8734182"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HQoS</a:t>
            </a:r>
            <a:r>
              <a:rPr lang="zh-CN" altLang="en-US" sz="1600" dirty="0">
                <a:solidFill>
                  <a:srgbClr val="30B5C5"/>
                </a:solidFill>
                <a:latin typeface="Huawei Sans" panose="020C0503030203020204" pitchFamily="34" charset="0"/>
                <a:ea typeface="方正兰亭黑简体" panose="02000000000000000000" pitchFamily="2" charset="-122"/>
              </a:rPr>
              <a:t>队列调度</a:t>
            </a:r>
          </a:p>
        </p:txBody>
      </p:sp>
      <p:cxnSp>
        <p:nvCxnSpPr>
          <p:cNvPr id="13" name="Elbow Connector 12"/>
          <p:cNvCxnSpPr>
            <a:cxnSpLocks/>
          </p:cNvCxnSpPr>
          <p:nvPr/>
        </p:nvCxnSpPr>
        <p:spPr bwMode="gray">
          <a:xfrm>
            <a:off x="4002061" y="2579743"/>
            <a:ext cx="1265046" cy="61089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4" name="Elbow Connector 13"/>
          <p:cNvCxnSpPr>
            <a:cxnSpLocks/>
          </p:cNvCxnSpPr>
          <p:nvPr/>
        </p:nvCxnSpPr>
        <p:spPr bwMode="gray">
          <a:xfrm flipV="1">
            <a:off x="4002061" y="3190642"/>
            <a:ext cx="1265046" cy="61323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5" name="Elbow Connector 14"/>
          <p:cNvCxnSpPr>
            <a:cxnSpLocks/>
          </p:cNvCxnSpPr>
          <p:nvPr/>
        </p:nvCxnSpPr>
        <p:spPr bwMode="gray">
          <a:xfrm>
            <a:off x="4002061" y="4739983"/>
            <a:ext cx="1277850" cy="61089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6" name="Elbow Connector 15"/>
          <p:cNvCxnSpPr>
            <a:cxnSpLocks/>
          </p:cNvCxnSpPr>
          <p:nvPr/>
        </p:nvCxnSpPr>
        <p:spPr bwMode="gray">
          <a:xfrm flipV="1">
            <a:off x="4002060" y="5350882"/>
            <a:ext cx="1277851" cy="64807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7" name="Elbow Connector 16"/>
          <p:cNvCxnSpPr>
            <a:cxnSpLocks/>
          </p:cNvCxnSpPr>
          <p:nvPr/>
        </p:nvCxnSpPr>
        <p:spPr bwMode="gray">
          <a:xfrm>
            <a:off x="6881578" y="3190642"/>
            <a:ext cx="1122637" cy="108128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8" name="Elbow Connector 17"/>
          <p:cNvCxnSpPr>
            <a:cxnSpLocks/>
          </p:cNvCxnSpPr>
          <p:nvPr/>
        </p:nvCxnSpPr>
        <p:spPr bwMode="gray">
          <a:xfrm flipV="1">
            <a:off x="6894382" y="4271931"/>
            <a:ext cx="1109833" cy="107895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bwMode="gray">
          <a:xfrm>
            <a:off x="2733159" y="3022450"/>
            <a:ext cx="461665" cy="376148"/>
          </a:xfrm>
          <a:prstGeom prst="rect">
            <a:avLst/>
          </a:prstGeom>
          <a:noFill/>
        </p:spPr>
        <p:txBody>
          <a:bodyPr vert="eaVert" wrap="square" rtlCol="0">
            <a:spAutoFit/>
          </a:bodyPr>
          <a:lstStyle/>
          <a:p>
            <a:r>
              <a:rPr lang="en-US" altLang="zh-CN" sz="1800" dirty="0"/>
              <a:t>…</a:t>
            </a:r>
            <a:endParaRPr lang="zh-CN" altLang="en-US" sz="1800" dirty="0"/>
          </a:p>
        </p:txBody>
      </p:sp>
      <p:sp>
        <p:nvSpPr>
          <p:cNvPr id="20" name="TextBox 19"/>
          <p:cNvSpPr txBox="1"/>
          <p:nvPr/>
        </p:nvSpPr>
        <p:spPr bwMode="gray">
          <a:xfrm>
            <a:off x="2733158" y="4054806"/>
            <a:ext cx="461665" cy="44699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21" name="TextBox 20"/>
          <p:cNvSpPr txBox="1"/>
          <p:nvPr/>
        </p:nvSpPr>
        <p:spPr bwMode="gray">
          <a:xfrm>
            <a:off x="2733158" y="5151259"/>
            <a:ext cx="461665" cy="404538"/>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22" name="TextBox 21"/>
          <p:cNvSpPr txBox="1"/>
          <p:nvPr/>
        </p:nvSpPr>
        <p:spPr bwMode="gray">
          <a:xfrm>
            <a:off x="5855015" y="3949573"/>
            <a:ext cx="461665" cy="771096"/>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23" name="TextBox 22"/>
          <p:cNvSpPr txBox="1"/>
          <p:nvPr/>
        </p:nvSpPr>
        <p:spPr bwMode="gray">
          <a:xfrm>
            <a:off x="8703138" y="4693559"/>
            <a:ext cx="461665" cy="802331"/>
          </a:xfrm>
          <a:prstGeom prst="rect">
            <a:avLst/>
          </a:prstGeom>
          <a:noFill/>
        </p:spPr>
        <p:txBody>
          <a:bodyPr vert="eaVert" wrap="square" rtlCol="0">
            <a:spAutoFit/>
          </a:bodyPr>
          <a:lstStyle/>
          <a:p>
            <a:pPr algn="ctr"/>
            <a:r>
              <a:rPr lang="en-US" altLang="zh-CN" sz="1800" dirty="0"/>
              <a:t>……</a:t>
            </a:r>
            <a:endParaRPr lang="zh-CN" altLang="en-US" sz="1800" dirty="0"/>
          </a:p>
        </p:txBody>
      </p:sp>
      <p:sp>
        <p:nvSpPr>
          <p:cNvPr id="25" name="Oval 24"/>
          <p:cNvSpPr/>
          <p:nvPr/>
        </p:nvSpPr>
        <p:spPr bwMode="gray">
          <a:xfrm rot="16200000">
            <a:off x="3727819" y="3035192"/>
            <a:ext cx="1152128" cy="348071"/>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PQ/WFQ</a:t>
            </a:r>
            <a:endParaRPr lang="zh-CN" altLang="en-US" sz="1200" dirty="0">
              <a:solidFill>
                <a:schemeClr val="tx1"/>
              </a:solidFill>
            </a:endParaRPr>
          </a:p>
        </p:txBody>
      </p:sp>
      <p:cxnSp>
        <p:nvCxnSpPr>
          <p:cNvPr id="26" name="Straight Arrow Connector 25"/>
          <p:cNvCxnSpPr/>
          <p:nvPr/>
        </p:nvCxnSpPr>
        <p:spPr bwMode="gray">
          <a:xfrm rot="16200000">
            <a:off x="3981748" y="3238457"/>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bwMode="gray">
          <a:xfrm rot="16200000" flipH="1">
            <a:off x="4336794" y="3238457"/>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p:cNvSpPr/>
          <p:nvPr/>
        </p:nvSpPr>
        <p:spPr bwMode="gray">
          <a:xfrm rot="16200000">
            <a:off x="3787270" y="5198368"/>
            <a:ext cx="1152128" cy="348071"/>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PQ/WFQ</a:t>
            </a:r>
            <a:endParaRPr lang="zh-CN" altLang="en-US" sz="1200" dirty="0">
              <a:solidFill>
                <a:schemeClr val="tx1"/>
              </a:solidFill>
            </a:endParaRPr>
          </a:p>
        </p:txBody>
      </p:sp>
      <p:cxnSp>
        <p:nvCxnSpPr>
          <p:cNvPr id="29" name="Straight Arrow Connector 28"/>
          <p:cNvCxnSpPr/>
          <p:nvPr/>
        </p:nvCxnSpPr>
        <p:spPr bwMode="gray">
          <a:xfrm rot="16200000">
            <a:off x="4041874" y="5398715"/>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bwMode="gray">
          <a:xfrm rot="16200000" flipH="1">
            <a:off x="4393354" y="5351874"/>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bwMode="gray">
          <a:xfrm rot="16200000">
            <a:off x="6544282" y="4167063"/>
            <a:ext cx="1152128" cy="348071"/>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PQ/WFQ</a:t>
            </a:r>
            <a:endParaRPr lang="zh-CN" altLang="en-US" sz="1200" dirty="0">
              <a:solidFill>
                <a:schemeClr val="tx1"/>
              </a:solidFill>
            </a:endParaRPr>
          </a:p>
        </p:txBody>
      </p:sp>
      <p:cxnSp>
        <p:nvCxnSpPr>
          <p:cNvPr id="32" name="Straight Arrow Connector 31"/>
          <p:cNvCxnSpPr/>
          <p:nvPr/>
        </p:nvCxnSpPr>
        <p:spPr bwMode="gray">
          <a:xfrm rot="16200000">
            <a:off x="6801644" y="4315920"/>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bwMode="gray">
          <a:xfrm rot="16200000" flipH="1">
            <a:off x="7150366" y="4335122"/>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p:cNvSpPr/>
          <p:nvPr/>
        </p:nvSpPr>
        <p:spPr bwMode="gray">
          <a:xfrm rot="16200000">
            <a:off x="9421825" y="4907272"/>
            <a:ext cx="786880" cy="348071"/>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RR</a:t>
            </a:r>
            <a:endParaRPr lang="zh-CN" altLang="en-US" sz="1200" dirty="0">
              <a:solidFill>
                <a:schemeClr val="tx1"/>
              </a:solidFill>
            </a:endParaRPr>
          </a:p>
        </p:txBody>
      </p:sp>
      <p:cxnSp>
        <p:nvCxnSpPr>
          <p:cNvPr id="35" name="Straight Arrow Connector 34"/>
          <p:cNvCxnSpPr/>
          <p:nvPr/>
        </p:nvCxnSpPr>
        <p:spPr bwMode="gray">
          <a:xfrm rot="16200000">
            <a:off x="9503563" y="5094764"/>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bwMode="gray">
          <a:xfrm rot="16200000" flipH="1">
            <a:off x="9842346" y="5107605"/>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p:cNvCxnSpPr>
            <a:cxnSpLocks/>
          </p:cNvCxnSpPr>
          <p:nvPr/>
        </p:nvCxnSpPr>
        <p:spPr bwMode="gray">
          <a:xfrm>
            <a:off x="9618686" y="4271931"/>
            <a:ext cx="12700" cy="1583007"/>
          </a:xfrm>
          <a:prstGeom prst="bentConnector3">
            <a:avLst>
              <a:gd name="adj1" fmla="val 4148882"/>
            </a:avLst>
          </a:prstGeom>
        </p:spPr>
        <p:style>
          <a:lnRef idx="1">
            <a:schemeClr val="accent1"/>
          </a:lnRef>
          <a:fillRef idx="0">
            <a:schemeClr val="accent1"/>
          </a:fillRef>
          <a:effectRef idx="0">
            <a:schemeClr val="accent1"/>
          </a:effectRef>
          <a:fontRef idx="minor">
            <a:schemeClr val="tx1"/>
          </a:fontRef>
        </p:style>
      </p:cxnSp>
      <p:sp>
        <p:nvSpPr>
          <p:cNvPr id="41" name="Can 225">
            <a:extLst>
              <a:ext uri="{FF2B5EF4-FFF2-40B4-BE49-F238E27FC236}">
                <a16:creationId xmlns:a16="http://schemas.microsoft.com/office/drawing/2014/main" id="{D99A67CC-5415-4D7E-BE6B-53D4594E9FA1}"/>
              </a:ext>
            </a:extLst>
          </p:cNvPr>
          <p:cNvSpPr/>
          <p:nvPr/>
        </p:nvSpPr>
        <p:spPr bwMode="gray">
          <a:xfrm rot="5400000">
            <a:off x="3068225" y="1782986"/>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Can 225">
            <a:extLst>
              <a:ext uri="{FF2B5EF4-FFF2-40B4-BE49-F238E27FC236}">
                <a16:creationId xmlns:a16="http://schemas.microsoft.com/office/drawing/2014/main" id="{C5F9CA59-582D-41B1-A618-A13C48D50B1E}"/>
              </a:ext>
            </a:extLst>
          </p:cNvPr>
          <p:cNvSpPr/>
          <p:nvPr/>
        </p:nvSpPr>
        <p:spPr bwMode="gray">
          <a:xfrm rot="5400000">
            <a:off x="3058270" y="2995943"/>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Rectangular Callout 37"/>
          <p:cNvSpPr/>
          <p:nvPr/>
        </p:nvSpPr>
        <p:spPr bwMode="gray">
          <a:xfrm>
            <a:off x="3110652" y="3984244"/>
            <a:ext cx="1521102" cy="538199"/>
          </a:xfrm>
          <a:prstGeom prst="wedgeRectCallout">
            <a:avLst>
              <a:gd name="adj1" fmla="val -26210"/>
              <a:gd name="adj2" fmla="val -8240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rPr>
              <a:t>Level3</a:t>
            </a:r>
            <a:r>
              <a:rPr lang="zh-CN" altLang="en-US" sz="1400" dirty="0">
                <a:solidFill>
                  <a:schemeClr val="tx1"/>
                </a:solidFill>
              </a:rPr>
              <a:t>流队列（</a:t>
            </a:r>
            <a:r>
              <a:rPr lang="en-US" altLang="zh-CN" sz="1400" dirty="0">
                <a:solidFill>
                  <a:schemeClr val="tx1"/>
                </a:solidFill>
              </a:rPr>
              <a:t>Flow Queue</a:t>
            </a:r>
            <a:r>
              <a:rPr lang="zh-CN" altLang="en-US" sz="1400" dirty="0">
                <a:solidFill>
                  <a:schemeClr val="tx1"/>
                </a:solidFill>
              </a:rPr>
              <a:t>）</a:t>
            </a:r>
          </a:p>
        </p:txBody>
      </p:sp>
      <p:sp>
        <p:nvSpPr>
          <p:cNvPr id="43" name="Can 225">
            <a:extLst>
              <a:ext uri="{FF2B5EF4-FFF2-40B4-BE49-F238E27FC236}">
                <a16:creationId xmlns:a16="http://schemas.microsoft.com/office/drawing/2014/main" id="{F48D35C0-D6D8-4909-A625-85DB05E396EA}"/>
              </a:ext>
            </a:extLst>
          </p:cNvPr>
          <p:cNvSpPr/>
          <p:nvPr/>
        </p:nvSpPr>
        <p:spPr bwMode="gray">
          <a:xfrm rot="5400000">
            <a:off x="3070047" y="3932048"/>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Can 225">
            <a:extLst>
              <a:ext uri="{FF2B5EF4-FFF2-40B4-BE49-F238E27FC236}">
                <a16:creationId xmlns:a16="http://schemas.microsoft.com/office/drawing/2014/main" id="{6624AB04-80EF-4F63-8D39-D3435A602D5A}"/>
              </a:ext>
            </a:extLst>
          </p:cNvPr>
          <p:cNvSpPr/>
          <p:nvPr/>
        </p:nvSpPr>
        <p:spPr bwMode="gray">
          <a:xfrm rot="5400000">
            <a:off x="3055526" y="5189276"/>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Can 9">
            <a:extLst>
              <a:ext uri="{FF2B5EF4-FFF2-40B4-BE49-F238E27FC236}">
                <a16:creationId xmlns:a16="http://schemas.microsoft.com/office/drawing/2014/main" id="{792E0184-3373-4393-B549-C55CC3FEB82D}"/>
              </a:ext>
            </a:extLst>
          </p:cNvPr>
          <p:cNvSpPr/>
          <p:nvPr/>
        </p:nvSpPr>
        <p:spPr bwMode="gray">
          <a:xfrm rot="5400000">
            <a:off x="5947744" y="2392010"/>
            <a:ext cx="253196" cy="1614471"/>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Rectangular Callout 38"/>
          <p:cNvSpPr/>
          <p:nvPr/>
        </p:nvSpPr>
        <p:spPr bwMode="gray">
          <a:xfrm>
            <a:off x="4868335" y="3328979"/>
            <a:ext cx="1855786" cy="538199"/>
          </a:xfrm>
          <a:prstGeom prst="wedgeRectCallout">
            <a:avLst>
              <a:gd name="adj1" fmla="val -8270"/>
              <a:gd name="adj2" fmla="val -704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rPr>
              <a:t>Level2</a:t>
            </a:r>
            <a:r>
              <a:rPr lang="zh-CN" altLang="en-US" sz="1400" dirty="0">
                <a:solidFill>
                  <a:schemeClr val="tx1"/>
                </a:solidFill>
              </a:rPr>
              <a:t>用户队列（</a:t>
            </a:r>
            <a:r>
              <a:rPr lang="en-US" altLang="zh-CN" sz="1400" dirty="0">
                <a:solidFill>
                  <a:schemeClr val="tx1"/>
                </a:solidFill>
              </a:rPr>
              <a:t>Subscriber Queue</a:t>
            </a:r>
            <a:r>
              <a:rPr lang="zh-CN" altLang="en-US" sz="1400" dirty="0">
                <a:solidFill>
                  <a:schemeClr val="tx1"/>
                </a:solidFill>
              </a:rPr>
              <a:t>）</a:t>
            </a:r>
          </a:p>
        </p:txBody>
      </p:sp>
      <p:sp>
        <p:nvSpPr>
          <p:cNvPr id="46" name="Can 9">
            <a:extLst>
              <a:ext uri="{FF2B5EF4-FFF2-40B4-BE49-F238E27FC236}">
                <a16:creationId xmlns:a16="http://schemas.microsoft.com/office/drawing/2014/main" id="{96135DD5-FECD-4416-BF1D-D3829087FA8F}"/>
              </a:ext>
            </a:extLst>
          </p:cNvPr>
          <p:cNvSpPr/>
          <p:nvPr/>
        </p:nvSpPr>
        <p:spPr bwMode="gray">
          <a:xfrm rot="5400000">
            <a:off x="5962216" y="4533876"/>
            <a:ext cx="253196" cy="1614471"/>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Can 9">
            <a:extLst>
              <a:ext uri="{FF2B5EF4-FFF2-40B4-BE49-F238E27FC236}">
                <a16:creationId xmlns:a16="http://schemas.microsoft.com/office/drawing/2014/main" id="{98F11407-AAE7-44C3-9A63-9C8156084145}"/>
              </a:ext>
            </a:extLst>
          </p:cNvPr>
          <p:cNvSpPr/>
          <p:nvPr/>
        </p:nvSpPr>
        <p:spPr bwMode="gray">
          <a:xfrm rot="5400000">
            <a:off x="8664195" y="3464696"/>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Rectangular Callout 39"/>
          <p:cNvSpPr/>
          <p:nvPr/>
        </p:nvSpPr>
        <p:spPr bwMode="gray">
          <a:xfrm>
            <a:off x="7882283" y="3473236"/>
            <a:ext cx="1768185" cy="538199"/>
          </a:xfrm>
          <a:prstGeom prst="wedgeRectCallout">
            <a:avLst>
              <a:gd name="adj1" fmla="val -20640"/>
              <a:gd name="adj2" fmla="val 7843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rPr>
              <a:t>Level1</a:t>
            </a:r>
            <a:r>
              <a:rPr lang="zh-CN" altLang="en-US" sz="1400" dirty="0">
                <a:solidFill>
                  <a:schemeClr val="tx1"/>
                </a:solidFill>
              </a:rPr>
              <a:t>接口队列（</a:t>
            </a:r>
            <a:r>
              <a:rPr lang="en-US" altLang="zh-CN" sz="1400" dirty="0">
                <a:solidFill>
                  <a:schemeClr val="tx1"/>
                </a:solidFill>
              </a:rPr>
              <a:t>Port Queue</a:t>
            </a:r>
            <a:r>
              <a:rPr lang="zh-CN" altLang="en-US" sz="1400" dirty="0">
                <a:solidFill>
                  <a:schemeClr val="tx1"/>
                </a:solidFill>
              </a:rPr>
              <a:t>）</a:t>
            </a:r>
          </a:p>
        </p:txBody>
      </p:sp>
      <p:sp>
        <p:nvSpPr>
          <p:cNvPr id="48" name="Can 9">
            <a:extLst>
              <a:ext uri="{FF2B5EF4-FFF2-40B4-BE49-F238E27FC236}">
                <a16:creationId xmlns:a16="http://schemas.microsoft.com/office/drawing/2014/main" id="{8D1D496A-39E1-4611-B992-FBFA5B0FD20F}"/>
              </a:ext>
            </a:extLst>
          </p:cNvPr>
          <p:cNvSpPr/>
          <p:nvPr/>
        </p:nvSpPr>
        <p:spPr bwMode="gray">
          <a:xfrm rot="5400000">
            <a:off x="8675010" y="5039100"/>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5873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流量整形介绍</a:t>
            </a:r>
          </a:p>
        </p:txBody>
      </p:sp>
      <p:sp>
        <p:nvSpPr>
          <p:cNvPr id="3" name="Text Placeholder 2"/>
          <p:cNvSpPr>
            <a:spLocks noGrp="1"/>
          </p:cNvSpPr>
          <p:nvPr>
            <p:ph type="body" sz="quarter" idx="10"/>
          </p:nvPr>
        </p:nvSpPr>
        <p:spPr bwMode="gray"/>
        <p:txBody>
          <a:bodyPr/>
          <a:lstStyle/>
          <a:p>
            <a:r>
              <a:rPr lang="zh-CN" altLang="en-US" sz="1800" dirty="0"/>
              <a:t>整形器实现报文的缓存及限速功能。设备支持三级整形器，即流队列整形器、用户队列整形器和接口队列整形器。报文进入设备后先缓存到队列，再限速从队列发送报文，整形器配合限速算法可以保证承诺速率并限制最大速率。</a:t>
            </a:r>
          </a:p>
        </p:txBody>
      </p:sp>
      <p:sp>
        <p:nvSpPr>
          <p:cNvPr id="49" name="Rectangle 48"/>
          <p:cNvSpPr/>
          <p:nvPr/>
        </p:nvSpPr>
        <p:spPr bwMode="gray">
          <a:xfrm>
            <a:off x="7567415" y="2628663"/>
            <a:ext cx="2700300"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Level1</a:t>
            </a:r>
            <a:r>
              <a:rPr lang="zh-CN" altLang="en-US" sz="1400" dirty="0">
                <a:solidFill>
                  <a:schemeClr val="tx1"/>
                </a:solidFill>
              </a:rPr>
              <a:t>接口队列整形</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Port Queue</a:t>
            </a:r>
            <a:r>
              <a:rPr lang="zh-CN" altLang="en-US" sz="1400" dirty="0">
                <a:solidFill>
                  <a:schemeClr val="tx1"/>
                </a:solidFill>
              </a:rPr>
              <a:t>）</a:t>
            </a:r>
          </a:p>
        </p:txBody>
      </p:sp>
      <p:sp>
        <p:nvSpPr>
          <p:cNvPr id="48" name="Rectangle 47"/>
          <p:cNvSpPr/>
          <p:nvPr/>
        </p:nvSpPr>
        <p:spPr bwMode="gray">
          <a:xfrm>
            <a:off x="4736087" y="2628663"/>
            <a:ext cx="2700300"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Level2</a:t>
            </a:r>
            <a:r>
              <a:rPr lang="zh-CN" altLang="en-US" sz="1400" dirty="0">
                <a:solidFill>
                  <a:schemeClr val="tx1"/>
                </a:solidFill>
              </a:rPr>
              <a:t>用户队列整形</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Subscriber Queue</a:t>
            </a:r>
            <a:r>
              <a:rPr lang="zh-CN" altLang="en-US" sz="1400" dirty="0">
                <a:solidFill>
                  <a:schemeClr val="tx1"/>
                </a:solidFill>
              </a:rPr>
              <a:t>）</a:t>
            </a:r>
          </a:p>
        </p:txBody>
      </p:sp>
      <p:sp>
        <p:nvSpPr>
          <p:cNvPr id="47" name="Rectangle 46"/>
          <p:cNvSpPr/>
          <p:nvPr/>
        </p:nvSpPr>
        <p:spPr bwMode="gray">
          <a:xfrm>
            <a:off x="1883532" y="2628663"/>
            <a:ext cx="2700300"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Level3</a:t>
            </a:r>
            <a:r>
              <a:rPr lang="zh-CN" altLang="en-US" sz="1400" dirty="0">
                <a:solidFill>
                  <a:schemeClr val="tx1"/>
                </a:solidFill>
              </a:rPr>
              <a:t>流队列整形</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Flow Queue</a:t>
            </a:r>
            <a:r>
              <a:rPr lang="zh-CN" altLang="en-US" sz="1400" dirty="0">
                <a:solidFill>
                  <a:schemeClr val="tx1"/>
                </a:solidFill>
              </a:rPr>
              <a:t>）</a:t>
            </a:r>
          </a:p>
        </p:txBody>
      </p:sp>
      <p:cxnSp>
        <p:nvCxnSpPr>
          <p:cNvPr id="11" name="Elbow Connector 10"/>
          <p:cNvCxnSpPr>
            <a:cxnSpLocks/>
          </p:cNvCxnSpPr>
          <p:nvPr/>
        </p:nvCxnSpPr>
        <p:spPr bwMode="gray">
          <a:xfrm>
            <a:off x="3817325" y="3641219"/>
            <a:ext cx="1265046" cy="61089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 name="Elbow Connector 11"/>
          <p:cNvCxnSpPr>
            <a:cxnSpLocks/>
          </p:cNvCxnSpPr>
          <p:nvPr/>
        </p:nvCxnSpPr>
        <p:spPr bwMode="gray">
          <a:xfrm flipV="1">
            <a:off x="3817325" y="4252118"/>
            <a:ext cx="1265046" cy="613237"/>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bwMode="gray">
          <a:xfrm>
            <a:off x="2548423" y="4083926"/>
            <a:ext cx="461665" cy="376148"/>
          </a:xfrm>
          <a:prstGeom prst="rect">
            <a:avLst/>
          </a:prstGeom>
          <a:noFill/>
        </p:spPr>
        <p:txBody>
          <a:bodyPr vert="eaVert" wrap="square" rtlCol="0">
            <a:spAutoFit/>
          </a:bodyPr>
          <a:lstStyle/>
          <a:p>
            <a:r>
              <a:rPr lang="en-US" altLang="zh-CN" sz="1800" dirty="0"/>
              <a:t>…</a:t>
            </a:r>
            <a:endParaRPr lang="zh-CN" altLang="en-US" sz="1800" dirty="0"/>
          </a:p>
        </p:txBody>
      </p:sp>
      <p:cxnSp>
        <p:nvCxnSpPr>
          <p:cNvPr id="41" name="Straight Connector 40"/>
          <p:cNvCxnSpPr>
            <a:cxnSpLocks/>
          </p:cNvCxnSpPr>
          <p:nvPr/>
        </p:nvCxnSpPr>
        <p:spPr bwMode="gray">
          <a:xfrm>
            <a:off x="6696842" y="4252118"/>
            <a:ext cx="1276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bwMode="gray">
          <a:xfrm>
            <a:off x="3899756" y="3641219"/>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bwMode="gray">
          <a:xfrm>
            <a:off x="3899756" y="4867831"/>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bwMode="gray">
          <a:xfrm>
            <a:off x="6850555" y="4252118"/>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n 225">
            <a:extLst>
              <a:ext uri="{FF2B5EF4-FFF2-40B4-BE49-F238E27FC236}">
                <a16:creationId xmlns:a16="http://schemas.microsoft.com/office/drawing/2014/main" id="{41DB1DFE-5A3C-47EB-9029-3138BBCCDB63}"/>
              </a:ext>
            </a:extLst>
          </p:cNvPr>
          <p:cNvSpPr/>
          <p:nvPr/>
        </p:nvSpPr>
        <p:spPr bwMode="gray">
          <a:xfrm rot="5400000">
            <a:off x="2881874" y="2856375"/>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Can 225">
            <a:extLst>
              <a:ext uri="{FF2B5EF4-FFF2-40B4-BE49-F238E27FC236}">
                <a16:creationId xmlns:a16="http://schemas.microsoft.com/office/drawing/2014/main" id="{65C3A74A-B58D-481A-AA9A-AF8BC80F012E}"/>
              </a:ext>
            </a:extLst>
          </p:cNvPr>
          <p:cNvSpPr/>
          <p:nvPr/>
        </p:nvSpPr>
        <p:spPr bwMode="gray">
          <a:xfrm rot="5400000">
            <a:off x="2881874" y="4079342"/>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Can 225">
            <a:extLst>
              <a:ext uri="{FF2B5EF4-FFF2-40B4-BE49-F238E27FC236}">
                <a16:creationId xmlns:a16="http://schemas.microsoft.com/office/drawing/2014/main" id="{CE5F97D3-FC61-4042-BFAF-CE8D65FBBBDD}"/>
              </a:ext>
            </a:extLst>
          </p:cNvPr>
          <p:cNvSpPr/>
          <p:nvPr/>
        </p:nvSpPr>
        <p:spPr bwMode="gray">
          <a:xfrm rot="5400000">
            <a:off x="3455475" y="3429977"/>
            <a:ext cx="253196" cy="467268"/>
          </a:xfrm>
          <a:prstGeom prst="can">
            <a:avLst>
              <a:gd name="adj" fmla="val 40000"/>
            </a:avLst>
          </a:prstGeom>
          <a:solidFill>
            <a:srgbClr val="D9D9D9"/>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Can 225">
            <a:extLst>
              <a:ext uri="{FF2B5EF4-FFF2-40B4-BE49-F238E27FC236}">
                <a16:creationId xmlns:a16="http://schemas.microsoft.com/office/drawing/2014/main" id="{E3584EFF-24C5-4D03-BC73-2CFEAFA70056}"/>
              </a:ext>
            </a:extLst>
          </p:cNvPr>
          <p:cNvSpPr/>
          <p:nvPr/>
        </p:nvSpPr>
        <p:spPr bwMode="gray">
          <a:xfrm rot="5400000">
            <a:off x="3317088" y="4513600"/>
            <a:ext cx="253196" cy="744043"/>
          </a:xfrm>
          <a:prstGeom prst="can">
            <a:avLst>
              <a:gd name="adj" fmla="val 40000"/>
            </a:avLst>
          </a:prstGeom>
          <a:solidFill>
            <a:srgbClr val="D9D9D9"/>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Rectangular Callout 35"/>
          <p:cNvSpPr/>
          <p:nvPr/>
        </p:nvSpPr>
        <p:spPr bwMode="gray">
          <a:xfrm>
            <a:off x="2296223" y="5127717"/>
            <a:ext cx="1521102" cy="538199"/>
          </a:xfrm>
          <a:prstGeom prst="wedgeRectCallout">
            <a:avLst>
              <a:gd name="adj1" fmla="val 21531"/>
              <a:gd name="adj2" fmla="val -10065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数据在</a:t>
            </a:r>
            <a:r>
              <a:rPr lang="zh-CN" altLang="en-US" sz="1400" b="1" dirty="0">
                <a:solidFill>
                  <a:srgbClr val="C00000"/>
                </a:solidFill>
              </a:rPr>
              <a:t>流队列</a:t>
            </a:r>
            <a:r>
              <a:rPr lang="zh-CN" altLang="en-US" sz="1400" dirty="0">
                <a:solidFill>
                  <a:schemeClr val="tx1"/>
                </a:solidFill>
              </a:rPr>
              <a:t>中缓存，等待发送</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1" name="Can 9">
            <a:extLst>
              <a:ext uri="{FF2B5EF4-FFF2-40B4-BE49-F238E27FC236}">
                <a16:creationId xmlns:a16="http://schemas.microsoft.com/office/drawing/2014/main" id="{792DB00A-5301-4DFA-9BEC-F0E6B2B46256}"/>
              </a:ext>
            </a:extLst>
          </p:cNvPr>
          <p:cNvSpPr/>
          <p:nvPr/>
        </p:nvSpPr>
        <p:spPr bwMode="gray">
          <a:xfrm rot="5400000">
            <a:off x="5779776" y="3444796"/>
            <a:ext cx="253196" cy="1614471"/>
          </a:xfrm>
          <a:prstGeom prst="can">
            <a:avLst>
              <a:gd name="adj" fmla="val 40000"/>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Can 225">
            <a:extLst>
              <a:ext uri="{FF2B5EF4-FFF2-40B4-BE49-F238E27FC236}">
                <a16:creationId xmlns:a16="http://schemas.microsoft.com/office/drawing/2014/main" id="{E1AD1464-A5F8-4D36-B021-F040E69EA294}"/>
              </a:ext>
            </a:extLst>
          </p:cNvPr>
          <p:cNvSpPr/>
          <p:nvPr/>
        </p:nvSpPr>
        <p:spPr bwMode="gray">
          <a:xfrm rot="5400000">
            <a:off x="6062682" y="3720093"/>
            <a:ext cx="262680" cy="1060141"/>
          </a:xfrm>
          <a:prstGeom prst="can">
            <a:avLst>
              <a:gd name="adj" fmla="val 40000"/>
            </a:avLst>
          </a:prstGeom>
          <a:solidFill>
            <a:srgbClr val="D9D9D9"/>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ectangular Callout 36"/>
          <p:cNvSpPr/>
          <p:nvPr/>
        </p:nvSpPr>
        <p:spPr bwMode="gray">
          <a:xfrm>
            <a:off x="5082370" y="4505140"/>
            <a:ext cx="1768185" cy="759534"/>
          </a:xfrm>
          <a:prstGeom prst="wedgeRectCallout">
            <a:avLst>
              <a:gd name="adj1" fmla="val 19784"/>
              <a:gd name="adj2" fmla="val -773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来自多个</a:t>
            </a:r>
            <a:r>
              <a:rPr lang="zh-CN" altLang="en-US" sz="1400" b="1" dirty="0">
                <a:solidFill>
                  <a:srgbClr val="C00000"/>
                </a:solidFill>
              </a:rPr>
              <a:t>流队列</a:t>
            </a:r>
            <a:r>
              <a:rPr lang="zh-CN" altLang="en-US" sz="1400" dirty="0">
                <a:solidFill>
                  <a:schemeClr val="tx1"/>
                </a:solidFill>
              </a:rPr>
              <a:t>的数据在</a:t>
            </a:r>
            <a:r>
              <a:rPr lang="zh-CN" altLang="en-US" sz="1400" b="1" dirty="0">
                <a:solidFill>
                  <a:srgbClr val="C00000"/>
                </a:solidFill>
              </a:rPr>
              <a:t>用户队列</a:t>
            </a:r>
            <a:r>
              <a:rPr lang="zh-CN" altLang="en-US" sz="1400" dirty="0">
                <a:solidFill>
                  <a:schemeClr val="tx1"/>
                </a:solidFill>
              </a:rPr>
              <a:t>中缓存，等待发送</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3" name="Can 9">
            <a:extLst>
              <a:ext uri="{FF2B5EF4-FFF2-40B4-BE49-F238E27FC236}">
                <a16:creationId xmlns:a16="http://schemas.microsoft.com/office/drawing/2014/main" id="{0A0E1430-AFAB-40AC-A2DD-2D8107F691DC}"/>
              </a:ext>
            </a:extLst>
          </p:cNvPr>
          <p:cNvSpPr/>
          <p:nvPr/>
        </p:nvSpPr>
        <p:spPr bwMode="gray">
          <a:xfrm rot="5400000">
            <a:off x="8653829" y="3442948"/>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Can 225">
            <a:extLst>
              <a:ext uri="{FF2B5EF4-FFF2-40B4-BE49-F238E27FC236}">
                <a16:creationId xmlns:a16="http://schemas.microsoft.com/office/drawing/2014/main" id="{54BD9D56-824D-4365-A9A5-9CFF5B2DD6D5}"/>
              </a:ext>
            </a:extLst>
          </p:cNvPr>
          <p:cNvSpPr/>
          <p:nvPr/>
        </p:nvSpPr>
        <p:spPr bwMode="gray">
          <a:xfrm rot="5400000">
            <a:off x="8754607" y="3546467"/>
            <a:ext cx="262680" cy="1403431"/>
          </a:xfrm>
          <a:prstGeom prst="can">
            <a:avLst>
              <a:gd name="adj" fmla="val 40000"/>
            </a:avLst>
          </a:prstGeom>
          <a:solidFill>
            <a:srgbClr val="D9D9D9"/>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Rectangular Callout 37"/>
          <p:cNvSpPr/>
          <p:nvPr/>
        </p:nvSpPr>
        <p:spPr bwMode="gray">
          <a:xfrm>
            <a:off x="7782670" y="4534802"/>
            <a:ext cx="1768185" cy="729872"/>
          </a:xfrm>
          <a:prstGeom prst="wedgeRectCallout">
            <a:avLst>
              <a:gd name="adj1" fmla="val 23284"/>
              <a:gd name="adj2" fmla="val -8462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来自多个</a:t>
            </a:r>
            <a:r>
              <a:rPr lang="zh-CN" altLang="en-US" sz="1400" b="1" dirty="0">
                <a:solidFill>
                  <a:srgbClr val="C00000"/>
                </a:solidFill>
              </a:rPr>
              <a:t>用户队列</a:t>
            </a:r>
            <a:r>
              <a:rPr lang="zh-CN" altLang="en-US" sz="1400" dirty="0">
                <a:solidFill>
                  <a:schemeClr val="tx1"/>
                </a:solidFill>
              </a:rPr>
              <a:t>的数据在</a:t>
            </a:r>
            <a:r>
              <a:rPr lang="zh-CN" altLang="en-US" sz="1400" b="1" dirty="0">
                <a:solidFill>
                  <a:srgbClr val="C00000"/>
                </a:solidFill>
              </a:rPr>
              <a:t>接口队列</a:t>
            </a:r>
            <a:r>
              <a:rPr lang="zh-CN" altLang="en-US" sz="1400" dirty="0">
                <a:solidFill>
                  <a:schemeClr val="tx1"/>
                </a:solidFill>
              </a:rPr>
              <a:t>中缓存，等待发送</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8168410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an 9">
            <a:extLst>
              <a:ext uri="{FF2B5EF4-FFF2-40B4-BE49-F238E27FC236}">
                <a16:creationId xmlns:a16="http://schemas.microsoft.com/office/drawing/2014/main" id="{7791D51B-3F6C-4E82-8D61-BCD8C66E09FC}"/>
              </a:ext>
            </a:extLst>
          </p:cNvPr>
          <p:cNvSpPr/>
          <p:nvPr/>
        </p:nvSpPr>
        <p:spPr bwMode="gray">
          <a:xfrm rot="5400000">
            <a:off x="7568079" y="3557566"/>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Can 9">
            <a:extLst>
              <a:ext uri="{FF2B5EF4-FFF2-40B4-BE49-F238E27FC236}">
                <a16:creationId xmlns:a16="http://schemas.microsoft.com/office/drawing/2014/main" id="{A53F0CF6-AC7C-4AC5-86DD-30D26A99278D}"/>
              </a:ext>
            </a:extLst>
          </p:cNvPr>
          <p:cNvSpPr/>
          <p:nvPr/>
        </p:nvSpPr>
        <p:spPr bwMode="gray">
          <a:xfrm rot="5400000">
            <a:off x="10442132" y="3555718"/>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Can 225">
            <a:extLst>
              <a:ext uri="{FF2B5EF4-FFF2-40B4-BE49-F238E27FC236}">
                <a16:creationId xmlns:a16="http://schemas.microsoft.com/office/drawing/2014/main" id="{A1A70C60-93F9-4918-9112-A7E74D0AA1A1}"/>
              </a:ext>
            </a:extLst>
          </p:cNvPr>
          <p:cNvSpPr/>
          <p:nvPr/>
        </p:nvSpPr>
        <p:spPr bwMode="gray">
          <a:xfrm rot="5400000">
            <a:off x="4678258" y="295064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Can 225">
            <a:extLst>
              <a:ext uri="{FF2B5EF4-FFF2-40B4-BE49-F238E27FC236}">
                <a16:creationId xmlns:a16="http://schemas.microsoft.com/office/drawing/2014/main" id="{AE897F30-3960-4854-AF49-952AA3EE9657}"/>
              </a:ext>
            </a:extLst>
          </p:cNvPr>
          <p:cNvSpPr/>
          <p:nvPr/>
        </p:nvSpPr>
        <p:spPr bwMode="gray">
          <a:xfrm rot="5400000">
            <a:off x="4659538" y="417886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p:cNvSpPr>
            <a:spLocks noGrp="1"/>
          </p:cNvSpPr>
          <p:nvPr>
            <p:ph type="title"/>
          </p:nvPr>
        </p:nvSpPr>
        <p:spPr bwMode="gray"/>
        <p:txBody>
          <a:bodyPr/>
          <a:lstStyle/>
          <a:p>
            <a:r>
              <a:rPr lang="en-US" altLang="zh-CN" dirty="0"/>
              <a:t>HQoS</a:t>
            </a:r>
            <a:r>
              <a:rPr lang="zh-CN" altLang="en-US" dirty="0"/>
              <a:t>丢弃器介绍</a:t>
            </a:r>
          </a:p>
        </p:txBody>
      </p:sp>
      <p:sp>
        <p:nvSpPr>
          <p:cNvPr id="3" name="Text Placeholder 2"/>
          <p:cNvSpPr>
            <a:spLocks noGrp="1"/>
          </p:cNvSpPr>
          <p:nvPr>
            <p:ph type="body" sz="quarter" idx="10"/>
          </p:nvPr>
        </p:nvSpPr>
        <p:spPr bwMode="gray"/>
        <p:txBody>
          <a:bodyPr/>
          <a:lstStyle/>
          <a:p>
            <a:r>
              <a:rPr lang="zh-CN" altLang="en-US" sz="1800" dirty="0"/>
              <a:t>丢弃器在报文入队列之前将根据丢弃策略丢弃报文。</a:t>
            </a:r>
            <a:endParaRPr lang="en-US" altLang="zh-CN" sz="1800" dirty="0"/>
          </a:p>
          <a:p>
            <a:r>
              <a:rPr lang="en-US" altLang="zh-CN" sz="1800" dirty="0"/>
              <a:t>HQoS</a:t>
            </a:r>
            <a:r>
              <a:rPr lang="zh-CN" altLang="en-US" sz="1800" dirty="0"/>
              <a:t>支持的</a:t>
            </a:r>
            <a:r>
              <a:rPr lang="en-US" altLang="zh-CN" sz="1800" dirty="0"/>
              <a:t>3</a:t>
            </a:r>
            <a:r>
              <a:rPr lang="zh-CN" altLang="en-US" sz="1800" dirty="0"/>
              <a:t>种队列支持不同的丢弃方式：</a:t>
            </a:r>
            <a:endParaRPr lang="en-US" altLang="zh-CN" sz="1800" dirty="0"/>
          </a:p>
          <a:p>
            <a:pPr lvl="1"/>
            <a:r>
              <a:rPr lang="zh-CN" altLang="en-US" sz="1600" dirty="0"/>
              <a:t>接口队列：尾部丢弃</a:t>
            </a:r>
            <a:endParaRPr lang="en-US" altLang="zh-CN" sz="1600" dirty="0"/>
          </a:p>
          <a:p>
            <a:pPr lvl="1"/>
            <a:r>
              <a:rPr lang="zh-CN" altLang="en-US" sz="1600" dirty="0"/>
              <a:t>用户队列：尾部丢弃</a:t>
            </a:r>
            <a:endParaRPr lang="en-US" altLang="zh-CN" sz="1600" dirty="0"/>
          </a:p>
          <a:p>
            <a:pPr lvl="1"/>
            <a:r>
              <a:rPr lang="zh-CN" altLang="en-US" sz="1600" dirty="0"/>
              <a:t>流队列：尾部丢弃和</a:t>
            </a:r>
            <a:r>
              <a:rPr lang="en-US" altLang="zh-CN" sz="1600" dirty="0"/>
              <a:t>WRED</a:t>
            </a:r>
          </a:p>
          <a:p>
            <a:endParaRPr lang="zh-CN" altLang="en-US" dirty="0"/>
          </a:p>
        </p:txBody>
      </p:sp>
      <p:sp>
        <p:nvSpPr>
          <p:cNvPr id="4" name="Rectangle 3"/>
          <p:cNvSpPr/>
          <p:nvPr/>
        </p:nvSpPr>
        <p:spPr bwMode="gray">
          <a:xfrm>
            <a:off x="9437303" y="2741158"/>
            <a:ext cx="2095115"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Level1</a:t>
            </a:r>
            <a:r>
              <a:rPr lang="zh-CN" altLang="en-US" sz="1400" dirty="0">
                <a:solidFill>
                  <a:schemeClr val="tx1"/>
                </a:solidFill>
              </a:rPr>
              <a:t>接口队列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Port Queue</a:t>
            </a:r>
            <a:r>
              <a:rPr lang="zh-CN" altLang="en-US" sz="1400" dirty="0">
                <a:solidFill>
                  <a:schemeClr val="tx1"/>
                </a:solidFill>
              </a:rPr>
              <a:t>）</a:t>
            </a:r>
          </a:p>
        </p:txBody>
      </p:sp>
      <p:sp>
        <p:nvSpPr>
          <p:cNvPr id="5" name="Rectangle 4"/>
          <p:cNvSpPr/>
          <p:nvPr/>
        </p:nvSpPr>
        <p:spPr bwMode="gray">
          <a:xfrm>
            <a:off x="6707883" y="2741158"/>
            <a:ext cx="1973337"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Level2</a:t>
            </a:r>
            <a:r>
              <a:rPr lang="zh-CN" altLang="en-US" sz="1400" dirty="0">
                <a:solidFill>
                  <a:schemeClr val="tx1"/>
                </a:solidFill>
              </a:rPr>
              <a:t>用户队列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Subscriber Queue</a:t>
            </a:r>
            <a:r>
              <a:rPr lang="zh-CN" altLang="en-US" sz="1400" dirty="0">
                <a:solidFill>
                  <a:schemeClr val="tx1"/>
                </a:solidFill>
              </a:rPr>
              <a:t>）</a:t>
            </a:r>
          </a:p>
        </p:txBody>
      </p:sp>
      <p:sp>
        <p:nvSpPr>
          <p:cNvPr id="6" name="Rectangle 5"/>
          <p:cNvSpPr/>
          <p:nvPr/>
        </p:nvSpPr>
        <p:spPr bwMode="gray">
          <a:xfrm>
            <a:off x="3897489" y="2741158"/>
            <a:ext cx="2054310" cy="3286673"/>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Level3</a:t>
            </a:r>
            <a:r>
              <a:rPr lang="zh-CN" altLang="en-US" sz="1400" dirty="0">
                <a:solidFill>
                  <a:schemeClr val="tx1"/>
                </a:solidFill>
              </a:rPr>
              <a:t>流队列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Flow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cxnSp>
        <p:nvCxnSpPr>
          <p:cNvPr id="11" name="Elbow Connector 10"/>
          <p:cNvCxnSpPr>
            <a:cxnSpLocks/>
          </p:cNvCxnSpPr>
          <p:nvPr/>
        </p:nvCxnSpPr>
        <p:spPr bwMode="gray">
          <a:xfrm>
            <a:off x="5595139" y="3753714"/>
            <a:ext cx="1265046" cy="61089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 name="Elbow Connector 11"/>
          <p:cNvCxnSpPr>
            <a:cxnSpLocks/>
          </p:cNvCxnSpPr>
          <p:nvPr/>
        </p:nvCxnSpPr>
        <p:spPr bwMode="gray">
          <a:xfrm flipV="1">
            <a:off x="5595139" y="4364613"/>
            <a:ext cx="1265046" cy="613237"/>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bwMode="gray">
          <a:xfrm>
            <a:off x="4326237" y="4196421"/>
            <a:ext cx="461665" cy="376148"/>
          </a:xfrm>
          <a:prstGeom prst="rect">
            <a:avLst/>
          </a:prstGeom>
          <a:noFill/>
        </p:spPr>
        <p:txBody>
          <a:bodyPr vert="eaVert" wrap="square" rtlCol="0">
            <a:spAutoFit/>
          </a:bodyPr>
          <a:lstStyle/>
          <a:p>
            <a:r>
              <a:rPr lang="en-US" altLang="zh-CN" sz="1800" dirty="0"/>
              <a:t>…</a:t>
            </a:r>
            <a:endParaRPr lang="zh-CN" altLang="en-US" sz="1800" dirty="0"/>
          </a:p>
        </p:txBody>
      </p:sp>
      <p:cxnSp>
        <p:nvCxnSpPr>
          <p:cNvPr id="14" name="Straight Connector 13"/>
          <p:cNvCxnSpPr>
            <a:cxnSpLocks/>
          </p:cNvCxnSpPr>
          <p:nvPr/>
        </p:nvCxnSpPr>
        <p:spPr bwMode="gray">
          <a:xfrm>
            <a:off x="8474656" y="4364613"/>
            <a:ext cx="1276350"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p:cNvSpPr/>
          <p:nvPr/>
        </p:nvSpPr>
        <p:spPr bwMode="gray">
          <a:xfrm>
            <a:off x="2282125" y="3911294"/>
            <a:ext cx="859281" cy="906636"/>
          </a:xfrm>
          <a:prstGeom prst="rect">
            <a:avLst/>
          </a:prstGeom>
          <a:solidFill>
            <a:srgbClr val="F4FBFE"/>
          </a:solid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WRED/</a:t>
            </a:r>
            <a:r>
              <a:rPr lang="zh-CN" altLang="en-US" sz="1400" dirty="0">
                <a:solidFill>
                  <a:schemeClr val="tx1"/>
                </a:solidFill>
              </a:rPr>
              <a:t>尾丢弃</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cxnSp>
        <p:nvCxnSpPr>
          <p:cNvPr id="23" name="Elbow Connector 22"/>
          <p:cNvCxnSpPr>
            <a:cxnSpLocks/>
            <a:stCxn id="22" idx="3"/>
          </p:cNvCxnSpPr>
          <p:nvPr/>
        </p:nvCxnSpPr>
        <p:spPr bwMode="gray">
          <a:xfrm flipV="1">
            <a:off x="3141406" y="3753714"/>
            <a:ext cx="839262" cy="61089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Elbow Connector 25"/>
          <p:cNvCxnSpPr>
            <a:cxnSpLocks/>
            <a:endCxn id="22" idx="3"/>
          </p:cNvCxnSpPr>
          <p:nvPr/>
        </p:nvCxnSpPr>
        <p:spPr bwMode="gray">
          <a:xfrm rot="10800000">
            <a:off x="3141406" y="4364612"/>
            <a:ext cx="839262" cy="61323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2" idx="1"/>
          </p:cNvCxnSpPr>
          <p:nvPr/>
        </p:nvCxnSpPr>
        <p:spPr bwMode="gray">
          <a:xfrm>
            <a:off x="1307283" y="4364612"/>
            <a:ext cx="974842"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p:cNvSpPr/>
          <p:nvPr/>
        </p:nvSpPr>
        <p:spPr bwMode="gray">
          <a:xfrm>
            <a:off x="5880202" y="3911294"/>
            <a:ext cx="722177" cy="906636"/>
          </a:xfrm>
          <a:prstGeom prst="rect">
            <a:avLst/>
          </a:prstGeom>
          <a:solidFill>
            <a:srgbClr val="F4FBFE"/>
          </a:solid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尾丢弃</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4" name="Rectangle 33"/>
          <p:cNvSpPr/>
          <p:nvPr/>
        </p:nvSpPr>
        <p:spPr bwMode="gray">
          <a:xfrm>
            <a:off x="8698173" y="3911294"/>
            <a:ext cx="722177" cy="906636"/>
          </a:xfrm>
          <a:prstGeom prst="rect">
            <a:avLst/>
          </a:prstGeom>
          <a:solidFill>
            <a:srgbClr val="F4FBFE"/>
          </a:solid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尾丢弃</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35" name="矩形 96"/>
          <p:cNvSpPr/>
          <p:nvPr/>
        </p:nvSpPr>
        <p:spPr bwMode="gray">
          <a:xfrm>
            <a:off x="1687073" y="417260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36" name="矩形 111"/>
          <p:cNvSpPr/>
          <p:nvPr/>
        </p:nvSpPr>
        <p:spPr bwMode="gray">
          <a:xfrm>
            <a:off x="1111009" y="417260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37" name="矩形 111"/>
          <p:cNvSpPr/>
          <p:nvPr/>
        </p:nvSpPr>
        <p:spPr bwMode="gray">
          <a:xfrm>
            <a:off x="1975105" y="417260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38" name="矩形 96"/>
          <p:cNvSpPr/>
          <p:nvPr/>
        </p:nvSpPr>
        <p:spPr bwMode="gray">
          <a:xfrm>
            <a:off x="1399041" y="417260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39" name="矩形 96"/>
          <p:cNvSpPr/>
          <p:nvPr/>
        </p:nvSpPr>
        <p:spPr bwMode="gray">
          <a:xfrm>
            <a:off x="5237110" y="3681705"/>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2" name="矩形 96"/>
          <p:cNvSpPr/>
          <p:nvPr/>
        </p:nvSpPr>
        <p:spPr bwMode="gray">
          <a:xfrm>
            <a:off x="4681346" y="3681705"/>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3" name="矩形 96"/>
          <p:cNvSpPr/>
          <p:nvPr/>
        </p:nvSpPr>
        <p:spPr bwMode="gray">
          <a:xfrm>
            <a:off x="4959229" y="3681705"/>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4" name="矩形 111"/>
          <p:cNvSpPr/>
          <p:nvPr/>
        </p:nvSpPr>
        <p:spPr bwMode="gray">
          <a:xfrm>
            <a:off x="5277966" y="490584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5" name="矩形 111"/>
          <p:cNvSpPr/>
          <p:nvPr/>
        </p:nvSpPr>
        <p:spPr bwMode="gray">
          <a:xfrm>
            <a:off x="4989741" y="490584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6" name="矩形 111"/>
          <p:cNvSpPr/>
          <p:nvPr/>
        </p:nvSpPr>
        <p:spPr bwMode="gray">
          <a:xfrm>
            <a:off x="4701517" y="490584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7" name="矩形 111"/>
          <p:cNvSpPr/>
          <p:nvPr/>
        </p:nvSpPr>
        <p:spPr bwMode="gray">
          <a:xfrm>
            <a:off x="4413293" y="490584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8" name="矩形 111"/>
          <p:cNvSpPr/>
          <p:nvPr/>
        </p:nvSpPr>
        <p:spPr bwMode="gray">
          <a:xfrm>
            <a:off x="2600768" y="4960432"/>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49" name="矩形 96"/>
          <p:cNvSpPr/>
          <p:nvPr/>
        </p:nvSpPr>
        <p:spPr bwMode="gray">
          <a:xfrm>
            <a:off x="2600768" y="5214728"/>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50" name="矩形 111"/>
          <p:cNvSpPr/>
          <p:nvPr/>
        </p:nvSpPr>
        <p:spPr bwMode="gray">
          <a:xfrm>
            <a:off x="2600768" y="5489380"/>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cxnSp>
        <p:nvCxnSpPr>
          <p:cNvPr id="52" name="Straight Arrow Connector 51"/>
          <p:cNvCxnSpPr/>
          <p:nvPr/>
        </p:nvCxnSpPr>
        <p:spPr bwMode="gray">
          <a:xfrm>
            <a:off x="2945525" y="4917189"/>
            <a:ext cx="0" cy="88311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bwMode="gray">
          <a:xfrm>
            <a:off x="2909521" y="5160138"/>
            <a:ext cx="964982" cy="461665"/>
          </a:xfrm>
          <a:prstGeom prst="rect">
            <a:avLst/>
          </a:prstGeom>
          <a:noFill/>
        </p:spPr>
        <p:txBody>
          <a:bodyPr wrap="square" rtlCol="0">
            <a:spAutoFit/>
          </a:bodyPr>
          <a:lstStyle/>
          <a:p>
            <a:r>
              <a:rPr lang="zh-CN" altLang="en-US" sz="1200" dirty="0">
                <a:latin typeface="方正兰亭黑简体" panose="02000000000000000000" pitchFamily="2" charset="-122"/>
                <a:ea typeface="方正兰亭黑简体" panose="02000000000000000000" pitchFamily="2" charset="-122"/>
              </a:rPr>
              <a:t>根据丢弃策略丢弃报文</a:t>
            </a:r>
          </a:p>
        </p:txBody>
      </p:sp>
      <p:cxnSp>
        <p:nvCxnSpPr>
          <p:cNvPr id="54" name="Straight Arrow Connector 53"/>
          <p:cNvCxnSpPr/>
          <p:nvPr/>
        </p:nvCxnSpPr>
        <p:spPr bwMode="gray">
          <a:xfrm>
            <a:off x="1543057" y="4364612"/>
            <a:ext cx="610380"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bwMode="gray">
          <a:xfrm flipH="1" flipV="1">
            <a:off x="3557593" y="3825721"/>
            <a:ext cx="0" cy="4122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bwMode="gray">
          <a:xfrm flipH="1">
            <a:off x="3562145" y="4491211"/>
            <a:ext cx="0" cy="4122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bwMode="gray">
          <a:xfrm>
            <a:off x="5646568" y="4986095"/>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gray">
          <a:xfrm>
            <a:off x="5646568" y="3753714"/>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96"/>
          <p:cNvSpPr/>
          <p:nvPr/>
        </p:nvSpPr>
        <p:spPr bwMode="gray">
          <a:xfrm>
            <a:off x="7828587" y="429711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64" name="矩形 111"/>
          <p:cNvSpPr/>
          <p:nvPr/>
        </p:nvSpPr>
        <p:spPr bwMode="gray">
          <a:xfrm>
            <a:off x="7252523" y="429711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65" name="矩形 111"/>
          <p:cNvSpPr/>
          <p:nvPr/>
        </p:nvSpPr>
        <p:spPr bwMode="gray">
          <a:xfrm>
            <a:off x="8116619" y="429711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66" name="矩形 96"/>
          <p:cNvSpPr/>
          <p:nvPr/>
        </p:nvSpPr>
        <p:spPr bwMode="gray">
          <a:xfrm>
            <a:off x="7540555" y="429711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68" name="矩形 111"/>
          <p:cNvSpPr/>
          <p:nvPr/>
        </p:nvSpPr>
        <p:spPr bwMode="gray">
          <a:xfrm>
            <a:off x="6948342" y="4297111"/>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69" name="矩形 111"/>
          <p:cNvSpPr/>
          <p:nvPr/>
        </p:nvSpPr>
        <p:spPr bwMode="gray">
          <a:xfrm>
            <a:off x="6133341" y="5055020"/>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70" name="矩形 96"/>
          <p:cNvSpPr/>
          <p:nvPr/>
        </p:nvSpPr>
        <p:spPr bwMode="gray">
          <a:xfrm>
            <a:off x="6133341" y="5309316"/>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71" name="矩形 111"/>
          <p:cNvSpPr/>
          <p:nvPr/>
        </p:nvSpPr>
        <p:spPr bwMode="gray">
          <a:xfrm>
            <a:off x="6133341" y="5583968"/>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cxnSp>
        <p:nvCxnSpPr>
          <p:cNvPr id="72" name="Straight Arrow Connector 71"/>
          <p:cNvCxnSpPr/>
          <p:nvPr/>
        </p:nvCxnSpPr>
        <p:spPr bwMode="gray">
          <a:xfrm>
            <a:off x="6478098" y="5011777"/>
            <a:ext cx="0" cy="88311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bwMode="gray">
          <a:xfrm>
            <a:off x="6496827" y="5231259"/>
            <a:ext cx="955152" cy="461665"/>
          </a:xfrm>
          <a:prstGeom prst="rect">
            <a:avLst/>
          </a:prstGeom>
          <a:solidFill>
            <a:schemeClr val="bg1"/>
          </a:solidFill>
        </p:spPr>
        <p:txBody>
          <a:bodyPr wrap="square" rtlCol="0">
            <a:spAutoFit/>
          </a:bodyPr>
          <a:lstStyle/>
          <a:p>
            <a:r>
              <a:rPr lang="zh-CN" altLang="en-US" sz="1200" dirty="0">
                <a:latin typeface="方正兰亭黑简体" panose="02000000000000000000" pitchFamily="2" charset="-122"/>
                <a:ea typeface="方正兰亭黑简体" panose="02000000000000000000" pitchFamily="2" charset="-122"/>
              </a:rPr>
              <a:t>根据丢弃策略丢弃报文</a:t>
            </a:r>
          </a:p>
        </p:txBody>
      </p:sp>
      <p:sp>
        <p:nvSpPr>
          <p:cNvPr id="74" name="矩形 111"/>
          <p:cNvSpPr/>
          <p:nvPr/>
        </p:nvSpPr>
        <p:spPr bwMode="gray">
          <a:xfrm>
            <a:off x="8819143" y="4958165"/>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75" name="矩形 96"/>
          <p:cNvSpPr/>
          <p:nvPr/>
        </p:nvSpPr>
        <p:spPr bwMode="gray">
          <a:xfrm>
            <a:off x="8819143" y="5212461"/>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76" name="矩形 111"/>
          <p:cNvSpPr/>
          <p:nvPr/>
        </p:nvSpPr>
        <p:spPr bwMode="gray">
          <a:xfrm>
            <a:off x="8819143" y="5487113"/>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cxnSp>
        <p:nvCxnSpPr>
          <p:cNvPr id="77" name="Straight Arrow Connector 76"/>
          <p:cNvCxnSpPr/>
          <p:nvPr/>
        </p:nvCxnSpPr>
        <p:spPr bwMode="gray">
          <a:xfrm>
            <a:off x="9163900" y="4914922"/>
            <a:ext cx="0" cy="88311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bwMode="gray">
          <a:xfrm>
            <a:off x="9182629" y="5134404"/>
            <a:ext cx="955152" cy="461665"/>
          </a:xfrm>
          <a:prstGeom prst="rect">
            <a:avLst/>
          </a:prstGeom>
          <a:solidFill>
            <a:schemeClr val="bg1"/>
          </a:solidFill>
        </p:spPr>
        <p:txBody>
          <a:bodyPr wrap="square" rtlCol="0">
            <a:spAutoFit/>
          </a:bodyPr>
          <a:lstStyle/>
          <a:p>
            <a:r>
              <a:rPr lang="zh-CN" altLang="en-US" sz="1200" dirty="0">
                <a:latin typeface="方正兰亭黑简体" panose="02000000000000000000" pitchFamily="2" charset="-122"/>
                <a:ea typeface="方正兰亭黑简体" panose="02000000000000000000" pitchFamily="2" charset="-122"/>
              </a:rPr>
              <a:t>根据丢弃策略丢弃报文</a:t>
            </a:r>
          </a:p>
        </p:txBody>
      </p:sp>
      <p:sp>
        <p:nvSpPr>
          <p:cNvPr id="79" name="矩形 96"/>
          <p:cNvSpPr/>
          <p:nvPr/>
        </p:nvSpPr>
        <p:spPr bwMode="gray">
          <a:xfrm>
            <a:off x="10733976" y="4291910"/>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80" name="矩形 111"/>
          <p:cNvSpPr/>
          <p:nvPr/>
        </p:nvSpPr>
        <p:spPr bwMode="gray">
          <a:xfrm>
            <a:off x="10157912" y="4291910"/>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81" name="矩形 111"/>
          <p:cNvSpPr/>
          <p:nvPr/>
        </p:nvSpPr>
        <p:spPr bwMode="gray">
          <a:xfrm>
            <a:off x="11022008" y="4291910"/>
            <a:ext cx="216024" cy="144016"/>
          </a:xfrm>
          <a:prstGeom prst="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82" name="矩形 96"/>
          <p:cNvSpPr/>
          <p:nvPr/>
        </p:nvSpPr>
        <p:spPr bwMode="gray">
          <a:xfrm>
            <a:off x="10445944" y="4291910"/>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sp>
        <p:nvSpPr>
          <p:cNvPr id="83" name="矩形 111"/>
          <p:cNvSpPr/>
          <p:nvPr/>
        </p:nvSpPr>
        <p:spPr bwMode="gray">
          <a:xfrm>
            <a:off x="9853731" y="4291910"/>
            <a:ext cx="216024" cy="144016"/>
          </a:xfrm>
          <a:prstGeom prst="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FrutigerNext LT Regular" pitchFamily="34" charset="0"/>
              <a:ea typeface="宋体" pitchFamily="2" charset="-122"/>
            </a:endParaRPr>
          </a:p>
        </p:txBody>
      </p:sp>
      <p:cxnSp>
        <p:nvCxnSpPr>
          <p:cNvPr id="84" name="Straight Arrow Connector 83">
            <a:extLst>
              <a:ext uri="{FF2B5EF4-FFF2-40B4-BE49-F238E27FC236}">
                <a16:creationId xmlns:a16="http://schemas.microsoft.com/office/drawing/2014/main" id="{F5154877-3F51-48A7-9A8C-D7FD10323E78}"/>
              </a:ext>
            </a:extLst>
          </p:cNvPr>
          <p:cNvCxnSpPr>
            <a:cxnSpLocks/>
          </p:cNvCxnSpPr>
          <p:nvPr/>
        </p:nvCxnSpPr>
        <p:spPr bwMode="gray">
          <a:xfrm>
            <a:off x="8501913" y="4364612"/>
            <a:ext cx="18002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2280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应用举例</a:t>
            </a:r>
          </a:p>
        </p:txBody>
      </p:sp>
      <p:sp>
        <p:nvSpPr>
          <p:cNvPr id="3" name="Text Placeholder 2"/>
          <p:cNvSpPr>
            <a:spLocks noGrp="1"/>
          </p:cNvSpPr>
          <p:nvPr>
            <p:ph type="body" sz="quarter" idx="10"/>
          </p:nvPr>
        </p:nvSpPr>
        <p:spPr bwMode="gray"/>
        <p:txBody>
          <a:bodyPr/>
          <a:lstStyle/>
          <a:p>
            <a:r>
              <a:rPr lang="zh-CN" altLang="en-US" sz="1800" dirty="0"/>
              <a:t>假设一栋楼有</a:t>
            </a:r>
            <a:r>
              <a:rPr lang="en-US" altLang="zh-CN" sz="1800" dirty="0"/>
              <a:t>3</a:t>
            </a:r>
            <a:r>
              <a:rPr lang="zh-CN" altLang="en-US" sz="1800" dirty="0"/>
              <a:t>个家庭，家庭</a:t>
            </a:r>
            <a:r>
              <a:rPr lang="en-US" altLang="zh-CN" sz="1800" dirty="0"/>
              <a:t>A</a:t>
            </a:r>
            <a:r>
              <a:rPr lang="zh-CN" altLang="en-US" sz="1800" dirty="0"/>
              <a:t>购买了</a:t>
            </a:r>
            <a:r>
              <a:rPr lang="en-US" altLang="zh-CN" sz="1800" dirty="0"/>
              <a:t>10M</a:t>
            </a:r>
            <a:r>
              <a:rPr lang="zh-CN" altLang="en-US" sz="1800" dirty="0"/>
              <a:t>带宽并且开通了</a:t>
            </a:r>
            <a:r>
              <a:rPr lang="en-US" altLang="zh-CN" sz="1800" dirty="0"/>
              <a:t>VoIP</a:t>
            </a:r>
            <a:r>
              <a:rPr lang="zh-CN" altLang="en-US" sz="1800" dirty="0"/>
              <a:t>，</a:t>
            </a:r>
            <a:r>
              <a:rPr lang="en-US" altLang="zh-CN" sz="1800" dirty="0"/>
              <a:t>IPTV</a:t>
            </a:r>
            <a:r>
              <a:rPr lang="zh-CN" altLang="en-US" sz="1800" dirty="0"/>
              <a:t>和</a:t>
            </a:r>
            <a:r>
              <a:rPr lang="en-US" altLang="zh-CN" sz="1800" dirty="0"/>
              <a:t>HSI</a:t>
            </a:r>
            <a:r>
              <a:rPr lang="zh-CN" altLang="en-US" sz="1800" dirty="0"/>
              <a:t>业务，家庭</a:t>
            </a:r>
            <a:r>
              <a:rPr lang="en-US" altLang="zh-CN" sz="1800" dirty="0"/>
              <a:t>B</a:t>
            </a:r>
            <a:r>
              <a:rPr lang="zh-CN" altLang="en-US" sz="1800" dirty="0"/>
              <a:t>购买了</a:t>
            </a:r>
            <a:r>
              <a:rPr lang="en-US" altLang="zh-CN" sz="1800" dirty="0"/>
              <a:t>20M</a:t>
            </a:r>
            <a:r>
              <a:rPr lang="zh-CN" altLang="en-US" sz="1800" dirty="0"/>
              <a:t>带宽并开通了</a:t>
            </a:r>
            <a:r>
              <a:rPr lang="en-US" altLang="zh-CN" sz="1800" dirty="0"/>
              <a:t>IPTV</a:t>
            </a:r>
            <a:r>
              <a:rPr lang="zh-CN" altLang="en-US" sz="1800" dirty="0"/>
              <a:t>和</a:t>
            </a:r>
            <a:r>
              <a:rPr lang="en-US" altLang="zh-CN" sz="1800" dirty="0"/>
              <a:t>HSI</a:t>
            </a:r>
            <a:r>
              <a:rPr lang="zh-CN" altLang="en-US" sz="1800" dirty="0"/>
              <a:t>业务，家庭</a:t>
            </a:r>
            <a:r>
              <a:rPr lang="en-US" altLang="zh-CN" sz="1800" dirty="0"/>
              <a:t>C</a:t>
            </a:r>
            <a:r>
              <a:rPr lang="zh-CN" altLang="en-US" sz="1800" dirty="0"/>
              <a:t>购买了</a:t>
            </a:r>
            <a:r>
              <a:rPr lang="en-US" altLang="zh-CN" sz="1800" dirty="0"/>
              <a:t>30M</a:t>
            </a:r>
            <a:r>
              <a:rPr lang="zh-CN" altLang="en-US" sz="1800" dirty="0"/>
              <a:t>带宽只开通了</a:t>
            </a:r>
            <a:r>
              <a:rPr lang="en-US" altLang="zh-CN" sz="1800" dirty="0"/>
              <a:t>HSI</a:t>
            </a:r>
            <a:r>
              <a:rPr lang="zh-CN" altLang="en-US" sz="1800" dirty="0"/>
              <a:t>业务，通过</a:t>
            </a:r>
            <a:r>
              <a:rPr lang="en-US" altLang="zh-CN" sz="1800" dirty="0"/>
              <a:t>HQoS</a:t>
            </a:r>
            <a:r>
              <a:rPr lang="zh-CN" altLang="en-US" sz="1800" dirty="0"/>
              <a:t>可以方便的实现这些需求。</a:t>
            </a:r>
          </a:p>
        </p:txBody>
      </p:sp>
      <p:sp>
        <p:nvSpPr>
          <p:cNvPr id="55" name="Freeform 159"/>
          <p:cNvSpPr/>
          <p:nvPr/>
        </p:nvSpPr>
        <p:spPr bwMode="gray">
          <a:xfrm flipH="1">
            <a:off x="2669758" y="3473871"/>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75"/>
          <p:cNvCxnSpPr>
            <a:stCxn id="37" idx="3"/>
          </p:cNvCxnSpPr>
          <p:nvPr/>
        </p:nvCxnSpPr>
        <p:spPr bwMode="gray">
          <a:xfrm>
            <a:off x="2849269" y="4204466"/>
            <a:ext cx="1178238"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0" name="圆角矩形 75"/>
          <p:cNvSpPr/>
          <p:nvPr/>
        </p:nvSpPr>
        <p:spPr bwMode="gray">
          <a:xfrm>
            <a:off x="3711644" y="2653186"/>
            <a:ext cx="7599809" cy="3458055"/>
          </a:xfrm>
          <a:prstGeom prst="roundRect">
            <a:avLst>
              <a:gd name="adj" fmla="val 874"/>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65" name="Can 225">
            <a:extLst>
              <a:ext uri="{FF2B5EF4-FFF2-40B4-BE49-F238E27FC236}">
                <a16:creationId xmlns:a16="http://schemas.microsoft.com/office/drawing/2014/main" id="{2BCE7D77-35EF-48C9-B1B8-64BFCEE53B3C}"/>
              </a:ext>
            </a:extLst>
          </p:cNvPr>
          <p:cNvSpPr/>
          <p:nvPr/>
        </p:nvSpPr>
        <p:spPr bwMode="gray">
          <a:xfrm rot="5400000">
            <a:off x="4635363" y="2452762"/>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Can 225">
            <a:extLst>
              <a:ext uri="{FF2B5EF4-FFF2-40B4-BE49-F238E27FC236}">
                <a16:creationId xmlns:a16="http://schemas.microsoft.com/office/drawing/2014/main" id="{3DE40E7E-69C1-469E-A70D-7CAC59AC4DD3}"/>
              </a:ext>
            </a:extLst>
          </p:cNvPr>
          <p:cNvSpPr/>
          <p:nvPr/>
        </p:nvSpPr>
        <p:spPr bwMode="gray">
          <a:xfrm rot="5400000">
            <a:off x="4644042" y="285336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Can 225">
            <a:extLst>
              <a:ext uri="{FF2B5EF4-FFF2-40B4-BE49-F238E27FC236}">
                <a16:creationId xmlns:a16="http://schemas.microsoft.com/office/drawing/2014/main" id="{36274CC2-F552-416E-868A-7E16D507AB0A}"/>
              </a:ext>
            </a:extLst>
          </p:cNvPr>
          <p:cNvSpPr/>
          <p:nvPr/>
        </p:nvSpPr>
        <p:spPr bwMode="gray">
          <a:xfrm rot="5400000">
            <a:off x="4635363" y="3324427"/>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Can 225">
            <a:extLst>
              <a:ext uri="{FF2B5EF4-FFF2-40B4-BE49-F238E27FC236}">
                <a16:creationId xmlns:a16="http://schemas.microsoft.com/office/drawing/2014/main" id="{A4281DBD-1718-42C5-AD9A-88D100D78AB6}"/>
              </a:ext>
            </a:extLst>
          </p:cNvPr>
          <p:cNvSpPr/>
          <p:nvPr/>
        </p:nvSpPr>
        <p:spPr bwMode="gray">
          <a:xfrm rot="5400000">
            <a:off x="4635362" y="3795716"/>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Can 225">
            <a:extLst>
              <a:ext uri="{FF2B5EF4-FFF2-40B4-BE49-F238E27FC236}">
                <a16:creationId xmlns:a16="http://schemas.microsoft.com/office/drawing/2014/main" id="{E5DBD4C0-7C5C-4823-8E42-EA8EF470FE65}"/>
              </a:ext>
            </a:extLst>
          </p:cNvPr>
          <p:cNvSpPr/>
          <p:nvPr/>
        </p:nvSpPr>
        <p:spPr bwMode="gray">
          <a:xfrm rot="5400000">
            <a:off x="4644041" y="4844089"/>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an 9">
            <a:extLst>
              <a:ext uri="{FF2B5EF4-FFF2-40B4-BE49-F238E27FC236}">
                <a16:creationId xmlns:a16="http://schemas.microsoft.com/office/drawing/2014/main" id="{6A40C9A4-7C41-44F0-AFF0-3B7B3857A4ED}"/>
              </a:ext>
            </a:extLst>
          </p:cNvPr>
          <p:cNvSpPr/>
          <p:nvPr/>
        </p:nvSpPr>
        <p:spPr bwMode="gray">
          <a:xfrm rot="5400000">
            <a:off x="7517160" y="2457704"/>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Can 9">
            <a:extLst>
              <a:ext uri="{FF2B5EF4-FFF2-40B4-BE49-F238E27FC236}">
                <a16:creationId xmlns:a16="http://schemas.microsoft.com/office/drawing/2014/main" id="{7AB9B372-1585-4A13-9ADD-7C94AE7C103A}"/>
              </a:ext>
            </a:extLst>
          </p:cNvPr>
          <p:cNvSpPr/>
          <p:nvPr/>
        </p:nvSpPr>
        <p:spPr bwMode="gray">
          <a:xfrm rot="5400000">
            <a:off x="7526850" y="3535773"/>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Can 9">
            <a:extLst>
              <a:ext uri="{FF2B5EF4-FFF2-40B4-BE49-F238E27FC236}">
                <a16:creationId xmlns:a16="http://schemas.microsoft.com/office/drawing/2014/main" id="{A0FA35A8-E15D-4610-928A-9785020EA5B7}"/>
              </a:ext>
            </a:extLst>
          </p:cNvPr>
          <p:cNvSpPr/>
          <p:nvPr/>
        </p:nvSpPr>
        <p:spPr bwMode="gray">
          <a:xfrm rot="5400000">
            <a:off x="10269632" y="3553338"/>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Box 122"/>
          <p:cNvSpPr txBox="1"/>
          <p:nvPr/>
        </p:nvSpPr>
        <p:spPr bwMode="gray">
          <a:xfrm>
            <a:off x="9545084" y="4211742"/>
            <a:ext cx="1585690"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大楼总带宽（</a:t>
            </a:r>
            <a:r>
              <a:rPr lang="en-US" altLang="zh-CN" sz="1200" b="1" dirty="0">
                <a:latin typeface="Huawei Sans" panose="020C0503030203020204" pitchFamily="34" charset="0"/>
                <a:ea typeface="方正兰亭黑简体" panose="02000000000000000000" pitchFamily="2" charset="-122"/>
              </a:rPr>
              <a:t>60M</a:t>
            </a:r>
            <a:r>
              <a:rPr lang="zh-CN" altLang="en-US" sz="1200" b="1" dirty="0">
                <a:latin typeface="Huawei Sans" panose="020C0503030203020204" pitchFamily="34" charset="0"/>
                <a:ea typeface="方正兰亭黑简体" panose="02000000000000000000" pitchFamily="2" charset="-122"/>
              </a:rPr>
              <a:t>）</a:t>
            </a:r>
          </a:p>
        </p:txBody>
      </p:sp>
      <p:sp>
        <p:nvSpPr>
          <p:cNvPr id="106" name="TextBox 105"/>
          <p:cNvSpPr txBox="1"/>
          <p:nvPr/>
        </p:nvSpPr>
        <p:spPr bwMode="gray">
          <a:xfrm>
            <a:off x="6781963" y="3132652"/>
            <a:ext cx="1691489"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A</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10M</a:t>
            </a:r>
            <a:r>
              <a:rPr lang="zh-CN" altLang="en-US" sz="1200" b="1" dirty="0">
                <a:latin typeface="Huawei Sans" panose="020C0503030203020204" pitchFamily="34" charset="0"/>
                <a:ea typeface="方正兰亭黑简体" panose="02000000000000000000" pitchFamily="2" charset="-122"/>
              </a:rPr>
              <a:t>）</a:t>
            </a:r>
          </a:p>
        </p:txBody>
      </p:sp>
      <p:sp>
        <p:nvSpPr>
          <p:cNvPr id="116" name="TextBox 115"/>
          <p:cNvSpPr txBox="1"/>
          <p:nvPr/>
        </p:nvSpPr>
        <p:spPr bwMode="gray">
          <a:xfrm>
            <a:off x="6781963" y="4201343"/>
            <a:ext cx="1681871"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B</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20M</a:t>
            </a:r>
            <a:r>
              <a:rPr lang="zh-CN" altLang="en-US" sz="1200" b="1" dirty="0">
                <a:latin typeface="Huawei Sans" panose="020C0503030203020204" pitchFamily="34" charset="0"/>
                <a:ea typeface="方正兰亭黑简体" panose="02000000000000000000" pitchFamily="2" charset="-122"/>
              </a:rPr>
              <a:t>）</a:t>
            </a:r>
          </a:p>
        </p:txBody>
      </p:sp>
      <p:sp>
        <p:nvSpPr>
          <p:cNvPr id="58" name="Can 225">
            <a:extLst>
              <a:ext uri="{FF2B5EF4-FFF2-40B4-BE49-F238E27FC236}">
                <a16:creationId xmlns:a16="http://schemas.microsoft.com/office/drawing/2014/main" id="{5C37E0C7-C36A-413F-8284-64CD316945CC}"/>
              </a:ext>
            </a:extLst>
          </p:cNvPr>
          <p:cNvSpPr/>
          <p:nvPr/>
        </p:nvSpPr>
        <p:spPr bwMode="gray">
          <a:xfrm rot="5400000">
            <a:off x="4635363" y="203362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6" descr="PC.png"/>
          <p:cNvPicPr>
            <a:picLocks noChangeAspect="1"/>
          </p:cNvPicPr>
          <p:nvPr/>
        </p:nvPicPr>
        <p:blipFill>
          <a:blip r:embed="rId3" cstate="print"/>
          <a:stretch>
            <a:fillRect/>
          </a:stretch>
        </p:blipFill>
        <p:spPr bwMode="gray">
          <a:xfrm>
            <a:off x="820333" y="2492896"/>
            <a:ext cx="609278" cy="467924"/>
          </a:xfrm>
          <a:prstGeom prst="rect">
            <a:avLst/>
          </a:prstGeom>
        </p:spPr>
      </p:pic>
      <p:sp>
        <p:nvSpPr>
          <p:cNvPr id="31" name="TextBox 30"/>
          <p:cNvSpPr txBox="1"/>
          <p:nvPr/>
        </p:nvSpPr>
        <p:spPr bwMode="gray">
          <a:xfrm>
            <a:off x="867614" y="2960820"/>
            <a:ext cx="660758"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A</a:t>
            </a:r>
            <a:endParaRPr lang="zh-CN" altLang="en-US" sz="1400" dirty="0">
              <a:latin typeface="Huawei Sans" panose="020C0503030203020204" pitchFamily="34" charset="0"/>
              <a:ea typeface="方正兰亭黑简体" panose="02000000000000000000" pitchFamily="2" charset="-122"/>
            </a:endParaRPr>
          </a:p>
        </p:txBody>
      </p:sp>
      <p:pic>
        <p:nvPicPr>
          <p:cNvPr id="32" name="图片 6" descr="PC.png"/>
          <p:cNvPicPr>
            <a:picLocks noChangeAspect="1"/>
          </p:cNvPicPr>
          <p:nvPr/>
        </p:nvPicPr>
        <p:blipFill>
          <a:blip r:embed="rId3" cstate="print"/>
          <a:stretch>
            <a:fillRect/>
          </a:stretch>
        </p:blipFill>
        <p:spPr bwMode="gray">
          <a:xfrm>
            <a:off x="820333" y="3970504"/>
            <a:ext cx="609278" cy="467924"/>
          </a:xfrm>
          <a:prstGeom prst="rect">
            <a:avLst/>
          </a:prstGeom>
        </p:spPr>
      </p:pic>
      <p:sp>
        <p:nvSpPr>
          <p:cNvPr id="33" name="TextBox 32"/>
          <p:cNvSpPr txBox="1"/>
          <p:nvPr/>
        </p:nvSpPr>
        <p:spPr bwMode="gray">
          <a:xfrm>
            <a:off x="867614" y="4446309"/>
            <a:ext cx="6511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B</a:t>
            </a:r>
            <a:endParaRPr lang="zh-CN" altLang="en-US" sz="1400" dirty="0">
              <a:latin typeface="Huawei Sans" panose="020C0503030203020204" pitchFamily="34" charset="0"/>
              <a:ea typeface="方正兰亭黑简体" panose="02000000000000000000" pitchFamily="2" charset="-122"/>
            </a:endParaRPr>
          </a:p>
        </p:txBody>
      </p:sp>
      <p:pic>
        <p:nvPicPr>
          <p:cNvPr id="35" name="图片 6" descr="PC.png"/>
          <p:cNvPicPr>
            <a:picLocks noChangeAspect="1"/>
          </p:cNvPicPr>
          <p:nvPr/>
        </p:nvPicPr>
        <p:blipFill>
          <a:blip r:embed="rId3" cstate="print"/>
          <a:stretch>
            <a:fillRect/>
          </a:stretch>
        </p:blipFill>
        <p:spPr bwMode="gray">
          <a:xfrm>
            <a:off x="820333" y="5349923"/>
            <a:ext cx="609278" cy="467924"/>
          </a:xfrm>
          <a:prstGeom prst="rect">
            <a:avLst/>
          </a:prstGeom>
        </p:spPr>
      </p:pic>
      <p:sp>
        <p:nvSpPr>
          <p:cNvPr id="36" name="TextBox 35"/>
          <p:cNvSpPr txBox="1"/>
          <p:nvPr/>
        </p:nvSpPr>
        <p:spPr bwMode="gray">
          <a:xfrm>
            <a:off x="867614" y="5817847"/>
            <a:ext cx="652743"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C</a:t>
            </a:r>
            <a:endParaRPr lang="zh-CN" altLang="en-US" sz="1400" dirty="0">
              <a:latin typeface="Huawei Sans" panose="020C0503030203020204" pitchFamily="34" charset="0"/>
              <a:ea typeface="方正兰亭黑简体" panose="02000000000000000000" pitchFamily="2" charset="-122"/>
            </a:endParaRPr>
          </a:p>
        </p:txBody>
      </p:sp>
      <p:pic>
        <p:nvPicPr>
          <p:cNvPr id="3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308280" y="3983153"/>
            <a:ext cx="540989" cy="442626"/>
          </a:xfrm>
          <a:prstGeom prst="rect">
            <a:avLst/>
          </a:prstGeom>
          <a:noFill/>
        </p:spPr>
      </p:pic>
      <p:cxnSp>
        <p:nvCxnSpPr>
          <p:cNvPr id="38" name="直接连接符 75"/>
          <p:cNvCxnSpPr>
            <a:stCxn id="30" idx="3"/>
            <a:endCxn id="37" idx="0"/>
          </p:cNvCxnSpPr>
          <p:nvPr/>
        </p:nvCxnSpPr>
        <p:spPr bwMode="gray">
          <a:xfrm>
            <a:off x="1429611" y="2726858"/>
            <a:ext cx="1149164" cy="12562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直接连接符 75"/>
          <p:cNvCxnSpPr>
            <a:stCxn id="32" idx="3"/>
            <a:endCxn id="37" idx="1"/>
          </p:cNvCxnSpPr>
          <p:nvPr/>
        </p:nvCxnSpPr>
        <p:spPr bwMode="gray">
          <a:xfrm>
            <a:off x="1429611" y="4204466"/>
            <a:ext cx="8786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75"/>
          <p:cNvCxnSpPr>
            <a:stCxn id="35" idx="3"/>
            <a:endCxn id="37" idx="2"/>
          </p:cNvCxnSpPr>
          <p:nvPr/>
        </p:nvCxnSpPr>
        <p:spPr bwMode="gray">
          <a:xfrm flipV="1">
            <a:off x="1429611" y="4425779"/>
            <a:ext cx="1149164" cy="115810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4" name="Oval 41"/>
          <p:cNvSpPr>
            <a:spLocks noChangeAspect="1"/>
          </p:cNvSpPr>
          <p:nvPr/>
        </p:nvSpPr>
        <p:spPr bwMode="gray">
          <a:xfrm>
            <a:off x="2769638" y="412483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9" name="Rectangular Callout 58"/>
          <p:cNvSpPr/>
          <p:nvPr/>
        </p:nvSpPr>
        <p:spPr bwMode="gray">
          <a:xfrm>
            <a:off x="2211013" y="4456085"/>
            <a:ext cx="897839" cy="538199"/>
          </a:xfrm>
          <a:prstGeom prst="wedgeRectCallout">
            <a:avLst>
              <a:gd name="adj1" fmla="val 21531"/>
              <a:gd name="adj2" fmla="val -8698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出口部署</a:t>
            </a:r>
            <a:r>
              <a:rPr lang="en-US" altLang="zh-CN" sz="1400" dirty="0">
                <a:solidFill>
                  <a:schemeClr val="tx1"/>
                </a:solidFill>
              </a:rPr>
              <a:t>HQoS</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61" name="圆角矩形 75"/>
          <p:cNvSpPr/>
          <p:nvPr/>
        </p:nvSpPr>
        <p:spPr bwMode="gray">
          <a:xfrm>
            <a:off x="3685046" y="2224987"/>
            <a:ext cx="7619581"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HQoS</a:t>
            </a:r>
            <a:r>
              <a:rPr lang="zh-CN" altLang="en-US" sz="1600" dirty="0">
                <a:solidFill>
                  <a:srgbClr val="30B5C5"/>
                </a:solidFill>
                <a:latin typeface="Huawei Sans" panose="020C0503030203020204" pitchFamily="34" charset="0"/>
                <a:ea typeface="方正兰亭黑简体" panose="02000000000000000000" pitchFamily="2" charset="-122"/>
              </a:rPr>
              <a:t>部署方案</a:t>
            </a:r>
          </a:p>
        </p:txBody>
      </p:sp>
      <p:cxnSp>
        <p:nvCxnSpPr>
          <p:cNvPr id="69" name="Elbow Connector 68"/>
          <p:cNvCxnSpPr>
            <a:cxnSpLocks/>
          </p:cNvCxnSpPr>
          <p:nvPr/>
        </p:nvCxnSpPr>
        <p:spPr bwMode="gray">
          <a:xfrm>
            <a:off x="5571477" y="2855642"/>
            <a:ext cx="1265046" cy="3926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0" name="Elbow Connector 69"/>
          <p:cNvCxnSpPr>
            <a:cxnSpLocks/>
          </p:cNvCxnSpPr>
          <p:nvPr/>
        </p:nvCxnSpPr>
        <p:spPr bwMode="gray">
          <a:xfrm flipV="1">
            <a:off x="5571476" y="3248339"/>
            <a:ext cx="1265047" cy="41931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1" name="Elbow Connector 70"/>
          <p:cNvCxnSpPr>
            <a:cxnSpLocks/>
          </p:cNvCxnSpPr>
          <p:nvPr/>
        </p:nvCxnSpPr>
        <p:spPr bwMode="gray">
          <a:xfrm>
            <a:off x="5571477" y="5625772"/>
            <a:ext cx="1277850" cy="100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3" name="Elbow Connector 72"/>
          <p:cNvCxnSpPr>
            <a:cxnSpLocks/>
          </p:cNvCxnSpPr>
          <p:nvPr/>
        </p:nvCxnSpPr>
        <p:spPr bwMode="gray">
          <a:xfrm>
            <a:off x="8450994" y="3248339"/>
            <a:ext cx="1122637" cy="111729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4" name="Elbow Connector 73"/>
          <p:cNvCxnSpPr>
            <a:cxnSpLocks/>
          </p:cNvCxnSpPr>
          <p:nvPr/>
        </p:nvCxnSpPr>
        <p:spPr bwMode="gray">
          <a:xfrm flipV="1">
            <a:off x="8463798" y="4365632"/>
            <a:ext cx="1109833" cy="126114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bwMode="gray">
          <a:xfrm>
            <a:off x="4000468" y="2708920"/>
            <a:ext cx="135485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VoIP</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00" name="TextBox 99"/>
          <p:cNvSpPr txBox="1"/>
          <p:nvPr/>
        </p:nvSpPr>
        <p:spPr bwMode="gray">
          <a:xfrm>
            <a:off x="4000468" y="3121223"/>
            <a:ext cx="1356462"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IPTV</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01" name="Elbow Connector 100"/>
          <p:cNvCxnSpPr>
            <a:cxnSpLocks/>
          </p:cNvCxnSpPr>
          <p:nvPr/>
        </p:nvCxnSpPr>
        <p:spPr bwMode="gray">
          <a:xfrm flipV="1">
            <a:off x="5576803" y="3248339"/>
            <a:ext cx="1259720" cy="715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bwMode="gray">
          <a:xfrm>
            <a:off x="3964464" y="3517267"/>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10" name="Elbow Connector 109"/>
          <p:cNvCxnSpPr>
            <a:cxnSpLocks/>
          </p:cNvCxnSpPr>
          <p:nvPr/>
        </p:nvCxnSpPr>
        <p:spPr bwMode="gray">
          <a:xfrm>
            <a:off x="5577878" y="4119585"/>
            <a:ext cx="1277850" cy="24604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11" name="Elbow Connector 110"/>
          <p:cNvCxnSpPr>
            <a:cxnSpLocks/>
          </p:cNvCxnSpPr>
          <p:nvPr/>
        </p:nvCxnSpPr>
        <p:spPr bwMode="gray">
          <a:xfrm flipV="1">
            <a:off x="5577877" y="4365632"/>
            <a:ext cx="1277851" cy="252028"/>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bwMode="gray">
          <a:xfrm>
            <a:off x="4000468" y="3985319"/>
            <a:ext cx="1356462"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IPTV</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14" name="TextBox 113"/>
          <p:cNvSpPr txBox="1"/>
          <p:nvPr/>
        </p:nvSpPr>
        <p:spPr bwMode="gray">
          <a:xfrm>
            <a:off x="3928460" y="4473116"/>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15" name="TextBox 114"/>
          <p:cNvSpPr txBox="1"/>
          <p:nvPr/>
        </p:nvSpPr>
        <p:spPr bwMode="gray">
          <a:xfrm>
            <a:off x="3964464" y="5517232"/>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18" name="Elbow Connector 117"/>
          <p:cNvCxnSpPr>
            <a:cxnSpLocks/>
          </p:cNvCxnSpPr>
          <p:nvPr/>
        </p:nvCxnSpPr>
        <p:spPr bwMode="gray">
          <a:xfrm>
            <a:off x="8470199" y="4365632"/>
            <a:ext cx="1103432"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7" name="Oval 86"/>
          <p:cNvSpPr/>
          <p:nvPr/>
        </p:nvSpPr>
        <p:spPr bwMode="gray">
          <a:xfrm rot="16200000">
            <a:off x="8155271" y="4175096"/>
            <a:ext cx="1152128" cy="348071"/>
          </a:xfrm>
          <a:prstGeom prst="ellipse">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WFQ</a:t>
            </a:r>
            <a:endParaRPr lang="zh-CN" altLang="en-US" sz="1200" dirty="0">
              <a:solidFill>
                <a:schemeClr val="tx1"/>
              </a:solidFill>
            </a:endParaRPr>
          </a:p>
        </p:txBody>
      </p:sp>
      <p:cxnSp>
        <p:nvCxnSpPr>
          <p:cNvPr id="88" name="Straight Arrow Connector 87"/>
          <p:cNvCxnSpPr/>
          <p:nvPr/>
        </p:nvCxnSpPr>
        <p:spPr bwMode="gray">
          <a:xfrm rot="16200000">
            <a:off x="8424825" y="4323953"/>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bwMode="gray">
          <a:xfrm rot="16200000" flipH="1">
            <a:off x="8761355" y="4343155"/>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ular Callout 37">
            <a:extLst>
              <a:ext uri="{FF2B5EF4-FFF2-40B4-BE49-F238E27FC236}">
                <a16:creationId xmlns:a16="http://schemas.microsoft.com/office/drawing/2014/main" id="{A7B265F4-59FE-4F27-9779-775FAB870893}"/>
              </a:ext>
            </a:extLst>
          </p:cNvPr>
          <p:cNvSpPr/>
          <p:nvPr/>
        </p:nvSpPr>
        <p:spPr bwMode="gray">
          <a:xfrm>
            <a:off x="3824538" y="4912315"/>
            <a:ext cx="1521102" cy="538199"/>
          </a:xfrm>
          <a:prstGeom prst="wedgeRectCallout">
            <a:avLst>
              <a:gd name="adj1" fmla="val -26210"/>
              <a:gd name="adj2" fmla="val -8240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Level3</a:t>
            </a:r>
            <a:r>
              <a:rPr lang="zh-CN" altLang="en-US" sz="1400" dirty="0">
                <a:solidFill>
                  <a:schemeClr val="tx1"/>
                </a:solidFill>
              </a:rPr>
              <a:t>流队列（</a:t>
            </a:r>
            <a:r>
              <a:rPr lang="en-US" altLang="zh-CN" sz="1400" dirty="0">
                <a:solidFill>
                  <a:schemeClr val="tx1"/>
                </a:solidFill>
              </a:rPr>
              <a:t>Flow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3" name="Rectangular Callout 38">
            <a:extLst>
              <a:ext uri="{FF2B5EF4-FFF2-40B4-BE49-F238E27FC236}">
                <a16:creationId xmlns:a16="http://schemas.microsoft.com/office/drawing/2014/main" id="{AAD86651-7D9B-4BA7-8B04-FD44F2AF7757}"/>
              </a:ext>
            </a:extLst>
          </p:cNvPr>
          <p:cNvSpPr/>
          <p:nvPr/>
        </p:nvSpPr>
        <p:spPr bwMode="gray">
          <a:xfrm>
            <a:off x="6493329" y="4569749"/>
            <a:ext cx="1850839" cy="538199"/>
          </a:xfrm>
          <a:prstGeom prst="wedgeRectCallout">
            <a:avLst>
              <a:gd name="adj1" fmla="val -8270"/>
              <a:gd name="adj2" fmla="val -704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Level2</a:t>
            </a:r>
            <a:r>
              <a:rPr lang="zh-CN" altLang="en-US" sz="1400" dirty="0">
                <a:solidFill>
                  <a:schemeClr val="tx1"/>
                </a:solidFill>
              </a:rPr>
              <a:t>用户队列（</a:t>
            </a:r>
            <a:r>
              <a:rPr lang="en-US" altLang="zh-CN" sz="1400" dirty="0">
                <a:solidFill>
                  <a:schemeClr val="tx1"/>
                </a:solidFill>
              </a:rPr>
              <a:t>Subscriber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7" name="Rectangular Callout 39">
            <a:extLst>
              <a:ext uri="{FF2B5EF4-FFF2-40B4-BE49-F238E27FC236}">
                <a16:creationId xmlns:a16="http://schemas.microsoft.com/office/drawing/2014/main" id="{DCA3F6CE-0F80-49C5-BA53-43F926B35904}"/>
              </a:ext>
            </a:extLst>
          </p:cNvPr>
          <p:cNvSpPr/>
          <p:nvPr/>
        </p:nvSpPr>
        <p:spPr bwMode="gray">
          <a:xfrm>
            <a:off x="9275090" y="3571978"/>
            <a:ext cx="1768185" cy="538199"/>
          </a:xfrm>
          <a:prstGeom prst="wedgeRectCallout">
            <a:avLst>
              <a:gd name="adj1" fmla="val -20640"/>
              <a:gd name="adj2" fmla="val 7843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Level1</a:t>
            </a:r>
            <a:r>
              <a:rPr lang="zh-CN" altLang="en-US" sz="1400" dirty="0">
                <a:solidFill>
                  <a:schemeClr val="tx1"/>
                </a:solidFill>
              </a:rPr>
              <a:t>接口队列（</a:t>
            </a:r>
            <a:r>
              <a:rPr lang="en-US" altLang="zh-CN" sz="1400" dirty="0">
                <a:solidFill>
                  <a:schemeClr val="tx1"/>
                </a:solidFill>
              </a:rPr>
              <a:t>Port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80" name="Can 9">
            <a:extLst>
              <a:ext uri="{FF2B5EF4-FFF2-40B4-BE49-F238E27FC236}">
                <a16:creationId xmlns:a16="http://schemas.microsoft.com/office/drawing/2014/main" id="{9E1DB1C0-96E5-46DA-91A6-3C0FE62CC96C}"/>
              </a:ext>
            </a:extLst>
          </p:cNvPr>
          <p:cNvSpPr/>
          <p:nvPr/>
        </p:nvSpPr>
        <p:spPr bwMode="gray">
          <a:xfrm rot="5400000">
            <a:off x="7529964" y="4817277"/>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116"/>
          <p:cNvSpPr txBox="1"/>
          <p:nvPr/>
        </p:nvSpPr>
        <p:spPr bwMode="gray">
          <a:xfrm>
            <a:off x="6802390" y="5470623"/>
            <a:ext cx="1681871"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C</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30M</a:t>
            </a:r>
            <a:r>
              <a:rPr lang="zh-CN" altLang="en-US" sz="1200" b="1" dirty="0">
                <a:latin typeface="Huawei Sans" panose="020C0503030203020204" pitchFamily="34" charset="0"/>
                <a:ea typeface="方正兰亭黑简体" panose="02000000000000000000" pitchFamily="2" charset="-122"/>
              </a:rPr>
              <a:t>）</a:t>
            </a:r>
          </a:p>
        </p:txBody>
      </p:sp>
    </p:spTree>
    <p:extLst>
      <p:ext uri="{BB962C8B-B14F-4D97-AF65-F5344CB8AC3E}">
        <p14:creationId xmlns:p14="http://schemas.microsoft.com/office/powerpoint/2010/main" val="7306844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4FD86-7C74-422B-AC81-DBD5D9DB4BA0}"/>
              </a:ext>
            </a:extLst>
          </p:cNvPr>
          <p:cNvSpPr>
            <a:spLocks noGrp="1"/>
          </p:cNvSpPr>
          <p:nvPr>
            <p:ph type="title"/>
          </p:nvPr>
        </p:nvSpPr>
        <p:spPr bwMode="gray"/>
        <p:txBody>
          <a:bodyPr/>
          <a:lstStyle/>
          <a:p>
            <a:r>
              <a:rPr lang="zh-CN" altLang="en-US" dirty="0"/>
              <a:t>配置</a:t>
            </a:r>
            <a:r>
              <a:rPr lang="en-US" altLang="zh-CN" dirty="0"/>
              <a:t>HQoS</a:t>
            </a:r>
            <a:r>
              <a:rPr lang="zh-CN" altLang="en-US" dirty="0"/>
              <a:t>思路</a:t>
            </a:r>
            <a:endParaRPr lang="en-US" dirty="0"/>
          </a:p>
        </p:txBody>
      </p:sp>
      <p:sp>
        <p:nvSpPr>
          <p:cNvPr id="3" name="Text Placeholder 2">
            <a:extLst>
              <a:ext uri="{FF2B5EF4-FFF2-40B4-BE49-F238E27FC236}">
                <a16:creationId xmlns:a16="http://schemas.microsoft.com/office/drawing/2014/main" id="{F9DFDD3D-D39D-4F4B-AAE9-B5DDFE6AF57D}"/>
              </a:ext>
            </a:extLst>
          </p:cNvPr>
          <p:cNvSpPr>
            <a:spLocks noGrp="1"/>
          </p:cNvSpPr>
          <p:nvPr>
            <p:ph type="body" sz="quarter" idx="10"/>
          </p:nvPr>
        </p:nvSpPr>
        <p:spPr bwMode="gray">
          <a:xfrm>
            <a:off x="455613" y="946150"/>
            <a:ext cx="11256962" cy="4879805"/>
          </a:xfrm>
        </p:spPr>
        <p:txBody>
          <a:bodyPr/>
          <a:lstStyle/>
          <a:p>
            <a:r>
              <a:rPr lang="en-US" sz="1800" dirty="0"/>
              <a:t>HQ</a:t>
            </a:r>
            <a:r>
              <a:rPr lang="en-US" altLang="zh-CN" sz="1800" dirty="0"/>
              <a:t>oS</a:t>
            </a:r>
            <a:r>
              <a:rPr lang="zh-CN" altLang="en-US" sz="1800" dirty="0"/>
              <a:t>配置较为复杂，在配置时一般使用</a:t>
            </a:r>
            <a:r>
              <a:rPr lang="en-US" altLang="zh-CN" sz="1800" dirty="0"/>
              <a:t>MQC</a:t>
            </a:r>
            <a:r>
              <a:rPr lang="zh-CN" altLang="en-US" sz="1800" dirty="0"/>
              <a:t>方式。</a:t>
            </a:r>
            <a:endParaRPr lang="en-US" altLang="zh-CN" sz="1800" dirty="0"/>
          </a:p>
          <a:p>
            <a:r>
              <a:rPr lang="zh-CN" altLang="en-US" sz="1800" dirty="0"/>
              <a:t>配置</a:t>
            </a:r>
            <a:r>
              <a:rPr lang="en-US" altLang="zh-CN" sz="1800" dirty="0"/>
              <a:t>HQoS</a:t>
            </a:r>
            <a:r>
              <a:rPr lang="zh-CN" altLang="en-US" sz="1800" dirty="0"/>
              <a:t>时会使用策略嵌套的配置方式：</a:t>
            </a:r>
            <a:endParaRPr lang="en-US" altLang="zh-CN" sz="1800" dirty="0"/>
          </a:p>
          <a:p>
            <a:pPr lvl="1"/>
            <a:r>
              <a:rPr lang="zh-CN" altLang="en-US" sz="1600" dirty="0"/>
              <a:t>父策略区分用户，子策略区分流量。</a:t>
            </a:r>
            <a:endParaRPr lang="en-US" altLang="zh-CN" sz="1600" dirty="0"/>
          </a:p>
          <a:p>
            <a:pPr lvl="1"/>
            <a:r>
              <a:rPr lang="zh-CN" altLang="en-US" sz="1600" dirty="0"/>
              <a:t>父策略下可以有多个子策略。</a:t>
            </a:r>
            <a:endParaRPr lang="en-US" altLang="zh-CN" sz="1600" dirty="0"/>
          </a:p>
          <a:p>
            <a:pPr lvl="1"/>
            <a:r>
              <a:rPr lang="zh-CN" altLang="en-US" sz="1600" dirty="0"/>
              <a:t>父策略应用于接口。</a:t>
            </a:r>
            <a:endParaRPr lang="en-US" sz="1600" dirty="0"/>
          </a:p>
        </p:txBody>
      </p:sp>
      <p:sp>
        <p:nvSpPr>
          <p:cNvPr id="4" name="Rectangle 3">
            <a:extLst>
              <a:ext uri="{FF2B5EF4-FFF2-40B4-BE49-F238E27FC236}">
                <a16:creationId xmlns:a16="http://schemas.microsoft.com/office/drawing/2014/main" id="{6E165C56-A5DC-41AF-BBB7-3EDAEAD6F0FA}"/>
              </a:ext>
            </a:extLst>
          </p:cNvPr>
          <p:cNvSpPr/>
          <p:nvPr/>
        </p:nvSpPr>
        <p:spPr bwMode="gray">
          <a:xfrm>
            <a:off x="9315297" y="2849788"/>
            <a:ext cx="2281289" cy="2556284"/>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Level1</a:t>
            </a:r>
            <a:r>
              <a:rPr lang="zh-CN" altLang="en-US" sz="1400" dirty="0">
                <a:solidFill>
                  <a:schemeClr val="tx1"/>
                </a:solidFill>
              </a:rPr>
              <a:t>接口队列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Port Queue</a:t>
            </a:r>
            <a:r>
              <a:rPr lang="zh-CN" altLang="en-US" sz="1400" dirty="0">
                <a:solidFill>
                  <a:schemeClr val="tx1"/>
                </a:solidFill>
              </a:rPr>
              <a:t>）</a:t>
            </a:r>
          </a:p>
        </p:txBody>
      </p:sp>
      <p:sp>
        <p:nvSpPr>
          <p:cNvPr id="5" name="Rectangle 4">
            <a:extLst>
              <a:ext uri="{FF2B5EF4-FFF2-40B4-BE49-F238E27FC236}">
                <a16:creationId xmlns:a16="http://schemas.microsoft.com/office/drawing/2014/main" id="{63134F67-06B2-4785-8A73-A4ABD829B55D}"/>
              </a:ext>
            </a:extLst>
          </p:cNvPr>
          <p:cNvSpPr/>
          <p:nvPr/>
        </p:nvSpPr>
        <p:spPr bwMode="gray">
          <a:xfrm>
            <a:off x="6483969" y="2849788"/>
            <a:ext cx="2700300" cy="2556284"/>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Level2</a:t>
            </a:r>
            <a:r>
              <a:rPr lang="zh-CN" altLang="en-US" sz="1400" dirty="0">
                <a:solidFill>
                  <a:schemeClr val="tx1"/>
                </a:solidFill>
              </a:rPr>
              <a:t>用户队列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Subscriber Queue</a:t>
            </a:r>
            <a:r>
              <a:rPr lang="zh-CN" altLang="en-US" sz="1400" dirty="0">
                <a:solidFill>
                  <a:schemeClr val="tx1"/>
                </a:solidFill>
              </a:rPr>
              <a:t>）</a:t>
            </a:r>
          </a:p>
        </p:txBody>
      </p:sp>
      <p:sp>
        <p:nvSpPr>
          <p:cNvPr id="6" name="Rectangle 5">
            <a:extLst>
              <a:ext uri="{FF2B5EF4-FFF2-40B4-BE49-F238E27FC236}">
                <a16:creationId xmlns:a16="http://schemas.microsoft.com/office/drawing/2014/main" id="{916C0D1D-AEF8-4161-90FE-C32D4505DCFA}"/>
              </a:ext>
            </a:extLst>
          </p:cNvPr>
          <p:cNvSpPr/>
          <p:nvPr/>
        </p:nvSpPr>
        <p:spPr bwMode="gray">
          <a:xfrm>
            <a:off x="3631414" y="2849788"/>
            <a:ext cx="2700300" cy="2556284"/>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en-US" altLang="zh-CN" sz="1400" dirty="0">
                <a:solidFill>
                  <a:schemeClr val="tx1"/>
                </a:solidFill>
              </a:rPr>
              <a:t>Level3</a:t>
            </a:r>
            <a:r>
              <a:rPr lang="zh-CN" altLang="en-US" sz="1400" dirty="0">
                <a:solidFill>
                  <a:schemeClr val="tx1"/>
                </a:solidFill>
              </a:rPr>
              <a:t>流队列</a:t>
            </a:r>
            <a:endParaRPr lang="en-US" altLang="zh-CN" sz="1400" dirty="0">
              <a:solidFill>
                <a:schemeClr val="tx1"/>
              </a:solidFill>
            </a:endParaRPr>
          </a:p>
          <a:p>
            <a:pPr algn="ctr" fontAlgn="auto"/>
            <a:r>
              <a:rPr lang="zh-CN" altLang="en-US" sz="1400" dirty="0">
                <a:solidFill>
                  <a:schemeClr val="tx1"/>
                </a:solidFill>
              </a:rPr>
              <a:t>（</a:t>
            </a:r>
            <a:r>
              <a:rPr lang="en-US" altLang="zh-CN" sz="1400" dirty="0">
                <a:solidFill>
                  <a:schemeClr val="tx1"/>
                </a:solidFill>
              </a:rPr>
              <a:t>Flow Queue</a:t>
            </a:r>
            <a:r>
              <a:rPr lang="zh-CN" altLang="en-US" sz="1400" dirty="0">
                <a:solidFill>
                  <a:schemeClr val="tx1"/>
                </a:solidFill>
              </a:rPr>
              <a:t>）</a:t>
            </a:r>
          </a:p>
        </p:txBody>
      </p:sp>
      <p:cxnSp>
        <p:nvCxnSpPr>
          <p:cNvPr id="7" name="Elbow Connector 10">
            <a:extLst>
              <a:ext uri="{FF2B5EF4-FFF2-40B4-BE49-F238E27FC236}">
                <a16:creationId xmlns:a16="http://schemas.microsoft.com/office/drawing/2014/main" id="{673363E7-AC14-4CDB-B4CD-DF198C4791AC}"/>
              </a:ext>
            </a:extLst>
          </p:cNvPr>
          <p:cNvCxnSpPr>
            <a:cxnSpLocks/>
          </p:cNvCxnSpPr>
          <p:nvPr/>
        </p:nvCxnSpPr>
        <p:spPr bwMode="gray">
          <a:xfrm>
            <a:off x="5565207" y="3674074"/>
            <a:ext cx="1265046" cy="610899"/>
          </a:xfrm>
          <a:prstGeom prst="bentConnector3">
            <a:avLst/>
          </a:prstGeom>
          <a:ln w="127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8" name="Elbow Connector 11">
            <a:extLst>
              <a:ext uri="{FF2B5EF4-FFF2-40B4-BE49-F238E27FC236}">
                <a16:creationId xmlns:a16="http://schemas.microsoft.com/office/drawing/2014/main" id="{D457D18D-E027-44B9-8304-0AAADA480FC5}"/>
              </a:ext>
            </a:extLst>
          </p:cNvPr>
          <p:cNvCxnSpPr>
            <a:cxnSpLocks/>
          </p:cNvCxnSpPr>
          <p:nvPr/>
        </p:nvCxnSpPr>
        <p:spPr bwMode="gray">
          <a:xfrm flipV="1">
            <a:off x="5565207" y="4284973"/>
            <a:ext cx="1265046" cy="613237"/>
          </a:xfrm>
          <a:prstGeom prst="bentConnector3">
            <a:avLst/>
          </a:prstGeom>
          <a:ln w="12700">
            <a:solidFill>
              <a:srgbClr val="30B5C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5B51EBB-CC05-47EE-B786-EF5D735F2A12}"/>
              </a:ext>
            </a:extLst>
          </p:cNvPr>
          <p:cNvSpPr txBox="1"/>
          <p:nvPr/>
        </p:nvSpPr>
        <p:spPr bwMode="gray">
          <a:xfrm>
            <a:off x="4296305" y="4164406"/>
            <a:ext cx="461665" cy="376148"/>
          </a:xfrm>
          <a:prstGeom prst="rect">
            <a:avLst/>
          </a:prstGeom>
          <a:noFill/>
        </p:spPr>
        <p:txBody>
          <a:bodyPr vert="eaVert" wrap="square" rtlCol="0">
            <a:spAutoFit/>
          </a:bodyPr>
          <a:lstStyle/>
          <a:p>
            <a:r>
              <a:rPr lang="en-US" altLang="zh-CN" sz="1800" dirty="0"/>
              <a:t>…</a:t>
            </a:r>
            <a:endParaRPr lang="zh-CN" altLang="en-US" sz="1800" dirty="0"/>
          </a:p>
        </p:txBody>
      </p:sp>
      <p:cxnSp>
        <p:nvCxnSpPr>
          <p:cNvPr id="10" name="Straight Connector 9">
            <a:extLst>
              <a:ext uri="{FF2B5EF4-FFF2-40B4-BE49-F238E27FC236}">
                <a16:creationId xmlns:a16="http://schemas.microsoft.com/office/drawing/2014/main" id="{00CE3029-CE52-4597-8E76-EF42604C40FF}"/>
              </a:ext>
            </a:extLst>
          </p:cNvPr>
          <p:cNvCxnSpPr>
            <a:cxnSpLocks/>
          </p:cNvCxnSpPr>
          <p:nvPr/>
        </p:nvCxnSpPr>
        <p:spPr bwMode="gray">
          <a:xfrm>
            <a:off x="8444724" y="4284973"/>
            <a:ext cx="1276350" cy="0"/>
          </a:xfrm>
          <a:prstGeom prst="line">
            <a:avLst/>
          </a:prstGeom>
          <a:ln w="12700">
            <a:solidFill>
              <a:srgbClr val="30B5C5"/>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0B69953-14E9-4334-B465-C0D87C62299C}"/>
              </a:ext>
            </a:extLst>
          </p:cNvPr>
          <p:cNvCxnSpPr/>
          <p:nvPr/>
        </p:nvCxnSpPr>
        <p:spPr bwMode="gray">
          <a:xfrm>
            <a:off x="5647638" y="3674074"/>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94B7A5C-6D09-4E7A-97CF-B62CFFDE0EB2}"/>
              </a:ext>
            </a:extLst>
          </p:cNvPr>
          <p:cNvCxnSpPr/>
          <p:nvPr/>
        </p:nvCxnSpPr>
        <p:spPr bwMode="gray">
          <a:xfrm>
            <a:off x="5647638" y="4900686"/>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CECAFBA-A88E-4DCF-B1AD-D9D11C1BB447}"/>
              </a:ext>
            </a:extLst>
          </p:cNvPr>
          <p:cNvCxnSpPr/>
          <p:nvPr/>
        </p:nvCxnSpPr>
        <p:spPr bwMode="gray">
          <a:xfrm>
            <a:off x="8598437" y="4284973"/>
            <a:ext cx="4672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an 225">
            <a:extLst>
              <a:ext uri="{FF2B5EF4-FFF2-40B4-BE49-F238E27FC236}">
                <a16:creationId xmlns:a16="http://schemas.microsoft.com/office/drawing/2014/main" id="{8531DF90-F53E-4AF9-BEEB-679E2759E06B}"/>
              </a:ext>
            </a:extLst>
          </p:cNvPr>
          <p:cNvSpPr/>
          <p:nvPr/>
        </p:nvSpPr>
        <p:spPr bwMode="gray">
          <a:xfrm rot="5400000">
            <a:off x="4629756" y="288923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Can 225">
            <a:extLst>
              <a:ext uri="{FF2B5EF4-FFF2-40B4-BE49-F238E27FC236}">
                <a16:creationId xmlns:a16="http://schemas.microsoft.com/office/drawing/2014/main" id="{15DC3247-F101-4A4F-BFA1-3F622EC23402}"/>
              </a:ext>
            </a:extLst>
          </p:cNvPr>
          <p:cNvSpPr/>
          <p:nvPr/>
        </p:nvSpPr>
        <p:spPr bwMode="gray">
          <a:xfrm rot="5400000">
            <a:off x="4629756" y="4112197"/>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Can 9">
            <a:extLst>
              <a:ext uri="{FF2B5EF4-FFF2-40B4-BE49-F238E27FC236}">
                <a16:creationId xmlns:a16="http://schemas.microsoft.com/office/drawing/2014/main" id="{C2DDC7EC-E638-47C8-B97F-0A44CE707790}"/>
              </a:ext>
            </a:extLst>
          </p:cNvPr>
          <p:cNvSpPr/>
          <p:nvPr/>
        </p:nvSpPr>
        <p:spPr bwMode="gray">
          <a:xfrm rot="5400000">
            <a:off x="7527658" y="3477651"/>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Can 9">
            <a:extLst>
              <a:ext uri="{FF2B5EF4-FFF2-40B4-BE49-F238E27FC236}">
                <a16:creationId xmlns:a16="http://schemas.microsoft.com/office/drawing/2014/main" id="{1D5DB1FA-53BA-4C8B-88D0-D1461D21C6E1}"/>
              </a:ext>
            </a:extLst>
          </p:cNvPr>
          <p:cNvSpPr/>
          <p:nvPr/>
        </p:nvSpPr>
        <p:spPr bwMode="gray">
          <a:xfrm rot="5400000">
            <a:off x="10401711" y="3475803"/>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Left Brace 24">
            <a:extLst>
              <a:ext uri="{FF2B5EF4-FFF2-40B4-BE49-F238E27FC236}">
                <a16:creationId xmlns:a16="http://schemas.microsoft.com/office/drawing/2014/main" id="{911857BF-3BFD-4104-9A73-BF8E3205128B}"/>
              </a:ext>
            </a:extLst>
          </p:cNvPr>
          <p:cNvSpPr/>
          <p:nvPr/>
        </p:nvSpPr>
        <p:spPr bwMode="gray">
          <a:xfrm rot="16200000">
            <a:off x="4866267" y="4269863"/>
            <a:ext cx="230595" cy="2700300"/>
          </a:xfrm>
          <a:prstGeom prst="leftBrac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341F0916-9C72-4551-B330-F193EAA2F71B}"/>
              </a:ext>
            </a:extLst>
          </p:cNvPr>
          <p:cNvSpPr txBox="1"/>
          <p:nvPr/>
        </p:nvSpPr>
        <p:spPr bwMode="gray">
          <a:xfrm>
            <a:off x="4619926" y="5860158"/>
            <a:ext cx="723275" cy="307777"/>
          </a:xfrm>
          <a:prstGeom prst="rect">
            <a:avLst/>
          </a:prstGeom>
          <a:noFill/>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rPr>
              <a:t>子策略</a:t>
            </a:r>
            <a:endParaRPr lang="en-US" sz="1400" dirty="0">
              <a:latin typeface="Huawei Sans" panose="020C0503030203020204" pitchFamily="34" charset="0"/>
              <a:ea typeface="方正兰亭黑简体" panose="02000000000000000000" pitchFamily="2" charset="-122"/>
            </a:endParaRPr>
          </a:p>
        </p:txBody>
      </p:sp>
      <p:sp>
        <p:nvSpPr>
          <p:cNvPr id="27" name="Left Brace 26">
            <a:extLst>
              <a:ext uri="{FF2B5EF4-FFF2-40B4-BE49-F238E27FC236}">
                <a16:creationId xmlns:a16="http://schemas.microsoft.com/office/drawing/2014/main" id="{1F326510-98E9-4357-8973-28034744E942}"/>
              </a:ext>
            </a:extLst>
          </p:cNvPr>
          <p:cNvSpPr/>
          <p:nvPr/>
        </p:nvSpPr>
        <p:spPr bwMode="gray">
          <a:xfrm rot="16200000">
            <a:off x="7718822" y="4265835"/>
            <a:ext cx="230595" cy="2700300"/>
          </a:xfrm>
          <a:prstGeom prst="leftBrac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7ECF2746-347F-4CB7-8374-2206FA930735}"/>
              </a:ext>
            </a:extLst>
          </p:cNvPr>
          <p:cNvSpPr txBox="1"/>
          <p:nvPr/>
        </p:nvSpPr>
        <p:spPr bwMode="gray">
          <a:xfrm>
            <a:off x="7472481" y="5847999"/>
            <a:ext cx="723275" cy="307777"/>
          </a:xfrm>
          <a:prstGeom prst="rect">
            <a:avLst/>
          </a:prstGeom>
          <a:noFill/>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rPr>
              <a:t>父策略</a:t>
            </a:r>
            <a:endParaRPr lang="en-US" sz="1400" dirty="0">
              <a:latin typeface="Huawei Sans" panose="020C0503030203020204" pitchFamily="34" charset="0"/>
              <a:ea typeface="方正兰亭黑简体" panose="02000000000000000000" pitchFamily="2" charset="-122"/>
            </a:endParaRPr>
          </a:p>
        </p:txBody>
      </p:sp>
      <p:sp>
        <p:nvSpPr>
          <p:cNvPr id="29" name="Left Brace 28">
            <a:extLst>
              <a:ext uri="{FF2B5EF4-FFF2-40B4-BE49-F238E27FC236}">
                <a16:creationId xmlns:a16="http://schemas.microsoft.com/office/drawing/2014/main" id="{5E7DC3CB-F066-4AD2-B03A-78A106FFDF96}"/>
              </a:ext>
            </a:extLst>
          </p:cNvPr>
          <p:cNvSpPr/>
          <p:nvPr/>
        </p:nvSpPr>
        <p:spPr bwMode="gray">
          <a:xfrm rot="16200000">
            <a:off x="10357895" y="4492589"/>
            <a:ext cx="230595" cy="2246791"/>
          </a:xfrm>
          <a:prstGeom prst="leftBrace">
            <a:avLst/>
          </a:prstGeom>
          <a:ln w="19050">
            <a:solidFill>
              <a:srgbClr val="30B5C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B42D6B42-B37D-4B63-B417-BFD2A8CE65F2}"/>
              </a:ext>
            </a:extLst>
          </p:cNvPr>
          <p:cNvSpPr txBox="1"/>
          <p:nvPr/>
        </p:nvSpPr>
        <p:spPr bwMode="gray">
          <a:xfrm>
            <a:off x="9719346" y="5847999"/>
            <a:ext cx="1510350" cy="307777"/>
          </a:xfrm>
          <a:prstGeom prst="rect">
            <a:avLst/>
          </a:prstGeom>
          <a:noFill/>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rPr>
              <a:t>接口</a:t>
            </a:r>
            <a:r>
              <a:rPr lang="en-US" altLang="zh-CN" sz="1400" dirty="0">
                <a:latin typeface="Huawei Sans" panose="020C0503030203020204" pitchFamily="34" charset="0"/>
                <a:ea typeface="方正兰亭黑简体" panose="02000000000000000000" pitchFamily="2" charset="-122"/>
              </a:rPr>
              <a:t>/</a:t>
            </a:r>
            <a:r>
              <a:rPr lang="zh-CN" altLang="en-US" sz="1400" dirty="0">
                <a:latin typeface="Huawei Sans" panose="020C0503030203020204" pitchFamily="34" charset="0"/>
                <a:ea typeface="方正兰亭黑简体" panose="02000000000000000000" pitchFamily="2" charset="-122"/>
              </a:rPr>
              <a:t>子接口队列</a:t>
            </a:r>
            <a:endParaRPr lang="en-US" sz="140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97215555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F19B-96E4-44D0-A53F-A1E4A19EF78C}"/>
              </a:ext>
            </a:extLst>
          </p:cNvPr>
          <p:cNvSpPr>
            <a:spLocks noGrp="1"/>
          </p:cNvSpPr>
          <p:nvPr>
            <p:ph type="title"/>
          </p:nvPr>
        </p:nvSpPr>
        <p:spPr bwMode="gray"/>
        <p:txBody>
          <a:bodyPr/>
          <a:lstStyle/>
          <a:p>
            <a:r>
              <a:rPr lang="zh-CN" altLang="en-US" dirty="0"/>
              <a:t>配置</a:t>
            </a:r>
            <a:r>
              <a:rPr lang="en-US" altLang="zh-CN" dirty="0"/>
              <a:t>HQoS</a:t>
            </a:r>
            <a:r>
              <a:rPr lang="zh-CN" altLang="en-US" dirty="0"/>
              <a:t>子策略</a:t>
            </a:r>
            <a:endParaRPr lang="en-US" dirty="0"/>
          </a:p>
        </p:txBody>
      </p:sp>
      <p:sp>
        <p:nvSpPr>
          <p:cNvPr id="4" name="Freeform 159">
            <a:extLst>
              <a:ext uri="{FF2B5EF4-FFF2-40B4-BE49-F238E27FC236}">
                <a16:creationId xmlns:a16="http://schemas.microsoft.com/office/drawing/2014/main" id="{66F9675B-2A79-4CCB-8B16-4DD40899D8B9}"/>
              </a:ext>
            </a:extLst>
          </p:cNvPr>
          <p:cNvSpPr/>
          <p:nvPr/>
        </p:nvSpPr>
        <p:spPr bwMode="gray">
          <a:xfrm flipH="1">
            <a:off x="2755741" y="1205014"/>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6" descr="PC.png">
            <a:extLst>
              <a:ext uri="{FF2B5EF4-FFF2-40B4-BE49-F238E27FC236}">
                <a16:creationId xmlns:a16="http://schemas.microsoft.com/office/drawing/2014/main" id="{BD7C8D92-0E22-43C3-B535-59B6A7CE3ADE}"/>
              </a:ext>
            </a:extLst>
          </p:cNvPr>
          <p:cNvPicPr>
            <a:picLocks noChangeAspect="1"/>
          </p:cNvPicPr>
          <p:nvPr/>
        </p:nvPicPr>
        <p:blipFill>
          <a:blip r:embed="rId3" cstate="print"/>
          <a:stretch>
            <a:fillRect/>
          </a:stretch>
        </p:blipFill>
        <p:spPr bwMode="gray">
          <a:xfrm>
            <a:off x="906316" y="1107753"/>
            <a:ext cx="609278" cy="467924"/>
          </a:xfrm>
          <a:prstGeom prst="rect">
            <a:avLst/>
          </a:prstGeom>
        </p:spPr>
      </p:pic>
      <p:pic>
        <p:nvPicPr>
          <p:cNvPr id="7" name="图片 6" descr="PC.png">
            <a:extLst>
              <a:ext uri="{FF2B5EF4-FFF2-40B4-BE49-F238E27FC236}">
                <a16:creationId xmlns:a16="http://schemas.microsoft.com/office/drawing/2014/main" id="{51F234F2-A478-4590-9E6C-0033A4BE9859}"/>
              </a:ext>
            </a:extLst>
          </p:cNvPr>
          <p:cNvPicPr>
            <a:picLocks noChangeAspect="1"/>
          </p:cNvPicPr>
          <p:nvPr/>
        </p:nvPicPr>
        <p:blipFill>
          <a:blip r:embed="rId3" cstate="print"/>
          <a:stretch>
            <a:fillRect/>
          </a:stretch>
        </p:blipFill>
        <p:spPr bwMode="gray">
          <a:xfrm>
            <a:off x="906316" y="2207618"/>
            <a:ext cx="609278" cy="467924"/>
          </a:xfrm>
          <a:prstGeom prst="rect">
            <a:avLst/>
          </a:prstGeom>
        </p:spPr>
      </p:pic>
      <p:pic>
        <p:nvPicPr>
          <p:cNvPr id="8" name="Picture 2" descr="G:\做的项目\公共\扁平图标切换\更新2015_01_21\oss扁平图标库2015_01_21更新-04.png">
            <a:extLst>
              <a:ext uri="{FF2B5EF4-FFF2-40B4-BE49-F238E27FC236}">
                <a16:creationId xmlns:a16="http://schemas.microsoft.com/office/drawing/2014/main" id="{D7C2C116-37F1-42AC-A5E8-1A548A4BA254}"/>
              </a:ext>
            </a:extLst>
          </p:cNvPr>
          <p:cNvPicPr>
            <a:picLocks noChangeAspect="1" noChangeArrowheads="1"/>
          </p:cNvPicPr>
          <p:nvPr/>
        </p:nvPicPr>
        <p:blipFill>
          <a:blip r:embed="rId4" cstate="print"/>
          <a:stretch>
            <a:fillRect/>
          </a:stretch>
        </p:blipFill>
        <p:spPr bwMode="gray">
          <a:xfrm>
            <a:off x="2394263" y="1714296"/>
            <a:ext cx="540989" cy="442626"/>
          </a:xfrm>
          <a:prstGeom prst="rect">
            <a:avLst/>
          </a:prstGeom>
          <a:noFill/>
        </p:spPr>
      </p:pic>
      <p:cxnSp>
        <p:nvCxnSpPr>
          <p:cNvPr id="9" name="直接连接符 75">
            <a:extLst>
              <a:ext uri="{FF2B5EF4-FFF2-40B4-BE49-F238E27FC236}">
                <a16:creationId xmlns:a16="http://schemas.microsoft.com/office/drawing/2014/main" id="{B4FA78C1-E8F4-4CF1-B060-BBA2C026AE4A}"/>
              </a:ext>
            </a:extLst>
          </p:cNvPr>
          <p:cNvCxnSpPr>
            <a:cxnSpLocks/>
            <a:stCxn id="5" idx="3"/>
            <a:endCxn id="8" idx="1"/>
          </p:cNvCxnSpPr>
          <p:nvPr/>
        </p:nvCxnSpPr>
        <p:spPr bwMode="gray">
          <a:xfrm>
            <a:off x="1515594" y="1341715"/>
            <a:ext cx="878669" cy="5938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 name="直接连接符 75">
            <a:extLst>
              <a:ext uri="{FF2B5EF4-FFF2-40B4-BE49-F238E27FC236}">
                <a16:creationId xmlns:a16="http://schemas.microsoft.com/office/drawing/2014/main" id="{0DAFD327-F524-433C-964D-F38E2F9F5E83}"/>
              </a:ext>
            </a:extLst>
          </p:cNvPr>
          <p:cNvCxnSpPr>
            <a:stCxn id="7" idx="3"/>
            <a:endCxn id="8" idx="1"/>
          </p:cNvCxnSpPr>
          <p:nvPr/>
        </p:nvCxnSpPr>
        <p:spPr bwMode="gray">
          <a:xfrm flipV="1">
            <a:off x="1515594" y="1935609"/>
            <a:ext cx="878669" cy="50597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75">
            <a:extLst>
              <a:ext uri="{FF2B5EF4-FFF2-40B4-BE49-F238E27FC236}">
                <a16:creationId xmlns:a16="http://schemas.microsoft.com/office/drawing/2014/main" id="{8D1AD01E-7FB7-4C0F-B695-EB48EB4658F0}"/>
              </a:ext>
            </a:extLst>
          </p:cNvPr>
          <p:cNvCxnSpPr>
            <a:cxnSpLocks/>
            <a:stCxn id="8" idx="3"/>
          </p:cNvCxnSpPr>
          <p:nvPr/>
        </p:nvCxnSpPr>
        <p:spPr bwMode="gray">
          <a:xfrm>
            <a:off x="2935252" y="1935609"/>
            <a:ext cx="1178660"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 name="Oval 41">
            <a:extLst>
              <a:ext uri="{FF2B5EF4-FFF2-40B4-BE49-F238E27FC236}">
                <a16:creationId xmlns:a16="http://schemas.microsoft.com/office/drawing/2014/main" id="{3D99CD70-B73F-4F64-B256-559646C7DF62}"/>
              </a:ext>
            </a:extLst>
          </p:cNvPr>
          <p:cNvSpPr>
            <a:spLocks noChangeAspect="1"/>
          </p:cNvSpPr>
          <p:nvPr/>
        </p:nvSpPr>
        <p:spPr bwMode="gray">
          <a:xfrm>
            <a:off x="2844280" y="185597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15" name="Text Placeholder 2">
            <a:extLst>
              <a:ext uri="{FF2B5EF4-FFF2-40B4-BE49-F238E27FC236}">
                <a16:creationId xmlns:a16="http://schemas.microsoft.com/office/drawing/2014/main" id="{B5BA1932-A89C-4BFA-BDA3-BD79CBE5D17F}"/>
              </a:ext>
            </a:extLst>
          </p:cNvPr>
          <p:cNvSpPr txBox="1">
            <a:spLocks/>
          </p:cNvSpPr>
          <p:nvPr/>
        </p:nvSpPr>
        <p:spPr bwMode="gray">
          <a:xfrm>
            <a:off x="455613" y="2713520"/>
            <a:ext cx="5640387" cy="349041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en-US" sz="1600" dirty="0"/>
              <a:t>HQ</a:t>
            </a:r>
            <a:r>
              <a:rPr lang="en-US" altLang="zh-CN" sz="1600" dirty="0"/>
              <a:t>oS</a:t>
            </a:r>
            <a:r>
              <a:rPr lang="zh-CN" altLang="en-US" sz="1600" dirty="0"/>
              <a:t>的子策略用于区分不同的业务，配置</a:t>
            </a:r>
            <a:r>
              <a:rPr lang="en-US" altLang="zh-CN" sz="1600" dirty="0"/>
              <a:t>HQoS</a:t>
            </a:r>
            <a:r>
              <a:rPr lang="zh-CN" altLang="en-US" sz="1600" dirty="0"/>
              <a:t>时可以基于业务配置多个子策略。</a:t>
            </a:r>
            <a:endParaRPr lang="en-US" sz="1600" dirty="0"/>
          </a:p>
          <a:p>
            <a:pPr>
              <a:spcAft>
                <a:spcPts val="0"/>
              </a:spcAft>
            </a:pPr>
            <a:r>
              <a:rPr lang="en-US" sz="1600" dirty="0"/>
              <a:t>HQoS</a:t>
            </a:r>
            <a:r>
              <a:rPr lang="zh-CN" altLang="en-US" sz="1600" dirty="0"/>
              <a:t>的子策略配置与普通</a:t>
            </a:r>
            <a:r>
              <a:rPr lang="en-US" altLang="zh-CN" sz="1600" dirty="0"/>
              <a:t>MQC</a:t>
            </a:r>
            <a:r>
              <a:rPr lang="zh-CN" altLang="en-US" sz="1600" dirty="0"/>
              <a:t>的配置方式一致，基本思路如下：</a:t>
            </a:r>
            <a:endParaRPr lang="en-US" altLang="zh-CN" sz="1600" dirty="0"/>
          </a:p>
          <a:p>
            <a:pPr lvl="1" fontAlgn="auto">
              <a:spcAft>
                <a:spcPts val="0"/>
              </a:spcAft>
            </a:pPr>
            <a:r>
              <a:rPr lang="zh-CN" altLang="en-US" sz="1400" dirty="0"/>
              <a:t>配置</a:t>
            </a:r>
            <a:r>
              <a:rPr lang="en-US" sz="1400" dirty="0"/>
              <a:t>Traffic classifier</a:t>
            </a:r>
            <a:r>
              <a:rPr lang="zh-CN" altLang="en-US" sz="1400" dirty="0"/>
              <a:t>，该</a:t>
            </a:r>
            <a:r>
              <a:rPr lang="en-US" altLang="zh-CN" sz="1400" dirty="0"/>
              <a:t>classifier</a:t>
            </a:r>
            <a:r>
              <a:rPr lang="zh-CN" altLang="en-US" sz="1400" dirty="0"/>
              <a:t>可以基于业务特征进行匹配。</a:t>
            </a:r>
            <a:endParaRPr lang="en-US" altLang="zh-CN" sz="1400" dirty="0"/>
          </a:p>
          <a:p>
            <a:pPr lvl="1" fontAlgn="auto">
              <a:spcAft>
                <a:spcPts val="0"/>
              </a:spcAft>
            </a:pPr>
            <a:r>
              <a:rPr lang="zh-CN" altLang="en-US" sz="1400" dirty="0"/>
              <a:t>配置</a:t>
            </a:r>
            <a:r>
              <a:rPr lang="en-US" sz="1400" dirty="0"/>
              <a:t>Traffic behavior</a:t>
            </a:r>
            <a:r>
              <a:rPr lang="zh-CN" altLang="en-US" sz="1400" dirty="0"/>
              <a:t>，该</a:t>
            </a:r>
            <a:r>
              <a:rPr lang="en-US" altLang="zh-CN" sz="1400" dirty="0"/>
              <a:t>behavior</a:t>
            </a:r>
            <a:r>
              <a:rPr lang="zh-CN" altLang="en-US" sz="1400" dirty="0"/>
              <a:t>可以配置队列调度方式和队列带宽。</a:t>
            </a:r>
            <a:endParaRPr lang="en-US" sz="1400" dirty="0"/>
          </a:p>
          <a:p>
            <a:pPr lvl="1" fontAlgn="auto">
              <a:spcAft>
                <a:spcPts val="0"/>
              </a:spcAft>
            </a:pPr>
            <a:r>
              <a:rPr lang="zh-CN" altLang="en-US" sz="1400" dirty="0"/>
              <a:t>使用</a:t>
            </a:r>
            <a:r>
              <a:rPr lang="en-US" sz="1400" dirty="0"/>
              <a:t>Traffic policy</a:t>
            </a:r>
            <a:r>
              <a:rPr lang="zh-CN" altLang="en-US" sz="1400" dirty="0"/>
              <a:t>工具将</a:t>
            </a:r>
            <a:r>
              <a:rPr lang="en-US" sz="1400" dirty="0"/>
              <a:t>Traffic classifier</a:t>
            </a:r>
            <a:r>
              <a:rPr lang="zh-CN" altLang="en-US" sz="1400" dirty="0"/>
              <a:t>与</a:t>
            </a:r>
            <a:r>
              <a:rPr lang="en-US" sz="1400" dirty="0"/>
              <a:t>Traffic behavior</a:t>
            </a:r>
            <a:r>
              <a:rPr lang="zh-CN" altLang="en-US" sz="1400" dirty="0"/>
              <a:t>进行绑定。</a:t>
            </a:r>
            <a:endParaRPr lang="en-US" sz="1400" dirty="0"/>
          </a:p>
        </p:txBody>
      </p:sp>
      <p:sp>
        <p:nvSpPr>
          <p:cNvPr id="16" name="文本框 30">
            <a:extLst>
              <a:ext uri="{FF2B5EF4-FFF2-40B4-BE49-F238E27FC236}">
                <a16:creationId xmlns:a16="http://schemas.microsoft.com/office/drawing/2014/main" id="{11042D1B-5C4E-414B-A3C7-F2007F79D76C}"/>
              </a:ext>
            </a:extLst>
          </p:cNvPr>
          <p:cNvSpPr txBox="1"/>
          <p:nvPr/>
        </p:nvSpPr>
        <p:spPr bwMode="gray">
          <a:xfrm>
            <a:off x="6110773" y="1151847"/>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dirty="0">
                <a:solidFill>
                  <a:schemeClr val="tx1"/>
                </a:solidFill>
              </a:rPr>
              <a:t> |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基于业务特征匹配流量</a:t>
            </a:r>
            <a:endParaRPr lang="en-US" altLang="zh-CN" dirty="0">
              <a:solidFill>
                <a:schemeClr val="tx1"/>
              </a:solidFill>
            </a:endParaRPr>
          </a:p>
        </p:txBody>
      </p:sp>
      <p:sp>
        <p:nvSpPr>
          <p:cNvPr id="17" name="文本框 30">
            <a:extLst>
              <a:ext uri="{FF2B5EF4-FFF2-40B4-BE49-F238E27FC236}">
                <a16:creationId xmlns:a16="http://schemas.microsoft.com/office/drawing/2014/main" id="{78D7418A-9706-4A80-82F3-2D1F56CEA4C2}"/>
              </a:ext>
            </a:extLst>
          </p:cNvPr>
          <p:cNvSpPr txBox="1"/>
          <p:nvPr/>
        </p:nvSpPr>
        <p:spPr bwMode="gray">
          <a:xfrm>
            <a:off x="6110773" y="2328611"/>
            <a:ext cx="5607148" cy="1384995"/>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创建流行为</a:t>
            </a:r>
            <a:endParaRPr lang="en-US" altLang="zh-CN" dirty="0">
              <a:solidFill>
                <a:schemeClr val="tx1"/>
              </a:solidFill>
            </a:endParaRPr>
          </a:p>
          <a:p>
            <a:pPr>
              <a:lnSpc>
                <a:spcPct val="100000"/>
              </a:lnSpc>
            </a:pPr>
            <a:r>
              <a:rPr lang="en-US" altLang="zh-CN" b="1" dirty="0">
                <a:solidFill>
                  <a:schemeClr val="tx1"/>
                </a:solidFill>
              </a:rPr>
              <a:t>      queue [</a:t>
            </a:r>
            <a:r>
              <a:rPr lang="en-US" altLang="zh-CN" b="1" dirty="0" err="1">
                <a:solidFill>
                  <a:schemeClr val="tx1"/>
                </a:solidFill>
              </a:rPr>
              <a:t>af</a:t>
            </a:r>
            <a:r>
              <a:rPr lang="en-US" altLang="zh-CN" b="1" dirty="0">
                <a:solidFill>
                  <a:schemeClr val="tx1"/>
                </a:solidFill>
              </a:rPr>
              <a:t> | </a:t>
            </a:r>
            <a:r>
              <a:rPr lang="en-US" altLang="zh-CN" b="1" dirty="0" err="1">
                <a:solidFill>
                  <a:schemeClr val="tx1"/>
                </a:solidFill>
              </a:rPr>
              <a:t>ef</a:t>
            </a:r>
            <a:r>
              <a:rPr lang="en-US" altLang="zh-CN" b="1" dirty="0">
                <a:solidFill>
                  <a:schemeClr val="tx1"/>
                </a:solidFill>
              </a:rPr>
              <a:t> | </a:t>
            </a:r>
            <a:r>
              <a:rPr lang="en-US" altLang="zh-CN" b="1" dirty="0" err="1">
                <a:solidFill>
                  <a:schemeClr val="tx1"/>
                </a:solidFill>
              </a:rPr>
              <a:t>llq</a:t>
            </a:r>
            <a:r>
              <a:rPr lang="en-US" altLang="zh-CN" b="1" dirty="0">
                <a:solidFill>
                  <a:schemeClr val="tx1"/>
                </a:solidFill>
              </a:rPr>
              <a:t>] bandwidth </a:t>
            </a:r>
            <a:r>
              <a:rPr lang="en-US" altLang="zh-CN" dirty="0">
                <a:solidFill>
                  <a:schemeClr val="tx1"/>
                </a:solidFill>
              </a:rPr>
              <a:t>[</a:t>
            </a:r>
            <a:r>
              <a:rPr lang="en-US" altLang="zh-CN" i="1" dirty="0">
                <a:solidFill>
                  <a:schemeClr val="tx1"/>
                </a:solidFill>
              </a:rPr>
              <a:t>bandwidth</a:t>
            </a:r>
            <a:r>
              <a:rPr lang="en-US" altLang="zh-CN" dirty="0">
                <a:solidFill>
                  <a:schemeClr val="tx1"/>
                </a:solidFill>
              </a:rPr>
              <a:t> </a:t>
            </a:r>
            <a:r>
              <a:rPr lang="en-US" altLang="zh-CN" b="1" dirty="0">
                <a:solidFill>
                  <a:schemeClr val="tx1"/>
                </a:solidFill>
              </a:rPr>
              <a:t>| </a:t>
            </a:r>
            <a:r>
              <a:rPr lang="en-US" altLang="zh-CN" b="1" dirty="0" err="1">
                <a:solidFill>
                  <a:schemeClr val="tx1"/>
                </a:solidFill>
              </a:rPr>
              <a:t>pct</a:t>
            </a:r>
            <a:r>
              <a:rPr lang="en-US" altLang="zh-CN" b="1" dirty="0">
                <a:solidFill>
                  <a:schemeClr val="tx1"/>
                </a:solidFill>
              </a:rPr>
              <a:t> </a:t>
            </a:r>
            <a:r>
              <a:rPr lang="en-US" altLang="zh-CN" i="1" dirty="0">
                <a:solidFill>
                  <a:schemeClr val="tx1"/>
                </a:solidFill>
              </a:rPr>
              <a:t>percentage</a:t>
            </a:r>
            <a:r>
              <a:rPr lang="en-US" altLang="zh-CN" dirty="0">
                <a:solidFill>
                  <a:schemeClr val="tx1"/>
                </a:solidFill>
              </a:rPr>
              <a:t>]   //</a:t>
            </a:r>
            <a:r>
              <a:rPr lang="zh-CN" altLang="en-US" dirty="0">
                <a:solidFill>
                  <a:schemeClr val="tx1"/>
                </a:solidFill>
              </a:rPr>
              <a:t>在流行为中配置</a:t>
            </a:r>
            <a:r>
              <a:rPr lang="en-US" altLang="zh-CN" dirty="0">
                <a:solidFill>
                  <a:schemeClr val="tx1"/>
                </a:solidFill>
              </a:rPr>
              <a:t>AF/EF/LLQ</a:t>
            </a:r>
            <a:r>
              <a:rPr lang="zh-CN" altLang="en-US" dirty="0">
                <a:solidFill>
                  <a:schemeClr val="tx1"/>
                </a:solidFill>
              </a:rPr>
              <a:t>队列参数</a:t>
            </a:r>
            <a:endParaRPr lang="en-US" altLang="zh-CN" dirty="0">
              <a:solidFill>
                <a:schemeClr val="tx1"/>
              </a:solidFill>
            </a:endParaRPr>
          </a:p>
          <a:p>
            <a:pPr>
              <a:lnSpc>
                <a:spcPct val="100000"/>
              </a:lnSpc>
            </a:pPr>
            <a:r>
              <a:rPr lang="en-US" altLang="zh-CN" b="1" dirty="0">
                <a:solidFill>
                  <a:schemeClr val="tx1"/>
                </a:solidFill>
              </a:rPr>
              <a:t>      drop-profile </a:t>
            </a:r>
            <a:r>
              <a:rPr lang="en-US" altLang="zh-CN" dirty="0">
                <a:solidFill>
                  <a:schemeClr val="tx1"/>
                </a:solidFill>
              </a:rPr>
              <a:t>[</a:t>
            </a:r>
            <a:r>
              <a:rPr lang="en-US" altLang="zh-CN" i="1" dirty="0">
                <a:solidFill>
                  <a:schemeClr val="tx1"/>
                </a:solidFill>
              </a:rPr>
              <a:t>drop-profile-name</a:t>
            </a:r>
            <a:r>
              <a:rPr lang="en-US" altLang="zh-CN" dirty="0">
                <a:solidFill>
                  <a:schemeClr val="tx1"/>
                </a:solidFill>
              </a:rPr>
              <a:t>]    //</a:t>
            </a:r>
            <a:r>
              <a:rPr lang="zh-CN" altLang="en-US" dirty="0">
                <a:solidFill>
                  <a:schemeClr val="tx1"/>
                </a:solidFill>
              </a:rPr>
              <a:t>在流行为中绑定已创建的丢弃模板</a:t>
            </a:r>
            <a:endParaRPr lang="en-US" altLang="zh-CN" dirty="0">
              <a:solidFill>
                <a:schemeClr val="tx1"/>
              </a:solidFill>
            </a:endParaRPr>
          </a:p>
        </p:txBody>
      </p:sp>
      <p:sp>
        <p:nvSpPr>
          <p:cNvPr id="18" name="文本框 30">
            <a:extLst>
              <a:ext uri="{FF2B5EF4-FFF2-40B4-BE49-F238E27FC236}">
                <a16:creationId xmlns:a16="http://schemas.microsoft.com/office/drawing/2014/main" id="{AB560011-AE64-4469-9B73-93B6DCB10EA0}"/>
              </a:ext>
            </a:extLst>
          </p:cNvPr>
          <p:cNvSpPr txBox="1"/>
          <p:nvPr/>
        </p:nvSpPr>
        <p:spPr bwMode="gray">
          <a:xfrm>
            <a:off x="6110773" y="4151706"/>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创建流策略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Tree>
    <p:extLst>
      <p:ext uri="{BB962C8B-B14F-4D97-AF65-F5344CB8AC3E}">
        <p14:creationId xmlns:p14="http://schemas.microsoft.com/office/powerpoint/2010/main" val="28566764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F19B-96E4-44D0-A53F-A1E4A19EF78C}"/>
              </a:ext>
            </a:extLst>
          </p:cNvPr>
          <p:cNvSpPr>
            <a:spLocks noGrp="1"/>
          </p:cNvSpPr>
          <p:nvPr>
            <p:ph type="title"/>
          </p:nvPr>
        </p:nvSpPr>
        <p:spPr bwMode="gray"/>
        <p:txBody>
          <a:bodyPr/>
          <a:lstStyle/>
          <a:p>
            <a:r>
              <a:rPr lang="zh-CN" altLang="en-US" dirty="0"/>
              <a:t>配置</a:t>
            </a:r>
            <a:r>
              <a:rPr lang="en-US" altLang="zh-CN" dirty="0"/>
              <a:t>HQoS</a:t>
            </a:r>
            <a:r>
              <a:rPr lang="zh-CN" altLang="en-US" dirty="0"/>
              <a:t>父策略</a:t>
            </a:r>
            <a:endParaRPr lang="en-US" dirty="0"/>
          </a:p>
        </p:txBody>
      </p:sp>
      <p:sp>
        <p:nvSpPr>
          <p:cNvPr id="15" name="Text Placeholder 2">
            <a:extLst>
              <a:ext uri="{FF2B5EF4-FFF2-40B4-BE49-F238E27FC236}">
                <a16:creationId xmlns:a16="http://schemas.microsoft.com/office/drawing/2014/main" id="{B5BA1932-A89C-4BFA-BDA3-BD79CBE5D17F}"/>
              </a:ext>
            </a:extLst>
          </p:cNvPr>
          <p:cNvSpPr txBox="1">
            <a:spLocks/>
          </p:cNvSpPr>
          <p:nvPr/>
        </p:nvSpPr>
        <p:spPr bwMode="gray">
          <a:xfrm>
            <a:off x="461202" y="2740873"/>
            <a:ext cx="5648500" cy="349041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en-US" sz="1800" dirty="0"/>
              <a:t>HQ</a:t>
            </a:r>
            <a:r>
              <a:rPr lang="en-US" altLang="zh-CN" sz="1800" dirty="0"/>
              <a:t>oS</a:t>
            </a:r>
            <a:r>
              <a:rPr lang="zh-CN" altLang="en-US" sz="1800" dirty="0"/>
              <a:t>的父策略用于区分不同的用户，配置</a:t>
            </a:r>
            <a:r>
              <a:rPr lang="en-US" altLang="zh-CN" sz="1800" dirty="0"/>
              <a:t>HQoS</a:t>
            </a:r>
            <a:r>
              <a:rPr lang="zh-CN" altLang="en-US" sz="1800" dirty="0"/>
              <a:t>时可以将多个子策略绑定到一个父策略。</a:t>
            </a:r>
            <a:endParaRPr lang="en-US" sz="1800" dirty="0"/>
          </a:p>
          <a:p>
            <a:pPr>
              <a:spcAft>
                <a:spcPts val="0"/>
              </a:spcAft>
            </a:pPr>
            <a:r>
              <a:rPr lang="en-US" sz="1800" dirty="0"/>
              <a:t>HQoS</a:t>
            </a:r>
            <a:r>
              <a:rPr lang="zh-CN" altLang="en-US" sz="1800" dirty="0"/>
              <a:t>的父策略配置基本思路如下：</a:t>
            </a:r>
            <a:endParaRPr lang="en-US" altLang="zh-CN" sz="1800" dirty="0"/>
          </a:p>
          <a:p>
            <a:pPr lvl="1" fontAlgn="auto">
              <a:spcAft>
                <a:spcPts val="0"/>
              </a:spcAft>
            </a:pPr>
            <a:r>
              <a:rPr lang="zh-CN" altLang="en-US" sz="1600" dirty="0"/>
              <a:t>配置</a:t>
            </a:r>
            <a:r>
              <a:rPr lang="en-US" sz="1600" dirty="0"/>
              <a:t>Traffic classifier</a:t>
            </a:r>
            <a:r>
              <a:rPr lang="zh-CN" altLang="en-US" sz="1600" dirty="0"/>
              <a:t>，该</a:t>
            </a:r>
            <a:r>
              <a:rPr lang="en-US" altLang="zh-CN" sz="1600" dirty="0"/>
              <a:t>classifier</a:t>
            </a:r>
            <a:r>
              <a:rPr lang="zh-CN" altLang="en-US" sz="1600" dirty="0"/>
              <a:t>可以基于用户的特征进行匹配</a:t>
            </a:r>
            <a:endParaRPr lang="en-US" sz="1600" dirty="0"/>
          </a:p>
          <a:p>
            <a:pPr lvl="1" fontAlgn="auto">
              <a:spcAft>
                <a:spcPts val="0"/>
              </a:spcAft>
            </a:pPr>
            <a:r>
              <a:rPr lang="zh-CN" altLang="en-US" sz="1600" dirty="0"/>
              <a:t>配置</a:t>
            </a:r>
            <a:r>
              <a:rPr lang="en-US" sz="1600" dirty="0"/>
              <a:t>Traffic behavior</a:t>
            </a:r>
            <a:r>
              <a:rPr lang="zh-CN" altLang="en-US" sz="1600" dirty="0"/>
              <a:t>，该</a:t>
            </a:r>
            <a:r>
              <a:rPr lang="en-US" altLang="zh-CN" sz="1600" dirty="0"/>
              <a:t>behavior</a:t>
            </a:r>
            <a:r>
              <a:rPr lang="zh-CN" altLang="en-US" sz="1600" dirty="0"/>
              <a:t>中需要调用子策略</a:t>
            </a:r>
            <a:endParaRPr lang="en-US" sz="1600" dirty="0"/>
          </a:p>
          <a:p>
            <a:pPr lvl="1" fontAlgn="auto">
              <a:spcAft>
                <a:spcPts val="0"/>
              </a:spcAft>
            </a:pPr>
            <a:r>
              <a:rPr lang="zh-CN" altLang="en-US" sz="1600" dirty="0"/>
              <a:t>使用</a:t>
            </a:r>
            <a:r>
              <a:rPr lang="en-US" sz="1600" dirty="0"/>
              <a:t>Traffic policy</a:t>
            </a:r>
            <a:r>
              <a:rPr lang="zh-CN" altLang="en-US" sz="1600" dirty="0"/>
              <a:t>工具将</a:t>
            </a:r>
            <a:r>
              <a:rPr lang="en-US" sz="1600" dirty="0"/>
              <a:t>Traffic classifier</a:t>
            </a:r>
            <a:r>
              <a:rPr lang="zh-CN" altLang="en-US" sz="1600" dirty="0"/>
              <a:t>与</a:t>
            </a:r>
            <a:r>
              <a:rPr lang="en-US" sz="1600" dirty="0"/>
              <a:t>Traffic behavior</a:t>
            </a:r>
            <a:r>
              <a:rPr lang="zh-CN" altLang="en-US" sz="1600" dirty="0"/>
              <a:t>进行绑定</a:t>
            </a:r>
            <a:endParaRPr lang="en-US" sz="1600" dirty="0"/>
          </a:p>
        </p:txBody>
      </p:sp>
      <p:sp>
        <p:nvSpPr>
          <p:cNvPr id="16" name="文本框 30">
            <a:extLst>
              <a:ext uri="{FF2B5EF4-FFF2-40B4-BE49-F238E27FC236}">
                <a16:creationId xmlns:a16="http://schemas.microsoft.com/office/drawing/2014/main" id="{11042D1B-5C4E-414B-A3C7-F2007F79D76C}"/>
              </a:ext>
            </a:extLst>
          </p:cNvPr>
          <p:cNvSpPr txBox="1"/>
          <p:nvPr/>
        </p:nvSpPr>
        <p:spPr bwMode="gray">
          <a:xfrm>
            <a:off x="6105476" y="1128715"/>
            <a:ext cx="5607148" cy="738664"/>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zh-CN" altLang="en-US" dirty="0">
                <a:solidFill>
                  <a:schemeClr val="tx1"/>
                </a:solidFill>
              </a:rPr>
              <a:t>创建父策略的流分类</a:t>
            </a:r>
            <a:endParaRPr lang="en-US" altLang="zh-CN" dirty="0">
              <a:solidFill>
                <a:schemeClr val="tx1"/>
              </a:solidFill>
            </a:endParaRPr>
          </a:p>
          <a:p>
            <a:pPr>
              <a:lnSpc>
                <a:spcPct val="100000"/>
              </a:lnSpc>
            </a:pPr>
            <a:r>
              <a:rPr lang="en-US" altLang="zh-CN" b="1" dirty="0">
                <a:solidFill>
                  <a:schemeClr val="tx1"/>
                </a:solidFill>
              </a:rPr>
              <a:t>      if-match </a:t>
            </a:r>
            <a:r>
              <a:rPr lang="en-US" altLang="zh-CN" dirty="0">
                <a:solidFill>
                  <a:schemeClr val="tx1"/>
                </a:solidFill>
              </a:rPr>
              <a:t>[</a:t>
            </a:r>
            <a:r>
              <a:rPr lang="en-US" altLang="zh-CN" i="1" dirty="0" err="1">
                <a:solidFill>
                  <a:schemeClr val="tx1"/>
                </a:solidFill>
              </a:rPr>
              <a:t>acl</a:t>
            </a:r>
            <a:r>
              <a:rPr lang="en-US" altLang="zh-CN" i="1" dirty="0">
                <a:solidFill>
                  <a:schemeClr val="tx1"/>
                </a:solidFill>
              </a:rPr>
              <a:t> </a:t>
            </a:r>
            <a:r>
              <a:rPr lang="en-US" altLang="zh-CN" dirty="0">
                <a:solidFill>
                  <a:schemeClr val="tx1"/>
                </a:solidFill>
              </a:rPr>
              <a:t>| </a:t>
            </a:r>
            <a:r>
              <a:rPr lang="en-US" altLang="zh-CN" i="1" dirty="0" err="1">
                <a:solidFill>
                  <a:schemeClr val="tx1"/>
                </a:solidFill>
              </a:rPr>
              <a:t>vlan</a:t>
            </a:r>
            <a:r>
              <a:rPr lang="en-US" altLang="zh-CN" i="1" dirty="0">
                <a:solidFill>
                  <a:schemeClr val="tx1"/>
                </a:solidFill>
              </a:rPr>
              <a:t>-id</a:t>
            </a:r>
            <a:r>
              <a:rPr lang="en-US" altLang="zh-CN" dirty="0">
                <a:solidFill>
                  <a:schemeClr val="tx1"/>
                </a:solidFill>
              </a:rPr>
              <a:t> | …. ]       //</a:t>
            </a:r>
            <a:r>
              <a:rPr lang="zh-CN" altLang="en-US" dirty="0">
                <a:solidFill>
                  <a:schemeClr val="tx1"/>
                </a:solidFill>
              </a:rPr>
              <a:t>基于用户特征匹配流量</a:t>
            </a:r>
            <a:endParaRPr lang="en-US" altLang="zh-CN" dirty="0">
              <a:solidFill>
                <a:schemeClr val="tx1"/>
              </a:solidFill>
            </a:endParaRPr>
          </a:p>
        </p:txBody>
      </p:sp>
      <p:sp>
        <p:nvSpPr>
          <p:cNvPr id="17" name="文本框 30">
            <a:extLst>
              <a:ext uri="{FF2B5EF4-FFF2-40B4-BE49-F238E27FC236}">
                <a16:creationId xmlns:a16="http://schemas.microsoft.com/office/drawing/2014/main" id="{78D7418A-9706-4A80-82F3-2D1F56CEA4C2}"/>
              </a:ext>
            </a:extLst>
          </p:cNvPr>
          <p:cNvSpPr txBox="1"/>
          <p:nvPr/>
        </p:nvSpPr>
        <p:spPr bwMode="gray">
          <a:xfrm>
            <a:off x="6105476" y="2291637"/>
            <a:ext cx="5607148"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创建父策略的流行为</a:t>
            </a:r>
            <a:endParaRPr lang="en-US" altLang="zh-CN" dirty="0">
              <a:solidFill>
                <a:schemeClr val="tx1"/>
              </a:solidFill>
            </a:endParaRPr>
          </a:p>
          <a:p>
            <a:pPr>
              <a:lnSpc>
                <a:spcPct val="100000"/>
              </a:lnSpc>
            </a:pPr>
            <a:r>
              <a:rPr lang="en-US" altLang="zh-CN" b="1" dirty="0">
                <a:solidFill>
                  <a:schemeClr val="tx1"/>
                </a:solidFill>
              </a:rPr>
              <a:t>      queue [</a:t>
            </a:r>
            <a:r>
              <a:rPr lang="en-US" altLang="zh-CN" b="1" dirty="0" err="1">
                <a:solidFill>
                  <a:schemeClr val="tx1"/>
                </a:solidFill>
              </a:rPr>
              <a:t>af</a:t>
            </a:r>
            <a:r>
              <a:rPr lang="en-US" altLang="zh-CN" b="1" dirty="0">
                <a:solidFill>
                  <a:schemeClr val="tx1"/>
                </a:solidFill>
              </a:rPr>
              <a:t> | </a:t>
            </a:r>
            <a:r>
              <a:rPr lang="en-US" altLang="zh-CN" b="1" dirty="0" err="1">
                <a:solidFill>
                  <a:schemeClr val="tx1"/>
                </a:solidFill>
              </a:rPr>
              <a:t>ef</a:t>
            </a:r>
            <a:r>
              <a:rPr lang="en-US" altLang="zh-CN" b="1" dirty="0">
                <a:solidFill>
                  <a:schemeClr val="tx1"/>
                </a:solidFill>
              </a:rPr>
              <a:t> | </a:t>
            </a:r>
            <a:r>
              <a:rPr lang="en-US" altLang="zh-CN" b="1" dirty="0" err="1">
                <a:solidFill>
                  <a:schemeClr val="tx1"/>
                </a:solidFill>
              </a:rPr>
              <a:t>llq</a:t>
            </a:r>
            <a:r>
              <a:rPr lang="en-US" altLang="zh-CN" b="1" dirty="0">
                <a:solidFill>
                  <a:schemeClr val="tx1"/>
                </a:solidFill>
              </a:rPr>
              <a:t>] bandwidth </a:t>
            </a:r>
            <a:r>
              <a:rPr lang="en-US" altLang="zh-CN" dirty="0">
                <a:solidFill>
                  <a:schemeClr val="tx1"/>
                </a:solidFill>
              </a:rPr>
              <a:t>[</a:t>
            </a:r>
            <a:r>
              <a:rPr lang="en-US" altLang="zh-CN" i="1" dirty="0">
                <a:solidFill>
                  <a:schemeClr val="tx1"/>
                </a:solidFill>
              </a:rPr>
              <a:t>bandwidth</a:t>
            </a:r>
            <a:r>
              <a:rPr lang="en-US" altLang="zh-CN" dirty="0">
                <a:solidFill>
                  <a:schemeClr val="tx1"/>
                </a:solidFill>
              </a:rPr>
              <a:t> </a:t>
            </a:r>
            <a:r>
              <a:rPr lang="en-US" altLang="zh-CN" b="1" dirty="0">
                <a:solidFill>
                  <a:schemeClr val="tx1"/>
                </a:solidFill>
              </a:rPr>
              <a:t>| </a:t>
            </a:r>
            <a:r>
              <a:rPr lang="en-US" altLang="zh-CN" b="1" dirty="0" err="1">
                <a:solidFill>
                  <a:schemeClr val="tx1"/>
                </a:solidFill>
              </a:rPr>
              <a:t>pct</a:t>
            </a:r>
            <a:r>
              <a:rPr lang="en-US" altLang="zh-CN" b="1" dirty="0">
                <a:solidFill>
                  <a:schemeClr val="tx1"/>
                </a:solidFill>
              </a:rPr>
              <a:t> </a:t>
            </a:r>
            <a:r>
              <a:rPr lang="en-US" altLang="zh-CN" i="1" dirty="0">
                <a:solidFill>
                  <a:schemeClr val="tx1"/>
                </a:solidFill>
              </a:rPr>
              <a:t>percentage</a:t>
            </a:r>
            <a:r>
              <a:rPr lang="en-US" altLang="zh-CN" dirty="0">
                <a:solidFill>
                  <a:schemeClr val="tx1"/>
                </a:solidFill>
              </a:rPr>
              <a:t>]   //</a:t>
            </a:r>
            <a:r>
              <a:rPr lang="zh-CN" altLang="en-US" dirty="0">
                <a:solidFill>
                  <a:schemeClr val="tx1"/>
                </a:solidFill>
              </a:rPr>
              <a:t>（可选）在流行为中配置</a:t>
            </a:r>
            <a:r>
              <a:rPr lang="en-US" altLang="zh-CN" dirty="0">
                <a:solidFill>
                  <a:schemeClr val="tx1"/>
                </a:solidFill>
              </a:rPr>
              <a:t>AF/EF/LLQ</a:t>
            </a:r>
            <a:r>
              <a:rPr lang="zh-CN" altLang="en-US" dirty="0">
                <a:solidFill>
                  <a:schemeClr val="tx1"/>
                </a:solidFill>
              </a:rPr>
              <a:t>队列参数</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在流行为中绑定子流策略</a:t>
            </a:r>
            <a:endParaRPr lang="en-US" altLang="zh-CN" dirty="0">
              <a:solidFill>
                <a:schemeClr val="tx1"/>
              </a:solidFill>
            </a:endParaRPr>
          </a:p>
        </p:txBody>
      </p:sp>
      <p:sp>
        <p:nvSpPr>
          <p:cNvPr id="18" name="文本框 30">
            <a:extLst>
              <a:ext uri="{FF2B5EF4-FFF2-40B4-BE49-F238E27FC236}">
                <a16:creationId xmlns:a16="http://schemas.microsoft.com/office/drawing/2014/main" id="{AB560011-AE64-4469-9B73-93B6DCB10EA0}"/>
              </a:ext>
            </a:extLst>
          </p:cNvPr>
          <p:cNvSpPr txBox="1"/>
          <p:nvPr/>
        </p:nvSpPr>
        <p:spPr bwMode="gray">
          <a:xfrm>
            <a:off x="6105476" y="3885446"/>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traffic 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zh-CN" altLang="en-US" dirty="0">
                <a:solidFill>
                  <a:schemeClr val="tx1"/>
                </a:solidFill>
              </a:rPr>
              <a:t>创建父策略</a:t>
            </a:r>
            <a:endParaRPr lang="en-US" altLang="zh-CN" dirty="0">
              <a:solidFill>
                <a:schemeClr val="tx1"/>
              </a:solidFill>
            </a:endParaRPr>
          </a:p>
          <a:p>
            <a:pPr>
              <a:lnSpc>
                <a:spcPct val="100000"/>
              </a:lnSpc>
            </a:pPr>
            <a:r>
              <a:rPr lang="en-US" altLang="zh-CN" b="1" dirty="0">
                <a:solidFill>
                  <a:schemeClr val="tx1"/>
                </a:solidFill>
              </a:rPr>
              <a:t>      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a:t>
            </a:r>
            <a:r>
              <a:rPr lang="en-US" altLang="zh-CN" b="1" dirty="0">
                <a:solidFill>
                  <a:schemeClr val="tx1"/>
                </a:solidFill>
              </a:rPr>
              <a:t>behavior </a:t>
            </a:r>
            <a:r>
              <a:rPr lang="en-US" altLang="zh-CN" dirty="0">
                <a:solidFill>
                  <a:schemeClr val="tx1"/>
                </a:solidFill>
              </a:rPr>
              <a:t>[</a:t>
            </a:r>
            <a:r>
              <a:rPr lang="en-US" altLang="zh-CN" i="1" dirty="0">
                <a:solidFill>
                  <a:schemeClr val="tx1"/>
                </a:solidFill>
              </a:rPr>
              <a:t>behavior-name</a:t>
            </a:r>
            <a:r>
              <a:rPr lang="en-US" altLang="zh-CN" dirty="0">
                <a:solidFill>
                  <a:schemeClr val="tx1"/>
                </a:solidFill>
              </a:rPr>
              <a:t>]     //</a:t>
            </a:r>
            <a:r>
              <a:rPr lang="zh-CN" altLang="en-US" dirty="0">
                <a:solidFill>
                  <a:schemeClr val="tx1"/>
                </a:solidFill>
              </a:rPr>
              <a:t>绑定流分类与流行为</a:t>
            </a:r>
            <a:endParaRPr lang="en-US" altLang="zh-CN" dirty="0">
              <a:solidFill>
                <a:schemeClr val="tx1"/>
              </a:solidFill>
            </a:endParaRPr>
          </a:p>
        </p:txBody>
      </p:sp>
      <p:sp>
        <p:nvSpPr>
          <p:cNvPr id="19" name="Freeform 159">
            <a:extLst>
              <a:ext uri="{FF2B5EF4-FFF2-40B4-BE49-F238E27FC236}">
                <a16:creationId xmlns:a16="http://schemas.microsoft.com/office/drawing/2014/main" id="{66F9675B-2A79-4CCB-8B16-4DD40899D8B9}"/>
              </a:ext>
            </a:extLst>
          </p:cNvPr>
          <p:cNvSpPr/>
          <p:nvPr/>
        </p:nvSpPr>
        <p:spPr bwMode="gray">
          <a:xfrm flipH="1">
            <a:off x="2755741" y="1205014"/>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6" descr="PC.png">
            <a:extLst>
              <a:ext uri="{FF2B5EF4-FFF2-40B4-BE49-F238E27FC236}">
                <a16:creationId xmlns:a16="http://schemas.microsoft.com/office/drawing/2014/main" id="{BD7C8D92-0E22-43C3-B535-59B6A7CE3ADE}"/>
              </a:ext>
            </a:extLst>
          </p:cNvPr>
          <p:cNvPicPr>
            <a:picLocks noChangeAspect="1"/>
          </p:cNvPicPr>
          <p:nvPr/>
        </p:nvPicPr>
        <p:blipFill>
          <a:blip r:embed="rId3" cstate="print"/>
          <a:stretch>
            <a:fillRect/>
          </a:stretch>
        </p:blipFill>
        <p:spPr bwMode="gray">
          <a:xfrm>
            <a:off x="906316" y="1107753"/>
            <a:ext cx="609278" cy="467924"/>
          </a:xfrm>
          <a:prstGeom prst="rect">
            <a:avLst/>
          </a:prstGeom>
        </p:spPr>
      </p:pic>
      <p:pic>
        <p:nvPicPr>
          <p:cNvPr id="21" name="图片 20" descr="PC.png">
            <a:extLst>
              <a:ext uri="{FF2B5EF4-FFF2-40B4-BE49-F238E27FC236}">
                <a16:creationId xmlns:a16="http://schemas.microsoft.com/office/drawing/2014/main" id="{51F234F2-A478-4590-9E6C-0033A4BE9859}"/>
              </a:ext>
            </a:extLst>
          </p:cNvPr>
          <p:cNvPicPr>
            <a:picLocks noChangeAspect="1"/>
          </p:cNvPicPr>
          <p:nvPr/>
        </p:nvPicPr>
        <p:blipFill>
          <a:blip r:embed="rId3" cstate="print"/>
          <a:stretch>
            <a:fillRect/>
          </a:stretch>
        </p:blipFill>
        <p:spPr bwMode="gray">
          <a:xfrm>
            <a:off x="906316" y="2207618"/>
            <a:ext cx="609278" cy="467924"/>
          </a:xfrm>
          <a:prstGeom prst="rect">
            <a:avLst/>
          </a:prstGeom>
        </p:spPr>
      </p:pic>
      <p:pic>
        <p:nvPicPr>
          <p:cNvPr id="22" name="Picture 2" descr="G:\做的项目\公共\扁平图标切换\更新2015_01_21\oss扁平图标库2015_01_21更新-04.png">
            <a:extLst>
              <a:ext uri="{FF2B5EF4-FFF2-40B4-BE49-F238E27FC236}">
                <a16:creationId xmlns:a16="http://schemas.microsoft.com/office/drawing/2014/main" id="{D7C2C116-37F1-42AC-A5E8-1A548A4BA254}"/>
              </a:ext>
            </a:extLst>
          </p:cNvPr>
          <p:cNvPicPr>
            <a:picLocks noChangeAspect="1" noChangeArrowheads="1"/>
          </p:cNvPicPr>
          <p:nvPr/>
        </p:nvPicPr>
        <p:blipFill>
          <a:blip r:embed="rId4" cstate="print"/>
          <a:stretch>
            <a:fillRect/>
          </a:stretch>
        </p:blipFill>
        <p:spPr bwMode="gray">
          <a:xfrm>
            <a:off x="2394263" y="1714296"/>
            <a:ext cx="540989" cy="442626"/>
          </a:xfrm>
          <a:prstGeom prst="rect">
            <a:avLst/>
          </a:prstGeom>
          <a:noFill/>
        </p:spPr>
      </p:pic>
      <p:cxnSp>
        <p:nvCxnSpPr>
          <p:cNvPr id="23" name="直接连接符 75">
            <a:extLst>
              <a:ext uri="{FF2B5EF4-FFF2-40B4-BE49-F238E27FC236}">
                <a16:creationId xmlns:a16="http://schemas.microsoft.com/office/drawing/2014/main" id="{B4FA78C1-E8F4-4CF1-B060-BBA2C026AE4A}"/>
              </a:ext>
            </a:extLst>
          </p:cNvPr>
          <p:cNvCxnSpPr>
            <a:cxnSpLocks/>
            <a:stCxn id="20" idx="3"/>
            <a:endCxn id="22" idx="1"/>
          </p:cNvCxnSpPr>
          <p:nvPr/>
        </p:nvCxnSpPr>
        <p:spPr bwMode="gray">
          <a:xfrm>
            <a:off x="1515594" y="1341715"/>
            <a:ext cx="878669" cy="5938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接连接符 75">
            <a:extLst>
              <a:ext uri="{FF2B5EF4-FFF2-40B4-BE49-F238E27FC236}">
                <a16:creationId xmlns:a16="http://schemas.microsoft.com/office/drawing/2014/main" id="{0DAFD327-F524-433C-964D-F38E2F9F5E83}"/>
              </a:ext>
            </a:extLst>
          </p:cNvPr>
          <p:cNvCxnSpPr>
            <a:stCxn id="21" idx="3"/>
            <a:endCxn id="22" idx="1"/>
          </p:cNvCxnSpPr>
          <p:nvPr/>
        </p:nvCxnSpPr>
        <p:spPr bwMode="gray">
          <a:xfrm flipV="1">
            <a:off x="1515594" y="1935609"/>
            <a:ext cx="878669" cy="50597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 name="直接连接符 75">
            <a:extLst>
              <a:ext uri="{FF2B5EF4-FFF2-40B4-BE49-F238E27FC236}">
                <a16:creationId xmlns:a16="http://schemas.microsoft.com/office/drawing/2014/main" id="{8D1AD01E-7FB7-4C0F-B695-EB48EB4658F0}"/>
              </a:ext>
            </a:extLst>
          </p:cNvPr>
          <p:cNvCxnSpPr>
            <a:cxnSpLocks/>
            <a:stCxn id="22" idx="3"/>
          </p:cNvCxnSpPr>
          <p:nvPr/>
        </p:nvCxnSpPr>
        <p:spPr bwMode="gray">
          <a:xfrm>
            <a:off x="2935252" y="1935609"/>
            <a:ext cx="1178660"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6" name="Oval 41">
            <a:extLst>
              <a:ext uri="{FF2B5EF4-FFF2-40B4-BE49-F238E27FC236}">
                <a16:creationId xmlns:a16="http://schemas.microsoft.com/office/drawing/2014/main" id="{3D99CD70-B73F-4F64-B256-559646C7DF62}"/>
              </a:ext>
            </a:extLst>
          </p:cNvPr>
          <p:cNvSpPr>
            <a:spLocks noChangeAspect="1"/>
          </p:cNvSpPr>
          <p:nvPr/>
        </p:nvSpPr>
        <p:spPr bwMode="gray">
          <a:xfrm>
            <a:off x="2844280" y="185597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Tree>
    <p:extLst>
      <p:ext uri="{BB962C8B-B14F-4D97-AF65-F5344CB8AC3E}">
        <p14:creationId xmlns:p14="http://schemas.microsoft.com/office/powerpoint/2010/main" val="11731029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F19B-96E4-44D0-A53F-A1E4A19EF78C}"/>
              </a:ext>
            </a:extLst>
          </p:cNvPr>
          <p:cNvSpPr>
            <a:spLocks noGrp="1"/>
          </p:cNvSpPr>
          <p:nvPr>
            <p:ph type="title"/>
          </p:nvPr>
        </p:nvSpPr>
        <p:spPr bwMode="gray"/>
        <p:txBody>
          <a:bodyPr/>
          <a:lstStyle/>
          <a:p>
            <a:r>
              <a:rPr lang="zh-CN" altLang="en-US" dirty="0"/>
              <a:t>应用流策略 </a:t>
            </a:r>
            <a:r>
              <a:rPr lang="en-US" altLang="zh-CN" dirty="0"/>
              <a:t>(</a:t>
            </a:r>
            <a:r>
              <a:rPr lang="zh-CN" altLang="en-US" dirty="0"/>
              <a:t>父策略</a:t>
            </a:r>
            <a:r>
              <a:rPr lang="en-US" altLang="zh-CN" dirty="0"/>
              <a:t>)</a:t>
            </a:r>
            <a:endParaRPr lang="zh-CN" altLang="en-US" dirty="0"/>
          </a:p>
        </p:txBody>
      </p:sp>
      <p:sp>
        <p:nvSpPr>
          <p:cNvPr id="15" name="Text Placeholder 2">
            <a:extLst>
              <a:ext uri="{FF2B5EF4-FFF2-40B4-BE49-F238E27FC236}">
                <a16:creationId xmlns:a16="http://schemas.microsoft.com/office/drawing/2014/main" id="{B5BA1932-A89C-4BFA-BDA3-BD79CBE5D17F}"/>
              </a:ext>
            </a:extLst>
          </p:cNvPr>
          <p:cNvSpPr txBox="1">
            <a:spLocks/>
          </p:cNvSpPr>
          <p:nvPr/>
        </p:nvSpPr>
        <p:spPr bwMode="gray">
          <a:xfrm>
            <a:off x="439366" y="2715348"/>
            <a:ext cx="5648500" cy="349041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spcAft>
                <a:spcPts val="0"/>
              </a:spcAft>
            </a:pPr>
            <a:r>
              <a:rPr lang="zh-CN" altLang="en-US" sz="1800" dirty="0"/>
              <a:t>配置完</a:t>
            </a:r>
            <a:r>
              <a:rPr lang="en-US" altLang="zh-CN" sz="1800" dirty="0" err="1"/>
              <a:t>HQoS</a:t>
            </a:r>
            <a:r>
              <a:rPr lang="zh-CN" altLang="en-US" sz="1800" dirty="0"/>
              <a:t>流策略后需要在接口或者子接口上绑定。</a:t>
            </a:r>
            <a:endParaRPr lang="en-US" altLang="zh-CN" sz="1800" dirty="0"/>
          </a:p>
          <a:p>
            <a:pPr>
              <a:spcAft>
                <a:spcPts val="0"/>
              </a:spcAft>
            </a:pPr>
            <a:r>
              <a:rPr lang="zh-CN" altLang="en-US" sz="1800" dirty="0"/>
              <a:t>如果在子接口上绑定，不同子接口间的流量轮询从物理接口发出。</a:t>
            </a:r>
            <a:endParaRPr lang="en-US" altLang="zh-CN" sz="1800" dirty="0"/>
          </a:p>
          <a:p>
            <a:pPr>
              <a:spcAft>
                <a:spcPts val="0"/>
              </a:spcAft>
            </a:pPr>
            <a:r>
              <a:rPr lang="zh-CN" altLang="en-US" sz="1800" dirty="0"/>
              <a:t>应用流策略的配置思路如下：</a:t>
            </a:r>
            <a:endParaRPr lang="en-US" altLang="zh-CN" sz="1800" dirty="0"/>
          </a:p>
          <a:p>
            <a:pPr lvl="1">
              <a:spcAft>
                <a:spcPts val="0"/>
              </a:spcAft>
            </a:pPr>
            <a:r>
              <a:rPr lang="zh-CN" altLang="en-US" sz="1600" dirty="0"/>
              <a:t>在接口出方向部署</a:t>
            </a:r>
            <a:r>
              <a:rPr lang="en-US" altLang="zh-CN" sz="1600" dirty="0" err="1"/>
              <a:t>HQoS</a:t>
            </a:r>
            <a:r>
              <a:rPr lang="zh-CN" altLang="en-US" sz="1600" dirty="0"/>
              <a:t>流策略。</a:t>
            </a:r>
            <a:endParaRPr lang="en-US" sz="1600" dirty="0"/>
          </a:p>
        </p:txBody>
      </p:sp>
      <p:sp>
        <p:nvSpPr>
          <p:cNvPr id="19" name="文本框 30">
            <a:extLst>
              <a:ext uri="{FF2B5EF4-FFF2-40B4-BE49-F238E27FC236}">
                <a16:creationId xmlns:a16="http://schemas.microsoft.com/office/drawing/2014/main" id="{E0392A78-5F76-454E-82E8-CCE3DD2C91EB}"/>
              </a:ext>
            </a:extLst>
          </p:cNvPr>
          <p:cNvSpPr txBox="1"/>
          <p:nvPr/>
        </p:nvSpPr>
        <p:spPr bwMode="gray">
          <a:xfrm>
            <a:off x="6106160" y="1103114"/>
            <a:ext cx="5607148"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en-US" altLang="zh-CN" b="1" dirty="0">
                <a:solidFill>
                  <a:schemeClr val="tx1"/>
                </a:solidFill>
              </a:rPr>
              <a:t>   interface </a:t>
            </a:r>
            <a:r>
              <a:rPr lang="en-US" altLang="zh-CN" dirty="0">
                <a:solidFill>
                  <a:schemeClr val="tx1"/>
                </a:solidFill>
              </a:rPr>
              <a:t>[</a:t>
            </a:r>
            <a:r>
              <a:rPr lang="en-US" altLang="zh-CN" i="1" dirty="0">
                <a:solidFill>
                  <a:schemeClr val="tx1"/>
                </a:solidFill>
              </a:rPr>
              <a:t>interface-type interface-num</a:t>
            </a:r>
            <a:r>
              <a:rPr lang="en-US" altLang="zh-CN" dirty="0">
                <a:solidFill>
                  <a:schemeClr val="tx1"/>
                </a:solidFill>
              </a:rPr>
              <a:t>]      //</a:t>
            </a:r>
            <a:r>
              <a:rPr lang="zh-CN" altLang="en-US" dirty="0">
                <a:solidFill>
                  <a:schemeClr val="tx1"/>
                </a:solidFill>
              </a:rPr>
              <a:t>进入接口视图。</a:t>
            </a:r>
            <a:endParaRPr lang="en-US" altLang="zh-CN" dirty="0">
              <a:solidFill>
                <a:schemeClr val="tx1"/>
              </a:solidFill>
            </a:endParaRPr>
          </a:p>
          <a:p>
            <a:pPr>
              <a:lnSpc>
                <a:spcPct val="100000"/>
              </a:lnSpc>
            </a:pPr>
            <a:r>
              <a:rPr lang="en-US" altLang="zh-CN" b="1" dirty="0">
                <a:solidFill>
                  <a:schemeClr val="tx1"/>
                </a:solidFill>
              </a:rPr>
              <a:t>      traffic-policy </a:t>
            </a:r>
            <a:r>
              <a:rPr lang="en-US" altLang="zh-CN" dirty="0">
                <a:solidFill>
                  <a:schemeClr val="tx1"/>
                </a:solidFill>
              </a:rPr>
              <a:t>[</a:t>
            </a:r>
            <a:r>
              <a:rPr lang="en-US" altLang="zh-CN" i="1" dirty="0">
                <a:solidFill>
                  <a:schemeClr val="tx1"/>
                </a:solidFill>
              </a:rPr>
              <a:t>policy-name</a:t>
            </a:r>
            <a:r>
              <a:rPr lang="en-US" altLang="zh-CN" dirty="0">
                <a:solidFill>
                  <a:schemeClr val="tx1"/>
                </a:solidFill>
              </a:rPr>
              <a:t>] </a:t>
            </a:r>
            <a:r>
              <a:rPr lang="en-US" altLang="zh-CN" b="1" dirty="0">
                <a:solidFill>
                  <a:schemeClr val="tx1"/>
                </a:solidFill>
              </a:rPr>
              <a:t>outbound</a:t>
            </a:r>
            <a:r>
              <a:rPr lang="en-US" altLang="zh-CN" dirty="0">
                <a:solidFill>
                  <a:schemeClr val="tx1"/>
                </a:solidFill>
              </a:rPr>
              <a:t>     //</a:t>
            </a:r>
            <a:r>
              <a:rPr lang="zh-CN" altLang="en-US" dirty="0">
                <a:solidFill>
                  <a:schemeClr val="tx1"/>
                </a:solidFill>
              </a:rPr>
              <a:t>在接口出方向上应用流策略。</a:t>
            </a:r>
            <a:endParaRPr lang="en-US" altLang="zh-CN" dirty="0">
              <a:solidFill>
                <a:schemeClr val="tx1"/>
              </a:solidFill>
            </a:endParaRPr>
          </a:p>
        </p:txBody>
      </p:sp>
      <p:sp>
        <p:nvSpPr>
          <p:cNvPr id="16" name="Freeform 159">
            <a:extLst>
              <a:ext uri="{FF2B5EF4-FFF2-40B4-BE49-F238E27FC236}">
                <a16:creationId xmlns:a16="http://schemas.microsoft.com/office/drawing/2014/main" id="{66F9675B-2A79-4CCB-8B16-4DD40899D8B9}"/>
              </a:ext>
            </a:extLst>
          </p:cNvPr>
          <p:cNvSpPr/>
          <p:nvPr/>
        </p:nvSpPr>
        <p:spPr bwMode="gray">
          <a:xfrm flipH="1">
            <a:off x="2755741" y="1205014"/>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6" descr="PC.png">
            <a:extLst>
              <a:ext uri="{FF2B5EF4-FFF2-40B4-BE49-F238E27FC236}">
                <a16:creationId xmlns:a16="http://schemas.microsoft.com/office/drawing/2014/main" id="{BD7C8D92-0E22-43C3-B535-59B6A7CE3ADE}"/>
              </a:ext>
            </a:extLst>
          </p:cNvPr>
          <p:cNvPicPr>
            <a:picLocks noChangeAspect="1"/>
          </p:cNvPicPr>
          <p:nvPr/>
        </p:nvPicPr>
        <p:blipFill>
          <a:blip r:embed="rId3" cstate="print"/>
          <a:stretch>
            <a:fillRect/>
          </a:stretch>
        </p:blipFill>
        <p:spPr bwMode="gray">
          <a:xfrm>
            <a:off x="906316" y="1107753"/>
            <a:ext cx="609278" cy="467924"/>
          </a:xfrm>
          <a:prstGeom prst="rect">
            <a:avLst/>
          </a:prstGeom>
        </p:spPr>
      </p:pic>
      <p:pic>
        <p:nvPicPr>
          <p:cNvPr id="18" name="图片 17" descr="PC.png">
            <a:extLst>
              <a:ext uri="{FF2B5EF4-FFF2-40B4-BE49-F238E27FC236}">
                <a16:creationId xmlns:a16="http://schemas.microsoft.com/office/drawing/2014/main" id="{51F234F2-A478-4590-9E6C-0033A4BE9859}"/>
              </a:ext>
            </a:extLst>
          </p:cNvPr>
          <p:cNvPicPr>
            <a:picLocks noChangeAspect="1"/>
          </p:cNvPicPr>
          <p:nvPr/>
        </p:nvPicPr>
        <p:blipFill>
          <a:blip r:embed="rId3" cstate="print"/>
          <a:stretch>
            <a:fillRect/>
          </a:stretch>
        </p:blipFill>
        <p:spPr bwMode="gray">
          <a:xfrm>
            <a:off x="906316" y="2207618"/>
            <a:ext cx="609278" cy="467924"/>
          </a:xfrm>
          <a:prstGeom prst="rect">
            <a:avLst/>
          </a:prstGeom>
        </p:spPr>
      </p:pic>
      <p:pic>
        <p:nvPicPr>
          <p:cNvPr id="20" name="Picture 2" descr="G:\做的项目\公共\扁平图标切换\更新2015_01_21\oss扁平图标库2015_01_21更新-04.png">
            <a:extLst>
              <a:ext uri="{FF2B5EF4-FFF2-40B4-BE49-F238E27FC236}">
                <a16:creationId xmlns:a16="http://schemas.microsoft.com/office/drawing/2014/main" id="{D7C2C116-37F1-42AC-A5E8-1A548A4BA254}"/>
              </a:ext>
            </a:extLst>
          </p:cNvPr>
          <p:cNvPicPr>
            <a:picLocks noChangeAspect="1" noChangeArrowheads="1"/>
          </p:cNvPicPr>
          <p:nvPr/>
        </p:nvPicPr>
        <p:blipFill>
          <a:blip r:embed="rId4" cstate="print"/>
          <a:stretch>
            <a:fillRect/>
          </a:stretch>
        </p:blipFill>
        <p:spPr bwMode="gray">
          <a:xfrm>
            <a:off x="2394263" y="1714296"/>
            <a:ext cx="540989" cy="442626"/>
          </a:xfrm>
          <a:prstGeom prst="rect">
            <a:avLst/>
          </a:prstGeom>
          <a:noFill/>
        </p:spPr>
      </p:pic>
      <p:cxnSp>
        <p:nvCxnSpPr>
          <p:cNvPr id="21" name="直接连接符 75">
            <a:extLst>
              <a:ext uri="{FF2B5EF4-FFF2-40B4-BE49-F238E27FC236}">
                <a16:creationId xmlns:a16="http://schemas.microsoft.com/office/drawing/2014/main" id="{B4FA78C1-E8F4-4CF1-B060-BBA2C026AE4A}"/>
              </a:ext>
            </a:extLst>
          </p:cNvPr>
          <p:cNvCxnSpPr>
            <a:cxnSpLocks/>
            <a:stCxn id="17" idx="3"/>
            <a:endCxn id="20" idx="1"/>
          </p:cNvCxnSpPr>
          <p:nvPr/>
        </p:nvCxnSpPr>
        <p:spPr bwMode="gray">
          <a:xfrm>
            <a:off x="1515594" y="1341715"/>
            <a:ext cx="878669" cy="59389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直接连接符 75">
            <a:extLst>
              <a:ext uri="{FF2B5EF4-FFF2-40B4-BE49-F238E27FC236}">
                <a16:creationId xmlns:a16="http://schemas.microsoft.com/office/drawing/2014/main" id="{0DAFD327-F524-433C-964D-F38E2F9F5E83}"/>
              </a:ext>
            </a:extLst>
          </p:cNvPr>
          <p:cNvCxnSpPr>
            <a:stCxn id="18" idx="3"/>
            <a:endCxn id="20" idx="1"/>
          </p:cNvCxnSpPr>
          <p:nvPr/>
        </p:nvCxnSpPr>
        <p:spPr bwMode="gray">
          <a:xfrm flipV="1">
            <a:off x="1515594" y="1935609"/>
            <a:ext cx="878669" cy="50597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 name="直接连接符 75">
            <a:extLst>
              <a:ext uri="{FF2B5EF4-FFF2-40B4-BE49-F238E27FC236}">
                <a16:creationId xmlns:a16="http://schemas.microsoft.com/office/drawing/2014/main" id="{8D1AD01E-7FB7-4C0F-B695-EB48EB4658F0}"/>
              </a:ext>
            </a:extLst>
          </p:cNvPr>
          <p:cNvCxnSpPr>
            <a:cxnSpLocks/>
            <a:stCxn id="20" idx="3"/>
          </p:cNvCxnSpPr>
          <p:nvPr/>
        </p:nvCxnSpPr>
        <p:spPr bwMode="gray">
          <a:xfrm>
            <a:off x="2935252" y="1935609"/>
            <a:ext cx="1178660"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 name="Oval 41">
            <a:extLst>
              <a:ext uri="{FF2B5EF4-FFF2-40B4-BE49-F238E27FC236}">
                <a16:creationId xmlns:a16="http://schemas.microsoft.com/office/drawing/2014/main" id="{3D99CD70-B73F-4F64-B256-559646C7DF62}"/>
              </a:ext>
            </a:extLst>
          </p:cNvPr>
          <p:cNvSpPr>
            <a:spLocks noChangeAspect="1"/>
          </p:cNvSpPr>
          <p:nvPr/>
        </p:nvSpPr>
        <p:spPr bwMode="gray">
          <a:xfrm>
            <a:off x="2844280" y="185597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Tree>
    <p:extLst>
      <p:ext uri="{BB962C8B-B14F-4D97-AF65-F5344CB8AC3E}">
        <p14:creationId xmlns:p14="http://schemas.microsoft.com/office/powerpoint/2010/main" val="169401736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5459-7483-4FFA-88AF-59BD2D03B4D6}"/>
              </a:ext>
            </a:extLst>
          </p:cNvPr>
          <p:cNvSpPr>
            <a:spLocks noGrp="1"/>
          </p:cNvSpPr>
          <p:nvPr>
            <p:ph type="title"/>
          </p:nvPr>
        </p:nvSpPr>
        <p:spPr bwMode="gray"/>
        <p:txBody>
          <a:bodyPr/>
          <a:lstStyle/>
          <a:p>
            <a:r>
              <a:rPr lang="zh-CN" altLang="en-US" dirty="0"/>
              <a:t>检查</a:t>
            </a:r>
            <a:r>
              <a:rPr lang="en-US" altLang="zh-CN" dirty="0" err="1"/>
              <a:t>HQoS</a:t>
            </a:r>
            <a:r>
              <a:rPr lang="zh-CN" altLang="en-US" dirty="0"/>
              <a:t>配置结果</a:t>
            </a:r>
          </a:p>
        </p:txBody>
      </p:sp>
      <p:sp>
        <p:nvSpPr>
          <p:cNvPr id="3" name="Text Placeholder 2">
            <a:extLst>
              <a:ext uri="{FF2B5EF4-FFF2-40B4-BE49-F238E27FC236}">
                <a16:creationId xmlns:a16="http://schemas.microsoft.com/office/drawing/2014/main" id="{031ACDC1-D24A-4DD3-9F58-464765A561DB}"/>
              </a:ext>
            </a:extLst>
          </p:cNvPr>
          <p:cNvSpPr>
            <a:spLocks noGrp="1"/>
          </p:cNvSpPr>
          <p:nvPr>
            <p:ph type="body" sz="quarter" idx="10"/>
          </p:nvPr>
        </p:nvSpPr>
        <p:spPr bwMode="gray"/>
        <p:txBody>
          <a:bodyPr/>
          <a:lstStyle/>
          <a:p>
            <a:r>
              <a:rPr lang="zh-CN" altLang="en-US" sz="1800" dirty="0"/>
              <a:t>当部署</a:t>
            </a:r>
            <a:r>
              <a:rPr lang="en-US" altLang="zh-CN" sz="1800" dirty="0" err="1"/>
              <a:t>HQoS</a:t>
            </a:r>
            <a:r>
              <a:rPr lang="zh-CN" altLang="en-US" sz="1800" dirty="0"/>
              <a:t>后可以通过以下命令检查配置结果</a:t>
            </a:r>
            <a:endParaRPr lang="en-US" dirty="0"/>
          </a:p>
        </p:txBody>
      </p:sp>
      <p:sp>
        <p:nvSpPr>
          <p:cNvPr id="5" name="文本框 30">
            <a:extLst>
              <a:ext uri="{FF2B5EF4-FFF2-40B4-BE49-F238E27FC236}">
                <a16:creationId xmlns:a16="http://schemas.microsoft.com/office/drawing/2014/main" id="{68BB034B-3BD6-4C3E-B29E-E0B5B8E7FC16}"/>
              </a:ext>
            </a:extLst>
          </p:cNvPr>
          <p:cNvSpPr txBox="1"/>
          <p:nvPr/>
        </p:nvSpPr>
        <p:spPr bwMode="gray">
          <a:xfrm>
            <a:off x="800730" y="1542884"/>
            <a:ext cx="9257670"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nSpc>
                <a:spcPct val="100000"/>
              </a:lnSpc>
            </a:pPr>
            <a:r>
              <a:rPr lang="en-US" altLang="zh-CN" b="1" dirty="0">
                <a:solidFill>
                  <a:schemeClr val="tx1"/>
                </a:solidFill>
              </a:rPr>
              <a:t>System-view</a:t>
            </a:r>
          </a:p>
          <a:p>
            <a:pPr>
              <a:lnSpc>
                <a:spcPct val="100000"/>
              </a:lnSpc>
            </a:pPr>
            <a:r>
              <a:rPr lang="zh-CN" altLang="en-US" b="1" dirty="0">
                <a:solidFill>
                  <a:schemeClr val="tx1"/>
                </a:solidFill>
              </a:rPr>
              <a:t>   </a:t>
            </a:r>
            <a:r>
              <a:rPr lang="en-US" altLang="zh-CN" b="1" dirty="0">
                <a:solidFill>
                  <a:schemeClr val="tx1"/>
                </a:solidFill>
              </a:rPr>
              <a:t>display traffic classifier user-defined </a:t>
            </a:r>
            <a:r>
              <a:rPr lang="en-US" altLang="zh-CN" dirty="0">
                <a:solidFill>
                  <a:schemeClr val="tx1"/>
                </a:solidFill>
              </a:rPr>
              <a:t>[ </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查看已配置的流分类信息。</a:t>
            </a:r>
          </a:p>
          <a:p>
            <a:pPr>
              <a:lnSpc>
                <a:spcPct val="100000"/>
              </a:lnSpc>
            </a:pPr>
            <a:r>
              <a:rPr lang="zh-CN" altLang="en-US" b="1" dirty="0">
                <a:solidFill>
                  <a:schemeClr val="tx1"/>
                </a:solidFill>
              </a:rPr>
              <a:t>   </a:t>
            </a:r>
            <a:r>
              <a:rPr lang="en-US" altLang="zh-CN" b="1" dirty="0">
                <a:solidFill>
                  <a:schemeClr val="tx1"/>
                </a:solidFill>
              </a:rPr>
              <a:t>display traffic behavior</a:t>
            </a:r>
            <a:r>
              <a:rPr lang="en-US" altLang="zh-CN" dirty="0">
                <a:solidFill>
                  <a:schemeClr val="tx1"/>
                </a:solidFill>
              </a:rPr>
              <a:t> [ system-defined | user-defined ] [ </a:t>
            </a:r>
            <a:r>
              <a:rPr lang="en-US" altLang="zh-CN" i="1" dirty="0">
                <a:solidFill>
                  <a:schemeClr val="tx1"/>
                </a:solidFill>
              </a:rPr>
              <a:t>behavior-name</a:t>
            </a:r>
            <a:r>
              <a:rPr lang="en-US" altLang="zh-CN" dirty="0">
                <a:solidFill>
                  <a:schemeClr val="tx1"/>
                </a:solidFill>
              </a:rPr>
              <a:t> ]   //</a:t>
            </a:r>
            <a:r>
              <a:rPr lang="zh-CN" altLang="en-US" dirty="0">
                <a:solidFill>
                  <a:schemeClr val="tx1"/>
                </a:solidFill>
              </a:rPr>
              <a:t>查看已配置的流行为信息。</a:t>
            </a:r>
          </a:p>
          <a:p>
            <a:pPr>
              <a:lnSpc>
                <a:spcPct val="100000"/>
              </a:lnSpc>
            </a:pPr>
            <a:r>
              <a:rPr lang="zh-CN" altLang="en-US" b="1" dirty="0">
                <a:solidFill>
                  <a:schemeClr val="tx1"/>
                </a:solidFill>
              </a:rPr>
              <a:t>   </a:t>
            </a:r>
            <a:r>
              <a:rPr lang="en-US" altLang="zh-CN" b="1" dirty="0">
                <a:solidFill>
                  <a:schemeClr val="tx1"/>
                </a:solidFill>
              </a:rPr>
              <a:t>display traffic policy user-defined </a:t>
            </a:r>
            <a:r>
              <a:rPr lang="en-US" altLang="zh-CN" dirty="0">
                <a:solidFill>
                  <a:schemeClr val="tx1"/>
                </a:solidFill>
              </a:rPr>
              <a:t>[ </a:t>
            </a:r>
            <a:r>
              <a:rPr lang="en-US" altLang="zh-CN" i="1" dirty="0">
                <a:solidFill>
                  <a:schemeClr val="tx1"/>
                </a:solidFill>
              </a:rPr>
              <a:t>policy-name </a:t>
            </a:r>
            <a:r>
              <a:rPr lang="en-US" altLang="zh-CN" dirty="0">
                <a:solidFill>
                  <a:schemeClr val="tx1"/>
                </a:solidFill>
              </a:rPr>
              <a:t>] </a:t>
            </a:r>
            <a:r>
              <a:rPr lang="en-US" altLang="zh-CN" b="1" dirty="0">
                <a:solidFill>
                  <a:schemeClr val="tx1"/>
                </a:solidFill>
              </a:rPr>
              <a:t>classifier </a:t>
            </a:r>
            <a:r>
              <a:rPr lang="en-US" altLang="zh-CN" dirty="0">
                <a:solidFill>
                  <a:schemeClr val="tx1"/>
                </a:solidFill>
              </a:rPr>
              <a:t>[</a:t>
            </a:r>
            <a:r>
              <a:rPr lang="en-US" altLang="zh-CN" i="1" dirty="0">
                <a:solidFill>
                  <a:schemeClr val="tx1"/>
                </a:solidFill>
              </a:rPr>
              <a:t>classifier-name</a:t>
            </a:r>
            <a:r>
              <a:rPr lang="en-US" altLang="zh-CN" dirty="0">
                <a:solidFill>
                  <a:schemeClr val="tx1"/>
                </a:solidFill>
              </a:rPr>
              <a:t> ]    //</a:t>
            </a:r>
            <a:r>
              <a:rPr lang="zh-CN" altLang="en-US" dirty="0">
                <a:solidFill>
                  <a:schemeClr val="tx1"/>
                </a:solidFill>
              </a:rPr>
              <a:t>查看流策略的配置信息。</a:t>
            </a:r>
          </a:p>
          <a:p>
            <a:pPr>
              <a:lnSpc>
                <a:spcPct val="100000"/>
              </a:lnSpc>
            </a:pPr>
            <a:r>
              <a:rPr lang="zh-CN" altLang="en-US" b="1" dirty="0">
                <a:solidFill>
                  <a:schemeClr val="tx1"/>
                </a:solidFill>
              </a:rPr>
              <a:t>   </a:t>
            </a:r>
            <a:r>
              <a:rPr lang="en-US" altLang="zh-CN" b="1" dirty="0">
                <a:solidFill>
                  <a:schemeClr val="tx1"/>
                </a:solidFill>
              </a:rPr>
              <a:t>display traffic-policy applied-record </a:t>
            </a:r>
            <a:r>
              <a:rPr lang="en-US" altLang="zh-CN" dirty="0">
                <a:solidFill>
                  <a:schemeClr val="tx1"/>
                </a:solidFill>
              </a:rPr>
              <a:t>[ </a:t>
            </a:r>
            <a:r>
              <a:rPr lang="en-US" altLang="zh-CN" i="1" dirty="0">
                <a:solidFill>
                  <a:schemeClr val="tx1"/>
                </a:solidFill>
              </a:rPr>
              <a:t>policy-name</a:t>
            </a:r>
            <a:r>
              <a:rPr lang="en-US" altLang="zh-CN" dirty="0">
                <a:solidFill>
                  <a:schemeClr val="tx1"/>
                </a:solidFill>
              </a:rPr>
              <a:t> ]   //</a:t>
            </a:r>
            <a:r>
              <a:rPr lang="zh-CN" altLang="en-US" dirty="0">
                <a:solidFill>
                  <a:schemeClr val="tx1"/>
                </a:solidFill>
              </a:rPr>
              <a:t>查看指定流策略的应用记录。</a:t>
            </a:r>
            <a:endParaRPr lang="en-US" altLang="zh-CN" dirty="0">
              <a:solidFill>
                <a:schemeClr val="tx1"/>
              </a:solidFill>
            </a:endParaRPr>
          </a:p>
        </p:txBody>
      </p:sp>
    </p:spTree>
    <p:extLst>
      <p:ext uri="{BB962C8B-B14F-4D97-AF65-F5344CB8AC3E}">
        <p14:creationId xmlns:p14="http://schemas.microsoft.com/office/powerpoint/2010/main" val="4495306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8EA49B-5A2C-4FA1-9AFD-C06400D8C1F5}"/>
              </a:ext>
            </a:extLst>
          </p:cNvPr>
          <p:cNvSpPr>
            <a:spLocks noGrp="1"/>
          </p:cNvSpPr>
          <p:nvPr>
            <p:ph type="body" sz="quarter" idx="10"/>
          </p:nvPr>
        </p:nvSpPr>
        <p:spPr bwMode="gray"/>
        <p:txBody>
          <a:bodyPr/>
          <a:lstStyle/>
          <a:p>
            <a:r>
              <a:rPr lang="en-US" altLang="zh-CN" dirty="0"/>
              <a:t>(</a:t>
            </a:r>
            <a:r>
              <a:rPr lang="zh-CN" altLang="en-US" dirty="0"/>
              <a:t>判断题</a:t>
            </a:r>
            <a:r>
              <a:rPr lang="en-US" altLang="zh-CN" dirty="0"/>
              <a:t>)</a:t>
            </a:r>
            <a:r>
              <a:rPr lang="en-US" altLang="zh-CN" dirty="0" err="1"/>
              <a:t>HQoS</a:t>
            </a:r>
            <a:r>
              <a:rPr lang="zh-CN" altLang="en-US" dirty="0"/>
              <a:t>不能区分用户和业务。（     ）</a:t>
            </a:r>
            <a:endParaRPr lang="en-US" altLang="zh-CN" dirty="0"/>
          </a:p>
          <a:p>
            <a:pPr lvl="1"/>
            <a:r>
              <a:rPr lang="zh-CN" altLang="en-US" dirty="0"/>
              <a:t>正确</a:t>
            </a:r>
            <a:endParaRPr lang="en-US" altLang="zh-CN" dirty="0"/>
          </a:p>
          <a:p>
            <a:pPr lvl="1"/>
            <a:r>
              <a:rPr lang="zh-CN" altLang="en-US" dirty="0"/>
              <a:t>错误</a:t>
            </a:r>
            <a:endParaRPr lang="en-US" altLang="zh-CN" dirty="0"/>
          </a:p>
          <a:p>
            <a:r>
              <a:rPr lang="en-US" altLang="zh-CN" dirty="0"/>
              <a:t>(</a:t>
            </a:r>
            <a:r>
              <a:rPr lang="zh-CN" altLang="en-US" dirty="0"/>
              <a:t>多选题</a:t>
            </a:r>
            <a:r>
              <a:rPr lang="en-US" altLang="zh-CN" dirty="0"/>
              <a:t>)</a:t>
            </a:r>
            <a:r>
              <a:rPr lang="en-US" altLang="zh-CN" dirty="0" err="1"/>
              <a:t>HQoS</a:t>
            </a:r>
            <a:r>
              <a:rPr lang="zh-CN" altLang="en-US" dirty="0"/>
              <a:t>有三种队列，它们是以下哪些选项？（     ）</a:t>
            </a:r>
            <a:endParaRPr lang="en-US" altLang="zh-CN" dirty="0"/>
          </a:p>
          <a:p>
            <a:pPr lvl="1"/>
            <a:r>
              <a:rPr lang="zh-CN" altLang="en-US" dirty="0"/>
              <a:t>流队列</a:t>
            </a:r>
            <a:endParaRPr lang="en-US" altLang="zh-CN" dirty="0"/>
          </a:p>
          <a:p>
            <a:pPr lvl="1"/>
            <a:r>
              <a:rPr lang="zh-CN" altLang="en-US" dirty="0"/>
              <a:t>用户队列</a:t>
            </a:r>
            <a:endParaRPr lang="en-US" altLang="zh-CN" dirty="0"/>
          </a:p>
          <a:p>
            <a:pPr lvl="1"/>
            <a:r>
              <a:rPr lang="zh-CN" altLang="en-US" dirty="0"/>
              <a:t>数据队列</a:t>
            </a:r>
            <a:endParaRPr lang="en-US" altLang="zh-CN" dirty="0"/>
          </a:p>
          <a:p>
            <a:pPr lvl="1"/>
            <a:r>
              <a:rPr lang="zh-CN" altLang="en-US" dirty="0"/>
              <a:t>接口队列</a:t>
            </a:r>
            <a:endParaRPr lang="en-US" dirty="0"/>
          </a:p>
        </p:txBody>
      </p:sp>
    </p:spTree>
    <p:extLst>
      <p:ext uri="{BB962C8B-B14F-4D97-AF65-F5344CB8AC3E}">
        <p14:creationId xmlns:p14="http://schemas.microsoft.com/office/powerpoint/2010/main" val="9565162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452C3A-63AC-4094-8446-2AEECE90A47B}"/>
              </a:ext>
            </a:extLst>
          </p:cNvPr>
          <p:cNvSpPr>
            <a:spLocks noGrp="1"/>
          </p:cNvSpPr>
          <p:nvPr>
            <p:ph sz="quarter" idx="10"/>
          </p:nvPr>
        </p:nvSpPr>
        <p:spPr bwMode="gray"/>
        <p:txBody>
          <a:bodyPr/>
          <a:lstStyle/>
          <a:p>
            <a:r>
              <a:rPr lang="en-US" altLang="zh-CN" dirty="0" err="1"/>
              <a:t>HQoS</a:t>
            </a:r>
            <a:r>
              <a:rPr lang="zh-CN" altLang="en-US" dirty="0"/>
              <a:t>能以更细的颗粒度保证业务。</a:t>
            </a:r>
            <a:endParaRPr lang="en-US" altLang="zh-CN" dirty="0"/>
          </a:p>
          <a:p>
            <a:r>
              <a:rPr lang="en-US" dirty="0" err="1"/>
              <a:t>HQ</a:t>
            </a:r>
            <a:r>
              <a:rPr lang="en-US" altLang="zh-CN" dirty="0" err="1"/>
              <a:t>oS</a:t>
            </a:r>
            <a:r>
              <a:rPr lang="zh-CN" altLang="en-US" dirty="0"/>
              <a:t>有三级队列，分别是流队列，用户队列和接口队列。三种队列均能部署流量整形，其中流队列之间使用</a:t>
            </a:r>
            <a:r>
              <a:rPr lang="en-US" altLang="zh-CN" dirty="0"/>
              <a:t>PQ+WFQ</a:t>
            </a:r>
            <a:r>
              <a:rPr lang="zh-CN" altLang="en-US" dirty="0"/>
              <a:t>的方式调度，用户队列也使用</a:t>
            </a:r>
            <a:r>
              <a:rPr lang="en-US" altLang="zh-CN" dirty="0"/>
              <a:t>PQ+WFQ</a:t>
            </a:r>
            <a:r>
              <a:rPr lang="zh-CN" altLang="en-US" dirty="0"/>
              <a:t>的方式调度，接口队列使用</a:t>
            </a:r>
            <a:r>
              <a:rPr lang="en-US" altLang="zh-CN" dirty="0"/>
              <a:t>RR</a:t>
            </a:r>
            <a:r>
              <a:rPr lang="zh-CN" altLang="en-US" dirty="0"/>
              <a:t>的方式调度。</a:t>
            </a:r>
            <a:endParaRPr lang="en-US" altLang="zh-CN" dirty="0"/>
          </a:p>
        </p:txBody>
      </p:sp>
    </p:spTree>
    <p:extLst>
      <p:ext uri="{BB962C8B-B14F-4D97-AF65-F5344CB8AC3E}">
        <p14:creationId xmlns:p14="http://schemas.microsoft.com/office/powerpoint/2010/main" val="7619102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9A231-7782-46FF-BCF0-59A63EE53E3A}"/>
              </a:ext>
            </a:extLst>
          </p:cNvPr>
          <p:cNvSpPr>
            <a:spLocks noGrp="1"/>
          </p:cNvSpPr>
          <p:nvPr>
            <p:ph sz="quarter" idx="10"/>
          </p:nvPr>
        </p:nvSpPr>
        <p:spPr bwMode="gray"/>
        <p:txBody>
          <a:bodyPr/>
          <a:lstStyle/>
          <a:p>
            <a:r>
              <a:rPr lang="en-US"/>
              <a:t>Q</a:t>
            </a:r>
            <a:r>
              <a:rPr lang="en-US" altLang="zh-CN"/>
              <a:t>oS</a:t>
            </a:r>
            <a:r>
              <a:rPr lang="zh-CN" altLang="en-US"/>
              <a:t>是保障业务质量的重要手段，现网中一般使用</a:t>
            </a:r>
            <a:r>
              <a:rPr lang="en-US" altLang="zh-CN"/>
              <a:t>Differentiated Service</a:t>
            </a:r>
            <a:r>
              <a:rPr lang="zh-CN" altLang="en-US"/>
              <a:t>模型。</a:t>
            </a:r>
            <a:endParaRPr lang="en-US" altLang="zh-CN"/>
          </a:p>
          <a:p>
            <a:r>
              <a:rPr lang="zh-CN" altLang="en-US"/>
              <a:t>该模型的</a:t>
            </a:r>
            <a:r>
              <a:rPr lang="en-US" altLang="zh-CN"/>
              <a:t>QoS</a:t>
            </a:r>
            <a:r>
              <a:rPr lang="zh-CN" altLang="en-US"/>
              <a:t>主要有流量限速，拥塞避免和拥塞管理这几项技术。</a:t>
            </a:r>
            <a:endParaRPr lang="en-US" altLang="zh-CN"/>
          </a:p>
          <a:p>
            <a:r>
              <a:rPr lang="en-US" altLang="zh-CN"/>
              <a:t>HQoS</a:t>
            </a:r>
            <a:r>
              <a:rPr lang="zh-CN" altLang="en-US"/>
              <a:t>用于复杂场景下的</a:t>
            </a:r>
            <a:r>
              <a:rPr lang="en-US" altLang="zh-CN"/>
              <a:t>QoS</a:t>
            </a:r>
            <a:r>
              <a:rPr lang="zh-CN" altLang="en-US"/>
              <a:t>部署，颗粒度更细，可以通过流队列，用户队列，接口队列区分不同的用户和同一个用户内不同的业务。</a:t>
            </a:r>
            <a:endParaRPr lang="en-US" altLang="zh-CN"/>
          </a:p>
          <a:p>
            <a:endParaRPr lang="en-US" dirty="0"/>
          </a:p>
        </p:txBody>
      </p:sp>
    </p:spTree>
    <p:extLst>
      <p:ext uri="{BB962C8B-B14F-4D97-AF65-F5344CB8AC3E}">
        <p14:creationId xmlns:p14="http://schemas.microsoft.com/office/powerpoint/2010/main" val="30010154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854876"/>
      </p:ext>
    </p:extLst>
  </p:cSld>
  <p:clrMapOvr>
    <a:masterClrMapping/>
  </p:clrMapOvr>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D0D56543-D3BD-4480-84ED-0D9BF27705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5960F2-6186-408B-A0DC-5CA5E58B604F}">
  <ds:schemaRefs>
    <ds:schemaRef ds:uri="http://purl.org/dc/terms/"/>
    <ds:schemaRef ds:uri="http://www.w3.org/XML/1998/namespace"/>
    <ds:schemaRef ds:uri="http://purl.org/dc/dcmitype/"/>
    <ds:schemaRef ds:uri="http://schemas.microsoft.com/office/2006/documentManagement/types"/>
    <ds:schemaRef ds:uri="http://purl.org/dc/elements/1.1/"/>
    <ds:schemaRef ds:uri="http://schemas.openxmlformats.org/package/2006/metadata/core-properti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2331</TotalTime>
  <Words>17414</Words>
  <Application>Microsoft Office PowerPoint</Application>
  <PresentationFormat>宽屏</PresentationFormat>
  <Paragraphs>2361</Paragraphs>
  <Slides>114</Slides>
  <Notes>114</Notes>
  <HiddenSlides>2</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114</vt:i4>
      </vt:variant>
    </vt:vector>
  </HeadingPairs>
  <TitlesOfParts>
    <vt:vector size="126" baseType="lpstr">
      <vt:lpstr>FrutigerNext LT Regular</vt:lpstr>
      <vt:lpstr>Huawei Sans</vt:lpstr>
      <vt:lpstr>方正兰亭黑简体</vt:lpstr>
      <vt:lpstr>宋体</vt:lpstr>
      <vt:lpstr>微软雅黑</vt:lpstr>
      <vt:lpstr>微软雅黑</vt:lpstr>
      <vt:lpstr>Arial</vt:lpstr>
      <vt:lpstr>Wingdings</vt:lpstr>
      <vt:lpstr>1_标题页模板</vt:lpstr>
      <vt:lpstr>2_功能页模板</vt:lpstr>
      <vt:lpstr>3_内容页模板</vt:lpstr>
      <vt:lpstr>4_感谢页模板</vt:lpstr>
      <vt:lpstr>PowerPoint 演示文稿</vt:lpstr>
      <vt:lpstr>QoS基本原理</vt:lpstr>
      <vt:lpstr>PowerPoint 演示文稿</vt:lpstr>
      <vt:lpstr>PowerPoint 演示文稿</vt:lpstr>
      <vt:lpstr>PowerPoint 演示文稿</vt:lpstr>
      <vt:lpstr>“尽力而为”的传统网络</vt:lpstr>
      <vt:lpstr>QoS的产生</vt:lpstr>
      <vt:lpstr>什么是QoS</vt:lpstr>
      <vt:lpstr>PowerPoint 演示文稿</vt:lpstr>
      <vt:lpstr>QoS服务模型</vt:lpstr>
      <vt:lpstr>尽力而为服务模型</vt:lpstr>
      <vt:lpstr>综合服务模型</vt:lpstr>
      <vt:lpstr>区分服务模型</vt:lpstr>
      <vt:lpstr>QoS常用技术 (DiffServ模型)</vt:lpstr>
      <vt:lpstr>QoS数据处理流程 (DiffServ模型)</vt:lpstr>
      <vt:lpstr>PowerPoint 演示文稿</vt:lpstr>
      <vt:lpstr>PowerPoint 演示文稿</vt:lpstr>
      <vt:lpstr>PowerPoint 演示文稿</vt:lpstr>
      <vt:lpstr>QoS数据处理流程</vt:lpstr>
      <vt:lpstr>为什么需要流分类和流标记</vt:lpstr>
      <vt:lpstr>简单流分类</vt:lpstr>
      <vt:lpstr>外部优先级 - VLAN报文</vt:lpstr>
      <vt:lpstr>外部优先级 - MPLS报文</vt:lpstr>
      <vt:lpstr>外部优先级 - IP报文</vt:lpstr>
      <vt:lpstr>各外部优先级间的对应关系</vt:lpstr>
      <vt:lpstr>服务等级 (Service Class)</vt:lpstr>
      <vt:lpstr>Color</vt:lpstr>
      <vt:lpstr>映射</vt:lpstr>
      <vt:lpstr>复杂流分类</vt:lpstr>
      <vt:lpstr>Traffic Policy介绍</vt:lpstr>
      <vt:lpstr>流量分类全过程</vt:lpstr>
      <vt:lpstr>配置复杂流分类</vt:lpstr>
      <vt:lpstr>查看复杂流分类配置结果</vt:lpstr>
      <vt:lpstr>修改简单流分类 (可选)</vt:lpstr>
      <vt:lpstr>检查优先级映射配置结果</vt:lpstr>
      <vt:lpstr>PowerPoint 演示文稿</vt:lpstr>
      <vt:lpstr>PowerPoint 演示文稿</vt:lpstr>
      <vt:lpstr>PowerPoint 演示文稿</vt:lpstr>
      <vt:lpstr>QoS数据处理流程</vt:lpstr>
      <vt:lpstr>流量限速技术</vt:lpstr>
      <vt:lpstr>单桶单速双色标记法</vt:lpstr>
      <vt:lpstr>双桶单速三色标记法</vt:lpstr>
      <vt:lpstr>双桶双速三色标记法</vt:lpstr>
      <vt:lpstr>什么是流量监管</vt:lpstr>
      <vt:lpstr>承诺访问速率</vt:lpstr>
      <vt:lpstr>流量监管使用场景</vt:lpstr>
      <vt:lpstr>配置基于接口的流量监管</vt:lpstr>
      <vt:lpstr>配置MQC实现流量监管</vt:lpstr>
      <vt:lpstr>检查流量监管配置结果</vt:lpstr>
      <vt:lpstr>什么是流量整形</vt:lpstr>
      <vt:lpstr>流量整形的实现 (1)</vt:lpstr>
      <vt:lpstr>流量整形的实现 (2)</vt:lpstr>
      <vt:lpstr>流量整形使用场景</vt:lpstr>
      <vt:lpstr>基于接口配置流量整形</vt:lpstr>
      <vt:lpstr>配置基于队列的流量整形</vt:lpstr>
      <vt:lpstr>配置MQC实现流量整形</vt:lpstr>
      <vt:lpstr>检查流量整形配置结果</vt:lpstr>
      <vt:lpstr>PowerPoint 演示文稿</vt:lpstr>
      <vt:lpstr>PowerPoint 演示文稿</vt:lpstr>
      <vt:lpstr>PowerPoint 演示文稿</vt:lpstr>
      <vt:lpstr>QoS数据处理流程</vt:lpstr>
      <vt:lpstr>拥塞的产生</vt:lpstr>
      <vt:lpstr>拥塞的影响</vt:lpstr>
      <vt:lpstr>拥塞避免技术</vt:lpstr>
      <vt:lpstr>策略1：尾丢弃 (Tail Drop)</vt:lpstr>
      <vt:lpstr>缺点1：TCP全局同步现象</vt:lpstr>
      <vt:lpstr>缺点2：无差别丢弃</vt:lpstr>
      <vt:lpstr>策略2：早期随机检测 (RED)</vt:lpstr>
      <vt:lpstr>缓解TCP全局同步现象</vt:lpstr>
      <vt:lpstr>策略3：加权随机先期检测 (WRED)</vt:lpstr>
      <vt:lpstr>WRED丢弃优先级</vt:lpstr>
      <vt:lpstr>丢弃概率曲线</vt:lpstr>
      <vt:lpstr>拥塞避免的应用</vt:lpstr>
      <vt:lpstr>配置基于队列的WRED</vt:lpstr>
      <vt:lpstr>配置MQC实现拥塞避免 (1)</vt:lpstr>
      <vt:lpstr>配置MQC实现拥塞避免 (2)</vt:lpstr>
      <vt:lpstr>检查拥塞避免的配置结果</vt:lpstr>
      <vt:lpstr>PowerPoint 演示文稿</vt:lpstr>
      <vt:lpstr>PowerPoint 演示文稿</vt:lpstr>
      <vt:lpstr>PowerPoint 演示文稿</vt:lpstr>
      <vt:lpstr>QoS数据处理流程</vt:lpstr>
      <vt:lpstr>拥塞管理技术</vt:lpstr>
      <vt:lpstr>什么是队列</vt:lpstr>
      <vt:lpstr>队列调度算法</vt:lpstr>
      <vt:lpstr>先进先出 (FIFO)</vt:lpstr>
      <vt:lpstr>严格优先级 (SP)</vt:lpstr>
      <vt:lpstr>加权公平队列 (WFQ)</vt:lpstr>
      <vt:lpstr>端口队列调度方式</vt:lpstr>
      <vt:lpstr>三种队列的调度顺序</vt:lpstr>
      <vt:lpstr>拥塞管理的应用</vt:lpstr>
      <vt:lpstr>QoS处理流程回顾</vt:lpstr>
      <vt:lpstr>配置基于队列的拥塞管理</vt:lpstr>
      <vt:lpstr>配置MQC实现拥塞管理 (1)</vt:lpstr>
      <vt:lpstr>配置MQC实现拥塞管理 (2)</vt:lpstr>
      <vt:lpstr>检查拥塞管理配置结果</vt:lpstr>
      <vt:lpstr>PowerPoint 演示文稿</vt:lpstr>
      <vt:lpstr>PowerPoint 演示文稿</vt:lpstr>
      <vt:lpstr>PowerPoint 演示文稿</vt:lpstr>
      <vt:lpstr>QoS的局限</vt:lpstr>
      <vt:lpstr>HQoS概述</vt:lpstr>
      <vt:lpstr>HQoS队列介绍</vt:lpstr>
      <vt:lpstr>HQoS队列调度介绍</vt:lpstr>
      <vt:lpstr>HQoS流量整形介绍</vt:lpstr>
      <vt:lpstr>HQoS丢弃器介绍</vt:lpstr>
      <vt:lpstr>HQoS应用举例</vt:lpstr>
      <vt:lpstr>配置HQoS思路</vt:lpstr>
      <vt:lpstr>配置HQoS子策略</vt:lpstr>
      <vt:lpstr>配置HQoS父策略</vt:lpstr>
      <vt:lpstr>应用流策略 (父策略)</vt:lpstr>
      <vt:lpstr>检查HQoS配置结果</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383</cp:revision>
  <cp:lastPrinted>2020-07-31T09:33:18Z</cp:lastPrinted>
  <dcterms:created xsi:type="dcterms:W3CDTF">2018-11-29T10:16:29Z</dcterms:created>
  <dcterms:modified xsi:type="dcterms:W3CDTF">2024-02-03T09:08:03Z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(3)Avn6QHypWe9zw59QQLSZjcCIjnmZ+/i4KcPLp6lR94/jzrKF06CHePVvFVz2JYdPyjh8EibZ
kyXozwl4+gR0ROu+JQQfhmyQCozJ2KMk0uu3kXaUs+uPtMA0sQEGhrWk6NCznpPF9AXlUOzr
iKLj5gaAkLnCFtPZJ14CgRk/wvqFusFqyozgjDlRNMeixBT1IINz9ffILrxw3KFBeKDtX2Rv
OwxTX/wj+IEfG38UPN</vt:lpwstr>
  </property>
  <property fmtid="{D5CDD505-2E9C-101B-9397-08002B2CF9AE}" pid="3" name="_2015_ms_pID_7253431">
    <vt:lpwstr>hyHKtuh80GqF/lqyqqzMMgbDjyjklxDikSVmi7CELZ033p9lNZ11bx
EAYH25MLTF+4BPYLkV+Y3Rb/1wz6DQRymj1sdPA+Q3avtm88pfEpUSgpnrx9noyHuzBkv5a5
OZNyWgGGGBnBJZLqzd1kDVAsn+Z3r0m33fKbskh3ZFPrDsRYrWOWAUDQLwIeXCul2NABv545
a6R8FV9fSFcCQ9W2qLJinowNCJR2hsvgjcDh</vt:lpwstr>
  </property>
  <property fmtid="{D5CDD505-2E9C-101B-9397-08002B2CF9AE}" pid="4" name="_2015_ms_pID_7253432">
    <vt:lpwstr>P5r7hQ1efePcMBuA6OfaGvE=</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1575248629</vt:lpwstr>
  </property>
  <property fmtid="{D5CDD505-2E9C-101B-9397-08002B2CF9AE}" pid="9" name="ContentTypeId">
    <vt:lpwstr>0x01010002C5B4B712841F4C8A7AAEE2CD191271</vt:lpwstr>
  </property>
</Properties>
</file>