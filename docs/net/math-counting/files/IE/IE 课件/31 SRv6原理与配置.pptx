
<file path=[Content_Types].xml><?xml version="1.0" encoding="utf-8"?>
<Types xmlns="http://schemas.openxmlformats.org/package/2006/content-types">
  <Default Extension="xml" ContentType="application/xml"/>
  <Default Extension="jpeg" ContentType="image/jpeg"/>
  <Default Extension="JPG" ContentType="image/.jpg"/>
  <Default Extension="png" ContentType="image/png"/>
  <Default Extension="emf" ContentType="image/x-emf"/>
  <Default Extension="rels" ContentType="application/vnd.openxmlformats-package.relationshi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4.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p:sldMasterIdLst>
    <p:sldMasterId id="2147483648" r:id="rId1"/>
    <p:sldMasterId id="2147483650" r:id="rId3"/>
    <p:sldMasterId id="2147483661" r:id="rId4"/>
    <p:sldMasterId id="2147483667" r:id="rId5"/>
  </p:sldMasterIdLst>
  <p:notesMasterIdLst>
    <p:notesMasterId r:id="rId7"/>
  </p:notesMasterIdLst>
  <p:handoutMasterIdLst>
    <p:handoutMasterId r:id="rId129"/>
  </p:handoutMasterIdLst>
  <p:sldIdLst>
    <p:sldId id="256" r:id="rId6"/>
    <p:sldId id="257" r:id="rId8"/>
    <p:sldId id="258" r:id="rId9"/>
    <p:sldId id="259" r:id="rId10"/>
    <p:sldId id="493" r:id="rId11"/>
    <p:sldId id="403" r:id="rId12"/>
    <p:sldId id="476" r:id="rId13"/>
    <p:sldId id="404" r:id="rId14"/>
    <p:sldId id="405" r:id="rId15"/>
    <p:sldId id="541" r:id="rId16"/>
    <p:sldId id="407" r:id="rId17"/>
    <p:sldId id="540" r:id="rId18"/>
    <p:sldId id="385" r:id="rId19"/>
    <p:sldId id="387" r:id="rId20"/>
    <p:sldId id="396" r:id="rId21"/>
    <p:sldId id="397" r:id="rId22"/>
    <p:sldId id="400" r:id="rId23"/>
    <p:sldId id="412" r:id="rId24"/>
    <p:sldId id="458" r:id="rId25"/>
    <p:sldId id="401" r:id="rId26"/>
    <p:sldId id="423" r:id="rId27"/>
    <p:sldId id="426" r:id="rId28"/>
    <p:sldId id="392" r:id="rId29"/>
    <p:sldId id="398" r:id="rId30"/>
    <p:sldId id="425" r:id="rId31"/>
    <p:sldId id="413" r:id="rId32"/>
    <p:sldId id="408" r:id="rId33"/>
    <p:sldId id="409" r:id="rId34"/>
    <p:sldId id="536" r:id="rId35"/>
    <p:sldId id="478" r:id="rId36"/>
    <p:sldId id="537" r:id="rId37"/>
    <p:sldId id="480" r:id="rId38"/>
    <p:sldId id="486" r:id="rId39"/>
    <p:sldId id="339" r:id="rId40"/>
    <p:sldId id="342" r:id="rId41"/>
    <p:sldId id="340" r:id="rId42"/>
    <p:sldId id="347" r:id="rId43"/>
    <p:sldId id="481" r:id="rId44"/>
    <p:sldId id="421" r:id="rId45"/>
    <p:sldId id="466" r:id="rId46"/>
    <p:sldId id="482" r:id="rId47"/>
    <p:sldId id="539" r:id="rId48"/>
    <p:sldId id="463" r:id="rId49"/>
    <p:sldId id="464" r:id="rId50"/>
    <p:sldId id="487" r:id="rId51"/>
    <p:sldId id="479" r:id="rId52"/>
    <p:sldId id="531" r:id="rId53"/>
    <p:sldId id="462" r:id="rId54"/>
    <p:sldId id="532" r:id="rId55"/>
    <p:sldId id="490" r:id="rId56"/>
    <p:sldId id="533" r:id="rId57"/>
    <p:sldId id="496" r:id="rId58"/>
    <p:sldId id="497" r:id="rId59"/>
    <p:sldId id="500" r:id="rId60"/>
    <p:sldId id="501" r:id="rId61"/>
    <p:sldId id="502" r:id="rId62"/>
    <p:sldId id="503" r:id="rId63"/>
    <p:sldId id="504" r:id="rId64"/>
    <p:sldId id="506" r:id="rId65"/>
    <p:sldId id="542" r:id="rId66"/>
    <p:sldId id="505" r:id="rId67"/>
    <p:sldId id="543" r:id="rId68"/>
    <p:sldId id="544" r:id="rId69"/>
    <p:sldId id="507" r:id="rId70"/>
    <p:sldId id="510" r:id="rId71"/>
    <p:sldId id="534" r:id="rId72"/>
    <p:sldId id="511" r:id="rId73"/>
    <p:sldId id="512" r:id="rId74"/>
    <p:sldId id="513" r:id="rId75"/>
    <p:sldId id="514" r:id="rId76"/>
    <p:sldId id="516" r:id="rId77"/>
    <p:sldId id="517" r:id="rId78"/>
    <p:sldId id="518" r:id="rId79"/>
    <p:sldId id="519" r:id="rId80"/>
    <p:sldId id="520" r:id="rId81"/>
    <p:sldId id="521" r:id="rId82"/>
    <p:sldId id="522" r:id="rId83"/>
    <p:sldId id="523" r:id="rId84"/>
    <p:sldId id="524" r:id="rId85"/>
    <p:sldId id="508" r:id="rId86"/>
    <p:sldId id="509" r:id="rId87"/>
    <p:sldId id="529" r:id="rId88"/>
    <p:sldId id="525" r:id="rId89"/>
    <p:sldId id="530" r:id="rId90"/>
    <p:sldId id="494" r:id="rId91"/>
    <p:sldId id="439" r:id="rId92"/>
    <p:sldId id="440" r:id="rId93"/>
    <p:sldId id="441" r:id="rId94"/>
    <p:sldId id="459" r:id="rId95"/>
    <p:sldId id="445" r:id="rId96"/>
    <p:sldId id="446" r:id="rId97"/>
    <p:sldId id="442" r:id="rId98"/>
    <p:sldId id="443" r:id="rId99"/>
    <p:sldId id="444" r:id="rId100"/>
    <p:sldId id="495" r:id="rId101"/>
    <p:sldId id="438" r:id="rId102"/>
    <p:sldId id="447" r:id="rId103"/>
    <p:sldId id="448" r:id="rId104"/>
    <p:sldId id="454" r:id="rId105"/>
    <p:sldId id="460" r:id="rId106"/>
    <p:sldId id="456" r:id="rId107"/>
    <p:sldId id="455" r:id="rId108"/>
    <p:sldId id="450" r:id="rId109"/>
    <p:sldId id="457" r:id="rId110"/>
    <p:sldId id="453" r:id="rId111"/>
    <p:sldId id="498" r:id="rId112"/>
    <p:sldId id="468" r:id="rId113"/>
    <p:sldId id="472" r:id="rId114"/>
    <p:sldId id="469" r:id="rId115"/>
    <p:sldId id="499" r:id="rId116"/>
    <p:sldId id="470" r:id="rId117"/>
    <p:sldId id="491" r:id="rId118"/>
    <p:sldId id="471" r:id="rId119"/>
    <p:sldId id="473" r:id="rId120"/>
    <p:sldId id="492" r:id="rId121"/>
    <p:sldId id="477" r:id="rId122"/>
    <p:sldId id="475" r:id="rId123"/>
    <p:sldId id="474" r:id="rId124"/>
    <p:sldId id="265" r:id="rId125"/>
    <p:sldId id="267" r:id="rId126"/>
    <p:sldId id="269" r:id="rId127"/>
    <p:sldId id="270" r:id="rId128"/>
  </p:sldIdLst>
  <p:sldSz cx="12192000" cy="6858000"/>
  <p:notesSz cx="7010400" cy="9296400"/>
  <p:custDataLst>
    <p:tags r:id="rId137"/>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anchanglizjhw (Richard)" initials="W(" lastIdx="8" clrIdx="0"/>
  <p:cmAuthor id="2" name="hejunjianzjhw" initials="h" lastIdx="34" clrIdx="1"/>
  <p:cmAuthor id="3" name="Wuyuezjhw (Monk)" initials="W(" lastIdx="66" clrIdx="2"/>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C7000B"/>
    <a:srgbClr val="56C4D2"/>
    <a:srgbClr val="E28189"/>
    <a:srgbClr val="AFD89C"/>
    <a:srgbClr val="FDD351"/>
    <a:srgbClr val="81C15F"/>
    <a:srgbClr val="F28944"/>
    <a:srgbClr val="F6B78C"/>
    <a:srgbClr val="94DAE2"/>
    <a:srgbClr val="EEB3B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72833802-FEF1-4C79-8D5D-14CF1EAF98D9}">
  <a:tblStyle styleId="{72833802-FEF1-4C79-8D5D-14CF1EAF98D9}" styleName="浅色样式 2 - 强调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912C8C85-51F0-491E-9774-3900AFEF0FD7}" styleName="浅色样式 2 - 强调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950" autoAdjust="0"/>
    <p:restoredTop sz="95267" autoAdjust="0"/>
  </p:normalViewPr>
  <p:slideViewPr>
    <p:cSldViewPr snapToGrid="0" snapToObjects="1">
      <p:cViewPr>
        <p:scale>
          <a:sx n="100" d="100"/>
          <a:sy n="100" d="100"/>
        </p:scale>
        <p:origin x="48" y="-252"/>
      </p:cViewPr>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snapToObjects="1">
      <p:cViewPr varScale="1">
        <p:scale>
          <a:sx n="83" d="100"/>
          <a:sy n="83" d="100"/>
        </p:scale>
        <p:origin x="2982" y="102"/>
      </p:cViewPr>
      <p:guideLst>
        <p:guide orient="horz"/>
        <p:guide pos="2208"/>
      </p:guideLst>
    </p:cSldViewPr>
  </p:notesViewPr>
  <p:gridSpacing cx="72000" cy="72000"/>
</p:viewPr>
</file>

<file path=ppt/_rels/presentation.xml.rels><?xml version="1.0" encoding="UTF-8" standalone="yes"?>
<Relationships xmlns="http://schemas.openxmlformats.org/package/2006/relationships"><Relationship Id="rId99" Type="http://schemas.openxmlformats.org/officeDocument/2006/relationships/slide" Target="slides/slide93.xml"/><Relationship Id="rId98" Type="http://schemas.openxmlformats.org/officeDocument/2006/relationships/slide" Target="slides/slide92.xml"/><Relationship Id="rId97" Type="http://schemas.openxmlformats.org/officeDocument/2006/relationships/slide" Target="slides/slide91.xml"/><Relationship Id="rId96" Type="http://schemas.openxmlformats.org/officeDocument/2006/relationships/slide" Target="slides/slide90.xml"/><Relationship Id="rId95" Type="http://schemas.openxmlformats.org/officeDocument/2006/relationships/slide" Target="slides/slide89.xml"/><Relationship Id="rId94" Type="http://schemas.openxmlformats.org/officeDocument/2006/relationships/slide" Target="slides/slide88.xml"/><Relationship Id="rId93" Type="http://schemas.openxmlformats.org/officeDocument/2006/relationships/slide" Target="slides/slide87.xml"/><Relationship Id="rId92" Type="http://schemas.openxmlformats.org/officeDocument/2006/relationships/slide" Target="slides/slide86.xml"/><Relationship Id="rId91" Type="http://schemas.openxmlformats.org/officeDocument/2006/relationships/slide" Target="slides/slide85.xml"/><Relationship Id="rId90" Type="http://schemas.openxmlformats.org/officeDocument/2006/relationships/slide" Target="slides/slide84.xml"/><Relationship Id="rId9" Type="http://schemas.openxmlformats.org/officeDocument/2006/relationships/slide" Target="slides/slide3.xml"/><Relationship Id="rId89" Type="http://schemas.openxmlformats.org/officeDocument/2006/relationships/slide" Target="slides/slide83.xml"/><Relationship Id="rId88" Type="http://schemas.openxmlformats.org/officeDocument/2006/relationships/slide" Target="slides/slide82.xml"/><Relationship Id="rId87" Type="http://schemas.openxmlformats.org/officeDocument/2006/relationships/slide" Target="slides/slide81.xml"/><Relationship Id="rId86" Type="http://schemas.openxmlformats.org/officeDocument/2006/relationships/slide" Target="slides/slide80.xml"/><Relationship Id="rId85" Type="http://schemas.openxmlformats.org/officeDocument/2006/relationships/slide" Target="slides/slide79.xml"/><Relationship Id="rId84" Type="http://schemas.openxmlformats.org/officeDocument/2006/relationships/slide" Target="slides/slide78.xml"/><Relationship Id="rId83" Type="http://schemas.openxmlformats.org/officeDocument/2006/relationships/slide" Target="slides/slide77.xml"/><Relationship Id="rId82" Type="http://schemas.openxmlformats.org/officeDocument/2006/relationships/slide" Target="slides/slide76.xml"/><Relationship Id="rId81" Type="http://schemas.openxmlformats.org/officeDocument/2006/relationships/slide" Target="slides/slide75.xml"/><Relationship Id="rId80" Type="http://schemas.openxmlformats.org/officeDocument/2006/relationships/slide" Target="slides/slide74.xml"/><Relationship Id="rId8" Type="http://schemas.openxmlformats.org/officeDocument/2006/relationships/slide" Target="slides/slide2.xml"/><Relationship Id="rId79" Type="http://schemas.openxmlformats.org/officeDocument/2006/relationships/slide" Target="slides/slide73.xml"/><Relationship Id="rId78" Type="http://schemas.openxmlformats.org/officeDocument/2006/relationships/slide" Target="slides/slide72.xml"/><Relationship Id="rId77" Type="http://schemas.openxmlformats.org/officeDocument/2006/relationships/slide" Target="slides/slide71.xml"/><Relationship Id="rId76" Type="http://schemas.openxmlformats.org/officeDocument/2006/relationships/slide" Target="slides/slide70.xml"/><Relationship Id="rId75" Type="http://schemas.openxmlformats.org/officeDocument/2006/relationships/slide" Target="slides/slide69.xml"/><Relationship Id="rId74" Type="http://schemas.openxmlformats.org/officeDocument/2006/relationships/slide" Target="slides/slide68.xml"/><Relationship Id="rId73" Type="http://schemas.openxmlformats.org/officeDocument/2006/relationships/slide" Target="slides/slide67.xml"/><Relationship Id="rId72" Type="http://schemas.openxmlformats.org/officeDocument/2006/relationships/slide" Target="slides/slide66.xml"/><Relationship Id="rId71" Type="http://schemas.openxmlformats.org/officeDocument/2006/relationships/slide" Target="slides/slide65.xml"/><Relationship Id="rId70" Type="http://schemas.openxmlformats.org/officeDocument/2006/relationships/slide" Target="slides/slide64.xml"/><Relationship Id="rId7" Type="http://schemas.openxmlformats.org/officeDocument/2006/relationships/notesMaster" Target="notesMasters/notesMaster1.xml"/><Relationship Id="rId69" Type="http://schemas.openxmlformats.org/officeDocument/2006/relationships/slide" Target="slides/slide63.xml"/><Relationship Id="rId68" Type="http://schemas.openxmlformats.org/officeDocument/2006/relationships/slide" Target="slides/slide62.xml"/><Relationship Id="rId67" Type="http://schemas.openxmlformats.org/officeDocument/2006/relationships/slide" Target="slides/slide61.xml"/><Relationship Id="rId66" Type="http://schemas.openxmlformats.org/officeDocument/2006/relationships/slide" Target="slides/slide60.xml"/><Relationship Id="rId65" Type="http://schemas.openxmlformats.org/officeDocument/2006/relationships/slide" Target="slides/slide59.xml"/><Relationship Id="rId64" Type="http://schemas.openxmlformats.org/officeDocument/2006/relationships/slide" Target="slides/slide58.xml"/><Relationship Id="rId63" Type="http://schemas.openxmlformats.org/officeDocument/2006/relationships/slide" Target="slides/slide57.xml"/><Relationship Id="rId62" Type="http://schemas.openxmlformats.org/officeDocument/2006/relationships/slide" Target="slides/slide56.xml"/><Relationship Id="rId61" Type="http://schemas.openxmlformats.org/officeDocument/2006/relationships/slide" Target="slides/slide55.xml"/><Relationship Id="rId60" Type="http://schemas.openxmlformats.org/officeDocument/2006/relationships/slide" Target="slides/slide54.xml"/><Relationship Id="rId6" Type="http://schemas.openxmlformats.org/officeDocument/2006/relationships/slide" Target="slides/slide1.xml"/><Relationship Id="rId59" Type="http://schemas.openxmlformats.org/officeDocument/2006/relationships/slide" Target="slides/slide53.xml"/><Relationship Id="rId58" Type="http://schemas.openxmlformats.org/officeDocument/2006/relationships/slide" Target="slides/slide52.xml"/><Relationship Id="rId57" Type="http://schemas.openxmlformats.org/officeDocument/2006/relationships/slide" Target="slides/slide51.xml"/><Relationship Id="rId56" Type="http://schemas.openxmlformats.org/officeDocument/2006/relationships/slide" Target="slides/slide50.xml"/><Relationship Id="rId55" Type="http://schemas.openxmlformats.org/officeDocument/2006/relationships/slide" Target="slides/slide49.xml"/><Relationship Id="rId54" Type="http://schemas.openxmlformats.org/officeDocument/2006/relationships/slide" Target="slides/slide48.xml"/><Relationship Id="rId53" Type="http://schemas.openxmlformats.org/officeDocument/2006/relationships/slide" Target="slides/slide47.xml"/><Relationship Id="rId52" Type="http://schemas.openxmlformats.org/officeDocument/2006/relationships/slide" Target="slides/slide46.xml"/><Relationship Id="rId51" Type="http://schemas.openxmlformats.org/officeDocument/2006/relationships/slide" Target="slides/slide45.xml"/><Relationship Id="rId50" Type="http://schemas.openxmlformats.org/officeDocument/2006/relationships/slide" Target="slides/slide44.xml"/><Relationship Id="rId5" Type="http://schemas.openxmlformats.org/officeDocument/2006/relationships/slideMaster" Target="slideMasters/slideMaster4.xml"/><Relationship Id="rId49" Type="http://schemas.openxmlformats.org/officeDocument/2006/relationships/slide" Target="slides/slide43.xml"/><Relationship Id="rId48" Type="http://schemas.openxmlformats.org/officeDocument/2006/relationships/slide" Target="slides/slide42.xml"/><Relationship Id="rId47" Type="http://schemas.openxmlformats.org/officeDocument/2006/relationships/slide" Target="slides/slide41.xml"/><Relationship Id="rId46" Type="http://schemas.openxmlformats.org/officeDocument/2006/relationships/slide" Target="slides/slide40.xml"/><Relationship Id="rId45" Type="http://schemas.openxmlformats.org/officeDocument/2006/relationships/slide" Target="slides/slide39.xml"/><Relationship Id="rId44" Type="http://schemas.openxmlformats.org/officeDocument/2006/relationships/slide" Target="slides/slide38.xml"/><Relationship Id="rId43" Type="http://schemas.openxmlformats.org/officeDocument/2006/relationships/slide" Target="slides/slide37.xml"/><Relationship Id="rId42" Type="http://schemas.openxmlformats.org/officeDocument/2006/relationships/slide" Target="slides/slide36.xml"/><Relationship Id="rId41" Type="http://schemas.openxmlformats.org/officeDocument/2006/relationships/slide" Target="slides/slide35.xml"/><Relationship Id="rId40" Type="http://schemas.openxmlformats.org/officeDocument/2006/relationships/slide" Target="slides/slide34.xml"/><Relationship Id="rId4" Type="http://schemas.openxmlformats.org/officeDocument/2006/relationships/slideMaster" Target="slideMasters/slideMaster3.xml"/><Relationship Id="rId39" Type="http://schemas.openxmlformats.org/officeDocument/2006/relationships/slide" Target="slides/slide33.xml"/><Relationship Id="rId38" Type="http://schemas.openxmlformats.org/officeDocument/2006/relationships/slide" Target="slides/slide32.xml"/><Relationship Id="rId37" Type="http://schemas.openxmlformats.org/officeDocument/2006/relationships/slide" Target="slides/slide31.xml"/><Relationship Id="rId36" Type="http://schemas.openxmlformats.org/officeDocument/2006/relationships/slide" Target="slides/slide30.xml"/><Relationship Id="rId35" Type="http://schemas.openxmlformats.org/officeDocument/2006/relationships/slide" Target="slides/slide29.xml"/><Relationship Id="rId34" Type="http://schemas.openxmlformats.org/officeDocument/2006/relationships/slide" Target="slides/slide28.xml"/><Relationship Id="rId33" Type="http://schemas.openxmlformats.org/officeDocument/2006/relationships/slide" Target="slides/slide27.xml"/><Relationship Id="rId32" Type="http://schemas.openxmlformats.org/officeDocument/2006/relationships/slide" Target="slides/slide26.xml"/><Relationship Id="rId31" Type="http://schemas.openxmlformats.org/officeDocument/2006/relationships/slide" Target="slides/slide25.xml"/><Relationship Id="rId30" Type="http://schemas.openxmlformats.org/officeDocument/2006/relationships/slide" Target="slides/slide24.xml"/><Relationship Id="rId3" Type="http://schemas.openxmlformats.org/officeDocument/2006/relationships/slideMaster" Target="slideMasters/slideMaster2.xml"/><Relationship Id="rId29" Type="http://schemas.openxmlformats.org/officeDocument/2006/relationships/slide" Target="slides/slide23.xml"/><Relationship Id="rId28" Type="http://schemas.openxmlformats.org/officeDocument/2006/relationships/slide" Target="slides/slide22.xml"/><Relationship Id="rId27" Type="http://schemas.openxmlformats.org/officeDocument/2006/relationships/slide" Target="slides/slide21.xml"/><Relationship Id="rId26" Type="http://schemas.openxmlformats.org/officeDocument/2006/relationships/slide" Target="slides/slide20.xml"/><Relationship Id="rId25" Type="http://schemas.openxmlformats.org/officeDocument/2006/relationships/slide" Target="slides/slide19.xml"/><Relationship Id="rId24" Type="http://schemas.openxmlformats.org/officeDocument/2006/relationships/slide" Target="slides/slide18.xml"/><Relationship Id="rId23" Type="http://schemas.openxmlformats.org/officeDocument/2006/relationships/slide" Target="slides/slide17.xml"/><Relationship Id="rId22" Type="http://schemas.openxmlformats.org/officeDocument/2006/relationships/slide" Target="slides/slide16.xml"/><Relationship Id="rId21" Type="http://schemas.openxmlformats.org/officeDocument/2006/relationships/slide" Target="slides/slide15.xml"/><Relationship Id="rId20" Type="http://schemas.openxmlformats.org/officeDocument/2006/relationships/slide" Target="slides/slide14.xml"/><Relationship Id="rId2" Type="http://schemas.openxmlformats.org/officeDocument/2006/relationships/theme" Target="theme/theme1.xml"/><Relationship Id="rId19" Type="http://schemas.openxmlformats.org/officeDocument/2006/relationships/slide" Target="slides/slide13.xml"/><Relationship Id="rId18" Type="http://schemas.openxmlformats.org/officeDocument/2006/relationships/slide" Target="slides/slide12.xml"/><Relationship Id="rId17" Type="http://schemas.openxmlformats.org/officeDocument/2006/relationships/slide" Target="slides/slide11.xml"/><Relationship Id="rId16" Type="http://schemas.openxmlformats.org/officeDocument/2006/relationships/slide" Target="slides/slide10.xml"/><Relationship Id="rId15" Type="http://schemas.openxmlformats.org/officeDocument/2006/relationships/slide" Target="slides/slide9.xml"/><Relationship Id="rId14" Type="http://schemas.openxmlformats.org/officeDocument/2006/relationships/slide" Target="slides/slide8.xml"/><Relationship Id="rId137" Type="http://schemas.openxmlformats.org/officeDocument/2006/relationships/tags" Target="tags/tag4.xml"/><Relationship Id="rId136" Type="http://schemas.openxmlformats.org/officeDocument/2006/relationships/customXml" Target="../customXml/item3.xml"/><Relationship Id="rId135" Type="http://schemas.openxmlformats.org/officeDocument/2006/relationships/customXml" Target="../customXml/item2.xml"/><Relationship Id="rId134" Type="http://schemas.openxmlformats.org/officeDocument/2006/relationships/customXml" Target="../customXml/item1.xml"/><Relationship Id="rId133" Type="http://schemas.openxmlformats.org/officeDocument/2006/relationships/commentAuthors" Target="commentAuthors.xml"/><Relationship Id="rId132" Type="http://schemas.openxmlformats.org/officeDocument/2006/relationships/tableStyles" Target="tableStyles.xml"/><Relationship Id="rId131" Type="http://schemas.openxmlformats.org/officeDocument/2006/relationships/viewProps" Target="viewProps.xml"/><Relationship Id="rId130" Type="http://schemas.openxmlformats.org/officeDocument/2006/relationships/presProps" Target="presProps.xml"/><Relationship Id="rId13" Type="http://schemas.openxmlformats.org/officeDocument/2006/relationships/slide" Target="slides/slide7.xml"/><Relationship Id="rId129" Type="http://schemas.openxmlformats.org/officeDocument/2006/relationships/handoutMaster" Target="handoutMasters/handoutMaster1.xml"/><Relationship Id="rId128" Type="http://schemas.openxmlformats.org/officeDocument/2006/relationships/slide" Target="slides/slide122.xml"/><Relationship Id="rId127" Type="http://schemas.openxmlformats.org/officeDocument/2006/relationships/slide" Target="slides/slide121.xml"/><Relationship Id="rId126" Type="http://schemas.openxmlformats.org/officeDocument/2006/relationships/slide" Target="slides/slide120.xml"/><Relationship Id="rId125" Type="http://schemas.openxmlformats.org/officeDocument/2006/relationships/slide" Target="slides/slide119.xml"/><Relationship Id="rId124" Type="http://schemas.openxmlformats.org/officeDocument/2006/relationships/slide" Target="slides/slide118.xml"/><Relationship Id="rId123" Type="http://schemas.openxmlformats.org/officeDocument/2006/relationships/slide" Target="slides/slide117.xml"/><Relationship Id="rId122" Type="http://schemas.openxmlformats.org/officeDocument/2006/relationships/slide" Target="slides/slide116.xml"/><Relationship Id="rId121" Type="http://schemas.openxmlformats.org/officeDocument/2006/relationships/slide" Target="slides/slide115.xml"/><Relationship Id="rId120" Type="http://schemas.openxmlformats.org/officeDocument/2006/relationships/slide" Target="slides/slide114.xml"/><Relationship Id="rId12" Type="http://schemas.openxmlformats.org/officeDocument/2006/relationships/slide" Target="slides/slide6.xml"/><Relationship Id="rId119" Type="http://schemas.openxmlformats.org/officeDocument/2006/relationships/slide" Target="slides/slide113.xml"/><Relationship Id="rId118" Type="http://schemas.openxmlformats.org/officeDocument/2006/relationships/slide" Target="slides/slide112.xml"/><Relationship Id="rId117" Type="http://schemas.openxmlformats.org/officeDocument/2006/relationships/slide" Target="slides/slide111.xml"/><Relationship Id="rId116" Type="http://schemas.openxmlformats.org/officeDocument/2006/relationships/slide" Target="slides/slide110.xml"/><Relationship Id="rId115" Type="http://schemas.openxmlformats.org/officeDocument/2006/relationships/slide" Target="slides/slide109.xml"/><Relationship Id="rId114" Type="http://schemas.openxmlformats.org/officeDocument/2006/relationships/slide" Target="slides/slide108.xml"/><Relationship Id="rId113" Type="http://schemas.openxmlformats.org/officeDocument/2006/relationships/slide" Target="slides/slide107.xml"/><Relationship Id="rId112" Type="http://schemas.openxmlformats.org/officeDocument/2006/relationships/slide" Target="slides/slide106.xml"/><Relationship Id="rId111" Type="http://schemas.openxmlformats.org/officeDocument/2006/relationships/slide" Target="slides/slide105.xml"/><Relationship Id="rId110" Type="http://schemas.openxmlformats.org/officeDocument/2006/relationships/slide" Target="slides/slide104.xml"/><Relationship Id="rId11" Type="http://schemas.openxmlformats.org/officeDocument/2006/relationships/slide" Target="slides/slide5.xml"/><Relationship Id="rId109" Type="http://schemas.openxmlformats.org/officeDocument/2006/relationships/slide" Target="slides/slide103.xml"/><Relationship Id="rId108" Type="http://schemas.openxmlformats.org/officeDocument/2006/relationships/slide" Target="slides/slide102.xml"/><Relationship Id="rId107" Type="http://schemas.openxmlformats.org/officeDocument/2006/relationships/slide" Target="slides/slide101.xml"/><Relationship Id="rId106" Type="http://schemas.openxmlformats.org/officeDocument/2006/relationships/slide" Target="slides/slide100.xml"/><Relationship Id="rId105" Type="http://schemas.openxmlformats.org/officeDocument/2006/relationships/slide" Target="slides/slide99.xml"/><Relationship Id="rId104" Type="http://schemas.openxmlformats.org/officeDocument/2006/relationships/slide" Target="slides/slide98.xml"/><Relationship Id="rId103" Type="http://schemas.openxmlformats.org/officeDocument/2006/relationships/slide" Target="slides/slide97.xml"/><Relationship Id="rId102" Type="http://schemas.openxmlformats.org/officeDocument/2006/relationships/slide" Target="slides/slide96.xml"/><Relationship Id="rId101" Type="http://schemas.openxmlformats.org/officeDocument/2006/relationships/slide" Target="slides/slide95.xml"/><Relationship Id="rId100" Type="http://schemas.openxmlformats.org/officeDocument/2006/relationships/slide" Target="slides/slide94.xml"/><Relationship Id="rId10" Type="http://schemas.openxmlformats.org/officeDocument/2006/relationships/slide" Target="slides/slide4.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5"/>
          </a:xfrm>
          <a:prstGeom prst="rect">
            <a:avLst/>
          </a:prstGeom>
        </p:spPr>
        <p:txBody>
          <a:bodyPr vert="horz" lIns="91440" tIns="45720" rIns="91440" bIns="45720" rtlCol="0"/>
          <a:lstStyle>
            <a:lvl1pPr algn="l">
              <a:defRPr sz="1200"/>
            </a:lvl1pPr>
          </a:lstStyle>
          <a:p>
            <a:endParaRPr lang="en-US" dirty="0">
              <a:latin typeface="Huawei Sans" panose="020C0503030203020204" pitchFamily="34" charset="0"/>
            </a:endParaRPr>
          </a:p>
        </p:txBody>
      </p:sp>
      <p:sp>
        <p:nvSpPr>
          <p:cNvPr id="3" name="Date Placeholder 2"/>
          <p:cNvSpPr>
            <a:spLocks noGrp="1"/>
          </p:cNvSpPr>
          <p:nvPr>
            <p:ph type="dt" sz="quarter" idx="1"/>
          </p:nvPr>
        </p:nvSpPr>
        <p:spPr>
          <a:xfrm>
            <a:off x="3970938" y="0"/>
            <a:ext cx="3037840" cy="466435"/>
          </a:xfrm>
          <a:prstGeom prst="rect">
            <a:avLst/>
          </a:prstGeom>
        </p:spPr>
        <p:txBody>
          <a:bodyPr vert="horz" lIns="91440" tIns="45720" rIns="91440" bIns="45720" rtlCol="0"/>
          <a:lstStyle>
            <a:lvl1pPr algn="r">
              <a:defRPr sz="1200"/>
            </a:lvl1pPr>
          </a:lstStyle>
          <a:p>
            <a:fld id="{E8CF71B8-DF2A-2E41-BE66-2E18A767DA8A}" type="datetimeFigureOut">
              <a:rPr lang="en-US" smtClean="0">
                <a:latin typeface="Huawei Sans" panose="020C0503030203020204" pitchFamily="34" charset="0"/>
              </a:rPr>
            </a:fld>
            <a:endParaRPr lang="en-US" dirty="0">
              <a:latin typeface="Huawei Sans" panose="020C0503030203020204" pitchFamily="34" charset="0"/>
            </a:endParaRPr>
          </a:p>
        </p:txBody>
      </p:sp>
      <p:sp>
        <p:nvSpPr>
          <p:cNvPr id="4" name="Footer Placeholder 3"/>
          <p:cNvSpPr>
            <a:spLocks noGrp="1"/>
          </p:cNvSpPr>
          <p:nvPr>
            <p:ph type="ftr" sz="quarter" idx="2"/>
          </p:nvPr>
        </p:nvSpPr>
        <p:spPr>
          <a:xfrm>
            <a:off x="0" y="8829968"/>
            <a:ext cx="3037840" cy="466434"/>
          </a:xfrm>
          <a:prstGeom prst="rect">
            <a:avLst/>
          </a:prstGeom>
        </p:spPr>
        <p:txBody>
          <a:bodyPr vert="horz" lIns="91440" tIns="45720" rIns="91440" bIns="45720" rtlCol="0" anchor="b"/>
          <a:lstStyle>
            <a:lvl1pPr algn="l">
              <a:defRPr sz="1200"/>
            </a:lvl1pPr>
          </a:lstStyle>
          <a:p>
            <a:endParaRPr lang="en-US" dirty="0">
              <a:latin typeface="Huawei Sans" panose="020C0503030203020204" pitchFamily="34" charset="0"/>
            </a:endParaRPr>
          </a:p>
        </p:txBody>
      </p:sp>
      <p:sp>
        <p:nvSpPr>
          <p:cNvPr id="5" name="Slide Number Placeholder 4"/>
          <p:cNvSpPr>
            <a:spLocks noGrp="1"/>
          </p:cNvSpPr>
          <p:nvPr>
            <p:ph type="sldNum" sz="quarter" idx="3"/>
          </p:nvPr>
        </p:nvSpPr>
        <p:spPr>
          <a:xfrm>
            <a:off x="3970938" y="8829968"/>
            <a:ext cx="3037840" cy="466434"/>
          </a:xfrm>
          <a:prstGeom prst="rect">
            <a:avLst/>
          </a:prstGeom>
        </p:spPr>
        <p:txBody>
          <a:bodyPr vert="horz" lIns="91440" tIns="45720" rIns="91440" bIns="45720" rtlCol="0" anchor="b"/>
          <a:lstStyle>
            <a:lvl1pPr algn="r">
              <a:defRPr sz="1200"/>
            </a:lvl1pPr>
          </a:lstStyle>
          <a:p>
            <a:fld id="{A35F0CC5-85BE-A64A-BD47-54C66F7E93E3}" type="slidenum">
              <a:rPr lang="en-US" smtClean="0">
                <a:latin typeface="Huawei Sans" panose="020C0503030203020204" pitchFamily="34" charset="0"/>
              </a:rPr>
            </a:fld>
            <a:endParaRPr lang="en-US" dirty="0">
              <a:latin typeface="Huawei Sans" panose="020C0503030203020204" pitchFamily="34" charset="0"/>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gray">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731838" y="717550"/>
            <a:ext cx="5580062" cy="3125788"/>
          </a:xfrm>
          <a:prstGeom prst="rect">
            <a:avLst/>
          </a:prstGeom>
          <a:noFill/>
          <a:ln w="12700">
            <a:solidFill>
              <a:prstClr val="black"/>
            </a:solidFill>
          </a:ln>
        </p:spPr>
        <p:txBody>
          <a:bodyPr vert="horz" lIns="91440" tIns="45720" rIns="91440" bIns="45720" rtlCol="0" anchor="ctr"/>
          <a:lstStyle/>
          <a:p>
            <a:pPr marL="0" lvl="0"/>
            <a:endParaRPr lang="en-US"/>
          </a:p>
        </p:txBody>
      </p:sp>
      <p:sp>
        <p:nvSpPr>
          <p:cNvPr id="5" name="Notes Placeholder 4"/>
          <p:cNvSpPr>
            <a:spLocks noGrp="1"/>
          </p:cNvSpPr>
          <p:nvPr>
            <p:ph type="body" sz="quarter" idx="3"/>
          </p:nvPr>
        </p:nvSpPr>
        <p:spPr>
          <a:xfrm>
            <a:off x="731838" y="4310765"/>
            <a:ext cx="5580062" cy="4784070"/>
          </a:xfrm>
          <a:prstGeom prst="rect">
            <a:avLst/>
          </a:prstGeom>
        </p:spPr>
        <p:txBody>
          <a:bodyPr vert="horz" lIns="97200" tIns="45720" rIns="97200" bIns="45720" rtlCol="0"/>
          <a:lstStyle/>
          <a:p>
            <a:pPr lvl="0"/>
            <a:r>
              <a:rPr lang="en-US" dirty="0"/>
              <a:t>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Tree>
  </p:cSld>
  <p:clrMap bg1="lt1" tx1="dk1" bg2="lt2" tx2="dk2" accent1="accent1" accent2="accent2" accent3="accent3" accent4="accent4" accent5="accent5" accent6="accent6" hlink="hlink" folHlink="folHlink"/>
  <p:notesStyle>
    <a:lvl1pPr marL="179705" indent="-179705" algn="l" defTabSz="1219200" rtl="0" eaLnBrk="1" fontAlgn="ctr" latinLnBrk="0" hangingPunct="1">
      <a:lnSpc>
        <a:spcPct val="125000"/>
      </a:lnSpc>
      <a:spcAft>
        <a:spcPts val="600"/>
      </a:spcAft>
      <a:buFont typeface="Huawei Sans" panose="020C0503030203020204" pitchFamily="34" charset="0"/>
      <a:buChar char="•"/>
      <a:defRPr lang="en-US" sz="1100" kern="1200" baseline="0">
        <a:solidFill>
          <a:schemeClr val="tx1"/>
        </a:solidFill>
        <a:latin typeface="Huawei Sans" panose="020C0503030203020204" pitchFamily="34" charset="0"/>
        <a:ea typeface="方正兰亭黑简体" panose="02000000000000000000" pitchFamily="2" charset="-122"/>
        <a:cs typeface="+mn-cs"/>
      </a:defRPr>
    </a:lvl1pPr>
    <a:lvl2pPr marL="539750" indent="-179705" algn="l" defTabSz="1219200" rtl="0" eaLnBrk="1" fontAlgn="ctr" latinLnBrk="0" hangingPunct="1">
      <a:lnSpc>
        <a:spcPct val="125000"/>
      </a:lnSpc>
      <a:spcAft>
        <a:spcPts val="600"/>
      </a:spcAft>
      <a:buClrTx/>
      <a:buFont typeface="Huawei Sans" panose="020C0503030203020204" pitchFamily="34" charset="0"/>
      <a:buChar char="▫"/>
      <a:defRPr sz="1100" kern="1200" baseline="0">
        <a:solidFill>
          <a:schemeClr val="tx1"/>
        </a:solidFill>
        <a:latin typeface="Huawei Sans" panose="020C0503030203020204" pitchFamily="34" charset="0"/>
        <a:ea typeface="方正兰亭黑简体" panose="02000000000000000000" pitchFamily="2" charset="-122"/>
        <a:cs typeface="+mn-cs"/>
      </a:defRPr>
    </a:lvl2pPr>
    <a:lvl3pPr marL="899795" indent="-179705" algn="l" defTabSz="1219200" rtl="0" eaLnBrk="1" fontAlgn="ctr" latinLnBrk="0" hangingPunct="1">
      <a:lnSpc>
        <a:spcPct val="125000"/>
      </a:lnSpc>
      <a:spcAft>
        <a:spcPts val="600"/>
      </a:spcAft>
      <a:buFont typeface="微软雅黑" panose="020B0503020204020204" charset="-122"/>
      <a:buChar char="▪"/>
      <a:defRPr sz="1100" kern="1200" baseline="0">
        <a:solidFill>
          <a:schemeClr val="tx1"/>
        </a:solidFill>
        <a:latin typeface="Huawei Sans" panose="020C0503030203020204" pitchFamily="34" charset="0"/>
        <a:ea typeface="方正兰亭黑简体" panose="02000000000000000000" pitchFamily="2" charset="-122"/>
        <a:cs typeface="+mn-cs"/>
      </a:defRPr>
    </a:lvl3pPr>
    <a:lvl4pPr marL="1259840" indent="-179705" algn="l" defTabSz="1219200" rtl="0" eaLnBrk="1" fontAlgn="ctr" latinLnBrk="0" hangingPunct="1">
      <a:lnSpc>
        <a:spcPct val="125000"/>
      </a:lnSpc>
      <a:spcAft>
        <a:spcPts val="600"/>
      </a:spcAft>
      <a:buFont typeface="Huawei Sans" panose="020C0503030203020204" pitchFamily="34" charset="0"/>
      <a:buChar char="−"/>
      <a:defRPr sz="1100" kern="1200" baseline="0">
        <a:solidFill>
          <a:schemeClr val="tx1"/>
        </a:solidFill>
        <a:latin typeface="Huawei Sans" panose="020C0503030203020204" pitchFamily="34" charset="0"/>
        <a:ea typeface="方正兰亭黑简体" panose="02000000000000000000" pitchFamily="2" charset="-122"/>
        <a:cs typeface="+mn-cs"/>
      </a:defRPr>
    </a:lvl4pPr>
    <a:lvl5pPr marL="1619885" indent="-179705" algn="l" defTabSz="1219200" rtl="0" eaLnBrk="1" fontAlgn="ctr" latinLnBrk="0" hangingPunct="1">
      <a:lnSpc>
        <a:spcPct val="125000"/>
      </a:lnSpc>
      <a:spcAft>
        <a:spcPts val="600"/>
      </a:spcAft>
      <a:buFont typeface="Huawei Sans" panose="020C0503030203020204" pitchFamily="34" charset="0"/>
      <a:buChar char="~"/>
      <a:defRPr sz="1100" kern="1200" baseline="0">
        <a:solidFill>
          <a:schemeClr val="tx1"/>
        </a:solidFill>
        <a:latin typeface="Huawei Sans" panose="020C0503030203020204" pitchFamily="34" charset="0"/>
        <a:ea typeface="方正兰亭黑简体" panose="02000000000000000000" pitchFamily="2" charset="-122"/>
        <a:cs typeface="+mn-cs"/>
      </a:defRPr>
    </a:lvl5pPr>
    <a:lvl6pPr marL="3048000" algn="l" defTabSz="1219200" rtl="0" eaLnBrk="1" latinLnBrk="0" hangingPunct="1">
      <a:defRPr sz="1600" kern="1200">
        <a:solidFill>
          <a:schemeClr val="tx1"/>
        </a:solidFill>
        <a:latin typeface="+mn-lt"/>
        <a:ea typeface="+mn-ea"/>
        <a:cs typeface="+mn-cs"/>
      </a:defRPr>
    </a:lvl6pPr>
    <a:lvl7pPr marL="3657600" algn="l" defTabSz="1219200" rtl="0" eaLnBrk="1" latinLnBrk="0" hangingPunct="1">
      <a:defRPr sz="1600" kern="1200">
        <a:solidFill>
          <a:schemeClr val="tx1"/>
        </a:solidFill>
        <a:latin typeface="+mn-lt"/>
        <a:ea typeface="+mn-ea"/>
        <a:cs typeface="+mn-cs"/>
      </a:defRPr>
    </a:lvl7pPr>
    <a:lvl8pPr marL="4267835" algn="l" defTabSz="1219200" rtl="0" eaLnBrk="1" latinLnBrk="0" hangingPunct="1">
      <a:defRPr sz="1600" kern="1200">
        <a:solidFill>
          <a:schemeClr val="tx1"/>
        </a:solidFill>
        <a:latin typeface="+mn-lt"/>
        <a:ea typeface="+mn-ea"/>
        <a:cs typeface="+mn-cs"/>
      </a:defRPr>
    </a:lvl8pPr>
    <a:lvl9pPr marL="4877435" algn="l" defTabSz="121920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7.xml"/></Relationships>
</file>

<file path=ppt/notesSlides/_rels/notesSlide1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8.xml"/></Relationships>
</file>

<file path=ppt/notesSlides/_rels/notesSlide1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9.xml"/></Relationships>
</file>

<file path=ppt/notesSlides/_rels/notesSlide1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0.xml"/></Relationships>
</file>

<file path=ppt/notesSlides/_rels/notesSlide1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1.xml"/></Relationships>
</file>

<file path=ppt/notesSlides/_rels/notesSlide1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幻灯片图像占位符 7"/>
          <p:cNvSpPr>
            <a:spLocks noGrp="1" noRot="1" noChangeAspect="1"/>
          </p:cNvSpPr>
          <p:nvPr>
            <p:ph type="sldImg"/>
          </p:nvPr>
        </p:nvSpPr>
        <p:spPr>
          <a:xfrm>
            <a:off x="742950" y="717550"/>
            <a:ext cx="5557838" cy="3125788"/>
          </a:xfrm>
        </p:spPr>
      </p:sp>
      <p:sp>
        <p:nvSpPr>
          <p:cNvPr id="9" name="备注占位符 8"/>
          <p:cNvSpPr>
            <a:spLocks noGrp="1"/>
          </p:cNvSpPr>
          <p:nvPr>
            <p:ph type="body" idx="1"/>
          </p:nvPr>
        </p:nvSpPr>
        <p:spPr/>
        <p:txBody>
          <a:bodyPr/>
          <a:lstStyle/>
          <a:p>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幻灯片图像占位符 16"/>
          <p:cNvSpPr>
            <a:spLocks noGrp="1" noRot="1" noChangeAspect="1"/>
          </p:cNvSpPr>
          <p:nvPr>
            <p:ph type="sldImg"/>
          </p:nvPr>
        </p:nvSpPr>
        <p:spPr>
          <a:xfrm>
            <a:off x="742950" y="717550"/>
            <a:ext cx="5557838" cy="3125788"/>
          </a:xfrm>
        </p:spPr>
      </p:sp>
      <p:sp>
        <p:nvSpPr>
          <p:cNvPr id="18" name="备注占位符 17"/>
          <p:cNvSpPr>
            <a:spLocks noGrp="1"/>
          </p:cNvSpPr>
          <p:nvPr>
            <p:ph type="body" idx="1"/>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幻灯片图像占位符 5"/>
          <p:cNvSpPr>
            <a:spLocks noGrp="1" noRot="1" noChangeAspect="1"/>
          </p:cNvSpPr>
          <p:nvPr>
            <p:ph type="sldImg"/>
          </p:nvPr>
        </p:nvSpPr>
        <p:spPr>
          <a:xfrm>
            <a:off x="742950" y="717550"/>
            <a:ext cx="5557838" cy="3125788"/>
          </a:xfrm>
        </p:spPr>
      </p:sp>
      <p:sp>
        <p:nvSpPr>
          <p:cNvPr id="7" name="备注占位符 6"/>
          <p:cNvSpPr>
            <a:spLocks noGrp="1"/>
          </p:cNvSpPr>
          <p:nvPr>
            <p:ph type="body" idx="1"/>
          </p:nvPr>
        </p:nvSpPr>
        <p:spPr/>
        <p:txBody>
          <a:bodyPr/>
          <a:lstStyle/>
          <a:p>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幻灯片图像占位符 5"/>
          <p:cNvSpPr>
            <a:spLocks noGrp="1" noRot="1" noChangeAspect="1"/>
          </p:cNvSpPr>
          <p:nvPr>
            <p:ph type="sldImg"/>
          </p:nvPr>
        </p:nvSpPr>
        <p:spPr>
          <a:xfrm>
            <a:off x="742950" y="717550"/>
            <a:ext cx="5557838" cy="3125788"/>
          </a:xfrm>
        </p:spPr>
      </p:sp>
      <p:sp>
        <p:nvSpPr>
          <p:cNvPr id="7" name="备注占位符 6"/>
          <p:cNvSpPr>
            <a:spLocks noGrp="1"/>
          </p:cNvSpPr>
          <p:nvPr>
            <p:ph type="body" idx="1"/>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a:t>在网络发展初期，为了满足不同的业务需求，存在着不同的网络形态，例如</a:t>
            </a:r>
            <a:r>
              <a:rPr lang="en-US" altLang="zh-CN"/>
              <a:t>X.25</a:t>
            </a:r>
            <a:r>
              <a:rPr lang="zh-CN" altLang="en-US"/>
              <a:t>网络、</a:t>
            </a:r>
            <a:r>
              <a:rPr lang="en-US" altLang="zh-CN"/>
              <a:t>FR</a:t>
            </a:r>
            <a:r>
              <a:rPr lang="zh-CN" altLang="en-US"/>
              <a:t>网络、</a:t>
            </a:r>
            <a:r>
              <a:rPr lang="en-US" altLang="zh-CN"/>
              <a:t>ATM</a:t>
            </a:r>
            <a:r>
              <a:rPr lang="zh-CN" altLang="en-US"/>
              <a:t>网络和</a:t>
            </a:r>
            <a:r>
              <a:rPr lang="en-US" altLang="zh-CN"/>
              <a:t>IP</a:t>
            </a:r>
            <a:r>
              <a:rPr lang="zh-CN" altLang="en-US"/>
              <a:t>网络。这些网络之间不仅不能互联互通，而且还存在着竞争，其中最为主要的是</a:t>
            </a:r>
            <a:r>
              <a:rPr lang="en-US" altLang="zh-CN"/>
              <a:t>ATM</a:t>
            </a:r>
            <a:r>
              <a:rPr lang="zh-CN" altLang="en-US"/>
              <a:t>网络和</a:t>
            </a:r>
            <a:r>
              <a:rPr lang="en-US" altLang="zh-CN"/>
              <a:t>IP</a:t>
            </a:r>
            <a:r>
              <a:rPr lang="zh-CN" altLang="en-US"/>
              <a:t>网络之间的竞争。</a:t>
            </a:r>
            <a:r>
              <a:rPr lang="en-US" altLang="zh-CN"/>
              <a:t>ATM</a:t>
            </a:r>
            <a:r>
              <a:rPr lang="zh-CN" altLang="en-US"/>
              <a:t>是一种采用固定长度信元交换方式传输数据的技术，采用面向连接的方式建立路径，可以提供更好的</a:t>
            </a:r>
            <a:r>
              <a:rPr lang="en-US" altLang="zh-CN"/>
              <a:t>QoS</a:t>
            </a:r>
            <a:r>
              <a:rPr lang="zh-CN" altLang="en-US"/>
              <a:t>。</a:t>
            </a:r>
            <a:r>
              <a:rPr lang="en-US" altLang="zh-CN"/>
              <a:t>ATM</a:t>
            </a:r>
            <a:r>
              <a:rPr lang="zh-CN" altLang="en-US"/>
              <a:t>的设计哲学是“以网络为中心，提供可靠传输”。</a:t>
            </a:r>
            <a:r>
              <a:rPr lang="en-US" altLang="zh-CN"/>
              <a:t>ATM</a:t>
            </a:r>
            <a:r>
              <a:rPr lang="zh-CN" altLang="en-US"/>
              <a:t>的设计理念充分体现了电信网络对可靠性和可管理性的要求，因此在早期的电信网络中得到了广泛的部署。</a:t>
            </a:r>
            <a:r>
              <a:rPr lang="en-US" altLang="zh-CN"/>
              <a:t>IP</a:t>
            </a:r>
            <a:r>
              <a:rPr lang="zh-CN" altLang="en-US"/>
              <a:t>网络的设计理念正好相反，</a:t>
            </a:r>
            <a:r>
              <a:rPr lang="en-US" altLang="zh-CN"/>
              <a:t>IP</a:t>
            </a:r>
            <a:r>
              <a:rPr lang="zh-CN" altLang="en-US"/>
              <a:t>是一种无连接的通信机制，仅提供尽力而为的转发能力，报文长度也不固定，依靠传输层</a:t>
            </a:r>
            <a:r>
              <a:rPr lang="en-US" altLang="zh-CN"/>
              <a:t>TCP</a:t>
            </a:r>
            <a:r>
              <a:rPr lang="zh-CN" altLang="en-US"/>
              <a:t>来保证传输可靠性，网络层简单可用即可。</a:t>
            </a:r>
            <a:r>
              <a:rPr lang="en-US" altLang="zh-CN"/>
              <a:t>IP</a:t>
            </a:r>
            <a:r>
              <a:rPr lang="zh-CN" altLang="en-US"/>
              <a:t>网络的设计理念体现了计算机网络的“以端为中心，尽力而为”的思想，满足计算机网络的业务需求。这两者的竞争实际是电信网络和计算机网络之间的竞争。随着网络规模扩大、网络业务变多，</a:t>
            </a:r>
            <a:r>
              <a:rPr lang="en-US" altLang="zh-CN"/>
              <a:t>ATM</a:t>
            </a:r>
            <a:r>
              <a:rPr lang="zh-CN" altLang="en-US"/>
              <a:t>网络的复杂度和管理成本均高于</a:t>
            </a:r>
            <a:r>
              <a:rPr lang="en-US" altLang="zh-CN"/>
              <a:t>IP</a:t>
            </a:r>
            <a:r>
              <a:rPr lang="zh-CN" altLang="en-US"/>
              <a:t>网络。电信运营商在成本和收益的多重作用下，</a:t>
            </a:r>
            <a:r>
              <a:rPr lang="en-US" altLang="zh-CN"/>
              <a:t>ATM</a:t>
            </a:r>
            <a:r>
              <a:rPr lang="zh-CN" altLang="en-US"/>
              <a:t>网络逐渐被</a:t>
            </a:r>
            <a:r>
              <a:rPr lang="en-US" altLang="zh-CN"/>
              <a:t>IP</a:t>
            </a:r>
            <a:r>
              <a:rPr lang="zh-CN" altLang="en-US"/>
              <a:t>网络取代。</a:t>
            </a:r>
            <a:endParaRPr lang="zh-CN" altLang="en-US"/>
          </a:p>
          <a:p>
            <a:r>
              <a:rPr lang="zh-CN" altLang="en-US"/>
              <a:t>虽然</a:t>
            </a:r>
            <a:r>
              <a:rPr lang="en-US" altLang="zh-CN"/>
              <a:t>IP</a:t>
            </a:r>
            <a:r>
              <a:rPr lang="zh-CN" altLang="en-US"/>
              <a:t>比起</a:t>
            </a:r>
            <a:r>
              <a:rPr lang="en-US" altLang="zh-CN"/>
              <a:t>ATM</a:t>
            </a:r>
            <a:r>
              <a:rPr lang="zh-CN" altLang="en-US"/>
              <a:t>更适合计算机网络的发展，但是计算机网络也需要一定的</a:t>
            </a:r>
            <a:r>
              <a:rPr lang="en-US" altLang="zh-CN"/>
              <a:t>QoS</a:t>
            </a:r>
            <a:r>
              <a:rPr lang="zh-CN" altLang="en-US"/>
              <a:t>保障。为了弥补</a:t>
            </a:r>
            <a:r>
              <a:rPr lang="en-US" altLang="zh-CN"/>
              <a:t>IP</a:t>
            </a:r>
            <a:r>
              <a:rPr lang="zh-CN" altLang="en-US"/>
              <a:t>网络</a:t>
            </a:r>
            <a:r>
              <a:rPr lang="en-US" altLang="zh-CN"/>
              <a:t>QoS</a:t>
            </a:r>
            <a:r>
              <a:rPr lang="zh-CN" altLang="en-US"/>
              <a:t>的不足，业界提出过诸多</a:t>
            </a:r>
            <a:r>
              <a:rPr lang="en-US" altLang="zh-CN"/>
              <a:t>IP</a:t>
            </a:r>
            <a:r>
              <a:rPr lang="zh-CN" altLang="en-US"/>
              <a:t>与</a:t>
            </a:r>
            <a:r>
              <a:rPr lang="en-US" altLang="zh-CN"/>
              <a:t>ATM</a:t>
            </a:r>
            <a:r>
              <a:rPr lang="zh-CN" altLang="en-US"/>
              <a:t>网络融合的技术，例如</a:t>
            </a:r>
            <a:r>
              <a:rPr lang="en-US" altLang="zh-CN"/>
              <a:t>LANE(Local Area Network Emulation</a:t>
            </a:r>
            <a:r>
              <a:rPr lang="zh-CN" altLang="en-US"/>
              <a:t>，局域网仿真）、</a:t>
            </a:r>
            <a:r>
              <a:rPr lang="en-US" altLang="zh-CN"/>
              <a:t>IPoA(IP over ATM</a:t>
            </a:r>
            <a:r>
              <a:rPr lang="zh-CN" altLang="en-US"/>
              <a:t>）等。但是这都只能解决部分问题，直到</a:t>
            </a:r>
            <a:r>
              <a:rPr lang="en-US" altLang="zh-CN"/>
              <a:t>1996</a:t>
            </a:r>
            <a:r>
              <a:rPr lang="zh-CN" altLang="en-US"/>
              <a:t>年</a:t>
            </a:r>
            <a:r>
              <a:rPr lang="en-US" altLang="zh-CN"/>
              <a:t>MPLS</a:t>
            </a:r>
            <a:r>
              <a:rPr lang="zh-CN" altLang="en-US"/>
              <a:t>的出现更好解决此问题。</a:t>
            </a:r>
            <a:endParaRPr lang="zh-CN" altLang="en-US"/>
          </a:p>
          <a:p>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pPr marL="179705" marR="0" lvl="0" indent="-179705" algn="l" defTabSz="1219200" rtl="0" eaLnBrk="1" fontAlgn="ctr" latinLnBrk="0" hangingPunct="1">
              <a:lnSpc>
                <a:spcPct val="125000"/>
              </a:lnSpc>
              <a:spcBef>
                <a:spcPts val="0"/>
              </a:spcBef>
              <a:spcAft>
                <a:spcPts val="600"/>
              </a:spcAft>
              <a:buClrTx/>
              <a:buSzTx/>
              <a:buFont typeface="Huawei Sans" panose="020C0503030203020204" pitchFamily="34" charset="0"/>
              <a:buChar char="•"/>
              <a:defRPr/>
            </a:pPr>
            <a:r>
              <a:rPr lang="zh-CN" altLang="en-US" dirty="0">
                <a:solidFill>
                  <a:schemeClr val="bg1"/>
                </a:solidFill>
              </a:rPr>
              <a:t>本质上</a:t>
            </a:r>
            <a:r>
              <a:rPr lang="en-US" altLang="zh-CN" dirty="0">
                <a:solidFill>
                  <a:schemeClr val="bg1"/>
                </a:solidFill>
              </a:rPr>
              <a:t>MPLS</a:t>
            </a:r>
            <a:r>
              <a:rPr lang="zh-CN" altLang="en-US" dirty="0">
                <a:solidFill>
                  <a:schemeClr val="bg1"/>
                </a:solidFill>
              </a:rPr>
              <a:t>仅是指导数据转发的隧道技术，有完整的隧道创建、隧道管理和维护机制。以上机制都是从网络运营和管理角度驱动的需求，不是由应用驱动网络需求。</a:t>
            </a:r>
            <a:endParaRPr lang="zh-CN" altLang="en-US" dirty="0">
              <a:solidFill>
                <a:schemeClr val="bg1"/>
              </a:solidFill>
            </a:endParaRPr>
          </a:p>
          <a:p>
            <a:endParaRPr lang="zh-CN"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a:t>SR</a:t>
            </a:r>
            <a:r>
              <a:rPr lang="zh-CN" altLang="en-US"/>
              <a:t>解决了当前</a:t>
            </a:r>
            <a:r>
              <a:rPr lang="en-US" altLang="zh-CN"/>
              <a:t>IP/MPLS</a:t>
            </a:r>
            <a:r>
              <a:rPr lang="zh-CN" altLang="en-US"/>
              <a:t>网络的诸多问题，有两种解决方案，基于</a:t>
            </a:r>
            <a:r>
              <a:rPr lang="en-US" altLang="zh-CN"/>
              <a:t>MPLS</a:t>
            </a:r>
            <a:r>
              <a:rPr lang="zh-CN" altLang="en-US"/>
              <a:t>转发的</a:t>
            </a:r>
            <a:r>
              <a:rPr lang="en-US" altLang="zh-CN"/>
              <a:t>SR-MPLS</a:t>
            </a:r>
            <a:r>
              <a:rPr lang="zh-CN" altLang="en-US"/>
              <a:t>和基于</a:t>
            </a:r>
            <a:r>
              <a:rPr lang="en-US" altLang="zh-CN"/>
              <a:t>IPv6</a:t>
            </a:r>
            <a:r>
              <a:rPr lang="zh-CN" altLang="en-US"/>
              <a:t>转发的</a:t>
            </a:r>
            <a:r>
              <a:rPr lang="en-US" altLang="zh-CN"/>
              <a:t>SRv6</a:t>
            </a:r>
            <a:r>
              <a:rPr lang="zh-CN" altLang="en-US"/>
              <a:t>。</a:t>
            </a:r>
            <a:endParaRPr lang="en-US" altLang="zh-CN" dirty="0"/>
          </a:p>
        </p:txBody>
      </p:sp>
      <p:sp>
        <p:nvSpPr>
          <p:cNvPr id="5" name="幻灯片图像占位符 4"/>
          <p:cNvSpPr>
            <a:spLocks noGrp="1" noRot="1" noChangeAspect="1"/>
          </p:cNvSpPr>
          <p:nvPr>
            <p:ph type="sldImg"/>
          </p:nvPr>
        </p:nvSpPr>
        <p:spPr>
          <a:xfrm>
            <a:off x="742950" y="717550"/>
            <a:ext cx="5557838" cy="3125788"/>
          </a:xfr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dirty="0"/>
              <a:t>MPLS</a:t>
            </a:r>
            <a:r>
              <a:rPr lang="zh-CN" altLang="en-US" dirty="0"/>
              <a:t>虽然在网络的</a:t>
            </a:r>
            <a:r>
              <a:rPr lang="en-US" altLang="zh-CN" dirty="0"/>
              <a:t>ALL IP</a:t>
            </a:r>
            <a:r>
              <a:rPr lang="zh-CN" altLang="en-US" dirty="0"/>
              <a:t>化发挥了重要作用，但是也带来了网络孤岛问题。一方面是增加了网络跨域互通的复杂性，例如</a:t>
            </a:r>
            <a:r>
              <a:rPr lang="en-US" altLang="zh-CN" dirty="0"/>
              <a:t>MPLS VPN</a:t>
            </a:r>
            <a:r>
              <a:rPr lang="zh-CN" altLang="en-US" dirty="0"/>
              <a:t>的</a:t>
            </a:r>
            <a:r>
              <a:rPr lang="en-US" altLang="zh-CN" dirty="0"/>
              <a:t>Option A/B/C</a:t>
            </a:r>
            <a:r>
              <a:rPr lang="zh-CN" altLang="en-US" dirty="0"/>
              <a:t>等方案业务部署复杂度较高，业务端到端部署难度大。另一方面随着互联网和云计算的发展，云数据中心越来越多，为了满足租户组网需求，业界提出了多种</a:t>
            </a:r>
            <a:r>
              <a:rPr lang="en-US" altLang="zh-CN" dirty="0"/>
              <a:t>Overlay</a:t>
            </a:r>
            <a:r>
              <a:rPr lang="zh-CN" altLang="en-US" dirty="0"/>
              <a:t>技术，最典型的就是</a:t>
            </a:r>
            <a:r>
              <a:rPr lang="en-US" altLang="zh-CN" dirty="0"/>
              <a:t>VXLAN</a:t>
            </a:r>
            <a:r>
              <a:rPr lang="zh-CN" altLang="en-US" dirty="0"/>
              <a:t>。历史上也有不少将</a:t>
            </a:r>
            <a:r>
              <a:rPr lang="en-US" altLang="zh-CN" dirty="0"/>
              <a:t>MPLS</a:t>
            </a:r>
            <a:r>
              <a:rPr lang="zh-CN" altLang="en-US" dirty="0"/>
              <a:t>引入数据中心来提供</a:t>
            </a:r>
            <a:r>
              <a:rPr lang="en-US" altLang="zh-CN" dirty="0"/>
              <a:t>VPN</a:t>
            </a:r>
            <a:r>
              <a:rPr lang="zh-CN" altLang="en-US" dirty="0"/>
              <a:t>服务的尝试，但由于网络边界多、复杂度高和扩展性不足等问题</a:t>
            </a:r>
            <a:r>
              <a:rPr lang="en-US" altLang="zh-CN" dirty="0"/>
              <a:t>MPLS</a:t>
            </a:r>
            <a:r>
              <a:rPr lang="zh-CN" altLang="en-US" dirty="0"/>
              <a:t>进入数据中心网络尝试失败。因此当前一个典型的终端用户访问数据中心某服务的流量可能需要经历</a:t>
            </a:r>
            <a:r>
              <a:rPr lang="en-US" altLang="zh-CN" dirty="0"/>
              <a:t>VLAN</a:t>
            </a:r>
            <a:r>
              <a:rPr lang="zh-CN" altLang="en-US" dirty="0"/>
              <a:t>网络、</a:t>
            </a:r>
            <a:r>
              <a:rPr lang="en-US" altLang="zh-CN" dirty="0"/>
              <a:t>IP</a:t>
            </a:r>
            <a:r>
              <a:rPr lang="zh-CN" altLang="en-US" dirty="0"/>
              <a:t>网络、</a:t>
            </a:r>
            <a:r>
              <a:rPr lang="en-US" altLang="zh-CN" dirty="0"/>
              <a:t>IP/MPLS</a:t>
            </a:r>
            <a:r>
              <a:rPr lang="zh-CN" altLang="en-US" dirty="0"/>
              <a:t>网络和</a:t>
            </a:r>
            <a:r>
              <a:rPr lang="en-US" altLang="zh-CN" dirty="0"/>
              <a:t>VXLAN</a:t>
            </a:r>
            <a:r>
              <a:rPr lang="zh-CN" altLang="en-US" dirty="0"/>
              <a:t>网络。</a:t>
            </a:r>
            <a:endParaRPr lang="en-US" altLang="zh-CN" dirty="0"/>
          </a:p>
          <a:p>
            <a:r>
              <a:rPr lang="en-US" altLang="zh-CN" dirty="0"/>
              <a:t>MPLS</a:t>
            </a:r>
            <a:r>
              <a:rPr lang="zh-CN" altLang="en-US" dirty="0"/>
              <a:t>与</a:t>
            </a:r>
            <a:r>
              <a:rPr lang="en-US" altLang="zh-CN" dirty="0"/>
              <a:t>Segment Routing</a:t>
            </a:r>
            <a:r>
              <a:rPr lang="zh-CN" altLang="en-US" dirty="0"/>
              <a:t>的结合初衷是为网络提供可编程能力，是</a:t>
            </a:r>
            <a:r>
              <a:rPr lang="en-US" altLang="zh-CN" dirty="0"/>
              <a:t>SDN</a:t>
            </a:r>
            <a:r>
              <a:rPr lang="zh-CN" altLang="en-US" dirty="0"/>
              <a:t>的落地的一种实践。但是受限于</a:t>
            </a:r>
            <a:r>
              <a:rPr lang="en-US" altLang="zh-CN" dirty="0"/>
              <a:t>MPLS</a:t>
            </a:r>
            <a:r>
              <a:rPr lang="zh-CN" altLang="en-US" dirty="0"/>
              <a:t>封装可扩展性不足，无法很好满足</a:t>
            </a:r>
            <a:r>
              <a:rPr lang="en-US" altLang="zh-CN" dirty="0"/>
              <a:t>SFC</a:t>
            </a:r>
            <a:r>
              <a:rPr lang="zh-CN" altLang="en-US" dirty="0"/>
              <a:t>和</a:t>
            </a:r>
            <a:r>
              <a:rPr lang="en-US" altLang="zh-CN" dirty="0"/>
              <a:t>IOAM</a:t>
            </a:r>
            <a:r>
              <a:rPr lang="zh-CN" altLang="en-US" dirty="0"/>
              <a:t>等一些需要携带元数据的业务的需求。此时</a:t>
            </a:r>
            <a:r>
              <a:rPr lang="en-US" altLang="zh-CN" dirty="0"/>
              <a:t>IPv4</a:t>
            </a:r>
            <a:r>
              <a:rPr lang="zh-CN" altLang="en-US" dirty="0"/>
              <a:t>地址地址空间耗尽，</a:t>
            </a:r>
            <a:r>
              <a:rPr lang="en-US" altLang="zh-CN" dirty="0"/>
              <a:t>IPv6</a:t>
            </a:r>
            <a:r>
              <a:rPr lang="zh-CN" altLang="en-US" dirty="0"/>
              <a:t>的到来结合</a:t>
            </a:r>
            <a:r>
              <a:rPr lang="en-US" altLang="zh-CN" dirty="0"/>
              <a:t>SR</a:t>
            </a:r>
            <a:r>
              <a:rPr lang="zh-CN" altLang="en-US" dirty="0"/>
              <a:t>带来新的机遇，</a:t>
            </a:r>
            <a:r>
              <a:rPr lang="en-US" altLang="zh-CN" dirty="0"/>
              <a:t>SRv6</a:t>
            </a:r>
            <a:r>
              <a:rPr lang="zh-CN" altLang="en-US" dirty="0"/>
              <a:t>。</a:t>
            </a:r>
            <a:endParaRPr lang="en-US" altLang="zh-CN" dirty="0"/>
          </a:p>
          <a:p>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r>
              <a:rPr lang="en-US" altLang="zh-CN" dirty="0"/>
              <a:t>SRv6</a:t>
            </a:r>
            <a:r>
              <a:rPr lang="zh-CN" altLang="en-US" dirty="0"/>
              <a:t>与</a:t>
            </a:r>
            <a:r>
              <a:rPr lang="en-US" altLang="zh-CN" dirty="0"/>
              <a:t>SR-MPLS</a:t>
            </a:r>
            <a:r>
              <a:rPr lang="zh-CN" altLang="en-US" dirty="0"/>
              <a:t>最大区别在于</a:t>
            </a:r>
            <a:r>
              <a:rPr lang="en-US" altLang="zh-CN" dirty="0"/>
              <a:t>IPv6 SRH</a:t>
            </a:r>
            <a:r>
              <a:rPr lang="zh-CN" altLang="en-US" dirty="0"/>
              <a:t>。</a:t>
            </a:r>
            <a:r>
              <a:rPr lang="en-US" altLang="zh-CN" dirty="0"/>
              <a:t>SRv6</a:t>
            </a:r>
            <a:r>
              <a:rPr lang="zh-CN" altLang="en-US" dirty="0"/>
              <a:t>使用</a:t>
            </a:r>
            <a:r>
              <a:rPr lang="en-US" altLang="zh-CN" dirty="0"/>
              <a:t>IPv6</a:t>
            </a:r>
            <a:r>
              <a:rPr lang="zh-CN" altLang="en-US" dirty="0"/>
              <a:t>扩展报头实现</a:t>
            </a:r>
            <a:r>
              <a:rPr lang="en-US" altLang="zh-CN" dirty="0"/>
              <a:t>Segment Routing</a:t>
            </a:r>
            <a:r>
              <a:rPr lang="zh-CN" altLang="en-US" dirty="0"/>
              <a:t>。</a:t>
            </a:r>
            <a:endParaRPr lang="en-US" altLang="zh-CN" dirty="0"/>
          </a:p>
          <a:p>
            <a:r>
              <a:rPr lang="zh-CN" altLang="en-US" dirty="0"/>
              <a:t>更多详情，请参考</a:t>
            </a:r>
            <a:r>
              <a:rPr lang="en-US" altLang="zh-CN" dirty="0"/>
              <a:t>https://datatracker.ietf.org/doc/rfc8754</a:t>
            </a:r>
            <a:r>
              <a:rPr lang="zh-CN" altLang="en-US" dirty="0"/>
              <a:t>。</a:t>
            </a:r>
            <a:endParaRPr lang="en-US" altLang="zh-CN" dirty="0"/>
          </a:p>
          <a:p>
            <a:endParaRPr lang="zh-CN" alt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pPr marL="179705" marR="0" lvl="0" indent="-179705" algn="l" defTabSz="1219200" rtl="0" eaLnBrk="1" fontAlgn="ctr" latinLnBrk="0" hangingPunct="1">
              <a:lnSpc>
                <a:spcPct val="125000"/>
              </a:lnSpc>
              <a:spcBef>
                <a:spcPts val="0"/>
              </a:spcBef>
              <a:spcAft>
                <a:spcPts val="600"/>
              </a:spcAft>
              <a:buClrTx/>
              <a:buSzTx/>
              <a:buFont typeface="Huawei Sans" panose="020C0503030203020204" pitchFamily="34" charset="0"/>
              <a:buChar char="•"/>
              <a:defRPr/>
            </a:pPr>
            <a:r>
              <a:rPr lang="en-US" altLang="zh-CN" sz="1100"/>
              <a:t>Locator</a:t>
            </a:r>
            <a:r>
              <a:rPr lang="zh-CN" altLang="en-US" sz="1100"/>
              <a:t>具有定位功能，所以一般要在</a:t>
            </a:r>
            <a:r>
              <a:rPr lang="en-US" altLang="zh-CN" sz="1100"/>
              <a:t>SR</a:t>
            </a:r>
            <a:r>
              <a:rPr lang="zh-CN" altLang="en-US" sz="1100"/>
              <a:t>域内唯一。在一些特殊场景，比如</a:t>
            </a:r>
            <a:r>
              <a:rPr lang="en-US" altLang="zh-CN" sz="1100"/>
              <a:t>Anycast</a:t>
            </a:r>
            <a:r>
              <a:rPr lang="zh-CN" altLang="en-US" sz="1100"/>
              <a:t>保护场景，多个设备可能配置相同的</a:t>
            </a:r>
            <a:r>
              <a:rPr lang="en-US" altLang="zh-CN" sz="1100"/>
              <a:t>Locator</a:t>
            </a:r>
            <a:r>
              <a:rPr lang="zh-CN" altLang="en-US" sz="1100"/>
              <a:t>。</a:t>
            </a:r>
            <a:endParaRPr lang="en-US" altLang="zh-CN" sz="1100"/>
          </a:p>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r>
              <a:rPr lang="zh-CN" altLang="en-US" sz="1100" dirty="0"/>
              <a:t>在一些场景下，一个</a:t>
            </a:r>
            <a:r>
              <a:rPr lang="en-US" altLang="zh-CN" sz="1100" dirty="0"/>
              <a:t>SRv6</a:t>
            </a:r>
            <a:r>
              <a:rPr lang="zh-CN" altLang="en-US" sz="1100" dirty="0"/>
              <a:t>的</a:t>
            </a:r>
            <a:r>
              <a:rPr lang="en-US" altLang="zh-CN" sz="1100" dirty="0"/>
              <a:t>Endpoint</a:t>
            </a:r>
            <a:r>
              <a:rPr lang="zh-CN" altLang="en-US" sz="1100" dirty="0"/>
              <a:t>可以要求额外的动作，此时需要</a:t>
            </a:r>
            <a:r>
              <a:rPr lang="en-US" altLang="zh-CN" sz="1100" dirty="0"/>
              <a:t>Arguments</a:t>
            </a:r>
            <a:r>
              <a:rPr lang="zh-CN" altLang="en-US" sz="1100" dirty="0"/>
              <a:t>相关字段一起被封装。例如在</a:t>
            </a:r>
            <a:r>
              <a:rPr lang="en-US" altLang="zh-CN" sz="1100" dirty="0"/>
              <a:t>EVPN VPLS</a:t>
            </a:r>
            <a:r>
              <a:rPr lang="zh-CN" altLang="en-US" sz="1100" dirty="0"/>
              <a:t>的</a:t>
            </a:r>
            <a:r>
              <a:rPr lang="en-US" altLang="zh-CN" sz="1100" dirty="0"/>
              <a:t>CE</a:t>
            </a:r>
            <a:r>
              <a:rPr lang="zh-CN" altLang="en-US" sz="1100" dirty="0"/>
              <a:t>多归场景转发</a:t>
            </a:r>
            <a:r>
              <a:rPr lang="en-US" altLang="zh-CN" sz="1100" dirty="0"/>
              <a:t>BUM</a:t>
            </a:r>
            <a:r>
              <a:rPr lang="zh-CN" altLang="en-US" sz="1100" dirty="0"/>
              <a:t>流量时，</a:t>
            </a:r>
            <a:r>
              <a:rPr lang="en-US" altLang="zh-CN" sz="1100" dirty="0"/>
              <a:t>Function</a:t>
            </a:r>
            <a:r>
              <a:rPr lang="zh-CN" altLang="en-US" sz="1100" dirty="0"/>
              <a:t>字段为</a:t>
            </a:r>
            <a:r>
              <a:rPr lang="en-US" altLang="zh-CN" sz="1100" dirty="0"/>
              <a:t>End.DT2M</a:t>
            </a:r>
            <a:r>
              <a:rPr lang="zh-CN" altLang="en-US" sz="1100" dirty="0"/>
              <a:t>，</a:t>
            </a:r>
            <a:r>
              <a:rPr lang="en-US" altLang="zh-CN" sz="1100" dirty="0"/>
              <a:t>Arguments</a:t>
            </a:r>
            <a:r>
              <a:rPr lang="zh-CN" altLang="en-US" sz="1100" dirty="0"/>
              <a:t>字段用于提供本地对于</a:t>
            </a:r>
            <a:r>
              <a:rPr lang="en-US" altLang="zh-CN" sz="1100" dirty="0"/>
              <a:t>ESI</a:t>
            </a:r>
            <a:r>
              <a:rPr lang="zh-CN" altLang="en-US" sz="1100" dirty="0"/>
              <a:t>的映射以实现水平分割。</a:t>
            </a:r>
            <a:endParaRPr lang="en-US" altLang="zh-CN" sz="1100" dirty="0"/>
          </a:p>
          <a:p>
            <a:r>
              <a:rPr lang="en-US" altLang="zh-CN" sz="1100" dirty="0"/>
              <a:t>Function</a:t>
            </a:r>
            <a:r>
              <a:rPr lang="zh-CN" altLang="en-US" sz="1100" dirty="0"/>
              <a:t>和</a:t>
            </a:r>
            <a:r>
              <a:rPr lang="en-US" altLang="zh-CN" sz="1100" dirty="0"/>
              <a:t>Arguments</a:t>
            </a:r>
            <a:r>
              <a:rPr lang="zh-CN" altLang="en-US" sz="1100" dirty="0"/>
              <a:t>都是可以由工程师定义的，这也反映出</a:t>
            </a:r>
            <a:r>
              <a:rPr lang="en-US" altLang="zh-CN" sz="1100" dirty="0"/>
              <a:t>SRv6 SID</a:t>
            </a:r>
            <a:r>
              <a:rPr lang="zh-CN" altLang="en-US" sz="1100" dirty="0"/>
              <a:t>的结构更有利于对网络进行编程。在多数场景下不配置</a:t>
            </a:r>
            <a:r>
              <a:rPr lang="en-US" altLang="zh-CN" sz="1100" dirty="0"/>
              <a:t>Arguments</a:t>
            </a:r>
            <a:r>
              <a:rPr lang="zh-CN" altLang="en-US" sz="1100" dirty="0"/>
              <a:t>。</a:t>
            </a:r>
            <a:endParaRPr lang="zh-CN" altLang="en-US" sz="1100" dirty="0"/>
          </a:p>
          <a:p>
            <a:endParaRPr lang="zh-CN" alt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r>
              <a:rPr lang="en-US" altLang="zh-CN" dirty="0"/>
              <a:t>SRv6</a:t>
            </a:r>
            <a:r>
              <a:rPr lang="zh-CN" altLang="en-US" dirty="0"/>
              <a:t>除了承载</a:t>
            </a:r>
            <a:r>
              <a:rPr lang="en-US" altLang="zh-CN" dirty="0"/>
              <a:t>L3 VPN</a:t>
            </a:r>
            <a:r>
              <a:rPr lang="zh-CN" altLang="en-US" dirty="0"/>
              <a:t>之外也能承载</a:t>
            </a:r>
            <a:r>
              <a:rPr lang="en-US" altLang="zh-CN" dirty="0"/>
              <a:t>L2 VPN</a:t>
            </a:r>
            <a:r>
              <a:rPr lang="zh-CN" altLang="en-US" dirty="0"/>
              <a:t>，</a:t>
            </a:r>
            <a:r>
              <a:rPr lang="en-US" altLang="zh-CN" dirty="0"/>
              <a:t>L2 VPN</a:t>
            </a:r>
            <a:r>
              <a:rPr lang="zh-CN" altLang="en-US" dirty="0"/>
              <a:t>的相关</a:t>
            </a:r>
            <a:r>
              <a:rPr lang="en-US" altLang="zh-CN" dirty="0"/>
              <a:t>SID</a:t>
            </a:r>
            <a:r>
              <a:rPr lang="zh-CN" altLang="en-US" dirty="0"/>
              <a:t>信息如下：</a:t>
            </a:r>
            <a:endParaRPr lang="en-US" altLang="zh-CN" dirty="0"/>
          </a:p>
          <a:p>
            <a:pPr lvl="1"/>
            <a:r>
              <a:rPr lang="en-US" altLang="zh-CN" dirty="0"/>
              <a:t>End.DX2</a:t>
            </a:r>
            <a:r>
              <a:rPr lang="zh-CN" altLang="en-US" dirty="0"/>
              <a:t>：表示二层交叉连接的</a:t>
            </a:r>
            <a:r>
              <a:rPr lang="en-US" altLang="zh-CN" dirty="0"/>
              <a:t>Endpoint SID</a:t>
            </a:r>
            <a:r>
              <a:rPr lang="zh-CN" altLang="en-US" dirty="0"/>
              <a:t>，用于标识一个端点。如果网络中存在</a:t>
            </a:r>
            <a:r>
              <a:rPr lang="en-US" altLang="zh-CN" dirty="0"/>
              <a:t>Bypass</a:t>
            </a:r>
            <a:r>
              <a:rPr lang="zh-CN" altLang="en-US" dirty="0"/>
              <a:t>隧道，则会自动生成</a:t>
            </a:r>
            <a:r>
              <a:rPr lang="en-US" altLang="zh-CN" dirty="0"/>
              <a:t>End.DX2L SID</a:t>
            </a:r>
            <a:r>
              <a:rPr lang="zh-CN" altLang="en-US" dirty="0"/>
              <a:t>。对应的转发动作是：解封装报文，去掉</a:t>
            </a:r>
            <a:r>
              <a:rPr lang="en-US" altLang="zh-CN" dirty="0"/>
              <a:t>IPv6</a:t>
            </a:r>
            <a:r>
              <a:rPr lang="zh-CN" altLang="en-US" dirty="0"/>
              <a:t>报文头及其扩展头，然后将剩余报文转发到</a:t>
            </a:r>
            <a:r>
              <a:rPr lang="en-US" altLang="zh-CN" dirty="0"/>
              <a:t>SID</a:t>
            </a:r>
            <a:r>
              <a:rPr lang="zh-CN" altLang="en-US" dirty="0"/>
              <a:t>对应的出接口。</a:t>
            </a:r>
            <a:r>
              <a:rPr lang="en-US" altLang="zh-CN" dirty="0"/>
              <a:t>End.DX2 SID</a:t>
            </a:r>
            <a:r>
              <a:rPr lang="zh-CN" altLang="en-US" dirty="0"/>
              <a:t>可以用于</a:t>
            </a:r>
            <a:r>
              <a:rPr lang="en-US" altLang="zh-CN" dirty="0"/>
              <a:t>EVPN VPWS</a:t>
            </a:r>
            <a:r>
              <a:rPr lang="zh-CN" altLang="en-US" dirty="0"/>
              <a:t>场景。</a:t>
            </a:r>
            <a:endParaRPr lang="en-US" altLang="zh-CN" dirty="0"/>
          </a:p>
          <a:p>
            <a:pPr lvl="1"/>
            <a:r>
              <a:rPr lang="en-US" altLang="zh-CN" dirty="0"/>
              <a:t>End.DT2U</a:t>
            </a:r>
            <a:r>
              <a:rPr lang="zh-CN" altLang="en-US" dirty="0"/>
              <a:t>：表示二层交叉连接且进行单播 </a:t>
            </a:r>
            <a:r>
              <a:rPr lang="en-US" altLang="zh-CN" dirty="0"/>
              <a:t>MAC </a:t>
            </a:r>
            <a:r>
              <a:rPr lang="zh-CN" altLang="en-US" dirty="0"/>
              <a:t>表查找功能的 </a:t>
            </a:r>
            <a:r>
              <a:rPr lang="en-US" altLang="zh-CN" dirty="0"/>
              <a:t>Endpoint SID</a:t>
            </a:r>
            <a:r>
              <a:rPr lang="zh-CN" altLang="en-US" dirty="0"/>
              <a:t>，用于标识一个端点。如果网络中存在 </a:t>
            </a:r>
            <a:r>
              <a:rPr lang="en-US" altLang="zh-CN" dirty="0"/>
              <a:t>Bypass </a:t>
            </a:r>
            <a:r>
              <a:rPr lang="zh-CN" altLang="en-US" dirty="0"/>
              <a:t>隧道，则会自动生成</a:t>
            </a:r>
            <a:r>
              <a:rPr lang="en-US" altLang="zh-CN" dirty="0"/>
              <a:t>End.DT2UL SID</a:t>
            </a:r>
            <a:r>
              <a:rPr lang="zh-CN" altLang="en-US" dirty="0"/>
              <a:t>。 </a:t>
            </a:r>
            <a:r>
              <a:rPr lang="en-US" altLang="zh-CN" dirty="0"/>
              <a:t>End.DT2UL SID</a:t>
            </a:r>
            <a:r>
              <a:rPr lang="zh-CN" altLang="en-US" dirty="0"/>
              <a:t>可以用于本地双归</a:t>
            </a:r>
            <a:r>
              <a:rPr lang="en-US" altLang="zh-CN" dirty="0"/>
              <a:t>PE</a:t>
            </a:r>
            <a:r>
              <a:rPr lang="zh-CN" altLang="en-US" dirty="0"/>
              <a:t>发送 </a:t>
            </a:r>
            <a:r>
              <a:rPr lang="en-US" altLang="zh-CN" dirty="0"/>
              <a:t>Bypass</a:t>
            </a:r>
            <a:r>
              <a:rPr lang="zh-CN" altLang="en-US" dirty="0"/>
              <a:t>单播流量。对应的转发动作是：去掉</a:t>
            </a:r>
            <a:r>
              <a:rPr lang="en-US" altLang="zh-CN" dirty="0"/>
              <a:t>IPv6</a:t>
            </a:r>
            <a:r>
              <a:rPr lang="zh-CN" altLang="en-US" dirty="0"/>
              <a:t>报文头及其扩展头，然后使用剩余报文的目的</a:t>
            </a:r>
            <a:r>
              <a:rPr lang="en-US" altLang="zh-CN" dirty="0"/>
              <a:t>MAC</a:t>
            </a:r>
            <a:r>
              <a:rPr lang="zh-CN" altLang="en-US" dirty="0"/>
              <a:t>地址查找</a:t>
            </a:r>
            <a:r>
              <a:rPr lang="en-US" altLang="zh-CN" dirty="0"/>
              <a:t>MAC</a:t>
            </a:r>
            <a:r>
              <a:rPr lang="zh-CN" altLang="en-US" dirty="0"/>
              <a:t>表，根据</a:t>
            </a:r>
            <a:r>
              <a:rPr lang="en-US" altLang="zh-CN" dirty="0"/>
              <a:t>MAC</a:t>
            </a:r>
            <a:r>
              <a:rPr lang="zh-CN" altLang="en-US" dirty="0"/>
              <a:t>表项将报文转发到对应的出接口。 </a:t>
            </a:r>
            <a:r>
              <a:rPr lang="en-US" altLang="zh-CN" dirty="0"/>
              <a:t>End.DT2U SID</a:t>
            </a:r>
            <a:r>
              <a:rPr lang="zh-CN" altLang="en-US" dirty="0"/>
              <a:t>可以用于</a:t>
            </a:r>
            <a:r>
              <a:rPr lang="en-US" altLang="zh-CN" dirty="0"/>
              <a:t>EVPN VPLS</a:t>
            </a:r>
            <a:r>
              <a:rPr lang="zh-CN" altLang="en-US" dirty="0"/>
              <a:t>单播场景。</a:t>
            </a:r>
            <a:endParaRPr lang="en-US" altLang="zh-CN" dirty="0"/>
          </a:p>
          <a:p>
            <a:pPr lvl="1"/>
            <a:r>
              <a:rPr lang="en-US" altLang="zh-CN" dirty="0"/>
              <a:t>End.DT2M</a:t>
            </a:r>
            <a:r>
              <a:rPr lang="zh-CN" altLang="en-US" dirty="0"/>
              <a:t>：表示二层交叉连接且进行广播泛洪的</a:t>
            </a:r>
            <a:r>
              <a:rPr lang="en-US" altLang="zh-CN" dirty="0"/>
              <a:t>Endpoint SID</a:t>
            </a:r>
            <a:r>
              <a:rPr lang="zh-CN" altLang="en-US" dirty="0"/>
              <a:t>，用于标识一个端点。对应的转发动作是：</a:t>
            </a:r>
            <a:r>
              <a:rPr lang="en-US" altLang="zh-CN" dirty="0"/>
              <a:t>End.DT2M SID</a:t>
            </a:r>
            <a:r>
              <a:rPr lang="zh-CN" altLang="en-US" dirty="0"/>
              <a:t>对应的转发动作是去掉</a:t>
            </a:r>
            <a:r>
              <a:rPr lang="en-US" altLang="zh-CN" dirty="0"/>
              <a:t>IPv6</a:t>
            </a:r>
            <a:r>
              <a:rPr lang="zh-CN" altLang="en-US" dirty="0"/>
              <a:t>报文头及其扩展头，然后将剩余报文在</a:t>
            </a:r>
            <a:r>
              <a:rPr lang="en-US" altLang="zh-CN" dirty="0"/>
              <a:t>BD</a:t>
            </a:r>
            <a:r>
              <a:rPr lang="zh-CN" altLang="en-US" dirty="0"/>
              <a:t>内广播泛洪。 </a:t>
            </a:r>
            <a:r>
              <a:rPr lang="en-US" altLang="zh-CN" dirty="0"/>
              <a:t>End.DT2M SID</a:t>
            </a:r>
            <a:r>
              <a:rPr lang="zh-CN" altLang="en-US" dirty="0"/>
              <a:t>可以用于</a:t>
            </a:r>
            <a:r>
              <a:rPr lang="en-US" altLang="zh-CN" dirty="0"/>
              <a:t>EVPN VPLS BUM</a:t>
            </a:r>
            <a:r>
              <a:rPr lang="zh-CN" altLang="en-US" dirty="0"/>
              <a:t>流量转发场景。</a:t>
            </a:r>
            <a:endParaRPr lang="en-US" altLang="zh-CN" dirty="0"/>
          </a:p>
          <a:p>
            <a:pPr lvl="0"/>
            <a:r>
              <a:rPr lang="zh-CN" altLang="en-US" dirty="0"/>
              <a:t>还有一种</a:t>
            </a:r>
            <a:r>
              <a:rPr lang="en-US" altLang="zh-CN" dirty="0"/>
              <a:t>SRv6 SID</a:t>
            </a:r>
            <a:r>
              <a:rPr lang="zh-CN" altLang="en-US" dirty="0"/>
              <a:t>，主要作用时用于</a:t>
            </a:r>
            <a:r>
              <a:rPr lang="en-US" altLang="zh-CN" dirty="0"/>
              <a:t>SRv6</a:t>
            </a:r>
            <a:r>
              <a:rPr lang="zh-CN" altLang="en-US" dirty="0"/>
              <a:t>运维所用：</a:t>
            </a:r>
            <a:endParaRPr lang="en-US" altLang="zh-CN" dirty="0"/>
          </a:p>
          <a:p>
            <a:pPr lvl="1"/>
            <a:r>
              <a:rPr lang="en-US" altLang="zh-CN" dirty="0" err="1"/>
              <a:t>End.OP</a:t>
            </a:r>
            <a:r>
              <a:rPr lang="zh-CN" altLang="en-US" dirty="0"/>
              <a:t>：</a:t>
            </a:r>
            <a:r>
              <a:rPr lang="en-US" altLang="zh-CN" dirty="0" err="1"/>
              <a:t>End.OP</a:t>
            </a:r>
            <a:r>
              <a:rPr lang="en-US" altLang="zh-CN" dirty="0"/>
              <a:t> SID</a:t>
            </a:r>
            <a:r>
              <a:rPr lang="zh-CN" altLang="en-US" dirty="0"/>
              <a:t>（ </a:t>
            </a:r>
            <a:r>
              <a:rPr lang="en-US" altLang="zh-CN" dirty="0"/>
              <a:t>OAM Endpoint with Punt</a:t>
            </a:r>
            <a:r>
              <a:rPr lang="zh-CN" altLang="en-US" dirty="0"/>
              <a:t>）是一个 </a:t>
            </a:r>
            <a:r>
              <a:rPr lang="en-US" altLang="zh-CN" dirty="0"/>
              <a:t>OAM </a:t>
            </a:r>
            <a:r>
              <a:rPr lang="zh-CN" altLang="en-US" dirty="0"/>
              <a:t>类型的</a:t>
            </a:r>
            <a:r>
              <a:rPr lang="en-US" altLang="zh-CN" dirty="0"/>
              <a:t>SID</a:t>
            </a:r>
            <a:r>
              <a:rPr lang="zh-CN" altLang="en-US" dirty="0"/>
              <a:t>。对应的转发动作是：对 </a:t>
            </a:r>
            <a:r>
              <a:rPr lang="en-US" altLang="zh-CN" dirty="0"/>
              <a:t>OAM </a:t>
            </a:r>
            <a:r>
              <a:rPr lang="zh-CN" altLang="en-US" dirty="0"/>
              <a:t>报文实现上送操作。</a:t>
            </a:r>
            <a:r>
              <a:rPr lang="en-US" altLang="zh-CN" dirty="0"/>
              <a:t>End.OP SID</a:t>
            </a:r>
            <a:r>
              <a:rPr lang="zh-CN" altLang="en-US" dirty="0"/>
              <a:t>主要用于 </a:t>
            </a:r>
            <a:r>
              <a:rPr lang="en-US" altLang="zh-CN" dirty="0"/>
              <a:t>Ping/</a:t>
            </a:r>
            <a:r>
              <a:rPr lang="en-US" altLang="zh-CN" dirty="0" err="1"/>
              <a:t>Tracert</a:t>
            </a:r>
            <a:r>
              <a:rPr lang="en-US" altLang="zh-CN" dirty="0"/>
              <a:t> </a:t>
            </a:r>
            <a:r>
              <a:rPr lang="zh-CN" altLang="en-US" dirty="0"/>
              <a:t>场景。</a:t>
            </a:r>
            <a:endParaRPr lang="en-US" altLang="zh-CN"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r>
              <a:rPr lang="en-US" altLang="zh-CN" dirty="0"/>
              <a:t>Flavors</a:t>
            </a:r>
            <a:r>
              <a:rPr lang="zh-CN" altLang="en-US" dirty="0"/>
              <a:t>附加行为可以组合定义，例如</a:t>
            </a:r>
            <a:r>
              <a:rPr lang="en-US" altLang="zh-CN" dirty="0"/>
              <a:t>End SID</a:t>
            </a:r>
            <a:r>
              <a:rPr lang="zh-CN" altLang="en-US" dirty="0"/>
              <a:t>带上</a:t>
            </a:r>
            <a:r>
              <a:rPr lang="en-US" altLang="zh-CN" dirty="0"/>
              <a:t>PSP</a:t>
            </a:r>
            <a:r>
              <a:rPr lang="zh-CN" altLang="en-US" dirty="0"/>
              <a:t>和</a:t>
            </a:r>
            <a:r>
              <a:rPr lang="en-US" altLang="zh-CN" dirty="0"/>
              <a:t>USP</a:t>
            </a:r>
            <a:r>
              <a:rPr lang="zh-CN" altLang="en-US" dirty="0"/>
              <a:t>，那么在倒数第二个节点执行</a:t>
            </a:r>
            <a:r>
              <a:rPr lang="en-US" altLang="zh-CN" dirty="0"/>
              <a:t>PSP</a:t>
            </a:r>
            <a:r>
              <a:rPr lang="zh-CN" altLang="en-US" dirty="0"/>
              <a:t>动作，在倒数第一个节点执行</a:t>
            </a:r>
            <a:r>
              <a:rPr lang="en-US" altLang="zh-CN" dirty="0"/>
              <a:t>USD</a:t>
            </a:r>
            <a:r>
              <a:rPr lang="zh-CN" altLang="en-US" dirty="0"/>
              <a:t>动作。</a:t>
            </a:r>
            <a:endParaRPr lang="zh-CN" alt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b="1" dirty="0">
                <a:sym typeface="Huawei Sans" panose="020C0503030203020204" pitchFamily="34" charset="0"/>
              </a:rPr>
              <a:t>static</a:t>
            </a:r>
            <a:r>
              <a:rPr lang="en-US" altLang="zh-CN" dirty="0">
                <a:sym typeface="Huawei Sans" panose="020C0503030203020204" pitchFamily="34" charset="0"/>
              </a:rPr>
              <a:t> static-length </a:t>
            </a:r>
            <a:r>
              <a:rPr lang="zh-CN" altLang="en-US" dirty="0">
                <a:sym typeface="Huawei Sans" panose="020C0503030203020204" pitchFamily="34" charset="0"/>
              </a:rPr>
              <a:t>指定静态段长度。本参数指定</a:t>
            </a:r>
            <a:r>
              <a:rPr lang="en-US" altLang="zh-CN" dirty="0">
                <a:sym typeface="Huawei Sans" panose="020C0503030203020204" pitchFamily="34" charset="0"/>
              </a:rPr>
              <a:t>Function</a:t>
            </a:r>
            <a:r>
              <a:rPr lang="zh-CN" altLang="en-US" dirty="0">
                <a:sym typeface="Huawei Sans" panose="020C0503030203020204" pitchFamily="34" charset="0"/>
              </a:rPr>
              <a:t>里的静态段长度，静态段长度决定能够在该</a:t>
            </a:r>
            <a:r>
              <a:rPr lang="en-US" altLang="zh-CN" dirty="0">
                <a:sym typeface="Huawei Sans" panose="020C0503030203020204" pitchFamily="34" charset="0"/>
              </a:rPr>
              <a:t>Locator</a:t>
            </a:r>
            <a:r>
              <a:rPr lang="zh-CN" altLang="en-US" dirty="0">
                <a:sym typeface="Huawei Sans" panose="020C0503030203020204" pitchFamily="34" charset="0"/>
              </a:rPr>
              <a:t>下配置多少静态</a:t>
            </a:r>
            <a:r>
              <a:rPr lang="en-US" altLang="zh-CN" dirty="0">
                <a:sym typeface="Huawei Sans" panose="020C0503030203020204" pitchFamily="34" charset="0"/>
              </a:rPr>
              <a:t>Opcode</a:t>
            </a:r>
            <a:r>
              <a:rPr lang="zh-CN" altLang="en-US" dirty="0">
                <a:sym typeface="Huawei Sans" panose="020C0503030203020204" pitchFamily="34" charset="0"/>
              </a:rPr>
              <a:t>。</a:t>
            </a:r>
            <a:endParaRPr lang="en-US" altLang="zh-CN" dirty="0">
              <a:sym typeface="Huawei Sans" panose="020C0503030203020204" pitchFamily="34" charset="0"/>
            </a:endParaRPr>
          </a:p>
          <a:p>
            <a:r>
              <a:rPr lang="en-US" altLang="zh-CN" b="1" dirty="0" err="1">
                <a:sym typeface="Huawei Sans" panose="020C0503030203020204" pitchFamily="34" charset="0"/>
              </a:rPr>
              <a:t>args</a:t>
            </a:r>
            <a:r>
              <a:rPr lang="en-US" altLang="zh-CN" dirty="0">
                <a:sym typeface="Huawei Sans" panose="020C0503030203020204" pitchFamily="34" charset="0"/>
              </a:rPr>
              <a:t> </a:t>
            </a:r>
            <a:r>
              <a:rPr lang="en-US" altLang="zh-CN" dirty="0" err="1">
                <a:sym typeface="Huawei Sans" panose="020C0503030203020204" pitchFamily="34" charset="0"/>
              </a:rPr>
              <a:t>args</a:t>
            </a:r>
            <a:r>
              <a:rPr lang="en-US" altLang="zh-CN" dirty="0">
                <a:sym typeface="Huawei Sans" panose="020C0503030203020204" pitchFamily="34" charset="0"/>
              </a:rPr>
              <a:t>-length </a:t>
            </a:r>
            <a:r>
              <a:rPr lang="zh-CN" altLang="en-US" dirty="0">
                <a:sym typeface="Huawei Sans" panose="020C0503030203020204" pitchFamily="34" charset="0"/>
              </a:rPr>
              <a:t>指定参数段长度。参数段在</a:t>
            </a:r>
            <a:r>
              <a:rPr lang="en-US" altLang="zh-CN" dirty="0">
                <a:sym typeface="Huawei Sans" panose="020C0503030203020204" pitchFamily="34" charset="0"/>
              </a:rPr>
              <a:t>SID</a:t>
            </a:r>
            <a:r>
              <a:rPr lang="zh-CN" altLang="en-US" dirty="0">
                <a:sym typeface="Huawei Sans" panose="020C0503030203020204" pitchFamily="34" charset="0"/>
              </a:rPr>
              <a:t>的最末端，如果配置了</a:t>
            </a:r>
            <a:r>
              <a:rPr lang="en-US" altLang="zh-CN" dirty="0" err="1">
                <a:sym typeface="Huawei Sans" panose="020C0503030203020204" pitchFamily="34" charset="0"/>
              </a:rPr>
              <a:t>args</a:t>
            </a:r>
            <a:r>
              <a:rPr lang="en-US" altLang="zh-CN" dirty="0">
                <a:sym typeface="Huawei Sans" panose="020C0503030203020204" pitchFamily="34" charset="0"/>
              </a:rPr>
              <a:t> </a:t>
            </a:r>
            <a:r>
              <a:rPr lang="en-US" altLang="zh-CN" dirty="0" err="1">
                <a:sym typeface="Huawei Sans" panose="020C0503030203020204" pitchFamily="34" charset="0"/>
              </a:rPr>
              <a:t>args</a:t>
            </a:r>
            <a:r>
              <a:rPr lang="en-US" altLang="zh-CN" dirty="0">
                <a:sym typeface="Huawei Sans" panose="020C0503030203020204" pitchFamily="34" charset="0"/>
              </a:rPr>
              <a:t>-length</a:t>
            </a:r>
            <a:r>
              <a:rPr lang="zh-CN" altLang="en-US" dirty="0">
                <a:sym typeface="Huawei Sans" panose="020C0503030203020204" pitchFamily="34" charset="0"/>
              </a:rPr>
              <a:t>，则参数段预留，配置静态或生成的动态</a:t>
            </a:r>
            <a:r>
              <a:rPr lang="en-US" altLang="zh-CN" dirty="0">
                <a:sym typeface="Huawei Sans" panose="020C0503030203020204" pitchFamily="34" charset="0"/>
              </a:rPr>
              <a:t>SID</a:t>
            </a:r>
            <a:r>
              <a:rPr lang="zh-CN" altLang="en-US" dirty="0">
                <a:sym typeface="Huawei Sans" panose="020C0503030203020204" pitchFamily="34" charset="0"/>
              </a:rPr>
              <a:t>不会占用该段。</a:t>
            </a:r>
            <a:endParaRPr lang="zh-CN" altLang="en-US" dirty="0">
              <a:sym typeface="Huawei Sans" panose="020C0503030203020204" pitchFamily="34" charset="0"/>
            </a:endParaRPr>
          </a:p>
          <a:p>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r>
              <a:rPr lang="en-US" altLang="zh-CN" dirty="0"/>
              <a:t>Reduced SRH</a:t>
            </a:r>
            <a:r>
              <a:rPr lang="zh-CN" altLang="en-US" dirty="0"/>
              <a:t>和</a:t>
            </a:r>
            <a:r>
              <a:rPr lang="en-US" altLang="zh-CN" dirty="0"/>
              <a:t>SRH</a:t>
            </a:r>
            <a:r>
              <a:rPr lang="zh-CN" altLang="en-US" dirty="0"/>
              <a:t>的区别在于</a:t>
            </a:r>
            <a:r>
              <a:rPr lang="en-US" altLang="zh-CN" dirty="0"/>
              <a:t>Reduced SRH</a:t>
            </a:r>
            <a:r>
              <a:rPr lang="zh-CN" altLang="en-US" dirty="0"/>
              <a:t>中</a:t>
            </a:r>
            <a:r>
              <a:rPr lang="en-US" altLang="zh-CN" dirty="0"/>
              <a:t>Segment List</a:t>
            </a:r>
            <a:r>
              <a:rPr lang="zh-CN" altLang="en-US" dirty="0"/>
              <a:t>不包含已存在</a:t>
            </a:r>
            <a:r>
              <a:rPr lang="en-US" altLang="zh-CN" dirty="0"/>
              <a:t>IPv6</a:t>
            </a:r>
            <a:r>
              <a:rPr lang="zh-CN" altLang="en-US" dirty="0"/>
              <a:t>目的地址中的第一个</a:t>
            </a:r>
            <a:r>
              <a:rPr lang="en-US" altLang="zh-CN" dirty="0"/>
              <a:t>Segment</a:t>
            </a:r>
            <a:r>
              <a:rPr lang="zh-CN" altLang="en-US" dirty="0"/>
              <a:t>。</a:t>
            </a:r>
            <a:endParaRPr lang="zh-CN" alt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r>
              <a:rPr lang="zh-CN" altLang="en-US" dirty="0"/>
              <a:t>使能</a:t>
            </a:r>
            <a:r>
              <a:rPr lang="en-US" altLang="zh-CN" dirty="0"/>
              <a:t>SRv6</a:t>
            </a:r>
            <a:r>
              <a:rPr lang="zh-CN" altLang="en-US" dirty="0"/>
              <a:t>的节点维护一个本地</a:t>
            </a:r>
            <a:r>
              <a:rPr lang="en-US" altLang="zh-CN" dirty="0"/>
              <a:t>SID</a:t>
            </a:r>
            <a:r>
              <a:rPr lang="zh-CN" altLang="en-US" dirty="0"/>
              <a:t>（</a:t>
            </a:r>
            <a:r>
              <a:rPr lang="en-US" altLang="zh-CN" dirty="0"/>
              <a:t>Local SID</a:t>
            </a:r>
            <a:r>
              <a:rPr lang="zh-CN" altLang="en-US" dirty="0"/>
              <a:t>）表，该表包含所有在本节点生成的</a:t>
            </a:r>
            <a:r>
              <a:rPr lang="en-US" altLang="zh-CN" dirty="0"/>
              <a:t>SRv6 SID</a:t>
            </a:r>
            <a:r>
              <a:rPr lang="zh-CN" altLang="en-US" dirty="0"/>
              <a:t>信息，根据该表可以生成一个</a:t>
            </a:r>
            <a:r>
              <a:rPr lang="en-US" altLang="zh-CN" dirty="0"/>
              <a:t>SRv6</a:t>
            </a:r>
            <a:r>
              <a:rPr lang="zh-CN" altLang="en-US" dirty="0"/>
              <a:t>转发表（</a:t>
            </a:r>
            <a:r>
              <a:rPr lang="en-US" altLang="zh-CN" dirty="0"/>
              <a:t>Forwarding Information Base</a:t>
            </a:r>
            <a:r>
              <a:rPr lang="zh-CN" altLang="en-US" dirty="0"/>
              <a:t>， </a:t>
            </a:r>
            <a:r>
              <a:rPr lang="en-US" altLang="zh-CN" dirty="0"/>
              <a:t>FIB</a:t>
            </a:r>
            <a:r>
              <a:rPr lang="zh-CN" altLang="en-US" dirty="0"/>
              <a:t>）。本地</a:t>
            </a:r>
            <a:r>
              <a:rPr lang="en-US" altLang="zh-CN" dirty="0"/>
              <a:t>SID</a:t>
            </a:r>
            <a:r>
              <a:rPr lang="zh-CN" altLang="en-US" dirty="0"/>
              <a:t>表有以下用途：</a:t>
            </a:r>
            <a:endParaRPr lang="en-US" altLang="zh-CN" dirty="0"/>
          </a:p>
          <a:p>
            <a:pPr lvl="1"/>
            <a:r>
              <a:rPr lang="zh-CN" altLang="en-US" dirty="0"/>
              <a:t>定义本地生成的</a:t>
            </a:r>
            <a:r>
              <a:rPr lang="en-US" altLang="zh-CN" dirty="0"/>
              <a:t>SID</a:t>
            </a:r>
            <a:r>
              <a:rPr lang="zh-CN" altLang="en-US" dirty="0"/>
              <a:t>，例如</a:t>
            </a:r>
            <a:r>
              <a:rPr lang="en-US" altLang="zh-CN" dirty="0" err="1"/>
              <a:t>End.X</a:t>
            </a:r>
            <a:r>
              <a:rPr lang="en-US" altLang="zh-CN" dirty="0"/>
              <a:t> SID</a:t>
            </a:r>
            <a:r>
              <a:rPr lang="zh-CN" altLang="en-US" dirty="0"/>
              <a:t>等。</a:t>
            </a:r>
            <a:endParaRPr lang="zh-CN" altLang="en-US" dirty="0"/>
          </a:p>
          <a:p>
            <a:pPr lvl="1"/>
            <a:r>
              <a:rPr lang="zh-CN" altLang="en-US" dirty="0"/>
              <a:t>指定绑定到这些</a:t>
            </a:r>
            <a:r>
              <a:rPr lang="en-US" altLang="zh-CN" dirty="0"/>
              <a:t>SID</a:t>
            </a:r>
            <a:r>
              <a:rPr lang="zh-CN" altLang="en-US" dirty="0"/>
              <a:t>的指令。</a:t>
            </a:r>
            <a:endParaRPr lang="zh-CN" altLang="en-US" dirty="0"/>
          </a:p>
          <a:p>
            <a:pPr lvl="1"/>
            <a:r>
              <a:rPr lang="zh-CN" altLang="en-US" dirty="0"/>
              <a:t>存储和这些指令相关的转发信息，例如出接口和下一跳等。</a:t>
            </a:r>
            <a:endParaRPr lang="en-US" altLang="zh-CN"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en-US" altLang="zh-CN" sz="1100"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r>
              <a:rPr lang="zh-CN" altLang="en-US" sz="1100" dirty="0"/>
              <a:t>在</a:t>
            </a:r>
            <a:r>
              <a:rPr lang="en-US" altLang="zh-CN" sz="1100" dirty="0"/>
              <a:t>MPLS</a:t>
            </a:r>
            <a:r>
              <a:rPr lang="zh-CN" altLang="en-US" sz="1100" dirty="0"/>
              <a:t>中，使用</a:t>
            </a:r>
            <a:r>
              <a:rPr lang="en-US" altLang="zh-CN" sz="1100" dirty="0"/>
              <a:t>Implicit-Null</a:t>
            </a:r>
            <a:r>
              <a:rPr lang="zh-CN" altLang="en-US" sz="1100" dirty="0"/>
              <a:t>和</a:t>
            </a:r>
            <a:r>
              <a:rPr lang="en-US" altLang="zh-CN" sz="1100" dirty="0"/>
              <a:t>Non-null</a:t>
            </a:r>
            <a:r>
              <a:rPr lang="zh-CN" altLang="en-US" sz="1100" dirty="0"/>
              <a:t>选项定义了不同的弹出选项。</a:t>
            </a:r>
            <a:r>
              <a:rPr lang="en-US" altLang="zh-CN" sz="1100" dirty="0"/>
              <a:t>PHP</a:t>
            </a:r>
            <a:r>
              <a:rPr lang="zh-CN" altLang="en-US" sz="1100" dirty="0"/>
              <a:t>在</a:t>
            </a:r>
            <a:r>
              <a:rPr lang="en-US" altLang="zh-CN" sz="1100" dirty="0"/>
              <a:t>MPLS</a:t>
            </a:r>
            <a:r>
              <a:rPr lang="zh-CN" altLang="en-US" sz="1100" dirty="0"/>
              <a:t>数据平面中是指</a:t>
            </a:r>
            <a:r>
              <a:rPr lang="en-US" altLang="zh-CN" sz="1100" dirty="0"/>
              <a:t>MPLS</a:t>
            </a:r>
            <a:r>
              <a:rPr lang="zh-CN" altLang="en-US" sz="1100" dirty="0"/>
              <a:t>标签栈最外层的标签在到达相邻的标签边界路由器（</a:t>
            </a:r>
            <a:r>
              <a:rPr lang="en-US" altLang="zh-CN" sz="1100" dirty="0"/>
              <a:t>LER</a:t>
            </a:r>
            <a:r>
              <a:rPr lang="zh-CN" altLang="en-US" sz="1100" dirty="0"/>
              <a:t>）之前被</a:t>
            </a:r>
            <a:r>
              <a:rPr lang="en-US" altLang="zh-CN" sz="1100" dirty="0"/>
              <a:t>LSR</a:t>
            </a:r>
            <a:r>
              <a:rPr lang="zh-CN" altLang="en-US" sz="1100" dirty="0"/>
              <a:t>移除的过程。如果</a:t>
            </a:r>
            <a:r>
              <a:rPr lang="en-US" altLang="zh-CN" sz="1100" dirty="0"/>
              <a:t>MPLS</a:t>
            </a:r>
            <a:r>
              <a:rPr lang="zh-CN" altLang="en-US" sz="1100" dirty="0"/>
              <a:t>网络中没有使能</a:t>
            </a:r>
            <a:r>
              <a:rPr lang="en-US" altLang="zh-CN" sz="1100" dirty="0"/>
              <a:t>PHP</a:t>
            </a:r>
            <a:r>
              <a:rPr lang="zh-CN" altLang="en-US" sz="1100" dirty="0"/>
              <a:t>，则由</a:t>
            </a:r>
            <a:r>
              <a:rPr lang="en-US" altLang="zh-CN" sz="1100" dirty="0"/>
              <a:t>LER</a:t>
            </a:r>
            <a:r>
              <a:rPr lang="zh-CN" altLang="en-US" sz="1100" dirty="0"/>
              <a:t>负责去掉标签。</a:t>
            </a:r>
            <a:endParaRPr lang="en-US" altLang="zh-CN" sz="1100" dirty="0"/>
          </a:p>
          <a:p>
            <a:r>
              <a:rPr lang="zh-CN" altLang="en-US" sz="1100" dirty="0"/>
              <a:t>这些行为在</a:t>
            </a:r>
            <a:r>
              <a:rPr lang="en-US" altLang="zh-CN" sz="1100" dirty="0"/>
              <a:t>SRv6</a:t>
            </a:r>
            <a:r>
              <a:rPr lang="zh-CN" altLang="en-US" sz="1100" dirty="0"/>
              <a:t>中被定义成两个功能：</a:t>
            </a:r>
            <a:r>
              <a:rPr lang="en-US" altLang="zh-CN" sz="1100" dirty="0"/>
              <a:t>PSP</a:t>
            </a:r>
            <a:r>
              <a:rPr lang="zh-CN" altLang="en-US" sz="1100" dirty="0"/>
              <a:t>和</a:t>
            </a:r>
            <a:r>
              <a:rPr lang="en-US" altLang="zh-CN" sz="1100" dirty="0"/>
              <a:t>USP</a:t>
            </a:r>
            <a:r>
              <a:rPr lang="zh-CN" altLang="en-US" sz="1100" dirty="0"/>
              <a:t>。</a:t>
            </a:r>
            <a:endParaRPr lang="en-US" altLang="zh-CN" sz="1100"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dirty="0"/>
              <a:t>https://datatracker.ietf.org/doc/draft-ietf-spring-segment-routing-policy/</a:t>
            </a:r>
            <a:endParaRPr lang="en-US" altLang="zh-CN" dirty="0"/>
          </a:p>
        </p:txBody>
      </p:sp>
      <p:sp>
        <p:nvSpPr>
          <p:cNvPr id="5" name="幻灯片图像占位符 4"/>
          <p:cNvSpPr>
            <a:spLocks noGrp="1" noRot="1" noChangeAspect="1"/>
          </p:cNvSpPr>
          <p:nvPr>
            <p:ph type="sldImg"/>
          </p:nvPr>
        </p:nvSpPr>
        <p:spPr>
          <a:xfrm>
            <a:off x="742950" y="717550"/>
            <a:ext cx="5557838" cy="3125788"/>
          </a:xfr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r>
              <a:rPr lang="en-US" altLang="zh-CN" dirty="0"/>
              <a:t>SRv6 Policy</a:t>
            </a:r>
            <a:r>
              <a:rPr lang="zh-CN" altLang="en-US" dirty="0"/>
              <a:t>中的</a:t>
            </a:r>
            <a:r>
              <a:rPr lang="en-US" altLang="zh-CN" dirty="0"/>
              <a:t>endpoint</a:t>
            </a:r>
            <a:r>
              <a:rPr lang="zh-CN" altLang="en-US" dirty="0"/>
              <a:t>与</a:t>
            </a:r>
            <a:r>
              <a:rPr lang="en-US" altLang="zh-CN" dirty="0"/>
              <a:t>SRv6</a:t>
            </a:r>
            <a:r>
              <a:rPr lang="zh-CN" altLang="en-US" dirty="0"/>
              <a:t>中的</a:t>
            </a:r>
            <a:r>
              <a:rPr lang="en-US" altLang="zh-CN" dirty="0"/>
              <a:t>endpoint node</a:t>
            </a:r>
            <a:r>
              <a:rPr lang="zh-CN" altLang="en-US" dirty="0"/>
              <a:t>是不同的概念。</a:t>
            </a:r>
            <a:endParaRPr lang="en-US" altLang="zh-CN" dirty="0"/>
          </a:p>
          <a:p>
            <a:pPr lvl="1"/>
            <a:r>
              <a:rPr lang="en-US" altLang="zh-CN" dirty="0"/>
              <a:t>SRv6</a:t>
            </a:r>
            <a:r>
              <a:rPr lang="zh-CN" altLang="en-US" dirty="0"/>
              <a:t>中的</a:t>
            </a:r>
            <a:r>
              <a:rPr lang="en-US" altLang="zh-CN" dirty="0"/>
              <a:t>endpoint node</a:t>
            </a:r>
            <a:r>
              <a:rPr lang="zh-CN" altLang="en-US" dirty="0"/>
              <a:t>指的是设备类型，该类型设备会处理</a:t>
            </a:r>
            <a:r>
              <a:rPr lang="en-US" altLang="zh-CN" dirty="0"/>
              <a:t>SRH</a:t>
            </a:r>
            <a:r>
              <a:rPr lang="zh-CN" altLang="en-US" dirty="0"/>
              <a:t>头部。</a:t>
            </a:r>
            <a:endParaRPr lang="en-US" altLang="zh-CN" dirty="0"/>
          </a:p>
          <a:p>
            <a:pPr lvl="1"/>
            <a:r>
              <a:rPr lang="en-US" altLang="zh-CN" dirty="0"/>
              <a:t>SRv6</a:t>
            </a:r>
            <a:r>
              <a:rPr lang="en-US" altLang="zh-CN" baseline="0" dirty="0"/>
              <a:t> Policy</a:t>
            </a:r>
            <a:r>
              <a:rPr lang="zh-CN" altLang="en-US" baseline="0" dirty="0"/>
              <a:t>中的</a:t>
            </a:r>
            <a:r>
              <a:rPr lang="en-US" altLang="zh-CN" baseline="0" dirty="0"/>
              <a:t>endpoint</a:t>
            </a:r>
            <a:r>
              <a:rPr lang="zh-CN" altLang="en-US" baseline="0" dirty="0"/>
              <a:t>指的是隧道的尾端节点，</a:t>
            </a:r>
            <a:r>
              <a:rPr lang="en-US" altLang="zh-CN" baseline="0" dirty="0"/>
              <a:t>endpoint</a:t>
            </a:r>
            <a:r>
              <a:rPr lang="zh-CN" altLang="en-US" baseline="0" dirty="0"/>
              <a:t>一般使用</a:t>
            </a:r>
            <a:r>
              <a:rPr lang="en-US" altLang="zh-CN" baseline="0" dirty="0"/>
              <a:t>IPv6</a:t>
            </a:r>
            <a:r>
              <a:rPr lang="zh-CN" altLang="en-US" baseline="0" dirty="0"/>
              <a:t>地址表示。</a:t>
            </a:r>
            <a:endParaRPr lang="en-US" altLang="zh-CN" baseline="0"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en-US" altLang="zh-CN" dirty="0"/>
              <a:t>SR policy P1 </a:t>
            </a:r>
            <a:r>
              <a:rPr lang="zh-CN" altLang="en-US" dirty="0"/>
              <a:t>由三元组信息 </a:t>
            </a:r>
            <a:r>
              <a:rPr lang="en-US" altLang="zh-CN" dirty="0"/>
              <a:t>&lt;headend, color, endpoint&gt;</a:t>
            </a:r>
            <a:r>
              <a:rPr lang="zh-CN" altLang="en-US" dirty="0"/>
              <a:t>唯一确定；</a:t>
            </a:r>
            <a:endParaRPr lang="zh-CN" altLang="en-US" dirty="0"/>
          </a:p>
          <a:p>
            <a:pPr lvl="0"/>
            <a:r>
              <a:rPr lang="zh-CN" altLang="en-US" dirty="0"/>
              <a:t>一个</a:t>
            </a:r>
            <a:r>
              <a:rPr lang="en-US" altLang="zh-CN" dirty="0"/>
              <a:t>SR policy</a:t>
            </a:r>
            <a:r>
              <a:rPr lang="zh-CN" altLang="en-US" dirty="0"/>
              <a:t>可以有多个候选路径，如</a:t>
            </a:r>
            <a:r>
              <a:rPr lang="en-US" altLang="zh-CN" dirty="0"/>
              <a:t>CP1</a:t>
            </a:r>
            <a:r>
              <a:rPr lang="zh-CN" altLang="en-US" dirty="0"/>
              <a:t>，</a:t>
            </a:r>
            <a:r>
              <a:rPr lang="en-US" altLang="zh-CN" dirty="0"/>
              <a:t>CP2</a:t>
            </a:r>
            <a:r>
              <a:rPr lang="zh-CN" altLang="en-US" dirty="0"/>
              <a:t>，每个路径由三元组 </a:t>
            </a:r>
            <a:r>
              <a:rPr lang="en-US" altLang="zh-CN" dirty="0"/>
              <a:t>&lt;protocol, origin, discriminator&gt;</a:t>
            </a:r>
            <a:r>
              <a:rPr lang="zh-CN" altLang="en-US" dirty="0"/>
              <a:t>唯一确定。</a:t>
            </a:r>
            <a:endParaRPr lang="en-US" altLang="zh-CN" dirty="0"/>
          </a:p>
          <a:p>
            <a:pPr lvl="0"/>
            <a:r>
              <a:rPr lang="en-US" altLang="zh-CN" dirty="0"/>
              <a:t>CP1</a:t>
            </a:r>
            <a:r>
              <a:rPr lang="zh-CN" altLang="en-US" dirty="0"/>
              <a:t>是激活路径 </a:t>
            </a:r>
            <a:r>
              <a:rPr lang="en-US" altLang="zh-CN" dirty="0"/>
              <a:t>(</a:t>
            </a:r>
            <a:r>
              <a:rPr lang="zh-CN" altLang="en-US" dirty="0"/>
              <a:t>原因是合法且优先级高</a:t>
            </a:r>
            <a:r>
              <a:rPr lang="en-US" altLang="zh-CN" dirty="0"/>
              <a:t>)</a:t>
            </a:r>
            <a:r>
              <a:rPr lang="zh-CN" altLang="en-US" dirty="0"/>
              <a:t>。</a:t>
            </a:r>
            <a:r>
              <a:rPr lang="en-US" altLang="zh-CN" dirty="0"/>
              <a:t>CP1</a:t>
            </a:r>
            <a:r>
              <a:rPr lang="zh-CN" altLang="en-US" dirty="0"/>
              <a:t>的两个</a:t>
            </a:r>
            <a:r>
              <a:rPr lang="en-US" altLang="zh-CN" dirty="0"/>
              <a:t>SID-list</a:t>
            </a:r>
            <a:r>
              <a:rPr lang="zh-CN" altLang="en-US" dirty="0"/>
              <a:t>会被下发到转发器，并且流量转发时会在两个隧道路径上基于权重负载分担，如</a:t>
            </a:r>
            <a:r>
              <a:rPr lang="en-US" altLang="zh-CN" dirty="0"/>
              <a:t>SID-List &lt;SID11...SID1i&gt;</a:t>
            </a:r>
            <a:r>
              <a:rPr lang="zh-CN" altLang="en-US" dirty="0"/>
              <a:t>按</a:t>
            </a:r>
            <a:r>
              <a:rPr lang="en-US" altLang="zh-CN" dirty="0"/>
              <a:t>W1/(W1+W2)</a:t>
            </a:r>
            <a:r>
              <a:rPr lang="zh-CN" altLang="en-US" dirty="0"/>
              <a:t>比例分担。</a:t>
            </a:r>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a:t>在</a:t>
            </a:r>
            <a:r>
              <a:rPr lang="en-US" altLang="zh-CN" dirty="0"/>
              <a:t>SRv6 Policy</a:t>
            </a:r>
            <a:r>
              <a:rPr lang="zh-CN" altLang="en-US" dirty="0"/>
              <a:t>的实现上有三种主流方式：</a:t>
            </a:r>
            <a:endParaRPr lang="en-US" altLang="zh-CN" dirty="0"/>
          </a:p>
          <a:p>
            <a:pPr lvl="1"/>
            <a:r>
              <a:rPr lang="en-US" altLang="zh-CN" dirty="0"/>
              <a:t>BGP</a:t>
            </a:r>
            <a:r>
              <a:rPr lang="zh-CN" altLang="en-US" dirty="0"/>
              <a:t>：</a:t>
            </a:r>
            <a:r>
              <a:rPr lang="en-US" altLang="zh-CN" dirty="0"/>
              <a:t>BGP-LS</a:t>
            </a:r>
            <a:r>
              <a:rPr lang="zh-CN" altLang="en-US" dirty="0"/>
              <a:t>用于收集拓扑，对于客户自研控制器，无需引入一个新的接口协议；</a:t>
            </a:r>
            <a:r>
              <a:rPr lang="en-US" altLang="zh-CN" dirty="0"/>
              <a:t>BGP IPv6 SR Policy</a:t>
            </a:r>
            <a:r>
              <a:rPr lang="zh-CN" altLang="en-US" dirty="0"/>
              <a:t>下发路径路由信息。</a:t>
            </a:r>
            <a:endParaRPr lang="en-US" altLang="zh-CN" dirty="0"/>
          </a:p>
          <a:p>
            <a:pPr lvl="1"/>
            <a:r>
              <a:rPr lang="en-US" altLang="zh-CN" dirty="0"/>
              <a:t>PCEP</a:t>
            </a:r>
            <a:r>
              <a:rPr lang="zh-CN" altLang="en-US" dirty="0"/>
              <a:t>：</a:t>
            </a:r>
            <a:r>
              <a:rPr lang="en-US" altLang="zh-CN" dirty="0"/>
              <a:t>PCEP</a:t>
            </a:r>
            <a:r>
              <a:rPr lang="zh-CN" altLang="en-US" dirty="0"/>
              <a:t>作为南向协议在</a:t>
            </a:r>
            <a:r>
              <a:rPr lang="en-US" altLang="zh-CN" dirty="0"/>
              <a:t>SR-MPLS TE</a:t>
            </a:r>
            <a:r>
              <a:rPr lang="zh-CN" altLang="en-US" dirty="0"/>
              <a:t>场景下较为成熟，但是由于各厂家隧道实现模型不统一，无法实现互通，且</a:t>
            </a:r>
            <a:r>
              <a:rPr lang="en-US" altLang="zh-CN" dirty="0"/>
              <a:t>PCEP</a:t>
            </a:r>
            <a:r>
              <a:rPr lang="zh-CN" altLang="en-US" dirty="0"/>
              <a:t>交互流程较于</a:t>
            </a:r>
            <a:r>
              <a:rPr lang="en-US" altLang="zh-CN" dirty="0"/>
              <a:t>BGP</a:t>
            </a:r>
            <a:r>
              <a:rPr lang="zh-CN" altLang="en-US" dirty="0"/>
              <a:t>更复杂，更为推荐使用</a:t>
            </a:r>
            <a:r>
              <a:rPr lang="en-US" altLang="zh-CN" dirty="0"/>
              <a:t>BGP</a:t>
            </a:r>
            <a:r>
              <a:rPr lang="zh-CN" altLang="en-US" dirty="0"/>
              <a:t>扩展协议。</a:t>
            </a:r>
            <a:endParaRPr lang="en-US" altLang="zh-CN" dirty="0"/>
          </a:p>
          <a:p>
            <a:pPr lvl="1"/>
            <a:r>
              <a:rPr lang="en-US" altLang="zh-CN" dirty="0"/>
              <a:t>NETCONF/YANG</a:t>
            </a:r>
            <a:r>
              <a:rPr lang="zh-CN" altLang="en-US" dirty="0"/>
              <a:t>：把隧道路径作为配置下发到转发器。本质上是配置下发，性能最差，不推荐。在整体解决方案中使用</a:t>
            </a:r>
            <a:r>
              <a:rPr lang="en-US" altLang="zh-CN" dirty="0"/>
              <a:t>NETCONF</a:t>
            </a:r>
            <a:r>
              <a:rPr lang="zh-CN" altLang="en-US" dirty="0"/>
              <a:t>下发其他配置，而不是隧道配置。</a:t>
            </a:r>
            <a:endParaRPr lang="en-US" altLang="zh-CN" dirty="0"/>
          </a:p>
          <a:p>
            <a:pPr lvl="0"/>
            <a:r>
              <a:rPr lang="zh-CN" altLang="en-US" dirty="0"/>
              <a:t>华为主要使用了</a:t>
            </a:r>
            <a:r>
              <a:rPr lang="en-US" altLang="zh-CN" dirty="0"/>
              <a:t>BGP</a:t>
            </a:r>
            <a:r>
              <a:rPr lang="zh-CN" altLang="en-US" dirty="0"/>
              <a:t>的方式部署</a:t>
            </a:r>
            <a:r>
              <a:rPr lang="en-US" altLang="zh-CN" dirty="0"/>
              <a:t>SRv6 Policy</a:t>
            </a:r>
            <a:r>
              <a:rPr lang="zh-CN" altLang="en-US" dirty="0"/>
              <a:t>。</a:t>
            </a:r>
            <a:endParaRPr lang="en-US" altLang="zh-CN" dirty="0"/>
          </a:p>
        </p:txBody>
      </p:sp>
      <p:sp>
        <p:nvSpPr>
          <p:cNvPr id="5" name="幻灯片图像占位符 4"/>
          <p:cNvSpPr>
            <a:spLocks noGrp="1" noRot="1" noChangeAspect="1"/>
          </p:cNvSpPr>
          <p:nvPr>
            <p:ph type="sldImg"/>
          </p:nvPr>
        </p:nvSpPr>
        <p:spPr>
          <a:xfrm>
            <a:off x="742950" y="717550"/>
            <a:ext cx="5557838" cy="3125788"/>
          </a:xfr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2950" y="717550"/>
            <a:ext cx="5557838" cy="3125788"/>
          </a:xfrm>
        </p:spPr>
      </p:sp>
      <p:sp>
        <p:nvSpPr>
          <p:cNvPr id="3" name="Notes Placeholder 2"/>
          <p:cNvSpPr>
            <a:spLocks noGrp="1"/>
          </p:cNvSpPr>
          <p:nvPr>
            <p:ph type="body" idx="1"/>
          </p:nvPr>
        </p:nvSpPr>
        <p:spPr/>
        <p:txBody>
          <a:bodyPr/>
          <a:lstStyle/>
          <a:p>
            <a:r>
              <a:rPr lang="en-US" altLang="zh-CN" dirty="0"/>
              <a:t>BGP-LS</a:t>
            </a:r>
            <a:r>
              <a:rPr lang="zh-CN" altLang="en-US" dirty="0"/>
              <a:t>连接：</a:t>
            </a:r>
            <a:endParaRPr lang="en-US" altLang="zh-CN" dirty="0"/>
          </a:p>
          <a:p>
            <a:pPr lvl="1"/>
            <a:r>
              <a:rPr lang="zh-CN" altLang="en-US" dirty="0"/>
              <a:t>收集隧道拓扑信息，用于计算</a:t>
            </a:r>
            <a:r>
              <a:rPr lang="en-US" altLang="zh-CN" dirty="0"/>
              <a:t>SR Policy</a:t>
            </a:r>
            <a:r>
              <a:rPr lang="zh-CN" altLang="en-US" dirty="0"/>
              <a:t>路径。</a:t>
            </a:r>
            <a:endParaRPr lang="en-US" altLang="zh-CN" dirty="0"/>
          </a:p>
          <a:p>
            <a:pPr lvl="1"/>
            <a:r>
              <a:rPr lang="en-US" altLang="zh-CN" dirty="0"/>
              <a:t>BGP-LS</a:t>
            </a:r>
            <a:r>
              <a:rPr lang="zh-CN" altLang="en-US" dirty="0"/>
              <a:t>协议扩展支持收集</a:t>
            </a:r>
            <a:r>
              <a:rPr lang="en-US" altLang="zh-CN" dirty="0"/>
              <a:t>SR Policy</a:t>
            </a:r>
            <a:r>
              <a:rPr lang="zh-CN" altLang="en-US" dirty="0"/>
              <a:t>状态信息，用于控制器实现隧道状态呈现。</a:t>
            </a:r>
            <a:r>
              <a:rPr lang="en-US" altLang="zh-CN" dirty="0"/>
              <a:t>https://datatracker.ietf.org/doc/draft-ietf-idr-te-lsp-distribution/</a:t>
            </a:r>
            <a:endParaRPr lang="en-US" altLang="zh-CN" dirty="0"/>
          </a:p>
          <a:p>
            <a:pPr lvl="1"/>
            <a:r>
              <a:rPr lang="en-US" altLang="zh-CN" dirty="0"/>
              <a:t>BGP-LS</a:t>
            </a:r>
            <a:r>
              <a:rPr lang="zh-CN" altLang="en-US" dirty="0"/>
              <a:t>协议扩展支持</a:t>
            </a:r>
            <a:r>
              <a:rPr lang="en-US" altLang="zh-CN" dirty="0"/>
              <a:t>SRLB</a:t>
            </a:r>
            <a:r>
              <a:rPr lang="zh-CN" altLang="en-US" dirty="0"/>
              <a:t>信息封装和解封装，用于控制器获取</a:t>
            </a:r>
            <a:r>
              <a:rPr lang="en-US" altLang="zh-CN" dirty="0"/>
              <a:t>SRLB</a:t>
            </a:r>
            <a:r>
              <a:rPr lang="zh-CN" altLang="en-US" dirty="0"/>
              <a:t>信息以分配</a:t>
            </a:r>
            <a:r>
              <a:rPr lang="en-US" altLang="zh-CN" dirty="0"/>
              <a:t>BSID</a:t>
            </a:r>
            <a:r>
              <a:rPr lang="zh-CN" altLang="en-US" dirty="0"/>
              <a:t>（每一条</a:t>
            </a:r>
            <a:r>
              <a:rPr lang="en-US" altLang="zh-CN" dirty="0"/>
              <a:t>SR-Policy</a:t>
            </a:r>
            <a:r>
              <a:rPr lang="zh-CN" altLang="en-US" dirty="0"/>
              <a:t>隧道的备份路径都对应一个</a:t>
            </a:r>
            <a:r>
              <a:rPr lang="en-US" altLang="zh-CN" dirty="0"/>
              <a:t>Binding SID</a:t>
            </a:r>
            <a:r>
              <a:rPr lang="zh-CN" altLang="en-US" dirty="0"/>
              <a:t>）。</a:t>
            </a:r>
            <a:endParaRPr lang="en-US" altLang="zh-CN" dirty="0"/>
          </a:p>
          <a:p>
            <a:pPr lvl="1"/>
            <a:r>
              <a:rPr lang="zh-CN" altLang="en-US" dirty="0"/>
              <a:t>隧道源节点也需要部署</a:t>
            </a:r>
            <a:r>
              <a:rPr lang="en-US" altLang="zh-CN" dirty="0"/>
              <a:t>BGP-LS</a:t>
            </a:r>
            <a:r>
              <a:rPr lang="zh-CN" altLang="en-US" dirty="0"/>
              <a:t>，主要作用是用于通告</a:t>
            </a:r>
            <a:r>
              <a:rPr lang="en-US" altLang="zh-CN" dirty="0"/>
              <a:t>SRv6 Policy</a:t>
            </a:r>
            <a:r>
              <a:rPr lang="zh-CN" altLang="en-US" dirty="0"/>
              <a:t>状态。</a:t>
            </a:r>
            <a:endParaRPr lang="zh-CN" altLang="en-US"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r>
              <a:rPr lang="en-US" altLang="zh-CN" dirty="0"/>
              <a:t>BGP IPv6 SR Policy</a:t>
            </a:r>
            <a:r>
              <a:rPr lang="zh-CN" altLang="en-US" dirty="0"/>
              <a:t>连接：</a:t>
            </a:r>
            <a:endParaRPr lang="en-US" altLang="zh-CN" dirty="0"/>
          </a:p>
          <a:p>
            <a:pPr lvl="1"/>
            <a:r>
              <a:rPr lang="zh-CN" altLang="en-US" dirty="0"/>
              <a:t>控制器向转发器下发</a:t>
            </a:r>
            <a:r>
              <a:rPr lang="en-US" altLang="zh-CN" dirty="0"/>
              <a:t>SRv6 Policy</a:t>
            </a:r>
            <a:r>
              <a:rPr lang="zh-CN" altLang="en-US" dirty="0"/>
              <a:t>信息，生成</a:t>
            </a:r>
            <a:r>
              <a:rPr lang="en-US" altLang="zh-CN" dirty="0"/>
              <a:t>SRv6 Policy</a:t>
            </a:r>
            <a:r>
              <a:rPr lang="zh-CN" altLang="en-US" dirty="0"/>
              <a:t>。</a:t>
            </a:r>
            <a:endParaRPr lang="en-US" altLang="zh-CN" dirty="0"/>
          </a:p>
          <a:p>
            <a:pPr lvl="1"/>
            <a:r>
              <a:rPr lang="zh-CN" altLang="en-US" dirty="0"/>
              <a:t>控制器下发</a:t>
            </a:r>
            <a:r>
              <a:rPr lang="en-US" altLang="zh-CN" dirty="0"/>
              <a:t>BGP</a:t>
            </a:r>
            <a:r>
              <a:rPr lang="zh-CN" altLang="en-US" dirty="0"/>
              <a:t>路由携带</a:t>
            </a:r>
            <a:r>
              <a:rPr lang="en-US" altLang="zh-CN" dirty="0"/>
              <a:t>Color</a:t>
            </a:r>
            <a:r>
              <a:rPr lang="zh-CN" altLang="en-US" dirty="0"/>
              <a:t>团体属性，并支持此属性传递。隧道头端节点匹配</a:t>
            </a:r>
            <a:r>
              <a:rPr lang="en-US" altLang="zh-CN" dirty="0"/>
              <a:t>BGP</a:t>
            </a:r>
            <a:r>
              <a:rPr lang="zh-CN" altLang="en-US" dirty="0"/>
              <a:t>路由后基于</a:t>
            </a:r>
            <a:r>
              <a:rPr lang="en-US" altLang="zh-CN" dirty="0" err="1"/>
              <a:t>Color+Endpoint</a:t>
            </a:r>
            <a:r>
              <a:rPr lang="zh-CN" altLang="en-US" dirty="0"/>
              <a:t>方式迭代到</a:t>
            </a:r>
            <a:r>
              <a:rPr lang="en-US" altLang="zh-CN" dirty="0"/>
              <a:t>SRv6 Policy</a:t>
            </a:r>
            <a:r>
              <a:rPr lang="zh-CN" altLang="en-US" dirty="0"/>
              <a:t>。</a:t>
            </a:r>
            <a:endParaRPr lang="en-US" altLang="zh-CN" dirty="0"/>
          </a:p>
          <a:p>
            <a:pPr lvl="1"/>
            <a:r>
              <a:rPr lang="zh-CN" altLang="en-US" dirty="0"/>
              <a:t>华为</a:t>
            </a:r>
            <a:r>
              <a:rPr lang="en-US" altLang="zh-CN" dirty="0"/>
              <a:t>SRv6 policy</a:t>
            </a:r>
            <a:r>
              <a:rPr lang="zh-CN" altLang="en-US" dirty="0"/>
              <a:t>方案中需要在控制器根据业务</a:t>
            </a:r>
            <a:r>
              <a:rPr lang="en-US" altLang="zh-CN" dirty="0"/>
              <a:t>SLA</a:t>
            </a:r>
            <a:r>
              <a:rPr lang="zh-CN" altLang="en-US" dirty="0"/>
              <a:t>要求统一规划各个应用的网络隧道算路约束，并通过不同的</a:t>
            </a:r>
            <a:r>
              <a:rPr lang="en-US" altLang="zh-CN" dirty="0"/>
              <a:t>color</a:t>
            </a:r>
            <a:r>
              <a:rPr lang="zh-CN" altLang="en-US" dirty="0"/>
              <a:t>来标识。根据</a:t>
            </a:r>
            <a:r>
              <a:rPr lang="en-US" altLang="zh-CN" dirty="0"/>
              <a:t>{</a:t>
            </a:r>
            <a:r>
              <a:rPr lang="zh-CN" altLang="en-US" dirty="0"/>
              <a:t>头节点，尾节点，</a:t>
            </a:r>
            <a:r>
              <a:rPr lang="en-US" altLang="zh-CN" dirty="0"/>
              <a:t>COLOR}</a:t>
            </a:r>
            <a:r>
              <a:rPr lang="zh-CN" altLang="en-US" dirty="0"/>
              <a:t>来唯一确定一个</a:t>
            </a:r>
            <a:r>
              <a:rPr lang="en-US" altLang="zh-CN" dirty="0"/>
              <a:t>SRv6 policy</a:t>
            </a:r>
            <a:r>
              <a:rPr lang="zh-CN" altLang="en-US" dirty="0"/>
              <a:t>。业务报文迭代隧道时其</a:t>
            </a:r>
            <a:r>
              <a:rPr lang="en-US" altLang="zh-CN" dirty="0"/>
              <a:t>BGP</a:t>
            </a:r>
            <a:r>
              <a:rPr lang="zh-CN" altLang="en-US" dirty="0"/>
              <a:t>路由需要携带对应的</a:t>
            </a:r>
            <a:r>
              <a:rPr lang="en-US" altLang="zh-CN" dirty="0"/>
              <a:t>color</a:t>
            </a:r>
            <a:r>
              <a:rPr lang="zh-CN" altLang="en-US" dirty="0"/>
              <a:t>扩展团体属性。</a:t>
            </a:r>
            <a:endParaRPr lang="en-US" altLang="zh-CN" dirty="0"/>
          </a:p>
          <a:p>
            <a:r>
              <a:rPr lang="en-US" altLang="zh-CN" dirty="0"/>
              <a:t>Binding</a:t>
            </a:r>
            <a:r>
              <a:rPr lang="en-US" altLang="zh-CN" baseline="0" dirty="0"/>
              <a:t> SID</a:t>
            </a:r>
            <a:r>
              <a:rPr lang="zh-CN" altLang="en-US" baseline="0" dirty="0"/>
              <a:t>的主要作用是用于路径粘连。</a:t>
            </a:r>
            <a:endParaRPr lang="zh-CN" altLang="en-US"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2950" y="717550"/>
            <a:ext cx="5557838" cy="3125788"/>
          </a:xfrm>
        </p:spPr>
      </p:sp>
      <p:sp>
        <p:nvSpPr>
          <p:cNvPr id="3" name="Notes Placeholder 2"/>
          <p:cNvSpPr>
            <a:spLocks noGrp="1"/>
          </p:cNvSpPr>
          <p:nvPr>
            <p:ph type="body" idx="1"/>
          </p:nvPr>
        </p:nvSpPr>
        <p:spPr/>
        <p:txBody>
          <a:bodyPr/>
          <a:lstStyle/>
          <a:p>
            <a:r>
              <a:rPr lang="en-US" altLang="zh-CN" dirty="0"/>
              <a:t>BGP EPE</a:t>
            </a:r>
            <a:r>
              <a:rPr lang="zh-CN" altLang="en-US" dirty="0"/>
              <a:t>可为域间路径分配</a:t>
            </a:r>
            <a:r>
              <a:rPr lang="en-US" altLang="zh-CN" dirty="0"/>
              <a:t>BGP Peer SID</a:t>
            </a:r>
            <a:r>
              <a:rPr lang="zh-CN" altLang="en-US" dirty="0"/>
              <a:t>，</a:t>
            </a:r>
            <a:r>
              <a:rPr lang="en-US" altLang="zh-CN" dirty="0"/>
              <a:t>Peer SID</a:t>
            </a:r>
            <a:r>
              <a:rPr lang="zh-CN" altLang="en-US" dirty="0"/>
              <a:t>可以分为两种：</a:t>
            </a:r>
            <a:endParaRPr lang="en-US" altLang="zh-CN" dirty="0"/>
          </a:p>
          <a:p>
            <a:pPr lvl="1"/>
            <a:r>
              <a:rPr lang="en-US" altLang="zh-CN" dirty="0"/>
              <a:t>Peer-Node SID</a:t>
            </a:r>
            <a:r>
              <a:rPr lang="zh-CN" altLang="en-US" dirty="0"/>
              <a:t>用于指示一个对等体节点。每一个</a:t>
            </a:r>
            <a:r>
              <a:rPr lang="en-US" altLang="zh-CN" dirty="0"/>
              <a:t>BGP</a:t>
            </a:r>
            <a:r>
              <a:rPr lang="zh-CN" altLang="en-US" dirty="0"/>
              <a:t>会话都会分配</a:t>
            </a:r>
            <a:r>
              <a:rPr lang="en-US" altLang="zh-CN" dirty="0"/>
              <a:t>Peer-Node SID</a:t>
            </a:r>
            <a:r>
              <a:rPr lang="zh-CN" altLang="en-US" dirty="0"/>
              <a:t>。对于基于</a:t>
            </a:r>
            <a:r>
              <a:rPr lang="en-US" altLang="zh-CN" dirty="0"/>
              <a:t>Loopback</a:t>
            </a:r>
            <a:r>
              <a:rPr lang="zh-CN" altLang="en-US" dirty="0"/>
              <a:t>接口建立的</a:t>
            </a:r>
            <a:r>
              <a:rPr lang="en-US" altLang="zh-CN" dirty="0"/>
              <a:t>EBGP</a:t>
            </a:r>
            <a:r>
              <a:rPr lang="zh-CN" altLang="en-US" dirty="0"/>
              <a:t>邻居，其对应的物理链路可能有多条，那么针对该邻居的</a:t>
            </a:r>
            <a:r>
              <a:rPr lang="en-US" altLang="zh-CN" dirty="0"/>
              <a:t>Peer-Node SID</a:t>
            </a:r>
            <a:r>
              <a:rPr lang="zh-CN" altLang="en-US" dirty="0"/>
              <a:t>就会对应多个出接口。</a:t>
            </a:r>
            <a:r>
              <a:rPr lang="en-US" altLang="zh-CN" dirty="0"/>
              <a:t>Peer-Node SID</a:t>
            </a:r>
            <a:r>
              <a:rPr lang="zh-CN" altLang="en-US" dirty="0"/>
              <a:t>是一种</a:t>
            </a:r>
            <a:r>
              <a:rPr lang="en-US" altLang="zh-CN" dirty="0"/>
              <a:t>END</a:t>
            </a:r>
            <a:r>
              <a:rPr lang="en-US" altLang="zh-CN" baseline="0" dirty="0"/>
              <a:t> SID</a:t>
            </a:r>
            <a:r>
              <a:rPr lang="zh-CN" altLang="en-US" baseline="0" dirty="0"/>
              <a:t>。</a:t>
            </a:r>
            <a:endParaRPr lang="zh-CN" altLang="en-US" dirty="0"/>
          </a:p>
          <a:p>
            <a:pPr lvl="1"/>
            <a:r>
              <a:rPr lang="en-US" altLang="zh-CN" dirty="0"/>
              <a:t>Peer-</a:t>
            </a:r>
            <a:r>
              <a:rPr lang="en-US" altLang="zh-CN" dirty="0" err="1"/>
              <a:t>Adj</a:t>
            </a:r>
            <a:r>
              <a:rPr lang="en-US" altLang="zh-CN" dirty="0"/>
              <a:t> SID</a:t>
            </a:r>
            <a:r>
              <a:rPr lang="zh-CN" altLang="en-US" dirty="0"/>
              <a:t>用于指示到达对等体的一个邻接。对于基于</a:t>
            </a:r>
            <a:r>
              <a:rPr lang="en-US" altLang="zh-CN" dirty="0"/>
              <a:t>Loopback</a:t>
            </a:r>
            <a:r>
              <a:rPr lang="zh-CN" altLang="en-US" dirty="0"/>
              <a:t>接口建立的</a:t>
            </a:r>
            <a:r>
              <a:rPr lang="en-US" altLang="zh-CN" dirty="0"/>
              <a:t>EBGP</a:t>
            </a:r>
            <a:r>
              <a:rPr lang="zh-CN" altLang="en-US" dirty="0"/>
              <a:t>邻居，其对应的物理链路可能有多条，则每个邻接都会分配一个</a:t>
            </a:r>
            <a:r>
              <a:rPr lang="en-US" altLang="zh-CN" dirty="0"/>
              <a:t>Peer-</a:t>
            </a:r>
            <a:r>
              <a:rPr lang="en-US" altLang="zh-CN" dirty="0" err="1"/>
              <a:t>Adj</a:t>
            </a:r>
            <a:r>
              <a:rPr lang="en-US" altLang="zh-CN" dirty="0"/>
              <a:t> SID</a:t>
            </a:r>
            <a:r>
              <a:rPr lang="zh-CN" altLang="en-US" dirty="0"/>
              <a:t>，转发时只能使用指定的链路（对应指定的出接口）进行转发。</a:t>
            </a:r>
            <a:r>
              <a:rPr lang="en-US" altLang="zh-CN" dirty="0"/>
              <a:t>Peer-</a:t>
            </a:r>
            <a:r>
              <a:rPr lang="en-US" altLang="zh-CN" dirty="0" err="1"/>
              <a:t>Adj</a:t>
            </a:r>
            <a:r>
              <a:rPr lang="en-US" altLang="zh-CN" dirty="0"/>
              <a:t> SID</a:t>
            </a:r>
            <a:r>
              <a:rPr lang="zh-CN" altLang="en-US" dirty="0"/>
              <a:t>是一种</a:t>
            </a:r>
            <a:r>
              <a:rPr lang="en-US" altLang="zh-CN" dirty="0"/>
              <a:t>END.X SID</a:t>
            </a:r>
            <a:r>
              <a:rPr lang="zh-CN" altLang="en-US" dirty="0"/>
              <a:t>。</a:t>
            </a:r>
            <a:endParaRPr lang="en-US" altLang="zh-CN" dirty="0"/>
          </a:p>
          <a:p>
            <a:pPr lvl="0"/>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BGP EPE</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只是针对</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BGP</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邻居节点及相关链路分配</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SID</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，并不能构建一个用于转发的路径，</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BGP Peer SID</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信息还需要与</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IGP SID</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配合才能形成</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E2E</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的路径。</a:t>
            </a:r>
            <a:endPar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2950" y="717550"/>
            <a:ext cx="5557838" cy="3125788"/>
          </a:xfrm>
        </p:spPr>
      </p:sp>
      <p:sp>
        <p:nvSpPr>
          <p:cNvPr id="3" name="Notes Placeholder 2"/>
          <p:cNvSpPr>
            <a:spLocks noGrp="1"/>
          </p:cNvSpPr>
          <p:nvPr>
            <p:ph type="body" idx="1"/>
          </p:nvPr>
        </p:nvSpPr>
        <p:spPr/>
        <p:txBody>
          <a:bodyPr/>
          <a:lstStyle/>
          <a:p>
            <a:r>
              <a:rPr lang="zh-CN" altLang="en-US" dirty="0"/>
              <a:t>在大型网络中有可能会导致</a:t>
            </a:r>
            <a:r>
              <a:rPr lang="en-US" altLang="zh-CN" dirty="0"/>
              <a:t>SRv6</a:t>
            </a:r>
            <a:r>
              <a:rPr lang="zh-CN" altLang="en-US" dirty="0"/>
              <a:t>的</a:t>
            </a:r>
            <a:r>
              <a:rPr lang="en-US" altLang="zh-CN" dirty="0"/>
              <a:t>SRH</a:t>
            </a:r>
            <a:r>
              <a:rPr lang="zh-CN" altLang="en-US" dirty="0"/>
              <a:t>头部过大，考虑到设备限制和转发效率，</a:t>
            </a:r>
            <a:r>
              <a:rPr lang="en-US" altLang="zh-CN" dirty="0"/>
              <a:t>SRH</a:t>
            </a:r>
            <a:r>
              <a:rPr lang="zh-CN" altLang="en-US" dirty="0"/>
              <a:t>内的</a:t>
            </a:r>
            <a:r>
              <a:rPr lang="en-US" altLang="zh-CN" dirty="0"/>
              <a:t>SID</a:t>
            </a:r>
            <a:r>
              <a:rPr lang="zh-CN" altLang="en-US" dirty="0"/>
              <a:t>数量需要所有限制。</a:t>
            </a:r>
            <a:endParaRPr lang="en-US" altLang="zh-CN" dirty="0"/>
          </a:p>
          <a:p>
            <a:r>
              <a:rPr lang="zh-CN" altLang="en-US" dirty="0"/>
              <a:t>解决</a:t>
            </a:r>
            <a:r>
              <a:rPr lang="en-US" altLang="zh-CN" dirty="0"/>
              <a:t>SRH</a:t>
            </a:r>
            <a:r>
              <a:rPr lang="zh-CN" altLang="en-US" dirty="0"/>
              <a:t>头部过大的问题一般有两种方法：</a:t>
            </a:r>
            <a:endParaRPr lang="en-US" altLang="zh-CN" dirty="0"/>
          </a:p>
          <a:p>
            <a:pPr lvl="1"/>
            <a:r>
              <a:rPr lang="en-US" altLang="zh-CN" dirty="0"/>
              <a:t>SRv6</a:t>
            </a:r>
            <a:r>
              <a:rPr lang="zh-CN" altLang="en-US" dirty="0"/>
              <a:t>头部压缩</a:t>
            </a:r>
            <a:endParaRPr lang="en-US" altLang="zh-CN" dirty="0"/>
          </a:p>
          <a:p>
            <a:pPr lvl="2"/>
            <a:r>
              <a:rPr lang="zh-CN" altLang="en-US" dirty="0"/>
              <a:t>华为</a:t>
            </a:r>
            <a:r>
              <a:rPr lang="en-US" altLang="zh-CN" dirty="0"/>
              <a:t>SRv6</a:t>
            </a:r>
            <a:r>
              <a:rPr lang="zh-CN" altLang="en-US" dirty="0"/>
              <a:t>头部压缩主要使用</a:t>
            </a:r>
            <a:r>
              <a:rPr lang="en-US" altLang="zh-CN" dirty="0"/>
              <a:t>G-SRv6</a:t>
            </a:r>
            <a:r>
              <a:rPr lang="zh-CN" altLang="en-US" dirty="0"/>
              <a:t>方案，头部压缩后，</a:t>
            </a:r>
            <a:r>
              <a:rPr lang="en-US" altLang="zh-CN" dirty="0"/>
              <a:t>SRH</a:t>
            </a:r>
            <a:r>
              <a:rPr lang="zh-CN" altLang="en-US" dirty="0"/>
              <a:t>在不损失</a:t>
            </a:r>
            <a:r>
              <a:rPr lang="en-US" altLang="zh-CN" dirty="0"/>
              <a:t>SID</a:t>
            </a:r>
            <a:r>
              <a:rPr lang="zh-CN" altLang="en-US" dirty="0"/>
              <a:t>信息的基础上可以减少头部大小，提高转发效率。</a:t>
            </a:r>
            <a:endParaRPr lang="en-US" altLang="zh-CN" dirty="0"/>
          </a:p>
          <a:p>
            <a:pPr lvl="2"/>
            <a:r>
              <a:rPr lang="zh-CN" altLang="en-US" dirty="0"/>
              <a:t>本节课对于头部压缩技术不做讲解。</a:t>
            </a:r>
            <a:endParaRPr lang="en-US" altLang="zh-CN" dirty="0"/>
          </a:p>
          <a:p>
            <a:pPr lvl="1"/>
            <a:r>
              <a:rPr lang="en-US" altLang="zh-CN" dirty="0"/>
              <a:t>SRv6</a:t>
            </a:r>
            <a:r>
              <a:rPr lang="zh-CN" altLang="en-US" dirty="0"/>
              <a:t>路径粘连</a:t>
            </a:r>
            <a:endParaRPr lang="en-US" altLang="zh-CN" dirty="0"/>
          </a:p>
          <a:p>
            <a:pPr lvl="2"/>
            <a:r>
              <a:rPr lang="zh-CN" altLang="en-US" dirty="0"/>
              <a:t>通过</a:t>
            </a:r>
            <a:r>
              <a:rPr lang="en-US" altLang="zh-CN" dirty="0"/>
              <a:t>Binding SID</a:t>
            </a:r>
            <a:r>
              <a:rPr lang="zh-CN" altLang="en-US" dirty="0"/>
              <a:t>用于将不同的</a:t>
            </a:r>
            <a:r>
              <a:rPr lang="en-US" altLang="zh-CN" dirty="0"/>
              <a:t>SRv6</a:t>
            </a:r>
            <a:r>
              <a:rPr lang="zh-CN" altLang="en-US" dirty="0"/>
              <a:t>路径粘连在一起，这样每段</a:t>
            </a:r>
            <a:r>
              <a:rPr lang="en-US" altLang="zh-CN" dirty="0"/>
              <a:t>SRv6</a:t>
            </a:r>
            <a:r>
              <a:rPr lang="zh-CN" altLang="en-US" dirty="0"/>
              <a:t>路径的</a:t>
            </a:r>
            <a:r>
              <a:rPr lang="en-US" altLang="zh-CN" dirty="0"/>
              <a:t>SRH</a:t>
            </a:r>
            <a:r>
              <a:rPr lang="zh-CN" altLang="en-US" dirty="0"/>
              <a:t>头部就不会过大。</a:t>
            </a:r>
            <a:endParaRPr lang="en-US" altLang="zh-CN" dirty="0"/>
          </a:p>
          <a:p>
            <a:pPr lvl="0"/>
            <a:r>
              <a:rPr lang="en-US" altLang="zh-CN" dirty="0"/>
              <a:t>SRv6</a:t>
            </a:r>
            <a:r>
              <a:rPr lang="zh-CN" altLang="en-US" dirty="0"/>
              <a:t>栈深一般由设备能力决定。</a:t>
            </a:r>
            <a:endParaRPr lang="en-US" altLang="zh-CN" dirty="0"/>
          </a:p>
          <a:p>
            <a:pPr lvl="0"/>
            <a:r>
              <a:rPr lang="en-US" altLang="zh-CN" dirty="0"/>
              <a:t>SRv6</a:t>
            </a:r>
            <a:r>
              <a:rPr lang="zh-CN" altLang="en-US" dirty="0"/>
              <a:t>的</a:t>
            </a:r>
            <a:r>
              <a:rPr lang="en-US" altLang="zh-CN" dirty="0"/>
              <a:t>Binding SID</a:t>
            </a:r>
            <a:r>
              <a:rPr lang="zh-CN" altLang="en-US" dirty="0"/>
              <a:t>主要有</a:t>
            </a:r>
            <a:r>
              <a:rPr lang="en-US" altLang="zh-CN" dirty="0"/>
              <a:t>4</a:t>
            </a:r>
            <a:r>
              <a:rPr lang="zh-CN" altLang="en-US" dirty="0"/>
              <a:t>种：</a:t>
            </a:r>
            <a:endParaRPr lang="en-US" altLang="zh-CN" dirty="0"/>
          </a:p>
          <a:p>
            <a:pPr lvl="1"/>
            <a:r>
              <a:rPr lang="en-US" altLang="zh-CN" dirty="0"/>
              <a:t>End.B6.Insert</a:t>
            </a:r>
            <a:endParaRPr lang="en-US" altLang="zh-CN" dirty="0"/>
          </a:p>
          <a:p>
            <a:pPr lvl="1"/>
            <a:r>
              <a:rPr lang="en-US" altLang="zh-CN" dirty="0"/>
              <a:t>End.B6.Insert.RED</a:t>
            </a:r>
            <a:endParaRPr lang="en-US" altLang="zh-CN" dirty="0"/>
          </a:p>
          <a:p>
            <a:pPr lvl="1"/>
            <a:r>
              <a:rPr lang="en-US" altLang="zh-CN" dirty="0"/>
              <a:t>End.B6.Encaps</a:t>
            </a:r>
            <a:endParaRPr lang="en-US" altLang="zh-CN" dirty="0"/>
          </a:p>
          <a:p>
            <a:pPr lvl="1"/>
            <a:r>
              <a:rPr lang="en-US" altLang="zh-CN" dirty="0"/>
              <a:t>End.B6.Encaps.RED</a:t>
            </a:r>
            <a:endParaRPr lang="en-US" altLang="zh-CN"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2950" y="717550"/>
            <a:ext cx="5557838" cy="3125788"/>
          </a:xfrm>
        </p:spPr>
      </p:sp>
      <p:sp>
        <p:nvSpPr>
          <p:cNvPr id="3" name="Notes Placeholder 2"/>
          <p:cNvSpPr>
            <a:spLocks noGrp="1"/>
          </p:cNvSpPr>
          <p:nvPr>
            <p:ph type="body" idx="1"/>
          </p:nvPr>
        </p:nvSpPr>
        <p:spPr/>
        <p:txBody>
          <a:bodyPr/>
          <a:lstStyle/>
          <a:p>
            <a:r>
              <a:rPr lang="en-US" altLang="zh-CN" dirty="0" err="1"/>
              <a:t>Encaps</a:t>
            </a:r>
            <a:r>
              <a:rPr lang="zh-CN" altLang="en-US" dirty="0"/>
              <a:t>模式使用的</a:t>
            </a:r>
            <a:r>
              <a:rPr lang="en-US" altLang="zh-CN" dirty="0"/>
              <a:t>End.B6.Encaps </a:t>
            </a:r>
            <a:r>
              <a:rPr lang="zh-CN" altLang="en-US" dirty="0"/>
              <a:t>指令可以被拆解为</a:t>
            </a:r>
            <a:r>
              <a:rPr lang="en-US" altLang="zh-CN" dirty="0"/>
              <a:t>End + B6 + </a:t>
            </a:r>
            <a:r>
              <a:rPr lang="en-US" altLang="zh-CN" dirty="0" err="1"/>
              <a:t>Encaps</a:t>
            </a:r>
            <a:r>
              <a:rPr lang="zh-CN" altLang="en-US" dirty="0"/>
              <a:t>，</a:t>
            </a:r>
            <a:r>
              <a:rPr lang="en-US" altLang="zh-CN" dirty="0"/>
              <a:t>B6</a:t>
            </a:r>
            <a:r>
              <a:rPr lang="zh-CN" altLang="en-US" dirty="0"/>
              <a:t>表示应用一个</a:t>
            </a:r>
            <a:r>
              <a:rPr lang="en-US" altLang="zh-CN" dirty="0"/>
              <a:t>SRv6 Policy</a:t>
            </a:r>
            <a:r>
              <a:rPr lang="zh-CN" altLang="en-US" dirty="0"/>
              <a:t>，</a:t>
            </a:r>
            <a:r>
              <a:rPr lang="en-US" altLang="zh-CN" dirty="0" err="1"/>
              <a:t>Encaps</a:t>
            </a:r>
            <a:r>
              <a:rPr lang="zh-CN" altLang="en-US" dirty="0"/>
              <a:t>表示采用封装外层</a:t>
            </a:r>
            <a:r>
              <a:rPr lang="en-US" altLang="zh-CN" dirty="0"/>
              <a:t>IPv6</a:t>
            </a:r>
            <a:r>
              <a:rPr lang="zh-CN" altLang="en-US" dirty="0"/>
              <a:t>报文头和</a:t>
            </a:r>
            <a:r>
              <a:rPr lang="en-US" altLang="zh-CN" dirty="0"/>
              <a:t>SRH </a:t>
            </a:r>
            <a:r>
              <a:rPr lang="zh-CN" altLang="en-US" dirty="0"/>
              <a:t>的方式来应用</a:t>
            </a:r>
            <a:r>
              <a:rPr lang="en-US" altLang="zh-CN" dirty="0"/>
              <a:t>SRv6 Policy</a:t>
            </a:r>
            <a:r>
              <a:rPr lang="zh-CN" altLang="en-US" dirty="0"/>
              <a:t>。该指令执行的动作是首先将内层</a:t>
            </a:r>
            <a:r>
              <a:rPr lang="en-US" altLang="zh-CN" dirty="0"/>
              <a:t>SRH</a:t>
            </a:r>
            <a:r>
              <a:rPr lang="zh-CN" altLang="en-US" dirty="0"/>
              <a:t>的</a:t>
            </a:r>
            <a:r>
              <a:rPr lang="en-US" altLang="zh-CN" dirty="0"/>
              <a:t>SL</a:t>
            </a:r>
            <a:r>
              <a:rPr lang="zh-CN" altLang="en-US" dirty="0"/>
              <a:t>值减</a:t>
            </a:r>
            <a:r>
              <a:rPr lang="en-US" altLang="zh-CN" dirty="0"/>
              <a:t>1</a:t>
            </a:r>
            <a:r>
              <a:rPr lang="zh-CN" altLang="en-US" dirty="0"/>
              <a:t>，再将</a:t>
            </a:r>
            <a:r>
              <a:rPr lang="en-US" altLang="zh-CN" dirty="0"/>
              <a:t>SL</a:t>
            </a:r>
            <a:r>
              <a:rPr lang="zh-CN" altLang="en-US" dirty="0"/>
              <a:t>指向的</a:t>
            </a:r>
            <a:r>
              <a:rPr lang="en-US" altLang="zh-CN" dirty="0"/>
              <a:t>SID</a:t>
            </a:r>
            <a:r>
              <a:rPr lang="zh-CN" altLang="en-US" dirty="0"/>
              <a:t>复制到内层</a:t>
            </a:r>
            <a:r>
              <a:rPr lang="en-US" altLang="zh-CN" dirty="0"/>
              <a:t>IPv6 </a:t>
            </a:r>
            <a:r>
              <a:rPr lang="zh-CN" altLang="en-US" dirty="0"/>
              <a:t>报文头的目的地址字段，然后封装上一层</a:t>
            </a:r>
            <a:r>
              <a:rPr lang="en-US" altLang="zh-CN" dirty="0"/>
              <a:t>IPv6</a:t>
            </a:r>
            <a:r>
              <a:rPr lang="zh-CN" altLang="en-US" dirty="0"/>
              <a:t>报文头与</a:t>
            </a:r>
            <a:r>
              <a:rPr lang="en-US" altLang="zh-CN" dirty="0"/>
              <a:t>SRH</a:t>
            </a:r>
            <a:r>
              <a:rPr lang="zh-CN" altLang="en-US" dirty="0"/>
              <a:t>（包含对应的 </a:t>
            </a:r>
            <a:r>
              <a:rPr lang="en-US" altLang="zh-CN" dirty="0"/>
              <a:t>Segment List</a:t>
            </a:r>
            <a:r>
              <a:rPr lang="zh-CN" altLang="en-US" dirty="0"/>
              <a:t>），并设置源地址为当前节点的地址，目的地址为</a:t>
            </a:r>
            <a:r>
              <a:rPr lang="en-US" altLang="zh-CN" dirty="0"/>
              <a:t>SRv6 Policy</a:t>
            </a:r>
            <a:r>
              <a:rPr lang="zh-CN" altLang="en-US" dirty="0"/>
              <a:t>的第一个</a:t>
            </a:r>
            <a:r>
              <a:rPr lang="en-US" altLang="zh-CN" dirty="0"/>
              <a:t>SID</a:t>
            </a:r>
            <a:r>
              <a:rPr lang="zh-CN" altLang="en-US" dirty="0"/>
              <a:t>，此外还要设置好外层</a:t>
            </a:r>
            <a:r>
              <a:rPr lang="en-US" altLang="zh-CN" dirty="0"/>
              <a:t>IPv6</a:t>
            </a:r>
            <a:r>
              <a:rPr lang="zh-CN" altLang="en-US" dirty="0"/>
              <a:t>报文头的各个字段，最后对这个新的</a:t>
            </a:r>
            <a:r>
              <a:rPr lang="en-US" altLang="zh-CN" dirty="0"/>
              <a:t>IPv6</a:t>
            </a:r>
            <a:r>
              <a:rPr lang="zh-CN" altLang="en-US" dirty="0"/>
              <a:t>报文进行查表转发。</a:t>
            </a:r>
            <a:endParaRPr lang="en-US" altLang="zh-CN"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2950" y="717550"/>
            <a:ext cx="5557838" cy="3125788"/>
          </a:xfrm>
        </p:spPr>
      </p:sp>
      <p:sp>
        <p:nvSpPr>
          <p:cNvPr id="3" name="Notes Placeholder 2"/>
          <p:cNvSpPr>
            <a:spLocks noGrp="1"/>
          </p:cNvSpPr>
          <p:nvPr>
            <p:ph type="body" idx="1"/>
          </p:nvPr>
        </p:nvSpPr>
        <p:spPr/>
        <p:txBody>
          <a:bodyPr/>
          <a:lstStyle/>
          <a:p>
            <a:r>
              <a:rPr lang="zh-CN" altLang="en-US" dirty="0"/>
              <a:t>在</a:t>
            </a:r>
            <a:r>
              <a:rPr lang="en-US" altLang="zh-CN" dirty="0"/>
              <a:t>PE1</a:t>
            </a:r>
            <a:r>
              <a:rPr lang="zh-CN" altLang="en-US" dirty="0"/>
              <a:t>上配置隧道策略，然后当</a:t>
            </a:r>
            <a:r>
              <a:rPr lang="en-US" altLang="zh-CN" dirty="0"/>
              <a:t>PE1</a:t>
            </a:r>
            <a:r>
              <a:rPr lang="zh-CN" altLang="en-US" dirty="0"/>
              <a:t>接收到</a:t>
            </a:r>
            <a:r>
              <a:rPr lang="en-US" altLang="zh-CN" dirty="0"/>
              <a:t>BGP</a:t>
            </a:r>
            <a:r>
              <a:rPr lang="zh-CN" altLang="en-US" dirty="0"/>
              <a:t>路由（</a:t>
            </a:r>
            <a:r>
              <a:rPr lang="en-US" altLang="zh-CN" dirty="0"/>
              <a:t>Net1</a:t>
            </a:r>
            <a:r>
              <a:rPr lang="zh-CN" altLang="en-US" dirty="0"/>
              <a:t>，</a:t>
            </a:r>
            <a:r>
              <a:rPr lang="en-US" altLang="zh-CN" dirty="0"/>
              <a:t>Net2</a:t>
            </a:r>
            <a:r>
              <a:rPr lang="zh-CN" altLang="en-US" dirty="0"/>
              <a:t>）后，根据路由的扩展团体属性（</a:t>
            </a:r>
            <a:r>
              <a:rPr lang="en-US" altLang="zh-CN" dirty="0"/>
              <a:t>0:15</a:t>
            </a:r>
            <a:r>
              <a:rPr lang="zh-CN" altLang="en-US" dirty="0"/>
              <a:t>，</a:t>
            </a:r>
            <a:r>
              <a:rPr lang="en-US" altLang="zh-CN" dirty="0"/>
              <a:t>0:20</a:t>
            </a:r>
            <a:r>
              <a:rPr lang="zh-CN" altLang="en-US" dirty="0"/>
              <a:t>）和下一跳（</a:t>
            </a:r>
            <a:r>
              <a:rPr lang="en-US" altLang="zh-CN" dirty="0"/>
              <a:t>PE2</a:t>
            </a:r>
            <a:r>
              <a:rPr lang="zh-CN" altLang="en-US" dirty="0"/>
              <a:t>）迭代到不同的</a:t>
            </a:r>
            <a:r>
              <a:rPr lang="en-US" altLang="zh-CN" dirty="0"/>
              <a:t>SRv6 Policy</a:t>
            </a:r>
            <a:r>
              <a:rPr lang="zh-CN" altLang="en-US" dirty="0"/>
              <a:t>。转发时，为到特定网段（</a:t>
            </a:r>
            <a:r>
              <a:rPr lang="en-US" altLang="zh-CN" dirty="0"/>
              <a:t>Net1</a:t>
            </a:r>
            <a:r>
              <a:rPr lang="zh-CN" altLang="en-US" dirty="0"/>
              <a:t>，</a:t>
            </a:r>
            <a:r>
              <a:rPr lang="en-US" altLang="zh-CN" dirty="0"/>
              <a:t>Net2</a:t>
            </a:r>
            <a:r>
              <a:rPr lang="zh-CN" altLang="en-US" dirty="0"/>
              <a:t>）的报文添加一个具体的</a:t>
            </a:r>
            <a:r>
              <a:rPr lang="en-US" altLang="zh-CN" dirty="0"/>
              <a:t>SRv6 SID</a:t>
            </a:r>
            <a:r>
              <a:rPr lang="zh-CN" altLang="en-US" dirty="0"/>
              <a:t>栈。</a:t>
            </a:r>
            <a:endParaRPr lang="zh-CN" altLang="en-US" dirty="0"/>
          </a:p>
          <a:p>
            <a:r>
              <a:rPr lang="zh-CN" altLang="en-US" dirty="0"/>
              <a:t>路由条目中的</a:t>
            </a:r>
            <a:r>
              <a:rPr lang="en-US" altLang="zh-CN" dirty="0"/>
              <a:t>Color</a:t>
            </a:r>
            <a:r>
              <a:rPr lang="zh-CN" altLang="en-US" dirty="0"/>
              <a:t>属性可以在路由始发路由器（比如</a:t>
            </a:r>
            <a:r>
              <a:rPr lang="en-US" altLang="zh-CN" dirty="0"/>
              <a:t>PE2</a:t>
            </a:r>
            <a:r>
              <a:rPr lang="zh-CN" altLang="en-US" dirty="0"/>
              <a:t>）的出方向上修改，也可以在路由接受路由器（比如</a:t>
            </a:r>
            <a:r>
              <a:rPr lang="en-US" altLang="zh-CN" dirty="0"/>
              <a:t>PE1</a:t>
            </a:r>
            <a:r>
              <a:rPr lang="zh-CN" altLang="en-US" dirty="0"/>
              <a:t>）的入方向修改。</a:t>
            </a:r>
            <a:endParaRPr lang="en-US" altLang="zh-CN" dirty="0"/>
          </a:p>
          <a:p>
            <a:r>
              <a:rPr lang="zh-CN" altLang="en-US" dirty="0"/>
              <a:t>在数据始发路由器（比如</a:t>
            </a:r>
            <a:r>
              <a:rPr lang="en-US" altLang="zh-CN" dirty="0"/>
              <a:t>PE1</a:t>
            </a:r>
            <a:r>
              <a:rPr lang="zh-CN" altLang="en-US" dirty="0"/>
              <a:t>）的</a:t>
            </a:r>
            <a:r>
              <a:rPr lang="en-US" altLang="zh-CN" dirty="0"/>
              <a:t>VPN-</a:t>
            </a:r>
            <a:r>
              <a:rPr lang="en-US" altLang="zh-CN" dirty="0" err="1"/>
              <a:t>instanc</a:t>
            </a:r>
            <a:r>
              <a:rPr lang="zh-CN" altLang="en-US" dirty="0"/>
              <a:t>中，也可以直接配置</a:t>
            </a:r>
            <a:r>
              <a:rPr lang="en-US" altLang="zh-CN" dirty="0"/>
              <a:t>Color</a:t>
            </a:r>
            <a:r>
              <a:rPr lang="zh-CN" altLang="en-US" dirty="0"/>
              <a:t>，让所有该</a:t>
            </a:r>
            <a:r>
              <a:rPr lang="en-US" altLang="zh-CN" dirty="0"/>
              <a:t>VPN</a:t>
            </a:r>
            <a:r>
              <a:rPr lang="zh-CN" altLang="en-US" dirty="0"/>
              <a:t>的流量都指定通过某个</a:t>
            </a:r>
            <a:r>
              <a:rPr lang="en-US" altLang="zh-CN" dirty="0"/>
              <a:t>SRv6 Policy</a:t>
            </a:r>
            <a:r>
              <a:rPr lang="zh-CN" altLang="en-US" dirty="0"/>
              <a:t>转发。</a:t>
            </a:r>
            <a:endParaRPr lang="zh-CN" altLang="en-US"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2950" y="717550"/>
            <a:ext cx="5557838" cy="3125788"/>
          </a:xfrm>
        </p:spPr>
      </p:sp>
      <p:sp>
        <p:nvSpPr>
          <p:cNvPr id="3" name="Notes Placeholder 2"/>
          <p:cNvSpPr>
            <a:spLocks noGrp="1"/>
          </p:cNvSpPr>
          <p:nvPr>
            <p:ph type="body" idx="1"/>
          </p:nvPr>
        </p:nvSpPr>
        <p:spPr/>
        <p:txBody>
          <a:bodyPr/>
          <a:lstStyle/>
          <a:p>
            <a:r>
              <a:rPr lang="zh-CN" altLang="en-US" dirty="0"/>
              <a:t>当基于</a:t>
            </a:r>
            <a:r>
              <a:rPr lang="en-US" altLang="zh-CN" dirty="0"/>
              <a:t>DSCP</a:t>
            </a:r>
            <a:r>
              <a:rPr lang="zh-CN" altLang="en-US" dirty="0"/>
              <a:t>引流时，路由条目中的</a:t>
            </a:r>
            <a:r>
              <a:rPr lang="en-US" altLang="zh-CN" dirty="0"/>
              <a:t>Color</a:t>
            </a:r>
            <a:r>
              <a:rPr lang="zh-CN" altLang="en-US" dirty="0"/>
              <a:t>属性主要用于匹配映射策略。</a:t>
            </a:r>
            <a:endParaRPr lang="en-US" altLang="zh-CN" dirty="0"/>
          </a:p>
          <a:p>
            <a:r>
              <a:rPr lang="zh-CN" altLang="en-US" dirty="0"/>
              <a:t>路由条目中的</a:t>
            </a:r>
            <a:r>
              <a:rPr lang="en-US" altLang="zh-CN" dirty="0"/>
              <a:t>Color</a:t>
            </a:r>
            <a:r>
              <a:rPr lang="zh-CN" altLang="en-US" dirty="0"/>
              <a:t>属性可以在本端路由器（比如</a:t>
            </a:r>
            <a:r>
              <a:rPr lang="en-US" altLang="zh-CN" dirty="0"/>
              <a:t>PE2</a:t>
            </a:r>
            <a:r>
              <a:rPr lang="zh-CN" altLang="en-US" dirty="0"/>
              <a:t>）发送路由前修改，也可以在对端路由器（比如</a:t>
            </a:r>
            <a:r>
              <a:rPr lang="en-US" altLang="zh-CN" dirty="0"/>
              <a:t>PE1</a:t>
            </a:r>
            <a:r>
              <a:rPr lang="zh-CN" altLang="en-US" dirty="0"/>
              <a:t>）接收路由后修改。</a:t>
            </a:r>
            <a:endParaRPr lang="en-US" altLang="zh-CN" dirty="0"/>
          </a:p>
          <a:p>
            <a:r>
              <a:rPr lang="zh-CN" altLang="en-US" dirty="0"/>
              <a:t>在数据始发路由器（比如</a:t>
            </a:r>
            <a:r>
              <a:rPr lang="en-US" altLang="zh-CN" dirty="0"/>
              <a:t>PE1</a:t>
            </a:r>
            <a:r>
              <a:rPr lang="zh-CN" altLang="en-US" dirty="0"/>
              <a:t>）的</a:t>
            </a:r>
            <a:r>
              <a:rPr lang="en-US" altLang="zh-CN" dirty="0"/>
              <a:t>VPN-</a:t>
            </a:r>
            <a:r>
              <a:rPr lang="en-US" altLang="zh-CN" dirty="0" err="1"/>
              <a:t>instanc</a:t>
            </a:r>
            <a:r>
              <a:rPr lang="zh-CN" altLang="en-US" dirty="0"/>
              <a:t>中，也可以直接配置</a:t>
            </a:r>
            <a:r>
              <a:rPr lang="en-US" altLang="zh-CN" dirty="0"/>
              <a:t>Color</a:t>
            </a:r>
            <a:r>
              <a:rPr lang="zh-CN" altLang="en-US" dirty="0"/>
              <a:t>，让所有该</a:t>
            </a:r>
            <a:r>
              <a:rPr lang="en-US" altLang="zh-CN" dirty="0"/>
              <a:t>VPN</a:t>
            </a:r>
            <a:r>
              <a:rPr lang="zh-CN" altLang="en-US" dirty="0"/>
              <a:t>的流量都指定通过某个</a:t>
            </a:r>
            <a:r>
              <a:rPr lang="en-US" altLang="zh-CN" dirty="0"/>
              <a:t>SRv6 Policy</a:t>
            </a:r>
            <a:r>
              <a:rPr lang="zh-CN" altLang="en-US" dirty="0"/>
              <a:t>转发。</a:t>
            </a:r>
            <a:endParaRPr lang="zh-CN" altLang="en-US" dirty="0"/>
          </a:p>
          <a:p>
            <a:endParaRPr lang="zh-CN" altLang="en-US" dirty="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pPr marL="179705" marR="0" lvl="0" indent="-179705" algn="l" defTabSz="1219200" rtl="0" eaLnBrk="1" fontAlgn="ctr" latinLnBrk="0" hangingPunct="1">
              <a:lnSpc>
                <a:spcPct val="125000"/>
              </a:lnSpc>
              <a:spcBef>
                <a:spcPts val="0"/>
              </a:spcBef>
              <a:spcAft>
                <a:spcPts val="600"/>
              </a:spcAft>
              <a:buClrTx/>
              <a:buSzTx/>
              <a:buFont typeface="Huawei Sans" panose="020C0503030203020204" pitchFamily="34" charset="0"/>
              <a:buChar char="•"/>
              <a:defRPr/>
            </a:pPr>
            <a:r>
              <a:rPr lang="zh-CN" altLang="en-US" sz="1100" dirty="0"/>
              <a:t>路由传递流程：</a:t>
            </a:r>
            <a:endParaRPr lang="en-US" altLang="zh-CN" sz="1100" dirty="0"/>
          </a:p>
          <a:p>
            <a:pPr lvl="1"/>
            <a:r>
              <a:rPr lang="en-US" altLang="zh-CN" sz="1100" dirty="0"/>
              <a:t>PE</a:t>
            </a:r>
            <a:r>
              <a:rPr lang="zh-CN" altLang="en-US" sz="1100" dirty="0"/>
              <a:t>配置</a:t>
            </a:r>
            <a:r>
              <a:rPr lang="en-US" altLang="zh-CN" sz="1100" dirty="0"/>
              <a:t>SRv6</a:t>
            </a:r>
            <a:r>
              <a:rPr lang="zh-CN" altLang="en-US" sz="1100" dirty="0"/>
              <a:t>和</a:t>
            </a:r>
            <a:r>
              <a:rPr lang="en-US" altLang="zh-CN" sz="1100" dirty="0"/>
              <a:t>SRv6 VPN</a:t>
            </a:r>
            <a:r>
              <a:rPr lang="zh-CN" altLang="en-US" sz="1100" dirty="0"/>
              <a:t>，中间节点设备需要支持</a:t>
            </a:r>
            <a:r>
              <a:rPr lang="en-US" altLang="zh-CN" sz="1100" dirty="0"/>
              <a:t>IPv6</a:t>
            </a:r>
            <a:r>
              <a:rPr lang="zh-CN" altLang="en-US" sz="1100" dirty="0"/>
              <a:t>或</a:t>
            </a:r>
            <a:r>
              <a:rPr lang="en-US" altLang="zh-CN" sz="1100" dirty="0"/>
              <a:t>SRv6</a:t>
            </a:r>
            <a:r>
              <a:rPr lang="zh-CN" altLang="en-US" sz="1100" dirty="0"/>
              <a:t>。</a:t>
            </a:r>
            <a:endParaRPr lang="zh-CN" altLang="en-US" sz="1100" dirty="0"/>
          </a:p>
          <a:p>
            <a:pPr lvl="1"/>
            <a:r>
              <a:rPr lang="en-US" altLang="zh-CN" sz="1100" dirty="0"/>
              <a:t>PE2</a:t>
            </a:r>
            <a:r>
              <a:rPr lang="zh-CN" altLang="en-US" sz="1100" dirty="0"/>
              <a:t>发布</a:t>
            </a:r>
            <a:r>
              <a:rPr lang="en-US" altLang="zh-CN" sz="1100" dirty="0"/>
              <a:t>SRv6 Locator</a:t>
            </a:r>
            <a:r>
              <a:rPr lang="zh-CN" altLang="en-US" sz="1100" dirty="0"/>
              <a:t>路由给</a:t>
            </a:r>
            <a:r>
              <a:rPr lang="en-US" altLang="zh-CN" sz="1100" dirty="0"/>
              <a:t>PE1</a:t>
            </a:r>
            <a:r>
              <a:rPr lang="zh-CN" altLang="en-US" sz="1100" dirty="0"/>
              <a:t>。</a:t>
            </a:r>
            <a:endParaRPr lang="en-US" altLang="zh-CN" sz="1100" dirty="0"/>
          </a:p>
          <a:p>
            <a:pPr lvl="1"/>
            <a:r>
              <a:rPr lang="en-US" altLang="zh-CN" sz="1100" dirty="0"/>
              <a:t>CE</a:t>
            </a:r>
            <a:r>
              <a:rPr lang="zh-CN" altLang="en-US" sz="1100" dirty="0"/>
              <a:t>到</a:t>
            </a:r>
            <a:r>
              <a:rPr lang="en-US" altLang="zh-CN" sz="1100" dirty="0"/>
              <a:t>PE</a:t>
            </a:r>
            <a:r>
              <a:rPr lang="zh-CN" altLang="en-US" sz="1100" dirty="0"/>
              <a:t>的路由信息交换：</a:t>
            </a:r>
            <a:r>
              <a:rPr lang="en-US" altLang="zh-CN" sz="1100" dirty="0"/>
              <a:t>CE2</a:t>
            </a:r>
            <a:r>
              <a:rPr lang="zh-CN" altLang="en-US" sz="1100" dirty="0"/>
              <a:t>把本站点的路由发布给</a:t>
            </a:r>
            <a:r>
              <a:rPr lang="en-US" altLang="zh-CN" sz="1100" dirty="0"/>
              <a:t>PE2</a:t>
            </a:r>
            <a:r>
              <a:rPr lang="zh-CN" altLang="en-US" sz="1100" dirty="0"/>
              <a:t>。</a:t>
            </a:r>
            <a:r>
              <a:rPr lang="en-US" altLang="zh-CN" sz="1100" dirty="0"/>
              <a:t>CE</a:t>
            </a:r>
            <a:r>
              <a:rPr lang="zh-CN" altLang="en-US" sz="1100" dirty="0"/>
              <a:t>与</a:t>
            </a:r>
            <a:r>
              <a:rPr lang="en-US" altLang="zh-CN" sz="1100" dirty="0"/>
              <a:t>PE</a:t>
            </a:r>
            <a:r>
              <a:rPr lang="zh-CN" altLang="en-US" sz="1100" dirty="0"/>
              <a:t>之间可以使用静态路由、</a:t>
            </a:r>
            <a:r>
              <a:rPr lang="en-US" altLang="zh-CN" sz="1100" dirty="0"/>
              <a:t>RIP</a:t>
            </a:r>
            <a:r>
              <a:rPr lang="zh-CN" altLang="en-US" sz="1100" dirty="0"/>
              <a:t>、</a:t>
            </a:r>
            <a:r>
              <a:rPr lang="en-US" altLang="zh-CN" sz="1100" dirty="0"/>
              <a:t>OSPFv3</a:t>
            </a:r>
            <a:r>
              <a:rPr lang="zh-CN" altLang="en-US" sz="1100" dirty="0"/>
              <a:t>、</a:t>
            </a:r>
            <a:r>
              <a:rPr lang="en-US" altLang="zh-CN" sz="1100" dirty="0"/>
              <a:t>IS-IS</a:t>
            </a:r>
            <a:r>
              <a:rPr lang="zh-CN" altLang="en-US" sz="1100" dirty="0"/>
              <a:t>或</a:t>
            </a:r>
            <a:r>
              <a:rPr lang="en-US" altLang="zh-CN" sz="1100" dirty="0"/>
              <a:t>BGP</a:t>
            </a:r>
            <a:r>
              <a:rPr lang="zh-CN" altLang="en-US" sz="1100" dirty="0"/>
              <a:t>。</a:t>
            </a:r>
            <a:endParaRPr lang="zh-CN" altLang="en-US" sz="1100" dirty="0"/>
          </a:p>
          <a:p>
            <a:pPr lvl="1"/>
            <a:r>
              <a:rPr lang="en-US" altLang="zh-CN" sz="1100" dirty="0"/>
              <a:t>PE2</a:t>
            </a:r>
            <a:r>
              <a:rPr lang="zh-CN" altLang="en-US" sz="1100" dirty="0"/>
              <a:t>从</a:t>
            </a:r>
            <a:r>
              <a:rPr lang="en-US" altLang="zh-CN" sz="1100" dirty="0"/>
              <a:t>CE2</a:t>
            </a:r>
            <a:r>
              <a:rPr lang="zh-CN" altLang="en-US" sz="1100" dirty="0"/>
              <a:t>学习到</a:t>
            </a:r>
            <a:r>
              <a:rPr lang="en-US" altLang="zh-CN" sz="1100" dirty="0"/>
              <a:t>VPN</a:t>
            </a:r>
            <a:r>
              <a:rPr lang="zh-CN" altLang="en-US" sz="1100" dirty="0"/>
              <a:t>路由信息后，存放到</a:t>
            </a:r>
            <a:r>
              <a:rPr lang="en-US" altLang="zh-CN" sz="1100" dirty="0"/>
              <a:t>VPN</a:t>
            </a:r>
            <a:r>
              <a:rPr lang="zh-CN" altLang="en-US" sz="1100" dirty="0"/>
              <a:t>实例路由表中。同时，转换成</a:t>
            </a:r>
            <a:r>
              <a:rPr lang="en-US" altLang="zh-CN" sz="1100" dirty="0"/>
              <a:t>MP-BGP</a:t>
            </a:r>
            <a:r>
              <a:rPr lang="zh-CN" altLang="en-US" sz="1100" dirty="0"/>
              <a:t>路由。</a:t>
            </a:r>
            <a:endParaRPr lang="en-US" altLang="zh-CN" sz="1100" dirty="0"/>
          </a:p>
          <a:p>
            <a:pPr marL="539750" marR="0" lvl="1" indent="-179705" algn="l" defTabSz="1219200" rtl="0" eaLnBrk="1" fontAlgn="ctr" latinLnBrk="0" hangingPunct="1">
              <a:lnSpc>
                <a:spcPct val="125000"/>
              </a:lnSpc>
              <a:spcBef>
                <a:spcPts val="0"/>
              </a:spcBef>
              <a:spcAft>
                <a:spcPts val="600"/>
              </a:spcAft>
              <a:buClrTx/>
              <a:buSzTx/>
              <a:buFont typeface="Huawei Sans" panose="020C0503030203020204" pitchFamily="34" charset="0"/>
              <a:buChar char="▫"/>
              <a:defRPr/>
            </a:pPr>
            <a:r>
              <a:rPr lang="en-US" altLang="zh-CN" sz="1100" dirty="0"/>
              <a:t>PE</a:t>
            </a:r>
            <a:r>
              <a:rPr lang="zh-CN" altLang="en-US" sz="1100" dirty="0"/>
              <a:t>之间路由发布：</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在设备</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PE2</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上配置</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BGP</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出口策略或者</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VPN</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出口策略（也可以在设备</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PE1</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上配置</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BGP</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入口策略或者</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VPN</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入口策略），为路由设置扩展团体属性</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Color</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，路由下一跳是</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PE2</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。然后路由通过</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BGP</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邻居发送给设备</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PE1</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a:t>
            </a:r>
            <a:r>
              <a:rPr lang="en-US" altLang="zh-CN" sz="1100" dirty="0"/>
              <a:t>Update</a:t>
            </a:r>
            <a:r>
              <a:rPr lang="zh-CN" altLang="en-US" sz="1100" dirty="0"/>
              <a:t>报文中还携带</a:t>
            </a:r>
            <a:r>
              <a:rPr lang="en-US" altLang="zh-CN" sz="1100" dirty="0"/>
              <a:t>RT</a:t>
            </a:r>
            <a:r>
              <a:rPr lang="zh-CN" altLang="en-US" sz="1100" dirty="0"/>
              <a:t>属性及</a:t>
            </a:r>
            <a:r>
              <a:rPr lang="en-US" altLang="zh-CN" sz="1100" dirty="0"/>
              <a:t>SRv6 VPN SID</a:t>
            </a:r>
            <a:r>
              <a:rPr lang="zh-CN" altLang="en-US" sz="1100" dirty="0"/>
              <a:t>属性。</a:t>
            </a:r>
            <a:endParaRPr lang="zh-CN" altLang="en-US" sz="1100" dirty="0"/>
          </a:p>
          <a:p>
            <a:pPr lvl="1"/>
            <a:r>
              <a:rPr lang="en-US" altLang="zh-CN" sz="1100" dirty="0"/>
              <a:t>PE1</a:t>
            </a:r>
            <a:r>
              <a:rPr lang="zh-CN" altLang="en-US" sz="1100" dirty="0"/>
              <a:t>接收</a:t>
            </a:r>
            <a:r>
              <a:rPr lang="en-US" altLang="zh-CN" sz="1100" dirty="0"/>
              <a:t>VPN</a:t>
            </a:r>
            <a:r>
              <a:rPr lang="zh-CN" altLang="en-US" sz="1100" dirty="0"/>
              <a:t>路由：</a:t>
            </a:r>
            <a:r>
              <a:rPr lang="en-US" altLang="zh-CN" sz="1100" dirty="0"/>
              <a:t>PE1</a:t>
            </a:r>
            <a:r>
              <a:rPr lang="zh-CN" altLang="en-US" sz="1100" dirty="0"/>
              <a:t>收到</a:t>
            </a:r>
            <a:r>
              <a:rPr lang="en-US" altLang="zh-CN" sz="1100" dirty="0"/>
              <a:t>VPN</a:t>
            </a:r>
            <a:r>
              <a:rPr lang="zh-CN" altLang="en-US" sz="1100" dirty="0"/>
              <a:t>路由后，在下一跳可达并且通过</a:t>
            </a:r>
            <a:r>
              <a:rPr lang="en-US" altLang="zh-CN" sz="1100" dirty="0"/>
              <a:t>BGP</a:t>
            </a:r>
            <a:r>
              <a:rPr lang="zh-CN" altLang="en-US" sz="1100" dirty="0"/>
              <a:t>的入口策略的情况下，进行私网路由交叉、路由迭代</a:t>
            </a:r>
            <a:r>
              <a:rPr lang="en-US" altLang="zh-CN" sz="1100" dirty="0"/>
              <a:t>SRv6</a:t>
            </a:r>
            <a:r>
              <a:rPr lang="zh-CN" altLang="en-US" sz="1100" dirty="0"/>
              <a:t>路径、路由优选等动作，决定是否将该路由加入到</a:t>
            </a:r>
            <a:r>
              <a:rPr lang="en-US" altLang="zh-CN" sz="1100" dirty="0"/>
              <a:t>VPN</a:t>
            </a:r>
            <a:r>
              <a:rPr lang="zh-CN" altLang="en-US" sz="1100" dirty="0"/>
              <a:t>实例路由表。</a:t>
            </a:r>
            <a:r>
              <a:rPr lang="en-US" altLang="zh-CN" sz="1100" dirty="0"/>
              <a:t>VPN</a:t>
            </a:r>
            <a:r>
              <a:rPr lang="zh-CN" altLang="en-US" sz="1100" dirty="0"/>
              <a:t>路由下发同时关联</a:t>
            </a:r>
            <a:r>
              <a:rPr lang="en-US" altLang="zh-CN" sz="1100" dirty="0"/>
              <a:t>SRv6 VPN SID</a:t>
            </a:r>
            <a:r>
              <a:rPr lang="zh-CN" altLang="en-US" sz="1100" dirty="0"/>
              <a:t>。</a:t>
            </a:r>
            <a:endParaRPr lang="zh-CN" altLang="en-US" sz="1100" dirty="0"/>
          </a:p>
          <a:p>
            <a:pPr lvl="1"/>
            <a:r>
              <a:rPr lang="en-US" altLang="zh-CN" sz="1100" dirty="0"/>
              <a:t>PE</a:t>
            </a:r>
            <a:r>
              <a:rPr lang="zh-CN" altLang="en-US" sz="1100" dirty="0"/>
              <a:t>到</a:t>
            </a:r>
            <a:r>
              <a:rPr lang="en-US" altLang="zh-CN" sz="1100" dirty="0"/>
              <a:t>CE</a:t>
            </a:r>
            <a:r>
              <a:rPr lang="zh-CN" altLang="en-US" sz="1100" dirty="0"/>
              <a:t>的路由信息交换：</a:t>
            </a:r>
            <a:r>
              <a:rPr lang="en-US" altLang="zh-CN" sz="1100" dirty="0"/>
              <a:t>CE1</a:t>
            </a:r>
            <a:r>
              <a:rPr lang="zh-CN" altLang="en-US" sz="1100" dirty="0"/>
              <a:t>有多种方式可以从</a:t>
            </a:r>
            <a:r>
              <a:rPr lang="en-US" altLang="zh-CN" sz="1100" dirty="0"/>
              <a:t>PE1</a:t>
            </a:r>
            <a:r>
              <a:rPr lang="zh-CN" altLang="en-US" sz="1100" dirty="0"/>
              <a:t>学习</a:t>
            </a:r>
            <a:r>
              <a:rPr lang="en-US" altLang="zh-CN" sz="1100" dirty="0"/>
              <a:t>VPN</a:t>
            </a:r>
            <a:r>
              <a:rPr lang="zh-CN" altLang="en-US" sz="1100" dirty="0"/>
              <a:t>路由，包括静态路由、</a:t>
            </a:r>
            <a:r>
              <a:rPr lang="en-US" altLang="zh-CN" sz="1100" dirty="0"/>
              <a:t>RIP</a:t>
            </a:r>
            <a:r>
              <a:rPr lang="zh-CN" altLang="en-US" sz="1100" dirty="0"/>
              <a:t>、</a:t>
            </a:r>
            <a:r>
              <a:rPr lang="en-US" altLang="zh-CN" sz="1100" dirty="0"/>
              <a:t>OSPFv3</a:t>
            </a:r>
            <a:r>
              <a:rPr lang="zh-CN" altLang="en-US" sz="1100" dirty="0"/>
              <a:t>、</a:t>
            </a:r>
            <a:r>
              <a:rPr lang="en-US" altLang="zh-CN" sz="1100" dirty="0"/>
              <a:t>IS-IS</a:t>
            </a:r>
            <a:r>
              <a:rPr lang="zh-CN" altLang="en-US" sz="1100" dirty="0"/>
              <a:t>和</a:t>
            </a:r>
            <a:r>
              <a:rPr lang="en-US" altLang="zh-CN" sz="1100" dirty="0"/>
              <a:t>BGP</a:t>
            </a:r>
            <a:r>
              <a:rPr lang="zh-CN" altLang="en-US" sz="1100" dirty="0"/>
              <a:t>，与</a:t>
            </a:r>
            <a:r>
              <a:rPr lang="en-US" altLang="zh-CN" sz="1100" dirty="0"/>
              <a:t>CE2</a:t>
            </a:r>
            <a:r>
              <a:rPr lang="zh-CN" altLang="en-US" sz="1100" dirty="0"/>
              <a:t>到</a:t>
            </a:r>
            <a:r>
              <a:rPr lang="en-US" altLang="zh-CN" sz="1100" dirty="0"/>
              <a:t>PE2</a:t>
            </a:r>
            <a:r>
              <a:rPr lang="zh-CN" altLang="en-US" sz="1100" dirty="0"/>
              <a:t>的路由信息交换相同。</a:t>
            </a:r>
            <a:endParaRPr lang="en-US" altLang="zh-CN" sz="1100" dirty="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a:xfrm>
            <a:off x="731838" y="728663"/>
            <a:ext cx="5580062" cy="8366172"/>
          </a:xfrm>
        </p:spPr>
        <p:txBody>
          <a:bodyPr/>
          <a:lstStyle/>
          <a:p>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报文转发流程：</a:t>
            </a:r>
            <a:endPar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endParaRPr>
          </a:p>
          <a:p>
            <a:pPr lvl="1"/>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头端</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PE1</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接收到</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CE1</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发送的普通单播报文后，查找</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VPN</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实例路由表，该路由的出接口是</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SRv6 Policy</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PE1</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为报文插入</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SRH</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信息，封装</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SRv6 Policy</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的</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SID List</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，然后封装</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IPv6</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报文头信息。完成之后，</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PE1</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将报文对</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P1</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转发。</a:t>
            </a:r>
            <a:endPar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endParaRPr>
          </a:p>
          <a:p>
            <a:pPr lvl="1"/>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中间</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P1</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根据</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SRH</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信息逐跳转发。</a:t>
            </a:r>
            <a:endPar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endParaRPr>
          </a:p>
          <a:p>
            <a:pPr lvl="1"/>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报文到达尾节点</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PE2</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之后，</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PE2</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使用报文的</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IPv6</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目的地址</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FC03::3</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查找</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My Local SID</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表，命中到</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End SID</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，所以</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PE2</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将报文</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SL</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减</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1</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IPv6 DA</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更新为</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VPN SID FC03::300</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a:t>
            </a:r>
            <a:endPar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endParaRPr>
          </a:p>
          <a:p>
            <a:pPr lvl="1"/>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PE2</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使用</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VPN SID FC03::300</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查找</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My Local SID</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表，命中到</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End.DT4 SID</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PE2</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解封装报文，去掉</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SRH</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信息和</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IPv6</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报文头，使用内层报文目的地址查找</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VPN SID FC03::300</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对应的</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VPN</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实例路由表，然后将报文转发给</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CE2</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a:t>
            </a:r>
            <a:endPar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r>
              <a:rPr lang="zh-CN" altLang="en-US" sz="1100" dirty="0"/>
              <a:t>路由传递流程：</a:t>
            </a:r>
            <a:endParaRPr lang="en-US" altLang="zh-CN" sz="1100" dirty="0"/>
          </a:p>
          <a:p>
            <a:pPr lvl="1"/>
            <a:r>
              <a:rPr lang="en-US" altLang="zh-CN" sz="1100" dirty="0"/>
              <a:t>PE</a:t>
            </a:r>
            <a:r>
              <a:rPr lang="zh-CN" altLang="en-US" sz="1100" dirty="0"/>
              <a:t>配置</a:t>
            </a:r>
            <a:r>
              <a:rPr lang="en-US" altLang="zh-CN" sz="1100" dirty="0"/>
              <a:t>SRv6</a:t>
            </a:r>
            <a:r>
              <a:rPr lang="zh-CN" altLang="en-US" sz="1100" dirty="0"/>
              <a:t>和</a:t>
            </a:r>
            <a:r>
              <a:rPr lang="en-US" altLang="zh-CN" sz="1100" dirty="0"/>
              <a:t>SRv6 VPN</a:t>
            </a:r>
            <a:r>
              <a:rPr lang="zh-CN" altLang="en-US" sz="1100" dirty="0"/>
              <a:t>，中间节点设备需要支持</a:t>
            </a:r>
            <a:r>
              <a:rPr lang="en-US" altLang="zh-CN" sz="1100" dirty="0"/>
              <a:t>IPv6</a:t>
            </a:r>
            <a:r>
              <a:rPr lang="zh-CN" altLang="en-US" sz="1100" dirty="0"/>
              <a:t>。</a:t>
            </a:r>
            <a:endParaRPr lang="zh-CN" altLang="en-US" sz="1100" dirty="0"/>
          </a:p>
          <a:p>
            <a:pPr lvl="1"/>
            <a:r>
              <a:rPr lang="en-US" altLang="zh-CN" sz="1100" dirty="0"/>
              <a:t>PE2</a:t>
            </a:r>
            <a:r>
              <a:rPr lang="zh-CN" altLang="en-US" sz="1100" dirty="0"/>
              <a:t>发布</a:t>
            </a:r>
            <a:r>
              <a:rPr lang="en-US" altLang="zh-CN" sz="1100" dirty="0"/>
              <a:t>SRv6 Locator</a:t>
            </a:r>
            <a:r>
              <a:rPr lang="zh-CN" altLang="en-US" sz="1100" dirty="0"/>
              <a:t>路由给</a:t>
            </a:r>
            <a:r>
              <a:rPr lang="en-US" altLang="zh-CN" sz="1100" dirty="0"/>
              <a:t>PE1</a:t>
            </a:r>
            <a:r>
              <a:rPr lang="zh-CN" altLang="en-US" sz="1100" dirty="0"/>
              <a:t>。</a:t>
            </a:r>
            <a:endParaRPr lang="en-US" altLang="zh-CN" sz="1100" dirty="0"/>
          </a:p>
          <a:p>
            <a:pPr lvl="1"/>
            <a:r>
              <a:rPr lang="en-US" altLang="zh-CN" sz="1100" dirty="0"/>
              <a:t>CE</a:t>
            </a:r>
            <a:r>
              <a:rPr lang="zh-CN" altLang="en-US" sz="1100" dirty="0"/>
              <a:t>到</a:t>
            </a:r>
            <a:r>
              <a:rPr lang="en-US" altLang="zh-CN" sz="1100" dirty="0"/>
              <a:t>PE</a:t>
            </a:r>
            <a:r>
              <a:rPr lang="zh-CN" altLang="en-US" sz="1100" dirty="0"/>
              <a:t>的路由信息交换：</a:t>
            </a:r>
            <a:r>
              <a:rPr lang="en-US" altLang="zh-CN" sz="1100" dirty="0"/>
              <a:t>CE2</a:t>
            </a:r>
            <a:r>
              <a:rPr lang="zh-CN" altLang="en-US" sz="1100" dirty="0"/>
              <a:t>把本站点的路由发布给</a:t>
            </a:r>
            <a:r>
              <a:rPr lang="en-US" altLang="zh-CN" sz="1100" dirty="0"/>
              <a:t>PE2</a:t>
            </a:r>
            <a:r>
              <a:rPr lang="zh-CN" altLang="en-US" sz="1100" dirty="0"/>
              <a:t>。</a:t>
            </a:r>
            <a:r>
              <a:rPr lang="en-US" altLang="zh-CN" sz="1100" dirty="0"/>
              <a:t>CE</a:t>
            </a:r>
            <a:r>
              <a:rPr lang="zh-CN" altLang="en-US" sz="1100" dirty="0"/>
              <a:t>与</a:t>
            </a:r>
            <a:r>
              <a:rPr lang="en-US" altLang="zh-CN" sz="1100" dirty="0"/>
              <a:t>PE</a:t>
            </a:r>
            <a:r>
              <a:rPr lang="zh-CN" altLang="en-US" sz="1100" dirty="0"/>
              <a:t>之间可以使用静态路由、</a:t>
            </a:r>
            <a:r>
              <a:rPr lang="en-US" altLang="zh-CN" sz="1100" dirty="0"/>
              <a:t>RIP</a:t>
            </a:r>
            <a:r>
              <a:rPr lang="zh-CN" altLang="en-US" sz="1100" dirty="0"/>
              <a:t>、</a:t>
            </a:r>
            <a:r>
              <a:rPr lang="en-US" altLang="zh-CN" sz="1100" dirty="0"/>
              <a:t>OSPFv3</a:t>
            </a:r>
            <a:r>
              <a:rPr lang="zh-CN" altLang="en-US" sz="1100" dirty="0"/>
              <a:t>、</a:t>
            </a:r>
            <a:r>
              <a:rPr lang="en-US" altLang="zh-CN" sz="1100" dirty="0"/>
              <a:t>IS-IS</a:t>
            </a:r>
            <a:r>
              <a:rPr lang="zh-CN" altLang="en-US" sz="1100" dirty="0"/>
              <a:t>或</a:t>
            </a:r>
            <a:r>
              <a:rPr lang="en-US" altLang="zh-CN" sz="1100" dirty="0"/>
              <a:t>BGP</a:t>
            </a:r>
            <a:r>
              <a:rPr lang="zh-CN" altLang="en-US" sz="1100" dirty="0"/>
              <a:t>。</a:t>
            </a:r>
            <a:endParaRPr lang="zh-CN" altLang="en-US" sz="1100" dirty="0"/>
          </a:p>
          <a:p>
            <a:pPr lvl="1"/>
            <a:r>
              <a:rPr lang="en-US" altLang="zh-CN" sz="1100" dirty="0"/>
              <a:t>PE2</a:t>
            </a:r>
            <a:r>
              <a:rPr lang="zh-CN" altLang="en-US" sz="1100" dirty="0"/>
              <a:t>从</a:t>
            </a:r>
            <a:r>
              <a:rPr lang="en-US" altLang="zh-CN" sz="1100" dirty="0"/>
              <a:t>CE2</a:t>
            </a:r>
            <a:r>
              <a:rPr lang="zh-CN" altLang="en-US" sz="1100" dirty="0"/>
              <a:t>学习到</a:t>
            </a:r>
            <a:r>
              <a:rPr lang="en-US" altLang="zh-CN" sz="1100" dirty="0"/>
              <a:t>VPN</a:t>
            </a:r>
            <a:r>
              <a:rPr lang="zh-CN" altLang="en-US" sz="1100" dirty="0"/>
              <a:t>路由信息后，存放到</a:t>
            </a:r>
            <a:r>
              <a:rPr lang="en-US" altLang="zh-CN" sz="1100" dirty="0"/>
              <a:t>VPN</a:t>
            </a:r>
            <a:r>
              <a:rPr lang="zh-CN" altLang="en-US" sz="1100" dirty="0"/>
              <a:t>实例路由表中。同时，转换成</a:t>
            </a:r>
            <a:r>
              <a:rPr lang="en-US" altLang="zh-CN" sz="1100" dirty="0"/>
              <a:t>MP-BGP</a:t>
            </a:r>
            <a:r>
              <a:rPr lang="zh-CN" altLang="en-US" sz="1100" dirty="0"/>
              <a:t>路由。</a:t>
            </a:r>
            <a:endParaRPr lang="zh-CN" altLang="en-US" sz="1100" dirty="0"/>
          </a:p>
          <a:p>
            <a:pPr lvl="1"/>
            <a:r>
              <a:rPr lang="en-US" altLang="zh-CN" sz="1100" dirty="0"/>
              <a:t>PE</a:t>
            </a:r>
            <a:r>
              <a:rPr lang="zh-CN" altLang="en-US" sz="1100" dirty="0"/>
              <a:t>之间路由发布：</a:t>
            </a:r>
            <a:r>
              <a:rPr lang="en-US" altLang="zh-CN" sz="1100" dirty="0"/>
              <a:t>PE2</a:t>
            </a:r>
            <a:r>
              <a:rPr lang="zh-CN" altLang="en-US" sz="1100" dirty="0"/>
              <a:t>通过</a:t>
            </a:r>
            <a:r>
              <a:rPr lang="en-US" altLang="zh-CN" sz="1100" dirty="0"/>
              <a:t>MP-BGP</a:t>
            </a:r>
            <a:r>
              <a:rPr lang="zh-CN" altLang="en-US" sz="1100" dirty="0"/>
              <a:t>把</a:t>
            </a:r>
            <a:r>
              <a:rPr lang="en-US" altLang="zh-CN" sz="1100" dirty="0"/>
              <a:t>VPN</a:t>
            </a:r>
            <a:r>
              <a:rPr lang="zh-CN" altLang="en-US" sz="1100" dirty="0"/>
              <a:t>路由发布给出口</a:t>
            </a:r>
            <a:r>
              <a:rPr lang="en-US" altLang="zh-CN" sz="1100" dirty="0"/>
              <a:t>PE1</a:t>
            </a:r>
            <a:r>
              <a:rPr lang="zh-CN" altLang="en-US" sz="1100" dirty="0"/>
              <a:t>。</a:t>
            </a:r>
            <a:r>
              <a:rPr lang="en-US" altLang="zh-CN" sz="1100" dirty="0"/>
              <a:t>Update</a:t>
            </a:r>
            <a:r>
              <a:rPr lang="zh-CN" altLang="en-US" sz="1100" dirty="0"/>
              <a:t>报文中还携带</a:t>
            </a:r>
            <a:r>
              <a:rPr lang="en-US" altLang="zh-CN" sz="1100" dirty="0"/>
              <a:t>RT</a:t>
            </a:r>
            <a:r>
              <a:rPr lang="zh-CN" altLang="en-US" sz="1100" dirty="0"/>
              <a:t>属性及</a:t>
            </a:r>
            <a:r>
              <a:rPr lang="en-US" altLang="zh-CN" sz="1100" dirty="0"/>
              <a:t>SRv6 VPN SID</a:t>
            </a:r>
            <a:r>
              <a:rPr lang="zh-CN" altLang="en-US" sz="1100" dirty="0"/>
              <a:t>属性。</a:t>
            </a:r>
            <a:endParaRPr lang="zh-CN" altLang="en-US" sz="1100" dirty="0"/>
          </a:p>
          <a:p>
            <a:pPr lvl="1"/>
            <a:r>
              <a:rPr lang="en-US" altLang="zh-CN" sz="1100" dirty="0"/>
              <a:t>PE1</a:t>
            </a:r>
            <a:r>
              <a:rPr lang="zh-CN" altLang="en-US" sz="1100" dirty="0"/>
              <a:t>接收</a:t>
            </a:r>
            <a:r>
              <a:rPr lang="en-US" altLang="zh-CN" sz="1100" dirty="0"/>
              <a:t>VPN</a:t>
            </a:r>
            <a:r>
              <a:rPr lang="zh-CN" altLang="en-US" sz="1100" dirty="0"/>
              <a:t>路由：</a:t>
            </a:r>
            <a:r>
              <a:rPr lang="en-US" altLang="zh-CN" sz="1100" dirty="0"/>
              <a:t>PE1</a:t>
            </a:r>
            <a:r>
              <a:rPr lang="zh-CN" altLang="en-US" sz="1100" dirty="0"/>
              <a:t>收到</a:t>
            </a:r>
            <a:r>
              <a:rPr lang="en-US" altLang="zh-CN" sz="1100" dirty="0"/>
              <a:t>VPN</a:t>
            </a:r>
            <a:r>
              <a:rPr lang="zh-CN" altLang="en-US" sz="1100" dirty="0"/>
              <a:t>路由后，在下一跳可达并且通过</a:t>
            </a:r>
            <a:r>
              <a:rPr lang="en-US" altLang="zh-CN" sz="1100" dirty="0"/>
              <a:t>BGP</a:t>
            </a:r>
            <a:r>
              <a:rPr lang="zh-CN" altLang="en-US" sz="1100" dirty="0"/>
              <a:t>的入口策略的情况下，进行私网路由交叉、路由迭代</a:t>
            </a:r>
            <a:r>
              <a:rPr lang="en-US" altLang="zh-CN" sz="1100" dirty="0"/>
              <a:t>SRv6 BE</a:t>
            </a:r>
            <a:r>
              <a:rPr lang="zh-CN" altLang="en-US" sz="1100" dirty="0"/>
              <a:t>路径、路由优选等动作，决定是否将该路由加入到</a:t>
            </a:r>
            <a:r>
              <a:rPr lang="en-US" altLang="zh-CN" sz="1100" dirty="0"/>
              <a:t>VPN</a:t>
            </a:r>
            <a:r>
              <a:rPr lang="zh-CN" altLang="en-US" sz="1100" dirty="0"/>
              <a:t>实例路由表。</a:t>
            </a:r>
            <a:r>
              <a:rPr lang="en-US" altLang="zh-CN" sz="1100" dirty="0"/>
              <a:t>VPN</a:t>
            </a:r>
            <a:r>
              <a:rPr lang="zh-CN" altLang="en-US" sz="1100" dirty="0"/>
              <a:t>路由下发同时关联</a:t>
            </a:r>
            <a:r>
              <a:rPr lang="en-US" altLang="zh-CN" sz="1100" dirty="0"/>
              <a:t>SRv6 VPN SID</a:t>
            </a:r>
            <a:r>
              <a:rPr lang="zh-CN" altLang="en-US" sz="1100" dirty="0"/>
              <a:t>。</a:t>
            </a:r>
            <a:endParaRPr lang="zh-CN" altLang="en-US" sz="1100" dirty="0"/>
          </a:p>
          <a:p>
            <a:pPr lvl="1"/>
            <a:r>
              <a:rPr lang="en-US" altLang="zh-CN" sz="1100" dirty="0"/>
              <a:t>PE</a:t>
            </a:r>
            <a:r>
              <a:rPr lang="zh-CN" altLang="en-US" sz="1100" dirty="0"/>
              <a:t>到</a:t>
            </a:r>
            <a:r>
              <a:rPr lang="en-US" altLang="zh-CN" sz="1100" dirty="0"/>
              <a:t>CE</a:t>
            </a:r>
            <a:r>
              <a:rPr lang="zh-CN" altLang="en-US" sz="1100" dirty="0"/>
              <a:t>的路由信息交换：</a:t>
            </a:r>
            <a:r>
              <a:rPr lang="en-US" altLang="zh-CN" sz="1100" dirty="0"/>
              <a:t>CE1</a:t>
            </a:r>
            <a:r>
              <a:rPr lang="zh-CN" altLang="en-US" sz="1100" dirty="0"/>
              <a:t>有多种方式可以从</a:t>
            </a:r>
            <a:r>
              <a:rPr lang="en-US" altLang="zh-CN" sz="1100" dirty="0"/>
              <a:t>PE1</a:t>
            </a:r>
            <a:r>
              <a:rPr lang="zh-CN" altLang="en-US" sz="1100" dirty="0"/>
              <a:t>学习</a:t>
            </a:r>
            <a:r>
              <a:rPr lang="en-US" altLang="zh-CN" sz="1100" dirty="0"/>
              <a:t>VPN</a:t>
            </a:r>
            <a:r>
              <a:rPr lang="zh-CN" altLang="en-US" sz="1100" dirty="0"/>
              <a:t>路由，包括静态路由、</a:t>
            </a:r>
            <a:r>
              <a:rPr lang="en-US" altLang="zh-CN" sz="1100" dirty="0"/>
              <a:t>RIP</a:t>
            </a:r>
            <a:r>
              <a:rPr lang="zh-CN" altLang="en-US" sz="1100" dirty="0"/>
              <a:t>、</a:t>
            </a:r>
            <a:r>
              <a:rPr lang="en-US" altLang="zh-CN" sz="1100" dirty="0"/>
              <a:t>OSPFv3</a:t>
            </a:r>
            <a:r>
              <a:rPr lang="zh-CN" altLang="en-US" sz="1100" dirty="0"/>
              <a:t>、</a:t>
            </a:r>
            <a:r>
              <a:rPr lang="en-US" altLang="zh-CN" sz="1100" dirty="0"/>
              <a:t>IS-IS</a:t>
            </a:r>
            <a:r>
              <a:rPr lang="zh-CN" altLang="en-US" sz="1100" dirty="0"/>
              <a:t>和</a:t>
            </a:r>
            <a:r>
              <a:rPr lang="en-US" altLang="zh-CN" sz="1100" dirty="0"/>
              <a:t>BGP</a:t>
            </a:r>
            <a:r>
              <a:rPr lang="zh-CN" altLang="en-US" sz="1100" dirty="0"/>
              <a:t>，与</a:t>
            </a:r>
            <a:r>
              <a:rPr lang="en-US" altLang="zh-CN" sz="1100" dirty="0"/>
              <a:t>CE2</a:t>
            </a:r>
            <a:r>
              <a:rPr lang="zh-CN" altLang="en-US" sz="1100" dirty="0"/>
              <a:t>到</a:t>
            </a:r>
            <a:r>
              <a:rPr lang="en-US" altLang="zh-CN" sz="1100" dirty="0"/>
              <a:t>PE2</a:t>
            </a:r>
            <a:r>
              <a:rPr lang="zh-CN" altLang="en-US" sz="1100" dirty="0"/>
              <a:t>的路由信息交换相同。</a:t>
            </a:r>
            <a:endParaRPr lang="en-US" altLang="zh-CN" sz="1100" dirty="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a:xfrm>
            <a:off x="731838" y="728663"/>
            <a:ext cx="5580062" cy="8366172"/>
          </a:xfrm>
        </p:spPr>
        <p:txBody>
          <a:bodyPr/>
          <a:lstStyle/>
          <a:p>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报文转发流程：</a:t>
            </a:r>
            <a:endPar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endParaRPr>
          </a:p>
          <a:p>
            <a:pPr lvl="1"/>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头端</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PE1</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接收到</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CE1</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发送的普通单播报文后，查找</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VPN</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实例路由表，该路由的出接口是</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SRv6 Policy</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PE1</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为报文插入</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SRH</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信息，封装</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SRv6 Policy</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的</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SID List</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，然后封装</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IPv6</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报文头信息。完成之后，</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PE1</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将报文对</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P1</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转发。</a:t>
            </a:r>
            <a:endPar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endParaRPr>
          </a:p>
          <a:p>
            <a:pPr lvl="1"/>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中间</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P1</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根据</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SRH</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信息逐跳转发。</a:t>
            </a:r>
            <a:endPar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endParaRPr>
          </a:p>
          <a:p>
            <a:pPr lvl="1"/>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报文到达尾节点</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PE2</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之后，</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PE2</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使用报文的</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IPv6</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目的地址</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FC03::3</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查找</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My Local SID</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表，命中到</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End SID</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，所以</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PE2</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将报文</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SL</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减</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1</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IPv6 DA</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更新为</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VPN SID FC03::300</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a:t>
            </a:r>
            <a:endPar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endParaRPr>
          </a:p>
          <a:p>
            <a:pPr lvl="1"/>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PE2</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使用</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VPN SID FC03::300</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查找</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My Local SID</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表，命中到</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End.DT4 SID</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PE2</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解封装报文，去掉</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SRH</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信息和</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IPv6</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报文头，使用内层报文目的地址查找</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VPN SID FC03::300</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对应的</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VPN</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实例路由表，然后将报文转发给</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CE2</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a:t>
            </a:r>
            <a:endPar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pPr marL="179705" marR="0" lvl="0" indent="-179705" algn="l" defTabSz="1219200" rtl="0" eaLnBrk="1" fontAlgn="ctr" latinLnBrk="0" hangingPunct="1">
              <a:lnSpc>
                <a:spcPct val="125000"/>
              </a:lnSpc>
              <a:spcBef>
                <a:spcPts val="0"/>
              </a:spcBef>
              <a:spcAft>
                <a:spcPts val="600"/>
              </a:spcAft>
              <a:buClrTx/>
              <a:buSzTx/>
              <a:buFont typeface="Huawei Sans" panose="020C0503030203020204" pitchFamily="34" charset="0"/>
              <a:buChar char="•"/>
              <a:defRPr/>
            </a:pPr>
            <a:r>
              <a:rPr lang="zh-CN" altLang="en-US" sz="1100" dirty="0"/>
              <a:t>路由传递流程：</a:t>
            </a:r>
            <a:endParaRPr lang="en-US" altLang="zh-CN" sz="1100" dirty="0"/>
          </a:p>
          <a:p>
            <a:pPr lvl="1"/>
            <a:r>
              <a:rPr lang="en-US" altLang="zh-CN" sz="1100" dirty="0"/>
              <a:t>PE</a:t>
            </a:r>
            <a:r>
              <a:rPr lang="zh-CN" altLang="en-US" sz="1100" dirty="0"/>
              <a:t>配置</a:t>
            </a:r>
            <a:r>
              <a:rPr lang="en-US" altLang="zh-CN" sz="1100" dirty="0"/>
              <a:t>SRv6</a:t>
            </a:r>
            <a:r>
              <a:rPr lang="zh-CN" altLang="en-US" sz="1100" dirty="0"/>
              <a:t>和</a:t>
            </a:r>
            <a:r>
              <a:rPr lang="en-US" altLang="zh-CN" sz="1100" dirty="0"/>
              <a:t>SRv6 VPN</a:t>
            </a:r>
            <a:r>
              <a:rPr lang="zh-CN" altLang="en-US" sz="1100" dirty="0"/>
              <a:t>，中间节点设备需要支持</a:t>
            </a:r>
            <a:r>
              <a:rPr lang="en-US" altLang="zh-CN" sz="1100" dirty="0"/>
              <a:t>IPv6</a:t>
            </a:r>
            <a:r>
              <a:rPr lang="zh-CN" altLang="en-US" sz="1100" dirty="0"/>
              <a:t>或</a:t>
            </a:r>
            <a:r>
              <a:rPr lang="en-US" altLang="zh-CN" sz="1100" dirty="0"/>
              <a:t>SRv6</a:t>
            </a:r>
            <a:r>
              <a:rPr lang="zh-CN" altLang="en-US" sz="1100" dirty="0"/>
              <a:t>。</a:t>
            </a:r>
            <a:endParaRPr lang="zh-CN" altLang="en-US" sz="1100" dirty="0"/>
          </a:p>
          <a:p>
            <a:pPr lvl="1"/>
            <a:r>
              <a:rPr lang="en-US" altLang="zh-CN" sz="1100" dirty="0"/>
              <a:t>PE2</a:t>
            </a:r>
            <a:r>
              <a:rPr lang="zh-CN" altLang="en-US" sz="1100" dirty="0"/>
              <a:t>发布</a:t>
            </a:r>
            <a:r>
              <a:rPr lang="en-US" altLang="zh-CN" sz="1100" dirty="0"/>
              <a:t>SRv6 Locator</a:t>
            </a:r>
            <a:r>
              <a:rPr lang="zh-CN" altLang="en-US" sz="1100" dirty="0"/>
              <a:t>路由给</a:t>
            </a:r>
            <a:r>
              <a:rPr lang="en-US" altLang="zh-CN" sz="1100" dirty="0"/>
              <a:t>PE1</a:t>
            </a:r>
            <a:r>
              <a:rPr lang="zh-CN" altLang="en-US" sz="1100" dirty="0"/>
              <a:t>。</a:t>
            </a:r>
            <a:endParaRPr lang="en-US" altLang="zh-CN" sz="1100" dirty="0"/>
          </a:p>
          <a:p>
            <a:pPr lvl="1"/>
            <a:r>
              <a:rPr lang="en-US" altLang="zh-CN" sz="1100" dirty="0"/>
              <a:t>CE</a:t>
            </a:r>
            <a:r>
              <a:rPr lang="zh-CN" altLang="en-US" sz="1100" dirty="0"/>
              <a:t>到</a:t>
            </a:r>
            <a:r>
              <a:rPr lang="en-US" altLang="zh-CN" sz="1100" dirty="0"/>
              <a:t>PE</a:t>
            </a:r>
            <a:r>
              <a:rPr lang="zh-CN" altLang="en-US" sz="1100" dirty="0"/>
              <a:t>的路由信息交换：</a:t>
            </a:r>
            <a:r>
              <a:rPr lang="en-US" altLang="zh-CN" sz="1100" dirty="0"/>
              <a:t>CE2</a:t>
            </a:r>
            <a:r>
              <a:rPr lang="zh-CN" altLang="en-US" sz="1100" dirty="0"/>
              <a:t>把本站点的路由发布给</a:t>
            </a:r>
            <a:r>
              <a:rPr lang="en-US" altLang="zh-CN" sz="1100" dirty="0"/>
              <a:t>PE2</a:t>
            </a:r>
            <a:r>
              <a:rPr lang="zh-CN" altLang="en-US" sz="1100" dirty="0"/>
              <a:t>。</a:t>
            </a:r>
            <a:r>
              <a:rPr lang="en-US" altLang="zh-CN" sz="1100" dirty="0"/>
              <a:t>CE</a:t>
            </a:r>
            <a:r>
              <a:rPr lang="zh-CN" altLang="en-US" sz="1100" dirty="0"/>
              <a:t>与</a:t>
            </a:r>
            <a:r>
              <a:rPr lang="en-US" altLang="zh-CN" sz="1100" dirty="0"/>
              <a:t>PE</a:t>
            </a:r>
            <a:r>
              <a:rPr lang="zh-CN" altLang="en-US" sz="1100" dirty="0"/>
              <a:t>之间可以使用静态路由、</a:t>
            </a:r>
            <a:r>
              <a:rPr lang="en-US" altLang="zh-CN" sz="1100" dirty="0"/>
              <a:t>RIP</a:t>
            </a:r>
            <a:r>
              <a:rPr lang="zh-CN" altLang="en-US" sz="1100" dirty="0"/>
              <a:t>、</a:t>
            </a:r>
            <a:r>
              <a:rPr lang="en-US" altLang="zh-CN" sz="1100" dirty="0"/>
              <a:t>OSPFv3</a:t>
            </a:r>
            <a:r>
              <a:rPr lang="zh-CN" altLang="en-US" sz="1100" dirty="0"/>
              <a:t>、</a:t>
            </a:r>
            <a:r>
              <a:rPr lang="en-US" altLang="zh-CN" sz="1100" dirty="0"/>
              <a:t>IS-IS</a:t>
            </a:r>
            <a:r>
              <a:rPr lang="zh-CN" altLang="en-US" sz="1100" dirty="0"/>
              <a:t>或</a:t>
            </a:r>
            <a:r>
              <a:rPr lang="en-US" altLang="zh-CN" sz="1100" dirty="0"/>
              <a:t>BGP</a:t>
            </a:r>
            <a:r>
              <a:rPr lang="zh-CN" altLang="en-US" sz="1100" dirty="0"/>
              <a:t>。</a:t>
            </a:r>
            <a:endParaRPr lang="zh-CN" altLang="en-US" sz="1100" dirty="0"/>
          </a:p>
          <a:p>
            <a:pPr marL="539750" marR="0" lvl="1" indent="-179705" algn="l" defTabSz="1219200" rtl="0" eaLnBrk="1" fontAlgn="ctr" latinLnBrk="0" hangingPunct="1">
              <a:lnSpc>
                <a:spcPct val="125000"/>
              </a:lnSpc>
              <a:spcBef>
                <a:spcPts val="0"/>
              </a:spcBef>
              <a:spcAft>
                <a:spcPts val="600"/>
              </a:spcAft>
              <a:buClrTx/>
              <a:buSzTx/>
              <a:buFont typeface="Huawei Sans" panose="020C0503030203020204" pitchFamily="34" charset="0"/>
              <a:buChar char="▫"/>
              <a:defRPr/>
            </a:pPr>
            <a:r>
              <a:rPr lang="en-US" altLang="zh-CN" sz="1100" dirty="0"/>
              <a:t>PE</a:t>
            </a:r>
            <a:r>
              <a:rPr lang="zh-CN" altLang="en-US" sz="1100" dirty="0"/>
              <a:t>之间路由发布：</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在设备</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PE2</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上配置</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BGP</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出口策略（也可以在设备</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PE1</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上配置</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BGP</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入口策略），为路由设置扩展团体属性</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Color</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，路由下一跳是</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PE2</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。然后路由通过</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BGP</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邻居发送给设备</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PE1</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a:t>
            </a:r>
            <a:endPar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endParaRPr>
          </a:p>
          <a:p>
            <a:pPr marL="539750" marR="0" lvl="1" indent="-179705" algn="l" defTabSz="1219200" rtl="0" eaLnBrk="1" fontAlgn="ctr" latinLnBrk="0" hangingPunct="1">
              <a:lnSpc>
                <a:spcPct val="125000"/>
              </a:lnSpc>
              <a:spcBef>
                <a:spcPts val="0"/>
              </a:spcBef>
              <a:spcAft>
                <a:spcPts val="600"/>
              </a:spcAft>
              <a:buClrTx/>
              <a:buSzTx/>
              <a:buFont typeface="Huawei Sans" panose="020C0503030203020204" pitchFamily="34" charset="0"/>
              <a:buChar char="▫"/>
              <a:defRPr/>
            </a:pPr>
            <a:r>
              <a:rPr lang="en-US" altLang="zh-CN" sz="1100" dirty="0"/>
              <a:t>PE1</a:t>
            </a:r>
            <a:r>
              <a:rPr lang="zh-CN" altLang="en-US" sz="1100" dirty="0"/>
              <a:t>接收</a:t>
            </a:r>
            <a:r>
              <a:rPr lang="en-US" altLang="zh-CN" sz="1100" dirty="0"/>
              <a:t>IPv6</a:t>
            </a:r>
            <a:r>
              <a:rPr lang="zh-CN" altLang="en-US" sz="1100" dirty="0"/>
              <a:t>路由：</a:t>
            </a:r>
            <a:r>
              <a:rPr lang="en-US" altLang="zh-CN" sz="1100" dirty="0"/>
              <a:t>PE1</a:t>
            </a:r>
            <a:r>
              <a:rPr lang="zh-CN" altLang="en-US" sz="1100" dirty="0"/>
              <a:t>收到</a:t>
            </a:r>
            <a:r>
              <a:rPr lang="en-US" altLang="zh-CN" sz="1100" dirty="0"/>
              <a:t>IPv6</a:t>
            </a:r>
            <a:r>
              <a:rPr lang="zh-CN" altLang="en-US" sz="1100" dirty="0"/>
              <a:t>路由后，在下一跳可达并且通过</a:t>
            </a:r>
            <a:r>
              <a:rPr lang="en-US" altLang="zh-CN" sz="1100" dirty="0"/>
              <a:t>BGP</a:t>
            </a:r>
            <a:r>
              <a:rPr lang="zh-CN" altLang="en-US" sz="1100" dirty="0"/>
              <a:t>的入口策略的情况下，路由迭代</a:t>
            </a:r>
            <a:r>
              <a:rPr lang="en-US" altLang="zh-CN" sz="1100" dirty="0"/>
              <a:t>SRv6</a:t>
            </a:r>
            <a:r>
              <a:rPr lang="zh-CN" altLang="en-US" sz="1100" dirty="0"/>
              <a:t>路径、路由优选等动作。</a:t>
            </a:r>
            <a:endParaRPr lang="zh-CN" altLang="en-US" sz="1100" dirty="0"/>
          </a:p>
          <a:p>
            <a:pPr lvl="1"/>
            <a:r>
              <a:rPr lang="en-US" altLang="zh-CN" sz="1100" dirty="0"/>
              <a:t>PE</a:t>
            </a:r>
            <a:r>
              <a:rPr lang="zh-CN" altLang="en-US" sz="1100" dirty="0"/>
              <a:t>到</a:t>
            </a:r>
            <a:r>
              <a:rPr lang="en-US" altLang="zh-CN" sz="1100" dirty="0"/>
              <a:t>CE</a:t>
            </a:r>
            <a:r>
              <a:rPr lang="zh-CN" altLang="en-US" sz="1100" dirty="0"/>
              <a:t>的路由信息交换：</a:t>
            </a:r>
            <a:r>
              <a:rPr lang="en-US" altLang="zh-CN" sz="1100" dirty="0"/>
              <a:t>CE1</a:t>
            </a:r>
            <a:r>
              <a:rPr lang="zh-CN" altLang="en-US" sz="1100" dirty="0"/>
              <a:t>有多种方式可以从</a:t>
            </a:r>
            <a:r>
              <a:rPr lang="en-US" altLang="zh-CN" sz="1100" dirty="0"/>
              <a:t>PE1</a:t>
            </a:r>
            <a:r>
              <a:rPr lang="zh-CN" altLang="en-US" sz="1100" dirty="0"/>
              <a:t>学习</a:t>
            </a:r>
            <a:r>
              <a:rPr lang="en-US" altLang="zh-CN" sz="1100" dirty="0"/>
              <a:t>IPv6</a:t>
            </a:r>
            <a:r>
              <a:rPr lang="zh-CN" altLang="en-US" sz="1100" dirty="0"/>
              <a:t>路由，包括静态路由、</a:t>
            </a:r>
            <a:r>
              <a:rPr lang="en-US" altLang="zh-CN" sz="1100" dirty="0"/>
              <a:t>RIP</a:t>
            </a:r>
            <a:r>
              <a:rPr lang="zh-CN" altLang="en-US" sz="1100" dirty="0"/>
              <a:t>、</a:t>
            </a:r>
            <a:r>
              <a:rPr lang="en-US" altLang="zh-CN" sz="1100" dirty="0"/>
              <a:t>OSPFv3</a:t>
            </a:r>
            <a:r>
              <a:rPr lang="zh-CN" altLang="en-US" sz="1100" dirty="0"/>
              <a:t>、</a:t>
            </a:r>
            <a:r>
              <a:rPr lang="en-US" altLang="zh-CN" sz="1100" dirty="0"/>
              <a:t>IS-IS</a:t>
            </a:r>
            <a:r>
              <a:rPr lang="zh-CN" altLang="en-US" sz="1100" dirty="0"/>
              <a:t>和</a:t>
            </a:r>
            <a:r>
              <a:rPr lang="en-US" altLang="zh-CN" sz="1100" dirty="0"/>
              <a:t>BGP</a:t>
            </a:r>
            <a:r>
              <a:rPr lang="zh-CN" altLang="en-US" sz="1100" dirty="0"/>
              <a:t>，与</a:t>
            </a:r>
            <a:r>
              <a:rPr lang="en-US" altLang="zh-CN" sz="1100" dirty="0"/>
              <a:t>CE2</a:t>
            </a:r>
            <a:r>
              <a:rPr lang="zh-CN" altLang="en-US" sz="1100" dirty="0"/>
              <a:t>到</a:t>
            </a:r>
            <a:r>
              <a:rPr lang="en-US" altLang="zh-CN" sz="1100" dirty="0"/>
              <a:t>PE2</a:t>
            </a:r>
            <a:r>
              <a:rPr lang="zh-CN" altLang="en-US" sz="1100" dirty="0"/>
              <a:t>的路由信息交换相同。</a:t>
            </a:r>
            <a:endParaRPr lang="en-US" altLang="zh-CN" sz="1100" dirty="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a:xfrm>
            <a:off x="731838" y="728663"/>
            <a:ext cx="5580062" cy="8366172"/>
          </a:xfrm>
        </p:spPr>
        <p:txBody>
          <a:bodyPr/>
          <a:lstStyle/>
          <a:p>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报文转发流程：</a:t>
            </a:r>
            <a:endPar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endParaRPr>
          </a:p>
          <a:p>
            <a:pPr lvl="1"/>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头端</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PE1</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接收到</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CE1</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发送的单播</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IPv6</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报文后，查找</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IPv6</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路由表，该路由的出接口是</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SRv6 Policy</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PE1</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为报文插入</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SRH</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信息，封装</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SRv6 Policy</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的</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SID List</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，然后封装</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IPv6</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报文头信息。完成之后，</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PE1</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将报文对</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P1</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转发。</a:t>
            </a:r>
            <a:endPar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endParaRPr>
          </a:p>
          <a:p>
            <a:pPr lvl="1"/>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中间</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P1</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节点根据</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SRH</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信息逐跳转发。</a:t>
            </a:r>
            <a:endPar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endParaRPr>
          </a:p>
          <a:p>
            <a:pPr lvl="1"/>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报文到达尾节点</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PE2</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之后，</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PE2</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使用报文的</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IPv6</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目的地址</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FC03::3</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查找</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My Local SID</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表，命中到</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End SID</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，所以</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PE2</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将报文</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SL</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减</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1</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IPv6 DA</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更新为</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END SID Net2</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a:t>
            </a:r>
            <a:endPar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endParaRPr>
          </a:p>
          <a:p>
            <a:pPr lvl="1"/>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PE2</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使用</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END SID Net2</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查找</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My Local SID</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表，命中到</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End SID</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PE2</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解封装报文，去掉</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SRH</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信息和</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IPv6</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报文头，然后将报文转发给</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CE2</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a:t>
            </a:r>
            <a:endPar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2950" y="717550"/>
            <a:ext cx="5557838" cy="3125788"/>
          </a:xfrm>
        </p:spPr>
      </p:sp>
      <p:sp>
        <p:nvSpPr>
          <p:cNvPr id="3" name="Notes Placeholder 2"/>
          <p:cNvSpPr>
            <a:spLocks noGrp="1"/>
          </p:cNvSpPr>
          <p:nvPr>
            <p:ph type="body" idx="1"/>
          </p:nvPr>
        </p:nvSpPr>
        <p:spPr/>
        <p:txBody>
          <a:bodyPr/>
          <a:lstStyle/>
          <a:p>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2950" y="717550"/>
            <a:ext cx="5557838" cy="3125788"/>
          </a:xfrm>
        </p:spPr>
      </p:sp>
      <p:sp>
        <p:nvSpPr>
          <p:cNvPr id="3" name="Notes Placeholder 2"/>
          <p:cNvSpPr>
            <a:spLocks noGrp="1"/>
          </p:cNvSpPr>
          <p:nvPr>
            <p:ph type="body" idx="1"/>
          </p:nvPr>
        </p:nvSpPr>
        <p:spPr/>
        <p:txBody>
          <a:bodyPr/>
          <a:lstStyle/>
          <a:p>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2950" y="717550"/>
            <a:ext cx="5557838" cy="3125788"/>
          </a:xfrm>
        </p:spPr>
      </p:sp>
      <p:sp>
        <p:nvSpPr>
          <p:cNvPr id="3" name="Notes Placeholder 2"/>
          <p:cNvSpPr>
            <a:spLocks noGrp="1"/>
          </p:cNvSpPr>
          <p:nvPr>
            <p:ph type="body" idx="1"/>
          </p:nvPr>
        </p:nvSpPr>
        <p:spPr/>
        <p:txBody>
          <a:bodyPr/>
          <a:lstStyle/>
          <a:p>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2950" y="717550"/>
            <a:ext cx="5557838" cy="3125788"/>
          </a:xfrm>
        </p:spPr>
      </p:sp>
      <p:sp>
        <p:nvSpPr>
          <p:cNvPr id="3" name="Notes Placeholder 2"/>
          <p:cNvSpPr>
            <a:spLocks noGrp="1"/>
          </p:cNvSpPr>
          <p:nvPr>
            <p:ph type="body" idx="1"/>
          </p:nvPr>
        </p:nvSpPr>
        <p:spPr/>
        <p:txBody>
          <a:bodyPr/>
          <a:lstStyle/>
          <a:p>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dirty="0"/>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2950" y="717550"/>
            <a:ext cx="5557838" cy="3125788"/>
          </a:xfrm>
        </p:spPr>
      </p:sp>
      <p:sp>
        <p:nvSpPr>
          <p:cNvPr id="3" name="Notes Placeholder 2"/>
          <p:cNvSpPr>
            <a:spLocks noGrp="1"/>
          </p:cNvSpPr>
          <p:nvPr>
            <p:ph type="body" idx="1"/>
          </p:nvPr>
        </p:nvSpPr>
        <p:spPr/>
        <p:txBody>
          <a:bodyPr/>
          <a:lstStyle/>
          <a:p>
            <a:r>
              <a:rPr lang="en-US" altLang="zh-CN" dirty="0"/>
              <a:t>SBFD</a:t>
            </a:r>
            <a:r>
              <a:rPr lang="zh-CN" altLang="en-US" dirty="0"/>
              <a:t>（</a:t>
            </a:r>
            <a:r>
              <a:rPr lang="en-US" altLang="zh-CN" dirty="0"/>
              <a:t>Seamless Bidirectional Forwarding Detection</a:t>
            </a:r>
            <a:r>
              <a:rPr lang="zh-CN" altLang="en-US" dirty="0"/>
              <a:t>）是</a:t>
            </a:r>
            <a:r>
              <a:rPr lang="en-US" altLang="zh-CN" dirty="0"/>
              <a:t>BFD</a:t>
            </a:r>
            <a:r>
              <a:rPr lang="zh-CN" altLang="en-US" dirty="0"/>
              <a:t>的一种简化机制，</a:t>
            </a:r>
            <a:r>
              <a:rPr lang="en-US" altLang="zh-CN" dirty="0"/>
              <a:t>SBFD</a:t>
            </a:r>
            <a:r>
              <a:rPr lang="zh-CN" altLang="en-US" dirty="0"/>
              <a:t>简化了</a:t>
            </a:r>
            <a:r>
              <a:rPr lang="en-US" altLang="zh-CN" dirty="0"/>
              <a:t>BFD</a:t>
            </a:r>
            <a:r>
              <a:rPr lang="zh-CN" altLang="en-US" dirty="0"/>
              <a:t>的状态机，缩短了协商时间，提高了整个网络的灵活性。</a:t>
            </a:r>
            <a:endParaRPr lang="zh-CN" altLang="en-US" dirty="0"/>
          </a:p>
          <a:p>
            <a:pPr lvl="1"/>
            <a:r>
              <a:rPr lang="en-US" altLang="zh-CN" dirty="0"/>
              <a:t>SBFD</a:t>
            </a:r>
            <a:r>
              <a:rPr lang="zh-CN" altLang="en-US" dirty="0"/>
              <a:t>反射端的</a:t>
            </a:r>
            <a:r>
              <a:rPr lang="en-US" altLang="zh-CN" dirty="0"/>
              <a:t>IPv6</a:t>
            </a:r>
            <a:r>
              <a:rPr lang="zh-CN" altLang="en-US" dirty="0"/>
              <a:t>地址需和</a:t>
            </a:r>
            <a:r>
              <a:rPr lang="en-US" altLang="zh-CN" dirty="0"/>
              <a:t>SRv6 Policy</a:t>
            </a:r>
            <a:r>
              <a:rPr lang="zh-CN" altLang="en-US" dirty="0"/>
              <a:t>的目的地址相同。</a:t>
            </a:r>
            <a:endParaRPr lang="zh-CN" altLang="en-US" dirty="0"/>
          </a:p>
          <a:p>
            <a:r>
              <a:rPr lang="en-US" altLang="zh-CN" dirty="0"/>
              <a:t>SRv6</a:t>
            </a:r>
            <a:r>
              <a:rPr lang="zh-CN" altLang="en-US" dirty="0"/>
              <a:t>转发基于标准</a:t>
            </a:r>
            <a:r>
              <a:rPr lang="en-US" altLang="zh-CN" dirty="0"/>
              <a:t>IPv6</a:t>
            </a:r>
            <a:r>
              <a:rPr lang="zh-CN" altLang="en-US" dirty="0"/>
              <a:t>数据平面，所以可以直接使用</a:t>
            </a:r>
            <a:r>
              <a:rPr lang="en-US" altLang="zh-CN" dirty="0"/>
              <a:t>ICMPv6 </a:t>
            </a:r>
            <a:r>
              <a:rPr lang="en-US" altLang="zh-CN" dirty="0" err="1"/>
              <a:t>Ping&amp;Tracert</a:t>
            </a:r>
            <a:r>
              <a:rPr lang="zh-CN" altLang="en-US" dirty="0"/>
              <a:t>实现普通</a:t>
            </a:r>
            <a:r>
              <a:rPr lang="en-US" altLang="zh-CN" dirty="0"/>
              <a:t>IPv6</a:t>
            </a:r>
            <a:r>
              <a:rPr lang="zh-CN" altLang="en-US" dirty="0"/>
              <a:t>地址的连通性检测，无需对硬件或软件进行任何的改变。当前</a:t>
            </a:r>
            <a:r>
              <a:rPr lang="en-US" altLang="zh-CN" dirty="0"/>
              <a:t>ICMPv6 </a:t>
            </a:r>
            <a:r>
              <a:rPr lang="en-US" altLang="zh-CN" dirty="0" err="1"/>
              <a:t>Ping&amp;Tracert</a:t>
            </a:r>
            <a:r>
              <a:rPr lang="zh-CN" altLang="en-US" dirty="0"/>
              <a:t>支持数据包按照最短转发路径转发到目的地址，实现目的地址的可达性检测。当被检测的目的地址是一个</a:t>
            </a:r>
            <a:r>
              <a:rPr lang="en-US" altLang="zh-CN" dirty="0"/>
              <a:t>SRv6 SID</a:t>
            </a:r>
            <a:r>
              <a:rPr lang="zh-CN" altLang="en-US" dirty="0"/>
              <a:t>，可以直接通过</a:t>
            </a:r>
            <a:r>
              <a:rPr lang="en-US" altLang="zh-CN" dirty="0"/>
              <a:t>ICMPv6 </a:t>
            </a:r>
            <a:r>
              <a:rPr lang="en-US" altLang="zh-CN" dirty="0" err="1"/>
              <a:t>Ping&amp;Tracert</a:t>
            </a:r>
            <a:r>
              <a:rPr lang="zh-CN" altLang="en-US" dirty="0"/>
              <a:t>完成，也可以通过使用</a:t>
            </a:r>
            <a:r>
              <a:rPr lang="en-US" altLang="zh-CN" dirty="0"/>
              <a:t>SRv6</a:t>
            </a:r>
            <a:r>
              <a:rPr lang="zh-CN" altLang="en-US" dirty="0"/>
              <a:t>的</a:t>
            </a:r>
            <a:r>
              <a:rPr lang="en-US" altLang="zh-CN" dirty="0"/>
              <a:t>OAM</a:t>
            </a:r>
            <a:r>
              <a:rPr lang="zh-CN" altLang="en-US" dirty="0"/>
              <a:t>扩展实现。当前</a:t>
            </a:r>
            <a:r>
              <a:rPr lang="en-US" altLang="zh-CN" dirty="0"/>
              <a:t>SRv6</a:t>
            </a:r>
            <a:r>
              <a:rPr lang="zh-CN" altLang="en-US" dirty="0"/>
              <a:t>的</a:t>
            </a:r>
            <a:r>
              <a:rPr lang="en-US" altLang="zh-CN" dirty="0"/>
              <a:t>OAM</a:t>
            </a:r>
            <a:r>
              <a:rPr lang="zh-CN" altLang="en-US" dirty="0"/>
              <a:t>扩展主要包括两种方式：</a:t>
            </a:r>
            <a:endParaRPr lang="en-US" altLang="zh-CN" dirty="0"/>
          </a:p>
          <a:p>
            <a:pPr lvl="1"/>
            <a:r>
              <a:rPr lang="zh-CN" altLang="en-US" dirty="0"/>
              <a:t>一种是在</a:t>
            </a:r>
            <a:r>
              <a:rPr lang="en-US" altLang="zh-CN" dirty="0"/>
              <a:t>SRH</a:t>
            </a:r>
            <a:r>
              <a:rPr lang="zh-CN" altLang="en-US" dirty="0"/>
              <a:t>中引入了</a:t>
            </a:r>
            <a:r>
              <a:rPr lang="en-US" altLang="zh-CN" dirty="0"/>
              <a:t>O-bit</a:t>
            </a:r>
            <a:r>
              <a:rPr lang="zh-CN" altLang="en-US" dirty="0"/>
              <a:t>（</a:t>
            </a:r>
            <a:r>
              <a:rPr lang="en-US" altLang="zh-CN" dirty="0"/>
              <a:t>OAM</a:t>
            </a:r>
            <a:r>
              <a:rPr lang="zh-CN" altLang="en-US" dirty="0"/>
              <a:t>比特位）。</a:t>
            </a:r>
            <a:endParaRPr lang="zh-CN" altLang="en-US" dirty="0"/>
          </a:p>
          <a:p>
            <a:pPr lvl="1"/>
            <a:r>
              <a:rPr lang="zh-CN" altLang="en-US" dirty="0"/>
              <a:t>另外一种是引入</a:t>
            </a:r>
            <a:r>
              <a:rPr lang="en-US" altLang="zh-CN" dirty="0"/>
              <a:t>End.OP SID</a:t>
            </a:r>
            <a:r>
              <a:rPr lang="zh-CN" altLang="en-US" dirty="0"/>
              <a:t>。</a:t>
            </a:r>
            <a:endParaRPr lang="zh-CN" altLang="en-US" dirty="0"/>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r>
              <a:rPr lang="zh-CN" altLang="en-US"/>
              <a:t>发起端状态机只有</a:t>
            </a:r>
            <a:r>
              <a:rPr lang="en-US" altLang="zh-CN"/>
              <a:t>Up</a:t>
            </a:r>
            <a:r>
              <a:rPr lang="zh-CN" altLang="en-US"/>
              <a:t>和</a:t>
            </a:r>
            <a:r>
              <a:rPr lang="en-US" altLang="zh-CN"/>
              <a:t>Down</a:t>
            </a:r>
            <a:r>
              <a:rPr lang="zh-CN" altLang="en-US"/>
              <a:t>状态，发出的报文也只有</a:t>
            </a:r>
            <a:r>
              <a:rPr lang="en-US" altLang="zh-CN"/>
              <a:t>Up</a:t>
            </a:r>
            <a:r>
              <a:rPr lang="zh-CN" altLang="en-US"/>
              <a:t>和</a:t>
            </a:r>
            <a:r>
              <a:rPr lang="en-US" altLang="zh-CN"/>
              <a:t>Down</a:t>
            </a:r>
            <a:r>
              <a:rPr lang="zh-CN" altLang="en-US"/>
              <a:t>状态，只能接收</a:t>
            </a:r>
            <a:r>
              <a:rPr lang="en-US" altLang="zh-CN"/>
              <a:t>Up</a:t>
            </a:r>
            <a:r>
              <a:rPr lang="zh-CN" altLang="en-US"/>
              <a:t>或</a:t>
            </a:r>
            <a:r>
              <a:rPr lang="en-US" altLang="zh-CN"/>
              <a:t>Admin Down</a:t>
            </a:r>
            <a:r>
              <a:rPr lang="zh-CN" altLang="en-US"/>
              <a:t>状态报文。</a:t>
            </a:r>
            <a:r>
              <a:rPr lang="en-US" altLang="zh-CN"/>
              <a:t>SBFD</a:t>
            </a:r>
            <a:r>
              <a:rPr lang="zh-CN" altLang="en-US"/>
              <a:t>报文由发起端首先向反射端发送，报文初始状态为</a:t>
            </a:r>
            <a:r>
              <a:rPr lang="en-US" altLang="zh-CN"/>
              <a:t>Down</a:t>
            </a:r>
            <a:r>
              <a:rPr lang="zh-CN" altLang="en-US"/>
              <a:t>。报文目的端口号为</a:t>
            </a:r>
            <a:r>
              <a:rPr lang="en-US" altLang="zh-CN"/>
              <a:t>7784</a:t>
            </a:r>
            <a:r>
              <a:rPr lang="zh-CN" altLang="en-US"/>
              <a:t>，报文的源端口号为</a:t>
            </a:r>
            <a:r>
              <a:rPr lang="en-US" altLang="zh-CN"/>
              <a:t>4784</a:t>
            </a:r>
            <a:r>
              <a:rPr lang="zh-CN" altLang="en-US"/>
              <a:t>，目的</a:t>
            </a:r>
            <a:r>
              <a:rPr lang="en-US" altLang="zh-CN"/>
              <a:t>IP</a:t>
            </a:r>
            <a:r>
              <a:rPr lang="zh-CN" altLang="en-US"/>
              <a:t>为用户配置的</a:t>
            </a:r>
            <a:r>
              <a:rPr lang="en-US" altLang="zh-CN"/>
              <a:t>127</a:t>
            </a:r>
            <a:r>
              <a:rPr lang="zh-CN" altLang="en-US"/>
              <a:t>网段的任意</a:t>
            </a:r>
            <a:r>
              <a:rPr lang="en-US" altLang="zh-CN"/>
              <a:t>IP</a:t>
            </a:r>
            <a:r>
              <a:rPr lang="zh-CN" altLang="en-US"/>
              <a:t>地址，源</a:t>
            </a:r>
            <a:r>
              <a:rPr lang="en-US" altLang="zh-CN"/>
              <a:t>IP</a:t>
            </a:r>
            <a:r>
              <a:rPr lang="zh-CN" altLang="en-US"/>
              <a:t>地址为本端设备上配置的</a:t>
            </a:r>
            <a:r>
              <a:rPr lang="en-US" altLang="zh-CN"/>
              <a:t>LSR ID</a:t>
            </a:r>
            <a:r>
              <a:rPr lang="zh-CN" altLang="en-US"/>
              <a:t>。</a:t>
            </a:r>
            <a:endParaRPr lang="zh-CN" altLang="en-US"/>
          </a:p>
          <a:p>
            <a:r>
              <a:rPr lang="zh-CN" altLang="en-US"/>
              <a:t>反射端无</a:t>
            </a:r>
            <a:r>
              <a:rPr lang="en-US" altLang="zh-CN"/>
              <a:t>SBFD</a:t>
            </a:r>
            <a:r>
              <a:rPr lang="zh-CN" altLang="en-US"/>
              <a:t>状态机，无检测机制，不会主动发送</a:t>
            </a:r>
            <a:r>
              <a:rPr lang="en-US" altLang="zh-CN"/>
              <a:t>SBFD Echo</a:t>
            </a:r>
            <a:r>
              <a:rPr lang="zh-CN" altLang="en-US"/>
              <a:t>报文，仅用于构造环回</a:t>
            </a:r>
            <a:r>
              <a:rPr lang="en-US" altLang="zh-CN"/>
              <a:t>SBFD</a:t>
            </a:r>
            <a:r>
              <a:rPr lang="zh-CN" altLang="en-US"/>
              <a:t>报文。反射端所构造报文的目的端口号为</a:t>
            </a:r>
            <a:r>
              <a:rPr lang="en-US" altLang="zh-CN"/>
              <a:t>4784</a:t>
            </a:r>
            <a:r>
              <a:rPr lang="zh-CN" altLang="en-US"/>
              <a:t>，报文的源端口号为</a:t>
            </a:r>
            <a:r>
              <a:rPr lang="en-US" altLang="zh-CN"/>
              <a:t>7784</a:t>
            </a:r>
            <a:r>
              <a:rPr lang="zh-CN" altLang="en-US"/>
              <a:t>，源</a:t>
            </a:r>
            <a:r>
              <a:rPr lang="en-US" altLang="zh-CN"/>
              <a:t>IP</a:t>
            </a:r>
            <a:r>
              <a:rPr lang="zh-CN" altLang="en-US"/>
              <a:t>地址为本端设备配置的</a:t>
            </a:r>
            <a:r>
              <a:rPr lang="en-US" altLang="zh-CN"/>
              <a:t>LSR ID</a:t>
            </a:r>
            <a:r>
              <a:rPr lang="zh-CN" altLang="en-US"/>
              <a:t>，目的</a:t>
            </a:r>
            <a:r>
              <a:rPr lang="en-US" altLang="zh-CN"/>
              <a:t>IP</a:t>
            </a:r>
            <a:r>
              <a:rPr lang="zh-CN" altLang="en-US"/>
              <a:t>为发起端的源</a:t>
            </a:r>
            <a:r>
              <a:rPr lang="en-US" altLang="zh-CN"/>
              <a:t>IP</a:t>
            </a:r>
            <a:r>
              <a:rPr lang="zh-CN" altLang="en-US"/>
              <a:t>地址。</a:t>
            </a:r>
            <a:endParaRPr lang="zh-CN" altLang="en-US"/>
          </a:p>
          <a:p>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2950" y="717550"/>
            <a:ext cx="5557838" cy="3125788"/>
          </a:xfrm>
        </p:spPr>
      </p:sp>
      <p:sp>
        <p:nvSpPr>
          <p:cNvPr id="3" name="Notes Placeholder 2"/>
          <p:cNvSpPr>
            <a:spLocks noGrp="1"/>
          </p:cNvSpPr>
          <p:nvPr>
            <p:ph type="body" idx="1"/>
          </p:nvPr>
        </p:nvSpPr>
        <p:spPr/>
        <p:txBody>
          <a:bodyPr/>
          <a:lstStyle/>
          <a:p>
            <a:r>
              <a:rPr lang="zh-CN" altLang="en-US" dirty="0"/>
              <a:t>当前实现</a:t>
            </a:r>
            <a:r>
              <a:rPr lang="en-US" altLang="zh-CN" dirty="0"/>
              <a:t>SRv6</a:t>
            </a:r>
            <a:r>
              <a:rPr lang="zh-CN" altLang="en-US" dirty="0"/>
              <a:t>的</a:t>
            </a:r>
            <a:r>
              <a:rPr lang="en-US" altLang="zh-CN" dirty="0" err="1"/>
              <a:t>Ping&amp;Tracert</a:t>
            </a:r>
            <a:r>
              <a:rPr lang="zh-CN" altLang="en-US" dirty="0"/>
              <a:t>有两种方法：</a:t>
            </a:r>
            <a:endParaRPr lang="zh-CN" altLang="en-US" dirty="0"/>
          </a:p>
          <a:p>
            <a:pPr lvl="1"/>
            <a:r>
              <a:rPr lang="zh-CN" altLang="en-US" dirty="0"/>
              <a:t>一种是在</a:t>
            </a:r>
            <a:r>
              <a:rPr lang="en-US" altLang="zh-CN" dirty="0"/>
              <a:t>SRH</a:t>
            </a:r>
            <a:r>
              <a:rPr lang="zh-CN" altLang="en-US" dirty="0"/>
              <a:t>中引入了</a:t>
            </a:r>
            <a:r>
              <a:rPr lang="en-US" altLang="zh-CN" dirty="0"/>
              <a:t>OAM</a:t>
            </a:r>
            <a:r>
              <a:rPr lang="zh-CN" altLang="en-US" dirty="0"/>
              <a:t>比特位，由于</a:t>
            </a:r>
            <a:r>
              <a:rPr lang="en-US" altLang="zh-CN" dirty="0"/>
              <a:t>O-bit</a:t>
            </a:r>
            <a:r>
              <a:rPr lang="zh-CN" altLang="en-US" dirty="0"/>
              <a:t>处于</a:t>
            </a:r>
            <a:r>
              <a:rPr lang="en-US" altLang="zh-CN" dirty="0"/>
              <a:t>SRv6</a:t>
            </a:r>
            <a:r>
              <a:rPr lang="zh-CN" altLang="en-US" dirty="0"/>
              <a:t>报文头中，每一个</a:t>
            </a:r>
            <a:r>
              <a:rPr lang="en-US" altLang="zh-CN" dirty="0"/>
              <a:t>SRv6 Endpoint</a:t>
            </a:r>
            <a:r>
              <a:rPr lang="zh-CN" altLang="en-US" dirty="0"/>
              <a:t>节点都需要处理并响应</a:t>
            </a:r>
            <a:r>
              <a:rPr lang="en-US" altLang="zh-CN" dirty="0"/>
              <a:t>ICMPv6 </a:t>
            </a:r>
            <a:r>
              <a:rPr lang="en-US" altLang="zh-CN" dirty="0" err="1"/>
              <a:t>Ping&amp;Tracert</a:t>
            </a:r>
            <a:r>
              <a:rPr lang="zh-CN" altLang="en-US" dirty="0"/>
              <a:t>请求，所以基于</a:t>
            </a:r>
            <a:r>
              <a:rPr lang="en-US" altLang="zh-CN" dirty="0"/>
              <a:t>O-bit</a:t>
            </a:r>
            <a:r>
              <a:rPr lang="zh-CN" altLang="en-US" dirty="0"/>
              <a:t>可以实现逐段检测，通过</a:t>
            </a:r>
            <a:r>
              <a:rPr lang="en-US" altLang="zh-CN" dirty="0"/>
              <a:t>ping ipv6-sid</a:t>
            </a:r>
            <a:r>
              <a:rPr lang="zh-CN" altLang="en-US" dirty="0"/>
              <a:t>和</a:t>
            </a:r>
            <a:r>
              <a:rPr lang="en-US" altLang="zh-CN" dirty="0" err="1"/>
              <a:t>tracert</a:t>
            </a:r>
            <a:r>
              <a:rPr lang="en-US" altLang="zh-CN" dirty="0"/>
              <a:t> ipv6-sid</a:t>
            </a:r>
            <a:r>
              <a:rPr lang="zh-CN" altLang="en-US" dirty="0"/>
              <a:t>命令可以检测单个或多个</a:t>
            </a:r>
            <a:r>
              <a:rPr lang="en-US" altLang="zh-CN" dirty="0"/>
              <a:t>SID</a:t>
            </a:r>
            <a:r>
              <a:rPr lang="zh-CN" altLang="en-US" dirty="0"/>
              <a:t>。</a:t>
            </a:r>
            <a:endParaRPr lang="zh-CN" altLang="en-US" dirty="0"/>
          </a:p>
          <a:p>
            <a:pPr lvl="1"/>
            <a:r>
              <a:rPr lang="zh-CN" altLang="en-US" dirty="0"/>
              <a:t>另一种是引入</a:t>
            </a:r>
            <a:r>
              <a:rPr lang="en-US" altLang="zh-CN" dirty="0"/>
              <a:t>End.OP SID</a:t>
            </a:r>
            <a:r>
              <a:rPr lang="zh-CN" altLang="en-US" dirty="0"/>
              <a:t>，</a:t>
            </a:r>
            <a:r>
              <a:rPr lang="en-US" altLang="zh-CN" dirty="0"/>
              <a:t>End.OP SID</a:t>
            </a:r>
            <a:r>
              <a:rPr lang="zh-CN" altLang="en-US" dirty="0"/>
              <a:t>可以指示将数据包上送到控制平面进行</a:t>
            </a:r>
            <a:r>
              <a:rPr lang="en-US" altLang="zh-CN" dirty="0"/>
              <a:t>OAM</a:t>
            </a:r>
            <a:r>
              <a:rPr lang="zh-CN" altLang="en-US" dirty="0"/>
              <a:t>处理。检测</a:t>
            </a:r>
            <a:r>
              <a:rPr lang="en-US" altLang="zh-CN" dirty="0"/>
              <a:t>SRv6 Policy</a:t>
            </a:r>
            <a:r>
              <a:rPr lang="zh-CN" altLang="en-US" dirty="0"/>
              <a:t>时，头节点会将</a:t>
            </a:r>
            <a:r>
              <a:rPr lang="en-US" altLang="zh-CN" dirty="0"/>
              <a:t>End.OP SID</a:t>
            </a:r>
            <a:r>
              <a:rPr lang="zh-CN" altLang="en-US" dirty="0"/>
              <a:t>会编入</a:t>
            </a:r>
            <a:r>
              <a:rPr lang="en-US" altLang="zh-CN" dirty="0"/>
              <a:t>Segment List</a:t>
            </a:r>
            <a:r>
              <a:rPr lang="zh-CN" altLang="en-US" dirty="0"/>
              <a:t>。由于只有生成了</a:t>
            </a:r>
            <a:r>
              <a:rPr lang="en-US" altLang="zh-CN" dirty="0"/>
              <a:t>End.OP SID</a:t>
            </a:r>
            <a:r>
              <a:rPr lang="zh-CN" altLang="en-US" dirty="0"/>
              <a:t>的</a:t>
            </a:r>
            <a:r>
              <a:rPr lang="en-US" altLang="zh-CN" dirty="0"/>
              <a:t>SRv6 Endpoint</a:t>
            </a:r>
            <a:r>
              <a:rPr lang="zh-CN" altLang="en-US" dirty="0"/>
              <a:t>节点才能处理</a:t>
            </a:r>
            <a:r>
              <a:rPr lang="en-US" altLang="zh-CN" dirty="0"/>
              <a:t>ICMPv6 </a:t>
            </a:r>
            <a:r>
              <a:rPr lang="en-US" altLang="zh-CN" dirty="0" err="1"/>
              <a:t>Ping&amp;Tracert</a:t>
            </a:r>
            <a:r>
              <a:rPr lang="zh-CN" altLang="en-US" dirty="0"/>
              <a:t>请求报文，所以基于</a:t>
            </a:r>
            <a:r>
              <a:rPr lang="en-US" altLang="zh-CN" dirty="0"/>
              <a:t>End.OP SID</a:t>
            </a:r>
            <a:r>
              <a:rPr lang="zh-CN" altLang="en-US" dirty="0"/>
              <a:t>可以实现端到端检测。这种情况下，又进一步分为两种形式：</a:t>
            </a:r>
            <a:endParaRPr lang="zh-CN" altLang="en-US" dirty="0"/>
          </a:p>
          <a:p>
            <a:pPr lvl="2"/>
            <a:r>
              <a:rPr lang="zh-CN" altLang="en-US" dirty="0"/>
              <a:t>其一是在</a:t>
            </a:r>
            <a:r>
              <a:rPr lang="en-US" altLang="zh-CN" dirty="0"/>
              <a:t>ping ipv6-sid</a:t>
            </a:r>
            <a:r>
              <a:rPr lang="zh-CN" altLang="en-US" dirty="0"/>
              <a:t>和</a:t>
            </a:r>
            <a:r>
              <a:rPr lang="en-US" altLang="zh-CN" dirty="0" err="1"/>
              <a:t>tracert</a:t>
            </a:r>
            <a:r>
              <a:rPr lang="en-US" altLang="zh-CN" dirty="0"/>
              <a:t> ipv6-sid</a:t>
            </a:r>
            <a:r>
              <a:rPr lang="zh-CN" altLang="en-US" dirty="0"/>
              <a:t>命令中通过增加</a:t>
            </a:r>
            <a:r>
              <a:rPr lang="en-US" altLang="zh-CN" dirty="0"/>
              <a:t>End.OP</a:t>
            </a:r>
            <a:r>
              <a:rPr lang="zh-CN" altLang="en-US" dirty="0"/>
              <a:t>类型的</a:t>
            </a:r>
            <a:r>
              <a:rPr lang="en-US" altLang="zh-CN" dirty="0"/>
              <a:t>SID</a:t>
            </a:r>
            <a:r>
              <a:rPr lang="zh-CN" altLang="en-US" dirty="0"/>
              <a:t>，实现对</a:t>
            </a:r>
            <a:r>
              <a:rPr lang="en-US" altLang="zh-CN" dirty="0"/>
              <a:t>SID</a:t>
            </a:r>
            <a:r>
              <a:rPr lang="zh-CN" altLang="en-US" dirty="0"/>
              <a:t>栈的检测。</a:t>
            </a:r>
            <a:endParaRPr lang="zh-CN" altLang="en-US" dirty="0"/>
          </a:p>
          <a:p>
            <a:pPr lvl="2"/>
            <a:r>
              <a:rPr lang="zh-CN" altLang="en-US" dirty="0"/>
              <a:t>其二是在</a:t>
            </a:r>
            <a:r>
              <a:rPr lang="en-US" altLang="zh-CN" dirty="0"/>
              <a:t>ping srv6-te policy</a:t>
            </a:r>
            <a:r>
              <a:rPr lang="zh-CN" altLang="en-US" dirty="0"/>
              <a:t>和</a:t>
            </a:r>
            <a:r>
              <a:rPr lang="en-US" altLang="zh-CN" dirty="0" err="1"/>
              <a:t>tracert</a:t>
            </a:r>
            <a:r>
              <a:rPr lang="en-US" altLang="zh-CN" dirty="0"/>
              <a:t> srv6-te policy</a:t>
            </a:r>
            <a:r>
              <a:rPr lang="zh-CN" altLang="en-US" dirty="0"/>
              <a:t>命令中通过指定</a:t>
            </a:r>
            <a:r>
              <a:rPr lang="en-US" altLang="zh-CN" dirty="0"/>
              <a:t>end-op</a:t>
            </a:r>
            <a:r>
              <a:rPr lang="zh-CN" altLang="en-US" dirty="0"/>
              <a:t>参数，实现对</a:t>
            </a:r>
            <a:r>
              <a:rPr lang="en-US" altLang="zh-CN" dirty="0"/>
              <a:t>SRv6 Policy</a:t>
            </a:r>
            <a:r>
              <a:rPr lang="zh-CN" altLang="en-US" dirty="0"/>
              <a:t>的检测。</a:t>
            </a:r>
            <a:endParaRPr lang="zh-CN" altLang="en-US" dirty="0"/>
          </a:p>
          <a:p>
            <a:endParaRPr lang="zh-CN" altLang="en-US" dirty="0"/>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2950" y="717550"/>
            <a:ext cx="5557838" cy="3125788"/>
          </a:xfrm>
        </p:spPr>
      </p:sp>
      <p:sp>
        <p:nvSpPr>
          <p:cNvPr id="3" name="Notes Placeholder 2"/>
          <p:cNvSpPr>
            <a:spLocks noGrp="1"/>
          </p:cNvSpPr>
          <p:nvPr>
            <p:ph type="body" idx="1"/>
          </p:nvPr>
        </p:nvSpPr>
        <p:spPr/>
        <p:txBody>
          <a:bodyPr/>
          <a:lstStyle/>
          <a:p>
            <a:r>
              <a:rPr lang="zh-CN" altLang="en-US" dirty="0"/>
              <a:t>对于逐段检测的情况：</a:t>
            </a:r>
            <a:endParaRPr lang="zh-CN" altLang="en-US" dirty="0"/>
          </a:p>
          <a:p>
            <a:pPr lvl="1"/>
            <a:r>
              <a:rPr lang="en-US" altLang="zh-CN" dirty="0"/>
              <a:t>PE1</a:t>
            </a:r>
            <a:r>
              <a:rPr lang="zh-CN" altLang="en-US" dirty="0"/>
              <a:t>向</a:t>
            </a:r>
            <a:r>
              <a:rPr lang="en-US" altLang="zh-CN" dirty="0"/>
              <a:t>PE2</a:t>
            </a:r>
            <a:r>
              <a:rPr lang="zh-CN" altLang="en-US" dirty="0"/>
              <a:t>发起</a:t>
            </a:r>
            <a:r>
              <a:rPr lang="en-US" altLang="zh-CN" dirty="0"/>
              <a:t>Ping</a:t>
            </a:r>
            <a:r>
              <a:rPr lang="zh-CN" altLang="en-US" dirty="0"/>
              <a:t>，携带</a:t>
            </a:r>
            <a:r>
              <a:rPr lang="en-US" altLang="zh-CN" dirty="0"/>
              <a:t>P1</a:t>
            </a:r>
            <a:r>
              <a:rPr lang="zh-CN" altLang="en-US" dirty="0"/>
              <a:t>的</a:t>
            </a:r>
            <a:r>
              <a:rPr lang="en-US" altLang="zh-CN" dirty="0"/>
              <a:t>SRv6 SID</a:t>
            </a:r>
            <a:r>
              <a:rPr lang="zh-CN" altLang="en-US" dirty="0"/>
              <a:t>（</a:t>
            </a:r>
            <a:r>
              <a:rPr lang="en-US" altLang="zh-CN" dirty="0"/>
              <a:t>End SID</a:t>
            </a:r>
            <a:r>
              <a:rPr lang="zh-CN" altLang="en-US" dirty="0"/>
              <a:t>和</a:t>
            </a:r>
            <a:r>
              <a:rPr lang="en-US" altLang="zh-CN" dirty="0" err="1"/>
              <a:t>End.X</a:t>
            </a:r>
            <a:r>
              <a:rPr lang="en-US" altLang="zh-CN" dirty="0"/>
              <a:t> SID</a:t>
            </a:r>
            <a:r>
              <a:rPr lang="zh-CN" altLang="en-US" dirty="0"/>
              <a:t>）和</a:t>
            </a:r>
            <a:r>
              <a:rPr lang="en-US" altLang="zh-CN" dirty="0"/>
              <a:t>PE2</a:t>
            </a:r>
            <a:r>
              <a:rPr lang="zh-CN" altLang="en-US" dirty="0"/>
              <a:t>的</a:t>
            </a:r>
            <a:r>
              <a:rPr lang="en-US" altLang="zh-CN" dirty="0"/>
              <a:t>End SID</a:t>
            </a:r>
            <a:r>
              <a:rPr lang="zh-CN" altLang="en-US" dirty="0"/>
              <a:t>，构造并发送</a:t>
            </a:r>
            <a:r>
              <a:rPr lang="en-US" altLang="zh-CN" dirty="0"/>
              <a:t>ICMPv6</a:t>
            </a:r>
            <a:r>
              <a:rPr lang="zh-CN" altLang="en-US" dirty="0"/>
              <a:t>请求报文。</a:t>
            </a:r>
            <a:endParaRPr lang="zh-CN" altLang="en-US" dirty="0"/>
          </a:p>
          <a:p>
            <a:pPr lvl="1"/>
            <a:r>
              <a:rPr lang="en-US" altLang="zh-CN" dirty="0"/>
              <a:t>P1</a:t>
            </a:r>
            <a:r>
              <a:rPr lang="zh-CN" altLang="en-US" dirty="0"/>
              <a:t>收到</a:t>
            </a:r>
            <a:r>
              <a:rPr lang="en-US" altLang="zh-CN" dirty="0"/>
              <a:t>ICMPv6</a:t>
            </a:r>
            <a:r>
              <a:rPr lang="zh-CN" altLang="en-US" dirty="0"/>
              <a:t>请求报文后，会向</a:t>
            </a:r>
            <a:r>
              <a:rPr lang="en-US" altLang="zh-CN" dirty="0"/>
              <a:t>PE1</a:t>
            </a:r>
            <a:r>
              <a:rPr lang="zh-CN" altLang="en-US" dirty="0"/>
              <a:t>发送</a:t>
            </a:r>
            <a:r>
              <a:rPr lang="en-US" altLang="zh-CN" dirty="0"/>
              <a:t>ICMPv6</a:t>
            </a:r>
            <a:r>
              <a:rPr lang="zh-CN" altLang="en-US" dirty="0"/>
              <a:t>应答报文，并且向</a:t>
            </a:r>
            <a:r>
              <a:rPr lang="en-US" altLang="zh-CN" dirty="0"/>
              <a:t>PE2</a:t>
            </a:r>
            <a:r>
              <a:rPr lang="zh-CN" altLang="en-US" dirty="0"/>
              <a:t>转发</a:t>
            </a:r>
            <a:r>
              <a:rPr lang="en-US" altLang="zh-CN" dirty="0"/>
              <a:t>ICMPv6</a:t>
            </a:r>
            <a:r>
              <a:rPr lang="zh-CN" altLang="en-US" dirty="0"/>
              <a:t>请求报文。</a:t>
            </a:r>
            <a:endParaRPr lang="zh-CN" altLang="en-US" dirty="0"/>
          </a:p>
          <a:p>
            <a:pPr lvl="1"/>
            <a:r>
              <a:rPr lang="en-US" altLang="zh-CN" dirty="0"/>
              <a:t>PE2</a:t>
            </a:r>
            <a:r>
              <a:rPr lang="zh-CN" altLang="en-US" dirty="0"/>
              <a:t>收到</a:t>
            </a:r>
            <a:r>
              <a:rPr lang="en-US" altLang="zh-CN" dirty="0"/>
              <a:t>ICMPv6</a:t>
            </a:r>
            <a:r>
              <a:rPr lang="zh-CN" altLang="en-US" dirty="0"/>
              <a:t>请求报文后，向</a:t>
            </a:r>
            <a:r>
              <a:rPr lang="en-US" altLang="zh-CN" dirty="0"/>
              <a:t>PE1</a:t>
            </a:r>
            <a:r>
              <a:rPr lang="zh-CN" altLang="en-US" dirty="0"/>
              <a:t>发送</a:t>
            </a:r>
            <a:r>
              <a:rPr lang="en-US" altLang="zh-CN" dirty="0"/>
              <a:t>ICMPv6</a:t>
            </a:r>
            <a:r>
              <a:rPr lang="zh-CN" altLang="en-US" dirty="0"/>
              <a:t>应答报文。</a:t>
            </a:r>
            <a:endParaRPr lang="en-US" altLang="zh-CN" dirty="0"/>
          </a:p>
          <a:p>
            <a:r>
              <a:rPr lang="zh-CN" altLang="en-US" dirty="0"/>
              <a:t>对于非逐段检测的情况：</a:t>
            </a:r>
            <a:endParaRPr lang="zh-CN" altLang="en-US" dirty="0"/>
          </a:p>
          <a:p>
            <a:pPr lvl="1"/>
            <a:r>
              <a:rPr lang="en-US" altLang="zh-CN" dirty="0"/>
              <a:t>PE1</a:t>
            </a:r>
            <a:r>
              <a:rPr lang="zh-CN" altLang="en-US" dirty="0"/>
              <a:t>向</a:t>
            </a:r>
            <a:r>
              <a:rPr lang="en-US" altLang="zh-CN" dirty="0"/>
              <a:t>PE2</a:t>
            </a:r>
            <a:r>
              <a:rPr lang="zh-CN" altLang="en-US" dirty="0"/>
              <a:t>发起</a:t>
            </a:r>
            <a:r>
              <a:rPr lang="en-US" altLang="zh-CN" dirty="0"/>
              <a:t>Ping</a:t>
            </a:r>
            <a:r>
              <a:rPr lang="zh-CN" altLang="en-US" dirty="0"/>
              <a:t>，携带</a:t>
            </a:r>
            <a:r>
              <a:rPr lang="en-US" altLang="zh-CN" dirty="0"/>
              <a:t>PE2</a:t>
            </a:r>
            <a:r>
              <a:rPr lang="zh-CN" altLang="en-US" dirty="0"/>
              <a:t>的</a:t>
            </a:r>
            <a:r>
              <a:rPr lang="en-US" altLang="zh-CN" dirty="0"/>
              <a:t>End SID</a:t>
            </a:r>
            <a:r>
              <a:rPr lang="zh-CN" altLang="en-US" dirty="0"/>
              <a:t>，构造并发送</a:t>
            </a:r>
            <a:r>
              <a:rPr lang="en-US" altLang="zh-CN" dirty="0"/>
              <a:t>ICMPv6</a:t>
            </a:r>
            <a:r>
              <a:rPr lang="zh-CN" altLang="en-US" dirty="0"/>
              <a:t>请求报文。</a:t>
            </a:r>
            <a:endParaRPr lang="zh-CN" altLang="en-US" dirty="0"/>
          </a:p>
          <a:p>
            <a:pPr lvl="1"/>
            <a:r>
              <a:rPr lang="en-US" altLang="zh-CN" dirty="0"/>
              <a:t>P1</a:t>
            </a:r>
            <a:r>
              <a:rPr lang="zh-CN" altLang="en-US" dirty="0"/>
              <a:t>收到</a:t>
            </a:r>
            <a:r>
              <a:rPr lang="en-US" altLang="zh-CN" dirty="0"/>
              <a:t>ICMPv6</a:t>
            </a:r>
            <a:r>
              <a:rPr lang="zh-CN" altLang="en-US" dirty="0"/>
              <a:t>请求报文后，会向</a:t>
            </a:r>
            <a:r>
              <a:rPr lang="en-US" altLang="zh-CN" dirty="0"/>
              <a:t>PE2</a:t>
            </a:r>
            <a:r>
              <a:rPr lang="zh-CN" altLang="en-US" dirty="0"/>
              <a:t>转发</a:t>
            </a:r>
            <a:r>
              <a:rPr lang="en-US" altLang="zh-CN" dirty="0"/>
              <a:t>ICMPv6</a:t>
            </a:r>
            <a:r>
              <a:rPr lang="zh-CN" altLang="en-US" dirty="0"/>
              <a:t>请求报文。</a:t>
            </a:r>
            <a:endParaRPr lang="en-US" altLang="zh-CN" dirty="0"/>
          </a:p>
          <a:p>
            <a:pPr lvl="1"/>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PE2</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收到</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ICMPv6</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请求报文后，向</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PE1</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发送</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ICMPv6</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应答报文。此时发送端</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PE1</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上可以查看</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Ping</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操作的详细信息。</a:t>
            </a:r>
            <a:endParaRPr lang="en-US" altLang="zh-CN" dirty="0"/>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2950" y="717550"/>
            <a:ext cx="5557838" cy="3125788"/>
          </a:xfrm>
        </p:spPr>
      </p:sp>
      <p:sp>
        <p:nvSpPr>
          <p:cNvPr id="3" name="Notes Placeholder 2"/>
          <p:cNvSpPr>
            <a:spLocks noGrp="1"/>
          </p:cNvSpPr>
          <p:nvPr>
            <p:ph type="body" idx="1"/>
          </p:nvPr>
        </p:nvSpPr>
        <p:spPr/>
        <p:txBody>
          <a:bodyPr/>
          <a:lstStyle/>
          <a:p>
            <a:r>
              <a:rPr lang="zh-CN" altLang="en-US" dirty="0"/>
              <a:t>对于</a:t>
            </a:r>
            <a:r>
              <a:rPr lang="en-US" altLang="zh-CN" dirty="0"/>
              <a:t>Overlay</a:t>
            </a:r>
            <a:r>
              <a:rPr lang="zh-CN" altLang="en-US" dirty="0"/>
              <a:t>检测的情况：</a:t>
            </a:r>
            <a:endParaRPr lang="zh-CN" altLang="en-US" dirty="0"/>
          </a:p>
          <a:p>
            <a:pPr lvl="1"/>
            <a:r>
              <a:rPr lang="en-US" altLang="zh-CN" dirty="0"/>
              <a:t>PE1</a:t>
            </a:r>
            <a:r>
              <a:rPr lang="zh-CN" altLang="en-US" dirty="0"/>
              <a:t>向</a:t>
            </a:r>
            <a:r>
              <a:rPr lang="en-US" altLang="zh-CN" dirty="0"/>
              <a:t>PE2</a:t>
            </a:r>
            <a:r>
              <a:rPr lang="zh-CN" altLang="en-US" dirty="0"/>
              <a:t>发起</a:t>
            </a:r>
            <a:r>
              <a:rPr lang="en-US" altLang="zh-CN" dirty="0" err="1"/>
              <a:t>Tracert</a:t>
            </a:r>
            <a:r>
              <a:rPr lang="zh-CN" altLang="en-US" dirty="0"/>
              <a:t>，携带</a:t>
            </a:r>
            <a:r>
              <a:rPr lang="en-US" altLang="zh-CN" dirty="0"/>
              <a:t>P1</a:t>
            </a:r>
            <a:r>
              <a:rPr lang="zh-CN" altLang="en-US" dirty="0"/>
              <a:t>的</a:t>
            </a:r>
            <a:r>
              <a:rPr lang="en-US" altLang="zh-CN" dirty="0"/>
              <a:t>SRv6 SID</a:t>
            </a:r>
            <a:r>
              <a:rPr lang="zh-CN" altLang="en-US" dirty="0"/>
              <a:t>（</a:t>
            </a:r>
            <a:r>
              <a:rPr lang="en-US" altLang="zh-CN" dirty="0"/>
              <a:t>End SID</a:t>
            </a:r>
            <a:r>
              <a:rPr lang="zh-CN" altLang="en-US" dirty="0"/>
              <a:t>和</a:t>
            </a:r>
            <a:r>
              <a:rPr lang="en-US" altLang="zh-CN" dirty="0" err="1"/>
              <a:t>End.X</a:t>
            </a:r>
            <a:r>
              <a:rPr lang="en-US" altLang="zh-CN" dirty="0"/>
              <a:t> SID</a:t>
            </a:r>
            <a:r>
              <a:rPr lang="zh-CN" altLang="en-US" dirty="0"/>
              <a:t>）和</a:t>
            </a:r>
            <a:r>
              <a:rPr lang="en-US" altLang="zh-CN" dirty="0"/>
              <a:t>PE2</a:t>
            </a:r>
            <a:r>
              <a:rPr lang="zh-CN" altLang="en-US" dirty="0"/>
              <a:t>的</a:t>
            </a:r>
            <a:r>
              <a:rPr lang="en-US" altLang="zh-CN" dirty="0"/>
              <a:t>End SID</a:t>
            </a:r>
            <a:r>
              <a:rPr lang="zh-CN" altLang="en-US" dirty="0"/>
              <a:t>，构造</a:t>
            </a:r>
            <a:r>
              <a:rPr lang="en-US" altLang="zh-CN" dirty="0"/>
              <a:t>UDP</a:t>
            </a:r>
            <a:r>
              <a:rPr lang="zh-CN" altLang="en-US" dirty="0"/>
              <a:t>报文，封装</a:t>
            </a:r>
            <a:r>
              <a:rPr lang="en-US" altLang="zh-CN" dirty="0"/>
              <a:t>SRH</a:t>
            </a:r>
            <a:r>
              <a:rPr lang="zh-CN" altLang="en-US" dirty="0"/>
              <a:t>扩展头并进行转发。此时</a:t>
            </a:r>
            <a:r>
              <a:rPr lang="en-US" altLang="zh-CN" dirty="0"/>
              <a:t>IPv6</a:t>
            </a:r>
            <a:r>
              <a:rPr lang="zh-CN" altLang="en-US" dirty="0"/>
              <a:t>报文首部的</a:t>
            </a:r>
            <a:r>
              <a:rPr lang="en-US" altLang="zh-CN" dirty="0"/>
              <a:t>Hop Limit</a:t>
            </a:r>
            <a:r>
              <a:rPr lang="zh-CN" altLang="en-US" dirty="0"/>
              <a:t>（等同于</a:t>
            </a:r>
            <a:r>
              <a:rPr lang="en-US" altLang="zh-CN" dirty="0"/>
              <a:t>IPv4</a:t>
            </a:r>
            <a:r>
              <a:rPr lang="zh-CN" altLang="en-US" dirty="0"/>
              <a:t>中的</a:t>
            </a:r>
            <a:r>
              <a:rPr lang="en-US" altLang="zh-CN" dirty="0"/>
              <a:t>TTL</a:t>
            </a:r>
            <a:r>
              <a:rPr lang="zh-CN" altLang="en-US" dirty="0"/>
              <a:t>）字段的取值设置为</a:t>
            </a:r>
            <a:r>
              <a:rPr lang="en-US" altLang="zh-CN" dirty="0"/>
              <a:t>64</a:t>
            </a:r>
            <a:r>
              <a:rPr lang="zh-CN" altLang="en-US" dirty="0"/>
              <a:t>，每经过一个设备，</a:t>
            </a:r>
            <a:r>
              <a:rPr lang="en-US" altLang="zh-CN" dirty="0"/>
              <a:t>Hop Limit</a:t>
            </a:r>
            <a:r>
              <a:rPr lang="zh-CN" altLang="en-US" dirty="0"/>
              <a:t>字段的取值都会减</a:t>
            </a:r>
            <a:r>
              <a:rPr lang="en-US" altLang="zh-CN" dirty="0"/>
              <a:t>1</a:t>
            </a:r>
            <a:r>
              <a:rPr lang="zh-CN" altLang="en-US" dirty="0"/>
              <a:t>，当该字段的值为</a:t>
            </a:r>
            <a:r>
              <a:rPr lang="en-US" altLang="zh-CN" dirty="0"/>
              <a:t>0</a:t>
            </a:r>
            <a:r>
              <a:rPr lang="zh-CN" altLang="en-US" dirty="0"/>
              <a:t>时，数据包就被丢弃，并向</a:t>
            </a:r>
            <a:r>
              <a:rPr lang="en-US" altLang="zh-CN" dirty="0"/>
              <a:t>PE1</a:t>
            </a:r>
            <a:r>
              <a:rPr lang="zh-CN" altLang="en-US" dirty="0"/>
              <a:t>发送</a:t>
            </a:r>
            <a:r>
              <a:rPr lang="en-US" altLang="zh-CN" dirty="0"/>
              <a:t>ICMPv6</a:t>
            </a:r>
            <a:r>
              <a:rPr lang="zh-CN" altLang="en-US" dirty="0"/>
              <a:t>超时报文。</a:t>
            </a:r>
            <a:endParaRPr lang="zh-CN" altLang="en-US" dirty="0"/>
          </a:p>
          <a:p>
            <a:pPr lvl="1"/>
            <a:r>
              <a:rPr lang="en-US" altLang="zh-CN" dirty="0"/>
              <a:t>P1</a:t>
            </a:r>
            <a:r>
              <a:rPr lang="zh-CN" altLang="en-US" dirty="0"/>
              <a:t>收到</a:t>
            </a:r>
            <a:r>
              <a:rPr lang="en-US" altLang="zh-CN" dirty="0"/>
              <a:t>UDP</a:t>
            </a:r>
            <a:r>
              <a:rPr lang="zh-CN" altLang="en-US" dirty="0"/>
              <a:t>报文后，</a:t>
            </a:r>
            <a:r>
              <a:rPr lang="en-US" altLang="zh-CN" dirty="0"/>
              <a:t>Hop Limit</a:t>
            </a:r>
            <a:r>
              <a:rPr lang="zh-CN" altLang="en-US" dirty="0"/>
              <a:t>字段的值变成</a:t>
            </a:r>
            <a:r>
              <a:rPr lang="en-US" altLang="zh-CN" dirty="0"/>
              <a:t>63</a:t>
            </a:r>
            <a:r>
              <a:rPr lang="zh-CN" altLang="en-US" dirty="0"/>
              <a:t>，会向</a:t>
            </a:r>
            <a:r>
              <a:rPr lang="en-US" altLang="zh-CN" dirty="0"/>
              <a:t>PE1</a:t>
            </a:r>
            <a:r>
              <a:rPr lang="zh-CN" altLang="en-US" dirty="0"/>
              <a:t>发送</a:t>
            </a:r>
            <a:r>
              <a:rPr lang="en-US" altLang="zh-CN" dirty="0"/>
              <a:t>ICMPv6</a:t>
            </a:r>
            <a:r>
              <a:rPr lang="zh-CN" altLang="en-US" dirty="0"/>
              <a:t>端口不可达报文，并将</a:t>
            </a:r>
            <a:r>
              <a:rPr lang="en-US" altLang="zh-CN" dirty="0"/>
              <a:t>UDP</a:t>
            </a:r>
            <a:r>
              <a:rPr lang="zh-CN" altLang="en-US" dirty="0"/>
              <a:t>报文向</a:t>
            </a:r>
            <a:r>
              <a:rPr lang="en-US" altLang="zh-CN" dirty="0"/>
              <a:t>PE2</a:t>
            </a:r>
            <a:r>
              <a:rPr lang="zh-CN" altLang="en-US" dirty="0"/>
              <a:t>转发。</a:t>
            </a:r>
            <a:endParaRPr lang="zh-CN" altLang="en-US" dirty="0"/>
          </a:p>
          <a:p>
            <a:pPr lvl="1"/>
            <a:r>
              <a:rPr lang="en-US" altLang="zh-CN" dirty="0"/>
              <a:t>PE2</a:t>
            </a:r>
            <a:r>
              <a:rPr lang="zh-CN" altLang="en-US" dirty="0"/>
              <a:t>收到</a:t>
            </a:r>
            <a:r>
              <a:rPr lang="en-US" altLang="zh-CN" dirty="0"/>
              <a:t>UDP</a:t>
            </a:r>
            <a:r>
              <a:rPr lang="zh-CN" altLang="en-US" dirty="0"/>
              <a:t>报文后，</a:t>
            </a:r>
            <a:r>
              <a:rPr lang="en-US" altLang="zh-CN" dirty="0"/>
              <a:t>Hop Limit</a:t>
            </a:r>
            <a:r>
              <a:rPr lang="zh-CN" altLang="en-US" dirty="0"/>
              <a:t>字段的值变成</a:t>
            </a:r>
            <a:r>
              <a:rPr lang="en-US" altLang="zh-CN" dirty="0"/>
              <a:t>62</a:t>
            </a:r>
            <a:r>
              <a:rPr lang="zh-CN" altLang="en-US" dirty="0"/>
              <a:t>，会向</a:t>
            </a:r>
            <a:r>
              <a:rPr lang="en-US" altLang="zh-CN" dirty="0"/>
              <a:t>PE1</a:t>
            </a:r>
            <a:r>
              <a:rPr lang="zh-CN" altLang="en-US" dirty="0"/>
              <a:t>发送</a:t>
            </a:r>
            <a:r>
              <a:rPr lang="en-US" altLang="zh-CN" dirty="0"/>
              <a:t>ICMPv6</a:t>
            </a:r>
            <a:r>
              <a:rPr lang="zh-CN" altLang="en-US" dirty="0"/>
              <a:t>端口不可达报文。</a:t>
            </a:r>
            <a:endParaRPr lang="en-US" altLang="zh-CN" dirty="0"/>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731838" y="728663"/>
            <a:ext cx="5580062" cy="8366172"/>
          </a:xfrm>
        </p:spPr>
        <p:txBody>
          <a:bodyPr/>
          <a:lstStyle/>
          <a:p>
            <a:r>
              <a:rPr lang="zh-CN" altLang="en-US" dirty="0"/>
              <a:t>对于非</a:t>
            </a:r>
            <a:r>
              <a:rPr lang="en-US" altLang="zh-CN" dirty="0"/>
              <a:t>Overlay</a:t>
            </a:r>
            <a:r>
              <a:rPr lang="zh-CN" altLang="en-US" dirty="0"/>
              <a:t>检测的情况：</a:t>
            </a:r>
            <a:endParaRPr lang="zh-CN" altLang="en-US" dirty="0"/>
          </a:p>
          <a:p>
            <a:pPr lvl="1"/>
            <a:r>
              <a:rPr lang="en-US" altLang="zh-CN" dirty="0"/>
              <a:t>PE1</a:t>
            </a:r>
            <a:r>
              <a:rPr lang="zh-CN" altLang="en-US" dirty="0"/>
              <a:t>向</a:t>
            </a:r>
            <a:r>
              <a:rPr lang="en-US" altLang="zh-CN" dirty="0"/>
              <a:t>PE2</a:t>
            </a:r>
            <a:r>
              <a:rPr lang="zh-CN" altLang="en-US" dirty="0"/>
              <a:t>发起</a:t>
            </a:r>
            <a:r>
              <a:rPr lang="en-US" altLang="zh-CN" dirty="0" err="1"/>
              <a:t>Tracert</a:t>
            </a:r>
            <a:r>
              <a:rPr lang="zh-CN" altLang="en-US" dirty="0"/>
              <a:t>，携带</a:t>
            </a:r>
            <a:r>
              <a:rPr lang="en-US" altLang="zh-CN" dirty="0"/>
              <a:t>P1</a:t>
            </a:r>
            <a:r>
              <a:rPr lang="zh-CN" altLang="en-US" dirty="0"/>
              <a:t>的</a:t>
            </a:r>
            <a:r>
              <a:rPr lang="en-US" altLang="zh-CN" dirty="0"/>
              <a:t>SRv6 SID</a:t>
            </a:r>
            <a:r>
              <a:rPr lang="zh-CN" altLang="en-US" dirty="0"/>
              <a:t>和</a:t>
            </a:r>
            <a:r>
              <a:rPr lang="en-US" altLang="zh-CN" dirty="0"/>
              <a:t>PE2</a:t>
            </a:r>
            <a:r>
              <a:rPr lang="zh-CN" altLang="en-US" dirty="0"/>
              <a:t>的</a:t>
            </a:r>
            <a:r>
              <a:rPr lang="en-US" altLang="zh-CN" dirty="0"/>
              <a:t>End SID</a:t>
            </a:r>
            <a:r>
              <a:rPr lang="zh-CN" altLang="en-US" dirty="0"/>
              <a:t>，构造</a:t>
            </a:r>
            <a:r>
              <a:rPr lang="en-US" altLang="zh-CN" dirty="0"/>
              <a:t>UDP</a:t>
            </a:r>
            <a:r>
              <a:rPr lang="zh-CN" altLang="en-US" dirty="0"/>
              <a:t>报文，封装</a:t>
            </a:r>
            <a:r>
              <a:rPr lang="en-US" altLang="zh-CN" dirty="0"/>
              <a:t>SRH</a:t>
            </a:r>
            <a:r>
              <a:rPr lang="zh-CN" altLang="en-US" dirty="0"/>
              <a:t>扩展头并进行转发。此时</a:t>
            </a:r>
            <a:r>
              <a:rPr lang="en-US" altLang="zh-CN" dirty="0"/>
              <a:t>IPv6</a:t>
            </a:r>
            <a:r>
              <a:rPr lang="zh-CN" altLang="en-US" dirty="0"/>
              <a:t>报文首部的</a:t>
            </a:r>
            <a:r>
              <a:rPr lang="en-US" altLang="zh-CN" dirty="0"/>
              <a:t>Hop Limit</a:t>
            </a:r>
            <a:r>
              <a:rPr lang="zh-CN" altLang="en-US" dirty="0"/>
              <a:t>字段的取值设置为</a:t>
            </a:r>
            <a:r>
              <a:rPr lang="en-US" altLang="zh-CN" dirty="0"/>
              <a:t>1</a:t>
            </a:r>
            <a:r>
              <a:rPr lang="zh-CN" altLang="en-US" dirty="0"/>
              <a:t>，每经过一个设备，</a:t>
            </a:r>
            <a:r>
              <a:rPr lang="en-US" altLang="zh-CN" dirty="0"/>
              <a:t>Hop Limit</a:t>
            </a:r>
            <a:r>
              <a:rPr lang="zh-CN" altLang="en-US" dirty="0"/>
              <a:t>字段的取值都会减</a:t>
            </a:r>
            <a:r>
              <a:rPr lang="en-US" altLang="zh-CN" dirty="0"/>
              <a:t>1</a:t>
            </a:r>
            <a:r>
              <a:rPr lang="zh-CN" altLang="en-US" dirty="0"/>
              <a:t>，当该字段的值为</a:t>
            </a:r>
            <a:r>
              <a:rPr lang="en-US" altLang="zh-CN" dirty="0"/>
              <a:t>0</a:t>
            </a:r>
            <a:r>
              <a:rPr lang="zh-CN" altLang="en-US" dirty="0"/>
              <a:t>时，数据包就被丢弃，并向</a:t>
            </a:r>
            <a:r>
              <a:rPr lang="en-US" altLang="zh-CN" dirty="0"/>
              <a:t>PE1</a:t>
            </a:r>
            <a:r>
              <a:rPr lang="zh-CN" altLang="en-US" dirty="0"/>
              <a:t>发送</a:t>
            </a:r>
            <a:r>
              <a:rPr lang="en-US" altLang="zh-CN" dirty="0"/>
              <a:t>ICMPv6</a:t>
            </a:r>
            <a:r>
              <a:rPr lang="zh-CN" altLang="en-US" dirty="0"/>
              <a:t>超时报文。</a:t>
            </a:r>
            <a:endParaRPr lang="zh-CN" altLang="en-US" dirty="0"/>
          </a:p>
          <a:p>
            <a:pPr lvl="1"/>
            <a:r>
              <a:rPr lang="en-US" altLang="zh-CN" dirty="0"/>
              <a:t>P1</a:t>
            </a:r>
            <a:r>
              <a:rPr lang="zh-CN" altLang="en-US" dirty="0"/>
              <a:t>收到</a:t>
            </a:r>
            <a:r>
              <a:rPr lang="en-US" altLang="zh-CN" dirty="0"/>
              <a:t>UDP</a:t>
            </a:r>
            <a:r>
              <a:rPr lang="zh-CN" altLang="en-US" dirty="0"/>
              <a:t>报文后，</a:t>
            </a:r>
            <a:r>
              <a:rPr lang="en-US" altLang="zh-CN" dirty="0"/>
              <a:t>Hop Limit</a:t>
            </a:r>
            <a:r>
              <a:rPr lang="zh-CN" altLang="en-US" dirty="0"/>
              <a:t>字段的值变成</a:t>
            </a:r>
            <a:r>
              <a:rPr lang="en-US" altLang="zh-CN" dirty="0"/>
              <a:t>0</a:t>
            </a:r>
            <a:r>
              <a:rPr lang="zh-CN" altLang="en-US" dirty="0"/>
              <a:t>，会向</a:t>
            </a:r>
            <a:r>
              <a:rPr lang="en-US" altLang="zh-CN" dirty="0"/>
              <a:t>PE1</a:t>
            </a:r>
            <a:r>
              <a:rPr lang="zh-CN" altLang="en-US" dirty="0"/>
              <a:t>发送</a:t>
            </a:r>
            <a:r>
              <a:rPr lang="en-US" altLang="zh-CN" dirty="0"/>
              <a:t>ICMPv6</a:t>
            </a:r>
            <a:r>
              <a:rPr lang="zh-CN" altLang="en-US" dirty="0"/>
              <a:t>超时报文。</a:t>
            </a:r>
            <a:endParaRPr lang="zh-CN" altLang="en-US" dirty="0"/>
          </a:p>
          <a:p>
            <a:pPr lvl="1"/>
            <a:r>
              <a:rPr lang="en-US" altLang="zh-CN" dirty="0"/>
              <a:t>PE1</a:t>
            </a:r>
            <a:r>
              <a:rPr lang="zh-CN" altLang="en-US" dirty="0"/>
              <a:t>收到</a:t>
            </a:r>
            <a:r>
              <a:rPr lang="en-US" altLang="zh-CN" dirty="0"/>
              <a:t>P1</a:t>
            </a:r>
            <a:r>
              <a:rPr lang="zh-CN" altLang="en-US" dirty="0"/>
              <a:t>发送的</a:t>
            </a:r>
            <a:r>
              <a:rPr lang="en-US" altLang="zh-CN" dirty="0"/>
              <a:t>ICMPv6</a:t>
            </a:r>
            <a:r>
              <a:rPr lang="zh-CN" altLang="en-US" dirty="0"/>
              <a:t>超时报文后，将</a:t>
            </a:r>
            <a:r>
              <a:rPr lang="en-US" altLang="zh-CN" dirty="0"/>
              <a:t>Hop Limit</a:t>
            </a:r>
            <a:r>
              <a:rPr lang="zh-CN" altLang="en-US" dirty="0"/>
              <a:t>字段的取值加</a:t>
            </a:r>
            <a:r>
              <a:rPr lang="en-US" altLang="zh-CN" dirty="0"/>
              <a:t>1</a:t>
            </a:r>
            <a:r>
              <a:rPr lang="zh-CN" altLang="en-US" dirty="0"/>
              <a:t>（此时设置为</a:t>
            </a:r>
            <a:r>
              <a:rPr lang="en-US" altLang="zh-CN" dirty="0"/>
              <a:t>2</a:t>
            </a:r>
            <a:r>
              <a:rPr lang="zh-CN" altLang="en-US" dirty="0"/>
              <a:t>），继续发送</a:t>
            </a:r>
            <a:r>
              <a:rPr lang="en-US" altLang="zh-CN" dirty="0"/>
              <a:t>UDP</a:t>
            </a:r>
            <a:r>
              <a:rPr lang="zh-CN" altLang="en-US" dirty="0"/>
              <a:t>报文。</a:t>
            </a:r>
            <a:endParaRPr lang="zh-CN" altLang="en-US" dirty="0"/>
          </a:p>
          <a:p>
            <a:pPr lvl="1"/>
            <a:r>
              <a:rPr lang="en-US" altLang="zh-CN" dirty="0"/>
              <a:t>P1</a:t>
            </a:r>
            <a:r>
              <a:rPr lang="zh-CN" altLang="en-US" dirty="0"/>
              <a:t>收到</a:t>
            </a:r>
            <a:r>
              <a:rPr lang="en-US" altLang="zh-CN" dirty="0"/>
              <a:t>UDP</a:t>
            </a:r>
            <a:r>
              <a:rPr lang="zh-CN" altLang="en-US" dirty="0"/>
              <a:t>报文后，</a:t>
            </a:r>
            <a:r>
              <a:rPr lang="en-US" altLang="zh-CN" dirty="0"/>
              <a:t>Hop Limit</a:t>
            </a:r>
            <a:r>
              <a:rPr lang="zh-CN" altLang="en-US" dirty="0"/>
              <a:t>字段的值变成</a:t>
            </a:r>
            <a:r>
              <a:rPr lang="en-US" altLang="zh-CN" dirty="0"/>
              <a:t>1</a:t>
            </a:r>
            <a:r>
              <a:rPr lang="zh-CN" altLang="en-US" dirty="0"/>
              <a:t>，会向</a:t>
            </a:r>
            <a:r>
              <a:rPr lang="en-US" altLang="zh-CN" dirty="0"/>
              <a:t>PE2</a:t>
            </a:r>
            <a:r>
              <a:rPr lang="zh-CN" altLang="en-US" dirty="0"/>
              <a:t>转发</a:t>
            </a:r>
            <a:r>
              <a:rPr lang="en-US" altLang="zh-CN" dirty="0"/>
              <a:t>UDP</a:t>
            </a:r>
            <a:r>
              <a:rPr lang="zh-CN" altLang="en-US" dirty="0"/>
              <a:t>报文。</a:t>
            </a:r>
            <a:endParaRPr lang="zh-CN" altLang="en-US" dirty="0"/>
          </a:p>
          <a:p>
            <a:pPr lvl="1"/>
            <a:r>
              <a:rPr lang="en-US" altLang="zh-CN" dirty="0"/>
              <a:t>PE2</a:t>
            </a:r>
            <a:r>
              <a:rPr lang="zh-CN" altLang="en-US" dirty="0"/>
              <a:t>收到</a:t>
            </a:r>
            <a:r>
              <a:rPr lang="en-US" altLang="zh-CN" dirty="0"/>
              <a:t>UDP</a:t>
            </a:r>
            <a:r>
              <a:rPr lang="zh-CN" altLang="en-US" dirty="0"/>
              <a:t>报文后，</a:t>
            </a:r>
            <a:r>
              <a:rPr lang="en-US" altLang="zh-CN" dirty="0"/>
              <a:t>Hop Limit</a:t>
            </a:r>
            <a:r>
              <a:rPr lang="zh-CN" altLang="en-US" dirty="0"/>
              <a:t>字段的值变成</a:t>
            </a:r>
            <a:r>
              <a:rPr lang="en-US" altLang="zh-CN" dirty="0"/>
              <a:t>0</a:t>
            </a:r>
            <a:r>
              <a:rPr lang="zh-CN" altLang="en-US" dirty="0"/>
              <a:t>，确认</a:t>
            </a:r>
            <a:r>
              <a:rPr lang="en-US" altLang="zh-CN" dirty="0"/>
              <a:t>SID</a:t>
            </a:r>
            <a:r>
              <a:rPr lang="zh-CN" altLang="en-US" dirty="0"/>
              <a:t>类型为</a:t>
            </a:r>
            <a:r>
              <a:rPr lang="en-US" altLang="zh-CN" dirty="0"/>
              <a:t>End SID</a:t>
            </a:r>
            <a:r>
              <a:rPr lang="zh-CN" altLang="en-US" dirty="0"/>
              <a:t>，并校验上层协议头是否为</a:t>
            </a:r>
            <a:r>
              <a:rPr lang="en-US" altLang="zh-CN" dirty="0"/>
              <a:t>UDP</a:t>
            </a:r>
            <a:r>
              <a:rPr lang="zh-CN" altLang="en-US" dirty="0"/>
              <a:t>或</a:t>
            </a:r>
            <a:r>
              <a:rPr lang="en-US" altLang="zh-CN" dirty="0"/>
              <a:t>ICMPv6</a:t>
            </a:r>
            <a:r>
              <a:rPr lang="zh-CN" altLang="en-US" dirty="0"/>
              <a:t>。</a:t>
            </a:r>
            <a:endParaRPr lang="zh-CN" altLang="en-US" dirty="0"/>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2950" y="717550"/>
            <a:ext cx="5557838" cy="3125788"/>
          </a:xfrm>
        </p:spPr>
      </p:sp>
      <p:sp>
        <p:nvSpPr>
          <p:cNvPr id="3" name="Notes Placeholder 2"/>
          <p:cNvSpPr>
            <a:spLocks noGrp="1"/>
          </p:cNvSpPr>
          <p:nvPr>
            <p:ph type="body" idx="1"/>
          </p:nvPr>
        </p:nvSpPr>
        <p:spPr/>
        <p:txBody>
          <a:bodyPr/>
          <a:lstStyle/>
          <a:p>
            <a:endParaRPr lang="zh-CN"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2950" y="717550"/>
            <a:ext cx="5557838" cy="3125788"/>
          </a:xfrm>
        </p:spPr>
      </p:sp>
      <p:sp>
        <p:nvSpPr>
          <p:cNvPr id="3" name="Notes Placeholder 2"/>
          <p:cNvSpPr>
            <a:spLocks noGrp="1"/>
          </p:cNvSpPr>
          <p:nvPr>
            <p:ph type="body" idx="1"/>
          </p:nvPr>
        </p:nvSpPr>
        <p:spPr/>
        <p:txBody>
          <a:bodyPr/>
          <a:lstStyle/>
          <a:p>
            <a:r>
              <a:rPr lang="en-US" altLang="zh-CN" dirty="0"/>
              <a:t>P</a:t>
            </a:r>
            <a:r>
              <a:rPr lang="zh-CN" altLang="en-US" dirty="0"/>
              <a:t>空间与</a:t>
            </a:r>
            <a:r>
              <a:rPr lang="en-US" altLang="zh-CN" dirty="0"/>
              <a:t>Q</a:t>
            </a:r>
            <a:r>
              <a:rPr lang="zh-CN" altLang="en-US" dirty="0"/>
              <a:t>空间：</a:t>
            </a:r>
            <a:endParaRPr lang="en-US" altLang="zh-CN" dirty="0"/>
          </a:p>
          <a:p>
            <a:pPr lvl="1"/>
            <a:r>
              <a:rPr lang="en-US" altLang="zh-CN" dirty="0"/>
              <a:t>P</a:t>
            </a:r>
            <a:r>
              <a:rPr lang="zh-CN" altLang="en-US" dirty="0"/>
              <a:t>空间：以源节点为根，到其他节点的</a:t>
            </a:r>
            <a:r>
              <a:rPr lang="en-US" altLang="zh-CN" dirty="0"/>
              <a:t>SPF</a:t>
            </a:r>
            <a:r>
              <a:rPr lang="zh-CN" altLang="en-US" dirty="0"/>
              <a:t>树，删掉被保护路径及其下挂的分支和节点，剩下可达的节点（不包含根节点）集合就是</a:t>
            </a:r>
            <a:r>
              <a:rPr lang="en-US" altLang="zh-CN" dirty="0"/>
              <a:t>P</a:t>
            </a:r>
            <a:r>
              <a:rPr lang="zh-CN" altLang="en-US" dirty="0"/>
              <a:t>空间。</a:t>
            </a:r>
            <a:endParaRPr lang="en-US" altLang="zh-CN" dirty="0"/>
          </a:p>
          <a:p>
            <a:pPr lvl="1"/>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扩展</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P</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空间：以源节点的各个邻居为根（不包含被保护链路节点），到其他节点的</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SPF</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树，删掉故障点下挂的分支和节点，剩下可达的节点（不包含根节点）集合就是扩展</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P</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空间。</a:t>
            </a:r>
            <a:endParaRPr lang="en-US" altLang="zh-CN" dirty="0"/>
          </a:p>
          <a:p>
            <a:pPr lvl="1"/>
            <a:r>
              <a:rPr lang="en-US" altLang="zh-CN" dirty="0"/>
              <a:t>Q</a:t>
            </a:r>
            <a:r>
              <a:rPr lang="zh-CN" altLang="en-US" dirty="0"/>
              <a:t>空间：以目的节点为根，其他节点到根的</a:t>
            </a:r>
            <a:r>
              <a:rPr lang="en-US" altLang="zh-CN" dirty="0"/>
              <a:t>r-SPF</a:t>
            </a:r>
            <a:r>
              <a:rPr lang="zh-CN" altLang="en-US" dirty="0"/>
              <a:t>树，删掉被保护路径及其下挂的分支和节点，剩下可达的节点（不包含根节点）集合就是</a:t>
            </a:r>
            <a:r>
              <a:rPr lang="en-US" altLang="zh-CN" dirty="0"/>
              <a:t>Q</a:t>
            </a:r>
            <a:r>
              <a:rPr lang="zh-CN" altLang="en-US" dirty="0"/>
              <a:t>空间。</a:t>
            </a:r>
            <a:endParaRPr lang="en-US" altLang="zh-CN" dirty="0"/>
          </a:p>
          <a:p>
            <a:r>
              <a:rPr lang="en-US" altLang="zh-CN" dirty="0"/>
              <a:t>TI-LFA</a:t>
            </a:r>
            <a:r>
              <a:rPr lang="zh-CN" altLang="en-US" dirty="0"/>
              <a:t>优势：</a:t>
            </a:r>
            <a:endParaRPr lang="en-US" altLang="zh-CN" dirty="0"/>
          </a:p>
          <a:p>
            <a:pPr lvl="1"/>
            <a:r>
              <a:rPr lang="zh-CN" altLang="en-US" dirty="0"/>
              <a:t>满足</a:t>
            </a:r>
            <a:r>
              <a:rPr lang="en-US" altLang="zh-CN" dirty="0"/>
              <a:t>100%</a:t>
            </a:r>
            <a:r>
              <a:rPr lang="zh-CN" altLang="en-US" dirty="0"/>
              <a:t>拓扑覆盖，用户不用担心网络</a:t>
            </a:r>
            <a:r>
              <a:rPr lang="en-US" altLang="zh-CN" dirty="0"/>
              <a:t>cost</a:t>
            </a:r>
            <a:r>
              <a:rPr lang="zh-CN" altLang="en-US" dirty="0"/>
              <a:t>的规划对保护路径计算产生影响。</a:t>
            </a:r>
            <a:endParaRPr lang="zh-CN" altLang="en-US" dirty="0"/>
          </a:p>
          <a:p>
            <a:pPr lvl="1"/>
            <a:r>
              <a:rPr lang="zh-CN" altLang="en-US" dirty="0"/>
              <a:t>部署简洁，基于</a:t>
            </a:r>
            <a:r>
              <a:rPr lang="en-US" altLang="zh-CN" dirty="0"/>
              <a:t>IGP</a:t>
            </a:r>
            <a:r>
              <a:rPr lang="zh-CN" altLang="en-US" dirty="0"/>
              <a:t>计算备份路径，用户不必为了可靠性引入的额外的协议部署。</a:t>
            </a:r>
            <a:endParaRPr lang="zh-CN" altLang="en-US" dirty="0"/>
          </a:p>
          <a:p>
            <a:pPr lvl="1"/>
            <a:r>
              <a:rPr lang="zh-CN" altLang="en-US" dirty="0"/>
              <a:t>优先使用</a:t>
            </a:r>
            <a:r>
              <a:rPr lang="en-US" altLang="zh-CN" dirty="0"/>
              <a:t>Post-convergence</a:t>
            </a:r>
            <a:r>
              <a:rPr lang="zh-CN" altLang="en-US" dirty="0"/>
              <a:t>路径，即</a:t>
            </a:r>
            <a:r>
              <a:rPr lang="en-US" altLang="zh-CN" dirty="0"/>
              <a:t>IGP</a:t>
            </a:r>
            <a:r>
              <a:rPr lang="zh-CN" altLang="en-US" dirty="0"/>
              <a:t>收敛之后的路径作为备份路径，这样可以减少路径切换的次数，并且更有利于用户进行带宽规划。</a:t>
            </a:r>
            <a:endParaRPr lang="zh-CN" altLang="en-US" dirty="0"/>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731838" y="728663"/>
            <a:ext cx="5580062" cy="8366172"/>
          </a:xfrm>
        </p:spPr>
        <p:txBody>
          <a:bodyPr/>
          <a:lstStyle/>
          <a:p>
            <a:pPr lvl="0"/>
            <a:r>
              <a:rPr lang="en-US" altLang="zh-CN" dirty="0"/>
              <a:t>TI-LFA</a:t>
            </a:r>
            <a:r>
              <a:rPr lang="zh-CN" altLang="en-US" dirty="0"/>
              <a:t>计算原则</a:t>
            </a:r>
            <a:endParaRPr lang="zh-CN" altLang="en-US" dirty="0"/>
          </a:p>
          <a:p>
            <a:pPr lvl="1"/>
            <a:r>
              <a:rPr lang="en-US" altLang="zh-CN" dirty="0"/>
              <a:t>SRLG Disjoint &gt; </a:t>
            </a:r>
            <a:r>
              <a:rPr lang="zh-CN" altLang="en-US" dirty="0"/>
              <a:t>节点保护 </a:t>
            </a:r>
            <a:r>
              <a:rPr lang="en-US" altLang="zh-CN" dirty="0"/>
              <a:t>&gt; </a:t>
            </a:r>
            <a:r>
              <a:rPr lang="zh-CN" altLang="en-US" dirty="0"/>
              <a:t>链路保护 </a:t>
            </a:r>
            <a:r>
              <a:rPr lang="en-US" altLang="zh-CN" dirty="0"/>
              <a:t>&gt; cost</a:t>
            </a:r>
            <a:r>
              <a:rPr lang="zh-CN" altLang="en-US" dirty="0"/>
              <a:t>最小。</a:t>
            </a:r>
            <a:endParaRPr lang="zh-CN" altLang="en-US" dirty="0"/>
          </a:p>
          <a:p>
            <a:pPr lvl="1"/>
            <a:r>
              <a:rPr lang="zh-CN" altLang="en-US" dirty="0"/>
              <a:t>计算同时满足</a:t>
            </a:r>
            <a:r>
              <a:rPr lang="en-US" altLang="zh-CN" dirty="0"/>
              <a:t>SRLG Disjoint+</a:t>
            </a:r>
            <a:r>
              <a:rPr lang="zh-CN" altLang="en-US" dirty="0"/>
              <a:t>节点保护的备份路径，存在多条时，选择</a:t>
            </a:r>
            <a:r>
              <a:rPr lang="en-US" altLang="zh-CN" dirty="0"/>
              <a:t>cost</a:t>
            </a:r>
            <a:r>
              <a:rPr lang="zh-CN" altLang="en-US" dirty="0"/>
              <a:t>最小的路径。</a:t>
            </a:r>
            <a:endParaRPr lang="zh-CN" altLang="en-US" dirty="0"/>
          </a:p>
          <a:p>
            <a:pPr lvl="1"/>
            <a:r>
              <a:rPr lang="zh-CN" altLang="en-US" dirty="0"/>
              <a:t>否则，计算满足</a:t>
            </a:r>
            <a:r>
              <a:rPr lang="en-US" altLang="zh-CN" dirty="0"/>
              <a:t>SRLG Disjoint+</a:t>
            </a:r>
            <a:r>
              <a:rPr lang="zh-CN" altLang="en-US" dirty="0"/>
              <a:t>链路保护的备份路径，存在多条时，选择</a:t>
            </a:r>
            <a:r>
              <a:rPr lang="en-US" altLang="zh-CN" dirty="0"/>
              <a:t>cost</a:t>
            </a:r>
            <a:r>
              <a:rPr lang="zh-CN" altLang="en-US" dirty="0"/>
              <a:t>最小的路径。</a:t>
            </a:r>
            <a:endParaRPr lang="en-US" altLang="zh-CN" dirty="0"/>
          </a:p>
          <a:p>
            <a:pPr lvl="1"/>
            <a:r>
              <a:rPr lang="zh-CN" altLang="en-US" dirty="0"/>
              <a:t>否则，计算满足节点保护的最小</a:t>
            </a:r>
            <a:r>
              <a:rPr lang="en-US" altLang="zh-CN" dirty="0"/>
              <a:t>cost</a:t>
            </a:r>
            <a:r>
              <a:rPr lang="zh-CN" altLang="en-US" dirty="0"/>
              <a:t>的备份路径。</a:t>
            </a:r>
            <a:endParaRPr lang="zh-CN" altLang="en-US" dirty="0"/>
          </a:p>
          <a:p>
            <a:pPr lvl="1"/>
            <a:r>
              <a:rPr lang="zh-CN" altLang="en-US" dirty="0"/>
              <a:t>否则，计算满足链路保护的最小</a:t>
            </a:r>
            <a:r>
              <a:rPr lang="en-US" altLang="zh-CN" dirty="0"/>
              <a:t>cost</a:t>
            </a:r>
            <a:r>
              <a:rPr lang="zh-CN" altLang="en-US" dirty="0"/>
              <a:t>的备份路径。</a:t>
            </a:r>
            <a:endParaRPr lang="en-US" altLang="zh-CN" dirty="0"/>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2950" y="717550"/>
            <a:ext cx="5557838" cy="3125788"/>
          </a:xfrm>
        </p:spPr>
      </p:sp>
      <p:sp>
        <p:nvSpPr>
          <p:cNvPr id="3" name="Notes Placeholder 2"/>
          <p:cNvSpPr>
            <a:spLocks noGrp="1"/>
          </p:cNvSpPr>
          <p:nvPr>
            <p:ph type="body" idx="1"/>
          </p:nvPr>
        </p:nvSpPr>
        <p:spPr/>
        <p:txBody>
          <a:bodyPr/>
          <a:lstStyle/>
          <a:p>
            <a:endParaRPr lang="zh-CN" alt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2950" y="717550"/>
            <a:ext cx="5557838" cy="3125788"/>
          </a:xfrm>
        </p:spPr>
      </p:sp>
      <p:sp>
        <p:nvSpPr>
          <p:cNvPr id="3" name="Notes Placeholder 2"/>
          <p:cNvSpPr>
            <a:spLocks noGrp="1"/>
          </p:cNvSpPr>
          <p:nvPr>
            <p:ph type="body" idx="1"/>
          </p:nvPr>
        </p:nvSpPr>
        <p:spPr/>
        <p:txBody>
          <a:bodyPr/>
          <a:lstStyle/>
          <a:p>
            <a:endParaRPr lang="zh-CN" altLang="en-US" dirty="0"/>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2950" y="717550"/>
            <a:ext cx="5557838" cy="3125788"/>
          </a:xfrm>
        </p:spPr>
      </p:sp>
      <p:sp>
        <p:nvSpPr>
          <p:cNvPr id="3" name="Notes Placeholder 2"/>
          <p:cNvSpPr>
            <a:spLocks noGrp="1"/>
          </p:cNvSpPr>
          <p:nvPr>
            <p:ph type="body" idx="1"/>
          </p:nvPr>
        </p:nvSpPr>
        <p:spPr/>
        <p:txBody>
          <a:bodyPr/>
          <a:lstStyle/>
          <a:p>
            <a:endParaRPr lang="zh-CN" alt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2950" y="717550"/>
            <a:ext cx="5557838" cy="3125788"/>
          </a:xfrm>
        </p:spPr>
      </p:sp>
      <p:sp>
        <p:nvSpPr>
          <p:cNvPr id="3" name="Notes Placeholder 2"/>
          <p:cNvSpPr>
            <a:spLocks noGrp="1"/>
          </p:cNvSpPr>
          <p:nvPr>
            <p:ph type="body" idx="1"/>
          </p:nvPr>
        </p:nvSpPr>
        <p:spPr/>
        <p:txBody>
          <a:bodyPr/>
          <a:lstStyle/>
          <a:p>
            <a:endParaRPr lang="zh-CN" alt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2950" y="717550"/>
            <a:ext cx="5557838" cy="3125788"/>
          </a:xfrm>
        </p:spPr>
      </p:sp>
      <p:sp>
        <p:nvSpPr>
          <p:cNvPr id="3" name="Notes Placeholder 2"/>
          <p:cNvSpPr>
            <a:spLocks noGrp="1"/>
          </p:cNvSpPr>
          <p:nvPr>
            <p:ph type="body" idx="1"/>
          </p:nvPr>
        </p:nvSpPr>
        <p:spPr/>
        <p:txBody>
          <a:bodyPr/>
          <a:lstStyle/>
          <a:p>
            <a:endParaRPr lang="zh-CN" altLang="en-US"/>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2950" y="717550"/>
            <a:ext cx="5557838" cy="3125788"/>
          </a:xfrm>
        </p:spPr>
      </p:sp>
      <p:sp>
        <p:nvSpPr>
          <p:cNvPr id="3" name="Notes Placeholder 2"/>
          <p:cNvSpPr>
            <a:spLocks noGrp="1"/>
          </p:cNvSpPr>
          <p:nvPr>
            <p:ph type="body" idx="1"/>
          </p:nvPr>
        </p:nvSpPr>
        <p:spPr/>
        <p:txBody>
          <a:bodyPr/>
          <a:lstStyle/>
          <a:p>
            <a:endParaRPr lang="zh-CN" altLang="en-US"/>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2950" y="717550"/>
            <a:ext cx="5557838" cy="3125788"/>
          </a:xfrm>
        </p:spPr>
      </p:sp>
      <p:sp>
        <p:nvSpPr>
          <p:cNvPr id="3" name="Notes Placeholder 2"/>
          <p:cNvSpPr>
            <a:spLocks noGrp="1"/>
          </p:cNvSpPr>
          <p:nvPr>
            <p:ph type="body" idx="1"/>
          </p:nvPr>
        </p:nvSpPr>
        <p:spPr/>
        <p:txBody>
          <a:bodyPr/>
          <a:lstStyle/>
          <a:p>
            <a:endParaRPr lang="zh-CN" altLang="en-US"/>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2950" y="717550"/>
            <a:ext cx="5557838" cy="3125788"/>
          </a:xfrm>
        </p:spPr>
      </p:sp>
      <p:sp>
        <p:nvSpPr>
          <p:cNvPr id="3" name="Notes Placeholder 2"/>
          <p:cNvSpPr>
            <a:spLocks noGrp="1"/>
          </p:cNvSpPr>
          <p:nvPr>
            <p:ph type="body" idx="1"/>
          </p:nvPr>
        </p:nvSpPr>
        <p:spPr/>
        <p:txBody>
          <a:bodyPr/>
          <a:lstStyle/>
          <a:p>
            <a:endParaRPr lang="zh-CN" altLang="en-US"/>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2950" y="717550"/>
            <a:ext cx="5557838" cy="3125788"/>
          </a:xfrm>
        </p:spPr>
      </p:sp>
      <p:sp>
        <p:nvSpPr>
          <p:cNvPr id="3" name="Notes Placeholder 2"/>
          <p:cNvSpPr>
            <a:spLocks noGrp="1"/>
          </p:cNvSpPr>
          <p:nvPr>
            <p:ph type="body" idx="1"/>
          </p:nvPr>
        </p:nvSpPr>
        <p:spPr/>
        <p:txBody>
          <a:bodyPr/>
          <a:lstStyle/>
          <a:p>
            <a:endParaRPr lang="zh-CN" altLang="en-US"/>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2950" y="717550"/>
            <a:ext cx="5557838" cy="3125788"/>
          </a:xfrm>
        </p:spPr>
      </p:sp>
      <p:sp>
        <p:nvSpPr>
          <p:cNvPr id="3" name="Notes Placeholder 2"/>
          <p:cNvSpPr>
            <a:spLocks noGrp="1"/>
          </p:cNvSpPr>
          <p:nvPr>
            <p:ph type="body" idx="1"/>
          </p:nvPr>
        </p:nvSpPr>
        <p:spPr/>
        <p:txBody>
          <a:bodyPr/>
          <a:lstStyle/>
          <a:p>
            <a:endParaRPr lang="zh-CN" altLang="en-US"/>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2950" y="717550"/>
            <a:ext cx="5557838" cy="3125788"/>
          </a:xfrm>
        </p:spPr>
      </p:sp>
      <p:sp>
        <p:nvSpPr>
          <p:cNvPr id="3" name="Notes Placeholder 2"/>
          <p:cNvSpPr>
            <a:spLocks noGrp="1"/>
          </p:cNvSpPr>
          <p:nvPr>
            <p:ph type="body" idx="1"/>
          </p:nvPr>
        </p:nvSpPr>
        <p:spPr/>
        <p:txBody>
          <a:bodyPr/>
          <a:lstStyle/>
          <a:p>
            <a:endParaRPr lang="zh-CN" altLang="en-US"/>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2950" y="717550"/>
            <a:ext cx="5557838" cy="3125788"/>
          </a:xfrm>
        </p:spPr>
      </p:sp>
      <p:sp>
        <p:nvSpPr>
          <p:cNvPr id="3" name="Notes Placeholder 2"/>
          <p:cNvSpPr>
            <a:spLocks noGrp="1"/>
          </p:cNvSpPr>
          <p:nvPr>
            <p:ph type="body" idx="1"/>
          </p:nvPr>
        </p:nvSpPr>
        <p:spPr/>
        <p:txBody>
          <a:bodyPr/>
          <a:lstStyle/>
          <a:p>
            <a:endParaRPr lang="zh-CN" altLang="en-US"/>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2950" y="717550"/>
            <a:ext cx="5557838" cy="3125788"/>
          </a:xfrm>
        </p:spPr>
      </p:sp>
      <p:sp>
        <p:nvSpPr>
          <p:cNvPr id="3" name="Notes Placeholder 2"/>
          <p:cNvSpPr>
            <a:spLocks noGrp="1"/>
          </p:cNvSpPr>
          <p:nvPr>
            <p:ph type="body" idx="1"/>
          </p:nvPr>
        </p:nvSpPr>
        <p:spPr/>
        <p:txBody>
          <a:bodyPr/>
          <a:lstStyle/>
          <a:p>
            <a:endParaRPr lang="zh-CN" altLang="en-US"/>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2950" y="717550"/>
            <a:ext cx="5557838" cy="3125788"/>
          </a:xfrm>
        </p:spPr>
      </p:sp>
      <p:sp>
        <p:nvSpPr>
          <p:cNvPr id="3" name="Notes Placeholder 2"/>
          <p:cNvSpPr>
            <a:spLocks noGrp="1"/>
          </p:cNvSpPr>
          <p:nvPr>
            <p:ph type="body" idx="1"/>
          </p:nvPr>
        </p:nvSpPr>
        <p:spPr/>
        <p:txBody>
          <a:bodyPr/>
          <a:lstStyle/>
          <a:p>
            <a:r>
              <a:rPr lang="en-US" altLang="zh-CN" sz="1100" dirty="0" err="1"/>
              <a:t>Anycast</a:t>
            </a:r>
            <a:r>
              <a:rPr lang="en-US" altLang="zh-CN" sz="1100" dirty="0"/>
              <a:t> FRR</a:t>
            </a:r>
            <a:r>
              <a:rPr lang="zh-CN" altLang="en-US" sz="1100" dirty="0"/>
              <a:t>与镜像保护技术较为复杂在现网使用较少。</a:t>
            </a:r>
            <a:endParaRPr lang="zh-CN" altLang="en-US" dirty="0"/>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2950" y="717550"/>
            <a:ext cx="5557838" cy="3125788"/>
          </a:xfrm>
        </p:spPr>
      </p:sp>
      <p:sp>
        <p:nvSpPr>
          <p:cNvPr id="3" name="Notes Placeholder 2"/>
          <p:cNvSpPr>
            <a:spLocks noGrp="1"/>
          </p:cNvSpPr>
          <p:nvPr>
            <p:ph type="body" idx="1"/>
          </p:nvPr>
        </p:nvSpPr>
        <p:spPr/>
        <p:txBody>
          <a:bodyPr/>
          <a:lstStyle/>
          <a:p>
            <a:endParaRPr lang="zh-CN" altLang="en-US"/>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2950" y="717550"/>
            <a:ext cx="5557838" cy="3125788"/>
          </a:xfrm>
        </p:spPr>
      </p:sp>
      <p:sp>
        <p:nvSpPr>
          <p:cNvPr id="3" name="Notes Placeholder 2"/>
          <p:cNvSpPr>
            <a:spLocks noGrp="1"/>
          </p:cNvSpPr>
          <p:nvPr>
            <p:ph type="body" idx="1"/>
          </p:nvPr>
        </p:nvSpPr>
        <p:spPr/>
        <p:txBody>
          <a:bodyPr/>
          <a:lstStyle/>
          <a:p>
            <a:pPr lvl="0">
              <a:defRPr/>
            </a:pPr>
            <a:r>
              <a:rPr lang="en-US" altLang="zh-CN" dirty="0" err="1"/>
              <a:t>Anycast</a:t>
            </a:r>
            <a:r>
              <a:rPr lang="en-US" altLang="zh-CN" dirty="0"/>
              <a:t> FRR</a:t>
            </a:r>
            <a:r>
              <a:rPr lang="zh-CN" altLang="en-US" dirty="0"/>
              <a:t>除了在尾节点保护的场景中使用外，也可以在局部保护中使用。</a:t>
            </a:r>
            <a:endParaRPr lang="en-US" altLang="zh-CN" dirty="0"/>
          </a:p>
          <a:p>
            <a:pPr lvl="0">
              <a:defRPr/>
            </a:pPr>
            <a:r>
              <a:rPr lang="en-US" altLang="zh-CN" dirty="0" err="1"/>
              <a:t>Anycast</a:t>
            </a:r>
            <a:r>
              <a:rPr lang="en-US" altLang="zh-CN" dirty="0"/>
              <a:t> FRR</a:t>
            </a:r>
            <a:r>
              <a:rPr lang="zh-CN" altLang="en-US" dirty="0"/>
              <a:t>能够实现</a:t>
            </a:r>
            <a:r>
              <a:rPr lang="en-US" altLang="zh-CN" dirty="0"/>
              <a:t>PE</a:t>
            </a:r>
            <a:r>
              <a:rPr lang="zh-CN" altLang="en-US" dirty="0"/>
              <a:t>节点故障的保护，但是</a:t>
            </a:r>
            <a:r>
              <a:rPr lang="en-US" altLang="zh-CN" dirty="0" err="1"/>
              <a:t>Anycast</a:t>
            </a:r>
            <a:r>
              <a:rPr lang="en-US" altLang="zh-CN" dirty="0"/>
              <a:t> FRR</a:t>
            </a:r>
            <a:r>
              <a:rPr lang="zh-CN" altLang="en-US" dirty="0"/>
              <a:t>存在如下问题：</a:t>
            </a:r>
            <a:endParaRPr lang="en-US" altLang="zh-CN" dirty="0"/>
          </a:p>
          <a:p>
            <a:pPr lvl="1"/>
            <a:r>
              <a:rPr lang="zh-CN" altLang="en-US" dirty="0"/>
              <a:t>需要静态指定</a:t>
            </a:r>
            <a:r>
              <a:rPr lang="en-US" altLang="zh-CN" dirty="0"/>
              <a:t>VPN SID</a:t>
            </a:r>
            <a:r>
              <a:rPr lang="zh-CN" altLang="en-US" dirty="0"/>
              <a:t>，因为需要保证两个</a:t>
            </a:r>
            <a:r>
              <a:rPr lang="en-US" altLang="zh-CN" dirty="0"/>
              <a:t>PE</a:t>
            </a:r>
            <a:r>
              <a:rPr lang="zh-CN" altLang="en-US" dirty="0"/>
              <a:t>的</a:t>
            </a:r>
            <a:r>
              <a:rPr lang="en-US" altLang="zh-CN" dirty="0"/>
              <a:t>VPN SID</a:t>
            </a:r>
            <a:r>
              <a:rPr lang="zh-CN" altLang="en-US" dirty="0"/>
              <a:t>一致。</a:t>
            </a:r>
            <a:endParaRPr lang="zh-CN" altLang="en-US" dirty="0"/>
          </a:p>
          <a:p>
            <a:pPr lvl="1"/>
            <a:r>
              <a:rPr lang="zh-CN" altLang="en-US" dirty="0"/>
              <a:t>受限于</a:t>
            </a:r>
            <a:r>
              <a:rPr lang="en-US" altLang="zh-CN" dirty="0"/>
              <a:t>IGP</a:t>
            </a:r>
            <a:r>
              <a:rPr lang="zh-CN" altLang="en-US" dirty="0"/>
              <a:t>层面的优选，无法进行</a:t>
            </a:r>
            <a:r>
              <a:rPr lang="en-US" altLang="zh-CN" dirty="0"/>
              <a:t>VPN</a:t>
            </a:r>
            <a:r>
              <a:rPr lang="zh-CN" altLang="en-US" dirty="0"/>
              <a:t>层面的选路。例如，如果</a:t>
            </a:r>
            <a:r>
              <a:rPr lang="en-US" altLang="zh-CN" dirty="0"/>
              <a:t>VPN</a:t>
            </a:r>
            <a:r>
              <a:rPr lang="zh-CN" altLang="en-US" dirty="0"/>
              <a:t>希望在节点</a:t>
            </a:r>
            <a:r>
              <a:rPr lang="en-US" altLang="zh-CN" dirty="0"/>
              <a:t>PE3</a:t>
            </a:r>
            <a:r>
              <a:rPr lang="zh-CN" altLang="en-US" dirty="0"/>
              <a:t>和</a:t>
            </a:r>
            <a:r>
              <a:rPr lang="en-US" altLang="zh-CN" dirty="0"/>
              <a:t>PE4</a:t>
            </a:r>
            <a:r>
              <a:rPr lang="zh-CN" altLang="en-US" dirty="0"/>
              <a:t>形成负载分担，或者优选节点</a:t>
            </a:r>
            <a:r>
              <a:rPr lang="en-US" altLang="zh-CN" dirty="0"/>
              <a:t>PE3</a:t>
            </a:r>
            <a:r>
              <a:rPr lang="zh-CN" altLang="en-US" dirty="0"/>
              <a:t>。但</a:t>
            </a:r>
            <a:r>
              <a:rPr lang="en-US" altLang="zh-CN" dirty="0"/>
              <a:t>IGP</a:t>
            </a:r>
            <a:r>
              <a:rPr lang="zh-CN" altLang="en-US" dirty="0"/>
              <a:t>到</a:t>
            </a:r>
            <a:r>
              <a:rPr lang="en-US" altLang="zh-CN" dirty="0"/>
              <a:t>FC05::</a:t>
            </a:r>
            <a:r>
              <a:rPr lang="zh-CN" altLang="en-US" dirty="0"/>
              <a:t>的路径优选的是节点</a:t>
            </a:r>
            <a:r>
              <a:rPr lang="en-US" altLang="zh-CN" dirty="0"/>
              <a:t>PE4</a:t>
            </a:r>
            <a:r>
              <a:rPr lang="zh-CN" altLang="en-US" dirty="0"/>
              <a:t>，没有办法控制</a:t>
            </a:r>
            <a:r>
              <a:rPr lang="en-US" altLang="zh-CN" dirty="0"/>
              <a:t>VPN</a:t>
            </a:r>
            <a:r>
              <a:rPr lang="zh-CN" altLang="en-US" dirty="0"/>
              <a:t>层面的选路。</a:t>
            </a:r>
            <a:endParaRPr lang="zh-CN" altLang="en-US" dirty="0"/>
          </a:p>
          <a:p>
            <a:pPr lvl="1"/>
            <a:r>
              <a:rPr lang="zh-CN" altLang="en-US" dirty="0"/>
              <a:t>当</a:t>
            </a:r>
            <a:r>
              <a:rPr lang="en-US" altLang="zh-CN" dirty="0"/>
              <a:t>PE-CE</a:t>
            </a:r>
            <a:r>
              <a:rPr lang="zh-CN" altLang="en-US" dirty="0"/>
              <a:t>侧接口故障的时候，例如，节点</a:t>
            </a:r>
            <a:r>
              <a:rPr lang="en-US" altLang="zh-CN" dirty="0"/>
              <a:t>PE3</a:t>
            </a:r>
            <a:r>
              <a:rPr lang="zh-CN" altLang="en-US" dirty="0"/>
              <a:t>到</a:t>
            </a:r>
            <a:r>
              <a:rPr lang="en-US" altLang="zh-CN" dirty="0"/>
              <a:t>CE2</a:t>
            </a:r>
            <a:r>
              <a:rPr lang="zh-CN" altLang="en-US" dirty="0"/>
              <a:t>的链路故障的时候，报文还是会转发到</a:t>
            </a:r>
            <a:r>
              <a:rPr lang="en-US" altLang="zh-CN" dirty="0"/>
              <a:t>PE3</a:t>
            </a:r>
            <a:r>
              <a:rPr lang="zh-CN" altLang="en-US" dirty="0"/>
              <a:t>，然后绕行到</a:t>
            </a:r>
            <a:r>
              <a:rPr lang="en-US" altLang="zh-CN" dirty="0"/>
              <a:t>PE4</a:t>
            </a:r>
            <a:r>
              <a:rPr lang="zh-CN" altLang="en-US" dirty="0"/>
              <a:t>，会产生流量的绕行，而且无法恢复。</a:t>
            </a:r>
            <a:endParaRPr lang="zh-CN" altLang="en-US" dirty="0"/>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2950" y="717550"/>
            <a:ext cx="5557838" cy="3125788"/>
          </a:xfrm>
        </p:spPr>
      </p:sp>
      <p:sp>
        <p:nvSpPr>
          <p:cNvPr id="3" name="Notes Placeholder 2"/>
          <p:cNvSpPr>
            <a:spLocks noGrp="1"/>
          </p:cNvSpPr>
          <p:nvPr>
            <p:ph type="body" idx="1"/>
          </p:nvPr>
        </p:nvSpPr>
        <p:spPr/>
        <p:txBody>
          <a:bodyPr/>
          <a:lstStyle/>
          <a:p>
            <a:endParaRPr lang="zh-CN" altLang="en-US"/>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dirty="0"/>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r>
              <a:rPr lang="zh-CN" altLang="en-US" dirty="0"/>
              <a:t>实验配置基于</a:t>
            </a:r>
            <a:r>
              <a:rPr lang="en-US" altLang="zh-CN" dirty="0"/>
              <a:t>NE20E-S2F</a:t>
            </a:r>
            <a:r>
              <a:rPr lang="zh-CN" altLang="en-US" dirty="0"/>
              <a:t>（软件版本：</a:t>
            </a:r>
            <a:r>
              <a:rPr lang="en-US" altLang="zh-CN" dirty="0"/>
              <a:t>NE20E V800R012C10SPC300</a:t>
            </a:r>
            <a:r>
              <a:rPr lang="zh-CN" altLang="en-US" dirty="0"/>
              <a:t>），不同设备配置思路相似，请参考对应的产品手册。</a:t>
            </a:r>
            <a:endParaRPr lang="zh-CN" altLang="en-US" dirty="0"/>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r>
              <a:rPr lang="zh-CN" altLang="en-US" dirty="0"/>
              <a:t>配置</a:t>
            </a:r>
            <a:r>
              <a:rPr lang="en-US" altLang="zh-CN" dirty="0"/>
              <a:t>SRv6</a:t>
            </a:r>
            <a:r>
              <a:rPr lang="zh-CN" altLang="en-US" dirty="0"/>
              <a:t>基本功能，配置步骤如下：</a:t>
            </a:r>
            <a:endParaRPr lang="en-US" altLang="zh-CN" dirty="0"/>
          </a:p>
          <a:p>
            <a:pPr marL="588645" lvl="1" indent="-228600">
              <a:buFont typeface="+mj-lt"/>
              <a:buAutoNum type="arabicPeriod"/>
            </a:pPr>
            <a:r>
              <a:rPr lang="zh-CN" altLang="en-US" dirty="0"/>
              <a:t>执行命令</a:t>
            </a:r>
            <a:r>
              <a:rPr lang="en-US" altLang="zh-CN" dirty="0"/>
              <a:t>segment-routing ipv6</a:t>
            </a:r>
            <a:r>
              <a:rPr lang="zh-CN" altLang="en-US" dirty="0"/>
              <a:t>，使能</a:t>
            </a:r>
            <a:r>
              <a:rPr lang="en-US" altLang="zh-CN" dirty="0"/>
              <a:t>IPv6</a:t>
            </a:r>
            <a:r>
              <a:rPr lang="zh-CN" altLang="en-US" dirty="0"/>
              <a:t>转发平面的</a:t>
            </a:r>
            <a:r>
              <a:rPr lang="en-US" altLang="zh-CN" dirty="0"/>
              <a:t>Segment Routing</a:t>
            </a:r>
            <a:r>
              <a:rPr lang="zh-CN" altLang="en-US" dirty="0"/>
              <a:t>功能，并且进入</a:t>
            </a:r>
            <a:r>
              <a:rPr lang="en-US" altLang="zh-CN" dirty="0"/>
              <a:t>SRv6</a:t>
            </a:r>
            <a:r>
              <a:rPr lang="zh-CN" altLang="en-US" dirty="0"/>
              <a:t>视图。</a:t>
            </a:r>
            <a:endParaRPr lang="zh-CN" altLang="en-US" dirty="0"/>
          </a:p>
          <a:p>
            <a:pPr marL="588645" lvl="1" indent="-228600">
              <a:buFont typeface="+mj-lt"/>
              <a:buAutoNum type="arabicPeriod"/>
            </a:pPr>
            <a:r>
              <a:rPr lang="zh-CN" altLang="en-US" dirty="0"/>
              <a:t>执行命令</a:t>
            </a:r>
            <a:r>
              <a:rPr lang="en-US" altLang="zh-CN" dirty="0"/>
              <a:t>encapsulation source-address ipv6-address [ </a:t>
            </a:r>
            <a:r>
              <a:rPr lang="en-US" altLang="zh-CN" dirty="0" err="1"/>
              <a:t>ip-ttl</a:t>
            </a:r>
            <a:r>
              <a:rPr lang="en-US" altLang="zh-CN" dirty="0"/>
              <a:t> </a:t>
            </a:r>
            <a:r>
              <a:rPr lang="en-US" altLang="zh-CN" dirty="0" err="1"/>
              <a:t>ttl</a:t>
            </a:r>
            <a:r>
              <a:rPr lang="en-US" altLang="zh-CN" dirty="0"/>
              <a:t>-value ]</a:t>
            </a:r>
            <a:r>
              <a:rPr lang="zh-CN" altLang="en-US" dirty="0"/>
              <a:t>，配置</a:t>
            </a:r>
            <a:r>
              <a:rPr lang="en-US" altLang="zh-CN" dirty="0"/>
              <a:t>SRv6 VPN</a:t>
            </a:r>
            <a:r>
              <a:rPr lang="zh-CN" altLang="en-US" dirty="0"/>
              <a:t>封装的源地址。</a:t>
            </a:r>
            <a:endParaRPr lang="en-US" altLang="zh-CN" dirty="0"/>
          </a:p>
          <a:p>
            <a:pPr marL="899795" lvl="2" indent="-179705"/>
            <a:r>
              <a:rPr lang="zh-CN" altLang="en-US" dirty="0"/>
              <a:t>流量入</a:t>
            </a:r>
            <a:r>
              <a:rPr lang="en-US" altLang="zh-CN" dirty="0"/>
              <a:t>SRv6 VPN</a:t>
            </a:r>
            <a:r>
              <a:rPr lang="zh-CN" altLang="en-US" dirty="0"/>
              <a:t>隧道时，使用配置的该地址作为</a:t>
            </a:r>
            <a:r>
              <a:rPr lang="en-US" altLang="zh-CN" dirty="0"/>
              <a:t>IPv6</a:t>
            </a:r>
            <a:r>
              <a:rPr lang="zh-CN" altLang="en-US" dirty="0"/>
              <a:t>报文头的源地址。此封装源地址必须配置成设备上已存在的接口地址。</a:t>
            </a:r>
            <a:endParaRPr lang="zh-CN" altLang="en-US" dirty="0"/>
          </a:p>
          <a:p>
            <a:pPr marL="588645" lvl="1" indent="-228600">
              <a:buFont typeface="+mj-lt"/>
              <a:buAutoNum type="arabicPeriod"/>
            </a:pPr>
            <a:r>
              <a:rPr lang="zh-CN" altLang="en-US" dirty="0"/>
              <a:t>执行命令</a:t>
            </a:r>
            <a:r>
              <a:rPr lang="en-US" altLang="zh-CN" dirty="0"/>
              <a:t>locator locator-name [ ipv6-prefix ipv6-address prefix-length [ static static-length | </a:t>
            </a:r>
            <a:r>
              <a:rPr lang="en-US" altLang="zh-CN" dirty="0" err="1"/>
              <a:t>args</a:t>
            </a:r>
            <a:r>
              <a:rPr lang="en-US" altLang="zh-CN" dirty="0"/>
              <a:t> </a:t>
            </a:r>
            <a:r>
              <a:rPr lang="en-US" altLang="zh-CN" dirty="0" err="1"/>
              <a:t>args</a:t>
            </a:r>
            <a:r>
              <a:rPr lang="en-US" altLang="zh-CN" dirty="0"/>
              <a:t>-length ] * ]</a:t>
            </a:r>
            <a:r>
              <a:rPr lang="zh-CN" altLang="en-US" dirty="0"/>
              <a:t>，配置</a:t>
            </a:r>
            <a:r>
              <a:rPr lang="en-US" altLang="zh-CN" dirty="0"/>
              <a:t>SRv6 Locator</a:t>
            </a:r>
            <a:r>
              <a:rPr lang="zh-CN" altLang="en-US" dirty="0"/>
              <a:t>。</a:t>
            </a:r>
            <a:endParaRPr lang="en-US" altLang="zh-CN" dirty="0"/>
          </a:p>
          <a:p>
            <a:pPr marL="899795" lvl="2" indent="-179705"/>
            <a:r>
              <a:rPr lang="en-US" altLang="zh-CN" dirty="0"/>
              <a:t>Locator</a:t>
            </a:r>
            <a:r>
              <a:rPr lang="zh-CN" altLang="en-US" dirty="0"/>
              <a:t>字段对应</a:t>
            </a:r>
            <a:r>
              <a:rPr lang="en-US" altLang="zh-CN" dirty="0"/>
              <a:t>ipv6-prefix ipv6-address</a:t>
            </a:r>
            <a:r>
              <a:rPr lang="zh-CN" altLang="en-US" dirty="0"/>
              <a:t>参数，长度由</a:t>
            </a:r>
            <a:r>
              <a:rPr lang="en-US" altLang="zh-CN" dirty="0"/>
              <a:t>prefix-length</a:t>
            </a:r>
            <a:r>
              <a:rPr lang="zh-CN" altLang="en-US" dirty="0"/>
              <a:t>参数决定。</a:t>
            </a:r>
            <a:r>
              <a:rPr lang="en-US" altLang="zh-CN" dirty="0"/>
              <a:t>Locator</a:t>
            </a:r>
            <a:r>
              <a:rPr lang="zh-CN" altLang="en-US" dirty="0"/>
              <a:t>本身是一个</a:t>
            </a:r>
            <a:r>
              <a:rPr lang="en-US" altLang="zh-CN" dirty="0"/>
              <a:t>IPv6</a:t>
            </a:r>
            <a:r>
              <a:rPr lang="zh-CN" altLang="en-US" dirty="0"/>
              <a:t>网段，该网段下的所有</a:t>
            </a:r>
            <a:r>
              <a:rPr lang="en-US" altLang="zh-CN" dirty="0"/>
              <a:t>IPv6</a:t>
            </a:r>
            <a:r>
              <a:rPr lang="zh-CN" altLang="en-US" dirty="0"/>
              <a:t>地址都可以作为</a:t>
            </a:r>
            <a:r>
              <a:rPr lang="en-US" altLang="zh-CN" dirty="0"/>
              <a:t>SRv6 SID</a:t>
            </a:r>
            <a:r>
              <a:rPr lang="zh-CN" altLang="en-US" dirty="0"/>
              <a:t>分配。节点配置</a:t>
            </a:r>
            <a:r>
              <a:rPr lang="en-US" altLang="zh-CN" dirty="0"/>
              <a:t>Locator</a:t>
            </a:r>
            <a:r>
              <a:rPr lang="zh-CN" altLang="en-US" dirty="0"/>
              <a:t>之后，系统会生成一条</a:t>
            </a:r>
            <a:r>
              <a:rPr lang="en-US" altLang="zh-CN" dirty="0"/>
              <a:t>Locator</a:t>
            </a:r>
            <a:r>
              <a:rPr lang="zh-CN" altLang="en-US" dirty="0"/>
              <a:t>网段路由，通过</a:t>
            </a:r>
            <a:r>
              <a:rPr lang="en-US" altLang="zh-CN" dirty="0"/>
              <a:t>Locator</a:t>
            </a:r>
            <a:r>
              <a:rPr lang="zh-CN" altLang="en-US" dirty="0"/>
              <a:t>网段路由就可以定位到本节点，同时本节点发布的所有</a:t>
            </a:r>
            <a:r>
              <a:rPr lang="en-US" altLang="zh-CN" dirty="0"/>
              <a:t>SID</a:t>
            </a:r>
            <a:r>
              <a:rPr lang="zh-CN" altLang="en-US" dirty="0"/>
              <a:t>也都可以通过该条</a:t>
            </a:r>
            <a:r>
              <a:rPr lang="en-US" altLang="zh-CN" dirty="0"/>
              <a:t>Locator</a:t>
            </a:r>
            <a:r>
              <a:rPr lang="zh-CN" altLang="en-US" dirty="0"/>
              <a:t>网段路由到达。</a:t>
            </a:r>
            <a:endParaRPr lang="zh-CN" altLang="en-US" dirty="0"/>
          </a:p>
          <a:p>
            <a:pPr marL="899795" lvl="2" indent="-179705"/>
            <a:r>
              <a:rPr lang="en-US" altLang="zh-CN" dirty="0"/>
              <a:t>Function</a:t>
            </a:r>
            <a:r>
              <a:rPr lang="zh-CN" altLang="en-US" dirty="0"/>
              <a:t>字段也称为</a:t>
            </a:r>
            <a:r>
              <a:rPr lang="en-US" altLang="zh-CN" dirty="0"/>
              <a:t>Opcode</a:t>
            </a:r>
            <a:r>
              <a:rPr lang="zh-CN" altLang="en-US" dirty="0"/>
              <a:t>，可以通过</a:t>
            </a:r>
            <a:r>
              <a:rPr lang="en-US" altLang="zh-CN" dirty="0"/>
              <a:t>IGP</a:t>
            </a:r>
            <a:r>
              <a:rPr lang="zh-CN" altLang="en-US" dirty="0"/>
              <a:t>协议动态分配，也可以通过</a:t>
            </a:r>
            <a:r>
              <a:rPr lang="en-US" altLang="zh-CN" dirty="0"/>
              <a:t>opcode</a:t>
            </a:r>
            <a:r>
              <a:rPr lang="zh-CN" altLang="en-US" dirty="0"/>
              <a:t>命令静态配置。配置</a:t>
            </a:r>
            <a:r>
              <a:rPr lang="en-US" altLang="zh-CN" dirty="0"/>
              <a:t>Locator</a:t>
            </a:r>
            <a:r>
              <a:rPr lang="zh-CN" altLang="en-US" dirty="0"/>
              <a:t>时可以通过</a:t>
            </a:r>
            <a:r>
              <a:rPr lang="en-US" altLang="zh-CN" dirty="0"/>
              <a:t>static static-length</a:t>
            </a:r>
            <a:r>
              <a:rPr lang="zh-CN" altLang="en-US" dirty="0"/>
              <a:t>参数指定静态段长度，静态段长度决定能够在该</a:t>
            </a:r>
            <a:r>
              <a:rPr lang="en-US" altLang="zh-CN" dirty="0"/>
              <a:t>Locator</a:t>
            </a:r>
            <a:r>
              <a:rPr lang="zh-CN" altLang="en-US" dirty="0"/>
              <a:t>下配置多少静态</a:t>
            </a:r>
            <a:r>
              <a:rPr lang="en-US" altLang="zh-CN" dirty="0"/>
              <a:t>Opcode</a:t>
            </a:r>
            <a:r>
              <a:rPr lang="zh-CN" altLang="en-US" dirty="0"/>
              <a:t>，</a:t>
            </a:r>
            <a:r>
              <a:rPr lang="en-US" altLang="zh-CN" dirty="0"/>
              <a:t>IGP</a:t>
            </a:r>
            <a:r>
              <a:rPr lang="zh-CN" altLang="en-US" dirty="0"/>
              <a:t>协议动态分配</a:t>
            </a:r>
            <a:r>
              <a:rPr lang="en-US" altLang="zh-CN" dirty="0"/>
              <a:t>Opcode</a:t>
            </a:r>
            <a:r>
              <a:rPr lang="zh-CN" altLang="en-US" dirty="0"/>
              <a:t>时会在静态段范围外申请，确保最终构成的</a:t>
            </a:r>
            <a:r>
              <a:rPr lang="en-US" altLang="zh-CN" dirty="0"/>
              <a:t>SRv6 SID</a:t>
            </a:r>
            <a:r>
              <a:rPr lang="zh-CN" altLang="en-US" dirty="0"/>
              <a:t>不会冲突。</a:t>
            </a:r>
            <a:endParaRPr lang="zh-CN" altLang="en-US" dirty="0"/>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a:xfrm>
            <a:off x="731838" y="746146"/>
            <a:ext cx="5580062" cy="8264504"/>
          </a:xfrm>
        </p:spPr>
        <p:txBody>
          <a:bodyPr/>
          <a:lstStyle/>
          <a:p>
            <a:pPr marL="588645" lvl="1" indent="-228600">
              <a:buFont typeface="+mj-lt"/>
              <a:buAutoNum type="arabicPeriod" startAt="4"/>
            </a:pPr>
            <a:r>
              <a:rPr lang="zh-CN" altLang="en-US" dirty="0"/>
              <a:t>执行命令</a:t>
            </a:r>
            <a:r>
              <a:rPr lang="en-US" altLang="zh-CN" dirty="0"/>
              <a:t>opcode </a:t>
            </a:r>
            <a:r>
              <a:rPr lang="en-US" altLang="zh-CN" dirty="0" err="1"/>
              <a:t>func</a:t>
            </a:r>
            <a:r>
              <a:rPr lang="en-US" altLang="zh-CN" dirty="0"/>
              <a:t>-opcode end-dt4 </a:t>
            </a:r>
            <a:r>
              <a:rPr lang="en-US" altLang="zh-CN" dirty="0" err="1"/>
              <a:t>vpn</a:t>
            </a:r>
            <a:r>
              <a:rPr lang="en-US" altLang="zh-CN" dirty="0"/>
              <a:t>-instance </a:t>
            </a:r>
            <a:r>
              <a:rPr lang="en-US" altLang="zh-CN" dirty="0" err="1"/>
              <a:t>vpn</a:t>
            </a:r>
            <a:r>
              <a:rPr lang="en-US" altLang="zh-CN" dirty="0"/>
              <a:t>-instance-name</a:t>
            </a:r>
            <a:r>
              <a:rPr lang="zh-CN" altLang="en-US" dirty="0"/>
              <a:t>，配置静态</a:t>
            </a:r>
            <a:r>
              <a:rPr lang="en-US" altLang="zh-CN" dirty="0"/>
              <a:t>SID</a:t>
            </a:r>
            <a:r>
              <a:rPr lang="zh-CN" altLang="en-US" dirty="0"/>
              <a:t>的</a:t>
            </a:r>
            <a:r>
              <a:rPr lang="en-US" altLang="zh-CN" dirty="0"/>
              <a:t>Opcode</a:t>
            </a:r>
            <a:r>
              <a:rPr lang="zh-CN" altLang="en-US" dirty="0"/>
              <a:t>（可选）。</a:t>
            </a:r>
            <a:endParaRPr lang="zh-CN" altLang="en-US" dirty="0"/>
          </a:p>
          <a:p>
            <a:pPr marL="899795" lvl="2" indent="-179705"/>
            <a:r>
              <a:rPr lang="en-US" altLang="zh-CN" dirty="0"/>
              <a:t>End.DT4 SID</a:t>
            </a:r>
            <a:r>
              <a:rPr lang="zh-CN" altLang="en-US" dirty="0"/>
              <a:t>可以通过</a:t>
            </a:r>
            <a:r>
              <a:rPr lang="en-US" altLang="zh-CN" dirty="0"/>
              <a:t>BGP</a:t>
            </a:r>
            <a:r>
              <a:rPr lang="zh-CN" altLang="en-US" dirty="0"/>
              <a:t>动态分配，也可以静态配置。如果后续使用</a:t>
            </a:r>
            <a:r>
              <a:rPr lang="en-US" altLang="zh-CN" dirty="0"/>
              <a:t>segment-routing ipv6 locator locator-name</a:t>
            </a:r>
            <a:r>
              <a:rPr lang="zh-CN" altLang="en-US" dirty="0"/>
              <a:t>命令使能</a:t>
            </a:r>
            <a:r>
              <a:rPr lang="en-US" altLang="zh-CN" dirty="0"/>
              <a:t>BGP</a:t>
            </a:r>
            <a:r>
              <a:rPr lang="zh-CN" altLang="en-US" dirty="0"/>
              <a:t>动态分配</a:t>
            </a:r>
            <a:r>
              <a:rPr lang="en-US" altLang="zh-CN" dirty="0"/>
              <a:t>End.DT4 SID</a:t>
            </a:r>
            <a:r>
              <a:rPr lang="zh-CN" altLang="en-US" dirty="0"/>
              <a:t>，则可以跳过本步骤。</a:t>
            </a:r>
            <a:endParaRPr lang="zh-CN" altLang="en-US" dirty="0"/>
          </a:p>
          <a:p>
            <a:pPr marL="588645" lvl="1" indent="-228600">
              <a:buFont typeface="+mj-lt"/>
              <a:buAutoNum type="arabicPeriod" startAt="4"/>
            </a:pPr>
            <a:r>
              <a:rPr lang="zh-CN" altLang="en-US" dirty="0"/>
              <a:t>执行命令</a:t>
            </a:r>
            <a:r>
              <a:rPr lang="en-US" altLang="zh-CN" dirty="0"/>
              <a:t>quit</a:t>
            </a:r>
            <a:r>
              <a:rPr lang="zh-CN" altLang="en-US" dirty="0"/>
              <a:t>，退出</a:t>
            </a:r>
            <a:r>
              <a:rPr lang="en-US" altLang="zh-CN" dirty="0"/>
              <a:t>SRv6 Locator</a:t>
            </a:r>
            <a:r>
              <a:rPr lang="zh-CN" altLang="en-US" dirty="0"/>
              <a:t>视图。</a:t>
            </a:r>
            <a:endParaRPr lang="zh-CN" altLang="en-US" dirty="0"/>
          </a:p>
          <a:p>
            <a:pPr marL="588645" lvl="1" indent="-228600">
              <a:buFont typeface="+mj-lt"/>
              <a:buAutoNum type="arabicPeriod" startAt="4"/>
            </a:pPr>
            <a:r>
              <a:rPr lang="zh-CN" altLang="en-US" dirty="0"/>
              <a:t>执行命令</a:t>
            </a:r>
            <a:r>
              <a:rPr lang="en-US" altLang="zh-CN" dirty="0"/>
              <a:t>quit</a:t>
            </a:r>
            <a:r>
              <a:rPr lang="zh-CN" altLang="en-US" dirty="0"/>
              <a:t>，退出</a:t>
            </a:r>
            <a:r>
              <a:rPr lang="en-US" altLang="zh-CN" dirty="0"/>
              <a:t>SRv6</a:t>
            </a:r>
            <a:r>
              <a:rPr lang="zh-CN" altLang="en-US" dirty="0"/>
              <a:t>视图。</a:t>
            </a:r>
            <a:endParaRPr lang="en-US" altLang="zh-CN" dirty="0"/>
          </a:p>
          <a:p>
            <a:pPr marL="179705" lvl="0" indent="-179705"/>
            <a:r>
              <a:rPr lang="zh-CN" altLang="en-US" dirty="0"/>
              <a:t>使能</a:t>
            </a:r>
            <a:r>
              <a:rPr lang="en-US" altLang="zh-CN" dirty="0"/>
              <a:t>IS-IS SRv6</a:t>
            </a:r>
            <a:r>
              <a:rPr lang="zh-CN" altLang="en-US" dirty="0"/>
              <a:t>功能</a:t>
            </a:r>
            <a:endParaRPr lang="en-US" altLang="zh-CN" dirty="0"/>
          </a:p>
          <a:p>
            <a:pPr marL="588645" lvl="1" indent="-228600">
              <a:buFont typeface="+mj-lt"/>
              <a:buAutoNum type="arabicPeriod"/>
            </a:pPr>
            <a:r>
              <a:rPr lang="zh-CN" altLang="en-US" dirty="0"/>
              <a:t>执行命令</a:t>
            </a:r>
            <a:r>
              <a:rPr lang="en-US" altLang="zh-CN" dirty="0" err="1"/>
              <a:t>isis</a:t>
            </a:r>
            <a:r>
              <a:rPr lang="en-US" altLang="zh-CN" dirty="0"/>
              <a:t> [ process-id ]</a:t>
            </a:r>
            <a:r>
              <a:rPr lang="zh-CN" altLang="en-US" dirty="0"/>
              <a:t>，进入</a:t>
            </a:r>
            <a:r>
              <a:rPr lang="en-US" altLang="zh-CN" dirty="0"/>
              <a:t>IS-IS</a:t>
            </a:r>
            <a:r>
              <a:rPr lang="zh-CN" altLang="en-US" dirty="0"/>
              <a:t>视图。</a:t>
            </a:r>
            <a:endParaRPr lang="zh-CN" altLang="en-US" dirty="0"/>
          </a:p>
          <a:p>
            <a:pPr marL="588645" lvl="1" indent="-228600">
              <a:buFont typeface="+mj-lt"/>
              <a:buAutoNum type="arabicPeriod"/>
            </a:pPr>
            <a:r>
              <a:rPr lang="zh-CN" altLang="en-US" dirty="0"/>
              <a:t>执行命令</a:t>
            </a:r>
            <a:r>
              <a:rPr lang="en-US" altLang="zh-CN" dirty="0"/>
              <a:t>ipv6 enable topology ipv6</a:t>
            </a:r>
            <a:r>
              <a:rPr lang="zh-CN" altLang="en-US" dirty="0"/>
              <a:t>，在</a:t>
            </a:r>
            <a:r>
              <a:rPr lang="en-US" altLang="zh-CN" dirty="0"/>
              <a:t>IPv6</a:t>
            </a:r>
            <a:r>
              <a:rPr lang="zh-CN" altLang="en-US" dirty="0"/>
              <a:t>拓扑上使能</a:t>
            </a:r>
            <a:r>
              <a:rPr lang="en-US" altLang="zh-CN" dirty="0"/>
              <a:t>IS-IS</a:t>
            </a:r>
            <a:r>
              <a:rPr lang="zh-CN" altLang="en-US" dirty="0"/>
              <a:t>进程的</a:t>
            </a:r>
            <a:r>
              <a:rPr lang="en-US" altLang="zh-CN" dirty="0"/>
              <a:t>IPv6</a:t>
            </a:r>
            <a:r>
              <a:rPr lang="zh-CN" altLang="en-US" dirty="0"/>
              <a:t>能力。</a:t>
            </a:r>
            <a:endParaRPr lang="zh-CN" altLang="en-US" dirty="0"/>
          </a:p>
          <a:p>
            <a:pPr marL="588645" lvl="1" indent="-228600">
              <a:buFont typeface="+mj-lt"/>
              <a:buAutoNum type="arabicPeriod"/>
            </a:pPr>
            <a:r>
              <a:rPr lang="zh-CN" altLang="en-US" dirty="0"/>
              <a:t>执行命令</a:t>
            </a:r>
            <a:r>
              <a:rPr lang="en-US" altLang="zh-CN" dirty="0"/>
              <a:t>segment-routing ipv6 locator locator-name [ auto-</a:t>
            </a:r>
            <a:r>
              <a:rPr lang="en-US" altLang="zh-CN" dirty="0" err="1"/>
              <a:t>sid</a:t>
            </a:r>
            <a:r>
              <a:rPr lang="en-US" altLang="zh-CN" dirty="0"/>
              <a:t>-disable ]</a:t>
            </a:r>
            <a:r>
              <a:rPr lang="zh-CN" altLang="en-US" dirty="0"/>
              <a:t>，使能</a:t>
            </a:r>
            <a:r>
              <a:rPr lang="en-US" altLang="zh-CN" dirty="0"/>
              <a:t>IS-IS SRv6</a:t>
            </a:r>
            <a:r>
              <a:rPr lang="zh-CN" altLang="en-US" dirty="0"/>
              <a:t>能力。</a:t>
            </a:r>
            <a:endParaRPr lang="en-US" altLang="zh-CN" dirty="0"/>
          </a:p>
          <a:p>
            <a:pPr marL="899795" lvl="2" indent="-179705"/>
            <a:r>
              <a:rPr lang="en-US" altLang="zh-CN" dirty="0"/>
              <a:t>segment-routing ipv6 locator locator-name</a:t>
            </a:r>
            <a:r>
              <a:rPr lang="zh-CN" altLang="en-US" dirty="0"/>
              <a:t>：表示使能</a:t>
            </a:r>
            <a:r>
              <a:rPr lang="en-US" altLang="zh-CN" dirty="0"/>
              <a:t>IS-IS SRv6</a:t>
            </a:r>
            <a:r>
              <a:rPr lang="zh-CN" altLang="en-US" dirty="0"/>
              <a:t>能力，使能</a:t>
            </a:r>
            <a:r>
              <a:rPr lang="en-US" altLang="zh-CN" dirty="0"/>
              <a:t>SID</a:t>
            </a:r>
            <a:r>
              <a:rPr lang="zh-CN" altLang="en-US" dirty="0"/>
              <a:t>动态分配能力，必须在</a:t>
            </a:r>
            <a:r>
              <a:rPr lang="en-US" altLang="zh-CN" dirty="0"/>
              <a:t>locator </a:t>
            </a:r>
            <a:r>
              <a:rPr lang="zh-CN" altLang="en-US" dirty="0"/>
              <a:t>范围内分配</a:t>
            </a:r>
            <a:r>
              <a:rPr lang="en-US" altLang="zh-CN" dirty="0"/>
              <a:t>SID</a:t>
            </a:r>
            <a:r>
              <a:rPr lang="zh-CN" altLang="en-US" dirty="0"/>
              <a:t>。</a:t>
            </a:r>
            <a:endParaRPr lang="zh-CN" altLang="en-US" dirty="0"/>
          </a:p>
          <a:p>
            <a:pPr marL="899795" lvl="2" indent="-179705"/>
            <a:r>
              <a:rPr lang="en-US" altLang="zh-CN" dirty="0"/>
              <a:t>segment-routing ipv6 locator locator-name auto-</a:t>
            </a:r>
            <a:r>
              <a:rPr lang="en-US" altLang="zh-CN" dirty="0" err="1"/>
              <a:t>sid</a:t>
            </a:r>
            <a:r>
              <a:rPr lang="en-US" altLang="zh-CN" dirty="0"/>
              <a:t>-disable</a:t>
            </a:r>
            <a:r>
              <a:rPr lang="zh-CN" altLang="en-US" dirty="0"/>
              <a:t>：表示使能</a:t>
            </a:r>
            <a:r>
              <a:rPr lang="en-US" altLang="zh-CN" dirty="0"/>
              <a:t>IS-IS SRv6</a:t>
            </a:r>
            <a:r>
              <a:rPr lang="zh-CN" altLang="en-US" dirty="0"/>
              <a:t>能力，关闭</a:t>
            </a:r>
            <a:r>
              <a:rPr lang="en-US" altLang="zh-CN" dirty="0"/>
              <a:t>SID</a:t>
            </a:r>
            <a:r>
              <a:rPr lang="zh-CN" altLang="en-US" dirty="0"/>
              <a:t>动态分配能力，完全在</a:t>
            </a:r>
            <a:r>
              <a:rPr lang="en-US" altLang="zh-CN" dirty="0"/>
              <a:t>locator </a:t>
            </a:r>
            <a:r>
              <a:rPr lang="zh-CN" altLang="en-US" dirty="0"/>
              <a:t>范围内静态分配</a:t>
            </a:r>
            <a:r>
              <a:rPr lang="en-US" altLang="zh-CN" dirty="0"/>
              <a:t>SID</a:t>
            </a:r>
            <a:r>
              <a:rPr lang="zh-CN" altLang="en-US" dirty="0"/>
              <a:t>。</a:t>
            </a:r>
            <a:endParaRPr lang="zh-CN" altLang="en-US" dirty="0"/>
          </a:p>
          <a:p>
            <a:pPr marL="899795" lvl="2" indent="-179705"/>
            <a:r>
              <a:rPr lang="zh-CN" altLang="en-US" dirty="0"/>
              <a:t>在分配</a:t>
            </a:r>
            <a:r>
              <a:rPr lang="en-US" altLang="zh-CN" dirty="0"/>
              <a:t>SRv6 SID</a:t>
            </a:r>
            <a:r>
              <a:rPr lang="zh-CN" altLang="en-US" dirty="0"/>
              <a:t>时，如果配置了静态</a:t>
            </a:r>
            <a:r>
              <a:rPr lang="en-US" altLang="zh-CN" dirty="0"/>
              <a:t>Opcode</a:t>
            </a:r>
            <a:r>
              <a:rPr lang="zh-CN" altLang="en-US" dirty="0"/>
              <a:t>，优先使用静态</a:t>
            </a:r>
            <a:r>
              <a:rPr lang="en-US" altLang="zh-CN" dirty="0"/>
              <a:t>Opcode</a:t>
            </a:r>
            <a:r>
              <a:rPr lang="zh-CN" altLang="en-US" dirty="0"/>
              <a:t>构成静态</a:t>
            </a:r>
            <a:r>
              <a:rPr lang="en-US" altLang="zh-CN" dirty="0"/>
              <a:t>SID</a:t>
            </a:r>
            <a:r>
              <a:rPr lang="zh-CN" altLang="en-US" dirty="0"/>
              <a:t>，如果不存在静态</a:t>
            </a:r>
            <a:r>
              <a:rPr lang="en-US" altLang="zh-CN" dirty="0"/>
              <a:t>Opcode</a:t>
            </a:r>
            <a:r>
              <a:rPr lang="zh-CN" altLang="en-US" dirty="0"/>
              <a:t>，则动态分配。</a:t>
            </a:r>
            <a:r>
              <a:rPr lang="en-US" altLang="zh-CN" dirty="0"/>
              <a:t>IS-IS</a:t>
            </a:r>
            <a:r>
              <a:rPr lang="zh-CN" altLang="en-US" dirty="0"/>
              <a:t>动态分配</a:t>
            </a:r>
            <a:r>
              <a:rPr lang="en-US" altLang="zh-CN" dirty="0"/>
              <a:t>SRv6 SID</a:t>
            </a:r>
            <a:r>
              <a:rPr lang="zh-CN" altLang="en-US" dirty="0"/>
              <a:t>过程如下：</a:t>
            </a:r>
            <a:endParaRPr lang="zh-CN" altLang="en-US" dirty="0"/>
          </a:p>
          <a:p>
            <a:pPr marL="899795" lvl="2" indent="-179705"/>
            <a:r>
              <a:rPr lang="en-US" altLang="zh-CN" dirty="0"/>
              <a:t>Segment Routing IPv6</a:t>
            </a:r>
            <a:r>
              <a:rPr lang="zh-CN" altLang="en-US" dirty="0"/>
              <a:t>视图下配置</a:t>
            </a:r>
            <a:r>
              <a:rPr lang="en-US" altLang="zh-CN" dirty="0"/>
              <a:t>Locator</a:t>
            </a:r>
            <a:r>
              <a:rPr lang="zh-CN" altLang="en-US" dirty="0"/>
              <a:t>段，</a:t>
            </a:r>
            <a:r>
              <a:rPr lang="en-US" altLang="zh-CN" dirty="0"/>
              <a:t>IS-IS</a:t>
            </a:r>
            <a:r>
              <a:rPr lang="zh-CN" altLang="en-US" dirty="0"/>
              <a:t>进程下执行</a:t>
            </a:r>
            <a:r>
              <a:rPr lang="en-US" altLang="zh-CN" dirty="0"/>
              <a:t>segment-routing ipv6 locator </a:t>
            </a:r>
            <a:r>
              <a:rPr lang="zh-CN" altLang="en-US" dirty="0"/>
              <a:t>命令使能</a:t>
            </a:r>
            <a:r>
              <a:rPr lang="en-US" altLang="zh-CN" dirty="0"/>
              <a:t>SRv6</a:t>
            </a:r>
            <a:r>
              <a:rPr lang="zh-CN" altLang="en-US" dirty="0"/>
              <a:t>并引用</a:t>
            </a:r>
            <a:r>
              <a:rPr lang="en-US" altLang="zh-CN" dirty="0"/>
              <a:t>Locator</a:t>
            </a:r>
            <a:r>
              <a:rPr lang="zh-CN" altLang="en-US" dirty="0"/>
              <a:t>。</a:t>
            </a:r>
            <a:r>
              <a:rPr lang="en-US" altLang="zh-CN" dirty="0"/>
              <a:t>IS-IS</a:t>
            </a:r>
            <a:r>
              <a:rPr lang="zh-CN" altLang="en-US" dirty="0"/>
              <a:t>进程下可以引用多个</a:t>
            </a:r>
            <a:r>
              <a:rPr lang="en-US" altLang="zh-CN" dirty="0"/>
              <a:t>Locator</a:t>
            </a:r>
            <a:r>
              <a:rPr lang="zh-CN" altLang="en-US" dirty="0"/>
              <a:t>。但只有一个</a:t>
            </a:r>
            <a:r>
              <a:rPr lang="en-US" altLang="zh-CN" dirty="0"/>
              <a:t>locator</a:t>
            </a:r>
            <a:r>
              <a:rPr lang="zh-CN" altLang="en-US" dirty="0"/>
              <a:t>能够发布</a:t>
            </a:r>
            <a:r>
              <a:rPr lang="en-US" altLang="zh-CN" dirty="0"/>
              <a:t>End/</a:t>
            </a:r>
            <a:r>
              <a:rPr lang="en-US" altLang="zh-CN" dirty="0" err="1"/>
              <a:t>End.x</a:t>
            </a:r>
            <a:r>
              <a:rPr lang="en-US" altLang="zh-CN" dirty="0"/>
              <a:t> SID</a:t>
            </a:r>
            <a:r>
              <a:rPr lang="zh-CN" altLang="en-US" dirty="0"/>
              <a:t>。</a:t>
            </a:r>
            <a:endParaRPr lang="zh-CN" altLang="en-US" dirty="0"/>
          </a:p>
          <a:p>
            <a:pPr marL="899795" lvl="2" indent="-179705"/>
            <a:r>
              <a:rPr lang="en-US" altLang="zh-CN" dirty="0"/>
              <a:t>IS-IS</a:t>
            </a:r>
            <a:r>
              <a:rPr lang="zh-CN" altLang="en-US" dirty="0"/>
              <a:t>为每个</a:t>
            </a:r>
            <a:r>
              <a:rPr lang="en-US" altLang="zh-CN" dirty="0"/>
              <a:t>Locator</a:t>
            </a:r>
            <a:r>
              <a:rPr lang="zh-CN" altLang="en-US" dirty="0"/>
              <a:t>分配</a:t>
            </a:r>
            <a:r>
              <a:rPr lang="en-US" altLang="zh-CN" dirty="0"/>
              <a:t>End SID</a:t>
            </a:r>
            <a:r>
              <a:rPr lang="zh-CN" altLang="en-US" dirty="0"/>
              <a:t>，分配时参照</a:t>
            </a:r>
            <a:r>
              <a:rPr lang="en-US" altLang="zh-CN" dirty="0"/>
              <a:t>Locator</a:t>
            </a:r>
            <a:r>
              <a:rPr lang="zh-CN" altLang="en-US" dirty="0"/>
              <a:t>的配置在动态段范围内分配，同时分配倒数第二跳弹出</a:t>
            </a:r>
            <a:r>
              <a:rPr lang="en-US" altLang="zh-CN" dirty="0"/>
              <a:t>PSP</a:t>
            </a:r>
            <a:r>
              <a:rPr lang="zh-CN" altLang="en-US" dirty="0"/>
              <a:t>类型（</a:t>
            </a:r>
            <a:r>
              <a:rPr lang="en-US" altLang="zh-CN" dirty="0"/>
              <a:t>penultimate segment POP of the SRH</a:t>
            </a:r>
            <a:r>
              <a:rPr lang="zh-CN" altLang="en-US" dirty="0"/>
              <a:t>）和非</a:t>
            </a:r>
            <a:r>
              <a:rPr lang="en-US" altLang="zh-CN" dirty="0"/>
              <a:t>PSP</a:t>
            </a:r>
            <a:r>
              <a:rPr lang="zh-CN" altLang="en-US" dirty="0"/>
              <a:t>类型的</a:t>
            </a:r>
            <a:r>
              <a:rPr lang="en-US" altLang="zh-CN" dirty="0"/>
              <a:t>SID</a:t>
            </a:r>
            <a:r>
              <a:rPr lang="zh-CN" altLang="en-US" dirty="0"/>
              <a:t>。</a:t>
            </a:r>
            <a:endParaRPr lang="zh-CN" altLang="en-US" dirty="0"/>
          </a:p>
          <a:p>
            <a:pPr marL="899795" lvl="2" indent="-179705"/>
            <a:r>
              <a:rPr lang="zh-CN" altLang="en-US" dirty="0"/>
              <a:t>在接口下配置</a:t>
            </a:r>
            <a:r>
              <a:rPr lang="en-US" altLang="zh-CN" dirty="0"/>
              <a:t>IPv6</a:t>
            </a:r>
            <a:r>
              <a:rPr lang="zh-CN" altLang="en-US" dirty="0"/>
              <a:t>地址，使能</a:t>
            </a:r>
            <a:r>
              <a:rPr lang="en-US" altLang="zh-CN" dirty="0"/>
              <a:t>IS-IS IPv6</a:t>
            </a:r>
            <a:r>
              <a:rPr lang="zh-CN" altLang="en-US" dirty="0"/>
              <a:t>，</a:t>
            </a:r>
            <a:r>
              <a:rPr lang="en-US" altLang="zh-CN" dirty="0"/>
              <a:t>IS-IS</a:t>
            </a:r>
            <a:r>
              <a:rPr lang="zh-CN" altLang="en-US" dirty="0"/>
              <a:t>为接口分配</a:t>
            </a:r>
            <a:r>
              <a:rPr lang="en-US" altLang="zh-CN" dirty="0" err="1"/>
              <a:t>End.X</a:t>
            </a:r>
            <a:r>
              <a:rPr lang="en-US" altLang="zh-CN" dirty="0"/>
              <a:t> SID</a:t>
            </a:r>
            <a:r>
              <a:rPr lang="zh-CN" altLang="en-US" dirty="0"/>
              <a:t>，分配时参照</a:t>
            </a:r>
            <a:r>
              <a:rPr lang="en-US" altLang="zh-CN" dirty="0"/>
              <a:t>Locator</a:t>
            </a:r>
            <a:r>
              <a:rPr lang="zh-CN" altLang="en-US" dirty="0"/>
              <a:t>的配置在动态段范围内分配，同时分配</a:t>
            </a:r>
            <a:r>
              <a:rPr lang="en-US" altLang="zh-CN" dirty="0"/>
              <a:t>PSP</a:t>
            </a:r>
            <a:r>
              <a:rPr lang="zh-CN" altLang="en-US" dirty="0"/>
              <a:t>类型和非</a:t>
            </a:r>
            <a:r>
              <a:rPr lang="en-US" altLang="zh-CN" dirty="0"/>
              <a:t>PSP</a:t>
            </a:r>
            <a:r>
              <a:rPr lang="zh-CN" altLang="en-US" dirty="0"/>
              <a:t>类型的</a:t>
            </a:r>
            <a:r>
              <a:rPr lang="en-US" altLang="zh-CN" dirty="0"/>
              <a:t>SID</a:t>
            </a:r>
            <a:r>
              <a:rPr lang="zh-CN" altLang="en-US" dirty="0"/>
              <a:t>。</a:t>
            </a:r>
            <a:endParaRPr lang="zh-CN" altLang="en-US" dirty="0"/>
          </a:p>
          <a:p>
            <a:pPr marL="588645" lvl="1" indent="-228600">
              <a:buFont typeface="+mj-lt"/>
              <a:buAutoNum type="arabicPeriod"/>
            </a:pPr>
            <a:r>
              <a:rPr lang="zh-CN" altLang="en-US" dirty="0"/>
              <a:t>执行命令</a:t>
            </a:r>
            <a:r>
              <a:rPr lang="en-US" altLang="zh-CN" dirty="0"/>
              <a:t>quit</a:t>
            </a:r>
            <a:r>
              <a:rPr lang="zh-CN" altLang="en-US" dirty="0"/>
              <a:t>，退出</a:t>
            </a:r>
            <a:r>
              <a:rPr lang="en-US" altLang="zh-CN" dirty="0"/>
              <a:t>IS-IS</a:t>
            </a:r>
            <a:r>
              <a:rPr lang="zh-CN" altLang="en-US" dirty="0"/>
              <a:t>视图。</a:t>
            </a:r>
            <a:endParaRPr lang="en-US" altLang="zh-CN" dirty="0"/>
          </a:p>
          <a:p>
            <a:pPr marL="179705" lvl="0" indent="-179705"/>
            <a:r>
              <a:rPr lang="zh-CN" altLang="en-US" dirty="0"/>
              <a:t>配置</a:t>
            </a:r>
            <a:r>
              <a:rPr lang="en-US" altLang="zh-CN" dirty="0"/>
              <a:t>VPN</a:t>
            </a:r>
            <a:r>
              <a:rPr lang="zh-CN" altLang="en-US" dirty="0"/>
              <a:t>私网路由携带</a:t>
            </a:r>
            <a:r>
              <a:rPr lang="en-US" altLang="zh-CN" dirty="0"/>
              <a:t>SID</a:t>
            </a:r>
            <a:r>
              <a:rPr lang="zh-CN" altLang="en-US" dirty="0"/>
              <a:t>属性</a:t>
            </a:r>
            <a:endParaRPr lang="en-US" altLang="zh-CN" dirty="0"/>
          </a:p>
          <a:p>
            <a:pPr marL="539750" lvl="1" indent="-179705"/>
            <a:r>
              <a:rPr lang="zh-CN" altLang="en-US" dirty="0"/>
              <a:t>执行命令</a:t>
            </a:r>
            <a:r>
              <a:rPr lang="en-US" altLang="zh-CN" dirty="0"/>
              <a:t>peer ipv6-address prefix-</a:t>
            </a:r>
            <a:r>
              <a:rPr lang="en-US" altLang="zh-CN" dirty="0" err="1"/>
              <a:t>sid</a:t>
            </a:r>
            <a:r>
              <a:rPr lang="zh-CN" altLang="en-US" dirty="0"/>
              <a:t>，使能与指定</a:t>
            </a:r>
            <a:r>
              <a:rPr lang="en-US" altLang="zh-CN" dirty="0"/>
              <a:t>IPv6</a:t>
            </a:r>
            <a:r>
              <a:rPr lang="zh-CN" altLang="en-US" dirty="0"/>
              <a:t>对等体之间交换</a:t>
            </a:r>
            <a:r>
              <a:rPr lang="en-US" altLang="zh-CN" dirty="0"/>
              <a:t>IPv4 Prefix SID</a:t>
            </a:r>
            <a:r>
              <a:rPr lang="zh-CN" altLang="en-US" dirty="0"/>
              <a:t>信息。</a:t>
            </a:r>
            <a:endParaRPr lang="zh-CN" altLang="en-US" dirty="0"/>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r>
              <a:rPr lang="zh-CN" altLang="en-US" dirty="0"/>
              <a:t>配置</a:t>
            </a:r>
            <a:r>
              <a:rPr lang="en-US" altLang="zh-CN" dirty="0"/>
              <a:t>VPN</a:t>
            </a:r>
            <a:r>
              <a:rPr lang="zh-CN" altLang="en-US" dirty="0"/>
              <a:t>私网路由根据携带的</a:t>
            </a:r>
            <a:r>
              <a:rPr lang="en-US" altLang="zh-CN" dirty="0"/>
              <a:t>SID</a:t>
            </a:r>
            <a:r>
              <a:rPr lang="zh-CN" altLang="en-US" dirty="0"/>
              <a:t>属性迭代</a:t>
            </a:r>
            <a:r>
              <a:rPr lang="en-US" altLang="zh-CN" dirty="0"/>
              <a:t>SRv6 BE</a:t>
            </a:r>
            <a:r>
              <a:rPr lang="zh-CN" altLang="en-US" dirty="0"/>
              <a:t>路径。</a:t>
            </a:r>
            <a:endParaRPr lang="en-US" altLang="zh-CN" dirty="0"/>
          </a:p>
          <a:p>
            <a:pPr marL="588645" lvl="1" indent="-228600">
              <a:buFont typeface="+mj-lt"/>
              <a:buAutoNum type="arabicPeriod"/>
            </a:pPr>
            <a:r>
              <a:rPr lang="zh-CN" altLang="en-US" dirty="0"/>
              <a:t>执行命令</a:t>
            </a:r>
            <a:r>
              <a:rPr lang="en-US" altLang="zh-CN" dirty="0" err="1"/>
              <a:t>bgp</a:t>
            </a:r>
            <a:r>
              <a:rPr lang="en-US" altLang="zh-CN" dirty="0"/>
              <a:t> { as-number-plain | as-number-dot }</a:t>
            </a:r>
            <a:r>
              <a:rPr lang="zh-CN" altLang="en-US" dirty="0"/>
              <a:t>，进入</a:t>
            </a:r>
            <a:r>
              <a:rPr lang="en-US" altLang="zh-CN" dirty="0"/>
              <a:t>BGP</a:t>
            </a:r>
            <a:r>
              <a:rPr lang="zh-CN" altLang="en-US" dirty="0"/>
              <a:t>视图。</a:t>
            </a:r>
            <a:endParaRPr lang="zh-CN" altLang="en-US" dirty="0"/>
          </a:p>
          <a:p>
            <a:pPr marL="588645" lvl="1" indent="-228600">
              <a:buFont typeface="+mj-lt"/>
              <a:buAutoNum type="arabicPeriod"/>
            </a:pPr>
            <a:r>
              <a:rPr lang="zh-CN" altLang="en-US" dirty="0"/>
              <a:t>执行命令</a:t>
            </a:r>
            <a:r>
              <a:rPr lang="en-US" altLang="zh-CN" dirty="0"/>
              <a:t>ipv4-family </a:t>
            </a:r>
            <a:r>
              <a:rPr lang="en-US" altLang="zh-CN" dirty="0" err="1"/>
              <a:t>vpn</a:t>
            </a:r>
            <a:r>
              <a:rPr lang="en-US" altLang="zh-CN" dirty="0"/>
              <a:t>-instance </a:t>
            </a:r>
            <a:r>
              <a:rPr lang="en-US" altLang="zh-CN" dirty="0" err="1"/>
              <a:t>vpn</a:t>
            </a:r>
            <a:r>
              <a:rPr lang="en-US" altLang="zh-CN" dirty="0"/>
              <a:t>-instance-name</a:t>
            </a:r>
            <a:r>
              <a:rPr lang="zh-CN" altLang="en-US" dirty="0"/>
              <a:t>，进入</a:t>
            </a:r>
            <a:r>
              <a:rPr lang="en-US" altLang="zh-CN" dirty="0"/>
              <a:t>BGP-VPN</a:t>
            </a:r>
            <a:r>
              <a:rPr lang="zh-CN" altLang="en-US" dirty="0"/>
              <a:t>实例</a:t>
            </a:r>
            <a:r>
              <a:rPr lang="en-US" altLang="zh-CN" dirty="0"/>
              <a:t>IPv4</a:t>
            </a:r>
            <a:r>
              <a:rPr lang="zh-CN" altLang="en-US" dirty="0"/>
              <a:t>地址族视图。</a:t>
            </a:r>
            <a:endParaRPr lang="zh-CN" altLang="en-US" dirty="0"/>
          </a:p>
          <a:p>
            <a:pPr marL="588645" lvl="1" indent="-228600">
              <a:buFont typeface="+mj-lt"/>
              <a:buAutoNum type="arabicPeriod"/>
            </a:pPr>
            <a:r>
              <a:rPr lang="zh-CN" altLang="en-US" dirty="0"/>
              <a:t>执行命令</a:t>
            </a:r>
            <a:r>
              <a:rPr lang="en-US" altLang="zh-CN" dirty="0"/>
              <a:t>segment-routing ipv6 best-effort</a:t>
            </a:r>
            <a:r>
              <a:rPr lang="zh-CN" altLang="en-US" dirty="0"/>
              <a:t>，使能根据路由携带的</a:t>
            </a:r>
            <a:r>
              <a:rPr lang="en-US" altLang="zh-CN" dirty="0"/>
              <a:t>SID</a:t>
            </a:r>
            <a:r>
              <a:rPr lang="zh-CN" altLang="en-US" dirty="0"/>
              <a:t>属性进行私网路由迭代。</a:t>
            </a:r>
            <a:endParaRPr lang="zh-CN" altLang="en-US" dirty="0"/>
          </a:p>
          <a:p>
            <a:pPr marL="588645" lvl="1" indent="-228600">
              <a:buFont typeface="+mj-lt"/>
              <a:buAutoNum type="arabicPeriod"/>
            </a:pPr>
            <a:r>
              <a:rPr lang="zh-CN" altLang="en-US" dirty="0"/>
              <a:t>执行命令</a:t>
            </a:r>
            <a:r>
              <a:rPr lang="en-US" altLang="zh-CN" dirty="0"/>
              <a:t>segment-routing ipv6 locator locator-name [ auto-</a:t>
            </a:r>
            <a:r>
              <a:rPr lang="en-US" altLang="zh-CN" dirty="0" err="1"/>
              <a:t>sid</a:t>
            </a:r>
            <a:r>
              <a:rPr lang="en-US" altLang="zh-CN" dirty="0"/>
              <a:t>-disable ]</a:t>
            </a:r>
            <a:r>
              <a:rPr lang="zh-CN" altLang="en-US" dirty="0"/>
              <a:t>，使能</a:t>
            </a:r>
            <a:r>
              <a:rPr lang="en-US" altLang="zh-CN" dirty="0"/>
              <a:t>VPN</a:t>
            </a:r>
            <a:r>
              <a:rPr lang="zh-CN" altLang="en-US" dirty="0"/>
              <a:t>私网路由携带</a:t>
            </a:r>
            <a:r>
              <a:rPr lang="en-US" altLang="zh-CN" dirty="0"/>
              <a:t>SID</a:t>
            </a:r>
            <a:r>
              <a:rPr lang="zh-CN" altLang="en-US" dirty="0"/>
              <a:t>属性。</a:t>
            </a:r>
            <a:endParaRPr lang="zh-CN" altLang="en-US" dirty="0"/>
          </a:p>
          <a:p>
            <a:pPr marL="588645" lvl="1" indent="-228600">
              <a:buFont typeface="+mj-lt"/>
              <a:buAutoNum type="arabicPeriod"/>
            </a:pPr>
            <a:r>
              <a:rPr lang="zh-CN" altLang="en-US" dirty="0"/>
              <a:t>如果没有配置</a:t>
            </a:r>
            <a:r>
              <a:rPr lang="en-US" altLang="zh-CN" dirty="0"/>
              <a:t>auto-</a:t>
            </a:r>
            <a:r>
              <a:rPr lang="en-US" altLang="zh-CN" dirty="0" err="1"/>
              <a:t>sid</a:t>
            </a:r>
            <a:r>
              <a:rPr lang="en-US" altLang="zh-CN" dirty="0"/>
              <a:t>-disable</a:t>
            </a:r>
            <a:r>
              <a:rPr lang="zh-CN" altLang="en-US" dirty="0"/>
              <a:t>参数，表示支持动态</a:t>
            </a:r>
            <a:r>
              <a:rPr lang="en-US" altLang="zh-CN" dirty="0"/>
              <a:t>SID</a:t>
            </a:r>
            <a:r>
              <a:rPr lang="zh-CN" altLang="en-US" dirty="0"/>
              <a:t>分配。此时如果</a:t>
            </a:r>
            <a:r>
              <a:rPr lang="en-US" altLang="zh-CN" dirty="0"/>
              <a:t>locator-name</a:t>
            </a:r>
            <a:r>
              <a:rPr lang="zh-CN" altLang="en-US" dirty="0"/>
              <a:t>下存在静态</a:t>
            </a:r>
            <a:r>
              <a:rPr lang="en-US" altLang="zh-CN" dirty="0"/>
              <a:t>SID</a:t>
            </a:r>
            <a:r>
              <a:rPr lang="zh-CN" altLang="en-US" dirty="0"/>
              <a:t>，则使用静态</a:t>
            </a:r>
            <a:r>
              <a:rPr lang="en-US" altLang="zh-CN" dirty="0"/>
              <a:t>SID</a:t>
            </a:r>
            <a:r>
              <a:rPr lang="zh-CN" altLang="en-US" dirty="0"/>
              <a:t>，没有静态</a:t>
            </a:r>
            <a:r>
              <a:rPr lang="en-US" altLang="zh-CN" dirty="0"/>
              <a:t>SID</a:t>
            </a:r>
            <a:r>
              <a:rPr lang="zh-CN" altLang="en-US" dirty="0"/>
              <a:t>时则使用动态分配的</a:t>
            </a:r>
            <a:r>
              <a:rPr lang="en-US" altLang="zh-CN" dirty="0"/>
              <a:t>SID</a:t>
            </a:r>
            <a:r>
              <a:rPr lang="zh-CN" altLang="en-US" dirty="0"/>
              <a:t>；如果配置</a:t>
            </a:r>
            <a:r>
              <a:rPr lang="en-US" altLang="zh-CN" dirty="0"/>
              <a:t>auto-</a:t>
            </a:r>
            <a:r>
              <a:rPr lang="en-US" altLang="zh-CN" dirty="0" err="1"/>
              <a:t>sid</a:t>
            </a:r>
            <a:r>
              <a:rPr lang="en-US" altLang="zh-CN" dirty="0"/>
              <a:t>-disable</a:t>
            </a:r>
            <a:r>
              <a:rPr lang="zh-CN" altLang="en-US" dirty="0"/>
              <a:t>参数，则</a:t>
            </a:r>
            <a:r>
              <a:rPr lang="en-US" altLang="zh-CN" dirty="0"/>
              <a:t>BGP</a:t>
            </a:r>
            <a:r>
              <a:rPr lang="zh-CN" altLang="en-US" dirty="0"/>
              <a:t>不会动态分配</a:t>
            </a:r>
            <a:r>
              <a:rPr lang="en-US" altLang="zh-CN" dirty="0"/>
              <a:t>SID</a:t>
            </a:r>
            <a:r>
              <a:rPr lang="zh-CN" altLang="en-US" dirty="0"/>
              <a:t>。</a:t>
            </a:r>
            <a:endParaRPr lang="zh-CN" altLang="en-US" dirty="0"/>
          </a:p>
          <a:p>
            <a:pPr marL="588645" lvl="1" indent="-228600">
              <a:buFont typeface="+mj-lt"/>
              <a:buAutoNum type="arabicPeriod"/>
            </a:pPr>
            <a:r>
              <a:rPr lang="zh-CN" altLang="en-US" dirty="0"/>
              <a:t>执行命令</a:t>
            </a:r>
            <a:r>
              <a:rPr lang="en-US" altLang="zh-CN" dirty="0"/>
              <a:t>commit</a:t>
            </a:r>
            <a:r>
              <a:rPr lang="zh-CN" altLang="en-US" dirty="0"/>
              <a:t>，提交配置。</a:t>
            </a:r>
            <a:endParaRPr lang="zh-CN" altLang="en-US" dirty="0"/>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r>
              <a:rPr lang="en-US" altLang="zh-CN" dirty="0"/>
              <a:t>PE1</a:t>
            </a:r>
            <a:r>
              <a:rPr lang="zh-CN" altLang="en-US" dirty="0"/>
              <a:t>、</a:t>
            </a:r>
            <a:r>
              <a:rPr lang="en-US" altLang="zh-CN" dirty="0"/>
              <a:t>P</a:t>
            </a:r>
            <a:r>
              <a:rPr lang="zh-CN" altLang="en-US" dirty="0"/>
              <a:t>、</a:t>
            </a:r>
            <a:r>
              <a:rPr lang="en-US" altLang="zh-CN" dirty="0"/>
              <a:t>PE2</a:t>
            </a:r>
            <a:r>
              <a:rPr lang="zh-CN" altLang="en-US" dirty="0"/>
              <a:t>对应的</a:t>
            </a:r>
            <a:r>
              <a:rPr lang="en-US" altLang="zh-CN" dirty="0"/>
              <a:t>SID</a:t>
            </a:r>
            <a:r>
              <a:rPr lang="zh-CN" altLang="en-US" dirty="0"/>
              <a:t>分别为：</a:t>
            </a:r>
            <a:r>
              <a:rPr lang="en-US" altLang="zh-CN" dirty="0"/>
              <a:t>2001:DB8:1000::111</a:t>
            </a:r>
            <a:r>
              <a:rPr lang="zh-CN" altLang="en-US" dirty="0"/>
              <a:t>、</a:t>
            </a:r>
            <a:r>
              <a:rPr lang="en-US" altLang="zh-CN" dirty="0"/>
              <a:t>2001:DB8:2000::222</a:t>
            </a:r>
            <a:r>
              <a:rPr lang="zh-CN" altLang="en-US" dirty="0"/>
              <a:t>、</a:t>
            </a:r>
            <a:r>
              <a:rPr lang="en-US" altLang="zh-CN" dirty="0"/>
              <a:t>2001:DB8:3000::333</a:t>
            </a:r>
            <a:r>
              <a:rPr lang="zh-CN" altLang="en-US" dirty="0"/>
              <a:t>。</a:t>
            </a:r>
            <a:endParaRPr lang="en-US" altLang="zh-CN" dirty="0"/>
          </a:p>
          <a:p>
            <a:r>
              <a:rPr lang="zh-CN" altLang="en-US" dirty="0"/>
              <a:t>本实验中</a:t>
            </a:r>
            <a:r>
              <a:rPr lang="en-US" altLang="zh-CN" dirty="0"/>
              <a:t>SRv6 Policy</a:t>
            </a:r>
            <a:r>
              <a:rPr lang="zh-CN" altLang="en-US" dirty="0"/>
              <a:t>路径通过指定</a:t>
            </a:r>
            <a:r>
              <a:rPr lang="en-US" altLang="zh-CN" dirty="0"/>
              <a:t>END</a:t>
            </a:r>
            <a:r>
              <a:rPr lang="zh-CN" altLang="en-US" dirty="0"/>
              <a:t>类型的</a:t>
            </a:r>
            <a:r>
              <a:rPr lang="en-US" altLang="zh-CN" dirty="0"/>
              <a:t>SID</a:t>
            </a:r>
            <a:r>
              <a:rPr lang="zh-CN" altLang="en-US" dirty="0"/>
              <a:t>建立。</a:t>
            </a:r>
            <a:endParaRPr lang="en-US" altLang="zh-CN" dirty="0"/>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r>
              <a:rPr lang="en-US" altLang="zh-CN" dirty="0"/>
              <a:t>SRv6</a:t>
            </a:r>
            <a:r>
              <a:rPr lang="zh-CN" altLang="en-US" dirty="0"/>
              <a:t>路径使用</a:t>
            </a:r>
            <a:r>
              <a:rPr lang="en-US" altLang="zh-CN" dirty="0"/>
              <a:t>SID</a:t>
            </a:r>
            <a:r>
              <a:rPr lang="zh-CN" altLang="en-US" dirty="0"/>
              <a:t>建立，推荐静态配置</a:t>
            </a:r>
            <a:r>
              <a:rPr lang="en-US" altLang="zh-CN" dirty="0"/>
              <a:t>SRv6 SID</a:t>
            </a:r>
            <a:r>
              <a:rPr lang="zh-CN" altLang="en-US" dirty="0"/>
              <a:t>，配置步骤如下：</a:t>
            </a:r>
            <a:endParaRPr lang="zh-CN" altLang="en-US" dirty="0"/>
          </a:p>
          <a:p>
            <a:pPr marL="588645" lvl="1" indent="-228600">
              <a:buFont typeface="+mj-lt"/>
              <a:buAutoNum type="arabicPeriod"/>
            </a:pPr>
            <a:r>
              <a:rPr lang="zh-CN" altLang="en-US" dirty="0"/>
              <a:t>执行命令</a:t>
            </a:r>
            <a:r>
              <a:rPr lang="en-US" altLang="zh-CN" dirty="0"/>
              <a:t>locator locator-name [ ipv6-prefix ipv6-address prefix-length [ static static-length | </a:t>
            </a:r>
            <a:r>
              <a:rPr lang="en-US" altLang="zh-CN" dirty="0" err="1"/>
              <a:t>args</a:t>
            </a:r>
            <a:r>
              <a:rPr lang="en-US" altLang="zh-CN" dirty="0"/>
              <a:t> </a:t>
            </a:r>
            <a:r>
              <a:rPr lang="en-US" altLang="zh-CN" dirty="0" err="1"/>
              <a:t>args</a:t>
            </a:r>
            <a:r>
              <a:rPr lang="en-US" altLang="zh-CN" dirty="0"/>
              <a:t>-length ] * ]</a:t>
            </a:r>
            <a:r>
              <a:rPr lang="zh-CN" altLang="en-US" dirty="0"/>
              <a:t>，配置</a:t>
            </a:r>
            <a:r>
              <a:rPr lang="en-US" altLang="zh-CN" dirty="0"/>
              <a:t>SRv6 Locator</a:t>
            </a:r>
            <a:r>
              <a:rPr lang="zh-CN" altLang="en-US" dirty="0"/>
              <a:t>。</a:t>
            </a:r>
            <a:endParaRPr lang="zh-CN" altLang="en-US" dirty="0"/>
          </a:p>
          <a:p>
            <a:pPr marL="588645" lvl="1" indent="-228600">
              <a:buFont typeface="+mj-lt"/>
              <a:buAutoNum type="arabicPeriod"/>
            </a:pPr>
            <a:r>
              <a:rPr lang="zh-CN" altLang="en-US" dirty="0"/>
              <a:t>执行命令</a:t>
            </a:r>
            <a:r>
              <a:rPr lang="en-US" altLang="zh-CN" dirty="0"/>
              <a:t>opcode </a:t>
            </a:r>
            <a:r>
              <a:rPr lang="en-US" altLang="zh-CN" dirty="0" err="1"/>
              <a:t>func</a:t>
            </a:r>
            <a:r>
              <a:rPr lang="en-US" altLang="zh-CN" dirty="0"/>
              <a:t>-opcode end</a:t>
            </a:r>
            <a:r>
              <a:rPr lang="zh-CN" altLang="en-US" dirty="0"/>
              <a:t>，配置静态</a:t>
            </a:r>
            <a:r>
              <a:rPr lang="en-US" altLang="zh-CN" dirty="0"/>
              <a:t>End SID</a:t>
            </a:r>
            <a:r>
              <a:rPr lang="zh-CN" altLang="en-US" dirty="0"/>
              <a:t>的</a:t>
            </a:r>
            <a:r>
              <a:rPr lang="en-US" altLang="zh-CN" dirty="0"/>
              <a:t>Opcode</a:t>
            </a:r>
            <a:r>
              <a:rPr lang="zh-CN" altLang="en-US" dirty="0"/>
              <a:t>。</a:t>
            </a:r>
            <a:endParaRPr lang="zh-CN" altLang="en-US" dirty="0"/>
          </a:p>
          <a:p>
            <a:pPr marL="588645" lvl="1" indent="-228600">
              <a:buFont typeface="+mj-lt"/>
              <a:buAutoNum type="arabicPeriod"/>
            </a:pPr>
            <a:r>
              <a:rPr lang="zh-CN" altLang="en-US" dirty="0"/>
              <a:t>执行命令</a:t>
            </a:r>
            <a:r>
              <a:rPr lang="en-US" altLang="zh-CN" dirty="0"/>
              <a:t>opcode </a:t>
            </a:r>
            <a:r>
              <a:rPr lang="en-US" altLang="zh-CN" dirty="0" err="1"/>
              <a:t>func</a:t>
            </a:r>
            <a:r>
              <a:rPr lang="en-US" altLang="zh-CN" dirty="0"/>
              <a:t>-opcode end-x interface interface-name </a:t>
            </a:r>
            <a:r>
              <a:rPr lang="en-US" altLang="zh-CN" dirty="0" err="1"/>
              <a:t>nexthop</a:t>
            </a:r>
            <a:r>
              <a:rPr lang="en-US" altLang="zh-CN" dirty="0"/>
              <a:t> </a:t>
            </a:r>
            <a:r>
              <a:rPr lang="en-US" altLang="zh-CN" dirty="0" err="1"/>
              <a:t>nexthop</a:t>
            </a:r>
            <a:r>
              <a:rPr lang="en-US" altLang="zh-CN" dirty="0"/>
              <a:t>-address [ no-</a:t>
            </a:r>
            <a:r>
              <a:rPr lang="en-US" altLang="zh-CN" dirty="0" err="1"/>
              <a:t>psp</a:t>
            </a:r>
            <a:r>
              <a:rPr lang="en-US" altLang="zh-CN" dirty="0"/>
              <a:t> ]</a:t>
            </a:r>
            <a:r>
              <a:rPr lang="zh-CN" altLang="en-US" dirty="0"/>
              <a:t>，配置静态</a:t>
            </a:r>
            <a:r>
              <a:rPr lang="en-US" altLang="zh-CN" dirty="0" err="1"/>
              <a:t>End.X</a:t>
            </a:r>
            <a:r>
              <a:rPr lang="en-US" altLang="zh-CN" dirty="0"/>
              <a:t> SID</a:t>
            </a:r>
            <a:r>
              <a:rPr lang="zh-CN" altLang="en-US" dirty="0"/>
              <a:t>的</a:t>
            </a:r>
            <a:r>
              <a:rPr lang="en-US" altLang="zh-CN" dirty="0"/>
              <a:t>Opcode</a:t>
            </a:r>
            <a:r>
              <a:rPr lang="zh-CN" altLang="en-US" dirty="0"/>
              <a:t>。</a:t>
            </a:r>
            <a:endParaRPr lang="zh-CN" altLang="en-US" dirty="0"/>
          </a:p>
          <a:p>
            <a:pPr marL="588645" lvl="1" indent="-228600">
              <a:buFont typeface="+mj-lt"/>
              <a:buAutoNum type="arabicPeriod"/>
            </a:pPr>
            <a:r>
              <a:rPr lang="zh-CN" altLang="en-US" dirty="0"/>
              <a:t>执行命令</a:t>
            </a:r>
            <a:r>
              <a:rPr lang="en-US" altLang="zh-CN" dirty="0"/>
              <a:t>quit</a:t>
            </a:r>
            <a:r>
              <a:rPr lang="zh-CN" altLang="en-US" dirty="0"/>
              <a:t>，退出</a:t>
            </a:r>
            <a:r>
              <a:rPr lang="en-US" altLang="zh-CN" dirty="0"/>
              <a:t>Segment Routing IPv6 Locator</a:t>
            </a:r>
            <a:r>
              <a:rPr lang="zh-CN" altLang="en-US" dirty="0"/>
              <a:t>视图。</a:t>
            </a:r>
            <a:endParaRPr lang="zh-CN" altLang="en-US" dirty="0"/>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r>
              <a:rPr lang="zh-CN" altLang="en-US" dirty="0"/>
              <a:t>配置</a:t>
            </a:r>
            <a:r>
              <a:rPr lang="en-US" altLang="zh-CN" dirty="0"/>
              <a:t>Segment List</a:t>
            </a:r>
            <a:endParaRPr lang="en-US" altLang="zh-CN" dirty="0"/>
          </a:p>
          <a:p>
            <a:pPr marL="588645" lvl="1" indent="-228600">
              <a:buFont typeface="+mj-lt"/>
              <a:buAutoNum type="arabicPeriod"/>
            </a:pPr>
            <a:r>
              <a:rPr lang="zh-CN" altLang="en-US" dirty="0"/>
              <a:t>执行命令</a:t>
            </a:r>
            <a:r>
              <a:rPr lang="en-US" altLang="zh-CN" dirty="0"/>
              <a:t>system-view</a:t>
            </a:r>
            <a:r>
              <a:rPr lang="zh-CN" altLang="en-US" dirty="0"/>
              <a:t>，进入系统视图。</a:t>
            </a:r>
            <a:endParaRPr lang="zh-CN" altLang="en-US" dirty="0"/>
          </a:p>
          <a:p>
            <a:pPr marL="588645" lvl="1" indent="-228600">
              <a:buFont typeface="+mj-lt"/>
              <a:buAutoNum type="arabicPeriod"/>
            </a:pPr>
            <a:r>
              <a:rPr lang="zh-CN" altLang="en-US" dirty="0"/>
              <a:t>执行命令</a:t>
            </a:r>
            <a:r>
              <a:rPr lang="en-US" altLang="zh-CN" dirty="0"/>
              <a:t>segment-routing ipv6</a:t>
            </a:r>
            <a:r>
              <a:rPr lang="zh-CN" altLang="en-US" dirty="0"/>
              <a:t>，使能</a:t>
            </a:r>
            <a:r>
              <a:rPr lang="en-US" altLang="zh-CN" dirty="0"/>
              <a:t>SRv6</a:t>
            </a:r>
            <a:r>
              <a:rPr lang="zh-CN" altLang="en-US" dirty="0"/>
              <a:t>功能，并且进入</a:t>
            </a:r>
            <a:r>
              <a:rPr lang="en-US" altLang="zh-CN" dirty="0"/>
              <a:t>SRv6</a:t>
            </a:r>
            <a:r>
              <a:rPr lang="zh-CN" altLang="en-US" dirty="0"/>
              <a:t>视图。</a:t>
            </a:r>
            <a:endParaRPr lang="zh-CN" altLang="en-US" dirty="0"/>
          </a:p>
          <a:p>
            <a:pPr marL="588645" lvl="1" indent="-228600">
              <a:buFont typeface="+mj-lt"/>
              <a:buAutoNum type="arabicPeriod"/>
            </a:pPr>
            <a:r>
              <a:rPr lang="zh-CN" altLang="en-US" dirty="0"/>
              <a:t>执行命令</a:t>
            </a:r>
            <a:r>
              <a:rPr lang="en-US" altLang="zh-CN" dirty="0"/>
              <a:t>segment-list list-name</a:t>
            </a:r>
            <a:r>
              <a:rPr lang="zh-CN" altLang="en-US" dirty="0"/>
              <a:t>，创建</a:t>
            </a:r>
            <a:r>
              <a:rPr lang="en-US" altLang="zh-CN" dirty="0"/>
              <a:t>SRv6 Policy</a:t>
            </a:r>
            <a:r>
              <a:rPr lang="zh-CN" altLang="en-US" dirty="0"/>
              <a:t>候选路径的显式路径，并且进入显式路径视图。</a:t>
            </a:r>
            <a:endParaRPr lang="zh-CN" altLang="en-US" dirty="0"/>
          </a:p>
          <a:p>
            <a:pPr marL="588645" lvl="1" indent="-228600">
              <a:buFont typeface="+mj-lt"/>
              <a:buAutoNum type="arabicPeriod"/>
            </a:pPr>
            <a:r>
              <a:rPr lang="zh-CN" altLang="en-US" dirty="0"/>
              <a:t>执行命令</a:t>
            </a:r>
            <a:r>
              <a:rPr lang="en-US" altLang="zh-CN" dirty="0"/>
              <a:t>index </a:t>
            </a:r>
            <a:r>
              <a:rPr lang="en-US" altLang="zh-CN" dirty="0" err="1"/>
              <a:t>index</a:t>
            </a:r>
            <a:r>
              <a:rPr lang="en-US" altLang="zh-CN" dirty="0"/>
              <a:t> </a:t>
            </a:r>
            <a:r>
              <a:rPr lang="en-US" altLang="zh-CN" dirty="0" err="1"/>
              <a:t>sid</a:t>
            </a:r>
            <a:r>
              <a:rPr lang="en-US" altLang="zh-CN" dirty="0"/>
              <a:t> ipv6 ipv6address</a:t>
            </a:r>
            <a:r>
              <a:rPr lang="zh-CN" altLang="en-US" dirty="0"/>
              <a:t>，配置在</a:t>
            </a:r>
            <a:r>
              <a:rPr lang="en-US" altLang="zh-CN" dirty="0"/>
              <a:t>Segment List</a:t>
            </a:r>
            <a:r>
              <a:rPr lang="zh-CN" altLang="en-US" dirty="0"/>
              <a:t>中指定下一跳</a:t>
            </a:r>
            <a:r>
              <a:rPr lang="en-US" altLang="zh-CN" dirty="0"/>
              <a:t>SID</a:t>
            </a:r>
            <a:r>
              <a:rPr lang="zh-CN" altLang="en-US" dirty="0"/>
              <a:t>。</a:t>
            </a:r>
            <a:endParaRPr lang="zh-CN" altLang="en-US" dirty="0"/>
          </a:p>
          <a:p>
            <a:pPr marL="899795" lvl="2" indent="-179705"/>
            <a:r>
              <a:rPr lang="zh-CN" altLang="en-US" dirty="0"/>
              <a:t>该命令允许多次执行，系统按照</a:t>
            </a:r>
            <a:r>
              <a:rPr lang="en-US" altLang="zh-CN" dirty="0"/>
              <a:t>index </a:t>
            </a:r>
            <a:r>
              <a:rPr lang="en-US" altLang="zh-CN" dirty="0" err="1"/>
              <a:t>index</a:t>
            </a:r>
            <a:r>
              <a:rPr lang="zh-CN" altLang="en-US" dirty="0"/>
              <a:t>从小到大的顺序生成</a:t>
            </a:r>
            <a:r>
              <a:rPr lang="en-US" altLang="zh-CN" dirty="0"/>
              <a:t>Segment List</a:t>
            </a:r>
            <a:r>
              <a:rPr lang="zh-CN" altLang="en-US" dirty="0"/>
              <a:t>的</a:t>
            </a:r>
            <a:r>
              <a:rPr lang="en-US" altLang="zh-CN" dirty="0"/>
              <a:t>SID</a:t>
            </a:r>
            <a:r>
              <a:rPr lang="zh-CN" altLang="en-US" dirty="0"/>
              <a:t>栈。当</a:t>
            </a:r>
            <a:r>
              <a:rPr lang="en-US" altLang="zh-CN" dirty="0"/>
              <a:t>SRv6 Policy</a:t>
            </a:r>
            <a:r>
              <a:rPr lang="zh-CN" altLang="en-US" dirty="0"/>
              <a:t>下候选路径被优选后，按照候选路径下的</a:t>
            </a:r>
            <a:r>
              <a:rPr lang="en-US" altLang="zh-CN" dirty="0"/>
              <a:t>Segment List</a:t>
            </a:r>
            <a:r>
              <a:rPr lang="zh-CN" altLang="en-US" dirty="0"/>
              <a:t>转发流量。每个</a:t>
            </a:r>
            <a:r>
              <a:rPr lang="en-US" altLang="zh-CN" dirty="0"/>
              <a:t>Segment List</a:t>
            </a:r>
            <a:r>
              <a:rPr lang="zh-CN" altLang="en-US" dirty="0"/>
              <a:t>中最多配置</a:t>
            </a:r>
            <a:r>
              <a:rPr lang="en-US" altLang="zh-CN" dirty="0"/>
              <a:t>10</a:t>
            </a:r>
            <a:r>
              <a:rPr lang="zh-CN" altLang="en-US" dirty="0"/>
              <a:t>个</a:t>
            </a:r>
            <a:r>
              <a:rPr lang="en-US" altLang="zh-CN" dirty="0"/>
              <a:t>SID</a:t>
            </a:r>
            <a:r>
              <a:rPr lang="zh-CN" altLang="en-US" dirty="0"/>
              <a:t>。</a:t>
            </a:r>
            <a:endParaRPr lang="zh-CN" altLang="en-US" dirty="0"/>
          </a:p>
          <a:p>
            <a:pPr marL="588645" lvl="1" indent="-228600">
              <a:buFont typeface="+mj-lt"/>
              <a:buAutoNum type="arabicPeriod"/>
            </a:pPr>
            <a:r>
              <a:rPr lang="zh-CN" altLang="en-US" dirty="0"/>
              <a:t>执行命令</a:t>
            </a:r>
            <a:r>
              <a:rPr lang="en-US" altLang="zh-CN" dirty="0"/>
              <a:t>commit</a:t>
            </a:r>
            <a:r>
              <a:rPr lang="zh-CN" altLang="en-US" dirty="0"/>
              <a:t>，提交配置。</a:t>
            </a:r>
            <a:endParaRPr lang="en-US" altLang="zh-CN" dirty="0"/>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a:xfrm>
            <a:off x="731838" y="734270"/>
            <a:ext cx="5580062" cy="5685579"/>
          </a:xfrm>
        </p:spPr>
        <p:txBody>
          <a:bodyPr/>
          <a:lstStyle/>
          <a:p>
            <a:pPr marL="179705" lvl="0" indent="-179705"/>
            <a:r>
              <a:rPr lang="zh-CN" altLang="en-US" dirty="0"/>
              <a:t>配置</a:t>
            </a:r>
            <a:r>
              <a:rPr lang="en-US" altLang="zh-CN" dirty="0"/>
              <a:t>SRv6 Policy</a:t>
            </a:r>
            <a:endParaRPr lang="en-US" altLang="zh-CN" dirty="0"/>
          </a:p>
          <a:p>
            <a:pPr marL="588645" lvl="1" indent="-228600">
              <a:buFont typeface="+mj-lt"/>
              <a:buAutoNum type="arabicPeriod"/>
            </a:pPr>
            <a:r>
              <a:rPr lang="zh-CN" altLang="en-US" dirty="0"/>
              <a:t>执行命令</a:t>
            </a:r>
            <a:r>
              <a:rPr lang="en-US" altLang="zh-CN" dirty="0"/>
              <a:t>system-view</a:t>
            </a:r>
            <a:r>
              <a:rPr lang="zh-CN" altLang="en-US" dirty="0"/>
              <a:t>，进入系统视图。</a:t>
            </a:r>
            <a:endParaRPr lang="zh-CN" altLang="en-US" dirty="0"/>
          </a:p>
          <a:p>
            <a:pPr marL="588645" lvl="1" indent="-228600">
              <a:buFont typeface="+mj-lt"/>
              <a:buAutoNum type="arabicPeriod"/>
            </a:pPr>
            <a:r>
              <a:rPr lang="zh-CN" altLang="en-US" dirty="0"/>
              <a:t>执行命令</a:t>
            </a:r>
            <a:r>
              <a:rPr lang="en-US" altLang="zh-CN" dirty="0"/>
              <a:t>segment-routing ipv6</a:t>
            </a:r>
            <a:r>
              <a:rPr lang="zh-CN" altLang="en-US" dirty="0"/>
              <a:t>，使能</a:t>
            </a:r>
            <a:r>
              <a:rPr lang="en-US" altLang="zh-CN" dirty="0"/>
              <a:t>SRv6</a:t>
            </a:r>
            <a:r>
              <a:rPr lang="zh-CN" altLang="en-US" dirty="0"/>
              <a:t>功能，并且进入</a:t>
            </a:r>
            <a:r>
              <a:rPr lang="en-US" altLang="zh-CN" dirty="0"/>
              <a:t>SRv6</a:t>
            </a:r>
            <a:r>
              <a:rPr lang="zh-CN" altLang="en-US" dirty="0"/>
              <a:t>视图。</a:t>
            </a:r>
            <a:endParaRPr lang="zh-CN" altLang="en-US" dirty="0"/>
          </a:p>
          <a:p>
            <a:pPr marL="588645" lvl="1" indent="-228600">
              <a:buFont typeface="+mj-lt"/>
              <a:buAutoNum type="arabicPeriod"/>
            </a:pPr>
            <a:r>
              <a:rPr lang="zh-CN" altLang="en-US" dirty="0"/>
              <a:t>执行命令</a:t>
            </a:r>
            <a:r>
              <a:rPr lang="en-US" altLang="zh-CN" dirty="0"/>
              <a:t>srv6-te-policy locator locator-name</a:t>
            </a:r>
            <a:r>
              <a:rPr lang="zh-CN" altLang="en-US" dirty="0"/>
              <a:t>，配置</a:t>
            </a:r>
            <a:r>
              <a:rPr lang="en-US" altLang="zh-CN" dirty="0"/>
              <a:t>SRv6 Policy</a:t>
            </a:r>
            <a:r>
              <a:rPr lang="zh-CN" altLang="en-US" dirty="0"/>
              <a:t>关联的</a:t>
            </a:r>
            <a:r>
              <a:rPr lang="en-US" altLang="zh-CN" dirty="0"/>
              <a:t>Locator</a:t>
            </a:r>
            <a:r>
              <a:rPr lang="zh-CN" altLang="en-US" dirty="0"/>
              <a:t>。用于在</a:t>
            </a:r>
            <a:r>
              <a:rPr lang="en-US" altLang="zh-CN" dirty="0"/>
              <a:t>Locator</a:t>
            </a:r>
            <a:r>
              <a:rPr lang="zh-CN" altLang="en-US" dirty="0"/>
              <a:t>下指定</a:t>
            </a:r>
            <a:r>
              <a:rPr lang="en-US" altLang="zh-CN" dirty="0"/>
              <a:t>SRv6 Policy</a:t>
            </a:r>
            <a:r>
              <a:rPr lang="zh-CN" altLang="en-US" dirty="0"/>
              <a:t>的</a:t>
            </a:r>
            <a:r>
              <a:rPr lang="en-US" altLang="zh-CN" dirty="0"/>
              <a:t>Binding SID</a:t>
            </a:r>
            <a:r>
              <a:rPr lang="zh-CN" altLang="en-US" dirty="0"/>
              <a:t>。</a:t>
            </a:r>
            <a:endParaRPr lang="zh-CN" altLang="en-US" dirty="0"/>
          </a:p>
          <a:p>
            <a:pPr marL="588645" lvl="1" indent="-228600">
              <a:buFont typeface="+mj-lt"/>
              <a:buAutoNum type="arabicPeriod"/>
            </a:pPr>
            <a:r>
              <a:rPr lang="zh-CN" altLang="en-US" dirty="0"/>
              <a:t>执行命令</a:t>
            </a:r>
            <a:r>
              <a:rPr lang="en-US" altLang="zh-CN" dirty="0"/>
              <a:t>srv6-te policy name-value endpoint endpoint-</a:t>
            </a:r>
            <a:r>
              <a:rPr lang="en-US" altLang="zh-CN" dirty="0" err="1"/>
              <a:t>ip</a:t>
            </a:r>
            <a:r>
              <a:rPr lang="en-US" altLang="zh-CN" dirty="0"/>
              <a:t> color color-value</a:t>
            </a:r>
            <a:r>
              <a:rPr lang="zh-CN" altLang="en-US" dirty="0"/>
              <a:t>，创建</a:t>
            </a:r>
            <a:r>
              <a:rPr lang="en-US" altLang="zh-CN" dirty="0"/>
              <a:t>SRv6 Policy</a:t>
            </a:r>
            <a:r>
              <a:rPr lang="zh-CN" altLang="en-US" dirty="0"/>
              <a:t>，并且进入</a:t>
            </a:r>
            <a:r>
              <a:rPr lang="en-US" altLang="zh-CN" dirty="0"/>
              <a:t>SRv6 Policy</a:t>
            </a:r>
            <a:r>
              <a:rPr lang="zh-CN" altLang="en-US" dirty="0"/>
              <a:t>视图。</a:t>
            </a:r>
            <a:endParaRPr lang="zh-CN" altLang="en-US" dirty="0"/>
          </a:p>
          <a:p>
            <a:pPr marL="588645" lvl="1" indent="-228600">
              <a:buFont typeface="+mj-lt"/>
              <a:buAutoNum type="arabicPeriod"/>
            </a:pPr>
            <a:r>
              <a:rPr lang="zh-CN" altLang="en-US" dirty="0"/>
              <a:t>执行命令</a:t>
            </a:r>
            <a:r>
              <a:rPr lang="en-US" altLang="zh-CN" dirty="0"/>
              <a:t>binding-</a:t>
            </a:r>
            <a:r>
              <a:rPr lang="en-US" altLang="zh-CN" dirty="0" err="1"/>
              <a:t>sid</a:t>
            </a:r>
            <a:r>
              <a:rPr lang="en-US" altLang="zh-CN" dirty="0"/>
              <a:t> binding-</a:t>
            </a:r>
            <a:r>
              <a:rPr lang="en-US" altLang="zh-CN" dirty="0" err="1"/>
              <a:t>sid</a:t>
            </a:r>
            <a:r>
              <a:rPr lang="zh-CN" altLang="en-US" dirty="0"/>
              <a:t>，配置</a:t>
            </a:r>
            <a:r>
              <a:rPr lang="en-US" altLang="zh-CN" dirty="0"/>
              <a:t>SRv6 Policy</a:t>
            </a:r>
            <a:r>
              <a:rPr lang="zh-CN" altLang="en-US" dirty="0"/>
              <a:t>的</a:t>
            </a:r>
            <a:r>
              <a:rPr lang="en-US" altLang="zh-CN" dirty="0"/>
              <a:t>Binding SID</a:t>
            </a:r>
            <a:r>
              <a:rPr lang="zh-CN" altLang="en-US" dirty="0"/>
              <a:t>（可选）。</a:t>
            </a:r>
            <a:endParaRPr lang="zh-CN" altLang="en-US" dirty="0"/>
          </a:p>
          <a:p>
            <a:pPr marL="899795" lvl="2" indent="-179705"/>
            <a:r>
              <a:rPr lang="en-US" altLang="zh-CN" dirty="0"/>
              <a:t>binding-</a:t>
            </a:r>
            <a:r>
              <a:rPr lang="en-US" altLang="zh-CN" dirty="0" err="1"/>
              <a:t>sid</a:t>
            </a:r>
            <a:r>
              <a:rPr lang="zh-CN" altLang="en-US" dirty="0"/>
              <a:t>取值需要在</a:t>
            </a:r>
            <a:r>
              <a:rPr lang="en-US" altLang="zh-CN" dirty="0"/>
              <a:t>locator locator-name [ ipv6-prefix ipv6-address prefix-length [ static static-length | </a:t>
            </a:r>
            <a:r>
              <a:rPr lang="en-US" altLang="zh-CN" dirty="0" err="1"/>
              <a:t>args</a:t>
            </a:r>
            <a:r>
              <a:rPr lang="en-US" altLang="zh-CN" dirty="0"/>
              <a:t> </a:t>
            </a:r>
            <a:r>
              <a:rPr lang="en-US" altLang="zh-CN" dirty="0" err="1"/>
              <a:t>args</a:t>
            </a:r>
            <a:r>
              <a:rPr lang="en-US" altLang="zh-CN" dirty="0"/>
              <a:t>-length ] * ]</a:t>
            </a:r>
            <a:r>
              <a:rPr lang="zh-CN" altLang="en-US" dirty="0"/>
              <a:t>命令定义的静态段范围内。</a:t>
            </a:r>
            <a:endParaRPr lang="zh-CN" altLang="en-US" dirty="0"/>
          </a:p>
          <a:p>
            <a:pPr marL="588645" lvl="1" indent="-228600">
              <a:buFont typeface="+mj-lt"/>
              <a:buAutoNum type="arabicPeriod"/>
            </a:pPr>
            <a:r>
              <a:rPr lang="zh-CN" altLang="en-US" dirty="0"/>
              <a:t>执行命令</a:t>
            </a:r>
            <a:r>
              <a:rPr lang="en-US" altLang="zh-CN" dirty="0"/>
              <a:t>candidate-path preference </a:t>
            </a:r>
            <a:r>
              <a:rPr lang="en-US" altLang="zh-CN" dirty="0" err="1"/>
              <a:t>preference</a:t>
            </a:r>
            <a:r>
              <a:rPr lang="zh-CN" altLang="en-US" dirty="0"/>
              <a:t>，配置</a:t>
            </a:r>
            <a:r>
              <a:rPr lang="en-US" altLang="zh-CN" dirty="0"/>
              <a:t>SRv6 Policy</a:t>
            </a:r>
            <a:r>
              <a:rPr lang="zh-CN" altLang="en-US" dirty="0"/>
              <a:t>的候选路径及其优先级。</a:t>
            </a:r>
            <a:endParaRPr lang="zh-CN" altLang="en-US" dirty="0"/>
          </a:p>
          <a:p>
            <a:pPr marL="899795" lvl="2" indent="-179705"/>
            <a:r>
              <a:rPr lang="zh-CN" altLang="en-US" dirty="0"/>
              <a:t>每一个</a:t>
            </a:r>
            <a:r>
              <a:rPr lang="en-US" altLang="zh-CN" dirty="0"/>
              <a:t>SRv6 Policy</a:t>
            </a:r>
            <a:r>
              <a:rPr lang="zh-CN" altLang="en-US" dirty="0"/>
              <a:t>允许配置多个候选路径。</a:t>
            </a:r>
            <a:r>
              <a:rPr lang="en-US" altLang="zh-CN" dirty="0"/>
              <a:t>preference</a:t>
            </a:r>
            <a:r>
              <a:rPr lang="zh-CN" altLang="en-US" dirty="0"/>
              <a:t>越大，候选路径优先级越高，存在多个候选路径时，优先级最高的生效。</a:t>
            </a:r>
            <a:endParaRPr lang="zh-CN" altLang="en-US" dirty="0"/>
          </a:p>
          <a:p>
            <a:pPr marL="588645" lvl="1" indent="-228600">
              <a:buFont typeface="+mj-lt"/>
              <a:buAutoNum type="arabicPeriod"/>
            </a:pPr>
            <a:r>
              <a:rPr lang="zh-CN" altLang="en-US" dirty="0"/>
              <a:t>执行命令</a:t>
            </a:r>
            <a:r>
              <a:rPr lang="en-US" altLang="zh-CN" dirty="0"/>
              <a:t>segment-list list-name [ weight weight-value | path-</a:t>
            </a:r>
            <a:r>
              <a:rPr lang="en-US" altLang="zh-CN" dirty="0" err="1"/>
              <a:t>mtu</a:t>
            </a:r>
            <a:r>
              <a:rPr lang="en-US" altLang="zh-CN" dirty="0"/>
              <a:t> </a:t>
            </a:r>
            <a:r>
              <a:rPr lang="en-US" altLang="zh-CN" dirty="0" err="1"/>
              <a:t>mtu</a:t>
            </a:r>
            <a:r>
              <a:rPr lang="en-US" altLang="zh-CN" dirty="0"/>
              <a:t>-value ] *</a:t>
            </a:r>
            <a:r>
              <a:rPr lang="zh-CN" altLang="en-US" dirty="0"/>
              <a:t>，配置</a:t>
            </a:r>
            <a:r>
              <a:rPr lang="en-US" altLang="zh-CN" dirty="0"/>
              <a:t>SRv6 Policy</a:t>
            </a:r>
            <a:r>
              <a:rPr lang="zh-CN" altLang="en-US" dirty="0"/>
              <a:t>候选路径的</a:t>
            </a:r>
            <a:r>
              <a:rPr lang="en-US" altLang="zh-CN" dirty="0"/>
              <a:t>Segment List</a:t>
            </a:r>
            <a:r>
              <a:rPr lang="zh-CN" altLang="en-US" dirty="0"/>
              <a:t>。</a:t>
            </a:r>
            <a:endParaRPr lang="zh-CN" altLang="en-US" dirty="0"/>
          </a:p>
          <a:p>
            <a:pPr marL="899795" lvl="2" indent="-179705"/>
            <a:r>
              <a:rPr lang="en-US" altLang="zh-CN" dirty="0"/>
              <a:t>Segment List</a:t>
            </a:r>
            <a:r>
              <a:rPr lang="zh-CN" altLang="en-US" dirty="0"/>
              <a:t>需要提前通过</a:t>
            </a:r>
            <a:r>
              <a:rPr lang="en-US" altLang="zh-CN" dirty="0"/>
              <a:t>segment-list (Segment-routing IPv6 view)</a:t>
            </a:r>
            <a:r>
              <a:rPr lang="zh-CN" altLang="en-US" dirty="0"/>
              <a:t>命令创建。</a:t>
            </a:r>
            <a:endParaRPr lang="zh-CN" altLang="en-US" dirty="0"/>
          </a:p>
          <a:p>
            <a:pPr marL="588645" lvl="1" indent="-228600">
              <a:buFont typeface="+mj-lt"/>
              <a:buAutoNum type="arabicPeriod"/>
            </a:pPr>
            <a:r>
              <a:rPr lang="zh-CN" altLang="en-US" dirty="0"/>
              <a:t>执行命令</a:t>
            </a:r>
            <a:r>
              <a:rPr lang="en-US" altLang="zh-CN" dirty="0"/>
              <a:t>commit</a:t>
            </a:r>
            <a:r>
              <a:rPr lang="zh-CN" altLang="en-US" dirty="0"/>
              <a:t>，提交配置。</a:t>
            </a:r>
            <a:endParaRPr lang="zh-CN" altLang="en-US" dirty="0"/>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pPr marL="179705" marR="0" lvl="0" indent="-179705" algn="l" defTabSz="1219200" rtl="0" eaLnBrk="1" fontAlgn="ctr" latinLnBrk="0" hangingPunct="1">
              <a:lnSpc>
                <a:spcPct val="125000"/>
              </a:lnSpc>
              <a:spcBef>
                <a:spcPts val="0"/>
              </a:spcBef>
              <a:spcAft>
                <a:spcPts val="600"/>
              </a:spcAft>
              <a:buClrTx/>
              <a:buSzTx/>
              <a:buFont typeface="Huawei Sans" panose="020C0503030203020204" pitchFamily="34" charset="0"/>
              <a:buChar char="•"/>
              <a:defRPr/>
            </a:pPr>
            <a:r>
              <a:rPr lang="en-US" altLang="zh-CN" sz="1100" dirty="0">
                <a:latin typeface="Huawei Sans" panose="020C0503030203020204" pitchFamily="34" charset="0"/>
                <a:ea typeface="方正兰亭黑简体" panose="02000000000000000000" pitchFamily="2" charset="-122"/>
                <a:sym typeface="Huawei Sans" panose="020C0503030203020204" pitchFamily="34" charset="0"/>
              </a:rPr>
              <a:t>segment-routing ipv6 traffic-engineer </a:t>
            </a:r>
            <a:r>
              <a:rPr lang="en-US" altLang="zh-CN" sz="1100" b="1" dirty="0">
                <a:latin typeface="Huawei Sans" panose="020C0503030203020204" pitchFamily="34" charset="0"/>
                <a:ea typeface="方正兰亭黑简体" panose="02000000000000000000" pitchFamily="2" charset="-122"/>
                <a:sym typeface="Huawei Sans" panose="020C0503030203020204" pitchFamily="34" charset="0"/>
              </a:rPr>
              <a:t>best-effort </a:t>
            </a:r>
            <a:r>
              <a:rPr lang="en-US" altLang="zh-CN" sz="1100" dirty="0">
                <a:latin typeface="Huawei Sans" panose="020C0503030203020204" pitchFamily="34" charset="0"/>
                <a:ea typeface="方正兰亭黑简体" panose="02000000000000000000" pitchFamily="2" charset="-122"/>
                <a:sym typeface="Huawei Sans" panose="020C0503030203020204" pitchFamily="34" charset="0"/>
              </a:rPr>
              <a:t>  //</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当网络中存在</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SRv6</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 </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BE</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路径时，可以配置</a:t>
            </a:r>
            <a:r>
              <a:rPr lang="en-US" altLang="zh-CN" sz="1100" b="1" i="0" kern="1200" baseline="0" dirty="0">
                <a:solidFill>
                  <a:schemeClr val="tx1"/>
                </a:solidFill>
                <a:effectLst/>
                <a:latin typeface="Huawei Sans" panose="020C0503030203020204" pitchFamily="34" charset="0"/>
                <a:ea typeface="方正兰亭黑简体" panose="02000000000000000000" pitchFamily="2" charset="-122"/>
                <a:cs typeface="+mn-cs"/>
              </a:rPr>
              <a:t>best-effort</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参数，这样当</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SRv6</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 </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Policy</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故障时业务可以使用</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SRv6</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 </a:t>
            </a:r>
            <a:r>
              <a:rPr lang="en-US" altLang="zh-CN" sz="1100" b="0" i="0" kern="1200" baseline="0" dirty="0">
                <a:solidFill>
                  <a:schemeClr val="tx1"/>
                </a:solidFill>
                <a:effectLst/>
                <a:latin typeface="Huawei Sans" panose="020C0503030203020204" pitchFamily="34" charset="0"/>
                <a:ea typeface="方正兰亭黑简体" panose="02000000000000000000" pitchFamily="2" charset="-122"/>
                <a:cs typeface="+mn-cs"/>
              </a:rPr>
              <a:t>BE</a:t>
            </a:r>
            <a:r>
              <a:rPr lang="zh-CN" altLang="en-US" sz="1100" b="0" i="0" kern="1200" baseline="0" dirty="0">
                <a:solidFill>
                  <a:schemeClr val="tx1"/>
                </a:solidFill>
                <a:effectLst/>
                <a:latin typeface="Huawei Sans" panose="020C0503030203020204" pitchFamily="34" charset="0"/>
                <a:ea typeface="方正兰亭黑简体" panose="02000000000000000000" pitchFamily="2" charset="-122"/>
                <a:cs typeface="+mn-cs"/>
              </a:rPr>
              <a:t>路径作为逃生路径。</a:t>
            </a:r>
            <a:endParaRPr lang="zh-CN" altLang="en-US" dirty="0"/>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2950" y="717550"/>
            <a:ext cx="5557838" cy="3125788"/>
          </a:xfrm>
        </p:spPr>
      </p:sp>
      <p:sp>
        <p:nvSpPr>
          <p:cNvPr id="3" name="Notes Placeholder 2"/>
          <p:cNvSpPr>
            <a:spLocks noGrp="1"/>
          </p:cNvSpPr>
          <p:nvPr>
            <p:ph type="body" idx="1"/>
          </p:nvPr>
        </p:nvSpPr>
        <p:spPr/>
        <p:txBody>
          <a:bodyPr/>
          <a:lstStyle/>
          <a:p>
            <a:r>
              <a:rPr lang="en-US" altLang="zh-CN" dirty="0"/>
              <a:t>IGP</a:t>
            </a:r>
            <a:r>
              <a:rPr lang="zh-CN" altLang="en-US" dirty="0"/>
              <a:t>：路由器生成网络拓扑信息，例如带宽，时延，</a:t>
            </a:r>
            <a:r>
              <a:rPr lang="en-US" altLang="zh-CN" dirty="0"/>
              <a:t>SID</a:t>
            </a:r>
            <a:r>
              <a:rPr lang="zh-CN" altLang="en-US" dirty="0"/>
              <a:t>等信息。</a:t>
            </a:r>
            <a:endParaRPr lang="zh-CN" altLang="en-US" dirty="0"/>
          </a:p>
          <a:p>
            <a:r>
              <a:rPr lang="en-US" altLang="zh-CN" dirty="0"/>
              <a:t>BGP-LS</a:t>
            </a:r>
            <a:r>
              <a:rPr lang="zh-CN" altLang="en-US" dirty="0"/>
              <a:t>：拓扑信息收集，并向控制器通告。在网络中存在</a:t>
            </a:r>
            <a:r>
              <a:rPr lang="en-US" altLang="zh-CN" dirty="0"/>
              <a:t>RR</a:t>
            </a:r>
            <a:r>
              <a:rPr lang="zh-CN" altLang="en-US" dirty="0"/>
              <a:t>的情况下，可以仅在</a:t>
            </a:r>
            <a:r>
              <a:rPr lang="en-US" altLang="zh-CN" dirty="0"/>
              <a:t>RR</a:t>
            </a:r>
            <a:r>
              <a:rPr lang="zh-CN" altLang="en-US" dirty="0"/>
              <a:t>设备上部署</a:t>
            </a:r>
            <a:r>
              <a:rPr lang="en-US" altLang="zh-CN" dirty="0"/>
              <a:t>BGP-LS</a:t>
            </a:r>
            <a:r>
              <a:rPr lang="zh-CN" altLang="en-US" dirty="0"/>
              <a:t>，并和控制器建立邻居关系。</a:t>
            </a:r>
            <a:endParaRPr lang="zh-CN" altLang="en-US" dirty="0"/>
          </a:p>
          <a:p>
            <a:r>
              <a:rPr lang="en-US" altLang="zh-CN" dirty="0"/>
              <a:t>BGP IPv6</a:t>
            </a:r>
            <a:r>
              <a:rPr lang="en-US" altLang="zh-CN" baseline="0" dirty="0"/>
              <a:t> </a:t>
            </a:r>
            <a:r>
              <a:rPr lang="en-US" altLang="zh-CN" dirty="0"/>
              <a:t>SR Policy</a:t>
            </a:r>
            <a:r>
              <a:rPr lang="zh-CN" altLang="en-US" dirty="0"/>
              <a:t>：控制器和转发器建立</a:t>
            </a:r>
            <a:r>
              <a:rPr lang="en-US" altLang="zh-CN" dirty="0"/>
              <a:t>BGP IPv6 SR Policy</a:t>
            </a:r>
            <a:r>
              <a:rPr lang="zh-CN" altLang="en-US" dirty="0"/>
              <a:t>的邻居关系，控制器通过</a:t>
            </a:r>
            <a:r>
              <a:rPr lang="en-US" altLang="zh-CN" dirty="0"/>
              <a:t>BGP</a:t>
            </a:r>
            <a:r>
              <a:rPr lang="zh-CN" altLang="en-US" dirty="0"/>
              <a:t>邻居下发</a:t>
            </a:r>
            <a:r>
              <a:rPr lang="en-US" altLang="zh-CN" dirty="0"/>
              <a:t>SRv6 Policy</a:t>
            </a:r>
            <a:r>
              <a:rPr lang="zh-CN" altLang="en-US" dirty="0"/>
              <a:t>指导转发器进行转发。为简化邻居关系的数量，可部署</a:t>
            </a:r>
            <a:r>
              <a:rPr lang="en-US" altLang="zh-CN" dirty="0"/>
              <a:t>RR</a:t>
            </a:r>
            <a:r>
              <a:rPr lang="zh-CN" altLang="en-US" dirty="0"/>
              <a:t>，</a:t>
            </a:r>
            <a:r>
              <a:rPr lang="en-US" altLang="zh-CN" dirty="0"/>
              <a:t>PE</a:t>
            </a:r>
            <a:r>
              <a:rPr lang="zh-CN" altLang="en-US" dirty="0"/>
              <a:t>和控制器均作为</a:t>
            </a:r>
            <a:r>
              <a:rPr lang="en-US" altLang="zh-CN" dirty="0"/>
              <a:t>RR</a:t>
            </a:r>
            <a:r>
              <a:rPr lang="zh-CN" altLang="en-US" dirty="0"/>
              <a:t>的客户端。</a:t>
            </a:r>
            <a:endParaRPr lang="en-US" altLang="zh-CN" dirty="0"/>
          </a:p>
          <a:p>
            <a:pPr marL="179705" marR="0" lvl="0" indent="-179705" algn="l" defTabSz="1219200" rtl="0" eaLnBrk="1" fontAlgn="ctr" latinLnBrk="0" hangingPunct="1">
              <a:lnSpc>
                <a:spcPct val="125000"/>
              </a:lnSpc>
              <a:spcBef>
                <a:spcPts val="0"/>
              </a:spcBef>
              <a:spcAft>
                <a:spcPts val="600"/>
              </a:spcAft>
              <a:buClrTx/>
              <a:buSzTx/>
              <a:buFont typeface="Huawei Sans" panose="020C0503030203020204" pitchFamily="34" charset="0"/>
              <a:buChar char="•"/>
              <a:defRPr/>
            </a:pPr>
            <a:r>
              <a:rPr lang="en-US" altLang="zh-CN" dirty="0"/>
              <a:t>NETCONF</a:t>
            </a:r>
            <a:r>
              <a:rPr lang="zh-CN" altLang="en-US" dirty="0"/>
              <a:t>：控制器将业务配置信息下发给转发器。本文对于业务下发不做描述，不会讲解</a:t>
            </a:r>
            <a:r>
              <a:rPr lang="en-US" altLang="zh-CN" dirty="0"/>
              <a:t>NETCONF</a:t>
            </a:r>
            <a:r>
              <a:rPr lang="zh-CN" altLang="en-US" dirty="0"/>
              <a:t>相关配置。</a:t>
            </a:r>
            <a:endParaRPr lang="zh-CN" altLang="en-US" dirty="0"/>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2950" y="717550"/>
            <a:ext cx="5557838" cy="3125788"/>
          </a:xfrm>
        </p:spPr>
      </p:sp>
      <p:sp>
        <p:nvSpPr>
          <p:cNvPr id="3" name="Notes Placeholder 2"/>
          <p:cNvSpPr>
            <a:spLocks noGrp="1"/>
          </p:cNvSpPr>
          <p:nvPr>
            <p:ph type="body" idx="1"/>
          </p:nvPr>
        </p:nvSpPr>
        <p:spPr/>
        <p:txBody>
          <a:bodyPr/>
          <a:lstStyle/>
          <a:p>
            <a:r>
              <a:rPr lang="en-US" altLang="zh-CN" dirty="0" err="1"/>
              <a:t>iMaster</a:t>
            </a:r>
            <a:r>
              <a:rPr lang="en-US" altLang="zh-CN" baseline="0" dirty="0"/>
              <a:t> NCE-IP</a:t>
            </a:r>
            <a:r>
              <a:rPr lang="zh-CN" altLang="en-US" dirty="0"/>
              <a:t>通过如下步骤规划并部署转发路径：</a:t>
            </a:r>
            <a:endParaRPr lang="zh-CN" altLang="en-US" dirty="0"/>
          </a:p>
          <a:p>
            <a:pPr lvl="1"/>
            <a:r>
              <a:rPr lang="zh-CN" altLang="en-US" dirty="0"/>
              <a:t>设备通过</a:t>
            </a:r>
            <a:r>
              <a:rPr lang="en-US" altLang="zh-CN" dirty="0"/>
              <a:t>BGP-LS</a:t>
            </a:r>
            <a:r>
              <a:rPr lang="zh-CN" altLang="en-US" dirty="0"/>
              <a:t>协议将网络拓扑上报给控制器，控制器基于需求形成转发路径。</a:t>
            </a:r>
            <a:endParaRPr lang="zh-CN" altLang="en-US" dirty="0"/>
          </a:p>
          <a:p>
            <a:pPr lvl="1"/>
            <a:r>
              <a:rPr lang="zh-CN" altLang="en-US" dirty="0"/>
              <a:t>控制器通过</a:t>
            </a:r>
            <a:r>
              <a:rPr lang="en-US" altLang="zh-CN" dirty="0"/>
              <a:t>BGP IPv6 SR</a:t>
            </a:r>
            <a:r>
              <a:rPr lang="en-US" altLang="zh-CN" baseline="0" dirty="0"/>
              <a:t> </a:t>
            </a:r>
            <a:r>
              <a:rPr lang="en-US" altLang="zh-CN" dirty="0"/>
              <a:t>Policy</a:t>
            </a:r>
            <a:r>
              <a:rPr lang="zh-CN" altLang="en-US" dirty="0"/>
              <a:t>技术将计算出的路径下发给设备。</a:t>
            </a:r>
            <a:endParaRPr lang="zh-CN" altLang="en-US" dirty="0"/>
          </a:p>
          <a:p>
            <a:pPr lvl="1"/>
            <a:r>
              <a:rPr lang="zh-CN" altLang="en-US" dirty="0"/>
              <a:t>相关流量根据路径转发数据。</a:t>
            </a:r>
            <a:endParaRPr lang="zh-CN" altLang="en-US" dirty="0"/>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2950" y="717550"/>
            <a:ext cx="5557838" cy="3125788"/>
          </a:xfrm>
        </p:spPr>
      </p:sp>
      <p:sp>
        <p:nvSpPr>
          <p:cNvPr id="3" name="Notes Placeholder 2"/>
          <p:cNvSpPr>
            <a:spLocks noGrp="1"/>
          </p:cNvSpPr>
          <p:nvPr>
            <p:ph type="body" idx="1"/>
          </p:nvPr>
        </p:nvSpPr>
        <p:spPr/>
        <p:txBody>
          <a:bodyPr/>
          <a:lstStyle/>
          <a:p>
            <a:endParaRPr lang="zh-CN" altLang="en-US" dirty="0"/>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2950" y="717550"/>
            <a:ext cx="5557838" cy="3125788"/>
          </a:xfrm>
        </p:spPr>
      </p:sp>
      <p:sp>
        <p:nvSpPr>
          <p:cNvPr id="3" name="Notes Placeholder 2"/>
          <p:cNvSpPr>
            <a:spLocks noGrp="1"/>
          </p:cNvSpPr>
          <p:nvPr>
            <p:ph type="body" idx="1"/>
          </p:nvPr>
        </p:nvSpPr>
        <p:spPr/>
        <p:txBody>
          <a:bodyPr/>
          <a:lstStyle/>
          <a:p>
            <a:endParaRPr lang="zh-CN" altLang="en-US"/>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2950" y="717550"/>
            <a:ext cx="5557838" cy="3125788"/>
          </a:xfrm>
        </p:spPr>
      </p:sp>
      <p:sp>
        <p:nvSpPr>
          <p:cNvPr id="3" name="Notes Placeholder 2"/>
          <p:cNvSpPr>
            <a:spLocks noGrp="1"/>
          </p:cNvSpPr>
          <p:nvPr>
            <p:ph type="body" idx="1"/>
          </p:nvPr>
        </p:nvSpPr>
        <p:spPr/>
        <p:txBody>
          <a:bodyPr/>
          <a:lstStyle/>
          <a:p>
            <a:endParaRPr lang="zh-CN" altLang="en-US" dirty="0"/>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2950" y="717550"/>
            <a:ext cx="5557838" cy="3125788"/>
          </a:xfrm>
        </p:spPr>
      </p:sp>
      <p:sp>
        <p:nvSpPr>
          <p:cNvPr id="3" name="Notes Placeholder 2"/>
          <p:cNvSpPr>
            <a:spLocks noGrp="1"/>
          </p:cNvSpPr>
          <p:nvPr>
            <p:ph type="body" idx="1"/>
          </p:nvPr>
        </p:nvSpPr>
        <p:spPr/>
        <p:txBody>
          <a:bodyPr/>
          <a:lstStyle/>
          <a:p>
            <a:pPr marL="179705" marR="0" lvl="0" indent="-179705" algn="l" defTabSz="1219200" rtl="0" eaLnBrk="1" fontAlgn="ctr" latinLnBrk="0" hangingPunct="1">
              <a:lnSpc>
                <a:spcPct val="125000"/>
              </a:lnSpc>
              <a:spcBef>
                <a:spcPts val="0"/>
              </a:spcBef>
              <a:spcAft>
                <a:spcPts val="600"/>
              </a:spcAft>
              <a:buClrTx/>
              <a:buSzTx/>
              <a:buFont typeface="Huawei Sans" panose="020C0503030203020204" pitchFamily="34" charset="0"/>
              <a:buChar char="•"/>
              <a:defRPr/>
            </a:pPr>
            <a:r>
              <a:rPr lang="en-US" altLang="zh-CN" dirty="0"/>
              <a:t>BGP-LS</a:t>
            </a:r>
            <a:r>
              <a:rPr lang="zh-CN" altLang="en-US" dirty="0"/>
              <a:t>邻居可使用</a:t>
            </a:r>
            <a:r>
              <a:rPr lang="en-US" altLang="zh-CN" dirty="0"/>
              <a:t>IPv4</a:t>
            </a:r>
            <a:r>
              <a:rPr lang="zh-CN" altLang="en-US" dirty="0"/>
              <a:t>或</a:t>
            </a:r>
            <a:r>
              <a:rPr lang="en-US" altLang="zh-CN" dirty="0"/>
              <a:t>IPv6</a:t>
            </a:r>
            <a:r>
              <a:rPr lang="zh-CN" altLang="en-US" dirty="0"/>
              <a:t>地址建立，本课程主要使用</a:t>
            </a:r>
            <a:r>
              <a:rPr lang="en-US" altLang="zh-CN" dirty="0"/>
              <a:t>IPv6</a:t>
            </a:r>
            <a:r>
              <a:rPr lang="zh-CN" altLang="en-US" dirty="0"/>
              <a:t>地址建立</a:t>
            </a:r>
            <a:r>
              <a:rPr lang="en-US" altLang="zh-CN" dirty="0"/>
              <a:t>BGP-LS</a:t>
            </a:r>
            <a:r>
              <a:rPr lang="zh-CN" altLang="en-US" dirty="0"/>
              <a:t>邻居关系。</a:t>
            </a:r>
            <a:endParaRPr lang="zh-CN" altLang="en-US" dirty="0"/>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2950" y="717550"/>
            <a:ext cx="5557838" cy="3125788"/>
          </a:xfrm>
        </p:spPr>
      </p:sp>
      <p:sp>
        <p:nvSpPr>
          <p:cNvPr id="3" name="Notes Placeholder 2"/>
          <p:cNvSpPr>
            <a:spLocks noGrp="1"/>
          </p:cNvSpPr>
          <p:nvPr>
            <p:ph type="body" idx="1"/>
          </p:nvPr>
        </p:nvSpPr>
        <p:spPr/>
        <p:txBody>
          <a:bodyPr/>
          <a:lstStyle/>
          <a:p>
            <a:r>
              <a:rPr lang="zh-CN" altLang="en-US" dirty="0"/>
              <a:t>可选约束条件：</a:t>
            </a:r>
            <a:endParaRPr lang="zh-CN" altLang="en-US" dirty="0"/>
          </a:p>
          <a:p>
            <a:pPr lvl="1"/>
            <a:r>
              <a:rPr lang="zh-CN" altLang="en-US" dirty="0"/>
              <a:t>带宽约束：保证用户配置的业务带宽不超过途经链路的剩余带宽。</a:t>
            </a:r>
            <a:endParaRPr lang="zh-CN" altLang="en-US" dirty="0"/>
          </a:p>
          <a:p>
            <a:pPr lvl="1"/>
            <a:r>
              <a:rPr lang="en-US" altLang="zh-CN" dirty="0"/>
              <a:t>PIR</a:t>
            </a:r>
            <a:r>
              <a:rPr lang="zh-CN" altLang="en-US" dirty="0"/>
              <a:t>约束：</a:t>
            </a:r>
            <a:r>
              <a:rPr lang="en-US" altLang="zh-CN" dirty="0"/>
              <a:t>PIR</a:t>
            </a:r>
            <a:r>
              <a:rPr lang="zh-CN" altLang="en-US" dirty="0"/>
              <a:t>指的是业务的峰值带宽，</a:t>
            </a:r>
            <a:r>
              <a:rPr lang="en-US" altLang="zh-CN" dirty="0"/>
              <a:t>PIR</a:t>
            </a:r>
            <a:r>
              <a:rPr lang="zh-CN" altLang="en-US" dirty="0"/>
              <a:t>约束要求峰值带宽不超过途经链路的</a:t>
            </a:r>
            <a:r>
              <a:rPr lang="en-US" altLang="zh-CN" dirty="0"/>
              <a:t>BC0</a:t>
            </a:r>
            <a:r>
              <a:rPr lang="zh-CN" altLang="en-US" dirty="0"/>
              <a:t>带宽。</a:t>
            </a:r>
            <a:endParaRPr lang="zh-CN" altLang="en-US" dirty="0"/>
          </a:p>
          <a:p>
            <a:pPr lvl="1"/>
            <a:r>
              <a:rPr lang="en-US" altLang="zh-CN" dirty="0"/>
              <a:t>Delay limit</a:t>
            </a:r>
            <a:r>
              <a:rPr lang="zh-CN" altLang="en-US" dirty="0"/>
              <a:t>：保证业务的路径时延不超过用户配置的</a:t>
            </a:r>
            <a:r>
              <a:rPr lang="en-US" altLang="zh-CN" dirty="0"/>
              <a:t>delay limit</a:t>
            </a:r>
            <a:r>
              <a:rPr lang="zh-CN" altLang="en-US" dirty="0"/>
              <a:t>。</a:t>
            </a:r>
            <a:endParaRPr lang="zh-CN" altLang="en-US" dirty="0"/>
          </a:p>
          <a:p>
            <a:pPr lvl="1"/>
            <a:r>
              <a:rPr lang="en-US" altLang="zh-CN" dirty="0"/>
              <a:t>Hop limit</a:t>
            </a:r>
            <a:r>
              <a:rPr lang="zh-CN" altLang="en-US" dirty="0"/>
              <a:t>：保证业务经过的链路数目不超过用户配置的</a:t>
            </a:r>
            <a:r>
              <a:rPr lang="en-US" altLang="zh-CN" dirty="0"/>
              <a:t>Hop limit</a:t>
            </a:r>
            <a:r>
              <a:rPr lang="zh-CN" altLang="en-US" dirty="0"/>
              <a:t>。</a:t>
            </a:r>
            <a:endParaRPr lang="zh-CN" altLang="en-US" dirty="0"/>
          </a:p>
          <a:p>
            <a:pPr lvl="1"/>
            <a:r>
              <a:rPr lang="zh-CN" altLang="en-US" dirty="0"/>
              <a:t>亲和属性约束：亲和属性约束可以用来规划业务允许走哪类链路、不允许走哪类链路。</a:t>
            </a:r>
            <a:endParaRPr lang="zh-CN" altLang="en-US" dirty="0"/>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2950" y="717550"/>
            <a:ext cx="5557838" cy="3125788"/>
          </a:xfrm>
        </p:spPr>
      </p:sp>
      <p:sp>
        <p:nvSpPr>
          <p:cNvPr id="3" name="Notes Placeholder 2"/>
          <p:cNvSpPr>
            <a:spLocks noGrp="1"/>
          </p:cNvSpPr>
          <p:nvPr>
            <p:ph type="body" idx="1"/>
          </p:nvPr>
        </p:nvSpPr>
        <p:spPr/>
        <p:txBody>
          <a:bodyPr/>
          <a:lstStyle/>
          <a:p>
            <a:endParaRPr lang="zh-CN" altLang="en-US" dirty="0"/>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2950" y="717550"/>
            <a:ext cx="5557838" cy="3125788"/>
          </a:xfrm>
        </p:spPr>
      </p:sp>
      <p:sp>
        <p:nvSpPr>
          <p:cNvPr id="3" name="Notes Placeholder 2"/>
          <p:cNvSpPr>
            <a:spLocks noGrp="1"/>
          </p:cNvSpPr>
          <p:nvPr>
            <p:ph type="body" idx="1"/>
          </p:nvPr>
        </p:nvSpPr>
        <p:spPr/>
        <p:txBody>
          <a:bodyPr/>
          <a:lstStyle/>
          <a:p>
            <a:pPr marL="179705" marR="0" lvl="0" indent="-179705" algn="l" defTabSz="1219200" rtl="0" eaLnBrk="1" fontAlgn="ctr" latinLnBrk="0" hangingPunct="1">
              <a:lnSpc>
                <a:spcPct val="125000"/>
              </a:lnSpc>
              <a:spcBef>
                <a:spcPts val="0"/>
              </a:spcBef>
              <a:spcAft>
                <a:spcPts val="600"/>
              </a:spcAft>
              <a:buClrTx/>
              <a:buSzTx/>
              <a:buFont typeface="Huawei Sans" panose="020C0503030203020204" pitchFamily="34" charset="0"/>
              <a:buChar char="•"/>
              <a:defRPr/>
            </a:pPr>
            <a:r>
              <a:rPr lang="en-US" altLang="zh-CN" dirty="0"/>
              <a:t>BGP</a:t>
            </a:r>
            <a:r>
              <a:rPr lang="en-US" altLang="zh-CN" baseline="0" dirty="0"/>
              <a:t> IPv6 SR Policy</a:t>
            </a:r>
            <a:r>
              <a:rPr lang="zh-CN" altLang="en-US" dirty="0"/>
              <a:t>邻居可使用</a:t>
            </a:r>
            <a:r>
              <a:rPr lang="en-US" altLang="zh-CN" dirty="0"/>
              <a:t>IPv4</a:t>
            </a:r>
            <a:r>
              <a:rPr lang="zh-CN" altLang="en-US" dirty="0"/>
              <a:t>或</a:t>
            </a:r>
            <a:r>
              <a:rPr lang="en-US" altLang="zh-CN" dirty="0"/>
              <a:t>IPv6</a:t>
            </a:r>
            <a:r>
              <a:rPr lang="zh-CN" altLang="en-US" dirty="0"/>
              <a:t>地址建立，本课程主要使用</a:t>
            </a:r>
            <a:r>
              <a:rPr lang="en-US" altLang="zh-CN" dirty="0"/>
              <a:t>IPv6</a:t>
            </a:r>
            <a:r>
              <a:rPr lang="zh-CN" altLang="en-US" dirty="0"/>
              <a:t>地址建立</a:t>
            </a:r>
            <a:r>
              <a:rPr lang="en-US" altLang="zh-CN" dirty="0"/>
              <a:t>BGP</a:t>
            </a:r>
            <a:r>
              <a:rPr lang="en-US" altLang="zh-CN" baseline="0" dirty="0"/>
              <a:t> IPv6 SR Policy</a:t>
            </a:r>
            <a:r>
              <a:rPr lang="zh-CN" altLang="en-US" dirty="0"/>
              <a:t>邻居关系。</a:t>
            </a:r>
            <a:endParaRPr lang="zh-CN" altLang="en-US" dirty="0"/>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2950" y="717550"/>
            <a:ext cx="5557838" cy="3125788"/>
          </a:xfrm>
        </p:spPr>
      </p:sp>
      <p:sp>
        <p:nvSpPr>
          <p:cNvPr id="3" name="Notes Placeholder 2"/>
          <p:cNvSpPr>
            <a:spLocks noGrp="1"/>
          </p:cNvSpPr>
          <p:nvPr>
            <p:ph type="body" idx="1"/>
          </p:nvPr>
        </p:nvSpPr>
        <p:spPr/>
        <p:txBody>
          <a:bodyPr/>
          <a:lstStyle/>
          <a:p>
            <a:endParaRPr lang="zh-CN" altLang="en-US"/>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2950" y="717550"/>
            <a:ext cx="5557838" cy="3125788"/>
          </a:xfrm>
        </p:spPr>
      </p:sp>
      <p:sp>
        <p:nvSpPr>
          <p:cNvPr id="3" name="Notes Placeholder 2"/>
          <p:cNvSpPr>
            <a:spLocks noGrp="1"/>
          </p:cNvSpPr>
          <p:nvPr>
            <p:ph type="body" idx="1"/>
          </p:nvPr>
        </p:nvSpPr>
        <p:spPr/>
        <p:txBody>
          <a:bodyPr/>
          <a:lstStyle/>
          <a:p>
            <a:endParaRPr lang="zh-CN" altLang="en-US"/>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marL="228600" indent="-228600">
              <a:buFont typeface="+mj-lt"/>
              <a:buAutoNum type="arabicPeriod"/>
            </a:pPr>
            <a:r>
              <a:rPr lang="zh-CN" altLang="en-US" dirty="0"/>
              <a:t>一个</a:t>
            </a:r>
            <a:r>
              <a:rPr lang="en-US" altLang="zh-CN" dirty="0"/>
              <a:t>SRv6 SID</a:t>
            </a:r>
            <a:r>
              <a:rPr lang="zh-CN" altLang="en-US" dirty="0"/>
              <a:t>有</a:t>
            </a:r>
            <a:r>
              <a:rPr lang="en-US" altLang="zh-CN" dirty="0"/>
              <a:t>128 bit</a:t>
            </a:r>
            <a:r>
              <a:rPr lang="zh-CN" altLang="en-US" dirty="0"/>
              <a:t>，由</a:t>
            </a:r>
            <a:r>
              <a:rPr lang="en-US" altLang="zh-CN" dirty="0"/>
              <a:t>Locator</a:t>
            </a:r>
            <a:r>
              <a:rPr lang="zh-CN" altLang="en-US" dirty="0"/>
              <a:t>、</a:t>
            </a:r>
            <a:r>
              <a:rPr lang="en-US" altLang="zh-CN" dirty="0"/>
              <a:t>Function</a:t>
            </a:r>
            <a:r>
              <a:rPr lang="zh-CN" altLang="en-US" dirty="0"/>
              <a:t>和</a:t>
            </a:r>
            <a:r>
              <a:rPr lang="en-US" altLang="zh-CN" dirty="0"/>
              <a:t>Arguments</a:t>
            </a:r>
            <a:r>
              <a:rPr lang="zh-CN" altLang="en-US" dirty="0"/>
              <a:t>组成。</a:t>
            </a:r>
            <a:endParaRPr lang="en-US" altLang="zh-CN" dirty="0"/>
          </a:p>
          <a:p>
            <a:pPr marL="228600" indent="-228600">
              <a:buFont typeface="+mj-lt"/>
              <a:buAutoNum type="arabicPeriod"/>
            </a:pPr>
            <a:r>
              <a:rPr lang="en-US" altLang="zh-CN" dirty="0"/>
              <a:t>End SID</a:t>
            </a:r>
            <a:r>
              <a:rPr lang="zh-CN" altLang="en-US" dirty="0"/>
              <a:t>和</a:t>
            </a:r>
            <a:r>
              <a:rPr lang="en-US" altLang="zh-CN" dirty="0" err="1"/>
              <a:t>End.X</a:t>
            </a:r>
            <a:r>
              <a:rPr lang="en-US" altLang="zh-CN" dirty="0"/>
              <a:t> SID</a:t>
            </a:r>
            <a:r>
              <a:rPr lang="zh-CN" altLang="en-US" dirty="0"/>
              <a:t>。</a:t>
            </a:r>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2#总标题">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21"/>
            <a:ext cx="12192000" cy="5602224"/>
          </a:xfrm>
          <a:prstGeom prst="rect">
            <a:avLst/>
          </a:prstGeom>
          <a:ln>
            <a:noFill/>
            <a:prstDash val="dash"/>
          </a:ln>
        </p:spPr>
      </p:pic>
      <p:sp>
        <p:nvSpPr>
          <p:cNvPr id="8" name="L 形 7"/>
          <p:cNvSpPr/>
          <p:nvPr userDrawn="1"/>
        </p:nvSpPr>
        <p:spPr>
          <a:xfrm rot="16200000" flipH="1">
            <a:off x="6634196" y="2578036"/>
            <a:ext cx="701032" cy="717656"/>
          </a:xfrm>
          <a:prstGeom prst="corner">
            <a:avLst>
              <a:gd name="adj1" fmla="val 3243"/>
              <a:gd name="adj2" fmla="val 3048"/>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900" baseline="0">
              <a:latin typeface="Huawei Sans" panose="020C0503030203020204" pitchFamily="34" charset="0"/>
              <a:ea typeface="方正兰亭黑简体" panose="02000000000000000000" pitchFamily="2" charset="-122"/>
            </a:endParaRPr>
          </a:p>
        </p:txBody>
      </p:sp>
      <p:sp>
        <p:nvSpPr>
          <p:cNvPr id="9" name="Title 1"/>
          <p:cNvSpPr>
            <a:spLocks noGrp="1"/>
          </p:cNvSpPr>
          <p:nvPr>
            <p:ph type="ctrTitle" hasCustomPrompt="1"/>
          </p:nvPr>
        </p:nvSpPr>
        <p:spPr>
          <a:xfrm>
            <a:off x="916560" y="907092"/>
            <a:ext cx="8125839" cy="690255"/>
          </a:xfrm>
          <a:prstGeom prst="rect">
            <a:avLst/>
          </a:prstGeom>
          <a:ln>
            <a:noFill/>
            <a:prstDash val="dash"/>
          </a:ln>
        </p:spPr>
        <p:txBody>
          <a:bodyPr lIns="0" tIns="0" rIns="0" bIns="0" anchor="t">
            <a:normAutofit/>
          </a:bodyPr>
          <a:lstStyle>
            <a:lvl1pPr>
              <a:defRPr lang="en-US" sz="3200" b="0" i="0" baseline="0" dirty="0">
                <a:latin typeface="Huawei Sans" panose="020C0503030203020204" pitchFamily="34" charset="0"/>
                <a:ea typeface="方正兰亭黑简体" panose="02000000000000000000" pitchFamily="2" charset="-122"/>
              </a:defRPr>
            </a:lvl1pPr>
          </a:lstStyle>
          <a:p>
            <a:pPr lvl="0" defTabSz="913765">
              <a:lnSpc>
                <a:spcPts val="3440"/>
              </a:lnSpc>
            </a:pPr>
            <a:r>
              <a:rPr lang="zh-CN" altLang="en-US" dirty="0"/>
              <a:t>单击此处添加标题</a:t>
            </a:r>
            <a:endParaRPr lang="en-US" dirty="0"/>
          </a:p>
        </p:txBody>
      </p:sp>
      <p:sp>
        <p:nvSpPr>
          <p:cNvPr id="10" name="Text Placeholder 5"/>
          <p:cNvSpPr>
            <a:spLocks noGrp="1"/>
          </p:cNvSpPr>
          <p:nvPr>
            <p:ph type="body" sz="quarter" idx="10" hasCustomPrompt="1"/>
          </p:nvPr>
        </p:nvSpPr>
        <p:spPr>
          <a:xfrm>
            <a:off x="916561" y="1949372"/>
            <a:ext cx="8125840" cy="643926"/>
          </a:xfrm>
          <a:prstGeom prst="rect">
            <a:avLst/>
          </a:prstGeom>
        </p:spPr>
        <p:txBody>
          <a:bodyPr vert="horz" lIns="0" tIns="0" rIns="0" bIns="0" rtlCol="0">
            <a:noAutofit/>
          </a:bodyPr>
          <a:lstStyle>
            <a:lvl1pPr marL="228600" indent="-228600" fontAlgn="base">
              <a:buNone/>
              <a:defRPr lang="en-US" sz="1400" baseline="0" dirty="0">
                <a:latin typeface="Huawei Sans" panose="020C0503030203020204" pitchFamily="34" charset="0"/>
                <a:ea typeface="方正兰亭黑简体" panose="02000000000000000000" pitchFamily="2" charset="-122"/>
                <a:cs typeface="Huawei Sans" panose="020C0503030203020204" pitchFamily="34" charset="0"/>
              </a:defRPr>
            </a:lvl1pPr>
          </a:lstStyle>
          <a:p>
            <a:pPr marL="0" lvl="0" indent="0">
              <a:lnSpc>
                <a:spcPct val="100000"/>
              </a:lnSpc>
              <a:spcBef>
                <a:spcPts val="0"/>
              </a:spcBef>
            </a:pPr>
            <a:r>
              <a:rPr lang="zh-CN" altLang="en-US" dirty="0"/>
              <a:t>单击此处添加文本</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1#修订记录">
    <p:spTree>
      <p:nvGrpSpPr>
        <p:cNvPr id="1" name=""/>
        <p:cNvGrpSpPr/>
        <p:nvPr/>
      </p:nvGrpSpPr>
      <p:grpSpPr>
        <a:xfrm>
          <a:off x="0" y="0"/>
          <a:ext cx="0" cy="0"/>
          <a:chOff x="0" y="0"/>
          <a:chExt cx="0" cy="0"/>
        </a:xfrm>
      </p:grpSpPr>
      <p:graphicFrame>
        <p:nvGraphicFramePr>
          <p:cNvPr id="3" name="Group 3"/>
          <p:cNvGraphicFramePr>
            <a:graphicFrameLocks noGrp="1"/>
          </p:cNvGraphicFramePr>
          <p:nvPr userDrawn="1"/>
        </p:nvGraphicFramePr>
        <p:xfrm>
          <a:off x="1007140" y="1398424"/>
          <a:ext cx="10194260" cy="1082675"/>
        </p:xfrm>
        <a:graphic>
          <a:graphicData uri="http://schemas.openxmlformats.org/drawingml/2006/table">
            <a:tbl>
              <a:tblPr/>
              <a:tblGrid>
                <a:gridCol w="3119031"/>
                <a:gridCol w="1967450"/>
                <a:gridCol w="3023155"/>
                <a:gridCol w="2084624"/>
              </a:tblGrid>
              <a:tr h="5778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课程编码</a:t>
                      </a:r>
                      <a:endPar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2659" marR="102659" marT="40053" marB="4005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适用产品</a:t>
                      </a:r>
                      <a:endPar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产品版本</a:t>
                      </a:r>
                      <a:endPar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课程版本</a:t>
                      </a:r>
                      <a:endParaRPr kumimoji="1" lang="en-US"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2659" marR="102659" marT="40053" marB="4005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04825">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4" name="Group 21"/>
          <p:cNvGraphicFramePr>
            <a:graphicFrameLocks noGrp="1"/>
          </p:cNvGraphicFramePr>
          <p:nvPr userDrawn="1"/>
        </p:nvGraphicFramePr>
        <p:xfrm>
          <a:off x="1007140" y="2920836"/>
          <a:ext cx="10177327" cy="2549525"/>
        </p:xfrm>
        <a:graphic>
          <a:graphicData uri="http://schemas.openxmlformats.org/drawingml/2006/table">
            <a:tbl>
              <a:tblPr/>
              <a:tblGrid>
                <a:gridCol w="3119030"/>
                <a:gridCol w="1967450"/>
                <a:gridCol w="3023155"/>
                <a:gridCol w="2067692"/>
              </a:tblGrid>
              <a:tr h="5778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作者</a:t>
                      </a:r>
                      <a:r>
                        <a:rPr kumimoji="1" lang="en-US"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a:t>
                      </a: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工号</a:t>
                      </a:r>
                      <a:endPar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2659" marR="102659" marT="40053" marB="4005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时间</a:t>
                      </a:r>
                      <a:endPar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审核人</a:t>
                      </a:r>
                      <a:r>
                        <a:rPr kumimoji="1" lang="en-US"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a:t>
                      </a: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工号</a:t>
                      </a:r>
                      <a:endPar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r>
                        <a:rPr kumimoji="1" lang="zh-CN"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新开发/优化</a:t>
                      </a:r>
                      <a:endPar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2659" marR="102659" marT="40053" marB="4005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04825">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zh-CN" altLang="zh-CN" sz="16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5" name="文本占位符 7"/>
          <p:cNvSpPr>
            <a:spLocks noGrp="1"/>
          </p:cNvSpPr>
          <p:nvPr>
            <p:ph type="body" sz="quarter" idx="17" hasCustomPrompt="1"/>
          </p:nvPr>
        </p:nvSpPr>
        <p:spPr>
          <a:xfrm>
            <a:off x="1007139" y="1969626"/>
            <a:ext cx="3119030" cy="504887"/>
          </a:xfrm>
          <a:prstGeom prst="rect">
            <a:avLst/>
          </a:prstGeom>
        </p:spPr>
        <p:txBody>
          <a:bodyPr anchor="ctr"/>
          <a:lstStyle>
            <a:lvl1pPr algn="ctr" fontAlgn="base">
              <a:lnSpc>
                <a:spcPct val="100000"/>
              </a:lnSpc>
              <a:buNone/>
              <a:defRPr sz="1600"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课程编码</a:t>
            </a:r>
            <a:endParaRPr lang="zh-CN" altLang="en-US" dirty="0"/>
          </a:p>
        </p:txBody>
      </p:sp>
      <p:sp>
        <p:nvSpPr>
          <p:cNvPr id="6" name="文本占位符 7"/>
          <p:cNvSpPr>
            <a:spLocks noGrp="1"/>
          </p:cNvSpPr>
          <p:nvPr>
            <p:ph type="body" sz="quarter" idx="18" hasCustomPrompt="1"/>
          </p:nvPr>
        </p:nvSpPr>
        <p:spPr>
          <a:xfrm>
            <a:off x="4126170" y="1969626"/>
            <a:ext cx="1967450" cy="504887"/>
          </a:xfrm>
          <a:prstGeom prst="rect">
            <a:avLst/>
          </a:prstGeom>
        </p:spPr>
        <p:txBody>
          <a:bodyPr anchor="ctr"/>
          <a:lstStyle>
            <a:lvl1pPr algn="ctr">
              <a:lnSpc>
                <a:spcPct val="100000"/>
              </a:lnSpc>
              <a:buNone/>
              <a:defRPr sz="1600"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适用的产品</a:t>
            </a:r>
            <a:endParaRPr lang="zh-CN" altLang="en-US" dirty="0"/>
          </a:p>
        </p:txBody>
      </p:sp>
      <p:sp>
        <p:nvSpPr>
          <p:cNvPr id="7" name="文本占位符 7"/>
          <p:cNvSpPr>
            <a:spLocks noGrp="1"/>
          </p:cNvSpPr>
          <p:nvPr>
            <p:ph type="body" sz="quarter" idx="19" hasCustomPrompt="1"/>
          </p:nvPr>
        </p:nvSpPr>
        <p:spPr>
          <a:xfrm>
            <a:off x="6093619" y="1969626"/>
            <a:ext cx="3023155" cy="504887"/>
          </a:xfrm>
          <a:prstGeom prst="rect">
            <a:avLst/>
          </a:prstGeom>
        </p:spPr>
        <p:txBody>
          <a:bodyPr anchor="ctr"/>
          <a:lstStyle>
            <a:lvl1pPr algn="ctr">
              <a:lnSpc>
                <a:spcPct val="100000"/>
              </a:lnSpc>
              <a:buNone/>
              <a:defRPr sz="1600"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V5R2</a:t>
            </a:r>
            <a:endParaRPr lang="zh-CN" altLang="en-US" dirty="0"/>
          </a:p>
        </p:txBody>
      </p:sp>
      <p:sp>
        <p:nvSpPr>
          <p:cNvPr id="8" name="文本占位符 7"/>
          <p:cNvSpPr>
            <a:spLocks noGrp="1"/>
          </p:cNvSpPr>
          <p:nvPr>
            <p:ph type="body" sz="quarter" idx="20" hasCustomPrompt="1"/>
          </p:nvPr>
        </p:nvSpPr>
        <p:spPr>
          <a:xfrm>
            <a:off x="9116775" y="1969626"/>
            <a:ext cx="2084625" cy="504887"/>
          </a:xfrm>
          <a:prstGeom prst="rect">
            <a:avLst/>
          </a:prstGeom>
        </p:spPr>
        <p:txBody>
          <a:bodyPr anchor="ctr"/>
          <a:lstStyle>
            <a:lvl1pPr algn="ctr">
              <a:lnSpc>
                <a:spcPct val="100000"/>
              </a:lnSpc>
              <a:buNone/>
              <a:defRPr lang="zh-CN" altLang="en-US" sz="1600" kern="1200" baseline="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V1R1</a:t>
            </a:r>
            <a:endParaRPr lang="zh-CN" altLang="en-US" dirty="0"/>
          </a:p>
        </p:txBody>
      </p:sp>
      <p:sp>
        <p:nvSpPr>
          <p:cNvPr id="9" name="文本占位符 7"/>
          <p:cNvSpPr>
            <a:spLocks noGrp="1"/>
          </p:cNvSpPr>
          <p:nvPr>
            <p:ph type="body" sz="quarter" idx="13" hasCustomPrompt="1"/>
          </p:nvPr>
        </p:nvSpPr>
        <p:spPr>
          <a:xfrm>
            <a:off x="1007042" y="3517796"/>
            <a:ext cx="3119128" cy="468052"/>
          </a:xfrm>
          <a:prstGeom prst="rect">
            <a:avLst/>
          </a:prstGeom>
        </p:spPr>
        <p:txBody>
          <a:bodyPr anchor="ctr"/>
          <a:lstStyle>
            <a:lvl1pPr algn="ctr" fontAlgn="base">
              <a:lnSpc>
                <a:spcPct val="100000"/>
              </a:lnSpc>
              <a:buNone/>
              <a:defRPr sz="1600"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endParaRPr lang="zh-CN" altLang="en-US" dirty="0"/>
          </a:p>
        </p:txBody>
      </p:sp>
      <p:sp>
        <p:nvSpPr>
          <p:cNvPr id="10" name="文本占位符 7"/>
          <p:cNvSpPr>
            <a:spLocks noGrp="1"/>
          </p:cNvSpPr>
          <p:nvPr>
            <p:ph type="body" sz="quarter" idx="14" hasCustomPrompt="1"/>
          </p:nvPr>
        </p:nvSpPr>
        <p:spPr>
          <a:xfrm>
            <a:off x="4126170" y="3517796"/>
            <a:ext cx="1967450" cy="468052"/>
          </a:xfrm>
          <a:prstGeom prst="rect">
            <a:avLst/>
          </a:prstGeom>
        </p:spPr>
        <p:txBody>
          <a:bodyPr anchor="ctr"/>
          <a:lstStyle>
            <a:lvl1pPr algn="ctr" fontAlgn="base">
              <a:lnSpc>
                <a:spcPct val="100000"/>
              </a:lnSpc>
              <a:buNone/>
              <a:defRPr sz="1600"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2019.01.25</a:t>
            </a:r>
            <a:endParaRPr lang="zh-CN" altLang="en-US" dirty="0"/>
          </a:p>
        </p:txBody>
      </p:sp>
      <p:sp>
        <p:nvSpPr>
          <p:cNvPr id="11" name="文本占位符 7"/>
          <p:cNvSpPr>
            <a:spLocks noGrp="1"/>
          </p:cNvSpPr>
          <p:nvPr>
            <p:ph type="body" sz="quarter" idx="15" hasCustomPrompt="1"/>
          </p:nvPr>
        </p:nvSpPr>
        <p:spPr>
          <a:xfrm>
            <a:off x="6093619" y="3517796"/>
            <a:ext cx="3023155" cy="468052"/>
          </a:xfrm>
          <a:prstGeom prst="rect">
            <a:avLst/>
          </a:prstGeom>
        </p:spPr>
        <p:txBody>
          <a:bodyPr anchor="ctr"/>
          <a:lstStyle>
            <a:lvl1pPr algn="ctr" fontAlgn="base">
              <a:lnSpc>
                <a:spcPct val="100000"/>
              </a:lnSpc>
              <a:buNone/>
              <a:defRPr sz="1600"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endParaRPr lang="zh-CN" altLang="en-US" dirty="0"/>
          </a:p>
        </p:txBody>
      </p:sp>
      <p:sp>
        <p:nvSpPr>
          <p:cNvPr id="12" name="文本占位符 7"/>
          <p:cNvSpPr>
            <a:spLocks noGrp="1"/>
          </p:cNvSpPr>
          <p:nvPr>
            <p:ph type="body" sz="quarter" idx="16" hasCustomPrompt="1"/>
          </p:nvPr>
        </p:nvSpPr>
        <p:spPr>
          <a:xfrm>
            <a:off x="9116775" y="3481792"/>
            <a:ext cx="2056050" cy="504056"/>
          </a:xfrm>
          <a:prstGeom prst="rect">
            <a:avLst/>
          </a:prstGeom>
        </p:spPr>
        <p:txBody>
          <a:bodyPr anchor="ctr"/>
          <a:lstStyle>
            <a:lvl1pPr algn="ctr" fontAlgn="base">
              <a:lnSpc>
                <a:spcPct val="100000"/>
              </a:lnSpc>
              <a:buNone/>
              <a:defRPr sz="1600"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新开发</a:t>
            </a:r>
            <a:endParaRPr lang="zh-CN" altLang="en-US" dirty="0"/>
          </a:p>
        </p:txBody>
      </p:sp>
      <p:sp>
        <p:nvSpPr>
          <p:cNvPr id="13" name="Rectangle 2"/>
          <p:cNvSpPr>
            <a:spLocks noChangeArrowheads="1"/>
          </p:cNvSpPr>
          <p:nvPr userDrawn="1"/>
        </p:nvSpPr>
        <p:spPr bwMode="auto">
          <a:xfrm>
            <a:off x="952130" y="368661"/>
            <a:ext cx="2802144" cy="479425"/>
          </a:xfrm>
          <a:prstGeom prst="rect">
            <a:avLst/>
          </a:prstGeom>
          <a:noFill/>
          <a:ln w="9525">
            <a:noFill/>
            <a:miter lim="800000"/>
          </a:ln>
        </p:spPr>
        <p:txBody>
          <a:bodyPr lIns="78227" tIns="39112" rIns="78227" bIns="39112" anchor="ctr"/>
          <a:lstStyle/>
          <a:p>
            <a:pPr algn="l" defTabSz="1001395" rtl="0" eaLnBrk="0" fontAlgn="ctr" hangingPunct="0">
              <a:spcBef>
                <a:spcPct val="0"/>
              </a:spcBef>
              <a:spcAft>
                <a:spcPct val="0"/>
              </a:spcAft>
            </a:pPr>
            <a:r>
              <a:rPr lang="zh-CN" altLang="en-US" sz="3500" b="0" kern="1200" baseline="0"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rPr>
              <a:t>修订记录</a:t>
            </a:r>
            <a:endParaRPr lang="zh-CN" altLang="en-US" sz="3500" b="0" kern="1200" baseline="0"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4" name="Text Box 58"/>
          <p:cNvSpPr txBox="1">
            <a:spLocks noChangeArrowheads="1"/>
          </p:cNvSpPr>
          <p:nvPr userDrawn="1"/>
        </p:nvSpPr>
        <p:spPr bwMode="auto">
          <a:xfrm>
            <a:off x="8900835" y="296652"/>
            <a:ext cx="2771225" cy="707886"/>
          </a:xfrm>
          <a:prstGeom prst="rect">
            <a:avLst/>
          </a:prstGeom>
          <a:noFill/>
          <a:ln w="9525" algn="ctr">
            <a:noFill/>
            <a:miter lim="800000"/>
          </a:ln>
        </p:spPr>
        <p:txBody>
          <a:bodyPr wrap="square">
            <a:spAutoFit/>
          </a:bodyPr>
          <a:lstStyle/>
          <a:p>
            <a:pPr fontAlgn="ctr">
              <a:spcBef>
                <a:spcPct val="50000"/>
              </a:spcBef>
            </a:pPr>
            <a:r>
              <a:rPr lang="zh-CN" altLang="en-US" sz="4000" i="0" baseline="0" dirty="0">
                <a:solidFill>
                  <a:schemeClr val="bg2">
                    <a:lumMod val="50000"/>
                  </a:schemeClr>
                </a:solidFill>
                <a:latin typeface="Huawei Sans" panose="020C0503030203020204" pitchFamily="34" charset="0"/>
                <a:ea typeface="方正兰亭黑简体" panose="02000000000000000000" pitchFamily="2" charset="-122"/>
                <a:cs typeface="Huawei Sans" panose="020C0503030203020204" pitchFamily="34" charset="0"/>
              </a:rPr>
              <a:t>本页不打印</a:t>
            </a:r>
            <a:endParaRPr lang="zh-CN" altLang="en-US" sz="4000" i="0" baseline="0" dirty="0">
              <a:solidFill>
                <a:schemeClr val="bg2">
                  <a:lumMod val="50000"/>
                </a:schemeClr>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5" name="文本占位符 7"/>
          <p:cNvSpPr>
            <a:spLocks noGrp="1"/>
          </p:cNvSpPr>
          <p:nvPr>
            <p:ph type="body" sz="quarter" idx="21" hasCustomPrompt="1"/>
          </p:nvPr>
        </p:nvSpPr>
        <p:spPr>
          <a:xfrm>
            <a:off x="1007042" y="4021852"/>
            <a:ext cx="3119128" cy="468052"/>
          </a:xfrm>
          <a:prstGeom prst="rect">
            <a:avLst/>
          </a:prstGeom>
        </p:spPr>
        <p:txBody>
          <a:bodyPr anchor="ctr"/>
          <a:lstStyle>
            <a:lvl1pPr algn="ctr" fontAlgn="base">
              <a:lnSpc>
                <a:spcPct val="100000"/>
              </a:lnSpc>
              <a:buNone/>
              <a:defRPr sz="1600"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endParaRPr lang="zh-CN" altLang="en-US" dirty="0"/>
          </a:p>
        </p:txBody>
      </p:sp>
      <p:sp>
        <p:nvSpPr>
          <p:cNvPr id="16" name="文本占位符 7"/>
          <p:cNvSpPr>
            <a:spLocks noGrp="1"/>
          </p:cNvSpPr>
          <p:nvPr>
            <p:ph type="body" sz="quarter" idx="22" hasCustomPrompt="1"/>
          </p:nvPr>
        </p:nvSpPr>
        <p:spPr>
          <a:xfrm>
            <a:off x="4126170" y="4021852"/>
            <a:ext cx="1967450" cy="468052"/>
          </a:xfrm>
          <a:prstGeom prst="rect">
            <a:avLst/>
          </a:prstGeom>
        </p:spPr>
        <p:txBody>
          <a:bodyPr anchor="ctr"/>
          <a:lstStyle>
            <a:lvl1pPr algn="ctr" fontAlgn="base">
              <a:lnSpc>
                <a:spcPct val="100000"/>
              </a:lnSpc>
              <a:buNone/>
              <a:defRPr sz="1600"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2019.01.25</a:t>
            </a:r>
            <a:endParaRPr lang="zh-CN" altLang="en-US" dirty="0"/>
          </a:p>
        </p:txBody>
      </p:sp>
      <p:sp>
        <p:nvSpPr>
          <p:cNvPr id="17" name="文本占位符 7"/>
          <p:cNvSpPr>
            <a:spLocks noGrp="1"/>
          </p:cNvSpPr>
          <p:nvPr>
            <p:ph type="body" sz="quarter" idx="23" hasCustomPrompt="1"/>
          </p:nvPr>
        </p:nvSpPr>
        <p:spPr>
          <a:xfrm>
            <a:off x="6093619" y="4021852"/>
            <a:ext cx="3023155" cy="468052"/>
          </a:xfrm>
          <a:prstGeom prst="rect">
            <a:avLst/>
          </a:prstGeom>
        </p:spPr>
        <p:txBody>
          <a:bodyPr anchor="ctr"/>
          <a:lstStyle>
            <a:lvl1pPr algn="ctr" fontAlgn="base">
              <a:lnSpc>
                <a:spcPct val="100000"/>
              </a:lnSpc>
              <a:buNone/>
              <a:defRPr sz="1600"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endParaRPr lang="zh-CN" altLang="en-US" dirty="0"/>
          </a:p>
        </p:txBody>
      </p:sp>
      <p:sp>
        <p:nvSpPr>
          <p:cNvPr id="18" name="文本占位符 7"/>
          <p:cNvSpPr>
            <a:spLocks noGrp="1"/>
          </p:cNvSpPr>
          <p:nvPr>
            <p:ph type="body" sz="quarter" idx="24" hasCustomPrompt="1"/>
          </p:nvPr>
        </p:nvSpPr>
        <p:spPr>
          <a:xfrm>
            <a:off x="9116775" y="3985848"/>
            <a:ext cx="2084625" cy="504056"/>
          </a:xfrm>
          <a:prstGeom prst="rect">
            <a:avLst/>
          </a:prstGeom>
        </p:spPr>
        <p:txBody>
          <a:bodyPr anchor="ctr"/>
          <a:lstStyle>
            <a:lvl1pPr algn="ctr" fontAlgn="base">
              <a:lnSpc>
                <a:spcPct val="100000"/>
              </a:lnSpc>
              <a:buNone/>
              <a:defRPr sz="1600"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优化</a:t>
            </a:r>
            <a:endParaRPr lang="zh-CN" altLang="en-US" dirty="0"/>
          </a:p>
        </p:txBody>
      </p:sp>
      <p:sp>
        <p:nvSpPr>
          <p:cNvPr id="19" name="文本占位符 7"/>
          <p:cNvSpPr>
            <a:spLocks noGrp="1"/>
          </p:cNvSpPr>
          <p:nvPr>
            <p:ph type="body" sz="quarter" idx="25" hasCustomPrompt="1"/>
          </p:nvPr>
        </p:nvSpPr>
        <p:spPr>
          <a:xfrm>
            <a:off x="1007042" y="4489904"/>
            <a:ext cx="3119128" cy="468052"/>
          </a:xfrm>
          <a:prstGeom prst="rect">
            <a:avLst/>
          </a:prstGeom>
        </p:spPr>
        <p:txBody>
          <a:bodyPr anchor="ctr"/>
          <a:lstStyle>
            <a:lvl1pPr algn="ctr" fontAlgn="base">
              <a:lnSpc>
                <a:spcPct val="100000"/>
              </a:lnSpc>
              <a:buNone/>
              <a:defRPr sz="1600"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endParaRPr lang="zh-CN" altLang="en-US" dirty="0"/>
          </a:p>
        </p:txBody>
      </p:sp>
      <p:sp>
        <p:nvSpPr>
          <p:cNvPr id="20" name="文本占位符 7"/>
          <p:cNvSpPr>
            <a:spLocks noGrp="1"/>
          </p:cNvSpPr>
          <p:nvPr>
            <p:ph type="body" sz="quarter" idx="26" hasCustomPrompt="1"/>
          </p:nvPr>
        </p:nvSpPr>
        <p:spPr>
          <a:xfrm>
            <a:off x="4126170" y="4489904"/>
            <a:ext cx="1967450" cy="468052"/>
          </a:xfrm>
          <a:prstGeom prst="rect">
            <a:avLst/>
          </a:prstGeom>
        </p:spPr>
        <p:txBody>
          <a:bodyPr anchor="ctr"/>
          <a:lstStyle>
            <a:lvl1pPr algn="ctr" fontAlgn="base">
              <a:lnSpc>
                <a:spcPct val="100000"/>
              </a:lnSpc>
              <a:buNone/>
              <a:defRPr sz="1600"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2019.01.25</a:t>
            </a:r>
            <a:endParaRPr lang="zh-CN" altLang="en-US" dirty="0"/>
          </a:p>
        </p:txBody>
      </p:sp>
      <p:sp>
        <p:nvSpPr>
          <p:cNvPr id="21" name="文本占位符 7"/>
          <p:cNvSpPr>
            <a:spLocks noGrp="1"/>
          </p:cNvSpPr>
          <p:nvPr>
            <p:ph type="body" sz="quarter" idx="27" hasCustomPrompt="1"/>
          </p:nvPr>
        </p:nvSpPr>
        <p:spPr>
          <a:xfrm>
            <a:off x="6093619" y="4489904"/>
            <a:ext cx="3023155" cy="468052"/>
          </a:xfrm>
          <a:prstGeom prst="rect">
            <a:avLst/>
          </a:prstGeom>
        </p:spPr>
        <p:txBody>
          <a:bodyPr anchor="ctr"/>
          <a:lstStyle>
            <a:lvl1pPr algn="ctr" fontAlgn="base">
              <a:lnSpc>
                <a:spcPct val="100000"/>
              </a:lnSpc>
              <a:buNone/>
              <a:defRPr sz="1600"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endParaRPr lang="zh-CN" altLang="en-US" dirty="0"/>
          </a:p>
        </p:txBody>
      </p:sp>
      <p:sp>
        <p:nvSpPr>
          <p:cNvPr id="22" name="文本占位符 7"/>
          <p:cNvSpPr>
            <a:spLocks noGrp="1"/>
          </p:cNvSpPr>
          <p:nvPr>
            <p:ph type="body" sz="quarter" idx="28" hasCustomPrompt="1"/>
          </p:nvPr>
        </p:nvSpPr>
        <p:spPr>
          <a:xfrm>
            <a:off x="9116775" y="4489904"/>
            <a:ext cx="2056050" cy="468052"/>
          </a:xfrm>
          <a:prstGeom prst="rect">
            <a:avLst/>
          </a:prstGeom>
        </p:spPr>
        <p:txBody>
          <a:bodyPr anchor="ctr"/>
          <a:lstStyle>
            <a:lvl1pPr algn="ctr" fontAlgn="base">
              <a:lnSpc>
                <a:spcPct val="100000"/>
              </a:lnSpc>
              <a:buNone/>
              <a:defRPr sz="1600"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优化</a:t>
            </a:r>
            <a:endParaRPr lang="zh-CN" altLang="en-US" dirty="0"/>
          </a:p>
        </p:txBody>
      </p:sp>
      <p:sp>
        <p:nvSpPr>
          <p:cNvPr id="23" name="文本占位符 7"/>
          <p:cNvSpPr>
            <a:spLocks noGrp="1"/>
          </p:cNvSpPr>
          <p:nvPr>
            <p:ph type="body" sz="quarter" idx="29" hasCustomPrompt="1"/>
          </p:nvPr>
        </p:nvSpPr>
        <p:spPr>
          <a:xfrm>
            <a:off x="1007042" y="4999074"/>
            <a:ext cx="3119128" cy="468052"/>
          </a:xfrm>
          <a:prstGeom prst="rect">
            <a:avLst/>
          </a:prstGeom>
        </p:spPr>
        <p:txBody>
          <a:bodyPr anchor="ctr"/>
          <a:lstStyle>
            <a:lvl1pPr algn="ctr" fontAlgn="base">
              <a:lnSpc>
                <a:spcPct val="100000"/>
              </a:lnSpc>
              <a:buNone/>
              <a:defRPr sz="1600"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endParaRPr lang="zh-CN" altLang="en-US" dirty="0"/>
          </a:p>
        </p:txBody>
      </p:sp>
      <p:sp>
        <p:nvSpPr>
          <p:cNvPr id="24" name="文本占位符 7"/>
          <p:cNvSpPr>
            <a:spLocks noGrp="1"/>
          </p:cNvSpPr>
          <p:nvPr>
            <p:ph type="body" sz="quarter" idx="30" hasCustomPrompt="1"/>
          </p:nvPr>
        </p:nvSpPr>
        <p:spPr>
          <a:xfrm>
            <a:off x="4126170" y="4999074"/>
            <a:ext cx="1967450" cy="468052"/>
          </a:xfrm>
          <a:prstGeom prst="rect">
            <a:avLst/>
          </a:prstGeom>
        </p:spPr>
        <p:txBody>
          <a:bodyPr anchor="ctr"/>
          <a:lstStyle>
            <a:lvl1pPr algn="ctr" fontAlgn="base">
              <a:lnSpc>
                <a:spcPct val="100000"/>
              </a:lnSpc>
              <a:buNone/>
              <a:defRPr lang="zh-CN" altLang="en-US" sz="1600" kern="1200" baseline="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2019.01.25</a:t>
            </a:r>
            <a:endParaRPr lang="zh-CN" altLang="en-US" dirty="0"/>
          </a:p>
        </p:txBody>
      </p:sp>
      <p:sp>
        <p:nvSpPr>
          <p:cNvPr id="25" name="文本占位符 7"/>
          <p:cNvSpPr>
            <a:spLocks noGrp="1"/>
          </p:cNvSpPr>
          <p:nvPr>
            <p:ph type="body" sz="quarter" idx="31" hasCustomPrompt="1"/>
          </p:nvPr>
        </p:nvSpPr>
        <p:spPr>
          <a:xfrm>
            <a:off x="6093619" y="4999074"/>
            <a:ext cx="3023155" cy="468052"/>
          </a:xfrm>
          <a:prstGeom prst="rect">
            <a:avLst/>
          </a:prstGeom>
        </p:spPr>
        <p:txBody>
          <a:bodyPr anchor="ctr"/>
          <a:lstStyle>
            <a:lvl1pPr algn="ctr" fontAlgn="base">
              <a:lnSpc>
                <a:spcPct val="100000"/>
              </a:lnSpc>
              <a:buNone/>
              <a:defRPr sz="1600"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endParaRPr lang="zh-CN" altLang="en-US" dirty="0"/>
          </a:p>
        </p:txBody>
      </p:sp>
      <p:sp>
        <p:nvSpPr>
          <p:cNvPr id="26" name="文本占位符 7"/>
          <p:cNvSpPr>
            <a:spLocks noGrp="1"/>
          </p:cNvSpPr>
          <p:nvPr>
            <p:ph type="body" sz="quarter" idx="32" hasCustomPrompt="1"/>
          </p:nvPr>
        </p:nvSpPr>
        <p:spPr>
          <a:xfrm>
            <a:off x="9116775" y="4999074"/>
            <a:ext cx="2084625" cy="468052"/>
          </a:xfrm>
          <a:prstGeom prst="rect">
            <a:avLst/>
          </a:prstGeom>
        </p:spPr>
        <p:txBody>
          <a:bodyPr anchor="ctr"/>
          <a:lstStyle>
            <a:lvl1pPr algn="ctr" fontAlgn="base">
              <a:lnSpc>
                <a:spcPct val="100000"/>
              </a:lnSpc>
              <a:buNone/>
              <a:defRPr sz="1600"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优化</a:t>
            </a:r>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3#前言">
    <p:bg bwMode="gray">
      <p:bgPr>
        <a:solidFill>
          <a:srgbClr val="EBEBEB"/>
        </a:solidFill>
        <a:effectLst/>
      </p:bgPr>
    </p:bg>
    <p:spTree>
      <p:nvGrpSpPr>
        <p:cNvPr id="1" name=""/>
        <p:cNvGrpSpPr/>
        <p:nvPr/>
      </p:nvGrpSpPr>
      <p:grpSpPr>
        <a:xfrm>
          <a:off x="0" y="0"/>
          <a:ext cx="0" cy="0"/>
          <a:chOff x="0" y="0"/>
          <a:chExt cx="0" cy="0"/>
        </a:xfrm>
      </p:grpSpPr>
      <p:sp>
        <p:nvSpPr>
          <p:cNvPr id="15" name="文本占位符 6"/>
          <p:cNvSpPr>
            <a:spLocks noGrp="1"/>
          </p:cNvSpPr>
          <p:nvPr>
            <p:ph type="body" sz="quarter" idx="10" hasCustomPrompt="1"/>
          </p:nvPr>
        </p:nvSpPr>
        <p:spPr>
          <a:xfrm>
            <a:off x="1019174" y="1844675"/>
            <a:ext cx="10153651" cy="4082668"/>
          </a:xfrm>
          <a:prstGeom prst="rect">
            <a:avLst/>
          </a:prstGeom>
        </p:spPr>
        <p:txBody>
          <a:bodyPr/>
          <a:lstStyle>
            <a:lvl1pPr marL="302260" indent="-302260" algn="just" fontAlgn="ctr">
              <a:buClrTx/>
              <a:buSzPct val="50000"/>
              <a:buFont typeface="Wingdings" panose="05000000000000000000" pitchFamily="2" charset="2"/>
              <a:buChar char="l"/>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marL="654685" indent="-252095" fontAlgn="ctr">
              <a:buClrTx/>
              <a:buSzPct val="50000"/>
              <a:buFont typeface="Wingdings" panose="05000000000000000000" pitchFamily="2" charset="2"/>
              <a:buChar char="p"/>
              <a:defRPr baseline="0">
                <a:solidFill>
                  <a:schemeClr val="tx1"/>
                </a:solidFill>
                <a:latin typeface="Huawei Sans" panose="020C0503030203020204" pitchFamily="34" charset="0"/>
                <a:ea typeface="方正兰亭黑简体" panose="02000000000000000000" pitchFamily="2" charset="-122"/>
              </a:defRPr>
            </a:lvl2pPr>
            <a:lvl3pPr marL="1003935" indent="-201295" fontAlgn="ctr">
              <a:buSzPct val="50000"/>
              <a:buFont typeface="Wingdings" panose="05000000000000000000" pitchFamily="2" charset="2"/>
              <a:buChar char="n"/>
              <a:defRPr lang="zh-CN" altLang="en-US" baseline="0" dirty="0" smtClean="0">
                <a:solidFill>
                  <a:schemeClr val="tx1"/>
                </a:solidFill>
                <a:latin typeface="Huawei Sans" panose="020C0503030203020204" pitchFamily="34" charset="0"/>
                <a:ea typeface="方正兰亭黑简体" panose="02000000000000000000" pitchFamily="2" charset="-122"/>
              </a:defRPr>
            </a:lvl3pPr>
            <a:lvl4pPr fontAlgn="ctr">
              <a:defRPr baseline="0">
                <a:latin typeface="Huawei Sans" panose="020C0503030203020204" pitchFamily="34" charset="0"/>
                <a:ea typeface="方正兰亭黑简体" panose="02000000000000000000" pitchFamily="2" charset="-122"/>
              </a:defRPr>
            </a:lvl4pPr>
            <a:lvl5pPr marL="1802765" indent="-201295" fontAlgn="ctr">
              <a:buClrTx/>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5pPr>
          </a:lstStyle>
          <a:p>
            <a:pPr eaLnBrk="1" hangingPunct="1"/>
            <a:r>
              <a:rPr lang="zh-CN" altLang="en-US" dirty="0"/>
              <a:t>本章主要讲述</a:t>
            </a:r>
            <a:r>
              <a:rPr lang="en-US" altLang="zh-CN" dirty="0"/>
              <a:t>...</a:t>
            </a:r>
            <a:endParaRPr lang="en-US" altLang="zh-CN"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a:p>
            <a:pPr eaLnBrk="1" hangingPunct="1"/>
            <a:endParaRPr lang="en-US" altLang="zh-CN" dirty="0"/>
          </a:p>
        </p:txBody>
      </p:sp>
      <p:cxnSp>
        <p:nvCxnSpPr>
          <p:cNvPr id="14" name="直线连接符 14"/>
          <p:cNvCxnSpPr/>
          <p:nvPr userDrawn="1"/>
        </p:nvCxnSpPr>
        <p:spPr>
          <a:xfrm flipH="1">
            <a:off x="1029918" y="1349255"/>
            <a:ext cx="885967"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7" name="文本框 16"/>
          <p:cNvSpPr txBox="1"/>
          <p:nvPr userDrawn="1"/>
        </p:nvSpPr>
        <p:spPr>
          <a:xfrm>
            <a:off x="918916" y="630373"/>
            <a:ext cx="1117614" cy="651845"/>
          </a:xfrm>
          <a:prstGeom prst="rect">
            <a:avLst/>
          </a:prstGeom>
          <a:noFill/>
        </p:spPr>
        <p:txBody>
          <a:bodyPr wrap="none" rtlCol="0">
            <a:spAutoFit/>
          </a:bodyPr>
          <a:lstStyle/>
          <a:p>
            <a:r>
              <a:rPr kumimoji="1" lang="zh-CN" altLang="en-US" sz="3635" baseline="0" dirty="0">
                <a:solidFill>
                  <a:schemeClr val="tx1"/>
                </a:solidFill>
                <a:latin typeface="Huawei Sans" panose="020C0503030203020204" pitchFamily="34" charset="0"/>
                <a:ea typeface="方正兰亭黑简体" panose="02000000000000000000" pitchFamily="2" charset="-122"/>
                <a:cs typeface="微软雅黑" panose="020B0503020204020204" charset="-122"/>
              </a:rPr>
              <a:t>前言</a:t>
            </a:r>
            <a:endParaRPr kumimoji="1" lang="zh-CN" altLang="en-US" sz="3635" baseline="0" dirty="0">
              <a:solidFill>
                <a:schemeClr val="tx1"/>
              </a:solidFill>
              <a:latin typeface="Huawei Sans" panose="020C0503030203020204" pitchFamily="34" charset="0"/>
              <a:ea typeface="方正兰亭黑简体" panose="02000000000000000000" pitchFamily="2" charset="-122"/>
              <a:cs typeface="微软雅黑" panose="020B0503020204020204" charset="-122"/>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4#目标">
    <p:bg bwMode="gray">
      <p:bgPr>
        <a:solidFill>
          <a:srgbClr val="EBEBEB"/>
        </a:solidFill>
        <a:effectLst/>
      </p:bgPr>
    </p:bg>
    <p:spTree>
      <p:nvGrpSpPr>
        <p:cNvPr id="1" name=""/>
        <p:cNvGrpSpPr/>
        <p:nvPr/>
      </p:nvGrpSpPr>
      <p:grpSpPr>
        <a:xfrm>
          <a:off x="0" y="0"/>
          <a:ext cx="0" cy="0"/>
          <a:chOff x="0" y="0"/>
          <a:chExt cx="0" cy="0"/>
        </a:xfrm>
      </p:grpSpPr>
      <p:sp>
        <p:nvSpPr>
          <p:cNvPr id="15" name="文本占位符 6"/>
          <p:cNvSpPr>
            <a:spLocks noGrp="1"/>
          </p:cNvSpPr>
          <p:nvPr>
            <p:ph type="body" sz="quarter" idx="10" hasCustomPrompt="1"/>
          </p:nvPr>
        </p:nvSpPr>
        <p:spPr>
          <a:xfrm>
            <a:off x="1019174" y="1844675"/>
            <a:ext cx="10153651" cy="4082668"/>
          </a:xfrm>
          <a:prstGeom prst="rect">
            <a:avLst/>
          </a:prstGeom>
        </p:spPr>
        <p:txBody>
          <a:bodyPr/>
          <a:lstStyle>
            <a:lvl1pPr marL="302260" indent="-302260" algn="just" eaLnBrk="1" fontAlgn="ctr" hangingPunct="1">
              <a:buClrTx/>
              <a:buSzPct val="50000"/>
              <a:buFont typeface="Wingdings" panose="05000000000000000000" pitchFamily="2" charset="2"/>
              <a:buChar char="l"/>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marL="654685" indent="-252095" fontAlgn="ctr">
              <a:buClrTx/>
              <a:buSzPct val="50000"/>
              <a:buFont typeface="Wingdings" panose="05000000000000000000" pitchFamily="2" charset="2"/>
              <a:buChar char="p"/>
              <a:defRPr baseline="0">
                <a:solidFill>
                  <a:schemeClr val="tx1"/>
                </a:solidFill>
                <a:latin typeface="Huawei Sans" panose="020C0503030203020204" pitchFamily="34" charset="0"/>
                <a:ea typeface="方正兰亭黑简体" panose="02000000000000000000" pitchFamily="2" charset="-122"/>
              </a:defRPr>
            </a:lvl2pPr>
            <a:lvl3pPr marL="1003935" indent="-201295" fontAlgn="ctr">
              <a:buSzPct val="50000"/>
              <a:buFont typeface="Wingdings" panose="05000000000000000000" pitchFamily="2" charset="2"/>
              <a:buChar char="n"/>
              <a:defRPr lang="zh-CN" altLang="en-US" baseline="0" dirty="0" smtClean="0">
                <a:solidFill>
                  <a:schemeClr val="tx1"/>
                </a:solidFill>
                <a:latin typeface="Huawei Sans" panose="020C0503030203020204" pitchFamily="34" charset="0"/>
                <a:ea typeface="方正兰亭黑简体" panose="02000000000000000000" pitchFamily="2" charset="-122"/>
              </a:defRPr>
            </a:lvl3pPr>
            <a:lvl4pPr fontAlgn="ctr">
              <a:defRPr baseline="0">
                <a:latin typeface="Huawei Sans" panose="020C0503030203020204" pitchFamily="34" charset="0"/>
                <a:ea typeface="方正兰亭黑简体" panose="02000000000000000000" pitchFamily="2" charset="-122"/>
              </a:defRPr>
            </a:lvl4pPr>
            <a:lvl5pPr marL="1802765" indent="-201295" fontAlgn="ctr">
              <a:buClrTx/>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5pPr>
          </a:lstStyle>
          <a:p>
            <a:pPr eaLnBrk="1" hangingPunct="1"/>
            <a:r>
              <a:rPr lang="zh-CN" altLang="en-US" dirty="0"/>
              <a:t>学完本课程后，您将能够：</a:t>
            </a:r>
            <a:endParaRPr lang="en-US" altLang="zh-CN"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a:p>
            <a:pPr eaLnBrk="1" hangingPunct="1"/>
            <a:endParaRPr lang="en-US" altLang="zh-CN" dirty="0"/>
          </a:p>
        </p:txBody>
      </p:sp>
      <p:cxnSp>
        <p:nvCxnSpPr>
          <p:cNvPr id="14" name="直线连接符 14"/>
          <p:cNvCxnSpPr/>
          <p:nvPr userDrawn="1"/>
        </p:nvCxnSpPr>
        <p:spPr>
          <a:xfrm flipH="1">
            <a:off x="1029918" y="1349255"/>
            <a:ext cx="885967"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7" name="文本框 16"/>
          <p:cNvSpPr txBox="1"/>
          <p:nvPr userDrawn="1"/>
        </p:nvSpPr>
        <p:spPr>
          <a:xfrm>
            <a:off x="918916" y="630373"/>
            <a:ext cx="1120820" cy="652486"/>
          </a:xfrm>
          <a:prstGeom prst="rect">
            <a:avLst/>
          </a:prstGeom>
          <a:noFill/>
        </p:spPr>
        <p:txBody>
          <a:bodyPr wrap="none" rtlCol="0">
            <a:spAutoFit/>
          </a:bodyPr>
          <a:lstStyle/>
          <a:p>
            <a:pPr defTabSz="1001395" eaLnBrk="0" fontAlgn="ctr" hangingPunct="0"/>
            <a:r>
              <a:rPr lang="zh-CN" altLang="en-US" sz="3640" b="0" baseline="0"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rPr>
              <a:t>目标</a:t>
            </a:r>
            <a:endParaRPr lang="en-US" altLang="zh-CN" sz="3640" b="0" baseline="0"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5#目录">
    <p:bg bwMode="gray">
      <p:bgPr>
        <a:solidFill>
          <a:srgbClr val="EBEBEB"/>
        </a:solidFill>
        <a:effectLst/>
      </p:bgPr>
    </p:bg>
    <p:spTree>
      <p:nvGrpSpPr>
        <p:cNvPr id="1" name=""/>
        <p:cNvGrpSpPr/>
        <p:nvPr/>
      </p:nvGrpSpPr>
      <p:grpSpPr>
        <a:xfrm>
          <a:off x="0" y="0"/>
          <a:ext cx="0" cy="0"/>
          <a:chOff x="0" y="0"/>
          <a:chExt cx="0" cy="0"/>
        </a:xfrm>
      </p:grpSpPr>
      <p:sp>
        <p:nvSpPr>
          <p:cNvPr id="29" name="文本占位符 6"/>
          <p:cNvSpPr>
            <a:spLocks noGrp="1"/>
          </p:cNvSpPr>
          <p:nvPr>
            <p:ph type="body" sz="quarter" idx="10" hasCustomPrompt="1"/>
          </p:nvPr>
        </p:nvSpPr>
        <p:spPr>
          <a:xfrm>
            <a:off x="1019175" y="1844675"/>
            <a:ext cx="10153650" cy="4068811"/>
          </a:xfrm>
          <a:prstGeom prst="rect">
            <a:avLst/>
          </a:prstGeom>
        </p:spPr>
        <p:txBody>
          <a:bodyPr/>
          <a:lstStyle>
            <a:lvl1pPr marL="457200" marR="0" indent="-457200" algn="just" defTabSz="801370" rtl="0" eaLnBrk="1" fontAlgn="ctr" latinLnBrk="0" hangingPunct="1">
              <a:lnSpc>
                <a:spcPct val="140000"/>
              </a:lnSpc>
              <a:spcBef>
                <a:spcPct val="30000"/>
              </a:spcBef>
              <a:spcAft>
                <a:spcPct val="0"/>
              </a:spcAft>
              <a:buClrTx/>
              <a:buSzPct val="100000"/>
              <a:buFont typeface="+mj-lt"/>
              <a:buAutoNum type="arabicPeriod"/>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fontAlgn="ctr">
              <a:buClrTx/>
              <a:buSzPct val="100000"/>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2pPr>
            <a:lvl3pPr>
              <a:defRPr/>
            </a:lvl3pPr>
            <a:lvl5pPr>
              <a:buNone/>
              <a:defRPr/>
            </a:lvl5pPr>
          </a:lstStyle>
          <a:p>
            <a:pPr marL="457200" indent="-457200">
              <a:buSzPct val="100000"/>
              <a:buFont typeface="+mj-lt"/>
              <a:buAutoNum type="arabicPeriod"/>
            </a:pPr>
            <a:r>
              <a:rPr lang="zh-CN" altLang="en-US" dirty="0"/>
              <a:t>一级目录一</a:t>
            </a:r>
            <a:endParaRPr lang="en-US" altLang="zh-CN" dirty="0"/>
          </a:p>
          <a:p>
            <a:pPr marL="654050" lvl="1" indent="-457200">
              <a:buSzPct val="100000"/>
              <a:buFont typeface="+mj-lt"/>
              <a:buAutoNum type="arabicPeriod"/>
            </a:pPr>
            <a:endParaRPr lang="en-US" altLang="zh-CN" dirty="0"/>
          </a:p>
          <a:p>
            <a:pPr marL="457200" indent="-457200">
              <a:buSzPct val="100000"/>
              <a:buFont typeface="+mj-lt"/>
              <a:buAutoNum type="arabicPeriod"/>
            </a:pPr>
            <a:r>
              <a:rPr lang="zh-CN" altLang="en-US" dirty="0"/>
              <a:t>一级目录二</a:t>
            </a:r>
            <a:endParaRPr lang="en-US" altLang="zh-CN" dirty="0"/>
          </a:p>
          <a:p>
            <a:pPr marL="457200" indent="-457200">
              <a:buSzPct val="100000"/>
              <a:buFont typeface="+mj-lt"/>
              <a:buAutoNum type="arabicPeriod"/>
            </a:pPr>
            <a:r>
              <a:rPr lang="zh-CN" altLang="en-US" dirty="0"/>
              <a:t>一级目录三</a:t>
            </a:r>
            <a:endParaRPr lang="en-US" altLang="zh-CN" dirty="0"/>
          </a:p>
          <a:p>
            <a:pPr marL="457200" indent="-457200">
              <a:buSzPct val="100000"/>
              <a:buFont typeface="+mj-lt"/>
              <a:buAutoNum type="arabicPeriod"/>
            </a:pPr>
            <a:r>
              <a:rPr lang="zh-CN" altLang="en-US" dirty="0"/>
              <a:t>一级目录四</a:t>
            </a:r>
            <a:endParaRPr lang="en-US" altLang="zh-CN" dirty="0"/>
          </a:p>
          <a:p>
            <a:endParaRPr lang="zh-CN" altLang="en-US" dirty="0"/>
          </a:p>
        </p:txBody>
      </p:sp>
      <p:cxnSp>
        <p:nvCxnSpPr>
          <p:cNvPr id="28" name="直线连接符 14"/>
          <p:cNvCxnSpPr/>
          <p:nvPr userDrawn="1"/>
        </p:nvCxnSpPr>
        <p:spPr>
          <a:xfrm flipH="1">
            <a:off x="1029918" y="1349255"/>
            <a:ext cx="885967"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30" name="文本框 16"/>
          <p:cNvSpPr txBox="1"/>
          <p:nvPr userDrawn="1"/>
        </p:nvSpPr>
        <p:spPr>
          <a:xfrm>
            <a:off x="918916" y="630373"/>
            <a:ext cx="1147485" cy="653509"/>
          </a:xfrm>
          <a:prstGeom prst="rect">
            <a:avLst/>
          </a:prstGeom>
          <a:noFill/>
        </p:spPr>
        <p:txBody>
          <a:bodyPr wrap="none" rtlCol="0">
            <a:spAutoFit/>
          </a:bodyPr>
          <a:lstStyle>
            <a:defPPr>
              <a:defRPr lang="en-US"/>
            </a:defPPr>
            <a:lvl1pPr defTabSz="1001395" eaLnBrk="0" fontAlgn="ctr" hangingPunct="0">
              <a:defRPr sz="3640" b="0" baseline="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目录</a:t>
            </a:r>
            <a:endParaRPr lang="zh-CN" alt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6#本节概述和学习目标(可选)">
    <p:bg>
      <p:bgPr>
        <a:solidFill>
          <a:srgbClr val="EBEBEB"/>
        </a:solidFill>
        <a:effectLst/>
      </p:bgPr>
    </p:bg>
    <p:spTree>
      <p:nvGrpSpPr>
        <p:cNvPr id="1" name=""/>
        <p:cNvGrpSpPr/>
        <p:nvPr/>
      </p:nvGrpSpPr>
      <p:grpSpPr>
        <a:xfrm>
          <a:off x="0" y="0"/>
          <a:ext cx="0" cy="0"/>
          <a:chOff x="0" y="0"/>
          <a:chExt cx="0" cy="0"/>
        </a:xfrm>
      </p:grpSpPr>
      <p:sp>
        <p:nvSpPr>
          <p:cNvPr id="15" name="文本占位符 6"/>
          <p:cNvSpPr>
            <a:spLocks noGrp="1"/>
          </p:cNvSpPr>
          <p:nvPr>
            <p:ph type="body" sz="quarter" idx="10"/>
          </p:nvPr>
        </p:nvSpPr>
        <p:spPr>
          <a:xfrm>
            <a:off x="1019174" y="1844675"/>
            <a:ext cx="10153651" cy="4082668"/>
          </a:xfrm>
          <a:prstGeom prst="rect">
            <a:avLst/>
          </a:prstGeom>
        </p:spPr>
        <p:txBody>
          <a:bodyPr/>
          <a:lstStyle>
            <a:lvl1pPr marL="302260" indent="-302260" algn="just" fontAlgn="ctr">
              <a:buClrTx/>
              <a:buSzPct val="50000"/>
              <a:buFont typeface="Wingdings" panose="05000000000000000000" pitchFamily="2" charset="2"/>
              <a:buChar char="l"/>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marL="654685" indent="-252095" fontAlgn="ctr">
              <a:buClrTx/>
              <a:buSzPct val="50000"/>
              <a:buFont typeface="Wingdings" panose="05000000000000000000" pitchFamily="2" charset="2"/>
              <a:buChar char="p"/>
              <a:defRPr baseline="0">
                <a:solidFill>
                  <a:schemeClr val="tx1"/>
                </a:solidFill>
                <a:latin typeface="Huawei Sans" panose="020C0503030203020204" pitchFamily="34" charset="0"/>
                <a:ea typeface="方正兰亭黑简体" panose="02000000000000000000" pitchFamily="2" charset="-122"/>
              </a:defRPr>
            </a:lvl2pPr>
            <a:lvl3pPr marL="1003935" indent="-201295" fontAlgn="ctr">
              <a:buSzPct val="50000"/>
              <a:buFont typeface="Wingdings" panose="05000000000000000000" pitchFamily="2" charset="2"/>
              <a:buChar char="n"/>
              <a:defRPr lang="zh-CN" altLang="en-US" baseline="0" dirty="0" smtClean="0">
                <a:solidFill>
                  <a:schemeClr val="tx1"/>
                </a:solidFill>
                <a:latin typeface="Huawei Sans" panose="020C0503030203020204" pitchFamily="34" charset="0"/>
                <a:ea typeface="方正兰亭黑简体" panose="02000000000000000000" pitchFamily="2" charset="-122"/>
              </a:defRPr>
            </a:lvl3pPr>
            <a:lvl4pPr fontAlgn="ctr">
              <a:defRPr baseline="0">
                <a:latin typeface="Huawei Sans" panose="020C0503030203020204" pitchFamily="34" charset="0"/>
                <a:ea typeface="方正兰亭黑简体" panose="02000000000000000000" pitchFamily="2" charset="-122"/>
              </a:defRPr>
            </a:lvl4pPr>
            <a:lvl5pPr marL="1802765" indent="-201295" fontAlgn="ctr">
              <a:buClrTx/>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a:p>
            <a:pPr eaLnBrk="1" hangingPunct="1"/>
            <a:endParaRPr lang="en-US" altLang="zh-CN" dirty="0"/>
          </a:p>
        </p:txBody>
      </p:sp>
      <p:cxnSp>
        <p:nvCxnSpPr>
          <p:cNvPr id="14" name="直线连接符 14"/>
          <p:cNvCxnSpPr/>
          <p:nvPr userDrawn="1"/>
        </p:nvCxnSpPr>
        <p:spPr>
          <a:xfrm flipH="1">
            <a:off x="1029917" y="1349255"/>
            <a:ext cx="414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7" name="文本框 16"/>
          <p:cNvSpPr txBox="1"/>
          <p:nvPr userDrawn="1"/>
        </p:nvSpPr>
        <p:spPr>
          <a:xfrm>
            <a:off x="918916" y="630373"/>
            <a:ext cx="4397358" cy="652486"/>
          </a:xfrm>
          <a:prstGeom prst="rect">
            <a:avLst/>
          </a:prstGeom>
          <a:noFill/>
        </p:spPr>
        <p:txBody>
          <a:bodyPr wrap="none" rtlCol="0">
            <a:spAutoFit/>
          </a:bodyPr>
          <a:lstStyle/>
          <a:p>
            <a:pPr defTabSz="1001395" eaLnBrk="0" fontAlgn="ctr" hangingPunct="0"/>
            <a:r>
              <a:rPr lang="zh-CN" altLang="en-US" sz="3640" b="0" baseline="0"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rPr>
              <a:t>本节概述和学习目标</a:t>
            </a:r>
            <a:endParaRPr lang="zh-CN" altLang="en-US" sz="3640" b="0" baseline="0"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10#思考题">
    <p:spTree>
      <p:nvGrpSpPr>
        <p:cNvPr id="1" name=""/>
        <p:cNvGrpSpPr/>
        <p:nvPr/>
      </p:nvGrpSpPr>
      <p:grpSpPr>
        <a:xfrm>
          <a:off x="0" y="0"/>
          <a:ext cx="0" cy="0"/>
          <a:chOff x="0" y="0"/>
          <a:chExt cx="0" cy="0"/>
        </a:xfrm>
      </p:grpSpPr>
      <p:sp>
        <p:nvSpPr>
          <p:cNvPr id="4" name="文本占位符 6"/>
          <p:cNvSpPr>
            <a:spLocks noGrp="1"/>
          </p:cNvSpPr>
          <p:nvPr>
            <p:ph type="body" sz="quarter" idx="10" hasCustomPrompt="1"/>
          </p:nvPr>
        </p:nvSpPr>
        <p:spPr>
          <a:xfrm>
            <a:off x="1019176" y="1844675"/>
            <a:ext cx="10153650" cy="4068812"/>
          </a:xfrm>
          <a:prstGeom prst="rect">
            <a:avLst/>
          </a:prstGeom>
        </p:spPr>
        <p:txBody>
          <a:bodyPr/>
          <a:lstStyle>
            <a:lvl1pPr marL="457200" marR="0" indent="-457200" algn="just" defTabSz="802005" rtl="0" eaLnBrk="1" fontAlgn="base" latinLnBrk="0" hangingPunct="1">
              <a:lnSpc>
                <a:spcPct val="140000"/>
              </a:lnSpc>
              <a:spcBef>
                <a:spcPct val="30000"/>
              </a:spcBef>
              <a:spcAft>
                <a:spcPct val="0"/>
              </a:spcAft>
              <a:buClr>
                <a:schemeClr val="tx1"/>
              </a:buClr>
              <a:buSzPct val="100000"/>
              <a:buFont typeface="+mj-lt"/>
              <a:buAutoNum type="arabicPeriod"/>
              <a:defRPr sz="2000" baseline="0">
                <a:latin typeface="Huawei Sans" panose="020C0503030203020204" pitchFamily="34" charset="0"/>
                <a:ea typeface="方正兰亭黑简体" panose="02000000000000000000" pitchFamily="2" charset="-122"/>
                <a:cs typeface="Huawei Sans" panose="020C0503030203020204" pitchFamily="34" charset="0"/>
              </a:defRPr>
            </a:lvl1pPr>
            <a:lvl2pPr marL="744220" indent="-342900" algn="just" fontAlgn="base">
              <a:buSzPct val="100000"/>
              <a:buFont typeface="+mj-lt"/>
              <a:buAutoNum type="alphaUcPeriod"/>
              <a:defRPr sz="1800" baseline="0">
                <a:latin typeface="Huawei Sans" panose="020C0503030203020204" pitchFamily="34" charset="0"/>
              </a:defRPr>
            </a:lvl2pPr>
            <a:lvl3pPr>
              <a:defRPr/>
            </a:lvl3pPr>
            <a:lvl5pPr>
              <a:buNone/>
              <a:defRPr/>
            </a:lvl5pPr>
          </a:lstStyle>
          <a:p>
            <a:r>
              <a:rPr lang="zh-CN" altLang="en-US" dirty="0"/>
              <a:t>此版式用于思考题</a:t>
            </a:r>
            <a:r>
              <a:rPr lang="en-US" altLang="zh-CN" dirty="0"/>
              <a:t>-201501</a:t>
            </a:r>
            <a:r>
              <a:rPr lang="zh-CN" altLang="en-US" dirty="0"/>
              <a:t>具体格式（序号格式需以模板展示）</a:t>
            </a:r>
            <a:endParaRPr lang="en-US" altLang="zh-CN" dirty="0"/>
          </a:p>
          <a:p>
            <a:pPr lvl="1"/>
            <a:endParaRPr lang="en-US" altLang="zh-CN" dirty="0"/>
          </a:p>
        </p:txBody>
      </p:sp>
      <p:cxnSp>
        <p:nvCxnSpPr>
          <p:cNvPr id="24" name="直线连接符 14"/>
          <p:cNvCxnSpPr/>
          <p:nvPr userDrawn="1"/>
        </p:nvCxnSpPr>
        <p:spPr>
          <a:xfrm flipH="1">
            <a:off x="1029917" y="1349255"/>
            <a:ext cx="1368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5" name="文本框 16"/>
          <p:cNvSpPr txBox="1"/>
          <p:nvPr userDrawn="1"/>
        </p:nvSpPr>
        <p:spPr>
          <a:xfrm>
            <a:off x="918916" y="630373"/>
            <a:ext cx="1584088" cy="651845"/>
          </a:xfrm>
          <a:prstGeom prst="rect">
            <a:avLst/>
          </a:prstGeom>
          <a:noFill/>
        </p:spPr>
        <p:txBody>
          <a:bodyPr wrap="none" rtlCol="0">
            <a:spAutoFit/>
          </a:bodyPr>
          <a:lstStyle/>
          <a:p>
            <a:r>
              <a:rPr kumimoji="1" lang="zh-CN" altLang="en-US" sz="3635" baseline="0" dirty="0">
                <a:solidFill>
                  <a:schemeClr val="tx1"/>
                </a:solidFill>
                <a:latin typeface="Huawei Sans" panose="020C0503030203020204" pitchFamily="34" charset="0"/>
                <a:ea typeface="方正兰亭黑简体" panose="02000000000000000000" pitchFamily="2" charset="-122"/>
                <a:cs typeface="微软雅黑" panose="020B0503020204020204" charset="-122"/>
              </a:rPr>
              <a:t>思考题</a:t>
            </a:r>
            <a:endParaRPr kumimoji="1" lang="zh-CN" altLang="en-US" sz="3635" baseline="0" dirty="0">
              <a:solidFill>
                <a:schemeClr val="tx1"/>
              </a:solidFill>
              <a:latin typeface="Huawei Sans" panose="020C0503030203020204" pitchFamily="34" charset="0"/>
              <a:ea typeface="方正兰亭黑简体" panose="02000000000000000000" pitchFamily="2" charset="-122"/>
              <a:cs typeface="微软雅黑" panose="020B0503020204020204" charset="-122"/>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11#本节小结（可选）">
    <p:spTree>
      <p:nvGrpSpPr>
        <p:cNvPr id="1" name=""/>
        <p:cNvGrpSpPr/>
        <p:nvPr/>
      </p:nvGrpSpPr>
      <p:grpSpPr>
        <a:xfrm>
          <a:off x="0" y="0"/>
          <a:ext cx="0" cy="0"/>
          <a:chOff x="0" y="0"/>
          <a:chExt cx="0" cy="0"/>
        </a:xfrm>
      </p:grpSpPr>
      <p:sp>
        <p:nvSpPr>
          <p:cNvPr id="10" name="内容占位符 6"/>
          <p:cNvSpPr>
            <a:spLocks noGrp="1"/>
          </p:cNvSpPr>
          <p:nvPr>
            <p:ph sz="quarter" idx="10" hasCustomPrompt="1"/>
          </p:nvPr>
        </p:nvSpPr>
        <p:spPr>
          <a:xfrm>
            <a:off x="1019175" y="1844675"/>
            <a:ext cx="10153650" cy="4082880"/>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2pPr>
            <a:lvl3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3pPr>
            <a:lvl4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4pPr>
            <a:lvl5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5pPr>
          </a:lstStyle>
          <a:p>
            <a:pPr lvl="0"/>
            <a:r>
              <a:rPr lang="zh-CN" altLang="en-US" dirty="0"/>
              <a:t>此版式用于每一节的小结</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cxnSp>
        <p:nvCxnSpPr>
          <p:cNvPr id="11" name="直线连接符 14"/>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2" name="文本框 16"/>
          <p:cNvSpPr txBox="1"/>
          <p:nvPr userDrawn="1"/>
        </p:nvSpPr>
        <p:spPr>
          <a:xfrm>
            <a:off x="918916" y="630373"/>
            <a:ext cx="2050561" cy="651845"/>
          </a:xfrm>
          <a:prstGeom prst="rect">
            <a:avLst/>
          </a:prstGeom>
          <a:noFill/>
        </p:spPr>
        <p:txBody>
          <a:bodyPr wrap="none" rtlCol="0">
            <a:spAutoFit/>
          </a:bodyPr>
          <a:lstStyle/>
          <a:p>
            <a:r>
              <a:rPr kumimoji="1" lang="zh-CN" altLang="en-US" sz="3635" baseline="0" dirty="0">
                <a:solidFill>
                  <a:schemeClr val="tx1"/>
                </a:solidFill>
                <a:latin typeface="Huawei Sans" panose="020C0503030203020204" pitchFamily="34" charset="0"/>
                <a:ea typeface="方正兰亭黑简体" panose="02000000000000000000" pitchFamily="2" charset="-122"/>
                <a:cs typeface="微软雅黑" panose="020B0503020204020204" charset="-122"/>
              </a:rPr>
              <a:t>本节小结</a:t>
            </a:r>
            <a:endParaRPr kumimoji="1" lang="zh-CN" altLang="en-US" sz="3635" baseline="0" dirty="0">
              <a:solidFill>
                <a:schemeClr val="tx1"/>
              </a:solidFill>
              <a:latin typeface="Huawei Sans" panose="020C0503030203020204" pitchFamily="34" charset="0"/>
              <a:ea typeface="方正兰亭黑简体" panose="02000000000000000000" pitchFamily="2" charset="-122"/>
              <a:cs typeface="微软雅黑" panose="020B0503020204020204" charset="-122"/>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12#本章总结">
    <p:spTree>
      <p:nvGrpSpPr>
        <p:cNvPr id="1" name=""/>
        <p:cNvGrpSpPr/>
        <p:nvPr/>
      </p:nvGrpSpPr>
      <p:grpSpPr>
        <a:xfrm>
          <a:off x="0" y="0"/>
          <a:ext cx="0" cy="0"/>
          <a:chOff x="0" y="0"/>
          <a:chExt cx="0" cy="0"/>
        </a:xfrm>
      </p:grpSpPr>
      <p:sp>
        <p:nvSpPr>
          <p:cNvPr id="10" name="内容占位符 6"/>
          <p:cNvSpPr>
            <a:spLocks noGrp="1"/>
          </p:cNvSpPr>
          <p:nvPr>
            <p:ph sz="quarter" idx="10"/>
          </p:nvPr>
        </p:nvSpPr>
        <p:spPr>
          <a:xfrm>
            <a:off x="1019175" y="1844675"/>
            <a:ext cx="10153650" cy="4082880"/>
          </a:xfrm>
          <a:prstGeom prst="rect">
            <a:avLst/>
          </a:prstGeom>
        </p:spPr>
        <p:txBody>
          <a:bodyPr/>
          <a:lstStyle>
            <a:lvl1pPr algn="just" fontAlgn="base">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algn="just" fontAlgn="base">
              <a:buClrTx/>
              <a:defRPr baseline="0">
                <a:latin typeface="Huawei Sans" panose="020C0503030203020204" pitchFamily="34" charset="0"/>
                <a:ea typeface="方正兰亭黑简体" panose="02000000000000000000" pitchFamily="2" charset="-122"/>
                <a:cs typeface="Huawei Sans" panose="020C0503030203020204" pitchFamily="34" charset="0"/>
              </a:defRPr>
            </a:lvl2pPr>
            <a:lvl3pPr algn="just" fontAlgn="base">
              <a:buClrTx/>
              <a:defRPr baseline="0">
                <a:latin typeface="Huawei Sans" panose="020C0503030203020204" pitchFamily="34" charset="0"/>
                <a:ea typeface="方正兰亭黑简体" panose="02000000000000000000" pitchFamily="2" charset="-122"/>
                <a:cs typeface="Huawei Sans" panose="020C0503030203020204" pitchFamily="34" charset="0"/>
              </a:defRPr>
            </a:lvl3pPr>
            <a:lvl4pPr algn="just" fontAlgn="base">
              <a:buClrTx/>
              <a:defRPr baseline="0">
                <a:latin typeface="Huawei Sans" panose="020C0503030203020204" pitchFamily="34" charset="0"/>
                <a:ea typeface="方正兰亭黑简体" panose="02000000000000000000" pitchFamily="2" charset="-122"/>
                <a:cs typeface="Huawei Sans" panose="020C0503030203020204" pitchFamily="34" charset="0"/>
              </a:defRPr>
            </a:lvl4pPr>
            <a:lvl5pPr algn="just" fontAlgn="base">
              <a:buClrTx/>
              <a:defRPr baseline="0">
                <a:latin typeface="Huawei Sans" panose="020C0503030203020204" pitchFamily="34" charset="0"/>
                <a:ea typeface="方正兰亭黑简体" panose="02000000000000000000" pitchFamily="2" charset="-122"/>
                <a:cs typeface="Huawei Sans" panose="020C0503030203020204" pitchFamily="34" charset="0"/>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cxnSp>
        <p:nvCxnSpPr>
          <p:cNvPr id="9" name="直线连接符 14"/>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1" name="文本框 16"/>
          <p:cNvSpPr txBox="1"/>
          <p:nvPr userDrawn="1"/>
        </p:nvSpPr>
        <p:spPr>
          <a:xfrm>
            <a:off x="918916" y="630373"/>
            <a:ext cx="2050561" cy="651845"/>
          </a:xfrm>
          <a:prstGeom prst="rect">
            <a:avLst/>
          </a:prstGeom>
          <a:noFill/>
        </p:spPr>
        <p:txBody>
          <a:bodyPr wrap="none" rtlCol="0">
            <a:spAutoFit/>
          </a:bodyPr>
          <a:lstStyle/>
          <a:p>
            <a:r>
              <a:rPr kumimoji="1" lang="zh-CN" altLang="en-US" sz="3635" baseline="0" dirty="0">
                <a:solidFill>
                  <a:schemeClr val="tx1"/>
                </a:solidFill>
                <a:latin typeface="Huawei Sans" panose="020C0503030203020204" pitchFamily="34" charset="0"/>
                <a:ea typeface="方正兰亭黑简体" panose="02000000000000000000" pitchFamily="2" charset="-122"/>
                <a:cs typeface="微软雅黑" panose="020B0503020204020204" charset="-122"/>
              </a:rPr>
              <a:t>本章总结</a:t>
            </a:r>
            <a:endParaRPr kumimoji="1" lang="zh-CN" altLang="en-US" sz="3635" baseline="0" dirty="0">
              <a:solidFill>
                <a:schemeClr val="tx1"/>
              </a:solidFill>
              <a:latin typeface="Huawei Sans" panose="020C0503030203020204" pitchFamily="34" charset="0"/>
              <a:ea typeface="方正兰亭黑简体" panose="02000000000000000000" pitchFamily="2" charset="-122"/>
              <a:cs typeface="微软雅黑" panose="020B0503020204020204" charset="-122"/>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13#更多信息(可选)">
    <p:spTree>
      <p:nvGrpSpPr>
        <p:cNvPr id="1" name=""/>
        <p:cNvGrpSpPr/>
        <p:nvPr/>
      </p:nvGrpSpPr>
      <p:grpSpPr>
        <a:xfrm>
          <a:off x="0" y="0"/>
          <a:ext cx="0" cy="0"/>
          <a:chOff x="0" y="0"/>
          <a:chExt cx="0" cy="0"/>
        </a:xfrm>
      </p:grpSpPr>
      <p:sp>
        <p:nvSpPr>
          <p:cNvPr id="3" name="文本占位符 6"/>
          <p:cNvSpPr>
            <a:spLocks noGrp="1"/>
          </p:cNvSpPr>
          <p:nvPr>
            <p:ph type="body" sz="quarter" idx="10" hasCustomPrompt="1"/>
          </p:nvPr>
        </p:nvSpPr>
        <p:spPr>
          <a:xfrm>
            <a:off x="1019175" y="1844675"/>
            <a:ext cx="10153650" cy="4082880"/>
          </a:xfrm>
          <a:prstGeom prst="rect">
            <a:avLst/>
          </a:prstGeom>
        </p:spPr>
        <p:txBody>
          <a:bodyPr/>
          <a:lstStyle>
            <a:lvl1pPr algn="just" fontAlgn="base">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vl5pPr>
              <a:buNone/>
              <a:defRPr/>
            </a:lvl5pPr>
          </a:lstStyle>
          <a:p>
            <a:r>
              <a:rPr lang="zh-CN" altLang="en-US" dirty="0"/>
              <a:t>此版式用于提供给学员更多学习信息。</a:t>
            </a:r>
            <a:endParaRPr lang="zh-CN" altLang="en-US" dirty="0"/>
          </a:p>
        </p:txBody>
      </p:sp>
      <p:cxnSp>
        <p:nvCxnSpPr>
          <p:cNvPr id="12" name="直线连接符 14"/>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3" name="文本框 16"/>
          <p:cNvSpPr txBox="1"/>
          <p:nvPr userDrawn="1"/>
        </p:nvSpPr>
        <p:spPr>
          <a:xfrm>
            <a:off x="918916" y="630373"/>
            <a:ext cx="2050561" cy="651845"/>
          </a:xfrm>
          <a:prstGeom prst="rect">
            <a:avLst/>
          </a:prstGeom>
          <a:noFill/>
        </p:spPr>
        <p:txBody>
          <a:bodyPr wrap="none" rtlCol="0">
            <a:spAutoFit/>
          </a:bodyPr>
          <a:lstStyle/>
          <a:p>
            <a:r>
              <a:rPr kumimoji="1" lang="zh-CN" altLang="en-US" sz="3635" baseline="0" dirty="0">
                <a:solidFill>
                  <a:schemeClr val="tx1"/>
                </a:solidFill>
                <a:latin typeface="Huawei Sans" panose="020C0503030203020204" pitchFamily="34" charset="0"/>
                <a:ea typeface="方正兰亭黑简体" panose="02000000000000000000" pitchFamily="2" charset="-122"/>
                <a:cs typeface="微软雅黑" panose="020B0503020204020204" charset="-122"/>
              </a:rPr>
              <a:t>更多信息</a:t>
            </a:r>
            <a:endParaRPr kumimoji="1" lang="zh-CN" altLang="en-US" sz="3635" baseline="0" dirty="0">
              <a:solidFill>
                <a:schemeClr val="tx1"/>
              </a:solidFill>
              <a:latin typeface="Huawei Sans" panose="020C0503030203020204" pitchFamily="34" charset="0"/>
              <a:ea typeface="方正兰亭黑简体" panose="02000000000000000000" pitchFamily="2" charset="-122"/>
              <a:cs typeface="微软雅黑" panose="020B0503020204020204" charset="-122"/>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14#学习推荐(可选)">
    <p:spTree>
      <p:nvGrpSpPr>
        <p:cNvPr id="1" name=""/>
        <p:cNvGrpSpPr/>
        <p:nvPr/>
      </p:nvGrpSpPr>
      <p:grpSpPr>
        <a:xfrm>
          <a:off x="0" y="0"/>
          <a:ext cx="0" cy="0"/>
          <a:chOff x="0" y="0"/>
          <a:chExt cx="0" cy="0"/>
        </a:xfrm>
      </p:grpSpPr>
      <p:sp>
        <p:nvSpPr>
          <p:cNvPr id="3" name="文本占位符 6"/>
          <p:cNvSpPr>
            <a:spLocks noGrp="1"/>
          </p:cNvSpPr>
          <p:nvPr>
            <p:ph type="body" sz="quarter" idx="10"/>
          </p:nvPr>
        </p:nvSpPr>
        <p:spPr>
          <a:xfrm>
            <a:off x="1019175" y="1844675"/>
            <a:ext cx="10153650" cy="4082880"/>
          </a:xfrm>
          <a:prstGeom prst="rect">
            <a:avLst/>
          </a:prstGeom>
        </p:spPr>
        <p:txBody>
          <a:bodyPr/>
          <a:lstStyle>
            <a:lvl1pPr algn="just" fontAlgn="base">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endParaRPr lang="zh-CN" altLang="en-US" dirty="0"/>
          </a:p>
        </p:txBody>
      </p:sp>
      <p:cxnSp>
        <p:nvCxnSpPr>
          <p:cNvPr id="14" name="直线连接符 14"/>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5" name="文本框 16"/>
          <p:cNvSpPr txBox="1"/>
          <p:nvPr userDrawn="1"/>
        </p:nvSpPr>
        <p:spPr>
          <a:xfrm>
            <a:off x="918916" y="630373"/>
            <a:ext cx="2050561" cy="651845"/>
          </a:xfrm>
          <a:prstGeom prst="rect">
            <a:avLst/>
          </a:prstGeom>
          <a:noFill/>
        </p:spPr>
        <p:txBody>
          <a:bodyPr wrap="none" rtlCol="0">
            <a:spAutoFit/>
          </a:bodyPr>
          <a:lstStyle/>
          <a:p>
            <a:r>
              <a:rPr kumimoji="1" lang="zh-CN" altLang="en-US" sz="3635" baseline="0" dirty="0">
                <a:solidFill>
                  <a:schemeClr val="tx1"/>
                </a:solidFill>
                <a:latin typeface="Huawei Sans" panose="020C0503030203020204" pitchFamily="34" charset="0"/>
                <a:ea typeface="方正兰亭黑简体" panose="02000000000000000000" pitchFamily="2" charset="-122"/>
                <a:cs typeface="微软雅黑" panose="020B0503020204020204" charset="-122"/>
              </a:rPr>
              <a:t>学习推荐</a:t>
            </a:r>
            <a:endParaRPr kumimoji="1" lang="zh-CN" altLang="en-US" sz="3635" baseline="0" dirty="0">
              <a:solidFill>
                <a:schemeClr val="tx1"/>
              </a:solidFill>
              <a:latin typeface="Huawei Sans" panose="020C0503030203020204" pitchFamily="34" charset="0"/>
              <a:ea typeface="方正兰亭黑简体" panose="02000000000000000000" pitchFamily="2" charset="-122"/>
              <a:cs typeface="微软雅黑" panose="020B0503020204020204" charset="-122"/>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7#标题和内容">
    <p:spTree>
      <p:nvGrpSpPr>
        <p:cNvPr id="1" name=""/>
        <p:cNvGrpSpPr/>
        <p:nvPr/>
      </p:nvGrpSpPr>
      <p:grpSpPr>
        <a:xfrm>
          <a:off x="0" y="0"/>
          <a:ext cx="0" cy="0"/>
          <a:chOff x="0" y="0"/>
          <a:chExt cx="0" cy="0"/>
        </a:xfrm>
      </p:grpSpPr>
      <p:sp>
        <p:nvSpPr>
          <p:cNvPr id="3" name="标题 1"/>
          <p:cNvSpPr>
            <a:spLocks noGrp="1"/>
          </p:cNvSpPr>
          <p:nvPr>
            <p:ph type="title"/>
          </p:nvPr>
        </p:nvSpPr>
        <p:spPr>
          <a:xfrm>
            <a:off x="455612" y="447468"/>
            <a:ext cx="11293475" cy="1001920"/>
          </a:xfrm>
          <a:prstGeom prst="rect">
            <a:avLst/>
          </a:prstGeom>
        </p:spPr>
        <p:txBody>
          <a:bodyPr lIns="0" tIns="0" rIns="0" bIns="0" anchor="t">
            <a:normAutofit/>
          </a:bodyPr>
          <a:lstStyle>
            <a:lvl1pPr>
              <a:defRPr lang="zh-CN" altLang="en-US" baseline="0" dirty="0">
                <a:latin typeface="Huawei Sans" panose="020C0503030203020204" pitchFamily="34" charset="0"/>
                <a:ea typeface="方正兰亭黑简体" panose="02000000000000000000" pitchFamily="2" charset="-122"/>
              </a:defRPr>
            </a:lvl1pPr>
          </a:lstStyle>
          <a:p>
            <a:pPr marL="0" lvl="0" indent="0" defTabSz="1188085">
              <a:lnSpc>
                <a:spcPts val="3430"/>
              </a:lnSpc>
              <a:spcBef>
                <a:spcPts val="0"/>
              </a:spcBef>
              <a:buFont typeface="Arial" panose="020B0604020202020204" pitchFamily="34" charset="0"/>
            </a:pPr>
            <a:r>
              <a:rPr lang="zh-CN" altLang="en-US" dirty="0"/>
              <a:t>单击此处编辑母版标题样式</a:t>
            </a:r>
            <a:endParaRPr lang="zh-CN" altLang="en-US" dirty="0"/>
          </a:p>
        </p:txBody>
      </p:sp>
      <p:sp>
        <p:nvSpPr>
          <p:cNvPr id="9" name="文本占位符 6"/>
          <p:cNvSpPr>
            <a:spLocks noGrp="1"/>
          </p:cNvSpPr>
          <p:nvPr>
            <p:ph type="body" sz="quarter" idx="10" hasCustomPrompt="1"/>
          </p:nvPr>
        </p:nvSpPr>
        <p:spPr>
          <a:xfrm>
            <a:off x="455612" y="1484312"/>
            <a:ext cx="11293476" cy="4443243"/>
          </a:xfrm>
          <a:prstGeom prst="rect">
            <a:avLst/>
          </a:prstGeom>
        </p:spPr>
        <p:txBody>
          <a:bodyPr/>
          <a:lstStyle>
            <a:lvl1pPr algn="just" fontAlgn="base">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r>
              <a:rPr lang="zh-CN" altLang="en-US" dirty="0"/>
              <a:t>单击此处输入文字</a:t>
            </a:r>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7*#标题和内容（一行标题）">
    <p:spTree>
      <p:nvGrpSpPr>
        <p:cNvPr id="1" name=""/>
        <p:cNvGrpSpPr/>
        <p:nvPr/>
      </p:nvGrpSpPr>
      <p:grpSpPr>
        <a:xfrm>
          <a:off x="0" y="0"/>
          <a:ext cx="0" cy="0"/>
          <a:chOff x="0" y="0"/>
          <a:chExt cx="0" cy="0"/>
        </a:xfrm>
      </p:grpSpPr>
      <p:sp>
        <p:nvSpPr>
          <p:cNvPr id="3" name="标题 1"/>
          <p:cNvSpPr>
            <a:spLocks noGrp="1"/>
          </p:cNvSpPr>
          <p:nvPr>
            <p:ph type="title"/>
          </p:nvPr>
        </p:nvSpPr>
        <p:spPr>
          <a:xfrm>
            <a:off x="455613" y="447468"/>
            <a:ext cx="11293474" cy="485982"/>
          </a:xfrm>
          <a:prstGeom prst="rect">
            <a:avLst/>
          </a:prstGeom>
        </p:spPr>
        <p:txBody>
          <a:bodyPr lIns="0" tIns="0" rIns="0" bIns="0" anchor="t">
            <a:normAutofit/>
          </a:bodyPr>
          <a:lstStyle>
            <a:lvl1pPr>
              <a:defRPr lang="zh-CN" altLang="en-US" baseline="0" dirty="0">
                <a:latin typeface="Huawei Sans" panose="020C0503030203020204" pitchFamily="34" charset="0"/>
                <a:ea typeface="方正兰亭黑简体" panose="02000000000000000000" pitchFamily="2" charset="-122"/>
              </a:defRPr>
            </a:lvl1pPr>
          </a:lstStyle>
          <a:p>
            <a:pPr marL="0" lvl="0" indent="0" defTabSz="1188085">
              <a:lnSpc>
                <a:spcPts val="3430"/>
              </a:lnSpc>
              <a:spcBef>
                <a:spcPts val="0"/>
              </a:spcBef>
              <a:buFont typeface="Arial" panose="020B0604020202020204" pitchFamily="34" charset="0"/>
            </a:pPr>
            <a:r>
              <a:rPr lang="zh-CN" altLang="en-US" dirty="0"/>
              <a:t>单击此处编辑母版标题样式</a:t>
            </a:r>
            <a:endParaRPr lang="zh-CN" altLang="en-US" dirty="0"/>
          </a:p>
        </p:txBody>
      </p:sp>
      <p:sp>
        <p:nvSpPr>
          <p:cNvPr id="9" name="文本占位符 6"/>
          <p:cNvSpPr>
            <a:spLocks noGrp="1"/>
          </p:cNvSpPr>
          <p:nvPr>
            <p:ph type="body" sz="quarter" idx="10" hasCustomPrompt="1"/>
          </p:nvPr>
        </p:nvSpPr>
        <p:spPr>
          <a:xfrm>
            <a:off x="455612" y="1047750"/>
            <a:ext cx="11293475" cy="4879805"/>
          </a:xfrm>
          <a:prstGeom prst="rect">
            <a:avLst/>
          </a:prstGeom>
        </p:spPr>
        <p:txBody>
          <a:bodyPr/>
          <a:lstStyle>
            <a:lvl1pPr algn="just" fontAlgn="auto">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r>
              <a:rPr lang="zh-CN" altLang="en-US" dirty="0"/>
              <a:t>单击此处输入文字</a:t>
            </a:r>
            <a:endParaRPr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8#仅标题（两行标题）">
    <p:spTree>
      <p:nvGrpSpPr>
        <p:cNvPr id="1" name=""/>
        <p:cNvGrpSpPr/>
        <p:nvPr/>
      </p:nvGrpSpPr>
      <p:grpSpPr>
        <a:xfrm>
          <a:off x="0" y="0"/>
          <a:ext cx="0" cy="0"/>
          <a:chOff x="0" y="0"/>
          <a:chExt cx="0" cy="0"/>
        </a:xfrm>
      </p:grpSpPr>
      <p:sp>
        <p:nvSpPr>
          <p:cNvPr id="3" name="标题 1"/>
          <p:cNvSpPr>
            <a:spLocks noGrp="1"/>
          </p:cNvSpPr>
          <p:nvPr>
            <p:ph type="title"/>
          </p:nvPr>
        </p:nvSpPr>
        <p:spPr>
          <a:xfrm>
            <a:off x="455613" y="447468"/>
            <a:ext cx="11293475" cy="1001920"/>
          </a:xfrm>
          <a:prstGeom prst="rect">
            <a:avLst/>
          </a:prstGeom>
        </p:spPr>
        <p:txBody>
          <a:bodyPr lIns="0" tIns="0" rIns="0" bIns="0" anchor="t">
            <a:normAutofit/>
          </a:bodyPr>
          <a:lstStyle>
            <a:lvl1pPr>
              <a:defRPr lang="zh-CN" altLang="en-US" baseline="0" dirty="0"/>
            </a:lvl1pPr>
          </a:lstStyle>
          <a:p>
            <a:pPr marL="0" lvl="0" indent="0" defTabSz="1188085">
              <a:lnSpc>
                <a:spcPts val="3430"/>
              </a:lnSpc>
              <a:spcBef>
                <a:spcPts val="0"/>
              </a:spcBef>
              <a:buFont typeface="Arial" panose="020B0604020202020204" pitchFamily="34" charset="0"/>
            </a:pPr>
            <a:r>
              <a:rPr lang="zh-CN" altLang="en-US" dirty="0"/>
              <a:t>单击此处编辑母版标题样式</a:t>
            </a:r>
            <a:endParaRPr lang="zh-CN" alt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8*#仅标题（一行标题）">
    <p:spTree>
      <p:nvGrpSpPr>
        <p:cNvPr id="1" name=""/>
        <p:cNvGrpSpPr/>
        <p:nvPr/>
      </p:nvGrpSpPr>
      <p:grpSpPr>
        <a:xfrm>
          <a:off x="0" y="0"/>
          <a:ext cx="0" cy="0"/>
          <a:chOff x="0" y="0"/>
          <a:chExt cx="0" cy="0"/>
        </a:xfrm>
      </p:grpSpPr>
      <p:sp>
        <p:nvSpPr>
          <p:cNvPr id="3" name="标题 1"/>
          <p:cNvSpPr>
            <a:spLocks noGrp="1"/>
          </p:cNvSpPr>
          <p:nvPr>
            <p:ph type="title"/>
          </p:nvPr>
        </p:nvSpPr>
        <p:spPr>
          <a:xfrm>
            <a:off x="452438" y="447468"/>
            <a:ext cx="11296649" cy="497095"/>
          </a:xfrm>
          <a:prstGeom prst="rect">
            <a:avLst/>
          </a:prstGeom>
        </p:spPr>
        <p:txBody>
          <a:bodyPr lIns="0" tIns="0" rIns="0" bIns="0" anchor="t">
            <a:normAutofit/>
          </a:bodyPr>
          <a:lstStyle>
            <a:lvl1pPr>
              <a:defRPr lang="zh-CN" altLang="en-US" baseline="0" dirty="0"/>
            </a:lvl1pPr>
          </a:lstStyle>
          <a:p>
            <a:pPr marL="0" lvl="0" indent="0" defTabSz="1188085">
              <a:lnSpc>
                <a:spcPts val="3430"/>
              </a:lnSpc>
              <a:spcBef>
                <a:spcPts val="0"/>
              </a:spcBef>
              <a:buFont typeface="Arial" panose="020B0604020202020204" pitchFamily="34" charset="0"/>
            </a:pPr>
            <a:r>
              <a:rPr lang="zh-CN" altLang="en-US" dirty="0"/>
              <a:t>单击此处编辑母版标题样式</a:t>
            </a:r>
            <a:endParaRPr lang="zh-CN" alt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9#全白背景">
    <p:spTree>
      <p:nvGrpSpPr>
        <p:cNvPr id="1" name=""/>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15#谢谢">
    <p:bg bwMode="gray">
      <p:bgPr>
        <a:solidFill>
          <a:srgbClr val="FFFFFF"/>
        </a:solidFill>
        <a:effectLst/>
      </p:bgPr>
    </p:bg>
    <p:spTree>
      <p:nvGrpSpPr>
        <p:cNvPr id="1" name=""/>
        <p:cNvGrpSpPr/>
        <p:nvPr/>
      </p:nvGrpSpPr>
      <p:grpSpPr>
        <a:xfrm>
          <a:off x="0" y="0"/>
          <a:ext cx="0" cy="0"/>
          <a:chOff x="0" y="0"/>
          <a:chExt cx="0" cy="0"/>
        </a:xfrm>
      </p:grpSpPr>
      <p:sp>
        <p:nvSpPr>
          <p:cNvPr id="3" name="TextBox 3"/>
          <p:cNvSpPr txBox="1"/>
          <p:nvPr userDrawn="1"/>
        </p:nvSpPr>
        <p:spPr>
          <a:xfrm>
            <a:off x="607486" y="1402064"/>
            <a:ext cx="3921034" cy="854717"/>
          </a:xfrm>
          <a:prstGeom prst="rect">
            <a:avLst/>
          </a:prstGeom>
          <a:noFill/>
        </p:spPr>
        <p:txBody>
          <a:bodyPr wrap="square" rtlCol="0">
            <a:spAutoFit/>
          </a:bodyPr>
          <a:lstStyle/>
          <a:p>
            <a:pPr algn="l"/>
            <a:r>
              <a:rPr lang="en-US" sz="4940" dirty="0">
                <a:solidFill>
                  <a:schemeClr val="tx1"/>
                </a:solidFill>
              </a:rPr>
              <a:t>Thank you.</a:t>
            </a:r>
            <a:endParaRPr lang="en-US" sz="4940" dirty="0">
              <a:solidFill>
                <a:schemeClr val="tx1"/>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image" Target="../media/image2.png"/><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0.xml"/><Relationship Id="rId8" Type="http://schemas.openxmlformats.org/officeDocument/2006/relationships/slideLayout" Target="../slideLayouts/slideLayout9.xml"/><Relationship Id="rId7" Type="http://schemas.openxmlformats.org/officeDocument/2006/relationships/slideLayout" Target="../slideLayouts/slideLayout8.xml"/><Relationship Id="rId6" Type="http://schemas.openxmlformats.org/officeDocument/2006/relationships/slideLayout" Target="../slideLayouts/slideLayout7.xml"/><Relationship Id="rId5" Type="http://schemas.openxmlformats.org/officeDocument/2006/relationships/slideLayout" Target="../slideLayouts/slideLayout6.xml"/><Relationship Id="rId4" Type="http://schemas.openxmlformats.org/officeDocument/2006/relationships/slideLayout" Target="../slideLayouts/slideLayout5.xml"/><Relationship Id="rId3" Type="http://schemas.openxmlformats.org/officeDocument/2006/relationships/slideLayout" Target="../slideLayouts/slideLayout4.xml"/><Relationship Id="rId2" Type="http://schemas.openxmlformats.org/officeDocument/2006/relationships/slideLayout" Target="../slideLayouts/slideLayout3.xml"/><Relationship Id="rId12" Type="http://schemas.openxmlformats.org/officeDocument/2006/relationships/theme" Target="../theme/theme2.xml"/><Relationship Id="rId11" Type="http://schemas.openxmlformats.org/officeDocument/2006/relationships/image" Target="../media/image3.png"/><Relationship Id="rId10" Type="http://schemas.openxmlformats.org/officeDocument/2006/relationships/slideLayout" Target="../slideLayouts/slideLayout11.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7" Type="http://schemas.openxmlformats.org/officeDocument/2006/relationships/theme" Target="../theme/theme3.xml"/><Relationship Id="rId6" Type="http://schemas.openxmlformats.org/officeDocument/2006/relationships/image" Target="../media/image3.png"/><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image" Target="../media/image2.png"/><Relationship Id="rId1"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gray">
      <p:bgRef idx="1001">
        <a:schemeClr val="bg1"/>
      </p:bgRef>
    </p:bg>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203089" y="5976169"/>
            <a:ext cx="2257507" cy="482533"/>
          </a:xfrm>
          <a:prstGeom prst="rect">
            <a:avLst/>
          </a:prstGeom>
        </p:spPr>
      </p:pic>
      <p:grpSp>
        <p:nvGrpSpPr>
          <p:cNvPr id="30" name="Group 87"/>
          <p:cNvGrpSpPr>
            <a:grpSpLocks noChangeAspect="1"/>
          </p:cNvGrpSpPr>
          <p:nvPr userDrawn="1"/>
        </p:nvGrpSpPr>
        <p:grpSpPr>
          <a:xfrm>
            <a:off x="12290471" y="2625389"/>
            <a:ext cx="1963323" cy="4233515"/>
            <a:chOff x="5343885" y="-48857"/>
            <a:chExt cx="3263586" cy="7037279"/>
          </a:xfrm>
        </p:grpSpPr>
        <p:sp>
          <p:nvSpPr>
            <p:cNvPr id="31" name="矩形 13"/>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t>196/0/84</a:t>
              </a:r>
              <a:endPar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endParaRPr>
            </a:p>
          </p:txBody>
        </p:sp>
        <p:sp>
          <p:nvSpPr>
            <p:cNvPr id="32" name="文本框 15"/>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公司辅助色</a:t>
              </a:r>
              <a:endParaRPr kumimoji="1" lang="zh-CN" altLang="en-US" sz="800" b="0" i="0" dirty="0">
                <a:solidFill>
                  <a:schemeClr val="tx1"/>
                </a:solidFill>
                <a:latin typeface="方正兰亭黑简体" panose="02000000000000000000" pitchFamily="2" charset="-122"/>
                <a:ea typeface="方正兰亭黑简体" panose="02000000000000000000" pitchFamily="2" charset="-122"/>
              </a:endParaRPr>
            </a:p>
          </p:txBody>
        </p:sp>
        <p:sp>
          <p:nvSpPr>
            <p:cNvPr id="33" name="矩形 13"/>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203/55/120</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34" name="矩形 13"/>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237/109/0</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35" name="矩形 13"/>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153/54/54</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36" name="矩形 13"/>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98/178/48</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37" name="矩形 13"/>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242/137/68</a:t>
              </a:r>
              <a:endParaRPr kumimoji="1" lang="en-US" altLang="zh-CN" sz="500" b="1" dirty="0">
                <a:solidFill>
                  <a:srgbClr val="FFFFFF"/>
                </a:solidFill>
                <a:latin typeface="Huawei Sans" panose="020C0503030203020204" pitchFamily="34" charset="0"/>
                <a:ea typeface="Arial" panose="020B0604020202020204" pitchFamily="34" charset="0"/>
                <a:cs typeface="Arial" panose="020B0604020202020204" pitchFamily="34" charset="0"/>
              </a:endParaRPr>
            </a:p>
          </p:txBody>
        </p:sp>
        <p:sp>
          <p:nvSpPr>
            <p:cNvPr id="38" name="矩形 13"/>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t>PANTONE 185C</a:t>
              </a:r>
              <a:endPar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endParaRPr>
            </a:p>
            <a:p>
              <a:pPr algn="ctr">
                <a:lnSpc>
                  <a:spcPts val="620"/>
                </a:lnSpc>
                <a:spcBef>
                  <a:spcPts val="0"/>
                </a:spcBef>
              </a:pPr>
              <a: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t>RGB </a:t>
              </a:r>
              <a:b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t>199/0/11  </a:t>
              </a:r>
              <a:endPar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endParaRPr>
            </a:p>
          </p:txBody>
        </p:sp>
        <p:sp>
          <p:nvSpPr>
            <p:cNvPr id="39" name="文本框 15"/>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公司色</a:t>
              </a:r>
              <a:endParaRPr kumimoji="1" lang="zh-CN" altLang="en-US" sz="800" b="0" i="0" dirty="0">
                <a:solidFill>
                  <a:schemeClr val="tx1"/>
                </a:solidFill>
                <a:latin typeface="方正兰亭黑简体" panose="02000000000000000000" pitchFamily="2" charset="-122"/>
                <a:ea typeface="方正兰亭黑简体" panose="02000000000000000000" pitchFamily="2" charset="-122"/>
              </a:endParaRPr>
            </a:p>
          </p:txBody>
        </p:sp>
        <p:sp>
          <p:nvSpPr>
            <p:cNvPr id="40" name="矩形 13"/>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t>PANTONE 186C</a:t>
              </a:r>
              <a:endPar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endParaRPr>
            </a:p>
            <a:p>
              <a:pPr algn="ctr">
                <a:lnSpc>
                  <a:spcPts val="620"/>
                </a:lnSpc>
              </a:pPr>
              <a: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t>200/16/46  </a:t>
              </a:r>
              <a:endPar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endParaRPr>
            </a:p>
          </p:txBody>
        </p:sp>
        <p:sp>
          <p:nvSpPr>
            <p:cNvPr id="41" name="矩形 13"/>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127/0/1</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42" name="矩形 13"/>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52/200/0</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43" name="矩形 13"/>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48/181/197</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44" name="矩形 13"/>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129/193/95</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45" name="矩形 13"/>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253/211/81</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46" name="矩形 13"/>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86/196/210</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47" name="矩形 13"/>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211/57/65</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48" name="矩形 13"/>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 </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211/56/89</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49" name="矩形 13"/>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221/128/170</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50" name="矩形 13"/>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191/128/130</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51" name="矩形 13"/>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246/183/140</a:t>
              </a:r>
              <a:endParaRPr kumimoji="1" lang="en-US" altLang="zh-CN" sz="500" b="1" dirty="0">
                <a:solidFill>
                  <a:srgbClr val="595757"/>
                </a:solidFill>
                <a:latin typeface="Huawei Sans" panose="020C0503030203020204" pitchFamily="34" charset="0"/>
                <a:ea typeface="Arial" panose="020B0604020202020204" pitchFamily="34" charset="0"/>
                <a:cs typeface="Arial" panose="020B0604020202020204" pitchFamily="34" charset="0"/>
              </a:endParaRPr>
            </a:p>
          </p:txBody>
        </p:sp>
        <p:sp>
          <p:nvSpPr>
            <p:cNvPr id="52" name="矩形 13"/>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176/216/156</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53" name="矩形 13"/>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253/227/181</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54" name="矩形 13"/>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148/218/226</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55" name="矩形 13"/>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226/129/137</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56" name="矩形 13"/>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226/129/152</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57" name="矩形 13"/>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235/179/204</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58" name="矩形 13"/>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216/179/179</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59" name="矩形 13"/>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250/211/187</a:t>
              </a:r>
              <a:endParaRPr kumimoji="1" lang="en-US" altLang="zh-CN" sz="500" b="1" dirty="0">
                <a:solidFill>
                  <a:srgbClr val="595757"/>
                </a:solidFill>
                <a:latin typeface="Huawei Sans" panose="020C0503030203020204" pitchFamily="34" charset="0"/>
                <a:ea typeface="Arial" panose="020B0604020202020204" pitchFamily="34" charset="0"/>
                <a:cs typeface="Arial" panose="020B0604020202020204" pitchFamily="34" charset="0"/>
              </a:endParaRPr>
            </a:p>
          </p:txBody>
        </p:sp>
        <p:sp>
          <p:nvSpPr>
            <p:cNvPr id="60" name="矩形 13"/>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208/232/196</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61" name="矩形 13"/>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254/238/193</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62" name="矩形 13"/>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190/23/238</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63" name="矩形 13"/>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239/178/184</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64" name="矩形 13"/>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238/179/193</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65" name="矩形 13"/>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35/24/21</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66" name="矩形 13"/>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 </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89/87/87</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67" name="矩形 13"/>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137/137/</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137</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68" name="矩形 13"/>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181/181/</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181</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69" name="矩形 13"/>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221/221/</a:t>
              </a:r>
              <a:b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221</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70" name="矩形 13"/>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255/255/</a:t>
              </a:r>
              <a:b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255</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gr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800" kern="1200" baseline="0">
          <a:solidFill>
            <a:schemeClr val="tx1"/>
          </a:solidFill>
          <a:latin typeface="Huawei Sans" panose="020C0503030203020204" pitchFamily="34" charset="0"/>
          <a:ea typeface="方正兰亭黑简体" panose="02000000000000000000" pitchFamily="2"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gray">
      <p:bgPr>
        <a:solidFill>
          <a:srgbClr val="EBEBEB"/>
        </a:solidFill>
        <a:effectLst/>
      </p:bgPr>
    </p:bg>
    <p:spTree>
      <p:nvGrpSpPr>
        <p:cNvPr id="1" name=""/>
        <p:cNvGrpSpPr/>
        <p:nvPr/>
      </p:nvGrpSpPr>
      <p:grpSpPr>
        <a:xfrm>
          <a:off x="0" y="0"/>
          <a:ext cx="0" cy="0"/>
          <a:chOff x="0" y="0"/>
          <a:chExt cx="0" cy="0"/>
        </a:xfrm>
      </p:grpSpPr>
      <p:sp>
        <p:nvSpPr>
          <p:cNvPr id="23" name="TextBox 2"/>
          <p:cNvSpPr txBox="1"/>
          <p:nvPr userDrawn="1"/>
        </p:nvSpPr>
        <p:spPr>
          <a:xfrm>
            <a:off x="1095467" y="6356939"/>
            <a:ext cx="1463467" cy="242864"/>
          </a:xfrm>
          <a:prstGeom prst="rect">
            <a:avLst/>
          </a:prstGeom>
          <a:noFill/>
        </p:spPr>
        <p:txBody>
          <a:bodyPr wrap="square" rtlCol="0">
            <a:spAutoFit/>
          </a:bodyPr>
          <a:lstStyle/>
          <a:p>
            <a:r>
              <a:rPr lang="en-US" sz="975" b="0"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t>Huawei Confidential</a:t>
            </a:r>
            <a:endParaRPr lang="en-US" sz="975" b="0"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24" name="TextBox 3"/>
          <p:cNvSpPr txBox="1"/>
          <p:nvPr userDrawn="1"/>
        </p:nvSpPr>
        <p:spPr>
          <a:xfrm>
            <a:off x="734131" y="6402806"/>
            <a:ext cx="499729" cy="150296"/>
          </a:xfrm>
          <a:prstGeom prst="rect">
            <a:avLst/>
          </a:prstGeom>
          <a:noFill/>
        </p:spPr>
        <p:txBody>
          <a:bodyPr wrap="square" lIns="0" tIns="0" rIns="0" bIns="0" rtlCol="0">
            <a:spAutoFit/>
          </a:bodyPr>
          <a:lstStyle/>
          <a:p>
            <a:pPr marL="0" marR="0" lvl="0" indent="0" algn="l" defTabSz="890905" rtl="0" eaLnBrk="1" fontAlgn="auto" latinLnBrk="0" hangingPunct="1">
              <a:lnSpc>
                <a:spcPct val="100000"/>
              </a:lnSpc>
              <a:spcBef>
                <a:spcPts val="0"/>
              </a:spcBef>
              <a:spcAft>
                <a:spcPts val="0"/>
              </a:spcAft>
              <a:buClrTx/>
              <a:buSzTx/>
              <a:buFontTx/>
              <a:buNone/>
              <a:defRPr/>
            </a:pPr>
            <a:fld id="{C3837181-38C6-AD4F-B8BA-B444770388BB}" type="slidenum">
              <a:rPr lang="en-US" sz="975" baseline="0" smtClean="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fld>
            <a:endParaRPr lang="en-US" sz="975"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25" name="图片 24"/>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10195999" y="6319870"/>
            <a:ext cx="1269075" cy="271153"/>
          </a:xfrm>
          <a:prstGeom prst="rect">
            <a:avLst/>
          </a:prstGeom>
        </p:spPr>
      </p:pic>
      <p:grpSp>
        <p:nvGrpSpPr>
          <p:cNvPr id="27" name="Group 87"/>
          <p:cNvGrpSpPr>
            <a:grpSpLocks noChangeAspect="1"/>
          </p:cNvGrpSpPr>
          <p:nvPr userDrawn="1"/>
        </p:nvGrpSpPr>
        <p:grpSpPr>
          <a:xfrm>
            <a:off x="12290471" y="2625389"/>
            <a:ext cx="1963323" cy="4233515"/>
            <a:chOff x="5343885" y="-48857"/>
            <a:chExt cx="3263586" cy="7037279"/>
          </a:xfrm>
        </p:grpSpPr>
        <p:sp>
          <p:nvSpPr>
            <p:cNvPr id="28" name="矩形 13"/>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t>196/0/84</a:t>
              </a:r>
              <a:endPar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endParaRPr>
            </a:p>
          </p:txBody>
        </p:sp>
        <p:sp>
          <p:nvSpPr>
            <p:cNvPr id="29" name="文本框 15"/>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公司辅助色</a:t>
              </a:r>
              <a:endParaRPr kumimoji="1" lang="zh-CN" altLang="en-US" sz="800" b="0" i="0" dirty="0">
                <a:solidFill>
                  <a:schemeClr val="tx1"/>
                </a:solidFill>
                <a:latin typeface="方正兰亭黑简体" panose="02000000000000000000" pitchFamily="2" charset="-122"/>
                <a:ea typeface="方正兰亭黑简体" panose="02000000000000000000" pitchFamily="2" charset="-122"/>
              </a:endParaRPr>
            </a:p>
          </p:txBody>
        </p:sp>
        <p:sp>
          <p:nvSpPr>
            <p:cNvPr id="30" name="矩形 13"/>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203/55/120</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31" name="矩形 13"/>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237/109/0</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32" name="矩形 13"/>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153/54/54</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33" name="矩形 13"/>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98/178/48</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34" name="矩形 13"/>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242/137/68</a:t>
              </a:r>
              <a:endParaRPr kumimoji="1" lang="en-US" altLang="zh-CN" sz="500" b="1" dirty="0">
                <a:solidFill>
                  <a:srgbClr val="FFFFFF"/>
                </a:solidFill>
                <a:latin typeface="Huawei Sans" panose="020C0503030203020204" pitchFamily="34" charset="0"/>
                <a:ea typeface="Arial" panose="020B0604020202020204" pitchFamily="34" charset="0"/>
                <a:cs typeface="Arial" panose="020B0604020202020204" pitchFamily="34" charset="0"/>
              </a:endParaRPr>
            </a:p>
          </p:txBody>
        </p:sp>
        <p:sp>
          <p:nvSpPr>
            <p:cNvPr id="35" name="矩形 13"/>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t>PANTONE 185C</a:t>
              </a:r>
              <a:endPar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endParaRPr>
            </a:p>
            <a:p>
              <a:pPr algn="ctr">
                <a:lnSpc>
                  <a:spcPts val="620"/>
                </a:lnSpc>
                <a:spcBef>
                  <a:spcPts val="0"/>
                </a:spcBef>
              </a:pPr>
              <a: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t>RGB </a:t>
              </a:r>
              <a:b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t>199/0/11  </a:t>
              </a:r>
              <a:endPar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endParaRPr>
            </a:p>
          </p:txBody>
        </p:sp>
        <p:sp>
          <p:nvSpPr>
            <p:cNvPr id="36" name="文本框 15"/>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公司色</a:t>
              </a:r>
              <a:endParaRPr kumimoji="1" lang="zh-CN" altLang="en-US" sz="800" b="0" i="0" dirty="0">
                <a:solidFill>
                  <a:schemeClr val="tx1"/>
                </a:solidFill>
                <a:latin typeface="方正兰亭黑简体" panose="02000000000000000000" pitchFamily="2" charset="-122"/>
                <a:ea typeface="方正兰亭黑简体" panose="02000000000000000000" pitchFamily="2" charset="-122"/>
              </a:endParaRPr>
            </a:p>
          </p:txBody>
        </p:sp>
        <p:sp>
          <p:nvSpPr>
            <p:cNvPr id="37" name="矩形 13"/>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t>PANTONE 186C</a:t>
              </a:r>
              <a:endPar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endParaRPr>
            </a:p>
            <a:p>
              <a:pPr algn="ctr">
                <a:lnSpc>
                  <a:spcPts val="620"/>
                </a:lnSpc>
              </a:pPr>
              <a: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t>200/16/46  </a:t>
              </a:r>
              <a:endPar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endParaRPr>
            </a:p>
          </p:txBody>
        </p:sp>
        <p:sp>
          <p:nvSpPr>
            <p:cNvPr id="38" name="矩形 13"/>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127/0/1</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39" name="矩形 13"/>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52/200/0</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40" name="矩形 13"/>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48/181/197</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41" name="矩形 13"/>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129/193/95</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42" name="矩形 13"/>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253/211/81</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43" name="矩形 13"/>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86/196/210</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44" name="矩形 13"/>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211/57/65</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65" name="矩形 13"/>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 </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211/56/89</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66" name="矩形 13"/>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221/128/170</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67" name="矩形 13"/>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191/128/130</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68" name="矩形 13"/>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246/183/140</a:t>
              </a:r>
              <a:endParaRPr kumimoji="1" lang="en-US" altLang="zh-CN" sz="500" b="1" dirty="0">
                <a:solidFill>
                  <a:srgbClr val="595757"/>
                </a:solidFill>
                <a:latin typeface="Huawei Sans" panose="020C0503030203020204" pitchFamily="34" charset="0"/>
                <a:ea typeface="Arial" panose="020B0604020202020204" pitchFamily="34" charset="0"/>
                <a:cs typeface="Arial" panose="020B0604020202020204" pitchFamily="34" charset="0"/>
              </a:endParaRPr>
            </a:p>
          </p:txBody>
        </p:sp>
        <p:sp>
          <p:nvSpPr>
            <p:cNvPr id="69" name="矩形 13"/>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176/216/156</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70" name="矩形 13"/>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253/227/181</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71" name="矩形 13"/>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148/218/226</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72" name="矩形 13"/>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226/129/137</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73" name="矩形 13"/>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226/129/152</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74" name="矩形 13"/>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235/179/204</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75" name="矩形 13"/>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216/179/179</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76" name="矩形 13"/>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250/211/187</a:t>
              </a:r>
              <a:endParaRPr kumimoji="1" lang="en-US" altLang="zh-CN" sz="500" b="1" dirty="0">
                <a:solidFill>
                  <a:srgbClr val="595757"/>
                </a:solidFill>
                <a:latin typeface="Huawei Sans" panose="020C0503030203020204" pitchFamily="34" charset="0"/>
                <a:ea typeface="Arial" panose="020B0604020202020204" pitchFamily="34" charset="0"/>
                <a:cs typeface="Arial" panose="020B0604020202020204" pitchFamily="34" charset="0"/>
              </a:endParaRPr>
            </a:p>
          </p:txBody>
        </p:sp>
        <p:sp>
          <p:nvSpPr>
            <p:cNvPr id="77" name="矩形 13"/>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208/232/196</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78" name="矩形 13"/>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254/238/193</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79" name="矩形 13"/>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190/23/238</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80" name="矩形 13"/>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239/178/184</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81" name="矩形 13"/>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238/179/193</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82" name="矩形 13"/>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35/24/21</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83" name="矩形 13"/>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 </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89/87/87</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84" name="矩形 13"/>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137/137/</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137</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85" name="矩形 13"/>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181/181/</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181</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86" name="矩形 13"/>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221/221/</a:t>
              </a:r>
              <a:b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221</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87" name="矩形 13"/>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255/255/</a:t>
              </a:r>
              <a:b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255</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grpSp>
    </p:spTree>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Lst>
  <p:txStyles>
    <p:titleStyle>
      <a:lvl1pPr algn="l" defTabSz="913765" rtl="0" eaLnBrk="1" fontAlgn="ctr" latinLnBrk="0" hangingPunct="1">
        <a:lnSpc>
          <a:spcPct val="90000"/>
        </a:lnSpc>
        <a:spcBef>
          <a:spcPct val="0"/>
        </a:spcBef>
        <a:buNone/>
        <a:defRPr lang="zh-CN" altLang="en-US" sz="3200" kern="1200" baseline="0" dirty="0">
          <a:solidFill>
            <a:schemeClr val="tx1"/>
          </a:solidFill>
          <a:latin typeface="Huawei Sans" panose="020C0503030203020204" pitchFamily="34" charset="0"/>
          <a:ea typeface="方正兰亭黑简体" panose="02000000000000000000" pitchFamily="2" charset="-122"/>
          <a:cs typeface="+mn-cs"/>
        </a:defRPr>
      </a:lvl1pPr>
    </p:titleStyle>
    <p:bodyStyle>
      <a:lvl1pPr marL="302260" indent="-302260" algn="l" defTabSz="913765" rtl="0" eaLnBrk="1" fontAlgn="ctr" latinLnBrk="0" hangingPunct="1">
        <a:lnSpc>
          <a:spcPct val="140000"/>
        </a:lnSpc>
        <a:spcBef>
          <a:spcPts val="790"/>
        </a:spcBef>
        <a:buSzPct val="50000"/>
        <a:buFont typeface="Wingdings" panose="05000000000000000000" pitchFamily="2" charset="2"/>
        <a:buChar char="l"/>
        <a:defRPr sz="2200" kern="1200">
          <a:solidFill>
            <a:schemeClr val="tx1"/>
          </a:solidFill>
          <a:latin typeface="Huawei Sans" panose="020C0503030203020204" pitchFamily="34" charset="0"/>
          <a:ea typeface="方正兰亭黑简体" panose="02000000000000000000" pitchFamily="2" charset="-122"/>
          <a:cs typeface="+mn-cs"/>
        </a:defRPr>
      </a:lvl1pPr>
      <a:lvl2pPr marL="654685" indent="-252095" algn="l" defTabSz="913765" rtl="0" eaLnBrk="1" fontAlgn="ctr" latinLnBrk="0" hangingPunct="1">
        <a:lnSpc>
          <a:spcPct val="140000"/>
        </a:lnSpc>
        <a:spcBef>
          <a:spcPts val="720"/>
        </a:spcBef>
        <a:buClrTx/>
        <a:buSzPct val="50000"/>
        <a:buFont typeface="Wingdings" panose="05000000000000000000" pitchFamily="2" charset="2"/>
        <a:buChar char="p"/>
        <a:defRPr sz="2000" kern="1200">
          <a:solidFill>
            <a:schemeClr val="tx1"/>
          </a:solidFill>
          <a:latin typeface="Huawei Sans" panose="020C0503030203020204" pitchFamily="34" charset="0"/>
          <a:ea typeface="方正兰亭黑简体" panose="02000000000000000000" pitchFamily="2" charset="-122"/>
          <a:cs typeface="+mn-cs"/>
        </a:defRPr>
      </a:lvl2pPr>
      <a:lvl3pPr marL="1003935" indent="-201295" algn="l" defTabSz="913765" rtl="0" eaLnBrk="1" fontAlgn="ctr" latinLnBrk="0" hangingPunct="1">
        <a:lnSpc>
          <a:spcPct val="140000"/>
        </a:lnSpc>
        <a:spcBef>
          <a:spcPts val="650"/>
        </a:spcBef>
        <a:buClrTx/>
        <a:buSzPct val="50000"/>
        <a:buFont typeface="Wingdings" panose="05000000000000000000" pitchFamily="2" charset="2"/>
        <a:buChar char="n"/>
        <a:defRPr sz="1800" kern="1200">
          <a:solidFill>
            <a:schemeClr val="tx1"/>
          </a:solidFill>
          <a:latin typeface="Huawei Sans" panose="020C0503030203020204" pitchFamily="34" charset="0"/>
          <a:ea typeface="方正兰亭黑简体" panose="02000000000000000000" pitchFamily="2" charset="-122"/>
          <a:cs typeface="+mn-cs"/>
        </a:defRPr>
      </a:lvl3pPr>
      <a:lvl4pPr marL="1399540" indent="-198120" algn="l" defTabSz="913765" rtl="0" eaLnBrk="1" fontAlgn="ctr" latinLnBrk="0" hangingPunct="1">
        <a:lnSpc>
          <a:spcPct val="140000"/>
        </a:lnSpc>
        <a:spcBef>
          <a:spcPts val="575"/>
        </a:spcBef>
        <a:buFont typeface="Huawei Sans" panose="020C0503030203020204" pitchFamily="34" charset="0"/>
        <a:buChar char="−"/>
        <a:defRPr sz="1600" kern="1200">
          <a:solidFill>
            <a:schemeClr val="tx1"/>
          </a:solidFill>
          <a:latin typeface="Huawei Sans" panose="020C0503030203020204" pitchFamily="34" charset="0"/>
          <a:ea typeface="方正兰亭黑简体" panose="02000000000000000000" pitchFamily="2" charset="-122"/>
          <a:cs typeface="+mn-cs"/>
        </a:defRPr>
      </a:lvl4pPr>
      <a:lvl5pPr marL="1802765" indent="-201295" algn="l" defTabSz="913765" rtl="0" eaLnBrk="1" fontAlgn="ctr" latinLnBrk="0" hangingPunct="1">
        <a:lnSpc>
          <a:spcPct val="140000"/>
        </a:lnSpc>
        <a:spcBef>
          <a:spcPts val="575"/>
        </a:spcBef>
        <a:buFont typeface="Huawei Sans" panose="020C0503030203020204" pitchFamily="34" charset="0"/>
        <a:buChar char="~"/>
        <a:defRPr sz="1400" kern="1200">
          <a:solidFill>
            <a:schemeClr val="tx1"/>
          </a:solidFill>
          <a:latin typeface="Huawei Sans" panose="020C0503030203020204" pitchFamily="34" charset="0"/>
          <a:ea typeface="方正兰亭黑简体" panose="02000000000000000000" pitchFamily="2" charset="-122"/>
          <a:cs typeface="+mn-cs"/>
        </a:defRPr>
      </a:lvl5pPr>
      <a:lvl6pPr marL="25133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05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77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9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3765" algn="l" defTabSz="913765" rtl="0" eaLnBrk="1" latinLnBrk="0" hangingPunct="1">
        <a:defRPr sz="1800" kern="1200">
          <a:solidFill>
            <a:schemeClr val="tx1"/>
          </a:solidFill>
          <a:latin typeface="+mn-lt"/>
          <a:ea typeface="+mn-ea"/>
          <a:cs typeface="+mn-cs"/>
        </a:defRPr>
      </a:lvl3pPr>
      <a:lvl4pPr marL="1370965" algn="l" defTabSz="913765" rtl="0" eaLnBrk="1" latinLnBrk="0" hangingPunct="1">
        <a:defRPr sz="1800" kern="1200">
          <a:solidFill>
            <a:schemeClr val="tx1"/>
          </a:solidFill>
          <a:latin typeface="+mn-lt"/>
          <a:ea typeface="+mn-ea"/>
          <a:cs typeface="+mn-cs"/>
        </a:defRPr>
      </a:lvl4pPr>
      <a:lvl5pPr marL="1828165" algn="l" defTabSz="913765" rtl="0" eaLnBrk="1" latinLnBrk="0" hangingPunct="1">
        <a:defRPr sz="1800" kern="1200">
          <a:solidFill>
            <a:schemeClr val="tx1"/>
          </a:solidFill>
          <a:latin typeface="+mn-lt"/>
          <a:ea typeface="+mn-ea"/>
          <a:cs typeface="+mn-cs"/>
        </a:defRPr>
      </a:lvl5pPr>
      <a:lvl6pPr marL="2285365" algn="l" defTabSz="913765" rtl="0" eaLnBrk="1" latinLnBrk="0" hangingPunct="1">
        <a:defRPr sz="1800" kern="1200">
          <a:solidFill>
            <a:schemeClr val="tx1"/>
          </a:solidFill>
          <a:latin typeface="+mn-lt"/>
          <a:ea typeface="+mn-ea"/>
          <a:cs typeface="+mn-cs"/>
        </a:defRPr>
      </a:lvl6pPr>
      <a:lvl7pPr marL="2741930" algn="l" defTabSz="913765" rtl="0" eaLnBrk="1" latinLnBrk="0" hangingPunct="1">
        <a:defRPr sz="1800" kern="1200">
          <a:solidFill>
            <a:schemeClr val="tx1"/>
          </a:solidFill>
          <a:latin typeface="+mn-lt"/>
          <a:ea typeface="+mn-ea"/>
          <a:cs typeface="+mn-cs"/>
        </a:defRPr>
      </a:lvl7pPr>
      <a:lvl8pPr marL="3199130" algn="l" defTabSz="913765" rtl="0" eaLnBrk="1" latinLnBrk="0" hangingPunct="1">
        <a:defRPr sz="1800" kern="1200">
          <a:solidFill>
            <a:schemeClr val="tx1"/>
          </a:solidFill>
          <a:latin typeface="+mn-lt"/>
          <a:ea typeface="+mn-ea"/>
          <a:cs typeface="+mn-cs"/>
        </a:defRPr>
      </a:lvl8pPr>
      <a:lvl9pPr marL="3656330" algn="l" defTabSz="913765"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bwMode="gray">
      <p:bgRef idx="1001">
        <a:schemeClr val="bg1"/>
      </p:bgRef>
    </p:bg>
    <p:spTree>
      <p:nvGrpSpPr>
        <p:cNvPr id="1" name=""/>
        <p:cNvGrpSpPr/>
        <p:nvPr/>
      </p:nvGrpSpPr>
      <p:grpSpPr>
        <a:xfrm>
          <a:off x="0" y="0"/>
          <a:ext cx="0" cy="0"/>
          <a:chOff x="0" y="0"/>
          <a:chExt cx="0" cy="0"/>
        </a:xfrm>
      </p:grpSpPr>
      <p:sp>
        <p:nvSpPr>
          <p:cNvPr id="27" name="Rectangle 6"/>
          <p:cNvSpPr>
            <a:spLocks noGrp="1" noChangeArrowheads="1"/>
          </p:cNvSpPr>
          <p:nvPr>
            <p:ph type="title"/>
          </p:nvPr>
        </p:nvSpPr>
        <p:spPr bwMode="auto">
          <a:xfrm>
            <a:off x="457905" y="457499"/>
            <a:ext cx="11291061" cy="980113"/>
          </a:xfrm>
          <a:prstGeom prst="rect">
            <a:avLst/>
          </a:prstGeom>
        </p:spPr>
        <p:txBody>
          <a:bodyPr lIns="0" tIns="0" rIns="0" bIns="0" anchor="t">
            <a:normAutofit/>
          </a:bodyPr>
          <a:lstStyle/>
          <a:p>
            <a:pPr marL="0" lvl="0" indent="0" defTabSz="1188085">
              <a:lnSpc>
                <a:spcPts val="3430"/>
              </a:lnSpc>
              <a:spcBef>
                <a:spcPts val="0"/>
              </a:spcBef>
              <a:buFont typeface="Arial" panose="020B0604020202020204" pitchFamily="34" charset="0"/>
            </a:pPr>
            <a:r>
              <a:rPr lang="zh-CN" altLang="en-US" dirty="0"/>
              <a:t>单击此处编辑母版标题样式</a:t>
            </a:r>
            <a:endParaRPr lang="zh-CN" altLang="en-US" dirty="0"/>
          </a:p>
        </p:txBody>
      </p:sp>
      <p:sp>
        <p:nvSpPr>
          <p:cNvPr id="28" name="Rectangle 57"/>
          <p:cNvSpPr>
            <a:spLocks noGrp="1" noChangeArrowheads="1"/>
          </p:cNvSpPr>
          <p:nvPr>
            <p:ph type="body" idx="1"/>
          </p:nvPr>
        </p:nvSpPr>
        <p:spPr bwMode="auto">
          <a:xfrm>
            <a:off x="455613" y="1484313"/>
            <a:ext cx="11293475" cy="4443760"/>
          </a:xfrm>
          <a:prstGeom prst="rect">
            <a:avLst/>
          </a:prstGeom>
          <a:noFill/>
          <a:ln w="9525">
            <a:noFill/>
            <a:miter lim="800000"/>
          </a:ln>
        </p:spPr>
        <p:txBody>
          <a:bodyPr vert="horz" wrap="square" lIns="80141" tIns="40071" rIns="80141" bIns="40071" numCol="1" anchor="t" anchorCtr="0" compatLnSpc="1"/>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23" name="TextBox 2"/>
          <p:cNvSpPr txBox="1"/>
          <p:nvPr userDrawn="1"/>
        </p:nvSpPr>
        <p:spPr>
          <a:xfrm>
            <a:off x="1095467" y="6356939"/>
            <a:ext cx="1463467" cy="242864"/>
          </a:xfrm>
          <a:prstGeom prst="rect">
            <a:avLst/>
          </a:prstGeom>
          <a:noFill/>
        </p:spPr>
        <p:txBody>
          <a:bodyPr wrap="square" rtlCol="0">
            <a:spAutoFit/>
          </a:bodyPr>
          <a:lstStyle/>
          <a:p>
            <a:r>
              <a:rPr lang="en-US" sz="975" b="0"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t>Huawei Confidential</a:t>
            </a:r>
            <a:endParaRPr lang="en-US" sz="975" b="0"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24" name="TextBox 3"/>
          <p:cNvSpPr txBox="1"/>
          <p:nvPr userDrawn="1"/>
        </p:nvSpPr>
        <p:spPr>
          <a:xfrm>
            <a:off x="734131" y="6402806"/>
            <a:ext cx="499729" cy="150296"/>
          </a:xfrm>
          <a:prstGeom prst="rect">
            <a:avLst/>
          </a:prstGeom>
          <a:noFill/>
        </p:spPr>
        <p:txBody>
          <a:bodyPr wrap="square" lIns="0" tIns="0" rIns="0" bIns="0" rtlCol="0">
            <a:spAutoFit/>
          </a:bodyPr>
          <a:lstStyle/>
          <a:p>
            <a:pPr marL="0" marR="0" lvl="0" indent="0" algn="l" defTabSz="890905" rtl="0" eaLnBrk="1" fontAlgn="auto" latinLnBrk="0" hangingPunct="1">
              <a:lnSpc>
                <a:spcPct val="100000"/>
              </a:lnSpc>
              <a:spcBef>
                <a:spcPts val="0"/>
              </a:spcBef>
              <a:spcAft>
                <a:spcPts val="0"/>
              </a:spcAft>
              <a:buClrTx/>
              <a:buSzTx/>
              <a:buFontTx/>
              <a:buNone/>
              <a:defRPr/>
            </a:pPr>
            <a:fld id="{C3837181-38C6-AD4F-B8BA-B444770388BB}" type="slidenum">
              <a:rPr lang="en-US" sz="975" baseline="0" smtClean="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fld>
            <a:endParaRPr lang="en-US" sz="975"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25" name="图片 24"/>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0195999" y="6319870"/>
            <a:ext cx="1269075" cy="271153"/>
          </a:xfrm>
          <a:prstGeom prst="rect">
            <a:avLst/>
          </a:prstGeom>
        </p:spPr>
      </p:pic>
      <p:grpSp>
        <p:nvGrpSpPr>
          <p:cNvPr id="29" name="Group 87"/>
          <p:cNvGrpSpPr>
            <a:grpSpLocks noChangeAspect="1"/>
          </p:cNvGrpSpPr>
          <p:nvPr userDrawn="1"/>
        </p:nvGrpSpPr>
        <p:grpSpPr>
          <a:xfrm>
            <a:off x="12290471" y="2625389"/>
            <a:ext cx="1963323" cy="4233515"/>
            <a:chOff x="5343885" y="-48857"/>
            <a:chExt cx="3263586" cy="7037279"/>
          </a:xfrm>
        </p:grpSpPr>
        <p:sp>
          <p:nvSpPr>
            <p:cNvPr id="30" name="矩形 13"/>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t>196/0/84</a:t>
              </a:r>
              <a:endPar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endParaRPr>
            </a:p>
          </p:txBody>
        </p:sp>
        <p:sp>
          <p:nvSpPr>
            <p:cNvPr id="31" name="文本框 15"/>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公司辅助色</a:t>
              </a:r>
              <a:endParaRPr kumimoji="1" lang="zh-CN" altLang="en-US" sz="800" b="0" i="0" dirty="0">
                <a:solidFill>
                  <a:schemeClr val="tx1"/>
                </a:solidFill>
                <a:latin typeface="方正兰亭黑简体" panose="02000000000000000000" pitchFamily="2" charset="-122"/>
                <a:ea typeface="方正兰亭黑简体" panose="02000000000000000000" pitchFamily="2" charset="-122"/>
              </a:endParaRPr>
            </a:p>
          </p:txBody>
        </p:sp>
        <p:sp>
          <p:nvSpPr>
            <p:cNvPr id="32" name="矩形 13"/>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203/55/120</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33" name="矩形 13"/>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237/109/0</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34" name="矩形 13"/>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153/54/54</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35" name="矩形 13"/>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98/178/48</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36" name="矩形 13"/>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242/137/68</a:t>
              </a:r>
              <a:endParaRPr kumimoji="1" lang="en-US" altLang="zh-CN" sz="500" b="1" dirty="0">
                <a:solidFill>
                  <a:srgbClr val="FFFFFF"/>
                </a:solidFill>
                <a:latin typeface="Huawei Sans" panose="020C0503030203020204" pitchFamily="34" charset="0"/>
                <a:ea typeface="Arial" panose="020B0604020202020204" pitchFamily="34" charset="0"/>
                <a:cs typeface="Arial" panose="020B0604020202020204" pitchFamily="34" charset="0"/>
              </a:endParaRPr>
            </a:p>
          </p:txBody>
        </p:sp>
        <p:sp>
          <p:nvSpPr>
            <p:cNvPr id="37" name="矩形 13"/>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t>PANTONE 185C</a:t>
              </a:r>
              <a:endPar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endParaRPr>
            </a:p>
            <a:p>
              <a:pPr algn="ctr">
                <a:lnSpc>
                  <a:spcPts val="620"/>
                </a:lnSpc>
                <a:spcBef>
                  <a:spcPts val="0"/>
                </a:spcBef>
              </a:pPr>
              <a: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t>RGB </a:t>
              </a:r>
              <a:b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t>199/0/11  </a:t>
              </a:r>
              <a:endPar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endParaRPr>
            </a:p>
          </p:txBody>
        </p:sp>
        <p:sp>
          <p:nvSpPr>
            <p:cNvPr id="38" name="文本框 15"/>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公司色</a:t>
              </a:r>
              <a:endParaRPr kumimoji="1" lang="zh-CN" altLang="en-US" sz="800" b="0" i="0" dirty="0">
                <a:solidFill>
                  <a:schemeClr val="tx1"/>
                </a:solidFill>
                <a:latin typeface="方正兰亭黑简体" panose="02000000000000000000" pitchFamily="2" charset="-122"/>
                <a:ea typeface="方正兰亭黑简体" panose="02000000000000000000" pitchFamily="2" charset="-122"/>
              </a:endParaRPr>
            </a:p>
          </p:txBody>
        </p:sp>
        <p:sp>
          <p:nvSpPr>
            <p:cNvPr id="39" name="矩形 13"/>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t>PANTONE 186C</a:t>
              </a:r>
              <a:endPar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endParaRPr>
            </a:p>
            <a:p>
              <a:pPr algn="ctr">
                <a:lnSpc>
                  <a:spcPts val="620"/>
                </a:lnSpc>
              </a:pPr>
              <a: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t>200/16/46  </a:t>
              </a:r>
              <a:endPar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endParaRPr>
            </a:p>
          </p:txBody>
        </p:sp>
        <p:sp>
          <p:nvSpPr>
            <p:cNvPr id="40" name="矩形 13"/>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127/0/1</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41" name="矩形 13"/>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52/200/0</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42" name="矩形 13"/>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48/181/197</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43" name="矩形 13"/>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129/193/95</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44" name="矩形 13"/>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253/211/81</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65" name="矩形 13"/>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86/196/210</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66" name="矩形 13"/>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211/57/65</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67" name="矩形 13"/>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 </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211/56/89</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68" name="矩形 13"/>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221/128/170</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69" name="矩形 13"/>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191/128/130</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70" name="矩形 13"/>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246/183/140</a:t>
              </a:r>
              <a:endParaRPr kumimoji="1" lang="en-US" altLang="zh-CN" sz="500" b="1" dirty="0">
                <a:solidFill>
                  <a:srgbClr val="595757"/>
                </a:solidFill>
                <a:latin typeface="Huawei Sans" panose="020C0503030203020204" pitchFamily="34" charset="0"/>
                <a:ea typeface="Arial" panose="020B0604020202020204" pitchFamily="34" charset="0"/>
                <a:cs typeface="Arial" panose="020B0604020202020204" pitchFamily="34" charset="0"/>
              </a:endParaRPr>
            </a:p>
          </p:txBody>
        </p:sp>
        <p:sp>
          <p:nvSpPr>
            <p:cNvPr id="71" name="矩形 13"/>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176/216/156</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72" name="矩形 13"/>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253/227/181</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73" name="矩形 13"/>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148/218/226</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74" name="矩形 13"/>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226/129/137</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75" name="矩形 13"/>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226/129/152</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76" name="矩形 13"/>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235/179/204</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77" name="矩形 13"/>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216/179/179</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78" name="矩形 13"/>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250/211/187</a:t>
              </a:r>
              <a:endParaRPr kumimoji="1" lang="en-US" altLang="zh-CN" sz="500" b="1" dirty="0">
                <a:solidFill>
                  <a:srgbClr val="595757"/>
                </a:solidFill>
                <a:latin typeface="Huawei Sans" panose="020C0503030203020204" pitchFamily="34" charset="0"/>
                <a:ea typeface="Arial" panose="020B0604020202020204" pitchFamily="34" charset="0"/>
                <a:cs typeface="Arial" panose="020B0604020202020204" pitchFamily="34" charset="0"/>
              </a:endParaRPr>
            </a:p>
          </p:txBody>
        </p:sp>
        <p:sp>
          <p:nvSpPr>
            <p:cNvPr id="79" name="矩形 13"/>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208/232/196</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80" name="矩形 13"/>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254/238/193</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81" name="矩形 13"/>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190/23/238</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82" name="矩形 13"/>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239/178/184</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83" name="矩形 13"/>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238/179/193</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84" name="矩形 13"/>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35/24/21</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85" name="矩形 13"/>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 </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89/87/87</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86" name="矩形 13"/>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137/137/</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137</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87" name="矩形 13"/>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181/181/</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181</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88" name="矩形 13"/>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221/221/</a:t>
              </a:r>
              <a:b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221</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89" name="矩形 13"/>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255/255/</a:t>
              </a:r>
              <a:b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255</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gr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Lst>
  <p:txStyles>
    <p:titleStyle>
      <a:lvl1pPr algn="l" defTabSz="913765" rtl="0" eaLnBrk="1" fontAlgn="base" latinLnBrk="0" hangingPunct="1">
        <a:lnSpc>
          <a:spcPct val="90000"/>
        </a:lnSpc>
        <a:spcBef>
          <a:spcPct val="0"/>
        </a:spcBef>
        <a:buNone/>
        <a:defRPr lang="zh-CN" altLang="en-US" sz="3200" kern="1200" baseline="0" dirty="0">
          <a:solidFill>
            <a:schemeClr val="tx1"/>
          </a:solidFill>
          <a:latin typeface="Huawei Sans" panose="020C0503030203020204" pitchFamily="34" charset="0"/>
          <a:ea typeface="方正兰亭黑简体" panose="02000000000000000000" pitchFamily="2" charset="-122"/>
          <a:cs typeface="+mn-cs"/>
        </a:defRPr>
      </a:lvl1pPr>
    </p:titleStyle>
    <p:bodyStyle>
      <a:lvl1pPr marL="302260" indent="-302260" algn="l" defTabSz="913765" rtl="0" eaLnBrk="1" fontAlgn="base" latinLnBrk="0" hangingPunct="1">
        <a:lnSpc>
          <a:spcPct val="140000"/>
        </a:lnSpc>
        <a:spcBef>
          <a:spcPts val="790"/>
        </a:spcBef>
        <a:buSzPct val="50000"/>
        <a:buFont typeface="Wingdings" panose="05000000000000000000" pitchFamily="2" charset="2"/>
        <a:buChar char="l"/>
        <a:defRPr sz="2200" kern="1200" baseline="0">
          <a:solidFill>
            <a:schemeClr val="tx1"/>
          </a:solidFill>
          <a:latin typeface="Huawei Sans" panose="020C0503030203020204" pitchFamily="34" charset="0"/>
          <a:ea typeface="方正兰亭黑简体" panose="02000000000000000000" pitchFamily="2" charset="-122"/>
          <a:cs typeface="+mn-cs"/>
        </a:defRPr>
      </a:lvl1pPr>
      <a:lvl2pPr marL="654685" indent="-252095" algn="l" defTabSz="913765" rtl="0" eaLnBrk="1" fontAlgn="base" latinLnBrk="0" hangingPunct="1">
        <a:lnSpc>
          <a:spcPct val="140000"/>
        </a:lnSpc>
        <a:spcBef>
          <a:spcPts val="720"/>
        </a:spcBef>
        <a:buClrTx/>
        <a:buSzPct val="50000"/>
        <a:buFont typeface="Wingdings" panose="05000000000000000000" pitchFamily="2" charset="2"/>
        <a:buChar char="p"/>
        <a:defRPr sz="2000" kern="1200" baseline="0">
          <a:solidFill>
            <a:schemeClr val="tx1"/>
          </a:solidFill>
          <a:latin typeface="Huawei Sans" panose="020C0503030203020204" pitchFamily="34" charset="0"/>
          <a:ea typeface="方正兰亭黑简体" panose="02000000000000000000" pitchFamily="2" charset="-122"/>
          <a:cs typeface="+mn-cs"/>
        </a:defRPr>
      </a:lvl2pPr>
      <a:lvl3pPr marL="1003935" indent="-201295" algn="l" defTabSz="913765" rtl="0" eaLnBrk="1" fontAlgn="base" latinLnBrk="0" hangingPunct="1">
        <a:lnSpc>
          <a:spcPct val="140000"/>
        </a:lnSpc>
        <a:spcBef>
          <a:spcPts val="650"/>
        </a:spcBef>
        <a:buClrTx/>
        <a:buSzPct val="50000"/>
        <a:buFont typeface="Wingdings" panose="05000000000000000000" pitchFamily="2" charset="2"/>
        <a:buChar char="n"/>
        <a:defRPr sz="1800" kern="1200" baseline="0">
          <a:solidFill>
            <a:schemeClr val="tx1"/>
          </a:solidFill>
          <a:latin typeface="Huawei Sans" panose="020C0503030203020204" pitchFamily="34" charset="0"/>
          <a:ea typeface="方正兰亭黑简体" panose="02000000000000000000" pitchFamily="2" charset="-122"/>
          <a:cs typeface="+mn-cs"/>
        </a:defRPr>
      </a:lvl3pPr>
      <a:lvl4pPr marL="1399540" indent="-198120" algn="l" defTabSz="913765" rtl="0" eaLnBrk="1" fontAlgn="base" latinLnBrk="0" hangingPunct="1">
        <a:lnSpc>
          <a:spcPct val="140000"/>
        </a:lnSpc>
        <a:spcBef>
          <a:spcPts val="575"/>
        </a:spcBef>
        <a:buFont typeface="Huawei Sans" panose="020C0503030203020204" pitchFamily="34" charset="0"/>
        <a:buChar char="−"/>
        <a:defRPr sz="1600" kern="1200" baseline="0">
          <a:solidFill>
            <a:schemeClr val="tx1"/>
          </a:solidFill>
          <a:latin typeface="Huawei Sans" panose="020C0503030203020204" pitchFamily="34" charset="0"/>
          <a:ea typeface="方正兰亭黑简体" panose="02000000000000000000" pitchFamily="2" charset="-122"/>
          <a:cs typeface="+mn-cs"/>
        </a:defRPr>
      </a:lvl4pPr>
      <a:lvl5pPr marL="1802765" indent="-201295" algn="l" defTabSz="913765" rtl="0" eaLnBrk="1" fontAlgn="base" latinLnBrk="0" hangingPunct="1">
        <a:lnSpc>
          <a:spcPct val="140000"/>
        </a:lnSpc>
        <a:spcBef>
          <a:spcPts val="575"/>
        </a:spcBef>
        <a:buFont typeface="Huawei Sans" panose="020C0503030203020204" pitchFamily="34" charset="0"/>
        <a:buChar char="~"/>
        <a:defRPr sz="1400" kern="1200" baseline="0">
          <a:solidFill>
            <a:schemeClr val="tx1"/>
          </a:solidFill>
          <a:latin typeface="Huawei Sans" panose="020C0503030203020204" pitchFamily="34" charset="0"/>
          <a:ea typeface="方正兰亭黑简体" panose="02000000000000000000" pitchFamily="2" charset="-122"/>
          <a:cs typeface="+mn-cs"/>
        </a:defRPr>
      </a:lvl5pPr>
      <a:lvl6pPr marL="25133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05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77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9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3765" algn="l" defTabSz="913765" rtl="0" eaLnBrk="1" latinLnBrk="0" hangingPunct="1">
        <a:defRPr sz="1800" kern="1200">
          <a:solidFill>
            <a:schemeClr val="tx1"/>
          </a:solidFill>
          <a:latin typeface="+mn-lt"/>
          <a:ea typeface="+mn-ea"/>
          <a:cs typeface="+mn-cs"/>
        </a:defRPr>
      </a:lvl3pPr>
      <a:lvl4pPr marL="1370965" algn="l" defTabSz="913765" rtl="0" eaLnBrk="1" latinLnBrk="0" hangingPunct="1">
        <a:defRPr sz="1800" kern="1200">
          <a:solidFill>
            <a:schemeClr val="tx1"/>
          </a:solidFill>
          <a:latin typeface="+mn-lt"/>
          <a:ea typeface="+mn-ea"/>
          <a:cs typeface="+mn-cs"/>
        </a:defRPr>
      </a:lvl4pPr>
      <a:lvl5pPr marL="1828165" algn="l" defTabSz="913765" rtl="0" eaLnBrk="1" latinLnBrk="0" hangingPunct="1">
        <a:defRPr sz="1800" kern="1200">
          <a:solidFill>
            <a:schemeClr val="tx1"/>
          </a:solidFill>
          <a:latin typeface="+mn-lt"/>
          <a:ea typeface="+mn-ea"/>
          <a:cs typeface="+mn-cs"/>
        </a:defRPr>
      </a:lvl5pPr>
      <a:lvl6pPr marL="2285365" algn="l" defTabSz="913765" rtl="0" eaLnBrk="1" latinLnBrk="0" hangingPunct="1">
        <a:defRPr sz="1800" kern="1200">
          <a:solidFill>
            <a:schemeClr val="tx1"/>
          </a:solidFill>
          <a:latin typeface="+mn-lt"/>
          <a:ea typeface="+mn-ea"/>
          <a:cs typeface="+mn-cs"/>
        </a:defRPr>
      </a:lvl6pPr>
      <a:lvl7pPr marL="2741930" algn="l" defTabSz="913765" rtl="0" eaLnBrk="1" latinLnBrk="0" hangingPunct="1">
        <a:defRPr sz="1800" kern="1200">
          <a:solidFill>
            <a:schemeClr val="tx1"/>
          </a:solidFill>
          <a:latin typeface="+mn-lt"/>
          <a:ea typeface="+mn-ea"/>
          <a:cs typeface="+mn-cs"/>
        </a:defRPr>
      </a:lvl7pPr>
      <a:lvl8pPr marL="3199130" algn="l" defTabSz="913765" rtl="0" eaLnBrk="1" latinLnBrk="0" hangingPunct="1">
        <a:defRPr sz="1800" kern="1200">
          <a:solidFill>
            <a:schemeClr val="tx1"/>
          </a:solidFill>
          <a:latin typeface="+mn-lt"/>
          <a:ea typeface="+mn-ea"/>
          <a:cs typeface="+mn-cs"/>
        </a:defRPr>
      </a:lvl8pPr>
      <a:lvl9pPr marL="3656330" algn="l" defTabSz="913765"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grpSp>
        <p:nvGrpSpPr>
          <p:cNvPr id="29" name="Group 87"/>
          <p:cNvGrpSpPr>
            <a:grpSpLocks noChangeAspect="1"/>
          </p:cNvGrpSpPr>
          <p:nvPr userDrawn="1"/>
        </p:nvGrpSpPr>
        <p:grpSpPr>
          <a:xfrm>
            <a:off x="12290471" y="2625389"/>
            <a:ext cx="1963323" cy="4233515"/>
            <a:chOff x="5343885" y="-48857"/>
            <a:chExt cx="3263586" cy="7037279"/>
          </a:xfrm>
        </p:grpSpPr>
        <p:sp>
          <p:nvSpPr>
            <p:cNvPr id="30" name="矩形 13"/>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rPr>
                <a:t>RGB</a:t>
              </a:r>
              <a:br>
                <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rPr>
                <a:t>196/0/84</a:t>
              </a:r>
              <a:endPar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endParaRPr>
            </a:p>
          </p:txBody>
        </p:sp>
        <p:sp>
          <p:nvSpPr>
            <p:cNvPr id="31" name="文本框 15"/>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微软雅黑" panose="020B0503020204020204" charset="-122"/>
                  <a:ea typeface="微软雅黑" panose="020B0503020204020204" charset="-122"/>
                </a:rPr>
                <a:t>公司辅助色</a:t>
              </a:r>
              <a:endParaRPr kumimoji="1" lang="zh-CN" altLang="en-US" sz="800" b="0" i="0" dirty="0">
                <a:solidFill>
                  <a:schemeClr val="tx1"/>
                </a:solidFill>
                <a:latin typeface="微软雅黑" panose="020B0503020204020204" charset="-122"/>
                <a:ea typeface="微软雅黑" panose="020B0503020204020204" charset="-122"/>
              </a:endParaRPr>
            </a:p>
          </p:txBody>
        </p:sp>
        <p:sp>
          <p:nvSpPr>
            <p:cNvPr id="32" name="矩形 13"/>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203/55/120</a:t>
              </a:r>
              <a:endPar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endParaRPr>
            </a:p>
          </p:txBody>
        </p:sp>
        <p:sp>
          <p:nvSpPr>
            <p:cNvPr id="33" name="矩形 13"/>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237/109/0</a:t>
              </a:r>
              <a:endPar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endParaRPr>
            </a:p>
          </p:txBody>
        </p:sp>
        <p:sp>
          <p:nvSpPr>
            <p:cNvPr id="34" name="矩形 13"/>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153/54/54</a:t>
              </a:r>
              <a:endPar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endParaRPr>
            </a:p>
          </p:txBody>
        </p:sp>
        <p:sp>
          <p:nvSpPr>
            <p:cNvPr id="35" name="矩形 13"/>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 </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98/178/48</a:t>
              </a:r>
              <a:endPar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endParaRPr>
            </a:p>
          </p:txBody>
        </p:sp>
        <p:sp>
          <p:nvSpPr>
            <p:cNvPr id="36" name="矩形 13"/>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242/137/68</a:t>
              </a:r>
              <a:endPar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endParaRPr>
            </a:p>
          </p:txBody>
        </p:sp>
        <p:sp>
          <p:nvSpPr>
            <p:cNvPr id="37" name="矩形 13"/>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rPr>
                <a:t>PANTONE 185C</a:t>
              </a:r>
              <a:endPar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endParaRPr>
            </a:p>
            <a:p>
              <a:pPr algn="ctr">
                <a:lnSpc>
                  <a:spcPts val="620"/>
                </a:lnSpc>
                <a:spcBef>
                  <a:spcPts val="0"/>
                </a:spcBef>
              </a:pPr>
              <a:r>
                <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rPr>
                <a:t>RGB </a:t>
              </a:r>
              <a:br>
                <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rPr>
                <a:t>199/0/11  </a:t>
              </a:r>
              <a:endPar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endParaRPr>
            </a:p>
          </p:txBody>
        </p:sp>
        <p:sp>
          <p:nvSpPr>
            <p:cNvPr id="38" name="文本框 15"/>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微软雅黑" panose="020B0503020204020204" charset="-122"/>
                  <a:ea typeface="微软雅黑" panose="020B0503020204020204" charset="-122"/>
                </a:rPr>
                <a:t>公司色</a:t>
              </a:r>
              <a:endParaRPr kumimoji="1" lang="zh-CN" altLang="en-US" sz="800" b="0" i="0" dirty="0">
                <a:solidFill>
                  <a:schemeClr val="tx1"/>
                </a:solidFill>
                <a:latin typeface="微软雅黑" panose="020B0503020204020204" charset="-122"/>
                <a:ea typeface="微软雅黑" panose="020B0503020204020204" charset="-122"/>
              </a:endParaRPr>
            </a:p>
          </p:txBody>
        </p:sp>
        <p:sp>
          <p:nvSpPr>
            <p:cNvPr id="39" name="矩形 13"/>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rPr>
                <a:t>PANTONE 186C</a:t>
              </a:r>
              <a:endPar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endParaRPr>
            </a:p>
            <a:p>
              <a:pPr algn="ctr">
                <a:lnSpc>
                  <a:spcPts val="620"/>
                </a:lnSpc>
              </a:pPr>
              <a:r>
                <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rPr>
                <a:t>RGB</a:t>
              </a:r>
              <a:br>
                <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rPr>
                <a:t>200/16/46  </a:t>
              </a:r>
              <a:endPar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endParaRPr>
            </a:p>
          </p:txBody>
        </p:sp>
        <p:sp>
          <p:nvSpPr>
            <p:cNvPr id="40" name="矩形 13"/>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127/0/1</a:t>
              </a:r>
              <a:endPar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endParaRPr>
            </a:p>
          </p:txBody>
        </p:sp>
        <p:sp>
          <p:nvSpPr>
            <p:cNvPr id="41" name="矩形 13"/>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52/200/0</a:t>
              </a:r>
              <a:endPar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endParaRPr>
            </a:p>
          </p:txBody>
        </p:sp>
        <p:sp>
          <p:nvSpPr>
            <p:cNvPr id="42" name="矩形 13"/>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 </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48/181/197</a:t>
              </a:r>
              <a:endPar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endParaRPr>
            </a:p>
          </p:txBody>
        </p:sp>
        <p:sp>
          <p:nvSpPr>
            <p:cNvPr id="43" name="矩形 13"/>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129/193/95</a:t>
              </a:r>
              <a:endPar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endParaRPr>
            </a:p>
          </p:txBody>
        </p:sp>
        <p:sp>
          <p:nvSpPr>
            <p:cNvPr id="44" name="矩形 13"/>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253/211/81</a:t>
              </a:r>
              <a:endPar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endParaRPr>
            </a:p>
          </p:txBody>
        </p:sp>
        <p:sp>
          <p:nvSpPr>
            <p:cNvPr id="45" name="矩形 13"/>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 </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86/196/210</a:t>
              </a:r>
              <a:endPar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endParaRPr>
            </a:p>
          </p:txBody>
        </p:sp>
        <p:sp>
          <p:nvSpPr>
            <p:cNvPr id="46" name="矩形 13"/>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 </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211/57/65</a:t>
              </a:r>
              <a:endPar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endParaRPr>
            </a:p>
          </p:txBody>
        </p:sp>
        <p:sp>
          <p:nvSpPr>
            <p:cNvPr id="47" name="矩形 13"/>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 </a:t>
              </a:r>
              <a:endPar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endParaRPr>
            </a:p>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211/56/89</a:t>
              </a:r>
              <a:endPar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endParaRPr>
            </a:p>
          </p:txBody>
        </p:sp>
        <p:sp>
          <p:nvSpPr>
            <p:cNvPr id="48" name="矩形 13"/>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221/128/170</a:t>
              </a:r>
              <a:endPar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endParaRPr>
            </a:p>
          </p:txBody>
        </p:sp>
        <p:sp>
          <p:nvSpPr>
            <p:cNvPr id="49" name="矩形 13"/>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191/128/130</a:t>
              </a:r>
              <a:endPar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endParaRPr>
            </a:p>
          </p:txBody>
        </p:sp>
        <p:sp>
          <p:nvSpPr>
            <p:cNvPr id="50" name="矩形 13"/>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246/183/140</a:t>
              </a:r>
              <a:endPar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endParaRPr>
            </a:p>
          </p:txBody>
        </p:sp>
        <p:sp>
          <p:nvSpPr>
            <p:cNvPr id="51" name="矩形 13"/>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176/216/156</a:t>
              </a:r>
              <a:endPar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endParaRPr>
            </a:p>
          </p:txBody>
        </p:sp>
        <p:sp>
          <p:nvSpPr>
            <p:cNvPr id="52" name="矩形 13"/>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253/227/181</a:t>
              </a:r>
              <a:endPar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endParaRPr>
            </a:p>
          </p:txBody>
        </p:sp>
        <p:sp>
          <p:nvSpPr>
            <p:cNvPr id="53" name="矩形 13"/>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148/218/226</a:t>
              </a:r>
              <a:endPar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endParaRPr>
            </a:p>
          </p:txBody>
        </p:sp>
        <p:sp>
          <p:nvSpPr>
            <p:cNvPr id="54" name="矩形 13"/>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226/129/137</a:t>
              </a:r>
              <a:endPar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endParaRPr>
            </a:p>
          </p:txBody>
        </p:sp>
        <p:sp>
          <p:nvSpPr>
            <p:cNvPr id="55" name="矩形 13"/>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226/129/152</a:t>
              </a:r>
              <a:endPar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endParaRPr>
            </a:p>
          </p:txBody>
        </p:sp>
        <p:sp>
          <p:nvSpPr>
            <p:cNvPr id="56" name="矩形 13"/>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235/179/204</a:t>
              </a:r>
              <a:endPar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endParaRPr>
            </a:p>
          </p:txBody>
        </p:sp>
        <p:sp>
          <p:nvSpPr>
            <p:cNvPr id="57" name="矩形 13"/>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216/179/179</a:t>
              </a:r>
              <a:endPar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endParaRPr>
            </a:p>
          </p:txBody>
        </p:sp>
        <p:sp>
          <p:nvSpPr>
            <p:cNvPr id="58" name="矩形 13"/>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250/211/187</a:t>
              </a:r>
              <a:endPar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endParaRPr>
            </a:p>
          </p:txBody>
        </p:sp>
        <p:sp>
          <p:nvSpPr>
            <p:cNvPr id="59" name="矩形 13"/>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208/232/196</a:t>
              </a:r>
              <a:endPar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endParaRPr>
            </a:p>
          </p:txBody>
        </p:sp>
        <p:sp>
          <p:nvSpPr>
            <p:cNvPr id="60" name="矩形 13"/>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254/238/193</a:t>
              </a:r>
              <a:endPar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endParaRPr>
            </a:p>
          </p:txBody>
        </p:sp>
        <p:sp>
          <p:nvSpPr>
            <p:cNvPr id="61" name="矩形 13"/>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a:t>
              </a:r>
              <a:b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190/23/238</a:t>
              </a:r>
              <a:endPar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endParaRPr>
            </a:p>
          </p:txBody>
        </p:sp>
        <p:sp>
          <p:nvSpPr>
            <p:cNvPr id="62" name="矩形 13"/>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239/178/184</a:t>
              </a:r>
              <a:endPar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endParaRPr>
            </a:p>
          </p:txBody>
        </p:sp>
        <p:sp>
          <p:nvSpPr>
            <p:cNvPr id="63" name="矩形 13"/>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238/179/193</a:t>
              </a:r>
              <a:endPar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endParaRPr>
            </a:p>
          </p:txBody>
        </p:sp>
        <p:sp>
          <p:nvSpPr>
            <p:cNvPr id="64" name="矩形 13"/>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 </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35/24/21</a:t>
              </a:r>
              <a:endPar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endParaRPr>
            </a:p>
          </p:txBody>
        </p:sp>
        <p:sp>
          <p:nvSpPr>
            <p:cNvPr id="65" name="矩形 13"/>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 </a:t>
              </a:r>
              <a:endPar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endParaRPr>
            </a:p>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89/87/87</a:t>
              </a:r>
              <a:endPar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endParaRPr>
            </a:p>
          </p:txBody>
        </p:sp>
        <p:sp>
          <p:nvSpPr>
            <p:cNvPr id="66" name="矩形 13"/>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a:t>
              </a:r>
              <a:endPar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endParaRPr>
            </a:p>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137/137/</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137</a:t>
              </a:r>
              <a:endPar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endParaRPr>
            </a:p>
          </p:txBody>
        </p:sp>
        <p:sp>
          <p:nvSpPr>
            <p:cNvPr id="67" name="矩形 13"/>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a:t>
              </a:r>
              <a:endPar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endParaRPr>
            </a:p>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181/181/</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181</a:t>
              </a:r>
              <a:endPar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endParaRPr>
            </a:p>
          </p:txBody>
        </p:sp>
        <p:sp>
          <p:nvSpPr>
            <p:cNvPr id="68" name="矩形 13"/>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221/221/</a:t>
              </a:r>
              <a:b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221</a:t>
              </a:r>
              <a:endPar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endParaRPr>
            </a:p>
          </p:txBody>
        </p:sp>
        <p:sp>
          <p:nvSpPr>
            <p:cNvPr id="69" name="矩形 13"/>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a:t>
              </a:r>
              <a:endPar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endParaRPr>
            </a:p>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255/255/</a:t>
              </a:r>
              <a:b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255</a:t>
              </a:r>
              <a:endPar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endParaRPr>
            </a:p>
          </p:txBody>
        </p:sp>
      </p:grpSp>
      <p:sp>
        <p:nvSpPr>
          <p:cNvPr id="70" name="Title Placeholder 1"/>
          <p:cNvSpPr>
            <a:spLocks noGrp="1"/>
          </p:cNvSpPr>
          <p:nvPr>
            <p:ph type="title"/>
          </p:nvPr>
        </p:nvSpPr>
        <p:spPr>
          <a:xfrm>
            <a:off x="616573" y="1474269"/>
            <a:ext cx="3984232" cy="2816080"/>
          </a:xfrm>
          <a:prstGeom prst="rect">
            <a:avLst/>
          </a:prstGeom>
        </p:spPr>
        <p:txBody>
          <a:bodyPr vert="horz" lIns="91440" tIns="45720" rIns="91440" bIns="45720" rtlCol="0" anchor="t">
            <a:normAutofit/>
          </a:bodyPr>
          <a:lstStyle/>
          <a:p>
            <a:r>
              <a:rPr lang="en-US" dirty="0"/>
              <a:t>Click to edit Master title style</a:t>
            </a:r>
            <a:endParaRPr lang="en-US" dirty="0"/>
          </a:p>
        </p:txBody>
      </p:sp>
      <p:sp>
        <p:nvSpPr>
          <p:cNvPr id="71" name="Text Placeholder 1"/>
          <p:cNvSpPr txBox="1"/>
          <p:nvPr userDrawn="1"/>
        </p:nvSpPr>
        <p:spPr>
          <a:xfrm>
            <a:off x="7979357" y="2794960"/>
            <a:ext cx="3225168" cy="2029962"/>
          </a:xfrm>
          <a:prstGeom prst="rect">
            <a:avLst/>
          </a:prstGeom>
        </p:spPr>
        <p:txBody>
          <a:bodyPr lIns="0" tIns="0" rIns="0" bIns="0">
            <a:norm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rgbClr val="FFFFFF"/>
                </a:solidFill>
                <a:latin typeface="微软雅黑" panose="020B0503020204020204" charset="-122"/>
                <a:ea typeface="微软雅黑" panose="020B0503020204020204"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1065"/>
              </a:lnSpc>
            </a:pPr>
            <a:r>
              <a:rPr kumimoji="1" lang="en-US" altLang="zh-CN" sz="850" b="1" baseline="0" dirty="0">
                <a:solidFill>
                  <a:srgbClr val="1D1D1B"/>
                </a:solidFill>
                <a:latin typeface="+mj-lt"/>
              </a:rPr>
              <a:t>Copyright©2021 Huawei Technologies Co., Ltd.</a:t>
            </a:r>
            <a:br>
              <a:rPr kumimoji="1" lang="en-US" altLang="zh-CN" sz="850" b="1" baseline="0" dirty="0">
                <a:solidFill>
                  <a:srgbClr val="1D1D1B"/>
                </a:solidFill>
                <a:latin typeface="+mj-lt"/>
              </a:rPr>
            </a:br>
            <a:r>
              <a:rPr kumimoji="1" lang="en-US" altLang="zh-CN" sz="850" b="1" baseline="0" dirty="0">
                <a:solidFill>
                  <a:srgbClr val="1D1D1B"/>
                </a:solidFill>
                <a:latin typeface="+mj-lt"/>
              </a:rPr>
              <a:t>All Rights Reserved.</a:t>
            </a:r>
            <a:br>
              <a:rPr kumimoji="1" lang="en-US" altLang="zh-CN" sz="780" dirty="0">
                <a:solidFill>
                  <a:srgbClr val="1D1D1B"/>
                </a:solidFill>
                <a:latin typeface="+mn-lt"/>
              </a:rPr>
            </a:br>
            <a:br>
              <a:rPr kumimoji="1" lang="en-US" altLang="zh-CN" sz="780" dirty="0">
                <a:solidFill>
                  <a:srgbClr val="1D1D1B"/>
                </a:solidFill>
                <a:latin typeface="+mn-lt"/>
              </a:rPr>
            </a:br>
            <a:r>
              <a:rPr kumimoji="1" lang="en-US" altLang="zh-CN" sz="850" baseline="0" dirty="0">
                <a:solidFill>
                  <a:srgbClr val="1D1D1B"/>
                </a:solidFill>
                <a:latin typeface="+mn-lt"/>
                <a:cs typeface="Arial" panose="020B0604020202020204" pitchFamily="34" charset="0"/>
              </a:rPr>
              <a:t>The information in this document may contain predictive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statements including, without limitation, statements regarding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the future financial and operating results, future product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portfolio, new technology, etc. There are a number of factors that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could cause actual results and developments to differ materially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from those expressed or implied in the predictive statements.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Therefore, such information is provided for reference purpose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only and constitutes neither an offer nor an acceptance. Huawei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may change the information at any time without notice. </a:t>
            </a:r>
            <a:endParaRPr kumimoji="1" lang="en-US" altLang="zh-CN" sz="850" baseline="0" dirty="0">
              <a:solidFill>
                <a:srgbClr val="1D1D1B"/>
              </a:solidFill>
              <a:latin typeface="+mn-lt"/>
              <a:cs typeface="Arial" panose="020B0604020202020204" pitchFamily="34" charset="0"/>
            </a:endParaRPr>
          </a:p>
          <a:p>
            <a:pPr>
              <a:lnSpc>
                <a:spcPts val="1065"/>
              </a:lnSpc>
            </a:pPr>
            <a:endParaRPr kumimoji="1" lang="zh-CN" altLang="en-US" sz="780" dirty="0">
              <a:solidFill>
                <a:srgbClr val="1D1D1B"/>
              </a:solidFill>
              <a:latin typeface="+mn-lt"/>
            </a:endParaRPr>
          </a:p>
        </p:txBody>
      </p:sp>
      <p:sp>
        <p:nvSpPr>
          <p:cNvPr id="72" name="Subtitle 6"/>
          <p:cNvSpPr txBox="1"/>
          <p:nvPr userDrawn="1"/>
        </p:nvSpPr>
        <p:spPr>
          <a:xfrm>
            <a:off x="7987276" y="1631849"/>
            <a:ext cx="3477701" cy="491114"/>
          </a:xfrm>
          <a:prstGeom prst="rect">
            <a:avLst/>
          </a:prstGeom>
        </p:spPr>
        <p:txBody>
          <a:bodyPr lIns="0" tIns="0" rIns="0" bIns="0">
            <a:norm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rgbClr val="FFFFFF"/>
                </a:solidFill>
                <a:latin typeface="微软雅黑" panose="020B0503020204020204" charset="-122"/>
                <a:ea typeface="微软雅黑" panose="020B0503020204020204"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1680"/>
              </a:lnSpc>
              <a:spcBef>
                <a:spcPts val="0"/>
              </a:spcBef>
            </a:pPr>
            <a:r>
              <a:rPr kumimoji="1" lang="zh-CN" altLang="en-US" sz="1300" dirty="0">
                <a:solidFill>
                  <a:srgbClr val="1D1D1B"/>
                </a:solidFill>
                <a:latin typeface="微软雅黑" panose="020B0503020204020204" charset="-122"/>
                <a:ea typeface="微软雅黑" panose="020B0503020204020204" charset="-122"/>
                <a:cs typeface="微软雅黑" panose="020B0503020204020204" charset="-122"/>
              </a:rPr>
              <a:t>把数字世界带入每个人、每个家庭、</a:t>
            </a:r>
            <a:br>
              <a:rPr kumimoji="1" lang="en-US" altLang="zh-CN" sz="1300" dirty="0">
                <a:solidFill>
                  <a:srgbClr val="1D1D1B"/>
                </a:solidFill>
                <a:latin typeface="微软雅黑" panose="020B0503020204020204" charset="-122"/>
                <a:ea typeface="微软雅黑" panose="020B0503020204020204" charset="-122"/>
                <a:cs typeface="微软雅黑" panose="020B0503020204020204" charset="-122"/>
              </a:rPr>
            </a:br>
            <a:r>
              <a:rPr kumimoji="1" lang="zh-CN" altLang="en-US" sz="1300" dirty="0">
                <a:solidFill>
                  <a:srgbClr val="1D1D1B"/>
                </a:solidFill>
                <a:latin typeface="微软雅黑" panose="020B0503020204020204" charset="-122"/>
                <a:ea typeface="微软雅黑" panose="020B0503020204020204" charset="-122"/>
                <a:cs typeface="微软雅黑" panose="020B0503020204020204" charset="-122"/>
              </a:rPr>
              <a:t>每个组织，构建万物互联的智能世界。</a:t>
            </a:r>
            <a:endParaRPr kumimoji="1" lang="zh-CN" altLang="en-US" sz="1300" dirty="0">
              <a:solidFill>
                <a:srgbClr val="1D1D1B"/>
              </a:solidFill>
              <a:latin typeface="微软雅黑" panose="020B0503020204020204" charset="-122"/>
              <a:ea typeface="微软雅黑" panose="020B0503020204020204" charset="-122"/>
              <a:cs typeface="微软雅黑" panose="020B0503020204020204" charset="-122"/>
            </a:endParaRPr>
          </a:p>
        </p:txBody>
      </p:sp>
      <p:sp>
        <p:nvSpPr>
          <p:cNvPr id="73" name="Subtitle 6"/>
          <p:cNvSpPr txBox="1"/>
          <p:nvPr userDrawn="1"/>
        </p:nvSpPr>
        <p:spPr>
          <a:xfrm>
            <a:off x="7977672" y="2106124"/>
            <a:ext cx="3481833" cy="582808"/>
          </a:xfrm>
          <a:prstGeom prst="rect">
            <a:avLst/>
          </a:prstGeom>
        </p:spPr>
        <p:txBody>
          <a:bodyPr vert="horz" lIns="0" tIns="0" rIns="0" bIns="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chemeClr val="tx1"/>
                </a:solidFill>
                <a:latin typeface="微软雅黑" panose="020B0503020204020204" charset="-122"/>
                <a:ea typeface="微软雅黑" panose="020B0503020204020204" charset="-122"/>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ts val="1295"/>
              </a:lnSpc>
            </a:pPr>
            <a:r>
              <a:rPr kumimoji="1" lang="en-US" altLang="zh-CN" sz="1200" dirty="0">
                <a:solidFill>
                  <a:srgbClr val="1D1D1B"/>
                </a:solidFill>
                <a:latin typeface="+mn-lt"/>
                <a:cs typeface="Arial" panose="020B0604020202020204" pitchFamily="34" charset="0"/>
              </a:rPr>
              <a:t>Bring digital to every person, home, and </a:t>
            </a:r>
            <a:br>
              <a:rPr kumimoji="1" lang="en-US" altLang="zh-CN" sz="1200" dirty="0">
                <a:solidFill>
                  <a:srgbClr val="1D1D1B"/>
                </a:solidFill>
                <a:latin typeface="+mn-lt"/>
                <a:cs typeface="Arial" panose="020B0604020202020204" pitchFamily="34" charset="0"/>
              </a:rPr>
            </a:br>
            <a:r>
              <a:rPr kumimoji="1" lang="en-US" altLang="zh-CN" sz="1200" dirty="0">
                <a:solidFill>
                  <a:srgbClr val="1D1D1B"/>
                </a:solidFill>
                <a:latin typeface="+mn-lt"/>
                <a:cs typeface="Arial" panose="020B0604020202020204" pitchFamily="34" charset="0"/>
              </a:rPr>
              <a:t>organization for a fully connected, </a:t>
            </a:r>
            <a:br>
              <a:rPr kumimoji="1" lang="en-US" altLang="zh-CN" sz="1200" dirty="0">
                <a:solidFill>
                  <a:srgbClr val="1D1D1B"/>
                </a:solidFill>
                <a:latin typeface="+mn-lt"/>
                <a:cs typeface="Arial" panose="020B0604020202020204" pitchFamily="34" charset="0"/>
              </a:rPr>
            </a:br>
            <a:r>
              <a:rPr kumimoji="1" lang="en-US" altLang="zh-CN" sz="1200" dirty="0">
                <a:solidFill>
                  <a:srgbClr val="1D1D1B"/>
                </a:solidFill>
                <a:latin typeface="+mn-lt"/>
                <a:cs typeface="Arial" panose="020B0604020202020204" pitchFamily="34" charset="0"/>
              </a:rPr>
              <a:t>intelligent world.</a:t>
            </a:r>
            <a:endParaRPr kumimoji="1" lang="zh-CN" altLang="en-US" sz="1200" dirty="0">
              <a:solidFill>
                <a:srgbClr val="1D1D1B"/>
              </a:solidFill>
              <a:latin typeface="+mn-lt"/>
              <a:ea typeface="微软雅黑" panose="020B0503020204020204" charset="-122"/>
              <a:cs typeface="微软雅黑" panose="020B0503020204020204" charset="-122"/>
            </a:endParaRPr>
          </a:p>
        </p:txBody>
      </p:sp>
      <p:pic>
        <p:nvPicPr>
          <p:cNvPr id="74" name="图片 7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75497" y="5251150"/>
            <a:ext cx="1869596" cy="399462"/>
          </a:xfrm>
          <a:prstGeom prst="rect">
            <a:avLst/>
          </a:prstGeom>
        </p:spPr>
      </p:pic>
    </p:spTree>
  </p:cSld>
  <p:clrMap bg1="lt1" tx1="dk1" bg2="lt2" tx2="dk2" accent1="accent1" accent2="accent2" accent3="accent3" accent4="accent4" accent5="accent5" accent6="accent6" hlink="hlink" folHlink="folHlink"/>
  <p:sldLayoutIdLst>
    <p:sldLayoutId id="2147483668" r:id="rId1"/>
  </p:sldLayoutIdLst>
  <p:hf hdr="0" ftr="0" dt="0"/>
  <p:txStyles>
    <p:titleStyle>
      <a:lvl1pPr algn="l" defTabSz="1187450" rtl="0" eaLnBrk="1" latinLnBrk="0" hangingPunct="1">
        <a:lnSpc>
          <a:spcPct val="90000"/>
        </a:lnSpc>
        <a:spcBef>
          <a:spcPct val="0"/>
        </a:spcBef>
        <a:buNone/>
        <a:defRPr sz="5000" b="0" kern="1200">
          <a:solidFill>
            <a:schemeClr val="tx1"/>
          </a:solidFill>
          <a:latin typeface="Huawei Sans" panose="020C0503030203020204" pitchFamily="34" charset="0"/>
          <a:ea typeface="方正兰亭黑简体" panose="02000000000000000000" pitchFamily="2" charset="-122"/>
          <a:cs typeface="Huawei Sans" panose="020C0503030203020204" pitchFamily="34" charset="0"/>
        </a:defRPr>
      </a:lvl1pPr>
    </p:titleStyle>
    <p:bodyStyle>
      <a:lvl1pPr marL="0" indent="0" algn="l" defTabSz="1187450" rtl="0" eaLnBrk="1" latinLnBrk="0" hangingPunct="1">
        <a:lnSpc>
          <a:spcPct val="90000"/>
        </a:lnSpc>
        <a:spcBef>
          <a:spcPts val="1300"/>
        </a:spcBef>
        <a:buFont typeface="Arial" panose="020B0604020202020204" pitchFamily="34" charset="0"/>
        <a:buNone/>
        <a:defRPr sz="1820" kern="1200">
          <a:solidFill>
            <a:srgbClr val="FFFFFF"/>
          </a:solidFill>
          <a:latin typeface="微软雅黑" panose="020B0503020204020204" charset="-122"/>
          <a:ea typeface="微软雅黑" panose="020B0503020204020204" charset="-122"/>
          <a:cs typeface="+mn-cs"/>
        </a:defRPr>
      </a:lvl1pPr>
      <a:lvl2pPr marL="593725" indent="0" algn="l" defTabSz="1187450" rtl="0" eaLnBrk="1" latinLnBrk="0" hangingPunct="1">
        <a:lnSpc>
          <a:spcPct val="90000"/>
        </a:lnSpc>
        <a:spcBef>
          <a:spcPts val="650"/>
        </a:spcBef>
        <a:buFont typeface="Arial" panose="020B0604020202020204" pitchFamily="34" charset="0"/>
        <a:buNone/>
        <a:defRPr sz="3115" kern="1200">
          <a:solidFill>
            <a:schemeClr val="tx1"/>
          </a:solidFill>
          <a:latin typeface="+mn-lt"/>
          <a:ea typeface="+mn-ea"/>
          <a:cs typeface="+mn-cs"/>
        </a:defRPr>
      </a:lvl2pPr>
      <a:lvl3pPr marL="1187450" indent="0" algn="l" defTabSz="1187450" rtl="0" eaLnBrk="1" latinLnBrk="0" hangingPunct="1">
        <a:lnSpc>
          <a:spcPct val="90000"/>
        </a:lnSpc>
        <a:spcBef>
          <a:spcPts val="650"/>
        </a:spcBef>
        <a:buFont typeface="Arial" panose="020B0604020202020204" pitchFamily="34" charset="0"/>
        <a:buNone/>
        <a:defRPr sz="2595" kern="1200">
          <a:solidFill>
            <a:schemeClr val="tx1"/>
          </a:solidFill>
          <a:latin typeface="+mn-lt"/>
          <a:ea typeface="+mn-ea"/>
          <a:cs typeface="+mn-cs"/>
        </a:defRPr>
      </a:lvl3pPr>
      <a:lvl4pPr marL="1781175" indent="0" algn="l" defTabSz="1187450" rtl="0" eaLnBrk="1" latinLnBrk="0" hangingPunct="1">
        <a:lnSpc>
          <a:spcPct val="90000"/>
        </a:lnSpc>
        <a:spcBef>
          <a:spcPts val="650"/>
        </a:spcBef>
        <a:buFont typeface="Arial" panose="020B0604020202020204" pitchFamily="34" charset="0"/>
        <a:buNone/>
        <a:defRPr sz="2335" kern="1200">
          <a:solidFill>
            <a:schemeClr val="tx1"/>
          </a:solidFill>
          <a:latin typeface="+mn-lt"/>
          <a:ea typeface="+mn-ea"/>
          <a:cs typeface="+mn-cs"/>
        </a:defRPr>
      </a:lvl4pPr>
      <a:lvl5pPr marL="2374900" indent="0" algn="l" defTabSz="1187450" rtl="0" eaLnBrk="1" latinLnBrk="0" hangingPunct="1">
        <a:lnSpc>
          <a:spcPct val="90000"/>
        </a:lnSpc>
        <a:spcBef>
          <a:spcPts val="650"/>
        </a:spcBef>
        <a:buFont typeface="Arial" panose="020B0604020202020204" pitchFamily="34" charset="0"/>
        <a:buNone/>
        <a:defRPr sz="2335" kern="1200">
          <a:solidFill>
            <a:schemeClr val="tx1"/>
          </a:solidFill>
          <a:latin typeface="+mn-lt"/>
          <a:ea typeface="+mn-ea"/>
          <a:cs typeface="+mn-cs"/>
        </a:defRPr>
      </a:lvl5pPr>
      <a:lvl6pPr marL="3265170" indent="-296545" algn="l" defTabSz="1187450" rtl="0" eaLnBrk="1" latinLnBrk="0" hangingPunct="1">
        <a:lnSpc>
          <a:spcPct val="90000"/>
        </a:lnSpc>
        <a:spcBef>
          <a:spcPts val="650"/>
        </a:spcBef>
        <a:buFont typeface="Arial" panose="020B0604020202020204" pitchFamily="34" charset="0"/>
        <a:buChar char="•"/>
        <a:defRPr sz="2335" kern="1200">
          <a:solidFill>
            <a:schemeClr val="tx1"/>
          </a:solidFill>
          <a:latin typeface="+mn-lt"/>
          <a:ea typeface="+mn-ea"/>
          <a:cs typeface="+mn-cs"/>
        </a:defRPr>
      </a:lvl6pPr>
      <a:lvl7pPr marL="3858895" indent="-296545" algn="l" defTabSz="1187450" rtl="0" eaLnBrk="1" latinLnBrk="0" hangingPunct="1">
        <a:lnSpc>
          <a:spcPct val="90000"/>
        </a:lnSpc>
        <a:spcBef>
          <a:spcPts val="650"/>
        </a:spcBef>
        <a:buFont typeface="Arial" panose="020B0604020202020204" pitchFamily="34" charset="0"/>
        <a:buChar char="•"/>
        <a:defRPr sz="2335" kern="1200">
          <a:solidFill>
            <a:schemeClr val="tx1"/>
          </a:solidFill>
          <a:latin typeface="+mn-lt"/>
          <a:ea typeface="+mn-ea"/>
          <a:cs typeface="+mn-cs"/>
        </a:defRPr>
      </a:lvl7pPr>
      <a:lvl8pPr marL="4452620" indent="-296545" algn="l" defTabSz="1187450" rtl="0" eaLnBrk="1" latinLnBrk="0" hangingPunct="1">
        <a:lnSpc>
          <a:spcPct val="90000"/>
        </a:lnSpc>
        <a:spcBef>
          <a:spcPts val="650"/>
        </a:spcBef>
        <a:buFont typeface="Arial" panose="020B0604020202020204" pitchFamily="34" charset="0"/>
        <a:buChar char="•"/>
        <a:defRPr sz="2335" kern="1200">
          <a:solidFill>
            <a:schemeClr val="tx1"/>
          </a:solidFill>
          <a:latin typeface="+mn-lt"/>
          <a:ea typeface="+mn-ea"/>
          <a:cs typeface="+mn-cs"/>
        </a:defRPr>
      </a:lvl8pPr>
      <a:lvl9pPr marL="5046345" indent="-296545" algn="l" defTabSz="1187450" rtl="0" eaLnBrk="1" latinLnBrk="0" hangingPunct="1">
        <a:lnSpc>
          <a:spcPct val="90000"/>
        </a:lnSpc>
        <a:spcBef>
          <a:spcPts val="650"/>
        </a:spcBef>
        <a:buFont typeface="Arial" panose="020B0604020202020204" pitchFamily="34" charset="0"/>
        <a:buChar char="•"/>
        <a:defRPr sz="2335" kern="1200">
          <a:solidFill>
            <a:schemeClr val="tx1"/>
          </a:solidFill>
          <a:latin typeface="+mn-lt"/>
          <a:ea typeface="+mn-ea"/>
          <a:cs typeface="+mn-cs"/>
        </a:defRPr>
      </a:lvl9pPr>
    </p:bodyStyle>
    <p:otherStyle>
      <a:defPPr>
        <a:defRPr lang="en-US"/>
      </a:defPPr>
      <a:lvl1pPr marL="0" algn="l" defTabSz="1187450" rtl="0" eaLnBrk="1" latinLnBrk="0" hangingPunct="1">
        <a:defRPr sz="2335" kern="1200">
          <a:solidFill>
            <a:schemeClr val="tx1"/>
          </a:solidFill>
          <a:latin typeface="+mn-lt"/>
          <a:ea typeface="+mn-ea"/>
          <a:cs typeface="+mn-cs"/>
        </a:defRPr>
      </a:lvl1pPr>
      <a:lvl2pPr marL="593725" algn="l" defTabSz="1187450" rtl="0" eaLnBrk="1" latinLnBrk="0" hangingPunct="1">
        <a:defRPr sz="2335" kern="1200">
          <a:solidFill>
            <a:schemeClr val="tx1"/>
          </a:solidFill>
          <a:latin typeface="+mn-lt"/>
          <a:ea typeface="+mn-ea"/>
          <a:cs typeface="+mn-cs"/>
        </a:defRPr>
      </a:lvl2pPr>
      <a:lvl3pPr marL="1187450" algn="l" defTabSz="1187450" rtl="0" eaLnBrk="1" latinLnBrk="0" hangingPunct="1">
        <a:defRPr sz="2335" kern="1200">
          <a:solidFill>
            <a:schemeClr val="tx1"/>
          </a:solidFill>
          <a:latin typeface="+mn-lt"/>
          <a:ea typeface="+mn-ea"/>
          <a:cs typeface="+mn-cs"/>
        </a:defRPr>
      </a:lvl3pPr>
      <a:lvl4pPr marL="1781175" algn="l" defTabSz="1187450" rtl="0" eaLnBrk="1" latinLnBrk="0" hangingPunct="1">
        <a:defRPr sz="2335" kern="1200">
          <a:solidFill>
            <a:schemeClr val="tx1"/>
          </a:solidFill>
          <a:latin typeface="+mn-lt"/>
          <a:ea typeface="+mn-ea"/>
          <a:cs typeface="+mn-cs"/>
        </a:defRPr>
      </a:lvl4pPr>
      <a:lvl5pPr marL="2374900" algn="l" defTabSz="1187450" rtl="0" eaLnBrk="1" latinLnBrk="0" hangingPunct="1">
        <a:defRPr sz="2335" kern="1200">
          <a:solidFill>
            <a:schemeClr val="tx1"/>
          </a:solidFill>
          <a:latin typeface="+mn-lt"/>
          <a:ea typeface="+mn-ea"/>
          <a:cs typeface="+mn-cs"/>
        </a:defRPr>
      </a:lvl5pPr>
      <a:lvl6pPr marL="2968625" algn="l" defTabSz="1187450" rtl="0" eaLnBrk="1" latinLnBrk="0" hangingPunct="1">
        <a:defRPr sz="2335" kern="1200">
          <a:solidFill>
            <a:schemeClr val="tx1"/>
          </a:solidFill>
          <a:latin typeface="+mn-lt"/>
          <a:ea typeface="+mn-ea"/>
          <a:cs typeface="+mn-cs"/>
        </a:defRPr>
      </a:lvl6pPr>
      <a:lvl7pPr marL="3561715" algn="l" defTabSz="1187450" rtl="0" eaLnBrk="1" latinLnBrk="0" hangingPunct="1">
        <a:defRPr sz="2335" kern="1200">
          <a:solidFill>
            <a:schemeClr val="tx1"/>
          </a:solidFill>
          <a:latin typeface="+mn-lt"/>
          <a:ea typeface="+mn-ea"/>
          <a:cs typeface="+mn-cs"/>
        </a:defRPr>
      </a:lvl7pPr>
      <a:lvl8pPr marL="4155440" algn="l" defTabSz="1187450" rtl="0" eaLnBrk="1" latinLnBrk="0" hangingPunct="1">
        <a:defRPr sz="2335" kern="1200">
          <a:solidFill>
            <a:schemeClr val="tx1"/>
          </a:solidFill>
          <a:latin typeface="+mn-lt"/>
          <a:ea typeface="+mn-ea"/>
          <a:cs typeface="+mn-cs"/>
        </a:defRPr>
      </a:lvl8pPr>
      <a:lvl9pPr marL="4749165" algn="l" defTabSz="1187450" rtl="0" eaLnBrk="1" latinLnBrk="0" hangingPunct="1">
        <a:defRPr sz="233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3.xml"/><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5.xml"/><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3.xml"/><Relationship Id="rId1"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5.xml"/><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13.xml"/><Relationship Id="rId2" Type="http://schemas.openxmlformats.org/officeDocument/2006/relationships/image" Target="../media/image6.png"/><Relationship Id="rId1" Type="http://schemas.openxmlformats.org/officeDocument/2006/relationships/image" Target="../media/image4.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3.xml"/><Relationship Id="rId1" Type="http://schemas.openxmlformats.org/officeDocument/2006/relationships/image" Target="../media/image4.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3.xml"/><Relationship Id="rId1" Type="http://schemas.openxmlformats.org/officeDocument/2006/relationships/image" Target="../media/image4.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3.xml"/><Relationship Id="rId1" Type="http://schemas.openxmlformats.org/officeDocument/2006/relationships/image" Target="../media/image4.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3.xml"/><Relationship Id="rId1" Type="http://schemas.openxmlformats.org/officeDocument/2006/relationships/image" Target="../media/image4.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3.xml"/><Relationship Id="rId1" Type="http://schemas.openxmlformats.org/officeDocument/2006/relationships/image" Target="../media/image4.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3.xml"/><Relationship Id="rId1" Type="http://schemas.openxmlformats.org/officeDocument/2006/relationships/image" Target="../media/image4.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13.xml"/><Relationship Id="rId1" Type="http://schemas.openxmlformats.org/officeDocument/2006/relationships/image" Target="../media/image4.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3.xml"/><Relationship Id="rId1" Type="http://schemas.openxmlformats.org/officeDocument/2006/relationships/image" Target="../media/image4.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13.xml"/><Relationship Id="rId1" Type="http://schemas.openxmlformats.org/officeDocument/2006/relationships/image" Target="../media/image4.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13.xml"/><Relationship Id="rId1" Type="http://schemas.openxmlformats.org/officeDocument/2006/relationships/image" Target="../media/image4.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4" Type="http://schemas.openxmlformats.org/officeDocument/2006/relationships/notesSlide" Target="../notesSlides/notesSlide37.xml"/><Relationship Id="rId3" Type="http://schemas.openxmlformats.org/officeDocument/2006/relationships/slideLayout" Target="../slideLayouts/slideLayout13.xml"/><Relationship Id="rId2" Type="http://schemas.openxmlformats.org/officeDocument/2006/relationships/image" Target="../media/image7.png"/><Relationship Id="rId1" Type="http://schemas.openxmlformats.org/officeDocument/2006/relationships/image" Target="../media/image4.png"/></Relationships>
</file>

<file path=ppt/slides/_rels/slide38.xml.rels><?xml version="1.0" encoding="UTF-8" standalone="yes"?>
<Relationships xmlns="http://schemas.openxmlformats.org/package/2006/relationships"><Relationship Id="rId4" Type="http://schemas.openxmlformats.org/officeDocument/2006/relationships/notesSlide" Target="../notesSlides/notesSlide38.xml"/><Relationship Id="rId3" Type="http://schemas.openxmlformats.org/officeDocument/2006/relationships/slideLayout" Target="../slideLayouts/slideLayout13.xml"/><Relationship Id="rId2" Type="http://schemas.openxmlformats.org/officeDocument/2006/relationships/image" Target="../media/image7.png"/><Relationship Id="rId1" Type="http://schemas.openxmlformats.org/officeDocument/2006/relationships/image" Target="../media/image8.emf"/></Relationships>
</file>

<file path=ppt/slides/_rels/slide39.xml.rels><?xml version="1.0" encoding="UTF-8" standalone="yes"?>
<Relationships xmlns="http://schemas.openxmlformats.org/package/2006/relationships"><Relationship Id="rId4" Type="http://schemas.openxmlformats.org/officeDocument/2006/relationships/notesSlide" Target="../notesSlides/notesSlide39.xml"/><Relationship Id="rId3" Type="http://schemas.openxmlformats.org/officeDocument/2006/relationships/slideLayout" Target="../slideLayouts/slideLayout13.xml"/><Relationship Id="rId2" Type="http://schemas.openxmlformats.org/officeDocument/2006/relationships/image" Target="../media/image7.png"/><Relationship Id="rId1" Type="http://schemas.openxmlformats.org/officeDocument/2006/relationships/image" Target="../media/image8.emf"/></Relationships>
</file>

<file path=ppt/slides/_rels/slide40.xml.rels><?xml version="1.0" encoding="UTF-8" standalone="yes"?>
<Relationships xmlns="http://schemas.openxmlformats.org/package/2006/relationships"><Relationship Id="rId4" Type="http://schemas.openxmlformats.org/officeDocument/2006/relationships/notesSlide" Target="../notesSlides/notesSlide40.xml"/><Relationship Id="rId3" Type="http://schemas.openxmlformats.org/officeDocument/2006/relationships/slideLayout" Target="../slideLayouts/slideLayout13.xml"/><Relationship Id="rId2" Type="http://schemas.openxmlformats.org/officeDocument/2006/relationships/image" Target="../media/image9.png"/><Relationship Id="rId1" Type="http://schemas.openxmlformats.org/officeDocument/2006/relationships/image" Target="../media/image4.pn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13.xml"/><Relationship Id="rId1" Type="http://schemas.openxmlformats.org/officeDocument/2006/relationships/image" Target="../media/image4.png"/></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13.xml"/><Relationship Id="rId1" Type="http://schemas.openxmlformats.org/officeDocument/2006/relationships/image" Target="../media/image4.png"/></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13.xml"/><Relationship Id="rId1" Type="http://schemas.openxmlformats.org/officeDocument/2006/relationships/image" Target="../media/image4.png"/></Relationships>
</file>

<file path=ppt/slides/_rels/slide44.xml.rels><?xml version="1.0" encoding="UTF-8" standalone="yes"?>
<Relationships xmlns="http://schemas.openxmlformats.org/package/2006/relationships"><Relationship Id="rId4" Type="http://schemas.openxmlformats.org/officeDocument/2006/relationships/notesSlide" Target="../notesSlides/notesSlide44.xml"/><Relationship Id="rId3" Type="http://schemas.openxmlformats.org/officeDocument/2006/relationships/slideLayout" Target="../slideLayouts/slideLayout13.xml"/><Relationship Id="rId2" Type="http://schemas.openxmlformats.org/officeDocument/2006/relationships/image" Target="../media/image10.png"/><Relationship Id="rId1" Type="http://schemas.openxmlformats.org/officeDocument/2006/relationships/image" Target="../media/image4.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13.xml"/><Relationship Id="rId1" Type="http://schemas.openxmlformats.org/officeDocument/2006/relationships/image" Target="../media/image4.pn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6.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13.xml"/><Relationship Id="rId1" Type="http://schemas.openxmlformats.org/officeDocument/2006/relationships/image" Target="../media/image4.pn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6.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13.xml"/><Relationship Id="rId1" Type="http://schemas.openxmlformats.org/officeDocument/2006/relationships/image" Target="../media/image4.png"/></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6.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13.xml"/><Relationship Id="rId1" Type="http://schemas.openxmlformats.org/officeDocument/2006/relationships/image" Target="../media/image4.png"/></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13.xml"/><Relationship Id="rId1" Type="http://schemas.openxmlformats.org/officeDocument/2006/relationships/image" Target="../media/image4.png"/></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13.xml"/><Relationship Id="rId1" Type="http://schemas.openxmlformats.org/officeDocument/2006/relationships/image" Target="../media/image4.png"/></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15.xml"/><Relationship Id="rId1" Type="http://schemas.openxmlformats.org/officeDocument/2006/relationships/image" Target="../media/image4.png"/></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61.xml"/><Relationship Id="rId2" Type="http://schemas.openxmlformats.org/officeDocument/2006/relationships/slideLayout" Target="../slideLayouts/slideLayout13.xml"/><Relationship Id="rId1" Type="http://schemas.openxmlformats.org/officeDocument/2006/relationships/image" Target="../media/image4.png"/></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13.xml"/><Relationship Id="rId1" Type="http://schemas.openxmlformats.org/officeDocument/2006/relationships/image" Target="../media/image4.png"/></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6.xml"/></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64.xml"/><Relationship Id="rId2" Type="http://schemas.openxmlformats.org/officeDocument/2006/relationships/slideLayout" Target="../slideLayouts/slideLayout13.xml"/><Relationship Id="rId1" Type="http://schemas.openxmlformats.org/officeDocument/2006/relationships/image" Target="../media/image4.png"/></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65.xml"/><Relationship Id="rId2" Type="http://schemas.openxmlformats.org/officeDocument/2006/relationships/slideLayout" Target="../slideLayouts/slideLayout13.xml"/><Relationship Id="rId1" Type="http://schemas.openxmlformats.org/officeDocument/2006/relationships/image" Target="../media/image4.png"/></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6.xml"/></Relationships>
</file>

<file path=ppt/slides/_rels/slide67.xml.rels><?xml version="1.0" encoding="UTF-8" standalone="yes"?>
<Relationships xmlns="http://schemas.openxmlformats.org/package/2006/relationships"><Relationship Id="rId3" Type="http://schemas.openxmlformats.org/officeDocument/2006/relationships/notesSlide" Target="../notesSlides/notesSlide67.xml"/><Relationship Id="rId2" Type="http://schemas.openxmlformats.org/officeDocument/2006/relationships/slideLayout" Target="../slideLayouts/slideLayout13.xml"/><Relationship Id="rId1" Type="http://schemas.openxmlformats.org/officeDocument/2006/relationships/image" Target="../media/image4.png"/></Relationships>
</file>

<file path=ppt/slides/_rels/slide68.xml.rels><?xml version="1.0" encoding="UTF-8" standalone="yes"?>
<Relationships xmlns="http://schemas.openxmlformats.org/package/2006/relationships"><Relationship Id="rId3" Type="http://schemas.openxmlformats.org/officeDocument/2006/relationships/notesSlide" Target="../notesSlides/notesSlide68.xml"/><Relationship Id="rId2" Type="http://schemas.openxmlformats.org/officeDocument/2006/relationships/slideLayout" Target="../slideLayouts/slideLayout13.xml"/><Relationship Id="rId1" Type="http://schemas.openxmlformats.org/officeDocument/2006/relationships/image" Target="../media/image4.png"/></Relationships>
</file>

<file path=ppt/slides/_rels/slide69.xml.rels><?xml version="1.0" encoding="UTF-8" standalone="yes"?>
<Relationships xmlns="http://schemas.openxmlformats.org/package/2006/relationships"><Relationship Id="rId3" Type="http://schemas.openxmlformats.org/officeDocument/2006/relationships/notesSlide" Target="../notesSlides/notesSlide69.xml"/><Relationship Id="rId2" Type="http://schemas.openxmlformats.org/officeDocument/2006/relationships/slideLayout" Target="../slideLayouts/slideLayout13.xml"/><Relationship Id="rId1" Type="http://schemas.openxmlformats.org/officeDocument/2006/relationships/image" Target="../media/image4.png"/></Relationships>
</file>

<file path=ppt/slides/_rels/slide70.xml.rels><?xml version="1.0" encoding="UTF-8" standalone="yes"?>
<Relationships xmlns="http://schemas.openxmlformats.org/package/2006/relationships"><Relationship Id="rId3" Type="http://schemas.openxmlformats.org/officeDocument/2006/relationships/notesSlide" Target="../notesSlides/notesSlide70.xml"/><Relationship Id="rId2" Type="http://schemas.openxmlformats.org/officeDocument/2006/relationships/slideLayout" Target="../slideLayouts/slideLayout13.xml"/><Relationship Id="rId1" Type="http://schemas.openxmlformats.org/officeDocument/2006/relationships/image" Target="../media/image4.png"/></Relationships>
</file>

<file path=ppt/slides/_rels/slide71.xml.rels><?xml version="1.0" encoding="UTF-8" standalone="yes"?>
<Relationships xmlns="http://schemas.openxmlformats.org/package/2006/relationships"><Relationship Id="rId3" Type="http://schemas.openxmlformats.org/officeDocument/2006/relationships/notesSlide" Target="../notesSlides/notesSlide71.xml"/><Relationship Id="rId2" Type="http://schemas.openxmlformats.org/officeDocument/2006/relationships/slideLayout" Target="../slideLayouts/slideLayout13.xml"/><Relationship Id="rId1" Type="http://schemas.openxmlformats.org/officeDocument/2006/relationships/image" Target="../media/image4.png"/></Relationships>
</file>

<file path=ppt/slides/_rels/slide72.xml.rels><?xml version="1.0" encoding="UTF-8" standalone="yes"?>
<Relationships xmlns="http://schemas.openxmlformats.org/package/2006/relationships"><Relationship Id="rId3" Type="http://schemas.openxmlformats.org/officeDocument/2006/relationships/notesSlide" Target="../notesSlides/notesSlide72.xml"/><Relationship Id="rId2" Type="http://schemas.openxmlformats.org/officeDocument/2006/relationships/slideLayout" Target="../slideLayouts/slideLayout13.xml"/><Relationship Id="rId1" Type="http://schemas.openxmlformats.org/officeDocument/2006/relationships/image" Target="../media/image4.png"/></Relationships>
</file>

<file path=ppt/slides/_rels/slide73.xml.rels><?xml version="1.0" encoding="UTF-8" standalone="yes"?>
<Relationships xmlns="http://schemas.openxmlformats.org/package/2006/relationships"><Relationship Id="rId3" Type="http://schemas.openxmlformats.org/officeDocument/2006/relationships/notesSlide" Target="../notesSlides/notesSlide73.xml"/><Relationship Id="rId2" Type="http://schemas.openxmlformats.org/officeDocument/2006/relationships/slideLayout" Target="../slideLayouts/slideLayout13.xml"/><Relationship Id="rId1" Type="http://schemas.openxmlformats.org/officeDocument/2006/relationships/image" Target="../media/image4.png"/></Relationships>
</file>

<file path=ppt/slides/_rels/slide74.xml.rels><?xml version="1.0" encoding="UTF-8" standalone="yes"?>
<Relationships xmlns="http://schemas.openxmlformats.org/package/2006/relationships"><Relationship Id="rId3" Type="http://schemas.openxmlformats.org/officeDocument/2006/relationships/notesSlide" Target="../notesSlides/notesSlide74.xml"/><Relationship Id="rId2" Type="http://schemas.openxmlformats.org/officeDocument/2006/relationships/slideLayout" Target="../slideLayouts/slideLayout13.xml"/><Relationship Id="rId1" Type="http://schemas.openxmlformats.org/officeDocument/2006/relationships/image" Target="../media/image4.png"/></Relationships>
</file>

<file path=ppt/slides/_rels/slide75.xml.rels><?xml version="1.0" encoding="UTF-8" standalone="yes"?>
<Relationships xmlns="http://schemas.openxmlformats.org/package/2006/relationships"><Relationship Id="rId3" Type="http://schemas.openxmlformats.org/officeDocument/2006/relationships/notesSlide" Target="../notesSlides/notesSlide75.xml"/><Relationship Id="rId2" Type="http://schemas.openxmlformats.org/officeDocument/2006/relationships/slideLayout" Target="../slideLayouts/slideLayout13.xml"/><Relationship Id="rId1" Type="http://schemas.openxmlformats.org/officeDocument/2006/relationships/image" Target="../media/image4.png"/></Relationships>
</file>

<file path=ppt/slides/_rels/slide76.xml.rels><?xml version="1.0" encoding="UTF-8" standalone="yes"?>
<Relationships xmlns="http://schemas.openxmlformats.org/package/2006/relationships"><Relationship Id="rId3" Type="http://schemas.openxmlformats.org/officeDocument/2006/relationships/notesSlide" Target="../notesSlides/notesSlide76.xml"/><Relationship Id="rId2" Type="http://schemas.openxmlformats.org/officeDocument/2006/relationships/slideLayout" Target="../slideLayouts/slideLayout13.xml"/><Relationship Id="rId1" Type="http://schemas.openxmlformats.org/officeDocument/2006/relationships/image" Target="../media/image4.png"/></Relationships>
</file>

<file path=ppt/slides/_rels/slide77.xml.rels><?xml version="1.0" encoding="UTF-8" standalone="yes"?>
<Relationships xmlns="http://schemas.openxmlformats.org/package/2006/relationships"><Relationship Id="rId3" Type="http://schemas.openxmlformats.org/officeDocument/2006/relationships/notesSlide" Target="../notesSlides/notesSlide77.xml"/><Relationship Id="rId2" Type="http://schemas.openxmlformats.org/officeDocument/2006/relationships/slideLayout" Target="../slideLayouts/slideLayout13.xml"/><Relationship Id="rId1" Type="http://schemas.openxmlformats.org/officeDocument/2006/relationships/image" Target="../media/image4.png"/></Relationships>
</file>

<file path=ppt/slides/_rels/slide78.xml.rels><?xml version="1.0" encoding="UTF-8" standalone="yes"?>
<Relationships xmlns="http://schemas.openxmlformats.org/package/2006/relationships"><Relationship Id="rId3" Type="http://schemas.openxmlformats.org/officeDocument/2006/relationships/notesSlide" Target="../notesSlides/notesSlide78.xml"/><Relationship Id="rId2" Type="http://schemas.openxmlformats.org/officeDocument/2006/relationships/slideLayout" Target="../slideLayouts/slideLayout13.xml"/><Relationship Id="rId1" Type="http://schemas.openxmlformats.org/officeDocument/2006/relationships/image" Target="../media/image4.png"/></Relationships>
</file>

<file path=ppt/slides/_rels/slide79.xml.rels><?xml version="1.0" encoding="UTF-8" standalone="yes"?>
<Relationships xmlns="http://schemas.openxmlformats.org/package/2006/relationships"><Relationship Id="rId3" Type="http://schemas.openxmlformats.org/officeDocument/2006/relationships/notesSlide" Target="../notesSlides/notesSlide79.xml"/><Relationship Id="rId2" Type="http://schemas.openxmlformats.org/officeDocument/2006/relationships/slideLayout" Target="../slideLayouts/slideLayout13.xml"/><Relationship Id="rId1" Type="http://schemas.openxmlformats.org/officeDocument/2006/relationships/image" Target="../media/image4.png"/></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5.xml"/></Relationships>
</file>

<file path=ppt/slides/_rels/slide81.xml.rels><?xml version="1.0" encoding="UTF-8" standalone="yes"?>
<Relationships xmlns="http://schemas.openxmlformats.org/package/2006/relationships"><Relationship Id="rId3" Type="http://schemas.openxmlformats.org/officeDocument/2006/relationships/notesSlide" Target="../notesSlides/notesSlide81.xml"/><Relationship Id="rId2" Type="http://schemas.openxmlformats.org/officeDocument/2006/relationships/slideLayout" Target="../slideLayouts/slideLayout13.xml"/><Relationship Id="rId1" Type="http://schemas.openxmlformats.org/officeDocument/2006/relationships/image" Target="../media/image4.png"/></Relationships>
</file>

<file path=ppt/slides/_rels/slide82.xml.rels><?xml version="1.0" encoding="UTF-8" standalone="yes"?>
<Relationships xmlns="http://schemas.openxmlformats.org/package/2006/relationships"><Relationship Id="rId3" Type="http://schemas.openxmlformats.org/officeDocument/2006/relationships/notesSlide" Target="../notesSlides/notesSlide82.xml"/><Relationship Id="rId2" Type="http://schemas.openxmlformats.org/officeDocument/2006/relationships/slideLayout" Target="../slideLayouts/slideLayout13.xml"/><Relationship Id="rId1" Type="http://schemas.openxmlformats.org/officeDocument/2006/relationships/image" Target="../media/image4.png"/></Relationships>
</file>

<file path=ppt/slides/_rels/slide83.xml.rels><?xml version="1.0" encoding="UTF-8" standalone="yes"?>
<Relationships xmlns="http://schemas.openxmlformats.org/package/2006/relationships"><Relationship Id="rId3" Type="http://schemas.openxmlformats.org/officeDocument/2006/relationships/notesSlide" Target="../notesSlides/notesSlide83.xml"/><Relationship Id="rId2" Type="http://schemas.openxmlformats.org/officeDocument/2006/relationships/slideLayout" Target="../slideLayouts/slideLayout13.xml"/><Relationship Id="rId1" Type="http://schemas.openxmlformats.org/officeDocument/2006/relationships/image" Target="../media/image4.png"/></Relationships>
</file>

<file path=ppt/slides/_rels/slide84.xml.rels><?xml version="1.0" encoding="UTF-8" standalone="yes"?>
<Relationships xmlns="http://schemas.openxmlformats.org/package/2006/relationships"><Relationship Id="rId3" Type="http://schemas.openxmlformats.org/officeDocument/2006/relationships/notesSlide" Target="../notesSlides/notesSlide84.xml"/><Relationship Id="rId2" Type="http://schemas.openxmlformats.org/officeDocument/2006/relationships/slideLayout" Target="../slideLayouts/slideLayout13.xml"/><Relationship Id="rId1" Type="http://schemas.openxmlformats.org/officeDocument/2006/relationships/image" Target="../media/image4.png"/></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5.xml"/></Relationships>
</file>

<file path=ppt/slides/_rels/slide86.xml.rels><?xml version="1.0" encoding="UTF-8" standalone="yes"?>
<Relationships xmlns="http://schemas.openxmlformats.org/package/2006/relationships"><Relationship Id="rId3" Type="http://schemas.openxmlformats.org/officeDocument/2006/relationships/notesSlide" Target="../notesSlides/notesSlide86.xml"/><Relationship Id="rId2" Type="http://schemas.openxmlformats.org/officeDocument/2006/relationships/slideLayout" Target="../slideLayouts/slideLayout13.xml"/><Relationship Id="rId1" Type="http://schemas.openxmlformats.org/officeDocument/2006/relationships/image" Target="../media/image4.png"/></Relationships>
</file>

<file path=ppt/slides/_rels/slide87.xml.rels><?xml version="1.0" encoding="UTF-8" standalone="yes"?>
<Relationships xmlns="http://schemas.openxmlformats.org/package/2006/relationships"><Relationship Id="rId3" Type="http://schemas.openxmlformats.org/officeDocument/2006/relationships/notesSlide" Target="../notesSlides/notesSlide87.xml"/><Relationship Id="rId2" Type="http://schemas.openxmlformats.org/officeDocument/2006/relationships/slideLayout" Target="../slideLayouts/slideLayout13.xml"/><Relationship Id="rId1" Type="http://schemas.openxmlformats.org/officeDocument/2006/relationships/image" Target="../media/image4.png"/></Relationships>
</file>

<file path=ppt/slides/_rels/slide88.xml.rels><?xml version="1.0" encoding="UTF-8" standalone="yes"?>
<Relationships xmlns="http://schemas.openxmlformats.org/package/2006/relationships"><Relationship Id="rId3" Type="http://schemas.openxmlformats.org/officeDocument/2006/relationships/notesSlide" Target="../notesSlides/notesSlide88.xml"/><Relationship Id="rId2" Type="http://schemas.openxmlformats.org/officeDocument/2006/relationships/slideLayout" Target="../slideLayouts/slideLayout13.xml"/><Relationship Id="rId1" Type="http://schemas.openxmlformats.org/officeDocument/2006/relationships/image" Target="../media/image4.png"/></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16.xml"/></Relationships>
</file>

<file path=ppt/slides/_rels/slide90.xml.rels><?xml version="1.0" encoding="UTF-8" standalone="yes"?>
<Relationships xmlns="http://schemas.openxmlformats.org/package/2006/relationships"><Relationship Id="rId3" Type="http://schemas.openxmlformats.org/officeDocument/2006/relationships/notesSlide" Target="../notesSlides/notesSlide90.xml"/><Relationship Id="rId2" Type="http://schemas.openxmlformats.org/officeDocument/2006/relationships/slideLayout" Target="../slideLayouts/slideLayout13.xml"/><Relationship Id="rId1" Type="http://schemas.openxmlformats.org/officeDocument/2006/relationships/image" Target="../media/image4.png"/></Relationships>
</file>

<file path=ppt/slides/_rels/slide91.xml.rels><?xml version="1.0" encoding="UTF-8" standalone="yes"?>
<Relationships xmlns="http://schemas.openxmlformats.org/package/2006/relationships"><Relationship Id="rId3" Type="http://schemas.openxmlformats.org/officeDocument/2006/relationships/notesSlide" Target="../notesSlides/notesSlide91.xml"/><Relationship Id="rId2" Type="http://schemas.openxmlformats.org/officeDocument/2006/relationships/slideLayout" Target="../slideLayouts/slideLayout13.xml"/><Relationship Id="rId1" Type="http://schemas.openxmlformats.org/officeDocument/2006/relationships/image" Target="../media/image4.png"/></Relationships>
</file>

<file path=ppt/slides/_rels/slide92.xml.rels><?xml version="1.0" encoding="UTF-8" standalone="yes"?>
<Relationships xmlns="http://schemas.openxmlformats.org/package/2006/relationships"><Relationship Id="rId3" Type="http://schemas.openxmlformats.org/officeDocument/2006/relationships/notesSlide" Target="../notesSlides/notesSlide92.xml"/><Relationship Id="rId2" Type="http://schemas.openxmlformats.org/officeDocument/2006/relationships/slideLayout" Target="../slideLayouts/slideLayout13.xml"/><Relationship Id="rId1" Type="http://schemas.openxmlformats.org/officeDocument/2006/relationships/image" Target="../media/image4.png"/></Relationships>
</file>

<file path=ppt/slides/_rels/slide93.xml.rels><?xml version="1.0" encoding="UTF-8" standalone="yes"?>
<Relationships xmlns="http://schemas.openxmlformats.org/package/2006/relationships"><Relationship Id="rId3" Type="http://schemas.openxmlformats.org/officeDocument/2006/relationships/notesSlide" Target="../notesSlides/notesSlide93.xml"/><Relationship Id="rId2" Type="http://schemas.openxmlformats.org/officeDocument/2006/relationships/slideLayout" Target="../slideLayouts/slideLayout13.xml"/><Relationship Id="rId1" Type="http://schemas.openxmlformats.org/officeDocument/2006/relationships/image" Target="../media/image4.png"/></Relationships>
</file>

<file path=ppt/slides/_rels/slide94.xml.rels><?xml version="1.0" encoding="UTF-8" standalone="yes"?>
<Relationships xmlns="http://schemas.openxmlformats.org/package/2006/relationships"><Relationship Id="rId3" Type="http://schemas.openxmlformats.org/officeDocument/2006/relationships/notesSlide" Target="../notesSlides/notesSlide94.xml"/><Relationship Id="rId2" Type="http://schemas.openxmlformats.org/officeDocument/2006/relationships/slideLayout" Target="../slideLayouts/slideLayout13.xml"/><Relationship Id="rId1" Type="http://schemas.openxmlformats.org/officeDocument/2006/relationships/image" Target="../media/image4.png"/></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5.xml"/></Relationships>
</file>

<file path=ppt/slides/_rels/slide96.xml.rels><?xml version="1.0" encoding="UTF-8" standalone="yes"?>
<Relationships xmlns="http://schemas.openxmlformats.org/package/2006/relationships"><Relationship Id="rId3" Type="http://schemas.openxmlformats.org/officeDocument/2006/relationships/notesSlide" Target="../notesSlides/notesSlide96.xml"/><Relationship Id="rId2" Type="http://schemas.openxmlformats.org/officeDocument/2006/relationships/slideLayout" Target="../slideLayouts/slideLayout13.xml"/><Relationship Id="rId1" Type="http://schemas.openxmlformats.org/officeDocument/2006/relationships/image" Target="../media/image4.png"/></Relationships>
</file>

<file path=ppt/slides/_rels/slide97.xml.rels><?xml version="1.0" encoding="UTF-8" standalone="yes"?>
<Relationships xmlns="http://schemas.openxmlformats.org/package/2006/relationships"><Relationship Id="rId3" Type="http://schemas.openxmlformats.org/officeDocument/2006/relationships/notesSlide" Target="../notesSlides/notesSlide97.xml"/><Relationship Id="rId2" Type="http://schemas.openxmlformats.org/officeDocument/2006/relationships/slideLayout" Target="../slideLayouts/slideLayout13.xml"/><Relationship Id="rId1" Type="http://schemas.openxmlformats.org/officeDocument/2006/relationships/image" Target="../media/image4.png"/></Relationships>
</file>

<file path=ppt/slides/_rels/slide98.xml.rels><?xml version="1.0" encoding="UTF-8" standalone="yes"?>
<Relationships xmlns="http://schemas.openxmlformats.org/package/2006/relationships"><Relationship Id="rId3" Type="http://schemas.openxmlformats.org/officeDocument/2006/relationships/notesSlide" Target="../notesSlides/notesSlide98.xml"/><Relationship Id="rId2" Type="http://schemas.openxmlformats.org/officeDocument/2006/relationships/slideLayout" Target="../slideLayouts/slideLayout13.xml"/><Relationship Id="rId1" Type="http://schemas.openxmlformats.org/officeDocument/2006/relationships/image" Target="../media/image4.png"/></Relationships>
</file>

<file path=ppt/slides/_rels/slide99.xml.rels><?xml version="1.0" encoding="UTF-8" standalone="yes"?>
<Relationships xmlns="http://schemas.openxmlformats.org/package/2006/relationships"><Relationship Id="rId3" Type="http://schemas.openxmlformats.org/officeDocument/2006/relationships/notesSlide" Target="../notesSlides/notesSlide99.xml"/><Relationship Id="rId2" Type="http://schemas.openxmlformats.org/officeDocument/2006/relationships/slideLayout" Target="../slideLayouts/slideLayout13.xml"/><Relationship Id="rId1" Type="http://schemas.openxmlformats.org/officeDocument/2006/relationships/image" Target="../media/image4.png"/></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16.xml"/></Relationships>
</file>

<file path=ppt/slides/_rels/slide101.xml.rels><?xml version="1.0" encoding="UTF-8" standalone="yes"?>
<Relationships xmlns="http://schemas.openxmlformats.org/package/2006/relationships"><Relationship Id="rId3" Type="http://schemas.openxmlformats.org/officeDocument/2006/relationships/notesSlide" Target="../notesSlides/notesSlide101.xml"/><Relationship Id="rId2" Type="http://schemas.openxmlformats.org/officeDocument/2006/relationships/slideLayout" Target="../slideLayouts/slideLayout13.xml"/><Relationship Id="rId1" Type="http://schemas.openxmlformats.org/officeDocument/2006/relationships/image" Target="../media/image4.png"/></Relationships>
</file>

<file path=ppt/slides/_rels/slide102.xml.rels><?xml version="1.0" encoding="UTF-8" standalone="yes"?>
<Relationships xmlns="http://schemas.openxmlformats.org/package/2006/relationships"><Relationship Id="rId3" Type="http://schemas.openxmlformats.org/officeDocument/2006/relationships/notesSlide" Target="../notesSlides/notesSlide102.xml"/><Relationship Id="rId2" Type="http://schemas.openxmlformats.org/officeDocument/2006/relationships/slideLayout" Target="../slideLayouts/slideLayout13.xml"/><Relationship Id="rId1" Type="http://schemas.openxmlformats.org/officeDocument/2006/relationships/image" Target="../media/image4.png"/></Relationships>
</file>

<file path=ppt/slides/_rels/slide103.xml.rels><?xml version="1.0" encoding="UTF-8" standalone="yes"?>
<Relationships xmlns="http://schemas.openxmlformats.org/package/2006/relationships"><Relationship Id="rId3" Type="http://schemas.openxmlformats.org/officeDocument/2006/relationships/notesSlide" Target="../notesSlides/notesSlide103.xml"/><Relationship Id="rId2" Type="http://schemas.openxmlformats.org/officeDocument/2006/relationships/slideLayout" Target="../slideLayouts/slideLayout13.xml"/><Relationship Id="rId1" Type="http://schemas.openxmlformats.org/officeDocument/2006/relationships/image" Target="../media/image4.png"/></Relationships>
</file>

<file path=ppt/slides/_rels/slide104.xml.rels><?xml version="1.0" encoding="UTF-8" standalone="yes"?>
<Relationships xmlns="http://schemas.openxmlformats.org/package/2006/relationships"><Relationship Id="rId3" Type="http://schemas.openxmlformats.org/officeDocument/2006/relationships/notesSlide" Target="../notesSlides/notesSlide104.xml"/><Relationship Id="rId2" Type="http://schemas.openxmlformats.org/officeDocument/2006/relationships/slideLayout" Target="../slideLayouts/slideLayout13.xml"/><Relationship Id="rId1" Type="http://schemas.openxmlformats.org/officeDocument/2006/relationships/image" Target="../media/image4.png"/></Relationships>
</file>

<file path=ppt/slides/_rels/slide105.xml.rels><?xml version="1.0" encoding="UTF-8" standalone="yes"?>
<Relationships xmlns="http://schemas.openxmlformats.org/package/2006/relationships"><Relationship Id="rId3" Type="http://schemas.openxmlformats.org/officeDocument/2006/relationships/notesSlide" Target="../notesSlides/notesSlide105.xml"/><Relationship Id="rId2" Type="http://schemas.openxmlformats.org/officeDocument/2006/relationships/slideLayout" Target="../slideLayouts/slideLayout13.xml"/><Relationship Id="rId1" Type="http://schemas.openxmlformats.org/officeDocument/2006/relationships/image" Target="../media/image4.png"/></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5.xml"/></Relationships>
</file>

<file path=ppt/slides/_rels/slide107.xml.rels><?xml version="1.0" encoding="UTF-8" standalone="yes"?>
<Relationships xmlns="http://schemas.openxmlformats.org/package/2006/relationships"><Relationship Id="rId4" Type="http://schemas.openxmlformats.org/officeDocument/2006/relationships/notesSlide" Target="../notesSlides/notesSlide107.xml"/><Relationship Id="rId3" Type="http://schemas.openxmlformats.org/officeDocument/2006/relationships/slideLayout" Target="../slideLayouts/slideLayout13.xml"/><Relationship Id="rId2" Type="http://schemas.openxmlformats.org/officeDocument/2006/relationships/image" Target="../media/image6.png"/><Relationship Id="rId1" Type="http://schemas.openxmlformats.org/officeDocument/2006/relationships/image" Target="../media/image4.png"/></Relationships>
</file>

<file path=ppt/slides/_rels/slide108.xml.rels><?xml version="1.0" encoding="UTF-8" standalone="yes"?>
<Relationships xmlns="http://schemas.openxmlformats.org/package/2006/relationships"><Relationship Id="rId5" Type="http://schemas.openxmlformats.org/officeDocument/2006/relationships/notesSlide" Target="../notesSlides/notesSlide108.xml"/><Relationship Id="rId4" Type="http://schemas.openxmlformats.org/officeDocument/2006/relationships/slideLayout" Target="../slideLayouts/slideLayout13.xml"/><Relationship Id="rId3" Type="http://schemas.openxmlformats.org/officeDocument/2006/relationships/image" Target="../media/image11.png"/><Relationship Id="rId2" Type="http://schemas.openxmlformats.org/officeDocument/2006/relationships/image" Target="../media/image7.png"/><Relationship Id="rId1" Type="http://schemas.openxmlformats.org/officeDocument/2006/relationships/image" Target="../media/image8.emf"/></Relationships>
</file>

<file path=ppt/slides/_rels/slide109.xml.rels><?xml version="1.0" encoding="UTF-8" standalone="yes"?>
<Relationships xmlns="http://schemas.openxmlformats.org/package/2006/relationships"><Relationship Id="rId4" Type="http://schemas.openxmlformats.org/officeDocument/2006/relationships/notesSlide" Target="../notesSlides/notesSlide109.xml"/><Relationship Id="rId3" Type="http://schemas.openxmlformats.org/officeDocument/2006/relationships/slideLayout" Target="../slideLayouts/slideLayout13.xml"/><Relationship Id="rId2" Type="http://schemas.openxmlformats.org/officeDocument/2006/relationships/image" Target="../media/image6.png"/><Relationship Id="rId1" Type="http://schemas.openxmlformats.org/officeDocument/2006/relationships/image" Target="../media/image4.png"/></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13.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13.xml"/></Relationships>
</file>

<file path=ppt/slides/_rels/slide112.xml.rels><?xml version="1.0" encoding="UTF-8" standalone="yes"?>
<Relationships xmlns="http://schemas.openxmlformats.org/package/2006/relationships"><Relationship Id="rId4" Type="http://schemas.openxmlformats.org/officeDocument/2006/relationships/notesSlide" Target="../notesSlides/notesSlide112.xml"/><Relationship Id="rId3" Type="http://schemas.openxmlformats.org/officeDocument/2006/relationships/slideLayout" Target="../slideLayouts/slideLayout13.xml"/><Relationship Id="rId2" Type="http://schemas.openxmlformats.org/officeDocument/2006/relationships/image" Target="../media/image6.png"/><Relationship Id="rId1" Type="http://schemas.openxmlformats.org/officeDocument/2006/relationships/image" Target="../media/image4.png"/></Relationships>
</file>

<file path=ppt/slides/_rels/slide113.xml.rels><?xml version="1.0" encoding="UTF-8" standalone="yes"?>
<Relationships xmlns="http://schemas.openxmlformats.org/package/2006/relationships"><Relationship Id="rId6" Type="http://schemas.openxmlformats.org/officeDocument/2006/relationships/notesSlide" Target="../notesSlides/notesSlide113.xml"/><Relationship Id="rId5" Type="http://schemas.openxmlformats.org/officeDocument/2006/relationships/slideLayout" Target="../slideLayouts/slideLayout13.xml"/><Relationship Id="rId4" Type="http://schemas.openxmlformats.org/officeDocument/2006/relationships/image" Target="../media/image6.png"/><Relationship Id="rId3" Type="http://schemas.openxmlformats.org/officeDocument/2006/relationships/image" Target="../media/image4.png"/><Relationship Id="rId2" Type="http://schemas.openxmlformats.org/officeDocument/2006/relationships/image" Target="../media/image13.png"/><Relationship Id="rId1" Type="http://schemas.openxmlformats.org/officeDocument/2006/relationships/image" Target="../media/image12.png"/></Relationships>
</file>

<file path=ppt/slides/_rels/slide114.xml.rels><?xml version="1.0" encoding="UTF-8" standalone="yes"?>
<Relationships xmlns="http://schemas.openxmlformats.org/package/2006/relationships"><Relationship Id="rId3" Type="http://schemas.openxmlformats.org/officeDocument/2006/relationships/notesSlide" Target="../notesSlides/notesSlide114.xml"/><Relationship Id="rId2" Type="http://schemas.openxmlformats.org/officeDocument/2006/relationships/slideLayout" Target="../slideLayouts/slideLayout13.xml"/><Relationship Id="rId1" Type="http://schemas.openxmlformats.org/officeDocument/2006/relationships/image" Target="../media/image14.png"/></Relationships>
</file>

<file path=ppt/slides/_rels/slide115.xml.rels><?xml version="1.0" encoding="UTF-8" standalone="yes"?>
<Relationships xmlns="http://schemas.openxmlformats.org/package/2006/relationships"><Relationship Id="rId4" Type="http://schemas.openxmlformats.org/officeDocument/2006/relationships/notesSlide" Target="../notesSlides/notesSlide115.xml"/><Relationship Id="rId3" Type="http://schemas.openxmlformats.org/officeDocument/2006/relationships/slideLayout" Target="../slideLayouts/slideLayout13.xml"/><Relationship Id="rId2" Type="http://schemas.openxmlformats.org/officeDocument/2006/relationships/image" Target="../media/image6.png"/><Relationship Id="rId1" Type="http://schemas.openxmlformats.org/officeDocument/2006/relationships/image" Target="../media/image4.png"/></Relationships>
</file>

<file path=ppt/slides/_rels/slide116.xml.rels><?xml version="1.0" encoding="UTF-8" standalone="yes"?>
<Relationships xmlns="http://schemas.openxmlformats.org/package/2006/relationships"><Relationship Id="rId6" Type="http://schemas.openxmlformats.org/officeDocument/2006/relationships/notesSlide" Target="../notesSlides/notesSlide116.xml"/><Relationship Id="rId5" Type="http://schemas.openxmlformats.org/officeDocument/2006/relationships/slideLayout" Target="../slideLayouts/slideLayout13.xml"/><Relationship Id="rId4" Type="http://schemas.openxmlformats.org/officeDocument/2006/relationships/image" Target="../media/image15.png"/><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image" Target="../media/image12.png"/></Relationships>
</file>

<file path=ppt/slides/_rels/slide117.xml.rels><?xml version="1.0" encoding="UTF-8" standalone="yes"?>
<Relationships xmlns="http://schemas.openxmlformats.org/package/2006/relationships"><Relationship Id="rId3" Type="http://schemas.openxmlformats.org/officeDocument/2006/relationships/notesSlide" Target="../notesSlides/notesSlide117.xml"/><Relationship Id="rId2" Type="http://schemas.openxmlformats.org/officeDocument/2006/relationships/slideLayout" Target="../slideLayouts/slideLayout13.xml"/><Relationship Id="rId1" Type="http://schemas.openxmlformats.org/officeDocument/2006/relationships/image" Target="../media/image16.png"/></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13.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9.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11.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0" name="文本占位符 49"/>
          <p:cNvSpPr>
            <a:spLocks noGrp="1"/>
          </p:cNvSpPr>
          <p:nvPr>
            <p:ph type="body" sz="quarter" idx="17"/>
          </p:nvPr>
        </p:nvSpPr>
        <p:spPr bwMode="gray"/>
        <p:txBody>
          <a:bodyPr/>
          <a:lstStyle/>
          <a:p>
            <a:endParaRPr lang="zh-CN" altLang="en-US"/>
          </a:p>
        </p:txBody>
      </p:sp>
      <p:sp>
        <p:nvSpPr>
          <p:cNvPr id="51" name="文本占位符 50"/>
          <p:cNvSpPr>
            <a:spLocks noGrp="1"/>
          </p:cNvSpPr>
          <p:nvPr>
            <p:ph type="body" sz="quarter" idx="18"/>
          </p:nvPr>
        </p:nvSpPr>
        <p:spPr bwMode="gray"/>
        <p:txBody>
          <a:bodyPr/>
          <a:lstStyle/>
          <a:p>
            <a:r>
              <a:rPr lang="en-US" altLang="zh-CN" dirty="0"/>
              <a:t>Datacom</a:t>
            </a:r>
            <a:endParaRPr lang="zh-CN" altLang="en-US" dirty="0"/>
          </a:p>
        </p:txBody>
      </p:sp>
      <p:sp>
        <p:nvSpPr>
          <p:cNvPr id="52" name="文本占位符 51"/>
          <p:cNvSpPr>
            <a:spLocks noGrp="1"/>
          </p:cNvSpPr>
          <p:nvPr>
            <p:ph type="body" sz="quarter" idx="19"/>
          </p:nvPr>
        </p:nvSpPr>
        <p:spPr bwMode="gray"/>
        <p:txBody>
          <a:bodyPr/>
          <a:lstStyle/>
          <a:p>
            <a:r>
              <a:rPr lang="zh-CN" altLang="en-US" dirty="0"/>
              <a:t>通用</a:t>
            </a:r>
            <a:endParaRPr lang="zh-CN" altLang="en-US" dirty="0"/>
          </a:p>
        </p:txBody>
      </p:sp>
      <p:sp>
        <p:nvSpPr>
          <p:cNvPr id="53" name="文本占位符 52"/>
          <p:cNvSpPr>
            <a:spLocks noGrp="1"/>
          </p:cNvSpPr>
          <p:nvPr>
            <p:ph type="body" sz="quarter" idx="20"/>
          </p:nvPr>
        </p:nvSpPr>
        <p:spPr bwMode="gray"/>
        <p:txBody>
          <a:bodyPr/>
          <a:lstStyle/>
          <a:p>
            <a:r>
              <a:rPr lang="en-US" altLang="zh-CN" dirty="0"/>
              <a:t>V1.0</a:t>
            </a:r>
            <a:endParaRPr lang="zh-CN" altLang="en-US" dirty="0"/>
          </a:p>
        </p:txBody>
      </p:sp>
      <p:sp>
        <p:nvSpPr>
          <p:cNvPr id="46" name="文本占位符 45"/>
          <p:cNvSpPr>
            <a:spLocks noGrp="1"/>
          </p:cNvSpPr>
          <p:nvPr>
            <p:ph type="body" sz="quarter" idx="13"/>
          </p:nvPr>
        </p:nvSpPr>
        <p:spPr bwMode="gray"/>
        <p:txBody>
          <a:bodyPr/>
          <a:lstStyle/>
          <a:p>
            <a:r>
              <a:rPr lang="zh-CN" altLang="en-US" dirty="0"/>
              <a:t>万倡利</a:t>
            </a:r>
            <a:r>
              <a:rPr lang="en-US" altLang="zh-CN" dirty="0"/>
              <a:t>/WX408647</a:t>
            </a:r>
            <a:endParaRPr lang="zh-CN" altLang="en-US" dirty="0"/>
          </a:p>
        </p:txBody>
      </p:sp>
      <p:sp>
        <p:nvSpPr>
          <p:cNvPr id="47" name="文本占位符 46"/>
          <p:cNvSpPr>
            <a:spLocks noGrp="1"/>
          </p:cNvSpPr>
          <p:nvPr>
            <p:ph type="body" sz="quarter" idx="14"/>
          </p:nvPr>
        </p:nvSpPr>
        <p:spPr bwMode="gray"/>
        <p:txBody>
          <a:bodyPr/>
          <a:lstStyle/>
          <a:p>
            <a:r>
              <a:rPr lang="en-US" altLang="zh-CN"/>
              <a:t>2021.2.22</a:t>
            </a:r>
            <a:endParaRPr lang="zh-CN" altLang="en-US"/>
          </a:p>
        </p:txBody>
      </p:sp>
      <p:sp>
        <p:nvSpPr>
          <p:cNvPr id="48" name="文本占位符 47"/>
          <p:cNvSpPr>
            <a:spLocks noGrp="1"/>
          </p:cNvSpPr>
          <p:nvPr>
            <p:ph type="body" sz="quarter" idx="15"/>
          </p:nvPr>
        </p:nvSpPr>
        <p:spPr bwMode="gray"/>
        <p:txBody>
          <a:bodyPr/>
          <a:lstStyle/>
          <a:p>
            <a:r>
              <a:rPr lang="zh-CN" altLang="en-US" sz="1600" dirty="0"/>
              <a:t>刘淑英</a:t>
            </a:r>
            <a:r>
              <a:rPr lang="en-US" altLang="zh-CN" sz="1600" dirty="0"/>
              <a:t>/00245623</a:t>
            </a:r>
            <a:r>
              <a:rPr lang="zh-CN" altLang="en-US" sz="1600" dirty="0"/>
              <a:t>、王秋生</a:t>
            </a:r>
            <a:r>
              <a:rPr lang="en-US" altLang="zh-CN" sz="1600" dirty="0"/>
              <a:t>/00287740</a:t>
            </a:r>
            <a:endParaRPr lang="zh-CN" altLang="en-US" sz="1600" dirty="0"/>
          </a:p>
        </p:txBody>
      </p:sp>
      <p:sp>
        <p:nvSpPr>
          <p:cNvPr id="49" name="文本占位符 48"/>
          <p:cNvSpPr>
            <a:spLocks noGrp="1"/>
          </p:cNvSpPr>
          <p:nvPr>
            <p:ph type="body" sz="quarter" idx="16"/>
          </p:nvPr>
        </p:nvSpPr>
        <p:spPr bwMode="gray"/>
        <p:txBody>
          <a:bodyPr/>
          <a:lstStyle/>
          <a:p>
            <a:r>
              <a:rPr lang="zh-CN" altLang="en-US" dirty="0"/>
              <a:t>新开发</a:t>
            </a:r>
            <a:endParaRPr lang="zh-CN" altLang="en-US" dirty="0"/>
          </a:p>
        </p:txBody>
      </p:sp>
      <p:sp>
        <p:nvSpPr>
          <p:cNvPr id="54" name="文本占位符 53"/>
          <p:cNvSpPr>
            <a:spLocks noGrp="1"/>
          </p:cNvSpPr>
          <p:nvPr>
            <p:ph type="body" sz="quarter" idx="21"/>
          </p:nvPr>
        </p:nvSpPr>
        <p:spPr bwMode="gray"/>
        <p:txBody>
          <a:bodyPr/>
          <a:lstStyle/>
          <a:p>
            <a:r>
              <a:rPr lang="zh-CN" altLang="en-US" dirty="0"/>
              <a:t>何军建</a:t>
            </a:r>
            <a:r>
              <a:rPr lang="en-US" altLang="zh-CN" dirty="0"/>
              <a:t>/WX580230</a:t>
            </a:r>
            <a:endParaRPr lang="zh-CN" altLang="en-US" dirty="0"/>
          </a:p>
        </p:txBody>
      </p:sp>
      <p:sp>
        <p:nvSpPr>
          <p:cNvPr id="55" name="文本占位符 54"/>
          <p:cNvSpPr>
            <a:spLocks noGrp="1"/>
          </p:cNvSpPr>
          <p:nvPr>
            <p:ph type="body" sz="quarter" idx="22"/>
          </p:nvPr>
        </p:nvSpPr>
        <p:spPr bwMode="gray"/>
        <p:txBody>
          <a:bodyPr/>
          <a:lstStyle/>
          <a:p>
            <a:r>
              <a:rPr lang="en-US" altLang="zh-CN" dirty="0"/>
              <a:t>2021.4.13</a:t>
            </a:r>
            <a:endParaRPr lang="zh-CN" altLang="en-US" dirty="0"/>
          </a:p>
        </p:txBody>
      </p:sp>
      <p:sp>
        <p:nvSpPr>
          <p:cNvPr id="56" name="文本占位符 55"/>
          <p:cNvSpPr>
            <a:spLocks noGrp="1"/>
          </p:cNvSpPr>
          <p:nvPr>
            <p:ph type="body" sz="quarter" idx="23"/>
          </p:nvPr>
        </p:nvSpPr>
        <p:spPr bwMode="gray"/>
        <p:txBody>
          <a:bodyPr/>
          <a:lstStyle/>
          <a:p>
            <a:r>
              <a:rPr lang="zh-CN" altLang="en-US" sz="1600" dirty="0"/>
              <a:t>朱仕耿</a:t>
            </a:r>
            <a:r>
              <a:rPr lang="en-US" altLang="zh-CN" sz="1600" dirty="0"/>
              <a:t>/00261992</a:t>
            </a:r>
            <a:r>
              <a:rPr lang="zh-CN" altLang="en-US" sz="1600" dirty="0"/>
              <a:t>、万倡利</a:t>
            </a:r>
            <a:r>
              <a:rPr lang="en-US" altLang="zh-CN" sz="1600" dirty="0"/>
              <a:t>/WX408647</a:t>
            </a:r>
            <a:endParaRPr lang="zh-CN" altLang="en-US" sz="1600" dirty="0"/>
          </a:p>
        </p:txBody>
      </p:sp>
      <p:sp>
        <p:nvSpPr>
          <p:cNvPr id="57" name="文本占位符 56"/>
          <p:cNvSpPr>
            <a:spLocks noGrp="1"/>
          </p:cNvSpPr>
          <p:nvPr>
            <p:ph type="body" sz="quarter" idx="24"/>
          </p:nvPr>
        </p:nvSpPr>
        <p:spPr bwMode="gray"/>
        <p:txBody>
          <a:bodyPr/>
          <a:lstStyle/>
          <a:p>
            <a:r>
              <a:rPr lang="zh-CN" altLang="en-US" dirty="0"/>
              <a:t>优化</a:t>
            </a:r>
            <a:endParaRPr lang="zh-CN" altLang="en-US" dirty="0"/>
          </a:p>
        </p:txBody>
      </p:sp>
      <p:sp>
        <p:nvSpPr>
          <p:cNvPr id="58" name="文本占位符 57"/>
          <p:cNvSpPr>
            <a:spLocks noGrp="1"/>
          </p:cNvSpPr>
          <p:nvPr>
            <p:ph type="body" sz="quarter" idx="25"/>
          </p:nvPr>
        </p:nvSpPr>
        <p:spPr bwMode="gray"/>
        <p:txBody>
          <a:bodyPr/>
          <a:lstStyle/>
          <a:p>
            <a:r>
              <a:rPr lang="zh-CN" altLang="en-US" dirty="0"/>
              <a:t>吴越</a:t>
            </a:r>
            <a:r>
              <a:rPr lang="en-US" altLang="zh-CN" dirty="0"/>
              <a:t>/WX291773</a:t>
            </a:r>
            <a:endParaRPr lang="zh-CN" altLang="en-US" dirty="0"/>
          </a:p>
        </p:txBody>
      </p:sp>
      <p:sp>
        <p:nvSpPr>
          <p:cNvPr id="59" name="文本占位符 58"/>
          <p:cNvSpPr>
            <a:spLocks noGrp="1"/>
          </p:cNvSpPr>
          <p:nvPr>
            <p:ph type="body" sz="quarter" idx="26"/>
          </p:nvPr>
        </p:nvSpPr>
        <p:spPr bwMode="gray"/>
        <p:txBody>
          <a:bodyPr/>
          <a:lstStyle/>
          <a:p>
            <a:r>
              <a:rPr lang="en-US" altLang="zh-CN" dirty="0"/>
              <a:t>2021.9.16</a:t>
            </a:r>
            <a:endParaRPr lang="zh-CN" altLang="en-US" dirty="0"/>
          </a:p>
        </p:txBody>
      </p:sp>
      <p:sp>
        <p:nvSpPr>
          <p:cNvPr id="60" name="文本占位符 59"/>
          <p:cNvSpPr>
            <a:spLocks noGrp="1"/>
          </p:cNvSpPr>
          <p:nvPr>
            <p:ph type="body" sz="quarter" idx="27"/>
          </p:nvPr>
        </p:nvSpPr>
        <p:spPr bwMode="gray"/>
        <p:txBody>
          <a:bodyPr/>
          <a:lstStyle/>
          <a:p>
            <a:r>
              <a:rPr lang="zh-CN" altLang="en-US" dirty="0"/>
              <a:t>卢玥玥</a:t>
            </a:r>
            <a:r>
              <a:rPr lang="en-US" altLang="zh-CN" dirty="0"/>
              <a:t>/WX445705</a:t>
            </a:r>
            <a:endParaRPr lang="zh-CN" altLang="en-US" dirty="0"/>
          </a:p>
        </p:txBody>
      </p:sp>
      <p:sp>
        <p:nvSpPr>
          <p:cNvPr id="61" name="文本占位符 60"/>
          <p:cNvSpPr>
            <a:spLocks noGrp="1"/>
          </p:cNvSpPr>
          <p:nvPr>
            <p:ph type="body" sz="quarter" idx="28"/>
          </p:nvPr>
        </p:nvSpPr>
        <p:spPr bwMode="gray"/>
        <p:txBody>
          <a:bodyPr/>
          <a:lstStyle/>
          <a:p>
            <a:r>
              <a:rPr lang="zh-CN" altLang="en-US" dirty="0"/>
              <a:t>优化</a:t>
            </a:r>
            <a:endParaRPr lang="zh-CN" altLang="en-US" dirty="0"/>
          </a:p>
        </p:txBody>
      </p:sp>
      <p:sp>
        <p:nvSpPr>
          <p:cNvPr id="62" name="文本占位符 61"/>
          <p:cNvSpPr>
            <a:spLocks noGrp="1"/>
          </p:cNvSpPr>
          <p:nvPr>
            <p:ph type="body" sz="quarter" idx="29"/>
          </p:nvPr>
        </p:nvSpPr>
        <p:spPr bwMode="gray"/>
        <p:txBody>
          <a:bodyPr/>
          <a:lstStyle/>
          <a:p>
            <a:endParaRPr lang="zh-CN" altLang="en-US"/>
          </a:p>
        </p:txBody>
      </p:sp>
      <p:sp>
        <p:nvSpPr>
          <p:cNvPr id="63" name="文本占位符 62"/>
          <p:cNvSpPr>
            <a:spLocks noGrp="1"/>
          </p:cNvSpPr>
          <p:nvPr>
            <p:ph type="body" sz="quarter" idx="30"/>
          </p:nvPr>
        </p:nvSpPr>
        <p:spPr bwMode="gray"/>
        <p:txBody>
          <a:bodyPr/>
          <a:lstStyle/>
          <a:p>
            <a:endParaRPr lang="zh-CN" altLang="en-US"/>
          </a:p>
        </p:txBody>
      </p:sp>
      <p:sp>
        <p:nvSpPr>
          <p:cNvPr id="64" name="文本占位符 63"/>
          <p:cNvSpPr>
            <a:spLocks noGrp="1"/>
          </p:cNvSpPr>
          <p:nvPr>
            <p:ph type="body" sz="quarter" idx="31"/>
          </p:nvPr>
        </p:nvSpPr>
        <p:spPr bwMode="gray"/>
        <p:txBody>
          <a:bodyPr/>
          <a:lstStyle/>
          <a:p>
            <a:endParaRPr lang="zh-CN" altLang="en-US"/>
          </a:p>
        </p:txBody>
      </p:sp>
      <p:sp>
        <p:nvSpPr>
          <p:cNvPr id="65" name="文本占位符 64"/>
          <p:cNvSpPr>
            <a:spLocks noGrp="1"/>
          </p:cNvSpPr>
          <p:nvPr>
            <p:ph type="body" sz="quarter" idx="32"/>
          </p:nvPr>
        </p:nvSpPr>
        <p:spPr bwMode="gray"/>
        <p:txBody>
          <a:bodyPr/>
          <a:lstStyle/>
          <a:p>
            <a:endParaRPr lang="zh-CN" altLang="en-US"/>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ctrTitle"/>
          </p:nvPr>
        </p:nvSpPr>
        <p:spPr bwMode="gray">
          <a:xfrm>
            <a:off x="916560" y="907092"/>
            <a:ext cx="8125839" cy="690255"/>
          </a:xfrm>
        </p:spPr>
        <p:txBody>
          <a:bodyPr/>
          <a:lstStyle/>
          <a:p>
            <a:r>
              <a:rPr lang="en-US" altLang="zh-CN" dirty="0">
                <a:sym typeface="Huawei Sans" panose="020C0503030203020204" pitchFamily="34" charset="0"/>
              </a:rPr>
              <a:t>SRv6</a:t>
            </a:r>
            <a:r>
              <a:rPr lang="zh-CN" altLang="en-US" dirty="0">
                <a:sym typeface="Huawei Sans" panose="020C0503030203020204" pitchFamily="34" charset="0"/>
              </a:rPr>
              <a:t>原理与配置</a:t>
            </a:r>
            <a:endParaRPr lang="zh-CN" altLang="en-US" dirty="0">
              <a:sym typeface="Huawei Sans" panose="020C0503030203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a:xfrm>
            <a:off x="1019174" y="1844675"/>
            <a:ext cx="10153651" cy="4082668"/>
          </a:xfrm>
        </p:spPr>
        <p:txBody>
          <a:bodyPr/>
          <a:lstStyle/>
          <a:p>
            <a:r>
              <a:rPr lang="en-US" altLang="zh-CN" dirty="0">
                <a:sym typeface="Huawei Sans" panose="020C0503030203020204" pitchFamily="34" charset="0"/>
              </a:rPr>
              <a:t>Segment Routing</a:t>
            </a:r>
            <a:r>
              <a:rPr lang="zh-CN" altLang="en-US" dirty="0">
                <a:sym typeface="Huawei Sans" panose="020C0503030203020204" pitchFamily="34" charset="0"/>
              </a:rPr>
              <a:t>架构设计之初，就为数据平面设计了两种实现方式：一种是</a:t>
            </a:r>
            <a:r>
              <a:rPr lang="en-US" altLang="zh-CN" dirty="0">
                <a:sym typeface="Huawei Sans" panose="020C0503030203020204" pitchFamily="34" charset="0"/>
              </a:rPr>
              <a:t>SR-MPLS</a:t>
            </a:r>
            <a:r>
              <a:rPr lang="zh-CN" altLang="en-US" dirty="0">
                <a:sym typeface="Huawei Sans" panose="020C0503030203020204" pitchFamily="34" charset="0"/>
              </a:rPr>
              <a:t>，其复用了</a:t>
            </a:r>
            <a:r>
              <a:rPr lang="en-US" altLang="zh-CN" dirty="0">
                <a:sym typeface="Huawei Sans" panose="020C0503030203020204" pitchFamily="34" charset="0"/>
              </a:rPr>
              <a:t>MPLS</a:t>
            </a:r>
            <a:r>
              <a:rPr lang="zh-CN" altLang="en-US" dirty="0">
                <a:sym typeface="Huawei Sans" panose="020C0503030203020204" pitchFamily="34" charset="0"/>
              </a:rPr>
              <a:t>数据平面，可以在现有</a:t>
            </a:r>
            <a:r>
              <a:rPr lang="en-US" altLang="zh-CN" dirty="0">
                <a:sym typeface="Huawei Sans" panose="020C0503030203020204" pitchFamily="34" charset="0"/>
              </a:rPr>
              <a:t>IP/MPLS</a:t>
            </a:r>
            <a:r>
              <a:rPr lang="zh-CN" altLang="en-US" dirty="0">
                <a:sym typeface="Huawei Sans" panose="020C0503030203020204" pitchFamily="34" charset="0"/>
              </a:rPr>
              <a:t>网络上增量部署；另一种是</a:t>
            </a:r>
            <a:r>
              <a:rPr lang="en-US" altLang="zh-CN" dirty="0">
                <a:sym typeface="Huawei Sans" panose="020C0503030203020204" pitchFamily="34" charset="0"/>
              </a:rPr>
              <a:t>SRv6</a:t>
            </a:r>
            <a:r>
              <a:rPr lang="zh-CN" altLang="en-US" dirty="0">
                <a:sym typeface="Huawei Sans" panose="020C0503030203020204" pitchFamily="34" charset="0"/>
              </a:rPr>
              <a:t>，使用</a:t>
            </a:r>
            <a:r>
              <a:rPr lang="en-US" altLang="zh-CN" dirty="0">
                <a:sym typeface="Huawei Sans" panose="020C0503030203020204" pitchFamily="34" charset="0"/>
              </a:rPr>
              <a:t>IPv6</a:t>
            </a:r>
            <a:r>
              <a:rPr lang="zh-CN" altLang="en-US" dirty="0">
                <a:sym typeface="Huawei Sans" panose="020C0503030203020204" pitchFamily="34" charset="0"/>
              </a:rPr>
              <a:t>数据平面，基于</a:t>
            </a:r>
            <a:r>
              <a:rPr lang="en-US" altLang="zh-CN" dirty="0">
                <a:sym typeface="Huawei Sans" panose="020C0503030203020204" pitchFamily="34" charset="0"/>
              </a:rPr>
              <a:t>IPv6</a:t>
            </a:r>
            <a:r>
              <a:rPr lang="zh-CN" altLang="en-US" dirty="0">
                <a:sym typeface="Huawei Sans" panose="020C0503030203020204" pitchFamily="34" charset="0"/>
              </a:rPr>
              <a:t>路由扩展头进行扩展。</a:t>
            </a:r>
            <a:endParaRPr lang="zh-CN" altLang="en-US" dirty="0">
              <a:sym typeface="Huawei Sans" panose="020C0503030203020204" pitchFamily="34" charset="0"/>
            </a:endParaRPr>
          </a:p>
          <a:p>
            <a:r>
              <a:rPr lang="zh-CN" altLang="en-US" dirty="0">
                <a:sym typeface="Huawei Sans" panose="020C0503030203020204" pitchFamily="34" charset="0"/>
              </a:rPr>
              <a:t>本文将介绍</a:t>
            </a:r>
            <a:r>
              <a:rPr lang="en-US" altLang="zh-CN" dirty="0">
                <a:sym typeface="Huawei Sans" panose="020C0503030203020204" pitchFamily="34" charset="0"/>
              </a:rPr>
              <a:t>SRv6</a:t>
            </a:r>
            <a:r>
              <a:rPr lang="zh-CN" altLang="en-US" dirty="0">
                <a:sym typeface="Huawei Sans" panose="020C0503030203020204" pitchFamily="34" charset="0"/>
              </a:rPr>
              <a:t>的概念与原理和基于华为</a:t>
            </a:r>
            <a:r>
              <a:rPr lang="en-US" altLang="zh-CN" dirty="0" err="1">
                <a:sym typeface="Huawei Sans" panose="020C0503030203020204" pitchFamily="34" charset="0"/>
              </a:rPr>
              <a:t>NetEngine</a:t>
            </a:r>
            <a:r>
              <a:rPr lang="zh-CN" altLang="en-US" dirty="0">
                <a:sym typeface="Huawei Sans" panose="020C0503030203020204" pitchFamily="34" charset="0"/>
              </a:rPr>
              <a:t>系列路由器的应用。</a:t>
            </a:r>
            <a:endParaRPr lang="zh-CN" altLang="en-US" dirty="0">
              <a:sym typeface="Huawei Sans" panose="020C0503030203020204" pitchFamily="34" charset="0"/>
            </a:endParaRPr>
          </a:p>
          <a:p>
            <a:endParaRPr lang="zh-CN" altLang="en-US" dirty="0">
              <a:sym typeface="Huawei Sans" panose="020C0503030203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bwMode="gray"/>
        <p:txBody>
          <a:bodyPr/>
          <a:lstStyle/>
          <a:p>
            <a:r>
              <a:rPr lang="zh-CN" altLang="en-US" dirty="0">
                <a:sym typeface="Huawei Sans" panose="020C0503030203020204" pitchFamily="34" charset="0"/>
              </a:rPr>
              <a:t>学完本课程后，您将能够：</a:t>
            </a:r>
            <a:endParaRPr lang="zh-CN" altLang="en-US" dirty="0">
              <a:sym typeface="Huawei Sans" panose="020C0503030203020204" pitchFamily="34" charset="0"/>
            </a:endParaRPr>
          </a:p>
          <a:p>
            <a:pPr lvl="1"/>
            <a:r>
              <a:rPr lang="zh-CN" altLang="en-US" dirty="0">
                <a:sym typeface="Huawei Sans" panose="020C0503030203020204" pitchFamily="34" charset="0"/>
              </a:rPr>
              <a:t>描述</a:t>
            </a:r>
            <a:r>
              <a:rPr lang="en-US" altLang="zh-CN" dirty="0">
                <a:sym typeface="Huawei Sans" panose="020C0503030203020204" pitchFamily="34" charset="0"/>
              </a:rPr>
              <a:t>SRv6</a:t>
            </a:r>
            <a:r>
              <a:rPr lang="zh-CN" altLang="en-US" dirty="0">
                <a:sym typeface="Huawei Sans" panose="020C0503030203020204" pitchFamily="34" charset="0"/>
              </a:rPr>
              <a:t>的产生背景</a:t>
            </a:r>
            <a:endParaRPr lang="zh-CN" altLang="en-US" dirty="0">
              <a:sym typeface="Huawei Sans" panose="020C0503030203020204" pitchFamily="34" charset="0"/>
            </a:endParaRPr>
          </a:p>
          <a:p>
            <a:pPr lvl="1"/>
            <a:r>
              <a:rPr lang="zh-CN" altLang="en-US" dirty="0">
                <a:sym typeface="Huawei Sans" panose="020C0503030203020204" pitchFamily="34" charset="0"/>
              </a:rPr>
              <a:t>描述</a:t>
            </a:r>
            <a:r>
              <a:rPr lang="en-US" altLang="zh-CN" dirty="0">
                <a:sym typeface="Huawei Sans" panose="020C0503030203020204" pitchFamily="34" charset="0"/>
              </a:rPr>
              <a:t>SRv6</a:t>
            </a:r>
            <a:r>
              <a:rPr lang="zh-CN" altLang="en-US" dirty="0">
                <a:sym typeface="Huawei Sans" panose="020C0503030203020204" pitchFamily="34" charset="0"/>
              </a:rPr>
              <a:t>的技术优势</a:t>
            </a:r>
            <a:endParaRPr lang="zh-CN" altLang="en-US" dirty="0">
              <a:sym typeface="Huawei Sans" panose="020C0503030203020204" pitchFamily="34" charset="0"/>
            </a:endParaRPr>
          </a:p>
          <a:p>
            <a:pPr lvl="1"/>
            <a:r>
              <a:rPr lang="zh-CN" altLang="en-US" dirty="0">
                <a:sym typeface="Huawei Sans" panose="020C0503030203020204" pitchFamily="34" charset="0"/>
              </a:rPr>
              <a:t>描述</a:t>
            </a:r>
            <a:r>
              <a:rPr lang="en-US" altLang="zh-CN" dirty="0">
                <a:sym typeface="Huawei Sans" panose="020C0503030203020204" pitchFamily="34" charset="0"/>
              </a:rPr>
              <a:t>SRv6</a:t>
            </a:r>
            <a:r>
              <a:rPr lang="zh-CN" altLang="en-US" dirty="0">
                <a:sym typeface="Huawei Sans" panose="020C0503030203020204" pitchFamily="34" charset="0"/>
              </a:rPr>
              <a:t>的基本概念与技术原理</a:t>
            </a:r>
            <a:endParaRPr lang="en-US" altLang="zh-CN" dirty="0">
              <a:sym typeface="Huawei Sans" panose="020C0503030203020204" pitchFamily="34" charset="0"/>
            </a:endParaRPr>
          </a:p>
          <a:p>
            <a:pPr lvl="1"/>
            <a:r>
              <a:rPr lang="zh-CN" altLang="en-US" dirty="0">
                <a:sym typeface="Huawei Sans" panose="020C0503030203020204" pitchFamily="34" charset="0"/>
              </a:rPr>
              <a:t>描述</a:t>
            </a:r>
            <a:r>
              <a:rPr lang="en-US" altLang="zh-CN" dirty="0">
                <a:sym typeface="Huawei Sans" panose="020C0503030203020204" pitchFamily="34" charset="0"/>
              </a:rPr>
              <a:t>SRv6</a:t>
            </a:r>
            <a:r>
              <a:rPr lang="zh-CN" altLang="en-US" dirty="0">
                <a:sym typeface="Huawei Sans" panose="020C0503030203020204" pitchFamily="34" charset="0"/>
              </a:rPr>
              <a:t>高可靠性的概念与技术原理</a:t>
            </a:r>
            <a:endParaRPr lang="en-US" altLang="zh-CN" dirty="0">
              <a:sym typeface="Huawei Sans" panose="020C0503030203020204" pitchFamily="34" charset="0"/>
            </a:endParaRPr>
          </a:p>
          <a:p>
            <a:pPr lvl="1"/>
            <a:r>
              <a:rPr lang="zh-CN" altLang="en-US" dirty="0">
                <a:sym typeface="Huawei Sans" panose="020C0503030203020204" pitchFamily="34" charset="0"/>
              </a:rPr>
              <a:t>描述</a:t>
            </a:r>
            <a:r>
              <a:rPr lang="en-US" altLang="zh-CN" dirty="0">
                <a:sym typeface="Huawei Sans" panose="020C0503030203020204" pitchFamily="34" charset="0"/>
              </a:rPr>
              <a:t>SRv6 BE</a:t>
            </a:r>
            <a:r>
              <a:rPr lang="zh-CN" altLang="en-US" dirty="0">
                <a:sym typeface="Huawei Sans" panose="020C0503030203020204" pitchFamily="34" charset="0"/>
              </a:rPr>
              <a:t>与静态</a:t>
            </a:r>
            <a:r>
              <a:rPr lang="en-US" altLang="zh-CN" dirty="0">
                <a:sym typeface="Huawei Sans" panose="020C0503030203020204" pitchFamily="34" charset="0"/>
              </a:rPr>
              <a:t>SRv6 Policy</a:t>
            </a:r>
            <a:r>
              <a:rPr lang="zh-CN" altLang="en-US" dirty="0">
                <a:sym typeface="Huawei Sans" panose="020C0503030203020204" pitchFamily="34" charset="0"/>
              </a:rPr>
              <a:t>配置</a:t>
            </a:r>
            <a:endParaRPr lang="en-US" altLang="zh-CN" dirty="0">
              <a:sym typeface="Huawei Sans" panose="020C0503030203020204" pitchFamily="34" charset="0"/>
            </a:endParaRPr>
          </a:p>
          <a:p>
            <a:pPr lvl="1"/>
            <a:r>
              <a:rPr lang="zh-CN" altLang="en-US" dirty="0">
                <a:sym typeface="Huawei Sans" panose="020C0503030203020204" pitchFamily="34" charset="0"/>
              </a:rPr>
              <a:t>描述基于</a:t>
            </a:r>
            <a:r>
              <a:rPr lang="en-US" altLang="zh-CN" dirty="0" err="1">
                <a:sym typeface="Huawei Sans" panose="020C0503030203020204" pitchFamily="34" charset="0"/>
              </a:rPr>
              <a:t>iMaster</a:t>
            </a:r>
            <a:r>
              <a:rPr lang="en-US" altLang="zh-CN" dirty="0">
                <a:sym typeface="Huawei Sans" panose="020C0503030203020204" pitchFamily="34" charset="0"/>
              </a:rPr>
              <a:t> NCE-IP</a:t>
            </a:r>
            <a:r>
              <a:rPr lang="zh-CN" altLang="en-US" dirty="0">
                <a:sym typeface="Huawei Sans" panose="020C0503030203020204" pitchFamily="34" charset="0"/>
              </a:rPr>
              <a:t>部署</a:t>
            </a:r>
            <a:r>
              <a:rPr lang="en-US" altLang="zh-CN" dirty="0">
                <a:sym typeface="Huawei Sans" panose="020C0503030203020204" pitchFamily="34" charset="0"/>
              </a:rPr>
              <a:t>SRv6</a:t>
            </a:r>
            <a:endParaRPr lang="zh-CN" altLang="en-US" dirty="0">
              <a:sym typeface="Huawei Sans" panose="020C0503030203020204" pitchFamily="34" charset="0"/>
            </a:endParaRPr>
          </a:p>
          <a:p>
            <a:endParaRPr lang="zh-CN" altLang="en-US" dirty="0">
              <a:sym typeface="Huawei Sans" panose="020C0503030203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en-US" altLang="zh-CN" sz="2200" b="1" dirty="0">
                <a:sym typeface="Huawei Sans" panose="020C0503030203020204" pitchFamily="34" charset="0"/>
              </a:rPr>
              <a:t>SRv6</a:t>
            </a:r>
            <a:r>
              <a:rPr lang="zh-CN" altLang="en-US" sz="2200" b="1" dirty="0">
                <a:sym typeface="Huawei Sans" panose="020C0503030203020204" pitchFamily="34" charset="0"/>
              </a:rPr>
              <a:t>概述</a:t>
            </a:r>
            <a:endParaRPr lang="zh-CN" altLang="en-US" sz="2200" b="1" dirty="0">
              <a:sym typeface="Huawei Sans" panose="020C0503030203020204" pitchFamily="34" charset="0"/>
            </a:endParaRPr>
          </a:p>
          <a:p>
            <a:r>
              <a:rPr lang="en-US" altLang="zh-CN" sz="2200" dirty="0">
                <a:solidFill>
                  <a:schemeClr val="bg1">
                    <a:lumMod val="50000"/>
                  </a:schemeClr>
                </a:solidFill>
                <a:sym typeface="Huawei Sans" panose="020C0503030203020204" pitchFamily="34" charset="0"/>
              </a:rPr>
              <a:t>SRv6</a:t>
            </a:r>
            <a:r>
              <a:rPr lang="zh-CN" altLang="en-US" sz="2200" dirty="0">
                <a:solidFill>
                  <a:schemeClr val="bg1">
                    <a:lumMod val="50000"/>
                  </a:schemeClr>
                </a:solidFill>
                <a:sym typeface="Huawei Sans" panose="020C0503030203020204" pitchFamily="34" charset="0"/>
              </a:rPr>
              <a:t>原理</a:t>
            </a:r>
            <a:endParaRPr lang="zh-CN" altLang="en-US" sz="2200" dirty="0">
              <a:solidFill>
                <a:schemeClr val="bg1">
                  <a:lumMod val="50000"/>
                </a:schemeClr>
              </a:solidFill>
              <a:sym typeface="Huawei Sans" panose="020C0503030203020204" pitchFamily="34" charset="0"/>
            </a:endParaRPr>
          </a:p>
          <a:p>
            <a:r>
              <a:rPr lang="en-US" altLang="zh-CN" sz="2200" dirty="0">
                <a:solidFill>
                  <a:schemeClr val="bg1">
                    <a:lumMod val="50000"/>
                  </a:schemeClr>
                </a:solidFill>
                <a:sym typeface="Huawei Sans" panose="020C0503030203020204" pitchFamily="34" charset="0"/>
              </a:rPr>
              <a:t>SRv6</a:t>
            </a:r>
            <a:r>
              <a:rPr lang="zh-CN" altLang="en-US" sz="2200" dirty="0">
                <a:solidFill>
                  <a:schemeClr val="bg1">
                    <a:lumMod val="50000"/>
                  </a:schemeClr>
                </a:solidFill>
                <a:sym typeface="Huawei Sans" panose="020C0503030203020204" pitchFamily="34" charset="0"/>
              </a:rPr>
              <a:t>高可靠性</a:t>
            </a:r>
            <a:endParaRPr lang="en-US" altLang="zh-CN" sz="2200" dirty="0">
              <a:solidFill>
                <a:schemeClr val="bg1">
                  <a:lumMod val="50000"/>
                </a:schemeClr>
              </a:solidFill>
              <a:sym typeface="Huawei Sans" panose="020C0503030203020204" pitchFamily="34" charset="0"/>
            </a:endParaRPr>
          </a:p>
          <a:p>
            <a:r>
              <a:rPr lang="en-US" altLang="zh-CN" sz="2200" dirty="0">
                <a:solidFill>
                  <a:schemeClr val="bg1">
                    <a:lumMod val="50000"/>
                  </a:schemeClr>
                </a:solidFill>
                <a:sym typeface="Huawei Sans" panose="020C0503030203020204" pitchFamily="34" charset="0"/>
              </a:rPr>
              <a:t>SRv6</a:t>
            </a:r>
            <a:r>
              <a:rPr lang="zh-CN" altLang="en-US" sz="2200" dirty="0">
                <a:solidFill>
                  <a:schemeClr val="bg1">
                    <a:lumMod val="50000"/>
                  </a:schemeClr>
                </a:solidFill>
                <a:sym typeface="Huawei Sans" panose="020C0503030203020204" pitchFamily="34" charset="0"/>
              </a:rPr>
              <a:t>基础配置</a:t>
            </a:r>
            <a:endParaRPr lang="en-US" altLang="zh-CN" sz="2200" dirty="0">
              <a:solidFill>
                <a:schemeClr val="bg1">
                  <a:lumMod val="50000"/>
                </a:schemeClr>
              </a:solidFill>
              <a:sym typeface="Huawei Sans" panose="020C0503030203020204" pitchFamily="34" charset="0"/>
            </a:endParaRPr>
          </a:p>
          <a:p>
            <a:r>
              <a:rPr lang="zh-CN" altLang="en-US" sz="2200" dirty="0">
                <a:solidFill>
                  <a:schemeClr val="bg1">
                    <a:lumMod val="50000"/>
                  </a:schemeClr>
                </a:solidFill>
                <a:sym typeface="Huawei Sans" panose="020C0503030203020204" pitchFamily="34" charset="0"/>
              </a:rPr>
              <a:t>基于</a:t>
            </a:r>
            <a:r>
              <a:rPr lang="en-US" altLang="zh-CN" sz="2200" dirty="0" err="1">
                <a:solidFill>
                  <a:schemeClr val="bg1">
                    <a:lumMod val="50000"/>
                  </a:schemeClr>
                </a:solidFill>
                <a:sym typeface="Huawei Sans" panose="020C0503030203020204" pitchFamily="34" charset="0"/>
              </a:rPr>
              <a:t>iMaster</a:t>
            </a:r>
            <a:r>
              <a:rPr lang="en-US" altLang="zh-CN" sz="2200" dirty="0">
                <a:solidFill>
                  <a:schemeClr val="bg1">
                    <a:lumMod val="50000"/>
                  </a:schemeClr>
                </a:solidFill>
                <a:sym typeface="Huawei Sans" panose="020C0503030203020204" pitchFamily="34" charset="0"/>
              </a:rPr>
              <a:t> NCE-IP</a:t>
            </a:r>
            <a:r>
              <a:rPr lang="zh-CN" altLang="en-US" sz="2200" dirty="0">
                <a:solidFill>
                  <a:schemeClr val="bg1">
                    <a:lumMod val="50000"/>
                  </a:schemeClr>
                </a:solidFill>
                <a:sym typeface="Huawei Sans" panose="020C0503030203020204" pitchFamily="34" charset="0"/>
              </a:rPr>
              <a:t>部署</a:t>
            </a:r>
            <a:r>
              <a:rPr lang="en-US" altLang="zh-CN" sz="2200" dirty="0">
                <a:solidFill>
                  <a:schemeClr val="bg1">
                    <a:lumMod val="50000"/>
                  </a:schemeClr>
                </a:solidFill>
                <a:sym typeface="Huawei Sans" panose="020C0503030203020204" pitchFamily="34" charset="0"/>
              </a:rPr>
              <a:t>SRv6</a:t>
            </a:r>
            <a:endParaRPr lang="zh-CN" altLang="en-US" sz="2200" dirty="0">
              <a:solidFill>
                <a:schemeClr val="bg1">
                  <a:lumMod val="50000"/>
                </a:schemeClr>
              </a:solidFill>
              <a:sym typeface="Huawei Sans" panose="020C0503030203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a:xfrm>
            <a:off x="455613" y="447468"/>
            <a:ext cx="11293474" cy="485982"/>
          </a:xfrm>
        </p:spPr>
        <p:txBody>
          <a:bodyPr>
            <a:normAutofit/>
          </a:bodyPr>
          <a:lstStyle/>
          <a:p>
            <a:r>
              <a:rPr lang="en-US" altLang="zh-CN">
                <a:sym typeface="Huawei Sans" panose="020C0503030203020204" pitchFamily="34" charset="0"/>
              </a:rPr>
              <a:t>IP/MPLS</a:t>
            </a:r>
            <a:r>
              <a:rPr lang="zh-CN" altLang="en-US">
                <a:sym typeface="Huawei Sans" panose="020C0503030203020204" pitchFamily="34" charset="0"/>
              </a:rPr>
              <a:t>网络简介</a:t>
            </a:r>
            <a:endParaRPr lang="zh-CN" altLang="en-US">
              <a:sym typeface="Huawei Sans" panose="020C0503030203020204" pitchFamily="34" charset="0"/>
            </a:endParaRPr>
          </a:p>
        </p:txBody>
      </p:sp>
      <p:sp>
        <p:nvSpPr>
          <p:cNvPr id="3" name="文本占位符 2"/>
          <p:cNvSpPr>
            <a:spLocks noGrp="1"/>
          </p:cNvSpPr>
          <p:nvPr>
            <p:ph type="body" sz="quarter" idx="10"/>
          </p:nvPr>
        </p:nvSpPr>
        <p:spPr bwMode="gray">
          <a:xfrm>
            <a:off x="455612" y="1047750"/>
            <a:ext cx="11293475" cy="4879805"/>
          </a:xfrm>
        </p:spPr>
        <p:txBody>
          <a:bodyPr/>
          <a:lstStyle/>
          <a:p>
            <a:r>
              <a:rPr lang="en-US" altLang="zh-CN" sz="1600" dirty="0">
                <a:sym typeface="Huawei Sans" panose="020C0503030203020204" pitchFamily="34" charset="0"/>
              </a:rPr>
              <a:t>MPLS</a:t>
            </a:r>
            <a:r>
              <a:rPr lang="zh-CN" altLang="en-US" sz="1600" dirty="0">
                <a:sym typeface="Huawei Sans" panose="020C0503030203020204" pitchFamily="34" charset="0"/>
              </a:rPr>
              <a:t>是一种介于二层和三层之间的</a:t>
            </a:r>
            <a:r>
              <a:rPr lang="en-US" altLang="zh-CN" sz="1600" dirty="0">
                <a:sym typeface="Huawei Sans" panose="020C0503030203020204" pitchFamily="34" charset="0"/>
              </a:rPr>
              <a:t>2.5</a:t>
            </a:r>
            <a:r>
              <a:rPr lang="zh-CN" altLang="en-US" sz="1600" dirty="0">
                <a:sym typeface="Huawei Sans" panose="020C0503030203020204" pitchFamily="34" charset="0"/>
              </a:rPr>
              <a:t>层技术，为面向无连接的</a:t>
            </a:r>
            <a:r>
              <a:rPr lang="en-US" altLang="zh-CN" sz="1600" dirty="0">
                <a:sym typeface="Huawei Sans" panose="020C0503030203020204" pitchFamily="34" charset="0"/>
              </a:rPr>
              <a:t>IP</a:t>
            </a:r>
            <a:r>
              <a:rPr lang="zh-CN" altLang="en-US" sz="1600" dirty="0">
                <a:sym typeface="Huawei Sans" panose="020C0503030203020204" pitchFamily="34" charset="0"/>
              </a:rPr>
              <a:t>网络增加了面向连接的属性。早期的</a:t>
            </a:r>
            <a:r>
              <a:rPr lang="en-US" altLang="zh-CN" sz="1600" dirty="0">
                <a:sym typeface="Huawei Sans" panose="020C0503030203020204" pitchFamily="34" charset="0"/>
              </a:rPr>
              <a:t>MPLS</a:t>
            </a:r>
            <a:r>
              <a:rPr lang="zh-CN" altLang="en-US" sz="1600" dirty="0">
                <a:sym typeface="Huawei Sans" panose="020C0503030203020204" pitchFamily="34" charset="0"/>
              </a:rPr>
              <a:t>标签转发能提高</a:t>
            </a:r>
            <a:r>
              <a:rPr lang="en-US" altLang="zh-CN" sz="1600" dirty="0">
                <a:sym typeface="Huawei Sans" panose="020C0503030203020204" pitchFamily="34" charset="0"/>
              </a:rPr>
              <a:t>IP</a:t>
            </a:r>
            <a:r>
              <a:rPr lang="zh-CN" altLang="en-US" sz="1600" dirty="0">
                <a:sym typeface="Huawei Sans" panose="020C0503030203020204" pitchFamily="34" charset="0"/>
              </a:rPr>
              <a:t>网络的转发效率，随着硬件能力提升此优点已不明显，但是面向连接的标签转发为</a:t>
            </a:r>
            <a:r>
              <a:rPr lang="en-US" altLang="zh-CN" sz="1600" dirty="0">
                <a:sym typeface="Huawei Sans" panose="020C0503030203020204" pitchFamily="34" charset="0"/>
              </a:rPr>
              <a:t>IP</a:t>
            </a:r>
            <a:r>
              <a:rPr lang="zh-CN" altLang="en-US" sz="1600" dirty="0">
                <a:sym typeface="Huawei Sans" panose="020C0503030203020204" pitchFamily="34" charset="0"/>
              </a:rPr>
              <a:t>网络提供很好的</a:t>
            </a:r>
            <a:r>
              <a:rPr lang="en-US" altLang="zh-CN" sz="1600" dirty="0" err="1">
                <a:sym typeface="Huawei Sans" panose="020C0503030203020204" pitchFamily="34" charset="0"/>
              </a:rPr>
              <a:t>QoS</a:t>
            </a:r>
            <a:r>
              <a:rPr lang="zh-CN" altLang="en-US" sz="1600" dirty="0">
                <a:sym typeface="Huawei Sans" panose="020C0503030203020204" pitchFamily="34" charset="0"/>
              </a:rPr>
              <a:t>保障，同时可以很好的支持</a:t>
            </a:r>
            <a:r>
              <a:rPr lang="en-US" altLang="zh-CN" sz="1600" dirty="0">
                <a:sym typeface="Huawei Sans" panose="020C0503030203020204" pitchFamily="34" charset="0"/>
              </a:rPr>
              <a:t>TE</a:t>
            </a:r>
            <a:r>
              <a:rPr lang="zh-CN" altLang="en-US" sz="1600" dirty="0">
                <a:sym typeface="Huawei Sans" panose="020C0503030203020204" pitchFamily="34" charset="0"/>
              </a:rPr>
              <a:t>、</a:t>
            </a:r>
            <a:r>
              <a:rPr lang="en-US" altLang="zh-CN" sz="1600" dirty="0">
                <a:sym typeface="Huawei Sans" panose="020C0503030203020204" pitchFamily="34" charset="0"/>
              </a:rPr>
              <a:t>VPN</a:t>
            </a:r>
            <a:r>
              <a:rPr lang="zh-CN" altLang="en-US" sz="1600" dirty="0">
                <a:sym typeface="Huawei Sans" panose="020C0503030203020204" pitchFamily="34" charset="0"/>
              </a:rPr>
              <a:t>和</a:t>
            </a:r>
            <a:r>
              <a:rPr lang="en-US" altLang="zh-CN" sz="1600" dirty="0">
                <a:sym typeface="Huawei Sans" panose="020C0503030203020204" pitchFamily="34" charset="0"/>
              </a:rPr>
              <a:t>FRR</a:t>
            </a:r>
            <a:r>
              <a:rPr lang="zh-CN" altLang="en-US" sz="1600" dirty="0">
                <a:sym typeface="Huawei Sans" panose="020C0503030203020204" pitchFamily="34" charset="0"/>
              </a:rPr>
              <a:t>。</a:t>
            </a:r>
            <a:endParaRPr lang="en-US" altLang="zh-CN" sz="1600" dirty="0">
              <a:sym typeface="Huawei Sans" panose="020C0503030203020204" pitchFamily="34" charset="0"/>
            </a:endParaRPr>
          </a:p>
          <a:p>
            <a:r>
              <a:rPr lang="en-US" altLang="zh-CN" sz="1600" dirty="0">
                <a:sym typeface="Huawei Sans" panose="020C0503030203020204" pitchFamily="34" charset="0"/>
              </a:rPr>
              <a:t>IP/MPLS</a:t>
            </a:r>
            <a:r>
              <a:rPr lang="zh-CN" altLang="en-US" sz="1600" dirty="0">
                <a:sym typeface="Huawei Sans" panose="020C0503030203020204" pitchFamily="34" charset="0"/>
              </a:rPr>
              <a:t>网络取代了</a:t>
            </a:r>
            <a:r>
              <a:rPr lang="en-US" altLang="zh-CN" sz="1600" dirty="0">
                <a:sym typeface="Huawei Sans" panose="020C0503030203020204" pitchFamily="34" charset="0"/>
              </a:rPr>
              <a:t>ATM</a:t>
            </a:r>
            <a:r>
              <a:rPr lang="zh-CN" altLang="en-US" sz="1600" dirty="0">
                <a:sym typeface="Huawei Sans" panose="020C0503030203020204" pitchFamily="34" charset="0"/>
              </a:rPr>
              <a:t>、</a:t>
            </a:r>
            <a:r>
              <a:rPr lang="en-US" altLang="zh-CN" sz="1600" dirty="0">
                <a:sym typeface="Huawei Sans" panose="020C0503030203020204" pitchFamily="34" charset="0"/>
              </a:rPr>
              <a:t>FR</a:t>
            </a:r>
            <a:r>
              <a:rPr lang="zh-CN" altLang="en-US" sz="1600" dirty="0">
                <a:sym typeface="Huawei Sans" panose="020C0503030203020204" pitchFamily="34" charset="0"/>
              </a:rPr>
              <a:t>和</a:t>
            </a:r>
            <a:r>
              <a:rPr lang="en-US" altLang="zh-CN" sz="1600" dirty="0">
                <a:sym typeface="Huawei Sans" panose="020C0503030203020204" pitchFamily="34" charset="0"/>
              </a:rPr>
              <a:t>X.25</a:t>
            </a:r>
            <a:r>
              <a:rPr lang="zh-CN" altLang="en-US" sz="1600" dirty="0">
                <a:sym typeface="Huawei Sans" panose="020C0503030203020204" pitchFamily="34" charset="0"/>
              </a:rPr>
              <a:t>等专用网络，最终</a:t>
            </a:r>
            <a:r>
              <a:rPr lang="en-US" altLang="zh-CN" sz="1600" dirty="0">
                <a:sym typeface="Huawei Sans" panose="020C0503030203020204" pitchFamily="34" charset="0"/>
              </a:rPr>
              <a:t>MPLS</a:t>
            </a:r>
            <a:r>
              <a:rPr lang="zh-CN" altLang="en-US" sz="1600" dirty="0">
                <a:sym typeface="Huawei Sans" panose="020C0503030203020204" pitchFamily="34" charset="0"/>
              </a:rPr>
              <a:t>被应用于</a:t>
            </a:r>
            <a:r>
              <a:rPr lang="en-US" altLang="zh-CN" sz="1600" dirty="0">
                <a:sym typeface="Huawei Sans" panose="020C0503030203020204" pitchFamily="34" charset="0"/>
              </a:rPr>
              <a:t>IP</a:t>
            </a:r>
            <a:r>
              <a:rPr lang="zh-CN" altLang="en-US" sz="1600" dirty="0">
                <a:sym typeface="Huawei Sans" panose="020C0503030203020204" pitchFamily="34" charset="0"/>
              </a:rPr>
              <a:t>骨干网、城域网、移动承载网等多种网络场景，用于支持多业务综合承载，实现了互联网的</a:t>
            </a:r>
            <a:r>
              <a:rPr lang="en-US" altLang="zh-CN" sz="1600" dirty="0">
                <a:sym typeface="Huawei Sans" panose="020C0503030203020204" pitchFamily="34" charset="0"/>
              </a:rPr>
              <a:t>ALL IP</a:t>
            </a:r>
            <a:r>
              <a:rPr lang="zh-CN" altLang="en-US" sz="1600" dirty="0">
                <a:sym typeface="Huawei Sans" panose="020C0503030203020204" pitchFamily="34" charset="0"/>
              </a:rPr>
              <a:t>化。</a:t>
            </a:r>
            <a:endParaRPr lang="zh-CN" altLang="en-US" sz="1600" dirty="0">
              <a:sym typeface="Huawei Sans" panose="020C0503030203020204" pitchFamily="34" charset="0"/>
            </a:endParaRPr>
          </a:p>
          <a:p>
            <a:endParaRPr lang="zh-CN" altLang="en-US" sz="1600" dirty="0">
              <a:sym typeface="Huawei Sans" panose="020C0503030203020204" pitchFamily="34" charset="0"/>
            </a:endParaRPr>
          </a:p>
        </p:txBody>
      </p:sp>
      <p:sp>
        <p:nvSpPr>
          <p:cNvPr id="4" name="Rounded Rectangle 36"/>
          <p:cNvSpPr/>
          <p:nvPr/>
        </p:nvSpPr>
        <p:spPr bwMode="gray">
          <a:xfrm>
            <a:off x="3520580" y="3312481"/>
            <a:ext cx="5057297" cy="2115776"/>
          </a:xfrm>
          <a:prstGeom prst="roundRect">
            <a:avLst>
              <a:gd name="adj" fmla="val 5020"/>
            </a:avLst>
          </a:prstGeom>
          <a:solidFill>
            <a:srgbClr val="F4FBFE"/>
          </a:solidFill>
          <a:ln w="19050" cap="flat" cmpd="sng" algn="ctr">
            <a:solidFill>
              <a:srgbClr val="99DFF9"/>
            </a:solidFill>
            <a:prstDash val="solid"/>
            <a:miter lim="800000"/>
          </a:ln>
          <a:effectLst/>
        </p:spPr>
        <p:txBody>
          <a:bodyPr rtlCol="0" anchor="ctr"/>
          <a:lstStyle/>
          <a:p>
            <a:pPr algn="ctr" defTabSz="914400"/>
            <a:endParaRPr lang="zh-CN" altLang="en-US" ker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5" name="直接连接符 4"/>
          <p:cNvCxnSpPr/>
          <p:nvPr/>
        </p:nvCxnSpPr>
        <p:spPr bwMode="gray">
          <a:xfrm>
            <a:off x="2175852" y="4675121"/>
            <a:ext cx="7900319" cy="0"/>
          </a:xfrm>
          <a:prstGeom prst="line">
            <a:avLst/>
          </a:prstGeom>
          <a:ln w="2222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 name="直接连接符 5"/>
          <p:cNvCxnSpPr/>
          <p:nvPr/>
        </p:nvCxnSpPr>
        <p:spPr bwMode="gray">
          <a:xfrm rot="10800000" flipH="1">
            <a:off x="3635506" y="4240049"/>
            <a:ext cx="2050788" cy="0"/>
          </a:xfrm>
          <a:prstGeom prst="line">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7" name="直接连接符 55"/>
          <p:cNvCxnSpPr/>
          <p:nvPr/>
        </p:nvCxnSpPr>
        <p:spPr bwMode="gray">
          <a:xfrm rot="10800000" flipH="1">
            <a:off x="2227451" y="4240049"/>
            <a:ext cx="1039936" cy="0"/>
          </a:xfrm>
          <a:prstGeom prst="line">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8" name="直接连接符 55"/>
          <p:cNvCxnSpPr/>
          <p:nvPr/>
        </p:nvCxnSpPr>
        <p:spPr bwMode="gray">
          <a:xfrm rot="10800000" flipH="1">
            <a:off x="6211167" y="4240049"/>
            <a:ext cx="2064464" cy="0"/>
          </a:xfrm>
          <a:prstGeom prst="line">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9" name="直接连接符 55"/>
          <p:cNvCxnSpPr/>
          <p:nvPr/>
        </p:nvCxnSpPr>
        <p:spPr bwMode="gray">
          <a:xfrm rot="10800000" flipH="1">
            <a:off x="8653895" y="4240049"/>
            <a:ext cx="1039936" cy="0"/>
          </a:xfrm>
          <a:prstGeom prst="line">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pic>
        <p:nvPicPr>
          <p:cNvPr id="10" name="图片 9"/>
          <p:cNvPicPr/>
          <p:nvPr/>
        </p:nvPicPr>
        <p:blipFill>
          <a:blip r:embed="rId1" cstate="print">
            <a:extLst>
              <a:ext uri="{28A0092B-C50C-407E-A947-70E740481C1C}">
                <a14:useLocalDpi xmlns:a14="http://schemas.microsoft.com/office/drawing/2010/main" val="0"/>
              </a:ext>
            </a:extLst>
          </a:blip>
          <a:stretch>
            <a:fillRect/>
          </a:stretch>
        </p:blipFill>
        <p:spPr bwMode="gray">
          <a:xfrm>
            <a:off x="3252469" y="4450090"/>
            <a:ext cx="540000" cy="442800"/>
          </a:xfrm>
          <a:prstGeom prst="rect">
            <a:avLst/>
          </a:prstGeom>
        </p:spPr>
      </p:pic>
      <p:pic>
        <p:nvPicPr>
          <p:cNvPr id="11" name="图片 10"/>
          <p:cNvPicPr/>
          <p:nvPr/>
        </p:nvPicPr>
        <p:blipFill>
          <a:blip r:embed="rId1" cstate="print">
            <a:extLst>
              <a:ext uri="{28A0092B-C50C-407E-A947-70E740481C1C}">
                <a14:useLocalDpi xmlns:a14="http://schemas.microsoft.com/office/drawing/2010/main" val="0"/>
              </a:ext>
            </a:extLst>
          </a:blip>
          <a:stretch>
            <a:fillRect/>
          </a:stretch>
        </p:blipFill>
        <p:spPr bwMode="gray">
          <a:xfrm>
            <a:off x="5780145" y="4460215"/>
            <a:ext cx="540000" cy="442800"/>
          </a:xfrm>
          <a:prstGeom prst="rect">
            <a:avLst/>
          </a:prstGeom>
        </p:spPr>
      </p:pic>
      <p:pic>
        <p:nvPicPr>
          <p:cNvPr id="12" name="图片 11"/>
          <p:cNvPicPr/>
          <p:nvPr/>
        </p:nvPicPr>
        <p:blipFill>
          <a:blip r:embed="rId1" cstate="print">
            <a:extLst>
              <a:ext uri="{28A0092B-C50C-407E-A947-70E740481C1C}">
                <a14:useLocalDpi xmlns:a14="http://schemas.microsoft.com/office/drawing/2010/main" val="0"/>
              </a:ext>
            </a:extLst>
          </a:blip>
          <a:stretch>
            <a:fillRect/>
          </a:stretch>
        </p:blipFill>
        <p:spPr bwMode="gray">
          <a:xfrm>
            <a:off x="8342500" y="4446306"/>
            <a:ext cx="540000" cy="442800"/>
          </a:xfrm>
          <a:prstGeom prst="rect">
            <a:avLst/>
          </a:prstGeom>
        </p:spPr>
      </p:pic>
      <p:grpSp>
        <p:nvGrpSpPr>
          <p:cNvPr id="13" name="组合 12"/>
          <p:cNvGrpSpPr/>
          <p:nvPr/>
        </p:nvGrpSpPr>
        <p:grpSpPr bwMode="gray">
          <a:xfrm>
            <a:off x="6581050" y="3668579"/>
            <a:ext cx="1080000" cy="216000"/>
            <a:chOff x="336883" y="4110450"/>
            <a:chExt cx="1080000" cy="216000"/>
          </a:xfrm>
        </p:grpSpPr>
        <p:sp>
          <p:nvSpPr>
            <p:cNvPr id="14" name="任意多边形 35"/>
            <p:cNvSpPr/>
            <p:nvPr/>
          </p:nvSpPr>
          <p:spPr bwMode="gray">
            <a:xfrm>
              <a:off x="336883" y="4110450"/>
              <a:ext cx="360000" cy="216000"/>
            </a:xfrm>
            <a:custGeom>
              <a:avLst/>
              <a:gdLst>
                <a:gd name="connsiteX0" fmla="*/ 0 w 360000"/>
                <a:gd name="connsiteY0" fmla="*/ 0 h 216000"/>
                <a:gd name="connsiteX1" fmla="*/ 360000 w 360000"/>
                <a:gd name="connsiteY1" fmla="*/ 0 h 216000"/>
                <a:gd name="connsiteX2" fmla="*/ 360000 w 360000"/>
                <a:gd name="connsiteY2" fmla="*/ 216000 h 216000"/>
                <a:gd name="connsiteX3" fmla="*/ 0 w 360000"/>
                <a:gd name="connsiteY3" fmla="*/ 216000 h 216000"/>
              </a:gdLst>
              <a:ahLst/>
              <a:cxnLst>
                <a:cxn ang="0">
                  <a:pos x="connsiteX0" y="connsiteY0"/>
                </a:cxn>
                <a:cxn ang="0">
                  <a:pos x="connsiteX1" y="connsiteY1"/>
                </a:cxn>
                <a:cxn ang="0">
                  <a:pos x="connsiteX2" y="connsiteY2"/>
                </a:cxn>
                <a:cxn ang="0">
                  <a:pos x="connsiteX3" y="connsiteY3"/>
                </a:cxn>
              </a:cxnLst>
              <a:rect l="l" t="t" r="r" b="b"/>
              <a:pathLst>
                <a:path w="360000" h="216000">
                  <a:moveTo>
                    <a:pt x="0" y="0"/>
                  </a:moveTo>
                  <a:lnTo>
                    <a:pt x="360000" y="0"/>
                  </a:lnTo>
                  <a:lnTo>
                    <a:pt x="360000" y="216000"/>
                  </a:lnTo>
                  <a:lnTo>
                    <a:pt x="0" y="216000"/>
                  </a:lnTo>
                  <a:close/>
                </a:path>
              </a:pathLst>
            </a:custGeom>
            <a:solidFill>
              <a:srgbClr val="00B0F0"/>
            </a:solidFill>
            <a:ln w="12700" cap="flat" cmpd="sng" algn="ctr">
              <a:solidFill>
                <a:schemeClr val="tx1"/>
              </a:solidFill>
              <a:prstDash val="solid"/>
              <a:miter lim="800000"/>
            </a:ln>
            <a:effectLst/>
          </p:spPr>
          <p:txBody>
            <a:bodyPr rtlCol="0" anchor="ctr"/>
            <a:lstStyle/>
            <a:p>
              <a:pPr algn="ctr" defTabSz="914400"/>
              <a:endParaRPr lang="zh-CN" altLang="en-US" sz="1400" ker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 name="任意多边形 37"/>
            <p:cNvSpPr/>
            <p:nvPr/>
          </p:nvSpPr>
          <p:spPr bwMode="gray">
            <a:xfrm>
              <a:off x="696883" y="4110450"/>
              <a:ext cx="360000" cy="216000"/>
            </a:xfrm>
            <a:custGeom>
              <a:avLst/>
              <a:gdLst>
                <a:gd name="connsiteX0" fmla="*/ 0 w 360000"/>
                <a:gd name="connsiteY0" fmla="*/ 0 h 216000"/>
                <a:gd name="connsiteX1" fmla="*/ 360000 w 360000"/>
                <a:gd name="connsiteY1" fmla="*/ 0 h 216000"/>
                <a:gd name="connsiteX2" fmla="*/ 360000 w 360000"/>
                <a:gd name="connsiteY2" fmla="*/ 216000 h 216000"/>
                <a:gd name="connsiteX3" fmla="*/ 0 w 360000"/>
                <a:gd name="connsiteY3" fmla="*/ 216000 h 216000"/>
              </a:gdLst>
              <a:ahLst/>
              <a:cxnLst>
                <a:cxn ang="0">
                  <a:pos x="connsiteX0" y="connsiteY0"/>
                </a:cxn>
                <a:cxn ang="0">
                  <a:pos x="connsiteX1" y="connsiteY1"/>
                </a:cxn>
                <a:cxn ang="0">
                  <a:pos x="connsiteX2" y="connsiteY2"/>
                </a:cxn>
                <a:cxn ang="0">
                  <a:pos x="connsiteX3" y="connsiteY3"/>
                </a:cxn>
              </a:cxnLst>
              <a:rect l="l" t="t" r="r" b="b"/>
              <a:pathLst>
                <a:path w="360000" h="216000">
                  <a:moveTo>
                    <a:pt x="0" y="0"/>
                  </a:moveTo>
                  <a:lnTo>
                    <a:pt x="360000" y="0"/>
                  </a:lnTo>
                  <a:lnTo>
                    <a:pt x="360000" y="216000"/>
                  </a:lnTo>
                  <a:lnTo>
                    <a:pt x="0" y="216000"/>
                  </a:lnTo>
                  <a:close/>
                </a:path>
              </a:pathLst>
            </a:custGeom>
            <a:solidFill>
              <a:schemeClr val="accent2"/>
            </a:solidFill>
            <a:ln w="127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 name="任意多边形 43"/>
            <p:cNvSpPr/>
            <p:nvPr/>
          </p:nvSpPr>
          <p:spPr bwMode="gray">
            <a:xfrm>
              <a:off x="1056883" y="4110450"/>
              <a:ext cx="360000" cy="216000"/>
            </a:xfrm>
            <a:custGeom>
              <a:avLst/>
              <a:gdLst>
                <a:gd name="connsiteX0" fmla="*/ 0 w 360000"/>
                <a:gd name="connsiteY0" fmla="*/ 0 h 216000"/>
                <a:gd name="connsiteX1" fmla="*/ 360000 w 360000"/>
                <a:gd name="connsiteY1" fmla="*/ 0 h 216000"/>
                <a:gd name="connsiteX2" fmla="*/ 360000 w 360000"/>
                <a:gd name="connsiteY2" fmla="*/ 216000 h 216000"/>
                <a:gd name="connsiteX3" fmla="*/ 0 w 360000"/>
                <a:gd name="connsiteY3" fmla="*/ 216000 h 216000"/>
              </a:gdLst>
              <a:ahLst/>
              <a:cxnLst>
                <a:cxn ang="0">
                  <a:pos x="connsiteX0" y="connsiteY0"/>
                </a:cxn>
                <a:cxn ang="0">
                  <a:pos x="connsiteX1" y="connsiteY1"/>
                </a:cxn>
                <a:cxn ang="0">
                  <a:pos x="connsiteX2" y="connsiteY2"/>
                </a:cxn>
                <a:cxn ang="0">
                  <a:pos x="connsiteX3" y="connsiteY3"/>
                </a:cxn>
              </a:cxnLst>
              <a:rect l="l" t="t" r="r" b="b"/>
              <a:pathLst>
                <a:path w="360000" h="216000">
                  <a:moveTo>
                    <a:pt x="0" y="0"/>
                  </a:moveTo>
                  <a:lnTo>
                    <a:pt x="360000" y="0"/>
                  </a:lnTo>
                  <a:lnTo>
                    <a:pt x="360000" y="216000"/>
                  </a:lnTo>
                  <a:lnTo>
                    <a:pt x="0" y="216000"/>
                  </a:lnTo>
                  <a:close/>
                </a:path>
              </a:pathLst>
            </a:custGeom>
            <a:solidFill>
              <a:srgbClr val="FFF2CC"/>
            </a:solidFill>
            <a:ln w="12700" cap="flat" cmpd="sng" algn="ctr">
              <a:solidFill>
                <a:schemeClr val="tx1"/>
              </a:solidFill>
              <a:prstDash val="solid"/>
              <a:miter lim="800000"/>
            </a:ln>
            <a:effectLst/>
          </p:spPr>
          <p:txBody>
            <a:bodyPr rtlCol="0" anchor="ctr"/>
            <a:lstStyle/>
            <a:p>
              <a:pPr algn="ctr" defTabSz="914400"/>
              <a:endParaRPr lang="zh-CN" altLang="en-US" sz="1400" ker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17" name="组合 16"/>
          <p:cNvGrpSpPr/>
          <p:nvPr/>
        </p:nvGrpSpPr>
        <p:grpSpPr bwMode="gray">
          <a:xfrm>
            <a:off x="2273796" y="3668579"/>
            <a:ext cx="720000" cy="216000"/>
            <a:chOff x="144379" y="4810003"/>
            <a:chExt cx="720000" cy="216000"/>
          </a:xfrm>
        </p:grpSpPr>
        <p:sp>
          <p:nvSpPr>
            <p:cNvPr id="18" name="任意多边形 46"/>
            <p:cNvSpPr/>
            <p:nvPr/>
          </p:nvSpPr>
          <p:spPr bwMode="gray">
            <a:xfrm>
              <a:off x="144379" y="4810003"/>
              <a:ext cx="360000" cy="216000"/>
            </a:xfrm>
            <a:custGeom>
              <a:avLst/>
              <a:gdLst>
                <a:gd name="connsiteX0" fmla="*/ 0 w 360000"/>
                <a:gd name="connsiteY0" fmla="*/ 0 h 216000"/>
                <a:gd name="connsiteX1" fmla="*/ 360000 w 360000"/>
                <a:gd name="connsiteY1" fmla="*/ 0 h 216000"/>
                <a:gd name="connsiteX2" fmla="*/ 360000 w 360000"/>
                <a:gd name="connsiteY2" fmla="*/ 216000 h 216000"/>
                <a:gd name="connsiteX3" fmla="*/ 0 w 360000"/>
                <a:gd name="connsiteY3" fmla="*/ 216000 h 216000"/>
              </a:gdLst>
              <a:ahLst/>
              <a:cxnLst>
                <a:cxn ang="0">
                  <a:pos x="connsiteX0" y="connsiteY0"/>
                </a:cxn>
                <a:cxn ang="0">
                  <a:pos x="connsiteX1" y="connsiteY1"/>
                </a:cxn>
                <a:cxn ang="0">
                  <a:pos x="connsiteX2" y="connsiteY2"/>
                </a:cxn>
                <a:cxn ang="0">
                  <a:pos x="connsiteX3" y="connsiteY3"/>
                </a:cxn>
              </a:cxnLst>
              <a:rect l="l" t="t" r="r" b="b"/>
              <a:pathLst>
                <a:path w="360000" h="216000">
                  <a:moveTo>
                    <a:pt x="0" y="0"/>
                  </a:moveTo>
                  <a:lnTo>
                    <a:pt x="360000" y="0"/>
                  </a:lnTo>
                  <a:lnTo>
                    <a:pt x="360000" y="216000"/>
                  </a:lnTo>
                  <a:lnTo>
                    <a:pt x="0" y="216000"/>
                  </a:lnTo>
                  <a:close/>
                </a:path>
              </a:pathLst>
            </a:custGeom>
            <a:solidFill>
              <a:srgbClr val="00B0F0"/>
            </a:solidFill>
            <a:ln w="12700" cap="flat" cmpd="sng" algn="ctr">
              <a:solidFill>
                <a:schemeClr val="tx1"/>
              </a:solidFill>
              <a:prstDash val="solid"/>
              <a:miter lim="800000"/>
            </a:ln>
            <a:effectLst/>
          </p:spPr>
          <p:txBody>
            <a:bodyPr rtlCol="0" anchor="ctr"/>
            <a:lstStyle/>
            <a:p>
              <a:pPr algn="ctr" defTabSz="914400"/>
              <a:endParaRPr lang="zh-CN" altLang="en-US" sz="1400" ker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 name="任意多边形 51"/>
            <p:cNvSpPr/>
            <p:nvPr/>
          </p:nvSpPr>
          <p:spPr bwMode="gray">
            <a:xfrm>
              <a:off x="504379" y="4810003"/>
              <a:ext cx="360000" cy="216000"/>
            </a:xfrm>
            <a:custGeom>
              <a:avLst/>
              <a:gdLst>
                <a:gd name="connsiteX0" fmla="*/ 0 w 360000"/>
                <a:gd name="connsiteY0" fmla="*/ 0 h 216000"/>
                <a:gd name="connsiteX1" fmla="*/ 360000 w 360000"/>
                <a:gd name="connsiteY1" fmla="*/ 0 h 216000"/>
                <a:gd name="connsiteX2" fmla="*/ 360000 w 360000"/>
                <a:gd name="connsiteY2" fmla="*/ 216000 h 216000"/>
                <a:gd name="connsiteX3" fmla="*/ 0 w 360000"/>
                <a:gd name="connsiteY3" fmla="*/ 216000 h 216000"/>
              </a:gdLst>
              <a:ahLst/>
              <a:cxnLst>
                <a:cxn ang="0">
                  <a:pos x="connsiteX0" y="connsiteY0"/>
                </a:cxn>
                <a:cxn ang="0">
                  <a:pos x="connsiteX1" y="connsiteY1"/>
                </a:cxn>
                <a:cxn ang="0">
                  <a:pos x="connsiteX2" y="connsiteY2"/>
                </a:cxn>
                <a:cxn ang="0">
                  <a:pos x="connsiteX3" y="connsiteY3"/>
                </a:cxn>
              </a:cxnLst>
              <a:rect l="l" t="t" r="r" b="b"/>
              <a:pathLst>
                <a:path w="360000" h="216000">
                  <a:moveTo>
                    <a:pt x="0" y="0"/>
                  </a:moveTo>
                  <a:lnTo>
                    <a:pt x="360000" y="0"/>
                  </a:lnTo>
                  <a:lnTo>
                    <a:pt x="360000" y="216000"/>
                  </a:lnTo>
                  <a:lnTo>
                    <a:pt x="0" y="216000"/>
                  </a:lnTo>
                  <a:close/>
                </a:path>
              </a:pathLst>
            </a:custGeom>
            <a:solidFill>
              <a:srgbClr val="FFF2CC"/>
            </a:solidFill>
            <a:ln w="12700" cap="flat" cmpd="sng" algn="ctr">
              <a:solidFill>
                <a:schemeClr val="tx1"/>
              </a:solidFill>
              <a:prstDash val="solid"/>
              <a:miter lim="800000"/>
            </a:ln>
            <a:effectLst/>
          </p:spPr>
          <p:txBody>
            <a:bodyPr rtlCol="0" anchor="ctr"/>
            <a:lstStyle/>
            <a:p>
              <a:pPr algn="ctr" defTabSz="914400"/>
              <a:endParaRPr lang="zh-CN" altLang="en-US" sz="1400" ker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20" name="组合 19"/>
          <p:cNvGrpSpPr/>
          <p:nvPr/>
        </p:nvGrpSpPr>
        <p:grpSpPr bwMode="gray">
          <a:xfrm>
            <a:off x="4060739" y="3668579"/>
            <a:ext cx="1080000" cy="216000"/>
            <a:chOff x="336883" y="4110450"/>
            <a:chExt cx="1080000" cy="216000"/>
          </a:xfrm>
        </p:grpSpPr>
        <p:sp>
          <p:nvSpPr>
            <p:cNvPr id="21" name="任意多边形 56"/>
            <p:cNvSpPr/>
            <p:nvPr/>
          </p:nvSpPr>
          <p:spPr bwMode="gray">
            <a:xfrm>
              <a:off x="336883" y="4110450"/>
              <a:ext cx="360000" cy="216000"/>
            </a:xfrm>
            <a:custGeom>
              <a:avLst/>
              <a:gdLst>
                <a:gd name="connsiteX0" fmla="*/ 0 w 360000"/>
                <a:gd name="connsiteY0" fmla="*/ 0 h 216000"/>
                <a:gd name="connsiteX1" fmla="*/ 360000 w 360000"/>
                <a:gd name="connsiteY1" fmla="*/ 0 h 216000"/>
                <a:gd name="connsiteX2" fmla="*/ 360000 w 360000"/>
                <a:gd name="connsiteY2" fmla="*/ 216000 h 216000"/>
                <a:gd name="connsiteX3" fmla="*/ 0 w 360000"/>
                <a:gd name="connsiteY3" fmla="*/ 216000 h 216000"/>
              </a:gdLst>
              <a:ahLst/>
              <a:cxnLst>
                <a:cxn ang="0">
                  <a:pos x="connsiteX0" y="connsiteY0"/>
                </a:cxn>
                <a:cxn ang="0">
                  <a:pos x="connsiteX1" y="connsiteY1"/>
                </a:cxn>
                <a:cxn ang="0">
                  <a:pos x="connsiteX2" y="connsiteY2"/>
                </a:cxn>
                <a:cxn ang="0">
                  <a:pos x="connsiteX3" y="connsiteY3"/>
                </a:cxn>
              </a:cxnLst>
              <a:rect l="l" t="t" r="r" b="b"/>
              <a:pathLst>
                <a:path w="360000" h="216000">
                  <a:moveTo>
                    <a:pt x="0" y="0"/>
                  </a:moveTo>
                  <a:lnTo>
                    <a:pt x="360000" y="0"/>
                  </a:lnTo>
                  <a:lnTo>
                    <a:pt x="360000" y="216000"/>
                  </a:lnTo>
                  <a:lnTo>
                    <a:pt x="0" y="216000"/>
                  </a:lnTo>
                  <a:close/>
                </a:path>
              </a:pathLst>
            </a:custGeom>
            <a:solidFill>
              <a:srgbClr val="00B0F0"/>
            </a:solidFill>
            <a:ln w="12700" cap="flat" cmpd="sng" algn="ctr">
              <a:solidFill>
                <a:schemeClr val="tx1"/>
              </a:solidFill>
              <a:prstDash val="solid"/>
              <a:miter lim="800000"/>
            </a:ln>
            <a:effectLst/>
          </p:spPr>
          <p:txBody>
            <a:bodyPr rtlCol="0" anchor="ctr"/>
            <a:lstStyle/>
            <a:p>
              <a:pPr algn="ctr" defTabSz="914400"/>
              <a:endParaRPr lang="zh-CN" altLang="en-US" sz="1400" ker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任意多边形 57"/>
            <p:cNvSpPr/>
            <p:nvPr/>
          </p:nvSpPr>
          <p:spPr bwMode="gray">
            <a:xfrm>
              <a:off x="696883" y="4110450"/>
              <a:ext cx="360000" cy="216000"/>
            </a:xfrm>
            <a:custGeom>
              <a:avLst/>
              <a:gdLst>
                <a:gd name="connsiteX0" fmla="*/ 0 w 360000"/>
                <a:gd name="connsiteY0" fmla="*/ 0 h 216000"/>
                <a:gd name="connsiteX1" fmla="*/ 360000 w 360000"/>
                <a:gd name="connsiteY1" fmla="*/ 0 h 216000"/>
                <a:gd name="connsiteX2" fmla="*/ 360000 w 360000"/>
                <a:gd name="connsiteY2" fmla="*/ 216000 h 216000"/>
                <a:gd name="connsiteX3" fmla="*/ 0 w 360000"/>
                <a:gd name="connsiteY3" fmla="*/ 216000 h 216000"/>
              </a:gdLst>
              <a:ahLst/>
              <a:cxnLst>
                <a:cxn ang="0">
                  <a:pos x="connsiteX0" y="connsiteY0"/>
                </a:cxn>
                <a:cxn ang="0">
                  <a:pos x="connsiteX1" y="connsiteY1"/>
                </a:cxn>
                <a:cxn ang="0">
                  <a:pos x="connsiteX2" y="connsiteY2"/>
                </a:cxn>
                <a:cxn ang="0">
                  <a:pos x="connsiteX3" y="connsiteY3"/>
                </a:cxn>
              </a:cxnLst>
              <a:rect l="l" t="t" r="r" b="b"/>
              <a:pathLst>
                <a:path w="360000" h="216000">
                  <a:moveTo>
                    <a:pt x="0" y="0"/>
                  </a:moveTo>
                  <a:lnTo>
                    <a:pt x="360000" y="0"/>
                  </a:lnTo>
                  <a:lnTo>
                    <a:pt x="360000" y="216000"/>
                  </a:lnTo>
                  <a:lnTo>
                    <a:pt x="0" y="216000"/>
                  </a:lnTo>
                  <a:close/>
                </a:path>
              </a:pathLst>
            </a:custGeom>
            <a:solidFill>
              <a:srgbClr val="EC7061"/>
            </a:solidFill>
            <a:ln w="127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任意多边形 60"/>
            <p:cNvSpPr/>
            <p:nvPr/>
          </p:nvSpPr>
          <p:spPr bwMode="gray">
            <a:xfrm>
              <a:off x="1056883" y="4110450"/>
              <a:ext cx="360000" cy="216000"/>
            </a:xfrm>
            <a:custGeom>
              <a:avLst/>
              <a:gdLst>
                <a:gd name="connsiteX0" fmla="*/ 0 w 360000"/>
                <a:gd name="connsiteY0" fmla="*/ 0 h 216000"/>
                <a:gd name="connsiteX1" fmla="*/ 360000 w 360000"/>
                <a:gd name="connsiteY1" fmla="*/ 0 h 216000"/>
                <a:gd name="connsiteX2" fmla="*/ 360000 w 360000"/>
                <a:gd name="connsiteY2" fmla="*/ 216000 h 216000"/>
                <a:gd name="connsiteX3" fmla="*/ 0 w 360000"/>
                <a:gd name="connsiteY3" fmla="*/ 216000 h 216000"/>
              </a:gdLst>
              <a:ahLst/>
              <a:cxnLst>
                <a:cxn ang="0">
                  <a:pos x="connsiteX0" y="connsiteY0"/>
                </a:cxn>
                <a:cxn ang="0">
                  <a:pos x="connsiteX1" y="connsiteY1"/>
                </a:cxn>
                <a:cxn ang="0">
                  <a:pos x="connsiteX2" y="connsiteY2"/>
                </a:cxn>
                <a:cxn ang="0">
                  <a:pos x="connsiteX3" y="connsiteY3"/>
                </a:cxn>
              </a:cxnLst>
              <a:rect l="l" t="t" r="r" b="b"/>
              <a:pathLst>
                <a:path w="360000" h="216000">
                  <a:moveTo>
                    <a:pt x="0" y="0"/>
                  </a:moveTo>
                  <a:lnTo>
                    <a:pt x="360000" y="0"/>
                  </a:lnTo>
                  <a:lnTo>
                    <a:pt x="360000" y="216000"/>
                  </a:lnTo>
                  <a:lnTo>
                    <a:pt x="0" y="216000"/>
                  </a:lnTo>
                  <a:close/>
                </a:path>
              </a:pathLst>
            </a:custGeom>
            <a:solidFill>
              <a:srgbClr val="FFF2CC"/>
            </a:solidFill>
            <a:ln w="12700" cap="flat" cmpd="sng" algn="ctr">
              <a:solidFill>
                <a:schemeClr val="tx1"/>
              </a:solidFill>
              <a:prstDash val="solid"/>
              <a:miter lim="800000"/>
            </a:ln>
            <a:effectLst/>
          </p:spPr>
          <p:txBody>
            <a:bodyPr rtlCol="0" anchor="ctr"/>
            <a:lstStyle/>
            <a:p>
              <a:pPr algn="ctr" defTabSz="914400"/>
              <a:endParaRPr lang="zh-CN" altLang="en-US" sz="1400" ker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24" name="组合 23"/>
          <p:cNvGrpSpPr/>
          <p:nvPr/>
        </p:nvGrpSpPr>
        <p:grpSpPr bwMode="gray">
          <a:xfrm>
            <a:off x="8753703" y="3668579"/>
            <a:ext cx="720000" cy="216000"/>
            <a:chOff x="144379" y="4810003"/>
            <a:chExt cx="720000" cy="216000"/>
          </a:xfrm>
        </p:grpSpPr>
        <p:sp>
          <p:nvSpPr>
            <p:cNvPr id="25" name="任意多边形 65"/>
            <p:cNvSpPr/>
            <p:nvPr/>
          </p:nvSpPr>
          <p:spPr bwMode="gray">
            <a:xfrm>
              <a:off x="144379" y="4810003"/>
              <a:ext cx="360000" cy="216000"/>
            </a:xfrm>
            <a:custGeom>
              <a:avLst/>
              <a:gdLst>
                <a:gd name="connsiteX0" fmla="*/ 0 w 360000"/>
                <a:gd name="connsiteY0" fmla="*/ 0 h 216000"/>
                <a:gd name="connsiteX1" fmla="*/ 360000 w 360000"/>
                <a:gd name="connsiteY1" fmla="*/ 0 h 216000"/>
                <a:gd name="connsiteX2" fmla="*/ 360000 w 360000"/>
                <a:gd name="connsiteY2" fmla="*/ 216000 h 216000"/>
                <a:gd name="connsiteX3" fmla="*/ 0 w 360000"/>
                <a:gd name="connsiteY3" fmla="*/ 216000 h 216000"/>
              </a:gdLst>
              <a:ahLst/>
              <a:cxnLst>
                <a:cxn ang="0">
                  <a:pos x="connsiteX0" y="connsiteY0"/>
                </a:cxn>
                <a:cxn ang="0">
                  <a:pos x="connsiteX1" y="connsiteY1"/>
                </a:cxn>
                <a:cxn ang="0">
                  <a:pos x="connsiteX2" y="connsiteY2"/>
                </a:cxn>
                <a:cxn ang="0">
                  <a:pos x="connsiteX3" y="connsiteY3"/>
                </a:cxn>
              </a:cxnLst>
              <a:rect l="l" t="t" r="r" b="b"/>
              <a:pathLst>
                <a:path w="360000" h="216000">
                  <a:moveTo>
                    <a:pt x="0" y="0"/>
                  </a:moveTo>
                  <a:lnTo>
                    <a:pt x="360000" y="0"/>
                  </a:lnTo>
                  <a:lnTo>
                    <a:pt x="360000" y="216000"/>
                  </a:lnTo>
                  <a:lnTo>
                    <a:pt x="0" y="216000"/>
                  </a:lnTo>
                  <a:close/>
                </a:path>
              </a:pathLst>
            </a:custGeom>
            <a:solidFill>
              <a:srgbClr val="00B0F0"/>
            </a:solidFill>
            <a:ln w="12700" cap="flat" cmpd="sng" algn="ctr">
              <a:solidFill>
                <a:schemeClr val="tx1"/>
              </a:solidFill>
              <a:prstDash val="solid"/>
              <a:miter lim="800000"/>
            </a:ln>
            <a:effectLst/>
          </p:spPr>
          <p:txBody>
            <a:bodyPr rtlCol="0" anchor="ctr"/>
            <a:lstStyle/>
            <a:p>
              <a:pPr algn="ctr" defTabSz="914400"/>
              <a:endParaRPr lang="zh-CN" altLang="en-US" sz="1400" ker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任意多边形 66"/>
            <p:cNvSpPr/>
            <p:nvPr/>
          </p:nvSpPr>
          <p:spPr bwMode="gray">
            <a:xfrm>
              <a:off x="504379" y="4810003"/>
              <a:ext cx="360000" cy="216000"/>
            </a:xfrm>
            <a:custGeom>
              <a:avLst/>
              <a:gdLst>
                <a:gd name="connsiteX0" fmla="*/ 0 w 360000"/>
                <a:gd name="connsiteY0" fmla="*/ 0 h 216000"/>
                <a:gd name="connsiteX1" fmla="*/ 360000 w 360000"/>
                <a:gd name="connsiteY1" fmla="*/ 0 h 216000"/>
                <a:gd name="connsiteX2" fmla="*/ 360000 w 360000"/>
                <a:gd name="connsiteY2" fmla="*/ 216000 h 216000"/>
                <a:gd name="connsiteX3" fmla="*/ 0 w 360000"/>
                <a:gd name="connsiteY3" fmla="*/ 216000 h 216000"/>
              </a:gdLst>
              <a:ahLst/>
              <a:cxnLst>
                <a:cxn ang="0">
                  <a:pos x="connsiteX0" y="connsiteY0"/>
                </a:cxn>
                <a:cxn ang="0">
                  <a:pos x="connsiteX1" y="connsiteY1"/>
                </a:cxn>
                <a:cxn ang="0">
                  <a:pos x="connsiteX2" y="connsiteY2"/>
                </a:cxn>
                <a:cxn ang="0">
                  <a:pos x="connsiteX3" y="connsiteY3"/>
                </a:cxn>
              </a:cxnLst>
              <a:rect l="l" t="t" r="r" b="b"/>
              <a:pathLst>
                <a:path w="360000" h="216000">
                  <a:moveTo>
                    <a:pt x="0" y="0"/>
                  </a:moveTo>
                  <a:lnTo>
                    <a:pt x="360000" y="0"/>
                  </a:lnTo>
                  <a:lnTo>
                    <a:pt x="360000" y="216000"/>
                  </a:lnTo>
                  <a:lnTo>
                    <a:pt x="0" y="216000"/>
                  </a:lnTo>
                  <a:close/>
                </a:path>
              </a:pathLst>
            </a:custGeom>
            <a:solidFill>
              <a:srgbClr val="FFF2CC"/>
            </a:solidFill>
            <a:ln w="12700" cap="flat" cmpd="sng" algn="ctr">
              <a:solidFill>
                <a:schemeClr val="tx1"/>
              </a:solidFill>
              <a:prstDash val="solid"/>
              <a:miter lim="800000"/>
            </a:ln>
            <a:effectLst/>
          </p:spPr>
          <p:txBody>
            <a:bodyPr rtlCol="0" anchor="ctr"/>
            <a:lstStyle/>
            <a:p>
              <a:pPr algn="ctr" defTabSz="914400"/>
              <a:endParaRPr lang="zh-CN" altLang="en-US" sz="1400" ker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27" name="文本框 26"/>
          <p:cNvSpPr txBox="1"/>
          <p:nvPr/>
        </p:nvSpPr>
        <p:spPr bwMode="gray">
          <a:xfrm>
            <a:off x="2139755" y="3942398"/>
            <a:ext cx="1056700" cy="307777"/>
          </a:xfrm>
          <a:prstGeom prst="rect">
            <a:avLst/>
          </a:prstGeom>
          <a:noFill/>
        </p:spPr>
        <p:txBody>
          <a:bodyPr wrap="none" rtlCol="0">
            <a:spAutoFit/>
          </a:bodyPr>
          <a:lstStyle/>
          <a:p>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根据</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转发</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文本框 27"/>
          <p:cNvSpPr txBox="1"/>
          <p:nvPr/>
        </p:nvSpPr>
        <p:spPr bwMode="gray">
          <a:xfrm>
            <a:off x="3850513" y="3943120"/>
            <a:ext cx="1718740" cy="307777"/>
          </a:xfrm>
          <a:prstGeom prst="rect">
            <a:avLst/>
          </a:prstGeom>
          <a:noFill/>
        </p:spPr>
        <p:txBody>
          <a:bodyPr wrap="none" rtlCol="0">
            <a:spAutoFit/>
          </a:bodyPr>
          <a:lstStyle/>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根据</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MPLS</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标签转发</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文本框 28"/>
          <p:cNvSpPr txBox="1"/>
          <p:nvPr/>
        </p:nvSpPr>
        <p:spPr bwMode="gray">
          <a:xfrm>
            <a:off x="6423363" y="3946809"/>
            <a:ext cx="1718740" cy="307777"/>
          </a:xfrm>
          <a:prstGeom prst="rect">
            <a:avLst/>
          </a:prstGeom>
          <a:noFill/>
        </p:spPr>
        <p:txBody>
          <a:bodyPr wrap="none" rtlCol="0">
            <a:spAutoFit/>
          </a:bodyPr>
          <a:lstStyle/>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根据</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MPLS</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标签转发</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 name="文本框 29"/>
          <p:cNvSpPr txBox="1"/>
          <p:nvPr/>
        </p:nvSpPr>
        <p:spPr bwMode="gray">
          <a:xfrm>
            <a:off x="8570964" y="3944832"/>
            <a:ext cx="1056700" cy="307777"/>
          </a:xfrm>
          <a:prstGeom prst="rect">
            <a:avLst/>
          </a:prstGeom>
          <a:noFill/>
        </p:spPr>
        <p:txBody>
          <a:bodyPr wrap="none" rtlCol="0">
            <a:spAutoFit/>
          </a:bodyPr>
          <a:lstStyle/>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根据</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转发</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31" name="组合 30"/>
          <p:cNvGrpSpPr/>
          <p:nvPr/>
        </p:nvGrpSpPr>
        <p:grpSpPr bwMode="gray">
          <a:xfrm>
            <a:off x="804929" y="4172890"/>
            <a:ext cx="1377387" cy="720000"/>
            <a:chOff x="833949" y="4172890"/>
            <a:chExt cx="1377387" cy="720000"/>
          </a:xfrm>
        </p:grpSpPr>
        <p:sp>
          <p:nvSpPr>
            <p:cNvPr id="32" name="Freeform 159"/>
            <p:cNvSpPr>
              <a:spLocks noChangeAspect="1"/>
            </p:cNvSpPr>
            <p:nvPr/>
          </p:nvSpPr>
          <p:spPr bwMode="gray">
            <a:xfrm flipH="1">
              <a:off x="833949" y="4172890"/>
              <a:ext cx="1377387" cy="72000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 name="文本框 32"/>
            <p:cNvSpPr txBox="1"/>
            <p:nvPr/>
          </p:nvSpPr>
          <p:spPr bwMode="gray">
            <a:xfrm>
              <a:off x="1135044" y="4446306"/>
              <a:ext cx="769763" cy="338554"/>
            </a:xfrm>
            <a:prstGeom prst="rect">
              <a:avLst/>
            </a:prstGeom>
            <a:noFill/>
          </p:spPr>
          <p:txBody>
            <a:bodyPr wrap="none" rtlCol="0">
              <a:spAutoFit/>
            </a:bodyPr>
            <a:lstStyle/>
            <a:p>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网络</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34" name="组合 33"/>
          <p:cNvGrpSpPr/>
          <p:nvPr/>
        </p:nvGrpSpPr>
        <p:grpSpPr bwMode="gray">
          <a:xfrm>
            <a:off x="9655586" y="4200294"/>
            <a:ext cx="1377387" cy="720000"/>
            <a:chOff x="833949" y="4172890"/>
            <a:chExt cx="1377387" cy="720000"/>
          </a:xfrm>
        </p:grpSpPr>
        <p:sp>
          <p:nvSpPr>
            <p:cNvPr id="35" name="Freeform 159"/>
            <p:cNvSpPr>
              <a:spLocks noChangeAspect="1"/>
            </p:cNvSpPr>
            <p:nvPr/>
          </p:nvSpPr>
          <p:spPr bwMode="gray">
            <a:xfrm flipH="1">
              <a:off x="833949" y="4172890"/>
              <a:ext cx="1377387" cy="72000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文本框 35"/>
            <p:cNvSpPr txBox="1"/>
            <p:nvPr/>
          </p:nvSpPr>
          <p:spPr bwMode="gray">
            <a:xfrm>
              <a:off x="979864" y="4300605"/>
              <a:ext cx="1085555" cy="553998"/>
            </a:xfrm>
            <a:prstGeom prst="rect">
              <a:avLst/>
            </a:prstGeom>
            <a:noFill/>
          </p:spPr>
          <p:txBody>
            <a:bodyPr wrap="none" rtlCol="0">
              <a:spAutoFit/>
            </a:bodyPr>
            <a:lstStyle/>
            <a:p>
              <a:pPr algn="ct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网络</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10.1.1.0/24</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37" name="矩形 32"/>
          <p:cNvSpPr/>
          <p:nvPr/>
        </p:nvSpPr>
        <p:spPr bwMode="gray">
          <a:xfrm>
            <a:off x="10509020" y="5711414"/>
            <a:ext cx="898817" cy="410785"/>
          </a:xfrm>
          <a:prstGeom prst="rect">
            <a:avLst/>
          </a:prstGeom>
          <a:solidFill>
            <a:srgbClr val="FFF2CC"/>
          </a:solidFill>
          <a:ln w="12700" cap="flat" cmpd="sng" algn="ctr">
            <a:solidFill>
              <a:schemeClr val="tx1"/>
            </a:solidFill>
            <a:prstDash val="solid"/>
            <a:miter lim="800000"/>
          </a:ln>
          <a:effectLst/>
        </p:spPr>
        <p:txBody>
          <a:bodyPr rtlCol="0" anchor="ctr"/>
          <a:lstStyle/>
          <a:p>
            <a:pPr algn="ctr" defTabSz="914400"/>
            <a:r>
              <a:rPr lang="en-US" altLang="zh-CN" sz="1400" kern="0" dirty="0">
                <a:latin typeface="Huawei Sans" panose="020C0503030203020204" pitchFamily="34" charset="0"/>
                <a:ea typeface="方正兰亭黑简体" panose="02000000000000000000" pitchFamily="2" charset="-122"/>
                <a:sym typeface="Huawei Sans" panose="020C0503030203020204" pitchFamily="34" charset="0"/>
              </a:rPr>
              <a:t>IP</a:t>
            </a:r>
            <a:endParaRPr lang="en-US" altLang="zh-CN" sz="1400" kern="0" dirty="0">
              <a:latin typeface="Huawei Sans" panose="020C0503030203020204" pitchFamily="34" charset="0"/>
              <a:ea typeface="方正兰亭黑简体" panose="02000000000000000000" pitchFamily="2" charset="-122"/>
              <a:sym typeface="Huawei Sans" panose="020C0503030203020204" pitchFamily="34" charset="0"/>
            </a:endParaRPr>
          </a:p>
          <a:p>
            <a:pPr algn="ctr" defTabSz="914400"/>
            <a:r>
              <a:rPr lang="en-US" altLang="zh-CN" sz="1400" kern="0" dirty="0">
                <a:latin typeface="Huawei Sans" panose="020C0503030203020204" pitchFamily="34" charset="0"/>
                <a:ea typeface="方正兰亭黑简体" panose="02000000000000000000" pitchFamily="2" charset="-122"/>
                <a:sym typeface="Huawei Sans" panose="020C0503030203020204" pitchFamily="34" charset="0"/>
              </a:rPr>
              <a:t>Packet</a:t>
            </a:r>
            <a:endParaRPr lang="zh-CN" altLang="en-US" sz="14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矩形 33"/>
          <p:cNvSpPr/>
          <p:nvPr/>
        </p:nvSpPr>
        <p:spPr bwMode="gray">
          <a:xfrm>
            <a:off x="9385907" y="5711414"/>
            <a:ext cx="898817" cy="410785"/>
          </a:xfrm>
          <a:prstGeom prst="rect">
            <a:avLst/>
          </a:prstGeom>
          <a:solidFill>
            <a:schemeClr val="accent2"/>
          </a:solidFill>
          <a:ln w="127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MPLS</a:t>
            </a:r>
            <a:endPar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Header</a:t>
            </a: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矩形 33"/>
          <p:cNvSpPr/>
          <p:nvPr/>
        </p:nvSpPr>
        <p:spPr bwMode="gray">
          <a:xfrm>
            <a:off x="8262794" y="5711414"/>
            <a:ext cx="898817" cy="410785"/>
          </a:xfrm>
          <a:prstGeom prst="rect">
            <a:avLst/>
          </a:prstGeom>
          <a:solidFill>
            <a:srgbClr val="00B0F0"/>
          </a:solidFill>
          <a:ln w="12700" cap="flat" cmpd="sng" algn="ctr">
            <a:solidFill>
              <a:schemeClr val="tx1"/>
            </a:solidFill>
            <a:prstDash val="solid"/>
            <a:miter lim="800000"/>
          </a:ln>
          <a:effectLst/>
        </p:spPr>
        <p:txBody>
          <a:bodyPr rtlCol="0" anchor="ctr"/>
          <a:lstStyle/>
          <a:p>
            <a:pPr algn="ctr" defTabSz="914400"/>
            <a:r>
              <a:rPr lang="en-US" altLang="zh-CN" sz="1400" kern="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Ethernet</a:t>
            </a:r>
            <a:endParaRPr lang="en-US" altLang="zh-CN" sz="1400" kern="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defTabSz="914400"/>
            <a:r>
              <a:rPr lang="en-US" altLang="zh-CN" sz="1400" kern="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Header</a:t>
            </a:r>
            <a:endParaRPr lang="zh-CN" altLang="en-US" sz="1400" kern="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文本框 39"/>
          <p:cNvSpPr txBox="1"/>
          <p:nvPr/>
        </p:nvSpPr>
        <p:spPr bwMode="gray">
          <a:xfrm>
            <a:off x="2139468" y="4311801"/>
            <a:ext cx="1215397" cy="307777"/>
          </a:xfrm>
          <a:prstGeom prst="rect">
            <a:avLst/>
          </a:prstGeom>
          <a:noFill/>
        </p:spPr>
        <p:txBody>
          <a:bodyPr wrap="none" rtlCol="0">
            <a:spAutoFit/>
          </a:bodyPr>
          <a:lstStyle/>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目的</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:10.1.1.1</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文本框 40"/>
          <p:cNvSpPr txBox="1"/>
          <p:nvPr/>
        </p:nvSpPr>
        <p:spPr bwMode="gray">
          <a:xfrm>
            <a:off x="5435768" y="4992704"/>
            <a:ext cx="1369286" cy="338554"/>
          </a:xfrm>
          <a:prstGeom prst="rect">
            <a:avLst/>
          </a:prstGeom>
          <a:noFill/>
        </p:spPr>
        <p:txBody>
          <a:bodyPr wrap="none" rtlCol="0">
            <a:spAutoFit/>
          </a:bodyPr>
          <a:lstStyle/>
          <a:p>
            <a:r>
              <a:rPr lang="en-US" altLang="zh-CN" sz="1600">
                <a:solidFill>
                  <a:srgbClr val="0070C0"/>
                </a:solidFill>
                <a:latin typeface="Huawei Sans" panose="020C0503030203020204" pitchFamily="34" charset="0"/>
                <a:ea typeface="方正兰亭黑简体" panose="02000000000000000000" pitchFamily="2" charset="-122"/>
                <a:sym typeface="Huawei Sans" panose="020C0503030203020204" pitchFamily="34" charset="0"/>
              </a:rPr>
              <a:t>IP/MPLS</a:t>
            </a:r>
            <a:r>
              <a:rPr lang="zh-CN" altLang="en-US" sz="1600">
                <a:solidFill>
                  <a:srgbClr val="0070C0"/>
                </a:solidFill>
                <a:latin typeface="Huawei Sans" panose="020C0503030203020204" pitchFamily="34" charset="0"/>
                <a:ea typeface="方正兰亭黑简体" panose="02000000000000000000" pitchFamily="2" charset="-122"/>
                <a:sym typeface="Huawei Sans" panose="020C0503030203020204" pitchFamily="34" charset="0"/>
              </a:rPr>
              <a:t>网络</a:t>
            </a:r>
            <a:endParaRPr lang="zh-CN" altLang="en-US" sz="1600" dirty="0">
              <a:solidFill>
                <a:srgbClr val="0070C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6" name="直接连接符 95"/>
          <p:cNvCxnSpPr/>
          <p:nvPr/>
        </p:nvCxnSpPr>
        <p:spPr bwMode="gray">
          <a:xfrm rot="5400000">
            <a:off x="3842653" y="3047184"/>
            <a:ext cx="662814" cy="1266975"/>
          </a:xfrm>
          <a:prstGeom prst="line">
            <a:avLst/>
          </a:prstGeom>
          <a:ln w="19050">
            <a:solidFill>
              <a:srgbClr val="33CC33"/>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90" name="直接连接符 89"/>
          <p:cNvCxnSpPr/>
          <p:nvPr/>
        </p:nvCxnSpPr>
        <p:spPr bwMode="gray">
          <a:xfrm rot="16200000" flipH="1">
            <a:off x="3769315" y="2023194"/>
            <a:ext cx="662814" cy="1266974"/>
          </a:xfrm>
          <a:prstGeom prst="line">
            <a:avLst/>
          </a:prstGeom>
          <a:ln w="19050">
            <a:solidFill>
              <a:srgbClr val="C00000"/>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92" name="直接连接符 91"/>
          <p:cNvCxnSpPr/>
          <p:nvPr/>
        </p:nvCxnSpPr>
        <p:spPr bwMode="gray">
          <a:xfrm rot="5400000">
            <a:off x="3777364" y="2790519"/>
            <a:ext cx="602558" cy="1151795"/>
          </a:xfrm>
          <a:prstGeom prst="line">
            <a:avLst/>
          </a:prstGeom>
          <a:ln w="19050">
            <a:solidFill>
              <a:srgbClr val="C00000"/>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84" name="直接连接符 83"/>
          <p:cNvCxnSpPr/>
          <p:nvPr/>
        </p:nvCxnSpPr>
        <p:spPr bwMode="gray">
          <a:xfrm rot="16200000" flipH="1">
            <a:off x="1957058" y="2692827"/>
            <a:ext cx="662814" cy="1266974"/>
          </a:xfrm>
          <a:prstGeom prst="line">
            <a:avLst/>
          </a:prstGeom>
          <a:ln w="19050">
            <a:solidFill>
              <a:srgbClr val="C00000"/>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85" name="直接连接符 84"/>
          <p:cNvCxnSpPr/>
          <p:nvPr/>
        </p:nvCxnSpPr>
        <p:spPr bwMode="gray">
          <a:xfrm rot="16200000">
            <a:off x="1852143" y="1652314"/>
            <a:ext cx="662814" cy="1266974"/>
          </a:xfrm>
          <a:prstGeom prst="line">
            <a:avLst/>
          </a:prstGeom>
          <a:ln w="19050">
            <a:solidFill>
              <a:srgbClr val="33CC33"/>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sp>
        <p:nvSpPr>
          <p:cNvPr id="4" name="标题 3"/>
          <p:cNvSpPr>
            <a:spLocks noGrp="1"/>
          </p:cNvSpPr>
          <p:nvPr>
            <p:ph type="title"/>
          </p:nvPr>
        </p:nvSpPr>
        <p:spPr bwMode="gray"/>
        <p:txBody>
          <a:bodyPr/>
          <a:lstStyle/>
          <a:p>
            <a:r>
              <a:rPr lang="en-US" altLang="zh-CN" dirty="0">
                <a:sym typeface="Huawei Sans" panose="020C0503030203020204" pitchFamily="34" charset="0"/>
              </a:rPr>
              <a:t>MPLS LDP</a:t>
            </a:r>
            <a:r>
              <a:rPr lang="zh-CN" altLang="en-US" dirty="0">
                <a:sym typeface="Huawei Sans" panose="020C0503030203020204" pitchFamily="34" charset="0"/>
              </a:rPr>
              <a:t>与</a:t>
            </a:r>
            <a:r>
              <a:rPr lang="en-US" altLang="zh-CN" dirty="0">
                <a:sym typeface="Huawei Sans" panose="020C0503030203020204" pitchFamily="34" charset="0"/>
              </a:rPr>
              <a:t>RSVP-TE</a:t>
            </a:r>
            <a:r>
              <a:rPr lang="zh-CN" altLang="en-US" dirty="0">
                <a:sym typeface="Huawei Sans" panose="020C0503030203020204" pitchFamily="34" charset="0"/>
              </a:rPr>
              <a:t>存在的问题</a:t>
            </a:r>
            <a:endParaRPr lang="zh-CN" altLang="en-US" dirty="0">
              <a:sym typeface="Huawei Sans" panose="020C0503030203020204" pitchFamily="34" charset="0"/>
            </a:endParaRPr>
          </a:p>
        </p:txBody>
      </p:sp>
      <p:grpSp>
        <p:nvGrpSpPr>
          <p:cNvPr id="11" name="组合 10"/>
          <p:cNvGrpSpPr/>
          <p:nvPr/>
        </p:nvGrpSpPr>
        <p:grpSpPr bwMode="gray">
          <a:xfrm rot="5400000">
            <a:off x="5250027" y="2818951"/>
            <a:ext cx="438911" cy="301085"/>
            <a:chOff x="674588" y="6196215"/>
            <a:chExt cx="399010" cy="226210"/>
          </a:xfrm>
        </p:grpSpPr>
        <p:cxnSp>
          <p:nvCxnSpPr>
            <p:cNvPr id="12" name="直接连接符 11"/>
            <p:cNvCxnSpPr/>
            <p:nvPr/>
          </p:nvCxnSpPr>
          <p:spPr bwMode="gray">
            <a:xfrm>
              <a:off x="874093" y="6196215"/>
              <a:ext cx="0" cy="22621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bwMode="gray">
            <a:xfrm>
              <a:off x="674588" y="6196215"/>
              <a:ext cx="39901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4" name="组合 13"/>
          <p:cNvGrpSpPr/>
          <p:nvPr/>
        </p:nvGrpSpPr>
        <p:grpSpPr bwMode="gray">
          <a:xfrm rot="16200000">
            <a:off x="1231463" y="2131646"/>
            <a:ext cx="1764410" cy="1686342"/>
            <a:chOff x="6600056" y="4353447"/>
            <a:chExt cx="1296144" cy="833967"/>
          </a:xfrm>
        </p:grpSpPr>
        <p:cxnSp>
          <p:nvCxnSpPr>
            <p:cNvPr id="15" name="直接连接符 14"/>
            <p:cNvCxnSpPr/>
            <p:nvPr/>
          </p:nvCxnSpPr>
          <p:spPr bwMode="gray">
            <a:xfrm flipH="1">
              <a:off x="6600056" y="4353447"/>
              <a:ext cx="648072" cy="833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bwMode="gray">
            <a:xfrm>
              <a:off x="7248128" y="4353447"/>
              <a:ext cx="648072" cy="833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7" name="组合 16"/>
          <p:cNvGrpSpPr/>
          <p:nvPr/>
        </p:nvGrpSpPr>
        <p:grpSpPr bwMode="gray">
          <a:xfrm rot="5400000">
            <a:off x="3388642" y="2131646"/>
            <a:ext cx="1764410" cy="1686342"/>
            <a:chOff x="6600056" y="4353447"/>
            <a:chExt cx="1296144" cy="833967"/>
          </a:xfrm>
        </p:grpSpPr>
        <p:cxnSp>
          <p:nvCxnSpPr>
            <p:cNvPr id="18" name="直接连接符 17"/>
            <p:cNvCxnSpPr/>
            <p:nvPr/>
          </p:nvCxnSpPr>
          <p:spPr bwMode="gray">
            <a:xfrm flipH="1">
              <a:off x="6600056" y="4353447"/>
              <a:ext cx="648072" cy="833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bwMode="gray">
            <a:xfrm>
              <a:off x="7248128" y="4353447"/>
              <a:ext cx="648072" cy="833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0" name="圆角矩形 19"/>
          <p:cNvSpPr/>
          <p:nvPr/>
        </p:nvSpPr>
        <p:spPr bwMode="gray">
          <a:xfrm>
            <a:off x="587041" y="1020288"/>
            <a:ext cx="5297710" cy="400674"/>
          </a:xfrm>
          <a:prstGeom prst="roundRect">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MPLS LDP</a:t>
            </a:r>
            <a:endPar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圆角矩形 20"/>
          <p:cNvSpPr/>
          <p:nvPr/>
        </p:nvSpPr>
        <p:spPr bwMode="gray">
          <a:xfrm>
            <a:off x="587041" y="1529329"/>
            <a:ext cx="5297710" cy="4405715"/>
          </a:xfrm>
          <a:prstGeom prst="roundRect">
            <a:avLst>
              <a:gd name="adj" fmla="val 2222"/>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marL="285750" indent="-200025">
              <a:lnSpc>
                <a:spcPts val="2400"/>
              </a:lnSpc>
              <a:spcAft>
                <a:spcPts val="600"/>
              </a:spcAft>
              <a:buFont typeface="Arial" panose="020B0604020202020204" pitchFamily="34" charset="0"/>
              <a:buChar char="•"/>
            </a:pPr>
            <a:endParaRPr lang="zh-CN" altLang="en-US" sz="140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圆角矩形 21"/>
          <p:cNvSpPr/>
          <p:nvPr/>
        </p:nvSpPr>
        <p:spPr bwMode="gray">
          <a:xfrm>
            <a:off x="6325031" y="1020288"/>
            <a:ext cx="5299200" cy="400674"/>
          </a:xfrm>
          <a:prstGeom prst="roundRect">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RSVP-TE</a:t>
            </a:r>
            <a:endParaRPr lang="zh-CN" altLang="en-US" sz="16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圆角矩形 22"/>
          <p:cNvSpPr/>
          <p:nvPr/>
        </p:nvSpPr>
        <p:spPr bwMode="gray">
          <a:xfrm>
            <a:off x="6325030" y="1529329"/>
            <a:ext cx="5299201" cy="4405715"/>
          </a:xfrm>
          <a:prstGeom prst="roundRect">
            <a:avLst>
              <a:gd name="adj" fmla="val 2222"/>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marL="285750" indent="-200025">
              <a:lnSpc>
                <a:spcPts val="2400"/>
              </a:lnSpc>
              <a:spcAft>
                <a:spcPts val="600"/>
              </a:spcAft>
              <a:buFont typeface="Arial" panose="020B0604020202020204" pitchFamily="34" charset="0"/>
              <a:buChar char="•"/>
            </a:pPr>
            <a:endParaRPr lang="zh-CN" altLang="en-US" sz="140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4" name="图片 23"/>
          <p:cNvPicPr/>
          <p:nvPr/>
        </p:nvPicPr>
        <p:blipFill>
          <a:blip r:embed="rId1" cstate="print">
            <a:extLst>
              <a:ext uri="{28A0092B-C50C-407E-A947-70E740481C1C}">
                <a14:useLocalDpi xmlns:a14="http://schemas.microsoft.com/office/drawing/2010/main" val="0"/>
              </a:ext>
            </a:extLst>
          </a:blip>
          <a:stretch>
            <a:fillRect/>
          </a:stretch>
        </p:blipFill>
        <p:spPr bwMode="gray">
          <a:xfrm>
            <a:off x="1071961" y="2748094"/>
            <a:ext cx="540000" cy="442800"/>
          </a:xfrm>
          <a:prstGeom prst="rect">
            <a:avLst/>
          </a:prstGeom>
        </p:spPr>
      </p:pic>
      <p:grpSp>
        <p:nvGrpSpPr>
          <p:cNvPr id="25" name="组合 24"/>
          <p:cNvGrpSpPr/>
          <p:nvPr/>
        </p:nvGrpSpPr>
        <p:grpSpPr bwMode="gray">
          <a:xfrm>
            <a:off x="2944169" y="1847994"/>
            <a:ext cx="540000" cy="2243000"/>
            <a:chOff x="3071664" y="2780928"/>
            <a:chExt cx="540000" cy="2243000"/>
          </a:xfrm>
        </p:grpSpPr>
        <p:pic>
          <p:nvPicPr>
            <p:cNvPr id="26" name="图片 25"/>
            <p:cNvPicPr/>
            <p:nvPr/>
          </p:nvPicPr>
          <p:blipFill>
            <a:blip r:embed="rId1" cstate="print">
              <a:extLst>
                <a:ext uri="{28A0092B-C50C-407E-A947-70E740481C1C}">
                  <a14:useLocalDpi xmlns:a14="http://schemas.microsoft.com/office/drawing/2010/main" val="0"/>
                </a:ext>
              </a:extLst>
            </a:blip>
            <a:stretch>
              <a:fillRect/>
            </a:stretch>
          </p:blipFill>
          <p:spPr bwMode="gray">
            <a:xfrm>
              <a:off x="3071664" y="2780928"/>
              <a:ext cx="540000" cy="442800"/>
            </a:xfrm>
            <a:prstGeom prst="rect">
              <a:avLst/>
            </a:prstGeom>
          </p:spPr>
        </p:pic>
        <p:pic>
          <p:nvPicPr>
            <p:cNvPr id="27" name="图片 26"/>
            <p:cNvPicPr/>
            <p:nvPr/>
          </p:nvPicPr>
          <p:blipFill>
            <a:blip r:embed="rId1" cstate="print">
              <a:extLst>
                <a:ext uri="{28A0092B-C50C-407E-A947-70E740481C1C}">
                  <a14:useLocalDpi xmlns:a14="http://schemas.microsoft.com/office/drawing/2010/main" val="0"/>
                </a:ext>
              </a:extLst>
            </a:blip>
            <a:stretch>
              <a:fillRect/>
            </a:stretch>
          </p:blipFill>
          <p:spPr bwMode="gray">
            <a:xfrm>
              <a:off x="3071664" y="4581128"/>
              <a:ext cx="540000" cy="442800"/>
            </a:xfrm>
            <a:prstGeom prst="rect">
              <a:avLst/>
            </a:prstGeom>
          </p:spPr>
        </p:pic>
      </p:grpSp>
      <p:pic>
        <p:nvPicPr>
          <p:cNvPr id="28" name="图片 27"/>
          <p:cNvPicPr/>
          <p:nvPr/>
        </p:nvPicPr>
        <p:blipFill>
          <a:blip r:embed="rId1" cstate="print">
            <a:extLst>
              <a:ext uri="{28A0092B-C50C-407E-A947-70E740481C1C}">
                <a14:useLocalDpi xmlns:a14="http://schemas.microsoft.com/office/drawing/2010/main" val="0"/>
              </a:ext>
            </a:extLst>
          </a:blip>
          <a:stretch>
            <a:fillRect/>
          </a:stretch>
        </p:blipFill>
        <p:spPr bwMode="gray">
          <a:xfrm>
            <a:off x="4816377" y="2748094"/>
            <a:ext cx="540000" cy="442800"/>
          </a:xfrm>
          <a:prstGeom prst="rect">
            <a:avLst/>
          </a:prstGeom>
        </p:spPr>
      </p:pic>
      <p:sp>
        <p:nvSpPr>
          <p:cNvPr id="29" name="文本框 28"/>
          <p:cNvSpPr txBox="1"/>
          <p:nvPr/>
        </p:nvSpPr>
        <p:spPr bwMode="gray">
          <a:xfrm>
            <a:off x="678801" y="2815605"/>
            <a:ext cx="413896" cy="307777"/>
          </a:xfrm>
          <a:prstGeom prst="rect">
            <a:avLst/>
          </a:prstGeom>
          <a:noFill/>
        </p:spPr>
        <p:txBody>
          <a:bodyPr wrap="none" rtlCol="0">
            <a:spAutoFit/>
          </a:bodyPr>
          <a:lstStyle/>
          <a:p>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R1</a:t>
            </a:r>
            <a:endParaRPr lang="zh-CN" altLang="en-US" sz="1400" b="1">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 name="文本框 29"/>
          <p:cNvSpPr txBox="1"/>
          <p:nvPr/>
        </p:nvSpPr>
        <p:spPr bwMode="gray">
          <a:xfrm>
            <a:off x="3007221" y="2301441"/>
            <a:ext cx="413896" cy="307777"/>
          </a:xfrm>
          <a:prstGeom prst="rect">
            <a:avLst/>
          </a:prstGeom>
          <a:noFill/>
        </p:spPr>
        <p:txBody>
          <a:bodyPr wrap="none" rtlCol="0">
            <a:spAutoFit/>
          </a:bodyPr>
          <a:lstStyle/>
          <a:p>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R2</a:t>
            </a:r>
            <a:endParaRPr lang="zh-CN" altLang="en-US" sz="1400" b="1">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 name="文本框 30"/>
          <p:cNvSpPr txBox="1"/>
          <p:nvPr/>
        </p:nvSpPr>
        <p:spPr bwMode="gray">
          <a:xfrm>
            <a:off x="3007221" y="3309003"/>
            <a:ext cx="413896" cy="307777"/>
          </a:xfrm>
          <a:prstGeom prst="rect">
            <a:avLst/>
          </a:prstGeom>
          <a:noFill/>
        </p:spPr>
        <p:txBody>
          <a:bodyPr wrap="none" rtlCol="0">
            <a:spAutoFit/>
          </a:bodyPr>
          <a:lstStyle/>
          <a:p>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R4</a:t>
            </a:r>
            <a:endParaRPr lang="zh-CN" altLang="en-US" sz="1400" b="1">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文本框 31"/>
          <p:cNvSpPr txBox="1"/>
          <p:nvPr/>
        </p:nvSpPr>
        <p:spPr bwMode="gray">
          <a:xfrm>
            <a:off x="4878021" y="3190894"/>
            <a:ext cx="413896" cy="307777"/>
          </a:xfrm>
          <a:prstGeom prst="rect">
            <a:avLst/>
          </a:prstGeom>
          <a:noFill/>
        </p:spPr>
        <p:txBody>
          <a:bodyPr wrap="none" rtlCol="0">
            <a:spAutoFit/>
          </a:bodyPr>
          <a:lstStyle/>
          <a:p>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R3</a:t>
            </a:r>
            <a:endParaRPr lang="zh-CN" altLang="en-US" sz="1400" b="1">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文本框 35"/>
          <p:cNvSpPr txBox="1"/>
          <p:nvPr/>
        </p:nvSpPr>
        <p:spPr bwMode="gray">
          <a:xfrm rot="19912812">
            <a:off x="1899831" y="2211386"/>
            <a:ext cx="537807" cy="161866"/>
          </a:xfrm>
          <a:prstGeom prst="rect">
            <a:avLst/>
          </a:prstGeom>
          <a:solidFill>
            <a:schemeClr val="bg1"/>
          </a:solidFill>
        </p:spPr>
        <p:txBody>
          <a:bodyPr wrap="none" lIns="0" tIns="0" rIns="0" bIns="0" rtlCol="0" anchor="ctr" anchorCtr="0">
            <a:noAutofit/>
          </a:bodyPr>
          <a:lstStyle/>
          <a:p>
            <a:pPr algn="ctr"/>
            <a:r>
              <a:rPr lang="en-US" altLang="zh-CN" sz="1400" dirty="0">
                <a:solidFill>
                  <a:srgbClr val="00B050"/>
                </a:solidFill>
                <a:latin typeface="Huawei Sans" panose="020C0503030203020204" pitchFamily="34" charset="0"/>
                <a:ea typeface="方正兰亭黑简体" panose="02000000000000000000" pitchFamily="2" charset="-122"/>
                <a:sym typeface="Huawei Sans" panose="020C0503030203020204" pitchFamily="34" charset="0"/>
              </a:rPr>
              <a:t>IGP</a:t>
            </a:r>
            <a:endParaRPr lang="zh-CN" altLang="en-US" sz="1400">
              <a:solidFill>
                <a:srgbClr val="00B05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文本框 41"/>
          <p:cNvSpPr txBox="1"/>
          <p:nvPr/>
        </p:nvSpPr>
        <p:spPr bwMode="gray">
          <a:xfrm>
            <a:off x="628001" y="4340237"/>
            <a:ext cx="5205950" cy="1323439"/>
          </a:xfrm>
          <a:prstGeom prst="rect">
            <a:avLst/>
          </a:prstGeom>
          <a:noFill/>
        </p:spPr>
        <p:txBody>
          <a:bodyPr wrap="square" rtlCol="0">
            <a:spAutoFit/>
          </a:bodyPr>
          <a:lstStyle/>
          <a:p>
            <a:pPr marL="285750" indent="-285750">
              <a:lnSpc>
                <a:spcPts val="2400"/>
              </a:lnSpc>
              <a:buFont typeface="Arial" panose="020B0604020202020204" pitchFamily="34" charset="0"/>
              <a:buChar char="•"/>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LDP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本身并无算路能力，需依赖</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IGP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进行路径计算。</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285750" indent="-285750">
              <a:lnSpc>
                <a:spcPts val="2400"/>
              </a:lnSpc>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控制面需要</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IGP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及</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LDP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，设备之间需要发送大量的消息来维持邻居关系及路径状态，浪费了链路带宽及设备资源。</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285750" indent="-285750">
              <a:lnSpc>
                <a:spcPts val="2400"/>
              </a:lnSpc>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若</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LDP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与</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IGP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未同步，则可能出现数据转发问题。</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2" name="文本框 71"/>
          <p:cNvSpPr txBox="1"/>
          <p:nvPr/>
        </p:nvSpPr>
        <p:spPr bwMode="gray">
          <a:xfrm>
            <a:off x="6325030" y="4251337"/>
            <a:ext cx="5299201" cy="1631216"/>
          </a:xfrm>
          <a:prstGeom prst="rect">
            <a:avLst/>
          </a:prstGeom>
          <a:noFill/>
        </p:spPr>
        <p:txBody>
          <a:bodyPr wrap="square" rtlCol="0">
            <a:spAutoFit/>
          </a:bodyPr>
          <a:lstStyle/>
          <a:p>
            <a:pPr marL="285750" indent="-285750">
              <a:lnSpc>
                <a:spcPts val="2400"/>
              </a:lnSpc>
              <a:buFont typeface="Arial" panose="020B0604020202020204" pitchFamily="34" charset="0"/>
              <a:buChar char="•"/>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RSVP-TE</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的配置复杂，不支持负载分担。</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285750" indent="-285750">
              <a:lnSpc>
                <a:spcPts val="2400"/>
              </a:lnSpc>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为了实现</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TE</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，设备之间需要发送大量</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RSVP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报文来维持邻居关系及路径状态，浪费了链路带宽及设备资源。</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285750" indent="-285750">
              <a:lnSpc>
                <a:spcPts val="2400"/>
              </a:lnSpc>
              <a:buFont typeface="Arial" panose="020B0604020202020204" pitchFamily="34" charset="0"/>
              <a:buChar char="•"/>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RSVP-TE</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本质上是分布式架构，每台设备只知道自己的状态，设备之间需要交互信令报文。</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0" name="文本框 79"/>
          <p:cNvSpPr txBox="1"/>
          <p:nvPr/>
        </p:nvSpPr>
        <p:spPr bwMode="gray">
          <a:xfrm rot="1670758">
            <a:off x="3834576" y="2550089"/>
            <a:ext cx="537807" cy="161866"/>
          </a:xfrm>
          <a:prstGeom prst="rect">
            <a:avLst/>
          </a:prstGeom>
          <a:solidFill>
            <a:schemeClr val="bg1"/>
          </a:solidFill>
        </p:spPr>
        <p:txBody>
          <a:bodyPr wrap="none" lIns="0" tIns="0" rIns="0" bIns="0" rtlCol="0" anchor="ctr" anchorCtr="0">
            <a:noAutofit/>
          </a:bodyPr>
          <a:lstStyle>
            <a:defPPr>
              <a:defRPr lang="en-US"/>
            </a:defPPr>
            <a:lvl1pPr algn="ctr">
              <a:defRPr sz="1400">
                <a:solidFill>
                  <a:srgbClr val="C7000B"/>
                </a:solidFill>
              </a:defRPr>
            </a:lvl1pPr>
          </a:lstStyle>
          <a:p>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LDP</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1" name="文本框 80"/>
          <p:cNvSpPr txBox="1"/>
          <p:nvPr/>
        </p:nvSpPr>
        <p:spPr bwMode="gray">
          <a:xfrm rot="1660865">
            <a:off x="2026513" y="3238762"/>
            <a:ext cx="537807" cy="161866"/>
          </a:xfrm>
          <a:prstGeom prst="rect">
            <a:avLst/>
          </a:prstGeom>
          <a:solidFill>
            <a:schemeClr val="bg1"/>
          </a:solidFill>
        </p:spPr>
        <p:txBody>
          <a:bodyPr wrap="none" lIns="0" tIns="0" rIns="0" bIns="0" rtlCol="0" anchor="ctr" anchorCtr="0">
            <a:noAutofit/>
          </a:bodyPr>
          <a:lstStyle>
            <a:defPPr>
              <a:defRPr lang="en-US"/>
            </a:defPPr>
            <a:lvl1pPr algn="ctr">
              <a:defRPr sz="1400">
                <a:solidFill>
                  <a:srgbClr val="C7000B"/>
                </a:solidFill>
              </a:defRPr>
            </a:lvl1pPr>
          </a:lstStyle>
          <a:p>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LDP</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2" name="文本框 81"/>
          <p:cNvSpPr txBox="1"/>
          <p:nvPr/>
        </p:nvSpPr>
        <p:spPr bwMode="gray">
          <a:xfrm rot="19997381">
            <a:off x="3815854" y="3297931"/>
            <a:ext cx="537807" cy="161866"/>
          </a:xfrm>
          <a:prstGeom prst="rect">
            <a:avLst/>
          </a:prstGeom>
          <a:solidFill>
            <a:schemeClr val="bg1"/>
          </a:solidFill>
        </p:spPr>
        <p:txBody>
          <a:bodyPr wrap="none" lIns="0" tIns="0" rIns="0" bIns="0" rtlCol="0" anchor="ctr" anchorCtr="0">
            <a:noAutofit/>
          </a:bodyPr>
          <a:lstStyle>
            <a:defPPr>
              <a:defRPr lang="en-US"/>
            </a:defPPr>
            <a:lvl1pPr algn="ctr">
              <a:defRPr sz="1400">
                <a:solidFill>
                  <a:srgbClr val="C7000B"/>
                </a:solidFill>
              </a:defRPr>
            </a:lvl1pPr>
          </a:lstStyle>
          <a:p>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LDP</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86" name="直接连接符 85"/>
          <p:cNvCxnSpPr/>
          <p:nvPr/>
        </p:nvCxnSpPr>
        <p:spPr bwMode="gray">
          <a:xfrm rot="16200000">
            <a:off x="1986665" y="2026812"/>
            <a:ext cx="602558" cy="1151795"/>
          </a:xfrm>
          <a:prstGeom prst="line">
            <a:avLst/>
          </a:prstGeom>
          <a:ln w="19050">
            <a:solidFill>
              <a:srgbClr val="C00000"/>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sp>
        <p:nvSpPr>
          <p:cNvPr id="87" name="文本框 86"/>
          <p:cNvSpPr txBox="1"/>
          <p:nvPr/>
        </p:nvSpPr>
        <p:spPr bwMode="gray">
          <a:xfrm rot="19912812">
            <a:off x="2016948" y="2551041"/>
            <a:ext cx="537807" cy="161866"/>
          </a:xfrm>
          <a:prstGeom prst="rect">
            <a:avLst/>
          </a:prstGeom>
          <a:solidFill>
            <a:schemeClr val="bg1"/>
          </a:solidFill>
        </p:spPr>
        <p:txBody>
          <a:bodyPr wrap="none" lIns="0" tIns="0" rIns="0" bIns="0" rtlCol="0" anchor="ctr" anchorCtr="0">
            <a:noAutofit/>
          </a:bodyPr>
          <a:lstStyle/>
          <a:p>
            <a:pPr algn="ctr"/>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LDP</a:t>
            </a:r>
            <a:endPar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88" name="直接连接符 87"/>
          <p:cNvCxnSpPr/>
          <p:nvPr/>
        </p:nvCxnSpPr>
        <p:spPr bwMode="gray">
          <a:xfrm rot="16200000" flipH="1">
            <a:off x="1797603" y="2928761"/>
            <a:ext cx="729095" cy="1393671"/>
          </a:xfrm>
          <a:prstGeom prst="line">
            <a:avLst/>
          </a:prstGeom>
          <a:ln w="19050">
            <a:solidFill>
              <a:srgbClr val="33CC33"/>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sp>
        <p:nvSpPr>
          <p:cNvPr id="89" name="文本框 88"/>
          <p:cNvSpPr txBox="1"/>
          <p:nvPr/>
        </p:nvSpPr>
        <p:spPr bwMode="gray">
          <a:xfrm rot="1679142">
            <a:off x="1863224" y="3551831"/>
            <a:ext cx="537807" cy="161866"/>
          </a:xfrm>
          <a:prstGeom prst="rect">
            <a:avLst/>
          </a:prstGeom>
          <a:solidFill>
            <a:schemeClr val="bg1"/>
          </a:solidFill>
        </p:spPr>
        <p:txBody>
          <a:bodyPr wrap="none" lIns="0" tIns="0" rIns="0" bIns="0" rtlCol="0" anchor="ctr" anchorCtr="0">
            <a:noAutofit/>
          </a:bodyPr>
          <a:lstStyle/>
          <a:p>
            <a:pPr algn="ctr"/>
            <a:r>
              <a:rPr lang="en-US" altLang="zh-CN" sz="1400" dirty="0">
                <a:solidFill>
                  <a:srgbClr val="00B050"/>
                </a:solidFill>
                <a:latin typeface="Huawei Sans" panose="020C0503030203020204" pitchFamily="34" charset="0"/>
                <a:ea typeface="方正兰亭黑简体" panose="02000000000000000000" pitchFamily="2" charset="-122"/>
                <a:sym typeface="Huawei Sans" panose="020C0503030203020204" pitchFamily="34" charset="0"/>
              </a:rPr>
              <a:t>IGP</a:t>
            </a:r>
            <a:endParaRPr lang="zh-CN" altLang="en-US" sz="1400">
              <a:solidFill>
                <a:srgbClr val="00B05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7" name="文本框 96"/>
          <p:cNvSpPr txBox="1"/>
          <p:nvPr/>
        </p:nvSpPr>
        <p:spPr bwMode="gray">
          <a:xfrm rot="19882353">
            <a:off x="3939709" y="3588788"/>
            <a:ext cx="537807" cy="161866"/>
          </a:xfrm>
          <a:prstGeom prst="rect">
            <a:avLst/>
          </a:prstGeom>
          <a:solidFill>
            <a:schemeClr val="bg1"/>
          </a:solidFill>
        </p:spPr>
        <p:txBody>
          <a:bodyPr wrap="none" lIns="0" tIns="0" rIns="0" bIns="0" rtlCol="0" anchor="ctr" anchorCtr="0">
            <a:noAutofit/>
          </a:bodyPr>
          <a:lstStyle>
            <a:defPPr>
              <a:defRPr lang="zh-CN"/>
            </a:defPPr>
            <a:lvl1pPr algn="ctr">
              <a:defRPr sz="1400">
                <a:solidFill>
                  <a:srgbClr val="C00000"/>
                </a:solidFill>
              </a:defRPr>
            </a:lvl1pPr>
          </a:lstStyle>
          <a:p>
            <a:r>
              <a:rPr lang="en-US" altLang="zh-CN" dirty="0">
                <a:solidFill>
                  <a:srgbClr val="00B050"/>
                </a:solidFill>
                <a:latin typeface="Huawei Sans" panose="020C0503030203020204" pitchFamily="34" charset="0"/>
                <a:ea typeface="方正兰亭黑简体" panose="02000000000000000000" pitchFamily="2" charset="-122"/>
                <a:sym typeface="Huawei Sans" panose="020C0503030203020204" pitchFamily="34" charset="0"/>
              </a:rPr>
              <a:t>IGP</a:t>
            </a:r>
            <a:endParaRPr lang="zh-CN" altLang="en-US">
              <a:solidFill>
                <a:srgbClr val="00B050"/>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98" name="直接连接符 97"/>
          <p:cNvCxnSpPr/>
          <p:nvPr/>
        </p:nvCxnSpPr>
        <p:spPr bwMode="gray">
          <a:xfrm rot="16200000" flipH="1">
            <a:off x="3871776" y="1661277"/>
            <a:ext cx="662814" cy="1266974"/>
          </a:xfrm>
          <a:prstGeom prst="line">
            <a:avLst/>
          </a:prstGeom>
          <a:ln w="19050">
            <a:solidFill>
              <a:srgbClr val="33CC33"/>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sp>
        <p:nvSpPr>
          <p:cNvPr id="99" name="文本框 98"/>
          <p:cNvSpPr txBox="1"/>
          <p:nvPr/>
        </p:nvSpPr>
        <p:spPr bwMode="gray">
          <a:xfrm rot="1670758">
            <a:off x="3940472" y="2235936"/>
            <a:ext cx="537807" cy="161866"/>
          </a:xfrm>
          <a:prstGeom prst="rect">
            <a:avLst/>
          </a:prstGeom>
          <a:solidFill>
            <a:schemeClr val="bg1"/>
          </a:solidFill>
        </p:spPr>
        <p:txBody>
          <a:bodyPr wrap="none" lIns="0" tIns="0" rIns="0" bIns="0" rtlCol="0" anchor="ctr" anchorCtr="0">
            <a:noAutofit/>
          </a:bodyPr>
          <a:lstStyle/>
          <a:p>
            <a:pPr algn="ctr"/>
            <a:r>
              <a:rPr lang="en-US" altLang="zh-CN" sz="1400" dirty="0">
                <a:solidFill>
                  <a:srgbClr val="00B050"/>
                </a:solidFill>
                <a:latin typeface="Huawei Sans" panose="020C0503030203020204" pitchFamily="34" charset="0"/>
                <a:ea typeface="方正兰亭黑简体" panose="02000000000000000000" pitchFamily="2" charset="-122"/>
                <a:sym typeface="Huawei Sans" panose="020C0503030203020204" pitchFamily="34" charset="0"/>
              </a:rPr>
              <a:t>IGP</a:t>
            </a:r>
            <a:endParaRPr lang="zh-CN" altLang="en-US" sz="1400">
              <a:solidFill>
                <a:srgbClr val="00B050"/>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13" name="组合 112"/>
          <p:cNvGrpSpPr/>
          <p:nvPr/>
        </p:nvGrpSpPr>
        <p:grpSpPr bwMode="gray">
          <a:xfrm rot="5400000">
            <a:off x="11149168" y="2818951"/>
            <a:ext cx="438911" cy="301085"/>
            <a:chOff x="674588" y="6196215"/>
            <a:chExt cx="399010" cy="226210"/>
          </a:xfrm>
        </p:grpSpPr>
        <p:cxnSp>
          <p:nvCxnSpPr>
            <p:cNvPr id="114" name="直接连接符 113"/>
            <p:cNvCxnSpPr/>
            <p:nvPr/>
          </p:nvCxnSpPr>
          <p:spPr bwMode="gray">
            <a:xfrm>
              <a:off x="874093" y="6196215"/>
              <a:ext cx="0" cy="22621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5" name="直接连接符 114"/>
            <p:cNvCxnSpPr/>
            <p:nvPr/>
          </p:nvCxnSpPr>
          <p:spPr bwMode="gray">
            <a:xfrm>
              <a:off x="674588" y="6196215"/>
              <a:ext cx="39901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16" name="组合 115"/>
          <p:cNvGrpSpPr/>
          <p:nvPr/>
        </p:nvGrpSpPr>
        <p:grpSpPr bwMode="gray">
          <a:xfrm rot="16200000">
            <a:off x="7130604" y="2131646"/>
            <a:ext cx="1764410" cy="1686342"/>
            <a:chOff x="6600056" y="4353447"/>
            <a:chExt cx="1296144" cy="833967"/>
          </a:xfrm>
        </p:grpSpPr>
        <p:cxnSp>
          <p:nvCxnSpPr>
            <p:cNvPr id="117" name="直接连接符 116"/>
            <p:cNvCxnSpPr/>
            <p:nvPr/>
          </p:nvCxnSpPr>
          <p:spPr bwMode="gray">
            <a:xfrm flipH="1">
              <a:off x="6600056" y="4353447"/>
              <a:ext cx="648072" cy="833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8" name="直接连接符 117"/>
            <p:cNvCxnSpPr/>
            <p:nvPr/>
          </p:nvCxnSpPr>
          <p:spPr bwMode="gray">
            <a:xfrm>
              <a:off x="7248128" y="4353447"/>
              <a:ext cx="648072" cy="833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19" name="组合 118"/>
          <p:cNvGrpSpPr/>
          <p:nvPr/>
        </p:nvGrpSpPr>
        <p:grpSpPr bwMode="gray">
          <a:xfrm rot="5400000">
            <a:off x="9287783" y="2131646"/>
            <a:ext cx="1764410" cy="1686342"/>
            <a:chOff x="6600056" y="4353447"/>
            <a:chExt cx="1296144" cy="833967"/>
          </a:xfrm>
        </p:grpSpPr>
        <p:cxnSp>
          <p:nvCxnSpPr>
            <p:cNvPr id="120" name="直接连接符 119"/>
            <p:cNvCxnSpPr/>
            <p:nvPr/>
          </p:nvCxnSpPr>
          <p:spPr bwMode="gray">
            <a:xfrm flipH="1">
              <a:off x="6600056" y="4353447"/>
              <a:ext cx="648072" cy="833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1" name="直接连接符 120"/>
            <p:cNvCxnSpPr/>
            <p:nvPr/>
          </p:nvCxnSpPr>
          <p:spPr bwMode="gray">
            <a:xfrm>
              <a:off x="7248128" y="4353447"/>
              <a:ext cx="648072" cy="833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122" name="图片 121"/>
          <p:cNvPicPr/>
          <p:nvPr/>
        </p:nvPicPr>
        <p:blipFill>
          <a:blip r:embed="rId1" cstate="print">
            <a:extLst>
              <a:ext uri="{28A0092B-C50C-407E-A947-70E740481C1C}">
                <a14:useLocalDpi xmlns:a14="http://schemas.microsoft.com/office/drawing/2010/main" val="0"/>
              </a:ext>
            </a:extLst>
          </a:blip>
          <a:stretch>
            <a:fillRect/>
          </a:stretch>
        </p:blipFill>
        <p:spPr bwMode="gray">
          <a:xfrm>
            <a:off x="6971102" y="2748094"/>
            <a:ext cx="540000" cy="442800"/>
          </a:xfrm>
          <a:prstGeom prst="rect">
            <a:avLst/>
          </a:prstGeom>
        </p:spPr>
      </p:pic>
      <p:grpSp>
        <p:nvGrpSpPr>
          <p:cNvPr id="123" name="组合 122"/>
          <p:cNvGrpSpPr/>
          <p:nvPr/>
        </p:nvGrpSpPr>
        <p:grpSpPr bwMode="gray">
          <a:xfrm>
            <a:off x="8843310" y="1847994"/>
            <a:ext cx="540000" cy="2243000"/>
            <a:chOff x="3071664" y="2780928"/>
            <a:chExt cx="540000" cy="2243000"/>
          </a:xfrm>
        </p:grpSpPr>
        <p:pic>
          <p:nvPicPr>
            <p:cNvPr id="124" name="图片 123"/>
            <p:cNvPicPr/>
            <p:nvPr/>
          </p:nvPicPr>
          <p:blipFill>
            <a:blip r:embed="rId1" cstate="print">
              <a:extLst>
                <a:ext uri="{28A0092B-C50C-407E-A947-70E740481C1C}">
                  <a14:useLocalDpi xmlns:a14="http://schemas.microsoft.com/office/drawing/2010/main" val="0"/>
                </a:ext>
              </a:extLst>
            </a:blip>
            <a:stretch>
              <a:fillRect/>
            </a:stretch>
          </p:blipFill>
          <p:spPr bwMode="gray">
            <a:xfrm>
              <a:off x="3071664" y="2780928"/>
              <a:ext cx="540000" cy="442800"/>
            </a:xfrm>
            <a:prstGeom prst="rect">
              <a:avLst/>
            </a:prstGeom>
          </p:spPr>
        </p:pic>
        <p:pic>
          <p:nvPicPr>
            <p:cNvPr id="125" name="图片 124"/>
            <p:cNvPicPr/>
            <p:nvPr/>
          </p:nvPicPr>
          <p:blipFill>
            <a:blip r:embed="rId1" cstate="print">
              <a:extLst>
                <a:ext uri="{28A0092B-C50C-407E-A947-70E740481C1C}">
                  <a14:useLocalDpi xmlns:a14="http://schemas.microsoft.com/office/drawing/2010/main" val="0"/>
                </a:ext>
              </a:extLst>
            </a:blip>
            <a:stretch>
              <a:fillRect/>
            </a:stretch>
          </p:blipFill>
          <p:spPr bwMode="gray">
            <a:xfrm>
              <a:off x="3071664" y="4581128"/>
              <a:ext cx="540000" cy="442800"/>
            </a:xfrm>
            <a:prstGeom prst="rect">
              <a:avLst/>
            </a:prstGeom>
          </p:spPr>
        </p:pic>
      </p:grpSp>
      <p:pic>
        <p:nvPicPr>
          <p:cNvPr id="126" name="图片 125"/>
          <p:cNvPicPr/>
          <p:nvPr/>
        </p:nvPicPr>
        <p:blipFill>
          <a:blip r:embed="rId1" cstate="print">
            <a:extLst>
              <a:ext uri="{28A0092B-C50C-407E-A947-70E740481C1C}">
                <a14:useLocalDpi xmlns:a14="http://schemas.microsoft.com/office/drawing/2010/main" val="0"/>
              </a:ext>
            </a:extLst>
          </a:blip>
          <a:stretch>
            <a:fillRect/>
          </a:stretch>
        </p:blipFill>
        <p:spPr bwMode="gray">
          <a:xfrm>
            <a:off x="10715518" y="2748094"/>
            <a:ext cx="540000" cy="442800"/>
          </a:xfrm>
          <a:prstGeom prst="rect">
            <a:avLst/>
          </a:prstGeom>
        </p:spPr>
      </p:pic>
      <p:sp>
        <p:nvSpPr>
          <p:cNvPr id="127" name="文本框 126"/>
          <p:cNvSpPr txBox="1"/>
          <p:nvPr/>
        </p:nvSpPr>
        <p:spPr bwMode="gray">
          <a:xfrm>
            <a:off x="6577942" y="2815605"/>
            <a:ext cx="413896" cy="307777"/>
          </a:xfrm>
          <a:prstGeom prst="rect">
            <a:avLst/>
          </a:prstGeom>
          <a:noFill/>
        </p:spPr>
        <p:txBody>
          <a:bodyPr wrap="none" rtlCol="0">
            <a:spAutoFit/>
          </a:bodyPr>
          <a:lstStyle/>
          <a:p>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R1</a:t>
            </a:r>
            <a:endParaRPr lang="zh-CN" altLang="en-US" sz="1400" b="1">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8" name="文本框 127"/>
          <p:cNvSpPr txBox="1"/>
          <p:nvPr/>
        </p:nvSpPr>
        <p:spPr bwMode="gray">
          <a:xfrm>
            <a:off x="8906362" y="2301441"/>
            <a:ext cx="413896" cy="307777"/>
          </a:xfrm>
          <a:prstGeom prst="rect">
            <a:avLst/>
          </a:prstGeom>
          <a:noFill/>
        </p:spPr>
        <p:txBody>
          <a:bodyPr wrap="none" rtlCol="0">
            <a:spAutoFit/>
          </a:bodyPr>
          <a:lstStyle/>
          <a:p>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R2</a:t>
            </a:r>
            <a:endParaRPr lang="zh-CN" altLang="en-US" sz="1400" b="1">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9" name="文本框 128"/>
          <p:cNvSpPr txBox="1"/>
          <p:nvPr/>
        </p:nvSpPr>
        <p:spPr bwMode="gray">
          <a:xfrm>
            <a:off x="8906362" y="3309003"/>
            <a:ext cx="413896" cy="307777"/>
          </a:xfrm>
          <a:prstGeom prst="rect">
            <a:avLst/>
          </a:prstGeom>
          <a:noFill/>
        </p:spPr>
        <p:txBody>
          <a:bodyPr wrap="none" rtlCol="0">
            <a:spAutoFit/>
          </a:bodyPr>
          <a:lstStyle/>
          <a:p>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R4</a:t>
            </a:r>
            <a:endParaRPr lang="zh-CN" altLang="en-US" sz="1400" b="1">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0" name="文本框 129"/>
          <p:cNvSpPr txBox="1"/>
          <p:nvPr/>
        </p:nvSpPr>
        <p:spPr bwMode="gray">
          <a:xfrm>
            <a:off x="10777162" y="3190894"/>
            <a:ext cx="413896" cy="307777"/>
          </a:xfrm>
          <a:prstGeom prst="rect">
            <a:avLst/>
          </a:prstGeom>
          <a:noFill/>
        </p:spPr>
        <p:txBody>
          <a:bodyPr wrap="none" rtlCol="0">
            <a:spAutoFit/>
          </a:bodyPr>
          <a:lstStyle/>
          <a:p>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R3</a:t>
            </a:r>
            <a:endParaRPr lang="zh-CN" altLang="en-US" sz="1400" b="1">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42" name="直接箭头连接符 141"/>
          <p:cNvCxnSpPr/>
          <p:nvPr/>
        </p:nvCxnSpPr>
        <p:spPr bwMode="gray">
          <a:xfrm>
            <a:off x="9447513" y="1942820"/>
            <a:ext cx="1382295" cy="719113"/>
          </a:xfrm>
          <a:prstGeom prst="straightConnector1">
            <a:avLst/>
          </a:prstGeom>
          <a:ln w="19050">
            <a:solidFill>
              <a:srgbClr val="C00000"/>
            </a:solidFill>
            <a:prstDash val="sysDot"/>
            <a:headEnd type="triangle"/>
            <a:tailEnd type="none"/>
          </a:ln>
        </p:spPr>
        <p:style>
          <a:lnRef idx="1">
            <a:schemeClr val="accent1"/>
          </a:lnRef>
          <a:fillRef idx="0">
            <a:schemeClr val="accent1"/>
          </a:fillRef>
          <a:effectRef idx="0">
            <a:schemeClr val="accent1"/>
          </a:effectRef>
          <a:fontRef idx="minor">
            <a:schemeClr val="tx1"/>
          </a:fontRef>
        </p:style>
      </p:cxnSp>
      <p:cxnSp>
        <p:nvCxnSpPr>
          <p:cNvPr id="143" name="直接箭头连接符 142"/>
          <p:cNvCxnSpPr/>
          <p:nvPr/>
        </p:nvCxnSpPr>
        <p:spPr bwMode="gray">
          <a:xfrm flipV="1">
            <a:off x="7384441" y="1945148"/>
            <a:ext cx="1369969" cy="722993"/>
          </a:xfrm>
          <a:prstGeom prst="straightConnector1">
            <a:avLst/>
          </a:prstGeom>
          <a:ln w="19050">
            <a:solidFill>
              <a:srgbClr val="C00000"/>
            </a:solidFill>
            <a:prstDash val="sysDot"/>
            <a:headEnd type="triangle"/>
            <a:tailEnd type="none"/>
          </a:ln>
        </p:spPr>
        <p:style>
          <a:lnRef idx="1">
            <a:schemeClr val="accent1"/>
          </a:lnRef>
          <a:fillRef idx="0">
            <a:schemeClr val="accent1"/>
          </a:fillRef>
          <a:effectRef idx="0">
            <a:schemeClr val="accent1"/>
          </a:effectRef>
          <a:fontRef idx="minor">
            <a:schemeClr val="tx1"/>
          </a:fontRef>
        </p:style>
      </p:cxnSp>
      <p:sp>
        <p:nvSpPr>
          <p:cNvPr id="146" name="文本框 145"/>
          <p:cNvSpPr txBox="1"/>
          <p:nvPr/>
        </p:nvSpPr>
        <p:spPr bwMode="gray">
          <a:xfrm rot="1670758">
            <a:off x="10157743" y="2184994"/>
            <a:ext cx="780663" cy="215444"/>
          </a:xfrm>
          <a:prstGeom prst="rect">
            <a:avLst/>
          </a:prstGeom>
          <a:solidFill>
            <a:schemeClr val="bg1"/>
          </a:solidFill>
        </p:spPr>
        <p:txBody>
          <a:bodyPr wrap="none" lIns="0" tIns="0" rIns="0" bIns="0" rtlCol="0" anchor="ctr" anchorCtr="0">
            <a:noAutofit/>
          </a:bodyPr>
          <a:lstStyle>
            <a:defPPr>
              <a:defRPr lang="en-US"/>
            </a:defPPr>
            <a:lvl1pPr algn="ctr">
              <a:defRPr sz="1400">
                <a:solidFill>
                  <a:srgbClr val="C7000B"/>
                </a:solidFill>
              </a:defRPr>
            </a:lvl1pPr>
          </a:lstStyle>
          <a:p>
            <a:r>
              <a:rPr lang="en-US" altLang="zh-CN">
                <a:latin typeface="Huawei Sans" panose="020C0503030203020204" pitchFamily="34" charset="0"/>
                <a:ea typeface="方正兰亭黑简体" panose="02000000000000000000" pitchFamily="2" charset="-122"/>
                <a:sym typeface="Huawei Sans" panose="020C0503030203020204" pitchFamily="34" charset="0"/>
              </a:rPr>
              <a:t>RSVP</a:t>
            </a:r>
            <a:r>
              <a:rPr lang="zh-CN" altLang="en-US">
                <a:latin typeface="Huawei Sans" panose="020C0503030203020204" pitchFamily="34" charset="0"/>
                <a:ea typeface="方正兰亭黑简体" panose="02000000000000000000" pitchFamily="2" charset="-122"/>
                <a:sym typeface="Huawei Sans" panose="020C0503030203020204" pitchFamily="34" charset="0"/>
              </a:rPr>
              <a:t>响应</a:t>
            </a: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7" name="文本框 146"/>
          <p:cNvSpPr txBox="1"/>
          <p:nvPr/>
        </p:nvSpPr>
        <p:spPr bwMode="gray">
          <a:xfrm rot="20055180">
            <a:off x="7899850" y="1876524"/>
            <a:ext cx="780663" cy="215444"/>
          </a:xfrm>
          <a:prstGeom prst="rect">
            <a:avLst/>
          </a:prstGeom>
          <a:solidFill>
            <a:schemeClr val="bg1"/>
          </a:solidFill>
        </p:spPr>
        <p:txBody>
          <a:bodyPr wrap="none" lIns="0" tIns="0" rIns="0" bIns="0" rtlCol="0" anchor="ctr" anchorCtr="0">
            <a:noAutofit/>
          </a:bodyPr>
          <a:lstStyle>
            <a:defPPr>
              <a:defRPr lang="en-US"/>
            </a:defPPr>
            <a:lvl1pPr algn="ctr">
              <a:defRPr sz="1400">
                <a:solidFill>
                  <a:srgbClr val="C7000B"/>
                </a:solidFill>
              </a:defRPr>
            </a:lvl1pPr>
          </a:lstStyle>
          <a:p>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RSVP</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响应</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74" name="直接箭头连接符 73"/>
          <p:cNvCxnSpPr/>
          <p:nvPr/>
        </p:nvCxnSpPr>
        <p:spPr bwMode="gray">
          <a:xfrm flipV="1">
            <a:off x="7560771" y="2343880"/>
            <a:ext cx="1245426" cy="657267"/>
          </a:xfrm>
          <a:prstGeom prst="straightConnector1">
            <a:avLst/>
          </a:prstGeom>
          <a:ln w="19050">
            <a:solidFill>
              <a:srgbClr val="C00000"/>
            </a:solidFill>
            <a:prstDash val="sysDot"/>
            <a:headEnd type="none"/>
            <a:tailEnd type="triangle"/>
          </a:ln>
        </p:spPr>
        <p:style>
          <a:lnRef idx="1">
            <a:schemeClr val="accent1"/>
          </a:lnRef>
          <a:fillRef idx="0">
            <a:schemeClr val="accent1"/>
          </a:fillRef>
          <a:effectRef idx="0">
            <a:schemeClr val="accent1"/>
          </a:effectRef>
          <a:fontRef idx="minor">
            <a:schemeClr val="tx1"/>
          </a:fontRef>
        </p:style>
      </p:cxnSp>
      <p:cxnSp>
        <p:nvCxnSpPr>
          <p:cNvPr id="75" name="直接箭头连接符 74"/>
          <p:cNvCxnSpPr/>
          <p:nvPr/>
        </p:nvCxnSpPr>
        <p:spPr bwMode="gray">
          <a:xfrm>
            <a:off x="9324537" y="2307027"/>
            <a:ext cx="1256632" cy="653739"/>
          </a:xfrm>
          <a:prstGeom prst="straightConnector1">
            <a:avLst/>
          </a:prstGeom>
          <a:ln w="19050">
            <a:solidFill>
              <a:srgbClr val="C00000"/>
            </a:solidFill>
            <a:prstDash val="sysDot"/>
            <a:headEnd type="none"/>
            <a:tailEnd type="triangle"/>
          </a:ln>
        </p:spPr>
        <p:style>
          <a:lnRef idx="1">
            <a:schemeClr val="accent1"/>
          </a:lnRef>
          <a:fillRef idx="0">
            <a:schemeClr val="accent1"/>
          </a:fillRef>
          <a:effectRef idx="0">
            <a:schemeClr val="accent1"/>
          </a:effectRef>
          <a:fontRef idx="minor">
            <a:schemeClr val="tx1"/>
          </a:fontRef>
        </p:style>
      </p:cxnSp>
      <p:sp>
        <p:nvSpPr>
          <p:cNvPr id="76" name="文本框 75"/>
          <p:cNvSpPr txBox="1"/>
          <p:nvPr/>
        </p:nvSpPr>
        <p:spPr bwMode="gray">
          <a:xfrm rot="20055180">
            <a:off x="7679496" y="2815462"/>
            <a:ext cx="780663" cy="215444"/>
          </a:xfrm>
          <a:prstGeom prst="rect">
            <a:avLst/>
          </a:prstGeom>
          <a:solidFill>
            <a:schemeClr val="bg1"/>
          </a:solidFill>
        </p:spPr>
        <p:txBody>
          <a:bodyPr wrap="none" lIns="0" tIns="0" rIns="0" bIns="0" rtlCol="0" anchor="ctr" anchorCtr="0">
            <a:noAutofit/>
          </a:bodyPr>
          <a:lstStyle>
            <a:defPPr>
              <a:defRPr lang="en-US"/>
            </a:defPPr>
            <a:lvl1pPr algn="ctr">
              <a:defRPr sz="1400">
                <a:solidFill>
                  <a:srgbClr val="C7000B"/>
                </a:solidFill>
              </a:defRPr>
            </a:lvl1pPr>
          </a:lstStyle>
          <a:p>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RSVP</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请求</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7" name="文本框 76"/>
          <p:cNvSpPr txBox="1"/>
          <p:nvPr/>
        </p:nvSpPr>
        <p:spPr bwMode="gray">
          <a:xfrm rot="1672281">
            <a:off x="9389738" y="2579040"/>
            <a:ext cx="780663" cy="215444"/>
          </a:xfrm>
          <a:prstGeom prst="rect">
            <a:avLst/>
          </a:prstGeom>
          <a:solidFill>
            <a:schemeClr val="bg1"/>
          </a:solidFill>
        </p:spPr>
        <p:txBody>
          <a:bodyPr wrap="none" lIns="0" tIns="0" rIns="0" bIns="0" rtlCol="0" anchor="ctr" anchorCtr="0">
            <a:noAutofit/>
          </a:bodyPr>
          <a:lstStyle>
            <a:defPPr>
              <a:defRPr lang="en-US"/>
            </a:defPPr>
            <a:lvl1pPr algn="ctr">
              <a:defRPr sz="1400">
                <a:solidFill>
                  <a:srgbClr val="C7000B"/>
                </a:solidFill>
              </a:defRPr>
            </a:lvl1pPr>
          </a:lstStyle>
          <a:p>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RSVP</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请求</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bwMode="gray">
          <a:xfrm>
            <a:off x="455613" y="447468"/>
            <a:ext cx="11293474" cy="485982"/>
          </a:xfrm>
        </p:spPr>
        <p:txBody>
          <a:bodyPr>
            <a:normAutofit/>
          </a:bodyPr>
          <a:lstStyle/>
          <a:p>
            <a:r>
              <a:rPr lang="en-US" altLang="zh-CN" dirty="0">
                <a:sym typeface="Huawei Sans" panose="020C0503030203020204" pitchFamily="34" charset="0"/>
              </a:rPr>
              <a:t>SR</a:t>
            </a:r>
            <a:r>
              <a:rPr lang="zh-CN" altLang="en-US" dirty="0">
                <a:sym typeface="Huawei Sans" panose="020C0503030203020204" pitchFamily="34" charset="0"/>
              </a:rPr>
              <a:t>的起源与解决方案</a:t>
            </a:r>
            <a:endParaRPr lang="zh-CN" altLang="en-US" dirty="0">
              <a:sym typeface="Huawei Sans" panose="020C0503030203020204" pitchFamily="34" charset="0"/>
            </a:endParaRPr>
          </a:p>
        </p:txBody>
      </p:sp>
      <p:sp>
        <p:nvSpPr>
          <p:cNvPr id="6" name="文本占位符 5"/>
          <p:cNvSpPr>
            <a:spLocks noGrp="1"/>
          </p:cNvSpPr>
          <p:nvPr>
            <p:ph type="body" sz="quarter" idx="10"/>
          </p:nvPr>
        </p:nvSpPr>
        <p:spPr bwMode="gray">
          <a:xfrm>
            <a:off x="455612" y="1047750"/>
            <a:ext cx="11293475" cy="4879805"/>
          </a:xfrm>
        </p:spPr>
        <p:txBody>
          <a:bodyPr/>
          <a:lstStyle/>
          <a:p>
            <a:r>
              <a:rPr lang="en-US" altLang="zh-CN" sz="1600">
                <a:sym typeface="Huawei Sans" panose="020C0503030203020204" pitchFamily="34" charset="0"/>
              </a:rPr>
              <a:t>SDN</a:t>
            </a:r>
            <a:r>
              <a:rPr lang="zh-CN" altLang="en-US" sz="1600">
                <a:sym typeface="Huawei Sans" panose="020C0503030203020204" pitchFamily="34" charset="0"/>
              </a:rPr>
              <a:t>概念的提出对网络产业产生巨大影响，业界出现了诸多用于实现</a:t>
            </a:r>
            <a:r>
              <a:rPr lang="en-US" altLang="zh-CN" sz="1600">
                <a:sym typeface="Huawei Sans" panose="020C0503030203020204" pitchFamily="34" charset="0"/>
              </a:rPr>
              <a:t>SDN</a:t>
            </a:r>
            <a:r>
              <a:rPr lang="zh-CN" altLang="en-US" sz="1600">
                <a:sym typeface="Huawei Sans" panose="020C0503030203020204" pitchFamily="34" charset="0"/>
              </a:rPr>
              <a:t>的协议，例如</a:t>
            </a:r>
            <a:r>
              <a:rPr lang="en-US" altLang="zh-CN" sz="1600">
                <a:sym typeface="Huawei Sans" panose="020C0503030203020204" pitchFamily="34" charset="0"/>
              </a:rPr>
              <a:t>OpenFlow</a:t>
            </a:r>
            <a:r>
              <a:rPr lang="zh-CN" altLang="en-US" sz="1600">
                <a:sym typeface="Huawei Sans" panose="020C0503030203020204" pitchFamily="34" charset="0"/>
              </a:rPr>
              <a:t>、</a:t>
            </a:r>
            <a:r>
              <a:rPr lang="en-US" altLang="zh-CN" sz="1600">
                <a:sym typeface="Huawei Sans" panose="020C0503030203020204" pitchFamily="34" charset="0"/>
              </a:rPr>
              <a:t>POF</a:t>
            </a:r>
            <a:r>
              <a:rPr lang="zh-CN" altLang="en-US" sz="1600">
                <a:sym typeface="Huawei Sans" panose="020C0503030203020204" pitchFamily="34" charset="0"/>
              </a:rPr>
              <a:t>（</a:t>
            </a:r>
            <a:r>
              <a:rPr lang="en-US" altLang="zh-CN" sz="1600">
                <a:sym typeface="Huawei Sans" panose="020C0503030203020204" pitchFamily="34" charset="0"/>
              </a:rPr>
              <a:t>Protocol Oblivious Forwarding</a:t>
            </a:r>
            <a:r>
              <a:rPr lang="zh-CN" altLang="en-US" sz="1600">
                <a:sym typeface="Huawei Sans" panose="020C0503030203020204" pitchFamily="34" charset="0"/>
              </a:rPr>
              <a:t>，协议无关转发）、</a:t>
            </a:r>
            <a:r>
              <a:rPr lang="en-US" altLang="zh-CN" sz="1600">
                <a:sym typeface="Huawei Sans" panose="020C0503030203020204" pitchFamily="34" charset="0"/>
              </a:rPr>
              <a:t>P4</a:t>
            </a:r>
            <a:r>
              <a:rPr lang="zh-CN" altLang="en-US" sz="1600">
                <a:sym typeface="Huawei Sans" panose="020C0503030203020204" pitchFamily="34" charset="0"/>
              </a:rPr>
              <a:t>（</a:t>
            </a:r>
            <a:r>
              <a:rPr lang="en-US" altLang="zh-CN" sz="1600">
                <a:sym typeface="Huawei Sans" panose="020C0503030203020204" pitchFamily="34" charset="0"/>
              </a:rPr>
              <a:t>Programming Protocol-independent Packet Processors</a:t>
            </a:r>
            <a:r>
              <a:rPr lang="zh-CN" altLang="en-US" sz="1600">
                <a:sym typeface="Huawei Sans" panose="020C0503030203020204" pitchFamily="34" charset="0"/>
              </a:rPr>
              <a:t>，编程协议无关的包处理）和</a:t>
            </a:r>
            <a:r>
              <a:rPr lang="en-US" altLang="zh-CN" sz="1600">
                <a:sym typeface="Huawei Sans" panose="020C0503030203020204" pitchFamily="34" charset="0"/>
              </a:rPr>
              <a:t>Segment Routing</a:t>
            </a:r>
            <a:r>
              <a:rPr lang="zh-CN" altLang="en-US" sz="1600">
                <a:sym typeface="Huawei Sans" panose="020C0503030203020204" pitchFamily="34" charset="0"/>
              </a:rPr>
              <a:t>。相比于革命性的协议，</a:t>
            </a:r>
            <a:r>
              <a:rPr lang="en-US" altLang="zh-CN" sz="1600">
                <a:sym typeface="Huawei Sans" panose="020C0503030203020204" pitchFamily="34" charset="0"/>
              </a:rPr>
              <a:t>Segment Routing</a:t>
            </a:r>
            <a:r>
              <a:rPr lang="zh-CN" altLang="en-US" sz="1600">
                <a:sym typeface="Huawei Sans" panose="020C0503030203020204" pitchFamily="34" charset="0"/>
              </a:rPr>
              <a:t>同时考虑了对现网的兼容、平滑演进和提供可编程能力，是事实上的</a:t>
            </a:r>
            <a:r>
              <a:rPr lang="en-US" altLang="zh-CN" sz="1600">
                <a:sym typeface="Huawei Sans" panose="020C0503030203020204" pitchFamily="34" charset="0"/>
              </a:rPr>
              <a:t>SDN</a:t>
            </a:r>
            <a:r>
              <a:rPr lang="zh-CN" altLang="en-US" sz="1600">
                <a:sym typeface="Huawei Sans" panose="020C0503030203020204" pitchFamily="34" charset="0"/>
              </a:rPr>
              <a:t>标准。</a:t>
            </a:r>
            <a:endParaRPr lang="zh-CN" altLang="en-US" sz="1600">
              <a:sym typeface="Huawei Sans" panose="020C0503030203020204" pitchFamily="34" charset="0"/>
            </a:endParaRPr>
          </a:p>
          <a:p>
            <a:endParaRPr lang="zh-CN" altLang="en-US" sz="1600">
              <a:sym typeface="Huawei Sans" panose="020C0503030203020204" pitchFamily="34" charset="0"/>
            </a:endParaRPr>
          </a:p>
        </p:txBody>
      </p:sp>
      <p:grpSp>
        <p:nvGrpSpPr>
          <p:cNvPr id="7" name="组合 6"/>
          <p:cNvGrpSpPr/>
          <p:nvPr/>
        </p:nvGrpSpPr>
        <p:grpSpPr bwMode="gray">
          <a:xfrm>
            <a:off x="749420" y="2592529"/>
            <a:ext cx="10818954" cy="3304241"/>
            <a:chOff x="749420" y="2592529"/>
            <a:chExt cx="10818954" cy="3304241"/>
          </a:xfrm>
        </p:grpSpPr>
        <p:sp>
          <p:nvSpPr>
            <p:cNvPr id="70" name="标题 1"/>
            <p:cNvSpPr txBox="1"/>
            <p:nvPr/>
          </p:nvSpPr>
          <p:spPr bwMode="gray">
            <a:xfrm>
              <a:off x="749420" y="2592529"/>
              <a:ext cx="1456556" cy="481444"/>
            </a:xfrm>
            <a:prstGeom prst="rect">
              <a:avLst/>
            </a:prstGeom>
          </p:spPr>
          <p:txBody>
            <a:bodyPr>
              <a:noAutofit/>
            </a:bodyPr>
            <a:lstStyle>
              <a:lvl1pPr marL="0" marR="0" indent="0" algn="l" defTabSz="1087755" rtl="0" eaLnBrk="1" fontAlgn="auto" latinLnBrk="0" hangingPunct="1">
                <a:lnSpc>
                  <a:spcPct val="100000"/>
                </a:lnSpc>
                <a:spcBef>
                  <a:spcPct val="0"/>
                </a:spcBef>
                <a:spcAft>
                  <a:spcPts val="0"/>
                </a:spcAft>
                <a:buClrTx/>
                <a:buSzTx/>
                <a:buFontTx/>
                <a:buNone/>
                <a:defRPr sz="2900" b="1">
                  <a:solidFill>
                    <a:srgbClr val="C00000"/>
                  </a:solidFill>
                  <a:latin typeface="微软雅黑" panose="020B0503020204020204" charset="-122"/>
                  <a:ea typeface="微软雅黑" panose="020B0503020204020204" charset="-122"/>
                  <a:cs typeface="+mj-cs"/>
                </a:defRPr>
              </a:lvl1pPr>
              <a:lvl2pPr algn="l" rtl="0" eaLnBrk="0" fontAlgn="base" hangingPunct="0">
                <a:spcBef>
                  <a:spcPct val="0"/>
                </a:spcBef>
                <a:spcAft>
                  <a:spcPct val="0"/>
                </a:spcAft>
                <a:defRPr sz="3330" b="1">
                  <a:solidFill>
                    <a:srgbClr val="990000"/>
                  </a:solidFill>
                  <a:latin typeface="FrutigerNext LT Medium" pitchFamily="34" charset="0"/>
                  <a:ea typeface="华文细黑" panose="02010600040101010101" pitchFamily="2" charset="-122"/>
                  <a:cs typeface="宋体" panose="02010600030101010101" pitchFamily="2" charset="-122"/>
                </a:defRPr>
              </a:lvl2pPr>
              <a:lvl3pPr algn="l" rtl="0" eaLnBrk="0" fontAlgn="base" hangingPunct="0">
                <a:spcBef>
                  <a:spcPct val="0"/>
                </a:spcBef>
                <a:spcAft>
                  <a:spcPct val="0"/>
                </a:spcAft>
                <a:defRPr sz="3330" b="1">
                  <a:solidFill>
                    <a:srgbClr val="990000"/>
                  </a:solidFill>
                  <a:latin typeface="FrutigerNext LT Medium" pitchFamily="34" charset="0"/>
                  <a:ea typeface="华文细黑" panose="02010600040101010101" pitchFamily="2" charset="-122"/>
                  <a:cs typeface="宋体" panose="02010600030101010101" pitchFamily="2" charset="-122"/>
                </a:defRPr>
              </a:lvl3pPr>
              <a:lvl4pPr algn="l" rtl="0" eaLnBrk="0" fontAlgn="base" hangingPunct="0">
                <a:spcBef>
                  <a:spcPct val="0"/>
                </a:spcBef>
                <a:spcAft>
                  <a:spcPct val="0"/>
                </a:spcAft>
                <a:defRPr sz="3330" b="1">
                  <a:solidFill>
                    <a:srgbClr val="990000"/>
                  </a:solidFill>
                  <a:latin typeface="FrutigerNext LT Medium" pitchFamily="34" charset="0"/>
                  <a:ea typeface="华文细黑" panose="02010600040101010101" pitchFamily="2" charset="-122"/>
                  <a:cs typeface="宋体" panose="02010600030101010101" pitchFamily="2" charset="-122"/>
                </a:defRPr>
              </a:lvl4pPr>
              <a:lvl5pPr algn="l" rtl="0" eaLnBrk="0" fontAlgn="base" hangingPunct="0">
                <a:spcBef>
                  <a:spcPct val="0"/>
                </a:spcBef>
                <a:spcAft>
                  <a:spcPct val="0"/>
                </a:spcAft>
                <a:defRPr sz="3330" b="1">
                  <a:solidFill>
                    <a:srgbClr val="990000"/>
                  </a:solidFill>
                  <a:latin typeface="FrutigerNext LT Medium" pitchFamily="34" charset="0"/>
                  <a:ea typeface="华文细黑" panose="02010600040101010101" pitchFamily="2" charset="-122"/>
                  <a:cs typeface="宋体" panose="02010600030101010101" pitchFamily="2" charset="-122"/>
                </a:defRPr>
              </a:lvl5pPr>
              <a:lvl6pPr marL="482600" algn="l" rtl="0" eaLnBrk="1" fontAlgn="base" hangingPunct="1">
                <a:spcBef>
                  <a:spcPct val="0"/>
                </a:spcBef>
                <a:spcAft>
                  <a:spcPct val="0"/>
                </a:spcAft>
                <a:defRPr sz="3330" b="1">
                  <a:solidFill>
                    <a:srgbClr val="990000"/>
                  </a:solidFill>
                  <a:latin typeface="FrutigerNext LT Medium" pitchFamily="34" charset="0"/>
                  <a:ea typeface="华文细黑" panose="02010600040101010101" pitchFamily="2" charset="-122"/>
                  <a:cs typeface="宋体" panose="02010600030101010101" pitchFamily="2" charset="-122"/>
                </a:defRPr>
              </a:lvl6pPr>
              <a:lvl7pPr marL="965835" algn="l" rtl="0" eaLnBrk="1" fontAlgn="base" hangingPunct="1">
                <a:spcBef>
                  <a:spcPct val="0"/>
                </a:spcBef>
                <a:spcAft>
                  <a:spcPct val="0"/>
                </a:spcAft>
                <a:defRPr sz="3330" b="1">
                  <a:solidFill>
                    <a:srgbClr val="990000"/>
                  </a:solidFill>
                  <a:latin typeface="FrutigerNext LT Medium" pitchFamily="34" charset="0"/>
                  <a:ea typeface="华文细黑" panose="02010600040101010101" pitchFamily="2" charset="-122"/>
                  <a:cs typeface="宋体" panose="02010600030101010101" pitchFamily="2" charset="-122"/>
                </a:defRPr>
              </a:lvl7pPr>
              <a:lvl8pPr marL="1448435" algn="l" rtl="0" eaLnBrk="1" fontAlgn="base" hangingPunct="1">
                <a:spcBef>
                  <a:spcPct val="0"/>
                </a:spcBef>
                <a:spcAft>
                  <a:spcPct val="0"/>
                </a:spcAft>
                <a:defRPr sz="3330" b="1">
                  <a:solidFill>
                    <a:srgbClr val="990000"/>
                  </a:solidFill>
                  <a:latin typeface="FrutigerNext LT Medium" pitchFamily="34" charset="0"/>
                  <a:ea typeface="华文细黑" panose="02010600040101010101" pitchFamily="2" charset="-122"/>
                  <a:cs typeface="宋体" panose="02010600030101010101" pitchFamily="2" charset="-122"/>
                </a:defRPr>
              </a:lvl8pPr>
              <a:lvl9pPr marL="1931035" algn="l" rtl="0" eaLnBrk="1" fontAlgn="base" hangingPunct="1">
                <a:spcBef>
                  <a:spcPct val="0"/>
                </a:spcBef>
                <a:spcAft>
                  <a:spcPct val="0"/>
                </a:spcAft>
                <a:defRPr sz="3330" b="1">
                  <a:solidFill>
                    <a:srgbClr val="990000"/>
                  </a:solidFill>
                  <a:latin typeface="FrutigerNext LT Medium" pitchFamily="34" charset="0"/>
                  <a:ea typeface="华文细黑" panose="02010600040101010101" pitchFamily="2" charset="-122"/>
                  <a:cs typeface="宋体" panose="02010600030101010101" pitchFamily="2" charset="-122"/>
                </a:defRPr>
              </a:lvl9pPr>
            </a:lstStyle>
            <a:p>
              <a:pPr marL="456565" lvl="1" defTabSz="798195" eaLnBrk="1" hangingPunct="1">
                <a:lnSpc>
                  <a:spcPts val="3585"/>
                </a:lnSpc>
                <a:buClr>
                  <a:srgbClr val="CC9900"/>
                </a:buClr>
                <a:defRPr/>
              </a:pPr>
              <a:r>
                <a:rPr lang="zh-CN" altLang="en-US" sz="1800" dirty="0">
                  <a:solidFill>
                    <a:schemeClr val="tx1">
                      <a:lumMod val="65000"/>
                      <a:lumOff val="35000"/>
                    </a:schemeClr>
                  </a:solidFill>
                  <a:latin typeface="Huawei Sans" panose="020C0503030203020204" pitchFamily="34" charset="0"/>
                  <a:ea typeface="方正兰亭黑简体" panose="02000000000000000000" pitchFamily="2" charset="-122"/>
                  <a:cs typeface="Calibri" panose="020F0502020204030204" pitchFamily="34" charset="0"/>
                  <a:sym typeface="Huawei Sans" panose="020C0503030203020204" pitchFamily="34" charset="0"/>
                </a:rPr>
                <a:t>优点</a:t>
              </a:r>
              <a:endParaRPr lang="zh-CN" altLang="en-US" sz="1800" dirty="0">
                <a:solidFill>
                  <a:schemeClr val="tx1">
                    <a:lumMod val="65000"/>
                    <a:lumOff val="35000"/>
                  </a:schemeClr>
                </a:solidFill>
                <a:latin typeface="Huawei Sans" panose="020C0503030203020204" pitchFamily="34" charset="0"/>
                <a:ea typeface="方正兰亭黑简体" panose="02000000000000000000" pitchFamily="2" charset="-122"/>
                <a:cs typeface="Calibri" panose="020F0502020204030204" pitchFamily="34" charset="0"/>
                <a:sym typeface="Huawei Sans" panose="020C0503030203020204" pitchFamily="34" charset="0"/>
              </a:endParaRPr>
            </a:p>
          </p:txBody>
        </p:sp>
        <p:pic>
          <p:nvPicPr>
            <p:cNvPr id="69" name="图片 68"/>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bwMode="gray">
            <a:xfrm rot="16200000">
              <a:off x="6337399" y="4104651"/>
              <a:ext cx="902070" cy="686810"/>
            </a:xfrm>
            <a:prstGeom prst="rect">
              <a:avLst/>
            </a:prstGeom>
          </p:spPr>
        </p:pic>
        <p:sp>
          <p:nvSpPr>
            <p:cNvPr id="71" name="标题 1"/>
            <p:cNvSpPr txBox="1"/>
            <p:nvPr/>
          </p:nvSpPr>
          <p:spPr bwMode="gray">
            <a:xfrm>
              <a:off x="4268866" y="2614908"/>
              <a:ext cx="1979550" cy="481444"/>
            </a:xfrm>
            <a:prstGeom prst="rect">
              <a:avLst/>
            </a:prstGeom>
          </p:spPr>
          <p:txBody>
            <a:bodyPr>
              <a:noAutofit/>
            </a:bodyPr>
            <a:lstStyle>
              <a:lvl1pPr marL="0" marR="0" indent="0" algn="l" defTabSz="1087755" rtl="0" eaLnBrk="1" fontAlgn="auto" latinLnBrk="0" hangingPunct="1">
                <a:lnSpc>
                  <a:spcPct val="100000"/>
                </a:lnSpc>
                <a:spcBef>
                  <a:spcPct val="0"/>
                </a:spcBef>
                <a:spcAft>
                  <a:spcPts val="0"/>
                </a:spcAft>
                <a:buClrTx/>
                <a:buSzTx/>
                <a:buFontTx/>
                <a:buNone/>
                <a:defRPr sz="2900" b="1">
                  <a:solidFill>
                    <a:srgbClr val="C00000"/>
                  </a:solidFill>
                  <a:latin typeface="微软雅黑" panose="020B0503020204020204" charset="-122"/>
                  <a:ea typeface="微软雅黑" panose="020B0503020204020204" charset="-122"/>
                  <a:cs typeface="+mj-cs"/>
                </a:defRPr>
              </a:lvl1pPr>
              <a:lvl2pPr algn="l" rtl="0" eaLnBrk="0" fontAlgn="base" hangingPunct="0">
                <a:spcBef>
                  <a:spcPct val="0"/>
                </a:spcBef>
                <a:spcAft>
                  <a:spcPct val="0"/>
                </a:spcAft>
                <a:defRPr sz="3330" b="1">
                  <a:solidFill>
                    <a:srgbClr val="990000"/>
                  </a:solidFill>
                  <a:latin typeface="FrutigerNext LT Medium" pitchFamily="34" charset="0"/>
                  <a:ea typeface="华文细黑" panose="02010600040101010101" pitchFamily="2" charset="-122"/>
                  <a:cs typeface="宋体" panose="02010600030101010101" pitchFamily="2" charset="-122"/>
                </a:defRPr>
              </a:lvl2pPr>
              <a:lvl3pPr algn="l" rtl="0" eaLnBrk="0" fontAlgn="base" hangingPunct="0">
                <a:spcBef>
                  <a:spcPct val="0"/>
                </a:spcBef>
                <a:spcAft>
                  <a:spcPct val="0"/>
                </a:spcAft>
                <a:defRPr sz="3330" b="1">
                  <a:solidFill>
                    <a:srgbClr val="990000"/>
                  </a:solidFill>
                  <a:latin typeface="FrutigerNext LT Medium" pitchFamily="34" charset="0"/>
                  <a:ea typeface="华文细黑" panose="02010600040101010101" pitchFamily="2" charset="-122"/>
                  <a:cs typeface="宋体" panose="02010600030101010101" pitchFamily="2" charset="-122"/>
                </a:defRPr>
              </a:lvl3pPr>
              <a:lvl4pPr algn="l" rtl="0" eaLnBrk="0" fontAlgn="base" hangingPunct="0">
                <a:spcBef>
                  <a:spcPct val="0"/>
                </a:spcBef>
                <a:spcAft>
                  <a:spcPct val="0"/>
                </a:spcAft>
                <a:defRPr sz="3330" b="1">
                  <a:solidFill>
                    <a:srgbClr val="990000"/>
                  </a:solidFill>
                  <a:latin typeface="FrutigerNext LT Medium" pitchFamily="34" charset="0"/>
                  <a:ea typeface="华文细黑" panose="02010600040101010101" pitchFamily="2" charset="-122"/>
                  <a:cs typeface="宋体" panose="02010600030101010101" pitchFamily="2" charset="-122"/>
                </a:defRPr>
              </a:lvl4pPr>
              <a:lvl5pPr algn="l" rtl="0" eaLnBrk="0" fontAlgn="base" hangingPunct="0">
                <a:spcBef>
                  <a:spcPct val="0"/>
                </a:spcBef>
                <a:spcAft>
                  <a:spcPct val="0"/>
                </a:spcAft>
                <a:defRPr sz="3330" b="1">
                  <a:solidFill>
                    <a:srgbClr val="990000"/>
                  </a:solidFill>
                  <a:latin typeface="FrutigerNext LT Medium" pitchFamily="34" charset="0"/>
                  <a:ea typeface="华文细黑" panose="02010600040101010101" pitchFamily="2" charset="-122"/>
                  <a:cs typeface="宋体" panose="02010600030101010101" pitchFamily="2" charset="-122"/>
                </a:defRPr>
              </a:lvl5pPr>
              <a:lvl6pPr marL="482600" algn="l" rtl="0" eaLnBrk="1" fontAlgn="base" hangingPunct="1">
                <a:spcBef>
                  <a:spcPct val="0"/>
                </a:spcBef>
                <a:spcAft>
                  <a:spcPct val="0"/>
                </a:spcAft>
                <a:defRPr sz="3330" b="1">
                  <a:solidFill>
                    <a:srgbClr val="990000"/>
                  </a:solidFill>
                  <a:latin typeface="FrutigerNext LT Medium" pitchFamily="34" charset="0"/>
                  <a:ea typeface="华文细黑" panose="02010600040101010101" pitchFamily="2" charset="-122"/>
                  <a:cs typeface="宋体" panose="02010600030101010101" pitchFamily="2" charset="-122"/>
                </a:defRPr>
              </a:lvl6pPr>
              <a:lvl7pPr marL="965835" algn="l" rtl="0" eaLnBrk="1" fontAlgn="base" hangingPunct="1">
                <a:spcBef>
                  <a:spcPct val="0"/>
                </a:spcBef>
                <a:spcAft>
                  <a:spcPct val="0"/>
                </a:spcAft>
                <a:defRPr sz="3330" b="1">
                  <a:solidFill>
                    <a:srgbClr val="990000"/>
                  </a:solidFill>
                  <a:latin typeface="FrutigerNext LT Medium" pitchFamily="34" charset="0"/>
                  <a:ea typeface="华文细黑" panose="02010600040101010101" pitchFamily="2" charset="-122"/>
                  <a:cs typeface="宋体" panose="02010600030101010101" pitchFamily="2" charset="-122"/>
                </a:defRPr>
              </a:lvl7pPr>
              <a:lvl8pPr marL="1448435" algn="l" rtl="0" eaLnBrk="1" fontAlgn="base" hangingPunct="1">
                <a:spcBef>
                  <a:spcPct val="0"/>
                </a:spcBef>
                <a:spcAft>
                  <a:spcPct val="0"/>
                </a:spcAft>
                <a:defRPr sz="3330" b="1">
                  <a:solidFill>
                    <a:srgbClr val="990000"/>
                  </a:solidFill>
                  <a:latin typeface="FrutigerNext LT Medium" pitchFamily="34" charset="0"/>
                  <a:ea typeface="华文细黑" panose="02010600040101010101" pitchFamily="2" charset="-122"/>
                  <a:cs typeface="宋体" panose="02010600030101010101" pitchFamily="2" charset="-122"/>
                </a:defRPr>
              </a:lvl8pPr>
              <a:lvl9pPr marL="1931035" algn="l" rtl="0" eaLnBrk="1" fontAlgn="base" hangingPunct="1">
                <a:spcBef>
                  <a:spcPct val="0"/>
                </a:spcBef>
                <a:spcAft>
                  <a:spcPct val="0"/>
                </a:spcAft>
                <a:defRPr sz="3330" b="1">
                  <a:solidFill>
                    <a:srgbClr val="990000"/>
                  </a:solidFill>
                  <a:latin typeface="FrutigerNext LT Medium" pitchFamily="34" charset="0"/>
                  <a:ea typeface="华文细黑" panose="02010600040101010101" pitchFamily="2" charset="-122"/>
                  <a:cs typeface="宋体" panose="02010600030101010101" pitchFamily="2" charset="-122"/>
                </a:defRPr>
              </a:lvl9pPr>
            </a:lstStyle>
            <a:p>
              <a:pPr marL="456565" lvl="1" defTabSz="798195" eaLnBrk="1" hangingPunct="1">
                <a:lnSpc>
                  <a:spcPts val="3585"/>
                </a:lnSpc>
                <a:buClr>
                  <a:srgbClr val="CC9900"/>
                </a:buClr>
                <a:defRPr/>
              </a:pPr>
              <a:r>
                <a:rPr lang="zh-CN" altLang="en-US" sz="1800" dirty="0">
                  <a:solidFill>
                    <a:schemeClr val="tx1">
                      <a:lumMod val="65000"/>
                      <a:lumOff val="35000"/>
                    </a:schemeClr>
                  </a:solidFill>
                  <a:latin typeface="Huawei Sans" panose="020C0503030203020204" pitchFamily="34" charset="0"/>
                  <a:ea typeface="方正兰亭黑简体" panose="02000000000000000000" pitchFamily="2" charset="-122"/>
                  <a:cs typeface="Calibri" panose="020F0502020204030204" pitchFamily="34" charset="0"/>
                  <a:sym typeface="Huawei Sans" panose="020C0503030203020204" pitchFamily="34" charset="0"/>
                </a:rPr>
                <a:t>缺点</a:t>
              </a:r>
              <a:endParaRPr lang="zh-CN" altLang="en-US" sz="1800" dirty="0">
                <a:solidFill>
                  <a:schemeClr val="tx1">
                    <a:lumMod val="65000"/>
                    <a:lumOff val="35000"/>
                  </a:schemeClr>
                </a:solidFill>
                <a:latin typeface="Huawei Sans" panose="020C0503030203020204" pitchFamily="34" charset="0"/>
                <a:ea typeface="方正兰亭黑简体" panose="02000000000000000000" pitchFamily="2" charset="-122"/>
                <a:cs typeface="Calibri" panose="020F0502020204030204" pitchFamily="34" charset="0"/>
                <a:sym typeface="Huawei Sans" panose="020C0503030203020204" pitchFamily="34" charset="0"/>
              </a:endParaRPr>
            </a:p>
          </p:txBody>
        </p:sp>
        <p:sp>
          <p:nvSpPr>
            <p:cNvPr id="73" name="矩形 72"/>
            <p:cNvSpPr/>
            <p:nvPr/>
          </p:nvSpPr>
          <p:spPr bwMode="gray">
            <a:xfrm>
              <a:off x="7912868" y="5188884"/>
              <a:ext cx="2832827" cy="707886"/>
            </a:xfrm>
            <a:prstGeom prst="rect">
              <a:avLst/>
            </a:prstGeom>
          </p:spPr>
          <p:txBody>
            <a:bodyPr wrap="none" lIns="91440" tIns="45720" rIns="91440" bIns="45720">
              <a:spAutoFit/>
            </a:bodyPr>
            <a:lstStyle/>
            <a:p>
              <a:pPr algn="ctr" defTabSz="457200" fontAlgn="auto">
                <a:spcBef>
                  <a:spcPts val="0"/>
                </a:spcBef>
                <a:spcAft>
                  <a:spcPts val="0"/>
                </a:spcAft>
              </a:pPr>
              <a:r>
                <a:rPr lang="en-US" altLang="zh-CN" sz="2400" b="1" dirty="0">
                  <a:solidFill>
                    <a:srgbClr val="FFC000"/>
                  </a:solidFill>
                  <a:latin typeface="Huawei Sans" panose="020C0503030203020204" pitchFamily="34" charset="0"/>
                  <a:ea typeface="方正兰亭黑简体" panose="02000000000000000000" pitchFamily="2" charset="-122"/>
                  <a:cs typeface="Calibri" panose="020F0502020204030204" pitchFamily="34" charset="0"/>
                  <a:sym typeface="Huawei Sans" panose="020C0503030203020204" pitchFamily="34" charset="0"/>
                </a:rPr>
                <a:t>SR</a:t>
              </a:r>
              <a:r>
                <a:rPr lang="en-US" altLang="zh-CN" sz="2400" b="1" dirty="0">
                  <a:solidFill>
                    <a:srgbClr val="00B050"/>
                  </a:solidFill>
                  <a:latin typeface="Huawei Sans" panose="020C0503030203020204" pitchFamily="34" charset="0"/>
                  <a:ea typeface="方正兰亭黑简体" panose="02000000000000000000" pitchFamily="2" charset="-122"/>
                  <a:cs typeface="Calibri" panose="020F0502020204030204" pitchFamily="34" charset="0"/>
                  <a:sym typeface="Huawei Sans" panose="020C0503030203020204" pitchFamily="34" charset="0"/>
                </a:rPr>
                <a:t>v6</a:t>
              </a:r>
              <a:endParaRPr lang="en-US" altLang="zh-CN" sz="2400" b="1" dirty="0">
                <a:solidFill>
                  <a:srgbClr val="00B050"/>
                </a:solidFill>
                <a:latin typeface="Huawei Sans" panose="020C0503030203020204" pitchFamily="34" charset="0"/>
                <a:ea typeface="方正兰亭黑简体" panose="02000000000000000000" pitchFamily="2" charset="-122"/>
                <a:cs typeface="Calibri" panose="020F0502020204030204" pitchFamily="34" charset="0"/>
                <a:sym typeface="Huawei Sans" panose="020C0503030203020204" pitchFamily="34" charset="0"/>
              </a:endParaRPr>
            </a:p>
            <a:p>
              <a:pPr algn="ctr" defTabSz="457200" fontAlgn="auto">
                <a:spcBef>
                  <a:spcPts val="0"/>
                </a:spcBef>
                <a:spcAft>
                  <a:spcPts val="0"/>
                </a:spcAft>
              </a:pP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基于</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IPv6</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路由扩展头进行扩展</a:t>
              </a:r>
              <a:endParaRPr lang="zh-CN" altLang="en-US" sz="1600" b="1" dirty="0">
                <a:solidFill>
                  <a:srgbClr val="00B050"/>
                </a:solidFill>
                <a:latin typeface="Huawei Sans" panose="020C0503030203020204" pitchFamily="34" charset="0"/>
                <a:ea typeface="方正兰亭黑简体" panose="02000000000000000000" pitchFamily="2" charset="-122"/>
                <a:cs typeface="Calibri" panose="020F0502020204030204" pitchFamily="34" charset="0"/>
                <a:sym typeface="Huawei Sans" panose="020C0503030203020204" pitchFamily="34" charset="0"/>
              </a:endParaRPr>
            </a:p>
          </p:txBody>
        </p:sp>
        <p:sp>
          <p:nvSpPr>
            <p:cNvPr id="78" name="矩形 77"/>
            <p:cNvSpPr/>
            <p:nvPr/>
          </p:nvSpPr>
          <p:spPr bwMode="gray">
            <a:xfrm>
              <a:off x="7825071" y="3380724"/>
              <a:ext cx="3010761" cy="707886"/>
            </a:xfrm>
            <a:prstGeom prst="rect">
              <a:avLst/>
            </a:prstGeom>
          </p:spPr>
          <p:txBody>
            <a:bodyPr wrap="none" lIns="91440" tIns="45720" rIns="91440" bIns="45720">
              <a:spAutoFit/>
            </a:bodyPr>
            <a:lstStyle/>
            <a:p>
              <a:pPr algn="ctr" defTabSz="457200" fontAlgn="auto">
                <a:spcBef>
                  <a:spcPts val="0"/>
                </a:spcBef>
                <a:spcAft>
                  <a:spcPts val="0"/>
                </a:spcAft>
              </a:pPr>
              <a:r>
                <a:rPr lang="en-US" altLang="zh-CN" sz="2400" b="1" dirty="0">
                  <a:solidFill>
                    <a:srgbClr val="FFC000"/>
                  </a:solidFill>
                  <a:latin typeface="Huawei Sans" panose="020C0503030203020204" pitchFamily="34" charset="0"/>
                  <a:ea typeface="方正兰亭黑简体" panose="02000000000000000000" pitchFamily="2" charset="-122"/>
                  <a:cs typeface="Calibri" panose="020F0502020204030204" pitchFamily="34" charset="0"/>
                  <a:sym typeface="Huawei Sans" panose="020C0503030203020204" pitchFamily="34" charset="0"/>
                </a:rPr>
                <a:t>SR</a:t>
              </a:r>
              <a:r>
                <a:rPr lang="en-US" altLang="zh-CN" sz="2400" b="1" dirty="0">
                  <a:solidFill>
                    <a:srgbClr val="00B050"/>
                  </a:solidFill>
                  <a:latin typeface="Huawei Sans" panose="020C0503030203020204" pitchFamily="34" charset="0"/>
                  <a:ea typeface="方正兰亭黑简体" panose="02000000000000000000" pitchFamily="2" charset="-122"/>
                  <a:cs typeface="Calibri" panose="020F0502020204030204" pitchFamily="34" charset="0"/>
                  <a:sym typeface="Huawei Sans" panose="020C0503030203020204" pitchFamily="34" charset="0"/>
                </a:rPr>
                <a:t>-MPLS</a:t>
              </a:r>
              <a:endParaRPr lang="en-US" altLang="zh-CN" sz="2400" b="1" dirty="0">
                <a:solidFill>
                  <a:srgbClr val="00B050"/>
                </a:solidFill>
                <a:latin typeface="Huawei Sans" panose="020C0503030203020204" pitchFamily="34" charset="0"/>
                <a:ea typeface="方正兰亭黑简体" panose="02000000000000000000" pitchFamily="2" charset="-122"/>
                <a:cs typeface="Calibri" panose="020F0502020204030204" pitchFamily="34" charset="0"/>
                <a:sym typeface="Huawei Sans" panose="020C0503030203020204" pitchFamily="34" charset="0"/>
              </a:endParaRPr>
            </a:p>
            <a:p>
              <a:pPr algn="ctr" defTabSz="457200" fontAlgn="auto">
                <a:spcBef>
                  <a:spcPts val="0"/>
                </a:spcBef>
                <a:spcAft>
                  <a:spcPts val="0"/>
                </a:spcAft>
              </a:pP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在现有</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IP/MPLS</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网络上增量部署</a:t>
              </a:r>
              <a:endParaRPr lang="zh-CN" altLang="en-US" sz="1600" b="1" dirty="0">
                <a:solidFill>
                  <a:srgbClr val="00B050"/>
                </a:solidFill>
                <a:latin typeface="Huawei Sans" panose="020C0503030203020204" pitchFamily="34" charset="0"/>
                <a:ea typeface="方正兰亭黑简体" panose="02000000000000000000" pitchFamily="2" charset="-122"/>
                <a:cs typeface="Calibri" panose="020F0502020204030204" pitchFamily="34" charset="0"/>
                <a:sym typeface="Huawei Sans" panose="020C0503030203020204" pitchFamily="34" charset="0"/>
              </a:endParaRPr>
            </a:p>
          </p:txBody>
        </p:sp>
        <p:sp>
          <p:nvSpPr>
            <p:cNvPr id="79" name="左大括号 78"/>
            <p:cNvSpPr/>
            <p:nvPr/>
          </p:nvSpPr>
          <p:spPr bwMode="gray">
            <a:xfrm>
              <a:off x="7372735" y="3680512"/>
              <a:ext cx="353448" cy="2074106"/>
            </a:xfrm>
            <a:prstGeom prst="leftBrace">
              <a:avLst/>
            </a:prstGeom>
            <a:noFill/>
            <a:ln w="2857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tlCol="0" anchor="ctr"/>
            <a:lstStyle/>
            <a:p>
              <a:pPr algn="ctr"/>
              <a:endParaRPr lang="zh-CN" altLang="en-US" sz="16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3" name="标题 1"/>
            <p:cNvSpPr txBox="1"/>
            <p:nvPr/>
          </p:nvSpPr>
          <p:spPr bwMode="gray">
            <a:xfrm>
              <a:off x="8183220" y="2616497"/>
              <a:ext cx="3385154" cy="481444"/>
            </a:xfrm>
            <a:prstGeom prst="rect">
              <a:avLst/>
            </a:prstGeom>
          </p:spPr>
          <p:txBody>
            <a:bodyPr>
              <a:noAutofit/>
            </a:bodyPr>
            <a:lstStyle>
              <a:lvl1pPr marL="0" marR="0" indent="0" algn="l" defTabSz="1087755" rtl="0" eaLnBrk="1" fontAlgn="auto" latinLnBrk="0" hangingPunct="1">
                <a:lnSpc>
                  <a:spcPct val="100000"/>
                </a:lnSpc>
                <a:spcBef>
                  <a:spcPct val="0"/>
                </a:spcBef>
                <a:spcAft>
                  <a:spcPts val="0"/>
                </a:spcAft>
                <a:buClrTx/>
                <a:buSzTx/>
                <a:buFontTx/>
                <a:buNone/>
                <a:defRPr sz="2900" b="1">
                  <a:solidFill>
                    <a:srgbClr val="C00000"/>
                  </a:solidFill>
                  <a:latin typeface="微软雅黑" panose="020B0503020204020204" charset="-122"/>
                  <a:ea typeface="微软雅黑" panose="020B0503020204020204" charset="-122"/>
                  <a:cs typeface="+mj-cs"/>
                </a:defRPr>
              </a:lvl1pPr>
              <a:lvl2pPr algn="l" rtl="0" eaLnBrk="0" fontAlgn="base" hangingPunct="0">
                <a:spcBef>
                  <a:spcPct val="0"/>
                </a:spcBef>
                <a:spcAft>
                  <a:spcPct val="0"/>
                </a:spcAft>
                <a:defRPr sz="3330" b="1">
                  <a:solidFill>
                    <a:srgbClr val="990000"/>
                  </a:solidFill>
                  <a:latin typeface="FrutigerNext LT Medium" pitchFamily="34" charset="0"/>
                  <a:ea typeface="华文细黑" panose="02010600040101010101" pitchFamily="2" charset="-122"/>
                  <a:cs typeface="宋体" panose="02010600030101010101" pitchFamily="2" charset="-122"/>
                </a:defRPr>
              </a:lvl2pPr>
              <a:lvl3pPr algn="l" rtl="0" eaLnBrk="0" fontAlgn="base" hangingPunct="0">
                <a:spcBef>
                  <a:spcPct val="0"/>
                </a:spcBef>
                <a:spcAft>
                  <a:spcPct val="0"/>
                </a:spcAft>
                <a:defRPr sz="3330" b="1">
                  <a:solidFill>
                    <a:srgbClr val="990000"/>
                  </a:solidFill>
                  <a:latin typeface="FrutigerNext LT Medium" pitchFamily="34" charset="0"/>
                  <a:ea typeface="华文细黑" panose="02010600040101010101" pitchFamily="2" charset="-122"/>
                  <a:cs typeface="宋体" panose="02010600030101010101" pitchFamily="2" charset="-122"/>
                </a:defRPr>
              </a:lvl3pPr>
              <a:lvl4pPr algn="l" rtl="0" eaLnBrk="0" fontAlgn="base" hangingPunct="0">
                <a:spcBef>
                  <a:spcPct val="0"/>
                </a:spcBef>
                <a:spcAft>
                  <a:spcPct val="0"/>
                </a:spcAft>
                <a:defRPr sz="3330" b="1">
                  <a:solidFill>
                    <a:srgbClr val="990000"/>
                  </a:solidFill>
                  <a:latin typeface="FrutigerNext LT Medium" pitchFamily="34" charset="0"/>
                  <a:ea typeface="华文细黑" panose="02010600040101010101" pitchFamily="2" charset="-122"/>
                  <a:cs typeface="宋体" panose="02010600030101010101" pitchFamily="2" charset="-122"/>
                </a:defRPr>
              </a:lvl4pPr>
              <a:lvl5pPr algn="l" rtl="0" eaLnBrk="0" fontAlgn="base" hangingPunct="0">
                <a:spcBef>
                  <a:spcPct val="0"/>
                </a:spcBef>
                <a:spcAft>
                  <a:spcPct val="0"/>
                </a:spcAft>
                <a:defRPr sz="3330" b="1">
                  <a:solidFill>
                    <a:srgbClr val="990000"/>
                  </a:solidFill>
                  <a:latin typeface="FrutigerNext LT Medium" pitchFamily="34" charset="0"/>
                  <a:ea typeface="华文细黑" panose="02010600040101010101" pitchFamily="2" charset="-122"/>
                  <a:cs typeface="宋体" panose="02010600030101010101" pitchFamily="2" charset="-122"/>
                </a:defRPr>
              </a:lvl5pPr>
              <a:lvl6pPr marL="482600" algn="l" rtl="0" eaLnBrk="1" fontAlgn="base" hangingPunct="1">
                <a:spcBef>
                  <a:spcPct val="0"/>
                </a:spcBef>
                <a:spcAft>
                  <a:spcPct val="0"/>
                </a:spcAft>
                <a:defRPr sz="3330" b="1">
                  <a:solidFill>
                    <a:srgbClr val="990000"/>
                  </a:solidFill>
                  <a:latin typeface="FrutigerNext LT Medium" pitchFamily="34" charset="0"/>
                  <a:ea typeface="华文细黑" panose="02010600040101010101" pitchFamily="2" charset="-122"/>
                  <a:cs typeface="宋体" panose="02010600030101010101" pitchFamily="2" charset="-122"/>
                </a:defRPr>
              </a:lvl6pPr>
              <a:lvl7pPr marL="965835" algn="l" rtl="0" eaLnBrk="1" fontAlgn="base" hangingPunct="1">
                <a:spcBef>
                  <a:spcPct val="0"/>
                </a:spcBef>
                <a:spcAft>
                  <a:spcPct val="0"/>
                </a:spcAft>
                <a:defRPr sz="3330" b="1">
                  <a:solidFill>
                    <a:srgbClr val="990000"/>
                  </a:solidFill>
                  <a:latin typeface="FrutigerNext LT Medium" pitchFamily="34" charset="0"/>
                  <a:ea typeface="华文细黑" panose="02010600040101010101" pitchFamily="2" charset="-122"/>
                  <a:cs typeface="宋体" panose="02010600030101010101" pitchFamily="2" charset="-122"/>
                </a:defRPr>
              </a:lvl7pPr>
              <a:lvl8pPr marL="1448435" algn="l" rtl="0" eaLnBrk="1" fontAlgn="base" hangingPunct="1">
                <a:spcBef>
                  <a:spcPct val="0"/>
                </a:spcBef>
                <a:spcAft>
                  <a:spcPct val="0"/>
                </a:spcAft>
                <a:defRPr sz="3330" b="1">
                  <a:solidFill>
                    <a:srgbClr val="990000"/>
                  </a:solidFill>
                  <a:latin typeface="FrutigerNext LT Medium" pitchFamily="34" charset="0"/>
                  <a:ea typeface="华文细黑" panose="02010600040101010101" pitchFamily="2" charset="-122"/>
                  <a:cs typeface="宋体" panose="02010600030101010101" pitchFamily="2" charset="-122"/>
                </a:defRPr>
              </a:lvl8pPr>
              <a:lvl9pPr marL="1931035" algn="l" rtl="0" eaLnBrk="1" fontAlgn="base" hangingPunct="1">
                <a:spcBef>
                  <a:spcPct val="0"/>
                </a:spcBef>
                <a:spcAft>
                  <a:spcPct val="0"/>
                </a:spcAft>
                <a:defRPr sz="3330" b="1">
                  <a:solidFill>
                    <a:srgbClr val="990000"/>
                  </a:solidFill>
                  <a:latin typeface="FrutigerNext LT Medium" pitchFamily="34" charset="0"/>
                  <a:ea typeface="华文细黑" panose="02010600040101010101" pitchFamily="2" charset="-122"/>
                  <a:cs typeface="宋体" panose="02010600030101010101" pitchFamily="2" charset="-122"/>
                </a:defRPr>
              </a:lvl9pPr>
            </a:lstStyle>
            <a:p>
              <a:pPr marL="456565" lvl="1" defTabSz="798195" eaLnBrk="1" hangingPunct="1">
                <a:lnSpc>
                  <a:spcPts val="3585"/>
                </a:lnSpc>
                <a:buClr>
                  <a:srgbClr val="CC9900"/>
                </a:buClr>
                <a:defRPr/>
              </a:pPr>
              <a:r>
                <a:rPr lang="zh-CN" altLang="en-US" sz="1800" dirty="0">
                  <a:solidFill>
                    <a:srgbClr val="C00000"/>
                  </a:solidFill>
                  <a:latin typeface="Huawei Sans" panose="020C0503030203020204" pitchFamily="34" charset="0"/>
                  <a:ea typeface="方正兰亭黑简体" panose="02000000000000000000" pitchFamily="2" charset="-122"/>
                  <a:cs typeface="Calibri" panose="020F0502020204030204" pitchFamily="34" charset="0"/>
                  <a:sym typeface="Huawei Sans" panose="020C0503030203020204" pitchFamily="34" charset="0"/>
                </a:rPr>
                <a:t>解决方案</a:t>
              </a:r>
              <a:endParaRPr lang="zh-CN" altLang="en-US" sz="1800" dirty="0">
                <a:solidFill>
                  <a:srgbClr val="C00000"/>
                </a:solidFill>
                <a:latin typeface="Huawei Sans" panose="020C0503030203020204" pitchFamily="34" charset="0"/>
                <a:ea typeface="方正兰亭黑简体" panose="02000000000000000000" pitchFamily="2" charset="-122"/>
                <a:cs typeface="Calibri" panose="020F0502020204030204" pitchFamily="34" charset="0"/>
                <a:sym typeface="Huawei Sans" panose="020C0503030203020204" pitchFamily="34" charset="0"/>
              </a:endParaRPr>
            </a:p>
          </p:txBody>
        </p:sp>
        <p:sp>
          <p:nvSpPr>
            <p:cNvPr id="91" name="圆角矩形 80"/>
            <p:cNvSpPr/>
            <p:nvPr/>
          </p:nvSpPr>
          <p:spPr bwMode="gray">
            <a:xfrm>
              <a:off x="2617971" y="3491200"/>
              <a:ext cx="932713" cy="307939"/>
            </a:xfrm>
            <a:prstGeom prst="roundRect">
              <a:avLst/>
            </a:prstGeom>
            <a:solidFill>
              <a:srgbClr val="ED6D00"/>
            </a:solidFill>
            <a:ln w="38100" cap="flat" cmpd="sng" algn="ctr">
              <a:noFill/>
              <a:prstDash val="solid"/>
            </a:ln>
            <a:effectLst>
              <a:glow rad="63500">
                <a:srgbClr val="C17529">
                  <a:tint val="30000"/>
                  <a:shade val="95000"/>
                  <a:satMod val="300000"/>
                  <a:alpha val="50000"/>
                </a:srgbClr>
              </a:glow>
            </a:effectLst>
          </p:spPr>
          <p:txBody>
            <a:bodyPr vert="horz" wrap="square" lIns="68580" tIns="34290" rIns="68580" bIns="34290" numCol="1" rtlCol="0" anchor="ctr" anchorCtr="0" compatLnSpc="1"/>
            <a:lstStyle/>
            <a:p>
              <a:pPr marL="0" marR="0" lvl="0" indent="0" algn="ctr" defTabSz="914400" eaLnBrk="1" fontAlgn="auto" latinLnBrk="0" hangingPunct="1">
                <a:lnSpc>
                  <a:spcPct val="100000"/>
                </a:lnSpc>
                <a:spcBef>
                  <a:spcPts val="0"/>
                </a:spcBef>
                <a:spcAft>
                  <a:spcPts val="0"/>
                </a:spcAft>
                <a:buClr>
                  <a:srgbClr val="CC9900"/>
                </a:buClr>
                <a:buSzTx/>
                <a:buFontTx/>
                <a:buNone/>
                <a:defRPr/>
              </a:pPr>
              <a:r>
                <a:rPr kumimoji="0" lang="en-US" altLang="zh-CN" sz="1500" b="0"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IP</a:t>
              </a:r>
              <a:endParaRPr kumimoji="0" lang="en-US" altLang="zh-CN" sz="1500" b="0"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93" name="圆角矩形 81"/>
            <p:cNvSpPr/>
            <p:nvPr/>
          </p:nvSpPr>
          <p:spPr bwMode="gray">
            <a:xfrm>
              <a:off x="2617971" y="4363044"/>
              <a:ext cx="921902" cy="307939"/>
            </a:xfrm>
            <a:prstGeom prst="roundRect">
              <a:avLst/>
            </a:prstGeom>
            <a:solidFill>
              <a:srgbClr val="ED6D00"/>
            </a:solidFill>
            <a:ln w="38100" cap="flat" cmpd="sng" algn="ctr">
              <a:noFill/>
              <a:prstDash val="solid"/>
            </a:ln>
            <a:effectLst>
              <a:glow rad="63500">
                <a:srgbClr val="C17529">
                  <a:tint val="30000"/>
                  <a:shade val="95000"/>
                  <a:satMod val="300000"/>
                  <a:alpha val="50000"/>
                </a:srgbClr>
              </a:glow>
            </a:effectLst>
          </p:spPr>
          <p:txBody>
            <a:bodyPr vert="horz" wrap="square" lIns="68580" tIns="34290" rIns="68580" bIns="34290" numCol="1" rtlCol="0" anchor="ctr" anchorCtr="0" compatLnSpc="1"/>
            <a:lstStyle/>
            <a:p>
              <a:pPr marL="0" marR="0" lvl="0" indent="0" algn="ctr" defTabSz="914400" eaLnBrk="1" fontAlgn="auto" latinLnBrk="0" hangingPunct="1">
                <a:lnSpc>
                  <a:spcPct val="100000"/>
                </a:lnSpc>
                <a:spcBef>
                  <a:spcPts val="0"/>
                </a:spcBef>
                <a:spcAft>
                  <a:spcPts val="0"/>
                </a:spcAft>
                <a:buClr>
                  <a:srgbClr val="CC9900"/>
                </a:buClr>
                <a:buSzTx/>
                <a:buFontTx/>
                <a:buNone/>
                <a:defRPr/>
              </a:pPr>
              <a:r>
                <a:rPr kumimoji="0" lang="en-US" altLang="zh-CN" sz="1500" b="0"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LDP</a:t>
              </a:r>
              <a:endParaRPr kumimoji="0" lang="en-US" altLang="zh-CN" sz="1500" b="0"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94" name="圆角矩形 82"/>
            <p:cNvSpPr/>
            <p:nvPr/>
          </p:nvSpPr>
          <p:spPr bwMode="gray">
            <a:xfrm>
              <a:off x="2617971" y="5234888"/>
              <a:ext cx="921902" cy="307939"/>
            </a:xfrm>
            <a:prstGeom prst="roundRect">
              <a:avLst/>
            </a:prstGeom>
            <a:solidFill>
              <a:srgbClr val="ED6D00"/>
            </a:solidFill>
            <a:ln w="38100" cap="flat" cmpd="sng" algn="ctr">
              <a:noFill/>
              <a:prstDash val="solid"/>
            </a:ln>
            <a:effectLst>
              <a:glow rad="63500">
                <a:srgbClr val="C17529">
                  <a:tint val="30000"/>
                  <a:shade val="95000"/>
                  <a:satMod val="300000"/>
                  <a:alpha val="50000"/>
                </a:srgbClr>
              </a:glow>
            </a:effectLst>
          </p:spPr>
          <p:txBody>
            <a:bodyPr vert="horz" wrap="square" lIns="68580" tIns="34290" rIns="68580" bIns="34290" numCol="1" rtlCol="0" anchor="ctr" anchorCtr="0" compatLnSpc="1"/>
            <a:lstStyle/>
            <a:p>
              <a:pPr marL="0" marR="0" lvl="0" indent="0" algn="ctr" defTabSz="914400" eaLnBrk="1" fontAlgn="auto" latinLnBrk="0" hangingPunct="1">
                <a:lnSpc>
                  <a:spcPct val="100000"/>
                </a:lnSpc>
                <a:spcBef>
                  <a:spcPts val="0"/>
                </a:spcBef>
                <a:spcAft>
                  <a:spcPts val="0"/>
                </a:spcAft>
                <a:buClr>
                  <a:srgbClr val="CC9900"/>
                </a:buClr>
                <a:buSzTx/>
                <a:buFontTx/>
                <a:buNone/>
                <a:defRPr/>
              </a:pPr>
              <a:r>
                <a:rPr kumimoji="0" lang="en-US" altLang="zh-CN" sz="1500" b="0"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RSVP-TE</a:t>
              </a:r>
              <a:endParaRPr kumimoji="0" lang="en-US" altLang="zh-CN" sz="1500" b="0"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95" name="圆角矩形 83"/>
            <p:cNvSpPr/>
            <p:nvPr/>
          </p:nvSpPr>
          <p:spPr bwMode="gray">
            <a:xfrm>
              <a:off x="999670" y="3314752"/>
              <a:ext cx="1023033" cy="307939"/>
            </a:xfrm>
            <a:prstGeom prst="roundRect">
              <a:avLst/>
            </a:prstGeom>
            <a:solidFill>
              <a:srgbClr val="30B5C5"/>
            </a:solidFill>
            <a:ln w="38100" cap="flat" cmpd="sng" algn="ctr">
              <a:noFill/>
              <a:prstDash val="solid"/>
            </a:ln>
            <a:effectLst>
              <a:glow rad="63500">
                <a:srgbClr val="C17529">
                  <a:tint val="30000"/>
                  <a:shade val="95000"/>
                  <a:satMod val="300000"/>
                  <a:alpha val="50000"/>
                </a:srgbClr>
              </a:glow>
            </a:effectLst>
          </p:spPr>
          <p:txBody>
            <a:bodyPr vert="horz" wrap="square" lIns="68580" tIns="34290" rIns="68580" bIns="34290" numCol="1" rtlCol="0" anchor="ctr" anchorCtr="0" compatLnSpc="1"/>
            <a:lstStyle/>
            <a:p>
              <a:pPr marL="0" marR="0" lvl="0" indent="0" algn="ctr" defTabSz="914400" eaLnBrk="1" fontAlgn="auto" latinLnBrk="0" hangingPunct="1">
                <a:lnSpc>
                  <a:spcPct val="100000"/>
                </a:lnSpc>
                <a:spcBef>
                  <a:spcPts val="0"/>
                </a:spcBef>
                <a:spcAft>
                  <a:spcPts val="0"/>
                </a:spcAft>
                <a:buClr>
                  <a:srgbClr val="CC9900"/>
                </a:buClr>
                <a:buSzTx/>
                <a:buFontTx/>
                <a:buNone/>
                <a:defRPr/>
              </a:pPr>
              <a:r>
                <a:rPr kumimoji="0" lang="en-US" altLang="zh-CN" sz="1500" b="0"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ECMP</a:t>
              </a:r>
              <a:endParaRPr kumimoji="0" lang="en-US" altLang="zh-CN" sz="1500" b="0"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00" name="圆角矩形 84"/>
            <p:cNvSpPr/>
            <p:nvPr/>
          </p:nvSpPr>
          <p:spPr bwMode="gray">
            <a:xfrm>
              <a:off x="999670" y="4394260"/>
              <a:ext cx="1023033" cy="307939"/>
            </a:xfrm>
            <a:prstGeom prst="roundRect">
              <a:avLst/>
            </a:prstGeom>
            <a:solidFill>
              <a:srgbClr val="30B5C5"/>
            </a:solidFill>
            <a:ln w="38100" cap="flat" cmpd="sng" algn="ctr">
              <a:noFill/>
              <a:prstDash val="solid"/>
            </a:ln>
            <a:effectLst>
              <a:glow rad="63500">
                <a:srgbClr val="C17529">
                  <a:tint val="30000"/>
                  <a:shade val="95000"/>
                  <a:satMod val="300000"/>
                  <a:alpha val="50000"/>
                </a:srgbClr>
              </a:glow>
            </a:effectLst>
          </p:spPr>
          <p:txBody>
            <a:bodyPr vert="horz" wrap="square" lIns="68580" tIns="34290" rIns="68580" bIns="34290" numCol="1" rtlCol="0" anchor="ctr" anchorCtr="0" compatLnSpc="1"/>
            <a:lstStyle/>
            <a:p>
              <a:pPr marL="0" marR="0" lvl="0" indent="0" algn="ctr" defTabSz="914400" eaLnBrk="1" fontAlgn="auto" latinLnBrk="0" hangingPunct="1">
                <a:lnSpc>
                  <a:spcPct val="100000"/>
                </a:lnSpc>
                <a:spcBef>
                  <a:spcPts val="0"/>
                </a:spcBef>
                <a:spcAft>
                  <a:spcPts val="0"/>
                </a:spcAft>
                <a:buClr>
                  <a:srgbClr val="CC9900"/>
                </a:buClr>
                <a:buSzTx/>
                <a:buFontTx/>
                <a:buNone/>
                <a:defRPr/>
              </a:pPr>
              <a:r>
                <a:rPr kumimoji="0" lang="zh-CN" altLang="en-US" sz="1500" b="0"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标签转发</a:t>
              </a:r>
              <a:endParaRPr kumimoji="0" lang="en-US" altLang="zh-CN" sz="1500" b="0"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01" name="圆角矩形 86"/>
            <p:cNvSpPr/>
            <p:nvPr/>
          </p:nvSpPr>
          <p:spPr bwMode="gray">
            <a:xfrm>
              <a:off x="999670" y="4934014"/>
              <a:ext cx="1023033" cy="307939"/>
            </a:xfrm>
            <a:prstGeom prst="roundRect">
              <a:avLst/>
            </a:prstGeom>
            <a:solidFill>
              <a:srgbClr val="30B5C5"/>
            </a:solidFill>
            <a:ln w="38100" cap="flat" cmpd="sng" algn="ctr">
              <a:noFill/>
              <a:prstDash val="solid"/>
            </a:ln>
            <a:effectLst>
              <a:glow rad="63500">
                <a:srgbClr val="C17529">
                  <a:tint val="30000"/>
                  <a:shade val="95000"/>
                  <a:satMod val="300000"/>
                  <a:alpha val="50000"/>
                </a:srgbClr>
              </a:glow>
            </a:effectLst>
          </p:spPr>
          <p:txBody>
            <a:bodyPr vert="horz" wrap="square" lIns="68580" tIns="34290" rIns="68580" bIns="34290" numCol="1" rtlCol="0" anchor="ctr" anchorCtr="0" compatLnSpc="1"/>
            <a:lstStyle/>
            <a:p>
              <a:pPr marL="0" marR="0" lvl="0" indent="0" algn="ctr" defTabSz="914400" eaLnBrk="1" fontAlgn="auto" latinLnBrk="0" hangingPunct="1">
                <a:lnSpc>
                  <a:spcPct val="100000"/>
                </a:lnSpc>
                <a:spcBef>
                  <a:spcPts val="0"/>
                </a:spcBef>
                <a:spcAft>
                  <a:spcPts val="0"/>
                </a:spcAft>
                <a:buClr>
                  <a:srgbClr val="CC9900"/>
                </a:buClr>
                <a:buSzTx/>
                <a:buFontTx/>
                <a:buNone/>
                <a:defRPr/>
              </a:pPr>
              <a:r>
                <a:rPr kumimoji="0" lang="zh-CN" altLang="en-US" sz="1500" b="0"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带宽预留</a:t>
              </a:r>
              <a:endParaRPr kumimoji="0" lang="en-US" altLang="zh-CN" sz="1500" b="0"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02" name="圆角矩形 87"/>
            <p:cNvSpPr/>
            <p:nvPr/>
          </p:nvSpPr>
          <p:spPr bwMode="gray">
            <a:xfrm>
              <a:off x="999670" y="5473766"/>
              <a:ext cx="1023033" cy="307939"/>
            </a:xfrm>
            <a:prstGeom prst="roundRect">
              <a:avLst/>
            </a:prstGeom>
            <a:solidFill>
              <a:srgbClr val="30B5C5"/>
            </a:solidFill>
            <a:ln w="38100" cap="flat" cmpd="sng" algn="ctr">
              <a:noFill/>
              <a:prstDash val="solid"/>
            </a:ln>
            <a:effectLst>
              <a:glow rad="63500">
                <a:srgbClr val="C17529">
                  <a:tint val="30000"/>
                  <a:shade val="95000"/>
                  <a:satMod val="300000"/>
                  <a:alpha val="50000"/>
                </a:srgbClr>
              </a:glow>
            </a:effectLst>
          </p:spPr>
          <p:txBody>
            <a:bodyPr vert="horz" wrap="square" lIns="68580" tIns="34290" rIns="68580" bIns="34290" numCol="1" rtlCol="0" anchor="ctr" anchorCtr="0" compatLnSpc="1"/>
            <a:lstStyle/>
            <a:p>
              <a:pPr marL="0" marR="0" lvl="0" indent="0" algn="ctr" defTabSz="914400" eaLnBrk="1" fontAlgn="auto" latinLnBrk="0" hangingPunct="1">
                <a:lnSpc>
                  <a:spcPct val="100000"/>
                </a:lnSpc>
                <a:spcBef>
                  <a:spcPts val="0"/>
                </a:spcBef>
                <a:spcAft>
                  <a:spcPts val="0"/>
                </a:spcAft>
                <a:buClr>
                  <a:srgbClr val="CC9900"/>
                </a:buClr>
                <a:buSzTx/>
                <a:buFontTx/>
                <a:buNone/>
                <a:defRPr/>
              </a:pPr>
              <a:r>
                <a:rPr kumimoji="0" lang="zh-CN" altLang="en-US" sz="1500" b="0"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路径规划</a:t>
              </a:r>
              <a:endParaRPr kumimoji="0" lang="en-US" altLang="zh-CN" sz="1500" b="0"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cxnSp>
          <p:nvCxnSpPr>
            <p:cNvPr id="103" name="直接连接符 102"/>
            <p:cNvCxnSpPr>
              <a:stCxn id="91" idx="1"/>
              <a:endCxn id="95" idx="3"/>
            </p:cNvCxnSpPr>
            <p:nvPr/>
          </p:nvCxnSpPr>
          <p:spPr bwMode="gray">
            <a:xfrm flipH="1" flipV="1">
              <a:off x="2022703" y="3468722"/>
              <a:ext cx="595268" cy="176448"/>
            </a:xfrm>
            <a:prstGeom prst="line">
              <a:avLst/>
            </a:prstGeom>
            <a:noFill/>
            <a:ln w="25400" cap="flat" cmpd="sng" algn="ctr">
              <a:solidFill>
                <a:srgbClr val="0070C0"/>
              </a:solidFill>
              <a:prstDash val="solid"/>
              <a:round/>
              <a:headEnd type="oval" w="med" len="med"/>
              <a:tailEnd type="oval"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4" name="直接连接符 103"/>
            <p:cNvCxnSpPr>
              <a:stCxn id="93" idx="1"/>
              <a:endCxn id="95" idx="3"/>
            </p:cNvCxnSpPr>
            <p:nvPr/>
          </p:nvCxnSpPr>
          <p:spPr bwMode="gray">
            <a:xfrm flipH="1" flipV="1">
              <a:off x="2022703" y="3468722"/>
              <a:ext cx="595268" cy="1048292"/>
            </a:xfrm>
            <a:prstGeom prst="line">
              <a:avLst/>
            </a:prstGeom>
            <a:noFill/>
            <a:ln w="25400" cap="flat" cmpd="sng" algn="ctr">
              <a:solidFill>
                <a:srgbClr val="0070C0"/>
              </a:solidFill>
              <a:prstDash val="solid"/>
              <a:round/>
              <a:headEnd type="oval" w="med" len="med"/>
              <a:tailEnd type="oval"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5" name="直接连接符 104"/>
            <p:cNvCxnSpPr>
              <a:stCxn id="93" idx="1"/>
              <a:endCxn id="100" idx="3"/>
            </p:cNvCxnSpPr>
            <p:nvPr/>
          </p:nvCxnSpPr>
          <p:spPr bwMode="gray">
            <a:xfrm flipH="1">
              <a:off x="2022703" y="4517014"/>
              <a:ext cx="595268" cy="31216"/>
            </a:xfrm>
            <a:prstGeom prst="line">
              <a:avLst/>
            </a:prstGeom>
            <a:noFill/>
            <a:ln w="25400" cap="flat" cmpd="sng" algn="ctr">
              <a:solidFill>
                <a:srgbClr val="0070C0"/>
              </a:solidFill>
              <a:prstDash val="solid"/>
              <a:round/>
              <a:headEnd type="oval" w="med" len="med"/>
              <a:tailEnd type="oval"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6" name="直接连接符 105"/>
            <p:cNvCxnSpPr>
              <a:stCxn id="94" idx="1"/>
              <a:endCxn id="101" idx="3"/>
            </p:cNvCxnSpPr>
            <p:nvPr/>
          </p:nvCxnSpPr>
          <p:spPr bwMode="gray">
            <a:xfrm flipH="1" flipV="1">
              <a:off x="2022703" y="5087983"/>
              <a:ext cx="595268" cy="300874"/>
            </a:xfrm>
            <a:prstGeom prst="line">
              <a:avLst/>
            </a:prstGeom>
            <a:noFill/>
            <a:ln w="25400" cap="flat" cmpd="sng" algn="ctr">
              <a:solidFill>
                <a:srgbClr val="0070C0"/>
              </a:solidFill>
              <a:prstDash val="solid"/>
              <a:round/>
              <a:headEnd type="oval" w="med" len="med"/>
              <a:tailEnd type="oval"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7" name="直接连接符 106"/>
            <p:cNvCxnSpPr>
              <a:stCxn id="94" idx="1"/>
              <a:endCxn id="102" idx="3"/>
            </p:cNvCxnSpPr>
            <p:nvPr/>
          </p:nvCxnSpPr>
          <p:spPr bwMode="gray">
            <a:xfrm flipH="1">
              <a:off x="2022703" y="5388857"/>
              <a:ext cx="595268" cy="238878"/>
            </a:xfrm>
            <a:prstGeom prst="line">
              <a:avLst/>
            </a:prstGeom>
            <a:noFill/>
            <a:ln w="25400" cap="flat" cmpd="sng" algn="ctr">
              <a:solidFill>
                <a:srgbClr val="0070C0"/>
              </a:solidFill>
              <a:prstDash val="solid"/>
              <a:round/>
              <a:headEnd type="oval" w="med" len="med"/>
              <a:tailEnd type="oval"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8" name="圆角矩形 94"/>
            <p:cNvSpPr/>
            <p:nvPr/>
          </p:nvSpPr>
          <p:spPr bwMode="gray">
            <a:xfrm>
              <a:off x="4264255" y="3389118"/>
              <a:ext cx="1690155" cy="410021"/>
            </a:xfrm>
            <a:prstGeom prst="roundRect">
              <a:avLst/>
            </a:prstGeom>
            <a:solidFill>
              <a:srgbClr val="7F0001"/>
            </a:solidFill>
            <a:ln w="38100" cap="flat" cmpd="sng" algn="ctr">
              <a:noFill/>
              <a:prstDash val="solid"/>
            </a:ln>
            <a:effectLst>
              <a:glow rad="63500">
                <a:srgbClr val="C17529">
                  <a:tint val="30000"/>
                  <a:shade val="95000"/>
                  <a:satMod val="300000"/>
                  <a:alpha val="50000"/>
                </a:srgbClr>
              </a:glow>
            </a:effectLst>
          </p:spPr>
          <p:txBody>
            <a:bodyPr vert="horz" wrap="square" lIns="68580" tIns="34290" rIns="68580" bIns="34290" numCol="1" rtlCol="0" anchor="ctr" anchorCtr="0" compatLnSpc="1"/>
            <a:lstStyle/>
            <a:p>
              <a:pPr marL="0" marR="0" lvl="0" indent="0" algn="ctr" defTabSz="914400" eaLnBrk="1" fontAlgn="auto" latinLnBrk="0" hangingPunct="1">
                <a:lnSpc>
                  <a:spcPct val="100000"/>
                </a:lnSpc>
                <a:spcBef>
                  <a:spcPts val="0"/>
                </a:spcBef>
                <a:spcAft>
                  <a:spcPts val="0"/>
                </a:spcAft>
                <a:buClr>
                  <a:srgbClr val="CC9900"/>
                </a:buClr>
                <a:buSzTx/>
                <a:buFontTx/>
                <a:buNone/>
                <a:defRPr/>
              </a:pPr>
              <a:r>
                <a:rPr kumimoji="0" lang="zh-CN" altLang="en-US" sz="1400" b="0"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缺乏路径规划能力</a:t>
              </a:r>
              <a:endParaRPr kumimoji="0" lang="en-US" altLang="zh-CN" sz="1400" b="0"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cxnSp>
          <p:nvCxnSpPr>
            <p:cNvPr id="109" name="直接连接符 108"/>
            <p:cNvCxnSpPr>
              <a:stCxn id="108" idx="1"/>
              <a:endCxn id="91" idx="3"/>
            </p:cNvCxnSpPr>
            <p:nvPr/>
          </p:nvCxnSpPr>
          <p:spPr bwMode="gray">
            <a:xfrm flipH="1">
              <a:off x="3550684" y="3594129"/>
              <a:ext cx="713571" cy="51041"/>
            </a:xfrm>
            <a:prstGeom prst="line">
              <a:avLst/>
            </a:prstGeom>
            <a:noFill/>
            <a:ln w="25400" cap="flat" cmpd="sng" algn="ctr">
              <a:solidFill>
                <a:srgbClr val="0070C0"/>
              </a:solidFill>
              <a:prstDash val="solid"/>
              <a:round/>
              <a:headEnd type="oval" w="med" len="med"/>
              <a:tailEnd type="oval"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0" name="直接连接符 109"/>
            <p:cNvCxnSpPr>
              <a:stCxn id="108" idx="1"/>
              <a:endCxn id="93" idx="3"/>
            </p:cNvCxnSpPr>
            <p:nvPr/>
          </p:nvCxnSpPr>
          <p:spPr bwMode="gray">
            <a:xfrm flipH="1">
              <a:off x="3539874" y="3594129"/>
              <a:ext cx="724381" cy="922885"/>
            </a:xfrm>
            <a:prstGeom prst="line">
              <a:avLst/>
            </a:prstGeom>
            <a:noFill/>
            <a:ln w="25400" cap="flat" cmpd="sng" algn="ctr">
              <a:solidFill>
                <a:srgbClr val="0070C0"/>
              </a:solidFill>
              <a:prstDash val="solid"/>
              <a:round/>
              <a:headEnd type="oval" w="med" len="med"/>
              <a:tailEnd type="oval"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1" name="圆角矩形 97"/>
            <p:cNvSpPr/>
            <p:nvPr/>
          </p:nvSpPr>
          <p:spPr bwMode="gray">
            <a:xfrm>
              <a:off x="4281661" y="4976423"/>
              <a:ext cx="1681980" cy="388282"/>
            </a:xfrm>
            <a:prstGeom prst="roundRect">
              <a:avLst/>
            </a:prstGeom>
            <a:solidFill>
              <a:srgbClr val="7F0001"/>
            </a:solidFill>
            <a:ln w="38100" cap="flat" cmpd="sng" algn="ctr">
              <a:noFill/>
              <a:prstDash val="solid"/>
            </a:ln>
            <a:effectLst>
              <a:glow rad="63500">
                <a:srgbClr val="C17529">
                  <a:tint val="30000"/>
                  <a:shade val="95000"/>
                  <a:satMod val="300000"/>
                  <a:alpha val="50000"/>
                </a:srgbClr>
              </a:glow>
            </a:effectLst>
          </p:spPr>
          <p:txBody>
            <a:bodyPr vert="horz" wrap="square" lIns="68580" tIns="34290" rIns="68580" bIns="34290" numCol="1" rtlCol="0" anchor="ctr" anchorCtr="0" compatLnSpc="1"/>
            <a:lstStyle/>
            <a:p>
              <a:pPr marL="0" marR="0" lvl="0" indent="0" algn="ctr" defTabSz="914400" eaLnBrk="1" fontAlgn="auto" latinLnBrk="0" hangingPunct="1">
                <a:lnSpc>
                  <a:spcPct val="100000"/>
                </a:lnSpc>
                <a:spcBef>
                  <a:spcPts val="0"/>
                </a:spcBef>
                <a:spcAft>
                  <a:spcPts val="0"/>
                </a:spcAft>
                <a:buClr>
                  <a:srgbClr val="CC9900"/>
                </a:buClr>
                <a:buSzTx/>
                <a:buFontTx/>
                <a:buNone/>
                <a:defRPr/>
              </a:pPr>
              <a:r>
                <a:rPr kumimoji="0" lang="zh-CN" altLang="en-US" sz="1400" b="0"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配置</a:t>
              </a:r>
              <a:r>
                <a:rPr kumimoji="0" lang="en-US" altLang="zh-CN" sz="1400" b="0"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a:t>
              </a:r>
              <a:r>
                <a:rPr kumimoji="0" lang="zh-CN" altLang="en-US" sz="1400" b="0"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维护复杂</a:t>
              </a:r>
              <a:endParaRPr kumimoji="0" lang="en-US" altLang="zh-CN" sz="1400" b="0"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12" name="圆角矩形 98"/>
            <p:cNvSpPr/>
            <p:nvPr/>
          </p:nvSpPr>
          <p:spPr bwMode="gray">
            <a:xfrm>
              <a:off x="4264254" y="4436567"/>
              <a:ext cx="1681980" cy="388282"/>
            </a:xfrm>
            <a:prstGeom prst="roundRect">
              <a:avLst/>
            </a:prstGeom>
            <a:solidFill>
              <a:srgbClr val="7F0001"/>
            </a:solidFill>
            <a:ln w="38100" cap="flat" cmpd="sng" algn="ctr">
              <a:noFill/>
              <a:prstDash val="solid"/>
            </a:ln>
            <a:effectLst>
              <a:glow rad="63500">
                <a:srgbClr val="C17529">
                  <a:tint val="30000"/>
                  <a:shade val="95000"/>
                  <a:satMod val="300000"/>
                  <a:alpha val="50000"/>
                </a:srgbClr>
              </a:glow>
            </a:effectLst>
          </p:spPr>
          <p:txBody>
            <a:bodyPr vert="horz" wrap="square" lIns="68580" tIns="34290" rIns="68580" bIns="34290" numCol="1" rtlCol="0" anchor="ctr" anchorCtr="0" compatLnSpc="1"/>
            <a:lstStyle/>
            <a:p>
              <a:pPr marL="0" marR="0" lvl="0" indent="0" algn="ctr" defTabSz="914400" eaLnBrk="1" fontAlgn="auto" latinLnBrk="0" hangingPunct="1">
                <a:lnSpc>
                  <a:spcPct val="100000"/>
                </a:lnSpc>
                <a:spcBef>
                  <a:spcPts val="0"/>
                </a:spcBef>
                <a:spcAft>
                  <a:spcPts val="0"/>
                </a:spcAft>
                <a:buClr>
                  <a:srgbClr val="CC9900"/>
                </a:buClr>
                <a:buSzTx/>
                <a:buFontTx/>
                <a:buNone/>
                <a:defRPr/>
              </a:pPr>
              <a:r>
                <a:rPr kumimoji="0" lang="zh-CN" altLang="en-US" sz="1400" b="0"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缺乏负载分担能力</a:t>
              </a:r>
              <a:endParaRPr kumimoji="0" lang="en-US" altLang="zh-CN" sz="1400" b="0"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31" name="圆角矩形 99"/>
            <p:cNvSpPr/>
            <p:nvPr/>
          </p:nvSpPr>
          <p:spPr bwMode="gray">
            <a:xfrm>
              <a:off x="4281661" y="5491785"/>
              <a:ext cx="1681980" cy="388282"/>
            </a:xfrm>
            <a:prstGeom prst="roundRect">
              <a:avLst/>
            </a:prstGeom>
            <a:solidFill>
              <a:srgbClr val="7F0001"/>
            </a:solidFill>
            <a:ln w="38100" cap="flat" cmpd="sng" algn="ctr">
              <a:noFill/>
              <a:prstDash val="solid"/>
            </a:ln>
            <a:effectLst>
              <a:glow rad="63500">
                <a:srgbClr val="C17529">
                  <a:tint val="30000"/>
                  <a:shade val="95000"/>
                  <a:satMod val="300000"/>
                  <a:alpha val="50000"/>
                </a:srgbClr>
              </a:glow>
            </a:effectLst>
          </p:spPr>
          <p:txBody>
            <a:bodyPr vert="horz" wrap="square" lIns="68580" tIns="34290" rIns="68580" bIns="34290" numCol="1" rtlCol="0" anchor="ctr" anchorCtr="0" compatLnSpc="1"/>
            <a:lstStyle/>
            <a:p>
              <a:pPr marL="0" marR="0" lvl="0" indent="0" algn="ctr" defTabSz="914400" eaLnBrk="1" fontAlgn="auto" latinLnBrk="0" hangingPunct="1">
                <a:lnSpc>
                  <a:spcPct val="100000"/>
                </a:lnSpc>
                <a:spcBef>
                  <a:spcPts val="0"/>
                </a:spcBef>
                <a:spcAft>
                  <a:spcPts val="0"/>
                </a:spcAft>
                <a:buClr>
                  <a:srgbClr val="CC9900"/>
                </a:buClr>
                <a:buSzTx/>
                <a:buFontTx/>
                <a:buNone/>
                <a:defRPr/>
              </a:pPr>
              <a:r>
                <a:rPr kumimoji="0" lang="zh-CN" altLang="en-US" sz="1400" b="0"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规模部署问题</a:t>
              </a:r>
              <a:endParaRPr kumimoji="0" lang="en-US" altLang="zh-CN" sz="1400" b="0"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cxnSp>
          <p:nvCxnSpPr>
            <p:cNvPr id="132" name="直接连接符 131"/>
            <p:cNvCxnSpPr>
              <a:stCxn id="112" idx="1"/>
              <a:endCxn id="94" idx="3"/>
            </p:cNvCxnSpPr>
            <p:nvPr/>
          </p:nvCxnSpPr>
          <p:spPr bwMode="gray">
            <a:xfrm flipH="1">
              <a:off x="3539874" y="4630709"/>
              <a:ext cx="724380" cy="758148"/>
            </a:xfrm>
            <a:prstGeom prst="line">
              <a:avLst/>
            </a:prstGeom>
            <a:noFill/>
            <a:ln w="25400" cap="flat" cmpd="sng" algn="ctr">
              <a:solidFill>
                <a:srgbClr val="0070C0"/>
              </a:solidFill>
              <a:prstDash val="solid"/>
              <a:round/>
              <a:headEnd type="oval" w="med" len="med"/>
              <a:tailEnd type="oval"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3" name="直接连接符 132"/>
            <p:cNvCxnSpPr>
              <a:stCxn id="111" idx="1"/>
              <a:endCxn id="94" idx="3"/>
            </p:cNvCxnSpPr>
            <p:nvPr/>
          </p:nvCxnSpPr>
          <p:spPr bwMode="gray">
            <a:xfrm flipH="1">
              <a:off x="3539874" y="5170565"/>
              <a:ext cx="741787" cy="218293"/>
            </a:xfrm>
            <a:prstGeom prst="line">
              <a:avLst/>
            </a:prstGeom>
            <a:noFill/>
            <a:ln w="25400" cap="flat" cmpd="sng" algn="ctr">
              <a:solidFill>
                <a:srgbClr val="0070C0"/>
              </a:solidFill>
              <a:prstDash val="solid"/>
              <a:round/>
              <a:headEnd type="oval" w="med" len="med"/>
              <a:tailEnd type="oval"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4" name="直接连接符 133"/>
            <p:cNvCxnSpPr>
              <a:stCxn id="131" idx="1"/>
              <a:endCxn id="94" idx="3"/>
            </p:cNvCxnSpPr>
            <p:nvPr/>
          </p:nvCxnSpPr>
          <p:spPr bwMode="gray">
            <a:xfrm flipH="1" flipV="1">
              <a:off x="3539874" y="5388857"/>
              <a:ext cx="741787" cy="297069"/>
            </a:xfrm>
            <a:prstGeom prst="line">
              <a:avLst/>
            </a:prstGeom>
            <a:noFill/>
            <a:ln w="25400" cap="flat" cmpd="sng" algn="ctr">
              <a:solidFill>
                <a:srgbClr val="0070C0"/>
              </a:solidFill>
              <a:prstDash val="solid"/>
              <a:round/>
              <a:headEnd type="oval" w="med" len="med"/>
              <a:tailEnd type="oval"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5" name="圆角矩形 103"/>
            <p:cNvSpPr/>
            <p:nvPr/>
          </p:nvSpPr>
          <p:spPr bwMode="gray">
            <a:xfrm>
              <a:off x="4264254" y="3894213"/>
              <a:ext cx="1690155" cy="410021"/>
            </a:xfrm>
            <a:prstGeom prst="roundRect">
              <a:avLst/>
            </a:prstGeom>
            <a:solidFill>
              <a:srgbClr val="7F0001"/>
            </a:solidFill>
            <a:ln w="38100" cap="flat" cmpd="sng" algn="ctr">
              <a:noFill/>
              <a:prstDash val="solid"/>
            </a:ln>
            <a:effectLst>
              <a:glow rad="63500">
                <a:srgbClr val="C17529">
                  <a:tint val="30000"/>
                  <a:shade val="95000"/>
                  <a:satMod val="300000"/>
                  <a:alpha val="50000"/>
                </a:srgbClr>
              </a:glow>
            </a:effectLst>
          </p:spPr>
          <p:txBody>
            <a:bodyPr vert="horz" wrap="square" lIns="68580" tIns="34290" rIns="68580" bIns="34290" numCol="1" rtlCol="0" anchor="ctr" anchorCtr="0" compatLnSpc="1"/>
            <a:lstStyle/>
            <a:p>
              <a:pPr marL="0" marR="0" lvl="0" indent="0" algn="ctr" defTabSz="914400" eaLnBrk="1" fontAlgn="auto" latinLnBrk="0" hangingPunct="1">
                <a:lnSpc>
                  <a:spcPct val="100000"/>
                </a:lnSpc>
                <a:spcBef>
                  <a:spcPts val="0"/>
                </a:spcBef>
                <a:spcAft>
                  <a:spcPts val="0"/>
                </a:spcAft>
                <a:buClr>
                  <a:srgbClr val="CC9900"/>
                </a:buClr>
                <a:buSzTx/>
                <a:buFontTx/>
                <a:buNone/>
                <a:defRPr/>
              </a:pPr>
              <a:r>
                <a:rPr kumimoji="0" lang="zh-CN" altLang="en-US" sz="1400" b="0"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与</a:t>
              </a:r>
              <a:r>
                <a:rPr kumimoji="0" lang="en-US" altLang="zh-CN" sz="1400" b="0"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IGP</a:t>
              </a:r>
              <a:r>
                <a:rPr kumimoji="0" lang="zh-CN" altLang="en-US" sz="1400" b="0"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同步问题</a:t>
              </a:r>
              <a:endParaRPr kumimoji="0" lang="en-US" altLang="zh-CN" sz="1400" b="0"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cxnSp>
          <p:nvCxnSpPr>
            <p:cNvPr id="136" name="直接连接符 135"/>
            <p:cNvCxnSpPr>
              <a:stCxn id="135" idx="1"/>
              <a:endCxn id="93" idx="3"/>
            </p:cNvCxnSpPr>
            <p:nvPr/>
          </p:nvCxnSpPr>
          <p:spPr bwMode="gray">
            <a:xfrm flipH="1">
              <a:off x="3539874" y="4099224"/>
              <a:ext cx="724380" cy="417790"/>
            </a:xfrm>
            <a:prstGeom prst="line">
              <a:avLst/>
            </a:prstGeom>
            <a:noFill/>
            <a:ln w="25400" cap="flat" cmpd="sng" algn="ctr">
              <a:solidFill>
                <a:srgbClr val="0070C0"/>
              </a:solidFill>
              <a:prstDash val="solid"/>
              <a:round/>
              <a:headEnd type="oval" w="med" len="med"/>
              <a:tailEnd type="oval"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7" name="直接连接符 136"/>
            <p:cNvCxnSpPr>
              <a:stCxn id="94" idx="1"/>
              <a:endCxn id="100" idx="3"/>
            </p:cNvCxnSpPr>
            <p:nvPr/>
          </p:nvCxnSpPr>
          <p:spPr bwMode="gray">
            <a:xfrm flipH="1" flipV="1">
              <a:off x="2022703" y="4548229"/>
              <a:ext cx="595268" cy="840628"/>
            </a:xfrm>
            <a:prstGeom prst="line">
              <a:avLst/>
            </a:prstGeom>
            <a:noFill/>
            <a:ln w="25400" cap="flat" cmpd="sng" algn="ctr">
              <a:solidFill>
                <a:srgbClr val="0070C0"/>
              </a:solidFill>
              <a:prstDash val="solid"/>
              <a:round/>
              <a:headEnd type="oval" w="med" len="med"/>
              <a:tailEnd type="oval"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8" name="圆角矩形 106"/>
            <p:cNvSpPr/>
            <p:nvPr/>
          </p:nvSpPr>
          <p:spPr bwMode="gray">
            <a:xfrm>
              <a:off x="1009173" y="3854506"/>
              <a:ext cx="1023033" cy="307939"/>
            </a:xfrm>
            <a:prstGeom prst="roundRect">
              <a:avLst/>
            </a:prstGeom>
            <a:solidFill>
              <a:srgbClr val="30B5C5"/>
            </a:solidFill>
            <a:ln w="38100" cap="flat" cmpd="sng" algn="ctr">
              <a:noFill/>
              <a:prstDash val="solid"/>
            </a:ln>
            <a:effectLst>
              <a:glow rad="63500">
                <a:srgbClr val="C17529">
                  <a:tint val="30000"/>
                  <a:shade val="95000"/>
                  <a:satMod val="300000"/>
                  <a:alpha val="50000"/>
                </a:srgbClr>
              </a:glow>
            </a:effectLst>
          </p:spPr>
          <p:txBody>
            <a:bodyPr vert="horz" wrap="square" lIns="68580" tIns="34290" rIns="68580" bIns="34290" numCol="1" rtlCol="0" anchor="ctr" anchorCtr="0" compatLnSpc="1"/>
            <a:lstStyle/>
            <a:p>
              <a:pPr marL="0" marR="0" lvl="0" indent="0" algn="ctr" defTabSz="914400" eaLnBrk="1" fontAlgn="auto" latinLnBrk="0" hangingPunct="1">
                <a:lnSpc>
                  <a:spcPct val="100000"/>
                </a:lnSpc>
                <a:spcBef>
                  <a:spcPts val="0"/>
                </a:spcBef>
                <a:spcAft>
                  <a:spcPts val="0"/>
                </a:spcAft>
                <a:buClr>
                  <a:srgbClr val="CC9900"/>
                </a:buClr>
                <a:buSzTx/>
                <a:buFontTx/>
                <a:buNone/>
                <a:defRPr/>
              </a:pPr>
              <a:r>
                <a:rPr kumimoji="0" lang="zh-CN" altLang="en-US" sz="1500" b="0"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配置简单</a:t>
              </a:r>
              <a:endParaRPr kumimoji="0" lang="en-US" altLang="zh-CN" sz="1500" b="0"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cxnSp>
          <p:nvCxnSpPr>
            <p:cNvPr id="139" name="直接连接符 138"/>
            <p:cNvCxnSpPr>
              <a:stCxn id="91" idx="1"/>
              <a:endCxn id="138" idx="3"/>
            </p:cNvCxnSpPr>
            <p:nvPr/>
          </p:nvCxnSpPr>
          <p:spPr bwMode="gray">
            <a:xfrm flipH="1">
              <a:off x="2032206" y="3645170"/>
              <a:ext cx="585766" cy="363306"/>
            </a:xfrm>
            <a:prstGeom prst="line">
              <a:avLst/>
            </a:prstGeom>
            <a:noFill/>
            <a:ln w="25400" cap="flat" cmpd="sng" algn="ctr">
              <a:solidFill>
                <a:srgbClr val="0070C0"/>
              </a:solidFill>
              <a:prstDash val="solid"/>
              <a:round/>
              <a:headEnd type="oval" w="med" len="med"/>
              <a:tailEnd type="oval"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0" name="直接连接符 139"/>
            <p:cNvCxnSpPr>
              <a:stCxn id="93" idx="1"/>
              <a:endCxn id="138" idx="3"/>
            </p:cNvCxnSpPr>
            <p:nvPr/>
          </p:nvCxnSpPr>
          <p:spPr bwMode="gray">
            <a:xfrm flipH="1" flipV="1">
              <a:off x="2032206" y="4008476"/>
              <a:ext cx="585766" cy="508538"/>
            </a:xfrm>
            <a:prstGeom prst="line">
              <a:avLst/>
            </a:prstGeom>
            <a:noFill/>
            <a:ln w="25400" cap="flat" cmpd="sng" algn="ctr">
              <a:solidFill>
                <a:srgbClr val="0070C0"/>
              </a:solidFill>
              <a:prstDash val="solid"/>
              <a:round/>
              <a:headEnd type="oval" w="med" len="med"/>
              <a:tailEnd type="oval"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bwMode="gray">
          <a:xfrm>
            <a:off x="452438" y="447468"/>
            <a:ext cx="11296649" cy="497095"/>
          </a:xfrm>
        </p:spPr>
        <p:txBody>
          <a:bodyPr>
            <a:normAutofit/>
          </a:bodyPr>
          <a:lstStyle/>
          <a:p>
            <a:r>
              <a:rPr lang="zh-CN" altLang="en-US">
                <a:sym typeface="Huawei Sans" panose="020C0503030203020204" pitchFamily="34" charset="0"/>
              </a:rPr>
              <a:t>从</a:t>
            </a:r>
            <a:r>
              <a:rPr lang="en-US" altLang="zh-CN">
                <a:sym typeface="Huawei Sans" panose="020C0503030203020204" pitchFamily="34" charset="0"/>
              </a:rPr>
              <a:t>MPLS</a:t>
            </a:r>
            <a:r>
              <a:rPr lang="zh-CN" altLang="en-US">
                <a:sym typeface="Huawei Sans" panose="020C0503030203020204" pitchFamily="34" charset="0"/>
              </a:rPr>
              <a:t>到</a:t>
            </a:r>
            <a:r>
              <a:rPr lang="en-US" altLang="zh-CN">
                <a:sym typeface="Huawei Sans" panose="020C0503030203020204" pitchFamily="34" charset="0"/>
              </a:rPr>
              <a:t>SRv6</a:t>
            </a:r>
            <a:endParaRPr lang="zh-CN" altLang="en-US">
              <a:sym typeface="Huawei Sans" panose="020C0503030203020204" pitchFamily="34" charset="0"/>
            </a:endParaRPr>
          </a:p>
        </p:txBody>
      </p:sp>
      <p:cxnSp>
        <p:nvCxnSpPr>
          <p:cNvPr id="8" name="直接连接符 13"/>
          <p:cNvCxnSpPr/>
          <p:nvPr/>
        </p:nvCxnSpPr>
        <p:spPr bwMode="gray">
          <a:xfrm flipV="1">
            <a:off x="849447" y="3127462"/>
            <a:ext cx="10728324" cy="8647"/>
          </a:xfrm>
          <a:prstGeom prst="line">
            <a:avLst/>
          </a:prstGeom>
          <a:noFill/>
          <a:ln w="9525" cap="flat" cmpd="sng" algn="ctr">
            <a:solidFill>
              <a:srgbClr val="FFFFFF">
                <a:lumMod val="65000"/>
                <a:lumOff val="35000"/>
              </a:srgbClr>
            </a:solidFill>
            <a:prstDash val="solid"/>
            <a:tailEnd type="none"/>
          </a:ln>
          <a:effectLst/>
        </p:spPr>
      </p:cxnSp>
      <p:sp>
        <p:nvSpPr>
          <p:cNvPr id="9" name="矩形 15"/>
          <p:cNvSpPr/>
          <p:nvPr/>
        </p:nvSpPr>
        <p:spPr bwMode="gray">
          <a:xfrm>
            <a:off x="982189" y="3682667"/>
            <a:ext cx="664107" cy="511835"/>
          </a:xfrm>
          <a:prstGeom prst="rect">
            <a:avLst/>
          </a:prstGeom>
        </p:spPr>
        <p:txBody>
          <a:bodyPr wrap="none" anchor="ctr">
            <a:noAutofit/>
          </a:bodyPr>
          <a:lstStyle/>
          <a:p>
            <a:pPr algn="ctr" defTabSz="914400" fontAlgn="base">
              <a:lnSpc>
                <a:spcPts val="600"/>
              </a:lnSpc>
              <a:spcBef>
                <a:spcPts val="1000"/>
              </a:spcBef>
              <a:spcAft>
                <a:spcPct val="0"/>
              </a:spcAft>
              <a:buClr>
                <a:srgbClr val="B2B2B2">
                  <a:lumMod val="40000"/>
                  <a:lumOff val="60000"/>
                </a:srgbClr>
              </a:buClr>
              <a:buSzPct val="80000"/>
            </a:pPr>
            <a:r>
              <a:rPr lang="zh-CN" altLang="en-US" sz="1600"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转发面</a:t>
            </a:r>
            <a:endParaRPr lang="en-US" altLang="zh-CN" sz="1600"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 name="矩形 16"/>
          <p:cNvSpPr/>
          <p:nvPr/>
        </p:nvSpPr>
        <p:spPr bwMode="gray">
          <a:xfrm>
            <a:off x="902677" y="2511154"/>
            <a:ext cx="803248" cy="470098"/>
          </a:xfrm>
          <a:prstGeom prst="rect">
            <a:avLst/>
          </a:prstGeom>
        </p:spPr>
        <p:txBody>
          <a:bodyPr wrap="none" anchor="ctr">
            <a:noAutofit/>
          </a:bodyPr>
          <a:lstStyle/>
          <a:p>
            <a:pPr algn="ctr" defTabSz="914400" fontAlgn="base">
              <a:lnSpc>
                <a:spcPts val="600"/>
              </a:lnSpc>
              <a:spcBef>
                <a:spcPts val="1000"/>
              </a:spcBef>
              <a:spcAft>
                <a:spcPct val="0"/>
              </a:spcAft>
              <a:buClr>
                <a:srgbClr val="B2B2B2">
                  <a:lumMod val="40000"/>
                  <a:lumOff val="60000"/>
                </a:srgbClr>
              </a:buClr>
              <a:buSzPct val="80000"/>
            </a:pPr>
            <a:r>
              <a:rPr lang="zh-CN" altLang="en-US" sz="1600" b="1">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控制面</a:t>
            </a:r>
            <a:endParaRPr lang="en-US" altLang="zh-CN" sz="1600"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2" name="直接连接符 18"/>
          <p:cNvCxnSpPr/>
          <p:nvPr/>
        </p:nvCxnSpPr>
        <p:spPr bwMode="gray">
          <a:xfrm>
            <a:off x="849447" y="2245784"/>
            <a:ext cx="10653346" cy="20596"/>
          </a:xfrm>
          <a:prstGeom prst="line">
            <a:avLst/>
          </a:prstGeom>
          <a:noFill/>
          <a:ln w="9525" cap="flat" cmpd="sng" algn="ctr">
            <a:solidFill>
              <a:srgbClr val="FFFFFF">
                <a:lumMod val="65000"/>
                <a:lumOff val="35000"/>
              </a:srgbClr>
            </a:solidFill>
            <a:prstDash val="solid"/>
            <a:tailEnd type="none"/>
          </a:ln>
          <a:effectLst/>
        </p:spPr>
      </p:cxnSp>
      <p:cxnSp>
        <p:nvCxnSpPr>
          <p:cNvPr id="28" name="直接连接符 36"/>
          <p:cNvCxnSpPr/>
          <p:nvPr/>
        </p:nvCxnSpPr>
        <p:spPr bwMode="gray">
          <a:xfrm>
            <a:off x="7888196" y="1815054"/>
            <a:ext cx="15019" cy="2422618"/>
          </a:xfrm>
          <a:prstGeom prst="line">
            <a:avLst/>
          </a:prstGeom>
          <a:noFill/>
          <a:ln w="9525" cap="flat" cmpd="sng" algn="ctr">
            <a:solidFill>
              <a:srgbClr val="FFFFFF">
                <a:lumMod val="65000"/>
                <a:lumOff val="35000"/>
              </a:srgbClr>
            </a:solidFill>
            <a:prstDash val="solid"/>
            <a:tailEnd type="none"/>
          </a:ln>
          <a:effectLst/>
        </p:spPr>
      </p:cxnSp>
      <p:sp>
        <p:nvSpPr>
          <p:cNvPr id="29" name="矩形 37"/>
          <p:cNvSpPr/>
          <p:nvPr/>
        </p:nvSpPr>
        <p:spPr bwMode="gray">
          <a:xfrm>
            <a:off x="2282497" y="1786929"/>
            <a:ext cx="1763624" cy="400110"/>
          </a:xfrm>
          <a:prstGeom prst="rect">
            <a:avLst/>
          </a:prstGeom>
        </p:spPr>
        <p:txBody>
          <a:bodyPr wrap="none">
            <a:spAutoFit/>
          </a:bodyPr>
          <a:lstStyle/>
          <a:p>
            <a:pPr defTabSz="914400" fontAlgn="base">
              <a:spcBef>
                <a:spcPct val="0"/>
              </a:spcBef>
              <a:spcAft>
                <a:spcPct val="0"/>
              </a:spcAft>
            </a:pPr>
            <a:r>
              <a:rPr lang="en-US" altLang="zh-CN" sz="2000" b="1" dirty="0">
                <a:solidFill>
                  <a:srgbClr val="CB3B01"/>
                </a:solidFill>
                <a:latin typeface="Huawei Sans" panose="020C0503030203020204" pitchFamily="34" charset="0"/>
                <a:ea typeface="方正兰亭黑简体" panose="02000000000000000000" pitchFamily="2" charset="-122"/>
                <a:sym typeface="Huawei Sans" panose="020C0503030203020204" pitchFamily="34" charset="0"/>
              </a:rPr>
              <a:t>Classic MPLS</a:t>
            </a:r>
            <a:endParaRPr lang="zh-CN" altLang="en-US" sz="2000" b="1" dirty="0">
              <a:solidFill>
                <a:srgbClr val="CB3B0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 name="矩形 38"/>
          <p:cNvSpPr/>
          <p:nvPr/>
        </p:nvSpPr>
        <p:spPr bwMode="gray">
          <a:xfrm>
            <a:off x="5648137" y="1727245"/>
            <a:ext cx="1274708" cy="400110"/>
          </a:xfrm>
          <a:prstGeom prst="rect">
            <a:avLst/>
          </a:prstGeom>
        </p:spPr>
        <p:txBody>
          <a:bodyPr wrap="none">
            <a:spAutoFit/>
          </a:bodyPr>
          <a:lstStyle/>
          <a:p>
            <a:pPr defTabSz="914400" fontAlgn="base">
              <a:spcBef>
                <a:spcPct val="0"/>
              </a:spcBef>
              <a:spcAft>
                <a:spcPct val="0"/>
              </a:spcAft>
            </a:pPr>
            <a:r>
              <a:rPr lang="en-US" altLang="zh-CN" sz="2000" b="1" dirty="0">
                <a:solidFill>
                  <a:srgbClr val="006600"/>
                </a:solidFill>
                <a:latin typeface="Huawei Sans" panose="020C0503030203020204" pitchFamily="34" charset="0"/>
                <a:ea typeface="方正兰亭黑简体" panose="02000000000000000000" pitchFamily="2" charset="-122"/>
                <a:sym typeface="Huawei Sans" panose="020C0503030203020204" pitchFamily="34" charset="0"/>
              </a:rPr>
              <a:t>SR-MPLS</a:t>
            </a:r>
            <a:endParaRPr lang="zh-CN" altLang="en-US" sz="2000" b="1" dirty="0">
              <a:solidFill>
                <a:srgbClr val="006600"/>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31" name="直接箭头连接符 39"/>
          <p:cNvCxnSpPr/>
          <p:nvPr/>
        </p:nvCxnSpPr>
        <p:spPr bwMode="gray">
          <a:xfrm>
            <a:off x="2381837" y="2580978"/>
            <a:ext cx="1234723" cy="0"/>
          </a:xfrm>
          <a:prstGeom prst="straightConnector1">
            <a:avLst/>
          </a:prstGeom>
          <a:noFill/>
          <a:ln w="9525" cap="flat" cmpd="sng" algn="ctr">
            <a:solidFill>
              <a:srgbClr val="000000"/>
            </a:solidFill>
            <a:prstDash val="dash"/>
            <a:headEnd type="triangle"/>
            <a:tailEnd type="triangle"/>
          </a:ln>
          <a:effectLst/>
        </p:spPr>
      </p:cxnSp>
      <p:sp>
        <p:nvSpPr>
          <p:cNvPr id="32" name="矩形 40"/>
          <p:cNvSpPr/>
          <p:nvPr/>
        </p:nvSpPr>
        <p:spPr bwMode="gray">
          <a:xfrm>
            <a:off x="2776038" y="2299433"/>
            <a:ext cx="521297" cy="307777"/>
          </a:xfrm>
          <a:prstGeom prst="rect">
            <a:avLst/>
          </a:prstGeom>
        </p:spPr>
        <p:txBody>
          <a:bodyPr wrap="none">
            <a:spAutoFit/>
          </a:bodyPr>
          <a:lstStyle/>
          <a:p>
            <a:pPr defTabSz="914400" fontAlgn="base">
              <a:spcBef>
                <a:spcPct val="0"/>
              </a:spcBef>
              <a:spcAft>
                <a:spcPct val="0"/>
              </a:spcAft>
            </a:pPr>
            <a:r>
              <a:rPr lang="en-US" altLang="zh-CN" sz="1400" b="1" dirty="0">
                <a:solidFill>
                  <a:srgbClr val="0000CC"/>
                </a:solidFill>
                <a:latin typeface="Huawei Sans" panose="020C0503030203020204" pitchFamily="34" charset="0"/>
                <a:ea typeface="方正兰亭黑简体" panose="02000000000000000000" pitchFamily="2" charset="-122"/>
                <a:sym typeface="Huawei Sans" panose="020C0503030203020204" pitchFamily="34" charset="0"/>
              </a:rPr>
              <a:t>LDP</a:t>
            </a:r>
            <a:endParaRPr lang="zh-CN" altLang="en-US" sz="1400" b="1" dirty="0">
              <a:solidFill>
                <a:srgbClr val="0000CC"/>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 name="矩形 41"/>
          <p:cNvSpPr/>
          <p:nvPr/>
        </p:nvSpPr>
        <p:spPr bwMode="gray">
          <a:xfrm>
            <a:off x="2679165" y="2653285"/>
            <a:ext cx="909223" cy="307777"/>
          </a:xfrm>
          <a:prstGeom prst="rect">
            <a:avLst/>
          </a:prstGeom>
        </p:spPr>
        <p:txBody>
          <a:bodyPr wrap="none">
            <a:spAutoFit/>
          </a:bodyPr>
          <a:lstStyle/>
          <a:p>
            <a:pPr defTabSz="914400" fontAlgn="base">
              <a:spcBef>
                <a:spcPct val="0"/>
              </a:spcBef>
              <a:spcAft>
                <a:spcPct val="0"/>
              </a:spcAft>
            </a:pPr>
            <a:r>
              <a:rPr lang="en-US" altLang="zh-CN" sz="1400" b="1" dirty="0">
                <a:solidFill>
                  <a:srgbClr val="0000CC"/>
                </a:solidFill>
                <a:latin typeface="Huawei Sans" panose="020C0503030203020204" pitchFamily="34" charset="0"/>
                <a:ea typeface="方正兰亭黑简体" panose="02000000000000000000" pitchFamily="2" charset="-122"/>
                <a:sym typeface="Huawei Sans" panose="020C0503030203020204" pitchFamily="34" charset="0"/>
              </a:rPr>
              <a:t>RSVP-TE</a:t>
            </a:r>
            <a:endParaRPr lang="zh-CN" altLang="en-US" sz="1400" b="1" dirty="0">
              <a:solidFill>
                <a:srgbClr val="0000CC"/>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34" name="直接箭头连接符 42"/>
          <p:cNvCxnSpPr/>
          <p:nvPr/>
        </p:nvCxnSpPr>
        <p:spPr bwMode="gray">
          <a:xfrm>
            <a:off x="2371957" y="2942394"/>
            <a:ext cx="1234723" cy="0"/>
          </a:xfrm>
          <a:prstGeom prst="straightConnector1">
            <a:avLst/>
          </a:prstGeom>
          <a:noFill/>
          <a:ln w="9525" cap="flat" cmpd="sng" algn="ctr">
            <a:solidFill>
              <a:srgbClr val="000000"/>
            </a:solidFill>
            <a:prstDash val="dash"/>
            <a:headEnd type="triangle"/>
            <a:tailEnd type="triangle"/>
          </a:ln>
          <a:effectLst/>
        </p:spPr>
      </p:cxnSp>
      <p:cxnSp>
        <p:nvCxnSpPr>
          <p:cNvPr id="35" name="直接箭头连接符 43"/>
          <p:cNvCxnSpPr/>
          <p:nvPr/>
        </p:nvCxnSpPr>
        <p:spPr bwMode="gray">
          <a:xfrm>
            <a:off x="2367544" y="3311822"/>
            <a:ext cx="1234723" cy="0"/>
          </a:xfrm>
          <a:prstGeom prst="straightConnector1">
            <a:avLst/>
          </a:prstGeom>
          <a:noFill/>
          <a:ln w="9525" cap="flat" cmpd="sng" algn="ctr">
            <a:solidFill>
              <a:srgbClr val="000000"/>
            </a:solidFill>
            <a:prstDash val="dash"/>
            <a:headEnd type="triangle"/>
            <a:tailEnd type="triangle"/>
          </a:ln>
          <a:effectLst/>
        </p:spPr>
      </p:cxnSp>
      <p:sp>
        <p:nvSpPr>
          <p:cNvPr id="36" name="矩形 44"/>
          <p:cNvSpPr/>
          <p:nvPr/>
        </p:nvSpPr>
        <p:spPr bwMode="gray">
          <a:xfrm>
            <a:off x="2751434" y="2996489"/>
            <a:ext cx="534121" cy="307777"/>
          </a:xfrm>
          <a:prstGeom prst="rect">
            <a:avLst/>
          </a:prstGeom>
        </p:spPr>
        <p:txBody>
          <a:bodyPr wrap="none">
            <a:spAutoFit/>
          </a:bodyPr>
          <a:lstStyle/>
          <a:p>
            <a:pPr defTabSz="914400" fontAlgn="base">
              <a:spcBef>
                <a:spcPct val="0"/>
              </a:spcBef>
              <a:spcAft>
                <a:spcPct val="0"/>
              </a:spcAft>
            </a:pPr>
            <a:r>
              <a:rPr lang="en-US" altLang="zh-CN" sz="1400" b="1" dirty="0">
                <a:solidFill>
                  <a:srgbClr val="0000CC"/>
                </a:solidFill>
                <a:latin typeface="Huawei Sans" panose="020C0503030203020204" pitchFamily="34" charset="0"/>
                <a:ea typeface="方正兰亭黑简体" panose="02000000000000000000" pitchFamily="2" charset="-122"/>
                <a:sym typeface="Huawei Sans" panose="020C0503030203020204" pitchFamily="34" charset="0"/>
              </a:rPr>
              <a:t> IGP</a:t>
            </a:r>
            <a:endParaRPr lang="zh-CN" altLang="en-US" sz="1400" b="1" dirty="0">
              <a:solidFill>
                <a:srgbClr val="0000CC"/>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37" name="直接箭头连接符 45"/>
          <p:cNvCxnSpPr/>
          <p:nvPr/>
        </p:nvCxnSpPr>
        <p:spPr bwMode="gray">
          <a:xfrm>
            <a:off x="5630761" y="2907057"/>
            <a:ext cx="1234723" cy="0"/>
          </a:xfrm>
          <a:prstGeom prst="straightConnector1">
            <a:avLst/>
          </a:prstGeom>
          <a:noFill/>
          <a:ln w="9525" cap="flat" cmpd="sng" algn="ctr">
            <a:solidFill>
              <a:srgbClr val="000000"/>
            </a:solidFill>
            <a:prstDash val="dash"/>
            <a:headEnd type="triangle"/>
            <a:tailEnd type="triangle"/>
          </a:ln>
          <a:effectLst/>
        </p:spPr>
      </p:cxnSp>
      <p:sp>
        <p:nvSpPr>
          <p:cNvPr id="38" name="矩形 46"/>
          <p:cNvSpPr/>
          <p:nvPr/>
        </p:nvSpPr>
        <p:spPr bwMode="gray">
          <a:xfrm>
            <a:off x="5530390" y="2491633"/>
            <a:ext cx="1800493" cy="307777"/>
          </a:xfrm>
          <a:prstGeom prst="rect">
            <a:avLst/>
          </a:prstGeom>
        </p:spPr>
        <p:txBody>
          <a:bodyPr wrap="none">
            <a:spAutoFit/>
          </a:bodyPr>
          <a:lstStyle/>
          <a:p>
            <a:pPr defTabSz="914400" fontAlgn="base">
              <a:spcBef>
                <a:spcPct val="0"/>
              </a:spcBef>
              <a:spcAft>
                <a:spcPct val="0"/>
              </a:spcAft>
            </a:pPr>
            <a:r>
              <a:rPr lang="en-US" altLang="zh-CN" sz="1400" b="1" dirty="0">
                <a:solidFill>
                  <a:srgbClr val="0000CC"/>
                </a:solidFill>
                <a:latin typeface="Huawei Sans" panose="020C0503030203020204" pitchFamily="34" charset="0"/>
                <a:ea typeface="方正兰亭黑简体" panose="02000000000000000000" pitchFamily="2" charset="-122"/>
                <a:sym typeface="Huawei Sans" panose="020C0503030203020204" pitchFamily="34" charset="0"/>
              </a:rPr>
              <a:t>IGP + SR extension</a:t>
            </a:r>
            <a:endParaRPr lang="zh-CN" altLang="en-US" sz="1400" b="1" dirty="0">
              <a:solidFill>
                <a:srgbClr val="0000CC"/>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矩形 47"/>
          <p:cNvSpPr/>
          <p:nvPr/>
        </p:nvSpPr>
        <p:spPr bwMode="gray">
          <a:xfrm>
            <a:off x="1120733" y="4763816"/>
            <a:ext cx="772577" cy="276999"/>
          </a:xfrm>
          <a:prstGeom prst="rect">
            <a:avLst/>
          </a:prstGeom>
          <a:solidFill>
            <a:srgbClr val="FFFFFF">
              <a:lumMod val="85000"/>
            </a:srgbClr>
          </a:solidFill>
          <a:ln w="12700">
            <a:solidFill>
              <a:srgbClr val="FFFFFF">
                <a:lumMod val="50000"/>
              </a:srgbClr>
            </a:solidFill>
          </a:ln>
        </p:spPr>
        <p:txBody>
          <a:bodyPr wrap="square" anchor="ctr">
            <a:spAutoFit/>
          </a:bodyPr>
          <a:lstStyle/>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1200" b="1"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Payload</a:t>
            </a:r>
            <a:endParaRPr kumimoji="0" lang="zh-CN" altLang="en-US" sz="1200" b="1"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矩形 55"/>
          <p:cNvSpPr/>
          <p:nvPr/>
        </p:nvSpPr>
        <p:spPr bwMode="gray">
          <a:xfrm>
            <a:off x="3727428" y="4763816"/>
            <a:ext cx="781788" cy="276999"/>
          </a:xfrm>
          <a:prstGeom prst="rect">
            <a:avLst/>
          </a:prstGeom>
          <a:solidFill>
            <a:srgbClr val="FFFFFF">
              <a:lumMod val="85000"/>
            </a:srgbClr>
          </a:solidFill>
          <a:ln w="12700">
            <a:solidFill>
              <a:srgbClr val="FFFFFF">
                <a:lumMod val="50000"/>
              </a:srgbClr>
            </a:solidFill>
          </a:ln>
        </p:spPr>
        <p:txBody>
          <a:bodyPr wrap="square" anchor="ctr">
            <a:spAutoFit/>
          </a:bodyPr>
          <a:lstStyle/>
          <a:p>
            <a:pPr lvl="0" algn="ctr" defTabSz="914400" fontAlgn="base">
              <a:spcBef>
                <a:spcPct val="0"/>
              </a:spcBef>
              <a:spcAft>
                <a:spcPct val="0"/>
              </a:spcAft>
              <a:defRPr/>
            </a:pPr>
            <a:r>
              <a:rPr lang="en-US" altLang="zh-CN" sz="1200" b="1"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Payload</a:t>
            </a:r>
            <a:endParaRPr lang="zh-CN" altLang="en-US" sz="1200" b="1"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矩形 57"/>
          <p:cNvSpPr/>
          <p:nvPr/>
        </p:nvSpPr>
        <p:spPr bwMode="gray">
          <a:xfrm>
            <a:off x="1755154" y="3969036"/>
            <a:ext cx="538930" cy="276999"/>
          </a:xfrm>
          <a:prstGeom prst="rect">
            <a:avLst/>
          </a:prstGeom>
        </p:spPr>
        <p:txBody>
          <a:bodyPr wrap="none">
            <a:spAutoFit/>
          </a:bodyPr>
          <a:lstStyle/>
          <a:p>
            <a:pPr defTabSz="914400" fontAlgn="base">
              <a:spcBef>
                <a:spcPct val="0"/>
              </a:spcBef>
              <a:spcAft>
                <a:spcPct val="0"/>
              </a:spcAft>
            </a:pPr>
            <a:r>
              <a:rPr lang="en-US" altLang="zh-CN" sz="1200" b="1" dirty="0">
                <a:solidFill>
                  <a:srgbClr val="000000"/>
                </a:solidFill>
                <a:latin typeface="Huawei Sans" panose="020C0503030203020204" pitchFamily="34" charset="0"/>
                <a:ea typeface="方正兰亭黑简体" panose="02000000000000000000" pitchFamily="2" charset="-122"/>
                <a:cs typeface="Calibri" panose="020F0502020204030204" pitchFamily="34" charset="0"/>
                <a:sym typeface="Huawei Sans" panose="020C0503030203020204" pitchFamily="34" charset="0"/>
              </a:rPr>
              <a:t>Push</a:t>
            </a:r>
            <a:endParaRPr lang="zh-CN" altLang="en-US" sz="1200" b="1" dirty="0">
              <a:solidFill>
                <a:srgbClr val="000000"/>
              </a:solidFill>
              <a:latin typeface="Huawei Sans" panose="020C0503030203020204" pitchFamily="34" charset="0"/>
              <a:ea typeface="方正兰亭黑简体" panose="02000000000000000000" pitchFamily="2" charset="-122"/>
              <a:cs typeface="Calibri" panose="020F0502020204030204" pitchFamily="34" charset="0"/>
              <a:sym typeface="Huawei Sans" panose="020C0503030203020204" pitchFamily="34" charset="0"/>
            </a:endParaRPr>
          </a:p>
        </p:txBody>
      </p:sp>
      <p:sp>
        <p:nvSpPr>
          <p:cNvPr id="50" name="右箭头 58"/>
          <p:cNvSpPr/>
          <p:nvPr/>
        </p:nvSpPr>
        <p:spPr bwMode="gray">
          <a:xfrm>
            <a:off x="1740010" y="3438780"/>
            <a:ext cx="2444248" cy="115125"/>
          </a:xfrm>
          <a:prstGeom prst="rightArrow">
            <a:avLst/>
          </a:prstGeom>
          <a:solidFill>
            <a:srgbClr val="FFFFFF">
              <a:lumMod val="85000"/>
            </a:srgbClr>
          </a:solidFill>
          <a:ln>
            <a:solidFill>
              <a:srgbClr val="000000"/>
            </a:solidFill>
          </a:ln>
        </p:spPr>
        <p:txBody>
          <a:bodyPr wrap="none" rtlCol="0" anchor="ctr">
            <a:noAutofit/>
          </a:bodyP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zh-CN" altLang="en-US" sz="1200" b="0" i="0" u="none" strike="noStrike" kern="0" cap="none" spc="0" normalizeH="0" baseline="0" noProof="0" dirty="0" err="1">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1" name="矩形 59"/>
          <p:cNvSpPr/>
          <p:nvPr/>
        </p:nvSpPr>
        <p:spPr bwMode="gray">
          <a:xfrm>
            <a:off x="2752338" y="4000908"/>
            <a:ext cx="585417" cy="276999"/>
          </a:xfrm>
          <a:prstGeom prst="rect">
            <a:avLst/>
          </a:prstGeom>
        </p:spPr>
        <p:txBody>
          <a:bodyPr wrap="none" anchor="ctr">
            <a:spAutoFit/>
          </a:bodyPr>
          <a:lstStyle/>
          <a:p>
            <a:pPr algn="ctr" defTabSz="914400" fontAlgn="base">
              <a:spcBef>
                <a:spcPct val="0"/>
              </a:spcBef>
              <a:spcAft>
                <a:spcPct val="0"/>
              </a:spcAft>
            </a:pPr>
            <a:r>
              <a:rPr lang="en-US" altLang="zh-CN" sz="1200" b="1" dirty="0">
                <a:solidFill>
                  <a:srgbClr val="000000"/>
                </a:solidFill>
                <a:latin typeface="Huawei Sans" panose="020C0503030203020204" pitchFamily="34" charset="0"/>
                <a:ea typeface="方正兰亭黑简体" panose="02000000000000000000" pitchFamily="2" charset="-122"/>
                <a:cs typeface="Calibri" panose="020F0502020204030204" pitchFamily="34" charset="0"/>
                <a:sym typeface="Huawei Sans" panose="020C0503030203020204" pitchFamily="34" charset="0"/>
              </a:rPr>
              <a:t>Swap</a:t>
            </a:r>
            <a:endParaRPr lang="zh-CN" altLang="en-US" sz="1200" b="1" dirty="0">
              <a:solidFill>
                <a:srgbClr val="000000"/>
              </a:solidFill>
              <a:latin typeface="Huawei Sans" panose="020C0503030203020204" pitchFamily="34" charset="0"/>
              <a:ea typeface="方正兰亭黑简体" panose="02000000000000000000" pitchFamily="2" charset="-122"/>
              <a:cs typeface="Calibri" panose="020F0502020204030204" pitchFamily="34" charset="0"/>
              <a:sym typeface="Huawei Sans" panose="020C0503030203020204" pitchFamily="34" charset="0"/>
            </a:endParaRPr>
          </a:p>
        </p:txBody>
      </p:sp>
      <p:sp>
        <p:nvSpPr>
          <p:cNvPr id="52" name="矩形 60"/>
          <p:cNvSpPr/>
          <p:nvPr/>
        </p:nvSpPr>
        <p:spPr bwMode="gray">
          <a:xfrm>
            <a:off x="3721440" y="4000908"/>
            <a:ext cx="494046" cy="276999"/>
          </a:xfrm>
          <a:prstGeom prst="rect">
            <a:avLst/>
          </a:prstGeom>
        </p:spPr>
        <p:txBody>
          <a:bodyPr wrap="none" anchor="ctr">
            <a:spAutoFit/>
          </a:bodyPr>
          <a:lstStyle/>
          <a:p>
            <a:pPr algn="ctr" defTabSz="914400" fontAlgn="base">
              <a:spcBef>
                <a:spcPct val="0"/>
              </a:spcBef>
              <a:spcAft>
                <a:spcPct val="0"/>
              </a:spcAft>
            </a:pPr>
            <a:r>
              <a:rPr lang="en-US" altLang="zh-CN" sz="1200" b="1" dirty="0">
                <a:solidFill>
                  <a:srgbClr val="000000"/>
                </a:solidFill>
                <a:latin typeface="Huawei Sans" panose="020C0503030203020204" pitchFamily="34" charset="0"/>
                <a:ea typeface="方正兰亭黑简体" panose="02000000000000000000" pitchFamily="2" charset="-122"/>
                <a:cs typeface="Calibri" panose="020F0502020204030204" pitchFamily="34" charset="0"/>
                <a:sym typeface="Huawei Sans" panose="020C0503030203020204" pitchFamily="34" charset="0"/>
              </a:rPr>
              <a:t>POP</a:t>
            </a:r>
            <a:endParaRPr lang="zh-CN" altLang="en-US" sz="1200" b="1" dirty="0">
              <a:solidFill>
                <a:srgbClr val="000000"/>
              </a:solidFill>
              <a:latin typeface="Huawei Sans" panose="020C0503030203020204" pitchFamily="34" charset="0"/>
              <a:ea typeface="方正兰亭黑简体" panose="02000000000000000000" pitchFamily="2" charset="-122"/>
              <a:cs typeface="Calibri" panose="020F0502020204030204" pitchFamily="34" charset="0"/>
              <a:sym typeface="Huawei Sans" panose="020C0503030203020204" pitchFamily="34" charset="0"/>
            </a:endParaRPr>
          </a:p>
        </p:txBody>
      </p:sp>
      <p:sp>
        <p:nvSpPr>
          <p:cNvPr id="59" name="矩形 67"/>
          <p:cNvSpPr/>
          <p:nvPr/>
        </p:nvSpPr>
        <p:spPr bwMode="gray">
          <a:xfrm>
            <a:off x="4582364" y="4763816"/>
            <a:ext cx="772969" cy="276999"/>
          </a:xfrm>
          <a:prstGeom prst="rect">
            <a:avLst/>
          </a:prstGeom>
          <a:solidFill>
            <a:srgbClr val="FFFFFF">
              <a:lumMod val="85000"/>
            </a:srgbClr>
          </a:solidFill>
          <a:ln w="12700">
            <a:solidFill>
              <a:srgbClr val="FFFFFF">
                <a:lumMod val="50000"/>
              </a:srgbClr>
            </a:solidFill>
          </a:ln>
        </p:spPr>
        <p:txBody>
          <a:bodyPr wrap="none" anchor="ctr">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lvl="0" algn="ctr" defTabSz="914400" fontAlgn="base">
              <a:spcBef>
                <a:spcPct val="0"/>
              </a:spcBef>
              <a:spcAft>
                <a:spcPct val="0"/>
              </a:spcAft>
              <a:defRPr/>
            </a:pPr>
            <a:r>
              <a:rPr lang="en-US" altLang="zh-CN" sz="1200" b="1"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Payload</a:t>
            </a:r>
            <a:endParaRPr lang="zh-CN" altLang="en-US" sz="1200" b="1"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6" name="矩形 81"/>
          <p:cNvSpPr/>
          <p:nvPr/>
        </p:nvSpPr>
        <p:spPr bwMode="gray">
          <a:xfrm>
            <a:off x="7059341" y="4763816"/>
            <a:ext cx="772969" cy="276999"/>
          </a:xfrm>
          <a:prstGeom prst="rect">
            <a:avLst/>
          </a:prstGeom>
          <a:solidFill>
            <a:srgbClr val="FFFFFF">
              <a:lumMod val="85000"/>
            </a:srgbClr>
          </a:solidFill>
          <a:ln w="12700">
            <a:solidFill>
              <a:srgbClr val="FFFFFF">
                <a:lumMod val="50000"/>
              </a:srgbClr>
            </a:solidFill>
          </a:ln>
        </p:spPr>
        <p:txBody>
          <a:bodyPr wrap="none" anchor="ctr">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lvl="0" algn="ctr" defTabSz="914400" fontAlgn="base">
              <a:spcBef>
                <a:spcPct val="0"/>
              </a:spcBef>
              <a:spcAft>
                <a:spcPct val="0"/>
              </a:spcAft>
              <a:defRPr/>
            </a:pPr>
            <a:r>
              <a:rPr lang="en-US" altLang="zh-CN" sz="1200" b="1"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Payload</a:t>
            </a:r>
            <a:endParaRPr lang="zh-CN" altLang="en-US" sz="1200" b="1"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7" name="矩形 82"/>
          <p:cNvSpPr/>
          <p:nvPr/>
        </p:nvSpPr>
        <p:spPr bwMode="gray">
          <a:xfrm>
            <a:off x="4970338" y="4035682"/>
            <a:ext cx="538930" cy="276999"/>
          </a:xfrm>
          <a:prstGeom prst="rect">
            <a:avLst/>
          </a:prstGeom>
        </p:spPr>
        <p:txBody>
          <a:bodyPr wrap="none" anchor="ctr">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fontAlgn="base">
              <a:spcBef>
                <a:spcPct val="0"/>
              </a:spcBef>
              <a:spcAft>
                <a:spcPct val="0"/>
              </a:spcAft>
            </a:pPr>
            <a:r>
              <a:rPr lang="en-US" altLang="zh-CN" sz="1200" b="1" dirty="0">
                <a:solidFill>
                  <a:srgbClr val="000000"/>
                </a:solidFill>
                <a:latin typeface="Huawei Sans" panose="020C0503030203020204" pitchFamily="34" charset="0"/>
                <a:ea typeface="方正兰亭黑简体" panose="02000000000000000000" pitchFamily="2" charset="-122"/>
                <a:cs typeface="Calibri" panose="020F0502020204030204" pitchFamily="34" charset="0"/>
                <a:sym typeface="Huawei Sans" panose="020C0503030203020204" pitchFamily="34" charset="0"/>
              </a:rPr>
              <a:t>Push</a:t>
            </a:r>
            <a:endParaRPr lang="zh-CN" altLang="en-US" sz="1200" b="1" dirty="0">
              <a:solidFill>
                <a:srgbClr val="000000"/>
              </a:solidFill>
              <a:latin typeface="Huawei Sans" panose="020C0503030203020204" pitchFamily="34" charset="0"/>
              <a:ea typeface="方正兰亭黑简体" panose="02000000000000000000" pitchFamily="2" charset="-122"/>
              <a:cs typeface="Calibri" panose="020F0502020204030204" pitchFamily="34" charset="0"/>
              <a:sym typeface="Huawei Sans" panose="020C0503030203020204" pitchFamily="34" charset="0"/>
            </a:endParaRPr>
          </a:p>
        </p:txBody>
      </p:sp>
      <p:sp>
        <p:nvSpPr>
          <p:cNvPr id="68" name="右箭头 83"/>
          <p:cNvSpPr/>
          <p:nvPr/>
        </p:nvSpPr>
        <p:spPr bwMode="gray">
          <a:xfrm>
            <a:off x="4994928" y="3447999"/>
            <a:ext cx="2444248" cy="115125"/>
          </a:xfrm>
          <a:prstGeom prst="rightArrow">
            <a:avLst/>
          </a:prstGeom>
          <a:solidFill>
            <a:srgbClr val="FFFFFF">
              <a:lumMod val="85000"/>
            </a:srgbClr>
          </a:solidFill>
          <a:ln>
            <a:solidFill>
              <a:srgbClr val="000000"/>
            </a:solidFill>
          </a:ln>
        </p:spPr>
        <p:txBody>
          <a:bodyPr rot="0" spcFirstLastPara="0" vert="horz" wrap="none" lIns="91440" tIns="45720" rIns="91440" bIns="45720" numCol="1" spcCol="0" rtlCol="0" fromWordArt="0" anchor="ctr" anchorCtr="0" forceAA="0" compatLnSpc="1">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dirty="0" err="1">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9" name="矩形 84"/>
          <p:cNvSpPr/>
          <p:nvPr/>
        </p:nvSpPr>
        <p:spPr bwMode="gray">
          <a:xfrm>
            <a:off x="5894371" y="4021572"/>
            <a:ext cx="856325" cy="276999"/>
          </a:xfrm>
          <a:prstGeom prst="rect">
            <a:avLst/>
          </a:prstGeom>
        </p:spPr>
        <p:txBody>
          <a:bodyPr wrap="none" anchor="ctr">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fontAlgn="base">
              <a:spcBef>
                <a:spcPct val="0"/>
              </a:spcBef>
              <a:spcAft>
                <a:spcPct val="0"/>
              </a:spcAft>
            </a:pPr>
            <a:r>
              <a:rPr lang="en-US" altLang="zh-CN" sz="1200" b="1" dirty="0">
                <a:solidFill>
                  <a:srgbClr val="000000"/>
                </a:solidFill>
                <a:latin typeface="Huawei Sans" panose="020C0503030203020204" pitchFamily="34" charset="0"/>
                <a:ea typeface="方正兰亭黑简体" panose="02000000000000000000" pitchFamily="2" charset="-122"/>
                <a:cs typeface="Calibri" panose="020F0502020204030204" pitchFamily="34" charset="0"/>
                <a:sym typeface="Huawei Sans" panose="020C0503030203020204" pitchFamily="34" charset="0"/>
              </a:rPr>
              <a:t>Continue</a:t>
            </a:r>
            <a:endParaRPr lang="en-US" altLang="zh-CN" sz="1200" b="1" dirty="0">
              <a:solidFill>
                <a:srgbClr val="000000"/>
              </a:solidFill>
              <a:latin typeface="Huawei Sans" panose="020C0503030203020204" pitchFamily="34" charset="0"/>
              <a:ea typeface="方正兰亭黑简体" panose="02000000000000000000" pitchFamily="2" charset="-122"/>
              <a:cs typeface="Calibri" panose="020F0502020204030204" pitchFamily="34" charset="0"/>
              <a:sym typeface="Huawei Sans" panose="020C0503030203020204" pitchFamily="34" charset="0"/>
            </a:endParaRPr>
          </a:p>
        </p:txBody>
      </p:sp>
      <p:sp>
        <p:nvSpPr>
          <p:cNvPr id="70" name="矩形 85"/>
          <p:cNvSpPr/>
          <p:nvPr/>
        </p:nvSpPr>
        <p:spPr bwMode="gray">
          <a:xfrm>
            <a:off x="6974959" y="4021572"/>
            <a:ext cx="537327" cy="276999"/>
          </a:xfrm>
          <a:prstGeom prst="rect">
            <a:avLst/>
          </a:prstGeom>
        </p:spPr>
        <p:txBody>
          <a:bodyPr wrap="none" anchor="ctr">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fontAlgn="base">
              <a:spcBef>
                <a:spcPct val="0"/>
              </a:spcBef>
              <a:spcAft>
                <a:spcPct val="0"/>
              </a:spcAft>
            </a:pPr>
            <a:r>
              <a:rPr lang="en-US" altLang="zh-CN" sz="1200" b="1" dirty="0">
                <a:solidFill>
                  <a:srgbClr val="000000"/>
                </a:solidFill>
                <a:latin typeface="Huawei Sans" panose="020C0503030203020204" pitchFamily="34" charset="0"/>
                <a:ea typeface="方正兰亭黑简体" panose="02000000000000000000" pitchFamily="2" charset="-122"/>
                <a:cs typeface="Calibri" panose="020F0502020204030204" pitchFamily="34" charset="0"/>
                <a:sym typeface="Huawei Sans" panose="020C0503030203020204" pitchFamily="34" charset="0"/>
              </a:rPr>
              <a:t>Next</a:t>
            </a:r>
            <a:endParaRPr lang="zh-CN" altLang="en-US" sz="1200" b="1" dirty="0">
              <a:solidFill>
                <a:srgbClr val="000000"/>
              </a:solidFill>
              <a:latin typeface="Huawei Sans" panose="020C0503030203020204" pitchFamily="34" charset="0"/>
              <a:ea typeface="方正兰亭黑简体" panose="02000000000000000000" pitchFamily="2" charset="-122"/>
              <a:cs typeface="Calibri" panose="020F0502020204030204" pitchFamily="34" charset="0"/>
              <a:sym typeface="Huawei Sans" panose="020C0503030203020204" pitchFamily="34" charset="0"/>
            </a:endParaRPr>
          </a:p>
        </p:txBody>
      </p:sp>
      <p:cxnSp>
        <p:nvCxnSpPr>
          <p:cNvPr id="77" name="直接连接符 92"/>
          <p:cNvCxnSpPr/>
          <p:nvPr/>
        </p:nvCxnSpPr>
        <p:spPr bwMode="gray">
          <a:xfrm>
            <a:off x="10952011" y="2134039"/>
            <a:ext cx="15019" cy="2422618"/>
          </a:xfrm>
          <a:prstGeom prst="line">
            <a:avLst/>
          </a:prstGeom>
          <a:noFill/>
          <a:ln w="9525" cap="flat" cmpd="sng" algn="ctr">
            <a:solidFill>
              <a:srgbClr val="FFFFFF">
                <a:lumMod val="75000"/>
                <a:lumOff val="25000"/>
              </a:srgbClr>
            </a:solidFill>
            <a:prstDash val="solid"/>
            <a:tailEnd type="none"/>
          </a:ln>
          <a:effectLst/>
        </p:spPr>
      </p:cxnSp>
      <p:sp>
        <p:nvSpPr>
          <p:cNvPr id="78" name="矩形 93"/>
          <p:cNvSpPr/>
          <p:nvPr/>
        </p:nvSpPr>
        <p:spPr bwMode="gray">
          <a:xfrm>
            <a:off x="9113770" y="1716625"/>
            <a:ext cx="777777" cy="400110"/>
          </a:xfrm>
          <a:prstGeom prst="rect">
            <a:avLst/>
          </a:prstGeom>
        </p:spPr>
        <p:txBody>
          <a:bodyPr wrap="none">
            <a:spAutoFit/>
          </a:bodyPr>
          <a:lstStyle/>
          <a:p>
            <a:pPr defTabSz="914400" fontAlgn="base">
              <a:spcBef>
                <a:spcPct val="0"/>
              </a:spcBef>
              <a:spcAft>
                <a:spcPct val="0"/>
              </a:spcAft>
            </a:pPr>
            <a:r>
              <a:rPr lang="en-US" altLang="zh-CN" sz="2000" b="1" dirty="0">
                <a:solidFill>
                  <a:srgbClr val="0066CC"/>
                </a:solidFill>
                <a:latin typeface="Huawei Sans" panose="020C0503030203020204" pitchFamily="34" charset="0"/>
                <a:ea typeface="方正兰亭黑简体" panose="02000000000000000000" pitchFamily="2" charset="-122"/>
                <a:sym typeface="Huawei Sans" panose="020C0503030203020204" pitchFamily="34" charset="0"/>
              </a:rPr>
              <a:t>SRv6</a:t>
            </a:r>
            <a:endParaRPr lang="zh-CN" altLang="en-US" sz="2000" b="1" dirty="0">
              <a:solidFill>
                <a:srgbClr val="0066CC"/>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79" name="直接箭头连接符 94"/>
          <p:cNvCxnSpPr/>
          <p:nvPr/>
        </p:nvCxnSpPr>
        <p:spPr bwMode="gray">
          <a:xfrm>
            <a:off x="8827309" y="2914692"/>
            <a:ext cx="1234723" cy="0"/>
          </a:xfrm>
          <a:prstGeom prst="straightConnector1">
            <a:avLst/>
          </a:prstGeom>
          <a:noFill/>
          <a:ln w="9525" cap="flat" cmpd="sng" algn="ctr">
            <a:solidFill>
              <a:srgbClr val="000000"/>
            </a:solidFill>
            <a:prstDash val="dash"/>
            <a:headEnd type="triangle"/>
            <a:tailEnd type="triangle"/>
          </a:ln>
          <a:effectLst/>
        </p:spPr>
      </p:cxnSp>
      <p:sp>
        <p:nvSpPr>
          <p:cNvPr id="80" name="矩形 96"/>
          <p:cNvSpPr/>
          <p:nvPr/>
        </p:nvSpPr>
        <p:spPr bwMode="gray">
          <a:xfrm>
            <a:off x="8748344" y="2468473"/>
            <a:ext cx="1800493" cy="307777"/>
          </a:xfrm>
          <a:prstGeom prst="rect">
            <a:avLst/>
          </a:prstGeom>
        </p:spPr>
        <p:txBody>
          <a:bodyPr wrap="none">
            <a:spAutoFit/>
          </a:bodyPr>
          <a:lstStyle/>
          <a:p>
            <a:pPr defTabSz="914400" fontAlgn="base">
              <a:spcBef>
                <a:spcPct val="0"/>
              </a:spcBef>
              <a:spcAft>
                <a:spcPct val="0"/>
              </a:spcAft>
            </a:pPr>
            <a:r>
              <a:rPr lang="en-US" altLang="zh-CN" sz="1400" b="1" dirty="0">
                <a:solidFill>
                  <a:srgbClr val="0000CC"/>
                </a:solidFill>
                <a:latin typeface="Huawei Sans" panose="020C0503030203020204" pitchFamily="34" charset="0"/>
                <a:ea typeface="方正兰亭黑简体" panose="02000000000000000000" pitchFamily="2" charset="-122"/>
                <a:sym typeface="Huawei Sans" panose="020C0503030203020204" pitchFamily="34" charset="0"/>
              </a:rPr>
              <a:t>IGP + SR extension</a:t>
            </a:r>
            <a:endParaRPr lang="zh-CN" altLang="en-US" sz="1400" b="1" dirty="0">
              <a:solidFill>
                <a:srgbClr val="0000CC"/>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7" name="矩形 103"/>
          <p:cNvSpPr/>
          <p:nvPr/>
        </p:nvSpPr>
        <p:spPr bwMode="gray">
          <a:xfrm>
            <a:off x="7862702" y="4763816"/>
            <a:ext cx="772969" cy="276999"/>
          </a:xfrm>
          <a:prstGeom prst="rect">
            <a:avLst/>
          </a:prstGeom>
          <a:solidFill>
            <a:srgbClr val="FFFFFF">
              <a:lumMod val="85000"/>
            </a:srgbClr>
          </a:solidFill>
          <a:ln w="12700">
            <a:solidFill>
              <a:srgbClr val="FFFFFF">
                <a:lumMod val="50000"/>
              </a:srgbClr>
            </a:solidFill>
          </a:ln>
        </p:spPr>
        <p:txBody>
          <a:bodyPr wrap="none" anchor="ctr">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lvl="0" algn="ctr" defTabSz="914400" fontAlgn="base">
              <a:spcBef>
                <a:spcPct val="0"/>
              </a:spcBef>
              <a:spcAft>
                <a:spcPct val="0"/>
              </a:spcAft>
              <a:defRPr/>
            </a:pPr>
            <a:r>
              <a:rPr lang="en-US" altLang="zh-CN" sz="1200" b="1"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Payload</a:t>
            </a:r>
            <a:endParaRPr lang="zh-CN" altLang="en-US" sz="1200" b="1"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2" name="组合 1"/>
          <p:cNvGrpSpPr/>
          <p:nvPr/>
        </p:nvGrpSpPr>
        <p:grpSpPr bwMode="gray">
          <a:xfrm>
            <a:off x="8662374" y="4507407"/>
            <a:ext cx="778883" cy="533408"/>
            <a:chOff x="8619808" y="4507407"/>
            <a:chExt cx="778883" cy="533408"/>
          </a:xfrm>
        </p:grpSpPr>
        <p:sp>
          <p:nvSpPr>
            <p:cNvPr id="91" name="矩形 107"/>
            <p:cNvSpPr/>
            <p:nvPr/>
          </p:nvSpPr>
          <p:spPr bwMode="gray">
            <a:xfrm>
              <a:off x="8619808" y="4763816"/>
              <a:ext cx="778883" cy="276999"/>
            </a:xfrm>
            <a:prstGeom prst="rect">
              <a:avLst/>
            </a:prstGeom>
            <a:solidFill>
              <a:srgbClr val="FFFFFF">
                <a:lumMod val="85000"/>
              </a:srgbClr>
            </a:solidFill>
            <a:ln w="12700">
              <a:solidFill>
                <a:srgbClr val="FFFFFF">
                  <a:lumMod val="50000"/>
                </a:srgbClr>
              </a:solidFill>
            </a:ln>
          </p:spPr>
          <p:txBody>
            <a:bodyPr wrap="square" anchor="ctr">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lvl="0" algn="ctr" defTabSz="914400" fontAlgn="base">
                <a:spcBef>
                  <a:spcPct val="0"/>
                </a:spcBef>
                <a:spcAft>
                  <a:spcPct val="0"/>
                </a:spcAft>
                <a:defRPr/>
              </a:pPr>
              <a:r>
                <a:rPr lang="en-US" altLang="zh-CN" sz="1200" b="1"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Payload</a:t>
              </a:r>
              <a:endParaRPr lang="zh-CN" altLang="en-US" sz="1200" b="1"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2" name="矩形 108"/>
            <p:cNvSpPr/>
            <p:nvPr/>
          </p:nvSpPr>
          <p:spPr bwMode="gray">
            <a:xfrm>
              <a:off x="8622499" y="4507407"/>
              <a:ext cx="775955" cy="215216"/>
            </a:xfrm>
            <a:prstGeom prst="rect">
              <a:avLst/>
            </a:prstGeom>
            <a:solidFill>
              <a:srgbClr val="007FD6"/>
            </a:solidFill>
            <a:ln w="12700">
              <a:solidFill>
                <a:srgbClr val="FFFFFF">
                  <a:lumMod val="50000"/>
                </a:srgbClr>
              </a:solidFill>
            </a:ln>
          </p:spPr>
          <p:txBody>
            <a:bodyPr wrap="none" anchor="ctr">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dirty="0">
                  <a:ln>
                    <a:noFill/>
                  </a:ln>
                  <a:solidFill>
                    <a:srgbClr val="FFFFFF"/>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IPv6 + SRH</a:t>
              </a:r>
              <a:endParaRPr kumimoji="0" lang="zh-CN" altLang="en-US" sz="1200" b="0" i="0" u="none" strike="noStrike" kern="1200" cap="none" spc="0" normalizeH="0" baseline="0" noProof="0" dirty="0">
                <a:ln>
                  <a:noFill/>
                </a:ln>
                <a:solidFill>
                  <a:srgbClr val="FFFFFF"/>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93" name="矩形 109"/>
          <p:cNvSpPr/>
          <p:nvPr/>
        </p:nvSpPr>
        <p:spPr bwMode="gray">
          <a:xfrm>
            <a:off x="10270619" y="4763816"/>
            <a:ext cx="800647" cy="276999"/>
          </a:xfrm>
          <a:prstGeom prst="rect">
            <a:avLst/>
          </a:prstGeom>
          <a:solidFill>
            <a:srgbClr val="FFFFFF">
              <a:lumMod val="85000"/>
            </a:srgbClr>
          </a:solidFill>
          <a:ln w="12700">
            <a:solidFill>
              <a:srgbClr val="FFFFFF">
                <a:lumMod val="50000"/>
              </a:srgbClr>
            </a:solidFill>
          </a:ln>
        </p:spPr>
        <p:txBody>
          <a:bodyPr wrap="square" anchor="ctr">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lvl="0" algn="ctr" defTabSz="914400" fontAlgn="base">
              <a:spcBef>
                <a:spcPct val="0"/>
              </a:spcBef>
              <a:spcAft>
                <a:spcPct val="0"/>
              </a:spcAft>
              <a:defRPr/>
            </a:pPr>
            <a:r>
              <a:rPr lang="en-US" altLang="zh-CN" sz="1200" b="1"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Payload</a:t>
            </a:r>
            <a:endParaRPr lang="zh-CN" altLang="en-US" sz="1200" b="1"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4" name="右箭头 110"/>
          <p:cNvSpPr/>
          <p:nvPr/>
        </p:nvSpPr>
        <p:spPr bwMode="gray">
          <a:xfrm>
            <a:off x="8334551" y="3455634"/>
            <a:ext cx="2444248" cy="115125"/>
          </a:xfrm>
          <a:prstGeom prst="rightArrow">
            <a:avLst/>
          </a:prstGeom>
          <a:solidFill>
            <a:srgbClr val="FFFFFF">
              <a:lumMod val="85000"/>
            </a:srgbClr>
          </a:solidFill>
          <a:ln>
            <a:solidFill>
              <a:srgbClr val="000000"/>
            </a:solidFill>
          </a:ln>
        </p:spPr>
        <p:txBody>
          <a:bodyPr rot="0" spcFirstLastPara="0" vert="horz" wrap="none" lIns="91440" tIns="45720" rIns="91440" bIns="45720" numCol="1" spcCol="0" rtlCol="0" fromWordArt="0" anchor="ctr" anchorCtr="0" forceAA="0" compatLnSpc="1">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dirty="0" err="1">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4" name="组合 3"/>
          <p:cNvGrpSpPr/>
          <p:nvPr/>
        </p:nvGrpSpPr>
        <p:grpSpPr bwMode="gray">
          <a:xfrm>
            <a:off x="9467960" y="4507408"/>
            <a:ext cx="775955" cy="533407"/>
            <a:chOff x="9449684" y="4507408"/>
            <a:chExt cx="775955" cy="533407"/>
          </a:xfrm>
        </p:grpSpPr>
        <p:sp>
          <p:nvSpPr>
            <p:cNvPr id="95" name="矩形 111"/>
            <p:cNvSpPr/>
            <p:nvPr/>
          </p:nvSpPr>
          <p:spPr bwMode="gray">
            <a:xfrm>
              <a:off x="9449684" y="4763816"/>
              <a:ext cx="775955" cy="276999"/>
            </a:xfrm>
            <a:prstGeom prst="rect">
              <a:avLst/>
            </a:prstGeom>
            <a:solidFill>
              <a:srgbClr val="FFFFFF">
                <a:lumMod val="85000"/>
              </a:srgbClr>
            </a:solidFill>
            <a:ln w="12700">
              <a:solidFill>
                <a:srgbClr val="FFFFFF">
                  <a:lumMod val="50000"/>
                </a:srgbClr>
              </a:solidFill>
            </a:ln>
          </p:spPr>
          <p:txBody>
            <a:bodyPr wrap="square" anchor="ctr">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lvl="0" algn="ctr" defTabSz="914400" fontAlgn="base">
                <a:spcBef>
                  <a:spcPct val="0"/>
                </a:spcBef>
                <a:spcAft>
                  <a:spcPct val="0"/>
                </a:spcAft>
                <a:defRPr/>
              </a:pPr>
              <a:r>
                <a:rPr lang="en-US" altLang="zh-CN" sz="1200" b="1"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Payload</a:t>
              </a:r>
              <a:endParaRPr lang="zh-CN" altLang="en-US" sz="1200" b="1"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6" name="矩形 112"/>
            <p:cNvSpPr/>
            <p:nvPr/>
          </p:nvSpPr>
          <p:spPr bwMode="gray">
            <a:xfrm>
              <a:off x="9449684" y="4507408"/>
              <a:ext cx="775955" cy="215216"/>
            </a:xfrm>
            <a:prstGeom prst="rect">
              <a:avLst/>
            </a:prstGeom>
            <a:solidFill>
              <a:srgbClr val="007FD6"/>
            </a:solidFill>
            <a:ln w="12700">
              <a:solidFill>
                <a:srgbClr val="FFFFFF">
                  <a:lumMod val="50000"/>
                </a:srgbClr>
              </a:solidFill>
            </a:ln>
          </p:spPr>
          <p:txBody>
            <a:bodyPr wrap="none" anchor="ctr">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dirty="0">
                  <a:ln>
                    <a:noFill/>
                  </a:ln>
                  <a:solidFill>
                    <a:srgbClr val="FFFFFF"/>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IPv6 + SRH</a:t>
              </a:r>
              <a:endParaRPr kumimoji="0" lang="zh-CN" altLang="en-US" sz="1200" b="0" i="0" u="none" strike="noStrike" kern="1200" cap="none" spc="0" normalizeH="0" baseline="0" noProof="0" dirty="0">
                <a:ln>
                  <a:noFill/>
                </a:ln>
                <a:solidFill>
                  <a:srgbClr val="FFFFFF"/>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5" name="组合 4"/>
          <p:cNvGrpSpPr/>
          <p:nvPr/>
        </p:nvGrpSpPr>
        <p:grpSpPr bwMode="gray">
          <a:xfrm>
            <a:off x="5410905" y="4352443"/>
            <a:ext cx="768646" cy="688372"/>
            <a:chOff x="5345767" y="4352443"/>
            <a:chExt cx="768646" cy="688372"/>
          </a:xfrm>
        </p:grpSpPr>
        <p:sp>
          <p:nvSpPr>
            <p:cNvPr id="63" name="矩形 71"/>
            <p:cNvSpPr/>
            <p:nvPr/>
          </p:nvSpPr>
          <p:spPr bwMode="gray">
            <a:xfrm>
              <a:off x="5345767" y="4763816"/>
              <a:ext cx="768646" cy="276999"/>
            </a:xfrm>
            <a:prstGeom prst="rect">
              <a:avLst/>
            </a:prstGeom>
            <a:solidFill>
              <a:srgbClr val="FFFFFF">
                <a:lumMod val="85000"/>
              </a:srgbClr>
            </a:solidFill>
            <a:ln w="12700">
              <a:solidFill>
                <a:srgbClr val="FFFFFF">
                  <a:lumMod val="50000"/>
                </a:srgbClr>
              </a:solidFill>
            </a:ln>
          </p:spPr>
          <p:txBody>
            <a:bodyPr wrap="square" anchor="ctr">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lvl="0" algn="ctr" defTabSz="914400" fontAlgn="base">
                <a:spcBef>
                  <a:spcPct val="0"/>
                </a:spcBef>
                <a:spcAft>
                  <a:spcPct val="0"/>
                </a:spcAft>
                <a:defRPr/>
              </a:pPr>
              <a:r>
                <a:rPr lang="en-US" altLang="zh-CN" sz="1200" b="1"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Payload</a:t>
              </a:r>
              <a:endParaRPr lang="zh-CN" altLang="en-US" sz="1200" b="1"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4" name="矩形 76"/>
            <p:cNvSpPr/>
            <p:nvPr/>
          </p:nvSpPr>
          <p:spPr bwMode="gray">
            <a:xfrm>
              <a:off x="5357481" y="4352443"/>
              <a:ext cx="745219" cy="186254"/>
            </a:xfrm>
            <a:prstGeom prst="rect">
              <a:avLst/>
            </a:prstGeom>
            <a:solidFill>
              <a:srgbClr val="009242"/>
            </a:solidFill>
            <a:ln w="12700">
              <a:solidFill>
                <a:srgbClr val="FFFFFF">
                  <a:lumMod val="50000"/>
                </a:srgbClr>
              </a:solidFill>
            </a:ln>
          </p:spPr>
          <p:txBody>
            <a:bodyPr wrap="none" anchor="ctr">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dirty="0">
                  <a:ln>
                    <a:noFill/>
                  </a:ln>
                  <a:solidFill>
                    <a:srgbClr val="FFFFFF"/>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MPLS 222</a:t>
              </a:r>
              <a:endParaRPr kumimoji="0" lang="zh-CN" altLang="en-US" sz="1200" b="0" i="0" u="none" strike="noStrike" kern="1200" cap="none" spc="0" normalizeH="0" baseline="0" noProof="0" dirty="0">
                <a:ln>
                  <a:noFill/>
                </a:ln>
                <a:solidFill>
                  <a:srgbClr val="FFFFFF"/>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0" name="矩形 117"/>
            <p:cNvSpPr/>
            <p:nvPr/>
          </p:nvSpPr>
          <p:spPr bwMode="gray">
            <a:xfrm>
              <a:off x="5357481" y="4552657"/>
              <a:ext cx="745219" cy="186254"/>
            </a:xfrm>
            <a:prstGeom prst="rect">
              <a:avLst/>
            </a:prstGeom>
            <a:solidFill>
              <a:srgbClr val="009242"/>
            </a:solidFill>
            <a:ln w="12700">
              <a:solidFill>
                <a:srgbClr val="FFFFFF">
                  <a:lumMod val="50000"/>
                </a:srgbClr>
              </a:solidFill>
            </a:ln>
          </p:spPr>
          <p:txBody>
            <a:bodyPr wrap="none" anchor="ctr">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dirty="0">
                  <a:ln>
                    <a:noFill/>
                  </a:ln>
                  <a:solidFill>
                    <a:srgbClr val="FFFFFF"/>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MPLS 111</a:t>
              </a:r>
              <a:endParaRPr kumimoji="0" lang="zh-CN" altLang="en-US" sz="1200" b="0" i="0" u="none" strike="noStrike" kern="1200" cap="none" spc="0" normalizeH="0" baseline="0" noProof="0" dirty="0">
                <a:ln>
                  <a:noFill/>
                </a:ln>
                <a:solidFill>
                  <a:srgbClr val="FFFFFF"/>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cxnSp>
        <p:nvCxnSpPr>
          <p:cNvPr id="102" name="Straight Connector 106"/>
          <p:cNvCxnSpPr/>
          <p:nvPr/>
        </p:nvCxnSpPr>
        <p:spPr bwMode="gray">
          <a:xfrm>
            <a:off x="4569564" y="1745402"/>
            <a:ext cx="0" cy="3280313"/>
          </a:xfrm>
          <a:prstGeom prst="line">
            <a:avLst/>
          </a:prstGeom>
          <a:noFill/>
          <a:ln w="15875" cap="flat" cmpd="sng" algn="ctr">
            <a:solidFill>
              <a:srgbClr val="000000">
                <a:lumMod val="50000"/>
                <a:lumOff val="50000"/>
              </a:srgbClr>
            </a:solidFill>
            <a:prstDash val="dash"/>
            <a:round/>
            <a:headEnd type="none" w="med" len="med"/>
            <a:tailEnd type="none" w="med" len="med"/>
          </a:ln>
          <a:effectLst/>
        </p:spPr>
      </p:cxnSp>
      <p:cxnSp>
        <p:nvCxnSpPr>
          <p:cNvPr id="103" name="Straight Connector 110"/>
          <p:cNvCxnSpPr/>
          <p:nvPr/>
        </p:nvCxnSpPr>
        <p:spPr bwMode="gray">
          <a:xfrm>
            <a:off x="7833643" y="1650102"/>
            <a:ext cx="0" cy="3280313"/>
          </a:xfrm>
          <a:prstGeom prst="line">
            <a:avLst/>
          </a:prstGeom>
          <a:noFill/>
          <a:ln w="15875" cap="flat" cmpd="sng" algn="ctr">
            <a:solidFill>
              <a:srgbClr val="000000">
                <a:lumMod val="50000"/>
                <a:lumOff val="50000"/>
              </a:srgbClr>
            </a:solidFill>
            <a:prstDash val="dash"/>
            <a:round/>
            <a:headEnd type="none" w="med" len="med"/>
            <a:tailEnd type="none" w="med" len="med"/>
          </a:ln>
          <a:effectLst/>
        </p:spPr>
      </p:cxnSp>
      <p:grpSp>
        <p:nvGrpSpPr>
          <p:cNvPr id="6" name="组合 5"/>
          <p:cNvGrpSpPr/>
          <p:nvPr/>
        </p:nvGrpSpPr>
        <p:grpSpPr bwMode="gray">
          <a:xfrm>
            <a:off x="6235123" y="4552594"/>
            <a:ext cx="768646" cy="488221"/>
            <a:chOff x="6187209" y="4552594"/>
            <a:chExt cx="768646" cy="488221"/>
          </a:xfrm>
        </p:grpSpPr>
        <p:sp>
          <p:nvSpPr>
            <p:cNvPr id="65" name="矩形 78"/>
            <p:cNvSpPr/>
            <p:nvPr/>
          </p:nvSpPr>
          <p:spPr bwMode="gray">
            <a:xfrm>
              <a:off x="6187209" y="4763816"/>
              <a:ext cx="768646" cy="276999"/>
            </a:xfrm>
            <a:prstGeom prst="rect">
              <a:avLst/>
            </a:prstGeom>
            <a:solidFill>
              <a:srgbClr val="FFFFFF">
                <a:lumMod val="85000"/>
              </a:srgbClr>
            </a:solidFill>
            <a:ln w="12700">
              <a:solidFill>
                <a:srgbClr val="FFFFFF">
                  <a:lumMod val="50000"/>
                </a:srgbClr>
              </a:solidFill>
            </a:ln>
          </p:spPr>
          <p:txBody>
            <a:bodyPr wrap="square" anchor="ctr">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lvl="0" algn="ctr" defTabSz="914400" fontAlgn="base">
                <a:spcBef>
                  <a:spcPct val="0"/>
                </a:spcBef>
                <a:spcAft>
                  <a:spcPct val="0"/>
                </a:spcAft>
                <a:defRPr/>
              </a:pPr>
              <a:r>
                <a:rPr lang="en-US" altLang="zh-CN" sz="1200" b="1"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Payload</a:t>
              </a:r>
              <a:endParaRPr lang="zh-CN" altLang="en-US" sz="1200" b="1"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4" name="矩形 117"/>
            <p:cNvSpPr/>
            <p:nvPr/>
          </p:nvSpPr>
          <p:spPr bwMode="gray">
            <a:xfrm>
              <a:off x="6198923" y="4552594"/>
              <a:ext cx="745219" cy="186254"/>
            </a:xfrm>
            <a:prstGeom prst="rect">
              <a:avLst/>
            </a:prstGeom>
            <a:solidFill>
              <a:srgbClr val="009242"/>
            </a:solidFill>
            <a:ln w="12700">
              <a:solidFill>
                <a:srgbClr val="FFFFFF">
                  <a:lumMod val="50000"/>
                </a:srgbClr>
              </a:solidFill>
            </a:ln>
          </p:spPr>
          <p:txBody>
            <a:bodyPr wrap="none" anchor="ctr">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dirty="0">
                  <a:ln>
                    <a:noFill/>
                  </a:ln>
                  <a:solidFill>
                    <a:srgbClr val="FFFFFF"/>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MPLS 111</a:t>
              </a:r>
              <a:endParaRPr kumimoji="0" lang="zh-CN" altLang="en-US" sz="1200" b="0" i="0" u="none" strike="noStrike" kern="1200" cap="none" spc="0" normalizeH="0" baseline="0" noProof="0" dirty="0">
                <a:ln>
                  <a:noFill/>
                </a:ln>
                <a:solidFill>
                  <a:srgbClr val="FFFFFF"/>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11" name="组合 10"/>
          <p:cNvGrpSpPr/>
          <p:nvPr/>
        </p:nvGrpSpPr>
        <p:grpSpPr bwMode="gray">
          <a:xfrm>
            <a:off x="1953684" y="4345668"/>
            <a:ext cx="811357" cy="695147"/>
            <a:chOff x="1965276" y="4345668"/>
            <a:chExt cx="811357" cy="695147"/>
          </a:xfrm>
        </p:grpSpPr>
        <p:sp>
          <p:nvSpPr>
            <p:cNvPr id="43" name="矩形 51"/>
            <p:cNvSpPr/>
            <p:nvPr/>
          </p:nvSpPr>
          <p:spPr bwMode="gray">
            <a:xfrm>
              <a:off x="1965993" y="4763816"/>
              <a:ext cx="809922" cy="276999"/>
            </a:xfrm>
            <a:prstGeom prst="rect">
              <a:avLst/>
            </a:prstGeom>
            <a:solidFill>
              <a:srgbClr val="FFFFFF">
                <a:lumMod val="85000"/>
              </a:srgbClr>
            </a:solidFill>
            <a:ln w="12700">
              <a:solidFill>
                <a:srgbClr val="FFFFFF">
                  <a:lumMod val="50000"/>
                </a:srgbClr>
              </a:solidFill>
            </a:ln>
          </p:spPr>
          <p:txBody>
            <a:bodyPr wrap="square" anchor="ctr">
              <a:spAutoFit/>
            </a:bodyPr>
            <a:lstStyle/>
            <a:p>
              <a:pPr lvl="0" algn="ctr" defTabSz="914400" fontAlgn="base">
                <a:spcBef>
                  <a:spcPct val="0"/>
                </a:spcBef>
                <a:spcAft>
                  <a:spcPct val="0"/>
                </a:spcAft>
                <a:defRPr/>
              </a:pPr>
              <a:r>
                <a:rPr lang="en-US" altLang="zh-CN" sz="1200" b="1"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Payload</a:t>
              </a:r>
              <a:endParaRPr lang="zh-CN" altLang="en-US" sz="1200" b="1"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矩形 52"/>
            <p:cNvSpPr/>
            <p:nvPr/>
          </p:nvSpPr>
          <p:spPr bwMode="gray">
            <a:xfrm>
              <a:off x="1965276" y="4550242"/>
              <a:ext cx="811357" cy="186191"/>
            </a:xfrm>
            <a:prstGeom prst="rect">
              <a:avLst/>
            </a:prstGeom>
            <a:solidFill>
              <a:srgbClr val="990000">
                <a:lumMod val="20000"/>
                <a:lumOff val="80000"/>
              </a:srgbClr>
            </a:solidFill>
            <a:ln w="12700">
              <a:solidFill>
                <a:srgbClr val="FFFFFF">
                  <a:lumMod val="50000"/>
                </a:srgbClr>
              </a:solidFill>
            </a:ln>
          </p:spPr>
          <p:txBody>
            <a:bodyPr wrap="none" anchor="ctr">
              <a:noAutofit/>
            </a:bodyPr>
            <a:lstStyle/>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1200" b="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MPLS 1949</a:t>
              </a:r>
              <a:endParaRPr kumimoji="0" lang="zh-CN" altLang="en-US" sz="1200" b="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6" name="矩形 52"/>
            <p:cNvSpPr/>
            <p:nvPr/>
          </p:nvSpPr>
          <p:spPr bwMode="gray">
            <a:xfrm>
              <a:off x="1965276" y="4345668"/>
              <a:ext cx="811357" cy="186191"/>
            </a:xfrm>
            <a:prstGeom prst="rect">
              <a:avLst/>
            </a:prstGeom>
            <a:solidFill>
              <a:srgbClr val="990000">
                <a:lumMod val="20000"/>
                <a:lumOff val="80000"/>
              </a:srgbClr>
            </a:solidFill>
            <a:ln w="12700">
              <a:solidFill>
                <a:srgbClr val="FFFFFF">
                  <a:lumMod val="50000"/>
                </a:srgbClr>
              </a:solidFill>
            </a:ln>
          </p:spPr>
          <p:txBody>
            <a:bodyPr wrap="none" anchor="ctr">
              <a:noAutofit/>
            </a:bodyPr>
            <a:lstStyle/>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1200" b="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MPLS 2004</a:t>
              </a:r>
              <a:endParaRPr kumimoji="0" lang="zh-CN" altLang="en-US" sz="1200" b="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7" name="组合 6"/>
          <p:cNvGrpSpPr/>
          <p:nvPr/>
        </p:nvGrpSpPr>
        <p:grpSpPr bwMode="gray">
          <a:xfrm>
            <a:off x="2825415" y="4352154"/>
            <a:ext cx="841639" cy="688661"/>
            <a:chOff x="2855810" y="4352154"/>
            <a:chExt cx="841639" cy="688661"/>
          </a:xfrm>
        </p:grpSpPr>
        <p:sp>
          <p:nvSpPr>
            <p:cNvPr id="45" name="矩形 53"/>
            <p:cNvSpPr/>
            <p:nvPr/>
          </p:nvSpPr>
          <p:spPr bwMode="gray">
            <a:xfrm>
              <a:off x="2855810" y="4763816"/>
              <a:ext cx="841639" cy="276999"/>
            </a:xfrm>
            <a:prstGeom prst="rect">
              <a:avLst/>
            </a:prstGeom>
            <a:solidFill>
              <a:srgbClr val="FFFFFF">
                <a:lumMod val="85000"/>
              </a:srgbClr>
            </a:solidFill>
            <a:ln w="12700">
              <a:solidFill>
                <a:srgbClr val="FFFFFF">
                  <a:lumMod val="50000"/>
                </a:srgbClr>
              </a:solidFill>
            </a:ln>
          </p:spPr>
          <p:txBody>
            <a:bodyPr wrap="square" anchor="ctr">
              <a:spAutoFit/>
            </a:bodyPr>
            <a:lstStyle/>
            <a:p>
              <a:pPr lvl="0" algn="ctr" defTabSz="914400" fontAlgn="base">
                <a:spcBef>
                  <a:spcPct val="0"/>
                </a:spcBef>
                <a:spcAft>
                  <a:spcPct val="0"/>
                </a:spcAft>
                <a:defRPr/>
              </a:pPr>
              <a:r>
                <a:rPr lang="en-US" altLang="zh-CN" sz="1200" b="1"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Payload</a:t>
              </a:r>
              <a:endParaRPr lang="zh-CN" altLang="en-US" sz="1200" b="1"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矩形 54"/>
            <p:cNvSpPr/>
            <p:nvPr/>
          </p:nvSpPr>
          <p:spPr bwMode="gray">
            <a:xfrm>
              <a:off x="2857297" y="4556729"/>
              <a:ext cx="838664" cy="186191"/>
            </a:xfrm>
            <a:prstGeom prst="rect">
              <a:avLst/>
            </a:prstGeom>
            <a:solidFill>
              <a:srgbClr val="990000">
                <a:lumMod val="20000"/>
                <a:lumOff val="80000"/>
              </a:srgbClr>
            </a:solidFill>
            <a:ln w="12700">
              <a:solidFill>
                <a:srgbClr val="FFFFFF">
                  <a:lumMod val="50000"/>
                </a:srgbClr>
              </a:solidFill>
            </a:ln>
          </p:spPr>
          <p:txBody>
            <a:bodyPr wrap="none" anchor="ctr">
              <a:noAutofit/>
            </a:bodyPr>
            <a:lstStyle/>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1200" b="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MPLS 1949</a:t>
              </a:r>
              <a:endParaRPr kumimoji="0" lang="zh-CN" altLang="en-US" sz="1200" b="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7" name="矩形 54"/>
            <p:cNvSpPr/>
            <p:nvPr/>
          </p:nvSpPr>
          <p:spPr bwMode="gray">
            <a:xfrm>
              <a:off x="2857297" y="4352154"/>
              <a:ext cx="838664" cy="186191"/>
            </a:xfrm>
            <a:prstGeom prst="rect">
              <a:avLst/>
            </a:prstGeom>
            <a:solidFill>
              <a:srgbClr val="990000">
                <a:lumMod val="20000"/>
                <a:lumOff val="80000"/>
              </a:srgbClr>
            </a:solidFill>
            <a:ln w="12700">
              <a:solidFill>
                <a:srgbClr val="FFFFFF">
                  <a:lumMod val="50000"/>
                </a:srgbClr>
              </a:solidFill>
            </a:ln>
          </p:spPr>
          <p:txBody>
            <a:bodyPr wrap="none" anchor="ctr">
              <a:noAutofit/>
            </a:bodyPr>
            <a:lstStyle/>
            <a:p>
              <a:pPr marL="0" marR="0" lvl="0" indent="0" algn="ctr" defTabSz="914400" eaLnBrk="1" fontAlgn="base" latinLnBrk="0" hangingPunct="1">
                <a:lnSpc>
                  <a:spcPct val="100000"/>
                </a:lnSpc>
                <a:spcBef>
                  <a:spcPct val="0"/>
                </a:spcBef>
                <a:spcAft>
                  <a:spcPct val="0"/>
                </a:spcAft>
                <a:buClrTx/>
                <a:buSzTx/>
                <a:buFontTx/>
                <a:buNone/>
                <a:defRPr/>
              </a:pPr>
              <a:r>
                <a:rPr kumimoji="0" lang="en-US" altLang="zh-CN" sz="1200" b="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MPLS 1368</a:t>
              </a:r>
              <a:endParaRPr kumimoji="0" lang="zh-CN" altLang="en-US" sz="1200" b="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108" name="下弧形箭头 113"/>
          <p:cNvSpPr/>
          <p:nvPr/>
        </p:nvSpPr>
        <p:spPr bwMode="gray">
          <a:xfrm rot="20540331">
            <a:off x="3818133" y="5292053"/>
            <a:ext cx="1448368" cy="436503"/>
          </a:xfrm>
          <a:prstGeom prst="curvedUpArrow">
            <a:avLst/>
          </a:prstGeom>
          <a:solidFill>
            <a:srgbClr val="00B050"/>
          </a:solidFill>
          <a:ln w="3175">
            <a:solidFill>
              <a:srgbClr val="62B230"/>
            </a:solidFill>
          </a:ln>
        </p:spPr>
        <p:txBody>
          <a:bodyPr rot="0" spcFirstLastPara="0" vert="horz" wrap="square" lIns="91440" tIns="45720" rIns="91440" bIns="45720" numCol="1" spcCol="0" rtlCol="0" fromWordArt="0" anchor="ctr" anchorCtr="0" forceAA="0" compatLnSpc="1">
            <a:noAutofit/>
          </a:bodyP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dirty="0" err="1">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9" name="矩形 115"/>
          <p:cNvSpPr/>
          <p:nvPr/>
        </p:nvSpPr>
        <p:spPr bwMode="gray">
          <a:xfrm>
            <a:off x="3916467" y="5882236"/>
            <a:ext cx="1218603" cy="338554"/>
          </a:xfrm>
          <a:prstGeom prst="rect">
            <a:avLst/>
          </a:prstGeom>
        </p:spPr>
        <p:txBody>
          <a:bodyPr wrap="none">
            <a:spAutoFit/>
          </a:bodyPr>
          <a:lstStyle/>
          <a:p>
            <a:pPr algn="ctr" defTabSz="914400" fontAlgn="base">
              <a:spcBef>
                <a:spcPct val="0"/>
              </a:spcBef>
              <a:spcAft>
                <a:spcPct val="0"/>
              </a:spcAft>
            </a:pPr>
            <a:r>
              <a:rPr lang="zh-CN" altLang="en-US" sz="1600" b="1" dirty="0">
                <a:solidFill>
                  <a:schemeClr val="accent6">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控制面简化</a:t>
            </a:r>
            <a:endParaRPr lang="zh-CN" altLang="en-US" sz="1600" b="1" dirty="0">
              <a:solidFill>
                <a:schemeClr val="accent6">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0" name="矩形 116"/>
          <p:cNvSpPr/>
          <p:nvPr/>
        </p:nvSpPr>
        <p:spPr bwMode="gray">
          <a:xfrm>
            <a:off x="7163992" y="5900667"/>
            <a:ext cx="1218603" cy="338554"/>
          </a:xfrm>
          <a:prstGeom prst="rect">
            <a:avLst/>
          </a:prstGeom>
        </p:spPr>
        <p:txBody>
          <a:bodyPr wrap="none">
            <a:spAutoFit/>
          </a:bodyPr>
          <a:lstStyle/>
          <a:p>
            <a:pPr algn="ctr" defTabSz="914400" fontAlgn="base">
              <a:spcBef>
                <a:spcPct val="0"/>
              </a:spcBef>
              <a:spcAft>
                <a:spcPct val="0"/>
              </a:spcAft>
            </a:pPr>
            <a:r>
              <a:rPr lang="zh-CN" altLang="en-US" sz="1600" b="1" dirty="0">
                <a:solidFill>
                  <a:schemeClr val="accent5">
                    <a:lumMod val="75000"/>
                  </a:schemeClr>
                </a:solidFill>
                <a:latin typeface="Huawei Sans" panose="020C0503030203020204" pitchFamily="34" charset="0"/>
                <a:ea typeface="方正兰亭黑简体" panose="02000000000000000000" pitchFamily="2" charset="-122"/>
                <a:sym typeface="Huawei Sans" panose="020C0503030203020204" pitchFamily="34" charset="0"/>
              </a:rPr>
              <a:t>转发面简化</a:t>
            </a:r>
            <a:endParaRPr lang="zh-CN" altLang="en-US" sz="1600" b="1" dirty="0">
              <a:solidFill>
                <a:schemeClr val="accent5">
                  <a:lumMod val="7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1" name="下弧形箭头 113"/>
          <p:cNvSpPr/>
          <p:nvPr/>
        </p:nvSpPr>
        <p:spPr bwMode="gray">
          <a:xfrm rot="20540331">
            <a:off x="7081528" y="5321626"/>
            <a:ext cx="1448368" cy="436503"/>
          </a:xfrm>
          <a:prstGeom prst="curvedUpArrow">
            <a:avLst/>
          </a:prstGeom>
          <a:solidFill>
            <a:srgbClr val="00B0F0"/>
          </a:solidFill>
          <a:ln w="3175">
            <a:solidFill>
              <a:schemeClr val="accent1">
                <a:lumMod val="75000"/>
              </a:schemeClr>
            </a:solidFill>
          </a:ln>
        </p:spPr>
        <p:txBody>
          <a:bodyPr rot="0" spcFirstLastPara="0" vert="horz" wrap="square" lIns="91440" tIns="45720" rIns="91440" bIns="45720" numCol="1" spcCol="0" rtlCol="0" fromWordArt="0" anchor="ctr" anchorCtr="0" forceAA="0" compatLnSpc="1">
            <a:noAutofit/>
          </a:bodyP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dirty="0" err="1">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2" name="Rectangle 129"/>
          <p:cNvSpPr/>
          <p:nvPr/>
        </p:nvSpPr>
        <p:spPr bwMode="gray">
          <a:xfrm>
            <a:off x="8880858" y="5219404"/>
            <a:ext cx="1374598" cy="830997"/>
          </a:xfrm>
          <a:prstGeom prst="rect">
            <a:avLst/>
          </a:prstGeom>
        </p:spPr>
        <p:txBody>
          <a:bodyPr wrap="square">
            <a:spAutoFit/>
          </a:bodyPr>
          <a:lstStyle/>
          <a:p>
            <a:pPr marL="285750" indent="-285750" defTabSz="914400" fontAlgn="base">
              <a:spcBef>
                <a:spcPct val="0"/>
              </a:spcBef>
              <a:spcAft>
                <a:spcPct val="0"/>
              </a:spcAft>
              <a:buFont typeface="Wingdings" panose="05000000000000000000" pitchFamily="2" charset="2"/>
              <a:buChar char="ü"/>
            </a:pPr>
            <a:r>
              <a:rPr lang="zh-CN" altLang="en-US" sz="1600" b="1" dirty="0">
                <a:solidFill>
                  <a:srgbClr val="0066CC"/>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简化协议</a:t>
            </a:r>
            <a:endParaRPr lang="en-US" altLang="zh-CN" sz="1600" b="1" dirty="0">
              <a:solidFill>
                <a:srgbClr val="0066CC"/>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p>
            <a:pPr marL="285750" indent="-285750" defTabSz="914400" fontAlgn="base">
              <a:spcBef>
                <a:spcPct val="0"/>
              </a:spcBef>
              <a:spcAft>
                <a:spcPct val="0"/>
              </a:spcAft>
              <a:buFont typeface="Wingdings" panose="05000000000000000000" pitchFamily="2" charset="2"/>
              <a:buChar char="ü"/>
            </a:pPr>
            <a:r>
              <a:rPr lang="zh-CN" altLang="en-US" sz="1600" b="1" dirty="0">
                <a:solidFill>
                  <a:srgbClr val="0066CC"/>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高扩展性</a:t>
            </a:r>
            <a:endParaRPr lang="en-US" altLang="zh-CN" sz="1600" b="1" dirty="0">
              <a:solidFill>
                <a:srgbClr val="0066CC"/>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p>
            <a:pPr marL="285750" indent="-285750" defTabSz="914400" fontAlgn="base">
              <a:spcBef>
                <a:spcPct val="0"/>
              </a:spcBef>
              <a:spcAft>
                <a:spcPct val="0"/>
              </a:spcAft>
              <a:buFont typeface="Wingdings" panose="05000000000000000000" pitchFamily="2" charset="2"/>
              <a:buChar char="ü"/>
            </a:pPr>
            <a:r>
              <a:rPr lang="zh-CN" altLang="en-US" sz="1600" b="1" dirty="0">
                <a:solidFill>
                  <a:srgbClr val="0066CC"/>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可编程</a:t>
            </a:r>
            <a:endParaRPr lang="en-US" altLang="zh-CN" sz="1600" b="1" dirty="0">
              <a:solidFill>
                <a:srgbClr val="0066CC"/>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05" name="文本占位符 5"/>
          <p:cNvSpPr txBox="1"/>
          <p:nvPr/>
        </p:nvSpPr>
        <p:spPr bwMode="gray">
          <a:xfrm>
            <a:off x="454008" y="999379"/>
            <a:ext cx="10728326" cy="1420787"/>
          </a:xfrm>
          <a:prstGeom prst="rect">
            <a:avLst/>
          </a:prstGeom>
        </p:spPr>
        <p:txBody>
          <a:bodyPr/>
          <a:lstStyle>
            <a:lvl1pPr marL="302260" indent="-302260" algn="l" defTabSz="913765" rtl="0" eaLnBrk="1" fontAlgn="ctr" latinLnBrk="0" hangingPunct="1">
              <a:lnSpc>
                <a:spcPct val="140000"/>
              </a:lnSpc>
              <a:spcBef>
                <a:spcPts val="790"/>
              </a:spcBef>
              <a:buSzPct val="50000"/>
              <a:buFont typeface="Wingdings" panose="05000000000000000000" pitchFamily="2" charset="2"/>
              <a:buChar char="l"/>
              <a:defRPr sz="2200" kern="1200" baseline="0">
                <a:solidFill>
                  <a:schemeClr val="tx1"/>
                </a:solidFill>
                <a:latin typeface="Huawei Sans" panose="020C0503030203020204" pitchFamily="34" charset="0"/>
                <a:ea typeface="方正兰亭黑简体" panose="02000000000000000000" pitchFamily="2" charset="-122"/>
                <a:cs typeface="+mn-cs"/>
              </a:defRPr>
            </a:lvl1pPr>
            <a:lvl2pPr marL="654685" indent="-252095" algn="l" defTabSz="913765" rtl="0" eaLnBrk="1" fontAlgn="ctr" latinLnBrk="0" hangingPunct="1">
              <a:lnSpc>
                <a:spcPct val="140000"/>
              </a:lnSpc>
              <a:spcBef>
                <a:spcPts val="720"/>
              </a:spcBef>
              <a:buClrTx/>
              <a:buSzPct val="50000"/>
              <a:buFont typeface="Wingdings" panose="05000000000000000000" pitchFamily="2" charset="2"/>
              <a:buChar char="p"/>
              <a:defRPr sz="2000" kern="1200" baseline="0">
                <a:solidFill>
                  <a:schemeClr val="tx1"/>
                </a:solidFill>
                <a:latin typeface="Huawei Sans" panose="020C0503030203020204" pitchFamily="34" charset="0"/>
                <a:ea typeface="方正兰亭黑简体" panose="02000000000000000000" pitchFamily="2" charset="-122"/>
                <a:cs typeface="+mn-cs"/>
              </a:defRPr>
            </a:lvl2pPr>
            <a:lvl3pPr marL="1003935" indent="-201295" algn="l" defTabSz="913765" rtl="0" eaLnBrk="1" fontAlgn="ctr" latinLnBrk="0" hangingPunct="1">
              <a:lnSpc>
                <a:spcPct val="140000"/>
              </a:lnSpc>
              <a:spcBef>
                <a:spcPts val="650"/>
              </a:spcBef>
              <a:buClrTx/>
              <a:buSzPct val="50000"/>
              <a:buFont typeface="Wingdings" panose="05000000000000000000" pitchFamily="2" charset="2"/>
              <a:buChar char="n"/>
              <a:defRPr sz="1800" kern="1200" baseline="0">
                <a:solidFill>
                  <a:schemeClr val="tx1"/>
                </a:solidFill>
                <a:latin typeface="Huawei Sans" panose="020C0503030203020204" pitchFamily="34" charset="0"/>
                <a:ea typeface="方正兰亭黑简体" panose="02000000000000000000" pitchFamily="2" charset="-122"/>
                <a:cs typeface="+mn-cs"/>
              </a:defRPr>
            </a:lvl3pPr>
            <a:lvl4pPr marL="1399540" indent="-198120" algn="l" defTabSz="913765" rtl="0" eaLnBrk="1" fontAlgn="ctr" latinLnBrk="0" hangingPunct="1">
              <a:lnSpc>
                <a:spcPct val="140000"/>
              </a:lnSpc>
              <a:spcBef>
                <a:spcPts val="575"/>
              </a:spcBef>
              <a:buFont typeface="Huawei Sans" panose="020C0503030203020204" pitchFamily="34" charset="0"/>
              <a:buChar char="−"/>
              <a:defRPr sz="1600" kern="1200" baseline="0">
                <a:solidFill>
                  <a:schemeClr val="tx1"/>
                </a:solidFill>
                <a:latin typeface="Huawei Sans" panose="020C0503030203020204" pitchFamily="34" charset="0"/>
                <a:ea typeface="方正兰亭黑简体" panose="02000000000000000000" pitchFamily="2" charset="-122"/>
                <a:cs typeface="+mn-cs"/>
              </a:defRPr>
            </a:lvl4pPr>
            <a:lvl5pPr marL="1802765" indent="-201295" algn="l" defTabSz="913765" rtl="0" eaLnBrk="1" fontAlgn="ctr" latinLnBrk="0" hangingPunct="1">
              <a:lnSpc>
                <a:spcPct val="140000"/>
              </a:lnSpc>
              <a:spcBef>
                <a:spcPts val="575"/>
              </a:spcBef>
              <a:buFont typeface="Huawei Sans" panose="020C0503030203020204" pitchFamily="34" charset="0"/>
              <a:buChar char="~"/>
              <a:defRPr sz="1400" kern="1200" baseline="0">
                <a:solidFill>
                  <a:schemeClr val="tx1"/>
                </a:solidFill>
                <a:latin typeface="Huawei Sans" panose="020C0503030203020204" pitchFamily="34" charset="0"/>
                <a:ea typeface="方正兰亭黑简体" panose="02000000000000000000" pitchFamily="2" charset="-122"/>
                <a:cs typeface="+mn-cs"/>
              </a:defRPr>
            </a:lvl5pPr>
            <a:lvl6pPr marL="25133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05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77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9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1600">
                <a:sym typeface="Huawei Sans" panose="020C0503030203020204" pitchFamily="34" charset="0"/>
              </a:rPr>
              <a:t>MPLS</a:t>
            </a:r>
            <a:r>
              <a:rPr lang="zh-CN" altLang="en-US" sz="1600">
                <a:sym typeface="Huawei Sans" panose="020C0503030203020204" pitchFamily="34" charset="0"/>
              </a:rPr>
              <a:t>带来了网络孤岛问题。</a:t>
            </a:r>
            <a:r>
              <a:rPr lang="en-US" altLang="zh-CN" sz="1600">
                <a:sym typeface="Huawei Sans" panose="020C0503030203020204" pitchFamily="34" charset="0"/>
              </a:rPr>
              <a:t>SRv6</a:t>
            </a:r>
            <a:r>
              <a:rPr lang="zh-CN" altLang="en-US" sz="1600">
                <a:sym typeface="Huawei Sans" panose="020C0503030203020204" pitchFamily="34" charset="0"/>
              </a:rPr>
              <a:t>统一转发平面，同时拥有简化协议、高扩展性和可编程等优势。</a:t>
            </a:r>
            <a:endParaRPr lang="zh-CN" altLang="en-US" sz="1600">
              <a:sym typeface="Huawei Sans" panose="020C0503030203020204" pitchFamily="34" charset="0"/>
            </a:endParaRPr>
          </a:p>
        </p:txBody>
      </p:sp>
      <p:pic>
        <p:nvPicPr>
          <p:cNvPr id="114" name="图片 113"/>
          <p:cNvPicPr/>
          <p:nvPr/>
        </p:nvPicPr>
        <p:blipFill>
          <a:blip r:embed="rId1" cstate="print">
            <a:extLst>
              <a:ext uri="{28A0092B-C50C-407E-A947-70E740481C1C}">
                <a14:useLocalDpi xmlns:a14="http://schemas.microsoft.com/office/drawing/2010/main" val="0"/>
              </a:ext>
            </a:extLst>
          </a:blip>
          <a:stretch>
            <a:fillRect/>
          </a:stretch>
        </p:blipFill>
        <p:spPr bwMode="gray">
          <a:xfrm>
            <a:off x="1866564" y="2598979"/>
            <a:ext cx="432369" cy="354542"/>
          </a:xfrm>
          <a:prstGeom prst="rect">
            <a:avLst/>
          </a:prstGeom>
        </p:spPr>
      </p:pic>
      <p:pic>
        <p:nvPicPr>
          <p:cNvPr id="118" name="图片 117"/>
          <p:cNvPicPr/>
          <p:nvPr/>
        </p:nvPicPr>
        <p:blipFill>
          <a:blip r:embed="rId1" cstate="print">
            <a:extLst>
              <a:ext uri="{28A0092B-C50C-407E-A947-70E740481C1C}">
                <a14:useLocalDpi xmlns:a14="http://schemas.microsoft.com/office/drawing/2010/main" val="0"/>
              </a:ext>
            </a:extLst>
          </a:blip>
          <a:stretch>
            <a:fillRect/>
          </a:stretch>
        </p:blipFill>
        <p:spPr bwMode="gray">
          <a:xfrm>
            <a:off x="3721213" y="2598979"/>
            <a:ext cx="432369" cy="354542"/>
          </a:xfrm>
          <a:prstGeom prst="rect">
            <a:avLst/>
          </a:prstGeom>
        </p:spPr>
      </p:pic>
      <p:pic>
        <p:nvPicPr>
          <p:cNvPr id="119" name="图片 118"/>
          <p:cNvPicPr/>
          <p:nvPr/>
        </p:nvPicPr>
        <p:blipFill>
          <a:blip r:embed="rId1" cstate="print">
            <a:extLst>
              <a:ext uri="{28A0092B-C50C-407E-A947-70E740481C1C}">
                <a14:useLocalDpi xmlns:a14="http://schemas.microsoft.com/office/drawing/2010/main" val="0"/>
              </a:ext>
            </a:extLst>
          </a:blip>
          <a:stretch>
            <a:fillRect/>
          </a:stretch>
        </p:blipFill>
        <p:spPr bwMode="gray">
          <a:xfrm>
            <a:off x="5068094" y="2764059"/>
            <a:ext cx="432369" cy="354542"/>
          </a:xfrm>
          <a:prstGeom prst="rect">
            <a:avLst/>
          </a:prstGeom>
        </p:spPr>
      </p:pic>
      <p:pic>
        <p:nvPicPr>
          <p:cNvPr id="120" name="图片 119"/>
          <p:cNvPicPr/>
          <p:nvPr/>
        </p:nvPicPr>
        <p:blipFill>
          <a:blip r:embed="rId1" cstate="print">
            <a:extLst>
              <a:ext uri="{28A0092B-C50C-407E-A947-70E740481C1C}">
                <a14:useLocalDpi xmlns:a14="http://schemas.microsoft.com/office/drawing/2010/main" val="0"/>
              </a:ext>
            </a:extLst>
          </a:blip>
          <a:stretch>
            <a:fillRect/>
          </a:stretch>
        </p:blipFill>
        <p:spPr bwMode="gray">
          <a:xfrm>
            <a:off x="6996787" y="2764059"/>
            <a:ext cx="432369" cy="354542"/>
          </a:xfrm>
          <a:prstGeom prst="rect">
            <a:avLst/>
          </a:prstGeom>
        </p:spPr>
      </p:pic>
      <p:pic>
        <p:nvPicPr>
          <p:cNvPr id="121" name="图片 120"/>
          <p:cNvPicPr/>
          <p:nvPr/>
        </p:nvPicPr>
        <p:blipFill>
          <a:blip r:embed="rId1" cstate="print">
            <a:extLst>
              <a:ext uri="{28A0092B-C50C-407E-A947-70E740481C1C}">
                <a14:useLocalDpi xmlns:a14="http://schemas.microsoft.com/office/drawing/2010/main" val="0"/>
              </a:ext>
            </a:extLst>
          </a:blip>
          <a:stretch>
            <a:fillRect/>
          </a:stretch>
        </p:blipFill>
        <p:spPr bwMode="gray">
          <a:xfrm>
            <a:off x="8305682" y="2764059"/>
            <a:ext cx="432369" cy="354542"/>
          </a:xfrm>
          <a:prstGeom prst="rect">
            <a:avLst/>
          </a:prstGeom>
        </p:spPr>
      </p:pic>
      <p:pic>
        <p:nvPicPr>
          <p:cNvPr id="122" name="图片 121"/>
          <p:cNvPicPr/>
          <p:nvPr/>
        </p:nvPicPr>
        <p:blipFill>
          <a:blip r:embed="rId1" cstate="print">
            <a:extLst>
              <a:ext uri="{28A0092B-C50C-407E-A947-70E740481C1C}">
                <a14:useLocalDpi xmlns:a14="http://schemas.microsoft.com/office/drawing/2010/main" val="0"/>
              </a:ext>
            </a:extLst>
          </a:blip>
          <a:stretch>
            <a:fillRect/>
          </a:stretch>
        </p:blipFill>
        <p:spPr bwMode="gray">
          <a:xfrm>
            <a:off x="10234375" y="2764059"/>
            <a:ext cx="432369" cy="354542"/>
          </a:xfrm>
          <a:prstGeom prst="rect">
            <a:avLst/>
          </a:prstGeom>
        </p:spPr>
      </p:pic>
      <p:pic>
        <p:nvPicPr>
          <p:cNvPr id="123" name="图片 122"/>
          <p:cNvPicPr/>
          <p:nvPr/>
        </p:nvPicPr>
        <p:blipFill>
          <a:blip r:embed="rId1" cstate="print">
            <a:extLst>
              <a:ext uri="{28A0092B-C50C-407E-A947-70E740481C1C}">
                <a14:useLocalDpi xmlns:a14="http://schemas.microsoft.com/office/drawing/2010/main" val="0"/>
              </a:ext>
            </a:extLst>
          </a:blip>
          <a:stretch>
            <a:fillRect/>
          </a:stretch>
        </p:blipFill>
        <p:spPr bwMode="gray">
          <a:xfrm>
            <a:off x="1866564" y="3614494"/>
            <a:ext cx="432369" cy="354542"/>
          </a:xfrm>
          <a:prstGeom prst="rect">
            <a:avLst/>
          </a:prstGeom>
        </p:spPr>
      </p:pic>
      <p:pic>
        <p:nvPicPr>
          <p:cNvPr id="124" name="图片 123"/>
          <p:cNvPicPr/>
          <p:nvPr/>
        </p:nvPicPr>
        <p:blipFill>
          <a:blip r:embed="rId1" cstate="print">
            <a:extLst>
              <a:ext uri="{28A0092B-C50C-407E-A947-70E740481C1C}">
                <a14:useLocalDpi xmlns:a14="http://schemas.microsoft.com/office/drawing/2010/main" val="0"/>
              </a:ext>
            </a:extLst>
          </a:blip>
          <a:stretch>
            <a:fillRect/>
          </a:stretch>
        </p:blipFill>
        <p:spPr bwMode="gray">
          <a:xfrm>
            <a:off x="3721213" y="3614494"/>
            <a:ext cx="432369" cy="354542"/>
          </a:xfrm>
          <a:prstGeom prst="rect">
            <a:avLst/>
          </a:prstGeom>
        </p:spPr>
      </p:pic>
      <p:pic>
        <p:nvPicPr>
          <p:cNvPr id="125" name="图片 124"/>
          <p:cNvPicPr/>
          <p:nvPr/>
        </p:nvPicPr>
        <p:blipFill>
          <a:blip r:embed="rId1" cstate="print">
            <a:extLst>
              <a:ext uri="{28A0092B-C50C-407E-A947-70E740481C1C}">
                <a14:useLocalDpi xmlns:a14="http://schemas.microsoft.com/office/drawing/2010/main" val="0"/>
              </a:ext>
            </a:extLst>
          </a:blip>
          <a:stretch>
            <a:fillRect/>
          </a:stretch>
        </p:blipFill>
        <p:spPr bwMode="gray">
          <a:xfrm>
            <a:off x="2820138" y="3627982"/>
            <a:ext cx="432369" cy="354542"/>
          </a:xfrm>
          <a:prstGeom prst="rect">
            <a:avLst/>
          </a:prstGeom>
        </p:spPr>
      </p:pic>
      <p:pic>
        <p:nvPicPr>
          <p:cNvPr id="126" name="图片 125"/>
          <p:cNvPicPr/>
          <p:nvPr/>
        </p:nvPicPr>
        <p:blipFill>
          <a:blip r:embed="rId1" cstate="print">
            <a:extLst>
              <a:ext uri="{28A0092B-C50C-407E-A947-70E740481C1C}">
                <a14:useLocalDpi xmlns:a14="http://schemas.microsoft.com/office/drawing/2010/main" val="0"/>
              </a:ext>
            </a:extLst>
          </a:blip>
          <a:stretch>
            <a:fillRect/>
          </a:stretch>
        </p:blipFill>
        <p:spPr bwMode="gray">
          <a:xfrm>
            <a:off x="5055856" y="3614494"/>
            <a:ext cx="432369" cy="354542"/>
          </a:xfrm>
          <a:prstGeom prst="rect">
            <a:avLst/>
          </a:prstGeom>
        </p:spPr>
      </p:pic>
      <p:pic>
        <p:nvPicPr>
          <p:cNvPr id="127" name="图片 126"/>
          <p:cNvPicPr/>
          <p:nvPr/>
        </p:nvPicPr>
        <p:blipFill>
          <a:blip r:embed="rId1" cstate="print">
            <a:extLst>
              <a:ext uri="{28A0092B-C50C-407E-A947-70E740481C1C}">
                <a14:useLocalDpi xmlns:a14="http://schemas.microsoft.com/office/drawing/2010/main" val="0"/>
              </a:ext>
            </a:extLst>
          </a:blip>
          <a:stretch>
            <a:fillRect/>
          </a:stretch>
        </p:blipFill>
        <p:spPr bwMode="gray">
          <a:xfrm>
            <a:off x="6999405" y="3614494"/>
            <a:ext cx="432369" cy="354542"/>
          </a:xfrm>
          <a:prstGeom prst="rect">
            <a:avLst/>
          </a:prstGeom>
        </p:spPr>
      </p:pic>
      <p:pic>
        <p:nvPicPr>
          <p:cNvPr id="128" name="图片 127"/>
          <p:cNvPicPr/>
          <p:nvPr/>
        </p:nvPicPr>
        <p:blipFill>
          <a:blip r:embed="rId1" cstate="print">
            <a:extLst>
              <a:ext uri="{28A0092B-C50C-407E-A947-70E740481C1C}">
                <a14:useLocalDpi xmlns:a14="http://schemas.microsoft.com/office/drawing/2010/main" val="0"/>
              </a:ext>
            </a:extLst>
          </a:blip>
          <a:stretch>
            <a:fillRect/>
          </a:stretch>
        </p:blipFill>
        <p:spPr bwMode="gray">
          <a:xfrm>
            <a:off x="6033677" y="3627982"/>
            <a:ext cx="432369" cy="354542"/>
          </a:xfrm>
          <a:prstGeom prst="rect">
            <a:avLst/>
          </a:prstGeom>
        </p:spPr>
      </p:pic>
      <p:pic>
        <p:nvPicPr>
          <p:cNvPr id="129" name="图片 128"/>
          <p:cNvPicPr/>
          <p:nvPr/>
        </p:nvPicPr>
        <p:blipFill>
          <a:blip r:embed="rId1" cstate="print">
            <a:extLst>
              <a:ext uri="{28A0092B-C50C-407E-A947-70E740481C1C}">
                <a14:useLocalDpi xmlns:a14="http://schemas.microsoft.com/office/drawing/2010/main" val="0"/>
              </a:ext>
            </a:extLst>
          </a:blip>
          <a:stretch>
            <a:fillRect/>
          </a:stretch>
        </p:blipFill>
        <p:spPr bwMode="gray">
          <a:xfrm>
            <a:off x="8305682" y="3614494"/>
            <a:ext cx="432369" cy="354542"/>
          </a:xfrm>
          <a:prstGeom prst="rect">
            <a:avLst/>
          </a:prstGeom>
        </p:spPr>
      </p:pic>
      <p:pic>
        <p:nvPicPr>
          <p:cNvPr id="130" name="图片 129"/>
          <p:cNvPicPr/>
          <p:nvPr/>
        </p:nvPicPr>
        <p:blipFill>
          <a:blip r:embed="rId1" cstate="print">
            <a:extLst>
              <a:ext uri="{28A0092B-C50C-407E-A947-70E740481C1C}">
                <a14:useLocalDpi xmlns:a14="http://schemas.microsoft.com/office/drawing/2010/main" val="0"/>
              </a:ext>
            </a:extLst>
          </a:blip>
          <a:stretch>
            <a:fillRect/>
          </a:stretch>
        </p:blipFill>
        <p:spPr bwMode="gray">
          <a:xfrm>
            <a:off x="10249231" y="3614494"/>
            <a:ext cx="432369" cy="354542"/>
          </a:xfrm>
          <a:prstGeom prst="rect">
            <a:avLst/>
          </a:prstGeom>
        </p:spPr>
      </p:pic>
      <p:pic>
        <p:nvPicPr>
          <p:cNvPr id="131" name="图片 130"/>
          <p:cNvPicPr/>
          <p:nvPr/>
        </p:nvPicPr>
        <p:blipFill>
          <a:blip r:embed="rId1" cstate="print">
            <a:extLst>
              <a:ext uri="{28A0092B-C50C-407E-A947-70E740481C1C}">
                <a14:useLocalDpi xmlns:a14="http://schemas.microsoft.com/office/drawing/2010/main" val="0"/>
              </a:ext>
            </a:extLst>
          </a:blip>
          <a:stretch>
            <a:fillRect/>
          </a:stretch>
        </p:blipFill>
        <p:spPr bwMode="gray">
          <a:xfrm>
            <a:off x="9283503" y="3627982"/>
            <a:ext cx="432369" cy="35454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bwMode="gray"/>
        <p:txBody>
          <a:bodyPr/>
          <a:lstStyle/>
          <a:p>
            <a:r>
              <a:rPr lang="en-US" altLang="zh-CN" sz="1800" dirty="0"/>
              <a:t>SRv6</a:t>
            </a:r>
            <a:r>
              <a:rPr lang="zh-CN" altLang="en-US" sz="1800" dirty="0"/>
              <a:t>技术本身可以简化现有网络协议，降低网络管理复杂度，除此以外，</a:t>
            </a:r>
            <a:r>
              <a:rPr lang="en-US" altLang="zh-CN" sz="1800" dirty="0"/>
              <a:t>SRv6</a:t>
            </a:r>
            <a:r>
              <a:rPr lang="zh-CN" altLang="en-US" sz="1800" dirty="0"/>
              <a:t>更核心的优势是</a:t>
            </a:r>
            <a:r>
              <a:rPr lang="en-US" altLang="zh-CN" sz="1800" dirty="0"/>
              <a:t>Native IPv6</a:t>
            </a:r>
            <a:r>
              <a:rPr lang="zh-CN" altLang="en-US" sz="1800" dirty="0"/>
              <a:t>特质与网络编程能力。</a:t>
            </a:r>
            <a:endParaRPr lang="en-US" altLang="zh-CN" sz="1800" dirty="0"/>
          </a:p>
          <a:p>
            <a:pPr lvl="1"/>
            <a:r>
              <a:rPr lang="zh-CN" altLang="en-US" sz="1600" dirty="0"/>
              <a:t>基于</a:t>
            </a:r>
            <a:r>
              <a:rPr lang="en-US" altLang="zh-CN" sz="1600" dirty="0"/>
              <a:t>Native IPv6</a:t>
            </a:r>
            <a:r>
              <a:rPr lang="zh-CN" altLang="en-US" sz="1600" dirty="0"/>
              <a:t>特质，</a:t>
            </a:r>
            <a:r>
              <a:rPr lang="en-US" altLang="zh-CN" sz="1600" dirty="0"/>
              <a:t>SRv6</a:t>
            </a:r>
            <a:r>
              <a:rPr lang="zh-CN" altLang="en-US" sz="1600" dirty="0"/>
              <a:t>能更好地促进云网融合、兼容存量网络、提升跨域体验。</a:t>
            </a:r>
            <a:endParaRPr lang="en-US" altLang="zh-CN" sz="1600" dirty="0"/>
          </a:p>
          <a:p>
            <a:pPr lvl="1"/>
            <a:r>
              <a:rPr lang="zh-CN" altLang="en-US" sz="1600" dirty="0"/>
              <a:t>基于网络编程能力，</a:t>
            </a:r>
            <a:r>
              <a:rPr lang="en-US" altLang="zh-CN" sz="1600" dirty="0"/>
              <a:t>SRv6</a:t>
            </a:r>
            <a:r>
              <a:rPr lang="zh-CN" altLang="en-US" sz="1600" dirty="0"/>
              <a:t>可以更好地进行路径编程，满足业务的</a:t>
            </a:r>
            <a:r>
              <a:rPr lang="en-US" altLang="zh-CN" sz="1600" dirty="0"/>
              <a:t>SLA</a:t>
            </a:r>
            <a:r>
              <a:rPr lang="zh-CN" altLang="en-US" sz="1600" dirty="0"/>
              <a:t>，同时还能将网络和应用连接起来，构建智能云网。</a:t>
            </a:r>
            <a:endParaRPr lang="zh-CN" altLang="en-US" sz="1600" dirty="0"/>
          </a:p>
        </p:txBody>
      </p:sp>
      <p:sp>
        <p:nvSpPr>
          <p:cNvPr id="52" name="Rectangle 51"/>
          <p:cNvSpPr/>
          <p:nvPr/>
        </p:nvSpPr>
        <p:spPr bwMode="gray">
          <a:xfrm>
            <a:off x="2257063" y="3511272"/>
            <a:ext cx="4888362" cy="2658906"/>
          </a:xfrm>
          <a:prstGeom prst="rect">
            <a:avLst/>
          </a:prstGeom>
          <a:noFill/>
          <a:ln w="19050">
            <a:solidFill>
              <a:srgbClr val="56C4D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en-US" altLang="zh-CN" sz="1400" dirty="0">
                <a:solidFill>
                  <a:schemeClr val="tx1"/>
                </a:solidFill>
              </a:rPr>
              <a:t>AS 65000</a:t>
            </a:r>
            <a:endParaRPr lang="zh-CN" altLang="en-US" sz="1400" dirty="0">
              <a:solidFill>
                <a:schemeClr val="tx1"/>
              </a:solidFill>
            </a:endParaRPr>
          </a:p>
        </p:txBody>
      </p:sp>
      <p:sp>
        <p:nvSpPr>
          <p:cNvPr id="53" name="Rectangle 52"/>
          <p:cNvSpPr/>
          <p:nvPr/>
        </p:nvSpPr>
        <p:spPr bwMode="gray">
          <a:xfrm>
            <a:off x="7242643" y="3511272"/>
            <a:ext cx="3313468" cy="2646333"/>
          </a:xfrm>
          <a:prstGeom prst="rect">
            <a:avLst/>
          </a:prstGeom>
          <a:noFill/>
          <a:ln w="19050">
            <a:solidFill>
              <a:srgbClr val="56C4D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r"/>
            <a:r>
              <a:rPr lang="en-US" altLang="zh-CN" sz="1400" dirty="0">
                <a:solidFill>
                  <a:schemeClr val="tx1"/>
                </a:solidFill>
              </a:rPr>
              <a:t>AS 65000</a:t>
            </a:r>
            <a:endParaRPr lang="zh-CN" altLang="en-US" sz="1400" dirty="0">
              <a:solidFill>
                <a:schemeClr val="tx1"/>
              </a:solidFill>
            </a:endParaRPr>
          </a:p>
        </p:txBody>
      </p:sp>
      <p:sp>
        <p:nvSpPr>
          <p:cNvPr id="2" name="Title 1"/>
          <p:cNvSpPr>
            <a:spLocks noGrp="1"/>
          </p:cNvSpPr>
          <p:nvPr>
            <p:ph type="title"/>
          </p:nvPr>
        </p:nvSpPr>
        <p:spPr bwMode="gray"/>
        <p:txBody>
          <a:bodyPr/>
          <a:lstStyle/>
          <a:p>
            <a:r>
              <a:rPr lang="en-US" altLang="zh-CN" dirty="0"/>
              <a:t>SRv6</a:t>
            </a:r>
            <a:r>
              <a:rPr lang="zh-CN" altLang="en-US" dirty="0"/>
              <a:t>的技术价值</a:t>
            </a:r>
            <a:endParaRPr lang="zh-CN" altLang="en-US" dirty="0"/>
          </a:p>
        </p:txBody>
      </p:sp>
      <p:grpSp>
        <p:nvGrpSpPr>
          <p:cNvPr id="4" name="组合 90"/>
          <p:cNvGrpSpPr/>
          <p:nvPr/>
        </p:nvGrpSpPr>
        <p:grpSpPr bwMode="gray">
          <a:xfrm rot="10800000">
            <a:off x="8238508" y="3975350"/>
            <a:ext cx="1032830" cy="1941018"/>
            <a:chOff x="4518703" y="2205748"/>
            <a:chExt cx="1512166" cy="2521312"/>
          </a:xfrm>
        </p:grpSpPr>
        <p:cxnSp>
          <p:nvCxnSpPr>
            <p:cNvPr id="5" name="直接连接符 91"/>
            <p:cNvCxnSpPr/>
            <p:nvPr/>
          </p:nvCxnSpPr>
          <p:spPr bwMode="gray">
            <a:xfrm rot="16200000" flipH="1">
              <a:off x="4644458" y="3340649"/>
              <a:ext cx="1260656" cy="151216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直接连接符 93"/>
            <p:cNvCxnSpPr/>
            <p:nvPr/>
          </p:nvCxnSpPr>
          <p:spPr bwMode="gray">
            <a:xfrm rot="16200000">
              <a:off x="4644458" y="2079993"/>
              <a:ext cx="1260656" cy="151216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7" name="直接连接符 99"/>
          <p:cNvCxnSpPr/>
          <p:nvPr/>
        </p:nvCxnSpPr>
        <p:spPr bwMode="gray">
          <a:xfrm flipH="1">
            <a:off x="4948030" y="3983203"/>
            <a:ext cx="1760319" cy="19331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直接连接符 100"/>
          <p:cNvCxnSpPr/>
          <p:nvPr/>
        </p:nvCxnSpPr>
        <p:spPr bwMode="gray">
          <a:xfrm flipH="1" flipV="1">
            <a:off x="4946085" y="3969854"/>
            <a:ext cx="1748548" cy="19543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9" name="组合 8"/>
          <p:cNvGrpSpPr/>
          <p:nvPr/>
        </p:nvGrpSpPr>
        <p:grpSpPr bwMode="gray">
          <a:xfrm>
            <a:off x="3883878" y="3975350"/>
            <a:ext cx="1032830" cy="1941018"/>
            <a:chOff x="4518703" y="2205748"/>
            <a:chExt cx="1512166" cy="2521312"/>
          </a:xfrm>
        </p:grpSpPr>
        <p:cxnSp>
          <p:nvCxnSpPr>
            <p:cNvPr id="10" name="直接连接符 85"/>
            <p:cNvCxnSpPr/>
            <p:nvPr/>
          </p:nvCxnSpPr>
          <p:spPr bwMode="gray">
            <a:xfrm rot="16200000" flipH="1">
              <a:off x="4644458" y="3340649"/>
              <a:ext cx="1260656" cy="151216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直接连接符 88"/>
            <p:cNvCxnSpPr/>
            <p:nvPr/>
          </p:nvCxnSpPr>
          <p:spPr bwMode="gray">
            <a:xfrm rot="16200000">
              <a:off x="4644458" y="2079993"/>
              <a:ext cx="1260656" cy="151216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2" name="直接连接符 71"/>
          <p:cNvCxnSpPr/>
          <p:nvPr/>
        </p:nvCxnSpPr>
        <p:spPr bwMode="gray">
          <a:xfrm flipH="1">
            <a:off x="4930425" y="3975350"/>
            <a:ext cx="331236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接连接符 72"/>
          <p:cNvCxnSpPr/>
          <p:nvPr/>
        </p:nvCxnSpPr>
        <p:spPr bwMode="gray">
          <a:xfrm flipH="1">
            <a:off x="4930425" y="5924221"/>
            <a:ext cx="331236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接连接符 80"/>
          <p:cNvCxnSpPr/>
          <p:nvPr/>
        </p:nvCxnSpPr>
        <p:spPr bwMode="gray">
          <a:xfrm flipV="1">
            <a:off x="6708349" y="3975350"/>
            <a:ext cx="0" cy="194887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任意多边形 30"/>
          <p:cNvSpPr/>
          <p:nvPr/>
        </p:nvSpPr>
        <p:spPr bwMode="gray">
          <a:xfrm>
            <a:off x="4384696" y="3637568"/>
            <a:ext cx="5143204" cy="1277472"/>
          </a:xfrm>
          <a:custGeom>
            <a:avLst/>
            <a:gdLst>
              <a:gd name="connsiteX0" fmla="*/ 0 w 4948518"/>
              <a:gd name="connsiteY0" fmla="*/ 806824 h 860612"/>
              <a:gd name="connsiteX1" fmla="*/ 874059 w 4948518"/>
              <a:gd name="connsiteY1" fmla="*/ 0 h 860612"/>
              <a:gd name="connsiteX2" fmla="*/ 4074459 w 4948518"/>
              <a:gd name="connsiteY2" fmla="*/ 0 h 860612"/>
              <a:gd name="connsiteX3" fmla="*/ 4948518 w 4948518"/>
              <a:gd name="connsiteY3" fmla="*/ 860612 h 860612"/>
              <a:gd name="connsiteX0-1" fmla="*/ 0 w 5519251"/>
              <a:gd name="connsiteY0-2" fmla="*/ 1277472 h 1277472"/>
              <a:gd name="connsiteX1-3" fmla="*/ 1444792 w 5519251"/>
              <a:gd name="connsiteY1-4" fmla="*/ 0 h 1277472"/>
              <a:gd name="connsiteX2-5" fmla="*/ 4645192 w 5519251"/>
              <a:gd name="connsiteY2-6" fmla="*/ 0 h 1277472"/>
              <a:gd name="connsiteX3-7" fmla="*/ 5519251 w 5519251"/>
              <a:gd name="connsiteY3-8" fmla="*/ 860612 h 1277472"/>
              <a:gd name="connsiteX0-9" fmla="*/ 0 w 5759559"/>
              <a:gd name="connsiteY0-10" fmla="*/ 1277472 h 1277472"/>
              <a:gd name="connsiteX1-11" fmla="*/ 1444792 w 5759559"/>
              <a:gd name="connsiteY1-12" fmla="*/ 0 h 1277472"/>
              <a:gd name="connsiteX2-13" fmla="*/ 4645192 w 5759559"/>
              <a:gd name="connsiteY2-14" fmla="*/ 0 h 1277472"/>
              <a:gd name="connsiteX3-15" fmla="*/ 5759559 w 5759559"/>
              <a:gd name="connsiteY3-16" fmla="*/ 820271 h 1277472"/>
              <a:gd name="connsiteX0-17" fmla="*/ 0 w 5729521"/>
              <a:gd name="connsiteY0-18" fmla="*/ 1277472 h 1277472"/>
              <a:gd name="connsiteX1-19" fmla="*/ 1444792 w 5729521"/>
              <a:gd name="connsiteY1-20" fmla="*/ 0 h 1277472"/>
              <a:gd name="connsiteX2-21" fmla="*/ 4645192 w 5729521"/>
              <a:gd name="connsiteY2-22" fmla="*/ 0 h 1277472"/>
              <a:gd name="connsiteX3-23" fmla="*/ 5729521 w 5729521"/>
              <a:gd name="connsiteY3-24" fmla="*/ 820271 h 1277472"/>
              <a:gd name="connsiteX0-25" fmla="*/ 0 w 5669444"/>
              <a:gd name="connsiteY0-26" fmla="*/ 1277472 h 1277472"/>
              <a:gd name="connsiteX1-27" fmla="*/ 1444792 w 5669444"/>
              <a:gd name="connsiteY1-28" fmla="*/ 0 h 1277472"/>
              <a:gd name="connsiteX2-29" fmla="*/ 4645192 w 5669444"/>
              <a:gd name="connsiteY2-30" fmla="*/ 0 h 1277472"/>
              <a:gd name="connsiteX3-31" fmla="*/ 5669444 w 5669444"/>
              <a:gd name="connsiteY3-32" fmla="*/ 833718 h 1277472"/>
              <a:gd name="connsiteX0-33" fmla="*/ 0 w 5744540"/>
              <a:gd name="connsiteY0-34" fmla="*/ 1277472 h 1277472"/>
              <a:gd name="connsiteX1-35" fmla="*/ 1444792 w 5744540"/>
              <a:gd name="connsiteY1-36" fmla="*/ 0 h 1277472"/>
              <a:gd name="connsiteX2-37" fmla="*/ 4645192 w 5744540"/>
              <a:gd name="connsiteY2-38" fmla="*/ 0 h 1277472"/>
              <a:gd name="connsiteX3-39" fmla="*/ 5744540 w 5744540"/>
              <a:gd name="connsiteY3-40" fmla="*/ 860612 h 1277472"/>
            </a:gdLst>
            <a:ahLst/>
            <a:cxnLst>
              <a:cxn ang="0">
                <a:pos x="connsiteX0-1" y="connsiteY0-2"/>
              </a:cxn>
              <a:cxn ang="0">
                <a:pos x="connsiteX1-3" y="connsiteY1-4"/>
              </a:cxn>
              <a:cxn ang="0">
                <a:pos x="connsiteX2-5" y="connsiteY2-6"/>
              </a:cxn>
              <a:cxn ang="0">
                <a:pos x="connsiteX3-7" y="connsiteY3-8"/>
              </a:cxn>
            </a:cxnLst>
            <a:rect l="l" t="t" r="r" b="b"/>
            <a:pathLst>
              <a:path w="5744540" h="1277472">
                <a:moveTo>
                  <a:pt x="0" y="1277472"/>
                </a:moveTo>
                <a:lnTo>
                  <a:pt x="1444792" y="0"/>
                </a:lnTo>
                <a:lnTo>
                  <a:pt x="4645192" y="0"/>
                </a:lnTo>
                <a:lnTo>
                  <a:pt x="5744540" y="860612"/>
                </a:lnTo>
              </a:path>
            </a:pathLst>
          </a:custGeom>
          <a:noFill/>
          <a:ln w="57150">
            <a:solidFill>
              <a:srgbClr val="FF9933"/>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任意多边形 31"/>
          <p:cNvSpPr/>
          <p:nvPr/>
        </p:nvSpPr>
        <p:spPr bwMode="gray">
          <a:xfrm>
            <a:off x="4316613" y="4962525"/>
            <a:ext cx="4653363" cy="648695"/>
          </a:xfrm>
          <a:custGeom>
            <a:avLst/>
            <a:gdLst>
              <a:gd name="connsiteX0" fmla="*/ 0 w 4491318"/>
              <a:gd name="connsiteY0" fmla="*/ 753035 h 1304365"/>
              <a:gd name="connsiteX1" fmla="*/ 605118 w 4491318"/>
              <a:gd name="connsiteY1" fmla="*/ 1304365 h 1304365"/>
              <a:gd name="connsiteX2" fmla="*/ 1627094 w 4491318"/>
              <a:gd name="connsiteY2" fmla="*/ 0 h 1304365"/>
              <a:gd name="connsiteX3" fmla="*/ 3859306 w 4491318"/>
              <a:gd name="connsiteY3" fmla="*/ 0 h 1304365"/>
              <a:gd name="connsiteX4" fmla="*/ 4491318 w 4491318"/>
              <a:gd name="connsiteY4" fmla="*/ 578223 h 1304365"/>
              <a:gd name="connsiteX0-1" fmla="*/ 0 w 4491318"/>
              <a:gd name="connsiteY0-2" fmla="*/ 757268 h 1308598"/>
              <a:gd name="connsiteX1-3" fmla="*/ 605118 w 4491318"/>
              <a:gd name="connsiteY1-4" fmla="*/ 1308598 h 1308598"/>
              <a:gd name="connsiteX2-5" fmla="*/ 1732928 w 4491318"/>
              <a:gd name="connsiteY2-6" fmla="*/ 0 h 1308598"/>
              <a:gd name="connsiteX3-7" fmla="*/ 3859306 w 4491318"/>
              <a:gd name="connsiteY3-8" fmla="*/ 4233 h 1308598"/>
              <a:gd name="connsiteX4-9" fmla="*/ 4491318 w 4491318"/>
              <a:gd name="connsiteY4-10" fmla="*/ 582456 h 1308598"/>
              <a:gd name="connsiteX0-11" fmla="*/ 0 w 4491318"/>
              <a:gd name="connsiteY0-12" fmla="*/ 757268 h 1308598"/>
              <a:gd name="connsiteX1-13" fmla="*/ 605118 w 4491318"/>
              <a:gd name="connsiteY1-14" fmla="*/ 1308598 h 1308598"/>
              <a:gd name="connsiteX2-15" fmla="*/ 1762561 w 4491318"/>
              <a:gd name="connsiteY2-16" fmla="*/ 0 h 1308598"/>
              <a:gd name="connsiteX3-17" fmla="*/ 3859306 w 4491318"/>
              <a:gd name="connsiteY3-18" fmla="*/ 4233 h 1308598"/>
              <a:gd name="connsiteX4-19" fmla="*/ 4491318 w 4491318"/>
              <a:gd name="connsiteY4-20" fmla="*/ 582456 h 1308598"/>
              <a:gd name="connsiteX0-21" fmla="*/ 0 w 4491318"/>
              <a:gd name="connsiteY0-22" fmla="*/ 753035 h 1315281"/>
              <a:gd name="connsiteX1-23" fmla="*/ 605118 w 4491318"/>
              <a:gd name="connsiteY1-24" fmla="*/ 1304365 h 1315281"/>
              <a:gd name="connsiteX2-25" fmla="*/ 2109802 w 4491318"/>
              <a:gd name="connsiteY2-26" fmla="*/ 1315281 h 1315281"/>
              <a:gd name="connsiteX3-27" fmla="*/ 3859306 w 4491318"/>
              <a:gd name="connsiteY3-28" fmla="*/ 0 h 1315281"/>
              <a:gd name="connsiteX4-29" fmla="*/ 4491318 w 4491318"/>
              <a:gd name="connsiteY4-30" fmla="*/ 578223 h 1315281"/>
              <a:gd name="connsiteX0-31" fmla="*/ 0 w 4491318"/>
              <a:gd name="connsiteY0-32" fmla="*/ 174812 h 752866"/>
              <a:gd name="connsiteX1-33" fmla="*/ 605118 w 4491318"/>
              <a:gd name="connsiteY1-34" fmla="*/ 726142 h 752866"/>
              <a:gd name="connsiteX2-35" fmla="*/ 2109802 w 4491318"/>
              <a:gd name="connsiteY2-36" fmla="*/ 737058 h 752866"/>
              <a:gd name="connsiteX3-37" fmla="*/ 3975052 w 4491318"/>
              <a:gd name="connsiteY3-38" fmla="*/ 752866 h 752866"/>
              <a:gd name="connsiteX4-39" fmla="*/ 4491318 w 4491318"/>
              <a:gd name="connsiteY4-40" fmla="*/ 0 h 752866"/>
              <a:gd name="connsiteX0-41" fmla="*/ 0 w 4595490"/>
              <a:gd name="connsiteY0-42" fmla="*/ 116939 h 694993"/>
              <a:gd name="connsiteX1-43" fmla="*/ 605118 w 4595490"/>
              <a:gd name="connsiteY1-44" fmla="*/ 668269 h 694993"/>
              <a:gd name="connsiteX2-45" fmla="*/ 2109802 w 4595490"/>
              <a:gd name="connsiteY2-46" fmla="*/ 679185 h 694993"/>
              <a:gd name="connsiteX3-47" fmla="*/ 3975052 w 4595490"/>
              <a:gd name="connsiteY3-48" fmla="*/ 694993 h 694993"/>
              <a:gd name="connsiteX4-49" fmla="*/ 4595490 w 4595490"/>
              <a:gd name="connsiteY4-50" fmla="*/ 0 h 694993"/>
              <a:gd name="connsiteX0-51" fmla="*/ 0 w 4595490"/>
              <a:gd name="connsiteY0-52" fmla="*/ 116939 h 694993"/>
              <a:gd name="connsiteX1-53" fmla="*/ 605118 w 4595490"/>
              <a:gd name="connsiteY1-54" fmla="*/ 668269 h 694993"/>
              <a:gd name="connsiteX2-55" fmla="*/ 3975052 w 4595490"/>
              <a:gd name="connsiteY2-56" fmla="*/ 694993 h 694993"/>
              <a:gd name="connsiteX3-57" fmla="*/ 4595490 w 4595490"/>
              <a:gd name="connsiteY3-58" fmla="*/ 0 h 694993"/>
              <a:gd name="connsiteX0-59" fmla="*/ 0 w 4595490"/>
              <a:gd name="connsiteY0-60" fmla="*/ 116939 h 694993"/>
              <a:gd name="connsiteX1-61" fmla="*/ 605118 w 4595490"/>
              <a:gd name="connsiteY1-62" fmla="*/ 668269 h 694993"/>
              <a:gd name="connsiteX2-63" fmla="*/ 3986627 w 4595490"/>
              <a:gd name="connsiteY2-64" fmla="*/ 694993 h 694993"/>
              <a:gd name="connsiteX3-65" fmla="*/ 4595490 w 4595490"/>
              <a:gd name="connsiteY3-66" fmla="*/ 0 h 694993"/>
              <a:gd name="connsiteX0-67" fmla="*/ 0 w 4595490"/>
              <a:gd name="connsiteY0-68" fmla="*/ 116939 h 683419"/>
              <a:gd name="connsiteX1-69" fmla="*/ 605118 w 4595490"/>
              <a:gd name="connsiteY1-70" fmla="*/ 668269 h 683419"/>
              <a:gd name="connsiteX2-71" fmla="*/ 3986627 w 4595490"/>
              <a:gd name="connsiteY2-72" fmla="*/ 683419 h 683419"/>
              <a:gd name="connsiteX3-73" fmla="*/ 4595490 w 4595490"/>
              <a:gd name="connsiteY3-74" fmla="*/ 0 h 683419"/>
              <a:gd name="connsiteX0-75" fmla="*/ 0 w 4630214"/>
              <a:gd name="connsiteY0-76" fmla="*/ 105364 h 671844"/>
              <a:gd name="connsiteX1-77" fmla="*/ 605118 w 4630214"/>
              <a:gd name="connsiteY1-78" fmla="*/ 656694 h 671844"/>
              <a:gd name="connsiteX2-79" fmla="*/ 3986627 w 4630214"/>
              <a:gd name="connsiteY2-80" fmla="*/ 671844 h 671844"/>
              <a:gd name="connsiteX3-81" fmla="*/ 4630214 w 4630214"/>
              <a:gd name="connsiteY3-82" fmla="*/ 0 h 671844"/>
              <a:gd name="connsiteX0-83" fmla="*/ 0 w 4653363"/>
              <a:gd name="connsiteY0-84" fmla="*/ 82215 h 648695"/>
              <a:gd name="connsiteX1-85" fmla="*/ 605118 w 4653363"/>
              <a:gd name="connsiteY1-86" fmla="*/ 633545 h 648695"/>
              <a:gd name="connsiteX2-87" fmla="*/ 3986627 w 4653363"/>
              <a:gd name="connsiteY2-88" fmla="*/ 648695 h 648695"/>
              <a:gd name="connsiteX3-89" fmla="*/ 4653363 w 4653363"/>
              <a:gd name="connsiteY3-90" fmla="*/ 0 h 648695"/>
            </a:gdLst>
            <a:ahLst/>
            <a:cxnLst>
              <a:cxn ang="0">
                <a:pos x="connsiteX0-1" y="connsiteY0-2"/>
              </a:cxn>
              <a:cxn ang="0">
                <a:pos x="connsiteX1-3" y="connsiteY1-4"/>
              </a:cxn>
              <a:cxn ang="0">
                <a:pos x="connsiteX2-5" y="connsiteY2-6"/>
              </a:cxn>
              <a:cxn ang="0">
                <a:pos x="connsiteX3-7" y="connsiteY3-8"/>
              </a:cxn>
            </a:cxnLst>
            <a:rect l="l" t="t" r="r" b="b"/>
            <a:pathLst>
              <a:path w="4653363" h="648695">
                <a:moveTo>
                  <a:pt x="0" y="82215"/>
                </a:moveTo>
                <a:lnTo>
                  <a:pt x="605118" y="633545"/>
                </a:lnTo>
                <a:lnTo>
                  <a:pt x="3986627" y="648695"/>
                </a:lnTo>
                <a:lnTo>
                  <a:pt x="4653363" y="0"/>
                </a:lnTo>
              </a:path>
            </a:pathLst>
          </a:custGeom>
          <a:noFill/>
          <a:ln w="57150">
            <a:solidFill>
              <a:srgbClr val="FF3399"/>
            </a:solidFill>
            <a:prstDash val="sysDot"/>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 name="文本框 134"/>
          <p:cNvSpPr txBox="1"/>
          <p:nvPr/>
        </p:nvSpPr>
        <p:spPr bwMode="gray">
          <a:xfrm rot="2549701">
            <a:off x="8414183" y="4046503"/>
            <a:ext cx="1082348" cy="307777"/>
          </a:xfrm>
          <a:prstGeom prst="rect">
            <a:avLst/>
          </a:prstGeom>
          <a:noFill/>
        </p:spPr>
        <p:txBody>
          <a:bodyPr wrap="none" rtlCol="0">
            <a:spAutoFit/>
          </a:bodyPr>
          <a:lstStyle/>
          <a:p>
            <a:r>
              <a:rPr lang="zh-CN" altLang="en-US" sz="1400" dirty="0">
                <a:solidFill>
                  <a:srgbClr val="FF9933"/>
                </a:solidFill>
                <a:latin typeface="Huawei Sans" panose="020C0503030203020204" pitchFamily="34" charset="0"/>
                <a:ea typeface="方正兰亭黑简体" panose="02000000000000000000" pitchFamily="2" charset="-122"/>
                <a:sym typeface="Huawei Sans" panose="020C0503030203020204" pitchFamily="34" charset="0"/>
              </a:rPr>
              <a:t>大带宽路径</a:t>
            </a:r>
            <a:endParaRPr lang="zh-CN" altLang="en-US" sz="1400" dirty="0">
              <a:solidFill>
                <a:srgbClr val="FF9933"/>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文本框 135"/>
          <p:cNvSpPr txBox="1"/>
          <p:nvPr/>
        </p:nvSpPr>
        <p:spPr bwMode="gray">
          <a:xfrm rot="18927095">
            <a:off x="7979323" y="5022710"/>
            <a:ext cx="1082348" cy="307777"/>
          </a:xfrm>
          <a:prstGeom prst="rect">
            <a:avLst/>
          </a:prstGeom>
          <a:noFill/>
        </p:spPr>
        <p:txBody>
          <a:bodyPr wrap="none" rtlCol="0">
            <a:spAutoFit/>
          </a:bodyPr>
          <a:lstStyle/>
          <a:p>
            <a:r>
              <a:rPr lang="zh-CN" altLang="en-US" sz="1400" dirty="0">
                <a:solidFill>
                  <a:srgbClr val="FF3399"/>
                </a:solidFill>
                <a:latin typeface="Huawei Sans" panose="020C0503030203020204" pitchFamily="34" charset="0"/>
                <a:ea typeface="方正兰亭黑简体" panose="02000000000000000000" pitchFamily="2" charset="-122"/>
                <a:sym typeface="Huawei Sans" panose="020C0503030203020204" pitchFamily="34" charset="0"/>
              </a:rPr>
              <a:t>低时延路径</a:t>
            </a:r>
            <a:endParaRPr lang="zh-CN" altLang="en-US" sz="1400" dirty="0">
              <a:solidFill>
                <a:srgbClr val="FF3399"/>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文本框 137"/>
          <p:cNvSpPr txBox="1"/>
          <p:nvPr/>
        </p:nvSpPr>
        <p:spPr bwMode="gray">
          <a:xfrm>
            <a:off x="5388105" y="2767990"/>
            <a:ext cx="1061509" cy="307777"/>
          </a:xfrm>
          <a:prstGeom prst="rect">
            <a:avLst/>
          </a:prstGeom>
          <a:noFill/>
        </p:spPr>
        <p:txBody>
          <a:bodyPr wrap="none" rtlCol="0">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Controller</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35" name="图片 51"/>
          <p:cNvPicPr/>
          <p:nvPr/>
        </p:nvPicPr>
        <p:blipFill>
          <a:blip r:embed="rId1" cstate="print">
            <a:extLst>
              <a:ext uri="{28A0092B-C50C-407E-A947-70E740481C1C}">
                <a14:useLocalDpi xmlns:a14="http://schemas.microsoft.com/office/drawing/2010/main" val="0"/>
              </a:ext>
            </a:extLst>
          </a:blip>
          <a:stretch>
            <a:fillRect/>
          </a:stretch>
        </p:blipFill>
        <p:spPr bwMode="gray">
          <a:xfrm>
            <a:off x="3596123" y="4696678"/>
            <a:ext cx="540000" cy="442800"/>
          </a:xfrm>
          <a:prstGeom prst="rect">
            <a:avLst/>
          </a:prstGeom>
        </p:spPr>
      </p:pic>
      <p:pic>
        <p:nvPicPr>
          <p:cNvPr id="36" name="图片 52"/>
          <p:cNvPicPr/>
          <p:nvPr/>
        </p:nvPicPr>
        <p:blipFill>
          <a:blip r:embed="rId1" cstate="print">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4620330" y="3747652"/>
            <a:ext cx="540000" cy="442800"/>
          </a:xfrm>
          <a:prstGeom prst="rect">
            <a:avLst/>
          </a:prstGeom>
        </p:spPr>
      </p:pic>
      <p:pic>
        <p:nvPicPr>
          <p:cNvPr id="37" name="图片 53"/>
          <p:cNvPicPr/>
          <p:nvPr/>
        </p:nvPicPr>
        <p:blipFill>
          <a:blip r:embed="rId1" cstate="print">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4620330" y="5645704"/>
            <a:ext cx="540000" cy="442800"/>
          </a:xfrm>
          <a:prstGeom prst="rect">
            <a:avLst/>
          </a:prstGeom>
        </p:spPr>
      </p:pic>
      <p:pic>
        <p:nvPicPr>
          <p:cNvPr id="38" name="图片 54"/>
          <p:cNvPicPr/>
          <p:nvPr/>
        </p:nvPicPr>
        <p:blipFill>
          <a:blip r:embed="rId1" cstate="print">
            <a:extLst>
              <a:ext uri="{28A0092B-C50C-407E-A947-70E740481C1C}">
                <a14:useLocalDpi xmlns:a14="http://schemas.microsoft.com/office/drawing/2010/main" val="0"/>
              </a:ext>
            </a:extLst>
          </a:blip>
          <a:stretch>
            <a:fillRect/>
          </a:stretch>
        </p:blipFill>
        <p:spPr bwMode="gray">
          <a:xfrm>
            <a:off x="6446867" y="3747652"/>
            <a:ext cx="540000" cy="442800"/>
          </a:xfrm>
          <a:prstGeom prst="rect">
            <a:avLst/>
          </a:prstGeom>
        </p:spPr>
      </p:pic>
      <p:pic>
        <p:nvPicPr>
          <p:cNvPr id="39" name="图片 55"/>
          <p:cNvPicPr/>
          <p:nvPr/>
        </p:nvPicPr>
        <p:blipFill>
          <a:blip r:embed="rId1" cstate="print">
            <a:extLst>
              <a:ext uri="{28A0092B-C50C-407E-A947-70E740481C1C}">
                <a14:useLocalDpi xmlns:a14="http://schemas.microsoft.com/office/drawing/2010/main" val="0"/>
              </a:ext>
            </a:extLst>
          </a:blip>
          <a:stretch>
            <a:fillRect/>
          </a:stretch>
        </p:blipFill>
        <p:spPr bwMode="gray">
          <a:xfrm>
            <a:off x="6446867" y="5645704"/>
            <a:ext cx="540000" cy="442800"/>
          </a:xfrm>
          <a:prstGeom prst="rect">
            <a:avLst/>
          </a:prstGeom>
        </p:spPr>
      </p:pic>
      <p:pic>
        <p:nvPicPr>
          <p:cNvPr id="40" name="图片 56"/>
          <p:cNvPicPr/>
          <p:nvPr/>
        </p:nvPicPr>
        <p:blipFill>
          <a:blip r:embed="rId1" cstate="print">
            <a:extLst>
              <a:ext uri="{28A0092B-C50C-407E-A947-70E740481C1C}">
                <a14:useLocalDpi xmlns:a14="http://schemas.microsoft.com/office/drawing/2010/main" val="0"/>
              </a:ext>
            </a:extLst>
          </a:blip>
          <a:stretch>
            <a:fillRect/>
          </a:stretch>
        </p:blipFill>
        <p:spPr bwMode="gray">
          <a:xfrm>
            <a:off x="7938382" y="3747652"/>
            <a:ext cx="540000" cy="442800"/>
          </a:xfrm>
          <a:prstGeom prst="rect">
            <a:avLst/>
          </a:prstGeom>
        </p:spPr>
      </p:pic>
      <p:pic>
        <p:nvPicPr>
          <p:cNvPr id="41" name="图片 57"/>
          <p:cNvPicPr/>
          <p:nvPr/>
        </p:nvPicPr>
        <p:blipFill>
          <a:blip r:embed="rId1" cstate="print">
            <a:extLst>
              <a:ext uri="{28A0092B-C50C-407E-A947-70E740481C1C}">
                <a14:useLocalDpi xmlns:a14="http://schemas.microsoft.com/office/drawing/2010/main" val="0"/>
              </a:ext>
            </a:extLst>
          </a:blip>
          <a:stretch>
            <a:fillRect/>
          </a:stretch>
        </p:blipFill>
        <p:spPr bwMode="gray">
          <a:xfrm>
            <a:off x="7938382" y="5645704"/>
            <a:ext cx="540000" cy="442800"/>
          </a:xfrm>
          <a:prstGeom prst="rect">
            <a:avLst/>
          </a:prstGeom>
        </p:spPr>
      </p:pic>
      <p:pic>
        <p:nvPicPr>
          <p:cNvPr id="42" name="图片 58"/>
          <p:cNvPicPr/>
          <p:nvPr/>
        </p:nvPicPr>
        <p:blipFill>
          <a:blip r:embed="rId1" cstate="print">
            <a:extLst>
              <a:ext uri="{28A0092B-C50C-407E-A947-70E740481C1C}">
                <a14:useLocalDpi xmlns:a14="http://schemas.microsoft.com/office/drawing/2010/main" val="0"/>
              </a:ext>
            </a:extLst>
          </a:blip>
          <a:stretch>
            <a:fillRect/>
          </a:stretch>
        </p:blipFill>
        <p:spPr bwMode="gray">
          <a:xfrm>
            <a:off x="8990120" y="4696678"/>
            <a:ext cx="540000" cy="442800"/>
          </a:xfrm>
          <a:prstGeom prst="rect">
            <a:avLst/>
          </a:prstGeom>
        </p:spPr>
      </p:pic>
      <p:pic>
        <p:nvPicPr>
          <p:cNvPr id="43" name="图片 59" descr="通用网管-蓝.png"/>
          <p:cNvPicPr>
            <a:picLocks noChangeAspect="1"/>
          </p:cNvPicPr>
          <p:nvPr/>
        </p:nvPicPr>
        <p:blipFill>
          <a:blip r:embed="rId2" cstate="print"/>
          <a:stretch>
            <a:fillRect/>
          </a:stretch>
        </p:blipFill>
        <p:spPr bwMode="gray">
          <a:xfrm>
            <a:off x="6449614" y="2724689"/>
            <a:ext cx="540000" cy="441818"/>
          </a:xfrm>
          <a:prstGeom prst="rect">
            <a:avLst/>
          </a:prstGeom>
        </p:spPr>
      </p:pic>
      <p:sp>
        <p:nvSpPr>
          <p:cNvPr id="44" name="文本框 48"/>
          <p:cNvSpPr txBox="1"/>
          <p:nvPr/>
        </p:nvSpPr>
        <p:spPr bwMode="gray">
          <a:xfrm>
            <a:off x="3480571" y="5135462"/>
            <a:ext cx="723275" cy="307777"/>
          </a:xfrm>
          <a:prstGeom prst="rect">
            <a:avLst/>
          </a:prstGeom>
          <a:noFill/>
        </p:spPr>
        <p:txBody>
          <a:bodyPr wrap="none" rtlCol="0">
            <a:spAutoFit/>
          </a:bodyPr>
          <a:lstStyle/>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头节点</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圆角矩形 102"/>
          <p:cNvSpPr/>
          <p:nvPr/>
        </p:nvSpPr>
        <p:spPr bwMode="gray">
          <a:xfrm>
            <a:off x="2416444" y="4594242"/>
            <a:ext cx="1080120" cy="278077"/>
          </a:xfrm>
          <a:prstGeom prst="roundRect">
            <a:avLst/>
          </a:prstGeom>
          <a:solidFill>
            <a:srgbClr val="FF9933"/>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数据下载</a:t>
            </a:r>
            <a:endParaRPr lang="zh-CN" altLang="en-US" sz="14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圆角矩形 103"/>
          <p:cNvSpPr/>
          <p:nvPr/>
        </p:nvSpPr>
        <p:spPr bwMode="gray">
          <a:xfrm>
            <a:off x="2436374" y="4930989"/>
            <a:ext cx="1080120" cy="278077"/>
          </a:xfrm>
          <a:prstGeom prst="roundRect">
            <a:avLst/>
          </a:prstGeom>
          <a:solidFill>
            <a:srgbClr val="FF3399"/>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视频</a:t>
            </a:r>
            <a:endParaRPr lang="zh-CN" altLang="en-US" sz="140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47" name="直接连接符 88"/>
          <p:cNvCxnSpPr>
            <a:stCxn id="52" idx="0"/>
            <a:endCxn id="43" idx="2"/>
          </p:cNvCxnSpPr>
          <p:nvPr/>
        </p:nvCxnSpPr>
        <p:spPr bwMode="gray">
          <a:xfrm flipV="1">
            <a:off x="4701244" y="3166507"/>
            <a:ext cx="2018370" cy="34476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51" name="Rectangular Callout 26"/>
          <p:cNvSpPr/>
          <p:nvPr/>
        </p:nvSpPr>
        <p:spPr bwMode="gray">
          <a:xfrm>
            <a:off x="3796227" y="3140974"/>
            <a:ext cx="807799" cy="488261"/>
          </a:xfrm>
          <a:prstGeom prst="wedgeRectCallout">
            <a:avLst>
              <a:gd name="adj1" fmla="val 44501"/>
              <a:gd name="adj2" fmla="val 80436"/>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兼容存量网络</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cxnSp>
        <p:nvCxnSpPr>
          <p:cNvPr id="57" name="直接连接符 88"/>
          <p:cNvCxnSpPr>
            <a:stCxn id="53" idx="0"/>
            <a:endCxn id="43" idx="2"/>
          </p:cNvCxnSpPr>
          <p:nvPr/>
        </p:nvCxnSpPr>
        <p:spPr bwMode="gray">
          <a:xfrm flipH="1" flipV="1">
            <a:off x="6719614" y="3166507"/>
            <a:ext cx="2179763" cy="34476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64" name="Rectangular Callout 26"/>
          <p:cNvSpPr/>
          <p:nvPr/>
        </p:nvSpPr>
        <p:spPr bwMode="gray">
          <a:xfrm>
            <a:off x="9221933" y="3662219"/>
            <a:ext cx="1097771" cy="441756"/>
          </a:xfrm>
          <a:prstGeom prst="wedgeRectCallout">
            <a:avLst>
              <a:gd name="adj1" fmla="val -38530"/>
              <a:gd name="adj2" fmla="val 84056"/>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路径编程，满足业务</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SLA</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65" name="文本框 48"/>
          <p:cNvSpPr txBox="1"/>
          <p:nvPr/>
        </p:nvSpPr>
        <p:spPr bwMode="gray">
          <a:xfrm>
            <a:off x="3277776" y="3815965"/>
            <a:ext cx="1425390" cy="307777"/>
          </a:xfrm>
          <a:prstGeom prst="rect">
            <a:avLst/>
          </a:prstGeom>
          <a:noFill/>
        </p:spPr>
        <p:txBody>
          <a:bodyPr wrap="none" rtlCol="0">
            <a:spAutoFit/>
          </a:bodyPr>
          <a:lstStyle/>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普通</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IPv6</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路由器</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6" name="文本框 48"/>
          <p:cNvSpPr txBox="1"/>
          <p:nvPr/>
        </p:nvSpPr>
        <p:spPr bwMode="gray">
          <a:xfrm>
            <a:off x="7402883" y="4221642"/>
            <a:ext cx="1117614" cy="307777"/>
          </a:xfrm>
          <a:prstGeom prst="rect">
            <a:avLst/>
          </a:prstGeom>
          <a:noFill/>
        </p:spPr>
        <p:txBody>
          <a:bodyPr wrap="none" rtlCol="0">
            <a:spAutoFit/>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SRv6</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路由器</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7" name="Rectangular Callout 26"/>
          <p:cNvSpPr/>
          <p:nvPr/>
        </p:nvSpPr>
        <p:spPr bwMode="gray">
          <a:xfrm>
            <a:off x="7153891" y="2713071"/>
            <a:ext cx="807799" cy="427903"/>
          </a:xfrm>
          <a:prstGeom prst="wedgeRectCallout">
            <a:avLst>
              <a:gd name="adj1" fmla="val -78725"/>
              <a:gd name="adj2" fmla="val -19129"/>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促进云网融合</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68" name="Rectangular Callout 26"/>
          <p:cNvSpPr/>
          <p:nvPr/>
        </p:nvSpPr>
        <p:spPr bwMode="gray">
          <a:xfrm>
            <a:off x="7041651" y="4906965"/>
            <a:ext cx="807799" cy="427903"/>
          </a:xfrm>
          <a:prstGeom prst="wedgeRectCallout">
            <a:avLst>
              <a:gd name="adj1" fmla="val -18545"/>
              <a:gd name="adj2" fmla="val 94480"/>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提升跨域体验</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en-US" altLang="zh-CN" sz="2000" dirty="0">
                <a:solidFill>
                  <a:schemeClr val="bg1">
                    <a:lumMod val="50000"/>
                  </a:schemeClr>
                </a:solidFill>
                <a:sym typeface="Huawei Sans" panose="020C0503030203020204" pitchFamily="34" charset="0"/>
              </a:rPr>
              <a:t>SRv6</a:t>
            </a:r>
            <a:r>
              <a:rPr lang="zh-CN" altLang="en-US" sz="2000" dirty="0">
                <a:solidFill>
                  <a:schemeClr val="bg1">
                    <a:lumMod val="50000"/>
                  </a:schemeClr>
                </a:solidFill>
                <a:sym typeface="Huawei Sans" panose="020C0503030203020204" pitchFamily="34" charset="0"/>
              </a:rPr>
              <a:t>概述</a:t>
            </a:r>
            <a:endParaRPr lang="zh-CN" altLang="en-US" sz="2000" dirty="0">
              <a:solidFill>
                <a:schemeClr val="bg1">
                  <a:lumMod val="50000"/>
                </a:schemeClr>
              </a:solidFill>
              <a:sym typeface="Huawei Sans" panose="020C0503030203020204" pitchFamily="34" charset="0"/>
            </a:endParaRPr>
          </a:p>
          <a:p>
            <a:r>
              <a:rPr lang="en-US" altLang="zh-CN" sz="2000" b="1" dirty="0">
                <a:sym typeface="Huawei Sans" panose="020C0503030203020204" pitchFamily="34" charset="0"/>
              </a:rPr>
              <a:t>SRv6</a:t>
            </a:r>
            <a:r>
              <a:rPr lang="zh-CN" altLang="en-US" sz="2000" b="1" dirty="0">
                <a:sym typeface="Huawei Sans" panose="020C0503030203020204" pitchFamily="34" charset="0"/>
              </a:rPr>
              <a:t>原理</a:t>
            </a:r>
            <a:endParaRPr lang="zh-CN" altLang="en-US" sz="2000" b="1" dirty="0">
              <a:sym typeface="Huawei Sans" panose="020C0503030203020204" pitchFamily="34" charset="0"/>
            </a:endParaRPr>
          </a:p>
          <a:p>
            <a:pPr lvl="1">
              <a:buSzPct val="60000"/>
              <a:buFont typeface="Wingdings" panose="05000000000000000000" pitchFamily="2" charset="2"/>
              <a:buChar char="n"/>
            </a:pPr>
            <a:r>
              <a:rPr lang="en-US" altLang="zh-CN" sz="1800" dirty="0">
                <a:sym typeface="Huawei Sans" panose="020C0503030203020204" pitchFamily="34" charset="0"/>
              </a:rPr>
              <a:t>SRv6</a:t>
            </a:r>
            <a:r>
              <a:rPr lang="zh-CN" altLang="en-US" sz="1800" dirty="0">
                <a:sym typeface="Huawei Sans" panose="020C0503030203020204" pitchFamily="34" charset="0"/>
              </a:rPr>
              <a:t>基本概念</a:t>
            </a:r>
            <a:endParaRPr lang="en-US" altLang="zh-CN" sz="1800" dirty="0">
              <a:sym typeface="Huawei Sans" panose="020C0503030203020204" pitchFamily="34" charset="0"/>
            </a:endParaRPr>
          </a:p>
          <a:p>
            <a:pPr lvl="1"/>
            <a:r>
              <a:rPr lang="en-US" altLang="zh-CN" sz="1800" dirty="0">
                <a:solidFill>
                  <a:schemeClr val="bg1">
                    <a:lumMod val="50000"/>
                  </a:schemeClr>
                </a:solidFill>
                <a:sym typeface="Huawei Sans" panose="020C0503030203020204" pitchFamily="34" charset="0"/>
              </a:rPr>
              <a:t>SRv6 Policy</a:t>
            </a:r>
            <a:r>
              <a:rPr lang="zh-CN" altLang="en-US" sz="1800" dirty="0">
                <a:solidFill>
                  <a:schemeClr val="bg1">
                    <a:lumMod val="50000"/>
                  </a:schemeClr>
                </a:solidFill>
                <a:sym typeface="Huawei Sans" panose="020C0503030203020204" pitchFamily="34" charset="0"/>
              </a:rPr>
              <a:t>路径建立与引流</a:t>
            </a:r>
            <a:endParaRPr lang="en-US" altLang="zh-CN" sz="1800" dirty="0">
              <a:solidFill>
                <a:schemeClr val="bg1">
                  <a:lumMod val="50000"/>
                </a:schemeClr>
              </a:solidFill>
              <a:sym typeface="Huawei Sans" panose="020C0503030203020204" pitchFamily="34" charset="0"/>
            </a:endParaRPr>
          </a:p>
          <a:p>
            <a:pPr lvl="1"/>
            <a:r>
              <a:rPr lang="en-US" altLang="zh-CN" sz="1800" dirty="0">
                <a:solidFill>
                  <a:schemeClr val="bg1">
                    <a:lumMod val="50000"/>
                  </a:schemeClr>
                </a:solidFill>
                <a:sym typeface="Huawei Sans" panose="020C0503030203020204" pitchFamily="34" charset="0"/>
              </a:rPr>
              <a:t>SRv6</a:t>
            </a:r>
            <a:r>
              <a:rPr lang="zh-CN" altLang="en-US" sz="1800" dirty="0">
                <a:solidFill>
                  <a:schemeClr val="bg1">
                    <a:lumMod val="50000"/>
                  </a:schemeClr>
                </a:solidFill>
                <a:sym typeface="Huawei Sans" panose="020C0503030203020204" pitchFamily="34" charset="0"/>
              </a:rPr>
              <a:t>典型用例</a:t>
            </a:r>
            <a:endParaRPr lang="en-US" altLang="zh-CN" sz="1800" dirty="0">
              <a:solidFill>
                <a:schemeClr val="bg1">
                  <a:lumMod val="50000"/>
                </a:schemeClr>
              </a:solidFill>
              <a:sym typeface="Huawei Sans" panose="020C0503030203020204" pitchFamily="34" charset="0"/>
            </a:endParaRPr>
          </a:p>
          <a:p>
            <a:r>
              <a:rPr lang="en-US" altLang="zh-CN" sz="2000" dirty="0">
                <a:solidFill>
                  <a:schemeClr val="bg1">
                    <a:lumMod val="50000"/>
                  </a:schemeClr>
                </a:solidFill>
                <a:sym typeface="Huawei Sans" panose="020C0503030203020204" pitchFamily="34" charset="0"/>
              </a:rPr>
              <a:t>SRv6</a:t>
            </a:r>
            <a:r>
              <a:rPr lang="zh-CN" altLang="en-US" sz="2000" dirty="0">
                <a:solidFill>
                  <a:schemeClr val="bg1">
                    <a:lumMod val="50000"/>
                  </a:schemeClr>
                </a:solidFill>
                <a:sym typeface="Huawei Sans" panose="020C0503030203020204" pitchFamily="34" charset="0"/>
              </a:rPr>
              <a:t>高可靠性</a:t>
            </a:r>
            <a:endParaRPr lang="en-US" altLang="zh-CN" sz="2000" dirty="0">
              <a:solidFill>
                <a:schemeClr val="bg1">
                  <a:lumMod val="50000"/>
                </a:schemeClr>
              </a:solidFill>
              <a:sym typeface="Huawei Sans" panose="020C0503030203020204" pitchFamily="34" charset="0"/>
            </a:endParaRPr>
          </a:p>
          <a:p>
            <a:r>
              <a:rPr lang="en-US" altLang="zh-CN" sz="2000" dirty="0">
                <a:solidFill>
                  <a:schemeClr val="bg1">
                    <a:lumMod val="50000"/>
                  </a:schemeClr>
                </a:solidFill>
                <a:sym typeface="Huawei Sans" panose="020C0503030203020204" pitchFamily="34" charset="0"/>
              </a:rPr>
              <a:t>SRv6</a:t>
            </a:r>
            <a:r>
              <a:rPr lang="zh-CN" altLang="en-US" sz="2000" dirty="0">
                <a:solidFill>
                  <a:schemeClr val="bg1">
                    <a:lumMod val="50000"/>
                  </a:schemeClr>
                </a:solidFill>
                <a:sym typeface="Huawei Sans" panose="020C0503030203020204" pitchFamily="34" charset="0"/>
              </a:rPr>
              <a:t>基础配置</a:t>
            </a:r>
            <a:endParaRPr lang="en-US" altLang="zh-CN" sz="2000" dirty="0">
              <a:solidFill>
                <a:schemeClr val="bg1">
                  <a:lumMod val="50000"/>
                </a:schemeClr>
              </a:solidFill>
              <a:sym typeface="Huawei Sans" panose="020C0503030203020204" pitchFamily="34" charset="0"/>
            </a:endParaRPr>
          </a:p>
          <a:p>
            <a:r>
              <a:rPr lang="zh-CN" altLang="en-US" sz="2000" dirty="0">
                <a:solidFill>
                  <a:schemeClr val="bg1">
                    <a:lumMod val="50000"/>
                  </a:schemeClr>
                </a:solidFill>
                <a:sym typeface="Huawei Sans" panose="020C0503030203020204" pitchFamily="34" charset="0"/>
              </a:rPr>
              <a:t>基于</a:t>
            </a:r>
            <a:r>
              <a:rPr lang="en-US" altLang="zh-CN" sz="2000" dirty="0" err="1">
                <a:solidFill>
                  <a:schemeClr val="bg1">
                    <a:lumMod val="50000"/>
                  </a:schemeClr>
                </a:solidFill>
                <a:sym typeface="Huawei Sans" panose="020C0503030203020204" pitchFamily="34" charset="0"/>
              </a:rPr>
              <a:t>iMaster</a:t>
            </a:r>
            <a:r>
              <a:rPr lang="en-US" altLang="zh-CN" sz="2000" dirty="0">
                <a:solidFill>
                  <a:schemeClr val="bg1">
                    <a:lumMod val="50000"/>
                  </a:schemeClr>
                </a:solidFill>
                <a:sym typeface="Huawei Sans" panose="020C0503030203020204" pitchFamily="34" charset="0"/>
              </a:rPr>
              <a:t> NCE-IP</a:t>
            </a:r>
            <a:r>
              <a:rPr lang="zh-CN" altLang="en-US" sz="2000" dirty="0">
                <a:solidFill>
                  <a:schemeClr val="bg1">
                    <a:lumMod val="50000"/>
                  </a:schemeClr>
                </a:solidFill>
                <a:sym typeface="Huawei Sans" panose="020C0503030203020204" pitchFamily="34" charset="0"/>
              </a:rPr>
              <a:t>部署</a:t>
            </a:r>
            <a:r>
              <a:rPr lang="en-US" altLang="zh-CN" sz="2000" dirty="0">
                <a:solidFill>
                  <a:schemeClr val="bg1">
                    <a:lumMod val="50000"/>
                  </a:schemeClr>
                </a:solidFill>
                <a:sym typeface="Huawei Sans" panose="020C0503030203020204" pitchFamily="34" charset="0"/>
              </a:rPr>
              <a:t>SRv6</a:t>
            </a:r>
            <a:endParaRPr lang="zh-CN" altLang="en-US" sz="2000" dirty="0">
              <a:solidFill>
                <a:schemeClr val="bg1">
                  <a:lumMod val="50000"/>
                </a:schemeClr>
              </a:solidFill>
              <a:sym typeface="Huawei Sans" panose="020C050303020302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SRv6</a:t>
            </a:r>
            <a:r>
              <a:rPr lang="zh-CN" altLang="en-US" dirty="0"/>
              <a:t>原理简介</a:t>
            </a:r>
            <a:endParaRPr lang="zh-CN" altLang="en-US" dirty="0"/>
          </a:p>
        </p:txBody>
      </p:sp>
      <p:sp>
        <p:nvSpPr>
          <p:cNvPr id="3" name="Text Placeholder 2"/>
          <p:cNvSpPr>
            <a:spLocks noGrp="1"/>
          </p:cNvSpPr>
          <p:nvPr>
            <p:ph type="body" sz="quarter" idx="10"/>
          </p:nvPr>
        </p:nvSpPr>
        <p:spPr/>
        <p:txBody>
          <a:bodyPr/>
          <a:lstStyle/>
          <a:p>
            <a:r>
              <a:rPr lang="en-US" altLang="zh-CN" sz="1800" dirty="0"/>
              <a:t>SRv6</a:t>
            </a:r>
            <a:r>
              <a:rPr lang="zh-CN" altLang="en-US" sz="1800" dirty="0"/>
              <a:t>在头节点上对数据压入段路由扩展报文头（</a:t>
            </a:r>
            <a:r>
              <a:rPr lang="en-US" altLang="zh-CN" sz="1800" dirty="0"/>
              <a:t>SRH</a:t>
            </a:r>
            <a:r>
              <a:rPr lang="zh-CN" altLang="en-US" sz="1800" dirty="0"/>
              <a:t>，</a:t>
            </a:r>
            <a:r>
              <a:rPr lang="en-US" altLang="zh-CN" sz="1800" dirty="0"/>
              <a:t>Segment Routing Header</a:t>
            </a:r>
            <a:r>
              <a:rPr lang="zh-CN" altLang="en-US" sz="1800" dirty="0"/>
              <a:t>）来指导数据转发。</a:t>
            </a:r>
            <a:endParaRPr lang="en-US" altLang="zh-CN" sz="1800" dirty="0"/>
          </a:p>
          <a:p>
            <a:r>
              <a:rPr lang="en-US" altLang="zh-CN" sz="1800" dirty="0"/>
              <a:t>SRv6</a:t>
            </a:r>
            <a:r>
              <a:rPr lang="zh-CN" altLang="en-US" sz="1800" dirty="0"/>
              <a:t>报文没有改变原有</a:t>
            </a:r>
            <a:r>
              <a:rPr lang="en-US" altLang="zh-CN" sz="1800" dirty="0"/>
              <a:t>IPv6</a:t>
            </a:r>
            <a:r>
              <a:rPr lang="zh-CN" altLang="en-US" sz="1800" dirty="0"/>
              <a:t>报文的封装结构，</a:t>
            </a:r>
            <a:r>
              <a:rPr lang="en-US" altLang="zh-CN" sz="1800" dirty="0"/>
              <a:t>SRv6</a:t>
            </a:r>
            <a:r>
              <a:rPr lang="zh-CN" altLang="en-US" sz="1800" dirty="0"/>
              <a:t>报文仍旧是</a:t>
            </a:r>
            <a:r>
              <a:rPr lang="en-US" altLang="zh-CN" sz="1800" dirty="0"/>
              <a:t>IPv6</a:t>
            </a:r>
            <a:r>
              <a:rPr lang="zh-CN" altLang="en-US" sz="1800" dirty="0"/>
              <a:t>报文，普通的</a:t>
            </a:r>
            <a:r>
              <a:rPr lang="en-US" altLang="zh-CN" sz="1800" dirty="0"/>
              <a:t>IPv6</a:t>
            </a:r>
            <a:r>
              <a:rPr lang="zh-CN" altLang="en-US" sz="1800" dirty="0"/>
              <a:t>设备也可以识别，所以说</a:t>
            </a:r>
            <a:r>
              <a:rPr lang="en-US" altLang="zh-CN" sz="1800" dirty="0"/>
              <a:t>SRv6</a:t>
            </a:r>
            <a:r>
              <a:rPr lang="zh-CN" altLang="en-US" sz="1800" dirty="0"/>
              <a:t>是</a:t>
            </a:r>
            <a:r>
              <a:rPr lang="en-US" altLang="zh-CN" sz="1800" dirty="0"/>
              <a:t>Native IPv6</a:t>
            </a:r>
            <a:r>
              <a:rPr lang="zh-CN" altLang="en-US" sz="1800" dirty="0"/>
              <a:t>技术。 </a:t>
            </a:r>
            <a:endParaRPr lang="en-US" altLang="zh-CN" sz="1800" dirty="0"/>
          </a:p>
          <a:p>
            <a:r>
              <a:rPr lang="en-US" altLang="zh-CN" sz="1800" dirty="0"/>
              <a:t>SRv6 </a:t>
            </a:r>
            <a:r>
              <a:rPr lang="zh-CN" altLang="en-US" sz="1800" dirty="0"/>
              <a:t>的</a:t>
            </a:r>
            <a:r>
              <a:rPr lang="en-US" altLang="zh-CN" sz="1800" dirty="0"/>
              <a:t>Native IPv6</a:t>
            </a:r>
            <a:r>
              <a:rPr lang="zh-CN" altLang="en-US" sz="1800" dirty="0"/>
              <a:t>特质使得</a:t>
            </a:r>
            <a:r>
              <a:rPr lang="en-US" altLang="zh-CN" sz="1800" dirty="0"/>
              <a:t>SRv6</a:t>
            </a:r>
            <a:r>
              <a:rPr lang="zh-CN" altLang="en-US" sz="1800" dirty="0"/>
              <a:t>设备能够和普通</a:t>
            </a:r>
            <a:r>
              <a:rPr lang="en-US" altLang="zh-CN" sz="1800" dirty="0"/>
              <a:t>IPv6</a:t>
            </a:r>
            <a:r>
              <a:rPr lang="zh-CN" altLang="en-US" sz="1800" dirty="0"/>
              <a:t>设备共同组网，对现有网络具有更好的兼容性。</a:t>
            </a:r>
            <a:endParaRPr lang="zh-CN" altLang="en-US" sz="1800" dirty="0"/>
          </a:p>
        </p:txBody>
      </p:sp>
      <p:cxnSp>
        <p:nvCxnSpPr>
          <p:cNvPr id="5" name="直接连接符 91"/>
          <p:cNvCxnSpPr>
            <a:stCxn id="25" idx="0"/>
            <a:endCxn id="23" idx="3"/>
          </p:cNvCxnSpPr>
          <p:nvPr/>
        </p:nvCxnSpPr>
        <p:spPr bwMode="gray">
          <a:xfrm flipH="1" flipV="1">
            <a:off x="8407819" y="4302568"/>
            <a:ext cx="781738" cy="55400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直接连接符 93"/>
          <p:cNvCxnSpPr>
            <a:stCxn id="25" idx="2"/>
            <a:endCxn id="24" idx="3"/>
          </p:cNvCxnSpPr>
          <p:nvPr/>
        </p:nvCxnSpPr>
        <p:spPr bwMode="gray">
          <a:xfrm flipH="1">
            <a:off x="8407819" y="5299372"/>
            <a:ext cx="781738" cy="56557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直接连接符 99"/>
          <p:cNvCxnSpPr>
            <a:stCxn id="21" idx="1"/>
            <a:endCxn id="20" idx="3"/>
          </p:cNvCxnSpPr>
          <p:nvPr/>
        </p:nvCxnSpPr>
        <p:spPr bwMode="gray">
          <a:xfrm flipH="1">
            <a:off x="5089767" y="4302568"/>
            <a:ext cx="1286537" cy="156238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直接连接符 100"/>
          <p:cNvCxnSpPr>
            <a:stCxn id="22" idx="1"/>
            <a:endCxn id="19" idx="3"/>
          </p:cNvCxnSpPr>
          <p:nvPr/>
        </p:nvCxnSpPr>
        <p:spPr bwMode="gray">
          <a:xfrm flipH="1" flipV="1">
            <a:off x="5089767" y="4302568"/>
            <a:ext cx="1286537" cy="156238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85"/>
          <p:cNvCxnSpPr>
            <a:stCxn id="18" idx="2"/>
            <a:endCxn id="20" idx="1"/>
          </p:cNvCxnSpPr>
          <p:nvPr/>
        </p:nvCxnSpPr>
        <p:spPr bwMode="gray">
          <a:xfrm>
            <a:off x="3795560" y="5299372"/>
            <a:ext cx="754207" cy="56557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直接连接符 88"/>
          <p:cNvCxnSpPr>
            <a:stCxn id="18" idx="0"/>
            <a:endCxn id="19" idx="1"/>
          </p:cNvCxnSpPr>
          <p:nvPr/>
        </p:nvCxnSpPr>
        <p:spPr bwMode="gray">
          <a:xfrm flipV="1">
            <a:off x="3795560" y="4302568"/>
            <a:ext cx="754207" cy="55400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直接连接符 71"/>
          <p:cNvCxnSpPr>
            <a:stCxn id="23" idx="1"/>
            <a:endCxn id="19" idx="3"/>
          </p:cNvCxnSpPr>
          <p:nvPr/>
        </p:nvCxnSpPr>
        <p:spPr bwMode="gray">
          <a:xfrm flipH="1">
            <a:off x="5089767" y="4302568"/>
            <a:ext cx="277805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接连接符 72"/>
          <p:cNvCxnSpPr>
            <a:stCxn id="24" idx="1"/>
            <a:endCxn id="20" idx="3"/>
          </p:cNvCxnSpPr>
          <p:nvPr/>
        </p:nvCxnSpPr>
        <p:spPr bwMode="gray">
          <a:xfrm flipH="1">
            <a:off x="5089767" y="5864951"/>
            <a:ext cx="277805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接连接符 80"/>
          <p:cNvCxnSpPr>
            <a:stCxn id="22" idx="0"/>
            <a:endCxn id="21" idx="2"/>
          </p:cNvCxnSpPr>
          <p:nvPr/>
        </p:nvCxnSpPr>
        <p:spPr bwMode="gray">
          <a:xfrm flipV="1">
            <a:off x="6646304" y="4523968"/>
            <a:ext cx="0" cy="111958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18" name="图片 51"/>
          <p:cNvPicPr/>
          <p:nvPr/>
        </p:nvPicPr>
        <p:blipFill>
          <a:blip r:embed="rId1" cstate="print">
            <a:extLst>
              <a:ext uri="{28A0092B-C50C-407E-A947-70E740481C1C}">
                <a14:useLocalDpi xmlns:a14="http://schemas.microsoft.com/office/drawing/2010/main" val="0"/>
              </a:ext>
            </a:extLst>
          </a:blip>
          <a:stretch>
            <a:fillRect/>
          </a:stretch>
        </p:blipFill>
        <p:spPr bwMode="gray">
          <a:xfrm>
            <a:off x="3525560" y="4856572"/>
            <a:ext cx="540000" cy="442800"/>
          </a:xfrm>
          <a:prstGeom prst="rect">
            <a:avLst/>
          </a:prstGeom>
        </p:spPr>
      </p:pic>
      <p:pic>
        <p:nvPicPr>
          <p:cNvPr id="19" name="图片 52"/>
          <p:cNvPicPr/>
          <p:nvPr/>
        </p:nvPicPr>
        <p:blipFill>
          <a:blip r:embed="rId1" cstate="print">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4549767" y="4081168"/>
            <a:ext cx="540000" cy="442800"/>
          </a:xfrm>
          <a:prstGeom prst="rect">
            <a:avLst/>
          </a:prstGeom>
        </p:spPr>
      </p:pic>
      <p:pic>
        <p:nvPicPr>
          <p:cNvPr id="20" name="图片 53"/>
          <p:cNvPicPr/>
          <p:nvPr/>
        </p:nvPicPr>
        <p:blipFill>
          <a:blip r:embed="rId1" cstate="print">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4549767" y="5643551"/>
            <a:ext cx="540000" cy="442800"/>
          </a:xfrm>
          <a:prstGeom prst="rect">
            <a:avLst/>
          </a:prstGeom>
        </p:spPr>
      </p:pic>
      <p:pic>
        <p:nvPicPr>
          <p:cNvPr id="21" name="图片 54"/>
          <p:cNvPicPr/>
          <p:nvPr/>
        </p:nvPicPr>
        <p:blipFill>
          <a:blip r:embed="rId1" cstate="print">
            <a:extLst>
              <a:ext uri="{28A0092B-C50C-407E-A947-70E740481C1C}">
                <a14:useLocalDpi xmlns:a14="http://schemas.microsoft.com/office/drawing/2010/main" val="0"/>
              </a:ext>
            </a:extLst>
          </a:blip>
          <a:stretch>
            <a:fillRect/>
          </a:stretch>
        </p:blipFill>
        <p:spPr bwMode="gray">
          <a:xfrm>
            <a:off x="6376304" y="4081168"/>
            <a:ext cx="540000" cy="442800"/>
          </a:xfrm>
          <a:prstGeom prst="rect">
            <a:avLst/>
          </a:prstGeom>
        </p:spPr>
      </p:pic>
      <p:pic>
        <p:nvPicPr>
          <p:cNvPr id="22" name="图片 55"/>
          <p:cNvPicPr/>
          <p:nvPr/>
        </p:nvPicPr>
        <p:blipFill>
          <a:blip r:embed="rId1" cstate="print">
            <a:extLst>
              <a:ext uri="{28A0092B-C50C-407E-A947-70E740481C1C}">
                <a14:useLocalDpi xmlns:a14="http://schemas.microsoft.com/office/drawing/2010/main" val="0"/>
              </a:ext>
            </a:extLst>
          </a:blip>
          <a:stretch>
            <a:fillRect/>
          </a:stretch>
        </p:blipFill>
        <p:spPr bwMode="gray">
          <a:xfrm>
            <a:off x="6376304" y="5643551"/>
            <a:ext cx="540000" cy="442800"/>
          </a:xfrm>
          <a:prstGeom prst="rect">
            <a:avLst/>
          </a:prstGeom>
        </p:spPr>
      </p:pic>
      <p:pic>
        <p:nvPicPr>
          <p:cNvPr id="23" name="图片 56"/>
          <p:cNvPicPr/>
          <p:nvPr/>
        </p:nvPicPr>
        <p:blipFill>
          <a:blip r:embed="rId1" cstate="print">
            <a:extLst>
              <a:ext uri="{28A0092B-C50C-407E-A947-70E740481C1C}">
                <a14:useLocalDpi xmlns:a14="http://schemas.microsoft.com/office/drawing/2010/main" val="0"/>
              </a:ext>
            </a:extLst>
          </a:blip>
          <a:stretch>
            <a:fillRect/>
          </a:stretch>
        </p:blipFill>
        <p:spPr bwMode="gray">
          <a:xfrm>
            <a:off x="7867819" y="4081168"/>
            <a:ext cx="540000" cy="442800"/>
          </a:xfrm>
          <a:prstGeom prst="rect">
            <a:avLst/>
          </a:prstGeom>
        </p:spPr>
      </p:pic>
      <p:pic>
        <p:nvPicPr>
          <p:cNvPr id="24" name="图片 57"/>
          <p:cNvPicPr/>
          <p:nvPr/>
        </p:nvPicPr>
        <p:blipFill>
          <a:blip r:embed="rId1" cstate="print">
            <a:extLst>
              <a:ext uri="{28A0092B-C50C-407E-A947-70E740481C1C}">
                <a14:useLocalDpi xmlns:a14="http://schemas.microsoft.com/office/drawing/2010/main" val="0"/>
              </a:ext>
            </a:extLst>
          </a:blip>
          <a:stretch>
            <a:fillRect/>
          </a:stretch>
        </p:blipFill>
        <p:spPr bwMode="gray">
          <a:xfrm>
            <a:off x="7867819" y="5643551"/>
            <a:ext cx="540000" cy="442800"/>
          </a:xfrm>
          <a:prstGeom prst="rect">
            <a:avLst/>
          </a:prstGeom>
        </p:spPr>
      </p:pic>
      <p:pic>
        <p:nvPicPr>
          <p:cNvPr id="25" name="图片 58"/>
          <p:cNvPicPr/>
          <p:nvPr/>
        </p:nvPicPr>
        <p:blipFill>
          <a:blip r:embed="rId1" cstate="print">
            <a:extLst>
              <a:ext uri="{28A0092B-C50C-407E-A947-70E740481C1C}">
                <a14:useLocalDpi xmlns:a14="http://schemas.microsoft.com/office/drawing/2010/main" val="0"/>
              </a:ext>
            </a:extLst>
          </a:blip>
          <a:stretch>
            <a:fillRect/>
          </a:stretch>
        </p:blipFill>
        <p:spPr bwMode="gray">
          <a:xfrm>
            <a:off x="8919557" y="4856572"/>
            <a:ext cx="540000" cy="442800"/>
          </a:xfrm>
          <a:prstGeom prst="rect">
            <a:avLst/>
          </a:prstGeom>
        </p:spPr>
      </p:pic>
      <p:sp>
        <p:nvSpPr>
          <p:cNvPr id="26" name="文本框 48"/>
          <p:cNvSpPr txBox="1"/>
          <p:nvPr/>
        </p:nvSpPr>
        <p:spPr bwMode="gray">
          <a:xfrm>
            <a:off x="2863689" y="4924083"/>
            <a:ext cx="723275" cy="307777"/>
          </a:xfrm>
          <a:prstGeom prst="rect">
            <a:avLst/>
          </a:prstGeom>
          <a:noFill/>
        </p:spPr>
        <p:txBody>
          <a:bodyPr wrap="none" rtlCol="0">
            <a:spAutoFit/>
          </a:bodyPr>
          <a:lstStyle/>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头节点</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graphicFrame>
        <p:nvGraphicFramePr>
          <p:cNvPr id="27" name="Table 26"/>
          <p:cNvGraphicFramePr>
            <a:graphicFrameLocks noGrp="1"/>
          </p:cNvGraphicFramePr>
          <p:nvPr/>
        </p:nvGraphicFramePr>
        <p:xfrm>
          <a:off x="4329730" y="2790041"/>
          <a:ext cx="1345061" cy="1188720"/>
        </p:xfrm>
        <a:graphic>
          <a:graphicData uri="http://schemas.openxmlformats.org/drawingml/2006/table">
            <a:tbl>
              <a:tblPr firstRow="1" bandRow="1">
                <a:tableStyleId>{72833802-FEF1-4C79-8D5D-14CF1EAF98D9}</a:tableStyleId>
              </a:tblPr>
              <a:tblGrid>
                <a:gridCol w="1345061"/>
              </a:tblGrid>
              <a:tr h="254919">
                <a:tc>
                  <a:txBody>
                    <a:bodyPr/>
                    <a:lstStyle/>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IPv6 Header</a:t>
                      </a:r>
                      <a:endPar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6C4D2"/>
                    </a:solidFill>
                  </a:tcPr>
                </a:tc>
              </a:tr>
              <a:tr h="565711">
                <a:tc>
                  <a:txBody>
                    <a:bodyPr/>
                    <a:lstStyle/>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D</a:t>
                      </a:r>
                      <a:endPar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C</a:t>
                      </a:r>
                      <a:endPar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B</a:t>
                      </a:r>
                      <a:endParaRPr lang="zh-CN" altLang="en-US"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EEEC1"/>
                    </a:solidFill>
                  </a:tcPr>
                </a:tc>
              </a:tr>
              <a:tr h="188570">
                <a:tc>
                  <a:txBody>
                    <a:bodyPr/>
                    <a:lstStyle/>
                    <a:p>
                      <a:pPr algn="ctr"/>
                      <a:r>
                        <a:rPr lang="en-US" altLang="zh-CN" sz="1200" dirty="0">
                          <a:solidFill>
                            <a:schemeClr val="bg1"/>
                          </a:solidFill>
                        </a:rPr>
                        <a:t>Payload</a:t>
                      </a:r>
                      <a:endParaRPr lang="zh-CN" altLang="en-US" sz="1200"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r>
            </a:tbl>
          </a:graphicData>
        </a:graphic>
      </p:graphicFrame>
      <p:sp>
        <p:nvSpPr>
          <p:cNvPr id="28" name="文本框 48"/>
          <p:cNvSpPr txBox="1"/>
          <p:nvPr/>
        </p:nvSpPr>
        <p:spPr bwMode="gray">
          <a:xfrm>
            <a:off x="6653446" y="4477630"/>
            <a:ext cx="312906" cy="338554"/>
          </a:xfrm>
          <a:prstGeom prst="rect">
            <a:avLst/>
          </a:prstGeom>
          <a:noFill/>
        </p:spPr>
        <p:txBody>
          <a:bodyPr wrap="none" rtlCol="0">
            <a:spAutoFit/>
          </a:bodyPr>
          <a:lstStyle/>
          <a:p>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B</a:t>
            </a:r>
            <a:endParaRPr lang="zh-CN" altLang="en-US" sz="16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文本框 48"/>
          <p:cNvSpPr txBox="1"/>
          <p:nvPr/>
        </p:nvSpPr>
        <p:spPr bwMode="gray">
          <a:xfrm>
            <a:off x="7990984" y="4480942"/>
            <a:ext cx="314510" cy="338554"/>
          </a:xfrm>
          <a:prstGeom prst="rect">
            <a:avLst/>
          </a:prstGeom>
          <a:noFill/>
        </p:spPr>
        <p:txBody>
          <a:bodyPr wrap="none" rtlCol="0">
            <a:spAutoFit/>
          </a:bodyPr>
          <a:lstStyle/>
          <a:p>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C</a:t>
            </a:r>
            <a:endParaRPr lang="zh-CN" altLang="en-US" sz="16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 name="文本框 48"/>
          <p:cNvSpPr txBox="1"/>
          <p:nvPr/>
        </p:nvSpPr>
        <p:spPr bwMode="gray">
          <a:xfrm>
            <a:off x="8631815" y="4935126"/>
            <a:ext cx="333746" cy="338554"/>
          </a:xfrm>
          <a:prstGeom prst="rect">
            <a:avLst/>
          </a:prstGeom>
          <a:noFill/>
        </p:spPr>
        <p:txBody>
          <a:bodyPr wrap="none" rtlCol="0">
            <a:spAutoFit/>
          </a:bodyPr>
          <a:lstStyle/>
          <a:p>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D</a:t>
            </a:r>
            <a:endParaRPr lang="zh-CN" altLang="en-US" sz="16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aphicFrame>
        <p:nvGraphicFramePr>
          <p:cNvPr id="31" name="Table 30"/>
          <p:cNvGraphicFramePr>
            <a:graphicFrameLocks noGrp="1"/>
          </p:cNvGraphicFramePr>
          <p:nvPr/>
        </p:nvGraphicFramePr>
        <p:xfrm>
          <a:off x="6637786" y="2792522"/>
          <a:ext cx="1345061" cy="1188720"/>
        </p:xfrm>
        <a:graphic>
          <a:graphicData uri="http://schemas.openxmlformats.org/drawingml/2006/table">
            <a:tbl>
              <a:tblPr firstRow="1" bandRow="1">
                <a:tableStyleId>{72833802-FEF1-4C79-8D5D-14CF1EAF98D9}</a:tableStyleId>
              </a:tblPr>
              <a:tblGrid>
                <a:gridCol w="1345061"/>
              </a:tblGrid>
              <a:tr h="254919">
                <a:tc>
                  <a:txBody>
                    <a:bodyPr/>
                    <a:lstStyle/>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IPv6 Header</a:t>
                      </a:r>
                      <a:endPar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6C4D2"/>
                    </a:solidFill>
                  </a:tcPr>
                </a:tc>
              </a:tr>
              <a:tr h="565711">
                <a:tc>
                  <a:txBody>
                    <a:bodyPr/>
                    <a:lstStyle/>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D</a:t>
                      </a:r>
                      <a:endPar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1" kern="1200" dirty="0">
                          <a:solidFill>
                            <a:srgbClr val="C7000B"/>
                          </a:solidFill>
                          <a:latin typeface="Huawei Sans" panose="020C0503030203020204" pitchFamily="34" charset="0"/>
                          <a:ea typeface="方正兰亭黑简体" panose="02000000000000000000" pitchFamily="2" charset="-122"/>
                          <a:cs typeface="+mn-cs"/>
                          <a:sym typeface="Huawei Sans" panose="020C0503030203020204" pitchFamily="34" charset="0"/>
                        </a:rPr>
                        <a:t>C</a:t>
                      </a:r>
                      <a:endParaRPr lang="en-US" altLang="zh-CN" sz="1200" b="1" kern="1200" dirty="0">
                        <a:solidFill>
                          <a:srgbClr val="C7000B"/>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B</a:t>
                      </a:r>
                      <a:endPar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EEEC1"/>
                    </a:solidFill>
                  </a:tcPr>
                </a:tc>
              </a:tr>
              <a:tr h="188570">
                <a:tc>
                  <a:txBody>
                    <a:bodyPr/>
                    <a:lstStyle/>
                    <a:p>
                      <a:pPr algn="ctr"/>
                      <a:r>
                        <a:rPr lang="en-US" altLang="zh-CN" sz="1200" dirty="0">
                          <a:solidFill>
                            <a:schemeClr val="bg1"/>
                          </a:solidFill>
                        </a:rPr>
                        <a:t>Payload</a:t>
                      </a:r>
                      <a:endParaRPr lang="zh-CN" altLang="en-US" sz="1200"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r>
            </a:tbl>
          </a:graphicData>
        </a:graphic>
      </p:graphicFrame>
      <p:graphicFrame>
        <p:nvGraphicFramePr>
          <p:cNvPr id="32" name="Table 31"/>
          <p:cNvGraphicFramePr>
            <a:graphicFrameLocks noGrp="1"/>
          </p:cNvGraphicFramePr>
          <p:nvPr/>
        </p:nvGraphicFramePr>
        <p:xfrm>
          <a:off x="9183402" y="3284780"/>
          <a:ext cx="1345061" cy="1188720"/>
        </p:xfrm>
        <a:graphic>
          <a:graphicData uri="http://schemas.openxmlformats.org/drawingml/2006/table">
            <a:tbl>
              <a:tblPr firstRow="1" bandRow="1">
                <a:tableStyleId>{72833802-FEF1-4C79-8D5D-14CF1EAF98D9}</a:tableStyleId>
              </a:tblPr>
              <a:tblGrid>
                <a:gridCol w="1345061"/>
              </a:tblGrid>
              <a:tr h="254919">
                <a:tc>
                  <a:txBody>
                    <a:bodyPr/>
                    <a:lstStyle/>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IPv6 Header</a:t>
                      </a:r>
                      <a:endPar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6C4D2"/>
                    </a:solidFill>
                  </a:tcPr>
                </a:tc>
              </a:tr>
              <a:tr h="565711">
                <a:tc>
                  <a:txBody>
                    <a:bodyPr/>
                    <a:lstStyle/>
                    <a:p>
                      <a:pPr algn="ct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D</a:t>
                      </a:r>
                      <a:endPar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p>
                      <a:pPr marL="0" algn="ctr" defTabSz="913765" rtl="0" eaLnBrk="1" latinLnBrk="0" hangingPunct="1"/>
                      <a:r>
                        <a:rPr lang="en-US" altLang="zh-CN"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C</a:t>
                      </a:r>
                      <a:endParaRPr lang="en-US" altLang="zh-CN"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B</a:t>
                      </a:r>
                      <a:endPar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EEEC1"/>
                    </a:solidFill>
                  </a:tcPr>
                </a:tc>
              </a:tr>
              <a:tr h="188570">
                <a:tc>
                  <a:txBody>
                    <a:bodyPr/>
                    <a:lstStyle/>
                    <a:p>
                      <a:pPr algn="ctr"/>
                      <a:r>
                        <a:rPr lang="en-US" altLang="zh-CN" sz="1200" dirty="0">
                          <a:solidFill>
                            <a:schemeClr val="bg1"/>
                          </a:solidFill>
                        </a:rPr>
                        <a:t>Payload</a:t>
                      </a:r>
                      <a:endParaRPr lang="zh-CN" altLang="en-US" sz="1200"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r>
            </a:tbl>
          </a:graphicData>
        </a:graphic>
      </p:graphicFrame>
      <p:sp>
        <p:nvSpPr>
          <p:cNvPr id="33" name="Left Brace 32"/>
          <p:cNvSpPr/>
          <p:nvPr/>
        </p:nvSpPr>
        <p:spPr>
          <a:xfrm>
            <a:off x="4127446" y="3064361"/>
            <a:ext cx="155448" cy="638467"/>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4" name="文本框 13"/>
          <p:cNvSpPr txBox="1"/>
          <p:nvPr/>
        </p:nvSpPr>
        <p:spPr bwMode="gray">
          <a:xfrm>
            <a:off x="3490660" y="3224198"/>
            <a:ext cx="636786" cy="338554"/>
          </a:xfrm>
          <a:prstGeom prst="rect">
            <a:avLst/>
          </a:prstGeom>
          <a:noFill/>
        </p:spPr>
        <p:txBody>
          <a:bodyPr wrap="square" rtlCol="0">
            <a:spAutoFit/>
          </a:bodyPr>
          <a:lstStyle/>
          <a:p>
            <a:pPr defTabSz="914400" fontAlgn="base">
              <a:spcBef>
                <a:spcPct val="0"/>
              </a:spcBef>
              <a:spcAft>
                <a:spcPct val="0"/>
              </a:spcAft>
            </a:pPr>
            <a:r>
              <a:rPr lang="en-US" altLang="zh-CN" sz="16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SRH</a:t>
            </a:r>
            <a:endParaRPr lang="zh-CN" altLang="en-US" sz="1600" b="1" dirty="0" err="1">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 name="任意多边形 30"/>
          <p:cNvSpPr/>
          <p:nvPr/>
        </p:nvSpPr>
        <p:spPr bwMode="gray">
          <a:xfrm>
            <a:off x="4165562" y="4144830"/>
            <a:ext cx="5143204" cy="1056072"/>
          </a:xfrm>
          <a:custGeom>
            <a:avLst/>
            <a:gdLst>
              <a:gd name="connsiteX0" fmla="*/ 0 w 4948518"/>
              <a:gd name="connsiteY0" fmla="*/ 806824 h 860612"/>
              <a:gd name="connsiteX1" fmla="*/ 874059 w 4948518"/>
              <a:gd name="connsiteY1" fmla="*/ 0 h 860612"/>
              <a:gd name="connsiteX2" fmla="*/ 4074459 w 4948518"/>
              <a:gd name="connsiteY2" fmla="*/ 0 h 860612"/>
              <a:gd name="connsiteX3" fmla="*/ 4948518 w 4948518"/>
              <a:gd name="connsiteY3" fmla="*/ 860612 h 860612"/>
              <a:gd name="connsiteX0-1" fmla="*/ 0 w 5519251"/>
              <a:gd name="connsiteY0-2" fmla="*/ 1277472 h 1277472"/>
              <a:gd name="connsiteX1-3" fmla="*/ 1444792 w 5519251"/>
              <a:gd name="connsiteY1-4" fmla="*/ 0 h 1277472"/>
              <a:gd name="connsiteX2-5" fmla="*/ 4645192 w 5519251"/>
              <a:gd name="connsiteY2-6" fmla="*/ 0 h 1277472"/>
              <a:gd name="connsiteX3-7" fmla="*/ 5519251 w 5519251"/>
              <a:gd name="connsiteY3-8" fmla="*/ 860612 h 1277472"/>
              <a:gd name="connsiteX0-9" fmla="*/ 0 w 5759559"/>
              <a:gd name="connsiteY0-10" fmla="*/ 1277472 h 1277472"/>
              <a:gd name="connsiteX1-11" fmla="*/ 1444792 w 5759559"/>
              <a:gd name="connsiteY1-12" fmla="*/ 0 h 1277472"/>
              <a:gd name="connsiteX2-13" fmla="*/ 4645192 w 5759559"/>
              <a:gd name="connsiteY2-14" fmla="*/ 0 h 1277472"/>
              <a:gd name="connsiteX3-15" fmla="*/ 5759559 w 5759559"/>
              <a:gd name="connsiteY3-16" fmla="*/ 820271 h 1277472"/>
              <a:gd name="connsiteX0-17" fmla="*/ 0 w 5729521"/>
              <a:gd name="connsiteY0-18" fmla="*/ 1277472 h 1277472"/>
              <a:gd name="connsiteX1-19" fmla="*/ 1444792 w 5729521"/>
              <a:gd name="connsiteY1-20" fmla="*/ 0 h 1277472"/>
              <a:gd name="connsiteX2-21" fmla="*/ 4645192 w 5729521"/>
              <a:gd name="connsiteY2-22" fmla="*/ 0 h 1277472"/>
              <a:gd name="connsiteX3-23" fmla="*/ 5729521 w 5729521"/>
              <a:gd name="connsiteY3-24" fmla="*/ 820271 h 1277472"/>
              <a:gd name="connsiteX0-25" fmla="*/ 0 w 5669444"/>
              <a:gd name="connsiteY0-26" fmla="*/ 1277472 h 1277472"/>
              <a:gd name="connsiteX1-27" fmla="*/ 1444792 w 5669444"/>
              <a:gd name="connsiteY1-28" fmla="*/ 0 h 1277472"/>
              <a:gd name="connsiteX2-29" fmla="*/ 4645192 w 5669444"/>
              <a:gd name="connsiteY2-30" fmla="*/ 0 h 1277472"/>
              <a:gd name="connsiteX3-31" fmla="*/ 5669444 w 5669444"/>
              <a:gd name="connsiteY3-32" fmla="*/ 833718 h 1277472"/>
              <a:gd name="connsiteX0-33" fmla="*/ 0 w 5744540"/>
              <a:gd name="connsiteY0-34" fmla="*/ 1277472 h 1277472"/>
              <a:gd name="connsiteX1-35" fmla="*/ 1444792 w 5744540"/>
              <a:gd name="connsiteY1-36" fmla="*/ 0 h 1277472"/>
              <a:gd name="connsiteX2-37" fmla="*/ 4645192 w 5744540"/>
              <a:gd name="connsiteY2-38" fmla="*/ 0 h 1277472"/>
              <a:gd name="connsiteX3-39" fmla="*/ 5744540 w 5744540"/>
              <a:gd name="connsiteY3-40" fmla="*/ 860612 h 1277472"/>
            </a:gdLst>
            <a:ahLst/>
            <a:cxnLst>
              <a:cxn ang="0">
                <a:pos x="connsiteX0-1" y="connsiteY0-2"/>
              </a:cxn>
              <a:cxn ang="0">
                <a:pos x="connsiteX1-3" y="connsiteY1-4"/>
              </a:cxn>
              <a:cxn ang="0">
                <a:pos x="connsiteX2-5" y="connsiteY2-6"/>
              </a:cxn>
              <a:cxn ang="0">
                <a:pos x="connsiteX3-7" y="connsiteY3-8"/>
              </a:cxn>
            </a:cxnLst>
            <a:rect l="l" t="t" r="r" b="b"/>
            <a:pathLst>
              <a:path w="5744540" h="1277472">
                <a:moveTo>
                  <a:pt x="0" y="1277472"/>
                </a:moveTo>
                <a:lnTo>
                  <a:pt x="1444792" y="0"/>
                </a:lnTo>
                <a:lnTo>
                  <a:pt x="4645192" y="0"/>
                </a:lnTo>
                <a:lnTo>
                  <a:pt x="5744540" y="860612"/>
                </a:lnTo>
              </a:path>
            </a:pathLst>
          </a:custGeom>
          <a:noFill/>
          <a:ln w="57150">
            <a:solidFill>
              <a:srgbClr val="FF9933"/>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aphicFrame>
        <p:nvGraphicFramePr>
          <p:cNvPr id="51" name="Table 50"/>
          <p:cNvGraphicFramePr>
            <a:graphicFrameLocks noGrp="1"/>
          </p:cNvGraphicFramePr>
          <p:nvPr/>
        </p:nvGraphicFramePr>
        <p:xfrm>
          <a:off x="2399336" y="4249960"/>
          <a:ext cx="1345061" cy="548640"/>
        </p:xfrm>
        <a:graphic>
          <a:graphicData uri="http://schemas.openxmlformats.org/drawingml/2006/table">
            <a:tbl>
              <a:tblPr firstRow="1" bandRow="1">
                <a:tableStyleId>{72833802-FEF1-4C79-8D5D-14CF1EAF98D9}</a:tableStyleId>
              </a:tblPr>
              <a:tblGrid>
                <a:gridCol w="1345061"/>
              </a:tblGrid>
              <a:tr h="254919">
                <a:tc>
                  <a:txBody>
                    <a:bodyPr/>
                    <a:lstStyle/>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IPv6 Header</a:t>
                      </a:r>
                      <a:endPar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6C4D2"/>
                    </a:solidFill>
                  </a:tcPr>
                </a:tc>
              </a:tr>
              <a:tr h="188570">
                <a:tc>
                  <a:txBody>
                    <a:bodyPr/>
                    <a:lstStyle/>
                    <a:p>
                      <a:pPr algn="ctr"/>
                      <a:r>
                        <a:rPr lang="en-US" altLang="zh-CN" sz="1200" dirty="0">
                          <a:solidFill>
                            <a:schemeClr val="bg1"/>
                          </a:solidFill>
                        </a:rPr>
                        <a:t>Payload</a:t>
                      </a:r>
                      <a:endParaRPr lang="zh-CN" altLang="en-US" sz="1200"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r>
              <a:rPr lang="en-US" altLang="zh-CN" dirty="0">
                <a:sym typeface="Huawei Sans" panose="020C0503030203020204" pitchFamily="34" charset="0"/>
              </a:rPr>
              <a:t>IPv6 SRH</a:t>
            </a:r>
            <a:r>
              <a:rPr lang="zh-CN" altLang="en-US" dirty="0">
                <a:sym typeface="Huawei Sans" panose="020C0503030203020204" pitchFamily="34" charset="0"/>
              </a:rPr>
              <a:t>介绍</a:t>
            </a:r>
            <a:endParaRPr lang="zh-CN" altLang="en-US" dirty="0">
              <a:sym typeface="Huawei Sans" panose="020C0503030203020204" pitchFamily="34" charset="0"/>
            </a:endParaRPr>
          </a:p>
        </p:txBody>
      </p:sp>
      <p:sp>
        <p:nvSpPr>
          <p:cNvPr id="6" name="文本占位符 5"/>
          <p:cNvSpPr>
            <a:spLocks noGrp="1"/>
          </p:cNvSpPr>
          <p:nvPr>
            <p:ph type="body" sz="quarter" idx="10"/>
          </p:nvPr>
        </p:nvSpPr>
        <p:spPr bwMode="gray"/>
        <p:txBody>
          <a:bodyPr/>
          <a:lstStyle/>
          <a:p>
            <a:r>
              <a:rPr lang="en-US" altLang="zh-CN" sz="1800" dirty="0"/>
              <a:t>RFC 8754</a:t>
            </a:r>
            <a:r>
              <a:rPr lang="zh-CN" altLang="en-US" sz="1800" dirty="0"/>
              <a:t>中定义</a:t>
            </a:r>
            <a:r>
              <a:rPr lang="en-US" altLang="zh-CN" sz="1800" dirty="0"/>
              <a:t>IPv6 SRH</a:t>
            </a:r>
            <a:r>
              <a:rPr lang="zh-CN" altLang="en-US" sz="1800" dirty="0"/>
              <a:t>扩展头标准，在</a:t>
            </a:r>
            <a:r>
              <a:rPr lang="en-US" altLang="zh-CN" sz="1800" dirty="0"/>
              <a:t>IPv6</a:t>
            </a:r>
            <a:r>
              <a:rPr lang="zh-CN" altLang="en-US" sz="1800" dirty="0"/>
              <a:t>报文增加一个</a:t>
            </a:r>
            <a:r>
              <a:rPr lang="en-US" altLang="zh-CN" sz="1800" dirty="0"/>
              <a:t>SRH</a:t>
            </a:r>
            <a:r>
              <a:rPr lang="zh-CN" altLang="en-US" sz="1800" dirty="0"/>
              <a:t>扩展头。其格式如下：</a:t>
            </a:r>
            <a:endParaRPr lang="en-US" altLang="zh-CN" sz="1800" dirty="0"/>
          </a:p>
          <a:p>
            <a:pPr lvl="1"/>
            <a:endParaRPr lang="zh-CN" altLang="en-US" sz="1600" dirty="0"/>
          </a:p>
          <a:p>
            <a:endParaRPr lang="zh-CN" altLang="en-US" sz="1800" dirty="0"/>
          </a:p>
        </p:txBody>
      </p:sp>
      <p:sp>
        <p:nvSpPr>
          <p:cNvPr id="3" name="矩形 2"/>
          <p:cNvSpPr/>
          <p:nvPr/>
        </p:nvSpPr>
        <p:spPr bwMode="gray">
          <a:xfrm>
            <a:off x="7988252" y="2288193"/>
            <a:ext cx="3023636" cy="460895"/>
          </a:xfrm>
          <a:prstGeom prst="rect">
            <a:avLst/>
          </a:prstGeom>
        </p:spPr>
        <p:txBody>
          <a:bodyPr wrap="square">
            <a:spAutoFit/>
          </a:bodyPr>
          <a:lstStyle/>
          <a:p>
            <a:pPr algn="just" defTabSz="914400" fontAlgn="base">
              <a:lnSpc>
                <a:spcPct val="150000"/>
              </a:lnSpc>
              <a:spcBef>
                <a:spcPct val="0"/>
              </a:spcBef>
              <a:spcAft>
                <a:spcPct val="0"/>
              </a:spcAft>
              <a:buClr>
                <a:srgbClr val="FF0000"/>
              </a:buClr>
              <a:defRPr/>
            </a:pPr>
            <a:endParaRPr lang="en-US" altLang="zh-CN" b="1" dirty="0">
              <a:solidFill>
                <a:srgbClr val="C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 name="矩形 3"/>
          <p:cNvSpPr/>
          <p:nvPr/>
        </p:nvSpPr>
        <p:spPr bwMode="gray">
          <a:xfrm>
            <a:off x="6476666" y="1852779"/>
            <a:ext cx="4739969" cy="382477"/>
          </a:xfrm>
          <a:prstGeom prst="rect">
            <a:avLst/>
          </a:prstGeom>
          <a:ln>
            <a:solidFill>
              <a:srgbClr val="30B5C5"/>
            </a:solidFill>
          </a:ln>
        </p:spPr>
        <p:txBody>
          <a:bodyPr wrap="square">
            <a:spAutoFit/>
          </a:bodyPr>
          <a:lstStyle/>
          <a:p>
            <a:pPr algn="just" defTabSz="914400" fontAlgn="base">
              <a:lnSpc>
                <a:spcPct val="150000"/>
              </a:lnSpc>
              <a:spcBef>
                <a:spcPct val="0"/>
              </a:spcBef>
              <a:spcAft>
                <a:spcPct val="0"/>
              </a:spcAft>
              <a:buClr>
                <a:srgbClr val="FF0000"/>
              </a:buClr>
              <a:defRPr/>
            </a:pPr>
            <a:r>
              <a:rPr lang="en-US" altLang="zh-CN" sz="140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43</a:t>
            </a:r>
            <a:r>
              <a:rPr lang="zh-CN" altLang="en-US"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表明是</a:t>
            </a: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Routing Extension Header</a:t>
            </a:r>
            <a:r>
              <a:rPr lang="zh-CN" altLang="en-US"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graphicFrame>
        <p:nvGraphicFramePr>
          <p:cNvPr id="5" name="表格 4"/>
          <p:cNvGraphicFramePr>
            <a:graphicFrameLocks noGrp="1"/>
          </p:cNvGraphicFramePr>
          <p:nvPr/>
        </p:nvGraphicFramePr>
        <p:xfrm>
          <a:off x="1122373" y="2641731"/>
          <a:ext cx="4497284" cy="3127361"/>
        </p:xfrm>
        <a:graphic>
          <a:graphicData uri="http://schemas.openxmlformats.org/drawingml/2006/table">
            <a:tbl>
              <a:tblPr/>
              <a:tblGrid>
                <a:gridCol w="1124321"/>
                <a:gridCol w="1124321"/>
                <a:gridCol w="281080"/>
                <a:gridCol w="843241"/>
                <a:gridCol w="1124321"/>
              </a:tblGrid>
              <a:tr h="267826">
                <a:tc>
                  <a:txBody>
                    <a:bodyPr/>
                    <a:lstStyle>
                      <a:lvl1pPr marL="0"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1pPr>
                      <a:lvl2pPr marL="457200"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2pPr>
                      <a:lvl3pPr marL="913765"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3pPr>
                      <a:lvl4pPr marL="1370965"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4pPr>
                      <a:lvl5pPr marL="1828165"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5pPr>
                      <a:lvl6pPr marL="2285365"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6pPr>
                      <a:lvl7pPr marL="2741930"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7pPr>
                      <a:lvl8pPr marL="3199130"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8pPr>
                      <a:lvl9pPr marL="3656330"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9pPr>
                    </a:lstStyle>
                    <a:p>
                      <a:pPr algn="l" fontAlgn="ctr"/>
                      <a:r>
                        <a:rPr lang="en-US" altLang="zh-CN" sz="1400" b="0" i="0" u="none" strike="noStrike" dirty="0">
                          <a:solidFill>
                            <a:schemeClr val="bg1"/>
                          </a:solidFill>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Version</a:t>
                      </a:r>
                      <a:endParaRPr lang="zh-CN" altLang="en-US" sz="1400" b="0" i="0" u="none" strike="noStrike" dirty="0">
                        <a:solidFill>
                          <a:schemeClr val="bg1"/>
                        </a:solidFill>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marL="9523" marR="9523" marT="9523" marB="0" anchor="ctr" anchorCtr="1">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50000"/>
                      </a:schemeClr>
                    </a:solidFill>
                  </a:tcPr>
                </a:tc>
                <a:tc>
                  <a:txBody>
                    <a:bodyPr/>
                    <a:lstStyle>
                      <a:lvl1pPr marL="0"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1pPr>
                      <a:lvl2pPr marL="457200"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2pPr>
                      <a:lvl3pPr marL="913765"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3pPr>
                      <a:lvl4pPr marL="1370965"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4pPr>
                      <a:lvl5pPr marL="1828165"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5pPr>
                      <a:lvl6pPr marL="2285365"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6pPr>
                      <a:lvl7pPr marL="2741930"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7pPr>
                      <a:lvl8pPr marL="3199130"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8pPr>
                      <a:lvl9pPr marL="3656330"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9pPr>
                    </a:lstStyle>
                    <a:p>
                      <a:pPr algn="l" fontAlgn="ctr"/>
                      <a:r>
                        <a:rPr lang="en-US" altLang="zh-CN" sz="1400" b="0" i="0" u="none" strike="noStrike" dirty="0">
                          <a:solidFill>
                            <a:schemeClr val="bg1"/>
                          </a:solidFill>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Traffic Class</a:t>
                      </a:r>
                      <a:endParaRPr lang="zh-CN" altLang="en-US" sz="1400" b="0" i="0" u="none" strike="noStrike" dirty="0">
                        <a:solidFill>
                          <a:schemeClr val="bg1"/>
                        </a:solidFill>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marL="9523" marR="9523" marT="9523" marB="0" anchor="ctr" anchorCtr="1">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50000"/>
                      </a:schemeClr>
                    </a:solidFill>
                  </a:tcPr>
                </a:tc>
                <a:tc gridSpan="3">
                  <a:txBody>
                    <a:bodyPr/>
                    <a:lstStyle>
                      <a:lvl1pPr marL="0"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1pPr>
                      <a:lvl2pPr marL="457200"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2pPr>
                      <a:lvl3pPr marL="913765"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3pPr>
                      <a:lvl4pPr marL="1370965"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4pPr>
                      <a:lvl5pPr marL="1828165"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5pPr>
                      <a:lvl6pPr marL="2285365"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6pPr>
                      <a:lvl7pPr marL="2741930"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7pPr>
                      <a:lvl8pPr marL="3199130"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8pPr>
                      <a:lvl9pPr marL="3656330"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9pPr>
                    </a:lstStyle>
                    <a:p>
                      <a:pPr algn="l" fontAlgn="ctr"/>
                      <a:r>
                        <a:rPr lang="en-US" altLang="zh-CN" sz="1400" b="0" i="0" u="none" strike="noStrike" dirty="0">
                          <a:solidFill>
                            <a:schemeClr val="bg1"/>
                          </a:solidFill>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Flow Label</a:t>
                      </a:r>
                      <a:endParaRPr lang="zh-CN" altLang="en-US" sz="1400" b="0" i="0" u="none" strike="noStrike" dirty="0">
                        <a:solidFill>
                          <a:schemeClr val="bg1"/>
                        </a:solidFill>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marL="9523" marR="9523" marT="9523" marB="0" anchor="ctr" anchorCtr="1">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50000"/>
                      </a:schemeClr>
                    </a:solidFill>
                  </a:tcPr>
                </a:tc>
                <a:tc hMerge="1">
                  <a:tcPr marL="9525" marR="9525" marT="9525" marB="0" anchor="ctr" anchorCtr="1">
                    <a:solidFill>
                      <a:srgbClr val="92D050"/>
                    </a:solidFill>
                  </a:tcPr>
                </a:tc>
                <a:tc hMerge="1">
                  <a:tcPr marL="9525" marR="9525" marT="9525" marB="0" anchor="ctr" anchorCtr="1">
                    <a:solidFill>
                      <a:srgbClr val="92D050"/>
                    </a:solidFill>
                  </a:tcPr>
                </a:tc>
              </a:tr>
              <a:tr h="267826">
                <a:tc gridSpan="3">
                  <a:txBody>
                    <a:bodyPr/>
                    <a:lstStyle>
                      <a:lvl1pPr marL="0"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1pPr>
                      <a:lvl2pPr marL="457200"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2pPr>
                      <a:lvl3pPr marL="913765"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3pPr>
                      <a:lvl4pPr marL="1370965"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4pPr>
                      <a:lvl5pPr marL="1828165"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5pPr>
                      <a:lvl6pPr marL="2285365"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6pPr>
                      <a:lvl7pPr marL="2741930"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7pPr>
                      <a:lvl8pPr marL="3199130"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8pPr>
                      <a:lvl9pPr marL="3656330"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9pPr>
                    </a:lstStyle>
                    <a:p>
                      <a:pPr algn="l" fontAlgn="ctr"/>
                      <a:r>
                        <a:rPr lang="en-US" altLang="zh-CN" sz="1400" b="0" i="0" u="none" strike="noStrike" dirty="0">
                          <a:solidFill>
                            <a:schemeClr val="bg1"/>
                          </a:solidFill>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Payload</a:t>
                      </a:r>
                      <a:r>
                        <a:rPr lang="en-US" altLang="zh-CN" sz="1400" b="0" i="0" u="none" strike="noStrike" baseline="0" dirty="0">
                          <a:solidFill>
                            <a:schemeClr val="bg1"/>
                          </a:solidFill>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 Length</a:t>
                      </a:r>
                      <a:endParaRPr lang="zh-CN" altLang="en-US" sz="1400" b="0" i="0" u="none" strike="noStrike" dirty="0">
                        <a:solidFill>
                          <a:schemeClr val="bg1"/>
                        </a:solidFill>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marL="9523" marR="9523" marT="9523" marB="0" anchor="ctr" anchorCtr="1">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50000"/>
                      </a:schemeClr>
                    </a:solidFill>
                  </a:tcPr>
                </a:tc>
                <a:tc hMerge="1">
                  <a:tcPr marL="9525" marR="9525" marT="9525" marB="0" anchor="ctr" anchorCtr="1">
                    <a:solidFill>
                      <a:srgbClr val="92D050"/>
                    </a:solidFill>
                  </a:tcPr>
                </a:tc>
                <a:tc hMerge="1">
                  <a:tcPr marL="9525" marR="9525" marT="9525" marB="0" anchor="ctr" anchorCtr="1">
                    <a:solidFill>
                      <a:srgbClr val="92D050"/>
                    </a:solidFill>
                  </a:tcPr>
                </a:tc>
                <a:tc>
                  <a:txBody>
                    <a:bodyPr/>
                    <a:lstStyle>
                      <a:lvl1pPr marL="0"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1pPr>
                      <a:lvl2pPr marL="457200"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2pPr>
                      <a:lvl3pPr marL="913765"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3pPr>
                      <a:lvl4pPr marL="1370965"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4pPr>
                      <a:lvl5pPr marL="1828165"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5pPr>
                      <a:lvl6pPr marL="2285365"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6pPr>
                      <a:lvl7pPr marL="2741930"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7pPr>
                      <a:lvl8pPr marL="3199130"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8pPr>
                      <a:lvl9pPr marL="3656330"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9pPr>
                    </a:lstStyle>
                    <a:p>
                      <a:pPr algn="l" fontAlgn="ctr"/>
                      <a:r>
                        <a:rPr lang="en-US" altLang="zh-CN" sz="1400" b="1" i="0" u="none" strike="noStrike" dirty="0">
                          <a:solidFill>
                            <a:srgbClr val="C7000B"/>
                          </a:solidFill>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Next=43</a:t>
                      </a:r>
                      <a:endParaRPr lang="zh-CN" altLang="en-US" sz="1400" b="1" i="0" u="none" strike="noStrike" dirty="0">
                        <a:solidFill>
                          <a:srgbClr val="C7000B"/>
                        </a:solidFill>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marL="9523" marR="9523" marT="9523" marB="0" anchor="ctr" anchorCtr="1">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50000"/>
                      </a:schemeClr>
                    </a:solidFill>
                  </a:tcPr>
                </a:tc>
                <a:tc>
                  <a:txBody>
                    <a:bodyPr/>
                    <a:lstStyle>
                      <a:lvl1pPr marL="0"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1pPr>
                      <a:lvl2pPr marL="457200"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2pPr>
                      <a:lvl3pPr marL="913765"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3pPr>
                      <a:lvl4pPr marL="1370965"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4pPr>
                      <a:lvl5pPr marL="1828165"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5pPr>
                      <a:lvl6pPr marL="2285365"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6pPr>
                      <a:lvl7pPr marL="2741930"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7pPr>
                      <a:lvl8pPr marL="3199130"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8pPr>
                      <a:lvl9pPr marL="3656330"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9pPr>
                    </a:lstStyle>
                    <a:p>
                      <a:pPr algn="l" fontAlgn="ctr"/>
                      <a:r>
                        <a:rPr lang="en-US" altLang="zh-CN" sz="1400" b="0" i="0" u="none" strike="noStrike" dirty="0">
                          <a:solidFill>
                            <a:schemeClr val="bg1"/>
                          </a:solidFill>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Hop Limit</a:t>
                      </a:r>
                      <a:endParaRPr lang="zh-CN" altLang="en-US" sz="1400" b="0" i="0" u="none" strike="noStrike" dirty="0">
                        <a:solidFill>
                          <a:schemeClr val="bg1"/>
                        </a:solidFill>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marL="9523" marR="9523" marT="9523" marB="0" anchor="ctr" anchorCtr="1">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50000"/>
                      </a:schemeClr>
                    </a:solidFill>
                  </a:tcPr>
                </a:tc>
              </a:tr>
              <a:tr h="267826">
                <a:tc gridSpan="5">
                  <a:txBody>
                    <a:bodyPr/>
                    <a:lstStyle>
                      <a:lvl1pPr marL="0"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1pPr>
                      <a:lvl2pPr marL="457200"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2pPr>
                      <a:lvl3pPr marL="913765"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3pPr>
                      <a:lvl4pPr marL="1370965"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4pPr>
                      <a:lvl5pPr marL="1828165"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5pPr>
                      <a:lvl6pPr marL="2285365"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6pPr>
                      <a:lvl7pPr marL="2741930"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7pPr>
                      <a:lvl8pPr marL="3199130"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8pPr>
                      <a:lvl9pPr marL="3656330"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9pPr>
                    </a:lstStyle>
                    <a:p>
                      <a:pPr algn="l" fontAlgn="ctr"/>
                      <a:r>
                        <a:rPr lang="en-US" altLang="zh-CN" sz="1400" b="0" i="0" u="none" strike="noStrike" dirty="0">
                          <a:solidFill>
                            <a:schemeClr val="bg1"/>
                          </a:solidFill>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Source Address</a:t>
                      </a:r>
                      <a:endParaRPr lang="zh-CN" altLang="en-US" sz="1400" b="0" i="0" u="none" strike="noStrike" dirty="0">
                        <a:solidFill>
                          <a:schemeClr val="bg1"/>
                        </a:solidFill>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marL="9523" marR="9523" marT="9523" marB="0" anchor="ctr" anchorCtr="1">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50000"/>
                      </a:schemeClr>
                    </a:solidFill>
                  </a:tcPr>
                </a:tc>
                <a:tc hMerge="1">
                  <a:tcPr marL="9525" marR="9525" marT="9525" marB="0" anchor="ctr" anchorCtr="1">
                    <a:solidFill>
                      <a:srgbClr val="92D050"/>
                    </a:solidFill>
                  </a:tcPr>
                </a:tc>
                <a:tc hMerge="1">
                  <a:tcPr marL="9525" marR="9525" marT="9525" marB="0" anchor="ctr" anchorCtr="1">
                    <a:solidFill>
                      <a:srgbClr val="92D050"/>
                    </a:solidFill>
                  </a:tcPr>
                </a:tc>
                <a:tc hMerge="1">
                  <a:tcPr marL="9525" marR="9525" marT="9525" marB="0" anchor="ctr" anchorCtr="1">
                    <a:solidFill>
                      <a:srgbClr val="92D050"/>
                    </a:solidFill>
                  </a:tcPr>
                </a:tc>
                <a:tc hMerge="1">
                  <a:tcPr marL="9525" marR="9525" marT="9525" marB="0" anchor="ctr" anchorCtr="1">
                    <a:solidFill>
                      <a:srgbClr val="92D050"/>
                    </a:solidFill>
                  </a:tcPr>
                </a:tc>
              </a:tr>
              <a:tr h="267826">
                <a:tc gridSpan="5">
                  <a:txBody>
                    <a:bodyPr/>
                    <a:lstStyle>
                      <a:lvl1pPr marL="0"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1pPr>
                      <a:lvl2pPr marL="457200"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2pPr>
                      <a:lvl3pPr marL="913765"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3pPr>
                      <a:lvl4pPr marL="1370965"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4pPr>
                      <a:lvl5pPr marL="1828165"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5pPr>
                      <a:lvl6pPr marL="2285365"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6pPr>
                      <a:lvl7pPr marL="2741930"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7pPr>
                      <a:lvl8pPr marL="3199130"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8pPr>
                      <a:lvl9pPr marL="3656330"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9pPr>
                    </a:lstStyle>
                    <a:p>
                      <a:pPr algn="l" fontAlgn="ctr"/>
                      <a:r>
                        <a:rPr lang="en-US" altLang="zh-CN" sz="1400" b="0" i="0" u="none" strike="noStrike" dirty="0">
                          <a:solidFill>
                            <a:schemeClr val="bg1"/>
                          </a:solidFill>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Destination Address</a:t>
                      </a:r>
                      <a:endParaRPr lang="zh-CN" altLang="en-US" sz="1400" b="0" i="0" u="none" strike="noStrike" dirty="0">
                        <a:solidFill>
                          <a:schemeClr val="bg1"/>
                        </a:solidFill>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marL="9523" marR="9523" marT="9523" marB="0" anchor="ctr" anchorCtr="1">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50000"/>
                      </a:schemeClr>
                    </a:solidFill>
                  </a:tcPr>
                </a:tc>
                <a:tc hMerge="1">
                  <a:tcPr marL="9525" marR="9525" marT="9525" marB="0" anchor="ctr" anchorCtr="1">
                    <a:solidFill>
                      <a:srgbClr val="92D050"/>
                    </a:solidFill>
                  </a:tcPr>
                </a:tc>
                <a:tc hMerge="1">
                  <a:tcPr marL="9525" marR="9525" marT="9525" marB="0" anchor="ctr" anchorCtr="1">
                    <a:solidFill>
                      <a:srgbClr val="92D050"/>
                    </a:solidFill>
                  </a:tcPr>
                </a:tc>
                <a:tc hMerge="1">
                  <a:tcPr marL="9525" marR="9525" marT="9525" marB="0" anchor="ctr" anchorCtr="1">
                    <a:solidFill>
                      <a:srgbClr val="92D050"/>
                    </a:solidFill>
                  </a:tcPr>
                </a:tc>
                <a:tc hMerge="1">
                  <a:tcPr marL="9525" marR="9525" marT="9525" marB="0" anchor="ctr" anchorCtr="1">
                    <a:solidFill>
                      <a:srgbClr val="92D050"/>
                    </a:solidFill>
                  </a:tcPr>
                </a:tc>
              </a:tr>
              <a:tr h="449101">
                <a:tc>
                  <a:txBody>
                    <a:bodyPr/>
                    <a:lstStyle>
                      <a:lvl1pPr marL="0"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1pPr>
                      <a:lvl2pPr marL="457200"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2pPr>
                      <a:lvl3pPr marL="913765"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3pPr>
                      <a:lvl4pPr marL="1370965"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4pPr>
                      <a:lvl5pPr marL="1828165"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5pPr>
                      <a:lvl6pPr marL="2285365"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6pPr>
                      <a:lvl7pPr marL="2741930"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7pPr>
                      <a:lvl8pPr marL="3199130"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8pPr>
                      <a:lvl9pPr marL="3656330"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9pPr>
                    </a:lstStyle>
                    <a:p>
                      <a:pPr algn="l" fontAlgn="ctr"/>
                      <a:r>
                        <a:rPr lang="en-US" altLang="zh-CN" sz="1400" b="0" i="0" u="none" strike="noStrike" dirty="0">
                          <a:solidFill>
                            <a:schemeClr val="bg1"/>
                          </a:solidFill>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Next </a:t>
                      </a:r>
                      <a:r>
                        <a:rPr lang="en-US" altLang="zh-CN" sz="1400" b="0" i="0" u="none" strike="noStrike" kern="1200" dirty="0">
                          <a:solidFill>
                            <a:schemeClr val="bg1"/>
                          </a:solidFill>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Header</a:t>
                      </a:r>
                      <a:endParaRPr lang="zh-CN" altLang="en-US" sz="1400" b="0" i="0" u="none" strike="noStrike" kern="1200" dirty="0">
                        <a:solidFill>
                          <a:schemeClr val="bg1"/>
                        </a:solidFill>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marL="9523" marR="9523" marT="9523" marB="0" anchor="ctr" anchorCtr="1">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56C4D2"/>
                    </a:solidFill>
                  </a:tcPr>
                </a:tc>
                <a:tc>
                  <a:txBody>
                    <a:bodyPr/>
                    <a:lstStyle>
                      <a:lvl1pPr marL="0"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1pPr>
                      <a:lvl2pPr marL="457200"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2pPr>
                      <a:lvl3pPr marL="913765"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3pPr>
                      <a:lvl4pPr marL="1370965"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4pPr>
                      <a:lvl5pPr marL="1828165"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5pPr>
                      <a:lvl6pPr marL="2285365"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6pPr>
                      <a:lvl7pPr marL="2741930"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7pPr>
                      <a:lvl8pPr marL="3199130"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8pPr>
                      <a:lvl9pPr marL="3656330"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9pPr>
                    </a:lstStyle>
                    <a:p>
                      <a:pPr marL="0" algn="l" defTabSz="911225" rtl="0" eaLnBrk="1" fontAlgn="ctr" latinLnBrk="0" hangingPunct="1"/>
                      <a:r>
                        <a:rPr lang="en-US" altLang="zh-CN" sz="1400" b="0" i="0" u="none" strike="noStrike" kern="1200" dirty="0" err="1">
                          <a:solidFill>
                            <a:schemeClr val="bg1"/>
                          </a:solidFill>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Hdr</a:t>
                      </a:r>
                      <a:r>
                        <a:rPr lang="en-US" altLang="zh-CN" sz="1400" b="0" i="0" u="none" strike="noStrike" kern="1200" dirty="0">
                          <a:solidFill>
                            <a:schemeClr val="bg1"/>
                          </a:solidFill>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 Ext Len</a:t>
                      </a:r>
                      <a:endParaRPr lang="zh-CN" altLang="en-US" sz="1400" b="0" i="0" u="none" strike="noStrike" kern="1200" dirty="0">
                        <a:solidFill>
                          <a:schemeClr val="bg1"/>
                        </a:solidFill>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marL="9523" marR="9523" marT="9523" marB="0" anchor="ctr" anchorCtr="1">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56C4D2"/>
                    </a:solidFill>
                  </a:tcPr>
                </a:tc>
                <a:tc gridSpan="2">
                  <a:txBody>
                    <a:bodyPr/>
                    <a:lstStyle>
                      <a:lvl1pPr marL="0"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1pPr>
                      <a:lvl2pPr marL="457200"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2pPr>
                      <a:lvl3pPr marL="913765"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3pPr>
                      <a:lvl4pPr marL="1370965"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4pPr>
                      <a:lvl5pPr marL="1828165"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5pPr>
                      <a:lvl6pPr marL="2285365"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6pPr>
                      <a:lvl7pPr marL="2741930"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7pPr>
                      <a:lvl8pPr marL="3199130"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8pPr>
                      <a:lvl9pPr marL="3656330"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9pPr>
                    </a:lstStyle>
                    <a:p>
                      <a:pPr marL="0" algn="l" defTabSz="911225" rtl="0" eaLnBrk="1" fontAlgn="ctr" latinLnBrk="0" hangingPunct="1"/>
                      <a:r>
                        <a:rPr lang="en-US" altLang="zh-CN" sz="1400" b="1" i="0" u="none" strike="noStrike" kern="1200" dirty="0">
                          <a:solidFill>
                            <a:srgbClr val="C7000B"/>
                          </a:solidFill>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Routing Type=4 </a:t>
                      </a:r>
                      <a:endParaRPr lang="zh-CN" altLang="en-US" sz="1400" b="1" i="0" u="none" strike="noStrike" kern="1200" dirty="0">
                        <a:solidFill>
                          <a:srgbClr val="C7000B"/>
                        </a:solidFill>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marL="9523" marR="9523" marT="9523" marB="0" anchor="ctr" anchorCtr="1">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56C4D2"/>
                    </a:solidFill>
                  </a:tcPr>
                </a:tc>
                <a:tc hMerge="1">
                  <a:tcPr marL="9525" marR="9525" marT="9525" marB="0" anchor="ctr" anchorCtr="1">
                    <a:solidFill>
                      <a:schemeClr val="accent6">
                        <a:lumMod val="75000"/>
                      </a:schemeClr>
                    </a:solidFill>
                  </a:tcPr>
                </a:tc>
                <a:tc>
                  <a:txBody>
                    <a:bodyPr/>
                    <a:lstStyle>
                      <a:lvl1pPr marL="0"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1pPr>
                      <a:lvl2pPr marL="457200"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2pPr>
                      <a:lvl3pPr marL="913765"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3pPr>
                      <a:lvl4pPr marL="1370965"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4pPr>
                      <a:lvl5pPr marL="1828165"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5pPr>
                      <a:lvl6pPr marL="2285365"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6pPr>
                      <a:lvl7pPr marL="2741930"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7pPr>
                      <a:lvl8pPr marL="3199130"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8pPr>
                      <a:lvl9pPr marL="3656330"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9pPr>
                    </a:lstStyle>
                    <a:p>
                      <a:pPr marL="0" algn="l" defTabSz="911225" rtl="0" eaLnBrk="1" fontAlgn="ctr" latinLnBrk="0" hangingPunct="1"/>
                      <a:r>
                        <a:rPr lang="en-US" altLang="zh-CN" sz="1400" b="1" i="0" u="none" strike="noStrike" kern="1200" dirty="0">
                          <a:solidFill>
                            <a:srgbClr val="C7000B"/>
                          </a:solidFill>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Segments Left</a:t>
                      </a:r>
                      <a:endParaRPr lang="zh-CN" altLang="en-US" sz="1400" b="1" i="0" u="none" strike="noStrike" kern="1200" dirty="0">
                        <a:solidFill>
                          <a:srgbClr val="C7000B"/>
                        </a:solidFill>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marL="9523" marR="9523" marT="9523" marB="0" anchor="ctr" anchorCtr="1">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56C4D2"/>
                    </a:solidFill>
                  </a:tcPr>
                </a:tc>
              </a:tr>
              <a:tr h="267826">
                <a:tc>
                  <a:txBody>
                    <a:bodyPr/>
                    <a:lstStyle>
                      <a:lvl1pPr marL="0"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1pPr>
                      <a:lvl2pPr marL="457200"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2pPr>
                      <a:lvl3pPr marL="913765"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3pPr>
                      <a:lvl4pPr marL="1370965"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4pPr>
                      <a:lvl5pPr marL="1828165"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5pPr>
                      <a:lvl6pPr marL="2285365"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6pPr>
                      <a:lvl7pPr marL="2741930"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7pPr>
                      <a:lvl8pPr marL="3199130"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8pPr>
                      <a:lvl9pPr marL="3656330"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9pPr>
                    </a:lstStyle>
                    <a:p>
                      <a:pPr marL="0" algn="l" defTabSz="911225" rtl="0" eaLnBrk="1" fontAlgn="ctr" latinLnBrk="0" hangingPunct="1"/>
                      <a:r>
                        <a:rPr lang="en-US" altLang="zh-CN" sz="1400" b="0" i="0" u="none" strike="noStrike" kern="1200" dirty="0">
                          <a:solidFill>
                            <a:schemeClr val="bg1"/>
                          </a:solidFill>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Last Entry</a:t>
                      </a:r>
                      <a:endParaRPr lang="zh-CN" altLang="en-US" sz="1400" b="0" i="0" u="none" strike="noStrike" kern="1200" dirty="0">
                        <a:solidFill>
                          <a:schemeClr val="bg1"/>
                        </a:solidFill>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marL="9523" marR="9523" marT="9523" marB="0" anchor="ctr" anchorCtr="1">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56C4D2"/>
                    </a:solidFill>
                  </a:tcPr>
                </a:tc>
                <a:tc>
                  <a:txBody>
                    <a:bodyPr/>
                    <a:lstStyle>
                      <a:lvl1pPr marL="0"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1pPr>
                      <a:lvl2pPr marL="457200"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2pPr>
                      <a:lvl3pPr marL="913765"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3pPr>
                      <a:lvl4pPr marL="1370965"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4pPr>
                      <a:lvl5pPr marL="1828165"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5pPr>
                      <a:lvl6pPr marL="2285365"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6pPr>
                      <a:lvl7pPr marL="2741930"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7pPr>
                      <a:lvl8pPr marL="3199130"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8pPr>
                      <a:lvl9pPr marL="3656330"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9pPr>
                    </a:lstStyle>
                    <a:p>
                      <a:pPr marL="0" algn="l" defTabSz="911225" rtl="0" eaLnBrk="1" fontAlgn="ctr" latinLnBrk="0" hangingPunct="1"/>
                      <a:r>
                        <a:rPr lang="en-US" altLang="zh-CN" sz="1400" b="0" i="0" u="none" strike="noStrike" kern="1200" dirty="0">
                          <a:solidFill>
                            <a:schemeClr val="bg1"/>
                          </a:solidFill>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Flags </a:t>
                      </a:r>
                      <a:endParaRPr lang="zh-CN" altLang="en-US" sz="1400" b="0" i="0" u="none" strike="noStrike" kern="1200" dirty="0">
                        <a:solidFill>
                          <a:schemeClr val="bg1"/>
                        </a:solidFill>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marL="9523" marR="9523" marT="9523" marB="0" anchor="ctr" anchorCtr="1">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56C4D2"/>
                    </a:solidFill>
                  </a:tcPr>
                </a:tc>
                <a:tc gridSpan="3">
                  <a:txBody>
                    <a:bodyPr/>
                    <a:lstStyle>
                      <a:lvl1pPr marL="0"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1pPr>
                      <a:lvl2pPr marL="457200"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2pPr>
                      <a:lvl3pPr marL="913765"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3pPr>
                      <a:lvl4pPr marL="1370965"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4pPr>
                      <a:lvl5pPr marL="1828165"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5pPr>
                      <a:lvl6pPr marL="2285365"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6pPr>
                      <a:lvl7pPr marL="2741930"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7pPr>
                      <a:lvl8pPr marL="3199130"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8pPr>
                      <a:lvl9pPr marL="3656330"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9pPr>
                    </a:lstStyle>
                    <a:p>
                      <a:pPr marL="0" algn="l" defTabSz="911225" rtl="0" eaLnBrk="1" fontAlgn="ctr" latinLnBrk="0" hangingPunct="1"/>
                      <a:r>
                        <a:rPr lang="en-US" altLang="zh-CN" sz="1400" b="0" i="0" u="none" strike="noStrike" kern="1200" dirty="0">
                          <a:solidFill>
                            <a:schemeClr val="bg1"/>
                          </a:solidFill>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Tag </a:t>
                      </a:r>
                      <a:endParaRPr lang="zh-CN" altLang="en-US" sz="1400" b="0" i="0" u="none" strike="noStrike" kern="1200" dirty="0">
                        <a:solidFill>
                          <a:schemeClr val="bg1"/>
                        </a:solidFill>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marL="9523" marR="9523" marT="9523" marB="0" anchor="ctr" anchorCtr="1">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56C4D2"/>
                    </a:solidFill>
                  </a:tcPr>
                </a:tc>
                <a:tc hMerge="1">
                  <a:tcPr marL="9525" marR="9525" marT="9525" marB="0" anchor="ctr" anchorCtr="1">
                    <a:solidFill>
                      <a:schemeClr val="accent6">
                        <a:lumMod val="75000"/>
                      </a:schemeClr>
                    </a:solidFill>
                  </a:tcPr>
                </a:tc>
                <a:tc hMerge="1">
                  <a:tcPr marL="9525" marR="9525" marT="9525" marB="0" anchor="ctr" anchorCtr="1">
                    <a:solidFill>
                      <a:schemeClr val="accent6">
                        <a:lumMod val="75000"/>
                      </a:schemeClr>
                    </a:solidFill>
                  </a:tcPr>
                </a:tc>
              </a:tr>
              <a:tr h="267826">
                <a:tc gridSpan="5">
                  <a:txBody>
                    <a:bodyPr/>
                    <a:lstStyle>
                      <a:lvl1pPr marL="0"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1pPr>
                      <a:lvl2pPr marL="457200"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2pPr>
                      <a:lvl3pPr marL="913765"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3pPr>
                      <a:lvl4pPr marL="1370965"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4pPr>
                      <a:lvl5pPr marL="1828165"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5pPr>
                      <a:lvl6pPr marL="2285365"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6pPr>
                      <a:lvl7pPr marL="2741930"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7pPr>
                      <a:lvl8pPr marL="3199130"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8pPr>
                      <a:lvl9pPr marL="3656330"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9pPr>
                    </a:lstStyle>
                    <a:p>
                      <a:pPr marL="0" algn="l" defTabSz="911225" rtl="0" eaLnBrk="1" fontAlgn="ctr" latinLnBrk="0" hangingPunct="1"/>
                      <a:r>
                        <a:rPr lang="en-US" altLang="zh-CN" sz="1400" b="0" i="0" u="none" strike="noStrike" kern="1200" dirty="0">
                          <a:solidFill>
                            <a:schemeClr val="bg1"/>
                          </a:solidFill>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Segment List[0]</a:t>
                      </a:r>
                      <a:r>
                        <a:rPr lang="zh-CN" altLang="en-US" sz="1400" b="0" i="0" u="none" strike="noStrike" kern="1200" dirty="0">
                          <a:solidFill>
                            <a:schemeClr val="bg1"/>
                          </a:solidFill>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a:t>
                      </a:r>
                      <a:r>
                        <a:rPr lang="en-US" altLang="zh-CN" sz="1400" b="0" i="0" u="none" strike="noStrike" kern="1200" dirty="0">
                          <a:solidFill>
                            <a:schemeClr val="bg1"/>
                          </a:solidFill>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128bits IPv6 address</a:t>
                      </a:r>
                      <a:r>
                        <a:rPr lang="zh-CN" altLang="en-US" sz="1400" b="0" i="0" u="none" strike="noStrike" kern="1200" dirty="0">
                          <a:solidFill>
                            <a:schemeClr val="bg1"/>
                          </a:solidFill>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a:t>
                      </a:r>
                      <a:endParaRPr lang="zh-CN" altLang="en-US" sz="1400" b="0" i="0" u="none" strike="noStrike" kern="1200" dirty="0">
                        <a:solidFill>
                          <a:schemeClr val="bg1"/>
                        </a:solidFill>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marL="9523" marR="9523" marT="9523" marB="0" anchor="ctr" anchorCtr="1">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56C4D2"/>
                    </a:solidFill>
                  </a:tcPr>
                </a:tc>
                <a:tc hMerge="1">
                  <a:tcPr marL="9525" marR="9525" marT="9525" marB="0" anchor="ctr" anchorCtr="1">
                    <a:solidFill>
                      <a:schemeClr val="accent6">
                        <a:lumMod val="75000"/>
                      </a:schemeClr>
                    </a:solidFill>
                  </a:tcPr>
                </a:tc>
                <a:tc hMerge="1">
                  <a:tcPr marL="9525" marR="9525" marT="9525" marB="0" anchor="ctr" anchorCtr="1">
                    <a:solidFill>
                      <a:schemeClr val="accent6">
                        <a:lumMod val="75000"/>
                      </a:schemeClr>
                    </a:solidFill>
                  </a:tcPr>
                </a:tc>
                <a:tc hMerge="1">
                  <a:tcPr marL="9525" marR="9525" marT="9525" marB="0" anchor="ctr" anchorCtr="1">
                    <a:solidFill>
                      <a:schemeClr val="accent6">
                        <a:lumMod val="75000"/>
                      </a:schemeClr>
                    </a:solidFill>
                  </a:tcPr>
                </a:tc>
                <a:tc hMerge="1">
                  <a:tcPr marL="9525" marR="9525" marT="9525" marB="0" anchor="ctr" anchorCtr="1">
                    <a:solidFill>
                      <a:schemeClr val="accent6">
                        <a:lumMod val="75000"/>
                      </a:schemeClr>
                    </a:solidFill>
                  </a:tcPr>
                </a:tc>
              </a:tr>
              <a:tr h="267826">
                <a:tc gridSpan="5">
                  <a:txBody>
                    <a:bodyPr/>
                    <a:lstStyle>
                      <a:lvl1pPr marL="0"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1pPr>
                      <a:lvl2pPr marL="457200"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2pPr>
                      <a:lvl3pPr marL="913765"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3pPr>
                      <a:lvl4pPr marL="1370965"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4pPr>
                      <a:lvl5pPr marL="1828165"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5pPr>
                      <a:lvl6pPr marL="2285365"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6pPr>
                      <a:lvl7pPr marL="2741930"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7pPr>
                      <a:lvl8pPr marL="3199130"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8pPr>
                      <a:lvl9pPr marL="3656330"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9pPr>
                    </a:lstStyle>
                    <a:p>
                      <a:pPr marL="0" marR="0" lvl="0" indent="0" algn="l" defTabSz="911225" rtl="0" eaLnBrk="1" fontAlgn="ctr" latinLnBrk="0" hangingPunct="1">
                        <a:lnSpc>
                          <a:spcPct val="100000"/>
                        </a:lnSpc>
                        <a:spcBef>
                          <a:spcPts val="0"/>
                        </a:spcBef>
                        <a:spcAft>
                          <a:spcPts val="0"/>
                        </a:spcAft>
                        <a:buClrTx/>
                        <a:buSzTx/>
                        <a:buFontTx/>
                        <a:buNone/>
                        <a:defRPr/>
                      </a:pPr>
                      <a:r>
                        <a:rPr lang="en-US" altLang="zh-CN" sz="1400" b="0" i="0" u="none" strike="noStrike" kern="1200" dirty="0">
                          <a:solidFill>
                            <a:schemeClr val="bg1"/>
                          </a:solidFill>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Segment List[1]</a:t>
                      </a:r>
                      <a:r>
                        <a:rPr lang="zh-CN" altLang="en-US" sz="1400" b="0" i="0" u="none" strike="noStrike" kern="1200" dirty="0">
                          <a:solidFill>
                            <a:schemeClr val="bg1"/>
                          </a:solidFill>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 （</a:t>
                      </a:r>
                      <a:r>
                        <a:rPr lang="en-US" altLang="zh-CN" sz="1400" b="0" i="0" u="none" strike="noStrike" kern="1200" dirty="0">
                          <a:solidFill>
                            <a:schemeClr val="bg1"/>
                          </a:solidFill>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128bits IPv6 address</a:t>
                      </a:r>
                      <a:r>
                        <a:rPr lang="zh-CN" altLang="en-US" sz="1400" b="0" i="0" u="none" strike="noStrike" kern="1200" dirty="0">
                          <a:solidFill>
                            <a:schemeClr val="bg1"/>
                          </a:solidFill>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a:t>
                      </a:r>
                      <a:endParaRPr lang="zh-CN" altLang="en-US" sz="1400" b="0" i="0" u="none" strike="noStrike" kern="1200" dirty="0">
                        <a:solidFill>
                          <a:schemeClr val="bg1"/>
                        </a:solidFill>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marL="9523" marR="9523" marT="9523" marB="0" anchor="ctr" anchorCtr="1">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56C4D2"/>
                    </a:solidFill>
                  </a:tcPr>
                </a:tc>
                <a:tc hMerge="1">
                  <a:tcPr marL="9525" marR="9525" marT="9525" marB="0" anchor="ctr" anchorCtr="1">
                    <a:solidFill>
                      <a:schemeClr val="accent6">
                        <a:lumMod val="75000"/>
                      </a:schemeClr>
                    </a:solidFill>
                  </a:tcPr>
                </a:tc>
                <a:tc hMerge="1">
                  <a:tcPr marL="9525" marR="9525" marT="9525" marB="0" anchor="ctr" anchorCtr="1">
                    <a:solidFill>
                      <a:schemeClr val="accent6">
                        <a:lumMod val="75000"/>
                      </a:schemeClr>
                    </a:solidFill>
                  </a:tcPr>
                </a:tc>
                <a:tc hMerge="1">
                  <a:tcPr marL="9525" marR="9525" marT="9525" marB="0" anchor="ctr" anchorCtr="1">
                    <a:solidFill>
                      <a:schemeClr val="accent6">
                        <a:lumMod val="75000"/>
                      </a:schemeClr>
                    </a:solidFill>
                  </a:tcPr>
                </a:tc>
                <a:tc hMerge="1">
                  <a:tcPr marL="9525" marR="9525" marT="9525" marB="0" anchor="ctr" anchorCtr="1">
                    <a:solidFill>
                      <a:schemeClr val="accent6">
                        <a:lumMod val="75000"/>
                      </a:schemeClr>
                    </a:solidFill>
                  </a:tcPr>
                </a:tc>
              </a:tr>
              <a:tr h="267826">
                <a:tc gridSpan="5">
                  <a:txBody>
                    <a:bodyPr/>
                    <a:lstStyle>
                      <a:lvl1pPr marL="0"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1pPr>
                      <a:lvl2pPr marL="457200"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2pPr>
                      <a:lvl3pPr marL="913765"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3pPr>
                      <a:lvl4pPr marL="1370965"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4pPr>
                      <a:lvl5pPr marL="1828165"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5pPr>
                      <a:lvl6pPr marL="2285365"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6pPr>
                      <a:lvl7pPr marL="2741930"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7pPr>
                      <a:lvl8pPr marL="3199130"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8pPr>
                      <a:lvl9pPr marL="3656330"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9pPr>
                    </a:lstStyle>
                    <a:p>
                      <a:pPr marL="0" marR="0" lvl="0" indent="0" algn="l" defTabSz="911225" rtl="0" eaLnBrk="1" fontAlgn="ctr" latinLnBrk="0" hangingPunct="1">
                        <a:lnSpc>
                          <a:spcPct val="100000"/>
                        </a:lnSpc>
                        <a:spcBef>
                          <a:spcPts val="0"/>
                        </a:spcBef>
                        <a:spcAft>
                          <a:spcPts val="0"/>
                        </a:spcAft>
                        <a:buClrTx/>
                        <a:buSzTx/>
                        <a:buFontTx/>
                        <a:buNone/>
                        <a:defRPr/>
                      </a:pPr>
                      <a:r>
                        <a:rPr lang="en-US" altLang="zh-CN" sz="1400" b="0" i="0" u="none" strike="noStrike" kern="1200" dirty="0">
                          <a:solidFill>
                            <a:schemeClr val="bg1"/>
                          </a:solidFill>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Segment List[2]</a:t>
                      </a:r>
                      <a:r>
                        <a:rPr lang="zh-CN" altLang="en-US" sz="1400" b="0" i="0" u="none" strike="noStrike" kern="1200" dirty="0">
                          <a:solidFill>
                            <a:schemeClr val="bg1"/>
                          </a:solidFill>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 （</a:t>
                      </a:r>
                      <a:r>
                        <a:rPr lang="en-US" altLang="zh-CN" sz="1400" b="0" i="0" u="none" strike="noStrike" kern="1200" dirty="0">
                          <a:solidFill>
                            <a:schemeClr val="bg1"/>
                          </a:solidFill>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128bits IPv6 address</a:t>
                      </a:r>
                      <a:r>
                        <a:rPr lang="zh-CN" altLang="en-US" sz="1400" b="0" i="0" u="none" strike="noStrike" kern="1200" dirty="0">
                          <a:solidFill>
                            <a:schemeClr val="bg1"/>
                          </a:solidFill>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a:t>
                      </a:r>
                      <a:endParaRPr lang="zh-CN" altLang="en-US" sz="1400" b="0" i="0" u="none" strike="noStrike" kern="1200" dirty="0">
                        <a:solidFill>
                          <a:schemeClr val="bg1"/>
                        </a:solidFill>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marL="9523" marR="9523" marT="9523" marB="0" anchor="ctr" anchorCtr="1">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56C4D2"/>
                    </a:solidFill>
                  </a:tcPr>
                </a:tc>
                <a:tc hMerge="1">
                  <a:tcPr marL="9525" marR="9525" marT="9525" marB="0" anchor="ctr" anchorCtr="1">
                    <a:solidFill>
                      <a:schemeClr val="accent6">
                        <a:lumMod val="75000"/>
                      </a:schemeClr>
                    </a:solidFill>
                  </a:tcPr>
                </a:tc>
                <a:tc hMerge="1">
                  <a:tcPr marL="9525" marR="9525" marT="9525" marB="0" anchor="ctr" anchorCtr="1">
                    <a:solidFill>
                      <a:schemeClr val="accent6">
                        <a:lumMod val="75000"/>
                      </a:schemeClr>
                    </a:solidFill>
                  </a:tcPr>
                </a:tc>
                <a:tc hMerge="1">
                  <a:tcPr marL="9525" marR="9525" marT="9525" marB="0" anchor="ctr" anchorCtr="1">
                    <a:solidFill>
                      <a:schemeClr val="accent6">
                        <a:lumMod val="75000"/>
                      </a:schemeClr>
                    </a:solidFill>
                  </a:tcPr>
                </a:tc>
                <a:tc hMerge="1">
                  <a:tcPr marL="9525" marR="9525" marT="9525" marB="0" anchor="ctr" anchorCtr="1">
                    <a:solidFill>
                      <a:schemeClr val="accent6">
                        <a:lumMod val="75000"/>
                      </a:schemeClr>
                    </a:solidFill>
                  </a:tcPr>
                </a:tc>
              </a:tr>
              <a:tr h="267826">
                <a:tc gridSpan="5">
                  <a:txBody>
                    <a:bodyPr/>
                    <a:lstStyle>
                      <a:lvl1pPr marL="0"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1pPr>
                      <a:lvl2pPr marL="457200"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2pPr>
                      <a:lvl3pPr marL="913765"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3pPr>
                      <a:lvl4pPr marL="1370965"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4pPr>
                      <a:lvl5pPr marL="1828165"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5pPr>
                      <a:lvl6pPr marL="2285365"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6pPr>
                      <a:lvl7pPr marL="2741930"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7pPr>
                      <a:lvl8pPr marL="3199130"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8pPr>
                      <a:lvl9pPr marL="3656330"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9pPr>
                    </a:lstStyle>
                    <a:p>
                      <a:pPr marL="0" marR="0" lvl="0" indent="0" algn="l" defTabSz="911225" rtl="0" eaLnBrk="1" fontAlgn="ctr" latinLnBrk="0" hangingPunct="1">
                        <a:lnSpc>
                          <a:spcPct val="100000"/>
                        </a:lnSpc>
                        <a:spcBef>
                          <a:spcPts val="0"/>
                        </a:spcBef>
                        <a:spcAft>
                          <a:spcPts val="0"/>
                        </a:spcAft>
                        <a:buClrTx/>
                        <a:buSzTx/>
                        <a:buFontTx/>
                        <a:buNone/>
                        <a:defRPr/>
                      </a:pPr>
                      <a:r>
                        <a:rPr lang="en-US" sz="1400" b="0" i="0" u="none" strike="noStrike" kern="1200" dirty="0">
                          <a:solidFill>
                            <a:schemeClr val="bg1"/>
                          </a:solidFill>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Optional TLV objects (variable)</a:t>
                      </a:r>
                      <a:endParaRPr lang="zh-CN" altLang="en-US" sz="1400" b="0" i="0" u="none" strike="noStrike" kern="1200" dirty="0">
                        <a:solidFill>
                          <a:schemeClr val="bg1"/>
                        </a:solidFill>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marL="9523" marR="9523" marT="9523" marB="0" anchor="ctr" anchorCtr="1">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56C4D2"/>
                    </a:solidFill>
                  </a:tcPr>
                </a:tc>
                <a:tc hMerge="1">
                  <a:tcPr/>
                </a:tc>
                <a:tc hMerge="1">
                  <a:tcPr/>
                </a:tc>
                <a:tc hMerge="1">
                  <a:tcPr/>
                </a:tc>
                <a:tc hMerge="1">
                  <a:tcPr/>
                </a:tc>
              </a:tr>
              <a:tr h="267826">
                <a:tc gridSpan="5">
                  <a:txBody>
                    <a:bodyPr/>
                    <a:lstStyle>
                      <a:lvl1pPr marL="0"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1pPr>
                      <a:lvl2pPr marL="457200"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2pPr>
                      <a:lvl3pPr marL="913765"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3pPr>
                      <a:lvl4pPr marL="1370965"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4pPr>
                      <a:lvl5pPr marL="1828165"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5pPr>
                      <a:lvl6pPr marL="2285365"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6pPr>
                      <a:lvl7pPr marL="2741930"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7pPr>
                      <a:lvl8pPr marL="3199130"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8pPr>
                      <a:lvl9pPr marL="3656330" algn="l" defTabSz="913765" rtl="0" eaLnBrk="1" latinLnBrk="0" hangingPunct="1">
                        <a:defRPr sz="1800" kern="1200">
                          <a:solidFill>
                            <a:schemeClr val="dk1"/>
                          </a:solidFill>
                          <a:latin typeface="FrutigerNext LT Medium"/>
                          <a:ea typeface="微软雅黑" panose="020B0503020204020204" charset="-122"/>
                          <a:cs typeface="宋体" panose="02010600030101010101" pitchFamily="2" charset="-122"/>
                        </a:defRPr>
                      </a:lvl9pPr>
                    </a:lstStyle>
                    <a:p>
                      <a:pPr algn="l" fontAlgn="ctr"/>
                      <a:r>
                        <a:rPr lang="en-US" altLang="zh-CN" sz="1400" b="0" i="0" u="none" strike="noStrike" dirty="0">
                          <a:solidFill>
                            <a:schemeClr val="bg1"/>
                          </a:solidFill>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IP</a:t>
                      </a:r>
                      <a:r>
                        <a:rPr lang="en-US" altLang="zh-CN" sz="1400" b="0" i="0" u="none" strike="noStrike" baseline="0" dirty="0">
                          <a:solidFill>
                            <a:schemeClr val="bg1"/>
                          </a:solidFill>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v6  </a:t>
                      </a:r>
                      <a:r>
                        <a:rPr lang="en-US" altLang="zh-CN" sz="1400" b="0" i="0" u="none" strike="noStrike" dirty="0">
                          <a:solidFill>
                            <a:schemeClr val="bg1"/>
                          </a:solidFill>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Payload</a:t>
                      </a:r>
                      <a:endParaRPr lang="zh-CN" altLang="en-US" sz="1400" b="0" i="0" u="none" strike="noStrike" dirty="0">
                        <a:solidFill>
                          <a:schemeClr val="bg1"/>
                        </a:solidFill>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marL="9523" marR="9523" marT="9523" marB="0" anchor="ctr" anchorCtr="1">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50000"/>
                      </a:schemeClr>
                    </a:solidFill>
                  </a:tcPr>
                </a:tc>
                <a:tc hMerge="1">
                  <a:tcPr marL="9525" marR="9525" marT="9525" marB="0" anchor="ctr" anchorCtr="1">
                    <a:solidFill>
                      <a:schemeClr val="accent6">
                        <a:lumMod val="75000"/>
                      </a:schemeClr>
                    </a:solidFill>
                  </a:tcPr>
                </a:tc>
                <a:tc hMerge="1">
                  <a:tcPr marL="9525" marR="9525" marT="9525" marB="0" anchor="ctr" anchorCtr="1">
                    <a:solidFill>
                      <a:schemeClr val="accent6">
                        <a:lumMod val="75000"/>
                      </a:schemeClr>
                    </a:solidFill>
                  </a:tcPr>
                </a:tc>
                <a:tc hMerge="1">
                  <a:tcPr marL="9525" marR="9525" marT="9525" marB="0" anchor="ctr" anchorCtr="1">
                    <a:solidFill>
                      <a:schemeClr val="accent6">
                        <a:lumMod val="75000"/>
                      </a:schemeClr>
                    </a:solidFill>
                  </a:tcPr>
                </a:tc>
                <a:tc hMerge="1">
                  <a:tcPr marL="9525" marR="9525" marT="9525" marB="0" anchor="ctr" anchorCtr="1">
                    <a:solidFill>
                      <a:schemeClr val="accent6">
                        <a:lumMod val="75000"/>
                      </a:schemeClr>
                    </a:solidFill>
                  </a:tcPr>
                </a:tc>
              </a:tr>
            </a:tbl>
          </a:graphicData>
        </a:graphic>
      </p:graphicFrame>
      <p:sp>
        <p:nvSpPr>
          <p:cNvPr id="9" name="矩形 8"/>
          <p:cNvSpPr/>
          <p:nvPr/>
        </p:nvSpPr>
        <p:spPr bwMode="gray">
          <a:xfrm>
            <a:off x="6476666" y="3131845"/>
            <a:ext cx="4765527" cy="2400854"/>
          </a:xfrm>
          <a:prstGeom prst="rect">
            <a:avLst/>
          </a:prstGeom>
          <a:noFill/>
          <a:ln w="9525">
            <a:solidFill>
              <a:srgbClr val="30B5C5"/>
            </a:solidFill>
            <a:miter lim="800000"/>
          </a:ln>
        </p:spPr>
        <p:txBody>
          <a:bodyPr vert="horz" wrap="square" lIns="80141" tIns="40071" rIns="80141" bIns="40071" numCol="1" anchor="t" anchorCtr="0" compatLnSpc="1"/>
          <a:lstStyle/>
          <a:p>
            <a:pPr marL="302260" indent="-302260" algn="just" defTabSz="913765" fontAlgn="base">
              <a:lnSpc>
                <a:spcPct val="120000"/>
              </a:lnSpc>
              <a:spcBef>
                <a:spcPts val="790"/>
              </a:spcBef>
              <a:buSzPct val="50000"/>
              <a:buFont typeface="Wingdings" panose="05000000000000000000" pitchFamily="2" charset="2"/>
              <a:buChar char="l"/>
            </a:pP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SRH</a:t>
            </a:r>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扩展头包含如下内容：</a:t>
            </a:r>
            <a:endParaRPr lang="en-US" altLang="zh-CN" sz="14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endParaRPr>
          </a:p>
          <a:p>
            <a:pPr marL="654685" lvl="1" indent="-252095" defTabSz="913765" fontAlgn="base">
              <a:lnSpc>
                <a:spcPct val="140000"/>
              </a:lnSpc>
              <a:spcBef>
                <a:spcPts val="720"/>
              </a:spcBef>
              <a:buSzPct val="50000"/>
              <a:buFont typeface="Wingdings" panose="05000000000000000000" pitchFamily="2" charset="2"/>
              <a:buChar char="p"/>
            </a:pP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Segment List: </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有序的</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SRv6 SID</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列表</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marL="654685" lvl="1" indent="-252095" defTabSz="913765" fontAlgn="base">
              <a:lnSpc>
                <a:spcPct val="140000"/>
              </a:lnSpc>
              <a:spcBef>
                <a:spcPts val="720"/>
              </a:spcBef>
              <a:buSzPct val="50000"/>
              <a:buFont typeface="Wingdings" panose="05000000000000000000" pitchFamily="2" charset="2"/>
              <a:buChar char="p"/>
            </a:pP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Segments Left(SL): SRv6</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激活的</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SID</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为</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Slist</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[SL]</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。转发过程中通过修改</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SL</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，同时更换</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DIP</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为活跃的</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SID</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来分段完成转发。</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marL="654685" lvl="1" indent="-252095" defTabSz="913765" fontAlgn="base">
              <a:lnSpc>
                <a:spcPct val="140000"/>
              </a:lnSpc>
              <a:spcBef>
                <a:spcPts val="720"/>
              </a:spcBef>
              <a:buSzPct val="50000"/>
              <a:buFont typeface="Wingdings" panose="05000000000000000000" pitchFamily="2" charset="2"/>
              <a:buChar char="p"/>
            </a:pP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Tag: </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用于对数据包分组，可以实现基于组的策略。</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marL="654685" lvl="1" indent="-252095" defTabSz="913765" fontAlgn="base">
              <a:lnSpc>
                <a:spcPct val="140000"/>
              </a:lnSpc>
              <a:spcBef>
                <a:spcPts val="720"/>
              </a:spcBef>
              <a:buSzPct val="50000"/>
              <a:buFont typeface="Wingdings" panose="05000000000000000000" pitchFamily="2" charset="2"/>
              <a:buChar char="p"/>
            </a:pP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SRH</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TLVs</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NSH metadata</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HMAC</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TLV</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Padding</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TLV</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等）：可以作为</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Segment</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List</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的</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SID</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共同使用的全局参数。</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 name="矩形 9"/>
          <p:cNvSpPr/>
          <p:nvPr/>
        </p:nvSpPr>
        <p:spPr bwMode="gray">
          <a:xfrm>
            <a:off x="6476666" y="2313216"/>
            <a:ext cx="4765527" cy="705642"/>
          </a:xfrm>
          <a:prstGeom prst="rect">
            <a:avLst/>
          </a:prstGeom>
          <a:ln>
            <a:solidFill>
              <a:srgbClr val="30B5C5"/>
            </a:solidFill>
          </a:ln>
        </p:spPr>
        <p:txBody>
          <a:bodyPr wrap="square">
            <a:spAutoFit/>
          </a:bodyPr>
          <a:lstStyle/>
          <a:p>
            <a:pPr algn="just" defTabSz="914400" fontAlgn="base">
              <a:lnSpc>
                <a:spcPct val="150000"/>
              </a:lnSpc>
              <a:spcBef>
                <a:spcPct val="0"/>
              </a:spcBef>
              <a:spcAft>
                <a:spcPct val="0"/>
              </a:spcAft>
              <a:buClr>
                <a:srgbClr val="FF0000"/>
              </a:buClr>
              <a:defRPr/>
            </a:pPr>
            <a:r>
              <a:rPr lang="en-US" altLang="zh-CN" sz="14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Routing Extension Header</a:t>
            </a:r>
            <a:r>
              <a:rPr lang="zh-CN" altLang="en-US"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的</a:t>
            </a:r>
            <a:r>
              <a:rPr lang="en-US" altLang="zh-CN"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Routing Type</a:t>
            </a:r>
            <a:r>
              <a:rPr lang="zh-CN" altLang="en-US"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建议值为</a:t>
            </a:r>
            <a:r>
              <a:rPr lang="en-US" altLang="zh-CN"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4</a:t>
            </a:r>
            <a:r>
              <a:rPr lang="zh-CN" altLang="en-US"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表明是</a:t>
            </a:r>
            <a:r>
              <a:rPr lang="en-US" altLang="zh-CN"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SR</a:t>
            </a:r>
            <a:r>
              <a:rPr lang="zh-CN" altLang="en-US"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Header</a:t>
            </a:r>
            <a:r>
              <a:rPr lang="zh-CN" altLang="en-US"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，称作</a:t>
            </a:r>
            <a:r>
              <a:rPr lang="en-US" altLang="zh-CN"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SR</a:t>
            </a:r>
            <a:r>
              <a:rPr lang="zh-CN" altLang="en-US"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扩展头或者</a:t>
            </a:r>
            <a:r>
              <a:rPr lang="en-US" altLang="zh-CN"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SRH</a:t>
            </a:r>
            <a:r>
              <a:rPr lang="zh-CN" altLang="en-US"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1" name="直接箭头连接符 10"/>
          <p:cNvCxnSpPr>
            <a:stCxn id="4" idx="1"/>
          </p:cNvCxnSpPr>
          <p:nvPr/>
        </p:nvCxnSpPr>
        <p:spPr bwMode="gray">
          <a:xfrm flipH="1">
            <a:off x="4421530" y="2044018"/>
            <a:ext cx="2055136" cy="974840"/>
          </a:xfrm>
          <a:prstGeom prst="straightConnector1">
            <a:avLst/>
          </a:prstGeom>
          <a:noFill/>
          <a:ln w="19050" cap="flat" cmpd="sng" algn="ctr">
            <a:solidFill>
              <a:schemeClr val="tx1"/>
            </a:solidFill>
            <a:prstDash val="solid"/>
            <a:round/>
            <a:headEnd type="none" w="med" len="med"/>
            <a:tailEnd type="stealth"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 name="直接箭头连接符 11"/>
          <p:cNvCxnSpPr>
            <a:stCxn id="10" idx="1"/>
          </p:cNvCxnSpPr>
          <p:nvPr/>
        </p:nvCxnSpPr>
        <p:spPr bwMode="gray">
          <a:xfrm flipH="1">
            <a:off x="4324574" y="2666037"/>
            <a:ext cx="2152092" cy="1260504"/>
          </a:xfrm>
          <a:prstGeom prst="straightConnector1">
            <a:avLst/>
          </a:prstGeom>
          <a:noFill/>
          <a:ln w="19050" cap="flat" cmpd="sng" algn="ctr">
            <a:solidFill>
              <a:schemeClr val="tx1"/>
            </a:solidFill>
            <a:prstDash val="solid"/>
            <a:round/>
            <a:headEnd type="none" w="med" len="med"/>
            <a:tailEnd type="stealth"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 name="任意多边形 24"/>
          <p:cNvSpPr/>
          <p:nvPr/>
        </p:nvSpPr>
        <p:spPr bwMode="gray">
          <a:xfrm>
            <a:off x="5555223" y="4026709"/>
            <a:ext cx="259943" cy="735443"/>
          </a:xfrm>
          <a:custGeom>
            <a:avLst/>
            <a:gdLst>
              <a:gd name="connsiteX0" fmla="*/ 0 w 259943"/>
              <a:gd name="connsiteY0" fmla="*/ 0 h 1049154"/>
              <a:gd name="connsiteX1" fmla="*/ 259882 w 259943"/>
              <a:gd name="connsiteY1" fmla="*/ 336884 h 1049154"/>
              <a:gd name="connsiteX2" fmla="*/ 19251 w 259943"/>
              <a:gd name="connsiteY2" fmla="*/ 1049154 h 1049154"/>
            </a:gdLst>
            <a:ahLst/>
            <a:cxnLst>
              <a:cxn ang="0">
                <a:pos x="connsiteX0" y="connsiteY0"/>
              </a:cxn>
              <a:cxn ang="0">
                <a:pos x="connsiteX1" y="connsiteY1"/>
              </a:cxn>
              <a:cxn ang="0">
                <a:pos x="connsiteX2" y="connsiteY2"/>
              </a:cxn>
            </a:cxnLst>
            <a:rect l="l" t="t" r="r" b="b"/>
            <a:pathLst>
              <a:path w="259943" h="1049154">
                <a:moveTo>
                  <a:pt x="0" y="0"/>
                </a:moveTo>
                <a:cubicBezTo>
                  <a:pt x="128337" y="81012"/>
                  <a:pt x="256674" y="162025"/>
                  <a:pt x="259882" y="336884"/>
                </a:cubicBezTo>
                <a:cubicBezTo>
                  <a:pt x="263091" y="511743"/>
                  <a:pt x="141171" y="780448"/>
                  <a:pt x="19251" y="1049154"/>
                </a:cubicBezTo>
              </a:path>
            </a:pathLst>
          </a:custGeom>
          <a:noFill/>
          <a:ln w="19050">
            <a:solidFill>
              <a:schemeClr val="tx1"/>
            </a:solidFill>
            <a:tailEnd type="arrow"/>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en-US" sz="1800" b="0" i="0" u="none" strike="noStrike" kern="0" cap="none" spc="0" normalizeH="0" baseline="0" noProof="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文本框 13"/>
          <p:cNvSpPr txBox="1"/>
          <p:nvPr/>
        </p:nvSpPr>
        <p:spPr bwMode="gray">
          <a:xfrm>
            <a:off x="5608811" y="4564733"/>
            <a:ext cx="1063364" cy="523220"/>
          </a:xfrm>
          <a:prstGeom prst="rect">
            <a:avLst/>
          </a:prstGeom>
          <a:noFill/>
        </p:spPr>
        <p:txBody>
          <a:bodyPr wrap="square" rtlCol="0">
            <a:spAutoFit/>
          </a:bodyPr>
          <a:lstStyle/>
          <a:p>
            <a:pPr defTabSz="914400" fontAlgn="base">
              <a:spcBef>
                <a:spcPct val="0"/>
              </a:spcBef>
              <a:spcAft>
                <a:spcPct val="0"/>
              </a:spcAft>
            </a:pP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Active Segment</a:t>
            </a:r>
            <a:endParaRPr lang="zh-CN" altLang="en-US" sz="1400" b="1" dirty="0" err="1">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23" name="组合 22"/>
          <p:cNvGrpSpPr/>
          <p:nvPr/>
        </p:nvGrpSpPr>
        <p:grpSpPr bwMode="gray">
          <a:xfrm>
            <a:off x="903020" y="1748674"/>
            <a:ext cx="5098851" cy="415499"/>
            <a:chOff x="1209352" y="2089356"/>
            <a:chExt cx="5098851" cy="486631"/>
          </a:xfrm>
        </p:grpSpPr>
        <p:sp>
          <p:nvSpPr>
            <p:cNvPr id="16" name="Rectangle 2"/>
            <p:cNvSpPr/>
            <p:nvPr/>
          </p:nvSpPr>
          <p:spPr bwMode="gray">
            <a:xfrm>
              <a:off x="5163082" y="2089356"/>
              <a:ext cx="1145121" cy="486631"/>
            </a:xfrm>
            <a:prstGeom prst="rect">
              <a:avLst/>
            </a:prstGeom>
            <a:solidFill>
              <a:schemeClr val="bg1">
                <a:lumMod val="50000"/>
              </a:schemeClr>
            </a:solidFill>
            <a:ln w="25400" cap="flat" cmpd="sng" algn="ctr">
              <a:no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defRPr/>
              </a:pPr>
              <a:r>
                <a:rPr kumimoji="0" lang="en-US" sz="1400" b="1" i="0" u="none" strike="noStrike" kern="0" cap="none" spc="0" normalizeH="0" baseline="0" noProof="0" dirty="0">
                  <a:ln>
                    <a:noFill/>
                  </a:ln>
                  <a:solidFill>
                    <a:schemeClr val="bg1"/>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IP</a:t>
              </a:r>
              <a:r>
                <a:rPr kumimoji="0" lang="en-US" altLang="zh-CN" sz="1400" b="1" i="0" u="none" strike="noStrike" kern="0" cap="none" spc="0" normalizeH="0" baseline="0" noProof="0" dirty="0">
                  <a:ln>
                    <a:noFill/>
                  </a:ln>
                  <a:solidFill>
                    <a:schemeClr val="bg1"/>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v6 </a:t>
              </a:r>
              <a:r>
                <a:rPr kumimoji="0" lang="en-US" sz="1400" b="1" i="0" u="none" strike="noStrike" kern="0" cap="none" spc="0" normalizeH="0" baseline="0" noProof="0" dirty="0">
                  <a:ln>
                    <a:noFill/>
                  </a:ln>
                  <a:solidFill>
                    <a:schemeClr val="bg1"/>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Payload</a:t>
              </a:r>
              <a:endParaRPr kumimoji="0" lang="en-GB" sz="1400" b="1" i="0" u="none" strike="noStrike" kern="0" cap="none" spc="0" normalizeH="0" baseline="0" noProof="0" dirty="0">
                <a:ln>
                  <a:noFill/>
                </a:ln>
                <a:solidFill>
                  <a:schemeClr val="bg1"/>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Rectangle 2"/>
            <p:cNvSpPr/>
            <p:nvPr/>
          </p:nvSpPr>
          <p:spPr bwMode="gray">
            <a:xfrm>
              <a:off x="1209352" y="2089357"/>
              <a:ext cx="1464400" cy="486630"/>
            </a:xfrm>
            <a:prstGeom prst="rect">
              <a:avLst/>
            </a:prstGeom>
            <a:solidFill>
              <a:schemeClr val="bg1">
                <a:lumMod val="50000"/>
              </a:schemeClr>
            </a:solidFill>
            <a:ln w="25400" cap="flat" cmpd="sng" algn="ctr">
              <a:no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defRPr/>
              </a:pPr>
              <a:r>
                <a:rPr kumimoji="0" lang="en-US" sz="1400" b="1" i="0" u="none" strike="noStrike" kern="0" cap="none" spc="0" normalizeH="0" baseline="0" noProof="0" dirty="0">
                  <a:ln>
                    <a:noFill/>
                  </a:ln>
                  <a:solidFill>
                    <a:schemeClr val="bg1"/>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IP</a:t>
              </a:r>
              <a:r>
                <a:rPr kumimoji="0" lang="en-US" altLang="zh-CN" sz="1400" b="1" i="0" u="none" strike="noStrike" kern="0" cap="none" spc="0" normalizeH="0" baseline="0" noProof="0" dirty="0">
                  <a:ln>
                    <a:noFill/>
                  </a:ln>
                  <a:solidFill>
                    <a:schemeClr val="bg1"/>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v6</a:t>
              </a:r>
              <a:r>
                <a:rPr kumimoji="0" lang="en-US" sz="1400" b="1" i="0" u="none" strike="noStrike" kern="0" cap="none" spc="0" normalizeH="0" baseline="0" noProof="0" dirty="0">
                  <a:ln>
                    <a:noFill/>
                  </a:ln>
                  <a:solidFill>
                    <a:schemeClr val="bg1"/>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 Header</a:t>
              </a:r>
              <a:endParaRPr kumimoji="0" lang="en-GB" sz="1400" b="1" i="0" u="none" strike="noStrike" kern="0" cap="none" spc="0" normalizeH="0" baseline="0" noProof="0" dirty="0">
                <a:ln>
                  <a:noFill/>
                </a:ln>
                <a:solidFill>
                  <a:schemeClr val="bg1"/>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Rectangle 2"/>
            <p:cNvSpPr/>
            <p:nvPr/>
          </p:nvSpPr>
          <p:spPr bwMode="gray">
            <a:xfrm>
              <a:off x="2694876" y="2089357"/>
              <a:ext cx="2456064" cy="486630"/>
            </a:xfrm>
            <a:prstGeom prst="rect">
              <a:avLst/>
            </a:prstGeom>
            <a:solidFill>
              <a:srgbClr val="56C4D2"/>
            </a:solidFill>
            <a:ln w="25400" cap="flat" cmpd="sng" algn="ctr">
              <a:no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defRPr/>
              </a:pPr>
              <a:r>
                <a:rPr kumimoji="0" lang="en-US" sz="1400" b="1" i="0" u="none" strike="noStrike" kern="0" cap="none" spc="0" normalizeH="0" baseline="0" noProof="0" dirty="0">
                  <a:ln>
                    <a:noFill/>
                  </a:ln>
                  <a:solidFill>
                    <a:schemeClr val="bg1"/>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IPV6 SRH</a:t>
              </a:r>
              <a:r>
                <a:rPr kumimoji="0" lang="zh-CN" altLang="en-US" sz="1400" b="1" i="0" u="none" strike="noStrike" kern="0" cap="none" spc="0" normalizeH="0" baseline="0" noProof="0" dirty="0">
                  <a:ln>
                    <a:noFill/>
                  </a:ln>
                  <a:solidFill>
                    <a:schemeClr val="bg1"/>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a:t>
              </a:r>
              <a:r>
                <a:rPr kumimoji="0" lang="en-US" altLang="zh-CN" sz="1400" b="1" i="0" u="none" strike="noStrike" kern="0" cap="none" spc="0" normalizeH="0" baseline="0" noProof="0" dirty="0">
                  <a:ln>
                    <a:noFill/>
                  </a:ln>
                  <a:solidFill>
                    <a:schemeClr val="bg1"/>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IPv6</a:t>
              </a:r>
              <a:r>
                <a:rPr kumimoji="0" lang="zh-CN" altLang="en-US" sz="1400" b="1" i="0" u="none" strike="noStrike" kern="0" cap="none" spc="0" normalizeH="0" baseline="0" noProof="0" dirty="0">
                  <a:ln>
                    <a:noFill/>
                  </a:ln>
                  <a:solidFill>
                    <a:schemeClr val="bg1"/>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扩展头）</a:t>
              </a:r>
              <a:endParaRPr kumimoji="0" lang="en-GB" sz="1400" b="1" i="0" u="none" strike="noStrike" kern="0" cap="none" spc="0" normalizeH="0" baseline="0" noProof="0" dirty="0">
                <a:ln>
                  <a:noFill/>
                </a:ln>
                <a:solidFill>
                  <a:schemeClr val="bg1"/>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17" name="五边形 2"/>
          <p:cNvSpPr/>
          <p:nvPr/>
        </p:nvSpPr>
        <p:spPr bwMode="gray">
          <a:xfrm>
            <a:off x="8310982" y="110463"/>
            <a:ext cx="1195960"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SRv6</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SRH</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介绍</a:t>
            </a:r>
            <a:endPar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 name="燕尾形 3"/>
          <p:cNvSpPr/>
          <p:nvPr/>
        </p:nvSpPr>
        <p:spPr bwMode="gray">
          <a:xfrm>
            <a:off x="9430382" y="110463"/>
            <a:ext cx="119596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SRv6</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节点介绍</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 name="燕尾形 3"/>
          <p:cNvSpPr/>
          <p:nvPr/>
        </p:nvSpPr>
        <p:spPr bwMode="gray">
          <a:xfrm>
            <a:off x="10553128" y="105534"/>
            <a:ext cx="119596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SRv6</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转发原理</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r>
              <a:rPr lang="en-US" altLang="zh-CN" dirty="0">
                <a:sym typeface="Huawei Sans" panose="020C0503030203020204" pitchFamily="34" charset="0"/>
              </a:rPr>
              <a:t>SRv6 Segment</a:t>
            </a:r>
            <a:r>
              <a:rPr lang="zh-CN" altLang="en-US" dirty="0">
                <a:sym typeface="Huawei Sans" panose="020C0503030203020204" pitchFamily="34" charset="0"/>
              </a:rPr>
              <a:t>介绍</a:t>
            </a:r>
            <a:endParaRPr lang="zh-CN" altLang="en-US" dirty="0">
              <a:sym typeface="Huawei Sans" panose="020C0503030203020204" pitchFamily="34" charset="0"/>
            </a:endParaRPr>
          </a:p>
        </p:txBody>
      </p:sp>
      <p:sp>
        <p:nvSpPr>
          <p:cNvPr id="3" name="Text Placeholder 2"/>
          <p:cNvSpPr>
            <a:spLocks noGrp="1"/>
          </p:cNvSpPr>
          <p:nvPr>
            <p:ph type="body" sz="quarter" idx="10"/>
          </p:nvPr>
        </p:nvSpPr>
        <p:spPr/>
        <p:txBody>
          <a:bodyPr/>
          <a:lstStyle/>
          <a:p>
            <a:r>
              <a:rPr lang="en-US" altLang="zh-CN" sz="1800" dirty="0"/>
              <a:t>SRv6 Segment</a:t>
            </a:r>
            <a:r>
              <a:rPr lang="zh-CN" altLang="en-US" sz="1800" dirty="0"/>
              <a:t>是</a:t>
            </a:r>
            <a:r>
              <a:rPr lang="en-US" altLang="zh-CN" sz="1800" dirty="0"/>
              <a:t>IPv6</a:t>
            </a:r>
            <a:r>
              <a:rPr lang="zh-CN" altLang="en-US" sz="1800" dirty="0"/>
              <a:t>地址形式，通常也可以称为</a:t>
            </a:r>
            <a:r>
              <a:rPr lang="en-US" altLang="zh-CN" sz="1800" dirty="0"/>
              <a:t>SRv6 SID</a:t>
            </a:r>
            <a:r>
              <a:rPr lang="zh-CN" altLang="en-US" sz="1800" dirty="0"/>
              <a:t>（</a:t>
            </a:r>
            <a:r>
              <a:rPr lang="en-US" altLang="zh-CN" sz="1800" dirty="0"/>
              <a:t>Segment Identifier</a:t>
            </a:r>
            <a:r>
              <a:rPr lang="zh-CN" altLang="en-US" sz="1800" dirty="0"/>
              <a:t>）。</a:t>
            </a:r>
            <a:endParaRPr lang="zh-CN" altLang="en-US" sz="1800" dirty="0"/>
          </a:p>
          <a:p>
            <a:r>
              <a:rPr lang="zh-CN" altLang="en-US" sz="1800" dirty="0"/>
              <a:t>如图所示，</a:t>
            </a:r>
            <a:r>
              <a:rPr lang="en-US" altLang="zh-CN" sz="1800" dirty="0"/>
              <a:t>SRv6 SID</a:t>
            </a:r>
            <a:r>
              <a:rPr lang="zh-CN" altLang="en-US" sz="1800" dirty="0"/>
              <a:t>由</a:t>
            </a:r>
            <a:r>
              <a:rPr lang="en-US" altLang="zh-CN" sz="1800" dirty="0">
                <a:highlight>
                  <a:srgbClr val="FFFF00"/>
                </a:highlight>
              </a:rPr>
              <a:t>Locator</a:t>
            </a:r>
            <a:r>
              <a:rPr lang="zh-CN" altLang="en-US" sz="1800" dirty="0"/>
              <a:t>、</a:t>
            </a:r>
            <a:r>
              <a:rPr lang="en-US" altLang="zh-CN" sz="1800" dirty="0">
                <a:highlight>
                  <a:srgbClr val="FFFF00"/>
                </a:highlight>
              </a:rPr>
              <a:t>Function</a:t>
            </a:r>
            <a:r>
              <a:rPr lang="zh-CN" altLang="en-US" sz="1800" dirty="0"/>
              <a:t>和</a:t>
            </a:r>
            <a:r>
              <a:rPr lang="en-US" altLang="zh-CN" sz="1800" dirty="0">
                <a:highlight>
                  <a:srgbClr val="FFFF00"/>
                </a:highlight>
              </a:rPr>
              <a:t>Arguments</a:t>
            </a:r>
            <a:r>
              <a:rPr lang="zh-CN" altLang="en-US" sz="1800" dirty="0"/>
              <a:t>三部分组成，格式为</a:t>
            </a:r>
            <a:r>
              <a:rPr lang="en-US" altLang="zh-CN" sz="1800" dirty="0" err="1"/>
              <a:t>Locator:Function:Arguments</a:t>
            </a:r>
            <a:r>
              <a:rPr lang="zh-CN" altLang="en-US" sz="1800" dirty="0"/>
              <a:t>。注意</a:t>
            </a:r>
            <a:r>
              <a:rPr lang="en-US" altLang="zh-CN" sz="1800" dirty="0"/>
              <a:t>Length(L+F+A) &lt;= 128</a:t>
            </a:r>
            <a:r>
              <a:rPr lang="zh-CN" altLang="en-US" sz="1800" dirty="0"/>
              <a:t>。当长度和小于</a:t>
            </a:r>
            <a:r>
              <a:rPr lang="en-US" altLang="zh-CN" sz="1800" dirty="0"/>
              <a:t>128</a:t>
            </a:r>
            <a:r>
              <a:rPr lang="zh-CN" altLang="en-US" sz="1800" dirty="0"/>
              <a:t>时，保留位用</a:t>
            </a:r>
            <a:r>
              <a:rPr lang="en-US" altLang="zh-CN" sz="1800" dirty="0"/>
              <a:t>0</a:t>
            </a:r>
            <a:r>
              <a:rPr lang="zh-CN" altLang="en-US" sz="1800" dirty="0"/>
              <a:t>补齐。</a:t>
            </a:r>
            <a:endParaRPr lang="zh-CN" altLang="en-US" sz="1800" dirty="0"/>
          </a:p>
          <a:p>
            <a:r>
              <a:rPr lang="zh-CN" altLang="en-US" sz="1800" dirty="0"/>
              <a:t>如果没有</a:t>
            </a:r>
            <a:r>
              <a:rPr lang="en-US" altLang="zh-CN" sz="1800" dirty="0"/>
              <a:t>Arguments</a:t>
            </a:r>
            <a:r>
              <a:rPr lang="zh-CN" altLang="en-US" sz="1800" dirty="0"/>
              <a:t>字段，格式则是</a:t>
            </a:r>
            <a:r>
              <a:rPr lang="en-US" altLang="zh-CN" sz="1800" dirty="0" err="1"/>
              <a:t>Locator:Function</a:t>
            </a:r>
            <a:r>
              <a:rPr lang="zh-CN" altLang="en-US" sz="1800" dirty="0"/>
              <a:t>。</a:t>
            </a:r>
            <a:r>
              <a:rPr lang="en-US" altLang="zh-CN" sz="1800" dirty="0"/>
              <a:t>Locator</a:t>
            </a:r>
            <a:r>
              <a:rPr lang="zh-CN" altLang="en-US" sz="1800" dirty="0"/>
              <a:t>占据</a:t>
            </a:r>
            <a:r>
              <a:rPr lang="en-US" altLang="zh-CN" sz="1800" dirty="0"/>
              <a:t>IPv6</a:t>
            </a:r>
            <a:r>
              <a:rPr lang="zh-CN" altLang="en-US" sz="1800" dirty="0"/>
              <a:t>地址的高比特位，</a:t>
            </a:r>
            <a:r>
              <a:rPr lang="en-US" altLang="zh-CN" sz="1800" dirty="0"/>
              <a:t>Function</a:t>
            </a:r>
            <a:r>
              <a:rPr lang="zh-CN" altLang="en-US" sz="1800" dirty="0"/>
              <a:t>部分占据</a:t>
            </a:r>
            <a:r>
              <a:rPr lang="en-US" altLang="zh-CN" sz="1800" dirty="0"/>
              <a:t>IPv6</a:t>
            </a:r>
            <a:r>
              <a:rPr lang="zh-CN" altLang="en-US" sz="1800" dirty="0"/>
              <a:t>地址的剩余部分。</a:t>
            </a:r>
            <a:endParaRPr lang="zh-CN" altLang="en-US" sz="1800" dirty="0"/>
          </a:p>
          <a:p>
            <a:endParaRPr lang="zh-CN" altLang="en-US" dirty="0"/>
          </a:p>
        </p:txBody>
      </p:sp>
      <p:cxnSp>
        <p:nvCxnSpPr>
          <p:cNvPr id="20" name="直接连接符 19"/>
          <p:cNvCxnSpPr/>
          <p:nvPr/>
        </p:nvCxnSpPr>
        <p:spPr bwMode="gray">
          <a:xfrm flipH="1">
            <a:off x="4486936" y="4396476"/>
            <a:ext cx="1212124" cy="479333"/>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bwMode="gray">
          <a:xfrm>
            <a:off x="6692826" y="4395628"/>
            <a:ext cx="1488491" cy="502976"/>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sp>
        <p:nvSpPr>
          <p:cNvPr id="24" name="文本框 23"/>
          <p:cNvSpPr txBox="1"/>
          <p:nvPr/>
        </p:nvSpPr>
        <p:spPr bwMode="gray">
          <a:xfrm>
            <a:off x="1677898" y="4907177"/>
            <a:ext cx="2683748" cy="307777"/>
          </a:xfrm>
          <a:prstGeom prst="rect">
            <a:avLst/>
          </a:prstGeom>
          <a:noFill/>
        </p:spPr>
        <p:txBody>
          <a:bodyPr wrap="none" rtlCol="0">
            <a:spAutoFit/>
          </a:bodyPr>
          <a:lstStyle/>
          <a:p>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SRv6 Segment</a:t>
            </a: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IPv6</a:t>
            </a: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地址格式</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aphicFrame>
        <p:nvGraphicFramePr>
          <p:cNvPr id="10" name="Table 9"/>
          <p:cNvGraphicFramePr>
            <a:graphicFrameLocks noGrp="1"/>
          </p:cNvGraphicFramePr>
          <p:nvPr/>
        </p:nvGraphicFramePr>
        <p:xfrm>
          <a:off x="3222970" y="3622198"/>
          <a:ext cx="6152455" cy="741680"/>
        </p:xfrm>
        <a:graphic>
          <a:graphicData uri="http://schemas.openxmlformats.org/drawingml/2006/table">
            <a:tbl>
              <a:tblPr firstRow="1" bandRow="1">
                <a:tableStyleId>{72833802-FEF1-4C79-8D5D-14CF1EAF98D9}</a:tableStyleId>
              </a:tblPr>
              <a:tblGrid>
                <a:gridCol w="1488730"/>
                <a:gridCol w="972252"/>
                <a:gridCol w="1072448"/>
                <a:gridCol w="1143000"/>
                <a:gridCol w="1476025"/>
              </a:tblGrid>
              <a:tr h="370840">
                <a:tc rowSpan="2">
                  <a:txBody>
                    <a:body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en-US" altLang="zh-CN" sz="1600" b="1" i="0" u="none" strike="noStrike" kern="0" cap="none" spc="0" normalizeH="0" baseline="0" noProof="0" dirty="0">
                          <a:ln>
                            <a:noFill/>
                          </a:ln>
                          <a:solidFill>
                            <a:schemeClr val="bg1"/>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IPv6 Header</a:t>
                      </a:r>
                      <a:endParaRPr kumimoji="0" lang="en-GB" altLang="zh-CN" sz="1600" b="1" i="0" u="none" strike="noStrike" kern="0" cap="none" spc="0" normalizeH="0" baseline="0" noProof="0" dirty="0">
                        <a:ln>
                          <a:noFill/>
                        </a:ln>
                        <a:solidFill>
                          <a:schemeClr val="bg1"/>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50000"/>
                      </a:schemeClr>
                    </a:solidFill>
                  </a:tcPr>
                </a:tc>
                <a:tc gridSpan="3">
                  <a:txBody>
                    <a:body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en-US" altLang="zh-CN" sz="1600" b="1" i="0" u="none" strike="noStrike" kern="0" cap="none" spc="0" normalizeH="0" baseline="0" noProof="0" dirty="0">
                          <a:ln>
                            <a:noFill/>
                          </a:ln>
                          <a:solidFill>
                            <a:schemeClr val="bg1"/>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IPV6 SRH</a:t>
                      </a:r>
                      <a:r>
                        <a:rPr kumimoji="0" lang="zh-CN" altLang="en-US" sz="1600" b="1" i="0" u="none" strike="noStrike" kern="0" cap="none" spc="0" normalizeH="0" baseline="0" noProof="0" dirty="0">
                          <a:ln>
                            <a:noFill/>
                          </a:ln>
                          <a:solidFill>
                            <a:schemeClr val="bg1"/>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a:t>
                      </a:r>
                      <a:r>
                        <a:rPr kumimoji="0" lang="en-US" altLang="zh-CN" sz="1600" b="1" i="0" u="none" strike="noStrike" kern="0" cap="none" spc="0" normalizeH="0" baseline="0" noProof="0" dirty="0">
                          <a:ln>
                            <a:noFill/>
                          </a:ln>
                          <a:solidFill>
                            <a:schemeClr val="bg1"/>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IPv6</a:t>
                      </a:r>
                      <a:r>
                        <a:rPr kumimoji="0" lang="zh-CN" altLang="en-US" sz="1600" b="1" i="0" u="none" strike="noStrike" kern="0" cap="none" spc="0" normalizeH="0" baseline="0" noProof="0" dirty="0">
                          <a:ln>
                            <a:noFill/>
                          </a:ln>
                          <a:solidFill>
                            <a:schemeClr val="bg1"/>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扩展头）</a:t>
                      </a:r>
                      <a:endParaRPr kumimoji="0" lang="en-GB" altLang="zh-CN" sz="1600" b="1" i="0" u="none" strike="noStrike" kern="0" cap="none" spc="0" normalizeH="0" baseline="0" noProof="0" dirty="0">
                        <a:ln>
                          <a:noFill/>
                        </a:ln>
                        <a:solidFill>
                          <a:schemeClr val="bg1"/>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56C4D2"/>
                    </a:solidFill>
                  </a:tcPr>
                </a:tc>
                <a:tc hMerge="1">
                  <a:tcPr/>
                </a:tc>
                <a:tc hMerge="1">
                  <a:tcPr/>
                </a:tc>
                <a:tc rowSpan="2">
                  <a:txBody>
                    <a:body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en-US" altLang="zh-CN" sz="1600" b="1" i="0" u="none" strike="noStrike" kern="0" cap="none" spc="0" normalizeH="0" baseline="0" noProof="0" dirty="0">
                          <a:ln>
                            <a:noFill/>
                          </a:ln>
                          <a:solidFill>
                            <a:schemeClr val="bg1"/>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IPv6 Payload</a:t>
                      </a:r>
                      <a:endParaRPr kumimoji="0" lang="en-GB" altLang="zh-CN" sz="1600" b="1" i="0" u="none" strike="noStrike" kern="0" cap="none" spc="0" normalizeH="0" baseline="0" noProof="0" dirty="0">
                        <a:ln>
                          <a:noFill/>
                        </a:ln>
                        <a:solidFill>
                          <a:schemeClr val="bg1"/>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50000"/>
                      </a:schemeClr>
                    </a:solidFill>
                  </a:tcPr>
                </a:tc>
              </a:tr>
              <a:tr h="370840">
                <a:tc vMerge="1">
                  <a:tcPr/>
                </a:tc>
                <a:tc>
                  <a:txBody>
                    <a:bodyPr/>
                    <a:lstStyle/>
                    <a:p>
                      <a:pPr algn="ctr"/>
                      <a:r>
                        <a:rPr lang="en-US" altLang="zh-CN" sz="1600" b="1" dirty="0">
                          <a:solidFill>
                            <a:schemeClr val="bg1"/>
                          </a:solidFill>
                        </a:rPr>
                        <a:t>128 bits</a:t>
                      </a:r>
                      <a:endParaRPr lang="zh-CN" altLang="en-US" sz="1600" b="1" dirty="0">
                        <a:solidFill>
                          <a:schemeClr val="bg1"/>
                        </a:solidFill>
                      </a:endParaRP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56C4D2"/>
                    </a:solidFill>
                  </a:tcPr>
                </a:tc>
                <a:tc>
                  <a:txBody>
                    <a:bodyPr/>
                    <a:lstStyle/>
                    <a:p>
                      <a:pPr marL="0" marR="0" lvl="0" indent="0" algn="ctr" defTabSz="913765" rtl="0" eaLnBrk="1" fontAlgn="auto" latinLnBrk="0" hangingPunct="1">
                        <a:lnSpc>
                          <a:spcPct val="100000"/>
                        </a:lnSpc>
                        <a:spcBef>
                          <a:spcPts val="0"/>
                        </a:spcBef>
                        <a:spcAft>
                          <a:spcPts val="0"/>
                        </a:spcAft>
                        <a:buClrTx/>
                        <a:buSzTx/>
                        <a:buFontTx/>
                        <a:buNone/>
                        <a:defRPr/>
                      </a:pPr>
                      <a:r>
                        <a:rPr lang="en-US" altLang="zh-CN" sz="1600" b="1" dirty="0">
                          <a:solidFill>
                            <a:schemeClr val="bg1"/>
                          </a:solidFill>
                        </a:rPr>
                        <a:t>128 bits</a:t>
                      </a:r>
                      <a:endParaRPr lang="zh-CN" altLang="en-US" sz="1600" b="1" dirty="0">
                        <a:solidFill>
                          <a:schemeClr val="bg1"/>
                        </a:solidFill>
                      </a:endParaRP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56C4D2"/>
                    </a:solidFill>
                  </a:tcPr>
                </a:tc>
                <a:tc>
                  <a:txBody>
                    <a:bodyPr/>
                    <a:lstStyle/>
                    <a:p>
                      <a:pPr marL="0" marR="0" lvl="0" indent="0" algn="ctr" defTabSz="913765" rtl="0" eaLnBrk="1" fontAlgn="auto" latinLnBrk="0" hangingPunct="1">
                        <a:lnSpc>
                          <a:spcPct val="100000"/>
                        </a:lnSpc>
                        <a:spcBef>
                          <a:spcPts val="0"/>
                        </a:spcBef>
                        <a:spcAft>
                          <a:spcPts val="0"/>
                        </a:spcAft>
                        <a:buClrTx/>
                        <a:buSzTx/>
                        <a:buFontTx/>
                        <a:buNone/>
                        <a:defRPr/>
                      </a:pPr>
                      <a:r>
                        <a:rPr lang="en-US" altLang="zh-CN" sz="1600" b="1" dirty="0">
                          <a:solidFill>
                            <a:schemeClr val="bg1"/>
                          </a:solidFill>
                        </a:rPr>
                        <a:t>128 bits</a:t>
                      </a:r>
                      <a:endParaRPr lang="zh-CN" altLang="en-US" sz="1600" b="1" dirty="0">
                        <a:solidFill>
                          <a:schemeClr val="bg1"/>
                        </a:solidFill>
                      </a:endParaRP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56C4D2"/>
                    </a:solidFill>
                  </a:tcPr>
                </a:tc>
                <a:tc vMerge="1">
                  <a:tcPr/>
                </a:tc>
              </a:tr>
            </a:tbl>
          </a:graphicData>
        </a:graphic>
      </p:graphicFrame>
      <p:graphicFrame>
        <p:nvGraphicFramePr>
          <p:cNvPr id="19" name="Table 18"/>
          <p:cNvGraphicFramePr>
            <a:graphicFrameLocks noGrp="1"/>
          </p:cNvGraphicFramePr>
          <p:nvPr/>
        </p:nvGraphicFramePr>
        <p:xfrm>
          <a:off x="4486936" y="4927415"/>
          <a:ext cx="3694383" cy="370840"/>
        </p:xfrm>
        <a:graphic>
          <a:graphicData uri="http://schemas.openxmlformats.org/drawingml/2006/table">
            <a:tbl>
              <a:tblPr firstRow="1" bandRow="1">
                <a:tableStyleId>{72833802-FEF1-4C79-8D5D-14CF1EAF98D9}</a:tableStyleId>
              </a:tblPr>
              <a:tblGrid>
                <a:gridCol w="1231461"/>
                <a:gridCol w="1231461"/>
                <a:gridCol w="1231461"/>
              </a:tblGrid>
              <a:tr h="370840">
                <a:tc>
                  <a:txBody>
                    <a:body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en-US" altLang="zh-CN" sz="1400" b="1"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Locator</a:t>
                      </a:r>
                      <a:endParaRPr kumimoji="0" lang="zh-CN" altLang="en-US" sz="1400" b="1"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E28189"/>
                    </a:solidFill>
                  </a:tcPr>
                </a:tc>
                <a:tc>
                  <a:txBody>
                    <a:body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en-US" altLang="zh-CN" sz="1400" b="1"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Function</a:t>
                      </a:r>
                      <a:endParaRPr kumimoji="0" lang="zh-CN" altLang="en-US" sz="1400" b="1"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FDD351"/>
                    </a:solidFill>
                  </a:tcPr>
                </a:tc>
                <a:tc>
                  <a:txBody>
                    <a:body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en-US" altLang="zh-CN" sz="1400" b="1"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Arguments</a:t>
                      </a:r>
                      <a:endParaRPr kumimoji="0" lang="zh-CN" altLang="en-US" sz="1400" b="1"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AFD89C"/>
                    </a:solidFill>
                  </a:tcPr>
                </a:tc>
              </a:tr>
            </a:tbl>
          </a:graphicData>
        </a:graphic>
      </p:graphicFrame>
      <p:sp>
        <p:nvSpPr>
          <p:cNvPr id="9" name="五边形 2"/>
          <p:cNvSpPr/>
          <p:nvPr/>
        </p:nvSpPr>
        <p:spPr bwMode="gray">
          <a:xfrm>
            <a:off x="8310982" y="110463"/>
            <a:ext cx="1195960"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SRv6</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SRH</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介绍</a:t>
            </a:r>
            <a:endPar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 name="燕尾形 3"/>
          <p:cNvSpPr/>
          <p:nvPr/>
        </p:nvSpPr>
        <p:spPr bwMode="gray">
          <a:xfrm>
            <a:off x="9430382" y="110463"/>
            <a:ext cx="119596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SRv6</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节点介绍</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燕尾形 3"/>
          <p:cNvSpPr/>
          <p:nvPr/>
        </p:nvSpPr>
        <p:spPr bwMode="gray">
          <a:xfrm>
            <a:off x="10553128" y="105534"/>
            <a:ext cx="119596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SRv6</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转发原理</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r>
              <a:rPr lang="en-US" altLang="zh-CN" dirty="0">
                <a:sym typeface="Huawei Sans" panose="020C0503030203020204" pitchFamily="34" charset="0"/>
              </a:rPr>
              <a:t>SRv6 Segment: Locator </a:t>
            </a:r>
            <a:endParaRPr lang="zh-CN" altLang="en-US" dirty="0">
              <a:sym typeface="Huawei Sans" panose="020C0503030203020204" pitchFamily="34" charset="0"/>
            </a:endParaRPr>
          </a:p>
        </p:txBody>
      </p:sp>
      <p:sp>
        <p:nvSpPr>
          <p:cNvPr id="8" name="文本占位符 35"/>
          <p:cNvSpPr txBox="1"/>
          <p:nvPr/>
        </p:nvSpPr>
        <p:spPr bwMode="gray">
          <a:xfrm>
            <a:off x="731838" y="1047751"/>
            <a:ext cx="10728326" cy="718974"/>
          </a:xfrm>
          <a:prstGeom prst="rect">
            <a:avLst/>
          </a:prstGeom>
        </p:spPr>
        <p:txBody>
          <a:bodyPr/>
          <a:lstStyle>
            <a:lvl1pPr marL="302260" indent="-302260" algn="l" defTabSz="913765" rtl="0" eaLnBrk="1" fontAlgn="ctr" latinLnBrk="0" hangingPunct="1">
              <a:lnSpc>
                <a:spcPct val="140000"/>
              </a:lnSpc>
              <a:spcBef>
                <a:spcPts val="790"/>
              </a:spcBef>
              <a:buSzPct val="50000"/>
              <a:buFont typeface="Wingdings" panose="05000000000000000000" pitchFamily="2" charset="2"/>
              <a:buChar char="l"/>
              <a:defRPr sz="2200" kern="1200" baseline="0">
                <a:solidFill>
                  <a:schemeClr val="tx1"/>
                </a:solidFill>
                <a:latin typeface="Huawei Sans" panose="020C0503030203020204" pitchFamily="34" charset="0"/>
                <a:ea typeface="方正兰亭黑简体" panose="02000000000000000000" pitchFamily="2" charset="-122"/>
                <a:cs typeface="+mn-cs"/>
              </a:defRPr>
            </a:lvl1pPr>
            <a:lvl2pPr marL="654685" indent="-252095" algn="l" defTabSz="913765" rtl="0" eaLnBrk="1" fontAlgn="ctr" latinLnBrk="0" hangingPunct="1">
              <a:lnSpc>
                <a:spcPct val="140000"/>
              </a:lnSpc>
              <a:spcBef>
                <a:spcPts val="720"/>
              </a:spcBef>
              <a:buClrTx/>
              <a:buSzPct val="50000"/>
              <a:buFont typeface="Wingdings" panose="05000000000000000000" pitchFamily="2" charset="2"/>
              <a:buChar char="p"/>
              <a:defRPr sz="2000" kern="1200" baseline="0">
                <a:solidFill>
                  <a:schemeClr val="tx1"/>
                </a:solidFill>
                <a:latin typeface="Huawei Sans" panose="020C0503030203020204" pitchFamily="34" charset="0"/>
                <a:ea typeface="方正兰亭黑简体" panose="02000000000000000000" pitchFamily="2" charset="-122"/>
                <a:cs typeface="+mn-cs"/>
              </a:defRPr>
            </a:lvl2pPr>
            <a:lvl3pPr marL="1003935" indent="-201295" algn="l" defTabSz="913765" rtl="0" eaLnBrk="1" fontAlgn="ctr" latinLnBrk="0" hangingPunct="1">
              <a:lnSpc>
                <a:spcPct val="140000"/>
              </a:lnSpc>
              <a:spcBef>
                <a:spcPts val="650"/>
              </a:spcBef>
              <a:buClrTx/>
              <a:buSzPct val="50000"/>
              <a:buFont typeface="Wingdings" panose="05000000000000000000" pitchFamily="2" charset="2"/>
              <a:buChar char="n"/>
              <a:defRPr sz="1800" kern="1200" baseline="0">
                <a:solidFill>
                  <a:schemeClr val="tx1"/>
                </a:solidFill>
                <a:latin typeface="Huawei Sans" panose="020C0503030203020204" pitchFamily="34" charset="0"/>
                <a:ea typeface="方正兰亭黑简体" panose="02000000000000000000" pitchFamily="2" charset="-122"/>
                <a:cs typeface="+mn-cs"/>
              </a:defRPr>
            </a:lvl3pPr>
            <a:lvl4pPr marL="1399540" indent="-198120" algn="l" defTabSz="913765" rtl="0" eaLnBrk="1" fontAlgn="ctr" latinLnBrk="0" hangingPunct="1">
              <a:lnSpc>
                <a:spcPct val="140000"/>
              </a:lnSpc>
              <a:spcBef>
                <a:spcPts val="575"/>
              </a:spcBef>
              <a:buFont typeface="Huawei Sans" panose="020C0503030203020204" pitchFamily="34" charset="0"/>
              <a:buChar char="−"/>
              <a:defRPr sz="1600" kern="1200" baseline="0">
                <a:solidFill>
                  <a:schemeClr val="tx1"/>
                </a:solidFill>
                <a:latin typeface="Huawei Sans" panose="020C0503030203020204" pitchFamily="34" charset="0"/>
                <a:ea typeface="方正兰亭黑简体" panose="02000000000000000000" pitchFamily="2" charset="-122"/>
                <a:cs typeface="+mn-cs"/>
              </a:defRPr>
            </a:lvl4pPr>
            <a:lvl5pPr marL="1802765" indent="-201295" algn="l" defTabSz="913765" rtl="0" eaLnBrk="1" fontAlgn="ctr" latinLnBrk="0" hangingPunct="1">
              <a:lnSpc>
                <a:spcPct val="140000"/>
              </a:lnSpc>
              <a:spcBef>
                <a:spcPts val="575"/>
              </a:spcBef>
              <a:buFont typeface="Huawei Sans" panose="020C0503030203020204" pitchFamily="34" charset="0"/>
              <a:buChar char="~"/>
              <a:defRPr sz="1400" kern="1200" baseline="0">
                <a:solidFill>
                  <a:schemeClr val="tx1"/>
                </a:solidFill>
                <a:latin typeface="Huawei Sans" panose="020C0503030203020204" pitchFamily="34" charset="0"/>
                <a:ea typeface="方正兰亭黑简体" panose="02000000000000000000" pitchFamily="2" charset="-122"/>
                <a:cs typeface="+mn-cs"/>
              </a:defRPr>
            </a:lvl5pPr>
            <a:lvl6pPr marL="25133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05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77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9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sz="1600">
              <a:sym typeface="Huawei Sans" panose="020C0503030203020204" pitchFamily="34" charset="0"/>
            </a:endParaRPr>
          </a:p>
        </p:txBody>
      </p:sp>
      <p:sp>
        <p:nvSpPr>
          <p:cNvPr id="10" name="文本框 9"/>
          <p:cNvSpPr txBox="1"/>
          <p:nvPr/>
        </p:nvSpPr>
        <p:spPr bwMode="gray">
          <a:xfrm>
            <a:off x="452438" y="2934201"/>
            <a:ext cx="11296649" cy="2133918"/>
          </a:xfrm>
          <a:prstGeom prst="rect">
            <a:avLst/>
          </a:prstGeom>
        </p:spPr>
        <p:txBody>
          <a:bodyPr/>
          <a:lstStyle>
            <a:defPPr>
              <a:defRPr lang="en-US"/>
            </a:defPPr>
            <a:lvl1pPr marL="302260" indent="-302260" defTabSz="913765" fontAlgn="ctr">
              <a:lnSpc>
                <a:spcPct val="140000"/>
              </a:lnSpc>
              <a:spcBef>
                <a:spcPts val="790"/>
              </a:spcBef>
              <a:buSzPct val="50000"/>
              <a:buFont typeface="Wingdings" panose="05000000000000000000" pitchFamily="2" charset="2"/>
              <a:buChar char="l"/>
              <a:defRPr baseline="0">
                <a:latin typeface="Huawei Sans" panose="020C0503030203020204" pitchFamily="34" charset="0"/>
                <a:ea typeface="方正兰亭黑简体" panose="02000000000000000000" pitchFamily="2" charset="-122"/>
              </a:defRPr>
            </a:lvl1pPr>
            <a:lvl2pPr marL="654685" indent="-252095" defTabSz="913765" fontAlgn="ctr">
              <a:lnSpc>
                <a:spcPct val="140000"/>
              </a:lnSpc>
              <a:spcBef>
                <a:spcPts val="720"/>
              </a:spcBef>
              <a:buClrTx/>
              <a:buSzPct val="50000"/>
              <a:buFont typeface="Wingdings" panose="05000000000000000000" pitchFamily="2" charset="2"/>
              <a:buChar char="p"/>
              <a:defRPr sz="2000" baseline="0">
                <a:latin typeface="Huawei Sans" panose="020C0503030203020204" pitchFamily="34" charset="0"/>
                <a:ea typeface="方正兰亭黑简体" panose="02000000000000000000" pitchFamily="2" charset="-122"/>
              </a:defRPr>
            </a:lvl2pPr>
            <a:lvl3pPr marL="1003935" indent="-201295" defTabSz="913765" fontAlgn="ctr">
              <a:lnSpc>
                <a:spcPct val="140000"/>
              </a:lnSpc>
              <a:spcBef>
                <a:spcPts val="650"/>
              </a:spcBef>
              <a:buClrTx/>
              <a:buSzPct val="50000"/>
              <a:buFont typeface="Wingdings" panose="05000000000000000000" pitchFamily="2" charset="2"/>
              <a:buChar char="n"/>
              <a:defRPr sz="1800" baseline="0">
                <a:latin typeface="Huawei Sans" panose="020C0503030203020204" pitchFamily="34" charset="0"/>
                <a:ea typeface="方正兰亭黑简体" panose="02000000000000000000" pitchFamily="2" charset="-122"/>
              </a:defRPr>
            </a:lvl3pPr>
            <a:lvl4pPr marL="1399540" indent="-198120" defTabSz="913765" fontAlgn="ctr">
              <a:lnSpc>
                <a:spcPct val="140000"/>
              </a:lnSpc>
              <a:spcBef>
                <a:spcPts val="575"/>
              </a:spcBef>
              <a:buFont typeface="Huawei Sans" panose="020C0503030203020204" pitchFamily="34" charset="0"/>
              <a:buChar char="−"/>
              <a:defRPr sz="1600" baseline="0">
                <a:latin typeface="Huawei Sans" panose="020C0503030203020204" pitchFamily="34" charset="0"/>
                <a:ea typeface="方正兰亭黑简体" panose="02000000000000000000" pitchFamily="2" charset="-122"/>
              </a:defRPr>
            </a:lvl4pPr>
            <a:lvl5pPr marL="1802765" indent="-201295" defTabSz="913765" fontAlgn="ctr">
              <a:lnSpc>
                <a:spcPct val="140000"/>
              </a:lnSpc>
              <a:spcBef>
                <a:spcPts val="575"/>
              </a:spcBef>
              <a:buFont typeface="Huawei Sans" panose="020C0503030203020204" pitchFamily="34" charset="0"/>
              <a:buChar char="~"/>
              <a:defRPr sz="1400" baseline="0">
                <a:latin typeface="Huawei Sans" panose="020C0503030203020204" pitchFamily="34" charset="0"/>
                <a:ea typeface="方正兰亭黑简体" panose="02000000000000000000" pitchFamily="2" charset="-122"/>
              </a:defRPr>
            </a:lvl5pPr>
            <a:lvl6pPr marL="2513330" indent="-228600" defTabSz="913765">
              <a:lnSpc>
                <a:spcPct val="90000"/>
              </a:lnSpc>
              <a:spcBef>
                <a:spcPts val="500"/>
              </a:spcBef>
              <a:buFont typeface="Arial" panose="020B0604020202020204" pitchFamily="34" charset="0"/>
              <a:buChar char="•"/>
              <a:defRPr sz="1800"/>
            </a:lvl6pPr>
            <a:lvl7pPr marL="2970530" indent="-228600" defTabSz="913765">
              <a:lnSpc>
                <a:spcPct val="90000"/>
              </a:lnSpc>
              <a:spcBef>
                <a:spcPts val="500"/>
              </a:spcBef>
              <a:buFont typeface="Arial" panose="020B0604020202020204" pitchFamily="34" charset="0"/>
              <a:buChar char="•"/>
              <a:defRPr sz="1800"/>
            </a:lvl7pPr>
            <a:lvl8pPr marL="3427730" indent="-228600" defTabSz="913765">
              <a:lnSpc>
                <a:spcPct val="90000"/>
              </a:lnSpc>
              <a:spcBef>
                <a:spcPts val="500"/>
              </a:spcBef>
              <a:buFont typeface="Arial" panose="020B0604020202020204" pitchFamily="34" charset="0"/>
              <a:buChar char="•"/>
              <a:defRPr sz="1800"/>
            </a:lvl8pPr>
            <a:lvl9pPr marL="3884930" indent="-228600" defTabSz="913765">
              <a:lnSpc>
                <a:spcPct val="90000"/>
              </a:lnSpc>
              <a:spcBef>
                <a:spcPts val="500"/>
              </a:spcBef>
              <a:buFont typeface="Arial" panose="020B0604020202020204" pitchFamily="34" charset="0"/>
              <a:buChar char="•"/>
              <a:defRPr sz="1800"/>
            </a:lvl9pPr>
          </a:lstStyle>
          <a:p>
            <a:r>
              <a:rPr lang="en-US" altLang="zh-CN" sz="1600" dirty="0">
                <a:sym typeface="Huawei Sans" panose="020C0503030203020204" pitchFamily="34" charset="0"/>
              </a:rPr>
              <a:t>Locator</a:t>
            </a:r>
            <a:r>
              <a:rPr lang="zh-CN" altLang="en-US" sz="1600" dirty="0">
                <a:sym typeface="Huawei Sans" panose="020C0503030203020204" pitchFamily="34" charset="0"/>
              </a:rPr>
              <a:t>是网络拓扑中的</a:t>
            </a:r>
            <a:r>
              <a:rPr lang="zh-CN" altLang="en-US" sz="1600" dirty="0">
                <a:highlight>
                  <a:srgbClr val="FFFF00"/>
                </a:highlight>
                <a:sym typeface="Huawei Sans" panose="020C0503030203020204" pitchFamily="34" charset="0"/>
              </a:rPr>
              <a:t>一个网络节点的标识</a:t>
            </a:r>
            <a:r>
              <a:rPr lang="zh-CN" altLang="en-US" sz="1600" dirty="0">
                <a:sym typeface="Huawei Sans" panose="020C0503030203020204" pitchFamily="34" charset="0"/>
              </a:rPr>
              <a:t>，用于路由和转发报文到该节点，实现网络指令的可寻址。</a:t>
            </a:r>
            <a:endParaRPr lang="en-US" altLang="zh-CN" sz="1600" dirty="0">
              <a:sym typeface="Huawei Sans" panose="020C0503030203020204" pitchFamily="34" charset="0"/>
            </a:endParaRPr>
          </a:p>
          <a:p>
            <a:r>
              <a:rPr lang="en-US" altLang="zh-CN" sz="1600" dirty="0">
                <a:sym typeface="Huawei Sans" panose="020C0503030203020204" pitchFamily="34" charset="0"/>
              </a:rPr>
              <a:t>Locator</a:t>
            </a:r>
            <a:r>
              <a:rPr lang="zh-CN" altLang="en-US" sz="1600" dirty="0">
                <a:sym typeface="Huawei Sans" panose="020C0503030203020204" pitchFamily="34" charset="0"/>
              </a:rPr>
              <a:t>标识的位置信息由两个重要的属性：可路由和可聚合。节点配置</a:t>
            </a:r>
            <a:r>
              <a:rPr lang="en-US" altLang="zh-CN" sz="1600" dirty="0">
                <a:sym typeface="Huawei Sans" panose="020C0503030203020204" pitchFamily="34" charset="0"/>
              </a:rPr>
              <a:t>Locator</a:t>
            </a:r>
            <a:r>
              <a:rPr lang="zh-CN" altLang="en-US" sz="1600" dirty="0">
                <a:sym typeface="Huawei Sans" panose="020C0503030203020204" pitchFamily="34" charset="0"/>
              </a:rPr>
              <a:t>之后，系统会生成一条</a:t>
            </a:r>
            <a:r>
              <a:rPr lang="en-US" altLang="zh-CN" sz="1600" dirty="0">
                <a:sym typeface="Huawei Sans" panose="020C0503030203020204" pitchFamily="34" charset="0"/>
              </a:rPr>
              <a:t>Locator</a:t>
            </a:r>
            <a:r>
              <a:rPr lang="zh-CN" altLang="en-US" sz="1600" dirty="0">
                <a:sym typeface="Huawei Sans" panose="020C0503030203020204" pitchFamily="34" charset="0"/>
              </a:rPr>
              <a:t>网段路由，并且通过</a:t>
            </a:r>
            <a:r>
              <a:rPr lang="en-US" altLang="zh-CN" sz="1600" dirty="0">
                <a:sym typeface="Huawei Sans" panose="020C0503030203020204" pitchFamily="34" charset="0"/>
              </a:rPr>
              <a:t>IGP</a:t>
            </a:r>
            <a:r>
              <a:rPr lang="zh-CN" altLang="en-US" sz="1600" dirty="0">
                <a:sym typeface="Huawei Sans" panose="020C0503030203020204" pitchFamily="34" charset="0"/>
              </a:rPr>
              <a:t>在</a:t>
            </a:r>
            <a:r>
              <a:rPr lang="en-US" altLang="zh-CN" sz="1600" dirty="0">
                <a:sym typeface="Huawei Sans" panose="020C0503030203020204" pitchFamily="34" charset="0"/>
              </a:rPr>
              <a:t>SR</a:t>
            </a:r>
            <a:r>
              <a:rPr lang="zh-CN" altLang="en-US" sz="1600" dirty="0">
                <a:sym typeface="Huawei Sans" panose="020C0503030203020204" pitchFamily="34" charset="0"/>
              </a:rPr>
              <a:t>域内扩散。网络内其他节点通过</a:t>
            </a:r>
            <a:r>
              <a:rPr lang="en-US" altLang="zh-CN" sz="1600" dirty="0">
                <a:sym typeface="Huawei Sans" panose="020C0503030203020204" pitchFamily="34" charset="0"/>
              </a:rPr>
              <a:t>Locator</a:t>
            </a:r>
            <a:r>
              <a:rPr lang="zh-CN" altLang="en-US" sz="1600" dirty="0">
                <a:sym typeface="Huawei Sans" panose="020C0503030203020204" pitchFamily="34" charset="0"/>
              </a:rPr>
              <a:t>网段路由就可以定位到本节点，同时本节点发布的所有</a:t>
            </a:r>
            <a:r>
              <a:rPr lang="en-US" altLang="zh-CN" sz="1600" dirty="0">
                <a:sym typeface="Huawei Sans" panose="020C0503030203020204" pitchFamily="34" charset="0"/>
              </a:rPr>
              <a:t>SRv6 SID</a:t>
            </a:r>
            <a:r>
              <a:rPr lang="zh-CN" altLang="en-US" sz="1600" dirty="0">
                <a:sym typeface="Huawei Sans" panose="020C0503030203020204" pitchFamily="34" charset="0"/>
              </a:rPr>
              <a:t>也都可以通过该条</a:t>
            </a:r>
            <a:r>
              <a:rPr lang="en-US" altLang="zh-CN" sz="1600" dirty="0">
                <a:sym typeface="Huawei Sans" panose="020C0503030203020204" pitchFamily="34" charset="0"/>
              </a:rPr>
              <a:t>Locator</a:t>
            </a:r>
            <a:r>
              <a:rPr lang="zh-CN" altLang="en-US" sz="1600" dirty="0">
                <a:sym typeface="Huawei Sans" panose="020C0503030203020204" pitchFamily="34" charset="0"/>
              </a:rPr>
              <a:t>网段路由到达。</a:t>
            </a:r>
            <a:endParaRPr lang="en-US" altLang="zh-CN" sz="1600" dirty="0">
              <a:sym typeface="Huawei Sans" panose="020C0503030203020204" pitchFamily="34" charset="0"/>
            </a:endParaRPr>
          </a:p>
          <a:p>
            <a:r>
              <a:rPr lang="zh-CN" altLang="en-US" sz="1600" dirty="0">
                <a:sym typeface="Huawei Sans" panose="020C0503030203020204" pitchFamily="34" charset="0"/>
              </a:rPr>
              <a:t>在华为设备配置中，如图配置前缀为</a:t>
            </a:r>
            <a:r>
              <a:rPr lang="en-US" altLang="zh-CN" sz="1600" dirty="0">
                <a:sym typeface="Huawei Sans" panose="020C0503030203020204" pitchFamily="34" charset="0"/>
              </a:rPr>
              <a:t>2001:DB8:ABCD::</a:t>
            </a:r>
            <a:r>
              <a:rPr lang="zh-CN" altLang="en-US" sz="1600" dirty="0">
                <a:sym typeface="Huawei Sans" panose="020C0503030203020204" pitchFamily="34" charset="0"/>
              </a:rPr>
              <a:t>，长度为</a:t>
            </a:r>
            <a:r>
              <a:rPr lang="en-US" altLang="zh-CN" sz="1600" dirty="0">
                <a:sym typeface="Huawei Sans" panose="020C0503030203020204" pitchFamily="34" charset="0"/>
              </a:rPr>
              <a:t>64 bit</a:t>
            </a:r>
            <a:r>
              <a:rPr lang="zh-CN" altLang="en-US" sz="1600" dirty="0">
                <a:sym typeface="Huawei Sans" panose="020C0503030203020204" pitchFamily="34" charset="0"/>
              </a:rPr>
              <a:t>：</a:t>
            </a:r>
            <a:endParaRPr lang="en-US" altLang="zh-CN" sz="1600" dirty="0">
              <a:sym typeface="Huawei Sans" panose="020C0503030203020204" pitchFamily="34" charset="0"/>
            </a:endParaRPr>
          </a:p>
          <a:p>
            <a:endParaRPr lang="zh-CN" altLang="en-US" sz="1600" dirty="0">
              <a:sym typeface="Huawei Sans" panose="020C0503030203020204" pitchFamily="34" charset="0"/>
            </a:endParaRPr>
          </a:p>
        </p:txBody>
      </p:sp>
      <p:sp>
        <p:nvSpPr>
          <p:cNvPr id="38" name="文本框 37"/>
          <p:cNvSpPr txBox="1"/>
          <p:nvPr/>
        </p:nvSpPr>
        <p:spPr bwMode="gray">
          <a:xfrm>
            <a:off x="3152985" y="1408663"/>
            <a:ext cx="965329" cy="338554"/>
          </a:xfrm>
          <a:prstGeom prst="rect">
            <a:avLst/>
          </a:prstGeom>
          <a:noFill/>
        </p:spPr>
        <p:txBody>
          <a:bodyPr wrap="none" rtlCol="0">
            <a:spAutoFit/>
          </a:bodyPr>
          <a:lstStyle/>
          <a:p>
            <a:r>
              <a:rPr lang="en-US" altLang="zh-CN" sz="1600" b="1">
                <a:latin typeface="Huawei Sans" panose="020C0503030203020204" pitchFamily="34" charset="0"/>
                <a:ea typeface="方正兰亭黑简体" panose="02000000000000000000" pitchFamily="2" charset="-122"/>
                <a:sym typeface="Huawei Sans" panose="020C0503030203020204" pitchFamily="34" charset="0"/>
              </a:rPr>
              <a:t>128 bits</a:t>
            </a:r>
            <a:endParaRPr lang="zh-CN" altLang="en-US" sz="1600" b="1">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文本框 38"/>
          <p:cNvSpPr txBox="1"/>
          <p:nvPr/>
        </p:nvSpPr>
        <p:spPr bwMode="gray">
          <a:xfrm>
            <a:off x="4169759" y="2266328"/>
            <a:ext cx="1237839" cy="338554"/>
          </a:xfrm>
          <a:prstGeom prst="rect">
            <a:avLst/>
          </a:prstGeom>
          <a:noFill/>
        </p:spPr>
        <p:txBody>
          <a:bodyPr wrap="none" rtlCol="0">
            <a:spAutoFit/>
          </a:bodyPr>
          <a:lstStyle/>
          <a:p>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IPv6 prefix</a:t>
            </a:r>
            <a:endParaRPr lang="zh-CN" altLang="en-US" sz="1600" b="1"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40" name="直接连接符 39"/>
          <p:cNvCxnSpPr/>
          <p:nvPr/>
        </p:nvCxnSpPr>
        <p:spPr bwMode="gray">
          <a:xfrm>
            <a:off x="4202686" y="1855306"/>
            <a:ext cx="0" cy="335444"/>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bwMode="gray">
          <a:xfrm>
            <a:off x="5521898" y="1855306"/>
            <a:ext cx="0" cy="335444"/>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sp>
        <p:nvSpPr>
          <p:cNvPr id="58" name="文本占位符 35"/>
          <p:cNvSpPr txBox="1"/>
          <p:nvPr/>
        </p:nvSpPr>
        <p:spPr bwMode="gray">
          <a:xfrm>
            <a:off x="796615" y="5157041"/>
            <a:ext cx="8306523" cy="595577"/>
          </a:xfrm>
          <a:prstGeom prst="rect">
            <a:avLst/>
          </a:prstGeom>
          <a:solidFill>
            <a:schemeClr val="bg1">
              <a:lumMod val="85000"/>
            </a:schemeClr>
          </a:solidFill>
        </p:spPr>
        <p:txBody>
          <a:bodyPr/>
          <a:lstStyle>
            <a:lvl1pPr marL="302260" indent="-302260" algn="l" defTabSz="913765" rtl="0" eaLnBrk="1" fontAlgn="ctr" latinLnBrk="0" hangingPunct="1">
              <a:lnSpc>
                <a:spcPct val="140000"/>
              </a:lnSpc>
              <a:spcBef>
                <a:spcPts val="790"/>
              </a:spcBef>
              <a:buSzPct val="50000"/>
              <a:buFont typeface="Wingdings" panose="05000000000000000000" pitchFamily="2" charset="2"/>
              <a:buChar char="l"/>
              <a:defRPr sz="2200" kern="1200" baseline="0">
                <a:solidFill>
                  <a:schemeClr val="tx1"/>
                </a:solidFill>
                <a:latin typeface="Huawei Sans" panose="020C0503030203020204" pitchFamily="34" charset="0"/>
                <a:ea typeface="方正兰亭黑简体" panose="02000000000000000000" pitchFamily="2" charset="-122"/>
                <a:cs typeface="+mn-cs"/>
              </a:defRPr>
            </a:lvl1pPr>
            <a:lvl2pPr marL="654685" indent="-252095" algn="l" defTabSz="913765" rtl="0" eaLnBrk="1" fontAlgn="ctr" latinLnBrk="0" hangingPunct="1">
              <a:lnSpc>
                <a:spcPct val="140000"/>
              </a:lnSpc>
              <a:spcBef>
                <a:spcPts val="720"/>
              </a:spcBef>
              <a:buClrTx/>
              <a:buSzPct val="50000"/>
              <a:buFont typeface="Wingdings" panose="05000000000000000000" pitchFamily="2" charset="2"/>
              <a:buChar char="p"/>
              <a:defRPr sz="2000" kern="1200" baseline="0">
                <a:solidFill>
                  <a:schemeClr val="tx1"/>
                </a:solidFill>
                <a:latin typeface="Huawei Sans" panose="020C0503030203020204" pitchFamily="34" charset="0"/>
                <a:ea typeface="方正兰亭黑简体" panose="02000000000000000000" pitchFamily="2" charset="-122"/>
                <a:cs typeface="+mn-cs"/>
              </a:defRPr>
            </a:lvl2pPr>
            <a:lvl3pPr marL="1003935" indent="-201295" algn="l" defTabSz="913765" rtl="0" eaLnBrk="1" fontAlgn="ctr" latinLnBrk="0" hangingPunct="1">
              <a:lnSpc>
                <a:spcPct val="140000"/>
              </a:lnSpc>
              <a:spcBef>
                <a:spcPts val="650"/>
              </a:spcBef>
              <a:buClrTx/>
              <a:buSzPct val="50000"/>
              <a:buFont typeface="Wingdings" panose="05000000000000000000" pitchFamily="2" charset="2"/>
              <a:buChar char="n"/>
              <a:defRPr sz="1800" kern="1200" baseline="0">
                <a:solidFill>
                  <a:schemeClr val="tx1"/>
                </a:solidFill>
                <a:latin typeface="Huawei Sans" panose="020C0503030203020204" pitchFamily="34" charset="0"/>
                <a:ea typeface="方正兰亭黑简体" panose="02000000000000000000" pitchFamily="2" charset="-122"/>
                <a:cs typeface="+mn-cs"/>
              </a:defRPr>
            </a:lvl3pPr>
            <a:lvl4pPr marL="1399540" indent="-198120" algn="l" defTabSz="913765" rtl="0" eaLnBrk="1" fontAlgn="ctr" latinLnBrk="0" hangingPunct="1">
              <a:lnSpc>
                <a:spcPct val="140000"/>
              </a:lnSpc>
              <a:spcBef>
                <a:spcPts val="575"/>
              </a:spcBef>
              <a:buFont typeface="Huawei Sans" panose="020C0503030203020204" pitchFamily="34" charset="0"/>
              <a:buChar char="−"/>
              <a:defRPr sz="1600" kern="1200" baseline="0">
                <a:solidFill>
                  <a:schemeClr val="tx1"/>
                </a:solidFill>
                <a:latin typeface="Huawei Sans" panose="020C0503030203020204" pitchFamily="34" charset="0"/>
                <a:ea typeface="方正兰亭黑简体" panose="02000000000000000000" pitchFamily="2" charset="-122"/>
                <a:cs typeface="+mn-cs"/>
              </a:defRPr>
            </a:lvl4pPr>
            <a:lvl5pPr marL="1802765" indent="-201295" algn="l" defTabSz="913765" rtl="0" eaLnBrk="1" fontAlgn="ctr" latinLnBrk="0" hangingPunct="1">
              <a:lnSpc>
                <a:spcPct val="140000"/>
              </a:lnSpc>
              <a:spcBef>
                <a:spcPts val="575"/>
              </a:spcBef>
              <a:buFont typeface="Huawei Sans" panose="020C0503030203020204" pitchFamily="34" charset="0"/>
              <a:buChar char="~"/>
              <a:defRPr sz="1400" kern="1200" baseline="0">
                <a:solidFill>
                  <a:schemeClr val="tx1"/>
                </a:solidFill>
                <a:latin typeface="Huawei Sans" panose="020C0503030203020204" pitchFamily="34" charset="0"/>
                <a:ea typeface="方正兰亭黑简体" panose="02000000000000000000" pitchFamily="2" charset="-122"/>
                <a:cs typeface="+mn-cs"/>
              </a:defRPr>
            </a:lvl5pPr>
            <a:lvl6pPr marL="25133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05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77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9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400" dirty="0">
                <a:sym typeface="Huawei Sans" panose="020C0503030203020204" pitchFamily="34" charset="0"/>
              </a:rPr>
              <a:t>[Huawei] segment-routing ipv6</a:t>
            </a:r>
            <a:endParaRPr lang="en-US" altLang="zh-CN" sz="1400" dirty="0">
              <a:sym typeface="Huawei Sans" panose="020C0503030203020204" pitchFamily="34" charset="0"/>
            </a:endParaRPr>
          </a:p>
          <a:p>
            <a:pPr marL="0" indent="0">
              <a:lnSpc>
                <a:spcPct val="100000"/>
              </a:lnSpc>
              <a:buNone/>
            </a:pPr>
            <a:r>
              <a:rPr lang="en-US" altLang="zh-CN" sz="1400" dirty="0">
                <a:sym typeface="Huawei Sans" panose="020C0503030203020204" pitchFamily="34" charset="0"/>
              </a:rPr>
              <a:t>[Huawei-segment-routing-ipv6] locator srv6_locator1 </a:t>
            </a:r>
            <a:r>
              <a:rPr lang="en-US" altLang="zh-CN" sz="1400" b="1" dirty="0">
                <a:sym typeface="Huawei Sans" panose="020C0503030203020204" pitchFamily="34" charset="0"/>
              </a:rPr>
              <a:t>ipv6-prefix 2001:DB8:ABCD:: 64</a:t>
            </a:r>
            <a:endParaRPr lang="en-US" altLang="zh-CN" sz="1400" b="1" dirty="0">
              <a:sym typeface="Huawei Sans" panose="020C0503030203020204" pitchFamily="34" charset="0"/>
            </a:endParaRPr>
          </a:p>
        </p:txBody>
      </p:sp>
      <p:graphicFrame>
        <p:nvGraphicFramePr>
          <p:cNvPr id="16" name="Table 15"/>
          <p:cNvGraphicFramePr>
            <a:graphicFrameLocks noGrp="1"/>
          </p:cNvGraphicFramePr>
          <p:nvPr/>
        </p:nvGraphicFramePr>
        <p:xfrm>
          <a:off x="4169759" y="1387613"/>
          <a:ext cx="4054029" cy="370840"/>
        </p:xfrm>
        <a:graphic>
          <a:graphicData uri="http://schemas.openxmlformats.org/drawingml/2006/table">
            <a:tbl>
              <a:tblPr firstRow="1" bandRow="1">
                <a:tableStyleId>{72833802-FEF1-4C79-8D5D-14CF1EAF98D9}</a:tableStyleId>
              </a:tblPr>
              <a:tblGrid>
                <a:gridCol w="1351343"/>
                <a:gridCol w="1351343"/>
                <a:gridCol w="1351343"/>
              </a:tblGrid>
              <a:tr h="370840">
                <a:tc>
                  <a:txBody>
                    <a:body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en-US" altLang="zh-CN" sz="1400" b="1"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Locator</a:t>
                      </a:r>
                      <a:endParaRPr kumimoji="0" lang="zh-CN" altLang="en-US" sz="1400" b="1"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E28189"/>
                    </a:solidFill>
                  </a:tcPr>
                </a:tc>
                <a:tc>
                  <a:txBody>
                    <a:body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en-US" altLang="zh-CN" sz="1400" b="1"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Function</a:t>
                      </a:r>
                      <a:endParaRPr kumimoji="0" lang="zh-CN" altLang="en-US" sz="1400" b="1"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FDD351"/>
                    </a:solidFill>
                  </a:tcPr>
                </a:tc>
                <a:tc>
                  <a:txBody>
                    <a:body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en-US" altLang="zh-CN" sz="1400" b="1"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Arguments</a:t>
                      </a:r>
                      <a:endParaRPr kumimoji="0" lang="zh-CN" altLang="en-US" sz="1400" b="1"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AFD89C"/>
                    </a:solidFill>
                  </a:tcPr>
                </a:tc>
              </a:tr>
            </a:tbl>
          </a:graphicData>
        </a:graphic>
      </p:graphicFrame>
      <p:sp>
        <p:nvSpPr>
          <p:cNvPr id="11" name="五边形 2"/>
          <p:cNvSpPr/>
          <p:nvPr/>
        </p:nvSpPr>
        <p:spPr bwMode="gray">
          <a:xfrm>
            <a:off x="8310982" y="110463"/>
            <a:ext cx="1195960"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SRv6</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SRH</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介绍</a:t>
            </a:r>
            <a:endPar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燕尾形 3"/>
          <p:cNvSpPr/>
          <p:nvPr/>
        </p:nvSpPr>
        <p:spPr bwMode="gray">
          <a:xfrm>
            <a:off x="9430382" y="110463"/>
            <a:ext cx="119596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SRv6</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节点介绍</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 name="燕尾形 3"/>
          <p:cNvSpPr/>
          <p:nvPr/>
        </p:nvSpPr>
        <p:spPr bwMode="gray">
          <a:xfrm>
            <a:off x="10553128" y="105534"/>
            <a:ext cx="119596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SRv6</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转发原理</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r>
              <a:rPr lang="en-US" altLang="zh-CN" dirty="0">
                <a:sym typeface="Huawei Sans" panose="020C0503030203020204" pitchFamily="34" charset="0"/>
              </a:rPr>
              <a:t>SRv6 Segment: Function &amp; Arguments </a:t>
            </a:r>
            <a:endParaRPr lang="zh-CN" altLang="en-US" dirty="0">
              <a:sym typeface="Huawei Sans" panose="020C0503030203020204" pitchFamily="34" charset="0"/>
            </a:endParaRPr>
          </a:p>
        </p:txBody>
      </p:sp>
      <p:sp>
        <p:nvSpPr>
          <p:cNvPr id="8" name="文本占位符 35"/>
          <p:cNvSpPr txBox="1"/>
          <p:nvPr/>
        </p:nvSpPr>
        <p:spPr bwMode="gray">
          <a:xfrm>
            <a:off x="731838" y="1047751"/>
            <a:ext cx="10728326" cy="718974"/>
          </a:xfrm>
          <a:prstGeom prst="rect">
            <a:avLst/>
          </a:prstGeom>
        </p:spPr>
        <p:txBody>
          <a:bodyPr/>
          <a:lstStyle>
            <a:lvl1pPr marL="302260" indent="-302260" algn="l" defTabSz="913765" rtl="0" eaLnBrk="1" fontAlgn="ctr" latinLnBrk="0" hangingPunct="1">
              <a:lnSpc>
                <a:spcPct val="140000"/>
              </a:lnSpc>
              <a:spcBef>
                <a:spcPts val="790"/>
              </a:spcBef>
              <a:buSzPct val="50000"/>
              <a:buFont typeface="Wingdings" panose="05000000000000000000" pitchFamily="2" charset="2"/>
              <a:buChar char="l"/>
              <a:defRPr sz="2200" kern="1200" baseline="0">
                <a:solidFill>
                  <a:schemeClr val="tx1"/>
                </a:solidFill>
                <a:latin typeface="Huawei Sans" panose="020C0503030203020204" pitchFamily="34" charset="0"/>
                <a:ea typeface="方正兰亭黑简体" panose="02000000000000000000" pitchFamily="2" charset="-122"/>
                <a:cs typeface="+mn-cs"/>
              </a:defRPr>
            </a:lvl1pPr>
            <a:lvl2pPr marL="654685" indent="-252095" algn="l" defTabSz="913765" rtl="0" eaLnBrk="1" fontAlgn="ctr" latinLnBrk="0" hangingPunct="1">
              <a:lnSpc>
                <a:spcPct val="140000"/>
              </a:lnSpc>
              <a:spcBef>
                <a:spcPts val="720"/>
              </a:spcBef>
              <a:buClrTx/>
              <a:buSzPct val="50000"/>
              <a:buFont typeface="Wingdings" panose="05000000000000000000" pitchFamily="2" charset="2"/>
              <a:buChar char="p"/>
              <a:defRPr sz="2000" kern="1200" baseline="0">
                <a:solidFill>
                  <a:schemeClr val="tx1"/>
                </a:solidFill>
                <a:latin typeface="Huawei Sans" panose="020C0503030203020204" pitchFamily="34" charset="0"/>
                <a:ea typeface="方正兰亭黑简体" panose="02000000000000000000" pitchFamily="2" charset="-122"/>
                <a:cs typeface="+mn-cs"/>
              </a:defRPr>
            </a:lvl2pPr>
            <a:lvl3pPr marL="1003935" indent="-201295" algn="l" defTabSz="913765" rtl="0" eaLnBrk="1" fontAlgn="ctr" latinLnBrk="0" hangingPunct="1">
              <a:lnSpc>
                <a:spcPct val="140000"/>
              </a:lnSpc>
              <a:spcBef>
                <a:spcPts val="650"/>
              </a:spcBef>
              <a:buClrTx/>
              <a:buSzPct val="50000"/>
              <a:buFont typeface="Wingdings" panose="05000000000000000000" pitchFamily="2" charset="2"/>
              <a:buChar char="n"/>
              <a:defRPr sz="1800" kern="1200" baseline="0">
                <a:solidFill>
                  <a:schemeClr val="tx1"/>
                </a:solidFill>
                <a:latin typeface="Huawei Sans" panose="020C0503030203020204" pitchFamily="34" charset="0"/>
                <a:ea typeface="方正兰亭黑简体" panose="02000000000000000000" pitchFamily="2" charset="-122"/>
                <a:cs typeface="+mn-cs"/>
              </a:defRPr>
            </a:lvl3pPr>
            <a:lvl4pPr marL="1399540" indent="-198120" algn="l" defTabSz="913765" rtl="0" eaLnBrk="1" fontAlgn="ctr" latinLnBrk="0" hangingPunct="1">
              <a:lnSpc>
                <a:spcPct val="140000"/>
              </a:lnSpc>
              <a:spcBef>
                <a:spcPts val="575"/>
              </a:spcBef>
              <a:buFont typeface="Huawei Sans" panose="020C0503030203020204" pitchFamily="34" charset="0"/>
              <a:buChar char="−"/>
              <a:defRPr sz="1600" kern="1200" baseline="0">
                <a:solidFill>
                  <a:schemeClr val="tx1"/>
                </a:solidFill>
                <a:latin typeface="Huawei Sans" panose="020C0503030203020204" pitchFamily="34" charset="0"/>
                <a:ea typeface="方正兰亭黑简体" panose="02000000000000000000" pitchFamily="2" charset="-122"/>
                <a:cs typeface="+mn-cs"/>
              </a:defRPr>
            </a:lvl4pPr>
            <a:lvl5pPr marL="1802765" indent="-201295" algn="l" defTabSz="913765" rtl="0" eaLnBrk="1" fontAlgn="ctr" latinLnBrk="0" hangingPunct="1">
              <a:lnSpc>
                <a:spcPct val="140000"/>
              </a:lnSpc>
              <a:spcBef>
                <a:spcPts val="575"/>
              </a:spcBef>
              <a:buFont typeface="Huawei Sans" panose="020C0503030203020204" pitchFamily="34" charset="0"/>
              <a:buChar char="~"/>
              <a:defRPr sz="1400" kern="1200" baseline="0">
                <a:solidFill>
                  <a:schemeClr val="tx1"/>
                </a:solidFill>
                <a:latin typeface="Huawei Sans" panose="020C0503030203020204" pitchFamily="34" charset="0"/>
                <a:ea typeface="方正兰亭黑简体" panose="02000000000000000000" pitchFamily="2" charset="-122"/>
                <a:cs typeface="+mn-cs"/>
              </a:defRPr>
            </a:lvl5pPr>
            <a:lvl6pPr marL="25133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05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77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9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sz="1600">
              <a:sym typeface="Huawei Sans" panose="020C0503030203020204" pitchFamily="34" charset="0"/>
            </a:endParaRPr>
          </a:p>
        </p:txBody>
      </p:sp>
      <p:sp>
        <p:nvSpPr>
          <p:cNvPr id="10" name="文本框 9"/>
          <p:cNvSpPr txBox="1"/>
          <p:nvPr/>
        </p:nvSpPr>
        <p:spPr bwMode="gray">
          <a:xfrm>
            <a:off x="452438" y="2409735"/>
            <a:ext cx="11296649" cy="2133918"/>
          </a:xfrm>
          <a:prstGeom prst="rect">
            <a:avLst/>
          </a:prstGeom>
        </p:spPr>
        <p:txBody>
          <a:bodyPr/>
          <a:lstStyle>
            <a:defPPr>
              <a:defRPr lang="en-US"/>
            </a:defPPr>
            <a:lvl1pPr marL="302260" indent="-302260" defTabSz="913765" fontAlgn="ctr">
              <a:lnSpc>
                <a:spcPct val="140000"/>
              </a:lnSpc>
              <a:spcBef>
                <a:spcPts val="790"/>
              </a:spcBef>
              <a:buSzPct val="50000"/>
              <a:buFont typeface="Wingdings" panose="05000000000000000000" pitchFamily="2" charset="2"/>
              <a:buChar char="l"/>
              <a:defRPr baseline="0">
                <a:latin typeface="Huawei Sans" panose="020C0503030203020204" pitchFamily="34" charset="0"/>
                <a:ea typeface="方正兰亭黑简体" panose="02000000000000000000" pitchFamily="2" charset="-122"/>
              </a:defRPr>
            </a:lvl1pPr>
            <a:lvl2pPr marL="654685" indent="-252095" defTabSz="913765" fontAlgn="ctr">
              <a:lnSpc>
                <a:spcPct val="140000"/>
              </a:lnSpc>
              <a:spcBef>
                <a:spcPts val="720"/>
              </a:spcBef>
              <a:buClrTx/>
              <a:buSzPct val="50000"/>
              <a:buFont typeface="Wingdings" panose="05000000000000000000" pitchFamily="2" charset="2"/>
              <a:buChar char="p"/>
              <a:defRPr sz="2000" baseline="0">
                <a:latin typeface="Huawei Sans" panose="020C0503030203020204" pitchFamily="34" charset="0"/>
                <a:ea typeface="方正兰亭黑简体" panose="02000000000000000000" pitchFamily="2" charset="-122"/>
              </a:defRPr>
            </a:lvl2pPr>
            <a:lvl3pPr marL="1003935" indent="-201295" defTabSz="913765" fontAlgn="ctr">
              <a:lnSpc>
                <a:spcPct val="140000"/>
              </a:lnSpc>
              <a:spcBef>
                <a:spcPts val="650"/>
              </a:spcBef>
              <a:buClrTx/>
              <a:buSzPct val="50000"/>
              <a:buFont typeface="Wingdings" panose="05000000000000000000" pitchFamily="2" charset="2"/>
              <a:buChar char="n"/>
              <a:defRPr sz="1800" baseline="0">
                <a:latin typeface="Huawei Sans" panose="020C0503030203020204" pitchFamily="34" charset="0"/>
                <a:ea typeface="方正兰亭黑简体" panose="02000000000000000000" pitchFamily="2" charset="-122"/>
              </a:defRPr>
            </a:lvl3pPr>
            <a:lvl4pPr marL="1399540" indent="-198120" defTabSz="913765" fontAlgn="ctr">
              <a:lnSpc>
                <a:spcPct val="140000"/>
              </a:lnSpc>
              <a:spcBef>
                <a:spcPts val="575"/>
              </a:spcBef>
              <a:buFont typeface="Huawei Sans" panose="020C0503030203020204" pitchFamily="34" charset="0"/>
              <a:buChar char="−"/>
              <a:defRPr sz="1600" baseline="0">
                <a:latin typeface="Huawei Sans" panose="020C0503030203020204" pitchFamily="34" charset="0"/>
                <a:ea typeface="方正兰亭黑简体" panose="02000000000000000000" pitchFamily="2" charset="-122"/>
              </a:defRPr>
            </a:lvl4pPr>
            <a:lvl5pPr marL="1802765" indent="-201295" defTabSz="913765" fontAlgn="ctr">
              <a:lnSpc>
                <a:spcPct val="140000"/>
              </a:lnSpc>
              <a:spcBef>
                <a:spcPts val="575"/>
              </a:spcBef>
              <a:buFont typeface="Huawei Sans" panose="020C0503030203020204" pitchFamily="34" charset="0"/>
              <a:buChar char="~"/>
              <a:defRPr sz="1400" baseline="0">
                <a:latin typeface="Huawei Sans" panose="020C0503030203020204" pitchFamily="34" charset="0"/>
                <a:ea typeface="方正兰亭黑简体" panose="02000000000000000000" pitchFamily="2" charset="-122"/>
              </a:defRPr>
            </a:lvl5pPr>
            <a:lvl6pPr marL="2513330" indent="-228600" defTabSz="913765">
              <a:lnSpc>
                <a:spcPct val="90000"/>
              </a:lnSpc>
              <a:spcBef>
                <a:spcPts val="500"/>
              </a:spcBef>
              <a:buFont typeface="Arial" panose="020B0604020202020204" pitchFamily="34" charset="0"/>
              <a:buChar char="•"/>
              <a:defRPr sz="1800"/>
            </a:lvl6pPr>
            <a:lvl7pPr marL="2970530" indent="-228600" defTabSz="913765">
              <a:lnSpc>
                <a:spcPct val="90000"/>
              </a:lnSpc>
              <a:spcBef>
                <a:spcPts val="500"/>
              </a:spcBef>
              <a:buFont typeface="Arial" panose="020B0604020202020204" pitchFamily="34" charset="0"/>
              <a:buChar char="•"/>
              <a:defRPr sz="1800"/>
            </a:lvl7pPr>
            <a:lvl8pPr marL="3427730" indent="-228600" defTabSz="913765">
              <a:lnSpc>
                <a:spcPct val="90000"/>
              </a:lnSpc>
              <a:spcBef>
                <a:spcPts val="500"/>
              </a:spcBef>
              <a:buFont typeface="Arial" panose="020B0604020202020204" pitchFamily="34" charset="0"/>
              <a:buChar char="•"/>
              <a:defRPr sz="1800"/>
            </a:lvl8pPr>
            <a:lvl9pPr marL="3884930" indent="-228600" defTabSz="913765">
              <a:lnSpc>
                <a:spcPct val="90000"/>
              </a:lnSpc>
              <a:spcBef>
                <a:spcPts val="500"/>
              </a:spcBef>
              <a:buFont typeface="Arial" panose="020B0604020202020204" pitchFamily="34" charset="0"/>
              <a:buChar char="•"/>
              <a:defRPr sz="1800"/>
            </a:lvl9pPr>
          </a:lstStyle>
          <a:p>
            <a:pPr fontAlgn="base"/>
            <a:r>
              <a:rPr lang="en-US" altLang="zh-CN" sz="1600" dirty="0">
                <a:sym typeface="Huawei Sans" panose="020C0503030203020204" pitchFamily="34" charset="0"/>
              </a:rPr>
              <a:t>Function</a:t>
            </a:r>
            <a:r>
              <a:rPr lang="zh-CN" altLang="en-US" sz="1600" dirty="0">
                <a:sym typeface="Huawei Sans" panose="020C0503030203020204" pitchFamily="34" charset="0"/>
              </a:rPr>
              <a:t>用来标识该指令</a:t>
            </a:r>
            <a:r>
              <a:rPr lang="zh-CN" altLang="en-US" sz="1600" dirty="0">
                <a:highlight>
                  <a:srgbClr val="FFFF00"/>
                </a:highlight>
                <a:sym typeface="Huawei Sans" panose="020C0503030203020204" pitchFamily="34" charset="0"/>
              </a:rPr>
              <a:t>要执行的转发动作</a:t>
            </a:r>
            <a:r>
              <a:rPr lang="zh-CN" altLang="en-US" sz="1600" dirty="0">
                <a:sym typeface="Huawei Sans" panose="020C0503030203020204" pitchFamily="34" charset="0"/>
              </a:rPr>
              <a:t>。在</a:t>
            </a:r>
            <a:r>
              <a:rPr lang="en-US" altLang="zh-CN" sz="1600" dirty="0">
                <a:sym typeface="Huawei Sans" panose="020C0503030203020204" pitchFamily="34" charset="0"/>
              </a:rPr>
              <a:t>SRv6</a:t>
            </a:r>
            <a:r>
              <a:rPr lang="zh-CN" altLang="en-US" sz="1600" dirty="0">
                <a:sym typeface="Huawei Sans" panose="020C0503030203020204" pitchFamily="34" charset="0"/>
              </a:rPr>
              <a:t>网络编程中，不同的转发行为由不同的</a:t>
            </a:r>
            <a:r>
              <a:rPr lang="en-US" altLang="zh-CN" sz="1600" dirty="0">
                <a:sym typeface="Huawei Sans" panose="020C0503030203020204" pitchFamily="34" charset="0"/>
              </a:rPr>
              <a:t>Function</a:t>
            </a:r>
            <a:r>
              <a:rPr lang="zh-CN" altLang="en-US" sz="1600" dirty="0">
                <a:sym typeface="Huawei Sans" panose="020C0503030203020204" pitchFamily="34" charset="0"/>
              </a:rPr>
              <a:t>来标识，例如在</a:t>
            </a:r>
            <a:r>
              <a:rPr lang="en-US" altLang="zh-CN" sz="1600" dirty="0">
                <a:sym typeface="Huawei Sans" panose="020C0503030203020204" pitchFamily="34" charset="0"/>
              </a:rPr>
              <a:t>RFC</a:t>
            </a:r>
            <a:r>
              <a:rPr lang="zh-CN" altLang="en-US" sz="1600" dirty="0">
                <a:sym typeface="Huawei Sans" panose="020C0503030203020204" pitchFamily="34" charset="0"/>
              </a:rPr>
              <a:t>中定义了公认的</a:t>
            </a:r>
            <a:r>
              <a:rPr lang="en-US" altLang="zh-CN" sz="1600" dirty="0">
                <a:sym typeface="Huawei Sans" panose="020C0503030203020204" pitchFamily="34" charset="0"/>
              </a:rPr>
              <a:t>End</a:t>
            </a:r>
            <a:r>
              <a:rPr lang="zh-CN" altLang="en-US" sz="1600" dirty="0">
                <a:sym typeface="Huawei Sans" panose="020C0503030203020204" pitchFamily="34" charset="0"/>
              </a:rPr>
              <a:t>、</a:t>
            </a:r>
            <a:r>
              <a:rPr lang="en-US" altLang="zh-CN" sz="1600" dirty="0" err="1">
                <a:sym typeface="Huawei Sans" panose="020C0503030203020204" pitchFamily="34" charset="0"/>
              </a:rPr>
              <a:t>End.X</a:t>
            </a:r>
            <a:r>
              <a:rPr lang="zh-CN" altLang="en-US" sz="1600" dirty="0">
                <a:sym typeface="Huawei Sans" panose="020C0503030203020204" pitchFamily="34" charset="0"/>
              </a:rPr>
              <a:t>、</a:t>
            </a:r>
            <a:r>
              <a:rPr lang="en-US" altLang="zh-CN" sz="1600" dirty="0">
                <a:sym typeface="Huawei Sans" panose="020C0503030203020204" pitchFamily="34" charset="0"/>
              </a:rPr>
              <a:t>End.DX4</a:t>
            </a:r>
            <a:r>
              <a:rPr lang="zh-CN" altLang="en-US" sz="1600" dirty="0">
                <a:sym typeface="Huawei Sans" panose="020C0503030203020204" pitchFamily="34" charset="0"/>
              </a:rPr>
              <a:t>、</a:t>
            </a:r>
            <a:r>
              <a:rPr lang="en-US" altLang="zh-CN" sz="1600" dirty="0">
                <a:sym typeface="Huawei Sans" panose="020C0503030203020204" pitchFamily="34" charset="0"/>
              </a:rPr>
              <a:t>End.DX6</a:t>
            </a:r>
            <a:r>
              <a:rPr lang="zh-CN" altLang="en-US" sz="1600" dirty="0">
                <a:sym typeface="Huawei Sans" panose="020C0503030203020204" pitchFamily="34" charset="0"/>
              </a:rPr>
              <a:t>等。</a:t>
            </a:r>
            <a:endParaRPr lang="en-US" altLang="zh-CN" sz="1600" dirty="0">
              <a:sym typeface="Huawei Sans" panose="020C0503030203020204" pitchFamily="34" charset="0"/>
            </a:endParaRPr>
          </a:p>
          <a:p>
            <a:pPr fontAlgn="base"/>
            <a:r>
              <a:rPr lang="zh-CN" altLang="en-US" sz="1600" dirty="0">
                <a:sym typeface="Huawei Sans" panose="020C0503030203020204" pitchFamily="34" charset="0"/>
              </a:rPr>
              <a:t>例如</a:t>
            </a:r>
            <a:r>
              <a:rPr lang="en-US" altLang="zh-CN" sz="1600" dirty="0" err="1">
                <a:sym typeface="Huawei Sans" panose="020C0503030203020204" pitchFamily="34" charset="0"/>
              </a:rPr>
              <a:t>End.x</a:t>
            </a:r>
            <a:r>
              <a:rPr lang="zh-CN" altLang="en-US" sz="1600" dirty="0">
                <a:sym typeface="Huawei Sans" panose="020C0503030203020204" pitchFamily="34" charset="0"/>
              </a:rPr>
              <a:t>类似</a:t>
            </a:r>
            <a:r>
              <a:rPr lang="en-US" altLang="zh-CN" sz="1600" dirty="0">
                <a:sym typeface="Huawei Sans" panose="020C0503030203020204" pitchFamily="34" charset="0"/>
              </a:rPr>
              <a:t>SR-MPLS</a:t>
            </a:r>
            <a:r>
              <a:rPr lang="zh-CN" altLang="en-US" sz="1600" dirty="0">
                <a:sym typeface="Huawei Sans" panose="020C0503030203020204" pitchFamily="34" charset="0"/>
              </a:rPr>
              <a:t>中的</a:t>
            </a:r>
            <a:r>
              <a:rPr lang="en-US" altLang="zh-CN" sz="1600" dirty="0">
                <a:sym typeface="Huawei Sans" panose="020C0503030203020204" pitchFamily="34" charset="0"/>
              </a:rPr>
              <a:t>Adjacency SID</a:t>
            </a:r>
            <a:r>
              <a:rPr lang="zh-CN" altLang="en-US" sz="1600" dirty="0">
                <a:sym typeface="Huawei Sans" panose="020C0503030203020204" pitchFamily="34" charset="0"/>
              </a:rPr>
              <a:t>，用于标识某条链路，配置如图：</a:t>
            </a:r>
            <a:endParaRPr lang="en-US" altLang="zh-CN" sz="1600" dirty="0">
              <a:sym typeface="Huawei Sans" panose="020C0503030203020204" pitchFamily="34" charset="0"/>
            </a:endParaRPr>
          </a:p>
          <a:p>
            <a:pPr fontAlgn="base"/>
            <a:endParaRPr lang="en-US" altLang="zh-CN" sz="1600" dirty="0">
              <a:sym typeface="Huawei Sans" panose="020C0503030203020204" pitchFamily="34" charset="0"/>
            </a:endParaRPr>
          </a:p>
        </p:txBody>
      </p:sp>
      <p:sp>
        <p:nvSpPr>
          <p:cNvPr id="38" name="文本框 37"/>
          <p:cNvSpPr txBox="1"/>
          <p:nvPr/>
        </p:nvSpPr>
        <p:spPr bwMode="gray">
          <a:xfrm>
            <a:off x="2856791" y="1433922"/>
            <a:ext cx="965329" cy="338554"/>
          </a:xfrm>
          <a:prstGeom prst="rect">
            <a:avLst/>
          </a:prstGeom>
          <a:noFill/>
        </p:spPr>
        <p:txBody>
          <a:bodyPr wrap="none" rtlCol="0">
            <a:spAutoFit/>
          </a:bodyPr>
          <a:lstStyle/>
          <a:p>
            <a:r>
              <a:rPr lang="en-US" altLang="zh-CN" sz="1600" b="1">
                <a:latin typeface="Huawei Sans" panose="020C0503030203020204" pitchFamily="34" charset="0"/>
                <a:ea typeface="方正兰亭黑简体" panose="02000000000000000000" pitchFamily="2" charset="-122"/>
                <a:sym typeface="Huawei Sans" panose="020C0503030203020204" pitchFamily="34" charset="0"/>
              </a:rPr>
              <a:t>128 bits</a:t>
            </a:r>
            <a:endParaRPr lang="zh-CN" altLang="en-US" sz="1600" b="1">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文本框 38"/>
          <p:cNvSpPr txBox="1"/>
          <p:nvPr/>
        </p:nvSpPr>
        <p:spPr bwMode="gray">
          <a:xfrm>
            <a:off x="5729337" y="1847249"/>
            <a:ext cx="862737" cy="584775"/>
          </a:xfrm>
          <a:prstGeom prst="rect">
            <a:avLst/>
          </a:prstGeom>
          <a:noFill/>
        </p:spPr>
        <p:txBody>
          <a:bodyPr wrap="none" rtlCol="0">
            <a:spAutoFit/>
          </a:bodyPr>
          <a:lstStyle/>
          <a:p>
            <a:r>
              <a:rPr lang="en-US" altLang="zh-CN" sz="1600" b="1" dirty="0">
                <a:solidFill>
                  <a:srgbClr val="0070C0"/>
                </a:solidFill>
                <a:latin typeface="Huawei Sans" panose="020C0503030203020204" pitchFamily="34" charset="0"/>
                <a:ea typeface="方正兰亭黑简体" panose="02000000000000000000" pitchFamily="2" charset="-122"/>
                <a:sym typeface="Huawei Sans" panose="020C0503030203020204" pitchFamily="34" charset="0"/>
              </a:rPr>
              <a:t>Opcode</a:t>
            </a:r>
            <a:endParaRPr lang="en-US" altLang="zh-CN" sz="1600" b="1" dirty="0">
              <a:solidFill>
                <a:srgbClr val="0070C0"/>
              </a:solidFill>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en-US" sz="1600" b="1">
                <a:solidFill>
                  <a:srgbClr val="0070C0"/>
                </a:solidFill>
                <a:latin typeface="Huawei Sans" panose="020C0503030203020204" pitchFamily="34" charset="0"/>
                <a:ea typeface="方正兰亭黑简体" panose="02000000000000000000" pitchFamily="2" charset="-122"/>
                <a:sym typeface="Huawei Sans" panose="020C0503030203020204" pitchFamily="34" charset="0"/>
              </a:rPr>
              <a:t>操作码</a:t>
            </a:r>
            <a:endParaRPr lang="en-US" altLang="zh-CN" sz="1600" b="1" dirty="0">
              <a:solidFill>
                <a:srgbClr val="0070C0"/>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40" name="直接连接符 39"/>
          <p:cNvCxnSpPr/>
          <p:nvPr/>
        </p:nvCxnSpPr>
        <p:spPr bwMode="gray">
          <a:xfrm>
            <a:off x="5500720" y="1855306"/>
            <a:ext cx="0" cy="335444"/>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bwMode="gray">
          <a:xfrm>
            <a:off x="6900106" y="1855306"/>
            <a:ext cx="0" cy="335444"/>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bwMode="gray">
          <a:xfrm>
            <a:off x="8233843" y="1855306"/>
            <a:ext cx="0" cy="335444"/>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sp>
        <p:nvSpPr>
          <p:cNvPr id="14" name="文本框 13"/>
          <p:cNvSpPr txBox="1"/>
          <p:nvPr/>
        </p:nvSpPr>
        <p:spPr bwMode="gray">
          <a:xfrm>
            <a:off x="7267854" y="1855306"/>
            <a:ext cx="598241" cy="338554"/>
          </a:xfrm>
          <a:prstGeom prst="rect">
            <a:avLst/>
          </a:prstGeom>
          <a:noFill/>
        </p:spPr>
        <p:txBody>
          <a:bodyPr wrap="none" rtlCol="0">
            <a:spAutoFit/>
          </a:bodyPr>
          <a:lstStyle/>
          <a:p>
            <a:r>
              <a:rPr lang="zh-CN" altLang="en-US" sz="1600" b="1">
                <a:solidFill>
                  <a:srgbClr val="0070C0"/>
                </a:solidFill>
                <a:latin typeface="Huawei Sans" panose="020C0503030203020204" pitchFamily="34" charset="0"/>
                <a:ea typeface="方正兰亭黑简体" panose="02000000000000000000" pitchFamily="2" charset="-122"/>
                <a:sym typeface="Huawei Sans" panose="020C0503030203020204" pitchFamily="34" charset="0"/>
              </a:rPr>
              <a:t>可选</a:t>
            </a:r>
            <a:endParaRPr lang="zh-CN" altLang="en-US" sz="1600" b="1">
              <a:solidFill>
                <a:srgbClr val="0070C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 name="文本占位符 35"/>
          <p:cNvSpPr txBox="1"/>
          <p:nvPr/>
        </p:nvSpPr>
        <p:spPr bwMode="gray">
          <a:xfrm>
            <a:off x="2027719" y="3880541"/>
            <a:ext cx="8136564" cy="660165"/>
          </a:xfrm>
          <a:prstGeom prst="rect">
            <a:avLst/>
          </a:prstGeom>
          <a:solidFill>
            <a:schemeClr val="bg1">
              <a:lumMod val="85000"/>
            </a:schemeClr>
          </a:solidFill>
        </p:spPr>
        <p:txBody>
          <a:bodyPr/>
          <a:lstStyle>
            <a:lvl1pPr marL="302260" indent="-302260" algn="l" defTabSz="913765" rtl="0" eaLnBrk="1" fontAlgn="ctr" latinLnBrk="0" hangingPunct="1">
              <a:lnSpc>
                <a:spcPct val="140000"/>
              </a:lnSpc>
              <a:spcBef>
                <a:spcPts val="790"/>
              </a:spcBef>
              <a:buSzPct val="50000"/>
              <a:buFont typeface="Wingdings" panose="05000000000000000000" pitchFamily="2" charset="2"/>
              <a:buChar char="l"/>
              <a:defRPr sz="2200" kern="1200" baseline="0">
                <a:solidFill>
                  <a:schemeClr val="tx1"/>
                </a:solidFill>
                <a:latin typeface="Huawei Sans" panose="020C0503030203020204" pitchFamily="34" charset="0"/>
                <a:ea typeface="方正兰亭黑简体" panose="02000000000000000000" pitchFamily="2" charset="-122"/>
                <a:cs typeface="+mn-cs"/>
              </a:defRPr>
            </a:lvl1pPr>
            <a:lvl2pPr marL="654685" indent="-252095" algn="l" defTabSz="913765" rtl="0" eaLnBrk="1" fontAlgn="ctr" latinLnBrk="0" hangingPunct="1">
              <a:lnSpc>
                <a:spcPct val="140000"/>
              </a:lnSpc>
              <a:spcBef>
                <a:spcPts val="720"/>
              </a:spcBef>
              <a:buClrTx/>
              <a:buSzPct val="50000"/>
              <a:buFont typeface="Wingdings" panose="05000000000000000000" pitchFamily="2" charset="2"/>
              <a:buChar char="p"/>
              <a:defRPr sz="2000" kern="1200" baseline="0">
                <a:solidFill>
                  <a:schemeClr val="tx1"/>
                </a:solidFill>
                <a:latin typeface="Huawei Sans" panose="020C0503030203020204" pitchFamily="34" charset="0"/>
                <a:ea typeface="方正兰亭黑简体" panose="02000000000000000000" pitchFamily="2" charset="-122"/>
                <a:cs typeface="+mn-cs"/>
              </a:defRPr>
            </a:lvl2pPr>
            <a:lvl3pPr marL="1003935" indent="-201295" algn="l" defTabSz="913765" rtl="0" eaLnBrk="1" fontAlgn="ctr" latinLnBrk="0" hangingPunct="1">
              <a:lnSpc>
                <a:spcPct val="140000"/>
              </a:lnSpc>
              <a:spcBef>
                <a:spcPts val="650"/>
              </a:spcBef>
              <a:buClrTx/>
              <a:buSzPct val="50000"/>
              <a:buFont typeface="Wingdings" panose="05000000000000000000" pitchFamily="2" charset="2"/>
              <a:buChar char="n"/>
              <a:defRPr sz="1800" kern="1200" baseline="0">
                <a:solidFill>
                  <a:schemeClr val="tx1"/>
                </a:solidFill>
                <a:latin typeface="Huawei Sans" panose="020C0503030203020204" pitchFamily="34" charset="0"/>
                <a:ea typeface="方正兰亭黑简体" panose="02000000000000000000" pitchFamily="2" charset="-122"/>
                <a:cs typeface="+mn-cs"/>
              </a:defRPr>
            </a:lvl3pPr>
            <a:lvl4pPr marL="1399540" indent="-198120" algn="l" defTabSz="913765" rtl="0" eaLnBrk="1" fontAlgn="ctr" latinLnBrk="0" hangingPunct="1">
              <a:lnSpc>
                <a:spcPct val="140000"/>
              </a:lnSpc>
              <a:spcBef>
                <a:spcPts val="575"/>
              </a:spcBef>
              <a:buFont typeface="Huawei Sans" panose="020C0503030203020204" pitchFamily="34" charset="0"/>
              <a:buChar char="−"/>
              <a:defRPr sz="1600" kern="1200" baseline="0">
                <a:solidFill>
                  <a:schemeClr val="tx1"/>
                </a:solidFill>
                <a:latin typeface="Huawei Sans" panose="020C0503030203020204" pitchFamily="34" charset="0"/>
                <a:ea typeface="方正兰亭黑简体" panose="02000000000000000000" pitchFamily="2" charset="-122"/>
                <a:cs typeface="+mn-cs"/>
              </a:defRPr>
            </a:lvl4pPr>
            <a:lvl5pPr marL="1802765" indent="-201295" algn="l" defTabSz="913765" rtl="0" eaLnBrk="1" fontAlgn="ctr" latinLnBrk="0" hangingPunct="1">
              <a:lnSpc>
                <a:spcPct val="140000"/>
              </a:lnSpc>
              <a:spcBef>
                <a:spcPts val="575"/>
              </a:spcBef>
              <a:buFont typeface="Huawei Sans" panose="020C0503030203020204" pitchFamily="34" charset="0"/>
              <a:buChar char="~"/>
              <a:defRPr sz="1400" kern="1200" baseline="0">
                <a:solidFill>
                  <a:schemeClr val="tx1"/>
                </a:solidFill>
                <a:latin typeface="Huawei Sans" panose="020C0503030203020204" pitchFamily="34" charset="0"/>
                <a:ea typeface="方正兰亭黑简体" panose="02000000000000000000" pitchFamily="2" charset="-122"/>
                <a:cs typeface="+mn-cs"/>
              </a:defRPr>
            </a:lvl5pPr>
            <a:lvl6pPr marL="25133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05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77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9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zh-CN" sz="1400" dirty="0">
                <a:sym typeface="Huawei Sans" panose="020C0503030203020204" pitchFamily="34" charset="0"/>
              </a:rPr>
              <a:t>[Huawei-segment-routing-ipv6] locator srv6_locator1 ipv6-prefix 2001:DB8:ABCD:: 64</a:t>
            </a:r>
            <a:endParaRPr lang="en-US" altLang="zh-CN" sz="1400" dirty="0">
              <a:sym typeface="Huawei Sans" panose="020C0503030203020204" pitchFamily="34" charset="0"/>
            </a:endParaRPr>
          </a:p>
          <a:p>
            <a:pPr marL="0" indent="0">
              <a:lnSpc>
                <a:spcPct val="100000"/>
              </a:lnSpc>
              <a:buNone/>
            </a:pPr>
            <a:r>
              <a:rPr lang="en-US" altLang="zh-CN" sz="1400" dirty="0">
                <a:sym typeface="Huawei Sans" panose="020C0503030203020204" pitchFamily="34" charset="0"/>
              </a:rPr>
              <a:t>[Huawei-segment-routing-ipv6] </a:t>
            </a:r>
            <a:r>
              <a:rPr lang="en-US" altLang="zh-CN" sz="1400" b="1" dirty="0">
                <a:sym typeface="Huawei Sans" panose="020C0503030203020204" pitchFamily="34" charset="0"/>
              </a:rPr>
              <a:t>opcode</a:t>
            </a:r>
            <a:r>
              <a:rPr lang="zh-CN" altLang="en-US" sz="1400" b="1" dirty="0">
                <a:sym typeface="Huawei Sans" panose="020C0503030203020204" pitchFamily="34" charset="0"/>
              </a:rPr>
              <a:t> </a:t>
            </a:r>
            <a:r>
              <a:rPr lang="en-US" altLang="zh-CN" sz="1400" b="1" dirty="0">
                <a:sym typeface="Huawei Sans" panose="020C0503030203020204" pitchFamily="34" charset="0"/>
              </a:rPr>
              <a:t>::1</a:t>
            </a:r>
            <a:r>
              <a:rPr lang="zh-CN" altLang="en-US" sz="1400" b="1" dirty="0">
                <a:sym typeface="Huawei Sans" panose="020C0503030203020204" pitchFamily="34" charset="0"/>
              </a:rPr>
              <a:t> </a:t>
            </a:r>
            <a:r>
              <a:rPr lang="en-US" altLang="zh-CN" sz="1400" b="1" dirty="0">
                <a:sym typeface="Huawei Sans" panose="020C0503030203020204" pitchFamily="34" charset="0"/>
              </a:rPr>
              <a:t>end-x</a:t>
            </a:r>
            <a:r>
              <a:rPr lang="zh-CN" altLang="en-US" sz="1400" b="1" dirty="0">
                <a:sym typeface="Huawei Sans" panose="020C0503030203020204" pitchFamily="34" charset="0"/>
              </a:rPr>
              <a:t> </a:t>
            </a:r>
            <a:r>
              <a:rPr lang="en-US" altLang="zh-CN" sz="1400" b="1" dirty="0">
                <a:sym typeface="Huawei Sans" panose="020C0503030203020204" pitchFamily="34" charset="0"/>
              </a:rPr>
              <a:t>interface</a:t>
            </a:r>
            <a:r>
              <a:rPr lang="zh-CN" altLang="en-US" sz="1400" b="1" dirty="0">
                <a:sym typeface="Huawei Sans" panose="020C0503030203020204" pitchFamily="34" charset="0"/>
              </a:rPr>
              <a:t> </a:t>
            </a:r>
            <a:r>
              <a:rPr lang="en-US" altLang="zh-CN" sz="1400" b="1" dirty="0">
                <a:sym typeface="Huawei Sans" panose="020C0503030203020204" pitchFamily="34" charset="0"/>
              </a:rPr>
              <a:t>G3/0/0 next-hop 2001:DB8:200::1</a:t>
            </a:r>
            <a:endParaRPr lang="en-US" altLang="zh-CN" sz="1400" b="1" dirty="0">
              <a:sym typeface="Huawei Sans" panose="020C0503030203020204" pitchFamily="34" charset="0"/>
            </a:endParaRPr>
          </a:p>
        </p:txBody>
      </p:sp>
      <p:sp>
        <p:nvSpPr>
          <p:cNvPr id="16" name="文本框 15"/>
          <p:cNvSpPr txBox="1"/>
          <p:nvPr/>
        </p:nvSpPr>
        <p:spPr bwMode="gray">
          <a:xfrm>
            <a:off x="1826007" y="4693538"/>
            <a:ext cx="8515425" cy="849044"/>
          </a:xfrm>
          <a:prstGeom prst="rect">
            <a:avLst/>
          </a:prstGeom>
          <a:solidFill>
            <a:srgbClr val="BEE9EE"/>
          </a:solidFill>
          <a:ln>
            <a:solidFill>
              <a:schemeClr val="bg1"/>
            </a:solidFill>
          </a:ln>
        </p:spPr>
        <p:txBody>
          <a:bodyPr/>
          <a:lstStyle>
            <a:defPPr>
              <a:defRPr lang="en-US"/>
            </a:defPPr>
            <a:lvl1pPr marL="302260" indent="-302260" defTabSz="913765" fontAlgn="ctr">
              <a:lnSpc>
                <a:spcPct val="140000"/>
              </a:lnSpc>
              <a:spcBef>
                <a:spcPts val="790"/>
              </a:spcBef>
              <a:buSzPct val="50000"/>
              <a:buFont typeface="Wingdings" panose="05000000000000000000" pitchFamily="2" charset="2"/>
              <a:buChar char="l"/>
              <a:defRPr baseline="0">
                <a:latin typeface="Huawei Sans" panose="020C0503030203020204" pitchFamily="34" charset="0"/>
                <a:ea typeface="方正兰亭黑简体" panose="02000000000000000000" pitchFamily="2" charset="-122"/>
              </a:defRPr>
            </a:lvl1pPr>
            <a:lvl2pPr marL="654685" indent="-252095" defTabSz="913765" fontAlgn="ctr">
              <a:lnSpc>
                <a:spcPct val="140000"/>
              </a:lnSpc>
              <a:spcBef>
                <a:spcPts val="720"/>
              </a:spcBef>
              <a:buClrTx/>
              <a:buSzPct val="50000"/>
              <a:buFont typeface="Wingdings" panose="05000000000000000000" pitchFamily="2" charset="2"/>
              <a:buChar char="p"/>
              <a:defRPr sz="2000" baseline="0">
                <a:latin typeface="Huawei Sans" panose="020C0503030203020204" pitchFamily="34" charset="0"/>
                <a:ea typeface="方正兰亭黑简体" panose="02000000000000000000" pitchFamily="2" charset="-122"/>
              </a:defRPr>
            </a:lvl2pPr>
            <a:lvl3pPr marL="1003935" indent="-201295" defTabSz="913765" fontAlgn="ctr">
              <a:lnSpc>
                <a:spcPct val="140000"/>
              </a:lnSpc>
              <a:spcBef>
                <a:spcPts val="650"/>
              </a:spcBef>
              <a:buClrTx/>
              <a:buSzPct val="50000"/>
              <a:buFont typeface="Wingdings" panose="05000000000000000000" pitchFamily="2" charset="2"/>
              <a:buChar char="n"/>
              <a:defRPr sz="1800" baseline="0">
                <a:latin typeface="Huawei Sans" panose="020C0503030203020204" pitchFamily="34" charset="0"/>
                <a:ea typeface="方正兰亭黑简体" panose="02000000000000000000" pitchFamily="2" charset="-122"/>
              </a:defRPr>
            </a:lvl3pPr>
            <a:lvl4pPr marL="1399540" indent="-198120" defTabSz="913765" fontAlgn="ctr">
              <a:lnSpc>
                <a:spcPct val="140000"/>
              </a:lnSpc>
              <a:spcBef>
                <a:spcPts val="575"/>
              </a:spcBef>
              <a:buFont typeface="Huawei Sans" panose="020C0503030203020204" pitchFamily="34" charset="0"/>
              <a:buChar char="−"/>
              <a:defRPr sz="1600" baseline="0">
                <a:latin typeface="Huawei Sans" panose="020C0503030203020204" pitchFamily="34" charset="0"/>
                <a:ea typeface="方正兰亭黑简体" panose="02000000000000000000" pitchFamily="2" charset="-122"/>
              </a:defRPr>
            </a:lvl4pPr>
            <a:lvl5pPr marL="1802765" indent="-201295" defTabSz="913765" fontAlgn="ctr">
              <a:lnSpc>
                <a:spcPct val="140000"/>
              </a:lnSpc>
              <a:spcBef>
                <a:spcPts val="575"/>
              </a:spcBef>
              <a:buFont typeface="Huawei Sans" panose="020C0503030203020204" pitchFamily="34" charset="0"/>
              <a:buChar char="~"/>
              <a:defRPr sz="1400" baseline="0">
                <a:latin typeface="Huawei Sans" panose="020C0503030203020204" pitchFamily="34" charset="0"/>
                <a:ea typeface="方正兰亭黑简体" panose="02000000000000000000" pitchFamily="2" charset="-122"/>
              </a:defRPr>
            </a:lvl5pPr>
            <a:lvl6pPr marL="2513330" indent="-228600" defTabSz="913765">
              <a:lnSpc>
                <a:spcPct val="90000"/>
              </a:lnSpc>
              <a:spcBef>
                <a:spcPts val="500"/>
              </a:spcBef>
              <a:buFont typeface="Arial" panose="020B0604020202020204" pitchFamily="34" charset="0"/>
              <a:buChar char="•"/>
              <a:defRPr sz="1800"/>
            </a:lvl6pPr>
            <a:lvl7pPr marL="2970530" indent="-228600" defTabSz="913765">
              <a:lnSpc>
                <a:spcPct val="90000"/>
              </a:lnSpc>
              <a:spcBef>
                <a:spcPts val="500"/>
              </a:spcBef>
              <a:buFont typeface="Arial" panose="020B0604020202020204" pitchFamily="34" charset="0"/>
              <a:buChar char="•"/>
              <a:defRPr sz="1800"/>
            </a:lvl7pPr>
            <a:lvl8pPr marL="3427730" indent="-228600" defTabSz="913765">
              <a:lnSpc>
                <a:spcPct val="90000"/>
              </a:lnSpc>
              <a:spcBef>
                <a:spcPts val="500"/>
              </a:spcBef>
              <a:buFont typeface="Arial" panose="020B0604020202020204" pitchFamily="34" charset="0"/>
              <a:buChar char="•"/>
              <a:defRPr sz="1800"/>
            </a:lvl8pPr>
            <a:lvl9pPr marL="3884930" indent="-228600" defTabSz="913765">
              <a:lnSpc>
                <a:spcPct val="90000"/>
              </a:lnSpc>
              <a:spcBef>
                <a:spcPts val="500"/>
              </a:spcBef>
              <a:buFont typeface="Arial" panose="020B0604020202020204" pitchFamily="34" charset="0"/>
              <a:buChar char="•"/>
              <a:defRPr sz="1800"/>
            </a:lvl9pPr>
          </a:lstStyle>
          <a:p>
            <a:pPr fontAlgn="base"/>
            <a:r>
              <a:rPr lang="zh-CN" altLang="en-US" sz="1400" dirty="0">
                <a:sym typeface="Huawei Sans" panose="020C0503030203020204" pitchFamily="34" charset="0"/>
              </a:rPr>
              <a:t>此</a:t>
            </a:r>
            <a:r>
              <a:rPr lang="en-US" altLang="zh-CN" sz="1400" dirty="0">
                <a:sym typeface="Huawei Sans" panose="020C0503030203020204" pitchFamily="34" charset="0"/>
              </a:rPr>
              <a:t>Function</a:t>
            </a:r>
            <a:r>
              <a:rPr lang="zh-CN" altLang="en-US" sz="1400" dirty="0">
                <a:sym typeface="Huawei Sans" panose="020C0503030203020204" pitchFamily="34" charset="0"/>
              </a:rPr>
              <a:t>对应的</a:t>
            </a:r>
            <a:r>
              <a:rPr lang="en-US" altLang="zh-CN" sz="1400" dirty="0">
                <a:sym typeface="Huawei Sans" panose="020C0503030203020204" pitchFamily="34" charset="0"/>
              </a:rPr>
              <a:t>opcode</a:t>
            </a:r>
            <a:r>
              <a:rPr lang="zh-CN" altLang="en-US" sz="1400" dirty="0">
                <a:sym typeface="Huawei Sans" panose="020C0503030203020204" pitchFamily="34" charset="0"/>
              </a:rPr>
              <a:t>为</a:t>
            </a:r>
            <a:r>
              <a:rPr lang="en-US" altLang="zh-CN" sz="1400" dirty="0">
                <a:sym typeface="Huawei Sans" panose="020C0503030203020204" pitchFamily="34" charset="0"/>
              </a:rPr>
              <a:t>::1</a:t>
            </a:r>
            <a:r>
              <a:rPr lang="zh-CN" altLang="en-US" sz="1400" dirty="0">
                <a:sym typeface="Huawei Sans" panose="020C0503030203020204" pitchFamily="34" charset="0"/>
              </a:rPr>
              <a:t>，此时没有</a:t>
            </a:r>
            <a:r>
              <a:rPr lang="en-US" altLang="zh-CN" sz="1400" dirty="0">
                <a:sym typeface="Huawei Sans" panose="020C0503030203020204" pitchFamily="34" charset="0"/>
              </a:rPr>
              <a:t>Arguments</a:t>
            </a:r>
            <a:r>
              <a:rPr lang="zh-CN" altLang="en-US" sz="1400" dirty="0">
                <a:sym typeface="Huawei Sans" panose="020C0503030203020204" pitchFamily="34" charset="0"/>
              </a:rPr>
              <a:t>，那么</a:t>
            </a:r>
            <a:r>
              <a:rPr lang="en-US" altLang="zh-CN" sz="1400" dirty="0">
                <a:sym typeface="Huawei Sans" panose="020C0503030203020204" pitchFamily="34" charset="0"/>
              </a:rPr>
              <a:t>SRv6 SID</a:t>
            </a:r>
            <a:r>
              <a:rPr lang="zh-CN" altLang="en-US" sz="1400" dirty="0">
                <a:sym typeface="Huawei Sans" panose="020C0503030203020204" pitchFamily="34" charset="0"/>
              </a:rPr>
              <a:t>值为</a:t>
            </a:r>
            <a:r>
              <a:rPr lang="en-US" altLang="zh-CN" sz="1400" dirty="0">
                <a:sym typeface="Huawei Sans" panose="020C0503030203020204" pitchFamily="34" charset="0"/>
              </a:rPr>
              <a:t>2001:db8:abcd::1</a:t>
            </a:r>
            <a:r>
              <a:rPr lang="zh-CN" altLang="en-US" sz="1400" dirty="0">
                <a:sym typeface="Huawei Sans" panose="020C0503030203020204" pitchFamily="34" charset="0"/>
              </a:rPr>
              <a:t>。</a:t>
            </a:r>
            <a:endParaRPr lang="en-US" altLang="zh-CN" sz="1400" dirty="0">
              <a:sym typeface="Huawei Sans" panose="020C0503030203020204" pitchFamily="34" charset="0"/>
            </a:endParaRPr>
          </a:p>
          <a:p>
            <a:pPr fontAlgn="base"/>
            <a:r>
              <a:rPr lang="zh-CN" altLang="en-US" sz="1400" dirty="0">
                <a:sym typeface="Huawei Sans" panose="020C0503030203020204" pitchFamily="34" charset="0"/>
              </a:rPr>
              <a:t>此</a:t>
            </a:r>
            <a:r>
              <a:rPr lang="en-US" altLang="zh-CN" sz="1400" dirty="0">
                <a:sym typeface="Huawei Sans" panose="020C0503030203020204" pitchFamily="34" charset="0"/>
              </a:rPr>
              <a:t>Function</a:t>
            </a:r>
            <a:r>
              <a:rPr lang="zh-CN" altLang="en-US" sz="1400" dirty="0">
                <a:sym typeface="Huawei Sans" panose="020C0503030203020204" pitchFamily="34" charset="0"/>
              </a:rPr>
              <a:t>的行为表示将报文从指定接口（</a:t>
            </a:r>
            <a:r>
              <a:rPr lang="en-US" altLang="zh-CN" sz="1400" dirty="0">
                <a:sym typeface="Huawei Sans" panose="020C0503030203020204" pitchFamily="34" charset="0"/>
              </a:rPr>
              <a:t>G3/0/0</a:t>
            </a:r>
            <a:r>
              <a:rPr lang="zh-CN" altLang="en-US" sz="1400" dirty="0">
                <a:sym typeface="Huawei Sans" panose="020C0503030203020204" pitchFamily="34" charset="0"/>
              </a:rPr>
              <a:t>），转发给对应的邻居节点（</a:t>
            </a:r>
            <a:r>
              <a:rPr lang="en-US" altLang="zh-CN" sz="1400" dirty="0">
                <a:sym typeface="Huawei Sans" panose="020C0503030203020204" pitchFamily="34" charset="0"/>
              </a:rPr>
              <a:t>2001:DB8:200::1</a:t>
            </a:r>
            <a:r>
              <a:rPr lang="zh-CN" altLang="en-US" sz="1400" dirty="0">
                <a:sym typeface="Huawei Sans" panose="020C0503030203020204" pitchFamily="34" charset="0"/>
              </a:rPr>
              <a:t>）。</a:t>
            </a:r>
            <a:endParaRPr lang="en-US" altLang="zh-CN" sz="1400" dirty="0">
              <a:sym typeface="Huawei Sans" panose="020C0503030203020204" pitchFamily="34" charset="0"/>
            </a:endParaRPr>
          </a:p>
        </p:txBody>
      </p:sp>
      <p:graphicFrame>
        <p:nvGraphicFramePr>
          <p:cNvPr id="19" name="Table 18"/>
          <p:cNvGraphicFramePr>
            <a:graphicFrameLocks noGrp="1"/>
          </p:cNvGraphicFramePr>
          <p:nvPr/>
        </p:nvGraphicFramePr>
        <p:xfrm>
          <a:off x="4169759" y="1387613"/>
          <a:ext cx="4054029" cy="370840"/>
        </p:xfrm>
        <a:graphic>
          <a:graphicData uri="http://schemas.openxmlformats.org/drawingml/2006/table">
            <a:tbl>
              <a:tblPr firstRow="1" bandRow="1">
                <a:tableStyleId>{72833802-FEF1-4C79-8D5D-14CF1EAF98D9}</a:tableStyleId>
              </a:tblPr>
              <a:tblGrid>
                <a:gridCol w="1351343"/>
                <a:gridCol w="1351343"/>
                <a:gridCol w="1351343"/>
              </a:tblGrid>
              <a:tr h="370840">
                <a:tc>
                  <a:txBody>
                    <a:body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en-US" altLang="zh-CN" sz="1400" b="1"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Locator</a:t>
                      </a:r>
                      <a:endParaRPr kumimoji="0" lang="zh-CN" altLang="en-US" sz="1400" b="1"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E28189"/>
                    </a:solidFill>
                  </a:tcPr>
                </a:tc>
                <a:tc>
                  <a:txBody>
                    <a:body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en-US" altLang="zh-CN" sz="1400" b="1"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Function</a:t>
                      </a:r>
                      <a:endParaRPr kumimoji="0" lang="zh-CN" altLang="en-US" sz="1400" b="1"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FDD351"/>
                    </a:solidFill>
                  </a:tcPr>
                </a:tc>
                <a:tc>
                  <a:txBody>
                    <a:body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en-US" altLang="zh-CN" sz="1400" b="1"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Arguments</a:t>
                      </a:r>
                      <a:endParaRPr kumimoji="0" lang="zh-CN" altLang="en-US" sz="1400" b="1"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AFD89C"/>
                    </a:solidFill>
                  </a:tcPr>
                </a:tc>
              </a:tr>
            </a:tbl>
          </a:graphicData>
        </a:graphic>
      </p:graphicFrame>
      <p:sp>
        <p:nvSpPr>
          <p:cNvPr id="17" name="五边形 2"/>
          <p:cNvSpPr/>
          <p:nvPr/>
        </p:nvSpPr>
        <p:spPr bwMode="gray">
          <a:xfrm>
            <a:off x="8310982" y="110463"/>
            <a:ext cx="1195960"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SRv6</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SRH</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介绍</a:t>
            </a:r>
            <a:endPar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 name="燕尾形 3"/>
          <p:cNvSpPr/>
          <p:nvPr/>
        </p:nvSpPr>
        <p:spPr bwMode="gray">
          <a:xfrm>
            <a:off x="9430382" y="110463"/>
            <a:ext cx="119596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SRv6</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节点介绍</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燕尾形 3"/>
          <p:cNvSpPr/>
          <p:nvPr/>
        </p:nvSpPr>
        <p:spPr bwMode="gray">
          <a:xfrm>
            <a:off x="10553128" y="105534"/>
            <a:ext cx="119596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SRv6</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转发原理</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r>
              <a:rPr lang="en-US" altLang="zh-CN" dirty="0">
                <a:sym typeface="Huawei Sans" panose="020C0503030203020204" pitchFamily="34" charset="0"/>
              </a:rPr>
              <a:t>SRv6 Segment</a:t>
            </a:r>
            <a:r>
              <a:rPr lang="zh-CN" altLang="en-US" dirty="0">
                <a:sym typeface="Huawei Sans" panose="020C0503030203020204" pitchFamily="34" charset="0"/>
              </a:rPr>
              <a:t>类型介绍</a:t>
            </a:r>
            <a:endParaRPr lang="zh-CN" altLang="en-US" dirty="0">
              <a:sym typeface="Huawei Sans" panose="020C0503030203020204" pitchFamily="34" charset="0"/>
            </a:endParaRPr>
          </a:p>
        </p:txBody>
      </p:sp>
      <p:graphicFrame>
        <p:nvGraphicFramePr>
          <p:cNvPr id="9" name="表格 5"/>
          <p:cNvGraphicFramePr>
            <a:graphicFrameLocks noGrp="1"/>
          </p:cNvGraphicFramePr>
          <p:nvPr/>
        </p:nvGraphicFramePr>
        <p:xfrm>
          <a:off x="704602" y="1477773"/>
          <a:ext cx="10782794" cy="3858904"/>
        </p:xfrm>
        <a:graphic>
          <a:graphicData uri="http://schemas.openxmlformats.org/drawingml/2006/table">
            <a:tbl>
              <a:tblPr/>
              <a:tblGrid>
                <a:gridCol w="1116227"/>
                <a:gridCol w="7853749"/>
                <a:gridCol w="903111"/>
                <a:gridCol w="909707"/>
              </a:tblGrid>
              <a:tr h="323224">
                <a:tc>
                  <a:txBody>
                    <a:bodyPr/>
                    <a:lstStyle>
                      <a:lvl1pPr marL="0" algn="l" defTabSz="834390" rtl="0" eaLnBrk="1" latinLnBrk="0" hangingPunct="1">
                        <a:defRPr sz="1600" kern="1200">
                          <a:solidFill>
                            <a:schemeClr val="tx1"/>
                          </a:solidFill>
                          <a:latin typeface="FrutigerNext LT Regular"/>
                          <a:ea typeface="华文细黑" panose="02010600040101010101" pitchFamily="2" charset="-122"/>
                          <a:cs typeface="宋体" panose="02010600030101010101" pitchFamily="2" charset="-122"/>
                        </a:defRPr>
                      </a:lvl1pPr>
                      <a:lvl2pPr marL="417195" algn="l" defTabSz="834390" rtl="0" eaLnBrk="1" latinLnBrk="0" hangingPunct="1">
                        <a:defRPr sz="1600" kern="1200">
                          <a:solidFill>
                            <a:schemeClr val="tx1"/>
                          </a:solidFill>
                          <a:latin typeface="FrutigerNext LT Regular"/>
                          <a:ea typeface="华文细黑" panose="02010600040101010101" pitchFamily="2" charset="-122"/>
                          <a:cs typeface="宋体" panose="02010600030101010101" pitchFamily="2" charset="-122"/>
                        </a:defRPr>
                      </a:lvl2pPr>
                      <a:lvl3pPr marL="834390" algn="l" defTabSz="834390" rtl="0" eaLnBrk="1" latinLnBrk="0" hangingPunct="1">
                        <a:defRPr sz="1600" kern="1200">
                          <a:solidFill>
                            <a:schemeClr val="tx1"/>
                          </a:solidFill>
                          <a:latin typeface="FrutigerNext LT Regular"/>
                          <a:ea typeface="华文细黑" panose="02010600040101010101" pitchFamily="2" charset="-122"/>
                          <a:cs typeface="宋体" panose="02010600030101010101" pitchFamily="2" charset="-122"/>
                        </a:defRPr>
                      </a:lvl3pPr>
                      <a:lvl4pPr marL="1251585" algn="l" defTabSz="834390" rtl="0" eaLnBrk="1" latinLnBrk="0" hangingPunct="1">
                        <a:defRPr sz="1600" kern="1200">
                          <a:solidFill>
                            <a:schemeClr val="tx1"/>
                          </a:solidFill>
                          <a:latin typeface="FrutigerNext LT Regular"/>
                          <a:ea typeface="华文细黑" panose="02010600040101010101" pitchFamily="2" charset="-122"/>
                          <a:cs typeface="宋体" panose="02010600030101010101" pitchFamily="2" charset="-122"/>
                        </a:defRPr>
                      </a:lvl4pPr>
                      <a:lvl5pPr marL="1668780" algn="l" defTabSz="834390" rtl="0" eaLnBrk="1" latinLnBrk="0" hangingPunct="1">
                        <a:defRPr sz="1600" kern="1200">
                          <a:solidFill>
                            <a:schemeClr val="tx1"/>
                          </a:solidFill>
                          <a:latin typeface="FrutigerNext LT Regular"/>
                          <a:ea typeface="华文细黑" panose="02010600040101010101" pitchFamily="2" charset="-122"/>
                          <a:cs typeface="宋体" panose="02010600030101010101" pitchFamily="2" charset="-122"/>
                        </a:defRPr>
                      </a:lvl5pPr>
                      <a:lvl6pPr marL="2085975" algn="l" defTabSz="834390" rtl="0" eaLnBrk="1" latinLnBrk="0" hangingPunct="1">
                        <a:defRPr sz="1600" kern="1200">
                          <a:solidFill>
                            <a:schemeClr val="tx1"/>
                          </a:solidFill>
                          <a:latin typeface="FrutigerNext LT Regular"/>
                          <a:ea typeface="华文细黑" panose="02010600040101010101" pitchFamily="2" charset="-122"/>
                          <a:cs typeface="宋体" panose="02010600030101010101" pitchFamily="2" charset="-122"/>
                        </a:defRPr>
                      </a:lvl6pPr>
                      <a:lvl7pPr marL="2503170" algn="l" defTabSz="834390" rtl="0" eaLnBrk="1" latinLnBrk="0" hangingPunct="1">
                        <a:defRPr sz="1600" kern="1200">
                          <a:solidFill>
                            <a:schemeClr val="tx1"/>
                          </a:solidFill>
                          <a:latin typeface="FrutigerNext LT Regular"/>
                          <a:ea typeface="华文细黑" panose="02010600040101010101" pitchFamily="2" charset="-122"/>
                          <a:cs typeface="宋体" panose="02010600030101010101" pitchFamily="2" charset="-122"/>
                        </a:defRPr>
                      </a:lvl7pPr>
                      <a:lvl8pPr marL="2920365" algn="l" defTabSz="834390" rtl="0" eaLnBrk="1" latinLnBrk="0" hangingPunct="1">
                        <a:defRPr sz="1600" kern="1200">
                          <a:solidFill>
                            <a:schemeClr val="tx1"/>
                          </a:solidFill>
                          <a:latin typeface="FrutigerNext LT Regular"/>
                          <a:ea typeface="华文细黑" panose="02010600040101010101" pitchFamily="2" charset="-122"/>
                          <a:cs typeface="宋体" panose="02010600030101010101" pitchFamily="2" charset="-122"/>
                        </a:defRPr>
                      </a:lvl8pPr>
                      <a:lvl9pPr marL="3337560" algn="l" defTabSz="834390" rtl="0" eaLnBrk="1" latinLnBrk="0" hangingPunct="1">
                        <a:defRPr sz="1600" kern="1200">
                          <a:solidFill>
                            <a:schemeClr val="tx1"/>
                          </a:solidFill>
                          <a:latin typeface="FrutigerNext LT Regular"/>
                          <a:ea typeface="华文细黑" panose="02010600040101010101" pitchFamily="2" charset="-122"/>
                          <a:cs typeface="宋体" panose="02010600030101010101" pitchFamily="2" charset="-122"/>
                        </a:defRPr>
                      </a:lvl9pPr>
                    </a:lstStyle>
                    <a:p>
                      <a:pPr algn="ctr"/>
                      <a:r>
                        <a:rPr lang="zh-CN" altLang="en-US"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类型</a:t>
                      </a:r>
                      <a:endParaRPr lang="en-US"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834390" rtl="0" eaLnBrk="1" latinLnBrk="0" hangingPunct="1">
                        <a:defRPr sz="1600" kern="1200">
                          <a:solidFill>
                            <a:schemeClr val="tx1"/>
                          </a:solidFill>
                          <a:latin typeface="FrutigerNext LT Regular"/>
                          <a:ea typeface="华文细黑" panose="02010600040101010101" pitchFamily="2" charset="-122"/>
                          <a:cs typeface="宋体" panose="02010600030101010101" pitchFamily="2" charset="-122"/>
                        </a:defRPr>
                      </a:lvl1pPr>
                      <a:lvl2pPr marL="417195" algn="l" defTabSz="834390" rtl="0" eaLnBrk="1" latinLnBrk="0" hangingPunct="1">
                        <a:defRPr sz="1600" kern="1200">
                          <a:solidFill>
                            <a:schemeClr val="tx1"/>
                          </a:solidFill>
                          <a:latin typeface="FrutigerNext LT Regular"/>
                          <a:ea typeface="华文细黑" panose="02010600040101010101" pitchFamily="2" charset="-122"/>
                          <a:cs typeface="宋体" panose="02010600030101010101" pitchFamily="2" charset="-122"/>
                        </a:defRPr>
                      </a:lvl2pPr>
                      <a:lvl3pPr marL="834390" algn="l" defTabSz="834390" rtl="0" eaLnBrk="1" latinLnBrk="0" hangingPunct="1">
                        <a:defRPr sz="1600" kern="1200">
                          <a:solidFill>
                            <a:schemeClr val="tx1"/>
                          </a:solidFill>
                          <a:latin typeface="FrutigerNext LT Regular"/>
                          <a:ea typeface="华文细黑" panose="02010600040101010101" pitchFamily="2" charset="-122"/>
                          <a:cs typeface="宋体" panose="02010600030101010101" pitchFamily="2" charset="-122"/>
                        </a:defRPr>
                      </a:lvl3pPr>
                      <a:lvl4pPr marL="1251585" algn="l" defTabSz="834390" rtl="0" eaLnBrk="1" latinLnBrk="0" hangingPunct="1">
                        <a:defRPr sz="1600" kern="1200">
                          <a:solidFill>
                            <a:schemeClr val="tx1"/>
                          </a:solidFill>
                          <a:latin typeface="FrutigerNext LT Regular"/>
                          <a:ea typeface="华文细黑" panose="02010600040101010101" pitchFamily="2" charset="-122"/>
                          <a:cs typeface="宋体" panose="02010600030101010101" pitchFamily="2" charset="-122"/>
                        </a:defRPr>
                      </a:lvl4pPr>
                      <a:lvl5pPr marL="1668780" algn="l" defTabSz="834390" rtl="0" eaLnBrk="1" latinLnBrk="0" hangingPunct="1">
                        <a:defRPr sz="1600" kern="1200">
                          <a:solidFill>
                            <a:schemeClr val="tx1"/>
                          </a:solidFill>
                          <a:latin typeface="FrutigerNext LT Regular"/>
                          <a:ea typeface="华文细黑" panose="02010600040101010101" pitchFamily="2" charset="-122"/>
                          <a:cs typeface="宋体" panose="02010600030101010101" pitchFamily="2" charset="-122"/>
                        </a:defRPr>
                      </a:lvl5pPr>
                      <a:lvl6pPr marL="2085975" algn="l" defTabSz="834390" rtl="0" eaLnBrk="1" latinLnBrk="0" hangingPunct="1">
                        <a:defRPr sz="1600" kern="1200">
                          <a:solidFill>
                            <a:schemeClr val="tx1"/>
                          </a:solidFill>
                          <a:latin typeface="FrutigerNext LT Regular"/>
                          <a:ea typeface="华文细黑" panose="02010600040101010101" pitchFamily="2" charset="-122"/>
                          <a:cs typeface="宋体" panose="02010600030101010101" pitchFamily="2" charset="-122"/>
                        </a:defRPr>
                      </a:lvl6pPr>
                      <a:lvl7pPr marL="2503170" algn="l" defTabSz="834390" rtl="0" eaLnBrk="1" latinLnBrk="0" hangingPunct="1">
                        <a:defRPr sz="1600" kern="1200">
                          <a:solidFill>
                            <a:schemeClr val="tx1"/>
                          </a:solidFill>
                          <a:latin typeface="FrutigerNext LT Regular"/>
                          <a:ea typeface="华文细黑" panose="02010600040101010101" pitchFamily="2" charset="-122"/>
                          <a:cs typeface="宋体" panose="02010600030101010101" pitchFamily="2" charset="-122"/>
                        </a:defRPr>
                      </a:lvl7pPr>
                      <a:lvl8pPr marL="2920365" algn="l" defTabSz="834390" rtl="0" eaLnBrk="1" latinLnBrk="0" hangingPunct="1">
                        <a:defRPr sz="1600" kern="1200">
                          <a:solidFill>
                            <a:schemeClr val="tx1"/>
                          </a:solidFill>
                          <a:latin typeface="FrutigerNext LT Regular"/>
                          <a:ea typeface="华文细黑" panose="02010600040101010101" pitchFamily="2" charset="-122"/>
                          <a:cs typeface="宋体" panose="02010600030101010101" pitchFamily="2" charset="-122"/>
                        </a:defRPr>
                      </a:lvl8pPr>
                      <a:lvl9pPr marL="3337560" algn="l" defTabSz="834390" rtl="0" eaLnBrk="1" latinLnBrk="0" hangingPunct="1">
                        <a:defRPr sz="1600" kern="1200">
                          <a:solidFill>
                            <a:schemeClr val="tx1"/>
                          </a:solidFill>
                          <a:latin typeface="FrutigerNext LT Regular"/>
                          <a:ea typeface="华文细黑" panose="02010600040101010101" pitchFamily="2" charset="-122"/>
                          <a:cs typeface="宋体" panose="02010600030101010101" pitchFamily="2" charset="-122"/>
                        </a:defRPr>
                      </a:lvl9pPr>
                    </a:lstStyle>
                    <a:p>
                      <a:pPr algn="ctr"/>
                      <a:r>
                        <a:rPr lang="zh-CN" altLang="en-US"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功能描述</a:t>
                      </a:r>
                      <a:endParaRPr lang="en-US"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834390" rtl="0" eaLnBrk="1" latinLnBrk="0" hangingPunct="1">
                        <a:defRPr sz="1600" kern="1200">
                          <a:solidFill>
                            <a:schemeClr val="tx1"/>
                          </a:solidFill>
                          <a:latin typeface="FrutigerNext LT Regular"/>
                          <a:ea typeface="华文细黑" panose="02010600040101010101" pitchFamily="2" charset="-122"/>
                          <a:cs typeface="宋体" panose="02010600030101010101" pitchFamily="2" charset="-122"/>
                        </a:defRPr>
                      </a:lvl1pPr>
                      <a:lvl2pPr marL="417195" algn="l" defTabSz="834390" rtl="0" eaLnBrk="1" latinLnBrk="0" hangingPunct="1">
                        <a:defRPr sz="1600" kern="1200">
                          <a:solidFill>
                            <a:schemeClr val="tx1"/>
                          </a:solidFill>
                          <a:latin typeface="FrutigerNext LT Regular"/>
                          <a:ea typeface="华文细黑" panose="02010600040101010101" pitchFamily="2" charset="-122"/>
                          <a:cs typeface="宋体" panose="02010600030101010101" pitchFamily="2" charset="-122"/>
                        </a:defRPr>
                      </a:lvl2pPr>
                      <a:lvl3pPr marL="834390" algn="l" defTabSz="834390" rtl="0" eaLnBrk="1" latinLnBrk="0" hangingPunct="1">
                        <a:defRPr sz="1600" kern="1200">
                          <a:solidFill>
                            <a:schemeClr val="tx1"/>
                          </a:solidFill>
                          <a:latin typeface="FrutigerNext LT Regular"/>
                          <a:ea typeface="华文细黑" panose="02010600040101010101" pitchFamily="2" charset="-122"/>
                          <a:cs typeface="宋体" panose="02010600030101010101" pitchFamily="2" charset="-122"/>
                        </a:defRPr>
                      </a:lvl3pPr>
                      <a:lvl4pPr marL="1251585" algn="l" defTabSz="834390" rtl="0" eaLnBrk="1" latinLnBrk="0" hangingPunct="1">
                        <a:defRPr sz="1600" kern="1200">
                          <a:solidFill>
                            <a:schemeClr val="tx1"/>
                          </a:solidFill>
                          <a:latin typeface="FrutigerNext LT Regular"/>
                          <a:ea typeface="华文细黑" panose="02010600040101010101" pitchFamily="2" charset="-122"/>
                          <a:cs typeface="宋体" panose="02010600030101010101" pitchFamily="2" charset="-122"/>
                        </a:defRPr>
                      </a:lvl4pPr>
                      <a:lvl5pPr marL="1668780" algn="l" defTabSz="834390" rtl="0" eaLnBrk="1" latinLnBrk="0" hangingPunct="1">
                        <a:defRPr sz="1600" kern="1200">
                          <a:solidFill>
                            <a:schemeClr val="tx1"/>
                          </a:solidFill>
                          <a:latin typeface="FrutigerNext LT Regular"/>
                          <a:ea typeface="华文细黑" panose="02010600040101010101" pitchFamily="2" charset="-122"/>
                          <a:cs typeface="宋体" panose="02010600030101010101" pitchFamily="2" charset="-122"/>
                        </a:defRPr>
                      </a:lvl5pPr>
                      <a:lvl6pPr marL="2085975" algn="l" defTabSz="834390" rtl="0" eaLnBrk="1" latinLnBrk="0" hangingPunct="1">
                        <a:defRPr sz="1600" kern="1200">
                          <a:solidFill>
                            <a:schemeClr val="tx1"/>
                          </a:solidFill>
                          <a:latin typeface="FrutigerNext LT Regular"/>
                          <a:ea typeface="华文细黑" panose="02010600040101010101" pitchFamily="2" charset="-122"/>
                          <a:cs typeface="宋体" panose="02010600030101010101" pitchFamily="2" charset="-122"/>
                        </a:defRPr>
                      </a:lvl6pPr>
                      <a:lvl7pPr marL="2503170" algn="l" defTabSz="834390" rtl="0" eaLnBrk="1" latinLnBrk="0" hangingPunct="1">
                        <a:defRPr sz="1600" kern="1200">
                          <a:solidFill>
                            <a:schemeClr val="tx1"/>
                          </a:solidFill>
                          <a:latin typeface="FrutigerNext LT Regular"/>
                          <a:ea typeface="华文细黑" panose="02010600040101010101" pitchFamily="2" charset="-122"/>
                          <a:cs typeface="宋体" panose="02010600030101010101" pitchFamily="2" charset="-122"/>
                        </a:defRPr>
                      </a:lvl7pPr>
                      <a:lvl8pPr marL="2920365" algn="l" defTabSz="834390" rtl="0" eaLnBrk="1" latinLnBrk="0" hangingPunct="1">
                        <a:defRPr sz="1600" kern="1200">
                          <a:solidFill>
                            <a:schemeClr val="tx1"/>
                          </a:solidFill>
                          <a:latin typeface="FrutigerNext LT Regular"/>
                          <a:ea typeface="华文细黑" panose="02010600040101010101" pitchFamily="2" charset="-122"/>
                          <a:cs typeface="宋体" panose="02010600030101010101" pitchFamily="2" charset="-122"/>
                        </a:defRPr>
                      </a:lvl8pPr>
                      <a:lvl9pPr marL="3337560" algn="l" defTabSz="834390" rtl="0" eaLnBrk="1" latinLnBrk="0" hangingPunct="1">
                        <a:defRPr sz="1600" kern="1200">
                          <a:solidFill>
                            <a:schemeClr val="tx1"/>
                          </a:solidFill>
                          <a:latin typeface="FrutigerNext LT Regular"/>
                          <a:ea typeface="华文细黑" panose="02010600040101010101" pitchFamily="2" charset="-122"/>
                          <a:cs typeface="宋体" panose="02010600030101010101" pitchFamily="2" charset="-122"/>
                        </a:defRPr>
                      </a:lvl9pPr>
                    </a:lstStyle>
                    <a:p>
                      <a:pPr algn="ctr"/>
                      <a:r>
                        <a:rPr lang="zh-CN" altLang="en-US"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发布协议</a:t>
                      </a:r>
                      <a:endParaRPr lang="en-US"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zh-CN" altLang="en-US"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类型</a:t>
                      </a:r>
                      <a:endParaRPr lang="en-US"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r>
              <a:tr h="245981">
                <a:tc>
                  <a:txBody>
                    <a:bodyPr/>
                    <a:lstStyle>
                      <a:lvl1pPr marL="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1pPr>
                      <a:lvl2pPr marL="45720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2pPr>
                      <a:lvl3pPr marL="913765"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3pPr>
                      <a:lvl4pPr marL="1370965"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4pPr>
                      <a:lvl5pPr marL="1828165"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5pPr>
                      <a:lvl6pPr marL="2285365"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6pPr>
                      <a:lvl7pPr marL="274193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7pPr>
                      <a:lvl8pPr marL="319913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8pPr>
                      <a:lvl9pPr marL="365633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9pPr>
                    </a:lstStyle>
                    <a:p>
                      <a:pPr algn="ctr" rtl="0" fontAlgn="ctr"/>
                      <a:r>
                        <a:rPr lang="en-US" sz="1400" b="0"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E</a:t>
                      </a:r>
                      <a:r>
                        <a:rPr lang="en-US" altLang="zh-CN" sz="1400" b="0"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nd</a:t>
                      </a:r>
                      <a:endParaRPr lang="en-US" sz="1400" b="0"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1pPr>
                      <a:lvl2pPr marL="45720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2pPr>
                      <a:lvl3pPr marL="913765"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3pPr>
                      <a:lvl4pPr marL="1370965"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4pPr>
                      <a:lvl5pPr marL="1828165"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5pPr>
                      <a:lvl6pPr marL="2285365"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6pPr>
                      <a:lvl7pPr marL="274193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7pPr>
                      <a:lvl8pPr marL="319913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8pPr>
                      <a:lvl9pPr marL="365633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9pPr>
                    </a:lstStyle>
                    <a:p>
                      <a:pPr algn="l" fontAlgn="ctr"/>
                      <a:r>
                        <a:rPr lang="zh-CN" altLang="en-US" sz="14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表示</a:t>
                      </a:r>
                      <a:r>
                        <a:rPr lang="en-US" altLang="zh-CN" sz="1400" b="0" i="0" u="none" strike="noStrike" dirty="0">
                          <a:solidFill>
                            <a:srgbClr val="000000"/>
                          </a:solidFill>
                          <a:effectLst/>
                          <a:highlight>
                            <a:srgbClr val="FFFF00"/>
                          </a:highlight>
                          <a:latin typeface="Huawei Sans" panose="020C0503030203020204" pitchFamily="34" charset="0"/>
                          <a:ea typeface="方正兰亭黑简体" panose="02000000000000000000" pitchFamily="2" charset="-122"/>
                          <a:sym typeface="Huawei Sans" panose="020C0503030203020204" pitchFamily="34" charset="0"/>
                        </a:rPr>
                        <a:t>Endpoint SID</a:t>
                      </a:r>
                      <a:r>
                        <a:rPr lang="zh-CN" altLang="en-US" sz="1400" b="0" i="0" u="none" strike="noStrike" dirty="0">
                          <a:solidFill>
                            <a:srgbClr val="000000"/>
                          </a:solidFill>
                          <a:effectLst/>
                          <a:highlight>
                            <a:srgbClr val="FFFF00"/>
                          </a:highlight>
                          <a:latin typeface="Huawei Sans" panose="020C0503030203020204" pitchFamily="34" charset="0"/>
                          <a:ea typeface="方正兰亭黑简体" panose="02000000000000000000" pitchFamily="2" charset="-122"/>
                          <a:sym typeface="Huawei Sans" panose="020C0503030203020204" pitchFamily="34" charset="0"/>
                        </a:rPr>
                        <a:t>，用于标识网络中的某个目的节点（</a:t>
                      </a:r>
                      <a:r>
                        <a:rPr lang="en-US" altLang="zh-CN" sz="1400" b="0" i="0" u="none" strike="noStrike" dirty="0">
                          <a:solidFill>
                            <a:srgbClr val="000000"/>
                          </a:solidFill>
                          <a:effectLst/>
                          <a:highlight>
                            <a:srgbClr val="FFFF00"/>
                          </a:highlight>
                          <a:latin typeface="Huawei Sans" panose="020C0503030203020204" pitchFamily="34" charset="0"/>
                          <a:ea typeface="方正兰亭黑简体" panose="02000000000000000000" pitchFamily="2" charset="-122"/>
                          <a:sym typeface="Huawei Sans" panose="020C0503030203020204" pitchFamily="34" charset="0"/>
                        </a:rPr>
                        <a:t>Node</a:t>
                      </a:r>
                      <a:r>
                        <a:rPr lang="zh-CN" altLang="en-US" sz="1400" b="0" i="0" u="none" strike="noStrike" dirty="0">
                          <a:solidFill>
                            <a:srgbClr val="000000"/>
                          </a:solidFill>
                          <a:effectLst/>
                          <a:highlight>
                            <a:srgbClr val="FFFF00"/>
                          </a:highlight>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4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。对应的转发动作（</a:t>
                      </a:r>
                      <a:r>
                        <a:rPr lang="en-US" altLang="zh-CN" sz="14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Function</a:t>
                      </a:r>
                      <a:r>
                        <a:rPr lang="zh-CN" altLang="en-US" sz="14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）是：更新</a:t>
                      </a:r>
                      <a:r>
                        <a:rPr lang="en-US" altLang="zh-CN" sz="14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IPv6 DA</a:t>
                      </a:r>
                      <a:r>
                        <a:rPr lang="zh-CN" altLang="en-US" sz="14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，查找</a:t>
                      </a:r>
                      <a:r>
                        <a:rPr lang="en-US" altLang="zh-CN" sz="14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IPv6 FIB</a:t>
                      </a:r>
                      <a:r>
                        <a:rPr lang="zh-CN" altLang="en-US" sz="14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进行报文转发。</a:t>
                      </a:r>
                      <a:endParaRPr lang="en-US" altLang="zh-CN" sz="14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834390" rtl="0" eaLnBrk="1" latinLnBrk="0" hangingPunct="1">
                        <a:defRPr sz="1600" kern="1200">
                          <a:solidFill>
                            <a:schemeClr val="tx1"/>
                          </a:solidFill>
                          <a:latin typeface="FrutigerNext LT Regular"/>
                          <a:ea typeface="华文细黑" panose="02010600040101010101" pitchFamily="2" charset="-122"/>
                          <a:cs typeface="宋体" panose="02010600030101010101" pitchFamily="2" charset="-122"/>
                        </a:defRPr>
                      </a:lvl1pPr>
                      <a:lvl2pPr marL="417195" algn="l" defTabSz="834390" rtl="0" eaLnBrk="1" latinLnBrk="0" hangingPunct="1">
                        <a:defRPr sz="1600" kern="1200">
                          <a:solidFill>
                            <a:schemeClr val="tx1"/>
                          </a:solidFill>
                          <a:latin typeface="FrutigerNext LT Regular"/>
                          <a:ea typeface="华文细黑" panose="02010600040101010101" pitchFamily="2" charset="-122"/>
                          <a:cs typeface="宋体" panose="02010600030101010101" pitchFamily="2" charset="-122"/>
                        </a:defRPr>
                      </a:lvl2pPr>
                      <a:lvl3pPr marL="834390" algn="l" defTabSz="834390" rtl="0" eaLnBrk="1" latinLnBrk="0" hangingPunct="1">
                        <a:defRPr sz="1600" kern="1200">
                          <a:solidFill>
                            <a:schemeClr val="tx1"/>
                          </a:solidFill>
                          <a:latin typeface="FrutigerNext LT Regular"/>
                          <a:ea typeface="华文细黑" panose="02010600040101010101" pitchFamily="2" charset="-122"/>
                          <a:cs typeface="宋体" panose="02010600030101010101" pitchFamily="2" charset="-122"/>
                        </a:defRPr>
                      </a:lvl3pPr>
                      <a:lvl4pPr marL="1251585" algn="l" defTabSz="834390" rtl="0" eaLnBrk="1" latinLnBrk="0" hangingPunct="1">
                        <a:defRPr sz="1600" kern="1200">
                          <a:solidFill>
                            <a:schemeClr val="tx1"/>
                          </a:solidFill>
                          <a:latin typeface="FrutigerNext LT Regular"/>
                          <a:ea typeface="华文细黑" panose="02010600040101010101" pitchFamily="2" charset="-122"/>
                          <a:cs typeface="宋体" panose="02010600030101010101" pitchFamily="2" charset="-122"/>
                        </a:defRPr>
                      </a:lvl4pPr>
                      <a:lvl5pPr marL="1668780" algn="l" defTabSz="834390" rtl="0" eaLnBrk="1" latinLnBrk="0" hangingPunct="1">
                        <a:defRPr sz="1600" kern="1200">
                          <a:solidFill>
                            <a:schemeClr val="tx1"/>
                          </a:solidFill>
                          <a:latin typeface="FrutigerNext LT Regular"/>
                          <a:ea typeface="华文细黑" panose="02010600040101010101" pitchFamily="2" charset="-122"/>
                          <a:cs typeface="宋体" panose="02010600030101010101" pitchFamily="2" charset="-122"/>
                        </a:defRPr>
                      </a:lvl5pPr>
                      <a:lvl6pPr marL="2085975" algn="l" defTabSz="834390" rtl="0" eaLnBrk="1" latinLnBrk="0" hangingPunct="1">
                        <a:defRPr sz="1600" kern="1200">
                          <a:solidFill>
                            <a:schemeClr val="tx1"/>
                          </a:solidFill>
                          <a:latin typeface="FrutigerNext LT Regular"/>
                          <a:ea typeface="华文细黑" panose="02010600040101010101" pitchFamily="2" charset="-122"/>
                          <a:cs typeface="宋体" panose="02010600030101010101" pitchFamily="2" charset="-122"/>
                        </a:defRPr>
                      </a:lvl6pPr>
                      <a:lvl7pPr marL="2503170" algn="l" defTabSz="834390" rtl="0" eaLnBrk="1" latinLnBrk="0" hangingPunct="1">
                        <a:defRPr sz="1600" kern="1200">
                          <a:solidFill>
                            <a:schemeClr val="tx1"/>
                          </a:solidFill>
                          <a:latin typeface="FrutigerNext LT Regular"/>
                          <a:ea typeface="华文细黑" panose="02010600040101010101" pitchFamily="2" charset="-122"/>
                          <a:cs typeface="宋体" panose="02010600030101010101" pitchFamily="2" charset="-122"/>
                        </a:defRPr>
                      </a:lvl7pPr>
                      <a:lvl8pPr marL="2920365" algn="l" defTabSz="834390" rtl="0" eaLnBrk="1" latinLnBrk="0" hangingPunct="1">
                        <a:defRPr sz="1600" kern="1200">
                          <a:solidFill>
                            <a:schemeClr val="tx1"/>
                          </a:solidFill>
                          <a:latin typeface="FrutigerNext LT Regular"/>
                          <a:ea typeface="华文细黑" panose="02010600040101010101" pitchFamily="2" charset="-122"/>
                          <a:cs typeface="宋体" panose="02010600030101010101" pitchFamily="2" charset="-122"/>
                        </a:defRPr>
                      </a:lvl8pPr>
                      <a:lvl9pPr marL="3337560" algn="l" defTabSz="834390" rtl="0" eaLnBrk="1" latinLnBrk="0" hangingPunct="1">
                        <a:defRPr sz="1600" kern="1200">
                          <a:solidFill>
                            <a:schemeClr val="tx1"/>
                          </a:solidFill>
                          <a:latin typeface="FrutigerNext LT Regular"/>
                          <a:ea typeface="华文细黑" panose="02010600040101010101" pitchFamily="2" charset="-122"/>
                          <a:cs typeface="宋体" panose="02010600030101010101" pitchFamily="2" charset="-122"/>
                        </a:defRPr>
                      </a:lvl9pPr>
                    </a:lstStyle>
                    <a:p>
                      <a:r>
                        <a:rPr lang="en-US" sz="1400" dirty="0">
                          <a:latin typeface="Huawei Sans" panose="020C0503030203020204" pitchFamily="34" charset="0"/>
                          <a:ea typeface="方正兰亭黑简体" panose="02000000000000000000" pitchFamily="2" charset="-122"/>
                          <a:sym typeface="Huawei Sans" panose="020C0503030203020204" pitchFamily="34" charset="0"/>
                        </a:rPr>
                        <a:t>IGP</a:t>
                      </a:r>
                      <a:endParaRPr lang="en-US"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路径</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SID</a:t>
                      </a:r>
                      <a:endParaRPr lang="en-US"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r>
              <a:tr h="256384">
                <a:tc>
                  <a:txBody>
                    <a:bodyPr/>
                    <a:lstStyle>
                      <a:lvl1pPr marL="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1pPr>
                      <a:lvl2pPr marL="45720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2pPr>
                      <a:lvl3pPr marL="913765"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3pPr>
                      <a:lvl4pPr marL="1370965"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4pPr>
                      <a:lvl5pPr marL="1828165"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5pPr>
                      <a:lvl6pPr marL="2285365"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6pPr>
                      <a:lvl7pPr marL="274193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7pPr>
                      <a:lvl8pPr marL="319913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8pPr>
                      <a:lvl9pPr marL="365633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9pPr>
                    </a:lstStyle>
                    <a:p>
                      <a:pPr algn="ctr" rtl="0" fontAlgn="ctr"/>
                      <a:r>
                        <a:rPr lang="en-US" sz="1400" b="0" i="0" u="none" strike="noStrike" dirty="0" err="1">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E</a:t>
                      </a:r>
                      <a:r>
                        <a:rPr lang="en-US" altLang="zh-CN" sz="1400" b="0" i="0" u="none" strike="noStrike" dirty="0" err="1">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nd.X</a:t>
                      </a:r>
                      <a:endParaRPr lang="en-US" sz="1400" b="0"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1pPr>
                      <a:lvl2pPr marL="45720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2pPr>
                      <a:lvl3pPr marL="913765"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3pPr>
                      <a:lvl4pPr marL="1370965"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4pPr>
                      <a:lvl5pPr marL="1828165"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5pPr>
                      <a:lvl6pPr marL="2285365"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6pPr>
                      <a:lvl7pPr marL="274193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7pPr>
                      <a:lvl8pPr marL="319913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8pPr>
                      <a:lvl9pPr marL="365633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9pPr>
                    </a:lstStyle>
                    <a:p>
                      <a:pPr algn="l" fontAlgn="ctr"/>
                      <a:r>
                        <a:rPr lang="zh-CN" altLang="en-US" sz="14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表示</a:t>
                      </a:r>
                      <a:r>
                        <a:rPr lang="zh-CN" altLang="en-US" sz="1400" b="0" i="0" u="none" strike="noStrike" dirty="0">
                          <a:solidFill>
                            <a:srgbClr val="000000"/>
                          </a:solidFill>
                          <a:effectLst/>
                          <a:highlight>
                            <a:srgbClr val="FFFF00"/>
                          </a:highlight>
                          <a:latin typeface="Huawei Sans" panose="020C0503030203020204" pitchFamily="34" charset="0"/>
                          <a:ea typeface="方正兰亭黑简体" panose="02000000000000000000" pitchFamily="2" charset="-122"/>
                          <a:sym typeface="Huawei Sans" panose="020C0503030203020204" pitchFamily="34" charset="0"/>
                        </a:rPr>
                        <a:t>三层交叉连接的</a:t>
                      </a:r>
                      <a:r>
                        <a:rPr lang="en-US" altLang="zh-CN" sz="1400" b="0" i="0" u="none" strike="noStrike" dirty="0">
                          <a:solidFill>
                            <a:srgbClr val="000000"/>
                          </a:solidFill>
                          <a:effectLst/>
                          <a:highlight>
                            <a:srgbClr val="FFFF00"/>
                          </a:highlight>
                          <a:latin typeface="Huawei Sans" panose="020C0503030203020204" pitchFamily="34" charset="0"/>
                          <a:ea typeface="方正兰亭黑简体" panose="02000000000000000000" pitchFamily="2" charset="-122"/>
                          <a:sym typeface="Huawei Sans" panose="020C0503030203020204" pitchFamily="34" charset="0"/>
                        </a:rPr>
                        <a:t>Endpoint SID</a:t>
                      </a:r>
                      <a:r>
                        <a:rPr lang="zh-CN" altLang="en-US" sz="1400" b="0" i="0" u="none" strike="noStrike" dirty="0">
                          <a:solidFill>
                            <a:srgbClr val="000000"/>
                          </a:solidFill>
                          <a:effectLst/>
                          <a:highlight>
                            <a:srgbClr val="FFFF00"/>
                          </a:highlight>
                          <a:latin typeface="Huawei Sans" panose="020C0503030203020204" pitchFamily="34" charset="0"/>
                          <a:ea typeface="方正兰亭黑简体" panose="02000000000000000000" pitchFamily="2" charset="-122"/>
                          <a:sym typeface="Huawei Sans" panose="020C0503030203020204" pitchFamily="34" charset="0"/>
                        </a:rPr>
                        <a:t>，用于标识网络中的某条链路</a:t>
                      </a:r>
                      <a:r>
                        <a:rPr lang="zh-CN" altLang="en-US" sz="14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。对应的转发动作是：更新</a:t>
                      </a:r>
                      <a:r>
                        <a:rPr lang="en-US" altLang="zh-CN" sz="14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IPv6 DA</a:t>
                      </a:r>
                      <a:r>
                        <a:rPr lang="zh-CN" altLang="en-US" sz="14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，从</a:t>
                      </a:r>
                      <a:r>
                        <a:rPr lang="en-US" altLang="zh-CN" sz="1400" b="0" i="0" u="none" strike="noStrike" dirty="0" err="1">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End.X</a:t>
                      </a:r>
                      <a:r>
                        <a:rPr lang="en-US" altLang="zh-CN" sz="14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 SID</a:t>
                      </a:r>
                      <a:r>
                        <a:rPr lang="zh-CN" altLang="en-US" sz="14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绑定的出接口转发报文。</a:t>
                      </a:r>
                      <a:endParaRPr lang="en-US" altLang="zh-CN" sz="14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834390" rtl="0" eaLnBrk="1" latinLnBrk="0" hangingPunct="1">
                        <a:defRPr sz="1600" kern="1200">
                          <a:solidFill>
                            <a:schemeClr val="tx1"/>
                          </a:solidFill>
                          <a:latin typeface="FrutigerNext LT Regular"/>
                          <a:ea typeface="华文细黑" panose="02010600040101010101" pitchFamily="2" charset="-122"/>
                          <a:cs typeface="宋体" panose="02010600030101010101" pitchFamily="2" charset="-122"/>
                        </a:defRPr>
                      </a:lvl1pPr>
                      <a:lvl2pPr marL="417195" algn="l" defTabSz="834390" rtl="0" eaLnBrk="1" latinLnBrk="0" hangingPunct="1">
                        <a:defRPr sz="1600" kern="1200">
                          <a:solidFill>
                            <a:schemeClr val="tx1"/>
                          </a:solidFill>
                          <a:latin typeface="FrutigerNext LT Regular"/>
                          <a:ea typeface="华文细黑" panose="02010600040101010101" pitchFamily="2" charset="-122"/>
                          <a:cs typeface="宋体" panose="02010600030101010101" pitchFamily="2" charset="-122"/>
                        </a:defRPr>
                      </a:lvl2pPr>
                      <a:lvl3pPr marL="834390" algn="l" defTabSz="834390" rtl="0" eaLnBrk="1" latinLnBrk="0" hangingPunct="1">
                        <a:defRPr sz="1600" kern="1200">
                          <a:solidFill>
                            <a:schemeClr val="tx1"/>
                          </a:solidFill>
                          <a:latin typeface="FrutigerNext LT Regular"/>
                          <a:ea typeface="华文细黑" panose="02010600040101010101" pitchFamily="2" charset="-122"/>
                          <a:cs typeface="宋体" panose="02010600030101010101" pitchFamily="2" charset="-122"/>
                        </a:defRPr>
                      </a:lvl3pPr>
                      <a:lvl4pPr marL="1251585" algn="l" defTabSz="834390" rtl="0" eaLnBrk="1" latinLnBrk="0" hangingPunct="1">
                        <a:defRPr sz="1600" kern="1200">
                          <a:solidFill>
                            <a:schemeClr val="tx1"/>
                          </a:solidFill>
                          <a:latin typeface="FrutigerNext LT Regular"/>
                          <a:ea typeface="华文细黑" panose="02010600040101010101" pitchFamily="2" charset="-122"/>
                          <a:cs typeface="宋体" panose="02010600030101010101" pitchFamily="2" charset="-122"/>
                        </a:defRPr>
                      </a:lvl4pPr>
                      <a:lvl5pPr marL="1668780" algn="l" defTabSz="834390" rtl="0" eaLnBrk="1" latinLnBrk="0" hangingPunct="1">
                        <a:defRPr sz="1600" kern="1200">
                          <a:solidFill>
                            <a:schemeClr val="tx1"/>
                          </a:solidFill>
                          <a:latin typeface="FrutigerNext LT Regular"/>
                          <a:ea typeface="华文细黑" panose="02010600040101010101" pitchFamily="2" charset="-122"/>
                          <a:cs typeface="宋体" panose="02010600030101010101" pitchFamily="2" charset="-122"/>
                        </a:defRPr>
                      </a:lvl5pPr>
                      <a:lvl6pPr marL="2085975" algn="l" defTabSz="834390" rtl="0" eaLnBrk="1" latinLnBrk="0" hangingPunct="1">
                        <a:defRPr sz="1600" kern="1200">
                          <a:solidFill>
                            <a:schemeClr val="tx1"/>
                          </a:solidFill>
                          <a:latin typeface="FrutigerNext LT Regular"/>
                          <a:ea typeface="华文细黑" panose="02010600040101010101" pitchFamily="2" charset="-122"/>
                          <a:cs typeface="宋体" panose="02010600030101010101" pitchFamily="2" charset="-122"/>
                        </a:defRPr>
                      </a:lvl6pPr>
                      <a:lvl7pPr marL="2503170" algn="l" defTabSz="834390" rtl="0" eaLnBrk="1" latinLnBrk="0" hangingPunct="1">
                        <a:defRPr sz="1600" kern="1200">
                          <a:solidFill>
                            <a:schemeClr val="tx1"/>
                          </a:solidFill>
                          <a:latin typeface="FrutigerNext LT Regular"/>
                          <a:ea typeface="华文细黑" panose="02010600040101010101" pitchFamily="2" charset="-122"/>
                          <a:cs typeface="宋体" panose="02010600030101010101" pitchFamily="2" charset="-122"/>
                        </a:defRPr>
                      </a:lvl7pPr>
                      <a:lvl8pPr marL="2920365" algn="l" defTabSz="834390" rtl="0" eaLnBrk="1" latinLnBrk="0" hangingPunct="1">
                        <a:defRPr sz="1600" kern="1200">
                          <a:solidFill>
                            <a:schemeClr val="tx1"/>
                          </a:solidFill>
                          <a:latin typeface="FrutigerNext LT Regular"/>
                          <a:ea typeface="华文细黑" panose="02010600040101010101" pitchFamily="2" charset="-122"/>
                          <a:cs typeface="宋体" panose="02010600030101010101" pitchFamily="2" charset="-122"/>
                        </a:defRPr>
                      </a:lvl8pPr>
                      <a:lvl9pPr marL="3337560" algn="l" defTabSz="834390" rtl="0" eaLnBrk="1" latinLnBrk="0" hangingPunct="1">
                        <a:defRPr sz="1600" kern="1200">
                          <a:solidFill>
                            <a:schemeClr val="tx1"/>
                          </a:solidFill>
                          <a:latin typeface="FrutigerNext LT Regular"/>
                          <a:ea typeface="华文细黑" panose="02010600040101010101" pitchFamily="2" charset="-122"/>
                          <a:cs typeface="宋体" panose="02010600030101010101" pitchFamily="2" charset="-122"/>
                        </a:defRPr>
                      </a:lvl9pPr>
                    </a:lstStyle>
                    <a:p>
                      <a:r>
                        <a:rPr lang="en-US" sz="1400" dirty="0">
                          <a:latin typeface="Huawei Sans" panose="020C0503030203020204" pitchFamily="34" charset="0"/>
                          <a:ea typeface="方正兰亭黑简体" panose="02000000000000000000" pitchFamily="2" charset="-122"/>
                          <a:sym typeface="Huawei Sans" panose="020C0503030203020204" pitchFamily="34" charset="0"/>
                        </a:rPr>
                        <a:t>IGP</a:t>
                      </a:r>
                      <a:endParaRPr lang="en-US"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路径</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SID</a:t>
                      </a:r>
                      <a:endParaRPr lang="en-US"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r>
              <a:tr h="245981">
                <a:tc>
                  <a:txBody>
                    <a:bodyPr/>
                    <a:lstStyle>
                      <a:lvl1pPr marL="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1pPr>
                      <a:lvl2pPr marL="45720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2pPr>
                      <a:lvl3pPr marL="913765"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3pPr>
                      <a:lvl4pPr marL="1370965"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4pPr>
                      <a:lvl5pPr marL="1828165"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5pPr>
                      <a:lvl6pPr marL="2285365"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6pPr>
                      <a:lvl7pPr marL="274193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7pPr>
                      <a:lvl8pPr marL="319913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8pPr>
                      <a:lvl9pPr marL="365633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9pPr>
                    </a:lstStyle>
                    <a:p>
                      <a:pPr algn="ctr" rtl="0" fontAlgn="ctr"/>
                      <a:r>
                        <a:rPr lang="en-US" sz="14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End.DT4</a:t>
                      </a:r>
                      <a:endParaRPr lang="en-US" sz="14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1pPr>
                      <a:lvl2pPr marL="45720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2pPr>
                      <a:lvl3pPr marL="913765"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3pPr>
                      <a:lvl4pPr marL="1370965"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4pPr>
                      <a:lvl5pPr marL="1828165"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5pPr>
                      <a:lvl6pPr marL="2285365"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6pPr>
                      <a:lvl7pPr marL="274193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7pPr>
                      <a:lvl8pPr marL="319913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8pPr>
                      <a:lvl9pPr marL="365633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9pPr>
                    </a:lstStyle>
                    <a:p>
                      <a:pPr algn="l" fontAlgn="ctr"/>
                      <a:r>
                        <a:rPr lang="zh-CN" altLang="en-US" sz="14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表示</a:t>
                      </a:r>
                      <a:r>
                        <a:rPr lang="en-US" altLang="zh-CN" sz="14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PE</a:t>
                      </a:r>
                      <a:r>
                        <a:rPr lang="zh-CN" altLang="en-US" sz="14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类型的</a:t>
                      </a:r>
                      <a:r>
                        <a:rPr lang="en-US" altLang="zh-CN" sz="14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Endpoint SID</a:t>
                      </a:r>
                      <a:r>
                        <a:rPr lang="zh-CN" altLang="en-US" sz="14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，用于标识网络中的某个</a:t>
                      </a:r>
                      <a:r>
                        <a:rPr lang="en-US" altLang="zh-CN" sz="14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IPv4 VPN</a:t>
                      </a:r>
                      <a:r>
                        <a:rPr lang="zh-CN" altLang="en-US" sz="14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实例。对应的转发动作是：解封装报文，并且查找</a:t>
                      </a:r>
                      <a:r>
                        <a:rPr lang="en-US" altLang="zh-CN" sz="14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IPv4 VPN</a:t>
                      </a:r>
                      <a:r>
                        <a:rPr lang="zh-CN" altLang="en-US" sz="14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实例路由表转发。</a:t>
                      </a:r>
                      <a:r>
                        <a:rPr lang="en-US" altLang="zh-CN" sz="14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End.DT4 SID</a:t>
                      </a:r>
                      <a:r>
                        <a:rPr lang="zh-CN" altLang="en-US" sz="14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在</a:t>
                      </a:r>
                      <a:r>
                        <a:rPr lang="en-US" altLang="zh-CN" sz="14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L3VPNv4</a:t>
                      </a:r>
                      <a:r>
                        <a:rPr lang="zh-CN" altLang="en-US" sz="14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场景使用，等价于</a:t>
                      </a:r>
                      <a:r>
                        <a:rPr lang="en-US" altLang="zh-CN" sz="14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IPv4 VPN</a:t>
                      </a:r>
                      <a:r>
                        <a:rPr lang="zh-CN" altLang="en-US" sz="14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的标签。</a:t>
                      </a:r>
                      <a:endParaRPr lang="zh-CN" altLang="en-US" sz="14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834390" rtl="0" eaLnBrk="1" latinLnBrk="0" hangingPunct="1">
                        <a:defRPr sz="1600" kern="1200">
                          <a:solidFill>
                            <a:schemeClr val="tx1"/>
                          </a:solidFill>
                          <a:latin typeface="FrutigerNext LT Regular"/>
                          <a:ea typeface="华文细黑" panose="02010600040101010101" pitchFamily="2" charset="-122"/>
                          <a:cs typeface="宋体" panose="02010600030101010101" pitchFamily="2" charset="-122"/>
                        </a:defRPr>
                      </a:lvl1pPr>
                      <a:lvl2pPr marL="417195" algn="l" defTabSz="834390" rtl="0" eaLnBrk="1" latinLnBrk="0" hangingPunct="1">
                        <a:defRPr sz="1600" kern="1200">
                          <a:solidFill>
                            <a:schemeClr val="tx1"/>
                          </a:solidFill>
                          <a:latin typeface="FrutigerNext LT Regular"/>
                          <a:ea typeface="华文细黑" panose="02010600040101010101" pitchFamily="2" charset="-122"/>
                          <a:cs typeface="宋体" panose="02010600030101010101" pitchFamily="2" charset="-122"/>
                        </a:defRPr>
                      </a:lvl2pPr>
                      <a:lvl3pPr marL="834390" algn="l" defTabSz="834390" rtl="0" eaLnBrk="1" latinLnBrk="0" hangingPunct="1">
                        <a:defRPr sz="1600" kern="1200">
                          <a:solidFill>
                            <a:schemeClr val="tx1"/>
                          </a:solidFill>
                          <a:latin typeface="FrutigerNext LT Regular"/>
                          <a:ea typeface="华文细黑" panose="02010600040101010101" pitchFamily="2" charset="-122"/>
                          <a:cs typeface="宋体" panose="02010600030101010101" pitchFamily="2" charset="-122"/>
                        </a:defRPr>
                      </a:lvl3pPr>
                      <a:lvl4pPr marL="1251585" algn="l" defTabSz="834390" rtl="0" eaLnBrk="1" latinLnBrk="0" hangingPunct="1">
                        <a:defRPr sz="1600" kern="1200">
                          <a:solidFill>
                            <a:schemeClr val="tx1"/>
                          </a:solidFill>
                          <a:latin typeface="FrutigerNext LT Regular"/>
                          <a:ea typeface="华文细黑" panose="02010600040101010101" pitchFamily="2" charset="-122"/>
                          <a:cs typeface="宋体" panose="02010600030101010101" pitchFamily="2" charset="-122"/>
                        </a:defRPr>
                      </a:lvl4pPr>
                      <a:lvl5pPr marL="1668780" algn="l" defTabSz="834390" rtl="0" eaLnBrk="1" latinLnBrk="0" hangingPunct="1">
                        <a:defRPr sz="1600" kern="1200">
                          <a:solidFill>
                            <a:schemeClr val="tx1"/>
                          </a:solidFill>
                          <a:latin typeface="FrutigerNext LT Regular"/>
                          <a:ea typeface="华文细黑" panose="02010600040101010101" pitchFamily="2" charset="-122"/>
                          <a:cs typeface="宋体" panose="02010600030101010101" pitchFamily="2" charset="-122"/>
                        </a:defRPr>
                      </a:lvl5pPr>
                      <a:lvl6pPr marL="2085975" algn="l" defTabSz="834390" rtl="0" eaLnBrk="1" latinLnBrk="0" hangingPunct="1">
                        <a:defRPr sz="1600" kern="1200">
                          <a:solidFill>
                            <a:schemeClr val="tx1"/>
                          </a:solidFill>
                          <a:latin typeface="FrutigerNext LT Regular"/>
                          <a:ea typeface="华文细黑" panose="02010600040101010101" pitchFamily="2" charset="-122"/>
                          <a:cs typeface="宋体" panose="02010600030101010101" pitchFamily="2" charset="-122"/>
                        </a:defRPr>
                      </a:lvl6pPr>
                      <a:lvl7pPr marL="2503170" algn="l" defTabSz="834390" rtl="0" eaLnBrk="1" latinLnBrk="0" hangingPunct="1">
                        <a:defRPr sz="1600" kern="1200">
                          <a:solidFill>
                            <a:schemeClr val="tx1"/>
                          </a:solidFill>
                          <a:latin typeface="FrutigerNext LT Regular"/>
                          <a:ea typeface="华文细黑" panose="02010600040101010101" pitchFamily="2" charset="-122"/>
                          <a:cs typeface="宋体" panose="02010600030101010101" pitchFamily="2" charset="-122"/>
                        </a:defRPr>
                      </a:lvl7pPr>
                      <a:lvl8pPr marL="2920365" algn="l" defTabSz="834390" rtl="0" eaLnBrk="1" latinLnBrk="0" hangingPunct="1">
                        <a:defRPr sz="1600" kern="1200">
                          <a:solidFill>
                            <a:schemeClr val="tx1"/>
                          </a:solidFill>
                          <a:latin typeface="FrutigerNext LT Regular"/>
                          <a:ea typeface="华文细黑" panose="02010600040101010101" pitchFamily="2" charset="-122"/>
                          <a:cs typeface="宋体" panose="02010600030101010101" pitchFamily="2" charset="-122"/>
                        </a:defRPr>
                      </a:lvl8pPr>
                      <a:lvl9pPr marL="3337560" algn="l" defTabSz="834390" rtl="0" eaLnBrk="1" latinLnBrk="0" hangingPunct="1">
                        <a:defRPr sz="1600" kern="1200">
                          <a:solidFill>
                            <a:schemeClr val="tx1"/>
                          </a:solidFill>
                          <a:latin typeface="FrutigerNext LT Regular"/>
                          <a:ea typeface="华文细黑" panose="02010600040101010101" pitchFamily="2" charset="-122"/>
                          <a:cs typeface="宋体" panose="02010600030101010101" pitchFamily="2" charset="-122"/>
                        </a:defRPr>
                      </a:lvl9pPr>
                    </a:lstStyle>
                    <a:p>
                      <a:r>
                        <a:rPr lang="en-US" sz="1400" dirty="0">
                          <a:latin typeface="Huawei Sans" panose="020C0503030203020204" pitchFamily="34" charset="0"/>
                          <a:ea typeface="方正兰亭黑简体" panose="02000000000000000000" pitchFamily="2" charset="-122"/>
                          <a:sym typeface="Huawei Sans" panose="020C0503030203020204" pitchFamily="34" charset="0"/>
                        </a:rPr>
                        <a:t>BGP</a:t>
                      </a:r>
                      <a:endParaRPr lang="en-US"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业务</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SID</a:t>
                      </a:r>
                      <a:endParaRPr lang="en-US"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r>
              <a:tr h="420060">
                <a:tc>
                  <a:txBody>
                    <a:bodyPr/>
                    <a:lstStyle>
                      <a:lvl1pPr marL="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1pPr>
                      <a:lvl2pPr marL="45720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2pPr>
                      <a:lvl3pPr marL="913765"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3pPr>
                      <a:lvl4pPr marL="1370965"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4pPr>
                      <a:lvl5pPr marL="1828165"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5pPr>
                      <a:lvl6pPr marL="2285365"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6pPr>
                      <a:lvl7pPr marL="274193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7pPr>
                      <a:lvl8pPr marL="319913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8pPr>
                      <a:lvl9pPr marL="365633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9pPr>
                    </a:lstStyle>
                    <a:p>
                      <a:pPr marL="0" marR="0" lvl="0" indent="0" algn="ctr" defTabSz="913765" rtl="0" eaLnBrk="1" fontAlgn="ctr" latinLnBrk="0" hangingPunct="1">
                        <a:lnSpc>
                          <a:spcPct val="100000"/>
                        </a:lnSpc>
                        <a:spcBef>
                          <a:spcPts val="0"/>
                        </a:spcBef>
                        <a:spcAft>
                          <a:spcPts val="0"/>
                        </a:spcAft>
                        <a:buClrTx/>
                        <a:buSzTx/>
                        <a:buFontTx/>
                        <a:buNone/>
                        <a:defRPr/>
                      </a:pPr>
                      <a:r>
                        <a:rPr lang="en-US" altLang="zh-CN" sz="14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End.DT6</a:t>
                      </a:r>
                      <a:endParaRPr lang="en-US" altLang="zh-CN" sz="14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1pPr>
                      <a:lvl2pPr marL="45720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2pPr>
                      <a:lvl3pPr marL="913765"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3pPr>
                      <a:lvl4pPr marL="1370965"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4pPr>
                      <a:lvl5pPr marL="1828165"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5pPr>
                      <a:lvl6pPr marL="2285365"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6pPr>
                      <a:lvl7pPr marL="274193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7pPr>
                      <a:lvl8pPr marL="319913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8pPr>
                      <a:lvl9pPr marL="365633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9pPr>
                    </a:lstStyle>
                    <a:p>
                      <a:pPr algn="l" fontAlgn="ctr"/>
                      <a:r>
                        <a:rPr lang="zh-CN" altLang="en-US" sz="14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表示</a:t>
                      </a:r>
                      <a:r>
                        <a:rPr lang="en-US" altLang="zh-CN" sz="14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PE</a:t>
                      </a:r>
                      <a:r>
                        <a:rPr lang="zh-CN" altLang="en-US" sz="14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类型的</a:t>
                      </a:r>
                      <a:r>
                        <a:rPr lang="en-US" altLang="zh-CN" sz="14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Endpoint SID</a:t>
                      </a:r>
                      <a:r>
                        <a:rPr lang="zh-CN" altLang="en-US" sz="14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，用于标识网络中的某个</a:t>
                      </a:r>
                      <a:r>
                        <a:rPr lang="en-US" altLang="zh-CN" sz="14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IPv6 VPN</a:t>
                      </a:r>
                      <a:r>
                        <a:rPr lang="zh-CN" altLang="en-US" sz="14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实例。对应的转发动作是：解封装报文，并且查找</a:t>
                      </a:r>
                      <a:r>
                        <a:rPr lang="en-US" altLang="zh-CN" sz="14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IPv6 VPN</a:t>
                      </a:r>
                      <a:r>
                        <a:rPr lang="zh-CN" altLang="en-US" sz="14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实例路由表转发。 </a:t>
                      </a:r>
                      <a:r>
                        <a:rPr lang="en-US" altLang="zh-CN" sz="14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End.DT6 SID</a:t>
                      </a:r>
                      <a:r>
                        <a:rPr lang="zh-CN" altLang="en-US" sz="14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在</a:t>
                      </a:r>
                      <a:r>
                        <a:rPr lang="en-US" altLang="zh-CN" sz="14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L3VPNv6</a:t>
                      </a:r>
                      <a:r>
                        <a:rPr lang="zh-CN" altLang="en-US" sz="14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场景使用，等价于</a:t>
                      </a:r>
                      <a:r>
                        <a:rPr lang="en-US" altLang="zh-CN" sz="14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IPv6 VPN</a:t>
                      </a:r>
                      <a:r>
                        <a:rPr lang="zh-CN" altLang="en-US" sz="14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的标签</a:t>
                      </a:r>
                      <a:endParaRPr lang="zh-CN" altLang="en-US" sz="14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834390" rtl="0" eaLnBrk="1" latinLnBrk="0" hangingPunct="1">
                        <a:defRPr sz="1600" kern="1200">
                          <a:solidFill>
                            <a:schemeClr val="tx1"/>
                          </a:solidFill>
                          <a:latin typeface="FrutigerNext LT Regular"/>
                          <a:ea typeface="华文细黑" panose="02010600040101010101" pitchFamily="2" charset="-122"/>
                          <a:cs typeface="宋体" panose="02010600030101010101" pitchFamily="2" charset="-122"/>
                        </a:defRPr>
                      </a:lvl1pPr>
                      <a:lvl2pPr marL="417195" algn="l" defTabSz="834390" rtl="0" eaLnBrk="1" latinLnBrk="0" hangingPunct="1">
                        <a:defRPr sz="1600" kern="1200">
                          <a:solidFill>
                            <a:schemeClr val="tx1"/>
                          </a:solidFill>
                          <a:latin typeface="FrutigerNext LT Regular"/>
                          <a:ea typeface="华文细黑" panose="02010600040101010101" pitchFamily="2" charset="-122"/>
                          <a:cs typeface="宋体" panose="02010600030101010101" pitchFamily="2" charset="-122"/>
                        </a:defRPr>
                      </a:lvl2pPr>
                      <a:lvl3pPr marL="834390" algn="l" defTabSz="834390" rtl="0" eaLnBrk="1" latinLnBrk="0" hangingPunct="1">
                        <a:defRPr sz="1600" kern="1200">
                          <a:solidFill>
                            <a:schemeClr val="tx1"/>
                          </a:solidFill>
                          <a:latin typeface="FrutigerNext LT Regular"/>
                          <a:ea typeface="华文细黑" panose="02010600040101010101" pitchFamily="2" charset="-122"/>
                          <a:cs typeface="宋体" panose="02010600030101010101" pitchFamily="2" charset="-122"/>
                        </a:defRPr>
                      </a:lvl3pPr>
                      <a:lvl4pPr marL="1251585" algn="l" defTabSz="834390" rtl="0" eaLnBrk="1" latinLnBrk="0" hangingPunct="1">
                        <a:defRPr sz="1600" kern="1200">
                          <a:solidFill>
                            <a:schemeClr val="tx1"/>
                          </a:solidFill>
                          <a:latin typeface="FrutigerNext LT Regular"/>
                          <a:ea typeface="华文细黑" panose="02010600040101010101" pitchFamily="2" charset="-122"/>
                          <a:cs typeface="宋体" panose="02010600030101010101" pitchFamily="2" charset="-122"/>
                        </a:defRPr>
                      </a:lvl4pPr>
                      <a:lvl5pPr marL="1668780" algn="l" defTabSz="834390" rtl="0" eaLnBrk="1" latinLnBrk="0" hangingPunct="1">
                        <a:defRPr sz="1600" kern="1200">
                          <a:solidFill>
                            <a:schemeClr val="tx1"/>
                          </a:solidFill>
                          <a:latin typeface="FrutigerNext LT Regular"/>
                          <a:ea typeface="华文细黑" panose="02010600040101010101" pitchFamily="2" charset="-122"/>
                          <a:cs typeface="宋体" panose="02010600030101010101" pitchFamily="2" charset="-122"/>
                        </a:defRPr>
                      </a:lvl5pPr>
                      <a:lvl6pPr marL="2085975" algn="l" defTabSz="834390" rtl="0" eaLnBrk="1" latinLnBrk="0" hangingPunct="1">
                        <a:defRPr sz="1600" kern="1200">
                          <a:solidFill>
                            <a:schemeClr val="tx1"/>
                          </a:solidFill>
                          <a:latin typeface="FrutigerNext LT Regular"/>
                          <a:ea typeface="华文细黑" panose="02010600040101010101" pitchFamily="2" charset="-122"/>
                          <a:cs typeface="宋体" panose="02010600030101010101" pitchFamily="2" charset="-122"/>
                        </a:defRPr>
                      </a:lvl6pPr>
                      <a:lvl7pPr marL="2503170" algn="l" defTabSz="834390" rtl="0" eaLnBrk="1" latinLnBrk="0" hangingPunct="1">
                        <a:defRPr sz="1600" kern="1200">
                          <a:solidFill>
                            <a:schemeClr val="tx1"/>
                          </a:solidFill>
                          <a:latin typeface="FrutigerNext LT Regular"/>
                          <a:ea typeface="华文细黑" panose="02010600040101010101" pitchFamily="2" charset="-122"/>
                          <a:cs typeface="宋体" panose="02010600030101010101" pitchFamily="2" charset="-122"/>
                        </a:defRPr>
                      </a:lvl7pPr>
                      <a:lvl8pPr marL="2920365" algn="l" defTabSz="834390" rtl="0" eaLnBrk="1" latinLnBrk="0" hangingPunct="1">
                        <a:defRPr sz="1600" kern="1200">
                          <a:solidFill>
                            <a:schemeClr val="tx1"/>
                          </a:solidFill>
                          <a:latin typeface="FrutigerNext LT Regular"/>
                          <a:ea typeface="华文细黑" panose="02010600040101010101" pitchFamily="2" charset="-122"/>
                          <a:cs typeface="宋体" panose="02010600030101010101" pitchFamily="2" charset="-122"/>
                        </a:defRPr>
                      </a:lvl8pPr>
                      <a:lvl9pPr marL="3337560" algn="l" defTabSz="834390" rtl="0" eaLnBrk="1" latinLnBrk="0" hangingPunct="1">
                        <a:defRPr sz="1600" kern="1200">
                          <a:solidFill>
                            <a:schemeClr val="tx1"/>
                          </a:solidFill>
                          <a:latin typeface="FrutigerNext LT Regular"/>
                          <a:ea typeface="华文细黑" panose="02010600040101010101" pitchFamily="2" charset="-122"/>
                          <a:cs typeface="宋体" panose="02010600030101010101" pitchFamily="2" charset="-122"/>
                        </a:defRPr>
                      </a:lvl9pPr>
                    </a:lstStyle>
                    <a:p>
                      <a:r>
                        <a:rPr lang="en-US" sz="1400" dirty="0">
                          <a:latin typeface="Huawei Sans" panose="020C0503030203020204" pitchFamily="34" charset="0"/>
                          <a:ea typeface="方正兰亭黑简体" panose="02000000000000000000" pitchFamily="2" charset="-122"/>
                          <a:sym typeface="Huawei Sans" panose="020C0503030203020204" pitchFamily="34" charset="0"/>
                        </a:rPr>
                        <a:t>BGP</a:t>
                      </a:r>
                      <a:endParaRPr lang="en-US"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业务</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SID</a:t>
                      </a:r>
                      <a:endParaRPr lang="en-US"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r>
              <a:tr h="420060">
                <a:tc>
                  <a:txBody>
                    <a:bodyPr/>
                    <a:lstStyle>
                      <a:lvl1pPr marL="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1pPr>
                      <a:lvl2pPr marL="45720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2pPr>
                      <a:lvl3pPr marL="913765"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3pPr>
                      <a:lvl4pPr marL="1370965"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4pPr>
                      <a:lvl5pPr marL="1828165"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5pPr>
                      <a:lvl6pPr marL="2285365"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6pPr>
                      <a:lvl7pPr marL="274193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7pPr>
                      <a:lvl8pPr marL="319913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8pPr>
                      <a:lvl9pPr marL="365633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9pPr>
                    </a:lstStyle>
                    <a:p>
                      <a:pPr algn="ctr" rtl="0" fontAlgn="ctr"/>
                      <a:r>
                        <a:rPr lang="en-US" sz="14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End.DX4</a:t>
                      </a:r>
                      <a:endParaRPr lang="en-US" sz="14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1pPr>
                      <a:lvl2pPr marL="45720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2pPr>
                      <a:lvl3pPr marL="913765"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3pPr>
                      <a:lvl4pPr marL="1370965"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4pPr>
                      <a:lvl5pPr marL="1828165"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5pPr>
                      <a:lvl6pPr marL="2285365"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6pPr>
                      <a:lvl7pPr marL="274193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7pPr>
                      <a:lvl8pPr marL="319913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8pPr>
                      <a:lvl9pPr marL="365633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9pPr>
                    </a:lstStyle>
                    <a:p>
                      <a:pPr algn="l" fontAlgn="ctr"/>
                      <a:r>
                        <a:rPr lang="zh-CN" altLang="en-US" sz="14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表示</a:t>
                      </a:r>
                      <a:r>
                        <a:rPr lang="en-US" altLang="zh-CN" sz="14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PE</a:t>
                      </a:r>
                      <a:r>
                        <a:rPr lang="zh-CN" altLang="en-US" sz="14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类型的三层交叉连接的</a:t>
                      </a:r>
                      <a:r>
                        <a:rPr lang="en-US" altLang="zh-CN" sz="14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Endpoint SID</a:t>
                      </a:r>
                      <a:r>
                        <a:rPr lang="zh-CN" altLang="en-US" sz="14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，用于标识网络中的某个</a:t>
                      </a:r>
                      <a:r>
                        <a:rPr lang="en-US" altLang="zh-CN" sz="14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IPv4 CE</a:t>
                      </a:r>
                      <a:r>
                        <a:rPr lang="zh-CN" altLang="en-US" sz="14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。对应的转发动作是：解封装报文，并且将解封后的</a:t>
                      </a:r>
                      <a:r>
                        <a:rPr lang="en-US" altLang="zh-CN" sz="14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IPv4</a:t>
                      </a:r>
                      <a:r>
                        <a:rPr lang="zh-CN" altLang="en-US" sz="14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报文在该</a:t>
                      </a:r>
                      <a:r>
                        <a:rPr lang="en-US" altLang="zh-CN" sz="14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SID</a:t>
                      </a:r>
                      <a:r>
                        <a:rPr lang="zh-CN" altLang="en-US" sz="14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绑定的三层接口上转发。</a:t>
                      </a:r>
                      <a:r>
                        <a:rPr lang="en-US" altLang="zh-CN" sz="14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End.DX4 SID</a:t>
                      </a:r>
                      <a:r>
                        <a:rPr lang="zh-CN" altLang="en-US" sz="14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在</a:t>
                      </a:r>
                      <a:r>
                        <a:rPr lang="en-US" altLang="zh-CN" sz="14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L3VPNv4 </a:t>
                      </a:r>
                      <a:r>
                        <a:rPr lang="zh-CN" altLang="en-US" sz="14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场景使用，等价于连接到</a:t>
                      </a:r>
                      <a:r>
                        <a:rPr lang="en-US" altLang="zh-CN" sz="14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CE</a:t>
                      </a:r>
                      <a:r>
                        <a:rPr lang="zh-CN" altLang="en-US" sz="14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的邻接标签。</a:t>
                      </a:r>
                      <a:endParaRPr lang="zh-CN" altLang="en-US" sz="14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834390" rtl="0" eaLnBrk="1" latinLnBrk="0" hangingPunct="1">
                        <a:defRPr sz="1600" kern="1200">
                          <a:solidFill>
                            <a:schemeClr val="tx1"/>
                          </a:solidFill>
                          <a:latin typeface="FrutigerNext LT Regular"/>
                          <a:ea typeface="华文细黑" panose="02010600040101010101" pitchFamily="2" charset="-122"/>
                          <a:cs typeface="宋体" panose="02010600030101010101" pitchFamily="2" charset="-122"/>
                        </a:defRPr>
                      </a:lvl1pPr>
                      <a:lvl2pPr marL="417195" algn="l" defTabSz="834390" rtl="0" eaLnBrk="1" latinLnBrk="0" hangingPunct="1">
                        <a:defRPr sz="1600" kern="1200">
                          <a:solidFill>
                            <a:schemeClr val="tx1"/>
                          </a:solidFill>
                          <a:latin typeface="FrutigerNext LT Regular"/>
                          <a:ea typeface="华文细黑" panose="02010600040101010101" pitchFamily="2" charset="-122"/>
                          <a:cs typeface="宋体" panose="02010600030101010101" pitchFamily="2" charset="-122"/>
                        </a:defRPr>
                      </a:lvl2pPr>
                      <a:lvl3pPr marL="834390" algn="l" defTabSz="834390" rtl="0" eaLnBrk="1" latinLnBrk="0" hangingPunct="1">
                        <a:defRPr sz="1600" kern="1200">
                          <a:solidFill>
                            <a:schemeClr val="tx1"/>
                          </a:solidFill>
                          <a:latin typeface="FrutigerNext LT Regular"/>
                          <a:ea typeface="华文细黑" panose="02010600040101010101" pitchFamily="2" charset="-122"/>
                          <a:cs typeface="宋体" panose="02010600030101010101" pitchFamily="2" charset="-122"/>
                        </a:defRPr>
                      </a:lvl3pPr>
                      <a:lvl4pPr marL="1251585" algn="l" defTabSz="834390" rtl="0" eaLnBrk="1" latinLnBrk="0" hangingPunct="1">
                        <a:defRPr sz="1600" kern="1200">
                          <a:solidFill>
                            <a:schemeClr val="tx1"/>
                          </a:solidFill>
                          <a:latin typeface="FrutigerNext LT Regular"/>
                          <a:ea typeface="华文细黑" panose="02010600040101010101" pitchFamily="2" charset="-122"/>
                          <a:cs typeface="宋体" panose="02010600030101010101" pitchFamily="2" charset="-122"/>
                        </a:defRPr>
                      </a:lvl4pPr>
                      <a:lvl5pPr marL="1668780" algn="l" defTabSz="834390" rtl="0" eaLnBrk="1" latinLnBrk="0" hangingPunct="1">
                        <a:defRPr sz="1600" kern="1200">
                          <a:solidFill>
                            <a:schemeClr val="tx1"/>
                          </a:solidFill>
                          <a:latin typeface="FrutigerNext LT Regular"/>
                          <a:ea typeface="华文细黑" panose="02010600040101010101" pitchFamily="2" charset="-122"/>
                          <a:cs typeface="宋体" panose="02010600030101010101" pitchFamily="2" charset="-122"/>
                        </a:defRPr>
                      </a:lvl5pPr>
                      <a:lvl6pPr marL="2085975" algn="l" defTabSz="834390" rtl="0" eaLnBrk="1" latinLnBrk="0" hangingPunct="1">
                        <a:defRPr sz="1600" kern="1200">
                          <a:solidFill>
                            <a:schemeClr val="tx1"/>
                          </a:solidFill>
                          <a:latin typeface="FrutigerNext LT Regular"/>
                          <a:ea typeface="华文细黑" panose="02010600040101010101" pitchFamily="2" charset="-122"/>
                          <a:cs typeface="宋体" panose="02010600030101010101" pitchFamily="2" charset="-122"/>
                        </a:defRPr>
                      </a:lvl6pPr>
                      <a:lvl7pPr marL="2503170" algn="l" defTabSz="834390" rtl="0" eaLnBrk="1" latinLnBrk="0" hangingPunct="1">
                        <a:defRPr sz="1600" kern="1200">
                          <a:solidFill>
                            <a:schemeClr val="tx1"/>
                          </a:solidFill>
                          <a:latin typeface="FrutigerNext LT Regular"/>
                          <a:ea typeface="华文细黑" panose="02010600040101010101" pitchFamily="2" charset="-122"/>
                          <a:cs typeface="宋体" panose="02010600030101010101" pitchFamily="2" charset="-122"/>
                        </a:defRPr>
                      </a:lvl7pPr>
                      <a:lvl8pPr marL="2920365" algn="l" defTabSz="834390" rtl="0" eaLnBrk="1" latinLnBrk="0" hangingPunct="1">
                        <a:defRPr sz="1600" kern="1200">
                          <a:solidFill>
                            <a:schemeClr val="tx1"/>
                          </a:solidFill>
                          <a:latin typeface="FrutigerNext LT Regular"/>
                          <a:ea typeface="华文细黑" panose="02010600040101010101" pitchFamily="2" charset="-122"/>
                          <a:cs typeface="宋体" panose="02010600030101010101" pitchFamily="2" charset="-122"/>
                        </a:defRPr>
                      </a:lvl8pPr>
                      <a:lvl9pPr marL="3337560" algn="l" defTabSz="834390" rtl="0" eaLnBrk="1" latinLnBrk="0" hangingPunct="1">
                        <a:defRPr sz="1600" kern="1200">
                          <a:solidFill>
                            <a:schemeClr val="tx1"/>
                          </a:solidFill>
                          <a:latin typeface="FrutigerNext LT Regular"/>
                          <a:ea typeface="华文细黑" panose="02010600040101010101" pitchFamily="2" charset="-122"/>
                          <a:cs typeface="宋体" panose="02010600030101010101" pitchFamily="2" charset="-122"/>
                        </a:defRPr>
                      </a:lvl9pPr>
                    </a:lstStyle>
                    <a:p>
                      <a:r>
                        <a:rPr lang="en-US" sz="1400" dirty="0">
                          <a:latin typeface="Huawei Sans" panose="020C0503030203020204" pitchFamily="34" charset="0"/>
                          <a:ea typeface="方正兰亭黑简体" panose="02000000000000000000" pitchFamily="2" charset="-122"/>
                          <a:sym typeface="Huawei Sans" panose="020C0503030203020204" pitchFamily="34" charset="0"/>
                        </a:rPr>
                        <a:t>BGP</a:t>
                      </a:r>
                      <a:endParaRPr lang="en-US"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业务</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SID</a:t>
                      </a:r>
                      <a:endParaRPr lang="en-US"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r>
              <a:tr h="420060">
                <a:tc>
                  <a:txBody>
                    <a:bodyPr/>
                    <a:lstStyle>
                      <a:lvl1pPr marL="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1pPr>
                      <a:lvl2pPr marL="45720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2pPr>
                      <a:lvl3pPr marL="913765"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3pPr>
                      <a:lvl4pPr marL="1370965"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4pPr>
                      <a:lvl5pPr marL="1828165"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5pPr>
                      <a:lvl6pPr marL="2285365"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6pPr>
                      <a:lvl7pPr marL="274193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7pPr>
                      <a:lvl8pPr marL="319913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8pPr>
                      <a:lvl9pPr marL="365633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9pPr>
                    </a:lstStyle>
                    <a:p>
                      <a:pPr marL="0" marR="0" lvl="0" indent="0" algn="ctr" defTabSz="913765" rtl="0" eaLnBrk="1" fontAlgn="ctr" latinLnBrk="0" hangingPunct="1">
                        <a:lnSpc>
                          <a:spcPct val="100000"/>
                        </a:lnSpc>
                        <a:spcBef>
                          <a:spcPts val="0"/>
                        </a:spcBef>
                        <a:spcAft>
                          <a:spcPts val="0"/>
                        </a:spcAft>
                        <a:buClrTx/>
                        <a:buSzTx/>
                        <a:buFontTx/>
                        <a:buNone/>
                        <a:defRPr/>
                      </a:pPr>
                      <a:r>
                        <a:rPr lang="en-US" altLang="zh-CN" sz="14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End.DX6</a:t>
                      </a:r>
                      <a:endParaRPr lang="en-US" altLang="zh-CN" sz="14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1pPr>
                      <a:lvl2pPr marL="45720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2pPr>
                      <a:lvl3pPr marL="913765"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3pPr>
                      <a:lvl4pPr marL="1370965"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4pPr>
                      <a:lvl5pPr marL="1828165"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5pPr>
                      <a:lvl6pPr marL="2285365"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6pPr>
                      <a:lvl7pPr marL="274193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7pPr>
                      <a:lvl8pPr marL="319913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8pPr>
                      <a:lvl9pPr marL="365633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9pPr>
                    </a:lstStyle>
                    <a:p>
                      <a:pPr algn="l" fontAlgn="ctr"/>
                      <a:r>
                        <a:rPr lang="zh-CN" altLang="en-US" sz="14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表示</a:t>
                      </a:r>
                      <a:r>
                        <a:rPr lang="en-US" altLang="zh-CN" sz="14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PE</a:t>
                      </a:r>
                      <a:r>
                        <a:rPr lang="zh-CN" altLang="en-US" sz="14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类型的三层交叉连接的</a:t>
                      </a:r>
                      <a:r>
                        <a:rPr lang="en-US" altLang="zh-CN" sz="14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Endpoint SID</a:t>
                      </a:r>
                      <a:r>
                        <a:rPr lang="zh-CN" altLang="en-US" sz="14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，用于标识网络中的某个</a:t>
                      </a:r>
                      <a:r>
                        <a:rPr lang="en-US" altLang="zh-CN" sz="14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IPv6 CE</a:t>
                      </a:r>
                      <a:r>
                        <a:rPr lang="zh-CN" altLang="en-US" sz="14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。对应的转发动作是：解封装报文，并且将解封后的</a:t>
                      </a:r>
                      <a:r>
                        <a:rPr lang="en-US" altLang="zh-CN" sz="14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IPv6</a:t>
                      </a:r>
                      <a:r>
                        <a:rPr lang="zh-CN" altLang="en-US" sz="14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报文在该</a:t>
                      </a:r>
                      <a:r>
                        <a:rPr lang="en-US" altLang="zh-CN" sz="14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SID</a:t>
                      </a:r>
                      <a:r>
                        <a:rPr lang="zh-CN" altLang="en-US" sz="14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绑定的三层接口上转发。 </a:t>
                      </a:r>
                      <a:r>
                        <a:rPr lang="en-US" altLang="zh-CN" sz="14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End.DX6 SID</a:t>
                      </a:r>
                      <a:r>
                        <a:rPr lang="zh-CN" altLang="en-US" sz="14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在</a:t>
                      </a:r>
                      <a:r>
                        <a:rPr lang="en-US" altLang="zh-CN" sz="14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L3VPNv6</a:t>
                      </a:r>
                      <a:r>
                        <a:rPr lang="zh-CN" altLang="en-US" sz="14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场景使用，等价于连接到</a:t>
                      </a:r>
                      <a:r>
                        <a:rPr lang="en-US" altLang="zh-CN" sz="14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CE</a:t>
                      </a:r>
                      <a:r>
                        <a:rPr lang="zh-CN" altLang="en-US" sz="14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的邻接标签。</a:t>
                      </a:r>
                      <a:endParaRPr lang="en-US" altLang="zh-CN" sz="14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834390" rtl="0" eaLnBrk="1" latinLnBrk="0" hangingPunct="1">
                        <a:defRPr sz="1600" kern="1200">
                          <a:solidFill>
                            <a:schemeClr val="tx1"/>
                          </a:solidFill>
                          <a:latin typeface="FrutigerNext LT Regular"/>
                          <a:ea typeface="华文细黑" panose="02010600040101010101" pitchFamily="2" charset="-122"/>
                          <a:cs typeface="宋体" panose="02010600030101010101" pitchFamily="2" charset="-122"/>
                        </a:defRPr>
                      </a:lvl1pPr>
                      <a:lvl2pPr marL="417195" algn="l" defTabSz="834390" rtl="0" eaLnBrk="1" latinLnBrk="0" hangingPunct="1">
                        <a:defRPr sz="1600" kern="1200">
                          <a:solidFill>
                            <a:schemeClr val="tx1"/>
                          </a:solidFill>
                          <a:latin typeface="FrutigerNext LT Regular"/>
                          <a:ea typeface="华文细黑" panose="02010600040101010101" pitchFamily="2" charset="-122"/>
                          <a:cs typeface="宋体" panose="02010600030101010101" pitchFamily="2" charset="-122"/>
                        </a:defRPr>
                      </a:lvl2pPr>
                      <a:lvl3pPr marL="834390" algn="l" defTabSz="834390" rtl="0" eaLnBrk="1" latinLnBrk="0" hangingPunct="1">
                        <a:defRPr sz="1600" kern="1200">
                          <a:solidFill>
                            <a:schemeClr val="tx1"/>
                          </a:solidFill>
                          <a:latin typeface="FrutigerNext LT Regular"/>
                          <a:ea typeface="华文细黑" panose="02010600040101010101" pitchFamily="2" charset="-122"/>
                          <a:cs typeface="宋体" panose="02010600030101010101" pitchFamily="2" charset="-122"/>
                        </a:defRPr>
                      </a:lvl3pPr>
                      <a:lvl4pPr marL="1251585" algn="l" defTabSz="834390" rtl="0" eaLnBrk="1" latinLnBrk="0" hangingPunct="1">
                        <a:defRPr sz="1600" kern="1200">
                          <a:solidFill>
                            <a:schemeClr val="tx1"/>
                          </a:solidFill>
                          <a:latin typeface="FrutigerNext LT Regular"/>
                          <a:ea typeface="华文细黑" panose="02010600040101010101" pitchFamily="2" charset="-122"/>
                          <a:cs typeface="宋体" panose="02010600030101010101" pitchFamily="2" charset="-122"/>
                        </a:defRPr>
                      </a:lvl4pPr>
                      <a:lvl5pPr marL="1668780" algn="l" defTabSz="834390" rtl="0" eaLnBrk="1" latinLnBrk="0" hangingPunct="1">
                        <a:defRPr sz="1600" kern="1200">
                          <a:solidFill>
                            <a:schemeClr val="tx1"/>
                          </a:solidFill>
                          <a:latin typeface="FrutigerNext LT Regular"/>
                          <a:ea typeface="华文细黑" panose="02010600040101010101" pitchFamily="2" charset="-122"/>
                          <a:cs typeface="宋体" panose="02010600030101010101" pitchFamily="2" charset="-122"/>
                        </a:defRPr>
                      </a:lvl5pPr>
                      <a:lvl6pPr marL="2085975" algn="l" defTabSz="834390" rtl="0" eaLnBrk="1" latinLnBrk="0" hangingPunct="1">
                        <a:defRPr sz="1600" kern="1200">
                          <a:solidFill>
                            <a:schemeClr val="tx1"/>
                          </a:solidFill>
                          <a:latin typeface="FrutigerNext LT Regular"/>
                          <a:ea typeface="华文细黑" panose="02010600040101010101" pitchFamily="2" charset="-122"/>
                          <a:cs typeface="宋体" panose="02010600030101010101" pitchFamily="2" charset="-122"/>
                        </a:defRPr>
                      </a:lvl6pPr>
                      <a:lvl7pPr marL="2503170" algn="l" defTabSz="834390" rtl="0" eaLnBrk="1" latinLnBrk="0" hangingPunct="1">
                        <a:defRPr sz="1600" kern="1200">
                          <a:solidFill>
                            <a:schemeClr val="tx1"/>
                          </a:solidFill>
                          <a:latin typeface="FrutigerNext LT Regular"/>
                          <a:ea typeface="华文细黑" panose="02010600040101010101" pitchFamily="2" charset="-122"/>
                          <a:cs typeface="宋体" panose="02010600030101010101" pitchFamily="2" charset="-122"/>
                        </a:defRPr>
                      </a:lvl7pPr>
                      <a:lvl8pPr marL="2920365" algn="l" defTabSz="834390" rtl="0" eaLnBrk="1" latinLnBrk="0" hangingPunct="1">
                        <a:defRPr sz="1600" kern="1200">
                          <a:solidFill>
                            <a:schemeClr val="tx1"/>
                          </a:solidFill>
                          <a:latin typeface="FrutigerNext LT Regular"/>
                          <a:ea typeface="华文细黑" panose="02010600040101010101" pitchFamily="2" charset="-122"/>
                          <a:cs typeface="宋体" panose="02010600030101010101" pitchFamily="2" charset="-122"/>
                        </a:defRPr>
                      </a:lvl8pPr>
                      <a:lvl9pPr marL="3337560" algn="l" defTabSz="834390" rtl="0" eaLnBrk="1" latinLnBrk="0" hangingPunct="1">
                        <a:defRPr sz="1600" kern="1200">
                          <a:solidFill>
                            <a:schemeClr val="tx1"/>
                          </a:solidFill>
                          <a:latin typeface="FrutigerNext LT Regular"/>
                          <a:ea typeface="华文细黑" panose="02010600040101010101" pitchFamily="2" charset="-122"/>
                          <a:cs typeface="宋体" panose="02010600030101010101" pitchFamily="2" charset="-122"/>
                        </a:defRPr>
                      </a:lvl9pPr>
                    </a:lstStyle>
                    <a:p>
                      <a:r>
                        <a:rPr lang="en-US" sz="1400" dirty="0">
                          <a:latin typeface="Huawei Sans" panose="020C0503030203020204" pitchFamily="34" charset="0"/>
                          <a:ea typeface="方正兰亭黑简体" panose="02000000000000000000" pitchFamily="2" charset="-122"/>
                          <a:sym typeface="Huawei Sans" panose="020C0503030203020204" pitchFamily="34" charset="0"/>
                        </a:rPr>
                        <a:t>BGP</a:t>
                      </a:r>
                      <a:endParaRPr lang="en-US"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业务</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SID</a:t>
                      </a:r>
                      <a:endParaRPr lang="en-US"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r>
            </a:tbl>
          </a:graphicData>
        </a:graphic>
      </p:graphicFrame>
      <p:sp>
        <p:nvSpPr>
          <p:cNvPr id="4" name="五边形 2"/>
          <p:cNvSpPr/>
          <p:nvPr/>
        </p:nvSpPr>
        <p:spPr bwMode="gray">
          <a:xfrm>
            <a:off x="8310982" y="110463"/>
            <a:ext cx="1195960"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SRv6</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SRH</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介绍</a:t>
            </a:r>
            <a:endPar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燕尾形 3"/>
          <p:cNvSpPr/>
          <p:nvPr/>
        </p:nvSpPr>
        <p:spPr bwMode="gray">
          <a:xfrm>
            <a:off x="9430382" y="110463"/>
            <a:ext cx="119596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SRv6</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节点介绍</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燕尾形 3"/>
          <p:cNvSpPr/>
          <p:nvPr/>
        </p:nvSpPr>
        <p:spPr bwMode="gray">
          <a:xfrm>
            <a:off x="10553128" y="105534"/>
            <a:ext cx="119596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SRv6</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转发原理</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r>
              <a:rPr lang="en-US" altLang="zh-CN" dirty="0">
                <a:sym typeface="Huawei Sans" panose="020C0503030203020204" pitchFamily="34" charset="0"/>
              </a:rPr>
              <a:t>SRv6</a:t>
            </a:r>
            <a:r>
              <a:rPr lang="zh-CN" altLang="en-US" dirty="0">
                <a:sym typeface="Huawei Sans" panose="020C0503030203020204" pitchFamily="34" charset="0"/>
              </a:rPr>
              <a:t> </a:t>
            </a:r>
            <a:r>
              <a:rPr lang="en-US" altLang="zh-CN" dirty="0">
                <a:sym typeface="Huawei Sans" panose="020C0503030203020204" pitchFamily="34" charset="0"/>
              </a:rPr>
              <a:t>Segment</a:t>
            </a:r>
            <a:r>
              <a:rPr lang="zh-CN" altLang="en-US" dirty="0">
                <a:sym typeface="Huawei Sans" panose="020C0503030203020204" pitchFamily="34" charset="0"/>
              </a:rPr>
              <a:t>命名规则</a:t>
            </a:r>
            <a:endParaRPr lang="zh-CN" altLang="en-US" dirty="0">
              <a:sym typeface="Huawei Sans" panose="020C0503030203020204" pitchFamily="34" charset="0"/>
            </a:endParaRPr>
          </a:p>
        </p:txBody>
      </p:sp>
      <p:sp>
        <p:nvSpPr>
          <p:cNvPr id="3" name="文本占位符 2"/>
          <p:cNvSpPr>
            <a:spLocks noGrp="1"/>
          </p:cNvSpPr>
          <p:nvPr>
            <p:ph type="body" sz="quarter" idx="10"/>
          </p:nvPr>
        </p:nvSpPr>
        <p:spPr bwMode="gray"/>
        <p:txBody>
          <a:bodyPr/>
          <a:lstStyle/>
          <a:p>
            <a:r>
              <a:rPr lang="en-US" altLang="zh-CN" sz="1600" dirty="0">
                <a:sym typeface="Huawei Sans" panose="020C0503030203020204" pitchFamily="34" charset="0"/>
              </a:rPr>
              <a:t>SRv6</a:t>
            </a:r>
            <a:r>
              <a:rPr lang="zh-CN" altLang="en-US" sz="1600" dirty="0">
                <a:sym typeface="Huawei Sans" panose="020C0503030203020204" pitchFamily="34" charset="0"/>
              </a:rPr>
              <a:t> </a:t>
            </a:r>
            <a:r>
              <a:rPr lang="en-US" altLang="zh-CN" sz="1600" dirty="0">
                <a:sym typeface="Huawei Sans" panose="020C0503030203020204" pitchFamily="34" charset="0"/>
              </a:rPr>
              <a:t>Segment</a:t>
            </a:r>
            <a:r>
              <a:rPr lang="zh-CN" altLang="en-US" sz="1600" dirty="0">
                <a:sym typeface="Huawei Sans" panose="020C0503030203020204" pitchFamily="34" charset="0"/>
              </a:rPr>
              <a:t>的命名遵循一定规则，可以从命名组合中快速判断指令功能：</a:t>
            </a:r>
            <a:endParaRPr lang="en-US" altLang="zh-CN" sz="1600" dirty="0">
              <a:sym typeface="Huawei Sans" panose="020C0503030203020204" pitchFamily="34" charset="0"/>
            </a:endParaRPr>
          </a:p>
          <a:p>
            <a:pPr lvl="1"/>
            <a:r>
              <a:rPr lang="en-US" altLang="zh-CN" sz="1400" dirty="0">
                <a:sym typeface="Huawei Sans" panose="020C0503030203020204" pitchFamily="34" charset="0"/>
              </a:rPr>
              <a:t>End</a:t>
            </a:r>
            <a:r>
              <a:rPr lang="zh-CN" altLang="en-US" sz="1400" dirty="0">
                <a:sym typeface="Huawei Sans" panose="020C0503030203020204" pitchFamily="34" charset="0"/>
              </a:rPr>
              <a:t>：</a:t>
            </a:r>
            <a:r>
              <a:rPr lang="en-US" altLang="zh-CN" sz="1400" dirty="0">
                <a:sym typeface="Huawei Sans" panose="020C0503030203020204" pitchFamily="34" charset="0"/>
              </a:rPr>
              <a:t>End</a:t>
            </a:r>
            <a:r>
              <a:rPr lang="zh-CN" altLang="en-US" sz="1400" dirty="0">
                <a:sym typeface="Huawei Sans" panose="020C0503030203020204" pitchFamily="34" charset="0"/>
              </a:rPr>
              <a:t>是最基础的</a:t>
            </a:r>
            <a:r>
              <a:rPr lang="en-US" altLang="zh-CN" sz="1400" dirty="0">
                <a:sym typeface="Huawei Sans" panose="020C0503030203020204" pitchFamily="34" charset="0"/>
              </a:rPr>
              <a:t>Segment Endpoint</a:t>
            </a:r>
            <a:r>
              <a:rPr lang="zh-CN" altLang="en-US" sz="1400" dirty="0">
                <a:sym typeface="Huawei Sans" panose="020C0503030203020204" pitchFamily="34" charset="0"/>
              </a:rPr>
              <a:t>执行指令，表示中止当前指令，开始执行下一个指令。对应的转发动作是将</a:t>
            </a:r>
            <a:r>
              <a:rPr lang="en-US" altLang="zh-CN" sz="1400" dirty="0">
                <a:sym typeface="Huawei Sans" panose="020C0503030203020204" pitchFamily="34" charset="0"/>
              </a:rPr>
              <a:t>SL</a:t>
            </a:r>
            <a:r>
              <a:rPr lang="zh-CN" altLang="en-US" sz="1400" dirty="0">
                <a:sym typeface="Huawei Sans" panose="020C0503030203020204" pitchFamily="34" charset="0"/>
              </a:rPr>
              <a:t>值</a:t>
            </a:r>
            <a:r>
              <a:rPr lang="en-US" altLang="zh-CN" sz="1400" dirty="0">
                <a:sym typeface="Huawei Sans" panose="020C0503030203020204" pitchFamily="34" charset="0"/>
              </a:rPr>
              <a:t>-1</a:t>
            </a:r>
            <a:r>
              <a:rPr lang="zh-CN" altLang="en-US" sz="1400" dirty="0">
                <a:sym typeface="Huawei Sans" panose="020C0503030203020204" pitchFamily="34" charset="0"/>
              </a:rPr>
              <a:t>，并将</a:t>
            </a:r>
            <a:r>
              <a:rPr lang="en-US" altLang="zh-CN" sz="1400" dirty="0">
                <a:sym typeface="Huawei Sans" panose="020C0503030203020204" pitchFamily="34" charset="0"/>
              </a:rPr>
              <a:t>SL</a:t>
            </a:r>
            <a:r>
              <a:rPr lang="zh-CN" altLang="en-US" sz="1400" dirty="0">
                <a:sym typeface="Huawei Sans" panose="020C0503030203020204" pitchFamily="34" charset="0"/>
              </a:rPr>
              <a:t>指向的</a:t>
            </a:r>
            <a:r>
              <a:rPr lang="en-US" altLang="zh-CN" sz="1400" dirty="0">
                <a:sym typeface="Huawei Sans" panose="020C0503030203020204" pitchFamily="34" charset="0"/>
              </a:rPr>
              <a:t>SID</a:t>
            </a:r>
            <a:r>
              <a:rPr lang="zh-CN" altLang="en-US" sz="1400" dirty="0">
                <a:sym typeface="Huawei Sans" panose="020C0503030203020204" pitchFamily="34" charset="0"/>
              </a:rPr>
              <a:t>复制到</a:t>
            </a:r>
            <a:r>
              <a:rPr lang="en-US" altLang="zh-CN" sz="1400" dirty="0">
                <a:sym typeface="Huawei Sans" panose="020C0503030203020204" pitchFamily="34" charset="0"/>
              </a:rPr>
              <a:t>IPv6</a:t>
            </a:r>
            <a:r>
              <a:rPr lang="zh-CN" altLang="en-US" sz="1400" dirty="0">
                <a:sym typeface="Huawei Sans" panose="020C0503030203020204" pitchFamily="34" charset="0"/>
              </a:rPr>
              <a:t>报文头的目的地址中。</a:t>
            </a:r>
            <a:endParaRPr lang="en-US" altLang="zh-CN" sz="1400" dirty="0">
              <a:sym typeface="Huawei Sans" panose="020C0503030203020204" pitchFamily="34" charset="0"/>
            </a:endParaRPr>
          </a:p>
          <a:p>
            <a:pPr lvl="1"/>
            <a:r>
              <a:rPr lang="en-US" altLang="zh-CN" sz="1400" dirty="0">
                <a:sym typeface="Huawei Sans" panose="020C0503030203020204" pitchFamily="34" charset="0"/>
              </a:rPr>
              <a:t>X</a:t>
            </a:r>
            <a:r>
              <a:rPr lang="zh-CN" altLang="en-US" sz="1400" dirty="0">
                <a:sym typeface="Huawei Sans" panose="020C0503030203020204" pitchFamily="34" charset="0"/>
              </a:rPr>
              <a:t>：指定一个或一组三层接口转发报文。对应的转发行为是按照指定出接口转发报文。</a:t>
            </a:r>
            <a:endParaRPr lang="en-US" altLang="zh-CN" sz="1400" dirty="0">
              <a:sym typeface="Huawei Sans" panose="020C0503030203020204" pitchFamily="34" charset="0"/>
            </a:endParaRPr>
          </a:p>
          <a:p>
            <a:pPr lvl="1"/>
            <a:r>
              <a:rPr lang="en-US" altLang="zh-CN" sz="1400" dirty="0">
                <a:sym typeface="Huawei Sans" panose="020C0503030203020204" pitchFamily="34" charset="0"/>
              </a:rPr>
              <a:t>T</a:t>
            </a:r>
            <a:r>
              <a:rPr lang="zh-CN" altLang="en-US" sz="1400" dirty="0">
                <a:sym typeface="Huawei Sans" panose="020C0503030203020204" pitchFamily="34" charset="0"/>
              </a:rPr>
              <a:t>：查询路由表并转发报文。</a:t>
            </a:r>
            <a:endParaRPr lang="en-US" altLang="zh-CN" sz="1400" dirty="0">
              <a:sym typeface="Huawei Sans" panose="020C0503030203020204" pitchFamily="34" charset="0"/>
            </a:endParaRPr>
          </a:p>
          <a:p>
            <a:pPr lvl="1"/>
            <a:r>
              <a:rPr lang="en-US" altLang="zh-CN" sz="1400" dirty="0">
                <a:sym typeface="Huawei Sans" panose="020C0503030203020204" pitchFamily="34" charset="0"/>
              </a:rPr>
              <a:t>D</a:t>
            </a:r>
            <a:r>
              <a:rPr lang="zh-CN" altLang="en-US" sz="1400" dirty="0">
                <a:sym typeface="Huawei Sans" panose="020C0503030203020204" pitchFamily="34" charset="0"/>
              </a:rPr>
              <a:t>：解封装。移除</a:t>
            </a:r>
            <a:r>
              <a:rPr lang="en-US" altLang="zh-CN" sz="1400" dirty="0">
                <a:sym typeface="Huawei Sans" panose="020C0503030203020204" pitchFamily="34" charset="0"/>
              </a:rPr>
              <a:t>IPv6</a:t>
            </a:r>
            <a:r>
              <a:rPr lang="zh-CN" altLang="en-US" sz="1400" dirty="0">
                <a:sym typeface="Huawei Sans" panose="020C0503030203020204" pitchFamily="34" charset="0"/>
              </a:rPr>
              <a:t>报文头和与它相关的扩展报文头。</a:t>
            </a:r>
            <a:endParaRPr lang="en-US" altLang="zh-CN" sz="1400" dirty="0">
              <a:sym typeface="Huawei Sans" panose="020C0503030203020204" pitchFamily="34" charset="0"/>
            </a:endParaRPr>
          </a:p>
          <a:p>
            <a:pPr lvl="1"/>
            <a:r>
              <a:rPr lang="en-US" altLang="zh-CN" sz="1400" dirty="0">
                <a:sym typeface="Huawei Sans" panose="020C0503030203020204" pitchFamily="34" charset="0"/>
              </a:rPr>
              <a:t>V</a:t>
            </a:r>
            <a:r>
              <a:rPr lang="zh-CN" altLang="en-US" sz="1400" dirty="0">
                <a:sym typeface="Huawei Sans" panose="020C0503030203020204" pitchFamily="34" charset="0"/>
              </a:rPr>
              <a:t>：根据</a:t>
            </a:r>
            <a:r>
              <a:rPr lang="en-US" altLang="zh-CN" sz="1400" dirty="0">
                <a:sym typeface="Huawei Sans" panose="020C0503030203020204" pitchFamily="34" charset="0"/>
              </a:rPr>
              <a:t>VLAN</a:t>
            </a:r>
            <a:r>
              <a:rPr lang="zh-CN" altLang="en-US" sz="1400" dirty="0">
                <a:sym typeface="Huawei Sans" panose="020C0503030203020204" pitchFamily="34" charset="0"/>
              </a:rPr>
              <a:t>查表转发。</a:t>
            </a:r>
            <a:endParaRPr lang="en-US" altLang="zh-CN" sz="1400" dirty="0">
              <a:sym typeface="Huawei Sans" panose="020C0503030203020204" pitchFamily="34" charset="0"/>
            </a:endParaRPr>
          </a:p>
          <a:p>
            <a:pPr lvl="1"/>
            <a:r>
              <a:rPr lang="en-US" altLang="zh-CN" sz="1400" dirty="0">
                <a:sym typeface="Huawei Sans" panose="020C0503030203020204" pitchFamily="34" charset="0"/>
              </a:rPr>
              <a:t>U</a:t>
            </a:r>
            <a:r>
              <a:rPr lang="zh-CN" altLang="en-US" sz="1400" dirty="0">
                <a:sym typeface="Huawei Sans" panose="020C0503030203020204" pitchFamily="34" charset="0"/>
              </a:rPr>
              <a:t>：根据单播</a:t>
            </a:r>
            <a:r>
              <a:rPr lang="en-US" altLang="zh-CN" sz="1400" dirty="0">
                <a:sym typeface="Huawei Sans" panose="020C0503030203020204" pitchFamily="34" charset="0"/>
              </a:rPr>
              <a:t>MAC</a:t>
            </a:r>
            <a:r>
              <a:rPr lang="zh-CN" altLang="en-US" sz="1400" dirty="0">
                <a:sym typeface="Huawei Sans" panose="020C0503030203020204" pitchFamily="34" charset="0"/>
              </a:rPr>
              <a:t>查表转发。</a:t>
            </a:r>
            <a:endParaRPr lang="en-US" altLang="zh-CN" sz="1400" dirty="0">
              <a:sym typeface="Huawei Sans" panose="020C0503030203020204" pitchFamily="34" charset="0"/>
            </a:endParaRPr>
          </a:p>
          <a:p>
            <a:pPr lvl="1"/>
            <a:r>
              <a:rPr lang="en-US" altLang="zh-CN" sz="1400" dirty="0">
                <a:sym typeface="Huawei Sans" panose="020C0503030203020204" pitchFamily="34" charset="0"/>
              </a:rPr>
              <a:t>M</a:t>
            </a:r>
            <a:r>
              <a:rPr lang="zh-CN" altLang="en-US" sz="1400" dirty="0">
                <a:sym typeface="Huawei Sans" panose="020C0503030203020204" pitchFamily="34" charset="0"/>
              </a:rPr>
              <a:t>：查询二层转发表进行组播转发。</a:t>
            </a:r>
            <a:endParaRPr lang="en-US" altLang="zh-CN" sz="1400" dirty="0">
              <a:sym typeface="Huawei Sans" panose="020C0503030203020204" pitchFamily="34" charset="0"/>
            </a:endParaRPr>
          </a:p>
          <a:p>
            <a:pPr lvl="1"/>
            <a:r>
              <a:rPr lang="en-US" altLang="zh-CN" sz="1400" dirty="0">
                <a:sym typeface="Huawei Sans" panose="020C0503030203020204" pitchFamily="34" charset="0"/>
              </a:rPr>
              <a:t>B6</a:t>
            </a:r>
            <a:r>
              <a:rPr lang="zh-CN" altLang="en-US" sz="1400" dirty="0">
                <a:sym typeface="Huawei Sans" panose="020C0503030203020204" pitchFamily="34" charset="0"/>
              </a:rPr>
              <a:t>：应用指定的</a:t>
            </a:r>
            <a:r>
              <a:rPr lang="en-US" altLang="zh-CN" sz="1400" dirty="0">
                <a:sym typeface="Huawei Sans" panose="020C0503030203020204" pitchFamily="34" charset="0"/>
              </a:rPr>
              <a:t>SRv6 Policy</a:t>
            </a:r>
            <a:r>
              <a:rPr lang="zh-CN" altLang="en-US" sz="1400" dirty="0">
                <a:sym typeface="Huawei Sans" panose="020C0503030203020204" pitchFamily="34" charset="0"/>
              </a:rPr>
              <a:t>。</a:t>
            </a:r>
            <a:endParaRPr lang="en-US" altLang="zh-CN" sz="1400" dirty="0">
              <a:sym typeface="Huawei Sans" panose="020C0503030203020204" pitchFamily="34" charset="0"/>
            </a:endParaRPr>
          </a:p>
          <a:p>
            <a:pPr lvl="1"/>
            <a:r>
              <a:rPr lang="en-US" altLang="zh-CN" sz="1400" dirty="0">
                <a:sym typeface="Huawei Sans" panose="020C0503030203020204" pitchFamily="34" charset="0"/>
              </a:rPr>
              <a:t>BM</a:t>
            </a:r>
            <a:r>
              <a:rPr lang="zh-CN" altLang="en-US" sz="1400" dirty="0">
                <a:sym typeface="Huawei Sans" panose="020C0503030203020204" pitchFamily="34" charset="0"/>
              </a:rPr>
              <a:t>：应用指定的</a:t>
            </a:r>
            <a:r>
              <a:rPr lang="en-US" altLang="zh-CN" sz="1400" dirty="0">
                <a:sym typeface="Huawei Sans" panose="020C0503030203020204" pitchFamily="34" charset="0"/>
              </a:rPr>
              <a:t>SR-MPLS Policy</a:t>
            </a:r>
            <a:r>
              <a:rPr lang="zh-CN" altLang="en-US" sz="1400" dirty="0">
                <a:sym typeface="Huawei Sans" panose="020C0503030203020204" pitchFamily="34" charset="0"/>
              </a:rPr>
              <a:t>。</a:t>
            </a:r>
            <a:endParaRPr lang="zh-CN" altLang="en-US" sz="1400" dirty="0">
              <a:sym typeface="Huawei Sans" panose="020C0503030203020204" pitchFamily="34" charset="0"/>
            </a:endParaRPr>
          </a:p>
        </p:txBody>
      </p:sp>
      <p:sp>
        <p:nvSpPr>
          <p:cNvPr id="4" name="五边形 2"/>
          <p:cNvSpPr/>
          <p:nvPr/>
        </p:nvSpPr>
        <p:spPr bwMode="gray">
          <a:xfrm>
            <a:off x="8310982" y="110463"/>
            <a:ext cx="1195960"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SRv6</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SRH</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介绍</a:t>
            </a:r>
            <a:endPar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燕尾形 3"/>
          <p:cNvSpPr/>
          <p:nvPr/>
        </p:nvSpPr>
        <p:spPr bwMode="gray">
          <a:xfrm>
            <a:off x="9430382" y="110463"/>
            <a:ext cx="119596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SRv6</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节点介绍</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燕尾形 3"/>
          <p:cNvSpPr/>
          <p:nvPr/>
        </p:nvSpPr>
        <p:spPr bwMode="gray">
          <a:xfrm>
            <a:off x="10553128" y="105534"/>
            <a:ext cx="119596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SRv6</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转发原理</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dirty="0"/>
              <a:t>SRv6 Segment</a:t>
            </a:r>
            <a:r>
              <a:rPr lang="zh-CN" altLang="en-US" dirty="0"/>
              <a:t>举例</a:t>
            </a:r>
            <a:endParaRPr lang="zh-CN" altLang="en-US" dirty="0"/>
          </a:p>
        </p:txBody>
      </p:sp>
      <p:sp>
        <p:nvSpPr>
          <p:cNvPr id="35" name="文本占位符 34"/>
          <p:cNvSpPr>
            <a:spLocks noGrp="1"/>
          </p:cNvSpPr>
          <p:nvPr>
            <p:ph type="body" sz="quarter" idx="10"/>
          </p:nvPr>
        </p:nvSpPr>
        <p:spPr bwMode="gray">
          <a:xfrm>
            <a:off x="455613" y="3752634"/>
            <a:ext cx="11293475" cy="1659133"/>
          </a:xfrm>
        </p:spPr>
        <p:txBody>
          <a:bodyPr/>
          <a:lstStyle/>
          <a:p>
            <a:r>
              <a:rPr lang="en-US" altLang="zh-CN" sz="1400" dirty="0">
                <a:highlight>
                  <a:srgbClr val="FFFF00"/>
                </a:highlight>
              </a:rPr>
              <a:t>End SID</a:t>
            </a:r>
            <a:r>
              <a:rPr lang="zh-CN" altLang="en-US" sz="1400" dirty="0">
                <a:highlight>
                  <a:srgbClr val="FFFF00"/>
                </a:highlight>
              </a:rPr>
              <a:t>用于标识网络中的某个目的节点（</a:t>
            </a:r>
            <a:r>
              <a:rPr lang="en-US" altLang="zh-CN" sz="1400" dirty="0">
                <a:highlight>
                  <a:srgbClr val="FFFF00"/>
                </a:highlight>
              </a:rPr>
              <a:t>Node</a:t>
            </a:r>
            <a:r>
              <a:rPr lang="zh-CN" altLang="en-US" sz="1400" dirty="0">
                <a:highlight>
                  <a:srgbClr val="FFFF00"/>
                </a:highlight>
              </a:rPr>
              <a:t>）</a:t>
            </a:r>
            <a:r>
              <a:rPr lang="zh-CN" altLang="en-US" sz="1400" dirty="0"/>
              <a:t>。类似</a:t>
            </a:r>
            <a:r>
              <a:rPr lang="en-US" altLang="zh-CN" sz="1400" dirty="0"/>
              <a:t>SR-MPLS</a:t>
            </a:r>
            <a:r>
              <a:rPr lang="zh-CN" altLang="en-US" sz="1400" dirty="0"/>
              <a:t>中的</a:t>
            </a:r>
            <a:r>
              <a:rPr lang="en-US" altLang="zh-CN" sz="1400" dirty="0"/>
              <a:t>Node SID</a:t>
            </a:r>
            <a:r>
              <a:rPr lang="zh-CN" altLang="en-US" sz="1400" dirty="0"/>
              <a:t>。</a:t>
            </a:r>
            <a:r>
              <a:rPr lang="en-US" altLang="zh-CN" sz="1400" dirty="0"/>
              <a:t>End SID</a:t>
            </a:r>
            <a:r>
              <a:rPr lang="zh-CN" altLang="en-US" sz="1400" dirty="0"/>
              <a:t>通过</a:t>
            </a:r>
            <a:r>
              <a:rPr lang="en-US" altLang="zh-CN" sz="1400" dirty="0"/>
              <a:t>IGP</a:t>
            </a:r>
            <a:r>
              <a:rPr lang="zh-CN" altLang="en-US" sz="1400" dirty="0"/>
              <a:t>协议扩散到其他网元，全局可见，本地有效。</a:t>
            </a:r>
            <a:endParaRPr lang="en-US" altLang="zh-CN" sz="1400" dirty="0"/>
          </a:p>
          <a:p>
            <a:r>
              <a:rPr lang="en-US" altLang="zh-CN" sz="1400" dirty="0" err="1">
                <a:highlight>
                  <a:srgbClr val="FFFF00"/>
                </a:highlight>
              </a:rPr>
              <a:t>End.X</a:t>
            </a:r>
            <a:r>
              <a:rPr lang="en-US" altLang="zh-CN" sz="1400" dirty="0">
                <a:highlight>
                  <a:srgbClr val="FFFF00"/>
                </a:highlight>
              </a:rPr>
              <a:t> SID</a:t>
            </a:r>
            <a:r>
              <a:rPr lang="zh-CN" altLang="en-US" sz="1400" dirty="0">
                <a:highlight>
                  <a:srgbClr val="FFFF00"/>
                </a:highlight>
              </a:rPr>
              <a:t>表示三层交叉连接的</a:t>
            </a:r>
            <a:r>
              <a:rPr lang="en-US" altLang="zh-CN" sz="1400" dirty="0">
                <a:highlight>
                  <a:srgbClr val="FFFF00"/>
                </a:highlight>
              </a:rPr>
              <a:t>Endpoint SID</a:t>
            </a:r>
            <a:r>
              <a:rPr lang="zh-CN" altLang="en-US" sz="1400" dirty="0">
                <a:highlight>
                  <a:srgbClr val="FFFF00"/>
                </a:highlight>
              </a:rPr>
              <a:t>，用于标识网络中的某条链路。</a:t>
            </a:r>
            <a:r>
              <a:rPr lang="zh-CN" altLang="en-US" sz="1400" dirty="0"/>
              <a:t>类似</a:t>
            </a:r>
            <a:r>
              <a:rPr lang="en-US" altLang="zh-CN" sz="1400" dirty="0"/>
              <a:t>SR-MPLS</a:t>
            </a:r>
            <a:r>
              <a:rPr lang="zh-CN" altLang="en-US" sz="1400" dirty="0"/>
              <a:t>中的</a:t>
            </a:r>
            <a:r>
              <a:rPr lang="en-US" altLang="zh-CN" sz="1400" dirty="0"/>
              <a:t>Adjacency SID</a:t>
            </a:r>
            <a:r>
              <a:rPr lang="zh-CN" altLang="en-US" sz="1400" dirty="0"/>
              <a:t>。</a:t>
            </a:r>
            <a:r>
              <a:rPr lang="en-US" altLang="zh-CN" sz="1400" dirty="0" err="1"/>
              <a:t>End.X</a:t>
            </a:r>
            <a:r>
              <a:rPr lang="en-US" altLang="zh-CN" sz="1400" dirty="0"/>
              <a:t> SID</a:t>
            </a:r>
            <a:r>
              <a:rPr lang="zh-CN" altLang="en-US" sz="1400" dirty="0"/>
              <a:t>通过</a:t>
            </a:r>
            <a:r>
              <a:rPr lang="en-US" altLang="zh-CN" sz="1400" dirty="0"/>
              <a:t>IGP</a:t>
            </a:r>
            <a:r>
              <a:rPr lang="zh-CN" altLang="en-US" sz="1400" dirty="0"/>
              <a:t>协议扩散到其他网元，全局可见，本地有效。</a:t>
            </a:r>
            <a:endParaRPr lang="en-US" altLang="zh-CN" sz="1400" dirty="0"/>
          </a:p>
          <a:p>
            <a:r>
              <a:rPr lang="en-US" altLang="zh-CN" sz="1400" dirty="0">
                <a:highlight>
                  <a:srgbClr val="FFFF00"/>
                </a:highlight>
              </a:rPr>
              <a:t>End.DT4 SID</a:t>
            </a:r>
            <a:r>
              <a:rPr lang="zh-CN" altLang="en-US" sz="1400" dirty="0">
                <a:highlight>
                  <a:srgbClr val="FFFF00"/>
                </a:highlight>
              </a:rPr>
              <a:t>表示</a:t>
            </a:r>
            <a:r>
              <a:rPr lang="en-US" altLang="zh-CN" sz="1400" dirty="0">
                <a:highlight>
                  <a:srgbClr val="FFFF00"/>
                </a:highlight>
              </a:rPr>
              <a:t>PE</a:t>
            </a:r>
            <a:r>
              <a:rPr lang="zh-CN" altLang="en-US" sz="1400" dirty="0">
                <a:highlight>
                  <a:srgbClr val="FFFF00"/>
                </a:highlight>
              </a:rPr>
              <a:t>类型的</a:t>
            </a:r>
            <a:r>
              <a:rPr lang="en-US" altLang="zh-CN" sz="1400" dirty="0">
                <a:highlight>
                  <a:srgbClr val="FFFF00"/>
                </a:highlight>
              </a:rPr>
              <a:t>Endpoint SID</a:t>
            </a:r>
            <a:r>
              <a:rPr lang="zh-CN" altLang="en-US" sz="1400" dirty="0">
                <a:highlight>
                  <a:srgbClr val="FFFF00"/>
                </a:highlight>
              </a:rPr>
              <a:t>，用于标识网络中的某个</a:t>
            </a:r>
            <a:r>
              <a:rPr lang="en-US" altLang="zh-CN" sz="1400" dirty="0">
                <a:highlight>
                  <a:srgbClr val="FFFF00"/>
                </a:highlight>
              </a:rPr>
              <a:t>IPv4 VPN</a:t>
            </a:r>
            <a:r>
              <a:rPr lang="zh-CN" altLang="en-US" sz="1400" dirty="0">
                <a:highlight>
                  <a:srgbClr val="FFFF00"/>
                </a:highlight>
              </a:rPr>
              <a:t>实例。</a:t>
            </a:r>
            <a:r>
              <a:rPr lang="en-US" altLang="zh-CN" sz="1400" dirty="0"/>
              <a:t>End.DT4 SID</a:t>
            </a:r>
            <a:r>
              <a:rPr lang="zh-CN" altLang="en-US" sz="1400" dirty="0"/>
              <a:t>对应的转发动作是解封装报文，并且查找</a:t>
            </a:r>
            <a:r>
              <a:rPr lang="en-US" altLang="zh-CN" sz="1400" dirty="0"/>
              <a:t>IPv4 VPN</a:t>
            </a:r>
            <a:r>
              <a:rPr lang="zh-CN" altLang="en-US" sz="1400" dirty="0"/>
              <a:t>实例路由表转发。</a:t>
            </a:r>
            <a:r>
              <a:rPr lang="en-US" altLang="zh-CN" sz="1400" dirty="0"/>
              <a:t>End.DT4 SID</a:t>
            </a:r>
            <a:r>
              <a:rPr lang="zh-CN" altLang="en-US" sz="1400" dirty="0"/>
              <a:t>在</a:t>
            </a:r>
            <a:r>
              <a:rPr lang="en-US" altLang="zh-CN" sz="1400" dirty="0"/>
              <a:t>L3VPNv4</a:t>
            </a:r>
            <a:r>
              <a:rPr lang="zh-CN" altLang="en-US" sz="1400" dirty="0"/>
              <a:t>场景使用，等价于</a:t>
            </a:r>
            <a:r>
              <a:rPr lang="en-US" altLang="zh-CN" sz="1400" dirty="0"/>
              <a:t>IPv4 VPN</a:t>
            </a:r>
            <a:r>
              <a:rPr lang="zh-CN" altLang="en-US" sz="1400" dirty="0"/>
              <a:t>的标签。</a:t>
            </a:r>
            <a:r>
              <a:rPr lang="en-US" altLang="zh-CN" sz="1400" dirty="0"/>
              <a:t>End.DT4 SID</a:t>
            </a:r>
            <a:r>
              <a:rPr lang="zh-CN" altLang="en-US" sz="1400" dirty="0"/>
              <a:t>可以通过静态配置生成，也可以通过</a:t>
            </a:r>
            <a:r>
              <a:rPr lang="en-US" altLang="zh-CN" sz="1400" dirty="0"/>
              <a:t>BGP</a:t>
            </a:r>
            <a:r>
              <a:rPr lang="zh-CN" altLang="en-US" sz="1400" dirty="0"/>
              <a:t>在</a:t>
            </a:r>
            <a:r>
              <a:rPr lang="en-US" altLang="zh-CN" sz="1400" dirty="0"/>
              <a:t>Locator</a:t>
            </a:r>
            <a:r>
              <a:rPr lang="zh-CN" altLang="en-US" sz="1400" dirty="0"/>
              <a:t>的动态</a:t>
            </a:r>
            <a:r>
              <a:rPr lang="en-US" altLang="zh-CN" sz="1400" dirty="0"/>
              <a:t>SID</a:t>
            </a:r>
            <a:r>
              <a:rPr lang="zh-CN" altLang="en-US" sz="1400" dirty="0"/>
              <a:t>范围内自动分配。</a:t>
            </a:r>
            <a:endParaRPr lang="en-US" altLang="zh-CN" sz="1400" dirty="0"/>
          </a:p>
        </p:txBody>
      </p:sp>
      <p:sp>
        <p:nvSpPr>
          <p:cNvPr id="36" name="矩形 35"/>
          <p:cNvSpPr/>
          <p:nvPr/>
        </p:nvSpPr>
        <p:spPr bwMode="gray">
          <a:xfrm>
            <a:off x="9894884" y="2950258"/>
            <a:ext cx="1826072" cy="780536"/>
          </a:xfrm>
          <a:prstGeom prst="rect">
            <a:avLst/>
          </a:prstGeom>
          <a:noFill/>
          <a:ln>
            <a:solidFill>
              <a:srgbClr val="56C4D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 name="矩形 36"/>
          <p:cNvSpPr/>
          <p:nvPr/>
        </p:nvSpPr>
        <p:spPr bwMode="gray">
          <a:xfrm>
            <a:off x="522292" y="2950258"/>
            <a:ext cx="1826072" cy="780536"/>
          </a:xfrm>
          <a:prstGeom prst="rect">
            <a:avLst/>
          </a:prstGeom>
          <a:noFill/>
          <a:ln>
            <a:solidFill>
              <a:srgbClr val="56C4D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矩形 37"/>
          <p:cNvSpPr/>
          <p:nvPr/>
        </p:nvSpPr>
        <p:spPr bwMode="gray">
          <a:xfrm>
            <a:off x="522292" y="1074134"/>
            <a:ext cx="11198664" cy="1646448"/>
          </a:xfrm>
          <a:prstGeom prst="rect">
            <a:avLst/>
          </a:prstGeom>
          <a:noFill/>
          <a:ln>
            <a:solidFill>
              <a:srgbClr val="56C4D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39" name="直接连接符 38"/>
          <p:cNvCxnSpPr>
            <a:stCxn id="41" idx="3"/>
            <a:endCxn id="45" idx="1"/>
          </p:cNvCxnSpPr>
          <p:nvPr/>
        </p:nvCxnSpPr>
        <p:spPr bwMode="gray">
          <a:xfrm>
            <a:off x="1267619" y="2062056"/>
            <a:ext cx="968945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0" name="矩形 39"/>
          <p:cNvSpPr/>
          <p:nvPr/>
        </p:nvSpPr>
        <p:spPr bwMode="gray">
          <a:xfrm>
            <a:off x="748992" y="1569277"/>
            <a:ext cx="497252"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PE1</a:t>
            </a:r>
            <a:endParaRPr lang="zh-CN" altLang="en-US" sz="1400" b="1" dirty="0">
              <a:solidFill>
                <a:srgbClr val="FF3300"/>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41" name="图片 40"/>
          <p:cNvPicPr/>
          <p:nvPr/>
        </p:nvPicPr>
        <p:blipFill>
          <a:blip r:embed="rId1" cstate="print">
            <a:extLst>
              <a:ext uri="{28A0092B-C50C-407E-A947-70E740481C1C}">
                <a14:useLocalDpi xmlns:a14="http://schemas.microsoft.com/office/drawing/2010/main" val="0"/>
              </a:ext>
            </a:extLst>
          </a:blip>
          <a:stretch>
            <a:fillRect/>
          </a:stretch>
        </p:blipFill>
        <p:spPr bwMode="gray">
          <a:xfrm>
            <a:off x="727619" y="1840656"/>
            <a:ext cx="540000" cy="442800"/>
          </a:xfrm>
          <a:prstGeom prst="rect">
            <a:avLst/>
          </a:prstGeom>
        </p:spPr>
      </p:pic>
      <p:sp>
        <p:nvSpPr>
          <p:cNvPr id="42" name="矩形 41"/>
          <p:cNvSpPr/>
          <p:nvPr/>
        </p:nvSpPr>
        <p:spPr bwMode="gray">
          <a:xfrm>
            <a:off x="5971048" y="1569277"/>
            <a:ext cx="292068"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P</a:t>
            </a:r>
            <a:endParaRPr lang="zh-CN" altLang="en-US" sz="1400" b="1" dirty="0">
              <a:solidFill>
                <a:srgbClr val="FF3300"/>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43" name="图片 42"/>
          <p:cNvPicPr/>
          <p:nvPr/>
        </p:nvPicPr>
        <p:blipFill>
          <a:blip r:embed="rId1" cstate="print">
            <a:extLst>
              <a:ext uri="{28A0092B-C50C-407E-A947-70E740481C1C}">
                <a14:useLocalDpi xmlns:a14="http://schemas.microsoft.com/office/drawing/2010/main" val="0"/>
              </a:ext>
            </a:extLst>
          </a:blip>
          <a:stretch>
            <a:fillRect/>
          </a:stretch>
        </p:blipFill>
        <p:spPr bwMode="gray">
          <a:xfrm>
            <a:off x="5842345" y="1840656"/>
            <a:ext cx="540000" cy="442800"/>
          </a:xfrm>
          <a:prstGeom prst="rect">
            <a:avLst/>
          </a:prstGeom>
        </p:spPr>
      </p:pic>
      <p:sp>
        <p:nvSpPr>
          <p:cNvPr id="44" name="矩形 43"/>
          <p:cNvSpPr/>
          <p:nvPr/>
        </p:nvSpPr>
        <p:spPr bwMode="gray">
          <a:xfrm>
            <a:off x="10987921" y="1569277"/>
            <a:ext cx="497252"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PE2</a:t>
            </a:r>
            <a:endParaRPr lang="zh-CN" altLang="en-US" sz="1400" b="1" dirty="0">
              <a:solidFill>
                <a:srgbClr val="FF3300"/>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45" name="图片 44"/>
          <p:cNvPicPr/>
          <p:nvPr/>
        </p:nvPicPr>
        <p:blipFill>
          <a:blip r:embed="rId1" cstate="print">
            <a:extLst>
              <a:ext uri="{28A0092B-C50C-407E-A947-70E740481C1C}">
                <a14:useLocalDpi xmlns:a14="http://schemas.microsoft.com/office/drawing/2010/main" val="0"/>
              </a:ext>
            </a:extLst>
          </a:blip>
          <a:stretch>
            <a:fillRect/>
          </a:stretch>
        </p:blipFill>
        <p:spPr bwMode="gray">
          <a:xfrm>
            <a:off x="10957071" y="1840656"/>
            <a:ext cx="540000" cy="442800"/>
          </a:xfrm>
          <a:prstGeom prst="rect">
            <a:avLst/>
          </a:prstGeom>
        </p:spPr>
      </p:pic>
      <p:sp>
        <p:nvSpPr>
          <p:cNvPr id="48" name="文本框 47"/>
          <p:cNvSpPr txBox="1"/>
          <p:nvPr/>
        </p:nvSpPr>
        <p:spPr bwMode="gray">
          <a:xfrm>
            <a:off x="9955850" y="3039452"/>
            <a:ext cx="987770" cy="461665"/>
          </a:xfrm>
          <a:prstGeom prst="rect">
            <a:avLst/>
          </a:prstGeom>
          <a:noFill/>
          <a:ln>
            <a:noFill/>
          </a:ln>
        </p:spPr>
        <p:txBody>
          <a:bodyPr wrap="non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Loopback1 </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10.1.5.5/32</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53" name="图片 52"/>
          <p:cNvPicPr/>
          <p:nvPr/>
        </p:nvPicPr>
        <p:blipFill>
          <a:blip r:embed="rId1" cstate="print">
            <a:extLst>
              <a:ext uri="{28A0092B-C50C-407E-A947-70E740481C1C}">
                <a14:useLocalDpi xmlns:a14="http://schemas.microsoft.com/office/drawing/2010/main" val="0"/>
              </a:ext>
            </a:extLst>
          </a:blip>
          <a:stretch>
            <a:fillRect/>
          </a:stretch>
        </p:blipFill>
        <p:spPr bwMode="gray">
          <a:xfrm>
            <a:off x="727619" y="3010900"/>
            <a:ext cx="540000" cy="442800"/>
          </a:xfrm>
          <a:prstGeom prst="rect">
            <a:avLst/>
          </a:prstGeom>
        </p:spPr>
      </p:pic>
      <p:pic>
        <p:nvPicPr>
          <p:cNvPr id="54" name="图片 53"/>
          <p:cNvPicPr/>
          <p:nvPr/>
        </p:nvPicPr>
        <p:blipFill>
          <a:blip r:embed="rId1" cstate="print">
            <a:extLst>
              <a:ext uri="{28A0092B-C50C-407E-A947-70E740481C1C}">
                <a14:useLocalDpi xmlns:a14="http://schemas.microsoft.com/office/drawing/2010/main" val="0"/>
              </a:ext>
            </a:extLst>
          </a:blip>
          <a:stretch>
            <a:fillRect/>
          </a:stretch>
        </p:blipFill>
        <p:spPr bwMode="gray">
          <a:xfrm>
            <a:off x="10957071" y="3010900"/>
            <a:ext cx="540000" cy="442800"/>
          </a:xfrm>
          <a:prstGeom prst="rect">
            <a:avLst/>
          </a:prstGeom>
        </p:spPr>
      </p:pic>
      <p:cxnSp>
        <p:nvCxnSpPr>
          <p:cNvPr id="55" name="直接连接符 54"/>
          <p:cNvCxnSpPr>
            <a:stCxn id="41" idx="2"/>
            <a:endCxn id="53" idx="0"/>
          </p:cNvCxnSpPr>
          <p:nvPr/>
        </p:nvCxnSpPr>
        <p:spPr bwMode="gray">
          <a:xfrm>
            <a:off x="997619" y="2283456"/>
            <a:ext cx="0" cy="7274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a:stCxn id="45" idx="2"/>
            <a:endCxn id="54" idx="0"/>
          </p:cNvCxnSpPr>
          <p:nvPr/>
        </p:nvCxnSpPr>
        <p:spPr bwMode="gray">
          <a:xfrm>
            <a:off x="11227071" y="2283456"/>
            <a:ext cx="0" cy="7274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7" name="矩形 56"/>
          <p:cNvSpPr/>
          <p:nvPr/>
        </p:nvSpPr>
        <p:spPr bwMode="gray">
          <a:xfrm>
            <a:off x="746588" y="3501117"/>
            <a:ext cx="502061"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CE1</a:t>
            </a:r>
            <a:endParaRPr lang="zh-CN" altLang="en-US" sz="1400" b="1" dirty="0">
              <a:solidFill>
                <a:srgbClr val="FF33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8" name="矩形 57"/>
          <p:cNvSpPr/>
          <p:nvPr/>
        </p:nvSpPr>
        <p:spPr bwMode="gray">
          <a:xfrm>
            <a:off x="10985517" y="3501117"/>
            <a:ext cx="502061"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CE2</a:t>
            </a:r>
            <a:endParaRPr lang="zh-CN" altLang="en-US" sz="1400" b="1" dirty="0">
              <a:solidFill>
                <a:srgbClr val="FF33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9" name="文本框 58"/>
          <p:cNvSpPr txBox="1"/>
          <p:nvPr/>
        </p:nvSpPr>
        <p:spPr bwMode="gray">
          <a:xfrm>
            <a:off x="1290546" y="3039452"/>
            <a:ext cx="987770" cy="461665"/>
          </a:xfrm>
          <a:prstGeom prst="rect">
            <a:avLst/>
          </a:prstGeom>
          <a:noFill/>
          <a:ln>
            <a:noFill/>
          </a:ln>
        </p:spPr>
        <p:txBody>
          <a:bodyPr wrap="non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Loopback1 </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10.1.4.4/32</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0" name="文本框 59"/>
          <p:cNvSpPr txBox="1"/>
          <p:nvPr/>
        </p:nvSpPr>
        <p:spPr bwMode="gray">
          <a:xfrm>
            <a:off x="1576705" y="3492845"/>
            <a:ext cx="848309" cy="276999"/>
          </a:xfrm>
          <a:prstGeom prst="rect">
            <a:avLst/>
          </a:prstGeom>
          <a:noFill/>
        </p:spPr>
        <p:txBody>
          <a:bodyPr wrap="none" rtlCol="0">
            <a:spAutoFit/>
          </a:bodyPr>
          <a:lstStyle/>
          <a:p>
            <a:r>
              <a:rPr lang="en-US" altLang="zh-CN" sz="12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AS 65001</a:t>
            </a:r>
            <a:endParaRPr lang="en-US" altLang="zh-CN" sz="12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1" name="文本框 60"/>
          <p:cNvSpPr txBox="1"/>
          <p:nvPr/>
        </p:nvSpPr>
        <p:spPr bwMode="gray">
          <a:xfrm>
            <a:off x="9894884" y="3492845"/>
            <a:ext cx="848309" cy="276999"/>
          </a:xfrm>
          <a:prstGeom prst="rect">
            <a:avLst/>
          </a:prstGeom>
          <a:noFill/>
        </p:spPr>
        <p:txBody>
          <a:bodyPr wrap="none" rtlCol="0">
            <a:spAutoFit/>
          </a:bodyPr>
          <a:lstStyle/>
          <a:p>
            <a:r>
              <a:rPr lang="en-US" altLang="zh-CN" sz="12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AS 65002</a:t>
            </a:r>
            <a:endParaRPr lang="en-US" altLang="zh-CN" sz="12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9" name="矩形 68"/>
          <p:cNvSpPr/>
          <p:nvPr/>
        </p:nvSpPr>
        <p:spPr bwMode="gray">
          <a:xfrm>
            <a:off x="569595" y="1152525"/>
            <a:ext cx="1867535" cy="461645"/>
          </a:xfrm>
          <a:prstGeom prst="rect">
            <a:avLst/>
          </a:prstGeom>
          <a:solidFill>
            <a:srgbClr val="D3394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END SID</a:t>
            </a:r>
            <a:endPar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2001:DB8:1000::111</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0" name="矩形 69"/>
          <p:cNvSpPr/>
          <p:nvPr/>
        </p:nvSpPr>
        <p:spPr bwMode="gray">
          <a:xfrm>
            <a:off x="5172075" y="1152525"/>
            <a:ext cx="1890395" cy="461645"/>
          </a:xfrm>
          <a:prstGeom prst="rect">
            <a:avLst/>
          </a:prstGeom>
          <a:solidFill>
            <a:srgbClr val="D3394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END SID</a:t>
            </a:r>
            <a:endPar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2001:DB8:2000::222</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1" name="矩形 70"/>
          <p:cNvSpPr/>
          <p:nvPr/>
        </p:nvSpPr>
        <p:spPr bwMode="gray">
          <a:xfrm>
            <a:off x="9876790" y="1153795"/>
            <a:ext cx="1821180" cy="461645"/>
          </a:xfrm>
          <a:prstGeom prst="rect">
            <a:avLst/>
          </a:prstGeom>
          <a:solidFill>
            <a:srgbClr val="D3394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END SID</a:t>
            </a:r>
            <a:endPar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2001:DB8:3000::333</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2" name="矩形 71"/>
          <p:cNvSpPr/>
          <p:nvPr/>
        </p:nvSpPr>
        <p:spPr bwMode="gray">
          <a:xfrm>
            <a:off x="1298575" y="1734820"/>
            <a:ext cx="1744980" cy="461645"/>
          </a:xfrm>
          <a:prstGeom prst="rect">
            <a:avLst/>
          </a:prstGeom>
          <a:solidFill>
            <a:srgbClr val="92D050"/>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END.X SID</a:t>
            </a:r>
            <a:endPar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2001:DB8:1000::12</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4" name="直接箭头连接符 3"/>
          <p:cNvCxnSpPr>
            <a:stCxn id="72" idx="3"/>
          </p:cNvCxnSpPr>
          <p:nvPr/>
        </p:nvCxnSpPr>
        <p:spPr bwMode="gray">
          <a:xfrm flipV="1">
            <a:off x="3043491" y="1965871"/>
            <a:ext cx="360000" cy="0"/>
          </a:xfrm>
          <a:prstGeom prst="straightConnector1">
            <a:avLst/>
          </a:prstGeom>
          <a:ln w="28575">
            <a:solidFill>
              <a:srgbClr val="92D050"/>
            </a:solidFill>
            <a:tailEnd type="triangle"/>
          </a:ln>
        </p:spPr>
        <p:style>
          <a:lnRef idx="1">
            <a:schemeClr val="accent1"/>
          </a:lnRef>
          <a:fillRef idx="0">
            <a:schemeClr val="accent1"/>
          </a:fillRef>
          <a:effectRef idx="0">
            <a:schemeClr val="accent1"/>
          </a:effectRef>
          <a:fontRef idx="minor">
            <a:schemeClr val="tx1"/>
          </a:fontRef>
        </p:style>
      </p:cxnSp>
      <p:sp>
        <p:nvSpPr>
          <p:cNvPr id="73" name="矩形 72"/>
          <p:cNvSpPr/>
          <p:nvPr/>
        </p:nvSpPr>
        <p:spPr bwMode="gray">
          <a:xfrm>
            <a:off x="3903345" y="1734820"/>
            <a:ext cx="1906270" cy="461645"/>
          </a:xfrm>
          <a:prstGeom prst="rect">
            <a:avLst/>
          </a:prstGeom>
          <a:solidFill>
            <a:srgbClr val="92D050"/>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END.X SID</a:t>
            </a:r>
            <a:endPar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2001:DB8:2000::21</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2" name="直接箭头连接符 11"/>
          <p:cNvCxnSpPr/>
          <p:nvPr/>
        </p:nvCxnSpPr>
        <p:spPr bwMode="gray">
          <a:xfrm flipH="1">
            <a:off x="3836744" y="1953171"/>
            <a:ext cx="360000" cy="0"/>
          </a:xfrm>
          <a:prstGeom prst="straightConnector1">
            <a:avLst/>
          </a:prstGeom>
          <a:ln w="28575">
            <a:solidFill>
              <a:srgbClr val="92D050"/>
            </a:solidFill>
            <a:tailEnd type="triangle"/>
          </a:ln>
        </p:spPr>
        <p:style>
          <a:lnRef idx="1">
            <a:schemeClr val="accent1"/>
          </a:lnRef>
          <a:fillRef idx="0">
            <a:schemeClr val="accent1"/>
          </a:fillRef>
          <a:effectRef idx="0">
            <a:schemeClr val="accent1"/>
          </a:effectRef>
          <a:fontRef idx="minor">
            <a:schemeClr val="tx1"/>
          </a:fontRef>
        </p:style>
      </p:cxnSp>
      <p:sp>
        <p:nvSpPr>
          <p:cNvPr id="75" name="矩形 74"/>
          <p:cNvSpPr/>
          <p:nvPr/>
        </p:nvSpPr>
        <p:spPr bwMode="gray">
          <a:xfrm>
            <a:off x="6403340" y="1734820"/>
            <a:ext cx="1779270" cy="461645"/>
          </a:xfrm>
          <a:prstGeom prst="rect">
            <a:avLst/>
          </a:prstGeom>
          <a:solidFill>
            <a:srgbClr val="92D050"/>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END.X SID</a:t>
            </a:r>
            <a:endPar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2001:DB8:2000::23</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76" name="直接箭头连接符 75"/>
          <p:cNvCxnSpPr>
            <a:stCxn id="75" idx="3"/>
          </p:cNvCxnSpPr>
          <p:nvPr/>
        </p:nvCxnSpPr>
        <p:spPr bwMode="gray">
          <a:xfrm flipV="1">
            <a:off x="8182427" y="1965871"/>
            <a:ext cx="360000" cy="0"/>
          </a:xfrm>
          <a:prstGeom prst="straightConnector1">
            <a:avLst/>
          </a:prstGeom>
          <a:ln w="28575">
            <a:solidFill>
              <a:srgbClr val="92D050"/>
            </a:solidFill>
            <a:tailEnd type="triangle"/>
          </a:ln>
        </p:spPr>
        <p:style>
          <a:lnRef idx="1">
            <a:schemeClr val="accent1"/>
          </a:lnRef>
          <a:fillRef idx="0">
            <a:schemeClr val="accent1"/>
          </a:fillRef>
          <a:effectRef idx="0">
            <a:schemeClr val="accent1"/>
          </a:effectRef>
          <a:fontRef idx="minor">
            <a:schemeClr val="tx1"/>
          </a:fontRef>
        </p:style>
      </p:cxnSp>
      <p:sp>
        <p:nvSpPr>
          <p:cNvPr id="77" name="矩形 76"/>
          <p:cNvSpPr/>
          <p:nvPr/>
        </p:nvSpPr>
        <p:spPr bwMode="gray">
          <a:xfrm>
            <a:off x="9011285" y="1734820"/>
            <a:ext cx="1924685" cy="461645"/>
          </a:xfrm>
          <a:prstGeom prst="rect">
            <a:avLst/>
          </a:prstGeom>
          <a:solidFill>
            <a:srgbClr val="92D050"/>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END.X SID</a:t>
            </a:r>
            <a:endPar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2001:DB8:3000::32</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78" name="直接箭头连接符 77"/>
          <p:cNvCxnSpPr/>
          <p:nvPr/>
        </p:nvCxnSpPr>
        <p:spPr bwMode="gray">
          <a:xfrm flipH="1">
            <a:off x="8821256" y="1940471"/>
            <a:ext cx="336550" cy="12700"/>
          </a:xfrm>
          <a:prstGeom prst="straightConnector1">
            <a:avLst/>
          </a:prstGeom>
          <a:ln w="28575">
            <a:solidFill>
              <a:srgbClr val="92D050"/>
            </a:solidFill>
            <a:tailEnd type="triangle"/>
          </a:ln>
        </p:spPr>
        <p:style>
          <a:lnRef idx="1">
            <a:schemeClr val="accent1"/>
          </a:lnRef>
          <a:fillRef idx="0">
            <a:schemeClr val="accent1"/>
          </a:fillRef>
          <a:effectRef idx="0">
            <a:schemeClr val="accent1"/>
          </a:effectRef>
          <a:fontRef idx="minor">
            <a:schemeClr val="tx1"/>
          </a:fontRef>
        </p:style>
      </p:cxnSp>
      <p:sp>
        <p:nvSpPr>
          <p:cNvPr id="79" name="矩形 78"/>
          <p:cNvSpPr/>
          <p:nvPr/>
        </p:nvSpPr>
        <p:spPr bwMode="gray">
          <a:xfrm>
            <a:off x="550545" y="2367915"/>
            <a:ext cx="2179955" cy="556260"/>
          </a:xfrm>
          <a:prstGeom prst="rect">
            <a:avLst/>
          </a:prstGeom>
          <a:solidFill>
            <a:srgbClr val="FF993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VPNA</a:t>
            </a:r>
            <a:r>
              <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END.DT4 SID</a:t>
            </a:r>
            <a:endPar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2001:DB8:1000::1:0:1E</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0" name="矩形 79"/>
          <p:cNvSpPr/>
          <p:nvPr/>
        </p:nvSpPr>
        <p:spPr bwMode="gray">
          <a:xfrm>
            <a:off x="9492615" y="2424430"/>
            <a:ext cx="2193290" cy="461645"/>
          </a:xfrm>
          <a:prstGeom prst="rect">
            <a:avLst/>
          </a:prstGeom>
          <a:solidFill>
            <a:srgbClr val="FF993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VPNA</a:t>
            </a:r>
            <a:r>
              <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END.DT4 SID</a:t>
            </a:r>
            <a:endPar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2001:DB8:3000::1:0:1E</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文本框 60"/>
          <p:cNvSpPr txBox="1"/>
          <p:nvPr/>
        </p:nvSpPr>
        <p:spPr bwMode="gray">
          <a:xfrm>
            <a:off x="5632886" y="2364674"/>
            <a:ext cx="958917" cy="307777"/>
          </a:xfrm>
          <a:prstGeom prst="rect">
            <a:avLst/>
          </a:prstGeom>
          <a:noFill/>
        </p:spPr>
        <p:txBody>
          <a:bodyPr wrap="none" rtlCol="0">
            <a:spAutoFit/>
          </a:bodyPr>
          <a:lstStyle/>
          <a:p>
            <a:r>
              <a:rPr lang="en-US" altLang="zh-CN" sz="14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AS 65000</a:t>
            </a:r>
            <a:endParaRPr lang="en-US" altLang="zh-CN" sz="14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五边形 2"/>
          <p:cNvSpPr/>
          <p:nvPr/>
        </p:nvSpPr>
        <p:spPr bwMode="gray">
          <a:xfrm>
            <a:off x="8310982" y="110463"/>
            <a:ext cx="1195960"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SRv6</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SRH</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介绍</a:t>
            </a:r>
            <a:endPar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燕尾形 3"/>
          <p:cNvSpPr/>
          <p:nvPr/>
        </p:nvSpPr>
        <p:spPr bwMode="gray">
          <a:xfrm>
            <a:off x="9430382" y="110463"/>
            <a:ext cx="119596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SRv6</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节点介绍</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0" name="燕尾形 3"/>
          <p:cNvSpPr/>
          <p:nvPr/>
        </p:nvSpPr>
        <p:spPr bwMode="gray">
          <a:xfrm>
            <a:off x="10553128" y="105534"/>
            <a:ext cx="119596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SRv6</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转发原理</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r>
              <a:rPr lang="en-US" altLang="zh-CN" dirty="0">
                <a:sym typeface="Huawei Sans" panose="020C0503030203020204" pitchFamily="34" charset="0"/>
              </a:rPr>
              <a:t>SRv6</a:t>
            </a:r>
            <a:r>
              <a:rPr lang="zh-CN" altLang="en-US" dirty="0">
                <a:sym typeface="Huawei Sans" panose="020C0503030203020204" pitchFamily="34" charset="0"/>
              </a:rPr>
              <a:t> </a:t>
            </a:r>
            <a:r>
              <a:rPr lang="en-US" altLang="zh-CN" dirty="0">
                <a:sym typeface="Huawei Sans" panose="020C0503030203020204" pitchFamily="34" charset="0"/>
              </a:rPr>
              <a:t>Flavors</a:t>
            </a:r>
            <a:r>
              <a:rPr lang="zh-CN" altLang="en-US" dirty="0">
                <a:sym typeface="Huawei Sans" panose="020C0503030203020204" pitchFamily="34" charset="0"/>
              </a:rPr>
              <a:t>附加行为</a:t>
            </a:r>
            <a:endParaRPr lang="zh-CN" altLang="en-US" dirty="0">
              <a:sym typeface="Huawei Sans" panose="020C0503030203020204" pitchFamily="34" charset="0"/>
            </a:endParaRPr>
          </a:p>
        </p:txBody>
      </p:sp>
      <p:sp>
        <p:nvSpPr>
          <p:cNvPr id="7" name="文本框 6"/>
          <p:cNvSpPr txBox="1"/>
          <p:nvPr/>
        </p:nvSpPr>
        <p:spPr bwMode="gray">
          <a:xfrm>
            <a:off x="451339" y="1011865"/>
            <a:ext cx="10629269" cy="2133918"/>
          </a:xfrm>
          <a:prstGeom prst="rect">
            <a:avLst/>
          </a:prstGeom>
        </p:spPr>
        <p:txBody>
          <a:bodyPr/>
          <a:lstStyle>
            <a:defPPr>
              <a:defRPr lang="en-US"/>
            </a:defPPr>
            <a:lvl1pPr marL="302260" indent="-302260" defTabSz="913765" fontAlgn="ctr">
              <a:lnSpc>
                <a:spcPct val="140000"/>
              </a:lnSpc>
              <a:spcBef>
                <a:spcPts val="790"/>
              </a:spcBef>
              <a:buSzPct val="50000"/>
              <a:buFont typeface="Wingdings" panose="05000000000000000000" pitchFamily="2" charset="2"/>
              <a:buChar char="l"/>
              <a:defRPr baseline="0">
                <a:latin typeface="Huawei Sans" panose="020C0503030203020204" pitchFamily="34" charset="0"/>
                <a:ea typeface="方正兰亭黑简体" panose="02000000000000000000" pitchFamily="2" charset="-122"/>
              </a:defRPr>
            </a:lvl1pPr>
            <a:lvl2pPr marL="654685" indent="-252095" defTabSz="913765" fontAlgn="ctr">
              <a:lnSpc>
                <a:spcPct val="140000"/>
              </a:lnSpc>
              <a:spcBef>
                <a:spcPts val="720"/>
              </a:spcBef>
              <a:buClrTx/>
              <a:buSzPct val="50000"/>
              <a:buFont typeface="Wingdings" panose="05000000000000000000" pitchFamily="2" charset="2"/>
              <a:buChar char="p"/>
              <a:defRPr sz="2000" baseline="0">
                <a:latin typeface="Huawei Sans" panose="020C0503030203020204" pitchFamily="34" charset="0"/>
                <a:ea typeface="方正兰亭黑简体" panose="02000000000000000000" pitchFamily="2" charset="-122"/>
              </a:defRPr>
            </a:lvl2pPr>
            <a:lvl3pPr marL="1003935" indent="-201295" defTabSz="913765" fontAlgn="ctr">
              <a:lnSpc>
                <a:spcPct val="140000"/>
              </a:lnSpc>
              <a:spcBef>
                <a:spcPts val="650"/>
              </a:spcBef>
              <a:buClrTx/>
              <a:buSzPct val="50000"/>
              <a:buFont typeface="Wingdings" panose="05000000000000000000" pitchFamily="2" charset="2"/>
              <a:buChar char="n"/>
              <a:defRPr sz="1800" baseline="0">
                <a:latin typeface="Huawei Sans" panose="020C0503030203020204" pitchFamily="34" charset="0"/>
                <a:ea typeface="方正兰亭黑简体" panose="02000000000000000000" pitchFamily="2" charset="-122"/>
              </a:defRPr>
            </a:lvl3pPr>
            <a:lvl4pPr marL="1399540" indent="-198120" defTabSz="913765" fontAlgn="ctr">
              <a:lnSpc>
                <a:spcPct val="140000"/>
              </a:lnSpc>
              <a:spcBef>
                <a:spcPts val="575"/>
              </a:spcBef>
              <a:buFont typeface="Huawei Sans" panose="020C0503030203020204" pitchFamily="34" charset="0"/>
              <a:buChar char="−"/>
              <a:defRPr sz="1600" baseline="0">
                <a:latin typeface="Huawei Sans" panose="020C0503030203020204" pitchFamily="34" charset="0"/>
                <a:ea typeface="方正兰亭黑简体" panose="02000000000000000000" pitchFamily="2" charset="-122"/>
              </a:defRPr>
            </a:lvl4pPr>
            <a:lvl5pPr marL="1802765" indent="-201295" defTabSz="913765" fontAlgn="ctr">
              <a:lnSpc>
                <a:spcPct val="140000"/>
              </a:lnSpc>
              <a:spcBef>
                <a:spcPts val="575"/>
              </a:spcBef>
              <a:buFont typeface="Huawei Sans" panose="020C0503030203020204" pitchFamily="34" charset="0"/>
              <a:buChar char="~"/>
              <a:defRPr sz="1400" baseline="0">
                <a:latin typeface="Huawei Sans" panose="020C0503030203020204" pitchFamily="34" charset="0"/>
                <a:ea typeface="方正兰亭黑简体" panose="02000000000000000000" pitchFamily="2" charset="-122"/>
              </a:defRPr>
            </a:lvl5pPr>
            <a:lvl6pPr marL="2513330" indent="-228600" defTabSz="913765">
              <a:lnSpc>
                <a:spcPct val="90000"/>
              </a:lnSpc>
              <a:spcBef>
                <a:spcPts val="500"/>
              </a:spcBef>
              <a:buFont typeface="Arial" panose="020B0604020202020204" pitchFamily="34" charset="0"/>
              <a:buChar char="•"/>
              <a:defRPr sz="1800"/>
            </a:lvl6pPr>
            <a:lvl7pPr marL="2970530" indent="-228600" defTabSz="913765">
              <a:lnSpc>
                <a:spcPct val="90000"/>
              </a:lnSpc>
              <a:spcBef>
                <a:spcPts val="500"/>
              </a:spcBef>
              <a:buFont typeface="Arial" panose="020B0604020202020204" pitchFamily="34" charset="0"/>
              <a:buChar char="•"/>
              <a:defRPr sz="1800"/>
            </a:lvl7pPr>
            <a:lvl8pPr marL="3427730" indent="-228600" defTabSz="913765">
              <a:lnSpc>
                <a:spcPct val="90000"/>
              </a:lnSpc>
              <a:spcBef>
                <a:spcPts val="500"/>
              </a:spcBef>
              <a:buFont typeface="Arial" panose="020B0604020202020204" pitchFamily="34" charset="0"/>
              <a:buChar char="•"/>
              <a:defRPr sz="1800"/>
            </a:lvl8pPr>
            <a:lvl9pPr marL="3884930" indent="-228600" defTabSz="913765">
              <a:lnSpc>
                <a:spcPct val="90000"/>
              </a:lnSpc>
              <a:spcBef>
                <a:spcPts val="500"/>
              </a:spcBef>
              <a:buFont typeface="Arial" panose="020B0604020202020204" pitchFamily="34" charset="0"/>
              <a:buChar char="•"/>
              <a:defRPr sz="1800"/>
            </a:lvl9pPr>
          </a:lstStyle>
          <a:p>
            <a:r>
              <a:rPr lang="en-US" altLang="zh-CN" sz="1600" dirty="0">
                <a:sym typeface="Huawei Sans" panose="020C0503030203020204" pitchFamily="34" charset="0"/>
              </a:rPr>
              <a:t>Flavors</a:t>
            </a:r>
            <a:r>
              <a:rPr lang="zh-CN" altLang="en-US" sz="1600" dirty="0">
                <a:sym typeface="Huawei Sans" panose="020C0503030203020204" pitchFamily="34" charset="0"/>
              </a:rPr>
              <a:t>是为了增强</a:t>
            </a:r>
            <a:r>
              <a:rPr lang="en-US" altLang="zh-CN" sz="1600" dirty="0">
                <a:sym typeface="Huawei Sans" panose="020C0503030203020204" pitchFamily="34" charset="0"/>
              </a:rPr>
              <a:t>SRv6 Segment</a:t>
            </a:r>
            <a:r>
              <a:rPr lang="zh-CN" altLang="en-US" sz="1600" dirty="0">
                <a:sym typeface="Huawei Sans" panose="020C0503030203020204" pitchFamily="34" charset="0"/>
              </a:rPr>
              <a:t>而定义的附加行为。这些附加行为是可选项，它们将会增强</a:t>
            </a:r>
            <a:r>
              <a:rPr lang="en-US" altLang="zh-CN" sz="1600" dirty="0">
                <a:sym typeface="Huawei Sans" panose="020C0503030203020204" pitchFamily="34" charset="0"/>
              </a:rPr>
              <a:t>SRv6 Segment</a:t>
            </a:r>
            <a:r>
              <a:rPr lang="zh-CN" altLang="en-US" sz="1600" dirty="0">
                <a:sym typeface="Huawei Sans" panose="020C0503030203020204" pitchFamily="34" charset="0"/>
              </a:rPr>
              <a:t>的执行动作，满足更丰富的业务需求。</a:t>
            </a:r>
            <a:endParaRPr lang="en-US" altLang="zh-CN" sz="1600" dirty="0">
              <a:sym typeface="Huawei Sans" panose="020C0503030203020204" pitchFamily="34" charset="0"/>
            </a:endParaRPr>
          </a:p>
          <a:p>
            <a:r>
              <a:rPr lang="en-US" altLang="zh-CN" sz="1600" dirty="0"/>
              <a:t>Segment Routing over IPv6 (SRv6) Network Programming</a:t>
            </a:r>
            <a:r>
              <a:rPr lang="zh-CN" altLang="en-US" sz="1600" dirty="0">
                <a:sym typeface="Huawei Sans" panose="020C0503030203020204" pitchFamily="34" charset="0"/>
              </a:rPr>
              <a:t>中定义了以下附加行为，</a:t>
            </a:r>
            <a:r>
              <a:rPr lang="en-US" altLang="zh-CN" sz="1600" dirty="0">
                <a:sym typeface="Huawei Sans" panose="020C0503030203020204" pitchFamily="34" charset="0"/>
              </a:rPr>
              <a:t>PSP</a:t>
            </a:r>
            <a:r>
              <a:rPr lang="zh-CN" altLang="en-US" sz="1600" dirty="0">
                <a:sym typeface="Huawei Sans" panose="020C0503030203020204" pitchFamily="34" charset="0"/>
              </a:rPr>
              <a:t>（</a:t>
            </a:r>
            <a:r>
              <a:rPr lang="en-US" altLang="zh-CN" sz="1600" dirty="0">
                <a:sym typeface="Huawei Sans" panose="020C0503030203020204" pitchFamily="34" charset="0"/>
              </a:rPr>
              <a:t>Penultimate Segment Pop of the SRH</a:t>
            </a:r>
            <a:r>
              <a:rPr lang="zh-CN" altLang="en-US" sz="1600" dirty="0">
                <a:sym typeface="Huawei Sans" panose="020C0503030203020204" pitchFamily="34" charset="0"/>
              </a:rPr>
              <a:t>，倒数第二段弹出</a:t>
            </a:r>
            <a:r>
              <a:rPr lang="en-US" altLang="zh-CN" sz="1600" dirty="0">
                <a:sym typeface="Huawei Sans" panose="020C0503030203020204" pitchFamily="34" charset="0"/>
              </a:rPr>
              <a:t>SRH</a:t>
            </a:r>
            <a:r>
              <a:rPr lang="zh-CN" altLang="en-US" sz="1600" dirty="0">
                <a:sym typeface="Huawei Sans" panose="020C0503030203020204" pitchFamily="34" charset="0"/>
              </a:rPr>
              <a:t>）、</a:t>
            </a:r>
            <a:r>
              <a:rPr lang="en-US" altLang="zh-CN" sz="1600" dirty="0">
                <a:sym typeface="Huawei Sans" panose="020C0503030203020204" pitchFamily="34" charset="0"/>
              </a:rPr>
              <a:t>USP</a:t>
            </a:r>
            <a:r>
              <a:rPr lang="zh-CN" altLang="en-US" sz="1600" dirty="0">
                <a:sym typeface="Huawei Sans" panose="020C0503030203020204" pitchFamily="34" charset="0"/>
              </a:rPr>
              <a:t>（</a:t>
            </a:r>
            <a:r>
              <a:rPr lang="en-US" altLang="zh-CN" sz="1600" dirty="0">
                <a:sym typeface="Huawei Sans" panose="020C0503030203020204" pitchFamily="34" charset="0"/>
              </a:rPr>
              <a:t>Ultimate Segment Pop of the SRH</a:t>
            </a:r>
            <a:r>
              <a:rPr lang="zh-CN" altLang="en-US" sz="1600" dirty="0">
                <a:sym typeface="Huawei Sans" panose="020C0503030203020204" pitchFamily="34" charset="0"/>
              </a:rPr>
              <a:t>，倒数第一段弹出</a:t>
            </a:r>
            <a:r>
              <a:rPr lang="en-US" altLang="zh-CN" sz="1600" dirty="0">
                <a:sym typeface="Huawei Sans" panose="020C0503030203020204" pitchFamily="34" charset="0"/>
              </a:rPr>
              <a:t>SRH</a:t>
            </a:r>
            <a:r>
              <a:rPr lang="zh-CN" altLang="en-US" sz="1600" dirty="0">
                <a:sym typeface="Huawei Sans" panose="020C0503030203020204" pitchFamily="34" charset="0"/>
              </a:rPr>
              <a:t>）和</a:t>
            </a:r>
            <a:r>
              <a:rPr lang="en-US" altLang="zh-CN" sz="1600" dirty="0">
                <a:sym typeface="Huawei Sans" panose="020C0503030203020204" pitchFamily="34" charset="0"/>
              </a:rPr>
              <a:t>USD</a:t>
            </a:r>
            <a:r>
              <a:rPr lang="zh-CN" altLang="en-US" sz="1600" dirty="0">
                <a:sym typeface="Huawei Sans" panose="020C0503030203020204" pitchFamily="34" charset="0"/>
              </a:rPr>
              <a:t>（</a:t>
            </a:r>
            <a:r>
              <a:rPr lang="en-US" altLang="zh-CN" sz="1600" dirty="0">
                <a:sym typeface="Huawei Sans" panose="020C0503030203020204" pitchFamily="34" charset="0"/>
              </a:rPr>
              <a:t>Ultimate Segment </a:t>
            </a:r>
            <a:r>
              <a:rPr lang="en-US" altLang="zh-CN" sz="1600" dirty="0" err="1">
                <a:sym typeface="Huawei Sans" panose="020C0503030203020204" pitchFamily="34" charset="0"/>
              </a:rPr>
              <a:t>Decapsulation</a:t>
            </a:r>
            <a:r>
              <a:rPr lang="zh-CN" altLang="en-US" sz="1600" dirty="0">
                <a:sym typeface="Huawei Sans" panose="020C0503030203020204" pitchFamily="34" charset="0"/>
              </a:rPr>
              <a:t>，倒数第一段解封装）。</a:t>
            </a:r>
            <a:endParaRPr lang="zh-CN" altLang="en-US" sz="1600" dirty="0">
              <a:sym typeface="Huawei Sans" panose="020C0503030203020204" pitchFamily="34" charset="0"/>
            </a:endParaRPr>
          </a:p>
        </p:txBody>
      </p:sp>
      <p:graphicFrame>
        <p:nvGraphicFramePr>
          <p:cNvPr id="9" name="表格 8"/>
          <p:cNvGraphicFramePr>
            <a:graphicFrameLocks noGrp="1"/>
          </p:cNvGraphicFramePr>
          <p:nvPr/>
        </p:nvGraphicFramePr>
        <p:xfrm>
          <a:off x="1183367" y="3331464"/>
          <a:ext cx="8971726" cy="2301240"/>
        </p:xfrm>
        <a:graphic>
          <a:graphicData uri="http://schemas.openxmlformats.org/drawingml/2006/table">
            <a:tbl>
              <a:tblPr/>
              <a:tblGrid>
                <a:gridCol w="1254014"/>
                <a:gridCol w="5267963"/>
                <a:gridCol w="2449749"/>
              </a:tblGrid>
              <a:tr h="575310">
                <a:tc>
                  <a:txBody>
                    <a:bodyPr/>
                    <a:lstStyle>
                      <a:lvl1pPr marL="0" algn="l" defTabSz="834390" rtl="0" eaLnBrk="1" latinLnBrk="0" hangingPunct="1">
                        <a:defRPr sz="1600" kern="1200">
                          <a:solidFill>
                            <a:schemeClr val="tx1"/>
                          </a:solidFill>
                          <a:latin typeface="FrutigerNext LT Regular"/>
                          <a:ea typeface="华文细黑" panose="02010600040101010101" pitchFamily="2" charset="-122"/>
                          <a:cs typeface="宋体" panose="02010600030101010101" pitchFamily="2" charset="-122"/>
                        </a:defRPr>
                      </a:lvl1pPr>
                      <a:lvl2pPr marL="417195" algn="l" defTabSz="834390" rtl="0" eaLnBrk="1" latinLnBrk="0" hangingPunct="1">
                        <a:defRPr sz="1600" kern="1200">
                          <a:solidFill>
                            <a:schemeClr val="tx1"/>
                          </a:solidFill>
                          <a:latin typeface="FrutigerNext LT Regular"/>
                          <a:ea typeface="华文细黑" panose="02010600040101010101" pitchFamily="2" charset="-122"/>
                          <a:cs typeface="宋体" panose="02010600030101010101" pitchFamily="2" charset="-122"/>
                        </a:defRPr>
                      </a:lvl2pPr>
                      <a:lvl3pPr marL="834390" algn="l" defTabSz="834390" rtl="0" eaLnBrk="1" latinLnBrk="0" hangingPunct="1">
                        <a:defRPr sz="1600" kern="1200">
                          <a:solidFill>
                            <a:schemeClr val="tx1"/>
                          </a:solidFill>
                          <a:latin typeface="FrutigerNext LT Regular"/>
                          <a:ea typeface="华文细黑" panose="02010600040101010101" pitchFamily="2" charset="-122"/>
                          <a:cs typeface="宋体" panose="02010600030101010101" pitchFamily="2" charset="-122"/>
                        </a:defRPr>
                      </a:lvl3pPr>
                      <a:lvl4pPr marL="1251585" algn="l" defTabSz="834390" rtl="0" eaLnBrk="1" latinLnBrk="0" hangingPunct="1">
                        <a:defRPr sz="1600" kern="1200">
                          <a:solidFill>
                            <a:schemeClr val="tx1"/>
                          </a:solidFill>
                          <a:latin typeface="FrutigerNext LT Regular"/>
                          <a:ea typeface="华文细黑" panose="02010600040101010101" pitchFamily="2" charset="-122"/>
                          <a:cs typeface="宋体" panose="02010600030101010101" pitchFamily="2" charset="-122"/>
                        </a:defRPr>
                      </a:lvl4pPr>
                      <a:lvl5pPr marL="1668780" algn="l" defTabSz="834390" rtl="0" eaLnBrk="1" latinLnBrk="0" hangingPunct="1">
                        <a:defRPr sz="1600" kern="1200">
                          <a:solidFill>
                            <a:schemeClr val="tx1"/>
                          </a:solidFill>
                          <a:latin typeface="FrutigerNext LT Regular"/>
                          <a:ea typeface="华文细黑" panose="02010600040101010101" pitchFamily="2" charset="-122"/>
                          <a:cs typeface="宋体" panose="02010600030101010101" pitchFamily="2" charset="-122"/>
                        </a:defRPr>
                      </a:lvl5pPr>
                      <a:lvl6pPr marL="2085975" algn="l" defTabSz="834390" rtl="0" eaLnBrk="1" latinLnBrk="0" hangingPunct="1">
                        <a:defRPr sz="1600" kern="1200">
                          <a:solidFill>
                            <a:schemeClr val="tx1"/>
                          </a:solidFill>
                          <a:latin typeface="FrutigerNext LT Regular"/>
                          <a:ea typeface="华文细黑" panose="02010600040101010101" pitchFamily="2" charset="-122"/>
                          <a:cs typeface="宋体" panose="02010600030101010101" pitchFamily="2" charset="-122"/>
                        </a:defRPr>
                      </a:lvl6pPr>
                      <a:lvl7pPr marL="2503170" algn="l" defTabSz="834390" rtl="0" eaLnBrk="1" latinLnBrk="0" hangingPunct="1">
                        <a:defRPr sz="1600" kern="1200">
                          <a:solidFill>
                            <a:schemeClr val="tx1"/>
                          </a:solidFill>
                          <a:latin typeface="FrutigerNext LT Regular"/>
                          <a:ea typeface="华文细黑" panose="02010600040101010101" pitchFamily="2" charset="-122"/>
                          <a:cs typeface="宋体" panose="02010600030101010101" pitchFamily="2" charset="-122"/>
                        </a:defRPr>
                      </a:lvl7pPr>
                      <a:lvl8pPr marL="2920365" algn="l" defTabSz="834390" rtl="0" eaLnBrk="1" latinLnBrk="0" hangingPunct="1">
                        <a:defRPr sz="1600" kern="1200">
                          <a:solidFill>
                            <a:schemeClr val="tx1"/>
                          </a:solidFill>
                          <a:latin typeface="FrutigerNext LT Regular"/>
                          <a:ea typeface="华文细黑" panose="02010600040101010101" pitchFamily="2" charset="-122"/>
                          <a:cs typeface="宋体" panose="02010600030101010101" pitchFamily="2" charset="-122"/>
                        </a:defRPr>
                      </a:lvl8pPr>
                      <a:lvl9pPr marL="3337560" algn="l" defTabSz="834390" rtl="0" eaLnBrk="1" latinLnBrk="0" hangingPunct="1">
                        <a:defRPr sz="1600" kern="1200">
                          <a:solidFill>
                            <a:schemeClr val="tx1"/>
                          </a:solidFill>
                          <a:latin typeface="FrutigerNext LT Regular"/>
                          <a:ea typeface="华文细黑" panose="02010600040101010101" pitchFamily="2" charset="-122"/>
                          <a:cs typeface="宋体" panose="02010600030101010101" pitchFamily="2" charset="-122"/>
                        </a:defRPr>
                      </a:lvl9pPr>
                    </a:lstStyle>
                    <a:p>
                      <a:pPr algn="ctr"/>
                      <a:r>
                        <a:rPr lang="zh-CN" altLang="en-US"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附加行为</a:t>
                      </a:r>
                      <a:endParaRPr lang="en-US"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marL="43957" marR="43957" marT="21979" marB="21979" anchor="ctr">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834390" rtl="0" eaLnBrk="1" latinLnBrk="0" hangingPunct="1">
                        <a:defRPr sz="1600" kern="1200">
                          <a:solidFill>
                            <a:schemeClr val="tx1"/>
                          </a:solidFill>
                          <a:latin typeface="FrutigerNext LT Regular"/>
                          <a:ea typeface="华文细黑" panose="02010600040101010101" pitchFamily="2" charset="-122"/>
                          <a:cs typeface="宋体" panose="02010600030101010101" pitchFamily="2" charset="-122"/>
                        </a:defRPr>
                      </a:lvl1pPr>
                      <a:lvl2pPr marL="417195" algn="l" defTabSz="834390" rtl="0" eaLnBrk="1" latinLnBrk="0" hangingPunct="1">
                        <a:defRPr sz="1600" kern="1200">
                          <a:solidFill>
                            <a:schemeClr val="tx1"/>
                          </a:solidFill>
                          <a:latin typeface="FrutigerNext LT Regular"/>
                          <a:ea typeface="华文细黑" panose="02010600040101010101" pitchFamily="2" charset="-122"/>
                          <a:cs typeface="宋体" panose="02010600030101010101" pitchFamily="2" charset="-122"/>
                        </a:defRPr>
                      </a:lvl2pPr>
                      <a:lvl3pPr marL="834390" algn="l" defTabSz="834390" rtl="0" eaLnBrk="1" latinLnBrk="0" hangingPunct="1">
                        <a:defRPr sz="1600" kern="1200">
                          <a:solidFill>
                            <a:schemeClr val="tx1"/>
                          </a:solidFill>
                          <a:latin typeface="FrutigerNext LT Regular"/>
                          <a:ea typeface="华文细黑" panose="02010600040101010101" pitchFamily="2" charset="-122"/>
                          <a:cs typeface="宋体" panose="02010600030101010101" pitchFamily="2" charset="-122"/>
                        </a:defRPr>
                      </a:lvl3pPr>
                      <a:lvl4pPr marL="1251585" algn="l" defTabSz="834390" rtl="0" eaLnBrk="1" latinLnBrk="0" hangingPunct="1">
                        <a:defRPr sz="1600" kern="1200">
                          <a:solidFill>
                            <a:schemeClr val="tx1"/>
                          </a:solidFill>
                          <a:latin typeface="FrutigerNext LT Regular"/>
                          <a:ea typeface="华文细黑" panose="02010600040101010101" pitchFamily="2" charset="-122"/>
                          <a:cs typeface="宋体" panose="02010600030101010101" pitchFamily="2" charset="-122"/>
                        </a:defRPr>
                      </a:lvl4pPr>
                      <a:lvl5pPr marL="1668780" algn="l" defTabSz="834390" rtl="0" eaLnBrk="1" latinLnBrk="0" hangingPunct="1">
                        <a:defRPr sz="1600" kern="1200">
                          <a:solidFill>
                            <a:schemeClr val="tx1"/>
                          </a:solidFill>
                          <a:latin typeface="FrutigerNext LT Regular"/>
                          <a:ea typeface="华文细黑" panose="02010600040101010101" pitchFamily="2" charset="-122"/>
                          <a:cs typeface="宋体" panose="02010600030101010101" pitchFamily="2" charset="-122"/>
                        </a:defRPr>
                      </a:lvl5pPr>
                      <a:lvl6pPr marL="2085975" algn="l" defTabSz="834390" rtl="0" eaLnBrk="1" latinLnBrk="0" hangingPunct="1">
                        <a:defRPr sz="1600" kern="1200">
                          <a:solidFill>
                            <a:schemeClr val="tx1"/>
                          </a:solidFill>
                          <a:latin typeface="FrutigerNext LT Regular"/>
                          <a:ea typeface="华文细黑" panose="02010600040101010101" pitchFamily="2" charset="-122"/>
                          <a:cs typeface="宋体" panose="02010600030101010101" pitchFamily="2" charset="-122"/>
                        </a:defRPr>
                      </a:lvl6pPr>
                      <a:lvl7pPr marL="2503170" algn="l" defTabSz="834390" rtl="0" eaLnBrk="1" latinLnBrk="0" hangingPunct="1">
                        <a:defRPr sz="1600" kern="1200">
                          <a:solidFill>
                            <a:schemeClr val="tx1"/>
                          </a:solidFill>
                          <a:latin typeface="FrutigerNext LT Regular"/>
                          <a:ea typeface="华文细黑" panose="02010600040101010101" pitchFamily="2" charset="-122"/>
                          <a:cs typeface="宋体" panose="02010600030101010101" pitchFamily="2" charset="-122"/>
                        </a:defRPr>
                      </a:lvl7pPr>
                      <a:lvl8pPr marL="2920365" algn="l" defTabSz="834390" rtl="0" eaLnBrk="1" latinLnBrk="0" hangingPunct="1">
                        <a:defRPr sz="1600" kern="1200">
                          <a:solidFill>
                            <a:schemeClr val="tx1"/>
                          </a:solidFill>
                          <a:latin typeface="FrutigerNext LT Regular"/>
                          <a:ea typeface="华文细黑" panose="02010600040101010101" pitchFamily="2" charset="-122"/>
                          <a:cs typeface="宋体" panose="02010600030101010101" pitchFamily="2" charset="-122"/>
                        </a:defRPr>
                      </a:lvl8pPr>
                      <a:lvl9pPr marL="3337560" algn="l" defTabSz="834390" rtl="0" eaLnBrk="1" latinLnBrk="0" hangingPunct="1">
                        <a:defRPr sz="1600" kern="1200">
                          <a:solidFill>
                            <a:schemeClr val="tx1"/>
                          </a:solidFill>
                          <a:latin typeface="FrutigerNext LT Regular"/>
                          <a:ea typeface="华文细黑" panose="02010600040101010101" pitchFamily="2" charset="-122"/>
                          <a:cs typeface="宋体" panose="02010600030101010101" pitchFamily="2" charset="-122"/>
                        </a:defRPr>
                      </a:lvl9pPr>
                    </a:lstStyle>
                    <a:p>
                      <a:pPr algn="ctr"/>
                      <a:r>
                        <a:rPr lang="zh-CN" altLang="en-US"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功能描述</a:t>
                      </a:r>
                      <a:endParaRPr lang="en-US"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marL="43957" marR="43957" marT="21979" marB="21979"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zh-CN" altLang="en-US"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附着的</a:t>
                      </a:r>
                      <a:r>
                        <a:rPr lang="en-US" altLang="zh-CN"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End</a:t>
                      </a:r>
                      <a:r>
                        <a:rPr lang="zh-CN" altLang="en-US"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指令</a:t>
                      </a:r>
                      <a:endParaRPr lang="en-US"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marL="43957" marR="43957" marT="21979" marB="21979" anchor="ctr">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r>
              <a:tr h="575310">
                <a:tc>
                  <a:txBody>
                    <a:bodyPr/>
                    <a:lstStyle>
                      <a:lvl1pPr marL="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1pPr>
                      <a:lvl2pPr marL="45720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2pPr>
                      <a:lvl3pPr marL="913765"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3pPr>
                      <a:lvl4pPr marL="1370965"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4pPr>
                      <a:lvl5pPr marL="1828165"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5pPr>
                      <a:lvl6pPr marL="2285365"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6pPr>
                      <a:lvl7pPr marL="274193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7pPr>
                      <a:lvl8pPr marL="319913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8pPr>
                      <a:lvl9pPr marL="365633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9pPr>
                    </a:lstStyle>
                    <a:p>
                      <a:pPr algn="ctr" rtl="0" fontAlgn="ctr"/>
                      <a:r>
                        <a:rPr lang="en-US" sz="1400" b="0" i="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PSP</a:t>
                      </a:r>
                      <a:endParaRPr lang="en-US" sz="1400" b="0"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72000" marR="36000" marT="12700" marB="0" anchor="ctr">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1pPr>
                      <a:lvl2pPr marL="45720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2pPr>
                      <a:lvl3pPr marL="913765"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3pPr>
                      <a:lvl4pPr marL="1370965"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4pPr>
                      <a:lvl5pPr marL="1828165"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5pPr>
                      <a:lvl6pPr marL="2285365"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6pPr>
                      <a:lvl7pPr marL="274193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7pPr>
                      <a:lvl8pPr marL="319913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8pPr>
                      <a:lvl9pPr marL="365633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9pPr>
                    </a:lstStyle>
                    <a:p>
                      <a:pPr algn="ctr" fontAlgn="ctr"/>
                      <a:r>
                        <a:rPr lang="zh-CN" altLang="en-US" sz="1400" b="0"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在倒数第二个</a:t>
                      </a:r>
                      <a:r>
                        <a:rPr lang="en-US" altLang="zh-CN" sz="1400" b="0"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Endpoint</a:t>
                      </a:r>
                      <a:r>
                        <a:rPr lang="zh-CN" altLang="en-US" sz="1400" b="0"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节点执行移除</a:t>
                      </a:r>
                      <a:r>
                        <a:rPr lang="en-US" altLang="zh-CN" sz="1400" b="0"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SRH</a:t>
                      </a:r>
                      <a:r>
                        <a:rPr lang="zh-CN" altLang="en-US" sz="1400" b="0"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操作。</a:t>
                      </a:r>
                      <a:endParaRPr lang="en-US" altLang="zh-CN" sz="1400" b="0"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72000" marR="36000" marT="1270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fontAlgn="ctr"/>
                      <a:r>
                        <a:rPr lang="en-US" altLang="zh-CN" sz="1400" b="0"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End</a:t>
                      </a:r>
                      <a:r>
                        <a:rPr lang="zh-CN" altLang="en-US" sz="1400" b="0"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b="0" i="0" u="none" strike="noStrike" dirty="0" err="1">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End.X</a:t>
                      </a:r>
                      <a:r>
                        <a:rPr lang="zh-CN" altLang="en-US" sz="1400" b="0"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b="0"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End.DT2</a:t>
                      </a:r>
                      <a:r>
                        <a:rPr lang="zh-CN" altLang="en-US" sz="1400" b="0"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b="0"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End.DT4</a:t>
                      </a:r>
                      <a:r>
                        <a:rPr lang="zh-CN" altLang="en-US" sz="1400" b="0"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b="0"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End.DT6</a:t>
                      </a:r>
                      <a:endParaRPr lang="en-US" altLang="zh-CN" sz="1400" b="0"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72000" marR="36000" marT="12700" marB="0" anchor="ctr">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r>
              <a:tr h="575310">
                <a:tc>
                  <a:txBody>
                    <a:bodyPr/>
                    <a:lstStyle>
                      <a:lvl1pPr marL="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1pPr>
                      <a:lvl2pPr marL="45720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2pPr>
                      <a:lvl3pPr marL="913765"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3pPr>
                      <a:lvl4pPr marL="1370965"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4pPr>
                      <a:lvl5pPr marL="1828165"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5pPr>
                      <a:lvl6pPr marL="2285365"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6pPr>
                      <a:lvl7pPr marL="274193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7pPr>
                      <a:lvl8pPr marL="319913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8pPr>
                      <a:lvl9pPr marL="365633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9pPr>
                    </a:lstStyle>
                    <a:p>
                      <a:pPr algn="ctr" rtl="0" fontAlgn="ctr"/>
                      <a:r>
                        <a:rPr lang="en-US" sz="1400" b="0" i="0" u="none" strike="noStrike">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USP</a:t>
                      </a:r>
                      <a:endParaRPr lang="en-US" sz="1400" b="0"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72000" marR="36000" marT="12700" marB="0" anchor="ctr">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1pPr>
                      <a:lvl2pPr marL="45720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2pPr>
                      <a:lvl3pPr marL="913765"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3pPr>
                      <a:lvl4pPr marL="1370965"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4pPr>
                      <a:lvl5pPr marL="1828165"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5pPr>
                      <a:lvl6pPr marL="2285365"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6pPr>
                      <a:lvl7pPr marL="274193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7pPr>
                      <a:lvl8pPr marL="319913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8pPr>
                      <a:lvl9pPr marL="365633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9pPr>
                    </a:lstStyle>
                    <a:p>
                      <a:pPr algn="ctr" fontAlgn="ctr"/>
                      <a:r>
                        <a:rPr lang="zh-CN" altLang="en-US" sz="1400" b="0"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在最后一个</a:t>
                      </a:r>
                      <a:r>
                        <a:rPr lang="en-US" altLang="zh-CN" sz="1400" b="0"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Endpoint</a:t>
                      </a:r>
                      <a:r>
                        <a:rPr lang="zh-CN" altLang="en-US" sz="1400" b="0"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节点执行移除</a:t>
                      </a:r>
                      <a:r>
                        <a:rPr lang="en-US" altLang="zh-CN" sz="1400" b="0"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SRH</a:t>
                      </a:r>
                      <a:r>
                        <a:rPr lang="zh-CN" altLang="en-US" sz="1400" b="0"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操作。</a:t>
                      </a:r>
                      <a:endParaRPr lang="en-US" altLang="zh-CN" sz="1400" b="0"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72000" marR="36000" marT="1270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fontAlgn="ctr"/>
                      <a:r>
                        <a:rPr lang="en-US" altLang="zh-CN" sz="1400" b="0"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End</a:t>
                      </a:r>
                      <a:r>
                        <a:rPr lang="zh-CN" altLang="en-US" sz="1400" b="0"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b="0" i="0" u="none" strike="noStrike" dirty="0" err="1">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End.X</a:t>
                      </a:r>
                      <a:r>
                        <a:rPr lang="zh-CN" altLang="en-US" sz="1400" b="0"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b="0"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End.DT2</a:t>
                      </a:r>
                      <a:r>
                        <a:rPr lang="zh-CN" altLang="en-US" sz="1400" b="0"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b="0"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End.DT4</a:t>
                      </a:r>
                      <a:r>
                        <a:rPr lang="zh-CN" altLang="en-US" sz="1400" b="0"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b="0"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End.DT6</a:t>
                      </a:r>
                      <a:endParaRPr lang="en-US" altLang="zh-CN" sz="1400" b="0"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72000" marR="36000" marT="12700" marB="0" anchor="ctr">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r>
              <a:tr h="575310">
                <a:tc>
                  <a:txBody>
                    <a:bodyPr/>
                    <a:lstStyle>
                      <a:lvl1pPr marL="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1pPr>
                      <a:lvl2pPr marL="45720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2pPr>
                      <a:lvl3pPr marL="913765"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3pPr>
                      <a:lvl4pPr marL="1370965"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4pPr>
                      <a:lvl5pPr marL="1828165"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5pPr>
                      <a:lvl6pPr marL="2285365"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6pPr>
                      <a:lvl7pPr marL="274193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7pPr>
                      <a:lvl8pPr marL="319913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8pPr>
                      <a:lvl9pPr marL="365633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9pPr>
                    </a:lstStyle>
                    <a:p>
                      <a:pPr algn="ctr" rtl="0" fontAlgn="ctr"/>
                      <a:r>
                        <a:rPr lang="en-US" sz="1400" b="0"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USD</a:t>
                      </a:r>
                      <a:endParaRPr lang="en-US" sz="1400" b="0"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72000" marR="36000" marT="12700" marB="0" anchor="ctr">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1pPr>
                      <a:lvl2pPr marL="45720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2pPr>
                      <a:lvl3pPr marL="913765"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3pPr>
                      <a:lvl4pPr marL="1370965"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4pPr>
                      <a:lvl5pPr marL="1828165"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5pPr>
                      <a:lvl6pPr marL="2285365"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6pPr>
                      <a:lvl7pPr marL="274193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7pPr>
                      <a:lvl8pPr marL="319913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8pPr>
                      <a:lvl9pPr marL="365633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9pPr>
                    </a:lstStyle>
                    <a:p>
                      <a:pPr algn="ctr" fontAlgn="ctr"/>
                      <a:r>
                        <a:rPr lang="zh-CN" altLang="en-US" sz="1400" b="0"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在最后一个</a:t>
                      </a:r>
                      <a:r>
                        <a:rPr lang="en-US" altLang="zh-CN" sz="1400" b="0"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Endpoint</a:t>
                      </a:r>
                      <a:r>
                        <a:rPr lang="zh-CN" altLang="en-US" sz="1400" b="0"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节点执行解封装外层</a:t>
                      </a:r>
                      <a:r>
                        <a:rPr lang="en-US" altLang="zh-CN" sz="1400" b="0"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IPv6</a:t>
                      </a:r>
                      <a:r>
                        <a:rPr lang="zh-CN" altLang="en-US" sz="1400" b="0"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报文头操作。</a:t>
                      </a:r>
                      <a:endParaRPr lang="zh-CN" altLang="en-US" sz="1400" b="0"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72000" marR="36000" marT="1270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fontAlgn="ctr"/>
                      <a:r>
                        <a:rPr lang="en-US" altLang="zh-CN" sz="1400" b="0"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End</a:t>
                      </a:r>
                      <a:r>
                        <a:rPr lang="zh-CN" altLang="en-US" sz="1400" b="0"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b="0" i="0" u="none" strike="noStrike" dirty="0" err="1">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End.X</a:t>
                      </a:r>
                      <a:r>
                        <a:rPr lang="zh-CN" altLang="en-US" sz="1400" b="0"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b="0"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End.DT2</a:t>
                      </a:r>
                      <a:r>
                        <a:rPr lang="zh-CN" altLang="en-US" sz="1400" b="0"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b="0"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End.DT4</a:t>
                      </a:r>
                      <a:r>
                        <a:rPr lang="zh-CN" altLang="en-US" sz="1400" b="0"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b="0"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End.DT6</a:t>
                      </a:r>
                      <a:endParaRPr lang="en-US" altLang="zh-CN" sz="1400" b="0"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72000" marR="36000" marT="12700" marB="0" anchor="ctr">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r>
            </a:tbl>
          </a:graphicData>
        </a:graphic>
      </p:graphicFrame>
      <p:sp>
        <p:nvSpPr>
          <p:cNvPr id="5" name="五边形 2"/>
          <p:cNvSpPr/>
          <p:nvPr/>
        </p:nvSpPr>
        <p:spPr bwMode="gray">
          <a:xfrm>
            <a:off x="8310982" y="110463"/>
            <a:ext cx="1195960"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SRv6</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SRH</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介绍</a:t>
            </a:r>
            <a:endPar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燕尾形 3"/>
          <p:cNvSpPr/>
          <p:nvPr/>
        </p:nvSpPr>
        <p:spPr bwMode="gray">
          <a:xfrm>
            <a:off x="9430382" y="110463"/>
            <a:ext cx="119596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SRv6</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节点介绍</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 name="燕尾形 3"/>
          <p:cNvSpPr/>
          <p:nvPr/>
        </p:nvSpPr>
        <p:spPr bwMode="gray">
          <a:xfrm>
            <a:off x="10553128" y="105534"/>
            <a:ext cx="119596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SRv6</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转发原理</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r>
              <a:rPr lang="en-US" altLang="zh-CN" dirty="0">
                <a:sym typeface="Huawei Sans" panose="020C0503030203020204" pitchFamily="34" charset="0"/>
              </a:rPr>
              <a:t>SRv6 Locator</a:t>
            </a:r>
            <a:r>
              <a:rPr lang="zh-CN" altLang="en-US" dirty="0">
                <a:sym typeface="Huawei Sans" panose="020C0503030203020204" pitchFamily="34" charset="0"/>
              </a:rPr>
              <a:t>配置命令</a:t>
            </a:r>
            <a:endParaRPr lang="zh-CN" altLang="en-US" dirty="0">
              <a:sym typeface="Huawei Sans" panose="020C0503030203020204" pitchFamily="34" charset="0"/>
            </a:endParaRPr>
          </a:p>
        </p:txBody>
      </p:sp>
      <p:sp>
        <p:nvSpPr>
          <p:cNvPr id="3" name="矩形 2"/>
          <p:cNvSpPr/>
          <p:nvPr/>
        </p:nvSpPr>
        <p:spPr bwMode="gray">
          <a:xfrm>
            <a:off x="900000" y="1565637"/>
            <a:ext cx="10812575" cy="338554"/>
          </a:xfrm>
          <a:prstGeom prst="rect">
            <a:avLst/>
          </a:prstGeom>
          <a:solidFill>
            <a:schemeClr val="bg1">
              <a:lumMod val="85000"/>
            </a:schemeClr>
          </a:solidFill>
          <a:ln>
            <a:noFill/>
          </a:ln>
        </p:spPr>
        <p:txBody>
          <a:bodyPr wrap="square">
            <a:spAutoFit/>
          </a:bodyPr>
          <a:lstStyle/>
          <a:p>
            <a:pPr fontAlgn="base"/>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a:t>
            </a:r>
            <a:r>
              <a:rPr lang="en-US" altLang="zh-CN" sz="160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600" b="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segment-routing ipv6</a:t>
            </a:r>
            <a:endParaRPr lang="zh-CN" altLang="en-US" sz="16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4" name="矩形 3"/>
          <p:cNvSpPr/>
          <p:nvPr/>
        </p:nvSpPr>
        <p:spPr bwMode="gray">
          <a:xfrm>
            <a:off x="442913" y="1133490"/>
            <a:ext cx="11269662" cy="338554"/>
          </a:xfrm>
          <a:prstGeom prst="rect">
            <a:avLst/>
          </a:prstGeom>
        </p:spPr>
        <p:txBody>
          <a:bodyPr wrap="square">
            <a:spAutoFit/>
          </a:bodyPr>
          <a:lstStyle/>
          <a:p>
            <a:pPr marL="342900" indent="-342900" fontAlgn="auto">
              <a:buFont typeface="+mj-lt"/>
              <a:buAutoNum type="arabicPeriod"/>
            </a:pPr>
            <a:r>
              <a:rPr lang="zh-CN" altLang="en-US" sz="160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使能</a:t>
            </a:r>
            <a:r>
              <a:rPr lang="en-US" altLang="zh-CN" sz="160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SRv6</a:t>
            </a:r>
            <a:r>
              <a:rPr lang="zh-CN" altLang="en-US" sz="160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功能，并进入</a:t>
            </a:r>
            <a:r>
              <a:rPr lang="en-US" altLang="zh-CN" sz="160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SRv6</a:t>
            </a:r>
            <a:r>
              <a:rPr lang="zh-CN" altLang="en-US" sz="160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视图</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5" name="矩形 4"/>
          <p:cNvSpPr/>
          <p:nvPr/>
        </p:nvSpPr>
        <p:spPr bwMode="gray">
          <a:xfrm>
            <a:off x="900000" y="1918934"/>
            <a:ext cx="10798175" cy="400110"/>
          </a:xfrm>
          <a:prstGeom prst="rect">
            <a:avLst/>
          </a:prstGeom>
        </p:spPr>
        <p:txBody>
          <a:bodyPr wrap="square">
            <a:spAutoFit/>
          </a:bodyPr>
          <a:lstStyle/>
          <a:p>
            <a:pPr fontAlgn="auto">
              <a:lnSpc>
                <a:spcPts val="2400"/>
              </a:lnSpc>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配置</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segment-routing ipv6</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命令后，可以在</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SRv6</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视图下配置</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Locator</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和</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SRv6 SID</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，以生成</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SRv6 Local SID</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转发表项。</a:t>
            </a:r>
            <a:endPar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6" name="矩形 5"/>
          <p:cNvSpPr/>
          <p:nvPr/>
        </p:nvSpPr>
        <p:spPr bwMode="gray">
          <a:xfrm>
            <a:off x="900000" y="2841445"/>
            <a:ext cx="10812575" cy="584775"/>
          </a:xfrm>
          <a:prstGeom prst="rect">
            <a:avLst/>
          </a:prstGeom>
          <a:solidFill>
            <a:schemeClr val="bg1">
              <a:lumMod val="85000"/>
            </a:schemeClr>
          </a:solidFill>
          <a:ln>
            <a:noFill/>
          </a:ln>
        </p:spPr>
        <p:txBody>
          <a:bodyPr wrap="square">
            <a:spAutoFit/>
          </a:bodyPr>
          <a:lstStyle/>
          <a:p>
            <a:pPr fontAlgn="base"/>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-segment-routing-ipv6] </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locator</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6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locator-name</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 </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ipv6-prefix</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6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ipv6-address prefix-length </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 </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static</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6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static-length </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 [ </a:t>
            </a:r>
            <a:r>
              <a:rPr lang="en-US" altLang="zh-CN" sz="1600" b="1" dirty="0" err="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args</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600" i="1" dirty="0" err="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args</a:t>
            </a:r>
            <a:r>
              <a:rPr lang="en-US" altLang="zh-CN" sz="16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-length</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 ] * ]</a:t>
            </a:r>
            <a:endParaRPr lang="zh-CN" altLang="en-US" sz="16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7" name="矩形 6"/>
          <p:cNvSpPr/>
          <p:nvPr/>
        </p:nvSpPr>
        <p:spPr bwMode="gray">
          <a:xfrm>
            <a:off x="442913" y="2409298"/>
            <a:ext cx="11269662" cy="338554"/>
          </a:xfrm>
          <a:prstGeom prst="rect">
            <a:avLst/>
          </a:prstGeom>
        </p:spPr>
        <p:txBody>
          <a:bodyPr wrap="square">
            <a:spAutoFit/>
          </a:bodyPr>
          <a:lstStyle/>
          <a:p>
            <a:pPr marL="342900" indent="-342900" fontAlgn="auto">
              <a:buFont typeface="+mj-lt"/>
              <a:buAutoNum type="arabicPeriod" startAt="2"/>
            </a:pPr>
            <a:r>
              <a:rPr lang="zh-CN" altLang="en-US" sz="160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配置</a:t>
            </a:r>
            <a:r>
              <a:rPr lang="en-US" altLang="zh-CN" sz="160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SRv6 SID Locator</a:t>
            </a:r>
            <a:r>
              <a:rPr lang="zh-CN" altLang="en-US" sz="160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字段</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8" name="矩形 7"/>
          <p:cNvSpPr/>
          <p:nvPr/>
        </p:nvSpPr>
        <p:spPr bwMode="gray">
          <a:xfrm>
            <a:off x="900000" y="3539132"/>
            <a:ext cx="10798175" cy="1938992"/>
          </a:xfrm>
          <a:prstGeom prst="rect">
            <a:avLst/>
          </a:prstGeom>
        </p:spPr>
        <p:txBody>
          <a:bodyPr wrap="square">
            <a:spAutoFit/>
          </a:bodyPr>
          <a:lstStyle/>
          <a:p>
            <a:pPr fontAlgn="auto">
              <a:lnSpc>
                <a:spcPts val="2400"/>
              </a:lnSpc>
            </a:pP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SRv6 SID</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是</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IPv6</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地址形式，总计</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128</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位。</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SRv6 SID</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格式为</a:t>
            </a:r>
            <a:r>
              <a:rPr lang="en-US" altLang="zh-CN" sz="1600" dirty="0" err="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Locator:Function:Args</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。其中：</a:t>
            </a:r>
            <a:endPar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pPr marL="285750" indent="-285750" fontAlgn="auto">
              <a:lnSpc>
                <a:spcPts val="2400"/>
              </a:lnSpc>
              <a:buFont typeface="Arial" panose="020B0604020202020204" pitchFamily="34" charset="0"/>
              <a:buChar char="•"/>
            </a:pP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Locator</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字段对应</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ipv6-prefix</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ipv6-address</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参数，长度由</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prefix-length</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参数决定。</a:t>
            </a:r>
            <a:endPar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pPr marL="285750" indent="-285750" fontAlgn="auto">
              <a:lnSpc>
                <a:spcPts val="2400"/>
              </a:lnSpc>
              <a:buFont typeface="Arial" panose="020B0604020202020204" pitchFamily="34" charset="0"/>
              <a:buChar char="•"/>
            </a:pP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Function</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字段也称为</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Opcode</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，可以通过</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IGP</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协议动态分配，也可以通过</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opcode</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命令静态配置。配置</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Locator</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时可以通过</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static</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static-length</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参数指定静态段长度，静态段长度决定能够在该</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Locator</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下配置多少静态</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Opcode</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IGP</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协议动态分配</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Opcode</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时会在静态段范围外申请，确保最终构成的</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SRv6 SID</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不会冲突。</a:t>
            </a:r>
            <a:endPar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pPr marL="285750" indent="-285750" fontAlgn="auto">
              <a:lnSpc>
                <a:spcPts val="2400"/>
              </a:lnSpc>
              <a:buFont typeface="Arial" panose="020B0604020202020204" pitchFamily="34" charset="0"/>
              <a:buChar char="•"/>
            </a:pPr>
            <a:r>
              <a:rPr lang="en-US" altLang="zh-CN" sz="1600" dirty="0" err="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Args</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字段由</a:t>
            </a:r>
            <a:r>
              <a:rPr lang="en-US" altLang="zh-CN" sz="1600" b="1" dirty="0" err="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args</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600" dirty="0" err="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args</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-length</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参数决定，</a:t>
            </a:r>
            <a:r>
              <a:rPr lang="en-US" altLang="zh-CN" sz="1600" dirty="0" err="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Args</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字段在</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SRv6 SID</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里是可选的，由命令配置决定。</a:t>
            </a:r>
            <a:endPar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9" name="五边形 2"/>
          <p:cNvSpPr/>
          <p:nvPr/>
        </p:nvSpPr>
        <p:spPr bwMode="gray">
          <a:xfrm>
            <a:off x="8310982" y="110463"/>
            <a:ext cx="1195960"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SRv6</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SRH</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介绍</a:t>
            </a:r>
            <a:endPar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 name="燕尾形 3"/>
          <p:cNvSpPr/>
          <p:nvPr/>
        </p:nvSpPr>
        <p:spPr bwMode="gray">
          <a:xfrm>
            <a:off x="9430382" y="110463"/>
            <a:ext cx="119596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SRv6</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节点介绍</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 name="燕尾形 3"/>
          <p:cNvSpPr/>
          <p:nvPr/>
        </p:nvSpPr>
        <p:spPr bwMode="gray">
          <a:xfrm>
            <a:off x="10553128" y="105534"/>
            <a:ext cx="119596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SRv6</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转发原理</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r>
              <a:rPr lang="en-US" altLang="zh-CN" dirty="0">
                <a:sym typeface="Huawei Sans" panose="020C0503030203020204" pitchFamily="34" charset="0"/>
              </a:rPr>
              <a:t>SRv6 SID</a:t>
            </a:r>
            <a:r>
              <a:rPr lang="zh-CN" altLang="en-US" dirty="0">
                <a:sym typeface="Huawei Sans" panose="020C0503030203020204" pitchFamily="34" charset="0"/>
              </a:rPr>
              <a:t>配置命令</a:t>
            </a:r>
            <a:endParaRPr lang="zh-CN" altLang="en-US" dirty="0">
              <a:sym typeface="Huawei Sans" panose="020C0503030203020204" pitchFamily="34" charset="0"/>
            </a:endParaRPr>
          </a:p>
        </p:txBody>
      </p:sp>
      <p:sp>
        <p:nvSpPr>
          <p:cNvPr id="3" name="矩形 2"/>
          <p:cNvSpPr/>
          <p:nvPr/>
        </p:nvSpPr>
        <p:spPr bwMode="gray">
          <a:xfrm>
            <a:off x="900000" y="1565637"/>
            <a:ext cx="10812575" cy="338554"/>
          </a:xfrm>
          <a:prstGeom prst="rect">
            <a:avLst/>
          </a:prstGeom>
          <a:solidFill>
            <a:schemeClr val="bg1">
              <a:lumMod val="85000"/>
            </a:schemeClr>
          </a:solidFill>
          <a:ln>
            <a:noFill/>
          </a:ln>
        </p:spPr>
        <p:txBody>
          <a:bodyPr wrap="square">
            <a:spAutoFit/>
          </a:bodyPr>
          <a:lstStyle/>
          <a:p>
            <a:pPr fontAlgn="base"/>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-segment-routing-ipv6-locator</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opcode </a:t>
            </a:r>
            <a:r>
              <a:rPr lang="en-US" altLang="zh-CN" sz="1600" i="1" dirty="0" err="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func</a:t>
            </a:r>
            <a:r>
              <a:rPr lang="en-US" altLang="zh-CN" sz="16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-opcode</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end [no-flavor | </a:t>
            </a:r>
            <a:r>
              <a:rPr lang="en-US" altLang="zh-CN" sz="1600" b="1" dirty="0" err="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psp</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 </a:t>
            </a:r>
            <a:r>
              <a:rPr lang="en-US" altLang="zh-CN" sz="1600" b="1" dirty="0" err="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psp-usp-usd</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endParaRPr lang="zh-CN" altLang="en-US" sz="16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4" name="矩形 3"/>
          <p:cNvSpPr/>
          <p:nvPr/>
        </p:nvSpPr>
        <p:spPr bwMode="gray">
          <a:xfrm>
            <a:off x="442913" y="1133490"/>
            <a:ext cx="11269662" cy="338554"/>
          </a:xfrm>
          <a:prstGeom prst="rect">
            <a:avLst/>
          </a:prstGeom>
        </p:spPr>
        <p:txBody>
          <a:bodyPr wrap="square">
            <a:spAutoFit/>
          </a:bodyPr>
          <a:lstStyle/>
          <a:p>
            <a:pPr fontAlgn="auto"/>
            <a:r>
              <a:rPr lang="en-US" altLang="zh-CN" sz="160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3.   </a:t>
            </a:r>
            <a:r>
              <a:rPr lang="zh-CN" altLang="en-US" sz="160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配置静态</a:t>
            </a:r>
            <a:r>
              <a:rPr lang="en-US" altLang="zh-CN" sz="160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End SID</a:t>
            </a:r>
            <a:r>
              <a:rPr lang="zh-CN" altLang="en-US" sz="160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的</a:t>
            </a:r>
            <a:r>
              <a:rPr lang="en-US" altLang="zh-CN" sz="160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Opcode</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5" name="矩形 4"/>
          <p:cNvSpPr/>
          <p:nvPr/>
        </p:nvSpPr>
        <p:spPr bwMode="gray">
          <a:xfrm>
            <a:off x="900000" y="1918934"/>
            <a:ext cx="10798175" cy="377732"/>
          </a:xfrm>
          <a:prstGeom prst="rect">
            <a:avLst/>
          </a:prstGeom>
        </p:spPr>
        <p:txBody>
          <a:bodyPr wrap="square">
            <a:spAutoFit/>
          </a:bodyPr>
          <a:lstStyle/>
          <a:p>
            <a:pPr fontAlgn="auto">
              <a:lnSpc>
                <a:spcPts val="2400"/>
              </a:lnSpc>
            </a:pP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End SID</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标识一个</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SRv6</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节点。</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6" name="矩形 5"/>
          <p:cNvSpPr/>
          <p:nvPr/>
        </p:nvSpPr>
        <p:spPr bwMode="gray">
          <a:xfrm>
            <a:off x="900000" y="2841445"/>
            <a:ext cx="10812575" cy="584775"/>
          </a:xfrm>
          <a:prstGeom prst="rect">
            <a:avLst/>
          </a:prstGeom>
          <a:solidFill>
            <a:schemeClr val="bg1">
              <a:lumMod val="85000"/>
            </a:schemeClr>
          </a:solidFill>
          <a:ln>
            <a:noFill/>
          </a:ln>
        </p:spPr>
        <p:txBody>
          <a:bodyPr wrap="square">
            <a:spAutoFit/>
          </a:bodyPr>
          <a:lstStyle/>
          <a:p>
            <a:pPr fontAlgn="base"/>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-segment-routing-ipv6-locator] </a:t>
            </a: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opcode </a:t>
            </a:r>
            <a:r>
              <a:rPr lang="en-US" altLang="zh-CN" sz="1600" i="1" dirty="0" err="1">
                <a:latin typeface="Huawei Sans" panose="020C0503030203020204" pitchFamily="34" charset="0"/>
                <a:ea typeface="方正兰亭黑简体" panose="02000000000000000000" pitchFamily="2" charset="-122"/>
                <a:sym typeface="Huawei Sans" panose="020C0503030203020204" pitchFamily="34" charset="0"/>
              </a:rPr>
              <a:t>func</a:t>
            </a:r>
            <a:r>
              <a:rPr lang="en-US" altLang="zh-CN" sz="1600" i="1" dirty="0">
                <a:latin typeface="Huawei Sans" panose="020C0503030203020204" pitchFamily="34" charset="0"/>
                <a:ea typeface="方正兰亭黑简体" panose="02000000000000000000" pitchFamily="2" charset="-122"/>
                <a:sym typeface="Huawei Sans" panose="020C0503030203020204" pitchFamily="34" charset="0"/>
              </a:rPr>
              <a:t>-opcode</a:t>
            </a: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 end-x interface </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600" i="1" dirty="0">
                <a:latin typeface="Huawei Sans" panose="020C0503030203020204" pitchFamily="34" charset="0"/>
                <a:ea typeface="方正兰亭黑简体" panose="02000000000000000000" pitchFamily="2" charset="-122"/>
                <a:sym typeface="Huawei Sans" panose="020C0503030203020204" pitchFamily="34" charset="0"/>
              </a:rPr>
              <a:t>interface-name </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600" i="1" dirty="0">
                <a:latin typeface="Huawei Sans" panose="020C0503030203020204" pitchFamily="34" charset="0"/>
                <a:ea typeface="方正兰亭黑简体" panose="02000000000000000000" pitchFamily="2" charset="-122"/>
                <a:sym typeface="Huawei Sans" panose="020C0503030203020204" pitchFamily="34" charset="0"/>
              </a:rPr>
              <a:t> interface-type interface-number</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600" b="1" i="1"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600" b="1" dirty="0" err="1">
                <a:latin typeface="Huawei Sans" panose="020C0503030203020204" pitchFamily="34" charset="0"/>
                <a:ea typeface="方正兰亭黑简体" panose="02000000000000000000" pitchFamily="2" charset="-122"/>
                <a:sym typeface="Huawei Sans" panose="020C0503030203020204" pitchFamily="34" charset="0"/>
              </a:rPr>
              <a:t>nexthop</a:t>
            </a: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600" i="1" dirty="0" err="1">
                <a:latin typeface="Huawei Sans" panose="020C0503030203020204" pitchFamily="34" charset="0"/>
                <a:ea typeface="方正兰亭黑简体" panose="02000000000000000000" pitchFamily="2" charset="-122"/>
                <a:sym typeface="Huawei Sans" panose="020C0503030203020204" pitchFamily="34" charset="0"/>
              </a:rPr>
              <a:t>nexthop</a:t>
            </a:r>
            <a:r>
              <a:rPr lang="en-US" altLang="zh-CN" sz="1600" i="1" dirty="0">
                <a:latin typeface="Huawei Sans" panose="020C0503030203020204" pitchFamily="34" charset="0"/>
                <a:ea typeface="方正兰亭黑简体" panose="02000000000000000000" pitchFamily="2" charset="-122"/>
                <a:sym typeface="Huawei Sans" panose="020C0503030203020204" pitchFamily="34" charset="0"/>
              </a:rPr>
              <a:t>-address</a:t>
            </a: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 [no-flavor | </a:t>
            </a:r>
            <a:r>
              <a:rPr lang="en-US" altLang="zh-CN" sz="1600" b="1" dirty="0" err="1">
                <a:latin typeface="Huawei Sans" panose="020C0503030203020204" pitchFamily="34" charset="0"/>
                <a:ea typeface="方正兰亭黑简体" panose="02000000000000000000" pitchFamily="2" charset="-122"/>
                <a:sym typeface="Huawei Sans" panose="020C0503030203020204" pitchFamily="34" charset="0"/>
              </a:rPr>
              <a:t>psp</a:t>
            </a: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 | </a:t>
            </a:r>
            <a:r>
              <a:rPr lang="en-US" altLang="zh-CN" sz="1600" b="1" dirty="0" err="1">
                <a:latin typeface="Huawei Sans" panose="020C0503030203020204" pitchFamily="34" charset="0"/>
                <a:ea typeface="方正兰亭黑简体" panose="02000000000000000000" pitchFamily="2" charset="-122"/>
                <a:sym typeface="Huawei Sans" panose="020C0503030203020204" pitchFamily="34" charset="0"/>
              </a:rPr>
              <a:t>psp-usp-usd</a:t>
            </a: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6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7" name="矩形 6"/>
          <p:cNvSpPr/>
          <p:nvPr/>
        </p:nvSpPr>
        <p:spPr bwMode="gray">
          <a:xfrm>
            <a:off x="442913" y="2409298"/>
            <a:ext cx="11269662" cy="338554"/>
          </a:xfrm>
          <a:prstGeom prst="rect">
            <a:avLst/>
          </a:prstGeom>
        </p:spPr>
        <p:txBody>
          <a:bodyPr wrap="square">
            <a:spAutoFit/>
          </a:bodyPr>
          <a:lstStyle/>
          <a:p>
            <a:pPr fontAlgn="auto"/>
            <a:r>
              <a:rPr lang="en-US" altLang="zh-CN" sz="160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4.   </a:t>
            </a:r>
            <a:r>
              <a:rPr lang="zh-CN" altLang="en-US" sz="160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静态配置</a:t>
            </a:r>
            <a:r>
              <a:rPr lang="en-US" altLang="zh-CN" sz="160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End.X SID</a:t>
            </a:r>
            <a:r>
              <a:rPr lang="zh-CN" altLang="en-US" sz="160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的</a:t>
            </a:r>
            <a:r>
              <a:rPr lang="en-US" altLang="zh-CN" sz="160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Opcode</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8" name="矩形 7"/>
          <p:cNvSpPr/>
          <p:nvPr/>
        </p:nvSpPr>
        <p:spPr bwMode="gray">
          <a:xfrm>
            <a:off x="900000" y="3539132"/>
            <a:ext cx="10798175" cy="685509"/>
          </a:xfrm>
          <a:prstGeom prst="rect">
            <a:avLst/>
          </a:prstGeom>
        </p:spPr>
        <p:txBody>
          <a:bodyPr wrap="square">
            <a:spAutoFit/>
          </a:bodyPr>
          <a:lstStyle/>
          <a:p>
            <a:pPr fontAlgn="auto">
              <a:lnSpc>
                <a:spcPts val="2400"/>
              </a:lnSpc>
            </a:pPr>
            <a:r>
              <a:rPr lang="en-US" altLang="zh-CN" sz="1600" dirty="0" err="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End.X</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SID</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全称为</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Layer-3 cross-connect</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，表示</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SRv6</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节点的三层邻接。所以在参数配置过程中需要指定接口和接口下一跳地址。</a:t>
            </a:r>
            <a:endPar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9" name="五边形 2"/>
          <p:cNvSpPr/>
          <p:nvPr/>
        </p:nvSpPr>
        <p:spPr bwMode="gray">
          <a:xfrm>
            <a:off x="8310982" y="110463"/>
            <a:ext cx="1195960"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SRv6</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SRH</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介绍</a:t>
            </a:r>
            <a:endPar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 name="燕尾形 3"/>
          <p:cNvSpPr/>
          <p:nvPr/>
        </p:nvSpPr>
        <p:spPr bwMode="gray">
          <a:xfrm>
            <a:off x="9430382" y="110463"/>
            <a:ext cx="119596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SRv6</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节点介绍</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 name="燕尾形 3"/>
          <p:cNvSpPr/>
          <p:nvPr/>
        </p:nvSpPr>
        <p:spPr bwMode="gray">
          <a:xfrm>
            <a:off x="10553128" y="105534"/>
            <a:ext cx="119596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SRv6</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转发原理</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dirty="0">
                <a:sym typeface="Huawei Sans" panose="020C0503030203020204" pitchFamily="34" charset="0"/>
              </a:rPr>
              <a:t>SRv6 Locator</a:t>
            </a:r>
            <a:r>
              <a:rPr lang="zh-CN" altLang="en-US" dirty="0">
                <a:sym typeface="Huawei Sans" panose="020C0503030203020204" pitchFamily="34" charset="0"/>
              </a:rPr>
              <a:t>配置示例 </a:t>
            </a:r>
            <a:endParaRPr lang="zh-CN" altLang="en-US" dirty="0">
              <a:sym typeface="Huawei Sans" panose="020C0503030203020204" pitchFamily="34" charset="0"/>
            </a:endParaRPr>
          </a:p>
        </p:txBody>
      </p:sp>
      <p:sp>
        <p:nvSpPr>
          <p:cNvPr id="4" name="文本占位符 3"/>
          <p:cNvSpPr>
            <a:spLocks noGrp="1"/>
          </p:cNvSpPr>
          <p:nvPr>
            <p:ph type="body" sz="quarter" idx="10"/>
          </p:nvPr>
        </p:nvSpPr>
        <p:spPr bwMode="gray"/>
        <p:txBody>
          <a:bodyPr/>
          <a:lstStyle/>
          <a:p>
            <a:r>
              <a:rPr lang="en-US" altLang="zh-CN" sz="1600" dirty="0">
                <a:sym typeface="Huawei Sans" panose="020C0503030203020204" pitchFamily="34" charset="0"/>
              </a:rPr>
              <a:t>SRv6 SID</a:t>
            </a:r>
            <a:r>
              <a:rPr lang="zh-CN" altLang="en-US" sz="1600" dirty="0">
                <a:sym typeface="Huawei Sans" panose="020C0503030203020204" pitchFamily="34" charset="0"/>
              </a:rPr>
              <a:t>分为静态配置和动态配置两种方式。动态配置只需要配置</a:t>
            </a:r>
            <a:r>
              <a:rPr lang="en-US" altLang="zh-CN" sz="1600" dirty="0">
                <a:sym typeface="Huawei Sans" panose="020C0503030203020204" pitchFamily="34" charset="0"/>
              </a:rPr>
              <a:t>locator</a:t>
            </a:r>
            <a:r>
              <a:rPr lang="zh-CN" altLang="en-US" sz="1600" dirty="0">
                <a:sym typeface="Huawei Sans" panose="020C0503030203020204" pitchFamily="34" charset="0"/>
              </a:rPr>
              <a:t>命令，</a:t>
            </a:r>
            <a:r>
              <a:rPr lang="en-US" altLang="zh-CN" sz="1600" dirty="0">
                <a:sym typeface="Huawei Sans" panose="020C0503030203020204" pitchFamily="34" charset="0"/>
              </a:rPr>
              <a:t>opcode</a:t>
            </a:r>
            <a:r>
              <a:rPr lang="zh-CN" altLang="en-US" sz="1600" dirty="0">
                <a:sym typeface="Huawei Sans" panose="020C0503030203020204" pitchFamily="34" charset="0"/>
              </a:rPr>
              <a:t>由</a:t>
            </a:r>
            <a:r>
              <a:rPr lang="en-US" altLang="zh-CN" sz="1600" dirty="0">
                <a:sym typeface="Huawei Sans" panose="020C0503030203020204" pitchFamily="34" charset="0"/>
              </a:rPr>
              <a:t>IGP</a:t>
            </a:r>
            <a:r>
              <a:rPr lang="zh-CN" altLang="en-US" sz="1600" dirty="0">
                <a:sym typeface="Huawei Sans" panose="020C0503030203020204" pitchFamily="34" charset="0"/>
              </a:rPr>
              <a:t>动态分配。静态配置则手动配置对应类型</a:t>
            </a:r>
            <a:r>
              <a:rPr lang="en-US" altLang="zh-CN" sz="1600" dirty="0">
                <a:sym typeface="Huawei Sans" panose="020C0503030203020204" pitchFamily="34" charset="0"/>
              </a:rPr>
              <a:t>SID</a:t>
            </a:r>
            <a:r>
              <a:rPr lang="zh-CN" altLang="en-US" sz="1600" dirty="0">
                <a:sym typeface="Huawei Sans" panose="020C0503030203020204" pitchFamily="34" charset="0"/>
              </a:rPr>
              <a:t>的</a:t>
            </a:r>
            <a:r>
              <a:rPr lang="en-US" altLang="zh-CN" sz="1600" dirty="0">
                <a:sym typeface="Huawei Sans" panose="020C0503030203020204" pitchFamily="34" charset="0"/>
              </a:rPr>
              <a:t>opcode</a:t>
            </a:r>
            <a:r>
              <a:rPr lang="zh-CN" altLang="en-US" sz="1600" dirty="0">
                <a:sym typeface="Huawei Sans" panose="020C0503030203020204" pitchFamily="34" charset="0"/>
              </a:rPr>
              <a:t>。</a:t>
            </a:r>
            <a:endParaRPr lang="en-US" altLang="zh-CN" sz="1600" dirty="0">
              <a:sym typeface="Huawei Sans" panose="020C0503030203020204" pitchFamily="34" charset="0"/>
            </a:endParaRPr>
          </a:p>
          <a:p>
            <a:r>
              <a:rPr lang="en-US" altLang="zh-CN" sz="1600" dirty="0">
                <a:sym typeface="Huawei Sans" panose="020C0503030203020204" pitchFamily="34" charset="0"/>
              </a:rPr>
              <a:t>Locator</a:t>
            </a:r>
            <a:r>
              <a:rPr lang="zh-CN" altLang="en-US" sz="1600" dirty="0">
                <a:sym typeface="Huawei Sans" panose="020C0503030203020204" pitchFamily="34" charset="0"/>
              </a:rPr>
              <a:t>命令的参数关系简示如下：</a:t>
            </a:r>
            <a:endParaRPr lang="en-US" altLang="zh-CN" sz="1600" dirty="0">
              <a:sym typeface="Huawei Sans" panose="020C0503030203020204" pitchFamily="34" charset="0"/>
            </a:endParaRPr>
          </a:p>
          <a:p>
            <a:endParaRPr lang="en-US" altLang="zh-CN" sz="1600" dirty="0">
              <a:sym typeface="Huawei Sans" panose="020C0503030203020204" pitchFamily="34" charset="0"/>
            </a:endParaRPr>
          </a:p>
          <a:p>
            <a:pPr marL="0" indent="0">
              <a:buNone/>
            </a:pPr>
            <a:endParaRPr lang="en-US" altLang="zh-CN" sz="1600" dirty="0">
              <a:sym typeface="Huawei Sans" panose="020C0503030203020204" pitchFamily="34" charset="0"/>
            </a:endParaRPr>
          </a:p>
          <a:p>
            <a:r>
              <a:rPr lang="zh-CN" altLang="en-US" sz="1600" dirty="0">
                <a:sym typeface="Huawei Sans" panose="020C0503030203020204" pitchFamily="34" charset="0"/>
              </a:rPr>
              <a:t>静态配置</a:t>
            </a:r>
            <a:r>
              <a:rPr lang="en-US" altLang="zh-CN" sz="1600" dirty="0">
                <a:sym typeface="Huawei Sans" panose="020C0503030203020204" pitchFamily="34" charset="0"/>
              </a:rPr>
              <a:t>SID</a:t>
            </a:r>
            <a:r>
              <a:rPr lang="zh-CN" altLang="en-US" sz="1600" dirty="0">
                <a:sym typeface="Huawei Sans" panose="020C0503030203020204" pitchFamily="34" charset="0"/>
              </a:rPr>
              <a:t>时，</a:t>
            </a:r>
            <a:r>
              <a:rPr lang="en-US" altLang="zh-CN" sz="1600" dirty="0">
                <a:sym typeface="Huawei Sans" panose="020C0503030203020204" pitchFamily="34" charset="0"/>
              </a:rPr>
              <a:t>SID</a:t>
            </a:r>
            <a:r>
              <a:rPr lang="zh-CN" altLang="en-US" sz="1600" dirty="0">
                <a:sym typeface="Huawei Sans" panose="020C0503030203020204" pitchFamily="34" charset="0"/>
              </a:rPr>
              <a:t>只占用静态段范围，静态段取值从</a:t>
            </a:r>
            <a:r>
              <a:rPr lang="en-US" altLang="zh-CN" sz="1600" dirty="0">
                <a:sym typeface="Huawei Sans" panose="020C0503030203020204" pitchFamily="34" charset="0"/>
              </a:rPr>
              <a:t>1</a:t>
            </a:r>
            <a:r>
              <a:rPr lang="zh-CN" altLang="en-US" sz="1600" dirty="0">
                <a:sym typeface="Huawei Sans" panose="020C0503030203020204" pitchFamily="34" charset="0"/>
              </a:rPr>
              <a:t>开始，动态段设置为</a:t>
            </a:r>
            <a:r>
              <a:rPr lang="en-US" altLang="zh-CN" sz="1600" dirty="0">
                <a:sym typeface="Huawei Sans" panose="020C0503030203020204" pitchFamily="34" charset="0"/>
              </a:rPr>
              <a:t>0</a:t>
            </a:r>
            <a:r>
              <a:rPr lang="zh-CN" altLang="en-US" sz="1600" dirty="0">
                <a:sym typeface="Huawei Sans" panose="020C0503030203020204" pitchFamily="34" charset="0"/>
              </a:rPr>
              <a:t>；动态分配</a:t>
            </a:r>
            <a:r>
              <a:rPr lang="en-US" altLang="zh-CN" sz="1600" dirty="0">
                <a:sym typeface="Huawei Sans" panose="020C0503030203020204" pitchFamily="34" charset="0"/>
              </a:rPr>
              <a:t>SID</a:t>
            </a:r>
            <a:r>
              <a:rPr lang="zh-CN" altLang="en-US" sz="1600" dirty="0">
                <a:sym typeface="Huawei Sans" panose="020C0503030203020204" pitchFamily="34" charset="0"/>
              </a:rPr>
              <a:t>时，</a:t>
            </a:r>
            <a:r>
              <a:rPr lang="en-US" altLang="zh-CN" sz="1600" dirty="0">
                <a:sym typeface="Huawei Sans" panose="020C0503030203020204" pitchFamily="34" charset="0"/>
              </a:rPr>
              <a:t>SID</a:t>
            </a:r>
            <a:r>
              <a:rPr lang="zh-CN" altLang="en-US" sz="1600" dirty="0">
                <a:sym typeface="Huawei Sans" panose="020C0503030203020204" pitchFamily="34" charset="0"/>
              </a:rPr>
              <a:t>会占用动态段和静态段范围，动态段取值从</a:t>
            </a:r>
            <a:r>
              <a:rPr lang="en-US" altLang="zh-CN" sz="1600" dirty="0">
                <a:sym typeface="Huawei Sans" panose="020C0503030203020204" pitchFamily="34" charset="0"/>
              </a:rPr>
              <a:t>1</a:t>
            </a:r>
            <a:r>
              <a:rPr lang="zh-CN" altLang="en-US" sz="1600" dirty="0">
                <a:sym typeface="Huawei Sans" panose="020C0503030203020204" pitchFamily="34" charset="0"/>
              </a:rPr>
              <a:t>开始，静态段取值从</a:t>
            </a:r>
            <a:r>
              <a:rPr lang="en-US" altLang="zh-CN" sz="1600" dirty="0">
                <a:sym typeface="Huawei Sans" panose="020C0503030203020204" pitchFamily="34" charset="0"/>
              </a:rPr>
              <a:t>0</a:t>
            </a:r>
            <a:r>
              <a:rPr lang="zh-CN" altLang="en-US" sz="1600" dirty="0">
                <a:sym typeface="Huawei Sans" panose="020C0503030203020204" pitchFamily="34" charset="0"/>
              </a:rPr>
              <a:t>开始。</a:t>
            </a:r>
            <a:endParaRPr lang="zh-CN" altLang="en-US" sz="1600" dirty="0">
              <a:sym typeface="Huawei Sans" panose="020C0503030203020204" pitchFamily="34" charset="0"/>
            </a:endParaRPr>
          </a:p>
          <a:p>
            <a:r>
              <a:rPr lang="zh-CN" altLang="en-US" sz="1600" dirty="0">
                <a:sym typeface="Huawei Sans" panose="020C0503030203020204" pitchFamily="34" charset="0"/>
              </a:rPr>
              <a:t>本配置示例</a:t>
            </a:r>
            <a:r>
              <a:rPr lang="en-US" altLang="zh-CN" sz="1600" dirty="0">
                <a:sym typeface="Huawei Sans" panose="020C0503030203020204" pitchFamily="34" charset="0"/>
              </a:rPr>
              <a:t>Locator</a:t>
            </a:r>
            <a:r>
              <a:rPr lang="zh-CN" altLang="en-US" sz="1600" dirty="0">
                <a:sym typeface="Huawei Sans" panose="020C0503030203020204" pitchFamily="34" charset="0"/>
              </a:rPr>
              <a:t>是</a:t>
            </a:r>
            <a:r>
              <a:rPr lang="en-US" altLang="zh-CN" sz="1600" dirty="0">
                <a:sym typeface="Huawei Sans" panose="020C0503030203020204" pitchFamily="34" charset="0"/>
              </a:rPr>
              <a:t>2001:DB8:ABCD::</a:t>
            </a:r>
            <a:r>
              <a:rPr lang="zh-CN" altLang="en-US" sz="1600" dirty="0">
                <a:sym typeface="Huawei Sans" panose="020C0503030203020204" pitchFamily="34" charset="0"/>
              </a:rPr>
              <a:t>，长度占用</a:t>
            </a:r>
            <a:r>
              <a:rPr lang="en-US" altLang="zh-CN" sz="1600" dirty="0">
                <a:sym typeface="Huawei Sans" panose="020C0503030203020204" pitchFamily="34" charset="0"/>
              </a:rPr>
              <a:t>64</a:t>
            </a:r>
            <a:r>
              <a:rPr lang="zh-CN" altLang="en-US" sz="1600" dirty="0">
                <a:sym typeface="Huawei Sans" panose="020C0503030203020204" pitchFamily="34" charset="0"/>
              </a:rPr>
              <a:t>位，静态段占用</a:t>
            </a:r>
            <a:r>
              <a:rPr lang="en-US" altLang="zh-CN" sz="1600" dirty="0">
                <a:sym typeface="Huawei Sans" panose="020C0503030203020204" pitchFamily="34" charset="0"/>
              </a:rPr>
              <a:t>32</a:t>
            </a:r>
            <a:r>
              <a:rPr lang="zh-CN" altLang="en-US" sz="1600" dirty="0">
                <a:sym typeface="Huawei Sans" panose="020C0503030203020204" pitchFamily="34" charset="0"/>
              </a:rPr>
              <a:t>位，动态段占用</a:t>
            </a:r>
            <a:r>
              <a:rPr lang="en-US" altLang="zh-CN" sz="1600" dirty="0">
                <a:sym typeface="Huawei Sans" panose="020C0503030203020204" pitchFamily="34" charset="0"/>
              </a:rPr>
              <a:t>32</a:t>
            </a:r>
            <a:r>
              <a:rPr lang="zh-CN" altLang="en-US" sz="1600" dirty="0">
                <a:sym typeface="Huawei Sans" panose="020C0503030203020204" pitchFamily="34" charset="0"/>
              </a:rPr>
              <a:t>位，</a:t>
            </a:r>
            <a:r>
              <a:rPr lang="en-US" altLang="zh-CN" sz="1600" dirty="0" err="1">
                <a:sym typeface="Huawei Sans" panose="020C0503030203020204" pitchFamily="34" charset="0"/>
              </a:rPr>
              <a:t>args</a:t>
            </a:r>
            <a:r>
              <a:rPr lang="zh-CN" altLang="en-US" sz="1600" dirty="0">
                <a:sym typeface="Huawei Sans" panose="020C0503030203020204" pitchFamily="34" charset="0"/>
              </a:rPr>
              <a:t>字段占用</a:t>
            </a:r>
            <a:r>
              <a:rPr lang="en-US" altLang="zh-CN" sz="1600" dirty="0">
                <a:sym typeface="Huawei Sans" panose="020C0503030203020204" pitchFamily="34" charset="0"/>
              </a:rPr>
              <a:t>0</a:t>
            </a:r>
            <a:r>
              <a:rPr lang="zh-CN" altLang="en-US" sz="1600" dirty="0">
                <a:sym typeface="Huawei Sans" panose="020C0503030203020204" pitchFamily="34" charset="0"/>
              </a:rPr>
              <a:t>位。取值范围如下：</a:t>
            </a:r>
            <a:endParaRPr lang="en-US" altLang="zh-CN" sz="1600" dirty="0">
              <a:sym typeface="Huawei Sans" panose="020C0503030203020204" pitchFamily="34" charset="0"/>
            </a:endParaRPr>
          </a:p>
          <a:p>
            <a:pPr lvl="1"/>
            <a:r>
              <a:rPr lang="zh-CN" altLang="en-US" sz="1400" dirty="0">
                <a:sym typeface="Huawei Sans" panose="020C0503030203020204" pitchFamily="34" charset="0"/>
              </a:rPr>
              <a:t>静态段起始值</a:t>
            </a:r>
            <a:r>
              <a:rPr lang="en-US" altLang="zh-CN" sz="1400" dirty="0">
                <a:sym typeface="Huawei Sans" panose="020C0503030203020204" pitchFamily="34" charset="0"/>
              </a:rPr>
              <a:t>: 2001:DB8:ABCD:0000:0000:0000:0000:0001</a:t>
            </a:r>
            <a:r>
              <a:rPr lang="zh-CN" altLang="en-US" sz="1400" dirty="0">
                <a:sym typeface="Huawei Sans" panose="020C0503030203020204" pitchFamily="34" charset="0"/>
              </a:rPr>
              <a:t>；静态段结束值</a:t>
            </a:r>
            <a:r>
              <a:rPr lang="en-US" altLang="zh-CN" sz="1400" dirty="0">
                <a:sym typeface="Huawei Sans" panose="020C0503030203020204" pitchFamily="34" charset="0"/>
              </a:rPr>
              <a:t>: 2001:DB8:ABCD:0000:0000:0000:FFFF:FFFF</a:t>
            </a:r>
            <a:endParaRPr lang="en-US" altLang="zh-CN" sz="1400" dirty="0">
              <a:sym typeface="Huawei Sans" panose="020C0503030203020204" pitchFamily="34" charset="0"/>
            </a:endParaRPr>
          </a:p>
          <a:p>
            <a:pPr lvl="1"/>
            <a:r>
              <a:rPr lang="zh-CN" altLang="en-US" sz="1400" dirty="0">
                <a:sym typeface="Huawei Sans" panose="020C0503030203020204" pitchFamily="34" charset="0"/>
              </a:rPr>
              <a:t>动态段起始值</a:t>
            </a:r>
            <a:r>
              <a:rPr lang="en-US" altLang="zh-CN" sz="1400" dirty="0">
                <a:sym typeface="Huawei Sans" panose="020C0503030203020204" pitchFamily="34" charset="0"/>
              </a:rPr>
              <a:t>: 2001:DB8:ABCD:0000:0000:0001:0000:0000</a:t>
            </a:r>
            <a:r>
              <a:rPr lang="zh-CN" altLang="en-US" sz="1400" dirty="0">
                <a:sym typeface="Huawei Sans" panose="020C0503030203020204" pitchFamily="34" charset="0"/>
              </a:rPr>
              <a:t>；动态段结束值</a:t>
            </a:r>
            <a:r>
              <a:rPr lang="en-US" altLang="zh-CN" sz="1400" dirty="0">
                <a:sym typeface="Huawei Sans" panose="020C0503030203020204" pitchFamily="34" charset="0"/>
              </a:rPr>
              <a:t>: 2001:DB8:ABCD:0000:FFFF:FFFF:FFFF:FFFF</a:t>
            </a:r>
            <a:endParaRPr lang="zh-CN" altLang="en-US" sz="1400" dirty="0">
              <a:sym typeface="Huawei Sans" panose="020C0503030203020204" pitchFamily="34" charset="0"/>
            </a:endParaRPr>
          </a:p>
          <a:p>
            <a:pPr lvl="1"/>
            <a:endParaRPr lang="zh-CN" altLang="en-US" sz="1400" dirty="0">
              <a:sym typeface="Huawei Sans" panose="020C0503030203020204" pitchFamily="34" charset="0"/>
            </a:endParaRPr>
          </a:p>
        </p:txBody>
      </p:sp>
      <p:sp>
        <p:nvSpPr>
          <p:cNvPr id="5" name="文本框 4"/>
          <p:cNvSpPr txBox="1"/>
          <p:nvPr/>
        </p:nvSpPr>
        <p:spPr bwMode="gray">
          <a:xfrm>
            <a:off x="3460092" y="2308676"/>
            <a:ext cx="5284514" cy="417890"/>
          </a:xfrm>
          <a:prstGeom prst="rect">
            <a:avLst/>
          </a:prstGeom>
          <a:solidFill>
            <a:srgbClr val="D0E8C4"/>
          </a:solidFill>
          <a:ln>
            <a:solidFill>
              <a:schemeClr val="bg1"/>
            </a:solidFill>
          </a:ln>
        </p:spPr>
        <p:txBody>
          <a:bodyPr/>
          <a:lstStyle>
            <a:defPPr>
              <a:defRPr lang="en-US"/>
            </a:defPPr>
            <a:lvl1pPr marL="302260" indent="-302260" defTabSz="913765" fontAlgn="ctr">
              <a:lnSpc>
                <a:spcPct val="140000"/>
              </a:lnSpc>
              <a:spcBef>
                <a:spcPts val="790"/>
              </a:spcBef>
              <a:buSzPct val="50000"/>
              <a:buFont typeface="Wingdings" panose="05000000000000000000" pitchFamily="2" charset="2"/>
              <a:buChar char="l"/>
              <a:defRPr sz="1400" baseline="0">
                <a:solidFill>
                  <a:schemeClr val="bg1"/>
                </a:solidFill>
                <a:latin typeface="Huawei Sans" panose="020C0503030203020204" pitchFamily="34" charset="0"/>
                <a:ea typeface="方正兰亭黑简体" panose="02000000000000000000" pitchFamily="2" charset="-122"/>
              </a:defRPr>
            </a:lvl1pPr>
            <a:lvl2pPr marL="654685" indent="-252095" defTabSz="913765" fontAlgn="ctr">
              <a:lnSpc>
                <a:spcPct val="140000"/>
              </a:lnSpc>
              <a:spcBef>
                <a:spcPts val="720"/>
              </a:spcBef>
              <a:buClrTx/>
              <a:buSzPct val="50000"/>
              <a:buFont typeface="Wingdings" panose="05000000000000000000" pitchFamily="2" charset="2"/>
              <a:buChar char="p"/>
              <a:defRPr sz="2000" baseline="0">
                <a:latin typeface="Huawei Sans" panose="020C0503030203020204" pitchFamily="34" charset="0"/>
                <a:ea typeface="方正兰亭黑简体" panose="02000000000000000000" pitchFamily="2" charset="-122"/>
              </a:defRPr>
            </a:lvl2pPr>
            <a:lvl3pPr marL="1003935" indent="-201295" defTabSz="913765" fontAlgn="ctr">
              <a:lnSpc>
                <a:spcPct val="140000"/>
              </a:lnSpc>
              <a:spcBef>
                <a:spcPts val="650"/>
              </a:spcBef>
              <a:buClrTx/>
              <a:buSzPct val="50000"/>
              <a:buFont typeface="Wingdings" panose="05000000000000000000" pitchFamily="2" charset="2"/>
              <a:buChar char="n"/>
              <a:defRPr sz="1800" baseline="0">
                <a:latin typeface="Huawei Sans" panose="020C0503030203020204" pitchFamily="34" charset="0"/>
                <a:ea typeface="方正兰亭黑简体" panose="02000000000000000000" pitchFamily="2" charset="-122"/>
              </a:defRPr>
            </a:lvl3pPr>
            <a:lvl4pPr marL="1399540" indent="-198120" defTabSz="913765" fontAlgn="ctr">
              <a:lnSpc>
                <a:spcPct val="140000"/>
              </a:lnSpc>
              <a:spcBef>
                <a:spcPts val="575"/>
              </a:spcBef>
              <a:buFont typeface="Huawei Sans" panose="020C0503030203020204" pitchFamily="34" charset="0"/>
              <a:buChar char="−"/>
              <a:defRPr sz="1600" baseline="0">
                <a:latin typeface="Huawei Sans" panose="020C0503030203020204" pitchFamily="34" charset="0"/>
                <a:ea typeface="方正兰亭黑简体" panose="02000000000000000000" pitchFamily="2" charset="-122"/>
              </a:defRPr>
            </a:lvl4pPr>
            <a:lvl5pPr marL="1802765" indent="-201295" defTabSz="913765" fontAlgn="ctr">
              <a:lnSpc>
                <a:spcPct val="140000"/>
              </a:lnSpc>
              <a:spcBef>
                <a:spcPts val="575"/>
              </a:spcBef>
              <a:buFont typeface="Huawei Sans" panose="020C0503030203020204" pitchFamily="34" charset="0"/>
              <a:buChar char="~"/>
              <a:defRPr sz="1400" baseline="0">
                <a:latin typeface="Huawei Sans" panose="020C0503030203020204" pitchFamily="34" charset="0"/>
                <a:ea typeface="方正兰亭黑简体" panose="02000000000000000000" pitchFamily="2" charset="-122"/>
              </a:defRPr>
            </a:lvl5pPr>
            <a:lvl6pPr marL="2513330" indent="-228600" defTabSz="913765">
              <a:lnSpc>
                <a:spcPct val="90000"/>
              </a:lnSpc>
              <a:spcBef>
                <a:spcPts val="500"/>
              </a:spcBef>
              <a:buFont typeface="Arial" panose="020B0604020202020204" pitchFamily="34" charset="0"/>
              <a:buChar char="•"/>
              <a:defRPr sz="1800"/>
            </a:lvl6pPr>
            <a:lvl7pPr marL="2970530" indent="-228600" defTabSz="913765">
              <a:lnSpc>
                <a:spcPct val="90000"/>
              </a:lnSpc>
              <a:spcBef>
                <a:spcPts val="500"/>
              </a:spcBef>
              <a:buFont typeface="Arial" panose="020B0604020202020204" pitchFamily="34" charset="0"/>
              <a:buChar char="•"/>
              <a:defRPr sz="1800"/>
            </a:lvl7pPr>
            <a:lvl8pPr marL="3427730" indent="-228600" defTabSz="913765">
              <a:lnSpc>
                <a:spcPct val="90000"/>
              </a:lnSpc>
              <a:spcBef>
                <a:spcPts val="500"/>
              </a:spcBef>
              <a:buFont typeface="Arial" panose="020B0604020202020204" pitchFamily="34" charset="0"/>
              <a:buChar char="•"/>
              <a:defRPr sz="1800"/>
            </a:lvl8pPr>
            <a:lvl9pPr marL="3884930" indent="-228600" defTabSz="913765">
              <a:lnSpc>
                <a:spcPct val="90000"/>
              </a:lnSpc>
              <a:spcBef>
                <a:spcPts val="500"/>
              </a:spcBef>
              <a:buFont typeface="Arial" panose="020B0604020202020204" pitchFamily="34" charset="0"/>
              <a:buChar char="•"/>
              <a:defRPr sz="1800"/>
            </a:lvl9pPr>
          </a:lstStyle>
          <a:p>
            <a:pPr marL="0" indent="0" algn="ctr">
              <a:lnSpc>
                <a:spcPct val="120000"/>
              </a:lnSpc>
              <a:buNone/>
            </a:pPr>
            <a:r>
              <a:rPr lang="en-US" altLang="zh-CN" b="1" dirty="0">
                <a:solidFill>
                  <a:schemeClr val="tx1"/>
                </a:solidFill>
                <a:sym typeface="Huawei Sans" panose="020C0503030203020204" pitchFamily="34" charset="0"/>
              </a:rPr>
              <a:t>|--Locator--|--Dynamic Opcode--|--Static Opcode--|--</a:t>
            </a:r>
            <a:r>
              <a:rPr lang="en-US" altLang="zh-CN" b="1" dirty="0" err="1">
                <a:solidFill>
                  <a:schemeClr val="tx1"/>
                </a:solidFill>
                <a:sym typeface="Huawei Sans" panose="020C0503030203020204" pitchFamily="34" charset="0"/>
              </a:rPr>
              <a:t>Args</a:t>
            </a:r>
            <a:r>
              <a:rPr lang="en-US" altLang="zh-CN" b="1" dirty="0">
                <a:solidFill>
                  <a:schemeClr val="tx1"/>
                </a:solidFill>
                <a:sym typeface="Huawei Sans" panose="020C0503030203020204" pitchFamily="34" charset="0"/>
              </a:rPr>
              <a:t>--|</a:t>
            </a:r>
            <a:endParaRPr lang="en-US" altLang="zh-CN" b="1" dirty="0">
              <a:solidFill>
                <a:schemeClr val="tx1"/>
              </a:solidFill>
              <a:sym typeface="Huawei Sans" panose="020C0503030203020204" pitchFamily="34" charset="0"/>
            </a:endParaRPr>
          </a:p>
        </p:txBody>
      </p:sp>
      <p:sp>
        <p:nvSpPr>
          <p:cNvPr id="6" name="文本占位符 35"/>
          <p:cNvSpPr txBox="1"/>
          <p:nvPr/>
        </p:nvSpPr>
        <p:spPr bwMode="gray">
          <a:xfrm>
            <a:off x="1179195" y="2821940"/>
            <a:ext cx="9023985" cy="306705"/>
          </a:xfrm>
          <a:prstGeom prst="rect">
            <a:avLst/>
          </a:prstGeom>
          <a:solidFill>
            <a:schemeClr val="bg1">
              <a:lumMod val="85000"/>
            </a:schemeClr>
          </a:solidFill>
          <a:ln>
            <a:noFill/>
          </a:ln>
        </p:spPr>
        <p:txBody>
          <a:bodyPr wrap="square">
            <a:spAutoFit/>
          </a:bodyPr>
          <a:lstStyle>
            <a:defPPr>
              <a:defRPr lang="en-US"/>
            </a:defPPr>
            <a:lvl1pPr fontAlgn="base">
              <a:defRPr sz="1600">
                <a:latin typeface="Huawei Sans" panose="020C0503030203020204" pitchFamily="34" charset="0"/>
                <a:ea typeface="方正兰亭黑简体" panose="02000000000000000000" pitchFamily="2" charset="-122"/>
                <a:cs typeface="Courier New" panose="02070309020205020404" pitchFamily="49" charset="0"/>
              </a:defRPr>
            </a:lvl1pPr>
            <a:lvl2pPr marL="654685" indent="-252095" algn="l" defTabSz="913765" rtl="0" eaLnBrk="1" fontAlgn="ctr" latinLnBrk="0" hangingPunct="1">
              <a:lnSpc>
                <a:spcPct val="140000"/>
              </a:lnSpc>
              <a:spcBef>
                <a:spcPts val="720"/>
              </a:spcBef>
              <a:buClrTx/>
              <a:buSzPct val="50000"/>
              <a:buFont typeface="Wingdings" panose="05000000000000000000" pitchFamily="2" charset="2"/>
              <a:buChar char="p"/>
              <a:defRPr sz="2000" kern="1200" baseline="0">
                <a:solidFill>
                  <a:schemeClr val="tx1"/>
                </a:solidFill>
                <a:latin typeface="Huawei Sans" panose="020C0503030203020204" pitchFamily="34" charset="0"/>
                <a:ea typeface="方正兰亭黑简体" panose="02000000000000000000" pitchFamily="2" charset="-122"/>
                <a:cs typeface="+mn-cs"/>
              </a:defRPr>
            </a:lvl2pPr>
            <a:lvl3pPr marL="1003935" indent="-201295" algn="l" defTabSz="913765" rtl="0" eaLnBrk="1" fontAlgn="ctr" latinLnBrk="0" hangingPunct="1">
              <a:lnSpc>
                <a:spcPct val="140000"/>
              </a:lnSpc>
              <a:spcBef>
                <a:spcPts val="650"/>
              </a:spcBef>
              <a:buClrTx/>
              <a:buSzPct val="50000"/>
              <a:buFont typeface="Wingdings" panose="05000000000000000000" pitchFamily="2" charset="2"/>
              <a:buChar char="n"/>
              <a:defRPr sz="1800" kern="1200" baseline="0">
                <a:solidFill>
                  <a:schemeClr val="tx1"/>
                </a:solidFill>
                <a:latin typeface="Huawei Sans" panose="020C0503030203020204" pitchFamily="34" charset="0"/>
                <a:ea typeface="方正兰亭黑简体" panose="02000000000000000000" pitchFamily="2" charset="-122"/>
                <a:cs typeface="+mn-cs"/>
              </a:defRPr>
            </a:lvl3pPr>
            <a:lvl4pPr marL="1399540" indent="-198120" algn="l" defTabSz="913765" rtl="0" eaLnBrk="1" fontAlgn="ctr" latinLnBrk="0" hangingPunct="1">
              <a:lnSpc>
                <a:spcPct val="140000"/>
              </a:lnSpc>
              <a:spcBef>
                <a:spcPts val="575"/>
              </a:spcBef>
              <a:buFont typeface="Huawei Sans" panose="020C0503030203020204" pitchFamily="34" charset="0"/>
              <a:buChar char="−"/>
              <a:defRPr sz="1600" kern="1200" baseline="0">
                <a:solidFill>
                  <a:schemeClr val="tx1"/>
                </a:solidFill>
                <a:latin typeface="Huawei Sans" panose="020C0503030203020204" pitchFamily="34" charset="0"/>
                <a:ea typeface="方正兰亭黑简体" panose="02000000000000000000" pitchFamily="2" charset="-122"/>
                <a:cs typeface="+mn-cs"/>
              </a:defRPr>
            </a:lvl4pPr>
            <a:lvl5pPr marL="1802765" indent="-201295" algn="l" defTabSz="913765" rtl="0" eaLnBrk="1" fontAlgn="ctr" latinLnBrk="0" hangingPunct="1">
              <a:lnSpc>
                <a:spcPct val="140000"/>
              </a:lnSpc>
              <a:spcBef>
                <a:spcPts val="575"/>
              </a:spcBef>
              <a:buFont typeface="Huawei Sans" panose="020C0503030203020204" pitchFamily="34" charset="0"/>
              <a:buChar char="~"/>
              <a:defRPr sz="1400" kern="1200" baseline="0">
                <a:solidFill>
                  <a:schemeClr val="tx1"/>
                </a:solidFill>
                <a:latin typeface="Huawei Sans" panose="020C0503030203020204" pitchFamily="34" charset="0"/>
                <a:ea typeface="方正兰亭黑简体" panose="02000000000000000000" pitchFamily="2" charset="-122"/>
                <a:cs typeface="+mn-cs"/>
              </a:defRPr>
            </a:lvl5pPr>
            <a:lvl6pPr marL="25133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05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77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9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1400" dirty="0">
                <a:sym typeface="Huawei Sans" panose="020C0503030203020204" pitchFamily="34" charset="0"/>
              </a:rPr>
              <a:t>[Huawei-segment-routing-ipv6] </a:t>
            </a:r>
            <a:r>
              <a:rPr lang="en-US" altLang="zh-CN" sz="1400" b="1" dirty="0">
                <a:sym typeface="Huawei Sans" panose="020C0503030203020204" pitchFamily="34" charset="0"/>
              </a:rPr>
              <a:t>locator</a:t>
            </a:r>
            <a:r>
              <a:rPr lang="en-US" altLang="zh-CN" sz="1400" dirty="0">
                <a:sym typeface="Huawei Sans" panose="020C0503030203020204" pitchFamily="34" charset="0"/>
              </a:rPr>
              <a:t> srv6_locator1 </a:t>
            </a:r>
            <a:r>
              <a:rPr lang="en-US" altLang="zh-CN" sz="1400" b="1" dirty="0">
                <a:sym typeface="Huawei Sans" panose="020C0503030203020204" pitchFamily="34" charset="0"/>
              </a:rPr>
              <a:t>ipv6-prefix</a:t>
            </a:r>
            <a:r>
              <a:rPr lang="en-US" altLang="zh-CN" sz="1400" dirty="0">
                <a:sym typeface="Huawei Sans" panose="020C0503030203020204" pitchFamily="34" charset="0"/>
              </a:rPr>
              <a:t> 2001:DB8:ABCD:: 64 </a:t>
            </a:r>
            <a:r>
              <a:rPr lang="en-US" altLang="zh-CN" sz="1400" b="1" dirty="0">
                <a:sym typeface="Huawei Sans" panose="020C0503030203020204" pitchFamily="34" charset="0"/>
              </a:rPr>
              <a:t>static</a:t>
            </a:r>
            <a:r>
              <a:rPr lang="en-US" altLang="zh-CN" sz="1400" dirty="0">
                <a:sym typeface="Huawei Sans" panose="020C0503030203020204" pitchFamily="34" charset="0"/>
              </a:rPr>
              <a:t> 32</a:t>
            </a:r>
            <a:endParaRPr lang="en-US" altLang="zh-CN" sz="1400" dirty="0">
              <a:sym typeface="Huawei Sans" panose="020C0503030203020204" pitchFamily="34" charset="0"/>
            </a:endParaRPr>
          </a:p>
        </p:txBody>
      </p:sp>
      <p:sp>
        <p:nvSpPr>
          <p:cNvPr id="7" name="文本占位符 35"/>
          <p:cNvSpPr txBox="1"/>
          <p:nvPr/>
        </p:nvSpPr>
        <p:spPr bwMode="gray">
          <a:xfrm>
            <a:off x="824463" y="3987491"/>
            <a:ext cx="10278966" cy="1451621"/>
          </a:xfrm>
          <a:prstGeom prst="rect">
            <a:avLst/>
          </a:prstGeom>
        </p:spPr>
        <p:txBody>
          <a:bodyPr/>
          <a:lstStyle>
            <a:lvl1pPr marL="302260" indent="-302260" algn="l" defTabSz="913765" rtl="0" eaLnBrk="1" fontAlgn="ctr" latinLnBrk="0" hangingPunct="1">
              <a:lnSpc>
                <a:spcPct val="140000"/>
              </a:lnSpc>
              <a:spcBef>
                <a:spcPts val="790"/>
              </a:spcBef>
              <a:buSzPct val="50000"/>
              <a:buFont typeface="Wingdings" panose="05000000000000000000" pitchFamily="2" charset="2"/>
              <a:buChar char="l"/>
              <a:defRPr sz="2200" kern="1200" baseline="0">
                <a:solidFill>
                  <a:schemeClr val="tx1"/>
                </a:solidFill>
                <a:latin typeface="Huawei Sans" panose="020C0503030203020204" pitchFamily="34" charset="0"/>
                <a:ea typeface="方正兰亭黑简体" panose="02000000000000000000" pitchFamily="2" charset="-122"/>
                <a:cs typeface="+mn-cs"/>
              </a:defRPr>
            </a:lvl1pPr>
            <a:lvl2pPr marL="654685" indent="-252095" algn="l" defTabSz="913765" rtl="0" eaLnBrk="1" fontAlgn="ctr" latinLnBrk="0" hangingPunct="1">
              <a:lnSpc>
                <a:spcPct val="140000"/>
              </a:lnSpc>
              <a:spcBef>
                <a:spcPts val="720"/>
              </a:spcBef>
              <a:buClrTx/>
              <a:buSzPct val="50000"/>
              <a:buFont typeface="Wingdings" panose="05000000000000000000" pitchFamily="2" charset="2"/>
              <a:buChar char="p"/>
              <a:defRPr sz="2000" kern="1200" baseline="0">
                <a:solidFill>
                  <a:schemeClr val="tx1"/>
                </a:solidFill>
                <a:latin typeface="Huawei Sans" panose="020C0503030203020204" pitchFamily="34" charset="0"/>
                <a:ea typeface="方正兰亭黑简体" panose="02000000000000000000" pitchFamily="2" charset="-122"/>
                <a:cs typeface="+mn-cs"/>
              </a:defRPr>
            </a:lvl2pPr>
            <a:lvl3pPr marL="1003935" indent="-201295" algn="l" defTabSz="913765" rtl="0" eaLnBrk="1" fontAlgn="ctr" latinLnBrk="0" hangingPunct="1">
              <a:lnSpc>
                <a:spcPct val="140000"/>
              </a:lnSpc>
              <a:spcBef>
                <a:spcPts val="650"/>
              </a:spcBef>
              <a:buClrTx/>
              <a:buSzPct val="50000"/>
              <a:buFont typeface="Wingdings" panose="05000000000000000000" pitchFamily="2" charset="2"/>
              <a:buChar char="n"/>
              <a:defRPr sz="1800" kern="1200" baseline="0">
                <a:solidFill>
                  <a:schemeClr val="tx1"/>
                </a:solidFill>
                <a:latin typeface="Huawei Sans" panose="020C0503030203020204" pitchFamily="34" charset="0"/>
                <a:ea typeface="方正兰亭黑简体" panose="02000000000000000000" pitchFamily="2" charset="-122"/>
                <a:cs typeface="+mn-cs"/>
              </a:defRPr>
            </a:lvl3pPr>
            <a:lvl4pPr marL="1399540" indent="-198120" algn="l" defTabSz="913765" rtl="0" eaLnBrk="1" fontAlgn="ctr" latinLnBrk="0" hangingPunct="1">
              <a:lnSpc>
                <a:spcPct val="140000"/>
              </a:lnSpc>
              <a:spcBef>
                <a:spcPts val="575"/>
              </a:spcBef>
              <a:buFont typeface="Huawei Sans" panose="020C0503030203020204" pitchFamily="34" charset="0"/>
              <a:buChar char="−"/>
              <a:defRPr sz="1600" kern="1200" baseline="0">
                <a:solidFill>
                  <a:schemeClr val="tx1"/>
                </a:solidFill>
                <a:latin typeface="Huawei Sans" panose="020C0503030203020204" pitchFamily="34" charset="0"/>
                <a:ea typeface="方正兰亭黑简体" panose="02000000000000000000" pitchFamily="2" charset="-122"/>
                <a:cs typeface="+mn-cs"/>
              </a:defRPr>
            </a:lvl4pPr>
            <a:lvl5pPr marL="1802765" indent="-201295" algn="l" defTabSz="913765" rtl="0" eaLnBrk="1" fontAlgn="ctr" latinLnBrk="0" hangingPunct="1">
              <a:lnSpc>
                <a:spcPct val="140000"/>
              </a:lnSpc>
              <a:spcBef>
                <a:spcPts val="575"/>
              </a:spcBef>
              <a:buFont typeface="Huawei Sans" panose="020C0503030203020204" pitchFamily="34" charset="0"/>
              <a:buChar char="~"/>
              <a:defRPr sz="1400" kern="1200" baseline="0">
                <a:solidFill>
                  <a:schemeClr val="tx1"/>
                </a:solidFill>
                <a:latin typeface="Huawei Sans" panose="020C0503030203020204" pitchFamily="34" charset="0"/>
                <a:ea typeface="方正兰亭黑简体" panose="02000000000000000000" pitchFamily="2" charset="-122"/>
                <a:cs typeface="+mn-cs"/>
              </a:defRPr>
            </a:lvl5pPr>
            <a:lvl6pPr marL="25133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05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77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9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zh-CN" altLang="en-US" sz="1400" dirty="0">
              <a:sym typeface="Huawei Sans" panose="020C0503030203020204" pitchFamily="34" charset="0"/>
            </a:endParaRPr>
          </a:p>
        </p:txBody>
      </p:sp>
      <p:sp>
        <p:nvSpPr>
          <p:cNvPr id="12" name="文本框 11"/>
          <p:cNvSpPr txBox="1"/>
          <p:nvPr/>
        </p:nvSpPr>
        <p:spPr bwMode="gray">
          <a:xfrm>
            <a:off x="1354912" y="6041974"/>
            <a:ext cx="9652001" cy="369332"/>
          </a:xfrm>
          <a:prstGeom prst="rect">
            <a:avLst/>
          </a:prstGeom>
          <a:solidFill>
            <a:srgbClr val="BEE9EE"/>
          </a:solidFill>
        </p:spPr>
        <p:txBody>
          <a:bodyPr wrap="none" rtlCol="0">
            <a:spAutoFit/>
          </a:bodyPr>
          <a:lstStyle/>
          <a:p>
            <a:r>
              <a:rPr lang="zh-CN" altLang="en-US" dirty="0">
                <a:sym typeface="Huawei Sans" panose="020C0503030203020204" pitchFamily="34" charset="0"/>
              </a:rPr>
              <a:t>推荐静态配置</a:t>
            </a:r>
            <a:r>
              <a:rPr lang="en-US" altLang="zh-CN" dirty="0">
                <a:sym typeface="Huawei Sans" panose="020C0503030203020204" pitchFamily="34" charset="0"/>
              </a:rPr>
              <a:t>End SID</a:t>
            </a:r>
            <a:r>
              <a:rPr lang="zh-CN" altLang="en-US" dirty="0">
                <a:sym typeface="Huawei Sans" panose="020C0503030203020204" pitchFamily="34" charset="0"/>
              </a:rPr>
              <a:t>和</a:t>
            </a:r>
            <a:r>
              <a:rPr lang="en-US" altLang="zh-CN" dirty="0" err="1">
                <a:sym typeface="Huawei Sans" panose="020C0503030203020204" pitchFamily="34" charset="0"/>
              </a:rPr>
              <a:t>End.X</a:t>
            </a:r>
            <a:r>
              <a:rPr lang="en-US" altLang="zh-CN" dirty="0">
                <a:sym typeface="Huawei Sans" panose="020C0503030203020204" pitchFamily="34" charset="0"/>
              </a:rPr>
              <a:t> SID</a:t>
            </a:r>
            <a:r>
              <a:rPr lang="zh-CN" altLang="en-US" dirty="0">
                <a:sym typeface="Huawei Sans" panose="020C0503030203020204" pitchFamily="34" charset="0"/>
              </a:rPr>
              <a:t>。动态生成的</a:t>
            </a:r>
            <a:r>
              <a:rPr lang="en-US" altLang="zh-CN" dirty="0">
                <a:sym typeface="Huawei Sans" panose="020C0503030203020204" pitchFamily="34" charset="0"/>
              </a:rPr>
              <a:t>SID</a:t>
            </a:r>
            <a:r>
              <a:rPr lang="zh-CN" altLang="en-US" dirty="0">
                <a:sym typeface="Huawei Sans" panose="020C0503030203020204" pitchFamily="34" charset="0"/>
              </a:rPr>
              <a:t>如果设备重启，</a:t>
            </a:r>
            <a:r>
              <a:rPr lang="en-US" altLang="zh-CN" dirty="0">
                <a:sym typeface="Huawei Sans" panose="020C0503030203020204" pitchFamily="34" charset="0"/>
              </a:rPr>
              <a:t>SID</a:t>
            </a:r>
            <a:r>
              <a:rPr lang="zh-CN" altLang="en-US" dirty="0">
                <a:sym typeface="Huawei Sans" panose="020C0503030203020204" pitchFamily="34" charset="0"/>
              </a:rPr>
              <a:t>会变化，不利于维护。</a:t>
            </a:r>
            <a:endParaRPr lang="en-US" altLang="zh-CN" dirty="0">
              <a:sym typeface="Huawei Sans" panose="020C0503030203020204" pitchFamily="34" charset="0"/>
            </a:endParaRPr>
          </a:p>
        </p:txBody>
      </p:sp>
      <p:sp>
        <p:nvSpPr>
          <p:cNvPr id="8" name="五边形 2"/>
          <p:cNvSpPr/>
          <p:nvPr/>
        </p:nvSpPr>
        <p:spPr bwMode="gray">
          <a:xfrm>
            <a:off x="8310982" y="110463"/>
            <a:ext cx="1195960"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SRv6</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SRH</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介绍</a:t>
            </a:r>
            <a:endPar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 name="燕尾形 3"/>
          <p:cNvSpPr/>
          <p:nvPr/>
        </p:nvSpPr>
        <p:spPr bwMode="gray">
          <a:xfrm>
            <a:off x="9430382" y="110463"/>
            <a:ext cx="119596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SRv6</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节点介绍</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 name="燕尾形 3"/>
          <p:cNvSpPr/>
          <p:nvPr/>
        </p:nvSpPr>
        <p:spPr bwMode="gray">
          <a:xfrm>
            <a:off x="10553128" y="105534"/>
            <a:ext cx="119596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SRv6</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转发原理</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r>
              <a:rPr lang="en-US" altLang="zh-CN" dirty="0">
                <a:sym typeface="Huawei Sans" panose="020C0503030203020204" pitchFamily="34" charset="0"/>
              </a:rPr>
              <a:t>SRv6</a:t>
            </a:r>
            <a:r>
              <a:rPr lang="zh-CN" altLang="en-US" dirty="0">
                <a:sym typeface="Huawei Sans" panose="020C0503030203020204" pitchFamily="34" charset="0"/>
              </a:rPr>
              <a:t>节点</a:t>
            </a:r>
            <a:endParaRPr lang="zh-CN" altLang="en-US" dirty="0">
              <a:sym typeface="Huawei Sans" panose="020C0503030203020204" pitchFamily="34" charset="0"/>
            </a:endParaRPr>
          </a:p>
        </p:txBody>
      </p:sp>
      <p:sp>
        <p:nvSpPr>
          <p:cNvPr id="27" name="文本占位符 5"/>
          <p:cNvSpPr>
            <a:spLocks noGrp="1"/>
          </p:cNvSpPr>
          <p:nvPr>
            <p:ph type="body" sz="quarter" idx="10"/>
          </p:nvPr>
        </p:nvSpPr>
        <p:spPr bwMode="gray">
          <a:xfrm>
            <a:off x="455612" y="1047750"/>
            <a:ext cx="11293475" cy="2228330"/>
          </a:xfrm>
        </p:spPr>
        <p:txBody>
          <a:bodyPr/>
          <a:lstStyle/>
          <a:p>
            <a:r>
              <a:rPr lang="en-US" altLang="zh-CN" sz="1600" dirty="0">
                <a:sym typeface="Huawei Sans" panose="020C0503030203020204" pitchFamily="34" charset="0"/>
              </a:rPr>
              <a:t>RFC8754</a:t>
            </a:r>
            <a:r>
              <a:rPr lang="zh-CN" altLang="en-US" sz="1600" dirty="0">
                <a:sym typeface="Huawei Sans" panose="020C0503030203020204" pitchFamily="34" charset="0"/>
              </a:rPr>
              <a:t>中定义了</a:t>
            </a:r>
            <a:r>
              <a:rPr lang="en-US" altLang="zh-CN" sz="1600" dirty="0">
                <a:sym typeface="Huawei Sans" panose="020C0503030203020204" pitchFamily="34" charset="0"/>
              </a:rPr>
              <a:t>SR</a:t>
            </a:r>
            <a:r>
              <a:rPr lang="zh-CN" altLang="en-US" sz="1600" dirty="0">
                <a:sym typeface="Huawei Sans" panose="020C0503030203020204" pitchFamily="34" charset="0"/>
              </a:rPr>
              <a:t>有三种类型节点：</a:t>
            </a:r>
            <a:endParaRPr lang="zh-CN" altLang="en-US" sz="1600" dirty="0">
              <a:sym typeface="Huawei Sans" panose="020C0503030203020204" pitchFamily="34" charset="0"/>
            </a:endParaRPr>
          </a:p>
          <a:p>
            <a:pPr lvl="1"/>
            <a:r>
              <a:rPr lang="zh-CN" altLang="en-US" sz="1400" dirty="0">
                <a:sym typeface="Huawei Sans" panose="020C0503030203020204" pitchFamily="34" charset="0"/>
              </a:rPr>
              <a:t>源节点（</a:t>
            </a:r>
            <a:r>
              <a:rPr lang="en-US" altLang="zh-CN" sz="1400" dirty="0">
                <a:sym typeface="Huawei Sans" panose="020C0503030203020204" pitchFamily="34" charset="0"/>
              </a:rPr>
              <a:t>SR Source Node</a:t>
            </a:r>
            <a:r>
              <a:rPr lang="zh-CN" altLang="en-US" sz="1400" dirty="0">
                <a:sym typeface="Huawei Sans" panose="020C0503030203020204" pitchFamily="34" charset="0"/>
              </a:rPr>
              <a:t>）：生成</a:t>
            </a:r>
            <a:r>
              <a:rPr lang="en-US" altLang="zh-CN" sz="1400" dirty="0">
                <a:sym typeface="Huawei Sans" panose="020C0503030203020204" pitchFamily="34" charset="0"/>
              </a:rPr>
              <a:t>SRv6</a:t>
            </a:r>
            <a:r>
              <a:rPr lang="zh-CN" altLang="en-US" sz="1400" dirty="0">
                <a:sym typeface="Huawei Sans" panose="020C0503030203020204" pitchFamily="34" charset="0"/>
              </a:rPr>
              <a:t>报文的源节点。</a:t>
            </a:r>
            <a:endParaRPr lang="en-US" altLang="zh-CN" sz="1400" dirty="0">
              <a:sym typeface="Huawei Sans" panose="020C0503030203020204" pitchFamily="34" charset="0"/>
            </a:endParaRPr>
          </a:p>
          <a:p>
            <a:pPr lvl="1"/>
            <a:r>
              <a:rPr lang="zh-CN" altLang="en-US" sz="1400" dirty="0">
                <a:sym typeface="Huawei Sans" panose="020C0503030203020204" pitchFamily="34" charset="0"/>
              </a:rPr>
              <a:t>中转节点（</a:t>
            </a:r>
            <a:r>
              <a:rPr lang="en-US" altLang="zh-CN" sz="1400" dirty="0">
                <a:sym typeface="Huawei Sans" panose="020C0503030203020204" pitchFamily="34" charset="0"/>
              </a:rPr>
              <a:t>Transit Node</a:t>
            </a:r>
            <a:r>
              <a:rPr lang="zh-CN" altLang="en-US" sz="1400" dirty="0">
                <a:sym typeface="Huawei Sans" panose="020C0503030203020204" pitchFamily="34" charset="0"/>
              </a:rPr>
              <a:t>）：转发</a:t>
            </a:r>
            <a:r>
              <a:rPr lang="en-US" altLang="zh-CN" sz="1400" dirty="0">
                <a:sym typeface="Huawei Sans" panose="020C0503030203020204" pitchFamily="34" charset="0"/>
              </a:rPr>
              <a:t>SRv6</a:t>
            </a:r>
            <a:r>
              <a:rPr lang="zh-CN" altLang="en-US" sz="1400" dirty="0">
                <a:sym typeface="Huawei Sans" panose="020C0503030203020204" pitchFamily="34" charset="0"/>
              </a:rPr>
              <a:t>报文但不进行</a:t>
            </a:r>
            <a:r>
              <a:rPr lang="en-US" altLang="zh-CN" sz="1400" dirty="0">
                <a:sym typeface="Huawei Sans" panose="020C0503030203020204" pitchFamily="34" charset="0"/>
              </a:rPr>
              <a:t>SRv6</a:t>
            </a:r>
            <a:r>
              <a:rPr lang="zh-CN" altLang="en-US" sz="1400" dirty="0">
                <a:sym typeface="Huawei Sans" panose="020C0503030203020204" pitchFamily="34" charset="0"/>
              </a:rPr>
              <a:t>处理的</a:t>
            </a:r>
            <a:r>
              <a:rPr lang="en-US" altLang="zh-CN" sz="1400" dirty="0">
                <a:sym typeface="Huawei Sans" panose="020C0503030203020204" pitchFamily="34" charset="0"/>
              </a:rPr>
              <a:t>IPv6</a:t>
            </a:r>
            <a:r>
              <a:rPr lang="zh-CN" altLang="en-US" sz="1400" dirty="0">
                <a:sym typeface="Huawei Sans" panose="020C0503030203020204" pitchFamily="34" charset="0"/>
              </a:rPr>
              <a:t>节点。</a:t>
            </a:r>
            <a:endParaRPr lang="zh-CN" altLang="en-US" sz="1400" dirty="0">
              <a:sym typeface="Huawei Sans" panose="020C0503030203020204" pitchFamily="34" charset="0"/>
            </a:endParaRPr>
          </a:p>
          <a:p>
            <a:pPr lvl="1"/>
            <a:r>
              <a:rPr lang="en-US" altLang="zh-CN" sz="1400" dirty="0">
                <a:sym typeface="Huawei Sans" panose="020C0503030203020204" pitchFamily="34" charset="0"/>
              </a:rPr>
              <a:t>Endpoint</a:t>
            </a:r>
            <a:r>
              <a:rPr lang="zh-CN" altLang="en-US" sz="1400" dirty="0">
                <a:sym typeface="Huawei Sans" panose="020C0503030203020204" pitchFamily="34" charset="0"/>
              </a:rPr>
              <a:t>节点（</a:t>
            </a:r>
            <a:r>
              <a:rPr lang="en-US" altLang="zh-CN" sz="1400" dirty="0">
                <a:sym typeface="Huawei Sans" panose="020C0503030203020204" pitchFamily="34" charset="0"/>
              </a:rPr>
              <a:t>SR Segment Endpoint Node</a:t>
            </a:r>
            <a:r>
              <a:rPr lang="zh-CN" altLang="en-US" sz="1400" dirty="0">
                <a:sym typeface="Huawei Sans" panose="020C0503030203020204" pitchFamily="34" charset="0"/>
              </a:rPr>
              <a:t>）：接收并处理</a:t>
            </a:r>
            <a:r>
              <a:rPr lang="en-US" altLang="zh-CN" sz="1400" dirty="0">
                <a:sym typeface="Huawei Sans" panose="020C0503030203020204" pitchFamily="34" charset="0"/>
              </a:rPr>
              <a:t>SRv6</a:t>
            </a:r>
            <a:r>
              <a:rPr lang="zh-CN" altLang="en-US" sz="1400" dirty="0">
                <a:sym typeface="Huawei Sans" panose="020C0503030203020204" pitchFamily="34" charset="0"/>
              </a:rPr>
              <a:t>报文的任何节点，其中该报文的</a:t>
            </a:r>
            <a:r>
              <a:rPr lang="en-US" altLang="zh-CN" sz="1400" dirty="0">
                <a:sym typeface="Huawei Sans" panose="020C0503030203020204" pitchFamily="34" charset="0"/>
              </a:rPr>
              <a:t>IPv6</a:t>
            </a:r>
            <a:r>
              <a:rPr lang="zh-CN" altLang="en-US" sz="1400" dirty="0">
                <a:sym typeface="Huawei Sans" panose="020C0503030203020204" pitchFamily="34" charset="0"/>
              </a:rPr>
              <a:t>目标地址必须是本地配置的</a:t>
            </a:r>
            <a:r>
              <a:rPr lang="en-US" altLang="zh-CN" sz="1400" dirty="0">
                <a:sym typeface="Huawei Sans" panose="020C0503030203020204" pitchFamily="34" charset="0"/>
              </a:rPr>
              <a:t>SID</a:t>
            </a:r>
            <a:r>
              <a:rPr lang="zh-CN" altLang="en-US" sz="1400" dirty="0">
                <a:sym typeface="Huawei Sans" panose="020C0503030203020204" pitchFamily="34" charset="0"/>
              </a:rPr>
              <a:t>或者本地接口地址。</a:t>
            </a:r>
            <a:endParaRPr lang="en-US" altLang="zh-CN" sz="1400" dirty="0">
              <a:sym typeface="Huawei Sans" panose="020C0503030203020204" pitchFamily="34" charset="0"/>
            </a:endParaRPr>
          </a:p>
        </p:txBody>
      </p:sp>
      <p:cxnSp>
        <p:nvCxnSpPr>
          <p:cNvPr id="28" name="直接连接符 27"/>
          <p:cNvCxnSpPr>
            <a:stCxn id="54" idx="1"/>
          </p:cNvCxnSpPr>
          <p:nvPr/>
        </p:nvCxnSpPr>
        <p:spPr bwMode="gray">
          <a:xfrm flipH="1" flipV="1">
            <a:off x="1107051" y="4249507"/>
            <a:ext cx="9921770" cy="1049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矩形 28"/>
          <p:cNvSpPr/>
          <p:nvPr/>
        </p:nvSpPr>
        <p:spPr bwMode="gray">
          <a:xfrm>
            <a:off x="2542411" y="4477489"/>
            <a:ext cx="413896"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R1</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 name="圆角矩形 59"/>
          <p:cNvSpPr/>
          <p:nvPr/>
        </p:nvSpPr>
        <p:spPr bwMode="gray">
          <a:xfrm>
            <a:off x="2266950" y="3533257"/>
            <a:ext cx="917445" cy="221690"/>
          </a:xfrm>
          <a:prstGeom prst="roundRect">
            <a:avLst>
              <a:gd name="adj" fmla="val 13019"/>
            </a:avLst>
          </a:prstGeom>
          <a:solidFill>
            <a:srgbClr val="D3394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FC01:: /96</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31" name="图片 30"/>
          <p:cNvPicPr/>
          <p:nvPr/>
        </p:nvPicPr>
        <p:blipFill>
          <a:blip r:embed="rId1" cstate="print">
            <a:extLst>
              <a:ext uri="{28A0092B-C50C-407E-A947-70E740481C1C}">
                <a14:useLocalDpi xmlns:a14="http://schemas.microsoft.com/office/drawing/2010/main" val="0"/>
              </a:ext>
            </a:extLst>
          </a:blip>
          <a:stretch>
            <a:fillRect/>
          </a:stretch>
        </p:blipFill>
        <p:spPr bwMode="gray">
          <a:xfrm>
            <a:off x="2480581" y="4038605"/>
            <a:ext cx="540000" cy="442800"/>
          </a:xfrm>
          <a:prstGeom prst="rect">
            <a:avLst/>
          </a:prstGeom>
        </p:spPr>
      </p:pic>
      <p:sp>
        <p:nvSpPr>
          <p:cNvPr id="32" name="文本框 31"/>
          <p:cNvSpPr txBox="1"/>
          <p:nvPr/>
        </p:nvSpPr>
        <p:spPr bwMode="gray">
          <a:xfrm>
            <a:off x="2043086" y="3277922"/>
            <a:ext cx="1281120" cy="307777"/>
          </a:xfrm>
          <a:prstGeom prst="rect">
            <a:avLst/>
          </a:prstGeom>
          <a:noFill/>
        </p:spPr>
        <p:txBody>
          <a:bodyPr wrap="none" rtlCol="0">
            <a:spAutoFit/>
          </a:bodyPr>
          <a:lstStyle/>
          <a:p>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Source Node</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33" name="图片 32"/>
          <p:cNvPicPr/>
          <p:nvPr/>
        </p:nvPicPr>
        <p:blipFill>
          <a:blip r:embed="rId1" cstate="print">
            <a:extLst>
              <a:ext uri="{28A0092B-C50C-407E-A947-70E740481C1C}">
                <a14:useLocalDpi xmlns:a14="http://schemas.microsoft.com/office/drawing/2010/main" val="0"/>
              </a:ext>
            </a:extLst>
          </a:blip>
          <a:stretch>
            <a:fillRect/>
          </a:stretch>
        </p:blipFill>
        <p:spPr bwMode="gray">
          <a:xfrm>
            <a:off x="595453" y="4038605"/>
            <a:ext cx="540000" cy="442800"/>
          </a:xfrm>
          <a:prstGeom prst="rect">
            <a:avLst/>
          </a:prstGeom>
        </p:spPr>
      </p:pic>
      <p:sp>
        <p:nvSpPr>
          <p:cNvPr id="34" name="矩形 33"/>
          <p:cNvSpPr/>
          <p:nvPr/>
        </p:nvSpPr>
        <p:spPr bwMode="gray">
          <a:xfrm>
            <a:off x="619877" y="4477489"/>
            <a:ext cx="502062"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CE1</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矩形 34"/>
          <p:cNvSpPr/>
          <p:nvPr/>
        </p:nvSpPr>
        <p:spPr bwMode="gray">
          <a:xfrm>
            <a:off x="4704506" y="4477489"/>
            <a:ext cx="413896"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R2</a:t>
            </a:r>
            <a:endParaRPr lang="zh-CN" altLang="en-US" sz="1400" b="1">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36" name="图片 35"/>
          <p:cNvPicPr/>
          <p:nvPr/>
        </p:nvPicPr>
        <p:blipFill>
          <a:blip r:embed="rId1" cstate="print">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4633265" y="4038605"/>
            <a:ext cx="540000" cy="442800"/>
          </a:xfrm>
          <a:prstGeom prst="rect">
            <a:avLst/>
          </a:prstGeom>
        </p:spPr>
      </p:pic>
      <p:sp>
        <p:nvSpPr>
          <p:cNvPr id="39" name="文本框 38"/>
          <p:cNvSpPr txBox="1"/>
          <p:nvPr/>
        </p:nvSpPr>
        <p:spPr bwMode="gray">
          <a:xfrm>
            <a:off x="4146903" y="3277922"/>
            <a:ext cx="1305165" cy="307777"/>
          </a:xfrm>
          <a:prstGeom prst="rect">
            <a:avLst/>
          </a:prstGeom>
          <a:noFill/>
        </p:spPr>
        <p:txBody>
          <a:bodyPr wrap="none" rtlCol="0">
            <a:spAutoFit/>
          </a:bodyPr>
          <a:lstStyle/>
          <a:p>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Transit Node</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矩形 41"/>
          <p:cNvSpPr/>
          <p:nvPr/>
        </p:nvSpPr>
        <p:spPr bwMode="gray">
          <a:xfrm>
            <a:off x="6874485" y="4477489"/>
            <a:ext cx="413896"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R3</a:t>
            </a:r>
            <a:endParaRPr lang="zh-CN" altLang="en-US" sz="1400" b="1">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43" name="图片 42"/>
          <p:cNvPicPr/>
          <p:nvPr/>
        </p:nvPicPr>
        <p:blipFill>
          <a:blip r:embed="rId1" cstate="print">
            <a:extLst>
              <a:ext uri="{28A0092B-C50C-407E-A947-70E740481C1C}">
                <a14:useLocalDpi xmlns:a14="http://schemas.microsoft.com/office/drawing/2010/main" val="0"/>
              </a:ext>
            </a:extLst>
          </a:blip>
          <a:stretch>
            <a:fillRect/>
          </a:stretch>
        </p:blipFill>
        <p:spPr bwMode="gray">
          <a:xfrm>
            <a:off x="6816747" y="4038605"/>
            <a:ext cx="540000" cy="442800"/>
          </a:xfrm>
          <a:prstGeom prst="rect">
            <a:avLst/>
          </a:prstGeom>
        </p:spPr>
      </p:pic>
      <p:sp>
        <p:nvSpPr>
          <p:cNvPr id="44" name="文本框 43"/>
          <p:cNvSpPr txBox="1"/>
          <p:nvPr/>
        </p:nvSpPr>
        <p:spPr bwMode="gray">
          <a:xfrm>
            <a:off x="6274765" y="3277922"/>
            <a:ext cx="1478290" cy="307777"/>
          </a:xfrm>
          <a:prstGeom prst="rect">
            <a:avLst/>
          </a:prstGeom>
          <a:noFill/>
        </p:spPr>
        <p:txBody>
          <a:bodyPr wrap="none" rtlCol="0">
            <a:spAutoFit/>
          </a:bodyPr>
          <a:lstStyle/>
          <a:p>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Endpoint Node</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圆角矩形 59"/>
          <p:cNvSpPr/>
          <p:nvPr/>
        </p:nvSpPr>
        <p:spPr bwMode="gray">
          <a:xfrm>
            <a:off x="6591301" y="3533257"/>
            <a:ext cx="911090" cy="221690"/>
          </a:xfrm>
          <a:prstGeom prst="roundRect">
            <a:avLst>
              <a:gd name="adj" fmla="val 13019"/>
            </a:avLst>
          </a:prstGeom>
          <a:solidFill>
            <a:srgbClr val="D3394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FC03:: /96</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圆角矩形 59"/>
          <p:cNvSpPr/>
          <p:nvPr/>
        </p:nvSpPr>
        <p:spPr bwMode="gray">
          <a:xfrm>
            <a:off x="8882063" y="3533257"/>
            <a:ext cx="921315" cy="221690"/>
          </a:xfrm>
          <a:prstGeom prst="roundRect">
            <a:avLst>
              <a:gd name="adj" fmla="val 13019"/>
            </a:avLst>
          </a:prstGeom>
          <a:solidFill>
            <a:srgbClr val="D3394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FC04:: /96</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矩形 46"/>
          <p:cNvSpPr/>
          <p:nvPr/>
        </p:nvSpPr>
        <p:spPr bwMode="gray">
          <a:xfrm>
            <a:off x="9179481" y="4477489"/>
            <a:ext cx="405880"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R4</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48" name="图片 47"/>
          <p:cNvPicPr/>
          <p:nvPr/>
        </p:nvPicPr>
        <p:blipFill>
          <a:blip r:embed="rId1" cstate="print">
            <a:extLst>
              <a:ext uri="{28A0092B-C50C-407E-A947-70E740481C1C}">
                <a14:useLocalDpi xmlns:a14="http://schemas.microsoft.com/office/drawing/2010/main" val="0"/>
              </a:ext>
            </a:extLst>
          </a:blip>
          <a:stretch>
            <a:fillRect/>
          </a:stretch>
        </p:blipFill>
        <p:spPr bwMode="gray">
          <a:xfrm>
            <a:off x="9117735" y="4038605"/>
            <a:ext cx="540000" cy="442800"/>
          </a:xfrm>
          <a:prstGeom prst="rect">
            <a:avLst/>
          </a:prstGeom>
        </p:spPr>
      </p:pic>
      <p:pic>
        <p:nvPicPr>
          <p:cNvPr id="54" name="图片 53"/>
          <p:cNvPicPr/>
          <p:nvPr/>
        </p:nvPicPr>
        <p:blipFill>
          <a:blip r:embed="rId1" cstate="print">
            <a:extLst>
              <a:ext uri="{28A0092B-C50C-407E-A947-70E740481C1C}">
                <a14:useLocalDpi xmlns:a14="http://schemas.microsoft.com/office/drawing/2010/main" val="0"/>
              </a:ext>
            </a:extLst>
          </a:blip>
          <a:stretch>
            <a:fillRect/>
          </a:stretch>
        </p:blipFill>
        <p:spPr bwMode="gray">
          <a:xfrm>
            <a:off x="11028821" y="4038605"/>
            <a:ext cx="540000" cy="442800"/>
          </a:xfrm>
          <a:prstGeom prst="rect">
            <a:avLst/>
          </a:prstGeom>
        </p:spPr>
      </p:pic>
      <p:sp>
        <p:nvSpPr>
          <p:cNvPr id="60" name="矩形 59"/>
          <p:cNvSpPr/>
          <p:nvPr/>
        </p:nvSpPr>
        <p:spPr bwMode="gray">
          <a:xfrm>
            <a:off x="11047790" y="4477489"/>
            <a:ext cx="502062"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CE2</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1" name="矩形 60"/>
          <p:cNvSpPr/>
          <p:nvPr/>
        </p:nvSpPr>
        <p:spPr bwMode="gray">
          <a:xfrm>
            <a:off x="9701045" y="4297489"/>
            <a:ext cx="1228584" cy="468000"/>
          </a:xfrm>
          <a:prstGeom prst="rect">
            <a:avLst/>
          </a:prstGeom>
          <a:solidFill>
            <a:srgbClr val="FF993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CE2: End.DT4</a:t>
            </a:r>
            <a:endPar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FC04::400</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2" name="文本框 61"/>
          <p:cNvSpPr txBox="1"/>
          <p:nvPr/>
        </p:nvSpPr>
        <p:spPr bwMode="gray">
          <a:xfrm>
            <a:off x="8643275" y="3277922"/>
            <a:ext cx="1478290" cy="307777"/>
          </a:xfrm>
          <a:prstGeom prst="rect">
            <a:avLst/>
          </a:prstGeom>
          <a:noFill/>
        </p:spPr>
        <p:txBody>
          <a:bodyPr wrap="none" rtlCol="0">
            <a:spAutoFit/>
          </a:bodyPr>
          <a:lstStyle/>
          <a:p>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Endpoint Node</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圆角矩形 59"/>
          <p:cNvSpPr/>
          <p:nvPr/>
        </p:nvSpPr>
        <p:spPr bwMode="gray">
          <a:xfrm>
            <a:off x="2266950" y="3790938"/>
            <a:ext cx="917445" cy="221690"/>
          </a:xfrm>
          <a:prstGeom prst="roundRect">
            <a:avLst>
              <a:gd name="adj" fmla="val 13019"/>
            </a:avLst>
          </a:prstGeom>
          <a:solidFill>
            <a:srgbClr val="56C4D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FC01::1</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圆角矩形 59"/>
          <p:cNvSpPr/>
          <p:nvPr/>
        </p:nvSpPr>
        <p:spPr bwMode="gray">
          <a:xfrm>
            <a:off x="6591301" y="3790938"/>
            <a:ext cx="911090" cy="221690"/>
          </a:xfrm>
          <a:prstGeom prst="roundRect">
            <a:avLst>
              <a:gd name="adj" fmla="val 13019"/>
            </a:avLst>
          </a:prstGeom>
          <a:solidFill>
            <a:srgbClr val="56C4D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FC03::3</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圆角矩形 59"/>
          <p:cNvSpPr/>
          <p:nvPr/>
        </p:nvSpPr>
        <p:spPr bwMode="gray">
          <a:xfrm>
            <a:off x="8882063" y="3790938"/>
            <a:ext cx="921315" cy="221690"/>
          </a:xfrm>
          <a:prstGeom prst="roundRect">
            <a:avLst>
              <a:gd name="adj" fmla="val 13019"/>
            </a:avLst>
          </a:prstGeom>
          <a:solidFill>
            <a:srgbClr val="56C4D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FC04::4</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圆角矩形 59"/>
          <p:cNvSpPr/>
          <p:nvPr/>
        </p:nvSpPr>
        <p:spPr bwMode="gray">
          <a:xfrm>
            <a:off x="8949358" y="5066719"/>
            <a:ext cx="917445" cy="221690"/>
          </a:xfrm>
          <a:prstGeom prst="roundRect">
            <a:avLst>
              <a:gd name="adj" fmla="val 13019"/>
            </a:avLst>
          </a:prstGeom>
          <a:solidFill>
            <a:srgbClr val="D3394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FC01:: /96</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0" name="圆角矩形 59"/>
          <p:cNvSpPr/>
          <p:nvPr/>
        </p:nvSpPr>
        <p:spPr bwMode="gray">
          <a:xfrm>
            <a:off x="8949358" y="5362500"/>
            <a:ext cx="917445" cy="221690"/>
          </a:xfrm>
          <a:prstGeom prst="roundRect">
            <a:avLst>
              <a:gd name="adj" fmla="val 13019"/>
            </a:avLst>
          </a:prstGeom>
          <a:solidFill>
            <a:srgbClr val="56C4D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FC01::1</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1" name="矩形 46"/>
          <p:cNvSpPr/>
          <p:nvPr/>
        </p:nvSpPr>
        <p:spPr bwMode="gray">
          <a:xfrm>
            <a:off x="9850629" y="5044408"/>
            <a:ext cx="708848" cy="276999"/>
          </a:xfrm>
          <a:prstGeom prst="rect">
            <a:avLst/>
          </a:prstGeom>
        </p:spPr>
        <p:txBody>
          <a:bodyPr wrap="none">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Locator</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2" name="矩形 46"/>
          <p:cNvSpPr/>
          <p:nvPr/>
        </p:nvSpPr>
        <p:spPr bwMode="gray">
          <a:xfrm>
            <a:off x="9838608" y="5340532"/>
            <a:ext cx="732894" cy="276999"/>
          </a:xfrm>
          <a:prstGeom prst="rect">
            <a:avLst/>
          </a:prstGeom>
        </p:spPr>
        <p:txBody>
          <a:bodyPr wrap="none">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End SID</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3" name="圆角矩形 59"/>
          <p:cNvSpPr/>
          <p:nvPr/>
        </p:nvSpPr>
        <p:spPr bwMode="gray">
          <a:xfrm>
            <a:off x="4453214" y="3533257"/>
            <a:ext cx="911090" cy="221690"/>
          </a:xfrm>
          <a:prstGeom prst="roundRect">
            <a:avLst>
              <a:gd name="adj" fmla="val 13019"/>
            </a:avLst>
          </a:prstGeom>
          <a:solidFill>
            <a:srgbClr val="D3394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FC02:: /96</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5" name="圆角矩形 59"/>
          <p:cNvSpPr/>
          <p:nvPr/>
        </p:nvSpPr>
        <p:spPr bwMode="gray">
          <a:xfrm>
            <a:off x="4453214" y="3790938"/>
            <a:ext cx="911090" cy="221690"/>
          </a:xfrm>
          <a:prstGeom prst="roundRect">
            <a:avLst>
              <a:gd name="adj" fmla="val 13019"/>
            </a:avLst>
          </a:prstGeom>
          <a:solidFill>
            <a:srgbClr val="56C4D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FC02::2</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6" name="五边形 2"/>
          <p:cNvSpPr/>
          <p:nvPr/>
        </p:nvSpPr>
        <p:spPr bwMode="gray">
          <a:xfrm>
            <a:off x="8310982" y="110463"/>
            <a:ext cx="119596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SRv6</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SRH</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介绍</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7" name="燕尾形 3"/>
          <p:cNvSpPr/>
          <p:nvPr/>
        </p:nvSpPr>
        <p:spPr bwMode="gray">
          <a:xfrm>
            <a:off x="9430382" y="110463"/>
            <a:ext cx="119596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SRv6</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节点介绍</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8" name="燕尾形 3"/>
          <p:cNvSpPr/>
          <p:nvPr/>
        </p:nvSpPr>
        <p:spPr bwMode="gray">
          <a:xfrm>
            <a:off x="10553128" y="105534"/>
            <a:ext cx="119596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SRv6</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转发原理</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r>
              <a:rPr lang="en-US" altLang="zh-CN">
                <a:sym typeface="Huawei Sans" panose="020C0503030203020204" pitchFamily="34" charset="0"/>
              </a:rPr>
              <a:t>SRv6</a:t>
            </a:r>
            <a:r>
              <a:rPr lang="zh-CN" altLang="en-US">
                <a:sym typeface="Huawei Sans" panose="020C0503030203020204" pitchFamily="34" charset="0"/>
              </a:rPr>
              <a:t>源节点</a:t>
            </a:r>
            <a:endParaRPr lang="zh-CN" altLang="en-US">
              <a:sym typeface="Huawei Sans" panose="020C0503030203020204" pitchFamily="34" charset="0"/>
            </a:endParaRPr>
          </a:p>
        </p:txBody>
      </p:sp>
      <p:sp>
        <p:nvSpPr>
          <p:cNvPr id="6" name="文本占位符 5"/>
          <p:cNvSpPr>
            <a:spLocks noGrp="1"/>
          </p:cNvSpPr>
          <p:nvPr>
            <p:ph type="body" sz="quarter" idx="10"/>
          </p:nvPr>
        </p:nvSpPr>
        <p:spPr bwMode="gray"/>
        <p:txBody>
          <a:bodyPr/>
          <a:lstStyle/>
          <a:p>
            <a:r>
              <a:rPr lang="zh-CN" altLang="en-US" sz="1600" dirty="0">
                <a:sym typeface="Huawei Sans" panose="020C0503030203020204" pitchFamily="34" charset="0"/>
              </a:rPr>
              <a:t>源节点将数据包引导到</a:t>
            </a:r>
            <a:r>
              <a:rPr lang="en-US" altLang="zh-CN" sz="1600" dirty="0">
                <a:sym typeface="Huawei Sans" panose="020C0503030203020204" pitchFamily="34" charset="0"/>
              </a:rPr>
              <a:t>SRv6 Segment List</a:t>
            </a:r>
            <a:r>
              <a:rPr lang="zh-CN" altLang="en-US" sz="1600" dirty="0">
                <a:sym typeface="Huawei Sans" panose="020C0503030203020204" pitchFamily="34" charset="0"/>
              </a:rPr>
              <a:t>中，如果</a:t>
            </a:r>
            <a:r>
              <a:rPr lang="en-US" altLang="zh-CN" sz="1600" dirty="0">
                <a:sym typeface="Huawei Sans" panose="020C0503030203020204" pitchFamily="34" charset="0"/>
              </a:rPr>
              <a:t>SRv6 Segment List</a:t>
            </a:r>
            <a:r>
              <a:rPr lang="zh-CN" altLang="en-US" sz="1600" dirty="0">
                <a:sym typeface="Huawei Sans" panose="020C0503030203020204" pitchFamily="34" charset="0"/>
              </a:rPr>
              <a:t>只包含单个</a:t>
            </a:r>
            <a:r>
              <a:rPr lang="en-US" altLang="zh-CN" sz="1600" dirty="0">
                <a:sym typeface="Huawei Sans" panose="020C0503030203020204" pitchFamily="34" charset="0"/>
              </a:rPr>
              <a:t>SID</a:t>
            </a:r>
            <a:r>
              <a:rPr lang="zh-CN" altLang="en-US" sz="1600" dirty="0">
                <a:sym typeface="Huawei Sans" panose="020C0503030203020204" pitchFamily="34" charset="0"/>
              </a:rPr>
              <a:t>，并且无需在</a:t>
            </a:r>
            <a:r>
              <a:rPr lang="en-US" altLang="zh-CN" sz="1600" dirty="0">
                <a:sym typeface="Huawei Sans" panose="020C0503030203020204" pitchFamily="34" charset="0"/>
              </a:rPr>
              <a:t>SRv6</a:t>
            </a:r>
            <a:r>
              <a:rPr lang="zh-CN" altLang="en-US" sz="1600" dirty="0">
                <a:sym typeface="Huawei Sans" panose="020C0503030203020204" pitchFamily="34" charset="0"/>
              </a:rPr>
              <a:t>报文中添加信息或</a:t>
            </a:r>
            <a:r>
              <a:rPr lang="en-US" altLang="zh-CN" sz="1600" dirty="0">
                <a:sym typeface="Huawei Sans" panose="020C0503030203020204" pitchFamily="34" charset="0"/>
              </a:rPr>
              <a:t>TLV</a:t>
            </a:r>
            <a:r>
              <a:rPr lang="zh-CN" altLang="en-US" sz="1600" dirty="0">
                <a:sym typeface="Huawei Sans" panose="020C0503030203020204" pitchFamily="34" charset="0"/>
              </a:rPr>
              <a:t>字段，则</a:t>
            </a:r>
            <a:r>
              <a:rPr lang="en-US" altLang="zh-CN" sz="1600" dirty="0">
                <a:sym typeface="Huawei Sans" panose="020C0503030203020204" pitchFamily="34" charset="0"/>
              </a:rPr>
              <a:t>SRv6</a:t>
            </a:r>
            <a:r>
              <a:rPr lang="zh-CN" altLang="en-US" sz="1600" dirty="0">
                <a:sym typeface="Huawei Sans" panose="020C0503030203020204" pitchFamily="34" charset="0"/>
              </a:rPr>
              <a:t>报文的目的地址字段设置为该</a:t>
            </a:r>
            <a:r>
              <a:rPr lang="en-US" altLang="zh-CN" sz="1600" dirty="0">
                <a:sym typeface="Huawei Sans" panose="020C0503030203020204" pitchFamily="34" charset="0"/>
              </a:rPr>
              <a:t>SID</a:t>
            </a:r>
            <a:r>
              <a:rPr lang="zh-CN" altLang="en-US" sz="1600" dirty="0">
                <a:sym typeface="Huawei Sans" panose="020C0503030203020204" pitchFamily="34" charset="0"/>
              </a:rPr>
              <a:t>。</a:t>
            </a:r>
            <a:endParaRPr lang="en-US" altLang="zh-CN" sz="1600" dirty="0">
              <a:sym typeface="Huawei Sans" panose="020C0503030203020204" pitchFamily="34" charset="0"/>
            </a:endParaRPr>
          </a:p>
          <a:p>
            <a:r>
              <a:rPr lang="zh-CN" altLang="en-US" sz="1600" dirty="0">
                <a:sym typeface="Huawei Sans" panose="020C0503030203020204" pitchFamily="34" charset="0"/>
              </a:rPr>
              <a:t>源节点可以是生成</a:t>
            </a:r>
            <a:r>
              <a:rPr lang="en-US" altLang="zh-CN" sz="1600" dirty="0">
                <a:sym typeface="Huawei Sans" panose="020C0503030203020204" pitchFamily="34" charset="0"/>
              </a:rPr>
              <a:t>IPv6</a:t>
            </a:r>
            <a:r>
              <a:rPr lang="zh-CN" altLang="en-US" sz="1600" dirty="0">
                <a:sym typeface="Huawei Sans" panose="020C0503030203020204" pitchFamily="34" charset="0"/>
              </a:rPr>
              <a:t>报文且支持</a:t>
            </a:r>
            <a:r>
              <a:rPr lang="en-US" altLang="zh-CN" sz="1600" dirty="0">
                <a:sym typeface="Huawei Sans" panose="020C0503030203020204" pitchFamily="34" charset="0"/>
              </a:rPr>
              <a:t>SRv6</a:t>
            </a:r>
            <a:r>
              <a:rPr lang="zh-CN" altLang="en-US" sz="1600" dirty="0">
                <a:sym typeface="Huawei Sans" panose="020C0503030203020204" pitchFamily="34" charset="0"/>
              </a:rPr>
              <a:t>的主机，也可以是</a:t>
            </a:r>
            <a:r>
              <a:rPr lang="en-US" altLang="zh-CN" sz="1600" dirty="0">
                <a:sym typeface="Huawei Sans" panose="020C0503030203020204" pitchFamily="34" charset="0"/>
              </a:rPr>
              <a:t>SRv6</a:t>
            </a:r>
            <a:r>
              <a:rPr lang="zh-CN" altLang="en-US" sz="1600" dirty="0">
                <a:sym typeface="Huawei Sans" panose="020C0503030203020204" pitchFamily="34" charset="0"/>
              </a:rPr>
              <a:t>域的边缘设备。</a:t>
            </a:r>
            <a:endParaRPr lang="en-US" altLang="zh-CN" sz="1600" dirty="0">
              <a:sym typeface="Huawei Sans" panose="020C0503030203020204" pitchFamily="34" charset="0"/>
            </a:endParaRPr>
          </a:p>
        </p:txBody>
      </p:sp>
      <p:graphicFrame>
        <p:nvGraphicFramePr>
          <p:cNvPr id="5" name="表格 4"/>
          <p:cNvGraphicFramePr>
            <a:graphicFrameLocks noGrp="1"/>
          </p:cNvGraphicFramePr>
          <p:nvPr/>
        </p:nvGraphicFramePr>
        <p:xfrm>
          <a:off x="2831986" y="4399496"/>
          <a:ext cx="2562811" cy="1150393"/>
        </p:xfrm>
        <a:graphic>
          <a:graphicData uri="http://schemas.openxmlformats.org/drawingml/2006/table">
            <a:tbl>
              <a:tblPr firstRow="1" bandRow="1">
                <a:tableStyleId>{72833802-FEF1-4C79-8D5D-14CF1EAF98D9}</a:tableStyleId>
              </a:tblPr>
              <a:tblGrid>
                <a:gridCol w="982126"/>
                <a:gridCol w="766916"/>
                <a:gridCol w="813769"/>
              </a:tblGrid>
              <a:tr h="327433">
                <a:tc gridSpan="3">
                  <a:txBody>
                    <a:bodyPr/>
                    <a:lstStyle/>
                    <a:p>
                      <a:pPr algn="ctr"/>
                      <a:r>
                        <a:rPr lang="en-US" altLang="zh-CN" sz="1200" dirty="0"/>
                        <a:t>IPv6 Header</a:t>
                      </a:r>
                      <a:endParaRPr lang="zh-CN" altLang="en-US" sz="12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6C4D2"/>
                    </a:solidFill>
                  </a:tcPr>
                </a:tc>
                <a:tc hMerge="1">
                  <a:tcPr/>
                </a:tc>
                <a:tc hMerge="1">
                  <a:tcPr/>
                </a:tc>
              </a:tr>
              <a:tr h="228600">
                <a:tc gridSpan="3">
                  <a:txBody>
                    <a:bodyPr/>
                    <a:lstStyle/>
                    <a:p>
                      <a:pPr algn="ctr"/>
                      <a:r>
                        <a:rPr lang="en-US" altLang="zh-CN" sz="1200" b="1" dirty="0">
                          <a:solidFill>
                            <a:schemeClr val="tx1"/>
                          </a:solidFill>
                        </a:rPr>
                        <a:t>SRH(SL = 2)</a:t>
                      </a:r>
                      <a:endParaRPr lang="en-US" altLang="zh-CN" sz="1200" b="1"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EEEC1"/>
                    </a:solidFill>
                  </a:tcPr>
                </a:tc>
                <a:tc hMerge="1">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66"/>
                    </a:solidFill>
                  </a:tcPr>
                </a:tc>
                <a:tc hMerge="1">
                  <a:tcPr/>
                </a:tc>
              </a:tr>
              <a:tr h="228600">
                <a:tc>
                  <a:txBody>
                    <a:bodyPr/>
                    <a:lstStyle/>
                    <a:p>
                      <a:pPr marL="0" marR="0" lvl="0" indent="0" algn="ctr" defTabSz="913765" rtl="0" eaLnBrk="1" fontAlgn="auto" latinLnBrk="0" hangingPunct="1">
                        <a:lnSpc>
                          <a:spcPct val="100000"/>
                        </a:lnSpc>
                        <a:spcBef>
                          <a:spcPts val="0"/>
                        </a:spcBef>
                        <a:spcAft>
                          <a:spcPts val="0"/>
                        </a:spcAft>
                        <a:buClrTx/>
                        <a:buSzTx/>
                        <a:buFontTx/>
                        <a:buNone/>
                        <a:defRPr/>
                      </a:pPr>
                      <a:r>
                        <a:rPr lang="en-US" altLang="zh-CN" sz="1200" b="0" dirty="0">
                          <a:solidFill>
                            <a:schemeClr val="tx1"/>
                          </a:solidFill>
                        </a:rPr>
                        <a:t>FC04::400</a:t>
                      </a:r>
                      <a:endParaRPr lang="zh-CN" altLang="en-US" sz="1200" b="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EEEC1"/>
                    </a:solidFill>
                  </a:tcPr>
                </a:tc>
                <a:tc>
                  <a:txBody>
                    <a:bodyPr/>
                    <a:lstStyle/>
                    <a:p>
                      <a:pPr algn="ctr"/>
                      <a:r>
                        <a:rPr lang="en-US" altLang="zh-CN" sz="1200" b="0" dirty="0">
                          <a:solidFill>
                            <a:schemeClr val="tx1"/>
                          </a:solidFill>
                        </a:rPr>
                        <a:t>FC04::4</a:t>
                      </a:r>
                      <a:endParaRPr lang="zh-CN" altLang="en-US" sz="1200" b="1"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EEEC1"/>
                    </a:solidFill>
                  </a:tcPr>
                </a:tc>
                <a:tc>
                  <a:txBody>
                    <a:bodyPr/>
                    <a:lstStyle/>
                    <a:p>
                      <a:pPr algn="ctr"/>
                      <a:r>
                        <a:rPr lang="en-US" altLang="zh-CN" sz="1200" b="1" dirty="0">
                          <a:solidFill>
                            <a:srgbClr val="C7000B"/>
                          </a:solidFill>
                        </a:rPr>
                        <a:t>FC03::3</a:t>
                      </a:r>
                      <a:endParaRPr lang="zh-CN" altLang="en-US" sz="1200" b="1" dirty="0">
                        <a:solidFill>
                          <a:srgbClr val="C7000B"/>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EEEC1"/>
                    </a:solidFill>
                  </a:tcPr>
                </a:tc>
              </a:tr>
              <a:tr h="253864">
                <a:tc gridSpan="3">
                  <a:txBody>
                    <a:bodyPr/>
                    <a:lstStyle/>
                    <a:p>
                      <a:pPr algn="ctr"/>
                      <a:r>
                        <a:rPr lang="en-US" altLang="zh-CN" sz="1200" dirty="0">
                          <a:solidFill>
                            <a:schemeClr val="bg1"/>
                          </a:solidFill>
                        </a:rPr>
                        <a:t>Payload</a:t>
                      </a:r>
                      <a:endParaRPr lang="zh-CN" altLang="en-US" sz="12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hMerge="1">
                  <a:tcPr/>
                </a:tc>
                <a:tc hMerge="1">
                  <a:tcPr/>
                </a:tc>
              </a:tr>
            </a:tbl>
          </a:graphicData>
        </a:graphic>
      </p:graphicFrame>
      <p:sp>
        <p:nvSpPr>
          <p:cNvPr id="8" name="右箭头 7"/>
          <p:cNvSpPr/>
          <p:nvPr/>
        </p:nvSpPr>
        <p:spPr bwMode="gray">
          <a:xfrm>
            <a:off x="2831986" y="5579015"/>
            <a:ext cx="2562810" cy="429000"/>
          </a:xfrm>
          <a:prstGeom prst="rightArrow">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rPr>
              <a:t>SRv6 Policy</a:t>
            </a:r>
            <a:endParaRPr lang="zh-CN" altLang="en-US" sz="1600" dirty="0">
              <a:solidFill>
                <a:schemeClr val="tx1"/>
              </a:solidFill>
            </a:endParaRPr>
          </a:p>
        </p:txBody>
      </p:sp>
      <p:cxnSp>
        <p:nvCxnSpPr>
          <p:cNvPr id="31" name="直接连接符 27"/>
          <p:cNvCxnSpPr>
            <a:stCxn id="48" idx="1"/>
          </p:cNvCxnSpPr>
          <p:nvPr/>
        </p:nvCxnSpPr>
        <p:spPr bwMode="gray">
          <a:xfrm flipH="1" flipV="1">
            <a:off x="1249423" y="3850397"/>
            <a:ext cx="9921770" cy="1049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2" name="矩形 28"/>
          <p:cNvSpPr/>
          <p:nvPr/>
        </p:nvSpPr>
        <p:spPr bwMode="gray">
          <a:xfrm>
            <a:off x="2684783" y="4078379"/>
            <a:ext cx="413896"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R1</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 name="圆角矩形 59"/>
          <p:cNvSpPr/>
          <p:nvPr/>
        </p:nvSpPr>
        <p:spPr bwMode="gray">
          <a:xfrm>
            <a:off x="2409322" y="3134147"/>
            <a:ext cx="917445" cy="221690"/>
          </a:xfrm>
          <a:prstGeom prst="roundRect">
            <a:avLst>
              <a:gd name="adj" fmla="val 13019"/>
            </a:avLst>
          </a:prstGeom>
          <a:solidFill>
            <a:srgbClr val="D3394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FC01:: /96</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34" name="图片 30"/>
          <p:cNvPicPr/>
          <p:nvPr/>
        </p:nvPicPr>
        <p:blipFill>
          <a:blip r:embed="rId1" cstate="print">
            <a:extLst>
              <a:ext uri="{28A0092B-C50C-407E-A947-70E740481C1C}">
                <a14:useLocalDpi xmlns:a14="http://schemas.microsoft.com/office/drawing/2010/main" val="0"/>
              </a:ext>
            </a:extLst>
          </a:blip>
          <a:stretch>
            <a:fillRect/>
          </a:stretch>
        </p:blipFill>
        <p:spPr bwMode="gray">
          <a:xfrm>
            <a:off x="2622953" y="3639495"/>
            <a:ext cx="540000" cy="442800"/>
          </a:xfrm>
          <a:prstGeom prst="rect">
            <a:avLst/>
          </a:prstGeom>
        </p:spPr>
      </p:pic>
      <p:sp>
        <p:nvSpPr>
          <p:cNvPr id="35" name="文本框 31"/>
          <p:cNvSpPr txBox="1"/>
          <p:nvPr/>
        </p:nvSpPr>
        <p:spPr bwMode="gray">
          <a:xfrm>
            <a:off x="2185458" y="2878812"/>
            <a:ext cx="1281120" cy="307777"/>
          </a:xfrm>
          <a:prstGeom prst="rect">
            <a:avLst/>
          </a:prstGeom>
          <a:noFill/>
        </p:spPr>
        <p:txBody>
          <a:bodyPr wrap="none" rtlCol="0">
            <a:spAutoFit/>
          </a:bodyPr>
          <a:lstStyle/>
          <a:p>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Source Node</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36" name="图片 32"/>
          <p:cNvPicPr/>
          <p:nvPr/>
        </p:nvPicPr>
        <p:blipFill>
          <a:blip r:embed="rId1" cstate="print">
            <a:extLst>
              <a:ext uri="{28A0092B-C50C-407E-A947-70E740481C1C}">
                <a14:useLocalDpi xmlns:a14="http://schemas.microsoft.com/office/drawing/2010/main" val="0"/>
              </a:ext>
            </a:extLst>
          </a:blip>
          <a:stretch>
            <a:fillRect/>
          </a:stretch>
        </p:blipFill>
        <p:spPr bwMode="gray">
          <a:xfrm>
            <a:off x="737825" y="3639495"/>
            <a:ext cx="540000" cy="442800"/>
          </a:xfrm>
          <a:prstGeom prst="rect">
            <a:avLst/>
          </a:prstGeom>
        </p:spPr>
      </p:pic>
      <p:sp>
        <p:nvSpPr>
          <p:cNvPr id="37" name="矩形 33"/>
          <p:cNvSpPr/>
          <p:nvPr/>
        </p:nvSpPr>
        <p:spPr bwMode="gray">
          <a:xfrm>
            <a:off x="762249" y="4078379"/>
            <a:ext cx="502062"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CE1</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矩形 34"/>
          <p:cNvSpPr/>
          <p:nvPr/>
        </p:nvSpPr>
        <p:spPr bwMode="gray">
          <a:xfrm>
            <a:off x="4846878" y="4078379"/>
            <a:ext cx="413896"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R2</a:t>
            </a:r>
            <a:endParaRPr lang="zh-CN" altLang="en-US" sz="1400" b="1">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39" name="图片 35"/>
          <p:cNvPicPr/>
          <p:nvPr/>
        </p:nvPicPr>
        <p:blipFill>
          <a:blip r:embed="rId1" cstate="print">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4775637" y="3639495"/>
            <a:ext cx="540000" cy="442800"/>
          </a:xfrm>
          <a:prstGeom prst="rect">
            <a:avLst/>
          </a:prstGeom>
        </p:spPr>
      </p:pic>
      <p:sp>
        <p:nvSpPr>
          <p:cNvPr id="40" name="文本框 38"/>
          <p:cNvSpPr txBox="1"/>
          <p:nvPr/>
        </p:nvSpPr>
        <p:spPr bwMode="gray">
          <a:xfrm>
            <a:off x="4403575" y="2878812"/>
            <a:ext cx="1239442" cy="307777"/>
          </a:xfrm>
          <a:prstGeom prst="rect">
            <a:avLst/>
          </a:prstGeom>
          <a:noFill/>
        </p:spPr>
        <p:txBody>
          <a:bodyPr wrap="none" rtlCol="0">
            <a:spAutoFit/>
          </a:bodyPr>
          <a:lstStyle/>
          <a:p>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Transit Node</a:t>
            </a:r>
            <a:endPar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矩形 41"/>
          <p:cNvSpPr/>
          <p:nvPr/>
        </p:nvSpPr>
        <p:spPr bwMode="gray">
          <a:xfrm>
            <a:off x="7016857" y="4078379"/>
            <a:ext cx="413896"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R3</a:t>
            </a:r>
            <a:endParaRPr lang="zh-CN" altLang="en-US" sz="1400" b="1">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42" name="图片 42"/>
          <p:cNvPicPr/>
          <p:nvPr/>
        </p:nvPicPr>
        <p:blipFill>
          <a:blip r:embed="rId1" cstate="print">
            <a:extLst>
              <a:ext uri="{28A0092B-C50C-407E-A947-70E740481C1C}">
                <a14:useLocalDpi xmlns:a14="http://schemas.microsoft.com/office/drawing/2010/main" val="0"/>
              </a:ext>
            </a:extLst>
          </a:blip>
          <a:stretch>
            <a:fillRect/>
          </a:stretch>
        </p:blipFill>
        <p:spPr bwMode="gray">
          <a:xfrm>
            <a:off x="6959119" y="3639495"/>
            <a:ext cx="540000" cy="442800"/>
          </a:xfrm>
          <a:prstGeom prst="rect">
            <a:avLst/>
          </a:prstGeom>
        </p:spPr>
      </p:pic>
      <p:sp>
        <p:nvSpPr>
          <p:cNvPr id="43" name="文本框 43"/>
          <p:cNvSpPr txBox="1"/>
          <p:nvPr/>
        </p:nvSpPr>
        <p:spPr bwMode="gray">
          <a:xfrm>
            <a:off x="6512387" y="2878812"/>
            <a:ext cx="1407758" cy="307777"/>
          </a:xfrm>
          <a:prstGeom prst="rect">
            <a:avLst/>
          </a:prstGeom>
          <a:noFill/>
        </p:spPr>
        <p:txBody>
          <a:bodyPr wrap="none" rtlCol="0">
            <a:spAutoFit/>
          </a:bodyPr>
          <a:lstStyle/>
          <a:p>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Endpoint Node</a:t>
            </a:r>
            <a:endPar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圆角矩形 59"/>
          <p:cNvSpPr/>
          <p:nvPr/>
        </p:nvSpPr>
        <p:spPr bwMode="gray">
          <a:xfrm>
            <a:off x="6733673" y="3134147"/>
            <a:ext cx="911090" cy="221690"/>
          </a:xfrm>
          <a:prstGeom prst="roundRect">
            <a:avLst>
              <a:gd name="adj" fmla="val 13019"/>
            </a:avLst>
          </a:prstGeom>
          <a:solidFill>
            <a:srgbClr val="D3394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FC03:: /96</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圆角矩形 59"/>
          <p:cNvSpPr/>
          <p:nvPr/>
        </p:nvSpPr>
        <p:spPr bwMode="gray">
          <a:xfrm>
            <a:off x="9024435" y="3134147"/>
            <a:ext cx="921315" cy="221690"/>
          </a:xfrm>
          <a:prstGeom prst="roundRect">
            <a:avLst>
              <a:gd name="adj" fmla="val 13019"/>
            </a:avLst>
          </a:prstGeom>
          <a:solidFill>
            <a:srgbClr val="D3394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FC04:: /96</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矩形 46"/>
          <p:cNvSpPr/>
          <p:nvPr/>
        </p:nvSpPr>
        <p:spPr bwMode="gray">
          <a:xfrm>
            <a:off x="9321853" y="4078379"/>
            <a:ext cx="405880"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R4</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47" name="图片 47"/>
          <p:cNvPicPr/>
          <p:nvPr/>
        </p:nvPicPr>
        <p:blipFill>
          <a:blip r:embed="rId1" cstate="print">
            <a:extLst>
              <a:ext uri="{28A0092B-C50C-407E-A947-70E740481C1C}">
                <a14:useLocalDpi xmlns:a14="http://schemas.microsoft.com/office/drawing/2010/main" val="0"/>
              </a:ext>
            </a:extLst>
          </a:blip>
          <a:stretch>
            <a:fillRect/>
          </a:stretch>
        </p:blipFill>
        <p:spPr bwMode="gray">
          <a:xfrm>
            <a:off x="9260107" y="3639495"/>
            <a:ext cx="540000" cy="442800"/>
          </a:xfrm>
          <a:prstGeom prst="rect">
            <a:avLst/>
          </a:prstGeom>
        </p:spPr>
      </p:pic>
      <p:pic>
        <p:nvPicPr>
          <p:cNvPr id="48" name="图片 53"/>
          <p:cNvPicPr/>
          <p:nvPr/>
        </p:nvPicPr>
        <p:blipFill>
          <a:blip r:embed="rId1" cstate="print">
            <a:extLst>
              <a:ext uri="{28A0092B-C50C-407E-A947-70E740481C1C}">
                <a14:useLocalDpi xmlns:a14="http://schemas.microsoft.com/office/drawing/2010/main" val="0"/>
              </a:ext>
            </a:extLst>
          </a:blip>
          <a:stretch>
            <a:fillRect/>
          </a:stretch>
        </p:blipFill>
        <p:spPr bwMode="gray">
          <a:xfrm>
            <a:off x="11171193" y="3639495"/>
            <a:ext cx="540000" cy="442800"/>
          </a:xfrm>
          <a:prstGeom prst="rect">
            <a:avLst/>
          </a:prstGeom>
        </p:spPr>
      </p:pic>
      <p:sp>
        <p:nvSpPr>
          <p:cNvPr id="49" name="矩形 59"/>
          <p:cNvSpPr/>
          <p:nvPr/>
        </p:nvSpPr>
        <p:spPr bwMode="gray">
          <a:xfrm>
            <a:off x="11190162" y="4078379"/>
            <a:ext cx="502062"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CE2</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0" name="矩形 60"/>
          <p:cNvSpPr/>
          <p:nvPr/>
        </p:nvSpPr>
        <p:spPr bwMode="gray">
          <a:xfrm>
            <a:off x="9843417" y="3898379"/>
            <a:ext cx="1228584" cy="468000"/>
          </a:xfrm>
          <a:prstGeom prst="rect">
            <a:avLst/>
          </a:prstGeom>
          <a:solidFill>
            <a:srgbClr val="FF993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CE2: End.DT4</a:t>
            </a:r>
            <a:endPar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FC04::400</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1" name="文本框 61"/>
          <p:cNvSpPr txBox="1"/>
          <p:nvPr/>
        </p:nvSpPr>
        <p:spPr bwMode="gray">
          <a:xfrm>
            <a:off x="8823747" y="2878812"/>
            <a:ext cx="1407758" cy="307777"/>
          </a:xfrm>
          <a:prstGeom prst="rect">
            <a:avLst/>
          </a:prstGeom>
          <a:noFill/>
        </p:spPr>
        <p:txBody>
          <a:bodyPr wrap="none" rtlCol="0">
            <a:spAutoFit/>
          </a:bodyPr>
          <a:lstStyle/>
          <a:p>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Endpoint Node</a:t>
            </a:r>
            <a:endPar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2" name="圆角矩形 59"/>
          <p:cNvSpPr/>
          <p:nvPr/>
        </p:nvSpPr>
        <p:spPr bwMode="gray">
          <a:xfrm>
            <a:off x="2409322" y="3391828"/>
            <a:ext cx="917445" cy="221690"/>
          </a:xfrm>
          <a:prstGeom prst="roundRect">
            <a:avLst>
              <a:gd name="adj" fmla="val 13019"/>
            </a:avLst>
          </a:prstGeom>
          <a:solidFill>
            <a:srgbClr val="56C4D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FC01::1</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3" name="圆角矩形 59"/>
          <p:cNvSpPr/>
          <p:nvPr/>
        </p:nvSpPr>
        <p:spPr bwMode="gray">
          <a:xfrm>
            <a:off x="6733673" y="3391828"/>
            <a:ext cx="911090" cy="221690"/>
          </a:xfrm>
          <a:prstGeom prst="roundRect">
            <a:avLst>
              <a:gd name="adj" fmla="val 13019"/>
            </a:avLst>
          </a:prstGeom>
          <a:solidFill>
            <a:srgbClr val="56C4D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FC03::3</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4" name="圆角矩形 59"/>
          <p:cNvSpPr/>
          <p:nvPr/>
        </p:nvSpPr>
        <p:spPr bwMode="gray">
          <a:xfrm>
            <a:off x="9024435" y="3391828"/>
            <a:ext cx="921315" cy="221690"/>
          </a:xfrm>
          <a:prstGeom prst="roundRect">
            <a:avLst>
              <a:gd name="adj" fmla="val 13019"/>
            </a:avLst>
          </a:prstGeom>
          <a:solidFill>
            <a:srgbClr val="56C4D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FC04::4</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5" name="圆角矩形 59"/>
          <p:cNvSpPr/>
          <p:nvPr/>
        </p:nvSpPr>
        <p:spPr bwMode="gray">
          <a:xfrm>
            <a:off x="9091730" y="4667609"/>
            <a:ext cx="917445" cy="221690"/>
          </a:xfrm>
          <a:prstGeom prst="roundRect">
            <a:avLst>
              <a:gd name="adj" fmla="val 13019"/>
            </a:avLst>
          </a:prstGeom>
          <a:solidFill>
            <a:srgbClr val="D3394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FC01:: /96</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6" name="圆角矩形 59"/>
          <p:cNvSpPr/>
          <p:nvPr/>
        </p:nvSpPr>
        <p:spPr bwMode="gray">
          <a:xfrm>
            <a:off x="9091730" y="4963390"/>
            <a:ext cx="917445" cy="221690"/>
          </a:xfrm>
          <a:prstGeom prst="roundRect">
            <a:avLst>
              <a:gd name="adj" fmla="val 13019"/>
            </a:avLst>
          </a:prstGeom>
          <a:solidFill>
            <a:srgbClr val="56C4D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FC01::1</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7" name="矩形 46"/>
          <p:cNvSpPr/>
          <p:nvPr/>
        </p:nvSpPr>
        <p:spPr bwMode="gray">
          <a:xfrm>
            <a:off x="9993001" y="4645298"/>
            <a:ext cx="708848" cy="276999"/>
          </a:xfrm>
          <a:prstGeom prst="rect">
            <a:avLst/>
          </a:prstGeom>
        </p:spPr>
        <p:txBody>
          <a:bodyPr wrap="none">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Locator</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8" name="矩形 46"/>
          <p:cNvSpPr/>
          <p:nvPr/>
        </p:nvSpPr>
        <p:spPr bwMode="gray">
          <a:xfrm>
            <a:off x="9980980" y="4941422"/>
            <a:ext cx="732894" cy="276999"/>
          </a:xfrm>
          <a:prstGeom prst="rect">
            <a:avLst/>
          </a:prstGeom>
        </p:spPr>
        <p:txBody>
          <a:bodyPr wrap="none">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End SID</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59" name="直接箭头连接符 3"/>
          <p:cNvCxnSpPr/>
          <p:nvPr/>
        </p:nvCxnSpPr>
        <p:spPr bwMode="gray">
          <a:xfrm>
            <a:off x="3162953" y="3965054"/>
            <a:ext cx="1106125" cy="0"/>
          </a:xfrm>
          <a:prstGeom prst="straightConnector1">
            <a:avLst/>
          </a:prstGeom>
          <a:ln w="28575">
            <a:solidFill>
              <a:srgbClr val="92D050"/>
            </a:solidFill>
            <a:tailEnd type="triangle"/>
          </a:ln>
        </p:spPr>
        <p:style>
          <a:lnRef idx="1">
            <a:schemeClr val="accent1"/>
          </a:lnRef>
          <a:fillRef idx="0">
            <a:schemeClr val="accent1"/>
          </a:fillRef>
          <a:effectRef idx="0">
            <a:schemeClr val="accent1"/>
          </a:effectRef>
          <a:fontRef idx="minor">
            <a:schemeClr val="tx1"/>
          </a:fontRef>
        </p:style>
      </p:cxnSp>
      <p:sp>
        <p:nvSpPr>
          <p:cNvPr id="60" name="圆角矩形 59"/>
          <p:cNvSpPr/>
          <p:nvPr/>
        </p:nvSpPr>
        <p:spPr bwMode="gray">
          <a:xfrm>
            <a:off x="4603843" y="3122248"/>
            <a:ext cx="911090" cy="221690"/>
          </a:xfrm>
          <a:prstGeom prst="roundRect">
            <a:avLst>
              <a:gd name="adj" fmla="val 13019"/>
            </a:avLst>
          </a:prstGeom>
          <a:solidFill>
            <a:srgbClr val="D3394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FC02:: </a:t>
            </a: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/96</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1" name="圆角矩形 59"/>
          <p:cNvSpPr/>
          <p:nvPr/>
        </p:nvSpPr>
        <p:spPr bwMode="gray">
          <a:xfrm>
            <a:off x="4603843" y="3379929"/>
            <a:ext cx="911090" cy="221690"/>
          </a:xfrm>
          <a:prstGeom prst="roundRect">
            <a:avLst>
              <a:gd name="adj" fmla="val 13019"/>
            </a:avLst>
          </a:prstGeom>
          <a:solidFill>
            <a:srgbClr val="56C4D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FC02::2</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2" name="五边形 2"/>
          <p:cNvSpPr/>
          <p:nvPr/>
        </p:nvSpPr>
        <p:spPr bwMode="gray">
          <a:xfrm>
            <a:off x="8310982" y="110463"/>
            <a:ext cx="119596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SRv6</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SRH</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介绍</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3" name="燕尾形 3"/>
          <p:cNvSpPr/>
          <p:nvPr/>
        </p:nvSpPr>
        <p:spPr bwMode="gray">
          <a:xfrm>
            <a:off x="9430382" y="110463"/>
            <a:ext cx="119596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SRv6</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节点介绍</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4" name="燕尾形 3"/>
          <p:cNvSpPr/>
          <p:nvPr/>
        </p:nvSpPr>
        <p:spPr bwMode="gray">
          <a:xfrm>
            <a:off x="10553128" y="105534"/>
            <a:ext cx="119596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SRv6</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转发原理</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r>
              <a:rPr lang="zh-CN" altLang="en-US" dirty="0">
                <a:sym typeface="Huawei Sans" panose="020C0503030203020204" pitchFamily="34" charset="0"/>
              </a:rPr>
              <a:t>源节点行为</a:t>
            </a:r>
            <a:endParaRPr lang="zh-CN" altLang="en-US" dirty="0">
              <a:sym typeface="Huawei Sans" panose="020C0503030203020204" pitchFamily="34" charset="0"/>
            </a:endParaRPr>
          </a:p>
        </p:txBody>
      </p:sp>
      <p:sp>
        <p:nvSpPr>
          <p:cNvPr id="5" name="文本占位符 4"/>
          <p:cNvSpPr>
            <a:spLocks noGrp="1"/>
          </p:cNvSpPr>
          <p:nvPr>
            <p:ph type="body" sz="quarter" idx="10"/>
          </p:nvPr>
        </p:nvSpPr>
        <p:spPr bwMode="gray"/>
        <p:txBody>
          <a:bodyPr/>
          <a:lstStyle/>
          <a:p>
            <a:r>
              <a:rPr lang="en-US" altLang="zh-CN" sz="1600">
                <a:sym typeface="Huawei Sans" panose="020C0503030203020204" pitchFamily="34" charset="0"/>
              </a:rPr>
              <a:t>SRv6</a:t>
            </a:r>
            <a:r>
              <a:rPr lang="zh-CN" altLang="en-US" sz="1600">
                <a:sym typeface="Huawei Sans" panose="020C0503030203020204" pitchFamily="34" charset="0"/>
              </a:rPr>
              <a:t>源节点负责将流量引导到</a:t>
            </a:r>
            <a:r>
              <a:rPr lang="en-US" altLang="zh-CN" sz="1600">
                <a:sym typeface="Huawei Sans" panose="020C0503030203020204" pitchFamily="34" charset="0"/>
              </a:rPr>
              <a:t>SRv6 Policy</a:t>
            </a:r>
            <a:r>
              <a:rPr lang="zh-CN" altLang="en-US" sz="1600">
                <a:sym typeface="Huawei Sans" panose="020C0503030203020204" pitchFamily="34" charset="0"/>
              </a:rPr>
              <a:t>中，并执行可能的</a:t>
            </a:r>
            <a:r>
              <a:rPr lang="en-US" altLang="zh-CN" sz="1600">
                <a:sym typeface="Huawei Sans" panose="020C0503030203020204" pitchFamily="34" charset="0"/>
              </a:rPr>
              <a:t>SRH</a:t>
            </a:r>
            <a:r>
              <a:rPr lang="zh-CN" altLang="en-US" sz="1600">
                <a:sym typeface="Huawei Sans" panose="020C0503030203020204" pitchFamily="34" charset="0"/>
              </a:rPr>
              <a:t>封装。以下列举了</a:t>
            </a:r>
            <a:r>
              <a:rPr lang="en-US" altLang="zh-CN" sz="1600">
                <a:sym typeface="Huawei Sans" panose="020C0503030203020204" pitchFamily="34" charset="0"/>
              </a:rPr>
              <a:t>SRv6</a:t>
            </a:r>
            <a:r>
              <a:rPr lang="zh-CN" altLang="en-US" sz="1600">
                <a:sym typeface="Huawei Sans" panose="020C0503030203020204" pitchFamily="34" charset="0"/>
              </a:rPr>
              <a:t>源节点封装报头的几种模式：</a:t>
            </a:r>
            <a:endParaRPr lang="en-US" altLang="zh-CN" sz="1600">
              <a:sym typeface="Huawei Sans" panose="020C0503030203020204" pitchFamily="34" charset="0"/>
            </a:endParaRPr>
          </a:p>
          <a:p>
            <a:pPr marL="0" indent="0">
              <a:buNone/>
            </a:pPr>
            <a:endParaRPr lang="en-US" altLang="zh-CN" sz="1600">
              <a:sym typeface="Huawei Sans" panose="020C0503030203020204" pitchFamily="34" charset="0"/>
            </a:endParaRPr>
          </a:p>
        </p:txBody>
      </p:sp>
      <p:graphicFrame>
        <p:nvGraphicFramePr>
          <p:cNvPr id="6" name="表格 5"/>
          <p:cNvGraphicFramePr>
            <a:graphicFrameLocks noGrp="1"/>
          </p:cNvGraphicFramePr>
          <p:nvPr/>
        </p:nvGraphicFramePr>
        <p:xfrm>
          <a:off x="597907" y="2020127"/>
          <a:ext cx="6573260" cy="3392422"/>
        </p:xfrm>
        <a:graphic>
          <a:graphicData uri="http://schemas.openxmlformats.org/drawingml/2006/table">
            <a:tbl>
              <a:tblPr/>
              <a:tblGrid>
                <a:gridCol w="1729276"/>
                <a:gridCol w="4843984"/>
              </a:tblGrid>
              <a:tr h="496730">
                <a:tc>
                  <a:txBody>
                    <a:bodyPr/>
                    <a:lstStyle>
                      <a:lvl1pPr marL="0" algn="l" defTabSz="834390" rtl="0" eaLnBrk="1" latinLnBrk="0" hangingPunct="1">
                        <a:defRPr sz="1600" kern="1200">
                          <a:solidFill>
                            <a:schemeClr val="tx1"/>
                          </a:solidFill>
                          <a:latin typeface="FrutigerNext LT Regular"/>
                          <a:ea typeface="华文细黑" panose="02010600040101010101" pitchFamily="2" charset="-122"/>
                          <a:cs typeface="宋体" panose="02010600030101010101" pitchFamily="2" charset="-122"/>
                        </a:defRPr>
                      </a:lvl1pPr>
                      <a:lvl2pPr marL="417195" algn="l" defTabSz="834390" rtl="0" eaLnBrk="1" latinLnBrk="0" hangingPunct="1">
                        <a:defRPr sz="1600" kern="1200">
                          <a:solidFill>
                            <a:schemeClr val="tx1"/>
                          </a:solidFill>
                          <a:latin typeface="FrutigerNext LT Regular"/>
                          <a:ea typeface="华文细黑" panose="02010600040101010101" pitchFamily="2" charset="-122"/>
                          <a:cs typeface="宋体" panose="02010600030101010101" pitchFamily="2" charset="-122"/>
                        </a:defRPr>
                      </a:lvl2pPr>
                      <a:lvl3pPr marL="834390" algn="l" defTabSz="834390" rtl="0" eaLnBrk="1" latinLnBrk="0" hangingPunct="1">
                        <a:defRPr sz="1600" kern="1200">
                          <a:solidFill>
                            <a:schemeClr val="tx1"/>
                          </a:solidFill>
                          <a:latin typeface="FrutigerNext LT Regular"/>
                          <a:ea typeface="华文细黑" panose="02010600040101010101" pitchFamily="2" charset="-122"/>
                          <a:cs typeface="宋体" panose="02010600030101010101" pitchFamily="2" charset="-122"/>
                        </a:defRPr>
                      </a:lvl3pPr>
                      <a:lvl4pPr marL="1251585" algn="l" defTabSz="834390" rtl="0" eaLnBrk="1" latinLnBrk="0" hangingPunct="1">
                        <a:defRPr sz="1600" kern="1200">
                          <a:solidFill>
                            <a:schemeClr val="tx1"/>
                          </a:solidFill>
                          <a:latin typeface="FrutigerNext LT Regular"/>
                          <a:ea typeface="华文细黑" panose="02010600040101010101" pitchFamily="2" charset="-122"/>
                          <a:cs typeface="宋体" panose="02010600030101010101" pitchFamily="2" charset="-122"/>
                        </a:defRPr>
                      </a:lvl4pPr>
                      <a:lvl5pPr marL="1668780" algn="l" defTabSz="834390" rtl="0" eaLnBrk="1" latinLnBrk="0" hangingPunct="1">
                        <a:defRPr sz="1600" kern="1200">
                          <a:solidFill>
                            <a:schemeClr val="tx1"/>
                          </a:solidFill>
                          <a:latin typeface="FrutigerNext LT Regular"/>
                          <a:ea typeface="华文细黑" panose="02010600040101010101" pitchFamily="2" charset="-122"/>
                          <a:cs typeface="宋体" panose="02010600030101010101" pitchFamily="2" charset="-122"/>
                        </a:defRPr>
                      </a:lvl5pPr>
                      <a:lvl6pPr marL="2085975" algn="l" defTabSz="834390" rtl="0" eaLnBrk="1" latinLnBrk="0" hangingPunct="1">
                        <a:defRPr sz="1600" kern="1200">
                          <a:solidFill>
                            <a:schemeClr val="tx1"/>
                          </a:solidFill>
                          <a:latin typeface="FrutigerNext LT Regular"/>
                          <a:ea typeface="华文细黑" panose="02010600040101010101" pitchFamily="2" charset="-122"/>
                          <a:cs typeface="宋体" panose="02010600030101010101" pitchFamily="2" charset="-122"/>
                        </a:defRPr>
                      </a:lvl6pPr>
                      <a:lvl7pPr marL="2503170" algn="l" defTabSz="834390" rtl="0" eaLnBrk="1" latinLnBrk="0" hangingPunct="1">
                        <a:defRPr sz="1600" kern="1200">
                          <a:solidFill>
                            <a:schemeClr val="tx1"/>
                          </a:solidFill>
                          <a:latin typeface="FrutigerNext LT Regular"/>
                          <a:ea typeface="华文细黑" panose="02010600040101010101" pitchFamily="2" charset="-122"/>
                          <a:cs typeface="宋体" panose="02010600030101010101" pitchFamily="2" charset="-122"/>
                        </a:defRPr>
                      </a:lvl7pPr>
                      <a:lvl8pPr marL="2920365" algn="l" defTabSz="834390" rtl="0" eaLnBrk="1" latinLnBrk="0" hangingPunct="1">
                        <a:defRPr sz="1600" kern="1200">
                          <a:solidFill>
                            <a:schemeClr val="tx1"/>
                          </a:solidFill>
                          <a:latin typeface="FrutigerNext LT Regular"/>
                          <a:ea typeface="华文细黑" panose="02010600040101010101" pitchFamily="2" charset="-122"/>
                          <a:cs typeface="宋体" panose="02010600030101010101" pitchFamily="2" charset="-122"/>
                        </a:defRPr>
                      </a:lvl8pPr>
                      <a:lvl9pPr marL="3337560" algn="l" defTabSz="834390" rtl="0" eaLnBrk="1" latinLnBrk="0" hangingPunct="1">
                        <a:defRPr sz="1600" kern="1200">
                          <a:solidFill>
                            <a:schemeClr val="tx1"/>
                          </a:solidFill>
                          <a:latin typeface="FrutigerNext LT Regular"/>
                          <a:ea typeface="华文细黑" panose="02010600040101010101" pitchFamily="2" charset="-122"/>
                          <a:cs typeface="宋体" panose="02010600030101010101" pitchFamily="2" charset="-122"/>
                        </a:defRPr>
                      </a:lvl9pPr>
                    </a:lstStyle>
                    <a:p>
                      <a:pPr algn="ctr"/>
                      <a:r>
                        <a:rPr lang="zh-CN" altLang="en-US"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源节点行为</a:t>
                      </a:r>
                      <a:endParaRPr lang="en-US"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marL="43957" marR="43957" marT="21979" marB="21979" anchor="ctr">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834390" rtl="0" eaLnBrk="1" latinLnBrk="0" hangingPunct="1">
                        <a:defRPr sz="1600" kern="1200">
                          <a:solidFill>
                            <a:schemeClr val="tx1"/>
                          </a:solidFill>
                          <a:latin typeface="FrutigerNext LT Regular"/>
                          <a:ea typeface="华文细黑" panose="02010600040101010101" pitchFamily="2" charset="-122"/>
                          <a:cs typeface="宋体" panose="02010600030101010101" pitchFamily="2" charset="-122"/>
                        </a:defRPr>
                      </a:lvl1pPr>
                      <a:lvl2pPr marL="417195" algn="l" defTabSz="834390" rtl="0" eaLnBrk="1" latinLnBrk="0" hangingPunct="1">
                        <a:defRPr sz="1600" kern="1200">
                          <a:solidFill>
                            <a:schemeClr val="tx1"/>
                          </a:solidFill>
                          <a:latin typeface="FrutigerNext LT Regular"/>
                          <a:ea typeface="华文细黑" panose="02010600040101010101" pitchFamily="2" charset="-122"/>
                          <a:cs typeface="宋体" panose="02010600030101010101" pitchFamily="2" charset="-122"/>
                        </a:defRPr>
                      </a:lvl2pPr>
                      <a:lvl3pPr marL="834390" algn="l" defTabSz="834390" rtl="0" eaLnBrk="1" latinLnBrk="0" hangingPunct="1">
                        <a:defRPr sz="1600" kern="1200">
                          <a:solidFill>
                            <a:schemeClr val="tx1"/>
                          </a:solidFill>
                          <a:latin typeface="FrutigerNext LT Regular"/>
                          <a:ea typeface="华文细黑" panose="02010600040101010101" pitchFamily="2" charset="-122"/>
                          <a:cs typeface="宋体" panose="02010600030101010101" pitchFamily="2" charset="-122"/>
                        </a:defRPr>
                      </a:lvl3pPr>
                      <a:lvl4pPr marL="1251585" algn="l" defTabSz="834390" rtl="0" eaLnBrk="1" latinLnBrk="0" hangingPunct="1">
                        <a:defRPr sz="1600" kern="1200">
                          <a:solidFill>
                            <a:schemeClr val="tx1"/>
                          </a:solidFill>
                          <a:latin typeface="FrutigerNext LT Regular"/>
                          <a:ea typeface="华文细黑" panose="02010600040101010101" pitchFamily="2" charset="-122"/>
                          <a:cs typeface="宋体" panose="02010600030101010101" pitchFamily="2" charset="-122"/>
                        </a:defRPr>
                      </a:lvl4pPr>
                      <a:lvl5pPr marL="1668780" algn="l" defTabSz="834390" rtl="0" eaLnBrk="1" latinLnBrk="0" hangingPunct="1">
                        <a:defRPr sz="1600" kern="1200">
                          <a:solidFill>
                            <a:schemeClr val="tx1"/>
                          </a:solidFill>
                          <a:latin typeface="FrutigerNext LT Regular"/>
                          <a:ea typeface="华文细黑" panose="02010600040101010101" pitchFamily="2" charset="-122"/>
                          <a:cs typeface="宋体" panose="02010600030101010101" pitchFamily="2" charset="-122"/>
                        </a:defRPr>
                      </a:lvl5pPr>
                      <a:lvl6pPr marL="2085975" algn="l" defTabSz="834390" rtl="0" eaLnBrk="1" latinLnBrk="0" hangingPunct="1">
                        <a:defRPr sz="1600" kern="1200">
                          <a:solidFill>
                            <a:schemeClr val="tx1"/>
                          </a:solidFill>
                          <a:latin typeface="FrutigerNext LT Regular"/>
                          <a:ea typeface="华文细黑" panose="02010600040101010101" pitchFamily="2" charset="-122"/>
                          <a:cs typeface="宋体" panose="02010600030101010101" pitchFamily="2" charset="-122"/>
                        </a:defRPr>
                      </a:lvl6pPr>
                      <a:lvl7pPr marL="2503170" algn="l" defTabSz="834390" rtl="0" eaLnBrk="1" latinLnBrk="0" hangingPunct="1">
                        <a:defRPr sz="1600" kern="1200">
                          <a:solidFill>
                            <a:schemeClr val="tx1"/>
                          </a:solidFill>
                          <a:latin typeface="FrutigerNext LT Regular"/>
                          <a:ea typeface="华文细黑" panose="02010600040101010101" pitchFamily="2" charset="-122"/>
                          <a:cs typeface="宋体" panose="02010600030101010101" pitchFamily="2" charset="-122"/>
                        </a:defRPr>
                      </a:lvl7pPr>
                      <a:lvl8pPr marL="2920365" algn="l" defTabSz="834390" rtl="0" eaLnBrk="1" latinLnBrk="0" hangingPunct="1">
                        <a:defRPr sz="1600" kern="1200">
                          <a:solidFill>
                            <a:schemeClr val="tx1"/>
                          </a:solidFill>
                          <a:latin typeface="FrutigerNext LT Regular"/>
                          <a:ea typeface="华文细黑" panose="02010600040101010101" pitchFamily="2" charset="-122"/>
                          <a:cs typeface="宋体" panose="02010600030101010101" pitchFamily="2" charset="-122"/>
                        </a:defRPr>
                      </a:lvl8pPr>
                      <a:lvl9pPr marL="3337560" algn="l" defTabSz="834390" rtl="0" eaLnBrk="1" latinLnBrk="0" hangingPunct="1">
                        <a:defRPr sz="1600" kern="1200">
                          <a:solidFill>
                            <a:schemeClr val="tx1"/>
                          </a:solidFill>
                          <a:latin typeface="FrutigerNext LT Regular"/>
                          <a:ea typeface="华文细黑" panose="02010600040101010101" pitchFamily="2" charset="-122"/>
                          <a:cs typeface="宋体" panose="02010600030101010101" pitchFamily="2" charset="-122"/>
                        </a:defRPr>
                      </a:lvl9pPr>
                    </a:lstStyle>
                    <a:p>
                      <a:pPr algn="ctr"/>
                      <a:r>
                        <a:rPr lang="zh-CN" altLang="en-US" sz="1400" b="1">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功能描述</a:t>
                      </a:r>
                      <a:endParaRPr lang="en-US"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marL="43957" marR="43957" marT="21979" marB="21979" anchor="ctr">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r>
              <a:tr h="469924">
                <a:tc>
                  <a:txBody>
                    <a:bodyPr/>
                    <a:lstStyle>
                      <a:lvl1pPr marL="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1pPr>
                      <a:lvl2pPr marL="45720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2pPr>
                      <a:lvl3pPr marL="913765"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3pPr>
                      <a:lvl4pPr marL="1370965"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4pPr>
                      <a:lvl5pPr marL="1828165"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5pPr>
                      <a:lvl6pPr marL="2285365"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6pPr>
                      <a:lvl7pPr marL="274193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7pPr>
                      <a:lvl8pPr marL="319913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8pPr>
                      <a:lvl9pPr marL="365633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9pPr>
                    </a:lstStyle>
                    <a:p>
                      <a:pPr algn="ctr" rtl="0" fontAlgn="ctr"/>
                      <a:r>
                        <a:rPr lang="en-US" sz="1400" b="0" i="0" u="none" strike="noStrike" dirty="0" err="1">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H.Insert</a:t>
                      </a:r>
                      <a:endParaRPr lang="en-US" sz="1400" b="0"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72000" marR="36000" marT="12700" marB="0" anchor="ctr">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1pPr>
                      <a:lvl2pPr marL="45720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2pPr>
                      <a:lvl3pPr marL="913765"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3pPr>
                      <a:lvl4pPr marL="1370965"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4pPr>
                      <a:lvl5pPr marL="1828165"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5pPr>
                      <a:lvl6pPr marL="2285365"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6pPr>
                      <a:lvl7pPr marL="274193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7pPr>
                      <a:lvl8pPr marL="319913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8pPr>
                      <a:lvl9pPr marL="365633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9pPr>
                    </a:lstStyle>
                    <a:p>
                      <a:pPr algn="l" fontAlgn="ctr"/>
                      <a:r>
                        <a:rPr lang="zh-CN" altLang="en-US" sz="1400" b="0"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为接收到的</a:t>
                      </a:r>
                      <a:r>
                        <a:rPr lang="en-US" altLang="zh-CN" sz="1400" b="0"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IPv6</a:t>
                      </a:r>
                      <a:r>
                        <a:rPr lang="zh-CN" altLang="en-US" sz="1400" b="0"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报文插入</a:t>
                      </a:r>
                      <a:r>
                        <a:rPr lang="en-US" altLang="zh-CN" sz="1400" b="0"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SRH</a:t>
                      </a:r>
                      <a:r>
                        <a:rPr lang="zh-CN" altLang="en-US" sz="1400" b="0"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，并查表转发。</a:t>
                      </a:r>
                      <a:endParaRPr lang="en-US" altLang="zh-CN" sz="1400" b="0"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72000" marR="36000" marT="12700" marB="0" anchor="ctr">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r>
              <a:tr h="469491">
                <a:tc>
                  <a:txBody>
                    <a:bodyPr/>
                    <a:lstStyle>
                      <a:lvl1pPr marL="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1pPr>
                      <a:lvl2pPr marL="45720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2pPr>
                      <a:lvl3pPr marL="913765"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3pPr>
                      <a:lvl4pPr marL="1370965"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4pPr>
                      <a:lvl5pPr marL="1828165"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5pPr>
                      <a:lvl6pPr marL="2285365"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6pPr>
                      <a:lvl7pPr marL="274193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7pPr>
                      <a:lvl8pPr marL="319913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8pPr>
                      <a:lvl9pPr marL="365633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9pPr>
                    </a:lstStyle>
                    <a:p>
                      <a:pPr algn="ctr" rtl="0" fontAlgn="ctr"/>
                      <a:r>
                        <a:rPr lang="en-US" sz="1400" b="0" i="0" u="none" strike="noStrike" dirty="0" err="1">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H.I</a:t>
                      </a:r>
                      <a:r>
                        <a:rPr lang="en-US" altLang="zh-CN" sz="1400" b="0" i="0" u="none" strike="noStrike" dirty="0" err="1">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nsert.Red</a:t>
                      </a:r>
                      <a:endParaRPr lang="en-US" sz="1400" b="0"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72000" marR="36000" marT="12700" marB="0" anchor="ctr">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1pPr>
                      <a:lvl2pPr marL="45720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2pPr>
                      <a:lvl3pPr marL="913765"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3pPr>
                      <a:lvl4pPr marL="1370965"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4pPr>
                      <a:lvl5pPr marL="1828165"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5pPr>
                      <a:lvl6pPr marL="2285365"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6pPr>
                      <a:lvl7pPr marL="274193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7pPr>
                      <a:lvl8pPr marL="319913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8pPr>
                      <a:lvl9pPr marL="365633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9pPr>
                    </a:lstStyle>
                    <a:p>
                      <a:pPr algn="l" fontAlgn="ctr"/>
                      <a:r>
                        <a:rPr lang="zh-CN" altLang="en-US" sz="1400" b="0"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为接收到的</a:t>
                      </a:r>
                      <a:r>
                        <a:rPr lang="en-US" altLang="zh-CN" sz="1400" b="0"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IPv6</a:t>
                      </a:r>
                      <a:r>
                        <a:rPr lang="zh-CN" altLang="en-US" sz="1400" b="0"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报文插入</a:t>
                      </a:r>
                      <a:r>
                        <a:rPr lang="en-US" altLang="zh-CN" sz="1400" b="0"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Reduced SRH</a:t>
                      </a:r>
                      <a:r>
                        <a:rPr lang="zh-CN" altLang="en-US" sz="1400" b="0"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，并查表转发。</a:t>
                      </a:r>
                      <a:endParaRPr lang="en-US" altLang="zh-CN" sz="1400" b="0"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72000" marR="36000" marT="12700" marB="0" anchor="ctr">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r>
              <a:tr h="466970">
                <a:tc>
                  <a:txBody>
                    <a:bodyPr/>
                    <a:lstStyle>
                      <a:lvl1pPr marL="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1pPr>
                      <a:lvl2pPr marL="45720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2pPr>
                      <a:lvl3pPr marL="913765"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3pPr>
                      <a:lvl4pPr marL="1370965"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4pPr>
                      <a:lvl5pPr marL="1828165"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5pPr>
                      <a:lvl6pPr marL="2285365"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6pPr>
                      <a:lvl7pPr marL="274193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7pPr>
                      <a:lvl8pPr marL="319913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8pPr>
                      <a:lvl9pPr marL="365633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9pPr>
                    </a:lstStyle>
                    <a:p>
                      <a:pPr algn="ctr" rtl="0" fontAlgn="ctr"/>
                      <a:r>
                        <a:rPr lang="en-US" sz="1400" b="0" i="0" u="none" strike="noStrike" dirty="0" err="1">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H.Encaps</a:t>
                      </a:r>
                      <a:endParaRPr lang="en-US" sz="1400" b="0"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72000" marR="36000" marT="12700" marB="0" anchor="ctr">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1pPr>
                      <a:lvl2pPr marL="45720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2pPr>
                      <a:lvl3pPr marL="913765"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3pPr>
                      <a:lvl4pPr marL="1370965"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4pPr>
                      <a:lvl5pPr marL="1828165"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5pPr>
                      <a:lvl6pPr marL="2285365"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6pPr>
                      <a:lvl7pPr marL="274193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7pPr>
                      <a:lvl8pPr marL="319913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8pPr>
                      <a:lvl9pPr marL="365633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9pPr>
                    </a:lstStyle>
                    <a:p>
                      <a:pPr algn="l" fontAlgn="ctr"/>
                      <a:r>
                        <a:rPr lang="zh-CN" altLang="en-US" sz="1400" b="0"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为接收到的</a:t>
                      </a:r>
                      <a:r>
                        <a:rPr lang="en-US" altLang="zh-CN" sz="1400" b="0"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400" b="0"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报文封装外层</a:t>
                      </a:r>
                      <a:r>
                        <a:rPr lang="en-US" altLang="zh-CN" sz="1400" b="0"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IPv6</a:t>
                      </a:r>
                      <a:r>
                        <a:rPr lang="zh-CN" altLang="en-US" sz="1400" b="0"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报文头与</a:t>
                      </a:r>
                      <a:r>
                        <a:rPr lang="en-US" altLang="zh-CN" sz="1400" b="0"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SRH</a:t>
                      </a:r>
                      <a:r>
                        <a:rPr lang="zh-CN" altLang="en-US" sz="1400" b="0"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，并查表转发。</a:t>
                      </a:r>
                      <a:endParaRPr lang="zh-CN" altLang="en-US" sz="1400" b="0"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72000" marR="36000" marT="12700" marB="0" anchor="ctr">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r>
              <a:tr h="581825">
                <a:tc>
                  <a:txBody>
                    <a:bodyPr/>
                    <a:lstStyle>
                      <a:lvl1pPr marL="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1pPr>
                      <a:lvl2pPr marL="45720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2pPr>
                      <a:lvl3pPr marL="913765"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3pPr>
                      <a:lvl4pPr marL="1370965"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4pPr>
                      <a:lvl5pPr marL="1828165"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5pPr>
                      <a:lvl6pPr marL="2285365"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6pPr>
                      <a:lvl7pPr marL="274193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7pPr>
                      <a:lvl8pPr marL="319913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8pPr>
                      <a:lvl9pPr marL="365633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9pPr>
                    </a:lstStyle>
                    <a:p>
                      <a:pPr algn="ctr" rtl="0" fontAlgn="ctr"/>
                      <a:r>
                        <a:rPr lang="en-US" sz="1400" b="0" i="0" u="none" strike="noStrike" dirty="0" err="1">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H.Encaps.Red</a:t>
                      </a:r>
                      <a:endParaRPr lang="en-US" sz="1400" b="0"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72000" marR="36000" marT="12700" marB="0" anchor="ctr">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1pPr>
                      <a:lvl2pPr marL="45720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2pPr>
                      <a:lvl3pPr marL="913765"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3pPr>
                      <a:lvl4pPr marL="1370965"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4pPr>
                      <a:lvl5pPr marL="1828165"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5pPr>
                      <a:lvl6pPr marL="2285365"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6pPr>
                      <a:lvl7pPr marL="274193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7pPr>
                      <a:lvl8pPr marL="319913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8pPr>
                      <a:lvl9pPr marL="365633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9pPr>
                    </a:lstStyle>
                    <a:p>
                      <a:pPr algn="l" fontAlgn="ctr"/>
                      <a:r>
                        <a:rPr lang="zh-CN" altLang="en-US" sz="1400" b="0" i="0" u="none" strike="noStrike" kern="1200" dirty="0">
                          <a:solidFill>
                            <a:schemeClr val="tx1"/>
                          </a:solidFill>
                          <a:effectLst/>
                          <a:latin typeface="Huawei Sans" panose="020C0503030203020204" pitchFamily="34" charset="0"/>
                          <a:ea typeface="方正兰亭黑简体" panose="02000000000000000000" pitchFamily="2" charset="-122"/>
                          <a:cs typeface="宋体" panose="02010600030101010101" pitchFamily="2" charset="-122"/>
                          <a:sym typeface="Huawei Sans" panose="020C0503030203020204" pitchFamily="34" charset="0"/>
                        </a:rPr>
                        <a:t>为接收到的</a:t>
                      </a:r>
                      <a:r>
                        <a:rPr lang="en-US" altLang="zh-CN" sz="1400" b="0" i="0" u="none" strike="noStrike" kern="1200" dirty="0">
                          <a:solidFill>
                            <a:schemeClr val="tx1"/>
                          </a:solidFill>
                          <a:effectLst/>
                          <a:latin typeface="Huawei Sans" panose="020C0503030203020204" pitchFamily="34" charset="0"/>
                          <a:ea typeface="方正兰亭黑简体" panose="02000000000000000000" pitchFamily="2" charset="-122"/>
                          <a:cs typeface="宋体" panose="02010600030101010101" pitchFamily="2" charset="-122"/>
                          <a:sym typeface="Huawei Sans" panose="020C0503030203020204" pitchFamily="34" charset="0"/>
                        </a:rPr>
                        <a:t>IP</a:t>
                      </a:r>
                      <a:r>
                        <a:rPr lang="zh-CN" altLang="en-US" sz="1400" b="0" i="0" u="none" strike="noStrike" kern="1200" dirty="0">
                          <a:solidFill>
                            <a:schemeClr val="tx1"/>
                          </a:solidFill>
                          <a:effectLst/>
                          <a:latin typeface="Huawei Sans" panose="020C0503030203020204" pitchFamily="34" charset="0"/>
                          <a:ea typeface="方正兰亭黑简体" panose="02000000000000000000" pitchFamily="2" charset="-122"/>
                          <a:cs typeface="宋体" panose="02010600030101010101" pitchFamily="2" charset="-122"/>
                          <a:sym typeface="Huawei Sans" panose="020C0503030203020204" pitchFamily="34" charset="0"/>
                        </a:rPr>
                        <a:t>报文封装外层</a:t>
                      </a:r>
                      <a:r>
                        <a:rPr lang="en-US" altLang="zh-CN" sz="1400" b="0" i="0" u="none" strike="noStrike" kern="1200" dirty="0">
                          <a:solidFill>
                            <a:schemeClr val="tx1"/>
                          </a:solidFill>
                          <a:effectLst/>
                          <a:latin typeface="Huawei Sans" panose="020C0503030203020204" pitchFamily="34" charset="0"/>
                          <a:ea typeface="方正兰亭黑简体" panose="02000000000000000000" pitchFamily="2" charset="-122"/>
                          <a:cs typeface="宋体" panose="02010600030101010101" pitchFamily="2" charset="-122"/>
                          <a:sym typeface="Huawei Sans" panose="020C0503030203020204" pitchFamily="34" charset="0"/>
                        </a:rPr>
                        <a:t>IPv6</a:t>
                      </a:r>
                      <a:r>
                        <a:rPr lang="zh-CN" altLang="en-US" sz="1400" b="0" i="0" u="none" strike="noStrike" kern="1200" dirty="0">
                          <a:solidFill>
                            <a:schemeClr val="tx1"/>
                          </a:solidFill>
                          <a:effectLst/>
                          <a:latin typeface="Huawei Sans" panose="020C0503030203020204" pitchFamily="34" charset="0"/>
                          <a:ea typeface="方正兰亭黑简体" panose="02000000000000000000" pitchFamily="2" charset="-122"/>
                          <a:cs typeface="宋体" panose="02010600030101010101" pitchFamily="2" charset="-122"/>
                          <a:sym typeface="Huawei Sans" panose="020C0503030203020204" pitchFamily="34" charset="0"/>
                        </a:rPr>
                        <a:t>报文头与</a:t>
                      </a:r>
                      <a:r>
                        <a:rPr lang="en-US" altLang="zh-CN" sz="1400" b="0" i="0" u="none" strike="noStrike" kern="1200" dirty="0">
                          <a:solidFill>
                            <a:schemeClr val="tx1"/>
                          </a:solidFill>
                          <a:effectLst/>
                          <a:latin typeface="Huawei Sans" panose="020C0503030203020204" pitchFamily="34" charset="0"/>
                          <a:ea typeface="方正兰亭黑简体" panose="02000000000000000000" pitchFamily="2" charset="-122"/>
                          <a:cs typeface="宋体" panose="02010600030101010101" pitchFamily="2" charset="-122"/>
                          <a:sym typeface="Huawei Sans" panose="020C0503030203020204" pitchFamily="34" charset="0"/>
                        </a:rPr>
                        <a:t>Reduced SRH</a:t>
                      </a:r>
                      <a:r>
                        <a:rPr lang="zh-CN" altLang="en-US" sz="1400" b="0" i="0" u="none" strike="noStrike" kern="1200" dirty="0">
                          <a:solidFill>
                            <a:schemeClr val="tx1"/>
                          </a:solidFill>
                          <a:effectLst/>
                          <a:latin typeface="Huawei Sans" panose="020C0503030203020204" pitchFamily="34" charset="0"/>
                          <a:ea typeface="方正兰亭黑简体" panose="02000000000000000000" pitchFamily="2" charset="-122"/>
                          <a:cs typeface="宋体" panose="02010600030101010101" pitchFamily="2" charset="-122"/>
                          <a:sym typeface="Huawei Sans" panose="020C0503030203020204" pitchFamily="34" charset="0"/>
                        </a:rPr>
                        <a:t>，并查表转发。</a:t>
                      </a:r>
                      <a:endParaRPr lang="zh-CN" altLang="en-US" sz="1400" b="0" i="0" u="none" strike="noStrike" kern="1200" dirty="0">
                        <a:solidFill>
                          <a:schemeClr val="tx1"/>
                        </a:solidFill>
                        <a:effectLst/>
                        <a:latin typeface="Huawei Sans" panose="020C0503030203020204" pitchFamily="34" charset="0"/>
                        <a:ea typeface="方正兰亭黑简体" panose="02000000000000000000" pitchFamily="2" charset="-122"/>
                        <a:cs typeface="宋体" panose="02010600030101010101" pitchFamily="2" charset="-122"/>
                        <a:sym typeface="Huawei Sans" panose="020C0503030203020204" pitchFamily="34" charset="0"/>
                      </a:endParaRPr>
                    </a:p>
                  </a:txBody>
                  <a:tcPr marL="72000" marR="36000" marT="12700" marB="0" anchor="ctr">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r>
              <a:tr h="435422">
                <a:tc>
                  <a:txBody>
                    <a:bodyPr/>
                    <a:lstStyle>
                      <a:lvl1pPr marL="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1pPr>
                      <a:lvl2pPr marL="45720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2pPr>
                      <a:lvl3pPr marL="913765"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3pPr>
                      <a:lvl4pPr marL="1370965"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4pPr>
                      <a:lvl5pPr marL="1828165"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5pPr>
                      <a:lvl6pPr marL="2285365"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6pPr>
                      <a:lvl7pPr marL="274193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7pPr>
                      <a:lvl8pPr marL="319913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8pPr>
                      <a:lvl9pPr marL="365633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9pPr>
                    </a:lstStyle>
                    <a:p>
                      <a:pPr algn="ctr" rtl="0" fontAlgn="ctr"/>
                      <a:r>
                        <a:rPr lang="en-US" sz="1400" b="0"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H.Encaps.L2</a:t>
                      </a:r>
                      <a:endParaRPr lang="en-US" sz="1400" b="0"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72000" marR="36000" marT="12700" marB="0" anchor="ctr">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1pPr>
                      <a:lvl2pPr marL="45720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2pPr>
                      <a:lvl3pPr marL="913765"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3pPr>
                      <a:lvl4pPr marL="1370965"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4pPr>
                      <a:lvl5pPr marL="1828165"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5pPr>
                      <a:lvl6pPr marL="2285365"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6pPr>
                      <a:lvl7pPr marL="274193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7pPr>
                      <a:lvl8pPr marL="319913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8pPr>
                      <a:lvl9pPr marL="365633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9pPr>
                    </a:lstStyle>
                    <a:p>
                      <a:pPr marL="0" marR="0" lvl="0" indent="0" algn="l" defTabSz="913765" rtl="0" eaLnBrk="1" fontAlgn="ctr" latinLnBrk="0" hangingPunct="1">
                        <a:lnSpc>
                          <a:spcPct val="100000"/>
                        </a:lnSpc>
                        <a:spcBef>
                          <a:spcPts val="0"/>
                        </a:spcBef>
                        <a:spcAft>
                          <a:spcPts val="0"/>
                        </a:spcAft>
                        <a:buClrTx/>
                        <a:buSzTx/>
                        <a:buFontTx/>
                        <a:buNone/>
                        <a:defRPr/>
                      </a:pPr>
                      <a:r>
                        <a:rPr lang="zh-CN" altLang="en-US" sz="1400" b="0" i="0" u="none" strike="noStrike" kern="1200" dirty="0">
                          <a:solidFill>
                            <a:schemeClr val="tx1"/>
                          </a:solidFill>
                          <a:effectLst/>
                          <a:latin typeface="Huawei Sans" panose="020C0503030203020204" pitchFamily="34" charset="0"/>
                          <a:ea typeface="方正兰亭黑简体" panose="02000000000000000000" pitchFamily="2" charset="-122"/>
                          <a:cs typeface="宋体" panose="02010600030101010101" pitchFamily="2" charset="-122"/>
                          <a:sym typeface="Huawei Sans" panose="020C0503030203020204" pitchFamily="34" charset="0"/>
                        </a:rPr>
                        <a:t>为接收到的二层帧外封装</a:t>
                      </a:r>
                      <a:r>
                        <a:rPr lang="en-US" altLang="zh-CN" sz="1400" b="0" i="0" u="none" strike="noStrike" kern="1200" dirty="0">
                          <a:solidFill>
                            <a:schemeClr val="tx1"/>
                          </a:solidFill>
                          <a:effectLst/>
                          <a:latin typeface="Huawei Sans" panose="020C0503030203020204" pitchFamily="34" charset="0"/>
                          <a:ea typeface="方正兰亭黑简体" panose="02000000000000000000" pitchFamily="2" charset="-122"/>
                          <a:cs typeface="宋体" panose="02010600030101010101" pitchFamily="2" charset="-122"/>
                          <a:sym typeface="Huawei Sans" panose="020C0503030203020204" pitchFamily="34" charset="0"/>
                        </a:rPr>
                        <a:t>IPv6</a:t>
                      </a:r>
                      <a:r>
                        <a:rPr lang="zh-CN" altLang="en-US" sz="1400" b="0" i="0" u="none" strike="noStrike" kern="1200" dirty="0">
                          <a:solidFill>
                            <a:schemeClr val="tx1"/>
                          </a:solidFill>
                          <a:effectLst/>
                          <a:latin typeface="Huawei Sans" panose="020C0503030203020204" pitchFamily="34" charset="0"/>
                          <a:ea typeface="方正兰亭黑简体" panose="02000000000000000000" pitchFamily="2" charset="-122"/>
                          <a:cs typeface="宋体" panose="02010600030101010101" pitchFamily="2" charset="-122"/>
                          <a:sym typeface="Huawei Sans" panose="020C0503030203020204" pitchFamily="34" charset="0"/>
                        </a:rPr>
                        <a:t>报文头与</a:t>
                      </a:r>
                      <a:r>
                        <a:rPr lang="en-US" altLang="zh-CN" sz="1400" b="0" i="0" u="none" strike="noStrike" kern="1200" dirty="0">
                          <a:solidFill>
                            <a:schemeClr val="tx1"/>
                          </a:solidFill>
                          <a:effectLst/>
                          <a:latin typeface="Huawei Sans" panose="020C0503030203020204" pitchFamily="34" charset="0"/>
                          <a:ea typeface="方正兰亭黑简体" panose="02000000000000000000" pitchFamily="2" charset="-122"/>
                          <a:cs typeface="宋体" panose="02010600030101010101" pitchFamily="2" charset="-122"/>
                          <a:sym typeface="Huawei Sans" panose="020C0503030203020204" pitchFamily="34" charset="0"/>
                        </a:rPr>
                        <a:t>SRH</a:t>
                      </a:r>
                      <a:r>
                        <a:rPr lang="zh-CN" altLang="en-US" sz="1400" b="0" i="0" u="none" strike="noStrike" kern="1200" dirty="0">
                          <a:solidFill>
                            <a:schemeClr val="tx1"/>
                          </a:solidFill>
                          <a:effectLst/>
                          <a:latin typeface="Huawei Sans" panose="020C0503030203020204" pitchFamily="34" charset="0"/>
                          <a:ea typeface="方正兰亭黑简体" panose="02000000000000000000" pitchFamily="2" charset="-122"/>
                          <a:cs typeface="宋体" panose="02010600030101010101" pitchFamily="2" charset="-122"/>
                          <a:sym typeface="Huawei Sans" panose="020C0503030203020204" pitchFamily="34" charset="0"/>
                        </a:rPr>
                        <a:t>，并查表转发。</a:t>
                      </a:r>
                      <a:endParaRPr lang="zh-CN" altLang="en-US" sz="1400" b="0" i="0" u="none" strike="noStrike" kern="1200" dirty="0">
                        <a:solidFill>
                          <a:schemeClr val="tx1"/>
                        </a:solidFill>
                        <a:effectLst/>
                        <a:latin typeface="Huawei Sans" panose="020C0503030203020204" pitchFamily="34" charset="0"/>
                        <a:ea typeface="方正兰亭黑简体" panose="02000000000000000000" pitchFamily="2" charset="-122"/>
                        <a:cs typeface="宋体" panose="02010600030101010101" pitchFamily="2" charset="-122"/>
                        <a:sym typeface="Huawei Sans" panose="020C0503030203020204" pitchFamily="34" charset="0"/>
                      </a:endParaRPr>
                    </a:p>
                  </a:txBody>
                  <a:tcPr marL="72000" marR="36000" marT="12700" marB="0" anchor="ctr">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r>
              <a:tr h="472060">
                <a:tc>
                  <a:txBody>
                    <a:bodyPr/>
                    <a:lstStyle>
                      <a:lvl1pPr marL="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1pPr>
                      <a:lvl2pPr marL="45720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2pPr>
                      <a:lvl3pPr marL="913765"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3pPr>
                      <a:lvl4pPr marL="1370965"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4pPr>
                      <a:lvl5pPr marL="1828165"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5pPr>
                      <a:lvl6pPr marL="2285365"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6pPr>
                      <a:lvl7pPr marL="274193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7pPr>
                      <a:lvl8pPr marL="319913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8pPr>
                      <a:lvl9pPr marL="365633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9pPr>
                    </a:lstStyle>
                    <a:p>
                      <a:pPr algn="ctr" rtl="0" fontAlgn="ctr"/>
                      <a:r>
                        <a:rPr lang="en-US" sz="1400" b="0"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H.Encaps.L2.Red</a:t>
                      </a:r>
                      <a:endParaRPr lang="en-US" sz="1400" b="0"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72000" marR="36000" marT="12700" marB="0" anchor="ctr">
                    <a:lnL w="28575"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1pPr>
                      <a:lvl2pPr marL="45720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2pPr>
                      <a:lvl3pPr marL="913765"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3pPr>
                      <a:lvl4pPr marL="1370965"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4pPr>
                      <a:lvl5pPr marL="1828165"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5pPr>
                      <a:lvl6pPr marL="2285365"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6pPr>
                      <a:lvl7pPr marL="274193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7pPr>
                      <a:lvl8pPr marL="319913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8pPr>
                      <a:lvl9pPr marL="3656330" algn="l" defTabSz="913765" rtl="0" eaLnBrk="1" latinLnBrk="0" hangingPunct="1">
                        <a:defRPr sz="1800" kern="1200">
                          <a:solidFill>
                            <a:schemeClr val="tx1"/>
                          </a:solidFill>
                          <a:latin typeface="FrutigerNext LT Medium"/>
                          <a:ea typeface="微软雅黑" panose="020B0503020204020204" charset="-122"/>
                          <a:cs typeface="宋体" panose="02010600030101010101" pitchFamily="2" charset="-122"/>
                        </a:defRPr>
                      </a:lvl9pPr>
                    </a:lstStyle>
                    <a:p>
                      <a:pPr marL="0" marR="0" lvl="0" indent="0" algn="l" defTabSz="913765" rtl="0" eaLnBrk="1" fontAlgn="ctr" latinLnBrk="0" hangingPunct="1">
                        <a:lnSpc>
                          <a:spcPct val="100000"/>
                        </a:lnSpc>
                        <a:spcBef>
                          <a:spcPts val="0"/>
                        </a:spcBef>
                        <a:spcAft>
                          <a:spcPts val="0"/>
                        </a:spcAft>
                        <a:buClrTx/>
                        <a:buSzTx/>
                        <a:buFontTx/>
                        <a:buNone/>
                        <a:defRPr/>
                      </a:pPr>
                      <a:r>
                        <a:rPr lang="zh-CN" altLang="en-US" sz="1400" b="0" i="0" u="none" strike="noStrike" kern="1200" dirty="0">
                          <a:solidFill>
                            <a:schemeClr val="tx1"/>
                          </a:solidFill>
                          <a:effectLst/>
                          <a:latin typeface="Huawei Sans" panose="020C0503030203020204" pitchFamily="34" charset="0"/>
                          <a:ea typeface="方正兰亭黑简体" panose="02000000000000000000" pitchFamily="2" charset="-122"/>
                          <a:cs typeface="宋体" panose="02010600030101010101" pitchFamily="2" charset="-122"/>
                          <a:sym typeface="Huawei Sans" panose="020C0503030203020204" pitchFamily="34" charset="0"/>
                        </a:rPr>
                        <a:t>为接收到的二层帧外封装</a:t>
                      </a:r>
                      <a:r>
                        <a:rPr lang="en-US" altLang="zh-CN" sz="1400" b="0" i="0" u="none" strike="noStrike" kern="1200" dirty="0">
                          <a:solidFill>
                            <a:schemeClr val="tx1"/>
                          </a:solidFill>
                          <a:effectLst/>
                          <a:latin typeface="Huawei Sans" panose="020C0503030203020204" pitchFamily="34" charset="0"/>
                          <a:ea typeface="方正兰亭黑简体" panose="02000000000000000000" pitchFamily="2" charset="-122"/>
                          <a:cs typeface="宋体" panose="02010600030101010101" pitchFamily="2" charset="-122"/>
                          <a:sym typeface="Huawei Sans" panose="020C0503030203020204" pitchFamily="34" charset="0"/>
                        </a:rPr>
                        <a:t>IPv6</a:t>
                      </a:r>
                      <a:r>
                        <a:rPr lang="zh-CN" altLang="en-US" sz="1400" b="0" i="0" u="none" strike="noStrike" kern="1200" dirty="0">
                          <a:solidFill>
                            <a:schemeClr val="tx1"/>
                          </a:solidFill>
                          <a:effectLst/>
                          <a:latin typeface="Huawei Sans" panose="020C0503030203020204" pitchFamily="34" charset="0"/>
                          <a:ea typeface="方正兰亭黑简体" panose="02000000000000000000" pitchFamily="2" charset="-122"/>
                          <a:cs typeface="宋体" panose="02010600030101010101" pitchFamily="2" charset="-122"/>
                          <a:sym typeface="Huawei Sans" panose="020C0503030203020204" pitchFamily="34" charset="0"/>
                        </a:rPr>
                        <a:t>报文头与</a:t>
                      </a:r>
                      <a:r>
                        <a:rPr lang="en-US" altLang="zh-CN" sz="1400" b="0" i="0" u="none" strike="noStrike" kern="1200" dirty="0">
                          <a:solidFill>
                            <a:schemeClr val="tx1"/>
                          </a:solidFill>
                          <a:effectLst/>
                          <a:latin typeface="Huawei Sans" panose="020C0503030203020204" pitchFamily="34" charset="0"/>
                          <a:ea typeface="方正兰亭黑简体" panose="02000000000000000000" pitchFamily="2" charset="-122"/>
                          <a:cs typeface="宋体" panose="02010600030101010101" pitchFamily="2" charset="-122"/>
                          <a:sym typeface="Huawei Sans" panose="020C0503030203020204" pitchFamily="34" charset="0"/>
                        </a:rPr>
                        <a:t>Reduced SRH</a:t>
                      </a:r>
                      <a:r>
                        <a:rPr lang="zh-CN" altLang="en-US" sz="1400" b="0" i="0" u="none" strike="noStrike" kern="1200" dirty="0">
                          <a:solidFill>
                            <a:schemeClr val="tx1"/>
                          </a:solidFill>
                          <a:effectLst/>
                          <a:latin typeface="Huawei Sans" panose="020C0503030203020204" pitchFamily="34" charset="0"/>
                          <a:ea typeface="方正兰亭黑简体" panose="02000000000000000000" pitchFamily="2" charset="-122"/>
                          <a:cs typeface="宋体" panose="02010600030101010101" pitchFamily="2" charset="-122"/>
                          <a:sym typeface="Huawei Sans" panose="020C0503030203020204" pitchFamily="34" charset="0"/>
                        </a:rPr>
                        <a:t>，并查表转发。</a:t>
                      </a:r>
                      <a:endParaRPr lang="zh-CN" altLang="en-US" sz="1400" b="0" i="0" u="none" strike="noStrike" kern="1200" dirty="0">
                        <a:solidFill>
                          <a:schemeClr val="tx1"/>
                        </a:solidFill>
                        <a:effectLst/>
                        <a:latin typeface="Huawei Sans" panose="020C0503030203020204" pitchFamily="34" charset="0"/>
                        <a:ea typeface="方正兰亭黑简体" panose="02000000000000000000" pitchFamily="2" charset="-122"/>
                        <a:cs typeface="宋体" panose="02010600030101010101" pitchFamily="2" charset="-122"/>
                        <a:sym typeface="Huawei Sans" panose="020C0503030203020204" pitchFamily="34" charset="0"/>
                      </a:endParaRPr>
                    </a:p>
                  </a:txBody>
                  <a:tcPr marL="72000" marR="36000" marT="12700" marB="0" anchor="ctr">
                    <a:lnL w="1270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r>
            </a:tbl>
          </a:graphicData>
        </a:graphic>
      </p:graphicFrame>
      <p:graphicFrame>
        <p:nvGraphicFramePr>
          <p:cNvPr id="7" name="Table 6"/>
          <p:cNvGraphicFramePr>
            <a:graphicFrameLocks noGrp="1"/>
          </p:cNvGraphicFramePr>
          <p:nvPr/>
        </p:nvGraphicFramePr>
        <p:xfrm>
          <a:off x="10201282" y="2420913"/>
          <a:ext cx="1345061" cy="822960"/>
        </p:xfrm>
        <a:graphic>
          <a:graphicData uri="http://schemas.openxmlformats.org/drawingml/2006/table">
            <a:tbl>
              <a:tblPr firstRow="1" bandRow="1">
                <a:tableStyleId>{72833802-FEF1-4C79-8D5D-14CF1EAF98D9}</a:tableStyleId>
              </a:tblPr>
              <a:tblGrid>
                <a:gridCol w="1345061"/>
              </a:tblGrid>
              <a:tr h="0">
                <a:tc>
                  <a:txBody>
                    <a:bodyPr/>
                    <a:lstStyle/>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IPv6</a:t>
                      </a:r>
                      <a:r>
                        <a:rPr lang="en-US" altLang="zh-CN" sz="1200" b="0" baseline="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 Header</a:t>
                      </a:r>
                      <a:endPar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6C4D2"/>
                    </a:solidFill>
                  </a:tcPr>
                </a:tc>
              </a:tr>
              <a:tr h="0">
                <a:tc>
                  <a:txBody>
                    <a:bodyPr/>
                    <a:lstStyle/>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SRH</a:t>
                      </a:r>
                      <a:endParaRPr lang="zh-CN" altLang="en-US"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EEEC1"/>
                    </a:solidFill>
                  </a:tcPr>
                </a:tc>
              </a:tr>
              <a:tr h="0">
                <a:tc>
                  <a:txBody>
                    <a:bodyPr/>
                    <a:lstStyle/>
                    <a:p>
                      <a:pPr algn="ctr"/>
                      <a:r>
                        <a:rPr lang="en-US" altLang="zh-CN" sz="1200" dirty="0">
                          <a:solidFill>
                            <a:schemeClr val="bg1"/>
                          </a:solidFill>
                        </a:rPr>
                        <a:t>Payload</a:t>
                      </a:r>
                      <a:endParaRPr lang="zh-CN" altLang="en-US" sz="1200"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r>
            </a:tbl>
          </a:graphicData>
        </a:graphic>
      </p:graphicFrame>
      <p:graphicFrame>
        <p:nvGraphicFramePr>
          <p:cNvPr id="8" name="Table 7"/>
          <p:cNvGraphicFramePr>
            <a:graphicFrameLocks noGrp="1"/>
          </p:cNvGraphicFramePr>
          <p:nvPr/>
        </p:nvGraphicFramePr>
        <p:xfrm>
          <a:off x="7474420" y="2558073"/>
          <a:ext cx="1345061" cy="548640"/>
        </p:xfrm>
        <a:graphic>
          <a:graphicData uri="http://schemas.openxmlformats.org/drawingml/2006/table">
            <a:tbl>
              <a:tblPr firstRow="1" bandRow="1">
                <a:tableStyleId>{72833802-FEF1-4C79-8D5D-14CF1EAF98D9}</a:tableStyleId>
              </a:tblPr>
              <a:tblGrid>
                <a:gridCol w="1345061"/>
              </a:tblGrid>
              <a:tr h="267618">
                <a:tc>
                  <a:txBody>
                    <a:bodyPr/>
                    <a:lstStyle/>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IPv6 Header</a:t>
                      </a:r>
                      <a:endPar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6C4D2"/>
                    </a:solidFill>
                  </a:tcPr>
                </a:tc>
              </a:tr>
              <a:tr h="197964">
                <a:tc>
                  <a:txBody>
                    <a:bodyPr/>
                    <a:lstStyle/>
                    <a:p>
                      <a:pPr algn="ctr"/>
                      <a:r>
                        <a:rPr lang="en-US" altLang="zh-CN" sz="1200" dirty="0">
                          <a:solidFill>
                            <a:schemeClr val="bg1"/>
                          </a:solidFill>
                        </a:rPr>
                        <a:t>Payload</a:t>
                      </a:r>
                      <a:endParaRPr lang="zh-CN" altLang="en-US" sz="1200"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r>
            </a:tbl>
          </a:graphicData>
        </a:graphic>
      </p:graphicFrame>
      <p:cxnSp>
        <p:nvCxnSpPr>
          <p:cNvPr id="4" name="Straight Arrow Connector 3"/>
          <p:cNvCxnSpPr/>
          <p:nvPr/>
        </p:nvCxnSpPr>
        <p:spPr>
          <a:xfrm>
            <a:off x="8940800" y="2832393"/>
            <a:ext cx="1117600" cy="0"/>
          </a:xfrm>
          <a:prstGeom prst="straightConnector1">
            <a:avLst/>
          </a:prstGeom>
          <a:ln w="28575">
            <a:solidFill>
              <a:srgbClr val="56C4D2"/>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9122734" y="2493839"/>
            <a:ext cx="753732" cy="338554"/>
          </a:xfrm>
          <a:prstGeom prst="rect">
            <a:avLst/>
          </a:prstGeom>
          <a:noFill/>
        </p:spPr>
        <p:txBody>
          <a:bodyPr wrap="none" rtlCol="0">
            <a:spAutoFit/>
          </a:bodyPr>
          <a:lstStyle/>
          <a:p>
            <a:r>
              <a:rPr lang="en-US" altLang="zh-CN" sz="1600" b="1" dirty="0">
                <a:solidFill>
                  <a:srgbClr val="C7000B"/>
                </a:solidFill>
              </a:rPr>
              <a:t>Insert</a:t>
            </a:r>
            <a:endParaRPr lang="zh-CN" altLang="en-US" sz="1600" b="1" dirty="0">
              <a:solidFill>
                <a:srgbClr val="C7000B"/>
              </a:solidFill>
            </a:endParaRPr>
          </a:p>
        </p:txBody>
      </p:sp>
      <p:graphicFrame>
        <p:nvGraphicFramePr>
          <p:cNvPr id="11" name="Table 10"/>
          <p:cNvGraphicFramePr>
            <a:graphicFrameLocks noGrp="1"/>
          </p:cNvGraphicFramePr>
          <p:nvPr/>
        </p:nvGraphicFramePr>
        <p:xfrm>
          <a:off x="10174305" y="3968493"/>
          <a:ext cx="1345061" cy="1097280"/>
        </p:xfrm>
        <a:graphic>
          <a:graphicData uri="http://schemas.openxmlformats.org/drawingml/2006/table">
            <a:tbl>
              <a:tblPr firstRow="1" bandRow="1">
                <a:tableStyleId>{72833802-FEF1-4C79-8D5D-14CF1EAF98D9}</a:tableStyleId>
              </a:tblPr>
              <a:tblGrid>
                <a:gridCol w="1345061"/>
              </a:tblGrid>
              <a:tr h="0">
                <a:tc>
                  <a:txBody>
                    <a:bodyPr/>
                    <a:lstStyle/>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IPv6</a:t>
                      </a:r>
                      <a:r>
                        <a:rPr lang="en-US" altLang="zh-CN" sz="1200" b="0" baseline="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 Header</a:t>
                      </a:r>
                      <a:endPar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6C4D2"/>
                    </a:solidFill>
                  </a:tcPr>
                </a:tc>
              </a:tr>
              <a:tr h="0">
                <a:tc>
                  <a:txBody>
                    <a:bodyPr/>
                    <a:lstStyle/>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SRH</a:t>
                      </a:r>
                      <a:endParaRPr lang="zh-CN" altLang="en-US"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EEEC1"/>
                    </a:solidFill>
                  </a:tcPr>
                </a:tc>
              </a:tr>
              <a:tr h="0">
                <a:tc>
                  <a:txBody>
                    <a:bodyPr/>
                    <a:lstStyle/>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IPv6</a:t>
                      </a:r>
                      <a:r>
                        <a:rPr lang="en-US" altLang="zh-CN" sz="1200" b="0" baseline="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 Header</a:t>
                      </a:r>
                      <a:endPar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6C4D2"/>
                    </a:solidFill>
                  </a:tcPr>
                </a:tc>
              </a:tr>
              <a:tr h="0">
                <a:tc>
                  <a:txBody>
                    <a:bodyPr/>
                    <a:lstStyle/>
                    <a:p>
                      <a:pPr algn="ctr"/>
                      <a:r>
                        <a:rPr lang="en-US" altLang="zh-CN" sz="1200" dirty="0">
                          <a:solidFill>
                            <a:schemeClr val="bg1"/>
                          </a:solidFill>
                        </a:rPr>
                        <a:t>Payload</a:t>
                      </a:r>
                      <a:endParaRPr lang="zh-CN" altLang="en-US" sz="1200"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r>
            </a:tbl>
          </a:graphicData>
        </a:graphic>
      </p:graphicFrame>
      <p:graphicFrame>
        <p:nvGraphicFramePr>
          <p:cNvPr id="12" name="Table 11"/>
          <p:cNvGraphicFramePr>
            <a:graphicFrameLocks noGrp="1"/>
          </p:cNvGraphicFramePr>
          <p:nvPr/>
        </p:nvGraphicFramePr>
        <p:xfrm>
          <a:off x="7447443" y="4105653"/>
          <a:ext cx="1345061" cy="548640"/>
        </p:xfrm>
        <a:graphic>
          <a:graphicData uri="http://schemas.openxmlformats.org/drawingml/2006/table">
            <a:tbl>
              <a:tblPr firstRow="1" bandRow="1">
                <a:tableStyleId>{72833802-FEF1-4C79-8D5D-14CF1EAF98D9}</a:tableStyleId>
              </a:tblPr>
              <a:tblGrid>
                <a:gridCol w="1345061"/>
              </a:tblGrid>
              <a:tr h="267618">
                <a:tc>
                  <a:txBody>
                    <a:bodyPr/>
                    <a:lstStyle/>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IPv6 Header</a:t>
                      </a:r>
                      <a:endPar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6C4D2"/>
                    </a:solidFill>
                  </a:tcPr>
                </a:tc>
              </a:tr>
              <a:tr h="197964">
                <a:tc>
                  <a:txBody>
                    <a:bodyPr/>
                    <a:lstStyle/>
                    <a:p>
                      <a:pPr algn="ctr"/>
                      <a:r>
                        <a:rPr lang="en-US" altLang="zh-CN" sz="1200" dirty="0">
                          <a:solidFill>
                            <a:schemeClr val="bg1"/>
                          </a:solidFill>
                        </a:rPr>
                        <a:t>Payload</a:t>
                      </a:r>
                      <a:endParaRPr lang="zh-CN" altLang="en-US" sz="1200"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r>
            </a:tbl>
          </a:graphicData>
        </a:graphic>
      </p:graphicFrame>
      <p:cxnSp>
        <p:nvCxnSpPr>
          <p:cNvPr id="13" name="Straight Arrow Connector 12"/>
          <p:cNvCxnSpPr/>
          <p:nvPr/>
        </p:nvCxnSpPr>
        <p:spPr>
          <a:xfrm>
            <a:off x="8913823" y="4379973"/>
            <a:ext cx="1117600" cy="0"/>
          </a:xfrm>
          <a:prstGeom prst="straightConnector1">
            <a:avLst/>
          </a:prstGeom>
          <a:ln w="28575">
            <a:solidFill>
              <a:srgbClr val="56C4D2"/>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9095757" y="4041419"/>
            <a:ext cx="859531" cy="338554"/>
          </a:xfrm>
          <a:prstGeom prst="rect">
            <a:avLst/>
          </a:prstGeom>
          <a:noFill/>
        </p:spPr>
        <p:txBody>
          <a:bodyPr wrap="none" rtlCol="0">
            <a:spAutoFit/>
          </a:bodyPr>
          <a:lstStyle/>
          <a:p>
            <a:r>
              <a:rPr lang="en-US" altLang="zh-CN" sz="1600" b="1" dirty="0" err="1">
                <a:solidFill>
                  <a:srgbClr val="C7000B"/>
                </a:solidFill>
              </a:rPr>
              <a:t>Encaps</a:t>
            </a:r>
            <a:endParaRPr lang="zh-CN" altLang="en-US" sz="1600" b="1" dirty="0">
              <a:solidFill>
                <a:srgbClr val="C7000B"/>
              </a:solidFill>
            </a:endParaRPr>
          </a:p>
        </p:txBody>
      </p:sp>
      <p:sp>
        <p:nvSpPr>
          <p:cNvPr id="15" name="五边形 2"/>
          <p:cNvSpPr/>
          <p:nvPr/>
        </p:nvSpPr>
        <p:spPr bwMode="gray">
          <a:xfrm>
            <a:off x="8310982" y="110463"/>
            <a:ext cx="119596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SRv6</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SRH</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介绍</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 name="燕尾形 3"/>
          <p:cNvSpPr/>
          <p:nvPr/>
        </p:nvSpPr>
        <p:spPr bwMode="gray">
          <a:xfrm>
            <a:off x="9430382" y="110463"/>
            <a:ext cx="119596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SRv6</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节点介绍</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 name="燕尾形 3"/>
          <p:cNvSpPr/>
          <p:nvPr/>
        </p:nvSpPr>
        <p:spPr bwMode="gray">
          <a:xfrm>
            <a:off x="10553128" y="105534"/>
            <a:ext cx="119596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SRv6</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转发原理</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r>
              <a:rPr lang="zh-CN" altLang="en-US">
                <a:sym typeface="Huawei Sans" panose="020C0503030203020204" pitchFamily="34" charset="0"/>
              </a:rPr>
              <a:t>中转节点</a:t>
            </a:r>
            <a:endParaRPr lang="zh-CN" altLang="en-US">
              <a:sym typeface="Huawei Sans" panose="020C0503030203020204" pitchFamily="34" charset="0"/>
            </a:endParaRPr>
          </a:p>
        </p:txBody>
      </p:sp>
      <p:sp>
        <p:nvSpPr>
          <p:cNvPr id="4" name="文本占位符 3"/>
          <p:cNvSpPr>
            <a:spLocks noGrp="1"/>
          </p:cNvSpPr>
          <p:nvPr>
            <p:ph type="body" sz="quarter" idx="10"/>
          </p:nvPr>
        </p:nvSpPr>
        <p:spPr bwMode="gray"/>
        <p:txBody>
          <a:bodyPr/>
          <a:lstStyle/>
          <a:p>
            <a:r>
              <a:rPr lang="zh-CN" altLang="en-US" sz="1600" dirty="0">
                <a:sym typeface="Huawei Sans" panose="020C0503030203020204" pitchFamily="34" charset="0"/>
              </a:rPr>
              <a:t>中转节点是在</a:t>
            </a:r>
            <a:r>
              <a:rPr lang="en-US" altLang="zh-CN" sz="1600" dirty="0">
                <a:sym typeface="Huawei Sans" panose="020C0503030203020204" pitchFamily="34" charset="0"/>
              </a:rPr>
              <a:t>SRv6</a:t>
            </a:r>
            <a:r>
              <a:rPr lang="zh-CN" altLang="en-US" sz="1600" dirty="0">
                <a:sym typeface="Huawei Sans" panose="020C0503030203020204" pitchFamily="34" charset="0"/>
              </a:rPr>
              <a:t>报文转发路径上不参与</a:t>
            </a:r>
            <a:r>
              <a:rPr lang="en-US" altLang="zh-CN" sz="1600" dirty="0">
                <a:sym typeface="Huawei Sans" panose="020C0503030203020204" pitchFamily="34" charset="0"/>
              </a:rPr>
              <a:t>SRv6</a:t>
            </a:r>
            <a:r>
              <a:rPr lang="zh-CN" altLang="en-US" sz="1600" dirty="0">
                <a:sym typeface="Huawei Sans" panose="020C0503030203020204" pitchFamily="34" charset="0"/>
              </a:rPr>
              <a:t>处理的</a:t>
            </a:r>
            <a:r>
              <a:rPr lang="en-US" altLang="zh-CN" sz="1600" dirty="0">
                <a:sym typeface="Huawei Sans" panose="020C0503030203020204" pitchFamily="34" charset="0"/>
              </a:rPr>
              <a:t>IPv6</a:t>
            </a:r>
            <a:r>
              <a:rPr lang="zh-CN" altLang="en-US" sz="1600" dirty="0">
                <a:sym typeface="Huawei Sans" panose="020C0503030203020204" pitchFamily="34" charset="0"/>
              </a:rPr>
              <a:t>节点，中转节点只执行普通的</a:t>
            </a:r>
            <a:r>
              <a:rPr lang="en-US" altLang="zh-CN" sz="1600" dirty="0">
                <a:sym typeface="Huawei Sans" panose="020C0503030203020204" pitchFamily="34" charset="0"/>
              </a:rPr>
              <a:t>IPv6</a:t>
            </a:r>
            <a:r>
              <a:rPr lang="zh-CN" altLang="en-US" sz="1600" dirty="0">
                <a:sym typeface="Huawei Sans" panose="020C0503030203020204" pitchFamily="34" charset="0"/>
              </a:rPr>
              <a:t>报文转发。</a:t>
            </a:r>
            <a:endParaRPr lang="en-US" altLang="zh-CN" sz="1600" dirty="0">
              <a:sym typeface="Huawei Sans" panose="020C0503030203020204" pitchFamily="34" charset="0"/>
            </a:endParaRPr>
          </a:p>
          <a:p>
            <a:r>
              <a:rPr lang="zh-CN" altLang="en-US" sz="1600" dirty="0">
                <a:sym typeface="Huawei Sans" panose="020C0503030203020204" pitchFamily="34" charset="0"/>
              </a:rPr>
              <a:t>当节点收到</a:t>
            </a:r>
            <a:r>
              <a:rPr lang="en-US" altLang="zh-CN" sz="1600" dirty="0">
                <a:sym typeface="Huawei Sans" panose="020C0503030203020204" pitchFamily="34" charset="0"/>
              </a:rPr>
              <a:t>SRv6</a:t>
            </a:r>
            <a:r>
              <a:rPr lang="zh-CN" altLang="en-US" sz="1600" dirty="0">
                <a:sym typeface="Huawei Sans" panose="020C0503030203020204" pitchFamily="34" charset="0"/>
              </a:rPr>
              <a:t>报文后解析报文的</a:t>
            </a:r>
            <a:r>
              <a:rPr lang="en-US" altLang="zh-CN" sz="1600" dirty="0">
                <a:sym typeface="Huawei Sans" panose="020C0503030203020204" pitchFamily="34" charset="0"/>
              </a:rPr>
              <a:t>IPv6</a:t>
            </a:r>
            <a:r>
              <a:rPr lang="zh-CN" altLang="en-US" sz="1600" dirty="0">
                <a:sym typeface="Huawei Sans" panose="020C0503030203020204" pitchFamily="34" charset="0"/>
              </a:rPr>
              <a:t>目的地址字段。如果</a:t>
            </a:r>
            <a:r>
              <a:rPr lang="en-US" altLang="zh-CN" sz="1600" dirty="0">
                <a:sym typeface="Huawei Sans" panose="020C0503030203020204" pitchFamily="34" charset="0"/>
              </a:rPr>
              <a:t>IPv6</a:t>
            </a:r>
            <a:r>
              <a:rPr lang="zh-CN" altLang="en-US" sz="1600" dirty="0">
                <a:sym typeface="Huawei Sans" panose="020C0503030203020204" pitchFamily="34" charset="0"/>
              </a:rPr>
              <a:t>目的地址不是本地配置的</a:t>
            </a:r>
            <a:r>
              <a:rPr lang="en-US" altLang="zh-CN" sz="1600" dirty="0">
                <a:sym typeface="Huawei Sans" panose="020C0503030203020204" pitchFamily="34" charset="0"/>
              </a:rPr>
              <a:t>SRv6 SID</a:t>
            </a:r>
            <a:r>
              <a:rPr lang="zh-CN" altLang="en-US" sz="1600" dirty="0">
                <a:sym typeface="Huawei Sans" panose="020C0503030203020204" pitchFamily="34" charset="0"/>
              </a:rPr>
              <a:t>也不是本地接口地址，节点则将</a:t>
            </a:r>
            <a:r>
              <a:rPr lang="en-US" altLang="zh-CN" sz="1600" dirty="0">
                <a:sym typeface="Huawei Sans" panose="020C0503030203020204" pitchFamily="34" charset="0"/>
              </a:rPr>
              <a:t>SRv6</a:t>
            </a:r>
            <a:r>
              <a:rPr lang="zh-CN" altLang="en-US" sz="1600" dirty="0">
                <a:sym typeface="Huawei Sans" panose="020C0503030203020204" pitchFamily="34" charset="0"/>
              </a:rPr>
              <a:t>报文当做普通</a:t>
            </a:r>
            <a:r>
              <a:rPr lang="en-US" altLang="zh-CN" sz="1600" dirty="0">
                <a:sym typeface="Huawei Sans" panose="020C0503030203020204" pitchFamily="34" charset="0"/>
              </a:rPr>
              <a:t>IPv6</a:t>
            </a:r>
            <a:r>
              <a:rPr lang="zh-CN" altLang="en-US" sz="1600" dirty="0">
                <a:sym typeface="Huawei Sans" panose="020C0503030203020204" pitchFamily="34" charset="0"/>
              </a:rPr>
              <a:t>报文查询路由表执行转发，不处理</a:t>
            </a:r>
            <a:r>
              <a:rPr lang="en-US" altLang="zh-CN" sz="1600" dirty="0">
                <a:sym typeface="Huawei Sans" panose="020C0503030203020204" pitchFamily="34" charset="0"/>
              </a:rPr>
              <a:t>SRH</a:t>
            </a:r>
            <a:r>
              <a:rPr lang="zh-CN" altLang="en-US" sz="1600" dirty="0">
                <a:sym typeface="Huawei Sans" panose="020C0503030203020204" pitchFamily="34" charset="0"/>
              </a:rPr>
              <a:t>。</a:t>
            </a:r>
            <a:endParaRPr lang="en-US" altLang="zh-CN" sz="1600" dirty="0">
              <a:sym typeface="Huawei Sans" panose="020C0503030203020204" pitchFamily="34" charset="0"/>
            </a:endParaRPr>
          </a:p>
          <a:p>
            <a:r>
              <a:rPr lang="zh-CN" altLang="en-US" sz="1600" dirty="0">
                <a:sym typeface="Huawei Sans" panose="020C0503030203020204" pitchFamily="34" charset="0"/>
              </a:rPr>
              <a:t>中转节点可以是普通的</a:t>
            </a:r>
            <a:r>
              <a:rPr lang="en-US" altLang="zh-CN" sz="1600" dirty="0">
                <a:sym typeface="Huawei Sans" panose="020C0503030203020204" pitchFamily="34" charset="0"/>
              </a:rPr>
              <a:t>IPv6</a:t>
            </a:r>
            <a:r>
              <a:rPr lang="zh-CN" altLang="en-US" sz="1600" dirty="0">
                <a:sym typeface="Huawei Sans" panose="020C0503030203020204" pitchFamily="34" charset="0"/>
              </a:rPr>
              <a:t>节点，也可以是支持</a:t>
            </a:r>
            <a:r>
              <a:rPr lang="en-US" altLang="zh-CN" sz="1600" dirty="0">
                <a:sym typeface="Huawei Sans" panose="020C0503030203020204" pitchFamily="34" charset="0"/>
              </a:rPr>
              <a:t>SRv6</a:t>
            </a:r>
            <a:r>
              <a:rPr lang="zh-CN" altLang="en-US" sz="1600" dirty="0">
                <a:sym typeface="Huawei Sans" panose="020C0503030203020204" pitchFamily="34" charset="0"/>
              </a:rPr>
              <a:t>的节点。</a:t>
            </a:r>
            <a:endParaRPr lang="zh-CN" altLang="en-US" sz="1600" dirty="0">
              <a:sym typeface="Huawei Sans" panose="020C0503030203020204" pitchFamily="34" charset="0"/>
            </a:endParaRPr>
          </a:p>
        </p:txBody>
      </p:sp>
      <p:graphicFrame>
        <p:nvGraphicFramePr>
          <p:cNvPr id="31" name="表格 4"/>
          <p:cNvGraphicFramePr>
            <a:graphicFrameLocks noGrp="1"/>
          </p:cNvGraphicFramePr>
          <p:nvPr/>
        </p:nvGraphicFramePr>
        <p:xfrm>
          <a:off x="5154241" y="4349604"/>
          <a:ext cx="2562811" cy="1150393"/>
        </p:xfrm>
        <a:graphic>
          <a:graphicData uri="http://schemas.openxmlformats.org/drawingml/2006/table">
            <a:tbl>
              <a:tblPr firstRow="1" bandRow="1">
                <a:tableStyleId>{72833802-FEF1-4C79-8D5D-14CF1EAF98D9}</a:tableStyleId>
              </a:tblPr>
              <a:tblGrid>
                <a:gridCol w="982126"/>
                <a:gridCol w="766916"/>
                <a:gridCol w="813769"/>
              </a:tblGrid>
              <a:tr h="327433">
                <a:tc gridSpan="3">
                  <a:txBody>
                    <a:bodyPr/>
                    <a:lstStyle/>
                    <a:p>
                      <a:pPr algn="ctr"/>
                      <a:r>
                        <a:rPr lang="en-US" altLang="zh-CN" sz="1200" dirty="0"/>
                        <a:t>IPv6 Header</a:t>
                      </a:r>
                      <a:endParaRPr lang="zh-CN" altLang="en-US" sz="12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6C4D2"/>
                    </a:solidFill>
                  </a:tcPr>
                </a:tc>
                <a:tc hMerge="1">
                  <a:tcPr/>
                </a:tc>
                <a:tc hMerge="1">
                  <a:tcPr/>
                </a:tc>
              </a:tr>
              <a:tr h="228600">
                <a:tc gridSpan="3">
                  <a:txBody>
                    <a:bodyPr/>
                    <a:lstStyle/>
                    <a:p>
                      <a:pPr algn="ctr"/>
                      <a:r>
                        <a:rPr lang="en-US" altLang="zh-CN" sz="1200" b="1" dirty="0">
                          <a:solidFill>
                            <a:schemeClr val="tx1"/>
                          </a:solidFill>
                        </a:rPr>
                        <a:t>SRH(SL = 2)</a:t>
                      </a:r>
                      <a:endParaRPr lang="en-US" altLang="zh-CN" sz="1200" b="1"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EEEC1"/>
                    </a:solidFill>
                  </a:tcPr>
                </a:tc>
                <a:tc hMerge="1">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66"/>
                    </a:solidFill>
                  </a:tcPr>
                </a:tc>
                <a:tc hMerge="1">
                  <a:tcPr/>
                </a:tc>
              </a:tr>
              <a:tr h="228600">
                <a:tc>
                  <a:txBody>
                    <a:bodyPr/>
                    <a:lstStyle/>
                    <a:p>
                      <a:pPr marL="0" marR="0" lvl="0" indent="0" algn="ctr" defTabSz="913765" rtl="0" eaLnBrk="1" fontAlgn="auto" latinLnBrk="0" hangingPunct="1">
                        <a:lnSpc>
                          <a:spcPct val="100000"/>
                        </a:lnSpc>
                        <a:spcBef>
                          <a:spcPts val="0"/>
                        </a:spcBef>
                        <a:spcAft>
                          <a:spcPts val="0"/>
                        </a:spcAft>
                        <a:buClrTx/>
                        <a:buSzTx/>
                        <a:buFontTx/>
                        <a:buNone/>
                        <a:defRPr/>
                      </a:pPr>
                      <a:r>
                        <a:rPr lang="en-US" altLang="zh-CN" sz="1200" b="0" dirty="0">
                          <a:solidFill>
                            <a:schemeClr val="tx1"/>
                          </a:solidFill>
                        </a:rPr>
                        <a:t>FC04::400</a:t>
                      </a:r>
                      <a:endParaRPr lang="zh-CN" altLang="en-US" sz="1200" b="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EEEC1"/>
                    </a:solidFill>
                  </a:tcPr>
                </a:tc>
                <a:tc>
                  <a:txBody>
                    <a:bodyPr/>
                    <a:lstStyle/>
                    <a:p>
                      <a:pPr algn="ctr"/>
                      <a:r>
                        <a:rPr lang="en-US" altLang="zh-CN" sz="1200" b="0" dirty="0">
                          <a:solidFill>
                            <a:schemeClr val="tx1"/>
                          </a:solidFill>
                        </a:rPr>
                        <a:t>FC04::4</a:t>
                      </a:r>
                      <a:endParaRPr lang="zh-CN" altLang="en-US" sz="1200" b="1"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EEEC1"/>
                    </a:solidFill>
                  </a:tcPr>
                </a:tc>
                <a:tc>
                  <a:txBody>
                    <a:bodyPr/>
                    <a:lstStyle/>
                    <a:p>
                      <a:pPr algn="ctr"/>
                      <a:r>
                        <a:rPr lang="en-US" altLang="zh-CN" sz="1200" b="1" dirty="0">
                          <a:solidFill>
                            <a:srgbClr val="C7000B"/>
                          </a:solidFill>
                        </a:rPr>
                        <a:t>FC03::3</a:t>
                      </a:r>
                      <a:endParaRPr lang="zh-CN" altLang="en-US" sz="1200" b="1" dirty="0">
                        <a:solidFill>
                          <a:srgbClr val="C7000B"/>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EEEC1"/>
                    </a:solidFill>
                  </a:tcPr>
                </a:tc>
              </a:tr>
              <a:tr h="253864">
                <a:tc gridSpan="3">
                  <a:txBody>
                    <a:bodyPr/>
                    <a:lstStyle/>
                    <a:p>
                      <a:pPr algn="ctr"/>
                      <a:r>
                        <a:rPr lang="en-US" altLang="zh-CN" sz="1200" dirty="0">
                          <a:solidFill>
                            <a:schemeClr val="bg1"/>
                          </a:solidFill>
                        </a:rPr>
                        <a:t>Payload</a:t>
                      </a:r>
                      <a:endParaRPr lang="zh-CN" altLang="en-US" sz="12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hMerge="1">
                  <a:tcPr/>
                </a:tc>
                <a:tc hMerge="1">
                  <a:tcPr/>
                </a:tc>
              </a:tr>
            </a:tbl>
          </a:graphicData>
        </a:graphic>
      </p:graphicFrame>
      <p:cxnSp>
        <p:nvCxnSpPr>
          <p:cNvPr id="32" name="直接连接符 27"/>
          <p:cNvCxnSpPr>
            <a:stCxn id="49" idx="1"/>
          </p:cNvCxnSpPr>
          <p:nvPr/>
        </p:nvCxnSpPr>
        <p:spPr bwMode="gray">
          <a:xfrm flipH="1" flipV="1">
            <a:off x="1249423" y="3745622"/>
            <a:ext cx="9921770" cy="1049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3" name="矩形 28"/>
          <p:cNvSpPr/>
          <p:nvPr/>
        </p:nvSpPr>
        <p:spPr bwMode="gray">
          <a:xfrm>
            <a:off x="2684783" y="3973604"/>
            <a:ext cx="413896"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R1</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圆角矩形 59"/>
          <p:cNvSpPr/>
          <p:nvPr/>
        </p:nvSpPr>
        <p:spPr bwMode="gray">
          <a:xfrm>
            <a:off x="2409322" y="3029372"/>
            <a:ext cx="917445" cy="221690"/>
          </a:xfrm>
          <a:prstGeom prst="roundRect">
            <a:avLst>
              <a:gd name="adj" fmla="val 13019"/>
            </a:avLst>
          </a:prstGeom>
          <a:solidFill>
            <a:srgbClr val="D3394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FC01:: /96</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35" name="图片 30"/>
          <p:cNvPicPr/>
          <p:nvPr/>
        </p:nvPicPr>
        <p:blipFill>
          <a:blip r:embed="rId1" cstate="print">
            <a:extLst>
              <a:ext uri="{28A0092B-C50C-407E-A947-70E740481C1C}">
                <a14:useLocalDpi xmlns:a14="http://schemas.microsoft.com/office/drawing/2010/main" val="0"/>
              </a:ext>
            </a:extLst>
          </a:blip>
          <a:stretch>
            <a:fillRect/>
          </a:stretch>
        </p:blipFill>
        <p:spPr bwMode="gray">
          <a:xfrm>
            <a:off x="2622953" y="3534720"/>
            <a:ext cx="540000" cy="442800"/>
          </a:xfrm>
          <a:prstGeom prst="rect">
            <a:avLst/>
          </a:prstGeom>
        </p:spPr>
      </p:pic>
      <p:sp>
        <p:nvSpPr>
          <p:cNvPr id="36" name="文本框 31"/>
          <p:cNvSpPr txBox="1"/>
          <p:nvPr/>
        </p:nvSpPr>
        <p:spPr bwMode="gray">
          <a:xfrm>
            <a:off x="2252133" y="2774037"/>
            <a:ext cx="1229824" cy="307777"/>
          </a:xfrm>
          <a:prstGeom prst="rect">
            <a:avLst/>
          </a:prstGeom>
          <a:noFill/>
        </p:spPr>
        <p:txBody>
          <a:bodyPr wrap="none" rtlCol="0">
            <a:spAutoFit/>
          </a:bodyPr>
          <a:lstStyle/>
          <a:p>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Source Node</a:t>
            </a:r>
            <a:endPar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37" name="图片 32"/>
          <p:cNvPicPr/>
          <p:nvPr/>
        </p:nvPicPr>
        <p:blipFill>
          <a:blip r:embed="rId1" cstate="print">
            <a:extLst>
              <a:ext uri="{28A0092B-C50C-407E-A947-70E740481C1C}">
                <a14:useLocalDpi xmlns:a14="http://schemas.microsoft.com/office/drawing/2010/main" val="0"/>
              </a:ext>
            </a:extLst>
          </a:blip>
          <a:stretch>
            <a:fillRect/>
          </a:stretch>
        </p:blipFill>
        <p:spPr bwMode="gray">
          <a:xfrm>
            <a:off x="737825" y="3534720"/>
            <a:ext cx="540000" cy="442800"/>
          </a:xfrm>
          <a:prstGeom prst="rect">
            <a:avLst/>
          </a:prstGeom>
        </p:spPr>
      </p:pic>
      <p:sp>
        <p:nvSpPr>
          <p:cNvPr id="38" name="矩形 33"/>
          <p:cNvSpPr/>
          <p:nvPr/>
        </p:nvSpPr>
        <p:spPr bwMode="gray">
          <a:xfrm>
            <a:off x="762249" y="3973604"/>
            <a:ext cx="502062"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CE1</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矩形 34"/>
          <p:cNvSpPr/>
          <p:nvPr/>
        </p:nvSpPr>
        <p:spPr bwMode="gray">
          <a:xfrm>
            <a:off x="4846878" y="3973604"/>
            <a:ext cx="413896"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R2</a:t>
            </a:r>
            <a:endParaRPr lang="zh-CN" altLang="en-US" sz="1400" b="1">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40" name="图片 35"/>
          <p:cNvPicPr/>
          <p:nvPr/>
        </p:nvPicPr>
        <p:blipFill>
          <a:blip r:embed="rId1" cstate="print">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4775637" y="3534720"/>
            <a:ext cx="540000" cy="442800"/>
          </a:xfrm>
          <a:prstGeom prst="rect">
            <a:avLst/>
          </a:prstGeom>
        </p:spPr>
      </p:pic>
      <p:sp>
        <p:nvSpPr>
          <p:cNvPr id="41" name="文本框 38"/>
          <p:cNvSpPr txBox="1"/>
          <p:nvPr/>
        </p:nvSpPr>
        <p:spPr bwMode="gray">
          <a:xfrm>
            <a:off x="4403575" y="2774037"/>
            <a:ext cx="1305165" cy="307777"/>
          </a:xfrm>
          <a:prstGeom prst="rect">
            <a:avLst/>
          </a:prstGeom>
          <a:noFill/>
        </p:spPr>
        <p:txBody>
          <a:bodyPr wrap="none" rtlCol="0">
            <a:spAutoFit/>
          </a:bodyPr>
          <a:lstStyle/>
          <a:p>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Transit Node</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矩形 41"/>
          <p:cNvSpPr/>
          <p:nvPr/>
        </p:nvSpPr>
        <p:spPr bwMode="gray">
          <a:xfrm>
            <a:off x="7016857" y="3973604"/>
            <a:ext cx="413896"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R3</a:t>
            </a:r>
            <a:endParaRPr lang="zh-CN" altLang="en-US" sz="1400" b="1">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43" name="图片 42"/>
          <p:cNvPicPr/>
          <p:nvPr/>
        </p:nvPicPr>
        <p:blipFill>
          <a:blip r:embed="rId1" cstate="print">
            <a:extLst>
              <a:ext uri="{28A0092B-C50C-407E-A947-70E740481C1C}">
                <a14:useLocalDpi xmlns:a14="http://schemas.microsoft.com/office/drawing/2010/main" val="0"/>
              </a:ext>
            </a:extLst>
          </a:blip>
          <a:stretch>
            <a:fillRect/>
          </a:stretch>
        </p:blipFill>
        <p:spPr bwMode="gray">
          <a:xfrm>
            <a:off x="6959119" y="3534720"/>
            <a:ext cx="540000" cy="442800"/>
          </a:xfrm>
          <a:prstGeom prst="rect">
            <a:avLst/>
          </a:prstGeom>
        </p:spPr>
      </p:pic>
      <p:sp>
        <p:nvSpPr>
          <p:cNvPr id="44" name="文本框 43"/>
          <p:cNvSpPr txBox="1"/>
          <p:nvPr/>
        </p:nvSpPr>
        <p:spPr bwMode="gray">
          <a:xfrm>
            <a:off x="6512387" y="2774037"/>
            <a:ext cx="1407758" cy="307777"/>
          </a:xfrm>
          <a:prstGeom prst="rect">
            <a:avLst/>
          </a:prstGeom>
          <a:noFill/>
        </p:spPr>
        <p:txBody>
          <a:bodyPr wrap="none" rtlCol="0">
            <a:spAutoFit/>
          </a:bodyPr>
          <a:lstStyle/>
          <a:p>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Endpoint Node</a:t>
            </a:r>
            <a:endPar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圆角矩形 59"/>
          <p:cNvSpPr/>
          <p:nvPr/>
        </p:nvSpPr>
        <p:spPr bwMode="gray">
          <a:xfrm>
            <a:off x="6733673" y="3029372"/>
            <a:ext cx="911090" cy="221690"/>
          </a:xfrm>
          <a:prstGeom prst="roundRect">
            <a:avLst>
              <a:gd name="adj" fmla="val 13019"/>
            </a:avLst>
          </a:prstGeom>
          <a:solidFill>
            <a:srgbClr val="D3394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FC03:: /96</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圆角矩形 59"/>
          <p:cNvSpPr/>
          <p:nvPr/>
        </p:nvSpPr>
        <p:spPr bwMode="gray">
          <a:xfrm>
            <a:off x="9024435" y="3029372"/>
            <a:ext cx="921315" cy="221690"/>
          </a:xfrm>
          <a:prstGeom prst="roundRect">
            <a:avLst>
              <a:gd name="adj" fmla="val 13019"/>
            </a:avLst>
          </a:prstGeom>
          <a:solidFill>
            <a:srgbClr val="D3394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FC04:: /96</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矩形 46"/>
          <p:cNvSpPr/>
          <p:nvPr/>
        </p:nvSpPr>
        <p:spPr bwMode="gray">
          <a:xfrm>
            <a:off x="9321853" y="3973604"/>
            <a:ext cx="405880"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R4</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48" name="图片 47"/>
          <p:cNvPicPr/>
          <p:nvPr/>
        </p:nvPicPr>
        <p:blipFill>
          <a:blip r:embed="rId1" cstate="print">
            <a:extLst>
              <a:ext uri="{28A0092B-C50C-407E-A947-70E740481C1C}">
                <a14:useLocalDpi xmlns:a14="http://schemas.microsoft.com/office/drawing/2010/main" val="0"/>
              </a:ext>
            </a:extLst>
          </a:blip>
          <a:stretch>
            <a:fillRect/>
          </a:stretch>
        </p:blipFill>
        <p:spPr bwMode="gray">
          <a:xfrm>
            <a:off x="9260107" y="3534720"/>
            <a:ext cx="540000" cy="442800"/>
          </a:xfrm>
          <a:prstGeom prst="rect">
            <a:avLst/>
          </a:prstGeom>
        </p:spPr>
      </p:pic>
      <p:pic>
        <p:nvPicPr>
          <p:cNvPr id="49" name="图片 53"/>
          <p:cNvPicPr/>
          <p:nvPr/>
        </p:nvPicPr>
        <p:blipFill>
          <a:blip r:embed="rId1" cstate="print">
            <a:extLst>
              <a:ext uri="{28A0092B-C50C-407E-A947-70E740481C1C}">
                <a14:useLocalDpi xmlns:a14="http://schemas.microsoft.com/office/drawing/2010/main" val="0"/>
              </a:ext>
            </a:extLst>
          </a:blip>
          <a:stretch>
            <a:fillRect/>
          </a:stretch>
        </p:blipFill>
        <p:spPr bwMode="gray">
          <a:xfrm>
            <a:off x="11171193" y="3534720"/>
            <a:ext cx="540000" cy="442800"/>
          </a:xfrm>
          <a:prstGeom prst="rect">
            <a:avLst/>
          </a:prstGeom>
        </p:spPr>
      </p:pic>
      <p:sp>
        <p:nvSpPr>
          <p:cNvPr id="50" name="矩形 59"/>
          <p:cNvSpPr/>
          <p:nvPr/>
        </p:nvSpPr>
        <p:spPr bwMode="gray">
          <a:xfrm>
            <a:off x="11190162" y="3973604"/>
            <a:ext cx="502062"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CE2</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1" name="矩形 60"/>
          <p:cNvSpPr/>
          <p:nvPr/>
        </p:nvSpPr>
        <p:spPr bwMode="gray">
          <a:xfrm>
            <a:off x="9843417" y="3793604"/>
            <a:ext cx="1228584" cy="468000"/>
          </a:xfrm>
          <a:prstGeom prst="rect">
            <a:avLst/>
          </a:prstGeom>
          <a:solidFill>
            <a:srgbClr val="FF993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CE2: End.DT4</a:t>
            </a:r>
            <a:endPar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FC04::400</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2" name="文本框 61"/>
          <p:cNvSpPr txBox="1"/>
          <p:nvPr/>
        </p:nvSpPr>
        <p:spPr bwMode="gray">
          <a:xfrm>
            <a:off x="8823747" y="2774037"/>
            <a:ext cx="1407758" cy="307777"/>
          </a:xfrm>
          <a:prstGeom prst="rect">
            <a:avLst/>
          </a:prstGeom>
          <a:noFill/>
        </p:spPr>
        <p:txBody>
          <a:bodyPr wrap="none" rtlCol="0">
            <a:spAutoFit/>
          </a:bodyPr>
          <a:lstStyle/>
          <a:p>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Endpoint Node</a:t>
            </a:r>
            <a:endPar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3" name="圆角矩形 59"/>
          <p:cNvSpPr/>
          <p:nvPr/>
        </p:nvSpPr>
        <p:spPr bwMode="gray">
          <a:xfrm>
            <a:off x="2409322" y="3287053"/>
            <a:ext cx="917445" cy="221690"/>
          </a:xfrm>
          <a:prstGeom prst="roundRect">
            <a:avLst>
              <a:gd name="adj" fmla="val 13019"/>
            </a:avLst>
          </a:prstGeom>
          <a:solidFill>
            <a:srgbClr val="56C4D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FC01::1</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4" name="圆角矩形 59"/>
          <p:cNvSpPr/>
          <p:nvPr/>
        </p:nvSpPr>
        <p:spPr bwMode="gray">
          <a:xfrm>
            <a:off x="6733673" y="3287053"/>
            <a:ext cx="911090" cy="221690"/>
          </a:xfrm>
          <a:prstGeom prst="roundRect">
            <a:avLst>
              <a:gd name="adj" fmla="val 13019"/>
            </a:avLst>
          </a:prstGeom>
          <a:solidFill>
            <a:srgbClr val="56C4D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FC03::3</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5" name="圆角矩形 59"/>
          <p:cNvSpPr/>
          <p:nvPr/>
        </p:nvSpPr>
        <p:spPr bwMode="gray">
          <a:xfrm>
            <a:off x="9024435" y="3287053"/>
            <a:ext cx="921315" cy="221690"/>
          </a:xfrm>
          <a:prstGeom prst="roundRect">
            <a:avLst>
              <a:gd name="adj" fmla="val 13019"/>
            </a:avLst>
          </a:prstGeom>
          <a:solidFill>
            <a:srgbClr val="56C4D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FC04::4</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6" name="圆角矩形 59"/>
          <p:cNvSpPr/>
          <p:nvPr/>
        </p:nvSpPr>
        <p:spPr bwMode="gray">
          <a:xfrm>
            <a:off x="9091730" y="4562834"/>
            <a:ext cx="917445" cy="221690"/>
          </a:xfrm>
          <a:prstGeom prst="roundRect">
            <a:avLst>
              <a:gd name="adj" fmla="val 13019"/>
            </a:avLst>
          </a:prstGeom>
          <a:solidFill>
            <a:srgbClr val="D3394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FC01:: /96</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7" name="圆角矩形 59"/>
          <p:cNvSpPr/>
          <p:nvPr/>
        </p:nvSpPr>
        <p:spPr bwMode="gray">
          <a:xfrm>
            <a:off x="9091730" y="4858615"/>
            <a:ext cx="917445" cy="221690"/>
          </a:xfrm>
          <a:prstGeom prst="roundRect">
            <a:avLst>
              <a:gd name="adj" fmla="val 13019"/>
            </a:avLst>
          </a:prstGeom>
          <a:solidFill>
            <a:srgbClr val="56C4D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FC01::1</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8" name="矩形 46"/>
          <p:cNvSpPr/>
          <p:nvPr/>
        </p:nvSpPr>
        <p:spPr bwMode="gray">
          <a:xfrm>
            <a:off x="9993001" y="4540523"/>
            <a:ext cx="708848" cy="276999"/>
          </a:xfrm>
          <a:prstGeom prst="rect">
            <a:avLst/>
          </a:prstGeom>
        </p:spPr>
        <p:txBody>
          <a:bodyPr wrap="none">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Locator</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9" name="矩形 46"/>
          <p:cNvSpPr/>
          <p:nvPr/>
        </p:nvSpPr>
        <p:spPr bwMode="gray">
          <a:xfrm>
            <a:off x="9980980" y="4836647"/>
            <a:ext cx="732894" cy="276999"/>
          </a:xfrm>
          <a:prstGeom prst="rect">
            <a:avLst/>
          </a:prstGeom>
        </p:spPr>
        <p:txBody>
          <a:bodyPr wrap="none">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End SID</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60" name="直接箭头连接符 3"/>
          <p:cNvCxnSpPr/>
          <p:nvPr/>
        </p:nvCxnSpPr>
        <p:spPr bwMode="gray">
          <a:xfrm>
            <a:off x="5315637" y="3860279"/>
            <a:ext cx="1106125" cy="0"/>
          </a:xfrm>
          <a:prstGeom prst="straightConnector1">
            <a:avLst/>
          </a:prstGeom>
          <a:ln w="28575">
            <a:solidFill>
              <a:srgbClr val="92D050"/>
            </a:solidFill>
            <a:tailEnd type="triangle"/>
          </a:ln>
        </p:spPr>
        <p:style>
          <a:lnRef idx="1">
            <a:schemeClr val="accent1"/>
          </a:lnRef>
          <a:fillRef idx="0">
            <a:schemeClr val="accent1"/>
          </a:fillRef>
          <a:effectRef idx="0">
            <a:schemeClr val="accent1"/>
          </a:effectRef>
          <a:fontRef idx="minor">
            <a:schemeClr val="tx1"/>
          </a:fontRef>
        </p:style>
      </p:cxnSp>
      <p:sp>
        <p:nvSpPr>
          <p:cNvPr id="61" name="圆角矩形 59"/>
          <p:cNvSpPr/>
          <p:nvPr/>
        </p:nvSpPr>
        <p:spPr bwMode="gray">
          <a:xfrm>
            <a:off x="4586247" y="3034608"/>
            <a:ext cx="911090" cy="221690"/>
          </a:xfrm>
          <a:prstGeom prst="roundRect">
            <a:avLst>
              <a:gd name="adj" fmla="val 13019"/>
            </a:avLst>
          </a:prstGeom>
          <a:solidFill>
            <a:srgbClr val="D3394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FC02:: </a:t>
            </a: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/96</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2" name="圆角矩形 59"/>
          <p:cNvSpPr/>
          <p:nvPr/>
        </p:nvSpPr>
        <p:spPr bwMode="gray">
          <a:xfrm>
            <a:off x="4586247" y="3292289"/>
            <a:ext cx="911090" cy="221690"/>
          </a:xfrm>
          <a:prstGeom prst="roundRect">
            <a:avLst>
              <a:gd name="adj" fmla="val 13019"/>
            </a:avLst>
          </a:prstGeom>
          <a:solidFill>
            <a:srgbClr val="56C4D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FC02::2</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3" name="五边形 2"/>
          <p:cNvSpPr/>
          <p:nvPr/>
        </p:nvSpPr>
        <p:spPr bwMode="gray">
          <a:xfrm>
            <a:off x="8310982" y="110463"/>
            <a:ext cx="119596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SRv6</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SRH</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介绍</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4" name="燕尾形 3"/>
          <p:cNvSpPr/>
          <p:nvPr/>
        </p:nvSpPr>
        <p:spPr bwMode="gray">
          <a:xfrm>
            <a:off x="9430382" y="110463"/>
            <a:ext cx="119596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SRv6</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节点介绍</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5" name="燕尾形 3"/>
          <p:cNvSpPr/>
          <p:nvPr/>
        </p:nvSpPr>
        <p:spPr bwMode="gray">
          <a:xfrm>
            <a:off x="10553128" y="105534"/>
            <a:ext cx="119596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SRv6</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转发原理</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r>
              <a:rPr lang="en-US" altLang="zh-CN" dirty="0">
                <a:sym typeface="Huawei Sans" panose="020C0503030203020204" pitchFamily="34" charset="0"/>
              </a:rPr>
              <a:t>Endpoint</a:t>
            </a:r>
            <a:r>
              <a:rPr lang="zh-CN" altLang="en-US" dirty="0">
                <a:sym typeface="Huawei Sans" panose="020C0503030203020204" pitchFamily="34" charset="0"/>
              </a:rPr>
              <a:t>节点</a:t>
            </a:r>
            <a:endParaRPr lang="zh-CN" altLang="en-US" dirty="0">
              <a:sym typeface="Huawei Sans" panose="020C0503030203020204" pitchFamily="34" charset="0"/>
            </a:endParaRPr>
          </a:p>
        </p:txBody>
      </p:sp>
      <p:sp>
        <p:nvSpPr>
          <p:cNvPr id="6" name="文本占位符 5"/>
          <p:cNvSpPr>
            <a:spLocks noGrp="1"/>
          </p:cNvSpPr>
          <p:nvPr>
            <p:ph type="body" sz="quarter" idx="10"/>
          </p:nvPr>
        </p:nvSpPr>
        <p:spPr bwMode="gray"/>
        <p:txBody>
          <a:bodyPr/>
          <a:lstStyle/>
          <a:p>
            <a:r>
              <a:rPr lang="zh-CN" altLang="en-US" sz="1600" dirty="0">
                <a:sym typeface="Huawei Sans" panose="020C0503030203020204" pitchFamily="34" charset="0"/>
              </a:rPr>
              <a:t>在</a:t>
            </a:r>
            <a:r>
              <a:rPr lang="en-US" altLang="zh-CN" sz="1600" dirty="0">
                <a:sym typeface="Huawei Sans" panose="020C0503030203020204" pitchFamily="34" charset="0"/>
              </a:rPr>
              <a:t>SRv6</a:t>
            </a:r>
            <a:r>
              <a:rPr lang="zh-CN" altLang="en-US" sz="1600" dirty="0">
                <a:sym typeface="Huawei Sans" panose="020C0503030203020204" pitchFamily="34" charset="0"/>
              </a:rPr>
              <a:t>报文转发过程中，节点接收报文的</a:t>
            </a:r>
            <a:r>
              <a:rPr lang="en-US" altLang="zh-CN" sz="1600" dirty="0">
                <a:sym typeface="Huawei Sans" panose="020C0503030203020204" pitchFamily="34" charset="0"/>
              </a:rPr>
              <a:t>IPv6</a:t>
            </a:r>
            <a:r>
              <a:rPr lang="zh-CN" altLang="en-US" sz="1600" dirty="0">
                <a:sym typeface="Huawei Sans" panose="020C0503030203020204" pitchFamily="34" charset="0"/>
              </a:rPr>
              <a:t>目的地址是本地配置的</a:t>
            </a:r>
            <a:r>
              <a:rPr lang="en-US" altLang="zh-CN" sz="1600" dirty="0">
                <a:sym typeface="Huawei Sans" panose="020C0503030203020204" pitchFamily="34" charset="0"/>
              </a:rPr>
              <a:t>SID</a:t>
            </a:r>
            <a:r>
              <a:rPr lang="zh-CN" altLang="en-US" sz="1600" dirty="0">
                <a:sym typeface="Huawei Sans" panose="020C0503030203020204" pitchFamily="34" charset="0"/>
              </a:rPr>
              <a:t>，则节点被称为</a:t>
            </a:r>
            <a:r>
              <a:rPr lang="en-US" altLang="zh-CN" sz="1600" dirty="0">
                <a:sym typeface="Huawei Sans" panose="020C0503030203020204" pitchFamily="34" charset="0"/>
              </a:rPr>
              <a:t>Endpoint</a:t>
            </a:r>
            <a:r>
              <a:rPr lang="zh-CN" altLang="en-US" sz="1600" dirty="0">
                <a:sym typeface="Huawei Sans" panose="020C0503030203020204" pitchFamily="34" charset="0"/>
              </a:rPr>
              <a:t>节点。</a:t>
            </a:r>
            <a:endParaRPr lang="en-US" altLang="zh-CN" sz="1600" dirty="0">
              <a:sym typeface="Huawei Sans" panose="020C0503030203020204" pitchFamily="34" charset="0"/>
            </a:endParaRPr>
          </a:p>
          <a:p>
            <a:r>
              <a:rPr lang="zh-CN" altLang="en-US" sz="1600" dirty="0">
                <a:sym typeface="Huawei Sans" panose="020C0503030203020204" pitchFamily="34" charset="0"/>
              </a:rPr>
              <a:t>例如：</a:t>
            </a:r>
            <a:r>
              <a:rPr lang="en-US" altLang="zh-CN" sz="1600" dirty="0">
                <a:sym typeface="Huawei Sans" panose="020C0503030203020204" pitchFamily="34" charset="0"/>
              </a:rPr>
              <a:t>R3</a:t>
            </a:r>
            <a:r>
              <a:rPr lang="zh-CN" altLang="en-US" sz="1600" dirty="0">
                <a:sym typeface="Huawei Sans" panose="020C0503030203020204" pitchFamily="34" charset="0"/>
              </a:rPr>
              <a:t>使用报文的</a:t>
            </a:r>
            <a:r>
              <a:rPr lang="en-US" altLang="zh-CN" sz="1600" dirty="0">
                <a:sym typeface="Huawei Sans" panose="020C0503030203020204" pitchFamily="34" charset="0"/>
              </a:rPr>
              <a:t>IPv6</a:t>
            </a:r>
            <a:r>
              <a:rPr lang="zh-CN" altLang="en-US" sz="1600" dirty="0">
                <a:sym typeface="Huawei Sans" panose="020C0503030203020204" pitchFamily="34" charset="0"/>
              </a:rPr>
              <a:t>目的地址</a:t>
            </a:r>
            <a:r>
              <a:rPr lang="en-US" altLang="zh-CN" sz="1600" dirty="0">
                <a:sym typeface="Huawei Sans" panose="020C0503030203020204" pitchFamily="34" charset="0"/>
              </a:rPr>
              <a:t>FC03::3</a:t>
            </a:r>
            <a:r>
              <a:rPr lang="zh-CN" altLang="en-US" sz="1600" dirty="0">
                <a:sym typeface="Huawei Sans" panose="020C0503030203020204" pitchFamily="34" charset="0"/>
              </a:rPr>
              <a:t>查找</a:t>
            </a:r>
            <a:r>
              <a:rPr lang="en-US" altLang="zh-CN" sz="1600" dirty="0">
                <a:sym typeface="Huawei Sans" panose="020C0503030203020204" pitchFamily="34" charset="0"/>
              </a:rPr>
              <a:t>Local SID</a:t>
            </a:r>
            <a:r>
              <a:rPr lang="zh-CN" altLang="en-US" sz="1600" dirty="0">
                <a:sym typeface="Huawei Sans" panose="020C0503030203020204" pitchFamily="34" charset="0"/>
              </a:rPr>
              <a:t>表，命中到</a:t>
            </a:r>
            <a:r>
              <a:rPr lang="en-US" altLang="zh-CN" sz="1600" dirty="0">
                <a:sym typeface="Huawei Sans" panose="020C0503030203020204" pitchFamily="34" charset="0"/>
              </a:rPr>
              <a:t>End SID</a:t>
            </a:r>
            <a:r>
              <a:rPr lang="zh-CN" altLang="en-US" sz="1600" dirty="0">
                <a:sym typeface="Huawei Sans" panose="020C0503030203020204" pitchFamily="34" charset="0"/>
              </a:rPr>
              <a:t>，随后</a:t>
            </a:r>
            <a:r>
              <a:rPr lang="en-US" altLang="zh-CN" sz="1600" dirty="0">
                <a:sym typeface="Huawei Sans" panose="020C0503030203020204" pitchFamily="34" charset="0"/>
              </a:rPr>
              <a:t>R3</a:t>
            </a:r>
            <a:r>
              <a:rPr lang="zh-CN" altLang="en-US" sz="1600" dirty="0">
                <a:sym typeface="Huawei Sans" panose="020C0503030203020204" pitchFamily="34" charset="0"/>
              </a:rPr>
              <a:t>将报文</a:t>
            </a:r>
            <a:r>
              <a:rPr lang="en-US" altLang="zh-CN" sz="1600" dirty="0">
                <a:highlight>
                  <a:srgbClr val="FFFF00"/>
                </a:highlight>
                <a:sym typeface="Huawei Sans" panose="020C0503030203020204" pitchFamily="34" charset="0"/>
              </a:rPr>
              <a:t>SL</a:t>
            </a:r>
            <a:r>
              <a:rPr lang="zh-CN" altLang="en-US" sz="1600" dirty="0">
                <a:highlight>
                  <a:srgbClr val="FFFF00"/>
                </a:highlight>
                <a:sym typeface="Huawei Sans" panose="020C0503030203020204" pitchFamily="34" charset="0"/>
              </a:rPr>
              <a:t>减</a:t>
            </a:r>
            <a:r>
              <a:rPr lang="en-US" altLang="zh-CN" sz="1600" dirty="0">
                <a:highlight>
                  <a:srgbClr val="FFFF00"/>
                </a:highlight>
                <a:sym typeface="Huawei Sans" panose="020C0503030203020204" pitchFamily="34" charset="0"/>
              </a:rPr>
              <a:t>1</a:t>
            </a:r>
            <a:r>
              <a:rPr lang="zh-CN" altLang="en-US" sz="1600" dirty="0">
                <a:sym typeface="Huawei Sans" panose="020C0503030203020204" pitchFamily="34" charset="0"/>
              </a:rPr>
              <a:t>，同时</a:t>
            </a:r>
            <a:r>
              <a:rPr lang="zh-CN" altLang="en-US" sz="1600" dirty="0">
                <a:highlight>
                  <a:srgbClr val="FFFF00"/>
                </a:highlight>
                <a:sym typeface="Huawei Sans" panose="020C0503030203020204" pitchFamily="34" charset="0"/>
              </a:rPr>
              <a:t>将</a:t>
            </a:r>
            <a:r>
              <a:rPr lang="en-US" altLang="zh-CN" sz="1600" dirty="0">
                <a:highlight>
                  <a:srgbClr val="FFFF00"/>
                </a:highlight>
                <a:sym typeface="Huawei Sans" panose="020C0503030203020204" pitchFamily="34" charset="0"/>
              </a:rPr>
              <a:t>SL=1</a:t>
            </a:r>
            <a:r>
              <a:rPr lang="zh-CN" altLang="en-US" sz="1600" dirty="0">
                <a:highlight>
                  <a:srgbClr val="FFFF00"/>
                </a:highlight>
                <a:sym typeface="Huawei Sans" panose="020C0503030203020204" pitchFamily="34" charset="0"/>
              </a:rPr>
              <a:t>的</a:t>
            </a:r>
            <a:r>
              <a:rPr lang="en-US" altLang="zh-CN" sz="1600" dirty="0">
                <a:highlight>
                  <a:srgbClr val="FFFF00"/>
                </a:highlight>
                <a:sym typeface="Huawei Sans" panose="020C0503030203020204" pitchFamily="34" charset="0"/>
              </a:rPr>
              <a:t>SID</a:t>
            </a:r>
            <a:r>
              <a:rPr lang="zh-CN" altLang="en-US" sz="1600" dirty="0">
                <a:highlight>
                  <a:srgbClr val="FFFF00"/>
                </a:highlight>
                <a:sym typeface="Huawei Sans" panose="020C0503030203020204" pitchFamily="34" charset="0"/>
              </a:rPr>
              <a:t>做为报文目标</a:t>
            </a:r>
            <a:r>
              <a:rPr lang="en-US" altLang="zh-CN" sz="1600" dirty="0">
                <a:highlight>
                  <a:srgbClr val="FFFF00"/>
                </a:highlight>
                <a:sym typeface="Huawei Sans" panose="020C0503030203020204" pitchFamily="34" charset="0"/>
              </a:rPr>
              <a:t>IPv6</a:t>
            </a:r>
            <a:r>
              <a:rPr lang="zh-CN" altLang="en-US" sz="1600" dirty="0">
                <a:highlight>
                  <a:srgbClr val="FFFF00"/>
                </a:highlight>
                <a:sym typeface="Huawei Sans" panose="020C0503030203020204" pitchFamily="34" charset="0"/>
              </a:rPr>
              <a:t>地址，并查路由表转发出去</a:t>
            </a:r>
            <a:r>
              <a:rPr lang="zh-CN" altLang="en-US" sz="1600" dirty="0">
                <a:sym typeface="Huawei Sans" panose="020C0503030203020204" pitchFamily="34" charset="0"/>
              </a:rPr>
              <a:t>。</a:t>
            </a:r>
            <a:endParaRPr lang="en-US" altLang="zh-CN" sz="1600" dirty="0">
              <a:sym typeface="Huawei Sans" panose="020C0503030203020204" pitchFamily="34" charset="0"/>
            </a:endParaRPr>
          </a:p>
          <a:p>
            <a:r>
              <a:rPr lang="en-US" altLang="zh-CN" sz="1600" dirty="0">
                <a:sym typeface="Huawei Sans" panose="020C0503030203020204" pitchFamily="34" charset="0"/>
              </a:rPr>
              <a:t>Endpoint Node</a:t>
            </a:r>
            <a:r>
              <a:rPr lang="zh-CN" altLang="en-US" sz="1600" dirty="0">
                <a:sym typeface="Huawei Sans" panose="020C0503030203020204" pitchFamily="34" charset="0"/>
              </a:rPr>
              <a:t>在数据的转发路径上可以有多个，每个</a:t>
            </a:r>
            <a:r>
              <a:rPr lang="en-US" altLang="zh-CN" sz="1600" dirty="0">
                <a:sym typeface="Huawei Sans" panose="020C0503030203020204" pitchFamily="34" charset="0"/>
              </a:rPr>
              <a:t>Endpoint Node</a:t>
            </a:r>
            <a:r>
              <a:rPr lang="zh-CN" altLang="en-US" sz="1600" dirty="0">
                <a:sym typeface="Huawei Sans" panose="020C0503030203020204" pitchFamily="34" charset="0"/>
              </a:rPr>
              <a:t>都会为报文提供转发，封装和解封装等服务。</a:t>
            </a:r>
            <a:endParaRPr lang="zh-CN" altLang="en-US" sz="1600" dirty="0">
              <a:sym typeface="Huawei Sans" panose="020C0503030203020204" pitchFamily="34" charset="0"/>
            </a:endParaRPr>
          </a:p>
        </p:txBody>
      </p:sp>
      <p:graphicFrame>
        <p:nvGraphicFramePr>
          <p:cNvPr id="30" name="表格 4"/>
          <p:cNvGraphicFramePr>
            <a:graphicFrameLocks noGrp="1"/>
          </p:cNvGraphicFramePr>
          <p:nvPr/>
        </p:nvGraphicFramePr>
        <p:xfrm>
          <a:off x="7319156" y="4361715"/>
          <a:ext cx="2562811" cy="1150393"/>
        </p:xfrm>
        <a:graphic>
          <a:graphicData uri="http://schemas.openxmlformats.org/drawingml/2006/table">
            <a:tbl>
              <a:tblPr firstRow="1" bandRow="1">
                <a:tableStyleId>{72833802-FEF1-4C79-8D5D-14CF1EAF98D9}</a:tableStyleId>
              </a:tblPr>
              <a:tblGrid>
                <a:gridCol w="982126"/>
                <a:gridCol w="766916"/>
                <a:gridCol w="813769"/>
              </a:tblGrid>
              <a:tr h="327433">
                <a:tc gridSpan="3">
                  <a:txBody>
                    <a:bodyPr/>
                    <a:lstStyle/>
                    <a:p>
                      <a:pPr algn="ctr"/>
                      <a:r>
                        <a:rPr lang="en-US" altLang="zh-CN" sz="1200" dirty="0"/>
                        <a:t>IPv6 Header</a:t>
                      </a:r>
                      <a:endParaRPr lang="zh-CN" altLang="en-US" sz="12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6C4D2"/>
                    </a:solidFill>
                  </a:tcPr>
                </a:tc>
                <a:tc hMerge="1">
                  <a:tcPr/>
                </a:tc>
                <a:tc hMerge="1">
                  <a:tcPr/>
                </a:tc>
              </a:tr>
              <a:tr h="228600">
                <a:tc gridSpan="3">
                  <a:txBody>
                    <a:bodyPr/>
                    <a:lstStyle/>
                    <a:p>
                      <a:pPr algn="ctr"/>
                      <a:r>
                        <a:rPr lang="en-US" altLang="zh-CN" sz="1200" b="1" dirty="0">
                          <a:solidFill>
                            <a:schemeClr val="tx1"/>
                          </a:solidFill>
                        </a:rPr>
                        <a:t>SRH(SL = 1)</a:t>
                      </a:r>
                      <a:endParaRPr lang="en-US" altLang="zh-CN" sz="1200" b="1"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EEEC1"/>
                    </a:solidFill>
                  </a:tcPr>
                </a:tc>
                <a:tc hMerge="1">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66"/>
                    </a:solidFill>
                  </a:tcPr>
                </a:tc>
                <a:tc hMerge="1">
                  <a:tcPr/>
                </a:tc>
              </a:tr>
              <a:tr h="228600">
                <a:tc>
                  <a:txBody>
                    <a:bodyPr/>
                    <a:lstStyle/>
                    <a:p>
                      <a:pPr marL="0" marR="0" lvl="0" indent="0" algn="ctr" defTabSz="913765" rtl="0" eaLnBrk="1" fontAlgn="auto" latinLnBrk="0" hangingPunct="1">
                        <a:lnSpc>
                          <a:spcPct val="100000"/>
                        </a:lnSpc>
                        <a:spcBef>
                          <a:spcPts val="0"/>
                        </a:spcBef>
                        <a:spcAft>
                          <a:spcPts val="0"/>
                        </a:spcAft>
                        <a:buClrTx/>
                        <a:buSzTx/>
                        <a:buFontTx/>
                        <a:buNone/>
                        <a:defRPr/>
                      </a:pPr>
                      <a:r>
                        <a:rPr lang="en-US" altLang="zh-CN" sz="1200" b="0" dirty="0">
                          <a:solidFill>
                            <a:schemeClr val="tx1"/>
                          </a:solidFill>
                        </a:rPr>
                        <a:t>FC04::400</a:t>
                      </a:r>
                      <a:endParaRPr lang="zh-CN" altLang="en-US" sz="1200" b="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EEEC1"/>
                    </a:solidFill>
                  </a:tcPr>
                </a:tc>
                <a:tc>
                  <a:txBody>
                    <a:bodyPr/>
                    <a:lstStyle/>
                    <a:p>
                      <a:pPr algn="ctr"/>
                      <a:r>
                        <a:rPr lang="en-US" altLang="zh-CN" sz="1200" b="1" dirty="0">
                          <a:solidFill>
                            <a:srgbClr val="C7000B"/>
                          </a:solidFill>
                        </a:rPr>
                        <a:t>FC04::4</a:t>
                      </a:r>
                      <a:endParaRPr lang="zh-CN" altLang="en-US" sz="1200" b="1" dirty="0">
                        <a:solidFill>
                          <a:srgbClr val="C7000B"/>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EEEC1"/>
                    </a:solidFill>
                  </a:tcPr>
                </a:tc>
                <a:tc>
                  <a:txBody>
                    <a:bodyPr/>
                    <a:lstStyle/>
                    <a:p>
                      <a:pPr algn="ctr"/>
                      <a:r>
                        <a:rPr lang="en-US" altLang="zh-CN" sz="1200" b="0" dirty="0">
                          <a:solidFill>
                            <a:schemeClr val="tx1"/>
                          </a:solidFill>
                        </a:rPr>
                        <a:t>FC03::3</a:t>
                      </a:r>
                      <a:endParaRPr lang="zh-CN" altLang="en-US" sz="1200" b="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EEEC1"/>
                    </a:solidFill>
                  </a:tcPr>
                </a:tc>
              </a:tr>
              <a:tr h="253864">
                <a:tc gridSpan="3">
                  <a:txBody>
                    <a:bodyPr/>
                    <a:lstStyle/>
                    <a:p>
                      <a:pPr algn="ctr"/>
                      <a:r>
                        <a:rPr lang="en-US" altLang="zh-CN" sz="1200" dirty="0">
                          <a:solidFill>
                            <a:schemeClr val="bg1"/>
                          </a:solidFill>
                        </a:rPr>
                        <a:t>Payload</a:t>
                      </a:r>
                      <a:endParaRPr lang="zh-CN" altLang="en-US" sz="12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hMerge="1">
                  <a:tcPr/>
                </a:tc>
                <a:tc hMerge="1">
                  <a:tcPr/>
                </a:tc>
              </a:tr>
            </a:tbl>
          </a:graphicData>
        </a:graphic>
      </p:graphicFrame>
      <p:cxnSp>
        <p:nvCxnSpPr>
          <p:cNvPr id="29" name="直接连接符 27"/>
          <p:cNvCxnSpPr>
            <a:stCxn id="50" idx="1"/>
          </p:cNvCxnSpPr>
          <p:nvPr/>
        </p:nvCxnSpPr>
        <p:spPr bwMode="gray">
          <a:xfrm flipH="1" flipV="1">
            <a:off x="1249423" y="3726572"/>
            <a:ext cx="9921770" cy="1049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矩形 28"/>
          <p:cNvSpPr/>
          <p:nvPr/>
        </p:nvSpPr>
        <p:spPr bwMode="gray">
          <a:xfrm>
            <a:off x="2684783" y="3954554"/>
            <a:ext cx="413896"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R1</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圆角矩形 59"/>
          <p:cNvSpPr/>
          <p:nvPr/>
        </p:nvSpPr>
        <p:spPr bwMode="gray">
          <a:xfrm>
            <a:off x="2409322" y="3010322"/>
            <a:ext cx="917445" cy="221690"/>
          </a:xfrm>
          <a:prstGeom prst="roundRect">
            <a:avLst>
              <a:gd name="adj" fmla="val 13019"/>
            </a:avLst>
          </a:prstGeom>
          <a:solidFill>
            <a:srgbClr val="D3394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FC01:: /96</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36" name="图片 30"/>
          <p:cNvPicPr/>
          <p:nvPr/>
        </p:nvPicPr>
        <p:blipFill>
          <a:blip r:embed="rId1" cstate="print">
            <a:extLst>
              <a:ext uri="{28A0092B-C50C-407E-A947-70E740481C1C}">
                <a14:useLocalDpi xmlns:a14="http://schemas.microsoft.com/office/drawing/2010/main" val="0"/>
              </a:ext>
            </a:extLst>
          </a:blip>
          <a:stretch>
            <a:fillRect/>
          </a:stretch>
        </p:blipFill>
        <p:spPr bwMode="gray">
          <a:xfrm>
            <a:off x="2622953" y="3515670"/>
            <a:ext cx="540000" cy="442800"/>
          </a:xfrm>
          <a:prstGeom prst="rect">
            <a:avLst/>
          </a:prstGeom>
        </p:spPr>
      </p:pic>
      <p:sp>
        <p:nvSpPr>
          <p:cNvPr id="37" name="文本框 31"/>
          <p:cNvSpPr txBox="1"/>
          <p:nvPr/>
        </p:nvSpPr>
        <p:spPr bwMode="gray">
          <a:xfrm>
            <a:off x="2185458" y="2754987"/>
            <a:ext cx="1229824" cy="307777"/>
          </a:xfrm>
          <a:prstGeom prst="rect">
            <a:avLst/>
          </a:prstGeom>
          <a:noFill/>
        </p:spPr>
        <p:txBody>
          <a:bodyPr wrap="none" rtlCol="0">
            <a:spAutoFit/>
          </a:bodyPr>
          <a:lstStyle/>
          <a:p>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Source Node</a:t>
            </a:r>
            <a:endPar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38" name="图片 32"/>
          <p:cNvPicPr/>
          <p:nvPr/>
        </p:nvPicPr>
        <p:blipFill>
          <a:blip r:embed="rId1" cstate="print">
            <a:extLst>
              <a:ext uri="{28A0092B-C50C-407E-A947-70E740481C1C}">
                <a14:useLocalDpi xmlns:a14="http://schemas.microsoft.com/office/drawing/2010/main" val="0"/>
              </a:ext>
            </a:extLst>
          </a:blip>
          <a:stretch>
            <a:fillRect/>
          </a:stretch>
        </p:blipFill>
        <p:spPr bwMode="gray">
          <a:xfrm>
            <a:off x="737825" y="3515670"/>
            <a:ext cx="540000" cy="442800"/>
          </a:xfrm>
          <a:prstGeom prst="rect">
            <a:avLst/>
          </a:prstGeom>
        </p:spPr>
      </p:pic>
      <p:sp>
        <p:nvSpPr>
          <p:cNvPr id="39" name="矩形 33"/>
          <p:cNvSpPr/>
          <p:nvPr/>
        </p:nvSpPr>
        <p:spPr bwMode="gray">
          <a:xfrm>
            <a:off x="762249" y="3954554"/>
            <a:ext cx="502062"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CE1</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矩形 34"/>
          <p:cNvSpPr/>
          <p:nvPr/>
        </p:nvSpPr>
        <p:spPr bwMode="gray">
          <a:xfrm>
            <a:off x="4846878" y="3954554"/>
            <a:ext cx="413896"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R2</a:t>
            </a:r>
            <a:endParaRPr lang="zh-CN" altLang="en-US" sz="1400" b="1">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41" name="图片 35"/>
          <p:cNvPicPr/>
          <p:nvPr/>
        </p:nvPicPr>
        <p:blipFill>
          <a:blip r:embed="rId1" cstate="print">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4775637" y="3515670"/>
            <a:ext cx="540000" cy="442800"/>
          </a:xfrm>
          <a:prstGeom prst="rect">
            <a:avLst/>
          </a:prstGeom>
        </p:spPr>
      </p:pic>
      <p:sp>
        <p:nvSpPr>
          <p:cNvPr id="42" name="文本框 38"/>
          <p:cNvSpPr txBox="1"/>
          <p:nvPr/>
        </p:nvSpPr>
        <p:spPr bwMode="gray">
          <a:xfrm>
            <a:off x="4403575" y="2754987"/>
            <a:ext cx="1239442" cy="307777"/>
          </a:xfrm>
          <a:prstGeom prst="rect">
            <a:avLst/>
          </a:prstGeom>
          <a:noFill/>
        </p:spPr>
        <p:txBody>
          <a:bodyPr wrap="none" rtlCol="0">
            <a:spAutoFit/>
          </a:bodyPr>
          <a:lstStyle/>
          <a:p>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Transit Node</a:t>
            </a:r>
            <a:endPar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矩形 41"/>
          <p:cNvSpPr/>
          <p:nvPr/>
        </p:nvSpPr>
        <p:spPr bwMode="gray">
          <a:xfrm>
            <a:off x="7016857" y="3954554"/>
            <a:ext cx="413896"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R3</a:t>
            </a:r>
            <a:endParaRPr lang="zh-CN" altLang="en-US" sz="1400" b="1">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44" name="图片 42"/>
          <p:cNvPicPr/>
          <p:nvPr/>
        </p:nvPicPr>
        <p:blipFill>
          <a:blip r:embed="rId1" cstate="print">
            <a:extLst>
              <a:ext uri="{28A0092B-C50C-407E-A947-70E740481C1C}">
                <a14:useLocalDpi xmlns:a14="http://schemas.microsoft.com/office/drawing/2010/main" val="0"/>
              </a:ext>
            </a:extLst>
          </a:blip>
          <a:stretch>
            <a:fillRect/>
          </a:stretch>
        </p:blipFill>
        <p:spPr bwMode="gray">
          <a:xfrm>
            <a:off x="6959119" y="3515670"/>
            <a:ext cx="540000" cy="442800"/>
          </a:xfrm>
          <a:prstGeom prst="rect">
            <a:avLst/>
          </a:prstGeom>
        </p:spPr>
      </p:pic>
      <p:sp>
        <p:nvSpPr>
          <p:cNvPr id="45" name="文本框 43"/>
          <p:cNvSpPr txBox="1"/>
          <p:nvPr/>
        </p:nvSpPr>
        <p:spPr bwMode="gray">
          <a:xfrm>
            <a:off x="6512387" y="2754987"/>
            <a:ext cx="1478290" cy="307777"/>
          </a:xfrm>
          <a:prstGeom prst="rect">
            <a:avLst/>
          </a:prstGeom>
          <a:noFill/>
        </p:spPr>
        <p:txBody>
          <a:bodyPr wrap="none" rtlCol="0">
            <a:spAutoFit/>
          </a:bodyPr>
          <a:lstStyle/>
          <a:p>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Endpoint Node</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圆角矩形 59"/>
          <p:cNvSpPr/>
          <p:nvPr/>
        </p:nvSpPr>
        <p:spPr bwMode="gray">
          <a:xfrm>
            <a:off x="6733673" y="3010322"/>
            <a:ext cx="911090" cy="221690"/>
          </a:xfrm>
          <a:prstGeom prst="roundRect">
            <a:avLst>
              <a:gd name="adj" fmla="val 13019"/>
            </a:avLst>
          </a:prstGeom>
          <a:solidFill>
            <a:srgbClr val="D3394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FC03:: /96</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圆角矩形 59"/>
          <p:cNvSpPr/>
          <p:nvPr/>
        </p:nvSpPr>
        <p:spPr bwMode="gray">
          <a:xfrm>
            <a:off x="9024435" y="3010322"/>
            <a:ext cx="921315" cy="221690"/>
          </a:xfrm>
          <a:prstGeom prst="roundRect">
            <a:avLst>
              <a:gd name="adj" fmla="val 13019"/>
            </a:avLst>
          </a:prstGeom>
          <a:solidFill>
            <a:srgbClr val="D3394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FC04:: /96</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 name="矩形 46"/>
          <p:cNvSpPr/>
          <p:nvPr/>
        </p:nvSpPr>
        <p:spPr bwMode="gray">
          <a:xfrm>
            <a:off x="9321853" y="3954554"/>
            <a:ext cx="405880"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R4</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49" name="图片 47"/>
          <p:cNvPicPr/>
          <p:nvPr/>
        </p:nvPicPr>
        <p:blipFill>
          <a:blip r:embed="rId1" cstate="print">
            <a:extLst>
              <a:ext uri="{28A0092B-C50C-407E-A947-70E740481C1C}">
                <a14:useLocalDpi xmlns:a14="http://schemas.microsoft.com/office/drawing/2010/main" val="0"/>
              </a:ext>
            </a:extLst>
          </a:blip>
          <a:stretch>
            <a:fillRect/>
          </a:stretch>
        </p:blipFill>
        <p:spPr bwMode="gray">
          <a:xfrm>
            <a:off x="9260107" y="3515670"/>
            <a:ext cx="540000" cy="442800"/>
          </a:xfrm>
          <a:prstGeom prst="rect">
            <a:avLst/>
          </a:prstGeom>
        </p:spPr>
      </p:pic>
      <p:pic>
        <p:nvPicPr>
          <p:cNvPr id="50" name="图片 53"/>
          <p:cNvPicPr/>
          <p:nvPr/>
        </p:nvPicPr>
        <p:blipFill>
          <a:blip r:embed="rId1" cstate="print">
            <a:extLst>
              <a:ext uri="{28A0092B-C50C-407E-A947-70E740481C1C}">
                <a14:useLocalDpi xmlns:a14="http://schemas.microsoft.com/office/drawing/2010/main" val="0"/>
              </a:ext>
            </a:extLst>
          </a:blip>
          <a:stretch>
            <a:fillRect/>
          </a:stretch>
        </p:blipFill>
        <p:spPr bwMode="gray">
          <a:xfrm>
            <a:off x="11171193" y="3515670"/>
            <a:ext cx="540000" cy="442800"/>
          </a:xfrm>
          <a:prstGeom prst="rect">
            <a:avLst/>
          </a:prstGeom>
        </p:spPr>
      </p:pic>
      <p:sp>
        <p:nvSpPr>
          <p:cNvPr id="51" name="矩形 59"/>
          <p:cNvSpPr/>
          <p:nvPr/>
        </p:nvSpPr>
        <p:spPr bwMode="gray">
          <a:xfrm>
            <a:off x="11190162" y="3954554"/>
            <a:ext cx="502062"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CE2</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2" name="矩形 60"/>
          <p:cNvSpPr/>
          <p:nvPr/>
        </p:nvSpPr>
        <p:spPr bwMode="gray">
          <a:xfrm>
            <a:off x="9758941" y="3559520"/>
            <a:ext cx="1112259" cy="367254"/>
          </a:xfrm>
          <a:prstGeom prst="rect">
            <a:avLst/>
          </a:prstGeom>
          <a:solidFill>
            <a:srgbClr val="FF993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CE2: End.DT4</a:t>
            </a:r>
            <a:endPar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FC04::400</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3" name="文本框 61"/>
          <p:cNvSpPr txBox="1"/>
          <p:nvPr/>
        </p:nvSpPr>
        <p:spPr bwMode="gray">
          <a:xfrm>
            <a:off x="8823747" y="2754987"/>
            <a:ext cx="1478290" cy="307777"/>
          </a:xfrm>
          <a:prstGeom prst="rect">
            <a:avLst/>
          </a:prstGeom>
          <a:noFill/>
        </p:spPr>
        <p:txBody>
          <a:bodyPr wrap="none" rtlCol="0">
            <a:spAutoFit/>
          </a:bodyPr>
          <a:lstStyle/>
          <a:p>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Endpoint Node</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4" name="圆角矩形 59"/>
          <p:cNvSpPr/>
          <p:nvPr/>
        </p:nvSpPr>
        <p:spPr bwMode="gray">
          <a:xfrm>
            <a:off x="2409322" y="3268003"/>
            <a:ext cx="917445" cy="221690"/>
          </a:xfrm>
          <a:prstGeom prst="roundRect">
            <a:avLst>
              <a:gd name="adj" fmla="val 13019"/>
            </a:avLst>
          </a:prstGeom>
          <a:solidFill>
            <a:srgbClr val="56C4D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FC01::1</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5" name="圆角矩形 59"/>
          <p:cNvSpPr/>
          <p:nvPr/>
        </p:nvSpPr>
        <p:spPr bwMode="gray">
          <a:xfrm>
            <a:off x="6733673" y="3268003"/>
            <a:ext cx="911090" cy="221690"/>
          </a:xfrm>
          <a:prstGeom prst="roundRect">
            <a:avLst>
              <a:gd name="adj" fmla="val 13019"/>
            </a:avLst>
          </a:prstGeom>
          <a:solidFill>
            <a:srgbClr val="56C4D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FC03::3</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6" name="圆角矩形 59"/>
          <p:cNvSpPr/>
          <p:nvPr/>
        </p:nvSpPr>
        <p:spPr bwMode="gray">
          <a:xfrm>
            <a:off x="9024435" y="3268003"/>
            <a:ext cx="921315" cy="221690"/>
          </a:xfrm>
          <a:prstGeom prst="roundRect">
            <a:avLst>
              <a:gd name="adj" fmla="val 13019"/>
            </a:avLst>
          </a:prstGeom>
          <a:solidFill>
            <a:srgbClr val="56C4D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FC04::4</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7" name="圆角矩形 59"/>
          <p:cNvSpPr/>
          <p:nvPr/>
        </p:nvSpPr>
        <p:spPr bwMode="gray">
          <a:xfrm>
            <a:off x="10070080" y="5376743"/>
            <a:ext cx="917445" cy="221690"/>
          </a:xfrm>
          <a:prstGeom prst="roundRect">
            <a:avLst>
              <a:gd name="adj" fmla="val 13019"/>
            </a:avLst>
          </a:prstGeom>
          <a:solidFill>
            <a:srgbClr val="D3394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FC01:: /96</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8" name="圆角矩形 59"/>
          <p:cNvSpPr/>
          <p:nvPr/>
        </p:nvSpPr>
        <p:spPr bwMode="gray">
          <a:xfrm>
            <a:off x="10070080" y="5672524"/>
            <a:ext cx="917445" cy="221690"/>
          </a:xfrm>
          <a:prstGeom prst="roundRect">
            <a:avLst>
              <a:gd name="adj" fmla="val 13019"/>
            </a:avLst>
          </a:prstGeom>
          <a:solidFill>
            <a:srgbClr val="56C4D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FC01::1</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9" name="矩形 46"/>
          <p:cNvSpPr/>
          <p:nvPr/>
        </p:nvSpPr>
        <p:spPr bwMode="gray">
          <a:xfrm>
            <a:off x="10971351" y="5354432"/>
            <a:ext cx="708848" cy="276999"/>
          </a:xfrm>
          <a:prstGeom prst="rect">
            <a:avLst/>
          </a:prstGeom>
        </p:spPr>
        <p:txBody>
          <a:bodyPr wrap="none">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Locator</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0" name="矩形 46"/>
          <p:cNvSpPr/>
          <p:nvPr/>
        </p:nvSpPr>
        <p:spPr bwMode="gray">
          <a:xfrm>
            <a:off x="10959330" y="5650556"/>
            <a:ext cx="732894" cy="276999"/>
          </a:xfrm>
          <a:prstGeom prst="rect">
            <a:avLst/>
          </a:prstGeom>
        </p:spPr>
        <p:txBody>
          <a:bodyPr wrap="none">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End SID</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61" name="直接箭头连接符 3"/>
          <p:cNvCxnSpPr/>
          <p:nvPr/>
        </p:nvCxnSpPr>
        <p:spPr bwMode="gray">
          <a:xfrm>
            <a:off x="7499119" y="3841229"/>
            <a:ext cx="1106125" cy="0"/>
          </a:xfrm>
          <a:prstGeom prst="straightConnector1">
            <a:avLst/>
          </a:prstGeom>
          <a:ln w="28575">
            <a:solidFill>
              <a:srgbClr val="92D050"/>
            </a:solidFill>
            <a:tailEnd type="triangle"/>
          </a:ln>
        </p:spPr>
        <p:style>
          <a:lnRef idx="1">
            <a:schemeClr val="accent1"/>
          </a:lnRef>
          <a:fillRef idx="0">
            <a:schemeClr val="accent1"/>
          </a:fillRef>
          <a:effectRef idx="0">
            <a:schemeClr val="accent1"/>
          </a:effectRef>
          <a:fontRef idx="minor">
            <a:schemeClr val="tx1"/>
          </a:fontRef>
        </p:style>
      </p:cxnSp>
      <p:sp>
        <p:nvSpPr>
          <p:cNvPr id="62" name="圆角矩形 59"/>
          <p:cNvSpPr/>
          <p:nvPr/>
        </p:nvSpPr>
        <p:spPr bwMode="gray">
          <a:xfrm>
            <a:off x="4574675" y="3013556"/>
            <a:ext cx="911090" cy="221690"/>
          </a:xfrm>
          <a:prstGeom prst="roundRect">
            <a:avLst>
              <a:gd name="adj" fmla="val 13019"/>
            </a:avLst>
          </a:prstGeom>
          <a:solidFill>
            <a:srgbClr val="D3394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FC02:: </a:t>
            </a: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/96</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3" name="圆角矩形 59"/>
          <p:cNvSpPr/>
          <p:nvPr/>
        </p:nvSpPr>
        <p:spPr bwMode="gray">
          <a:xfrm>
            <a:off x="4574675" y="3271237"/>
            <a:ext cx="911090" cy="221690"/>
          </a:xfrm>
          <a:prstGeom prst="roundRect">
            <a:avLst>
              <a:gd name="adj" fmla="val 13019"/>
            </a:avLst>
          </a:prstGeom>
          <a:solidFill>
            <a:srgbClr val="56C4D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FC02::2</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4" name="五边形 2"/>
          <p:cNvSpPr/>
          <p:nvPr/>
        </p:nvSpPr>
        <p:spPr bwMode="gray">
          <a:xfrm>
            <a:off x="8310982" y="110463"/>
            <a:ext cx="119596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SRv6</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SRH</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介绍</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5" name="燕尾形 3"/>
          <p:cNvSpPr/>
          <p:nvPr/>
        </p:nvSpPr>
        <p:spPr bwMode="gray">
          <a:xfrm>
            <a:off x="9430382" y="110463"/>
            <a:ext cx="119596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SRv6</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节点介绍</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6" name="燕尾形 3"/>
          <p:cNvSpPr/>
          <p:nvPr/>
        </p:nvSpPr>
        <p:spPr bwMode="gray">
          <a:xfrm>
            <a:off x="10553128" y="105534"/>
            <a:ext cx="119596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SRv6</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转发原理</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r>
              <a:rPr lang="en-US" altLang="zh-CN" dirty="0">
                <a:sym typeface="Huawei Sans" panose="020C0503030203020204" pitchFamily="34" charset="0"/>
              </a:rPr>
              <a:t>SRv6</a:t>
            </a:r>
            <a:r>
              <a:rPr lang="zh-CN" altLang="en-US" dirty="0">
                <a:sym typeface="Huawei Sans" panose="020C0503030203020204" pitchFamily="34" charset="0"/>
              </a:rPr>
              <a:t>转发模式</a:t>
            </a:r>
            <a:endParaRPr lang="zh-CN" altLang="en-US" dirty="0">
              <a:sym typeface="Huawei Sans" panose="020C0503030203020204" pitchFamily="34" charset="0"/>
            </a:endParaRPr>
          </a:p>
        </p:txBody>
      </p:sp>
      <p:sp>
        <p:nvSpPr>
          <p:cNvPr id="27" name="文本占位符 5"/>
          <p:cNvSpPr>
            <a:spLocks noGrp="1"/>
          </p:cNvSpPr>
          <p:nvPr>
            <p:ph type="body" sz="quarter" idx="10"/>
          </p:nvPr>
        </p:nvSpPr>
        <p:spPr bwMode="gray"/>
        <p:txBody>
          <a:bodyPr/>
          <a:lstStyle/>
          <a:p>
            <a:r>
              <a:rPr lang="en-US" altLang="zh-CN" sz="1800" dirty="0">
                <a:sym typeface="Huawei Sans" panose="020C0503030203020204" pitchFamily="34" charset="0"/>
              </a:rPr>
              <a:t>SRv6</a:t>
            </a:r>
            <a:r>
              <a:rPr lang="zh-CN" altLang="en-US" sz="1800" dirty="0">
                <a:sym typeface="Huawei Sans" panose="020C0503030203020204" pitchFamily="34" charset="0"/>
              </a:rPr>
              <a:t>有两种转发模式：</a:t>
            </a:r>
            <a:r>
              <a:rPr lang="en-US" altLang="zh-CN" sz="1800" dirty="0">
                <a:sym typeface="Huawei Sans" panose="020C0503030203020204" pitchFamily="34" charset="0"/>
              </a:rPr>
              <a:t>SRv6 Policy</a:t>
            </a:r>
            <a:r>
              <a:rPr lang="zh-CN" altLang="en-US" sz="1800" dirty="0">
                <a:sym typeface="Huawei Sans" panose="020C0503030203020204" pitchFamily="34" charset="0"/>
              </a:rPr>
              <a:t>和</a:t>
            </a:r>
            <a:r>
              <a:rPr lang="en-US" altLang="zh-CN" sz="1800" dirty="0">
                <a:sym typeface="Huawei Sans" panose="020C0503030203020204" pitchFamily="34" charset="0"/>
              </a:rPr>
              <a:t>SRv6 BE</a:t>
            </a:r>
            <a:r>
              <a:rPr lang="zh-CN" altLang="en-US" sz="1800" dirty="0">
                <a:sym typeface="Huawei Sans" panose="020C0503030203020204" pitchFamily="34" charset="0"/>
              </a:rPr>
              <a:t>。</a:t>
            </a:r>
            <a:endParaRPr lang="en-US" altLang="zh-CN" sz="1800" dirty="0">
              <a:sym typeface="Huawei Sans" panose="020C0503030203020204" pitchFamily="34" charset="0"/>
            </a:endParaRPr>
          </a:p>
          <a:p>
            <a:pPr lvl="1"/>
            <a:r>
              <a:rPr lang="en-US" altLang="zh-CN" sz="1600" dirty="0">
                <a:sym typeface="Huawei Sans" panose="020C0503030203020204" pitchFamily="34" charset="0"/>
              </a:rPr>
              <a:t>SRv6 Policy</a:t>
            </a:r>
            <a:r>
              <a:rPr lang="zh-CN" altLang="en-US" sz="1600" dirty="0">
                <a:sym typeface="Huawei Sans" panose="020C0503030203020204" pitchFamily="34" charset="0"/>
              </a:rPr>
              <a:t>可以实现流量工程，配合控制器可以更好地响应业务的差异化需求，做到业务驱动网络。</a:t>
            </a:r>
            <a:endParaRPr lang="en-US" altLang="zh-CN" sz="1600" dirty="0">
              <a:sym typeface="Huawei Sans" panose="020C0503030203020204" pitchFamily="34" charset="0"/>
            </a:endParaRPr>
          </a:p>
          <a:p>
            <a:pPr lvl="1"/>
            <a:r>
              <a:rPr lang="en-US" altLang="zh-CN" sz="1600" dirty="0">
                <a:sym typeface="Huawei Sans" panose="020C0503030203020204" pitchFamily="34" charset="0"/>
              </a:rPr>
              <a:t>SRv6 BE</a:t>
            </a:r>
            <a:r>
              <a:rPr lang="zh-CN" altLang="en-US" sz="1600" dirty="0">
                <a:sym typeface="Huawei Sans" panose="020C0503030203020204" pitchFamily="34" charset="0"/>
              </a:rPr>
              <a:t>是一种简化的</a:t>
            </a:r>
            <a:r>
              <a:rPr lang="en-US" altLang="zh-CN" sz="1600" dirty="0">
                <a:sym typeface="Huawei Sans" panose="020C0503030203020204" pitchFamily="34" charset="0"/>
              </a:rPr>
              <a:t>SRv6</a:t>
            </a:r>
            <a:r>
              <a:rPr lang="zh-CN" altLang="en-US" sz="1600" dirty="0">
                <a:sym typeface="Huawei Sans" panose="020C0503030203020204" pitchFamily="34" charset="0"/>
              </a:rPr>
              <a:t>实现，正常情况下不含有</a:t>
            </a:r>
            <a:r>
              <a:rPr lang="en-US" altLang="zh-CN" sz="1600" dirty="0">
                <a:sym typeface="Huawei Sans" panose="020C0503030203020204" pitchFamily="34" charset="0"/>
              </a:rPr>
              <a:t>SRH</a:t>
            </a:r>
            <a:r>
              <a:rPr lang="zh-CN" altLang="en-US" sz="1600" dirty="0">
                <a:sym typeface="Huawei Sans" panose="020C0503030203020204" pitchFamily="34" charset="0"/>
              </a:rPr>
              <a:t>扩展头，只能提供尽力而为的转发。</a:t>
            </a:r>
            <a:endParaRPr lang="en-US" altLang="zh-CN" sz="1600" dirty="0">
              <a:sym typeface="Huawei Sans" panose="020C0503030203020204" pitchFamily="34" charset="0"/>
            </a:endParaRPr>
          </a:p>
          <a:p>
            <a:r>
              <a:rPr lang="zh-CN" altLang="en-US" sz="1800" dirty="0">
                <a:sym typeface="Huawei Sans" panose="020C0503030203020204" pitchFamily="34" charset="0"/>
              </a:rPr>
              <a:t>在</a:t>
            </a:r>
            <a:r>
              <a:rPr lang="en-US" altLang="zh-CN" sz="1800" dirty="0">
                <a:sym typeface="Huawei Sans" panose="020C0503030203020204" pitchFamily="34" charset="0"/>
              </a:rPr>
              <a:t>SRv6</a:t>
            </a:r>
            <a:r>
              <a:rPr lang="zh-CN" altLang="en-US" sz="1800" dirty="0">
                <a:sym typeface="Huawei Sans" panose="020C0503030203020204" pitchFamily="34" charset="0"/>
              </a:rPr>
              <a:t>发展早期，基于</a:t>
            </a:r>
            <a:r>
              <a:rPr lang="en-US" altLang="zh-CN" sz="1800" dirty="0">
                <a:sym typeface="Huawei Sans" panose="020C0503030203020204" pitchFamily="34" charset="0"/>
              </a:rPr>
              <a:t>IPv6</a:t>
            </a:r>
            <a:r>
              <a:rPr lang="zh-CN" altLang="en-US" sz="1800" dirty="0">
                <a:sym typeface="Huawei Sans" panose="020C0503030203020204" pitchFamily="34" charset="0"/>
              </a:rPr>
              <a:t>路由可达性，利用</a:t>
            </a:r>
            <a:r>
              <a:rPr lang="en-US" altLang="zh-CN" sz="1800" dirty="0">
                <a:sym typeface="Huawei Sans" panose="020C0503030203020204" pitchFamily="34" charset="0"/>
              </a:rPr>
              <a:t>SRv6 BE</a:t>
            </a:r>
            <a:r>
              <a:rPr lang="zh-CN" altLang="en-US" sz="1800" dirty="0">
                <a:sym typeface="Huawei Sans" panose="020C0503030203020204" pitchFamily="34" charset="0"/>
              </a:rPr>
              <a:t>快速开通业务，具有无与伦比的优势；在后续演进中，可以按需升级网络的中间节点，部署</a:t>
            </a:r>
            <a:r>
              <a:rPr lang="en-US" altLang="zh-CN" sz="1800" dirty="0">
                <a:sym typeface="Huawei Sans" panose="020C0503030203020204" pitchFamily="34" charset="0"/>
              </a:rPr>
              <a:t>SRv6 Policy</a:t>
            </a:r>
            <a:r>
              <a:rPr lang="zh-CN" altLang="en-US" sz="1800" dirty="0">
                <a:sym typeface="Huawei Sans" panose="020C0503030203020204" pitchFamily="34" charset="0"/>
              </a:rPr>
              <a:t>，满足高价值业务的需求。</a:t>
            </a:r>
            <a:endParaRPr lang="zh-CN" altLang="en-US" sz="1800" dirty="0">
              <a:sym typeface="Huawei Sans" panose="020C0503030203020204" pitchFamily="34" charset="0"/>
            </a:endParaRPr>
          </a:p>
        </p:txBody>
      </p:sp>
      <p:sp>
        <p:nvSpPr>
          <p:cNvPr id="6" name="五边形 2"/>
          <p:cNvSpPr/>
          <p:nvPr/>
        </p:nvSpPr>
        <p:spPr bwMode="gray">
          <a:xfrm>
            <a:off x="8310982" y="110463"/>
            <a:ext cx="119596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SRv6</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SRH</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介绍</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燕尾形 3"/>
          <p:cNvSpPr/>
          <p:nvPr/>
        </p:nvSpPr>
        <p:spPr bwMode="gray">
          <a:xfrm>
            <a:off x="9430382" y="110463"/>
            <a:ext cx="119596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SRv6</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节点介绍</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 name="燕尾形 3"/>
          <p:cNvSpPr/>
          <p:nvPr/>
        </p:nvSpPr>
        <p:spPr bwMode="gray">
          <a:xfrm>
            <a:off x="10553128" y="105534"/>
            <a:ext cx="119596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SRv6</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转发原理</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r>
              <a:rPr lang="en-US" altLang="zh-CN" dirty="0">
                <a:sym typeface="Huawei Sans" panose="020C0503030203020204" pitchFamily="34" charset="0"/>
              </a:rPr>
              <a:t>SRv6</a:t>
            </a:r>
            <a:r>
              <a:rPr lang="zh-CN" altLang="en-US" dirty="0">
                <a:sym typeface="Huawei Sans" panose="020C0503030203020204" pitchFamily="34" charset="0"/>
              </a:rPr>
              <a:t> </a:t>
            </a:r>
            <a:r>
              <a:rPr lang="en-US" altLang="zh-CN" dirty="0">
                <a:sym typeface="Huawei Sans" panose="020C0503030203020204" pitchFamily="34" charset="0"/>
              </a:rPr>
              <a:t>Locator</a:t>
            </a:r>
            <a:r>
              <a:rPr lang="zh-CN" altLang="en-US" dirty="0">
                <a:sym typeface="Huawei Sans" panose="020C0503030203020204" pitchFamily="34" charset="0"/>
              </a:rPr>
              <a:t>信息扩散</a:t>
            </a:r>
            <a:endParaRPr lang="zh-CN" altLang="en-US" dirty="0">
              <a:sym typeface="Huawei Sans" panose="020C0503030203020204" pitchFamily="34" charset="0"/>
            </a:endParaRPr>
          </a:p>
        </p:txBody>
      </p:sp>
      <p:sp>
        <p:nvSpPr>
          <p:cNvPr id="27" name="文本占位符 5"/>
          <p:cNvSpPr>
            <a:spLocks noGrp="1"/>
          </p:cNvSpPr>
          <p:nvPr>
            <p:ph type="body" sz="quarter" idx="10"/>
          </p:nvPr>
        </p:nvSpPr>
        <p:spPr bwMode="gray">
          <a:xfrm>
            <a:off x="455612" y="1047750"/>
            <a:ext cx="11293475" cy="2228330"/>
          </a:xfrm>
        </p:spPr>
        <p:txBody>
          <a:bodyPr/>
          <a:lstStyle/>
          <a:p>
            <a:r>
              <a:rPr lang="zh-CN" altLang="en-US" sz="1600" dirty="0">
                <a:sym typeface="Huawei Sans" panose="020C0503030203020204" pitchFamily="34" charset="0"/>
              </a:rPr>
              <a:t>无论基于</a:t>
            </a:r>
            <a:r>
              <a:rPr lang="en-US" altLang="zh-CN" sz="1600" dirty="0">
                <a:sym typeface="Huawei Sans" panose="020C0503030203020204" pitchFamily="34" charset="0"/>
              </a:rPr>
              <a:t>SRv6 BE</a:t>
            </a:r>
            <a:r>
              <a:rPr lang="zh-CN" altLang="en-US" sz="1600" dirty="0">
                <a:sym typeface="Huawei Sans" panose="020C0503030203020204" pitchFamily="34" charset="0"/>
              </a:rPr>
              <a:t>或是</a:t>
            </a:r>
            <a:r>
              <a:rPr lang="en-US" altLang="zh-CN" sz="1600" dirty="0">
                <a:sym typeface="Huawei Sans" panose="020C0503030203020204" pitchFamily="34" charset="0"/>
              </a:rPr>
              <a:t>SRv6 Policy</a:t>
            </a:r>
            <a:r>
              <a:rPr lang="zh-CN" altLang="en-US" sz="1600" dirty="0">
                <a:sym typeface="Huawei Sans" panose="020C0503030203020204" pitchFamily="34" charset="0"/>
              </a:rPr>
              <a:t>转发流量，路由器都需要有</a:t>
            </a:r>
            <a:r>
              <a:rPr lang="en-US" altLang="zh-CN" sz="1600" dirty="0">
                <a:sym typeface="Huawei Sans" panose="020C0503030203020204" pitchFamily="34" charset="0"/>
              </a:rPr>
              <a:t>SRv6 Locator</a:t>
            </a:r>
            <a:r>
              <a:rPr lang="zh-CN" altLang="en-US" sz="1600" dirty="0">
                <a:sym typeface="Huawei Sans" panose="020C0503030203020204" pitchFamily="34" charset="0"/>
              </a:rPr>
              <a:t>的相关路由信息才能转发</a:t>
            </a:r>
            <a:r>
              <a:rPr lang="en-US" altLang="zh-CN" sz="1600" dirty="0">
                <a:sym typeface="Huawei Sans" panose="020C0503030203020204" pitchFamily="34" charset="0"/>
              </a:rPr>
              <a:t>SRv6</a:t>
            </a:r>
            <a:r>
              <a:rPr lang="zh-CN" altLang="en-US" sz="1600" dirty="0">
                <a:sym typeface="Huawei Sans" panose="020C0503030203020204" pitchFamily="34" charset="0"/>
              </a:rPr>
              <a:t>报文。</a:t>
            </a:r>
            <a:endParaRPr lang="en-US" altLang="zh-CN" sz="1600" dirty="0">
              <a:sym typeface="Huawei Sans" panose="020C0503030203020204" pitchFamily="34" charset="0"/>
            </a:endParaRPr>
          </a:p>
          <a:p>
            <a:r>
              <a:rPr lang="en-US" altLang="zh-CN" sz="1600" dirty="0">
                <a:sym typeface="Huawei Sans" panose="020C0503030203020204" pitchFamily="34" charset="0"/>
              </a:rPr>
              <a:t>SRv6</a:t>
            </a:r>
            <a:r>
              <a:rPr lang="zh-CN" altLang="en-US" sz="1600" dirty="0">
                <a:sym typeface="Huawei Sans" panose="020C0503030203020204" pitchFamily="34" charset="0"/>
              </a:rPr>
              <a:t>节点通常通过扩展</a:t>
            </a:r>
            <a:r>
              <a:rPr lang="en-US" altLang="zh-CN" sz="1600" dirty="0">
                <a:sym typeface="Huawei Sans" panose="020C0503030203020204" pitchFamily="34" charset="0"/>
              </a:rPr>
              <a:t>IGP</a:t>
            </a:r>
            <a:r>
              <a:rPr lang="zh-CN" altLang="en-US" sz="1600" dirty="0">
                <a:sym typeface="Huawei Sans" panose="020C0503030203020204" pitchFamily="34" charset="0"/>
              </a:rPr>
              <a:t>（扩展</a:t>
            </a:r>
            <a:r>
              <a:rPr lang="en-US" altLang="zh-CN" sz="1600" dirty="0">
                <a:sym typeface="Huawei Sans" panose="020C0503030203020204" pitchFamily="34" charset="0"/>
              </a:rPr>
              <a:t>OSPFv3</a:t>
            </a:r>
            <a:r>
              <a:rPr lang="zh-CN" altLang="en-US" sz="1600" dirty="0">
                <a:sym typeface="Huawei Sans" panose="020C0503030203020204" pitchFamily="34" charset="0"/>
              </a:rPr>
              <a:t>或扩展</a:t>
            </a:r>
            <a:r>
              <a:rPr lang="en-US" altLang="zh-CN" sz="1600" dirty="0">
                <a:sym typeface="Huawei Sans" panose="020C0503030203020204" pitchFamily="34" charset="0"/>
              </a:rPr>
              <a:t>IS-IS</a:t>
            </a:r>
            <a:r>
              <a:rPr lang="zh-CN" altLang="en-US" sz="1600" dirty="0">
                <a:sym typeface="Huawei Sans" panose="020C0503030203020204" pitchFamily="34" charset="0"/>
              </a:rPr>
              <a:t>），将</a:t>
            </a:r>
            <a:r>
              <a:rPr lang="en-US" altLang="zh-CN" sz="1600" dirty="0">
                <a:sym typeface="Huawei Sans" panose="020C0503030203020204" pitchFamily="34" charset="0"/>
              </a:rPr>
              <a:t>Locator</a:t>
            </a:r>
            <a:r>
              <a:rPr lang="zh-CN" altLang="en-US" sz="1600" dirty="0">
                <a:sym typeface="Huawei Sans" panose="020C0503030203020204" pitchFamily="34" charset="0"/>
              </a:rPr>
              <a:t>相关路由扩散到网络节点上（包括源节点，中转节点，</a:t>
            </a:r>
            <a:r>
              <a:rPr lang="en-US" altLang="zh-CN" sz="1600" dirty="0">
                <a:sym typeface="Huawei Sans" panose="020C0503030203020204" pitchFamily="34" charset="0"/>
              </a:rPr>
              <a:t>Endpoint</a:t>
            </a:r>
            <a:r>
              <a:rPr lang="zh-CN" altLang="en-US" sz="1600" dirty="0">
                <a:sym typeface="Huawei Sans" panose="020C0503030203020204" pitchFamily="34" charset="0"/>
              </a:rPr>
              <a:t>节点）。</a:t>
            </a:r>
            <a:endParaRPr lang="en-US" altLang="zh-CN" sz="1600" dirty="0">
              <a:sym typeface="Huawei Sans" panose="020C0503030203020204" pitchFamily="34" charset="0"/>
            </a:endParaRPr>
          </a:p>
        </p:txBody>
      </p:sp>
      <p:cxnSp>
        <p:nvCxnSpPr>
          <p:cNvPr id="28" name="直接连接符 27"/>
          <p:cNvCxnSpPr>
            <a:stCxn id="70" idx="1"/>
            <a:endCxn id="31" idx="3"/>
          </p:cNvCxnSpPr>
          <p:nvPr/>
        </p:nvCxnSpPr>
        <p:spPr bwMode="gray">
          <a:xfrm flipH="1">
            <a:off x="2030820" y="3415918"/>
            <a:ext cx="8252308"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矩形 28"/>
          <p:cNvSpPr/>
          <p:nvPr/>
        </p:nvSpPr>
        <p:spPr bwMode="gray">
          <a:xfrm>
            <a:off x="1552650" y="3633402"/>
            <a:ext cx="413896"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R1</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31" name="图片 30"/>
          <p:cNvPicPr/>
          <p:nvPr/>
        </p:nvPicPr>
        <p:blipFill>
          <a:blip r:embed="rId1" cstate="print">
            <a:extLst>
              <a:ext uri="{28A0092B-C50C-407E-A947-70E740481C1C}">
                <a14:useLocalDpi xmlns:a14="http://schemas.microsoft.com/office/drawing/2010/main" val="0"/>
              </a:ext>
            </a:extLst>
          </a:blip>
          <a:stretch>
            <a:fillRect/>
          </a:stretch>
        </p:blipFill>
        <p:spPr bwMode="gray">
          <a:xfrm>
            <a:off x="1490820" y="3194518"/>
            <a:ext cx="540000" cy="442800"/>
          </a:xfrm>
          <a:prstGeom prst="rect">
            <a:avLst/>
          </a:prstGeom>
        </p:spPr>
      </p:pic>
      <p:sp>
        <p:nvSpPr>
          <p:cNvPr id="32" name="文本框 31"/>
          <p:cNvSpPr txBox="1"/>
          <p:nvPr/>
        </p:nvSpPr>
        <p:spPr bwMode="gray">
          <a:xfrm>
            <a:off x="1053325" y="2405260"/>
            <a:ext cx="1281120" cy="307777"/>
          </a:xfrm>
          <a:prstGeom prst="rect">
            <a:avLst/>
          </a:prstGeom>
          <a:noFill/>
        </p:spPr>
        <p:txBody>
          <a:bodyPr wrap="none" rtlCol="0">
            <a:spAutoFit/>
          </a:bodyPr>
          <a:lstStyle/>
          <a:p>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Source Node</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矩形 34"/>
          <p:cNvSpPr/>
          <p:nvPr/>
        </p:nvSpPr>
        <p:spPr bwMode="gray">
          <a:xfrm>
            <a:off x="3714745" y="3633402"/>
            <a:ext cx="413896"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R2</a:t>
            </a:r>
            <a:endParaRPr lang="zh-CN" altLang="en-US" sz="1400" b="1">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36" name="图片 35"/>
          <p:cNvPicPr/>
          <p:nvPr/>
        </p:nvPicPr>
        <p:blipFill>
          <a:blip r:embed="rId1" cstate="print">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3643504" y="3194518"/>
            <a:ext cx="540000" cy="442800"/>
          </a:xfrm>
          <a:prstGeom prst="rect">
            <a:avLst/>
          </a:prstGeom>
        </p:spPr>
      </p:pic>
      <p:sp>
        <p:nvSpPr>
          <p:cNvPr id="39" name="文本框 38"/>
          <p:cNvSpPr txBox="1"/>
          <p:nvPr/>
        </p:nvSpPr>
        <p:spPr bwMode="gray">
          <a:xfrm>
            <a:off x="3157142" y="2405260"/>
            <a:ext cx="1305165" cy="307777"/>
          </a:xfrm>
          <a:prstGeom prst="rect">
            <a:avLst/>
          </a:prstGeom>
          <a:noFill/>
        </p:spPr>
        <p:txBody>
          <a:bodyPr wrap="none" rtlCol="0">
            <a:spAutoFit/>
          </a:bodyPr>
          <a:lstStyle/>
          <a:p>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Transit Node</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矩形 41"/>
          <p:cNvSpPr/>
          <p:nvPr/>
        </p:nvSpPr>
        <p:spPr bwMode="gray">
          <a:xfrm>
            <a:off x="5884724" y="3633402"/>
            <a:ext cx="413896"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R3</a:t>
            </a:r>
            <a:endParaRPr lang="zh-CN" altLang="en-US" sz="1400" b="1">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43" name="图片 42"/>
          <p:cNvPicPr/>
          <p:nvPr/>
        </p:nvPicPr>
        <p:blipFill>
          <a:blip r:embed="rId1" cstate="print">
            <a:extLst>
              <a:ext uri="{28A0092B-C50C-407E-A947-70E740481C1C}">
                <a14:useLocalDpi xmlns:a14="http://schemas.microsoft.com/office/drawing/2010/main" val="0"/>
              </a:ext>
            </a:extLst>
          </a:blip>
          <a:stretch>
            <a:fillRect/>
          </a:stretch>
        </p:blipFill>
        <p:spPr bwMode="gray">
          <a:xfrm>
            <a:off x="5826986" y="3194518"/>
            <a:ext cx="540000" cy="442800"/>
          </a:xfrm>
          <a:prstGeom prst="rect">
            <a:avLst/>
          </a:prstGeom>
        </p:spPr>
      </p:pic>
      <p:sp>
        <p:nvSpPr>
          <p:cNvPr id="44" name="文本框 43"/>
          <p:cNvSpPr txBox="1"/>
          <p:nvPr/>
        </p:nvSpPr>
        <p:spPr bwMode="gray">
          <a:xfrm>
            <a:off x="5285004" y="2405260"/>
            <a:ext cx="1478290" cy="307777"/>
          </a:xfrm>
          <a:prstGeom prst="rect">
            <a:avLst/>
          </a:prstGeom>
          <a:noFill/>
        </p:spPr>
        <p:txBody>
          <a:bodyPr wrap="none" rtlCol="0">
            <a:spAutoFit/>
          </a:bodyPr>
          <a:lstStyle/>
          <a:p>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Endpoint Node</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矩形 46"/>
          <p:cNvSpPr/>
          <p:nvPr/>
        </p:nvSpPr>
        <p:spPr bwMode="gray">
          <a:xfrm>
            <a:off x="8189720" y="3633402"/>
            <a:ext cx="405880"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R4</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48" name="图片 47"/>
          <p:cNvPicPr/>
          <p:nvPr/>
        </p:nvPicPr>
        <p:blipFill>
          <a:blip r:embed="rId1" cstate="print">
            <a:extLst>
              <a:ext uri="{28A0092B-C50C-407E-A947-70E740481C1C}">
                <a14:useLocalDpi xmlns:a14="http://schemas.microsoft.com/office/drawing/2010/main" val="0"/>
              </a:ext>
            </a:extLst>
          </a:blip>
          <a:stretch>
            <a:fillRect/>
          </a:stretch>
        </p:blipFill>
        <p:spPr bwMode="gray">
          <a:xfrm>
            <a:off x="8127974" y="3194518"/>
            <a:ext cx="540000" cy="442800"/>
          </a:xfrm>
          <a:prstGeom prst="rect">
            <a:avLst/>
          </a:prstGeom>
        </p:spPr>
      </p:pic>
      <p:sp>
        <p:nvSpPr>
          <p:cNvPr id="62" name="文本框 61"/>
          <p:cNvSpPr txBox="1"/>
          <p:nvPr/>
        </p:nvSpPr>
        <p:spPr bwMode="gray">
          <a:xfrm>
            <a:off x="7653514" y="2405260"/>
            <a:ext cx="1478290" cy="307777"/>
          </a:xfrm>
          <a:prstGeom prst="rect">
            <a:avLst/>
          </a:prstGeom>
          <a:noFill/>
        </p:spPr>
        <p:txBody>
          <a:bodyPr wrap="none" rtlCol="0">
            <a:spAutoFit/>
          </a:bodyPr>
          <a:lstStyle/>
          <a:p>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Endpoint Node</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38" name="组合 17"/>
          <p:cNvGrpSpPr/>
          <p:nvPr/>
        </p:nvGrpSpPr>
        <p:grpSpPr bwMode="gray">
          <a:xfrm>
            <a:off x="893946" y="3928477"/>
            <a:ext cx="1731303" cy="1327641"/>
            <a:chOff x="736643" y="2078128"/>
            <a:chExt cx="1731303" cy="849329"/>
          </a:xfrm>
        </p:grpSpPr>
        <p:sp>
          <p:nvSpPr>
            <p:cNvPr id="40" name="矩形: 圆角 52"/>
            <p:cNvSpPr/>
            <p:nvPr/>
          </p:nvSpPr>
          <p:spPr bwMode="gray">
            <a:xfrm>
              <a:off x="736643" y="2078128"/>
              <a:ext cx="1731303" cy="849329"/>
            </a:xfrm>
            <a:prstGeom prst="roundRect">
              <a:avLst>
                <a:gd name="adj" fmla="val 3125"/>
              </a:avLst>
            </a:prstGeom>
            <a:solidFill>
              <a:schemeClr val="bg1"/>
            </a:solidFill>
            <a:ln w="190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ltLang="zh-CN" sz="12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IPv6</a:t>
              </a:r>
              <a:r>
                <a:rPr lang="zh-CN" altLang="en-US" sz="12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路由表</a:t>
              </a:r>
              <a:endParaRPr lang="zh-CN" altLang="en-US" sz="12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TextBox 120"/>
            <p:cNvSpPr txBox="1"/>
            <p:nvPr/>
          </p:nvSpPr>
          <p:spPr bwMode="gray">
            <a:xfrm>
              <a:off x="788358" y="2241074"/>
              <a:ext cx="1638314" cy="662315"/>
            </a:xfrm>
            <a:prstGeom prst="roundRect">
              <a:avLst>
                <a:gd name="adj" fmla="val 3880"/>
              </a:avLst>
            </a:prstGeom>
            <a:noFill/>
            <a:ln w="12700">
              <a:solidFill>
                <a:srgbClr val="56C4D2"/>
              </a:solidFill>
            </a:ln>
          </p:spPr>
          <p:txBody>
            <a:bodyPr wrap="square" rtlCol="0" anchor="ctr">
              <a:spAutoFit/>
            </a:bodyPr>
            <a:lstStyle/>
            <a:p>
              <a:r>
                <a:rPr lang="en-US" altLang="zh-CN" sz="1200" dirty="0" err="1">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Dest</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     Len  NHP</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FC01::   96   Local</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FC03::   96   R2</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FC04::   96   R2</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FC05::   96   R2</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cxnSp>
        <p:nvCxnSpPr>
          <p:cNvPr id="4" name="Straight Arrow Connector 3"/>
          <p:cNvCxnSpPr/>
          <p:nvPr/>
        </p:nvCxnSpPr>
        <p:spPr bwMode="gray">
          <a:xfrm>
            <a:off x="2124914" y="3527888"/>
            <a:ext cx="1400175" cy="0"/>
          </a:xfrm>
          <a:prstGeom prst="straightConnector1">
            <a:avLst/>
          </a:prstGeom>
          <a:ln w="19050">
            <a:solidFill>
              <a:srgbClr val="56C4D2"/>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 name="TextBox 4"/>
          <p:cNvSpPr txBox="1"/>
          <p:nvPr/>
        </p:nvSpPr>
        <p:spPr bwMode="gray">
          <a:xfrm>
            <a:off x="2554126" y="3523988"/>
            <a:ext cx="466794" cy="307777"/>
          </a:xfrm>
          <a:prstGeom prst="rect">
            <a:avLst/>
          </a:prstGeom>
          <a:noFill/>
        </p:spPr>
        <p:txBody>
          <a:bodyPr wrap="none" rtlCol="0">
            <a:spAutoFit/>
          </a:bodyPr>
          <a:lstStyle/>
          <a:p>
            <a:r>
              <a:rPr lang="en-US" altLang="zh-CN" sz="1400" dirty="0"/>
              <a:t>IGP</a:t>
            </a:r>
            <a:endParaRPr lang="zh-CN" altLang="en-US" sz="1400" dirty="0"/>
          </a:p>
        </p:txBody>
      </p:sp>
      <p:cxnSp>
        <p:nvCxnSpPr>
          <p:cNvPr id="59" name="Straight Arrow Connector 58"/>
          <p:cNvCxnSpPr/>
          <p:nvPr/>
        </p:nvCxnSpPr>
        <p:spPr bwMode="gray">
          <a:xfrm>
            <a:off x="4332475" y="3523988"/>
            <a:ext cx="1400175" cy="0"/>
          </a:xfrm>
          <a:prstGeom prst="straightConnector1">
            <a:avLst/>
          </a:prstGeom>
          <a:ln w="19050">
            <a:solidFill>
              <a:srgbClr val="56C4D2"/>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63" name="TextBox 62"/>
          <p:cNvSpPr txBox="1"/>
          <p:nvPr/>
        </p:nvSpPr>
        <p:spPr bwMode="gray">
          <a:xfrm>
            <a:off x="4768653" y="3529613"/>
            <a:ext cx="466794" cy="307777"/>
          </a:xfrm>
          <a:prstGeom prst="rect">
            <a:avLst/>
          </a:prstGeom>
          <a:noFill/>
        </p:spPr>
        <p:txBody>
          <a:bodyPr wrap="none" rtlCol="0">
            <a:spAutoFit/>
          </a:bodyPr>
          <a:lstStyle/>
          <a:p>
            <a:r>
              <a:rPr lang="en-US" altLang="zh-CN" sz="1400" dirty="0"/>
              <a:t>IGP</a:t>
            </a:r>
            <a:endParaRPr lang="zh-CN" altLang="en-US" sz="1400" dirty="0"/>
          </a:p>
        </p:txBody>
      </p:sp>
      <p:cxnSp>
        <p:nvCxnSpPr>
          <p:cNvPr id="64" name="Straight Arrow Connector 63"/>
          <p:cNvCxnSpPr/>
          <p:nvPr/>
        </p:nvCxnSpPr>
        <p:spPr bwMode="gray">
          <a:xfrm>
            <a:off x="6544610" y="3538012"/>
            <a:ext cx="1400175" cy="0"/>
          </a:xfrm>
          <a:prstGeom prst="straightConnector1">
            <a:avLst/>
          </a:prstGeom>
          <a:ln w="19050">
            <a:solidFill>
              <a:srgbClr val="56C4D2"/>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65" name="TextBox 64"/>
          <p:cNvSpPr txBox="1"/>
          <p:nvPr/>
        </p:nvSpPr>
        <p:spPr bwMode="gray">
          <a:xfrm>
            <a:off x="7009135" y="3523988"/>
            <a:ext cx="466794" cy="307777"/>
          </a:xfrm>
          <a:prstGeom prst="rect">
            <a:avLst/>
          </a:prstGeom>
          <a:noFill/>
        </p:spPr>
        <p:txBody>
          <a:bodyPr wrap="none" rtlCol="0">
            <a:spAutoFit/>
          </a:bodyPr>
          <a:lstStyle/>
          <a:p>
            <a:r>
              <a:rPr lang="en-US" altLang="zh-CN" sz="1400" dirty="0"/>
              <a:t>IGP</a:t>
            </a:r>
            <a:endParaRPr lang="zh-CN" altLang="en-US" sz="1400" dirty="0"/>
          </a:p>
        </p:txBody>
      </p:sp>
      <p:sp>
        <p:nvSpPr>
          <p:cNvPr id="69" name="矩形 46"/>
          <p:cNvSpPr/>
          <p:nvPr/>
        </p:nvSpPr>
        <p:spPr bwMode="gray">
          <a:xfrm>
            <a:off x="10350188" y="3642927"/>
            <a:ext cx="405880"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R5</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70" name="图片 47"/>
          <p:cNvPicPr/>
          <p:nvPr/>
        </p:nvPicPr>
        <p:blipFill>
          <a:blip r:embed="rId1" cstate="print">
            <a:extLst>
              <a:ext uri="{28A0092B-C50C-407E-A947-70E740481C1C}">
                <a14:useLocalDpi xmlns:a14="http://schemas.microsoft.com/office/drawing/2010/main" val="0"/>
              </a:ext>
            </a:extLst>
          </a:blip>
          <a:stretch>
            <a:fillRect/>
          </a:stretch>
        </p:blipFill>
        <p:spPr bwMode="gray">
          <a:xfrm>
            <a:off x="10283128" y="3194518"/>
            <a:ext cx="540000" cy="442800"/>
          </a:xfrm>
          <a:prstGeom prst="rect">
            <a:avLst/>
          </a:prstGeom>
        </p:spPr>
      </p:pic>
      <p:sp>
        <p:nvSpPr>
          <p:cNvPr id="71" name="文本框 61"/>
          <p:cNvSpPr txBox="1"/>
          <p:nvPr/>
        </p:nvSpPr>
        <p:spPr bwMode="gray">
          <a:xfrm>
            <a:off x="9813982" y="2405260"/>
            <a:ext cx="1478290" cy="307777"/>
          </a:xfrm>
          <a:prstGeom prst="rect">
            <a:avLst/>
          </a:prstGeom>
          <a:noFill/>
        </p:spPr>
        <p:txBody>
          <a:bodyPr wrap="none" rtlCol="0">
            <a:spAutoFit/>
          </a:bodyPr>
          <a:lstStyle/>
          <a:p>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Endpoint Node</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72" name="组合 17"/>
          <p:cNvGrpSpPr/>
          <p:nvPr/>
        </p:nvGrpSpPr>
        <p:grpSpPr bwMode="gray">
          <a:xfrm>
            <a:off x="3056041" y="3928477"/>
            <a:ext cx="1731303" cy="1327641"/>
            <a:chOff x="736643" y="2078128"/>
            <a:chExt cx="1731303" cy="849329"/>
          </a:xfrm>
        </p:grpSpPr>
        <p:sp>
          <p:nvSpPr>
            <p:cNvPr id="73" name="矩形: 圆角 52"/>
            <p:cNvSpPr/>
            <p:nvPr/>
          </p:nvSpPr>
          <p:spPr bwMode="gray">
            <a:xfrm>
              <a:off x="736643" y="2078128"/>
              <a:ext cx="1731303" cy="849329"/>
            </a:xfrm>
            <a:prstGeom prst="roundRect">
              <a:avLst>
                <a:gd name="adj" fmla="val 3125"/>
              </a:avLst>
            </a:prstGeom>
            <a:solidFill>
              <a:schemeClr val="bg1"/>
            </a:solidFill>
            <a:ln w="190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ltLang="zh-CN" sz="12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IPv6</a:t>
              </a:r>
              <a:r>
                <a:rPr lang="zh-CN" altLang="en-US" sz="12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路由表</a:t>
              </a:r>
              <a:endParaRPr lang="zh-CN" altLang="en-US" sz="12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4" name="TextBox 120"/>
            <p:cNvSpPr txBox="1"/>
            <p:nvPr/>
          </p:nvSpPr>
          <p:spPr bwMode="gray">
            <a:xfrm>
              <a:off x="788358" y="2241074"/>
              <a:ext cx="1638314" cy="662315"/>
            </a:xfrm>
            <a:prstGeom prst="roundRect">
              <a:avLst>
                <a:gd name="adj" fmla="val 3880"/>
              </a:avLst>
            </a:prstGeom>
            <a:noFill/>
            <a:ln w="12700">
              <a:solidFill>
                <a:srgbClr val="56C4D2"/>
              </a:solidFill>
            </a:ln>
          </p:spPr>
          <p:txBody>
            <a:bodyPr wrap="square" rtlCol="0" anchor="ctr">
              <a:spAutoFit/>
            </a:bodyPr>
            <a:lstStyle/>
            <a:p>
              <a:r>
                <a:rPr lang="en-US" altLang="zh-CN" sz="1200" dirty="0" err="1">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Dest</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     Len  NHP</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FC01::   96   R1</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FC03::   96   R3</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FC04::   96   R3</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FC05::   96   R3</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75" name="组合 17"/>
          <p:cNvGrpSpPr/>
          <p:nvPr/>
        </p:nvGrpSpPr>
        <p:grpSpPr bwMode="gray">
          <a:xfrm>
            <a:off x="5236697" y="3946008"/>
            <a:ext cx="1731303" cy="1327641"/>
            <a:chOff x="736643" y="2078128"/>
            <a:chExt cx="1731303" cy="849329"/>
          </a:xfrm>
        </p:grpSpPr>
        <p:sp>
          <p:nvSpPr>
            <p:cNvPr id="76" name="矩形: 圆角 52"/>
            <p:cNvSpPr/>
            <p:nvPr/>
          </p:nvSpPr>
          <p:spPr bwMode="gray">
            <a:xfrm>
              <a:off x="736643" y="2078128"/>
              <a:ext cx="1731303" cy="849329"/>
            </a:xfrm>
            <a:prstGeom prst="roundRect">
              <a:avLst>
                <a:gd name="adj" fmla="val 3125"/>
              </a:avLst>
            </a:prstGeom>
            <a:solidFill>
              <a:schemeClr val="bg1"/>
            </a:solidFill>
            <a:ln w="190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ltLang="zh-CN" sz="12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IPv6</a:t>
              </a:r>
              <a:r>
                <a:rPr lang="zh-CN" altLang="en-US" sz="12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路由表</a:t>
              </a:r>
              <a:endParaRPr lang="zh-CN" altLang="en-US" sz="12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7" name="TextBox 120"/>
            <p:cNvSpPr txBox="1"/>
            <p:nvPr/>
          </p:nvSpPr>
          <p:spPr bwMode="gray">
            <a:xfrm>
              <a:off x="788358" y="2241074"/>
              <a:ext cx="1638314" cy="662315"/>
            </a:xfrm>
            <a:prstGeom prst="roundRect">
              <a:avLst>
                <a:gd name="adj" fmla="val 3880"/>
              </a:avLst>
            </a:prstGeom>
            <a:noFill/>
            <a:ln w="12700">
              <a:solidFill>
                <a:srgbClr val="56C4D2"/>
              </a:solidFill>
            </a:ln>
          </p:spPr>
          <p:txBody>
            <a:bodyPr wrap="square" rtlCol="0" anchor="ctr">
              <a:spAutoFit/>
            </a:bodyPr>
            <a:lstStyle/>
            <a:p>
              <a:r>
                <a:rPr lang="en-US" altLang="zh-CN" sz="1200" dirty="0" err="1">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Dest</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     Len  NHP</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FC01::   96   R2</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FC03::   96   Local</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FC04::   96   R4</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FC05::   96   R4</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78" name="组合 17"/>
          <p:cNvGrpSpPr/>
          <p:nvPr/>
        </p:nvGrpSpPr>
        <p:grpSpPr bwMode="gray">
          <a:xfrm>
            <a:off x="7529390" y="3939834"/>
            <a:ext cx="1731303" cy="1327641"/>
            <a:chOff x="736643" y="2078128"/>
            <a:chExt cx="1731303" cy="849329"/>
          </a:xfrm>
        </p:grpSpPr>
        <p:sp>
          <p:nvSpPr>
            <p:cNvPr id="79" name="矩形: 圆角 52"/>
            <p:cNvSpPr/>
            <p:nvPr/>
          </p:nvSpPr>
          <p:spPr bwMode="gray">
            <a:xfrm>
              <a:off x="736643" y="2078128"/>
              <a:ext cx="1731303" cy="849329"/>
            </a:xfrm>
            <a:prstGeom prst="roundRect">
              <a:avLst>
                <a:gd name="adj" fmla="val 3125"/>
              </a:avLst>
            </a:prstGeom>
            <a:solidFill>
              <a:schemeClr val="bg1"/>
            </a:solidFill>
            <a:ln w="190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ltLang="zh-CN" sz="12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IPv6</a:t>
              </a:r>
              <a:r>
                <a:rPr lang="zh-CN" altLang="en-US" sz="12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路由表</a:t>
              </a:r>
              <a:endParaRPr lang="zh-CN" altLang="en-US" sz="12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0" name="TextBox 120"/>
            <p:cNvSpPr txBox="1"/>
            <p:nvPr/>
          </p:nvSpPr>
          <p:spPr bwMode="gray">
            <a:xfrm>
              <a:off x="788358" y="2241074"/>
              <a:ext cx="1638314" cy="662315"/>
            </a:xfrm>
            <a:prstGeom prst="roundRect">
              <a:avLst>
                <a:gd name="adj" fmla="val 3880"/>
              </a:avLst>
            </a:prstGeom>
            <a:noFill/>
            <a:ln w="12700">
              <a:solidFill>
                <a:srgbClr val="56C4D2"/>
              </a:solidFill>
            </a:ln>
          </p:spPr>
          <p:txBody>
            <a:bodyPr wrap="square" rtlCol="0" anchor="ctr">
              <a:spAutoFit/>
            </a:bodyPr>
            <a:lstStyle/>
            <a:p>
              <a:r>
                <a:rPr lang="en-US" altLang="zh-CN" sz="1200" dirty="0" err="1">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Dest</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     Len  NHP</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FC01::   96   R3</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FC03::   96   R3</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FC04::   96   Local</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FC05::   96   R5</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81" name="组合 17"/>
          <p:cNvGrpSpPr/>
          <p:nvPr/>
        </p:nvGrpSpPr>
        <p:grpSpPr bwMode="gray">
          <a:xfrm>
            <a:off x="9687270" y="3939834"/>
            <a:ext cx="1731303" cy="1327641"/>
            <a:chOff x="736643" y="2078128"/>
            <a:chExt cx="1731303" cy="849329"/>
          </a:xfrm>
        </p:grpSpPr>
        <p:sp>
          <p:nvSpPr>
            <p:cNvPr id="82" name="矩形: 圆角 52"/>
            <p:cNvSpPr/>
            <p:nvPr/>
          </p:nvSpPr>
          <p:spPr bwMode="gray">
            <a:xfrm>
              <a:off x="736643" y="2078128"/>
              <a:ext cx="1731303" cy="849329"/>
            </a:xfrm>
            <a:prstGeom prst="roundRect">
              <a:avLst>
                <a:gd name="adj" fmla="val 3125"/>
              </a:avLst>
            </a:prstGeom>
            <a:solidFill>
              <a:schemeClr val="bg1"/>
            </a:solidFill>
            <a:ln w="190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ltLang="zh-CN" sz="12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IPv6</a:t>
              </a:r>
              <a:r>
                <a:rPr lang="zh-CN" altLang="en-US" sz="12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路由表</a:t>
              </a:r>
              <a:endParaRPr lang="zh-CN" altLang="en-US" sz="12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3" name="TextBox 120"/>
            <p:cNvSpPr txBox="1"/>
            <p:nvPr/>
          </p:nvSpPr>
          <p:spPr bwMode="gray">
            <a:xfrm>
              <a:off x="788358" y="2241074"/>
              <a:ext cx="1638314" cy="662315"/>
            </a:xfrm>
            <a:prstGeom prst="roundRect">
              <a:avLst>
                <a:gd name="adj" fmla="val 3880"/>
              </a:avLst>
            </a:prstGeom>
            <a:noFill/>
            <a:ln w="12700">
              <a:solidFill>
                <a:srgbClr val="56C4D2"/>
              </a:solidFill>
            </a:ln>
          </p:spPr>
          <p:txBody>
            <a:bodyPr wrap="square" rtlCol="0" anchor="ctr">
              <a:spAutoFit/>
            </a:bodyPr>
            <a:lstStyle/>
            <a:p>
              <a:r>
                <a:rPr lang="en-US" altLang="zh-CN" sz="1200" dirty="0" err="1">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Dest</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     Len  NHP</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FC01::   96   R4</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FC03::   96   R4</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FC04::   96   R4</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FC05::   96   Local</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cxnSp>
        <p:nvCxnSpPr>
          <p:cNvPr id="49" name="Straight Arrow Connector 48"/>
          <p:cNvCxnSpPr/>
          <p:nvPr/>
        </p:nvCxnSpPr>
        <p:spPr bwMode="gray">
          <a:xfrm>
            <a:off x="8828502" y="3543637"/>
            <a:ext cx="1400175" cy="0"/>
          </a:xfrm>
          <a:prstGeom prst="straightConnector1">
            <a:avLst/>
          </a:prstGeom>
          <a:ln w="19050">
            <a:solidFill>
              <a:srgbClr val="56C4D2"/>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0" name="TextBox 49"/>
          <p:cNvSpPr txBox="1"/>
          <p:nvPr/>
        </p:nvSpPr>
        <p:spPr bwMode="gray">
          <a:xfrm>
            <a:off x="9293027" y="3529613"/>
            <a:ext cx="466794" cy="307777"/>
          </a:xfrm>
          <a:prstGeom prst="rect">
            <a:avLst/>
          </a:prstGeom>
          <a:noFill/>
        </p:spPr>
        <p:txBody>
          <a:bodyPr wrap="none" rtlCol="0">
            <a:spAutoFit/>
          </a:bodyPr>
          <a:lstStyle/>
          <a:p>
            <a:r>
              <a:rPr lang="en-US" altLang="zh-CN" sz="1400" dirty="0"/>
              <a:t>IGP</a:t>
            </a:r>
            <a:endParaRPr lang="zh-CN" altLang="en-US" sz="1400" dirty="0"/>
          </a:p>
        </p:txBody>
      </p:sp>
      <p:sp>
        <p:nvSpPr>
          <p:cNvPr id="51" name="圆角矩形 59"/>
          <p:cNvSpPr/>
          <p:nvPr/>
        </p:nvSpPr>
        <p:spPr bwMode="gray">
          <a:xfrm>
            <a:off x="1294209" y="2703899"/>
            <a:ext cx="917445" cy="221690"/>
          </a:xfrm>
          <a:prstGeom prst="roundRect">
            <a:avLst>
              <a:gd name="adj" fmla="val 13019"/>
            </a:avLst>
          </a:prstGeom>
          <a:solidFill>
            <a:srgbClr val="D3394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FC01:: /96</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2" name="圆角矩形 59"/>
          <p:cNvSpPr/>
          <p:nvPr/>
        </p:nvSpPr>
        <p:spPr bwMode="gray">
          <a:xfrm>
            <a:off x="1294209" y="2951955"/>
            <a:ext cx="917445" cy="221690"/>
          </a:xfrm>
          <a:prstGeom prst="roundRect">
            <a:avLst>
              <a:gd name="adj" fmla="val 13019"/>
            </a:avLst>
          </a:prstGeom>
          <a:solidFill>
            <a:srgbClr val="56C4D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FC01::1</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3" name="圆角矩形 59"/>
          <p:cNvSpPr/>
          <p:nvPr/>
        </p:nvSpPr>
        <p:spPr bwMode="gray">
          <a:xfrm>
            <a:off x="9687270" y="5562520"/>
            <a:ext cx="917445" cy="221690"/>
          </a:xfrm>
          <a:prstGeom prst="roundRect">
            <a:avLst>
              <a:gd name="adj" fmla="val 13019"/>
            </a:avLst>
          </a:prstGeom>
          <a:solidFill>
            <a:srgbClr val="D3394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FC01:: /96</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4" name="圆角矩形 59"/>
          <p:cNvSpPr/>
          <p:nvPr/>
        </p:nvSpPr>
        <p:spPr bwMode="gray">
          <a:xfrm>
            <a:off x="9687270" y="5858301"/>
            <a:ext cx="917445" cy="221690"/>
          </a:xfrm>
          <a:prstGeom prst="roundRect">
            <a:avLst>
              <a:gd name="adj" fmla="val 13019"/>
            </a:avLst>
          </a:prstGeom>
          <a:solidFill>
            <a:srgbClr val="56C4D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FC01::1</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5" name="矩形 46"/>
          <p:cNvSpPr/>
          <p:nvPr/>
        </p:nvSpPr>
        <p:spPr bwMode="gray">
          <a:xfrm>
            <a:off x="10588541" y="5540209"/>
            <a:ext cx="708848" cy="276999"/>
          </a:xfrm>
          <a:prstGeom prst="rect">
            <a:avLst/>
          </a:prstGeom>
        </p:spPr>
        <p:txBody>
          <a:bodyPr wrap="none">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Locator</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6" name="矩形 46"/>
          <p:cNvSpPr/>
          <p:nvPr/>
        </p:nvSpPr>
        <p:spPr bwMode="gray">
          <a:xfrm>
            <a:off x="10576520" y="5836333"/>
            <a:ext cx="732894" cy="276999"/>
          </a:xfrm>
          <a:prstGeom prst="rect">
            <a:avLst/>
          </a:prstGeom>
        </p:spPr>
        <p:txBody>
          <a:bodyPr wrap="none">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End SID</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7" name="圆角矩形 59"/>
          <p:cNvSpPr/>
          <p:nvPr/>
        </p:nvSpPr>
        <p:spPr bwMode="gray">
          <a:xfrm>
            <a:off x="5676886" y="2703899"/>
            <a:ext cx="917445" cy="221690"/>
          </a:xfrm>
          <a:prstGeom prst="roundRect">
            <a:avLst>
              <a:gd name="adj" fmla="val 13019"/>
            </a:avLst>
          </a:prstGeom>
          <a:solidFill>
            <a:srgbClr val="D3394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FC03:: /96</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8" name="圆角矩形 59"/>
          <p:cNvSpPr/>
          <p:nvPr/>
        </p:nvSpPr>
        <p:spPr bwMode="gray">
          <a:xfrm>
            <a:off x="5676886" y="2951955"/>
            <a:ext cx="917445" cy="221690"/>
          </a:xfrm>
          <a:prstGeom prst="roundRect">
            <a:avLst>
              <a:gd name="adj" fmla="val 13019"/>
            </a:avLst>
          </a:prstGeom>
          <a:solidFill>
            <a:srgbClr val="56C4D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FC03::3</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0" name="圆角矩形 59"/>
          <p:cNvSpPr/>
          <p:nvPr/>
        </p:nvSpPr>
        <p:spPr bwMode="gray">
          <a:xfrm>
            <a:off x="7914397" y="2703899"/>
            <a:ext cx="917445" cy="221690"/>
          </a:xfrm>
          <a:prstGeom prst="roundRect">
            <a:avLst>
              <a:gd name="adj" fmla="val 13019"/>
            </a:avLst>
          </a:prstGeom>
          <a:solidFill>
            <a:srgbClr val="D3394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FC04:: /96</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1" name="圆角矩形 59"/>
          <p:cNvSpPr/>
          <p:nvPr/>
        </p:nvSpPr>
        <p:spPr bwMode="gray">
          <a:xfrm>
            <a:off x="7914397" y="2951955"/>
            <a:ext cx="917445" cy="221690"/>
          </a:xfrm>
          <a:prstGeom prst="roundRect">
            <a:avLst>
              <a:gd name="adj" fmla="val 13019"/>
            </a:avLst>
          </a:prstGeom>
          <a:solidFill>
            <a:srgbClr val="56C4D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FC04::4</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4" name="圆角矩形 59"/>
          <p:cNvSpPr/>
          <p:nvPr/>
        </p:nvSpPr>
        <p:spPr bwMode="gray">
          <a:xfrm>
            <a:off x="10094405" y="2703899"/>
            <a:ext cx="917445" cy="221690"/>
          </a:xfrm>
          <a:prstGeom prst="roundRect">
            <a:avLst>
              <a:gd name="adj" fmla="val 13019"/>
            </a:avLst>
          </a:prstGeom>
          <a:solidFill>
            <a:srgbClr val="D3394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FC05:: /96</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5" name="圆角矩形 59"/>
          <p:cNvSpPr/>
          <p:nvPr/>
        </p:nvSpPr>
        <p:spPr bwMode="gray">
          <a:xfrm>
            <a:off x="10094405" y="2951955"/>
            <a:ext cx="917445" cy="221690"/>
          </a:xfrm>
          <a:prstGeom prst="roundRect">
            <a:avLst>
              <a:gd name="adj" fmla="val 13019"/>
            </a:avLst>
          </a:prstGeom>
          <a:solidFill>
            <a:srgbClr val="56C4D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FC05::5</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8" name="圆角矩形 59"/>
          <p:cNvSpPr/>
          <p:nvPr/>
        </p:nvSpPr>
        <p:spPr bwMode="gray">
          <a:xfrm>
            <a:off x="3488908" y="2710261"/>
            <a:ext cx="911090" cy="221690"/>
          </a:xfrm>
          <a:prstGeom prst="roundRect">
            <a:avLst>
              <a:gd name="adj" fmla="val 13019"/>
            </a:avLst>
          </a:prstGeom>
          <a:solidFill>
            <a:srgbClr val="D3394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FC02:: </a:t>
            </a: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/96</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6" name="圆角矩形 59"/>
          <p:cNvSpPr/>
          <p:nvPr/>
        </p:nvSpPr>
        <p:spPr bwMode="gray">
          <a:xfrm>
            <a:off x="3488908" y="2946912"/>
            <a:ext cx="911090" cy="221690"/>
          </a:xfrm>
          <a:prstGeom prst="roundRect">
            <a:avLst>
              <a:gd name="adj" fmla="val 13019"/>
            </a:avLst>
          </a:prstGeom>
          <a:solidFill>
            <a:srgbClr val="56C4D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FC02::2</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7" name="五边形 2"/>
          <p:cNvSpPr/>
          <p:nvPr/>
        </p:nvSpPr>
        <p:spPr bwMode="gray">
          <a:xfrm>
            <a:off x="8310982" y="110463"/>
            <a:ext cx="119596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SRv6</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SRH</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介绍</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8" name="燕尾形 3"/>
          <p:cNvSpPr/>
          <p:nvPr/>
        </p:nvSpPr>
        <p:spPr bwMode="gray">
          <a:xfrm>
            <a:off x="9430382" y="110463"/>
            <a:ext cx="119596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SRv6</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节点介绍</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9" name="燕尾形 3"/>
          <p:cNvSpPr/>
          <p:nvPr/>
        </p:nvSpPr>
        <p:spPr bwMode="gray">
          <a:xfrm>
            <a:off x="10553128" y="105534"/>
            <a:ext cx="119596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SRv6</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转发原理</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r>
              <a:rPr lang="en-US" altLang="zh-CN" dirty="0">
                <a:sym typeface="Huawei Sans" panose="020C0503030203020204" pitchFamily="34" charset="0"/>
              </a:rPr>
              <a:t>SRv6 BE</a:t>
            </a:r>
            <a:r>
              <a:rPr lang="zh-CN" altLang="en-US" dirty="0">
                <a:sym typeface="Huawei Sans" panose="020C0503030203020204" pitchFamily="34" charset="0"/>
              </a:rPr>
              <a:t>转发过程</a:t>
            </a:r>
            <a:endParaRPr lang="zh-CN" altLang="en-US" dirty="0">
              <a:sym typeface="Huawei Sans" panose="020C0503030203020204" pitchFamily="34" charset="0"/>
            </a:endParaRPr>
          </a:p>
        </p:txBody>
      </p:sp>
      <p:sp>
        <p:nvSpPr>
          <p:cNvPr id="36" name="文本占位符 35"/>
          <p:cNvSpPr>
            <a:spLocks noGrp="1"/>
          </p:cNvSpPr>
          <p:nvPr>
            <p:ph type="body" sz="quarter" idx="10"/>
          </p:nvPr>
        </p:nvSpPr>
        <p:spPr bwMode="gray"/>
        <p:txBody>
          <a:bodyPr/>
          <a:lstStyle/>
          <a:p>
            <a:r>
              <a:rPr lang="zh-CN" altLang="en-US" sz="1600" dirty="0">
                <a:sym typeface="Huawei Sans" panose="020C0503030203020204" pitchFamily="34" charset="0"/>
              </a:rPr>
              <a:t>传统</a:t>
            </a:r>
            <a:r>
              <a:rPr lang="en-US" altLang="zh-CN" sz="1600" dirty="0">
                <a:sym typeface="Huawei Sans" panose="020C0503030203020204" pitchFamily="34" charset="0"/>
              </a:rPr>
              <a:t>MPLS</a:t>
            </a:r>
            <a:r>
              <a:rPr lang="zh-CN" altLang="en-US" sz="1600" dirty="0">
                <a:sym typeface="Huawei Sans" panose="020C0503030203020204" pitchFamily="34" charset="0"/>
              </a:rPr>
              <a:t>有</a:t>
            </a:r>
            <a:r>
              <a:rPr lang="en-US" altLang="zh-CN" sz="1600" dirty="0">
                <a:sym typeface="Huawei Sans" panose="020C0503030203020204" pitchFamily="34" charset="0"/>
              </a:rPr>
              <a:t>LDP</a:t>
            </a:r>
            <a:r>
              <a:rPr lang="zh-CN" altLang="en-US" sz="1600" dirty="0">
                <a:sym typeface="Huawei Sans" panose="020C0503030203020204" pitchFamily="34" charset="0"/>
              </a:rPr>
              <a:t>和</a:t>
            </a:r>
            <a:r>
              <a:rPr lang="en-US" altLang="zh-CN" sz="1600" dirty="0">
                <a:sym typeface="Huawei Sans" panose="020C0503030203020204" pitchFamily="34" charset="0"/>
              </a:rPr>
              <a:t>RSVP-TE</a:t>
            </a:r>
            <a:r>
              <a:rPr lang="zh-CN" altLang="en-US" sz="1600" dirty="0">
                <a:sym typeface="Huawei Sans" panose="020C0503030203020204" pitchFamily="34" charset="0"/>
              </a:rPr>
              <a:t>两种控制协议，其中</a:t>
            </a:r>
            <a:r>
              <a:rPr lang="en-US" altLang="zh-CN" sz="1600" dirty="0">
                <a:sym typeface="Huawei Sans" panose="020C0503030203020204" pitchFamily="34" charset="0"/>
              </a:rPr>
              <a:t>LDP</a:t>
            </a:r>
            <a:r>
              <a:rPr lang="zh-CN" altLang="en-US" sz="1600" dirty="0">
                <a:sym typeface="Huawei Sans" panose="020C0503030203020204" pitchFamily="34" charset="0"/>
              </a:rPr>
              <a:t>方式不支持流量工程能力，</a:t>
            </a:r>
            <a:r>
              <a:rPr lang="en-US" altLang="zh-CN" sz="1600" dirty="0">
                <a:sym typeface="Huawei Sans" panose="020C0503030203020204" pitchFamily="34" charset="0"/>
              </a:rPr>
              <a:t>LDP</a:t>
            </a:r>
            <a:r>
              <a:rPr lang="zh-CN" altLang="en-US" sz="1600" dirty="0">
                <a:sym typeface="Huawei Sans" panose="020C0503030203020204" pitchFamily="34" charset="0"/>
              </a:rPr>
              <a:t>利用</a:t>
            </a:r>
            <a:r>
              <a:rPr lang="en-US" altLang="zh-CN" sz="1600" dirty="0">
                <a:sym typeface="Huawei Sans" panose="020C0503030203020204" pitchFamily="34" charset="0"/>
              </a:rPr>
              <a:t>IGP</a:t>
            </a:r>
            <a:r>
              <a:rPr lang="zh-CN" altLang="en-US" sz="1600" dirty="0">
                <a:sym typeface="Huawei Sans" panose="020C0503030203020204" pitchFamily="34" charset="0"/>
              </a:rPr>
              <a:t>算路结果，建立</a:t>
            </a:r>
            <a:r>
              <a:rPr lang="en-US" altLang="zh-CN" sz="1600" dirty="0">
                <a:sym typeface="Huawei Sans" panose="020C0503030203020204" pitchFamily="34" charset="0"/>
              </a:rPr>
              <a:t>LDP LSP</a:t>
            </a:r>
            <a:r>
              <a:rPr lang="zh-CN" altLang="en-US" sz="1600" dirty="0">
                <a:sym typeface="Huawei Sans" panose="020C0503030203020204" pitchFamily="34" charset="0"/>
              </a:rPr>
              <a:t>指导转发。在</a:t>
            </a:r>
            <a:r>
              <a:rPr lang="en-US" altLang="zh-CN" sz="1600" dirty="0">
                <a:sym typeface="Huawei Sans" panose="020C0503030203020204" pitchFamily="34" charset="0"/>
              </a:rPr>
              <a:t>SRv6</a:t>
            </a:r>
            <a:r>
              <a:rPr lang="zh-CN" altLang="en-US" sz="1600" dirty="0">
                <a:sym typeface="Huawei Sans" panose="020C0503030203020204" pitchFamily="34" charset="0"/>
              </a:rPr>
              <a:t>里，也有类似的方式，只不过</a:t>
            </a:r>
            <a:r>
              <a:rPr lang="en-US" altLang="zh-CN" sz="1600" dirty="0">
                <a:sym typeface="Huawei Sans" panose="020C0503030203020204" pitchFamily="34" charset="0"/>
              </a:rPr>
              <a:t>SRv6</a:t>
            </a:r>
            <a:r>
              <a:rPr lang="zh-CN" altLang="en-US" sz="1600" dirty="0">
                <a:sym typeface="Huawei Sans" panose="020C0503030203020204" pitchFamily="34" charset="0"/>
              </a:rPr>
              <a:t>仅使用一个业务</a:t>
            </a:r>
            <a:r>
              <a:rPr lang="en-US" altLang="zh-CN" sz="1600" dirty="0">
                <a:sym typeface="Huawei Sans" panose="020C0503030203020204" pitchFamily="34" charset="0"/>
              </a:rPr>
              <a:t>SID</a:t>
            </a:r>
            <a:r>
              <a:rPr lang="zh-CN" altLang="en-US" sz="1600" dirty="0">
                <a:sym typeface="Huawei Sans" panose="020C0503030203020204" pitchFamily="34" charset="0"/>
              </a:rPr>
              <a:t>来指引报文在</a:t>
            </a:r>
            <a:r>
              <a:rPr lang="en-US" altLang="zh-CN" sz="1600" dirty="0">
                <a:sym typeface="Huawei Sans" panose="020C0503030203020204" pitchFamily="34" charset="0"/>
              </a:rPr>
              <a:t>IP</a:t>
            </a:r>
            <a:r>
              <a:rPr lang="zh-CN" altLang="en-US" sz="1600" dirty="0">
                <a:sym typeface="Huawei Sans" panose="020C0503030203020204" pitchFamily="34" charset="0"/>
              </a:rPr>
              <a:t>网络里进行尽力而为（</a:t>
            </a:r>
            <a:r>
              <a:rPr lang="en-US" altLang="zh-CN" sz="1600" dirty="0">
                <a:sym typeface="Huawei Sans" panose="020C0503030203020204" pitchFamily="34" charset="0"/>
              </a:rPr>
              <a:t>Best Effort</a:t>
            </a:r>
            <a:r>
              <a:rPr lang="zh-CN" altLang="en-US" sz="1600" dirty="0">
                <a:sym typeface="Huawei Sans" panose="020C0503030203020204" pitchFamily="34" charset="0"/>
              </a:rPr>
              <a:t>，</a:t>
            </a:r>
            <a:r>
              <a:rPr lang="en-US" altLang="zh-CN" sz="1600" dirty="0">
                <a:sym typeface="Huawei Sans" panose="020C0503030203020204" pitchFamily="34" charset="0"/>
              </a:rPr>
              <a:t>BE</a:t>
            </a:r>
            <a:r>
              <a:rPr lang="zh-CN" altLang="en-US" sz="1600" dirty="0">
                <a:sym typeface="Huawei Sans" panose="020C0503030203020204" pitchFamily="34" charset="0"/>
              </a:rPr>
              <a:t>）的转发，这种方式就是</a:t>
            </a:r>
            <a:r>
              <a:rPr lang="en-US" altLang="zh-CN" sz="1600" dirty="0">
                <a:sym typeface="Huawei Sans" panose="020C0503030203020204" pitchFamily="34" charset="0"/>
              </a:rPr>
              <a:t>SRv6 BE</a:t>
            </a:r>
            <a:r>
              <a:rPr lang="zh-CN" altLang="en-US" sz="1600" dirty="0">
                <a:sym typeface="Huawei Sans" panose="020C0503030203020204" pitchFamily="34" charset="0"/>
              </a:rPr>
              <a:t>。</a:t>
            </a:r>
            <a:endParaRPr lang="en-US" altLang="zh-CN" sz="1600" dirty="0">
              <a:sym typeface="Huawei Sans" panose="020C0503030203020204" pitchFamily="34" charset="0"/>
            </a:endParaRPr>
          </a:p>
          <a:p>
            <a:r>
              <a:rPr lang="en-US" altLang="zh-CN" sz="1600" dirty="0">
                <a:sym typeface="Huawei Sans" panose="020C0503030203020204" pitchFamily="34" charset="0"/>
              </a:rPr>
              <a:t>SRv6 BE</a:t>
            </a:r>
            <a:r>
              <a:rPr lang="zh-CN" altLang="en-US" sz="1600" dirty="0">
                <a:sym typeface="Huawei Sans" panose="020C0503030203020204" pitchFamily="34" charset="0"/>
              </a:rPr>
              <a:t>的转发路径计算依据</a:t>
            </a:r>
            <a:r>
              <a:rPr lang="en-US" altLang="zh-CN" sz="1600" dirty="0">
                <a:sym typeface="Huawei Sans" panose="020C0503030203020204" pitchFamily="34" charset="0"/>
              </a:rPr>
              <a:t>IGP</a:t>
            </a:r>
            <a:r>
              <a:rPr lang="zh-CN" altLang="en-US" sz="1600" dirty="0">
                <a:sym typeface="Huawei Sans" panose="020C0503030203020204" pitchFamily="34" charset="0"/>
              </a:rPr>
              <a:t>开销。</a:t>
            </a:r>
            <a:endParaRPr lang="en-US" altLang="zh-CN" sz="1600" dirty="0">
              <a:sym typeface="Huawei Sans" panose="020C0503030203020204" pitchFamily="34" charset="0"/>
            </a:endParaRPr>
          </a:p>
          <a:p>
            <a:endParaRPr lang="en-US" altLang="zh-CN" sz="1600" dirty="0">
              <a:sym typeface="Huawei Sans" panose="020C0503030203020204" pitchFamily="34" charset="0"/>
            </a:endParaRPr>
          </a:p>
          <a:p>
            <a:endParaRPr lang="en-US" altLang="zh-CN" sz="1600" dirty="0">
              <a:sym typeface="Huawei Sans" panose="020C0503030203020204" pitchFamily="34" charset="0"/>
            </a:endParaRPr>
          </a:p>
          <a:p>
            <a:endParaRPr lang="en-US" altLang="zh-CN" sz="1600" dirty="0">
              <a:sym typeface="Huawei Sans" panose="020C0503030203020204" pitchFamily="34" charset="0"/>
            </a:endParaRPr>
          </a:p>
          <a:p>
            <a:endParaRPr lang="en-US" altLang="zh-CN" sz="1600" dirty="0">
              <a:sym typeface="Huawei Sans" panose="020C0503030203020204" pitchFamily="34" charset="0"/>
            </a:endParaRPr>
          </a:p>
          <a:p>
            <a:endParaRPr lang="en-US" altLang="zh-CN" sz="1600" dirty="0">
              <a:sym typeface="Huawei Sans" panose="020C0503030203020204" pitchFamily="34" charset="0"/>
            </a:endParaRPr>
          </a:p>
          <a:p>
            <a:endParaRPr lang="en-US" altLang="zh-CN" sz="1600" dirty="0">
              <a:sym typeface="Huawei Sans" panose="020C0503030203020204" pitchFamily="34" charset="0"/>
            </a:endParaRPr>
          </a:p>
        </p:txBody>
      </p:sp>
      <p:cxnSp>
        <p:nvCxnSpPr>
          <p:cNvPr id="46" name="直接连接符 27"/>
          <p:cNvCxnSpPr>
            <a:stCxn id="86" idx="1"/>
            <a:endCxn id="51" idx="3"/>
          </p:cNvCxnSpPr>
          <p:nvPr/>
        </p:nvCxnSpPr>
        <p:spPr bwMode="gray">
          <a:xfrm flipH="1">
            <a:off x="1470380" y="3941816"/>
            <a:ext cx="825570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9" name="矩形 28"/>
          <p:cNvSpPr/>
          <p:nvPr/>
        </p:nvSpPr>
        <p:spPr bwMode="gray">
          <a:xfrm>
            <a:off x="992210" y="4159300"/>
            <a:ext cx="413896"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R1</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51" name="图片 30"/>
          <p:cNvPicPr/>
          <p:nvPr/>
        </p:nvPicPr>
        <p:blipFill>
          <a:blip r:embed="rId1" cstate="print">
            <a:extLst>
              <a:ext uri="{28A0092B-C50C-407E-A947-70E740481C1C}">
                <a14:useLocalDpi xmlns:a14="http://schemas.microsoft.com/office/drawing/2010/main" val="0"/>
              </a:ext>
            </a:extLst>
          </a:blip>
          <a:stretch>
            <a:fillRect/>
          </a:stretch>
        </p:blipFill>
        <p:spPr bwMode="gray">
          <a:xfrm>
            <a:off x="930380" y="3720416"/>
            <a:ext cx="540000" cy="442800"/>
          </a:xfrm>
          <a:prstGeom prst="rect">
            <a:avLst/>
          </a:prstGeom>
        </p:spPr>
      </p:pic>
      <p:sp>
        <p:nvSpPr>
          <p:cNvPr id="52" name="文本框 31"/>
          <p:cNvSpPr txBox="1"/>
          <p:nvPr/>
        </p:nvSpPr>
        <p:spPr bwMode="gray">
          <a:xfrm>
            <a:off x="569085" y="2959733"/>
            <a:ext cx="1281120" cy="307777"/>
          </a:xfrm>
          <a:prstGeom prst="rect">
            <a:avLst/>
          </a:prstGeom>
          <a:noFill/>
        </p:spPr>
        <p:txBody>
          <a:bodyPr wrap="none" rtlCol="0">
            <a:spAutoFit/>
          </a:bodyPr>
          <a:lstStyle/>
          <a:p>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Source Node</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3" name="矩形 34"/>
          <p:cNvSpPr/>
          <p:nvPr/>
        </p:nvSpPr>
        <p:spPr bwMode="gray">
          <a:xfrm>
            <a:off x="3154305" y="4159300"/>
            <a:ext cx="413896"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R2</a:t>
            </a:r>
            <a:endParaRPr lang="zh-CN" altLang="en-US" sz="1400" b="1">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54" name="图片 35"/>
          <p:cNvPicPr/>
          <p:nvPr/>
        </p:nvPicPr>
        <p:blipFill>
          <a:blip r:embed="rId1" cstate="print">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3083064" y="3720416"/>
            <a:ext cx="540000" cy="442800"/>
          </a:xfrm>
          <a:prstGeom prst="rect">
            <a:avLst/>
          </a:prstGeom>
        </p:spPr>
      </p:pic>
      <p:sp>
        <p:nvSpPr>
          <p:cNvPr id="56" name="矩形 41"/>
          <p:cNvSpPr/>
          <p:nvPr/>
        </p:nvSpPr>
        <p:spPr bwMode="gray">
          <a:xfrm>
            <a:off x="5324284" y="4159300"/>
            <a:ext cx="413896"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R3</a:t>
            </a:r>
            <a:endParaRPr lang="zh-CN" altLang="en-US" sz="1400" b="1">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57" name="图片 42"/>
          <p:cNvPicPr/>
          <p:nvPr/>
        </p:nvPicPr>
        <p:blipFill>
          <a:blip r:embed="rId1" cstate="print">
            <a:extLst>
              <a:ext uri="{28A0092B-C50C-407E-A947-70E740481C1C}">
                <a14:useLocalDpi xmlns:a14="http://schemas.microsoft.com/office/drawing/2010/main" val="0"/>
              </a:ext>
            </a:extLst>
          </a:blip>
          <a:stretch>
            <a:fillRect/>
          </a:stretch>
        </p:blipFill>
        <p:spPr bwMode="gray">
          <a:xfrm>
            <a:off x="5266546" y="3720416"/>
            <a:ext cx="540000" cy="442800"/>
          </a:xfrm>
          <a:prstGeom prst="rect">
            <a:avLst/>
          </a:prstGeom>
        </p:spPr>
      </p:pic>
      <p:sp>
        <p:nvSpPr>
          <p:cNvPr id="58" name="文本框 43"/>
          <p:cNvSpPr txBox="1"/>
          <p:nvPr/>
        </p:nvSpPr>
        <p:spPr bwMode="gray">
          <a:xfrm>
            <a:off x="4800764" y="2959733"/>
            <a:ext cx="1478290" cy="307777"/>
          </a:xfrm>
          <a:prstGeom prst="rect">
            <a:avLst/>
          </a:prstGeom>
          <a:noFill/>
        </p:spPr>
        <p:txBody>
          <a:bodyPr wrap="none" rtlCol="0">
            <a:spAutoFit/>
          </a:bodyPr>
          <a:lstStyle/>
          <a:p>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Endpoint Node</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1" name="矩形 46"/>
          <p:cNvSpPr/>
          <p:nvPr/>
        </p:nvSpPr>
        <p:spPr bwMode="gray">
          <a:xfrm>
            <a:off x="7629280" y="4159300"/>
            <a:ext cx="405880"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R4</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62" name="图片 47"/>
          <p:cNvPicPr/>
          <p:nvPr/>
        </p:nvPicPr>
        <p:blipFill>
          <a:blip r:embed="rId1" cstate="print">
            <a:extLst>
              <a:ext uri="{28A0092B-C50C-407E-A947-70E740481C1C}">
                <a14:useLocalDpi xmlns:a14="http://schemas.microsoft.com/office/drawing/2010/main" val="0"/>
              </a:ext>
            </a:extLst>
          </a:blip>
          <a:stretch>
            <a:fillRect/>
          </a:stretch>
        </p:blipFill>
        <p:spPr bwMode="gray">
          <a:xfrm>
            <a:off x="7567534" y="3720416"/>
            <a:ext cx="540000" cy="442800"/>
          </a:xfrm>
          <a:prstGeom prst="rect">
            <a:avLst/>
          </a:prstGeom>
        </p:spPr>
      </p:pic>
      <p:sp>
        <p:nvSpPr>
          <p:cNvPr id="63" name="文本框 61"/>
          <p:cNvSpPr txBox="1"/>
          <p:nvPr/>
        </p:nvSpPr>
        <p:spPr bwMode="gray">
          <a:xfrm>
            <a:off x="7102599" y="2959733"/>
            <a:ext cx="1478290" cy="307777"/>
          </a:xfrm>
          <a:prstGeom prst="rect">
            <a:avLst/>
          </a:prstGeom>
          <a:noFill/>
        </p:spPr>
        <p:txBody>
          <a:bodyPr wrap="none" rtlCol="0">
            <a:spAutoFit/>
          </a:bodyPr>
          <a:lstStyle/>
          <a:p>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Endpoint Node</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5" name="矩形 46"/>
          <p:cNvSpPr/>
          <p:nvPr/>
        </p:nvSpPr>
        <p:spPr bwMode="gray">
          <a:xfrm>
            <a:off x="9788157" y="4159300"/>
            <a:ext cx="405880"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R5</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86" name="图片 47"/>
          <p:cNvPicPr/>
          <p:nvPr/>
        </p:nvPicPr>
        <p:blipFill>
          <a:blip r:embed="rId1" cstate="print">
            <a:extLst>
              <a:ext uri="{28A0092B-C50C-407E-A947-70E740481C1C}">
                <a14:useLocalDpi xmlns:a14="http://schemas.microsoft.com/office/drawing/2010/main" val="0"/>
              </a:ext>
            </a:extLst>
          </a:blip>
          <a:stretch>
            <a:fillRect/>
          </a:stretch>
        </p:blipFill>
        <p:spPr bwMode="gray">
          <a:xfrm>
            <a:off x="9726085" y="3720416"/>
            <a:ext cx="540000" cy="442800"/>
          </a:xfrm>
          <a:prstGeom prst="rect">
            <a:avLst/>
          </a:prstGeom>
        </p:spPr>
      </p:pic>
      <p:sp>
        <p:nvSpPr>
          <p:cNvPr id="87" name="文本框 61"/>
          <p:cNvSpPr txBox="1"/>
          <p:nvPr/>
        </p:nvSpPr>
        <p:spPr bwMode="gray">
          <a:xfrm>
            <a:off x="9261476" y="2959733"/>
            <a:ext cx="1478290" cy="307777"/>
          </a:xfrm>
          <a:prstGeom prst="rect">
            <a:avLst/>
          </a:prstGeom>
          <a:noFill/>
        </p:spPr>
        <p:txBody>
          <a:bodyPr wrap="none" rtlCol="0">
            <a:spAutoFit/>
          </a:bodyPr>
          <a:lstStyle/>
          <a:p>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Endpoint Node</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0" name="文本框 38"/>
          <p:cNvSpPr txBox="1"/>
          <p:nvPr/>
        </p:nvSpPr>
        <p:spPr bwMode="gray">
          <a:xfrm>
            <a:off x="2656695" y="2973966"/>
            <a:ext cx="1305165" cy="307777"/>
          </a:xfrm>
          <a:prstGeom prst="rect">
            <a:avLst/>
          </a:prstGeom>
          <a:noFill/>
        </p:spPr>
        <p:txBody>
          <a:bodyPr wrap="none" rtlCol="0">
            <a:spAutoFit/>
          </a:bodyPr>
          <a:lstStyle/>
          <a:p>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Transit Node</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aphicFrame>
        <p:nvGraphicFramePr>
          <p:cNvPr id="91" name="Table 90"/>
          <p:cNvGraphicFramePr>
            <a:graphicFrameLocks noGrp="1"/>
          </p:cNvGraphicFramePr>
          <p:nvPr/>
        </p:nvGraphicFramePr>
        <p:xfrm>
          <a:off x="8142848" y="4462516"/>
          <a:ext cx="1345061" cy="731520"/>
        </p:xfrm>
        <a:graphic>
          <a:graphicData uri="http://schemas.openxmlformats.org/drawingml/2006/table">
            <a:tbl>
              <a:tblPr firstRow="1" bandRow="1">
                <a:tableStyleId>{72833802-FEF1-4C79-8D5D-14CF1EAF98D9}</a:tableStyleId>
              </a:tblPr>
              <a:tblGrid>
                <a:gridCol w="1345061"/>
              </a:tblGrid>
              <a:tr h="370840">
                <a:tc>
                  <a:txBody>
                    <a:bodyPr/>
                    <a:lstStyle/>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DIPv6</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FC05::5</a:t>
                      </a:r>
                      <a:endPar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SIPv6</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FC01::1</a:t>
                      </a:r>
                      <a:endPar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6C4D2"/>
                    </a:solidFill>
                  </a:tcPr>
                </a:tc>
              </a:tr>
              <a:tr h="0">
                <a:tc>
                  <a:txBody>
                    <a:bodyPr/>
                    <a:lstStyle/>
                    <a:p>
                      <a:pPr algn="ctr"/>
                      <a:r>
                        <a:rPr lang="en-US" altLang="zh-CN" sz="1200" dirty="0">
                          <a:solidFill>
                            <a:schemeClr val="bg1"/>
                          </a:solidFill>
                        </a:rPr>
                        <a:t>Payload</a:t>
                      </a:r>
                      <a:endParaRPr lang="zh-CN" altLang="en-US" sz="1200"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r>
            </a:tbl>
          </a:graphicData>
        </a:graphic>
      </p:graphicFrame>
      <p:sp>
        <p:nvSpPr>
          <p:cNvPr id="32" name="圆角矩形 59"/>
          <p:cNvSpPr/>
          <p:nvPr/>
        </p:nvSpPr>
        <p:spPr bwMode="gray">
          <a:xfrm>
            <a:off x="737166" y="3214294"/>
            <a:ext cx="917445" cy="221690"/>
          </a:xfrm>
          <a:prstGeom prst="roundRect">
            <a:avLst>
              <a:gd name="adj" fmla="val 13019"/>
            </a:avLst>
          </a:prstGeom>
          <a:solidFill>
            <a:srgbClr val="D3394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FC01:: /96</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 name="圆角矩形 59"/>
          <p:cNvSpPr/>
          <p:nvPr/>
        </p:nvSpPr>
        <p:spPr bwMode="gray">
          <a:xfrm>
            <a:off x="737166" y="3471975"/>
            <a:ext cx="917445" cy="221690"/>
          </a:xfrm>
          <a:prstGeom prst="roundRect">
            <a:avLst>
              <a:gd name="adj" fmla="val 13019"/>
            </a:avLst>
          </a:prstGeom>
          <a:solidFill>
            <a:srgbClr val="56C4D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FC01::1</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 name="圆角矩形 59"/>
          <p:cNvSpPr/>
          <p:nvPr/>
        </p:nvSpPr>
        <p:spPr bwMode="gray">
          <a:xfrm>
            <a:off x="5080234" y="3214294"/>
            <a:ext cx="917445" cy="221690"/>
          </a:xfrm>
          <a:prstGeom prst="roundRect">
            <a:avLst>
              <a:gd name="adj" fmla="val 13019"/>
            </a:avLst>
          </a:prstGeom>
          <a:solidFill>
            <a:srgbClr val="D3394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FC03:: /96</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圆角矩形 59"/>
          <p:cNvSpPr/>
          <p:nvPr/>
        </p:nvSpPr>
        <p:spPr bwMode="gray">
          <a:xfrm>
            <a:off x="5080234" y="3471975"/>
            <a:ext cx="917445" cy="221690"/>
          </a:xfrm>
          <a:prstGeom prst="roundRect">
            <a:avLst>
              <a:gd name="adj" fmla="val 13019"/>
            </a:avLst>
          </a:prstGeom>
          <a:solidFill>
            <a:srgbClr val="56C4D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FC03::3</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圆角矩形 59"/>
          <p:cNvSpPr/>
          <p:nvPr/>
        </p:nvSpPr>
        <p:spPr bwMode="gray">
          <a:xfrm>
            <a:off x="7397428" y="3214294"/>
            <a:ext cx="917445" cy="221690"/>
          </a:xfrm>
          <a:prstGeom prst="roundRect">
            <a:avLst>
              <a:gd name="adj" fmla="val 13019"/>
            </a:avLst>
          </a:prstGeom>
          <a:solidFill>
            <a:srgbClr val="D3394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FC04:: /96</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圆角矩形 59"/>
          <p:cNvSpPr/>
          <p:nvPr/>
        </p:nvSpPr>
        <p:spPr bwMode="gray">
          <a:xfrm>
            <a:off x="7397428" y="3471975"/>
            <a:ext cx="917445" cy="221690"/>
          </a:xfrm>
          <a:prstGeom prst="roundRect">
            <a:avLst>
              <a:gd name="adj" fmla="val 13019"/>
            </a:avLst>
          </a:prstGeom>
          <a:solidFill>
            <a:srgbClr val="56C4D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FC04::4</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圆角矩形 59"/>
          <p:cNvSpPr/>
          <p:nvPr/>
        </p:nvSpPr>
        <p:spPr bwMode="gray">
          <a:xfrm>
            <a:off x="9521915" y="3214294"/>
            <a:ext cx="917445" cy="221690"/>
          </a:xfrm>
          <a:prstGeom prst="roundRect">
            <a:avLst>
              <a:gd name="adj" fmla="val 13019"/>
            </a:avLst>
          </a:prstGeom>
          <a:solidFill>
            <a:srgbClr val="D3394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FC05:: /96</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圆角矩形 59"/>
          <p:cNvSpPr/>
          <p:nvPr/>
        </p:nvSpPr>
        <p:spPr bwMode="gray">
          <a:xfrm>
            <a:off x="9521915" y="3471975"/>
            <a:ext cx="917445" cy="221690"/>
          </a:xfrm>
          <a:prstGeom prst="roundRect">
            <a:avLst>
              <a:gd name="adj" fmla="val 13019"/>
            </a:avLst>
          </a:prstGeom>
          <a:solidFill>
            <a:srgbClr val="56C4D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FC05::5</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圆角矩形 59"/>
          <p:cNvSpPr/>
          <p:nvPr/>
        </p:nvSpPr>
        <p:spPr bwMode="gray">
          <a:xfrm>
            <a:off x="10028864" y="5198181"/>
            <a:ext cx="917445" cy="221690"/>
          </a:xfrm>
          <a:prstGeom prst="roundRect">
            <a:avLst>
              <a:gd name="adj" fmla="val 13019"/>
            </a:avLst>
          </a:prstGeom>
          <a:solidFill>
            <a:srgbClr val="D3394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FC01:: /96</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圆角矩形 59"/>
          <p:cNvSpPr/>
          <p:nvPr/>
        </p:nvSpPr>
        <p:spPr bwMode="gray">
          <a:xfrm>
            <a:off x="10028864" y="5493962"/>
            <a:ext cx="917445" cy="221690"/>
          </a:xfrm>
          <a:prstGeom prst="roundRect">
            <a:avLst>
              <a:gd name="adj" fmla="val 13019"/>
            </a:avLst>
          </a:prstGeom>
          <a:solidFill>
            <a:srgbClr val="56C4D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FC01::1</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 name="矩形 46"/>
          <p:cNvSpPr/>
          <p:nvPr/>
        </p:nvSpPr>
        <p:spPr bwMode="gray">
          <a:xfrm>
            <a:off x="10930135" y="5175870"/>
            <a:ext cx="708848" cy="276999"/>
          </a:xfrm>
          <a:prstGeom prst="rect">
            <a:avLst/>
          </a:prstGeom>
        </p:spPr>
        <p:txBody>
          <a:bodyPr wrap="none">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Locator</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5" name="矩形 46"/>
          <p:cNvSpPr/>
          <p:nvPr/>
        </p:nvSpPr>
        <p:spPr bwMode="gray">
          <a:xfrm>
            <a:off x="10918114" y="5471994"/>
            <a:ext cx="732894" cy="276999"/>
          </a:xfrm>
          <a:prstGeom prst="rect">
            <a:avLst/>
          </a:prstGeom>
        </p:spPr>
        <p:txBody>
          <a:bodyPr wrap="none">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End SID</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0" name="圆角矩形 59"/>
          <p:cNvSpPr/>
          <p:nvPr/>
        </p:nvSpPr>
        <p:spPr bwMode="gray">
          <a:xfrm>
            <a:off x="2911877" y="3212559"/>
            <a:ext cx="911090" cy="221690"/>
          </a:xfrm>
          <a:prstGeom prst="roundRect">
            <a:avLst>
              <a:gd name="adj" fmla="val 13019"/>
            </a:avLst>
          </a:prstGeom>
          <a:solidFill>
            <a:srgbClr val="D3394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FC02:: </a:t>
            </a: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/96</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9" name="圆角矩形 59"/>
          <p:cNvSpPr/>
          <p:nvPr/>
        </p:nvSpPr>
        <p:spPr bwMode="gray">
          <a:xfrm>
            <a:off x="2911877" y="3470240"/>
            <a:ext cx="911090" cy="221690"/>
          </a:xfrm>
          <a:prstGeom prst="roundRect">
            <a:avLst>
              <a:gd name="adj" fmla="val 13019"/>
            </a:avLst>
          </a:prstGeom>
          <a:solidFill>
            <a:srgbClr val="56C4D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FC02::2</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aphicFrame>
        <p:nvGraphicFramePr>
          <p:cNvPr id="64" name="Table 63"/>
          <p:cNvGraphicFramePr>
            <a:graphicFrameLocks noGrp="1"/>
          </p:cNvGraphicFramePr>
          <p:nvPr/>
        </p:nvGraphicFramePr>
        <p:xfrm>
          <a:off x="1470380" y="4462516"/>
          <a:ext cx="1345061" cy="731520"/>
        </p:xfrm>
        <a:graphic>
          <a:graphicData uri="http://schemas.openxmlformats.org/drawingml/2006/table">
            <a:tbl>
              <a:tblPr firstRow="1" bandRow="1">
                <a:tableStyleId>{72833802-FEF1-4C79-8D5D-14CF1EAF98D9}</a:tableStyleId>
              </a:tblPr>
              <a:tblGrid>
                <a:gridCol w="1345061"/>
              </a:tblGrid>
              <a:tr h="370840">
                <a:tc>
                  <a:txBody>
                    <a:bodyPr/>
                    <a:lstStyle/>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DIPv6</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FC05::5</a:t>
                      </a:r>
                      <a:endPar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SIPv6</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FC01::1</a:t>
                      </a:r>
                      <a:endPar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6C4D2"/>
                    </a:solidFill>
                  </a:tcPr>
                </a:tc>
              </a:tr>
              <a:tr h="0">
                <a:tc>
                  <a:txBody>
                    <a:bodyPr/>
                    <a:lstStyle/>
                    <a:p>
                      <a:pPr algn="ctr"/>
                      <a:r>
                        <a:rPr lang="en-US" altLang="zh-CN" sz="1200" dirty="0">
                          <a:solidFill>
                            <a:schemeClr val="bg1"/>
                          </a:solidFill>
                        </a:rPr>
                        <a:t>Payload</a:t>
                      </a:r>
                      <a:endParaRPr lang="zh-CN" altLang="en-US" sz="1200"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r>
            </a:tbl>
          </a:graphicData>
        </a:graphic>
      </p:graphicFrame>
      <p:graphicFrame>
        <p:nvGraphicFramePr>
          <p:cNvPr id="65" name="Table 64"/>
          <p:cNvGraphicFramePr>
            <a:graphicFrameLocks noGrp="1"/>
          </p:cNvGraphicFramePr>
          <p:nvPr/>
        </p:nvGraphicFramePr>
        <p:xfrm>
          <a:off x="3608759" y="4457529"/>
          <a:ext cx="1345061" cy="731520"/>
        </p:xfrm>
        <a:graphic>
          <a:graphicData uri="http://schemas.openxmlformats.org/drawingml/2006/table">
            <a:tbl>
              <a:tblPr firstRow="1" bandRow="1">
                <a:tableStyleId>{72833802-FEF1-4C79-8D5D-14CF1EAF98D9}</a:tableStyleId>
              </a:tblPr>
              <a:tblGrid>
                <a:gridCol w="1345061"/>
              </a:tblGrid>
              <a:tr h="370840">
                <a:tc>
                  <a:txBody>
                    <a:bodyPr/>
                    <a:lstStyle/>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DIPv6</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FC05::5</a:t>
                      </a:r>
                      <a:endPar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SIPv6</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FC01::1</a:t>
                      </a:r>
                      <a:endPar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6C4D2"/>
                    </a:solidFill>
                  </a:tcPr>
                </a:tc>
              </a:tr>
              <a:tr h="0">
                <a:tc>
                  <a:txBody>
                    <a:bodyPr/>
                    <a:lstStyle/>
                    <a:p>
                      <a:pPr algn="ctr"/>
                      <a:r>
                        <a:rPr lang="en-US" altLang="zh-CN" sz="1200" dirty="0">
                          <a:solidFill>
                            <a:schemeClr val="bg1"/>
                          </a:solidFill>
                        </a:rPr>
                        <a:t>Payload</a:t>
                      </a:r>
                      <a:endParaRPr lang="zh-CN" altLang="en-US" sz="1200"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r>
            </a:tbl>
          </a:graphicData>
        </a:graphic>
      </p:graphicFrame>
      <p:graphicFrame>
        <p:nvGraphicFramePr>
          <p:cNvPr id="66" name="Table 65"/>
          <p:cNvGraphicFramePr>
            <a:graphicFrameLocks noGrp="1"/>
          </p:cNvGraphicFramePr>
          <p:nvPr/>
        </p:nvGraphicFramePr>
        <p:xfrm>
          <a:off x="5865187" y="4462516"/>
          <a:ext cx="1345061" cy="731520"/>
        </p:xfrm>
        <a:graphic>
          <a:graphicData uri="http://schemas.openxmlformats.org/drawingml/2006/table">
            <a:tbl>
              <a:tblPr firstRow="1" bandRow="1">
                <a:tableStyleId>{72833802-FEF1-4C79-8D5D-14CF1EAF98D9}</a:tableStyleId>
              </a:tblPr>
              <a:tblGrid>
                <a:gridCol w="1345061"/>
              </a:tblGrid>
              <a:tr h="370840">
                <a:tc>
                  <a:txBody>
                    <a:bodyPr/>
                    <a:lstStyle/>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DIPv6</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FC05::5</a:t>
                      </a:r>
                      <a:endPar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SIPv6</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FC01::1</a:t>
                      </a:r>
                      <a:endPar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6C4D2"/>
                    </a:solidFill>
                  </a:tcPr>
                </a:tc>
              </a:tr>
              <a:tr h="0">
                <a:tc>
                  <a:txBody>
                    <a:bodyPr/>
                    <a:lstStyle/>
                    <a:p>
                      <a:pPr algn="ctr"/>
                      <a:r>
                        <a:rPr lang="en-US" altLang="zh-CN" sz="1200" dirty="0">
                          <a:solidFill>
                            <a:schemeClr val="bg1"/>
                          </a:solidFill>
                        </a:rPr>
                        <a:t>Payload</a:t>
                      </a:r>
                      <a:endParaRPr lang="zh-CN" altLang="en-US" sz="1200"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r>
            </a:tbl>
          </a:graphicData>
        </a:graphic>
      </p:graphicFrame>
      <p:cxnSp>
        <p:nvCxnSpPr>
          <p:cNvPr id="67" name="直接箭头连接符 3"/>
          <p:cNvCxnSpPr/>
          <p:nvPr/>
        </p:nvCxnSpPr>
        <p:spPr bwMode="gray">
          <a:xfrm>
            <a:off x="1572787" y="4118316"/>
            <a:ext cx="554836" cy="0"/>
          </a:xfrm>
          <a:prstGeom prst="straightConnector1">
            <a:avLst/>
          </a:prstGeom>
          <a:ln w="28575">
            <a:solidFill>
              <a:srgbClr val="56C4D2"/>
            </a:solidFill>
            <a:tailEnd type="triangle"/>
          </a:ln>
        </p:spPr>
        <p:style>
          <a:lnRef idx="1">
            <a:schemeClr val="accent1"/>
          </a:lnRef>
          <a:fillRef idx="0">
            <a:schemeClr val="accent1"/>
          </a:fillRef>
          <a:effectRef idx="0">
            <a:schemeClr val="accent1"/>
          </a:effectRef>
          <a:fontRef idx="minor">
            <a:schemeClr val="tx1"/>
          </a:fontRef>
        </p:style>
      </p:cxnSp>
      <p:cxnSp>
        <p:nvCxnSpPr>
          <p:cNvPr id="68" name="直接箭头连接符 3"/>
          <p:cNvCxnSpPr/>
          <p:nvPr/>
        </p:nvCxnSpPr>
        <p:spPr bwMode="gray">
          <a:xfrm>
            <a:off x="3684442" y="4133118"/>
            <a:ext cx="554836" cy="0"/>
          </a:xfrm>
          <a:prstGeom prst="straightConnector1">
            <a:avLst/>
          </a:prstGeom>
          <a:ln w="28575">
            <a:solidFill>
              <a:srgbClr val="56C4D2"/>
            </a:solidFill>
            <a:tailEnd type="triangle"/>
          </a:ln>
        </p:spPr>
        <p:style>
          <a:lnRef idx="1">
            <a:schemeClr val="accent1"/>
          </a:lnRef>
          <a:fillRef idx="0">
            <a:schemeClr val="accent1"/>
          </a:fillRef>
          <a:effectRef idx="0">
            <a:schemeClr val="accent1"/>
          </a:effectRef>
          <a:fontRef idx="minor">
            <a:schemeClr val="tx1"/>
          </a:fontRef>
        </p:style>
      </p:cxnSp>
      <p:cxnSp>
        <p:nvCxnSpPr>
          <p:cNvPr id="69" name="直接箭头连接符 3"/>
          <p:cNvCxnSpPr/>
          <p:nvPr/>
        </p:nvCxnSpPr>
        <p:spPr bwMode="gray">
          <a:xfrm>
            <a:off x="5865187" y="4140144"/>
            <a:ext cx="554836" cy="0"/>
          </a:xfrm>
          <a:prstGeom prst="straightConnector1">
            <a:avLst/>
          </a:prstGeom>
          <a:ln w="28575">
            <a:solidFill>
              <a:srgbClr val="56C4D2"/>
            </a:solidFill>
            <a:tailEnd type="triangle"/>
          </a:ln>
        </p:spPr>
        <p:style>
          <a:lnRef idx="1">
            <a:schemeClr val="accent1"/>
          </a:lnRef>
          <a:fillRef idx="0">
            <a:schemeClr val="accent1"/>
          </a:fillRef>
          <a:effectRef idx="0">
            <a:schemeClr val="accent1"/>
          </a:effectRef>
          <a:fontRef idx="minor">
            <a:schemeClr val="tx1"/>
          </a:fontRef>
        </p:style>
      </p:cxnSp>
      <p:cxnSp>
        <p:nvCxnSpPr>
          <p:cNvPr id="70" name="直接箭头连接符 3"/>
          <p:cNvCxnSpPr/>
          <p:nvPr/>
        </p:nvCxnSpPr>
        <p:spPr bwMode="gray">
          <a:xfrm>
            <a:off x="8231543" y="4159300"/>
            <a:ext cx="554836" cy="0"/>
          </a:xfrm>
          <a:prstGeom prst="straightConnector1">
            <a:avLst/>
          </a:prstGeom>
          <a:ln w="28575">
            <a:solidFill>
              <a:srgbClr val="56C4D2"/>
            </a:solidFill>
            <a:tailEnd type="triangle"/>
          </a:ln>
        </p:spPr>
        <p:style>
          <a:lnRef idx="1">
            <a:schemeClr val="accent1"/>
          </a:lnRef>
          <a:fillRef idx="0">
            <a:schemeClr val="accent1"/>
          </a:fillRef>
          <a:effectRef idx="0">
            <a:schemeClr val="accent1"/>
          </a:effectRef>
          <a:fontRef idx="minor">
            <a:schemeClr val="tx1"/>
          </a:fontRef>
        </p:style>
      </p:cxnSp>
      <p:sp>
        <p:nvSpPr>
          <p:cNvPr id="60" name="五边形 2"/>
          <p:cNvSpPr/>
          <p:nvPr/>
        </p:nvSpPr>
        <p:spPr bwMode="gray">
          <a:xfrm>
            <a:off x="8310982" y="110463"/>
            <a:ext cx="119596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SRv6</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SRH</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介绍</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1" name="燕尾形 3"/>
          <p:cNvSpPr/>
          <p:nvPr/>
        </p:nvSpPr>
        <p:spPr bwMode="gray">
          <a:xfrm>
            <a:off x="9430382" y="110463"/>
            <a:ext cx="119596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SRv6</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节点介绍</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2" name="燕尾形 3"/>
          <p:cNvSpPr/>
          <p:nvPr/>
        </p:nvSpPr>
        <p:spPr bwMode="gray">
          <a:xfrm>
            <a:off x="10553128" y="105534"/>
            <a:ext cx="119596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SRv6</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转发原理</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r>
              <a:rPr lang="en-US" altLang="zh-CN" dirty="0">
                <a:sym typeface="Huawei Sans" panose="020C0503030203020204" pitchFamily="34" charset="0"/>
              </a:rPr>
              <a:t>SRv6 Policy</a:t>
            </a:r>
            <a:r>
              <a:rPr lang="zh-CN" altLang="en-US" dirty="0">
                <a:sym typeface="Huawei Sans" panose="020C0503030203020204" pitchFamily="34" charset="0"/>
              </a:rPr>
              <a:t>转发过程</a:t>
            </a:r>
            <a:endParaRPr lang="zh-CN" altLang="en-US" dirty="0">
              <a:sym typeface="Huawei Sans" panose="020C0503030203020204" pitchFamily="34" charset="0"/>
            </a:endParaRPr>
          </a:p>
        </p:txBody>
      </p:sp>
      <p:sp>
        <p:nvSpPr>
          <p:cNvPr id="36" name="文本占位符 35"/>
          <p:cNvSpPr>
            <a:spLocks noGrp="1"/>
          </p:cNvSpPr>
          <p:nvPr>
            <p:ph type="body" sz="quarter" idx="10"/>
          </p:nvPr>
        </p:nvSpPr>
        <p:spPr bwMode="gray"/>
        <p:txBody>
          <a:bodyPr/>
          <a:lstStyle/>
          <a:p>
            <a:r>
              <a:rPr lang="zh-CN" altLang="en-US" sz="1600" dirty="0">
                <a:sym typeface="Huawei Sans" panose="020C0503030203020204" pitchFamily="34" charset="0"/>
              </a:rPr>
              <a:t>在</a:t>
            </a:r>
            <a:r>
              <a:rPr lang="en-US" altLang="zh-CN" sz="1600" dirty="0">
                <a:sym typeface="Huawei Sans" panose="020C0503030203020204" pitchFamily="34" charset="0"/>
              </a:rPr>
              <a:t>SRv6</a:t>
            </a:r>
            <a:r>
              <a:rPr lang="zh-CN" altLang="en-US" sz="1600" dirty="0">
                <a:sym typeface="Huawei Sans" panose="020C0503030203020204" pitchFamily="34" charset="0"/>
              </a:rPr>
              <a:t>转发过程中每经过一个</a:t>
            </a:r>
            <a:r>
              <a:rPr lang="en-US" altLang="zh-CN" sz="1600" dirty="0">
                <a:sym typeface="Huawei Sans" panose="020C0503030203020204" pitchFamily="34" charset="0"/>
              </a:rPr>
              <a:t>SRv6 Endpoint</a:t>
            </a:r>
            <a:r>
              <a:rPr lang="zh-CN" altLang="en-US" sz="1600" dirty="0">
                <a:sym typeface="Huawei Sans" panose="020C0503030203020204" pitchFamily="34" charset="0"/>
              </a:rPr>
              <a:t>节点，</a:t>
            </a:r>
            <a:r>
              <a:rPr lang="en-US" altLang="zh-CN" sz="1600" dirty="0">
                <a:sym typeface="Huawei Sans" panose="020C0503030203020204" pitchFamily="34" charset="0"/>
              </a:rPr>
              <a:t>Segments Left</a:t>
            </a:r>
            <a:r>
              <a:rPr lang="zh-CN" altLang="en-US" sz="1600" dirty="0">
                <a:sym typeface="Huawei Sans" panose="020C0503030203020204" pitchFamily="34" charset="0"/>
              </a:rPr>
              <a:t>（</a:t>
            </a:r>
            <a:r>
              <a:rPr lang="en-US" altLang="zh-CN" sz="1600" dirty="0">
                <a:sym typeface="Huawei Sans" panose="020C0503030203020204" pitchFamily="34" charset="0"/>
              </a:rPr>
              <a:t>SL</a:t>
            </a:r>
            <a:r>
              <a:rPr lang="zh-CN" altLang="en-US" sz="1600" dirty="0">
                <a:sym typeface="Huawei Sans" panose="020C0503030203020204" pitchFamily="34" charset="0"/>
              </a:rPr>
              <a:t>）字段减</a:t>
            </a:r>
            <a:r>
              <a:rPr lang="en-US" altLang="zh-CN" sz="1600" dirty="0">
                <a:sym typeface="Huawei Sans" panose="020C0503030203020204" pitchFamily="34" charset="0"/>
              </a:rPr>
              <a:t>1</a:t>
            </a:r>
            <a:r>
              <a:rPr lang="zh-CN" altLang="en-US" sz="1600" dirty="0">
                <a:sym typeface="Huawei Sans" panose="020C0503030203020204" pitchFamily="34" charset="0"/>
              </a:rPr>
              <a:t>，</a:t>
            </a:r>
            <a:r>
              <a:rPr lang="en-US" altLang="zh-CN" sz="1600" dirty="0">
                <a:sym typeface="Huawei Sans" panose="020C0503030203020204" pitchFamily="34" charset="0"/>
              </a:rPr>
              <a:t>IPv6</a:t>
            </a:r>
            <a:r>
              <a:rPr lang="zh-CN" altLang="en-US" sz="1600" dirty="0">
                <a:sym typeface="Huawei Sans" panose="020C0503030203020204" pitchFamily="34" charset="0"/>
              </a:rPr>
              <a:t>报文头中的目的</a:t>
            </a:r>
            <a:r>
              <a:rPr lang="en-US" altLang="zh-CN" sz="1600" dirty="0">
                <a:sym typeface="Huawei Sans" panose="020C0503030203020204" pitchFamily="34" charset="0"/>
              </a:rPr>
              <a:t>IPv6</a:t>
            </a:r>
            <a:r>
              <a:rPr lang="zh-CN" altLang="en-US" sz="1600" dirty="0">
                <a:sym typeface="Huawei Sans" panose="020C0503030203020204" pitchFamily="34" charset="0"/>
              </a:rPr>
              <a:t>地址变换一次。</a:t>
            </a:r>
            <a:r>
              <a:rPr lang="en-US" altLang="zh-CN" sz="1600" dirty="0">
                <a:sym typeface="Huawei Sans" panose="020C0503030203020204" pitchFamily="34" charset="0"/>
              </a:rPr>
              <a:t>Segments Left</a:t>
            </a:r>
            <a:r>
              <a:rPr lang="zh-CN" altLang="en-US" sz="1600" dirty="0">
                <a:sym typeface="Huawei Sans" panose="020C0503030203020204" pitchFamily="34" charset="0"/>
              </a:rPr>
              <a:t>和</a:t>
            </a:r>
            <a:r>
              <a:rPr lang="en-US" altLang="zh-CN" sz="1600" dirty="0">
                <a:sym typeface="Huawei Sans" panose="020C0503030203020204" pitchFamily="34" charset="0"/>
              </a:rPr>
              <a:t>Segment List</a:t>
            </a:r>
            <a:r>
              <a:rPr lang="zh-CN" altLang="en-US" sz="1600" dirty="0">
                <a:sym typeface="Huawei Sans" panose="020C0503030203020204" pitchFamily="34" charset="0"/>
              </a:rPr>
              <a:t>字段共同决定</a:t>
            </a:r>
            <a:r>
              <a:rPr lang="en-US" altLang="zh-CN" sz="1600" dirty="0">
                <a:sym typeface="Huawei Sans" panose="020C0503030203020204" pitchFamily="34" charset="0"/>
              </a:rPr>
              <a:t>IPv6 DA</a:t>
            </a:r>
            <a:r>
              <a:rPr lang="zh-CN" altLang="en-US" sz="1600" dirty="0">
                <a:sym typeface="Huawei Sans" panose="020C0503030203020204" pitchFamily="34" charset="0"/>
              </a:rPr>
              <a:t>信息。</a:t>
            </a:r>
            <a:endParaRPr lang="en-US" altLang="zh-CN" sz="1600" dirty="0">
              <a:sym typeface="Huawei Sans" panose="020C0503030203020204" pitchFamily="34" charset="0"/>
            </a:endParaRPr>
          </a:p>
          <a:p>
            <a:endParaRPr lang="en-US" altLang="zh-CN" sz="1600" dirty="0">
              <a:sym typeface="Huawei Sans" panose="020C0503030203020204" pitchFamily="34" charset="0"/>
            </a:endParaRPr>
          </a:p>
          <a:p>
            <a:endParaRPr lang="en-US" altLang="zh-CN" sz="1600" dirty="0">
              <a:sym typeface="Huawei Sans" panose="020C0503030203020204" pitchFamily="34" charset="0"/>
            </a:endParaRPr>
          </a:p>
          <a:p>
            <a:endParaRPr lang="en-US" altLang="zh-CN" sz="1600" dirty="0">
              <a:sym typeface="Huawei Sans" panose="020C0503030203020204" pitchFamily="34" charset="0"/>
            </a:endParaRPr>
          </a:p>
          <a:p>
            <a:endParaRPr lang="en-US" altLang="zh-CN" sz="1600" dirty="0">
              <a:sym typeface="Huawei Sans" panose="020C0503030203020204" pitchFamily="34" charset="0"/>
            </a:endParaRPr>
          </a:p>
          <a:p>
            <a:endParaRPr lang="en-US" altLang="zh-CN" sz="1600" dirty="0">
              <a:sym typeface="Huawei Sans" panose="020C0503030203020204" pitchFamily="34" charset="0"/>
            </a:endParaRPr>
          </a:p>
          <a:p>
            <a:endParaRPr lang="en-US" altLang="zh-CN" sz="1600" dirty="0">
              <a:sym typeface="Huawei Sans" panose="020C0503030203020204" pitchFamily="34" charset="0"/>
            </a:endParaRPr>
          </a:p>
          <a:p>
            <a:endParaRPr lang="en-US" altLang="zh-CN" sz="1600" dirty="0">
              <a:sym typeface="Huawei Sans" panose="020C0503030203020204" pitchFamily="34" charset="0"/>
            </a:endParaRPr>
          </a:p>
          <a:p>
            <a:endParaRPr lang="en-US" altLang="zh-CN" sz="1600" dirty="0">
              <a:sym typeface="Huawei Sans" panose="020C0503030203020204" pitchFamily="34" charset="0"/>
            </a:endParaRPr>
          </a:p>
          <a:p>
            <a:r>
              <a:rPr lang="zh-CN" altLang="en-US" sz="1600" dirty="0">
                <a:sym typeface="Huawei Sans" panose="020C0503030203020204" pitchFamily="34" charset="0"/>
              </a:rPr>
              <a:t>与</a:t>
            </a:r>
            <a:r>
              <a:rPr lang="en-US" altLang="zh-CN" sz="1600" dirty="0">
                <a:sym typeface="Huawei Sans" panose="020C0503030203020204" pitchFamily="34" charset="0"/>
              </a:rPr>
              <a:t>SR-MPLS</a:t>
            </a:r>
            <a:r>
              <a:rPr lang="zh-CN" altLang="en-US" sz="1600" dirty="0">
                <a:sym typeface="Huawei Sans" panose="020C0503030203020204" pitchFamily="34" charset="0"/>
              </a:rPr>
              <a:t>不同，</a:t>
            </a:r>
            <a:r>
              <a:rPr lang="en-US" altLang="zh-CN" sz="1600" dirty="0">
                <a:sym typeface="Huawei Sans" panose="020C0503030203020204" pitchFamily="34" charset="0"/>
              </a:rPr>
              <a:t>SRv6 SRH</a:t>
            </a:r>
            <a:r>
              <a:rPr lang="zh-CN" altLang="en-US" sz="1600" dirty="0">
                <a:sym typeface="Huawei Sans" panose="020C0503030203020204" pitchFamily="34" charset="0"/>
              </a:rPr>
              <a:t>是从下到上逆序操作，</a:t>
            </a:r>
            <a:r>
              <a:rPr lang="en-US" altLang="zh-CN" sz="1600" dirty="0">
                <a:sym typeface="Huawei Sans" panose="020C0503030203020204" pitchFamily="34" charset="0"/>
              </a:rPr>
              <a:t>SRH</a:t>
            </a:r>
            <a:r>
              <a:rPr lang="zh-CN" altLang="en-US" sz="1600" dirty="0">
                <a:sym typeface="Huawei Sans" panose="020C0503030203020204" pitchFamily="34" charset="0"/>
              </a:rPr>
              <a:t>中的</a:t>
            </a:r>
            <a:r>
              <a:rPr lang="en-US" altLang="zh-CN" sz="1600" dirty="0">
                <a:sym typeface="Huawei Sans" panose="020C0503030203020204" pitchFamily="34" charset="0"/>
              </a:rPr>
              <a:t>Segment</a:t>
            </a:r>
            <a:r>
              <a:rPr lang="zh-CN" altLang="en-US" sz="1600" dirty="0">
                <a:sym typeface="Huawei Sans" panose="020C0503030203020204" pitchFamily="34" charset="0"/>
              </a:rPr>
              <a:t>在经过节点后也不会被弹出。因此</a:t>
            </a:r>
            <a:r>
              <a:rPr lang="en-US" altLang="zh-CN" sz="1600" dirty="0">
                <a:sym typeface="Huawei Sans" panose="020C0503030203020204" pitchFamily="34" charset="0"/>
              </a:rPr>
              <a:t>SRv6</a:t>
            </a:r>
            <a:r>
              <a:rPr lang="zh-CN" altLang="en-US" sz="1600" dirty="0">
                <a:sym typeface="Huawei Sans" panose="020C0503030203020204" pitchFamily="34" charset="0"/>
              </a:rPr>
              <a:t>报头可以做路径回溯。</a:t>
            </a:r>
            <a:endParaRPr lang="zh-CN" altLang="en-US" sz="1600" dirty="0">
              <a:sym typeface="Huawei Sans" panose="020C0503030203020204" pitchFamily="34" charset="0"/>
            </a:endParaRPr>
          </a:p>
        </p:txBody>
      </p:sp>
      <p:cxnSp>
        <p:nvCxnSpPr>
          <p:cNvPr id="46" name="直接连接符 27"/>
          <p:cNvCxnSpPr>
            <a:stCxn id="86" idx="1"/>
            <a:endCxn id="51" idx="3"/>
          </p:cNvCxnSpPr>
          <p:nvPr/>
        </p:nvCxnSpPr>
        <p:spPr bwMode="gray">
          <a:xfrm flipH="1">
            <a:off x="1470380" y="2880653"/>
            <a:ext cx="825570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9" name="矩形 28"/>
          <p:cNvSpPr/>
          <p:nvPr/>
        </p:nvSpPr>
        <p:spPr bwMode="gray">
          <a:xfrm>
            <a:off x="992210" y="3098137"/>
            <a:ext cx="413896"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R1</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51" name="图片 30"/>
          <p:cNvPicPr/>
          <p:nvPr/>
        </p:nvPicPr>
        <p:blipFill>
          <a:blip r:embed="rId1" cstate="print">
            <a:extLst>
              <a:ext uri="{28A0092B-C50C-407E-A947-70E740481C1C}">
                <a14:useLocalDpi xmlns:a14="http://schemas.microsoft.com/office/drawing/2010/main" val="0"/>
              </a:ext>
            </a:extLst>
          </a:blip>
          <a:stretch>
            <a:fillRect/>
          </a:stretch>
        </p:blipFill>
        <p:spPr bwMode="gray">
          <a:xfrm>
            <a:off x="930380" y="2659253"/>
            <a:ext cx="540000" cy="442800"/>
          </a:xfrm>
          <a:prstGeom prst="rect">
            <a:avLst/>
          </a:prstGeom>
        </p:spPr>
      </p:pic>
      <p:sp>
        <p:nvSpPr>
          <p:cNvPr id="52" name="文本框 31"/>
          <p:cNvSpPr txBox="1"/>
          <p:nvPr/>
        </p:nvSpPr>
        <p:spPr bwMode="gray">
          <a:xfrm>
            <a:off x="569085" y="1898570"/>
            <a:ext cx="1281120" cy="307777"/>
          </a:xfrm>
          <a:prstGeom prst="rect">
            <a:avLst/>
          </a:prstGeom>
          <a:noFill/>
        </p:spPr>
        <p:txBody>
          <a:bodyPr wrap="none" rtlCol="0">
            <a:spAutoFit/>
          </a:bodyPr>
          <a:lstStyle/>
          <a:p>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Source Node</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3" name="矩形 34"/>
          <p:cNvSpPr/>
          <p:nvPr/>
        </p:nvSpPr>
        <p:spPr bwMode="gray">
          <a:xfrm>
            <a:off x="3154305" y="3098137"/>
            <a:ext cx="413896"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R2</a:t>
            </a:r>
            <a:endParaRPr lang="zh-CN" altLang="en-US" sz="1400" b="1">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54" name="图片 35"/>
          <p:cNvPicPr/>
          <p:nvPr/>
        </p:nvPicPr>
        <p:blipFill>
          <a:blip r:embed="rId1" cstate="print">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3083064" y="2659253"/>
            <a:ext cx="540000" cy="442800"/>
          </a:xfrm>
          <a:prstGeom prst="rect">
            <a:avLst/>
          </a:prstGeom>
        </p:spPr>
      </p:pic>
      <p:sp>
        <p:nvSpPr>
          <p:cNvPr id="56" name="矩形 41"/>
          <p:cNvSpPr/>
          <p:nvPr/>
        </p:nvSpPr>
        <p:spPr bwMode="gray">
          <a:xfrm>
            <a:off x="5324284" y="3098137"/>
            <a:ext cx="413896"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R3</a:t>
            </a:r>
            <a:endParaRPr lang="zh-CN" altLang="en-US" sz="1400" b="1">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57" name="图片 42"/>
          <p:cNvPicPr/>
          <p:nvPr/>
        </p:nvPicPr>
        <p:blipFill>
          <a:blip r:embed="rId1" cstate="print">
            <a:extLst>
              <a:ext uri="{28A0092B-C50C-407E-A947-70E740481C1C}">
                <a14:useLocalDpi xmlns:a14="http://schemas.microsoft.com/office/drawing/2010/main" val="0"/>
              </a:ext>
            </a:extLst>
          </a:blip>
          <a:stretch>
            <a:fillRect/>
          </a:stretch>
        </p:blipFill>
        <p:spPr bwMode="gray">
          <a:xfrm>
            <a:off x="5266546" y="2659253"/>
            <a:ext cx="540000" cy="442800"/>
          </a:xfrm>
          <a:prstGeom prst="rect">
            <a:avLst/>
          </a:prstGeom>
        </p:spPr>
      </p:pic>
      <p:sp>
        <p:nvSpPr>
          <p:cNvPr id="58" name="文本框 43"/>
          <p:cNvSpPr txBox="1"/>
          <p:nvPr/>
        </p:nvSpPr>
        <p:spPr bwMode="gray">
          <a:xfrm>
            <a:off x="4800764" y="1898570"/>
            <a:ext cx="1478290" cy="307777"/>
          </a:xfrm>
          <a:prstGeom prst="rect">
            <a:avLst/>
          </a:prstGeom>
          <a:noFill/>
        </p:spPr>
        <p:txBody>
          <a:bodyPr wrap="none" rtlCol="0">
            <a:spAutoFit/>
          </a:bodyPr>
          <a:lstStyle/>
          <a:p>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Endpoint Node</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1" name="矩形 46"/>
          <p:cNvSpPr/>
          <p:nvPr/>
        </p:nvSpPr>
        <p:spPr bwMode="gray">
          <a:xfrm>
            <a:off x="7629280" y="3098137"/>
            <a:ext cx="405880"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R4</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62" name="图片 47"/>
          <p:cNvPicPr/>
          <p:nvPr/>
        </p:nvPicPr>
        <p:blipFill>
          <a:blip r:embed="rId1" cstate="print">
            <a:extLst>
              <a:ext uri="{28A0092B-C50C-407E-A947-70E740481C1C}">
                <a14:useLocalDpi xmlns:a14="http://schemas.microsoft.com/office/drawing/2010/main" val="0"/>
              </a:ext>
            </a:extLst>
          </a:blip>
          <a:stretch>
            <a:fillRect/>
          </a:stretch>
        </p:blipFill>
        <p:spPr bwMode="gray">
          <a:xfrm>
            <a:off x="7567534" y="2659253"/>
            <a:ext cx="540000" cy="442800"/>
          </a:xfrm>
          <a:prstGeom prst="rect">
            <a:avLst/>
          </a:prstGeom>
        </p:spPr>
      </p:pic>
      <p:sp>
        <p:nvSpPr>
          <p:cNvPr id="63" name="文本框 61"/>
          <p:cNvSpPr txBox="1"/>
          <p:nvPr/>
        </p:nvSpPr>
        <p:spPr bwMode="gray">
          <a:xfrm>
            <a:off x="7102599" y="1898570"/>
            <a:ext cx="1478290" cy="307777"/>
          </a:xfrm>
          <a:prstGeom prst="rect">
            <a:avLst/>
          </a:prstGeom>
          <a:noFill/>
        </p:spPr>
        <p:txBody>
          <a:bodyPr wrap="none" rtlCol="0">
            <a:spAutoFit/>
          </a:bodyPr>
          <a:lstStyle/>
          <a:p>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Endpoint Node</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aphicFrame>
        <p:nvGraphicFramePr>
          <p:cNvPr id="82" name="Table 81"/>
          <p:cNvGraphicFramePr>
            <a:graphicFrameLocks noGrp="1"/>
          </p:cNvGraphicFramePr>
          <p:nvPr/>
        </p:nvGraphicFramePr>
        <p:xfrm>
          <a:off x="1374782" y="3401353"/>
          <a:ext cx="1345061" cy="1554480"/>
        </p:xfrm>
        <a:graphic>
          <a:graphicData uri="http://schemas.openxmlformats.org/drawingml/2006/table">
            <a:tbl>
              <a:tblPr firstRow="1" bandRow="1">
                <a:tableStyleId>{72833802-FEF1-4C79-8D5D-14CF1EAF98D9}</a:tableStyleId>
              </a:tblPr>
              <a:tblGrid>
                <a:gridCol w="1345061"/>
              </a:tblGrid>
              <a:tr h="370840">
                <a:tc>
                  <a:txBody>
                    <a:bodyPr/>
                    <a:lstStyle/>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DIPv6</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FC03::3</a:t>
                      </a:r>
                      <a:endPar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SIPv6</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FC01::1</a:t>
                      </a:r>
                      <a:endPar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6C4D2"/>
                    </a:solidFill>
                  </a:tcPr>
                </a:tc>
              </a:tr>
              <a:tr h="197517">
                <a:tc>
                  <a:txBody>
                    <a:bodyPr/>
                    <a:lstStyle/>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SRH</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SL=</a:t>
                      </a: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2</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FC05::5</a:t>
                      </a:r>
                      <a:endPar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FC04::4</a:t>
                      </a:r>
                      <a:endPar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FC03::3</a:t>
                      </a:r>
                      <a:endParaRPr lang="zh-CN" altLang="en-US"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EEEC1"/>
                    </a:solidFill>
                  </a:tcPr>
                </a:tc>
              </a:tr>
              <a:tr h="0">
                <a:tc>
                  <a:txBody>
                    <a:bodyPr/>
                    <a:lstStyle/>
                    <a:p>
                      <a:pPr algn="ctr"/>
                      <a:r>
                        <a:rPr lang="en-US" altLang="zh-CN" sz="1200" dirty="0">
                          <a:solidFill>
                            <a:schemeClr val="bg1"/>
                          </a:solidFill>
                        </a:rPr>
                        <a:t>Payload</a:t>
                      </a:r>
                      <a:endParaRPr lang="zh-CN" altLang="en-US" sz="1200"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r>
            </a:tbl>
          </a:graphicData>
        </a:graphic>
      </p:graphicFrame>
      <p:sp>
        <p:nvSpPr>
          <p:cNvPr id="85" name="矩形 46"/>
          <p:cNvSpPr/>
          <p:nvPr/>
        </p:nvSpPr>
        <p:spPr bwMode="gray">
          <a:xfrm>
            <a:off x="9788157" y="3098137"/>
            <a:ext cx="405880"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R5</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86" name="图片 47"/>
          <p:cNvPicPr/>
          <p:nvPr/>
        </p:nvPicPr>
        <p:blipFill>
          <a:blip r:embed="rId1" cstate="print">
            <a:extLst>
              <a:ext uri="{28A0092B-C50C-407E-A947-70E740481C1C}">
                <a14:useLocalDpi xmlns:a14="http://schemas.microsoft.com/office/drawing/2010/main" val="0"/>
              </a:ext>
            </a:extLst>
          </a:blip>
          <a:stretch>
            <a:fillRect/>
          </a:stretch>
        </p:blipFill>
        <p:spPr bwMode="gray">
          <a:xfrm>
            <a:off x="9726085" y="2659253"/>
            <a:ext cx="540000" cy="442800"/>
          </a:xfrm>
          <a:prstGeom prst="rect">
            <a:avLst/>
          </a:prstGeom>
        </p:spPr>
      </p:pic>
      <p:sp>
        <p:nvSpPr>
          <p:cNvPr id="87" name="文本框 61"/>
          <p:cNvSpPr txBox="1"/>
          <p:nvPr/>
        </p:nvSpPr>
        <p:spPr bwMode="gray">
          <a:xfrm>
            <a:off x="9261476" y="1898570"/>
            <a:ext cx="1478290" cy="307777"/>
          </a:xfrm>
          <a:prstGeom prst="rect">
            <a:avLst/>
          </a:prstGeom>
          <a:noFill/>
        </p:spPr>
        <p:txBody>
          <a:bodyPr wrap="none" rtlCol="0">
            <a:spAutoFit/>
          </a:bodyPr>
          <a:lstStyle/>
          <a:p>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Endpoint Node</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aphicFrame>
        <p:nvGraphicFramePr>
          <p:cNvPr id="88" name="Table 87"/>
          <p:cNvGraphicFramePr>
            <a:graphicFrameLocks noGrp="1"/>
          </p:cNvGraphicFramePr>
          <p:nvPr/>
        </p:nvGraphicFramePr>
        <p:xfrm>
          <a:off x="5760673" y="3401353"/>
          <a:ext cx="1345061" cy="1554480"/>
        </p:xfrm>
        <a:graphic>
          <a:graphicData uri="http://schemas.openxmlformats.org/drawingml/2006/table">
            <a:tbl>
              <a:tblPr firstRow="1" bandRow="1">
                <a:tableStyleId>{72833802-FEF1-4C79-8D5D-14CF1EAF98D9}</a:tableStyleId>
              </a:tblPr>
              <a:tblGrid>
                <a:gridCol w="1345061"/>
              </a:tblGrid>
              <a:tr h="370840">
                <a:tc>
                  <a:txBody>
                    <a:bodyPr/>
                    <a:lstStyle/>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DIPv6</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FC04::4</a:t>
                      </a:r>
                      <a:endPar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SIPv6</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FC01::1</a:t>
                      </a:r>
                      <a:endPar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6C4D2"/>
                    </a:solidFill>
                  </a:tcPr>
                </a:tc>
              </a:tr>
              <a:tr h="197517">
                <a:tc>
                  <a:txBody>
                    <a:bodyPr/>
                    <a:lstStyle/>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SRH</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SL=</a:t>
                      </a: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1</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FC05::5</a:t>
                      </a:r>
                      <a:endPar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0" algn="ctr" defTabSz="913765" rtl="0" eaLnBrk="1" latinLnBrk="0" hangingPunct="1"/>
                      <a:r>
                        <a:rPr lang="en-US" altLang="zh-CN" sz="1200" b="1" kern="1200" dirty="0">
                          <a:solidFill>
                            <a:srgbClr val="C7000B"/>
                          </a:solidFill>
                          <a:latin typeface="Huawei Sans" panose="020C0503030203020204" pitchFamily="34" charset="0"/>
                          <a:ea typeface="方正兰亭黑简体" panose="02000000000000000000" pitchFamily="2" charset="-122"/>
                          <a:cs typeface="+mn-cs"/>
                          <a:sym typeface="Huawei Sans" panose="020C0503030203020204" pitchFamily="34" charset="0"/>
                        </a:rPr>
                        <a:t>FC04::4</a:t>
                      </a:r>
                      <a:endParaRPr lang="en-US" altLang="zh-CN" sz="1200" b="1" kern="1200" dirty="0">
                        <a:solidFill>
                          <a:srgbClr val="C7000B"/>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p>
                      <a:pPr marL="0" algn="ctr" defTabSz="913765" rtl="0" eaLnBrk="1" latinLnBrk="0" hangingPunct="1"/>
                      <a:r>
                        <a:rPr lang="en-US" altLang="zh-CN"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FC03::3</a:t>
                      </a:r>
                      <a:endParaRPr lang="zh-CN" altLang="en-US"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EEEC1"/>
                    </a:solidFill>
                  </a:tcPr>
                </a:tc>
              </a:tr>
              <a:tr h="0">
                <a:tc>
                  <a:txBody>
                    <a:bodyPr/>
                    <a:lstStyle/>
                    <a:p>
                      <a:pPr algn="ctr"/>
                      <a:r>
                        <a:rPr lang="en-US" altLang="zh-CN" sz="1200" dirty="0">
                          <a:solidFill>
                            <a:schemeClr val="bg1"/>
                          </a:solidFill>
                        </a:rPr>
                        <a:t>Payload</a:t>
                      </a:r>
                      <a:endParaRPr lang="zh-CN" altLang="en-US" sz="1200"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r>
            </a:tbl>
          </a:graphicData>
        </a:graphic>
      </p:graphicFrame>
      <p:graphicFrame>
        <p:nvGraphicFramePr>
          <p:cNvPr id="89" name="Table 88"/>
          <p:cNvGraphicFramePr>
            <a:graphicFrameLocks noGrp="1"/>
          </p:cNvGraphicFramePr>
          <p:nvPr/>
        </p:nvGraphicFramePr>
        <p:xfrm>
          <a:off x="3567727" y="3401353"/>
          <a:ext cx="1345061" cy="1554480"/>
        </p:xfrm>
        <a:graphic>
          <a:graphicData uri="http://schemas.openxmlformats.org/drawingml/2006/table">
            <a:tbl>
              <a:tblPr firstRow="1" bandRow="1">
                <a:tableStyleId>{72833802-FEF1-4C79-8D5D-14CF1EAF98D9}</a:tableStyleId>
              </a:tblPr>
              <a:tblGrid>
                <a:gridCol w="1345061"/>
              </a:tblGrid>
              <a:tr h="370840">
                <a:tc>
                  <a:txBody>
                    <a:bodyPr/>
                    <a:lstStyle/>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DIPv6</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FC03::3</a:t>
                      </a:r>
                      <a:endPar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SIPv6</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FC01::1</a:t>
                      </a:r>
                      <a:endPar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6C4D2"/>
                    </a:solidFill>
                  </a:tcPr>
                </a:tc>
              </a:tr>
              <a:tr h="197517">
                <a:tc>
                  <a:txBody>
                    <a:bodyPr/>
                    <a:lstStyle/>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SRH</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SL=</a:t>
                      </a: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2</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FC05::5</a:t>
                      </a:r>
                      <a:endPar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FC04::4</a:t>
                      </a:r>
                      <a:endPar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FC03::3</a:t>
                      </a:r>
                      <a:endParaRPr lang="zh-CN" altLang="en-US"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EEEC1"/>
                    </a:solidFill>
                  </a:tcPr>
                </a:tc>
              </a:tr>
              <a:tr h="0">
                <a:tc>
                  <a:txBody>
                    <a:bodyPr/>
                    <a:lstStyle/>
                    <a:p>
                      <a:pPr algn="ctr"/>
                      <a:r>
                        <a:rPr lang="en-US" altLang="zh-CN" sz="1200" dirty="0">
                          <a:solidFill>
                            <a:schemeClr val="bg1"/>
                          </a:solidFill>
                        </a:rPr>
                        <a:t>Payload</a:t>
                      </a:r>
                      <a:endParaRPr lang="zh-CN" altLang="en-US" sz="1200"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r>
            </a:tbl>
          </a:graphicData>
        </a:graphic>
      </p:graphicFrame>
      <p:sp>
        <p:nvSpPr>
          <p:cNvPr id="90" name="文本框 38"/>
          <p:cNvSpPr txBox="1"/>
          <p:nvPr/>
        </p:nvSpPr>
        <p:spPr bwMode="gray">
          <a:xfrm>
            <a:off x="2656695" y="1912803"/>
            <a:ext cx="1305165" cy="307777"/>
          </a:xfrm>
          <a:prstGeom prst="rect">
            <a:avLst/>
          </a:prstGeom>
          <a:noFill/>
        </p:spPr>
        <p:txBody>
          <a:bodyPr wrap="none" rtlCol="0">
            <a:spAutoFit/>
          </a:bodyPr>
          <a:lstStyle/>
          <a:p>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Transit Node</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aphicFrame>
        <p:nvGraphicFramePr>
          <p:cNvPr id="91" name="Table 90"/>
          <p:cNvGraphicFramePr>
            <a:graphicFrameLocks noGrp="1"/>
          </p:cNvGraphicFramePr>
          <p:nvPr/>
        </p:nvGraphicFramePr>
        <p:xfrm>
          <a:off x="8775739" y="3401353"/>
          <a:ext cx="1345061" cy="731520"/>
        </p:xfrm>
        <a:graphic>
          <a:graphicData uri="http://schemas.openxmlformats.org/drawingml/2006/table">
            <a:tbl>
              <a:tblPr firstRow="1" bandRow="1">
                <a:tableStyleId>{72833802-FEF1-4C79-8D5D-14CF1EAF98D9}</a:tableStyleId>
              </a:tblPr>
              <a:tblGrid>
                <a:gridCol w="1345061"/>
              </a:tblGrid>
              <a:tr h="370840">
                <a:tc>
                  <a:txBody>
                    <a:bodyPr/>
                    <a:lstStyle/>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DIPv6</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FC05::5</a:t>
                      </a:r>
                      <a:endPar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SIPv6</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FC01::1</a:t>
                      </a:r>
                      <a:endPar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6C4D2"/>
                    </a:solidFill>
                  </a:tcPr>
                </a:tc>
              </a:tr>
              <a:tr h="0">
                <a:tc>
                  <a:txBody>
                    <a:bodyPr/>
                    <a:lstStyle/>
                    <a:p>
                      <a:pPr algn="ctr"/>
                      <a:r>
                        <a:rPr lang="en-US" altLang="zh-CN" sz="1200" dirty="0">
                          <a:solidFill>
                            <a:schemeClr val="bg1"/>
                          </a:solidFill>
                        </a:rPr>
                        <a:t>Payload</a:t>
                      </a:r>
                      <a:endParaRPr lang="zh-CN" altLang="en-US" sz="1200"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r>
            </a:tbl>
          </a:graphicData>
        </a:graphic>
      </p:graphicFrame>
      <p:sp>
        <p:nvSpPr>
          <p:cNvPr id="32" name="圆角矩形 59"/>
          <p:cNvSpPr/>
          <p:nvPr/>
        </p:nvSpPr>
        <p:spPr bwMode="gray">
          <a:xfrm>
            <a:off x="737166" y="2153131"/>
            <a:ext cx="917445" cy="221690"/>
          </a:xfrm>
          <a:prstGeom prst="roundRect">
            <a:avLst>
              <a:gd name="adj" fmla="val 13019"/>
            </a:avLst>
          </a:prstGeom>
          <a:solidFill>
            <a:srgbClr val="D3394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FC01:: /96</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 name="圆角矩形 59"/>
          <p:cNvSpPr/>
          <p:nvPr/>
        </p:nvSpPr>
        <p:spPr bwMode="gray">
          <a:xfrm>
            <a:off x="737166" y="2410812"/>
            <a:ext cx="917445" cy="221690"/>
          </a:xfrm>
          <a:prstGeom prst="roundRect">
            <a:avLst>
              <a:gd name="adj" fmla="val 13019"/>
            </a:avLst>
          </a:prstGeom>
          <a:solidFill>
            <a:srgbClr val="56C4D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FC01::1</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 name="圆角矩形 59"/>
          <p:cNvSpPr/>
          <p:nvPr/>
        </p:nvSpPr>
        <p:spPr bwMode="gray">
          <a:xfrm>
            <a:off x="5080234" y="2153131"/>
            <a:ext cx="917445" cy="221690"/>
          </a:xfrm>
          <a:prstGeom prst="roundRect">
            <a:avLst>
              <a:gd name="adj" fmla="val 13019"/>
            </a:avLst>
          </a:prstGeom>
          <a:solidFill>
            <a:srgbClr val="D3394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FC03:: /96</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圆角矩形 59"/>
          <p:cNvSpPr/>
          <p:nvPr/>
        </p:nvSpPr>
        <p:spPr bwMode="gray">
          <a:xfrm>
            <a:off x="5080234" y="2410812"/>
            <a:ext cx="917445" cy="221690"/>
          </a:xfrm>
          <a:prstGeom prst="roundRect">
            <a:avLst>
              <a:gd name="adj" fmla="val 13019"/>
            </a:avLst>
          </a:prstGeom>
          <a:solidFill>
            <a:srgbClr val="56C4D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FC03::3</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圆角矩形 59"/>
          <p:cNvSpPr/>
          <p:nvPr/>
        </p:nvSpPr>
        <p:spPr bwMode="gray">
          <a:xfrm>
            <a:off x="7397428" y="2153131"/>
            <a:ext cx="917445" cy="221690"/>
          </a:xfrm>
          <a:prstGeom prst="roundRect">
            <a:avLst>
              <a:gd name="adj" fmla="val 13019"/>
            </a:avLst>
          </a:prstGeom>
          <a:solidFill>
            <a:srgbClr val="D3394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FC04:: /96</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圆角矩形 59"/>
          <p:cNvSpPr/>
          <p:nvPr/>
        </p:nvSpPr>
        <p:spPr bwMode="gray">
          <a:xfrm>
            <a:off x="7397428" y="2410812"/>
            <a:ext cx="917445" cy="221690"/>
          </a:xfrm>
          <a:prstGeom prst="roundRect">
            <a:avLst>
              <a:gd name="adj" fmla="val 13019"/>
            </a:avLst>
          </a:prstGeom>
          <a:solidFill>
            <a:srgbClr val="56C4D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FC04::4</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圆角矩形 59"/>
          <p:cNvSpPr/>
          <p:nvPr/>
        </p:nvSpPr>
        <p:spPr bwMode="gray">
          <a:xfrm>
            <a:off x="9521915" y="2153131"/>
            <a:ext cx="917445" cy="221690"/>
          </a:xfrm>
          <a:prstGeom prst="roundRect">
            <a:avLst>
              <a:gd name="adj" fmla="val 13019"/>
            </a:avLst>
          </a:prstGeom>
          <a:solidFill>
            <a:srgbClr val="D3394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FC05:: /96</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圆角矩形 59"/>
          <p:cNvSpPr/>
          <p:nvPr/>
        </p:nvSpPr>
        <p:spPr bwMode="gray">
          <a:xfrm>
            <a:off x="9521915" y="2410812"/>
            <a:ext cx="917445" cy="221690"/>
          </a:xfrm>
          <a:prstGeom prst="roundRect">
            <a:avLst>
              <a:gd name="adj" fmla="val 13019"/>
            </a:avLst>
          </a:prstGeom>
          <a:solidFill>
            <a:srgbClr val="56C4D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FC05::5</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圆角矩形 59"/>
          <p:cNvSpPr/>
          <p:nvPr/>
        </p:nvSpPr>
        <p:spPr bwMode="gray">
          <a:xfrm>
            <a:off x="10113504" y="4897681"/>
            <a:ext cx="917445" cy="221690"/>
          </a:xfrm>
          <a:prstGeom prst="roundRect">
            <a:avLst>
              <a:gd name="adj" fmla="val 13019"/>
            </a:avLst>
          </a:prstGeom>
          <a:solidFill>
            <a:srgbClr val="D3394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FC01:: /96</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圆角矩形 59"/>
          <p:cNvSpPr/>
          <p:nvPr/>
        </p:nvSpPr>
        <p:spPr bwMode="gray">
          <a:xfrm>
            <a:off x="10113504" y="5193462"/>
            <a:ext cx="917445" cy="221690"/>
          </a:xfrm>
          <a:prstGeom prst="roundRect">
            <a:avLst>
              <a:gd name="adj" fmla="val 13019"/>
            </a:avLst>
          </a:prstGeom>
          <a:solidFill>
            <a:srgbClr val="56C4D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FC01::1</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 name="矩形 46"/>
          <p:cNvSpPr/>
          <p:nvPr/>
        </p:nvSpPr>
        <p:spPr bwMode="gray">
          <a:xfrm>
            <a:off x="11014775" y="4875370"/>
            <a:ext cx="708848" cy="276999"/>
          </a:xfrm>
          <a:prstGeom prst="rect">
            <a:avLst/>
          </a:prstGeom>
        </p:spPr>
        <p:txBody>
          <a:bodyPr wrap="none">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Locator</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5" name="矩形 46"/>
          <p:cNvSpPr/>
          <p:nvPr/>
        </p:nvSpPr>
        <p:spPr bwMode="gray">
          <a:xfrm>
            <a:off x="11002754" y="5171494"/>
            <a:ext cx="732894" cy="276999"/>
          </a:xfrm>
          <a:prstGeom prst="rect">
            <a:avLst/>
          </a:prstGeom>
        </p:spPr>
        <p:txBody>
          <a:bodyPr wrap="none">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End SID</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graphicFrame>
        <p:nvGraphicFramePr>
          <p:cNvPr id="40" name="Table 39"/>
          <p:cNvGraphicFramePr>
            <a:graphicFrameLocks noGrp="1"/>
          </p:cNvGraphicFramePr>
          <p:nvPr/>
        </p:nvGraphicFramePr>
        <p:xfrm>
          <a:off x="7170808" y="3396248"/>
          <a:ext cx="1345061" cy="1554480"/>
        </p:xfrm>
        <a:graphic>
          <a:graphicData uri="http://schemas.openxmlformats.org/drawingml/2006/table">
            <a:tbl>
              <a:tblPr firstRow="1" bandRow="1">
                <a:tableStyleId>{72833802-FEF1-4C79-8D5D-14CF1EAF98D9}</a:tableStyleId>
              </a:tblPr>
              <a:tblGrid>
                <a:gridCol w="1345061"/>
              </a:tblGrid>
              <a:tr h="370840">
                <a:tc>
                  <a:txBody>
                    <a:bodyPr/>
                    <a:lstStyle/>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DIPv6</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FC05::5</a:t>
                      </a:r>
                      <a:endPar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SIPv6</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FC01::1</a:t>
                      </a:r>
                      <a:endPar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6C4D2"/>
                    </a:solidFill>
                  </a:tcPr>
                </a:tc>
              </a:tr>
              <a:tr h="197517">
                <a:tc>
                  <a:txBody>
                    <a:bodyPr/>
                    <a:lstStyle/>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SRH</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SL=</a:t>
                      </a: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0</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0" algn="ctr" defTabSz="913765" rtl="0" eaLnBrk="1" latinLnBrk="0" hangingPunct="1"/>
                      <a:r>
                        <a:rPr lang="en-US" altLang="zh-CN" sz="1200" b="1" kern="1200" dirty="0">
                          <a:solidFill>
                            <a:srgbClr val="C7000B"/>
                          </a:solidFill>
                          <a:latin typeface="Huawei Sans" panose="020C0503030203020204" pitchFamily="34" charset="0"/>
                          <a:ea typeface="方正兰亭黑简体" panose="02000000000000000000" pitchFamily="2" charset="-122"/>
                          <a:cs typeface="+mn-cs"/>
                          <a:sym typeface="Huawei Sans" panose="020C0503030203020204" pitchFamily="34" charset="0"/>
                        </a:rPr>
                        <a:t>FC05::5</a:t>
                      </a:r>
                      <a:endParaRPr lang="en-US" altLang="zh-CN" sz="1200" b="1" kern="1200" dirty="0">
                        <a:solidFill>
                          <a:srgbClr val="C7000B"/>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p>
                      <a:pPr marL="0" algn="ctr" defTabSz="913765" rtl="0" eaLnBrk="1" latinLnBrk="0" hangingPunct="1"/>
                      <a:r>
                        <a:rPr lang="en-US" altLang="zh-CN"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FC04::4</a:t>
                      </a:r>
                      <a:endParaRPr lang="en-US" altLang="zh-CN"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p>
                      <a:pPr marL="0" algn="ctr" defTabSz="913765" rtl="0" eaLnBrk="1" latinLnBrk="0" hangingPunct="1"/>
                      <a:r>
                        <a:rPr lang="en-US" altLang="zh-CN"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FC03::3</a:t>
                      </a:r>
                      <a:endParaRPr lang="zh-CN" altLang="en-US"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EEEC1"/>
                    </a:solidFill>
                  </a:tcPr>
                </a:tc>
              </a:tr>
              <a:tr h="0">
                <a:tc>
                  <a:txBody>
                    <a:bodyPr/>
                    <a:lstStyle/>
                    <a:p>
                      <a:pPr algn="ctr"/>
                      <a:r>
                        <a:rPr lang="en-US" altLang="zh-CN" sz="1200" dirty="0">
                          <a:solidFill>
                            <a:schemeClr val="bg1"/>
                          </a:solidFill>
                        </a:rPr>
                        <a:t>Payload</a:t>
                      </a:r>
                      <a:endParaRPr lang="zh-CN" altLang="en-US" sz="1200"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r>
            </a:tbl>
          </a:graphicData>
        </a:graphic>
      </p:graphicFrame>
      <p:cxnSp>
        <p:nvCxnSpPr>
          <p:cNvPr id="92" name="Elbow Connector 91"/>
          <p:cNvCxnSpPr/>
          <p:nvPr/>
        </p:nvCxnSpPr>
        <p:spPr bwMode="gray">
          <a:xfrm flipV="1">
            <a:off x="8171938" y="3540727"/>
            <a:ext cx="704747" cy="632761"/>
          </a:xfrm>
          <a:prstGeom prst="bentConnector3">
            <a:avLst>
              <a:gd name="adj1" fmla="val 50000"/>
            </a:avLst>
          </a:prstGeom>
          <a:ln w="28575">
            <a:solidFill>
              <a:srgbClr val="E28189"/>
            </a:solidFill>
            <a:tailEnd type="triangle"/>
          </a:ln>
        </p:spPr>
        <p:style>
          <a:lnRef idx="1">
            <a:schemeClr val="accent1"/>
          </a:lnRef>
          <a:fillRef idx="0">
            <a:schemeClr val="accent1"/>
          </a:fillRef>
          <a:effectRef idx="0">
            <a:schemeClr val="accent1"/>
          </a:effectRef>
          <a:fontRef idx="minor">
            <a:schemeClr val="tx1"/>
          </a:fontRef>
        </p:style>
      </p:cxnSp>
      <p:sp>
        <p:nvSpPr>
          <p:cNvPr id="93" name="Rectangular Callout 26"/>
          <p:cNvSpPr/>
          <p:nvPr/>
        </p:nvSpPr>
        <p:spPr bwMode="gray">
          <a:xfrm>
            <a:off x="8435377" y="4228503"/>
            <a:ext cx="1565244" cy="850138"/>
          </a:xfrm>
          <a:prstGeom prst="wedgeRectCallout">
            <a:avLst>
              <a:gd name="adj1" fmla="val -42289"/>
              <a:gd name="adj2" fmla="val -71780"/>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当</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SL=0</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的</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SID</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类型为</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END/END.X/END.DT</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时，默认在倒数第二段会弹出</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SRH</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头部</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0" name="圆角矩形 59"/>
          <p:cNvSpPr/>
          <p:nvPr/>
        </p:nvSpPr>
        <p:spPr bwMode="gray">
          <a:xfrm>
            <a:off x="2911877" y="2151396"/>
            <a:ext cx="911090" cy="221690"/>
          </a:xfrm>
          <a:prstGeom prst="roundRect">
            <a:avLst>
              <a:gd name="adj" fmla="val 13019"/>
            </a:avLst>
          </a:prstGeom>
          <a:solidFill>
            <a:srgbClr val="D3394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FC02:: </a:t>
            </a: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/96</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9" name="圆角矩形 59"/>
          <p:cNvSpPr/>
          <p:nvPr/>
        </p:nvSpPr>
        <p:spPr bwMode="gray">
          <a:xfrm>
            <a:off x="2911877" y="2409077"/>
            <a:ext cx="911090" cy="221690"/>
          </a:xfrm>
          <a:prstGeom prst="roundRect">
            <a:avLst>
              <a:gd name="adj" fmla="val 13019"/>
            </a:avLst>
          </a:prstGeom>
          <a:solidFill>
            <a:srgbClr val="56C4D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FC02::2</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0" name="五边形 2"/>
          <p:cNvSpPr/>
          <p:nvPr/>
        </p:nvSpPr>
        <p:spPr bwMode="gray">
          <a:xfrm>
            <a:off x="8310982" y="110463"/>
            <a:ext cx="119596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SRv6</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SRH</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介绍</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4" name="燕尾形 3"/>
          <p:cNvSpPr/>
          <p:nvPr/>
        </p:nvSpPr>
        <p:spPr bwMode="gray">
          <a:xfrm>
            <a:off x="9430382" y="110463"/>
            <a:ext cx="119596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SRv6</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节点介绍</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5" name="燕尾形 3"/>
          <p:cNvSpPr/>
          <p:nvPr/>
        </p:nvSpPr>
        <p:spPr bwMode="gray">
          <a:xfrm>
            <a:off x="10553128" y="105534"/>
            <a:ext cx="119596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SRv6</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转发原理</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en-US" altLang="zh-CN" sz="2000" dirty="0">
                <a:solidFill>
                  <a:schemeClr val="bg1">
                    <a:lumMod val="50000"/>
                  </a:schemeClr>
                </a:solidFill>
                <a:sym typeface="Huawei Sans" panose="020C0503030203020204" pitchFamily="34" charset="0"/>
              </a:rPr>
              <a:t>SRv6</a:t>
            </a:r>
            <a:r>
              <a:rPr lang="zh-CN" altLang="en-US" sz="2000" dirty="0">
                <a:solidFill>
                  <a:schemeClr val="bg1">
                    <a:lumMod val="50000"/>
                  </a:schemeClr>
                </a:solidFill>
                <a:sym typeface="Huawei Sans" panose="020C0503030203020204" pitchFamily="34" charset="0"/>
              </a:rPr>
              <a:t>概述</a:t>
            </a:r>
            <a:endParaRPr lang="zh-CN" altLang="en-US" sz="2000" dirty="0">
              <a:solidFill>
                <a:schemeClr val="bg1">
                  <a:lumMod val="50000"/>
                </a:schemeClr>
              </a:solidFill>
              <a:sym typeface="Huawei Sans" panose="020C0503030203020204" pitchFamily="34" charset="0"/>
            </a:endParaRPr>
          </a:p>
          <a:p>
            <a:r>
              <a:rPr lang="en-US" altLang="zh-CN" sz="2000" b="1" dirty="0">
                <a:sym typeface="Huawei Sans" panose="020C0503030203020204" pitchFamily="34" charset="0"/>
              </a:rPr>
              <a:t>SRv6</a:t>
            </a:r>
            <a:r>
              <a:rPr lang="zh-CN" altLang="en-US" sz="2000" b="1" dirty="0">
                <a:sym typeface="Huawei Sans" panose="020C0503030203020204" pitchFamily="34" charset="0"/>
              </a:rPr>
              <a:t>原理</a:t>
            </a:r>
            <a:endParaRPr lang="zh-CN" altLang="en-US" sz="2000" b="1" dirty="0">
              <a:sym typeface="Huawei Sans" panose="020C0503030203020204" pitchFamily="34" charset="0"/>
            </a:endParaRPr>
          </a:p>
          <a:p>
            <a:pPr lvl="1"/>
            <a:r>
              <a:rPr lang="en-US" altLang="zh-CN" sz="1800" dirty="0">
                <a:solidFill>
                  <a:schemeClr val="bg1">
                    <a:lumMod val="50000"/>
                  </a:schemeClr>
                </a:solidFill>
                <a:sym typeface="Huawei Sans" panose="020C0503030203020204" pitchFamily="34" charset="0"/>
              </a:rPr>
              <a:t>SRv6</a:t>
            </a:r>
            <a:r>
              <a:rPr lang="zh-CN" altLang="en-US" sz="1800" dirty="0">
                <a:solidFill>
                  <a:schemeClr val="bg1">
                    <a:lumMod val="50000"/>
                  </a:schemeClr>
                </a:solidFill>
                <a:sym typeface="Huawei Sans" panose="020C0503030203020204" pitchFamily="34" charset="0"/>
              </a:rPr>
              <a:t>基本概念</a:t>
            </a:r>
            <a:endParaRPr lang="en-US" altLang="zh-CN" sz="1800" dirty="0">
              <a:solidFill>
                <a:schemeClr val="bg1">
                  <a:lumMod val="50000"/>
                </a:schemeClr>
              </a:solidFill>
              <a:sym typeface="Huawei Sans" panose="020C0503030203020204" pitchFamily="34" charset="0"/>
            </a:endParaRPr>
          </a:p>
          <a:p>
            <a:pPr lvl="1">
              <a:buSzPct val="60000"/>
              <a:buFont typeface="Wingdings" panose="05000000000000000000" pitchFamily="2" charset="2"/>
              <a:buChar char="n"/>
            </a:pPr>
            <a:r>
              <a:rPr lang="en-US" altLang="zh-CN" sz="1800" dirty="0">
                <a:sym typeface="Huawei Sans" panose="020C0503030203020204" pitchFamily="34" charset="0"/>
              </a:rPr>
              <a:t>SRv6 Policy</a:t>
            </a:r>
            <a:r>
              <a:rPr lang="zh-CN" altLang="en-US" sz="1800" dirty="0">
                <a:sym typeface="Huawei Sans" panose="020C0503030203020204" pitchFamily="34" charset="0"/>
              </a:rPr>
              <a:t>路径建立与引流</a:t>
            </a:r>
            <a:endParaRPr lang="en-US" altLang="zh-CN" sz="1800" dirty="0">
              <a:sym typeface="Huawei Sans" panose="020C0503030203020204" pitchFamily="34" charset="0"/>
            </a:endParaRPr>
          </a:p>
          <a:p>
            <a:pPr lvl="1"/>
            <a:r>
              <a:rPr lang="en-US" altLang="zh-CN" sz="1800" dirty="0">
                <a:solidFill>
                  <a:schemeClr val="bg1">
                    <a:lumMod val="50000"/>
                  </a:schemeClr>
                </a:solidFill>
                <a:sym typeface="Huawei Sans" panose="020C0503030203020204" pitchFamily="34" charset="0"/>
              </a:rPr>
              <a:t>SRv6</a:t>
            </a:r>
            <a:r>
              <a:rPr lang="zh-CN" altLang="en-US" sz="1800" dirty="0">
                <a:solidFill>
                  <a:schemeClr val="bg1">
                    <a:lumMod val="50000"/>
                  </a:schemeClr>
                </a:solidFill>
                <a:sym typeface="Huawei Sans" panose="020C0503030203020204" pitchFamily="34" charset="0"/>
              </a:rPr>
              <a:t>典型用例</a:t>
            </a:r>
            <a:endParaRPr lang="en-US" altLang="zh-CN" sz="1800" dirty="0">
              <a:solidFill>
                <a:schemeClr val="bg1">
                  <a:lumMod val="50000"/>
                </a:schemeClr>
              </a:solidFill>
              <a:sym typeface="Huawei Sans" panose="020C0503030203020204" pitchFamily="34" charset="0"/>
            </a:endParaRPr>
          </a:p>
          <a:p>
            <a:r>
              <a:rPr lang="en-US" altLang="zh-CN" sz="2000" dirty="0">
                <a:solidFill>
                  <a:schemeClr val="bg1">
                    <a:lumMod val="50000"/>
                  </a:schemeClr>
                </a:solidFill>
                <a:sym typeface="Huawei Sans" panose="020C0503030203020204" pitchFamily="34" charset="0"/>
              </a:rPr>
              <a:t>SRv6</a:t>
            </a:r>
            <a:r>
              <a:rPr lang="zh-CN" altLang="en-US" sz="2000" dirty="0">
                <a:solidFill>
                  <a:schemeClr val="bg1">
                    <a:lumMod val="50000"/>
                  </a:schemeClr>
                </a:solidFill>
                <a:sym typeface="Huawei Sans" panose="020C0503030203020204" pitchFamily="34" charset="0"/>
              </a:rPr>
              <a:t>高可靠性</a:t>
            </a:r>
            <a:endParaRPr lang="en-US" altLang="zh-CN" sz="2000" dirty="0">
              <a:solidFill>
                <a:schemeClr val="bg1">
                  <a:lumMod val="50000"/>
                </a:schemeClr>
              </a:solidFill>
              <a:sym typeface="Huawei Sans" panose="020C0503030203020204" pitchFamily="34" charset="0"/>
            </a:endParaRPr>
          </a:p>
          <a:p>
            <a:r>
              <a:rPr lang="en-US" altLang="zh-CN" sz="2000" dirty="0">
                <a:solidFill>
                  <a:schemeClr val="bg1">
                    <a:lumMod val="50000"/>
                  </a:schemeClr>
                </a:solidFill>
                <a:sym typeface="Huawei Sans" panose="020C0503030203020204" pitchFamily="34" charset="0"/>
              </a:rPr>
              <a:t>SRv6</a:t>
            </a:r>
            <a:r>
              <a:rPr lang="zh-CN" altLang="en-US" sz="2000" dirty="0">
                <a:solidFill>
                  <a:schemeClr val="bg1">
                    <a:lumMod val="50000"/>
                  </a:schemeClr>
                </a:solidFill>
                <a:sym typeface="Huawei Sans" panose="020C0503030203020204" pitchFamily="34" charset="0"/>
              </a:rPr>
              <a:t>基础配置</a:t>
            </a:r>
            <a:endParaRPr lang="en-US" altLang="zh-CN" sz="2000" dirty="0">
              <a:solidFill>
                <a:schemeClr val="bg1">
                  <a:lumMod val="50000"/>
                </a:schemeClr>
              </a:solidFill>
              <a:sym typeface="Huawei Sans" panose="020C0503030203020204" pitchFamily="34" charset="0"/>
            </a:endParaRPr>
          </a:p>
          <a:p>
            <a:r>
              <a:rPr lang="zh-CN" altLang="en-US" sz="2000" dirty="0">
                <a:solidFill>
                  <a:schemeClr val="bg1">
                    <a:lumMod val="50000"/>
                  </a:schemeClr>
                </a:solidFill>
                <a:sym typeface="Huawei Sans" panose="020C0503030203020204" pitchFamily="34" charset="0"/>
              </a:rPr>
              <a:t>基于</a:t>
            </a:r>
            <a:r>
              <a:rPr lang="en-US" altLang="zh-CN" sz="2000" dirty="0" err="1">
                <a:solidFill>
                  <a:schemeClr val="bg1">
                    <a:lumMod val="50000"/>
                  </a:schemeClr>
                </a:solidFill>
                <a:sym typeface="Huawei Sans" panose="020C0503030203020204" pitchFamily="34" charset="0"/>
              </a:rPr>
              <a:t>iMaster</a:t>
            </a:r>
            <a:r>
              <a:rPr lang="en-US" altLang="zh-CN" sz="2000" dirty="0">
                <a:solidFill>
                  <a:schemeClr val="bg1">
                    <a:lumMod val="50000"/>
                  </a:schemeClr>
                </a:solidFill>
                <a:sym typeface="Huawei Sans" panose="020C0503030203020204" pitchFamily="34" charset="0"/>
              </a:rPr>
              <a:t> NCE-IP</a:t>
            </a:r>
            <a:r>
              <a:rPr lang="zh-CN" altLang="en-US" sz="2000" dirty="0">
                <a:solidFill>
                  <a:schemeClr val="bg1">
                    <a:lumMod val="50000"/>
                  </a:schemeClr>
                </a:solidFill>
                <a:sym typeface="Huawei Sans" panose="020C0503030203020204" pitchFamily="34" charset="0"/>
              </a:rPr>
              <a:t>部署</a:t>
            </a:r>
            <a:r>
              <a:rPr lang="en-US" altLang="zh-CN" sz="2000" dirty="0">
                <a:solidFill>
                  <a:schemeClr val="bg1">
                    <a:lumMod val="50000"/>
                  </a:schemeClr>
                </a:solidFill>
                <a:sym typeface="Huawei Sans" panose="020C0503030203020204" pitchFamily="34" charset="0"/>
              </a:rPr>
              <a:t>SRv6</a:t>
            </a:r>
            <a:endParaRPr lang="zh-CN" altLang="en-US" sz="2000" dirty="0">
              <a:solidFill>
                <a:schemeClr val="bg1">
                  <a:lumMod val="50000"/>
                </a:schemeClr>
              </a:solidFill>
              <a:sym typeface="Huawei Sans" panose="020C0503030203020204" pitchFamily="34"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bwMode="gray"/>
        <p:txBody>
          <a:bodyPr>
            <a:normAutofit/>
          </a:bodyPr>
          <a:lstStyle/>
          <a:p>
            <a:r>
              <a:rPr lang="en-US" altLang="zh-CN" dirty="0">
                <a:sym typeface="Huawei Sans" panose="020C0503030203020204" pitchFamily="34" charset="0"/>
              </a:rPr>
              <a:t>SRv6 Policy</a:t>
            </a:r>
            <a:r>
              <a:rPr lang="zh-CN" altLang="en-US" dirty="0">
                <a:sym typeface="Huawei Sans" panose="020C0503030203020204" pitchFamily="34" charset="0"/>
              </a:rPr>
              <a:t>简介</a:t>
            </a:r>
            <a:endParaRPr lang="en-US" altLang="zh-CN" dirty="0">
              <a:sym typeface="Huawei Sans" panose="020C0503030203020204" pitchFamily="34" charset="0"/>
            </a:endParaRPr>
          </a:p>
        </p:txBody>
      </p:sp>
      <p:sp>
        <p:nvSpPr>
          <p:cNvPr id="2" name="文本占位符 1"/>
          <p:cNvSpPr>
            <a:spLocks noGrp="1"/>
          </p:cNvSpPr>
          <p:nvPr>
            <p:ph type="body" sz="quarter" idx="10"/>
          </p:nvPr>
        </p:nvSpPr>
        <p:spPr bwMode="gray"/>
        <p:txBody>
          <a:bodyPr/>
          <a:lstStyle/>
          <a:p>
            <a:r>
              <a:rPr lang="en-US" altLang="zh-CN" sz="2000" dirty="0">
                <a:sym typeface="Huawei Sans" panose="020C0503030203020204" pitchFamily="34" charset="0"/>
              </a:rPr>
              <a:t>SRv6 Policy</a:t>
            </a:r>
            <a:r>
              <a:rPr lang="zh-CN" altLang="en-US" sz="2000" dirty="0">
                <a:sym typeface="Huawei Sans" panose="020C0503030203020204" pitchFamily="34" charset="0"/>
              </a:rPr>
              <a:t>是在</a:t>
            </a:r>
            <a:r>
              <a:rPr lang="en-US" altLang="zh-CN" sz="2000" dirty="0">
                <a:sym typeface="Huawei Sans" panose="020C0503030203020204" pitchFamily="34" charset="0"/>
              </a:rPr>
              <a:t>SRv6</a:t>
            </a:r>
            <a:r>
              <a:rPr lang="zh-CN" altLang="en-US" sz="2000" dirty="0">
                <a:sym typeface="Huawei Sans" panose="020C0503030203020204" pitchFamily="34" charset="0"/>
              </a:rPr>
              <a:t>技术基础上发展的一种新的</a:t>
            </a:r>
            <a:r>
              <a:rPr lang="zh-CN" altLang="en-US" sz="2000" dirty="0">
                <a:solidFill>
                  <a:srgbClr val="C7000B"/>
                </a:solidFill>
                <a:sym typeface="Huawei Sans" panose="020C0503030203020204" pitchFamily="34" charset="0"/>
              </a:rPr>
              <a:t>引流技术</a:t>
            </a:r>
            <a:r>
              <a:rPr lang="zh-CN" altLang="en-US" sz="2000" dirty="0">
                <a:sym typeface="Huawei Sans" panose="020C0503030203020204" pitchFamily="34" charset="0"/>
              </a:rPr>
              <a:t>。</a:t>
            </a:r>
            <a:endParaRPr lang="en-US" altLang="zh-CN" sz="2000" dirty="0">
              <a:sym typeface="Huawei Sans" panose="020C0503030203020204" pitchFamily="34" charset="0"/>
            </a:endParaRPr>
          </a:p>
          <a:p>
            <a:r>
              <a:rPr lang="en-US" altLang="zh-CN" sz="2000" dirty="0">
                <a:sym typeface="Huawei Sans" panose="020C0503030203020204" pitchFamily="34" charset="0"/>
              </a:rPr>
              <a:t>SRv6 Policy</a:t>
            </a:r>
            <a:r>
              <a:rPr lang="zh-CN" altLang="en-US" sz="2000" dirty="0">
                <a:sym typeface="Huawei Sans" panose="020C0503030203020204" pitchFamily="34" charset="0"/>
              </a:rPr>
              <a:t>路径表示为指定路径的段列表（</a:t>
            </a:r>
            <a:r>
              <a:rPr lang="en-US" altLang="zh-CN" sz="2000" dirty="0">
                <a:sym typeface="Huawei Sans" panose="020C0503030203020204" pitchFamily="34" charset="0"/>
              </a:rPr>
              <a:t>Segment List</a:t>
            </a:r>
            <a:r>
              <a:rPr lang="zh-CN" altLang="en-US" sz="2000" dirty="0">
                <a:sym typeface="Huawei Sans" panose="020C0503030203020204" pitchFamily="34" charset="0"/>
              </a:rPr>
              <a:t>），称为</a:t>
            </a:r>
            <a:r>
              <a:rPr lang="en-US" altLang="zh-CN" sz="2000" dirty="0">
                <a:sym typeface="Huawei Sans" panose="020C0503030203020204" pitchFamily="34" charset="0"/>
              </a:rPr>
              <a:t>SID</a:t>
            </a:r>
            <a:r>
              <a:rPr lang="zh-CN" altLang="en-US" sz="2000" dirty="0">
                <a:sym typeface="Huawei Sans" panose="020C0503030203020204" pitchFamily="34" charset="0"/>
              </a:rPr>
              <a:t>列表（</a:t>
            </a:r>
            <a:r>
              <a:rPr lang="en-US" altLang="zh-CN" sz="2000" dirty="0">
                <a:sym typeface="Huawei Sans" panose="020C0503030203020204" pitchFamily="34" charset="0"/>
              </a:rPr>
              <a:t>Segment ID List</a:t>
            </a:r>
            <a:r>
              <a:rPr lang="zh-CN" altLang="en-US" sz="2000" dirty="0">
                <a:sym typeface="Huawei Sans" panose="020C0503030203020204" pitchFamily="34" charset="0"/>
              </a:rPr>
              <a:t>）。每个</a:t>
            </a:r>
            <a:r>
              <a:rPr lang="en-US" altLang="zh-CN" sz="2000" dirty="0">
                <a:sym typeface="Huawei Sans" panose="020C0503030203020204" pitchFamily="34" charset="0"/>
              </a:rPr>
              <a:t>SID</a:t>
            </a:r>
            <a:r>
              <a:rPr lang="zh-CN" altLang="en-US" sz="2000" dirty="0">
                <a:sym typeface="Huawei Sans" panose="020C0503030203020204" pitchFamily="34" charset="0"/>
              </a:rPr>
              <a:t>列表是从源到目的地的端到端路径，并指示网络中的设备遵循指定的路径，而不是遵循</a:t>
            </a:r>
            <a:r>
              <a:rPr lang="en-US" altLang="zh-CN" sz="2000" dirty="0">
                <a:sym typeface="Huawei Sans" panose="020C0503030203020204" pitchFamily="34" charset="0"/>
              </a:rPr>
              <a:t>IGP</a:t>
            </a:r>
            <a:r>
              <a:rPr lang="zh-CN" altLang="en-US" sz="2000" dirty="0">
                <a:sym typeface="Huawei Sans" panose="020C0503030203020204" pitchFamily="34" charset="0"/>
              </a:rPr>
              <a:t>计算的最短路径。</a:t>
            </a:r>
            <a:endParaRPr lang="en-US" altLang="zh-CN" sz="2000" dirty="0">
              <a:sym typeface="Huawei Sans" panose="020C0503030203020204" pitchFamily="34" charset="0"/>
            </a:endParaRPr>
          </a:p>
          <a:p>
            <a:r>
              <a:rPr lang="zh-CN" altLang="en-US" sz="2000" dirty="0">
                <a:sym typeface="Huawei Sans" panose="020C0503030203020204" pitchFamily="34" charset="0"/>
              </a:rPr>
              <a:t>如果数据包被导入</a:t>
            </a:r>
            <a:r>
              <a:rPr lang="en-US" altLang="zh-CN" sz="2000" dirty="0">
                <a:sym typeface="Huawei Sans" panose="020C0503030203020204" pitchFamily="34" charset="0"/>
              </a:rPr>
              <a:t>SRv6 Policy</a:t>
            </a:r>
            <a:r>
              <a:rPr lang="zh-CN" altLang="en-US" sz="2000" dirty="0">
                <a:sym typeface="Huawei Sans" panose="020C0503030203020204" pitchFamily="34" charset="0"/>
              </a:rPr>
              <a:t>中，</a:t>
            </a:r>
            <a:r>
              <a:rPr lang="en-US" altLang="zh-CN" sz="2000" dirty="0">
                <a:sym typeface="Huawei Sans" panose="020C0503030203020204" pitchFamily="34" charset="0"/>
              </a:rPr>
              <a:t>SID</a:t>
            </a:r>
            <a:r>
              <a:rPr lang="zh-CN" altLang="en-US" sz="2000" dirty="0">
                <a:sym typeface="Huawei Sans" panose="020C0503030203020204" pitchFamily="34" charset="0"/>
              </a:rPr>
              <a:t>列表由头端添加到数据包上，网络的其余设备执行</a:t>
            </a:r>
            <a:r>
              <a:rPr lang="en-US" altLang="zh-CN" sz="2000" dirty="0">
                <a:sym typeface="Huawei Sans" panose="020C0503030203020204" pitchFamily="34" charset="0"/>
              </a:rPr>
              <a:t>SID</a:t>
            </a:r>
            <a:r>
              <a:rPr lang="zh-CN" altLang="en-US" sz="2000" dirty="0">
                <a:sym typeface="Huawei Sans" panose="020C0503030203020204" pitchFamily="34" charset="0"/>
              </a:rPr>
              <a:t>列表中嵌入的指令。</a:t>
            </a:r>
            <a:endParaRPr lang="zh-CN" altLang="en-US" sz="2000" dirty="0">
              <a:sym typeface="Huawei Sans" panose="020C0503030203020204" pitchFamily="34"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r>
              <a:rPr lang="zh-CN" altLang="en-US" dirty="0">
                <a:sym typeface="Huawei Sans" panose="020C0503030203020204" pitchFamily="34" charset="0"/>
              </a:rPr>
              <a:t>标识</a:t>
            </a:r>
            <a:r>
              <a:rPr lang="en-US" altLang="zh-CN" dirty="0">
                <a:sym typeface="Huawei Sans" panose="020C0503030203020204" pitchFamily="34" charset="0"/>
              </a:rPr>
              <a:t>SRv6 Policy</a:t>
            </a:r>
            <a:endParaRPr lang="zh-CN" altLang="en-US" dirty="0">
              <a:sym typeface="Huawei Sans" panose="020C0503030203020204" pitchFamily="34" charset="0"/>
            </a:endParaRPr>
          </a:p>
        </p:txBody>
      </p:sp>
      <p:sp>
        <p:nvSpPr>
          <p:cNvPr id="3" name="文本占位符 2"/>
          <p:cNvSpPr>
            <a:spLocks noGrp="1"/>
          </p:cNvSpPr>
          <p:nvPr>
            <p:ph type="body" sz="quarter" idx="10"/>
          </p:nvPr>
        </p:nvSpPr>
        <p:spPr bwMode="gray"/>
        <p:txBody>
          <a:bodyPr/>
          <a:lstStyle/>
          <a:p>
            <a:r>
              <a:rPr lang="zh-CN" altLang="en-US" sz="1800" dirty="0">
                <a:sym typeface="Huawei Sans" panose="020C0503030203020204" pitchFamily="34" charset="0"/>
              </a:rPr>
              <a:t>一个</a:t>
            </a:r>
            <a:r>
              <a:rPr lang="en-US" altLang="zh-CN" sz="1800" dirty="0">
                <a:sym typeface="Huawei Sans" panose="020C0503030203020204" pitchFamily="34" charset="0"/>
              </a:rPr>
              <a:t>SRv6 Policy</a:t>
            </a:r>
            <a:r>
              <a:rPr lang="zh-CN" altLang="en-US" sz="1800" dirty="0">
                <a:sym typeface="Huawei Sans" panose="020C0503030203020204" pitchFamily="34" charset="0"/>
              </a:rPr>
              <a:t>有一个元组标识</a:t>
            </a:r>
            <a:r>
              <a:rPr lang="en-US" altLang="zh-CN" sz="1800" dirty="0">
                <a:sym typeface="Huawei Sans" panose="020C0503030203020204" pitchFamily="34" charset="0"/>
              </a:rPr>
              <a:t>&lt;headend, color, endpoint&gt;</a:t>
            </a:r>
            <a:r>
              <a:rPr lang="zh-CN" altLang="en-US" sz="1800" dirty="0">
                <a:sym typeface="Huawei Sans" panose="020C0503030203020204" pitchFamily="34" charset="0"/>
              </a:rPr>
              <a:t>。</a:t>
            </a:r>
            <a:endParaRPr lang="en-US" altLang="zh-CN" sz="1800" dirty="0">
              <a:sym typeface="Huawei Sans" panose="020C0503030203020204" pitchFamily="34" charset="0"/>
            </a:endParaRPr>
          </a:p>
          <a:p>
            <a:r>
              <a:rPr lang="zh-CN" altLang="en-US" sz="1800" dirty="0">
                <a:sym typeface="Huawei Sans" panose="020C0503030203020204" pitchFamily="34" charset="0"/>
              </a:rPr>
              <a:t>对于一个指定的源节点，</a:t>
            </a:r>
            <a:r>
              <a:rPr lang="en-US" altLang="zh-CN" sz="1800" dirty="0">
                <a:sym typeface="Huawei Sans" panose="020C0503030203020204" pitchFamily="34" charset="0"/>
              </a:rPr>
              <a:t>SRv6 Policy</a:t>
            </a:r>
            <a:r>
              <a:rPr lang="zh-CN" altLang="en-US" sz="1800" dirty="0">
                <a:sym typeface="Huawei Sans" panose="020C0503030203020204" pitchFamily="34" charset="0"/>
              </a:rPr>
              <a:t>由</a:t>
            </a:r>
            <a:r>
              <a:rPr lang="en-US" altLang="zh-CN" sz="1800" dirty="0">
                <a:sym typeface="Huawei Sans" panose="020C0503030203020204" pitchFamily="34" charset="0"/>
              </a:rPr>
              <a:t>&lt;color, endpoint&gt;</a:t>
            </a:r>
            <a:r>
              <a:rPr lang="zh-CN" altLang="en-US" sz="1800" dirty="0">
                <a:sym typeface="Huawei Sans" panose="020C0503030203020204" pitchFamily="34" charset="0"/>
              </a:rPr>
              <a:t>标识：</a:t>
            </a:r>
            <a:endParaRPr lang="en-US" altLang="zh-CN" sz="1800" dirty="0">
              <a:sym typeface="Huawei Sans" panose="020C0503030203020204" pitchFamily="34" charset="0"/>
            </a:endParaRPr>
          </a:p>
          <a:p>
            <a:pPr lvl="1"/>
            <a:r>
              <a:rPr lang="zh-CN" altLang="en-US" sz="1600" dirty="0">
                <a:sym typeface="Huawei Sans" panose="020C0503030203020204" pitchFamily="34" charset="0"/>
              </a:rPr>
              <a:t>头端（</a:t>
            </a:r>
            <a:r>
              <a:rPr lang="en-US" altLang="zh-CN" sz="1600" dirty="0">
                <a:sym typeface="Huawei Sans" panose="020C0503030203020204" pitchFamily="34" charset="0"/>
              </a:rPr>
              <a:t>headend</a:t>
            </a:r>
            <a:r>
              <a:rPr lang="zh-CN" altLang="en-US" sz="1600" dirty="0">
                <a:sym typeface="Huawei Sans" panose="020C0503030203020204" pitchFamily="34" charset="0"/>
              </a:rPr>
              <a:t>）：</a:t>
            </a:r>
            <a:r>
              <a:rPr lang="en-US" altLang="zh-CN" sz="1600" dirty="0">
                <a:sym typeface="Huawei Sans" panose="020C0503030203020204" pitchFamily="34" charset="0"/>
              </a:rPr>
              <a:t>SRv6 Policy</a:t>
            </a:r>
            <a:r>
              <a:rPr lang="zh-CN" altLang="en-US" sz="1600" dirty="0">
                <a:sym typeface="Huawei Sans" panose="020C0503030203020204" pitchFamily="34" charset="0"/>
              </a:rPr>
              <a:t>生成的节点，一般是全局唯一的</a:t>
            </a:r>
            <a:r>
              <a:rPr lang="en-US" altLang="zh-CN" sz="1600" dirty="0">
                <a:sym typeface="Huawei Sans" panose="020C0503030203020204" pitchFamily="34" charset="0"/>
              </a:rPr>
              <a:t>IP</a:t>
            </a:r>
            <a:r>
              <a:rPr lang="zh-CN" altLang="en-US" sz="1600" dirty="0">
                <a:sym typeface="Huawei Sans" panose="020C0503030203020204" pitchFamily="34" charset="0"/>
              </a:rPr>
              <a:t>地址。</a:t>
            </a:r>
            <a:endParaRPr lang="zh-CN" altLang="en-US" sz="1600" dirty="0">
              <a:sym typeface="Huawei Sans" panose="020C0503030203020204" pitchFamily="34" charset="0"/>
            </a:endParaRPr>
          </a:p>
          <a:p>
            <a:pPr lvl="1"/>
            <a:r>
              <a:rPr lang="zh-CN" altLang="en-US" sz="1600" dirty="0">
                <a:sym typeface="Huawei Sans" panose="020C0503030203020204" pitchFamily="34" charset="0"/>
              </a:rPr>
              <a:t>颜色（</a:t>
            </a:r>
            <a:r>
              <a:rPr lang="en-US" altLang="zh-CN" sz="1600" dirty="0">
                <a:sym typeface="Huawei Sans" panose="020C0503030203020204" pitchFamily="34" charset="0"/>
              </a:rPr>
              <a:t>color</a:t>
            </a:r>
            <a:r>
              <a:rPr lang="zh-CN" altLang="en-US" sz="1600" dirty="0">
                <a:sym typeface="Huawei Sans" panose="020C0503030203020204" pitchFamily="34" charset="0"/>
              </a:rPr>
              <a:t>）：</a:t>
            </a:r>
            <a:r>
              <a:rPr lang="en-US" altLang="zh-CN" sz="1600" dirty="0">
                <a:sym typeface="Huawei Sans" panose="020C0503030203020204" pitchFamily="34" charset="0"/>
              </a:rPr>
              <a:t>32</a:t>
            </a:r>
            <a:r>
              <a:rPr lang="zh-CN" altLang="en-US" sz="1600" dirty="0">
                <a:sym typeface="Huawei Sans" panose="020C0503030203020204" pitchFamily="34" charset="0"/>
              </a:rPr>
              <a:t>比特扩展团体属性，用于标识某一种业务意图（例如低延时）。</a:t>
            </a:r>
            <a:endParaRPr lang="zh-CN" altLang="en-US" sz="1600" dirty="0">
              <a:sym typeface="Huawei Sans" panose="020C0503030203020204" pitchFamily="34" charset="0"/>
            </a:endParaRPr>
          </a:p>
          <a:p>
            <a:pPr lvl="1"/>
            <a:r>
              <a:rPr lang="zh-CN" altLang="en-US" sz="1600" dirty="0">
                <a:sym typeface="Huawei Sans" panose="020C0503030203020204" pitchFamily="34" charset="0"/>
              </a:rPr>
              <a:t>尾端（</a:t>
            </a:r>
            <a:r>
              <a:rPr lang="en-US" altLang="zh-CN" sz="1600" dirty="0">
                <a:sym typeface="Huawei Sans" panose="020C0503030203020204" pitchFamily="34" charset="0"/>
              </a:rPr>
              <a:t>endpoint</a:t>
            </a:r>
            <a:r>
              <a:rPr lang="zh-CN" altLang="en-US" sz="1600" dirty="0">
                <a:sym typeface="Huawei Sans" panose="020C0503030203020204" pitchFamily="34" charset="0"/>
              </a:rPr>
              <a:t>）：</a:t>
            </a:r>
            <a:r>
              <a:rPr lang="en-US" altLang="zh-CN" sz="1600" dirty="0">
                <a:sym typeface="Huawei Sans" panose="020C0503030203020204" pitchFamily="34" charset="0"/>
              </a:rPr>
              <a:t>SRv6 Policy</a:t>
            </a:r>
            <a:r>
              <a:rPr lang="zh-CN" altLang="en-US" sz="1600" dirty="0">
                <a:sym typeface="Huawei Sans" panose="020C0503030203020204" pitchFamily="34" charset="0"/>
              </a:rPr>
              <a:t>的目的地址，一般是全局唯一的</a:t>
            </a:r>
            <a:r>
              <a:rPr lang="en-US" altLang="zh-CN" sz="1600" dirty="0">
                <a:sym typeface="Huawei Sans" panose="020C0503030203020204" pitchFamily="34" charset="0"/>
              </a:rPr>
              <a:t>IPv6</a:t>
            </a:r>
            <a:r>
              <a:rPr lang="zh-CN" altLang="en-US" sz="1600" dirty="0">
                <a:sym typeface="Huawei Sans" panose="020C0503030203020204" pitchFamily="34" charset="0"/>
              </a:rPr>
              <a:t>地址。</a:t>
            </a:r>
            <a:endParaRPr lang="zh-CN" altLang="en-US" sz="1600" dirty="0">
              <a:sym typeface="Huawei Sans" panose="020C0503030203020204" pitchFamily="34" charset="0"/>
            </a:endParaRPr>
          </a:p>
          <a:p>
            <a:r>
              <a:rPr lang="zh-CN" altLang="en-US" sz="1800" dirty="0">
                <a:sym typeface="Huawei Sans" panose="020C0503030203020204" pitchFamily="34" charset="0"/>
              </a:rPr>
              <a:t>在特定头端，</a:t>
            </a:r>
            <a:r>
              <a:rPr lang="en-US" altLang="zh-CN" sz="1800" dirty="0">
                <a:sym typeface="Huawei Sans" panose="020C0503030203020204" pitchFamily="34" charset="0"/>
              </a:rPr>
              <a:t>color</a:t>
            </a:r>
            <a:r>
              <a:rPr lang="zh-CN" altLang="en-US" sz="1800" dirty="0">
                <a:sym typeface="Huawei Sans" panose="020C0503030203020204" pitchFamily="34" charset="0"/>
              </a:rPr>
              <a:t>和</a:t>
            </a:r>
            <a:r>
              <a:rPr lang="en-US" altLang="zh-CN" sz="1800" dirty="0">
                <a:sym typeface="Huawei Sans" panose="020C0503030203020204" pitchFamily="34" charset="0"/>
              </a:rPr>
              <a:t>endpoint</a:t>
            </a:r>
            <a:r>
              <a:rPr lang="zh-CN" altLang="en-US" sz="1800" dirty="0">
                <a:sym typeface="Huawei Sans" panose="020C0503030203020204" pitchFamily="34" charset="0"/>
              </a:rPr>
              <a:t>被用于标识</a:t>
            </a:r>
            <a:r>
              <a:rPr lang="en-US" altLang="zh-CN" sz="1800" dirty="0">
                <a:sym typeface="Huawei Sans" panose="020C0503030203020204" pitchFamily="34" charset="0"/>
              </a:rPr>
              <a:t>SRv6 Policy</a:t>
            </a:r>
            <a:r>
              <a:rPr lang="zh-CN" altLang="en-US" sz="1800" dirty="0">
                <a:sym typeface="Huawei Sans" panose="020C0503030203020204" pitchFamily="34" charset="0"/>
              </a:rPr>
              <a:t>转发路径。</a:t>
            </a:r>
            <a:endParaRPr lang="zh-CN" altLang="en-US" sz="1800" dirty="0">
              <a:sym typeface="Huawei Sans" panose="020C0503030203020204" pitchFamily="34" charset="0"/>
            </a:endParaRPr>
          </a:p>
        </p:txBody>
      </p:sp>
      <p:pic>
        <p:nvPicPr>
          <p:cNvPr id="4" name="图片 17"/>
          <p:cNvPicPr/>
          <p:nvPr/>
        </p:nvPicPr>
        <p:blipFill>
          <a:blip r:embed="rId1" cstate="print">
            <a:extLst>
              <a:ext uri="{28A0092B-C50C-407E-A947-70E740481C1C}">
                <a14:useLocalDpi xmlns:a14="http://schemas.microsoft.com/office/drawing/2010/main" val="0"/>
              </a:ext>
            </a:extLst>
          </a:blip>
          <a:stretch>
            <a:fillRect/>
          </a:stretch>
        </p:blipFill>
        <p:spPr bwMode="gray">
          <a:xfrm>
            <a:off x="4670732" y="4781839"/>
            <a:ext cx="454124" cy="372382"/>
          </a:xfrm>
          <a:prstGeom prst="rect">
            <a:avLst/>
          </a:prstGeom>
        </p:spPr>
      </p:pic>
      <p:pic>
        <p:nvPicPr>
          <p:cNvPr id="5"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5882631" y="4052523"/>
            <a:ext cx="454124" cy="372382"/>
          </a:xfrm>
          <a:prstGeom prst="rect">
            <a:avLst/>
          </a:prstGeom>
        </p:spPr>
      </p:pic>
      <p:pic>
        <p:nvPicPr>
          <p:cNvPr id="6" name="图片 19"/>
          <p:cNvPicPr/>
          <p:nvPr/>
        </p:nvPicPr>
        <p:blipFill>
          <a:blip r:embed="rId1" cstate="print">
            <a:extLst>
              <a:ext uri="{28A0092B-C50C-407E-A947-70E740481C1C}">
                <a14:useLocalDpi xmlns:a14="http://schemas.microsoft.com/office/drawing/2010/main" val="0"/>
              </a:ext>
            </a:extLst>
          </a:blip>
          <a:stretch>
            <a:fillRect/>
          </a:stretch>
        </p:blipFill>
        <p:spPr bwMode="gray">
          <a:xfrm>
            <a:off x="5882631" y="5504805"/>
            <a:ext cx="454124" cy="372382"/>
          </a:xfrm>
          <a:prstGeom prst="rect">
            <a:avLst/>
          </a:prstGeom>
        </p:spPr>
      </p:pic>
      <p:pic>
        <p:nvPicPr>
          <p:cNvPr id="7" name="图片 20"/>
          <p:cNvPicPr/>
          <p:nvPr/>
        </p:nvPicPr>
        <p:blipFill>
          <a:blip r:embed="rId1" cstate="print">
            <a:extLst>
              <a:ext uri="{28A0092B-C50C-407E-A947-70E740481C1C}">
                <a14:useLocalDpi xmlns:a14="http://schemas.microsoft.com/office/drawing/2010/main" val="0"/>
              </a:ext>
            </a:extLst>
          </a:blip>
          <a:stretch>
            <a:fillRect/>
          </a:stretch>
        </p:blipFill>
        <p:spPr bwMode="gray">
          <a:xfrm>
            <a:off x="7399330" y="4052523"/>
            <a:ext cx="454124" cy="372382"/>
          </a:xfrm>
          <a:prstGeom prst="rect">
            <a:avLst/>
          </a:prstGeom>
        </p:spPr>
      </p:pic>
      <p:pic>
        <p:nvPicPr>
          <p:cNvPr id="8" name="图片 21"/>
          <p:cNvPicPr/>
          <p:nvPr/>
        </p:nvPicPr>
        <p:blipFill>
          <a:blip r:embed="rId1" cstate="print">
            <a:extLst>
              <a:ext uri="{28A0092B-C50C-407E-A947-70E740481C1C}">
                <a14:useLocalDpi xmlns:a14="http://schemas.microsoft.com/office/drawing/2010/main" val="0"/>
              </a:ext>
            </a:extLst>
          </a:blip>
          <a:stretch>
            <a:fillRect/>
          </a:stretch>
        </p:blipFill>
        <p:spPr bwMode="gray">
          <a:xfrm>
            <a:off x="7399330" y="5504805"/>
            <a:ext cx="454124" cy="372382"/>
          </a:xfrm>
          <a:prstGeom prst="rect">
            <a:avLst/>
          </a:prstGeom>
        </p:spPr>
      </p:pic>
      <p:pic>
        <p:nvPicPr>
          <p:cNvPr id="9" name="图片 24"/>
          <p:cNvPicPr/>
          <p:nvPr/>
        </p:nvPicPr>
        <p:blipFill>
          <a:blip r:embed="rId1" cstate="print">
            <a:extLst>
              <a:ext uri="{28A0092B-C50C-407E-A947-70E740481C1C}">
                <a14:useLocalDpi xmlns:a14="http://schemas.microsoft.com/office/drawing/2010/main" val="0"/>
              </a:ext>
            </a:extLst>
          </a:blip>
          <a:stretch>
            <a:fillRect/>
          </a:stretch>
        </p:blipFill>
        <p:spPr bwMode="gray">
          <a:xfrm>
            <a:off x="8838291" y="4363038"/>
            <a:ext cx="454124" cy="372382"/>
          </a:xfrm>
          <a:prstGeom prst="rect">
            <a:avLst/>
          </a:prstGeom>
        </p:spPr>
      </p:pic>
      <p:cxnSp>
        <p:nvCxnSpPr>
          <p:cNvPr id="10" name="直接连接符 10"/>
          <p:cNvCxnSpPr>
            <a:stCxn id="5" idx="1"/>
            <a:endCxn id="4" idx="0"/>
          </p:cNvCxnSpPr>
          <p:nvPr/>
        </p:nvCxnSpPr>
        <p:spPr bwMode="gray">
          <a:xfrm flipH="1">
            <a:off x="4897794" y="4238714"/>
            <a:ext cx="984837" cy="54312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接连接符 10"/>
          <p:cNvCxnSpPr>
            <a:stCxn id="5" idx="3"/>
            <a:endCxn id="7" idx="1"/>
          </p:cNvCxnSpPr>
          <p:nvPr/>
        </p:nvCxnSpPr>
        <p:spPr bwMode="gray">
          <a:xfrm>
            <a:off x="6336755" y="4238714"/>
            <a:ext cx="106257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直接连接符 10"/>
          <p:cNvCxnSpPr>
            <a:stCxn id="4" idx="2"/>
            <a:endCxn id="6" idx="1"/>
          </p:cNvCxnSpPr>
          <p:nvPr/>
        </p:nvCxnSpPr>
        <p:spPr bwMode="gray">
          <a:xfrm>
            <a:off x="4897794" y="5154221"/>
            <a:ext cx="984837" cy="53677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直接连接符 10"/>
          <p:cNvCxnSpPr>
            <a:stCxn id="6" idx="3"/>
            <a:endCxn id="8" idx="1"/>
          </p:cNvCxnSpPr>
          <p:nvPr/>
        </p:nvCxnSpPr>
        <p:spPr bwMode="gray">
          <a:xfrm>
            <a:off x="6336755" y="5690996"/>
            <a:ext cx="106257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直接连接符 10"/>
          <p:cNvCxnSpPr>
            <a:stCxn id="8" idx="3"/>
            <a:endCxn id="9" idx="2"/>
          </p:cNvCxnSpPr>
          <p:nvPr/>
        </p:nvCxnSpPr>
        <p:spPr bwMode="gray">
          <a:xfrm flipV="1">
            <a:off x="7853454" y="4735420"/>
            <a:ext cx="1211899" cy="95557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直接连接符 10"/>
          <p:cNvCxnSpPr>
            <a:stCxn id="9" idx="0"/>
            <a:endCxn id="7" idx="3"/>
          </p:cNvCxnSpPr>
          <p:nvPr/>
        </p:nvCxnSpPr>
        <p:spPr bwMode="gray">
          <a:xfrm flipH="1" flipV="1">
            <a:off x="7853454" y="4238714"/>
            <a:ext cx="1211899" cy="12432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34" name="图片 24"/>
          <p:cNvPicPr/>
          <p:nvPr/>
        </p:nvPicPr>
        <p:blipFill>
          <a:blip r:embed="rId1" cstate="print">
            <a:extLst>
              <a:ext uri="{28A0092B-C50C-407E-A947-70E740481C1C}">
                <a14:useLocalDpi xmlns:a14="http://schemas.microsoft.com/office/drawing/2010/main" val="0"/>
              </a:ext>
            </a:extLst>
          </a:blip>
          <a:stretch>
            <a:fillRect/>
          </a:stretch>
        </p:blipFill>
        <p:spPr bwMode="gray">
          <a:xfrm>
            <a:off x="8838291" y="5194793"/>
            <a:ext cx="454124" cy="372382"/>
          </a:xfrm>
          <a:prstGeom prst="rect">
            <a:avLst/>
          </a:prstGeom>
        </p:spPr>
      </p:pic>
      <p:cxnSp>
        <p:nvCxnSpPr>
          <p:cNvPr id="35" name="直接连接符 10"/>
          <p:cNvCxnSpPr>
            <a:stCxn id="7" idx="3"/>
            <a:endCxn id="34" idx="0"/>
          </p:cNvCxnSpPr>
          <p:nvPr/>
        </p:nvCxnSpPr>
        <p:spPr bwMode="gray">
          <a:xfrm>
            <a:off x="7853454" y="4238714"/>
            <a:ext cx="1211899" cy="95607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直接连接符 10"/>
          <p:cNvCxnSpPr>
            <a:stCxn id="34" idx="2"/>
            <a:endCxn id="8" idx="3"/>
          </p:cNvCxnSpPr>
          <p:nvPr/>
        </p:nvCxnSpPr>
        <p:spPr bwMode="gray">
          <a:xfrm flipH="1">
            <a:off x="7853454" y="5567175"/>
            <a:ext cx="1211899" cy="12382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1" name="任意多边形 33"/>
          <p:cNvSpPr/>
          <p:nvPr/>
        </p:nvSpPr>
        <p:spPr bwMode="gray">
          <a:xfrm>
            <a:off x="4776413" y="3944336"/>
            <a:ext cx="4319868" cy="777749"/>
          </a:xfrm>
          <a:custGeom>
            <a:avLst/>
            <a:gdLst>
              <a:gd name="connsiteX0" fmla="*/ 0 w 4491318"/>
              <a:gd name="connsiteY0" fmla="*/ 753035 h 1304365"/>
              <a:gd name="connsiteX1" fmla="*/ 605118 w 4491318"/>
              <a:gd name="connsiteY1" fmla="*/ 1304365 h 1304365"/>
              <a:gd name="connsiteX2" fmla="*/ 1627094 w 4491318"/>
              <a:gd name="connsiteY2" fmla="*/ 0 h 1304365"/>
              <a:gd name="connsiteX3" fmla="*/ 3859306 w 4491318"/>
              <a:gd name="connsiteY3" fmla="*/ 0 h 1304365"/>
              <a:gd name="connsiteX4" fmla="*/ 4491318 w 4491318"/>
              <a:gd name="connsiteY4" fmla="*/ 578223 h 1304365"/>
              <a:gd name="connsiteX0-1" fmla="*/ 0 w 4491318"/>
              <a:gd name="connsiteY0-2" fmla="*/ 757268 h 1308598"/>
              <a:gd name="connsiteX1-3" fmla="*/ 605118 w 4491318"/>
              <a:gd name="connsiteY1-4" fmla="*/ 1308598 h 1308598"/>
              <a:gd name="connsiteX2-5" fmla="*/ 1732928 w 4491318"/>
              <a:gd name="connsiteY2-6" fmla="*/ 0 h 1308598"/>
              <a:gd name="connsiteX3-7" fmla="*/ 3859306 w 4491318"/>
              <a:gd name="connsiteY3-8" fmla="*/ 4233 h 1308598"/>
              <a:gd name="connsiteX4-9" fmla="*/ 4491318 w 4491318"/>
              <a:gd name="connsiteY4-10" fmla="*/ 582456 h 1308598"/>
              <a:gd name="connsiteX0-11" fmla="*/ 0 w 4491318"/>
              <a:gd name="connsiteY0-12" fmla="*/ 757268 h 1308598"/>
              <a:gd name="connsiteX1-13" fmla="*/ 605118 w 4491318"/>
              <a:gd name="connsiteY1-14" fmla="*/ 1308598 h 1308598"/>
              <a:gd name="connsiteX2-15" fmla="*/ 1762561 w 4491318"/>
              <a:gd name="connsiteY2-16" fmla="*/ 0 h 1308598"/>
              <a:gd name="connsiteX3-17" fmla="*/ 3859306 w 4491318"/>
              <a:gd name="connsiteY3-18" fmla="*/ 4233 h 1308598"/>
              <a:gd name="connsiteX4-19" fmla="*/ 4491318 w 4491318"/>
              <a:gd name="connsiteY4-20" fmla="*/ 582456 h 1308598"/>
              <a:gd name="connsiteX0-21" fmla="*/ 0 w 4491318"/>
              <a:gd name="connsiteY0-22" fmla="*/ 757268 h 757268"/>
              <a:gd name="connsiteX1-23" fmla="*/ 1762561 w 4491318"/>
              <a:gd name="connsiteY1-24" fmla="*/ 0 h 757268"/>
              <a:gd name="connsiteX2-25" fmla="*/ 3859306 w 4491318"/>
              <a:gd name="connsiteY2-26" fmla="*/ 4233 h 757268"/>
              <a:gd name="connsiteX3-27" fmla="*/ 4491318 w 4491318"/>
              <a:gd name="connsiteY3-28" fmla="*/ 582456 h 757268"/>
              <a:gd name="connsiteX0-29" fmla="*/ 0 w 3786468"/>
              <a:gd name="connsiteY0-30" fmla="*/ 954118 h 954118"/>
              <a:gd name="connsiteX1-31" fmla="*/ 1057711 w 3786468"/>
              <a:gd name="connsiteY1-32" fmla="*/ 0 h 954118"/>
              <a:gd name="connsiteX2-33" fmla="*/ 3154456 w 3786468"/>
              <a:gd name="connsiteY2-34" fmla="*/ 4233 h 954118"/>
              <a:gd name="connsiteX3-35" fmla="*/ 3786468 w 3786468"/>
              <a:gd name="connsiteY3-36" fmla="*/ 582456 h 954118"/>
              <a:gd name="connsiteX0-37" fmla="*/ 0 w 3786468"/>
              <a:gd name="connsiteY0-38" fmla="*/ 992218 h 992218"/>
              <a:gd name="connsiteX1-39" fmla="*/ 1184711 w 3786468"/>
              <a:gd name="connsiteY1-40" fmla="*/ 0 h 992218"/>
              <a:gd name="connsiteX2-41" fmla="*/ 3154456 w 3786468"/>
              <a:gd name="connsiteY2-42" fmla="*/ 42333 h 992218"/>
              <a:gd name="connsiteX3-43" fmla="*/ 3786468 w 3786468"/>
              <a:gd name="connsiteY3-44" fmla="*/ 620556 h 992218"/>
              <a:gd name="connsiteX0-45" fmla="*/ 0 w 3786468"/>
              <a:gd name="connsiteY0-46" fmla="*/ 973168 h 973168"/>
              <a:gd name="connsiteX1-47" fmla="*/ 1216461 w 3786468"/>
              <a:gd name="connsiteY1-48" fmla="*/ 0 h 973168"/>
              <a:gd name="connsiteX2-49" fmla="*/ 3154456 w 3786468"/>
              <a:gd name="connsiteY2-50" fmla="*/ 23283 h 973168"/>
              <a:gd name="connsiteX3-51" fmla="*/ 3786468 w 3786468"/>
              <a:gd name="connsiteY3-52" fmla="*/ 601506 h 973168"/>
              <a:gd name="connsiteX0-53" fmla="*/ 0 w 3786468"/>
              <a:gd name="connsiteY0-54" fmla="*/ 973168 h 973168"/>
              <a:gd name="connsiteX1-55" fmla="*/ 1216461 w 3786468"/>
              <a:gd name="connsiteY1-56" fmla="*/ 0 h 973168"/>
              <a:gd name="connsiteX2-57" fmla="*/ 3129056 w 3786468"/>
              <a:gd name="connsiteY2-58" fmla="*/ 10583 h 973168"/>
              <a:gd name="connsiteX3-59" fmla="*/ 3786468 w 3786468"/>
              <a:gd name="connsiteY3-60" fmla="*/ 601506 h 973168"/>
              <a:gd name="connsiteX0-61" fmla="*/ 0 w 3786468"/>
              <a:gd name="connsiteY0-62" fmla="*/ 973168 h 973168"/>
              <a:gd name="connsiteX1-63" fmla="*/ 1216461 w 3786468"/>
              <a:gd name="connsiteY1-64" fmla="*/ 0 h 973168"/>
              <a:gd name="connsiteX2-65" fmla="*/ 3078256 w 3786468"/>
              <a:gd name="connsiteY2-66" fmla="*/ 10583 h 973168"/>
              <a:gd name="connsiteX3-67" fmla="*/ 3786468 w 3786468"/>
              <a:gd name="connsiteY3-68" fmla="*/ 601506 h 973168"/>
              <a:gd name="connsiteX0-69" fmla="*/ 0 w 3786468"/>
              <a:gd name="connsiteY0-70" fmla="*/ 985868 h 985868"/>
              <a:gd name="connsiteX1-71" fmla="*/ 1146611 w 3786468"/>
              <a:gd name="connsiteY1-72" fmla="*/ 0 h 985868"/>
              <a:gd name="connsiteX2-73" fmla="*/ 3078256 w 3786468"/>
              <a:gd name="connsiteY2-74" fmla="*/ 23283 h 985868"/>
              <a:gd name="connsiteX3-75" fmla="*/ 3786468 w 3786468"/>
              <a:gd name="connsiteY3-76" fmla="*/ 614206 h 985868"/>
              <a:gd name="connsiteX0-77" fmla="*/ 0 w 4319868"/>
              <a:gd name="connsiteY0-78" fmla="*/ 985868 h 985868"/>
              <a:gd name="connsiteX1-79" fmla="*/ 1146611 w 4319868"/>
              <a:gd name="connsiteY1-80" fmla="*/ 0 h 985868"/>
              <a:gd name="connsiteX2-81" fmla="*/ 3078256 w 4319868"/>
              <a:gd name="connsiteY2-82" fmla="*/ 23283 h 985868"/>
              <a:gd name="connsiteX3-83" fmla="*/ 4319868 w 4319868"/>
              <a:gd name="connsiteY3-84" fmla="*/ 557056 h 985868"/>
            </a:gdLst>
            <a:ahLst/>
            <a:cxnLst>
              <a:cxn ang="0">
                <a:pos x="connsiteX0-1" y="connsiteY0-2"/>
              </a:cxn>
              <a:cxn ang="0">
                <a:pos x="connsiteX1-3" y="connsiteY1-4"/>
              </a:cxn>
              <a:cxn ang="0">
                <a:pos x="connsiteX2-5" y="connsiteY2-6"/>
              </a:cxn>
              <a:cxn ang="0">
                <a:pos x="connsiteX3-7" y="connsiteY3-8"/>
              </a:cxn>
            </a:cxnLst>
            <a:rect l="l" t="t" r="r" b="b"/>
            <a:pathLst>
              <a:path w="4319868" h="985868">
                <a:moveTo>
                  <a:pt x="0" y="985868"/>
                </a:moveTo>
                <a:lnTo>
                  <a:pt x="1146611" y="0"/>
                </a:lnTo>
                <a:lnTo>
                  <a:pt x="3078256" y="23283"/>
                </a:lnTo>
                <a:lnTo>
                  <a:pt x="4319868" y="557056"/>
                </a:lnTo>
              </a:path>
            </a:pathLst>
          </a:custGeom>
          <a:noFill/>
          <a:ln w="57150">
            <a:solidFill>
              <a:srgbClr val="E28189"/>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任意多边形 33"/>
          <p:cNvSpPr/>
          <p:nvPr/>
        </p:nvSpPr>
        <p:spPr bwMode="gray">
          <a:xfrm flipV="1">
            <a:off x="4745485" y="5202480"/>
            <a:ext cx="4319868" cy="787791"/>
          </a:xfrm>
          <a:custGeom>
            <a:avLst/>
            <a:gdLst>
              <a:gd name="connsiteX0" fmla="*/ 0 w 4491318"/>
              <a:gd name="connsiteY0" fmla="*/ 753035 h 1304365"/>
              <a:gd name="connsiteX1" fmla="*/ 605118 w 4491318"/>
              <a:gd name="connsiteY1" fmla="*/ 1304365 h 1304365"/>
              <a:gd name="connsiteX2" fmla="*/ 1627094 w 4491318"/>
              <a:gd name="connsiteY2" fmla="*/ 0 h 1304365"/>
              <a:gd name="connsiteX3" fmla="*/ 3859306 w 4491318"/>
              <a:gd name="connsiteY3" fmla="*/ 0 h 1304365"/>
              <a:gd name="connsiteX4" fmla="*/ 4491318 w 4491318"/>
              <a:gd name="connsiteY4" fmla="*/ 578223 h 1304365"/>
              <a:gd name="connsiteX0-1" fmla="*/ 0 w 4491318"/>
              <a:gd name="connsiteY0-2" fmla="*/ 757268 h 1308598"/>
              <a:gd name="connsiteX1-3" fmla="*/ 605118 w 4491318"/>
              <a:gd name="connsiteY1-4" fmla="*/ 1308598 h 1308598"/>
              <a:gd name="connsiteX2-5" fmla="*/ 1732928 w 4491318"/>
              <a:gd name="connsiteY2-6" fmla="*/ 0 h 1308598"/>
              <a:gd name="connsiteX3-7" fmla="*/ 3859306 w 4491318"/>
              <a:gd name="connsiteY3-8" fmla="*/ 4233 h 1308598"/>
              <a:gd name="connsiteX4-9" fmla="*/ 4491318 w 4491318"/>
              <a:gd name="connsiteY4-10" fmla="*/ 582456 h 1308598"/>
              <a:gd name="connsiteX0-11" fmla="*/ 0 w 4491318"/>
              <a:gd name="connsiteY0-12" fmla="*/ 757268 h 1308598"/>
              <a:gd name="connsiteX1-13" fmla="*/ 605118 w 4491318"/>
              <a:gd name="connsiteY1-14" fmla="*/ 1308598 h 1308598"/>
              <a:gd name="connsiteX2-15" fmla="*/ 1762561 w 4491318"/>
              <a:gd name="connsiteY2-16" fmla="*/ 0 h 1308598"/>
              <a:gd name="connsiteX3-17" fmla="*/ 3859306 w 4491318"/>
              <a:gd name="connsiteY3-18" fmla="*/ 4233 h 1308598"/>
              <a:gd name="connsiteX4-19" fmla="*/ 4491318 w 4491318"/>
              <a:gd name="connsiteY4-20" fmla="*/ 582456 h 1308598"/>
              <a:gd name="connsiteX0-21" fmla="*/ 0 w 4491318"/>
              <a:gd name="connsiteY0-22" fmla="*/ 757268 h 757268"/>
              <a:gd name="connsiteX1-23" fmla="*/ 1762561 w 4491318"/>
              <a:gd name="connsiteY1-24" fmla="*/ 0 h 757268"/>
              <a:gd name="connsiteX2-25" fmla="*/ 3859306 w 4491318"/>
              <a:gd name="connsiteY2-26" fmla="*/ 4233 h 757268"/>
              <a:gd name="connsiteX3-27" fmla="*/ 4491318 w 4491318"/>
              <a:gd name="connsiteY3-28" fmla="*/ 582456 h 757268"/>
              <a:gd name="connsiteX0-29" fmla="*/ 0 w 3786468"/>
              <a:gd name="connsiteY0-30" fmla="*/ 954118 h 954118"/>
              <a:gd name="connsiteX1-31" fmla="*/ 1057711 w 3786468"/>
              <a:gd name="connsiteY1-32" fmla="*/ 0 h 954118"/>
              <a:gd name="connsiteX2-33" fmla="*/ 3154456 w 3786468"/>
              <a:gd name="connsiteY2-34" fmla="*/ 4233 h 954118"/>
              <a:gd name="connsiteX3-35" fmla="*/ 3786468 w 3786468"/>
              <a:gd name="connsiteY3-36" fmla="*/ 582456 h 954118"/>
              <a:gd name="connsiteX0-37" fmla="*/ 0 w 3786468"/>
              <a:gd name="connsiteY0-38" fmla="*/ 992218 h 992218"/>
              <a:gd name="connsiteX1-39" fmla="*/ 1184711 w 3786468"/>
              <a:gd name="connsiteY1-40" fmla="*/ 0 h 992218"/>
              <a:gd name="connsiteX2-41" fmla="*/ 3154456 w 3786468"/>
              <a:gd name="connsiteY2-42" fmla="*/ 42333 h 992218"/>
              <a:gd name="connsiteX3-43" fmla="*/ 3786468 w 3786468"/>
              <a:gd name="connsiteY3-44" fmla="*/ 620556 h 992218"/>
              <a:gd name="connsiteX0-45" fmla="*/ 0 w 3786468"/>
              <a:gd name="connsiteY0-46" fmla="*/ 973168 h 973168"/>
              <a:gd name="connsiteX1-47" fmla="*/ 1216461 w 3786468"/>
              <a:gd name="connsiteY1-48" fmla="*/ 0 h 973168"/>
              <a:gd name="connsiteX2-49" fmla="*/ 3154456 w 3786468"/>
              <a:gd name="connsiteY2-50" fmla="*/ 23283 h 973168"/>
              <a:gd name="connsiteX3-51" fmla="*/ 3786468 w 3786468"/>
              <a:gd name="connsiteY3-52" fmla="*/ 601506 h 973168"/>
              <a:gd name="connsiteX0-53" fmla="*/ 0 w 3786468"/>
              <a:gd name="connsiteY0-54" fmla="*/ 973168 h 973168"/>
              <a:gd name="connsiteX1-55" fmla="*/ 1216461 w 3786468"/>
              <a:gd name="connsiteY1-56" fmla="*/ 0 h 973168"/>
              <a:gd name="connsiteX2-57" fmla="*/ 3129056 w 3786468"/>
              <a:gd name="connsiteY2-58" fmla="*/ 10583 h 973168"/>
              <a:gd name="connsiteX3-59" fmla="*/ 3786468 w 3786468"/>
              <a:gd name="connsiteY3-60" fmla="*/ 601506 h 973168"/>
              <a:gd name="connsiteX0-61" fmla="*/ 0 w 3786468"/>
              <a:gd name="connsiteY0-62" fmla="*/ 973168 h 973168"/>
              <a:gd name="connsiteX1-63" fmla="*/ 1216461 w 3786468"/>
              <a:gd name="connsiteY1-64" fmla="*/ 0 h 973168"/>
              <a:gd name="connsiteX2-65" fmla="*/ 3078256 w 3786468"/>
              <a:gd name="connsiteY2-66" fmla="*/ 10583 h 973168"/>
              <a:gd name="connsiteX3-67" fmla="*/ 3786468 w 3786468"/>
              <a:gd name="connsiteY3-68" fmla="*/ 601506 h 973168"/>
              <a:gd name="connsiteX0-69" fmla="*/ 0 w 3786468"/>
              <a:gd name="connsiteY0-70" fmla="*/ 985868 h 985868"/>
              <a:gd name="connsiteX1-71" fmla="*/ 1146611 w 3786468"/>
              <a:gd name="connsiteY1-72" fmla="*/ 0 h 985868"/>
              <a:gd name="connsiteX2-73" fmla="*/ 3078256 w 3786468"/>
              <a:gd name="connsiteY2-74" fmla="*/ 23283 h 985868"/>
              <a:gd name="connsiteX3-75" fmla="*/ 3786468 w 3786468"/>
              <a:gd name="connsiteY3-76" fmla="*/ 614206 h 985868"/>
              <a:gd name="connsiteX0-77" fmla="*/ 0 w 4319868"/>
              <a:gd name="connsiteY0-78" fmla="*/ 985868 h 985868"/>
              <a:gd name="connsiteX1-79" fmla="*/ 1146611 w 4319868"/>
              <a:gd name="connsiteY1-80" fmla="*/ 0 h 985868"/>
              <a:gd name="connsiteX2-81" fmla="*/ 3078256 w 4319868"/>
              <a:gd name="connsiteY2-82" fmla="*/ 23283 h 985868"/>
              <a:gd name="connsiteX3-83" fmla="*/ 4319868 w 4319868"/>
              <a:gd name="connsiteY3-84" fmla="*/ 557056 h 985868"/>
            </a:gdLst>
            <a:ahLst/>
            <a:cxnLst>
              <a:cxn ang="0">
                <a:pos x="connsiteX0-1" y="connsiteY0-2"/>
              </a:cxn>
              <a:cxn ang="0">
                <a:pos x="connsiteX1-3" y="connsiteY1-4"/>
              </a:cxn>
              <a:cxn ang="0">
                <a:pos x="connsiteX2-5" y="connsiteY2-6"/>
              </a:cxn>
              <a:cxn ang="0">
                <a:pos x="connsiteX3-7" y="connsiteY3-8"/>
              </a:cxn>
            </a:cxnLst>
            <a:rect l="l" t="t" r="r" b="b"/>
            <a:pathLst>
              <a:path w="4319868" h="985868">
                <a:moveTo>
                  <a:pt x="0" y="985868"/>
                </a:moveTo>
                <a:lnTo>
                  <a:pt x="1146611" y="0"/>
                </a:lnTo>
                <a:lnTo>
                  <a:pt x="3078256" y="23283"/>
                </a:lnTo>
                <a:lnTo>
                  <a:pt x="4319868" y="557056"/>
                </a:lnTo>
              </a:path>
            </a:pathLst>
          </a:custGeom>
          <a:noFill/>
          <a:ln w="57150">
            <a:solidFill>
              <a:srgbClr val="AFD89C"/>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任意多边形 33"/>
          <p:cNvSpPr/>
          <p:nvPr/>
        </p:nvSpPr>
        <p:spPr bwMode="gray">
          <a:xfrm>
            <a:off x="4766031" y="4353014"/>
            <a:ext cx="4070631" cy="834353"/>
          </a:xfrm>
          <a:custGeom>
            <a:avLst/>
            <a:gdLst>
              <a:gd name="connsiteX0" fmla="*/ 0 w 4491318"/>
              <a:gd name="connsiteY0" fmla="*/ 753035 h 1304365"/>
              <a:gd name="connsiteX1" fmla="*/ 605118 w 4491318"/>
              <a:gd name="connsiteY1" fmla="*/ 1304365 h 1304365"/>
              <a:gd name="connsiteX2" fmla="*/ 1627094 w 4491318"/>
              <a:gd name="connsiteY2" fmla="*/ 0 h 1304365"/>
              <a:gd name="connsiteX3" fmla="*/ 3859306 w 4491318"/>
              <a:gd name="connsiteY3" fmla="*/ 0 h 1304365"/>
              <a:gd name="connsiteX4" fmla="*/ 4491318 w 4491318"/>
              <a:gd name="connsiteY4" fmla="*/ 578223 h 1304365"/>
              <a:gd name="connsiteX0-1" fmla="*/ 0 w 4491318"/>
              <a:gd name="connsiteY0-2" fmla="*/ 757268 h 1308598"/>
              <a:gd name="connsiteX1-3" fmla="*/ 605118 w 4491318"/>
              <a:gd name="connsiteY1-4" fmla="*/ 1308598 h 1308598"/>
              <a:gd name="connsiteX2-5" fmla="*/ 1732928 w 4491318"/>
              <a:gd name="connsiteY2-6" fmla="*/ 0 h 1308598"/>
              <a:gd name="connsiteX3-7" fmla="*/ 3859306 w 4491318"/>
              <a:gd name="connsiteY3-8" fmla="*/ 4233 h 1308598"/>
              <a:gd name="connsiteX4-9" fmla="*/ 4491318 w 4491318"/>
              <a:gd name="connsiteY4-10" fmla="*/ 582456 h 1308598"/>
              <a:gd name="connsiteX0-11" fmla="*/ 0 w 4491318"/>
              <a:gd name="connsiteY0-12" fmla="*/ 757268 h 1308598"/>
              <a:gd name="connsiteX1-13" fmla="*/ 605118 w 4491318"/>
              <a:gd name="connsiteY1-14" fmla="*/ 1308598 h 1308598"/>
              <a:gd name="connsiteX2-15" fmla="*/ 1762561 w 4491318"/>
              <a:gd name="connsiteY2-16" fmla="*/ 0 h 1308598"/>
              <a:gd name="connsiteX3-17" fmla="*/ 3859306 w 4491318"/>
              <a:gd name="connsiteY3-18" fmla="*/ 4233 h 1308598"/>
              <a:gd name="connsiteX4-19" fmla="*/ 4491318 w 4491318"/>
              <a:gd name="connsiteY4-20" fmla="*/ 582456 h 1308598"/>
              <a:gd name="connsiteX0-21" fmla="*/ 0 w 4491318"/>
              <a:gd name="connsiteY0-22" fmla="*/ 757268 h 757268"/>
              <a:gd name="connsiteX1-23" fmla="*/ 1762561 w 4491318"/>
              <a:gd name="connsiteY1-24" fmla="*/ 0 h 757268"/>
              <a:gd name="connsiteX2-25" fmla="*/ 3859306 w 4491318"/>
              <a:gd name="connsiteY2-26" fmla="*/ 4233 h 757268"/>
              <a:gd name="connsiteX3-27" fmla="*/ 4491318 w 4491318"/>
              <a:gd name="connsiteY3-28" fmla="*/ 582456 h 757268"/>
              <a:gd name="connsiteX0-29" fmla="*/ 0 w 3786468"/>
              <a:gd name="connsiteY0-30" fmla="*/ 954118 h 954118"/>
              <a:gd name="connsiteX1-31" fmla="*/ 1057711 w 3786468"/>
              <a:gd name="connsiteY1-32" fmla="*/ 0 h 954118"/>
              <a:gd name="connsiteX2-33" fmla="*/ 3154456 w 3786468"/>
              <a:gd name="connsiteY2-34" fmla="*/ 4233 h 954118"/>
              <a:gd name="connsiteX3-35" fmla="*/ 3786468 w 3786468"/>
              <a:gd name="connsiteY3-36" fmla="*/ 582456 h 954118"/>
              <a:gd name="connsiteX0-37" fmla="*/ 0 w 3786468"/>
              <a:gd name="connsiteY0-38" fmla="*/ 992218 h 992218"/>
              <a:gd name="connsiteX1-39" fmla="*/ 1184711 w 3786468"/>
              <a:gd name="connsiteY1-40" fmla="*/ 0 h 992218"/>
              <a:gd name="connsiteX2-41" fmla="*/ 3154456 w 3786468"/>
              <a:gd name="connsiteY2-42" fmla="*/ 42333 h 992218"/>
              <a:gd name="connsiteX3-43" fmla="*/ 3786468 w 3786468"/>
              <a:gd name="connsiteY3-44" fmla="*/ 620556 h 992218"/>
              <a:gd name="connsiteX0-45" fmla="*/ 0 w 3786468"/>
              <a:gd name="connsiteY0-46" fmla="*/ 973168 h 973168"/>
              <a:gd name="connsiteX1-47" fmla="*/ 1216461 w 3786468"/>
              <a:gd name="connsiteY1-48" fmla="*/ 0 h 973168"/>
              <a:gd name="connsiteX2-49" fmla="*/ 3154456 w 3786468"/>
              <a:gd name="connsiteY2-50" fmla="*/ 23283 h 973168"/>
              <a:gd name="connsiteX3-51" fmla="*/ 3786468 w 3786468"/>
              <a:gd name="connsiteY3-52" fmla="*/ 601506 h 973168"/>
              <a:gd name="connsiteX0-53" fmla="*/ 0 w 3786468"/>
              <a:gd name="connsiteY0-54" fmla="*/ 973168 h 973168"/>
              <a:gd name="connsiteX1-55" fmla="*/ 1216461 w 3786468"/>
              <a:gd name="connsiteY1-56" fmla="*/ 0 h 973168"/>
              <a:gd name="connsiteX2-57" fmla="*/ 3129056 w 3786468"/>
              <a:gd name="connsiteY2-58" fmla="*/ 10583 h 973168"/>
              <a:gd name="connsiteX3-59" fmla="*/ 3786468 w 3786468"/>
              <a:gd name="connsiteY3-60" fmla="*/ 601506 h 973168"/>
              <a:gd name="connsiteX0-61" fmla="*/ 0 w 3786468"/>
              <a:gd name="connsiteY0-62" fmla="*/ 973168 h 973168"/>
              <a:gd name="connsiteX1-63" fmla="*/ 1216461 w 3786468"/>
              <a:gd name="connsiteY1-64" fmla="*/ 0 h 973168"/>
              <a:gd name="connsiteX2-65" fmla="*/ 3078256 w 3786468"/>
              <a:gd name="connsiteY2-66" fmla="*/ 10583 h 973168"/>
              <a:gd name="connsiteX3-67" fmla="*/ 3786468 w 3786468"/>
              <a:gd name="connsiteY3-68" fmla="*/ 601506 h 973168"/>
              <a:gd name="connsiteX0-69" fmla="*/ 0 w 3786468"/>
              <a:gd name="connsiteY0-70" fmla="*/ 985868 h 985868"/>
              <a:gd name="connsiteX1-71" fmla="*/ 1146611 w 3786468"/>
              <a:gd name="connsiteY1-72" fmla="*/ 0 h 985868"/>
              <a:gd name="connsiteX2-73" fmla="*/ 3078256 w 3786468"/>
              <a:gd name="connsiteY2-74" fmla="*/ 23283 h 985868"/>
              <a:gd name="connsiteX3-75" fmla="*/ 3786468 w 3786468"/>
              <a:gd name="connsiteY3-76" fmla="*/ 614206 h 985868"/>
              <a:gd name="connsiteX0-77" fmla="*/ 0 w 4319868"/>
              <a:gd name="connsiteY0-78" fmla="*/ 985868 h 985868"/>
              <a:gd name="connsiteX1-79" fmla="*/ 1146611 w 4319868"/>
              <a:gd name="connsiteY1-80" fmla="*/ 0 h 985868"/>
              <a:gd name="connsiteX2-81" fmla="*/ 3078256 w 4319868"/>
              <a:gd name="connsiteY2-82" fmla="*/ 23283 h 985868"/>
              <a:gd name="connsiteX3-83" fmla="*/ 4319868 w 4319868"/>
              <a:gd name="connsiteY3-84" fmla="*/ 557056 h 985868"/>
              <a:gd name="connsiteX0-85" fmla="*/ 0 w 4057931"/>
              <a:gd name="connsiteY0-86" fmla="*/ 839822 h 839822"/>
              <a:gd name="connsiteX1-87" fmla="*/ 884674 w 4057931"/>
              <a:gd name="connsiteY1-88" fmla="*/ 0 h 839822"/>
              <a:gd name="connsiteX2-89" fmla="*/ 2816319 w 4057931"/>
              <a:gd name="connsiteY2-90" fmla="*/ 23283 h 839822"/>
              <a:gd name="connsiteX3-91" fmla="*/ 4057931 w 4057931"/>
              <a:gd name="connsiteY3-92" fmla="*/ 557056 h 839822"/>
              <a:gd name="connsiteX0-93" fmla="*/ 0 w 4057931"/>
              <a:gd name="connsiteY0-94" fmla="*/ 816539 h 816539"/>
              <a:gd name="connsiteX1-95" fmla="*/ 965637 w 4057931"/>
              <a:gd name="connsiteY1-96" fmla="*/ 243628 h 816539"/>
              <a:gd name="connsiteX2-97" fmla="*/ 2816319 w 4057931"/>
              <a:gd name="connsiteY2-98" fmla="*/ 0 h 816539"/>
              <a:gd name="connsiteX3-99" fmla="*/ 4057931 w 4057931"/>
              <a:gd name="connsiteY3-100" fmla="*/ 533773 h 816539"/>
              <a:gd name="connsiteX0-101" fmla="*/ 0 w 4057931"/>
              <a:gd name="connsiteY0-102" fmla="*/ 572911 h 572911"/>
              <a:gd name="connsiteX1-103" fmla="*/ 965637 w 4057931"/>
              <a:gd name="connsiteY1-104" fmla="*/ 0 h 572911"/>
              <a:gd name="connsiteX2-105" fmla="*/ 2487706 w 4057931"/>
              <a:gd name="connsiteY2-106" fmla="*/ 8175 h 572911"/>
              <a:gd name="connsiteX3-107" fmla="*/ 4057931 w 4057931"/>
              <a:gd name="connsiteY3-108" fmla="*/ 290145 h 572911"/>
              <a:gd name="connsiteX0-109" fmla="*/ 0 w 3676931"/>
              <a:gd name="connsiteY0-110" fmla="*/ 572911 h 954907"/>
              <a:gd name="connsiteX1-111" fmla="*/ 965637 w 3676931"/>
              <a:gd name="connsiteY1-112" fmla="*/ 0 h 954907"/>
              <a:gd name="connsiteX2-113" fmla="*/ 2487706 w 3676931"/>
              <a:gd name="connsiteY2-114" fmla="*/ 8175 h 954907"/>
              <a:gd name="connsiteX3-115" fmla="*/ 3676931 w 3676931"/>
              <a:gd name="connsiteY3-116" fmla="*/ 954907 h 954907"/>
              <a:gd name="connsiteX0-117" fmla="*/ 0 w 3994431"/>
              <a:gd name="connsiteY0-118" fmla="*/ 727351 h 954907"/>
              <a:gd name="connsiteX1-119" fmla="*/ 1283137 w 3994431"/>
              <a:gd name="connsiteY1-120" fmla="*/ 0 h 954907"/>
              <a:gd name="connsiteX2-121" fmla="*/ 2805206 w 3994431"/>
              <a:gd name="connsiteY2-122" fmla="*/ 8175 h 954907"/>
              <a:gd name="connsiteX3-123" fmla="*/ 3994431 w 3994431"/>
              <a:gd name="connsiteY3-124" fmla="*/ 954907 h 954907"/>
              <a:gd name="connsiteX0-125" fmla="*/ 0 w 4070631"/>
              <a:gd name="connsiteY0-126" fmla="*/ 754210 h 954907"/>
              <a:gd name="connsiteX1-127" fmla="*/ 1359337 w 4070631"/>
              <a:gd name="connsiteY1-128" fmla="*/ 0 h 954907"/>
              <a:gd name="connsiteX2-129" fmla="*/ 2881406 w 4070631"/>
              <a:gd name="connsiteY2-130" fmla="*/ 8175 h 954907"/>
              <a:gd name="connsiteX3-131" fmla="*/ 4070631 w 4070631"/>
              <a:gd name="connsiteY3-132" fmla="*/ 954907 h 954907"/>
            </a:gdLst>
            <a:ahLst/>
            <a:cxnLst>
              <a:cxn ang="0">
                <a:pos x="connsiteX0-1" y="connsiteY0-2"/>
              </a:cxn>
              <a:cxn ang="0">
                <a:pos x="connsiteX1-3" y="connsiteY1-4"/>
              </a:cxn>
              <a:cxn ang="0">
                <a:pos x="connsiteX2-5" y="connsiteY2-6"/>
              </a:cxn>
              <a:cxn ang="0">
                <a:pos x="connsiteX3-7" y="connsiteY3-8"/>
              </a:cxn>
            </a:cxnLst>
            <a:rect l="l" t="t" r="r" b="b"/>
            <a:pathLst>
              <a:path w="4070631" h="954907">
                <a:moveTo>
                  <a:pt x="0" y="754210"/>
                </a:moveTo>
                <a:lnTo>
                  <a:pt x="1359337" y="0"/>
                </a:lnTo>
                <a:lnTo>
                  <a:pt x="2881406" y="8175"/>
                </a:lnTo>
                <a:lnTo>
                  <a:pt x="4070631" y="954907"/>
                </a:lnTo>
              </a:path>
            </a:pathLst>
          </a:custGeom>
          <a:noFill/>
          <a:ln w="57150">
            <a:solidFill>
              <a:srgbClr val="56C4D2"/>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 name="TextBox 10"/>
          <p:cNvSpPr txBox="1"/>
          <p:nvPr/>
        </p:nvSpPr>
        <p:spPr bwMode="gray">
          <a:xfrm>
            <a:off x="9217662" y="4395340"/>
            <a:ext cx="1013419" cy="307777"/>
          </a:xfrm>
          <a:prstGeom prst="rect">
            <a:avLst/>
          </a:prstGeom>
          <a:noFill/>
        </p:spPr>
        <p:txBody>
          <a:bodyPr wrap="none" rtlCol="0">
            <a:spAutoFit/>
          </a:bodyPr>
          <a:lstStyle/>
          <a:p>
            <a:r>
              <a:rPr lang="en-US" altLang="zh-CN" sz="1400" dirty="0"/>
              <a:t>Endpoint1</a:t>
            </a:r>
            <a:endParaRPr lang="zh-CN" altLang="en-US" sz="1400" dirty="0"/>
          </a:p>
        </p:txBody>
      </p:sp>
      <p:sp>
        <p:nvSpPr>
          <p:cNvPr id="23" name="TextBox 22"/>
          <p:cNvSpPr txBox="1"/>
          <p:nvPr/>
        </p:nvSpPr>
        <p:spPr bwMode="gray">
          <a:xfrm>
            <a:off x="9217662" y="5227095"/>
            <a:ext cx="1013419" cy="307777"/>
          </a:xfrm>
          <a:prstGeom prst="rect">
            <a:avLst/>
          </a:prstGeom>
          <a:noFill/>
        </p:spPr>
        <p:txBody>
          <a:bodyPr wrap="none" rtlCol="0">
            <a:spAutoFit/>
          </a:bodyPr>
          <a:lstStyle/>
          <a:p>
            <a:r>
              <a:rPr lang="en-US" altLang="zh-CN" sz="1400" dirty="0"/>
              <a:t>Endpoint2</a:t>
            </a:r>
            <a:endParaRPr lang="zh-CN" altLang="en-US" sz="1400" dirty="0"/>
          </a:p>
        </p:txBody>
      </p:sp>
      <p:sp>
        <p:nvSpPr>
          <p:cNvPr id="25" name="TextBox 24"/>
          <p:cNvSpPr txBox="1"/>
          <p:nvPr/>
        </p:nvSpPr>
        <p:spPr bwMode="gray">
          <a:xfrm>
            <a:off x="6429461" y="3944336"/>
            <a:ext cx="877163" cy="307777"/>
          </a:xfrm>
          <a:prstGeom prst="rect">
            <a:avLst/>
          </a:prstGeom>
          <a:noFill/>
        </p:spPr>
        <p:txBody>
          <a:bodyPr wrap="none" rtlCol="0">
            <a:spAutoFit/>
          </a:bodyPr>
          <a:lstStyle/>
          <a:p>
            <a:r>
              <a:rPr lang="en-US" altLang="zh-CN" sz="1400" dirty="0"/>
              <a:t>Color 15</a:t>
            </a:r>
            <a:endParaRPr lang="zh-CN" altLang="en-US" sz="1400" dirty="0"/>
          </a:p>
        </p:txBody>
      </p:sp>
      <p:sp>
        <p:nvSpPr>
          <p:cNvPr id="26" name="TextBox 25"/>
          <p:cNvSpPr txBox="1"/>
          <p:nvPr/>
        </p:nvSpPr>
        <p:spPr bwMode="gray">
          <a:xfrm>
            <a:off x="6423417" y="4369627"/>
            <a:ext cx="877163" cy="307777"/>
          </a:xfrm>
          <a:prstGeom prst="rect">
            <a:avLst/>
          </a:prstGeom>
          <a:noFill/>
        </p:spPr>
        <p:txBody>
          <a:bodyPr wrap="none" rtlCol="0">
            <a:spAutoFit/>
          </a:bodyPr>
          <a:lstStyle/>
          <a:p>
            <a:r>
              <a:rPr lang="en-US" altLang="zh-CN" sz="1400" dirty="0"/>
              <a:t>Color 20</a:t>
            </a:r>
            <a:endParaRPr lang="zh-CN" altLang="en-US" sz="1400" dirty="0"/>
          </a:p>
        </p:txBody>
      </p:sp>
      <p:sp>
        <p:nvSpPr>
          <p:cNvPr id="28" name="TextBox 27"/>
          <p:cNvSpPr txBox="1"/>
          <p:nvPr/>
        </p:nvSpPr>
        <p:spPr bwMode="gray">
          <a:xfrm>
            <a:off x="6423417" y="5673072"/>
            <a:ext cx="877163" cy="307777"/>
          </a:xfrm>
          <a:prstGeom prst="rect">
            <a:avLst/>
          </a:prstGeom>
          <a:noFill/>
        </p:spPr>
        <p:txBody>
          <a:bodyPr wrap="none" rtlCol="0">
            <a:spAutoFit/>
          </a:bodyPr>
          <a:lstStyle/>
          <a:p>
            <a:r>
              <a:rPr lang="en-US" altLang="zh-CN" sz="1400" dirty="0"/>
              <a:t>Color 25</a:t>
            </a:r>
            <a:endParaRPr lang="zh-CN" altLang="en-US" sz="1400" dirty="0"/>
          </a:p>
        </p:txBody>
      </p:sp>
      <p:sp>
        <p:nvSpPr>
          <p:cNvPr id="29" name="TextBox 28"/>
          <p:cNvSpPr txBox="1"/>
          <p:nvPr/>
        </p:nvSpPr>
        <p:spPr bwMode="gray">
          <a:xfrm>
            <a:off x="1921299" y="4233950"/>
            <a:ext cx="3171061" cy="307777"/>
          </a:xfrm>
          <a:prstGeom prst="rect">
            <a:avLst/>
          </a:prstGeom>
          <a:noFill/>
        </p:spPr>
        <p:txBody>
          <a:bodyPr wrap="none" rtlCol="0">
            <a:spAutoFit/>
          </a:bodyPr>
          <a:lstStyle/>
          <a:p>
            <a:r>
              <a:rPr lang="en-US" altLang="zh-CN" sz="1400" dirty="0"/>
              <a:t>SRv6 Policy 1&lt;color 15</a:t>
            </a:r>
            <a:r>
              <a:rPr lang="zh-CN" altLang="en-US" sz="1400" dirty="0"/>
              <a:t>，</a:t>
            </a:r>
            <a:r>
              <a:rPr lang="en-US" altLang="zh-CN" sz="1400" dirty="0"/>
              <a:t>endpoint1&gt;</a:t>
            </a:r>
            <a:endParaRPr lang="zh-CN" altLang="en-US" sz="1400" dirty="0"/>
          </a:p>
        </p:txBody>
      </p:sp>
      <p:sp>
        <p:nvSpPr>
          <p:cNvPr id="30" name="TextBox 29"/>
          <p:cNvSpPr txBox="1"/>
          <p:nvPr/>
        </p:nvSpPr>
        <p:spPr bwMode="gray">
          <a:xfrm>
            <a:off x="1564042" y="4812992"/>
            <a:ext cx="3171061" cy="307777"/>
          </a:xfrm>
          <a:prstGeom prst="rect">
            <a:avLst/>
          </a:prstGeom>
          <a:noFill/>
        </p:spPr>
        <p:txBody>
          <a:bodyPr wrap="none" rtlCol="0">
            <a:spAutoFit/>
          </a:bodyPr>
          <a:lstStyle/>
          <a:p>
            <a:r>
              <a:rPr lang="en-US" altLang="zh-CN" sz="1400" dirty="0"/>
              <a:t>SRv6 Policy 2&lt;color 20</a:t>
            </a:r>
            <a:r>
              <a:rPr lang="zh-CN" altLang="en-US" sz="1400" dirty="0"/>
              <a:t>，</a:t>
            </a:r>
            <a:r>
              <a:rPr lang="en-US" altLang="zh-CN" sz="1400" dirty="0"/>
              <a:t>endpoint2&gt;</a:t>
            </a:r>
            <a:endParaRPr lang="zh-CN" altLang="en-US" sz="1400" dirty="0"/>
          </a:p>
        </p:txBody>
      </p:sp>
      <p:sp>
        <p:nvSpPr>
          <p:cNvPr id="31" name="TextBox 30"/>
          <p:cNvSpPr txBox="1"/>
          <p:nvPr/>
        </p:nvSpPr>
        <p:spPr bwMode="gray">
          <a:xfrm>
            <a:off x="1936763" y="5393285"/>
            <a:ext cx="3171061" cy="307777"/>
          </a:xfrm>
          <a:prstGeom prst="rect">
            <a:avLst/>
          </a:prstGeom>
          <a:noFill/>
        </p:spPr>
        <p:txBody>
          <a:bodyPr wrap="none" rtlCol="0">
            <a:spAutoFit/>
          </a:bodyPr>
          <a:lstStyle/>
          <a:p>
            <a:r>
              <a:rPr lang="en-US" altLang="zh-CN" sz="1400" dirty="0"/>
              <a:t>SRv6 Policy 3&lt;color 25</a:t>
            </a:r>
            <a:r>
              <a:rPr lang="zh-CN" altLang="en-US" sz="1400" dirty="0"/>
              <a:t>，</a:t>
            </a:r>
            <a:r>
              <a:rPr lang="en-US" altLang="zh-CN" sz="1400" dirty="0"/>
              <a:t>endpoint2&gt;</a:t>
            </a:r>
            <a:endParaRPr lang="zh-CN" altLang="en-US" sz="1400" dirty="0"/>
          </a:p>
        </p:txBody>
      </p:sp>
      <p:sp>
        <p:nvSpPr>
          <p:cNvPr id="32" name="任意多边形 33"/>
          <p:cNvSpPr/>
          <p:nvPr/>
        </p:nvSpPr>
        <p:spPr bwMode="gray">
          <a:xfrm flipV="1">
            <a:off x="4776413" y="5080754"/>
            <a:ext cx="4061878" cy="478734"/>
          </a:xfrm>
          <a:custGeom>
            <a:avLst/>
            <a:gdLst>
              <a:gd name="connsiteX0" fmla="*/ 0 w 4491318"/>
              <a:gd name="connsiteY0" fmla="*/ 753035 h 1304365"/>
              <a:gd name="connsiteX1" fmla="*/ 605118 w 4491318"/>
              <a:gd name="connsiteY1" fmla="*/ 1304365 h 1304365"/>
              <a:gd name="connsiteX2" fmla="*/ 1627094 w 4491318"/>
              <a:gd name="connsiteY2" fmla="*/ 0 h 1304365"/>
              <a:gd name="connsiteX3" fmla="*/ 3859306 w 4491318"/>
              <a:gd name="connsiteY3" fmla="*/ 0 h 1304365"/>
              <a:gd name="connsiteX4" fmla="*/ 4491318 w 4491318"/>
              <a:gd name="connsiteY4" fmla="*/ 578223 h 1304365"/>
              <a:gd name="connsiteX0-1" fmla="*/ 0 w 4491318"/>
              <a:gd name="connsiteY0-2" fmla="*/ 757268 h 1308598"/>
              <a:gd name="connsiteX1-3" fmla="*/ 605118 w 4491318"/>
              <a:gd name="connsiteY1-4" fmla="*/ 1308598 h 1308598"/>
              <a:gd name="connsiteX2-5" fmla="*/ 1732928 w 4491318"/>
              <a:gd name="connsiteY2-6" fmla="*/ 0 h 1308598"/>
              <a:gd name="connsiteX3-7" fmla="*/ 3859306 w 4491318"/>
              <a:gd name="connsiteY3-8" fmla="*/ 4233 h 1308598"/>
              <a:gd name="connsiteX4-9" fmla="*/ 4491318 w 4491318"/>
              <a:gd name="connsiteY4-10" fmla="*/ 582456 h 1308598"/>
              <a:gd name="connsiteX0-11" fmla="*/ 0 w 4491318"/>
              <a:gd name="connsiteY0-12" fmla="*/ 757268 h 1308598"/>
              <a:gd name="connsiteX1-13" fmla="*/ 605118 w 4491318"/>
              <a:gd name="connsiteY1-14" fmla="*/ 1308598 h 1308598"/>
              <a:gd name="connsiteX2-15" fmla="*/ 1762561 w 4491318"/>
              <a:gd name="connsiteY2-16" fmla="*/ 0 h 1308598"/>
              <a:gd name="connsiteX3-17" fmla="*/ 3859306 w 4491318"/>
              <a:gd name="connsiteY3-18" fmla="*/ 4233 h 1308598"/>
              <a:gd name="connsiteX4-19" fmla="*/ 4491318 w 4491318"/>
              <a:gd name="connsiteY4-20" fmla="*/ 582456 h 1308598"/>
              <a:gd name="connsiteX0-21" fmla="*/ 0 w 4491318"/>
              <a:gd name="connsiteY0-22" fmla="*/ 757268 h 757268"/>
              <a:gd name="connsiteX1-23" fmla="*/ 1762561 w 4491318"/>
              <a:gd name="connsiteY1-24" fmla="*/ 0 h 757268"/>
              <a:gd name="connsiteX2-25" fmla="*/ 3859306 w 4491318"/>
              <a:gd name="connsiteY2-26" fmla="*/ 4233 h 757268"/>
              <a:gd name="connsiteX3-27" fmla="*/ 4491318 w 4491318"/>
              <a:gd name="connsiteY3-28" fmla="*/ 582456 h 757268"/>
              <a:gd name="connsiteX0-29" fmla="*/ 0 w 3786468"/>
              <a:gd name="connsiteY0-30" fmla="*/ 954118 h 954118"/>
              <a:gd name="connsiteX1-31" fmla="*/ 1057711 w 3786468"/>
              <a:gd name="connsiteY1-32" fmla="*/ 0 h 954118"/>
              <a:gd name="connsiteX2-33" fmla="*/ 3154456 w 3786468"/>
              <a:gd name="connsiteY2-34" fmla="*/ 4233 h 954118"/>
              <a:gd name="connsiteX3-35" fmla="*/ 3786468 w 3786468"/>
              <a:gd name="connsiteY3-36" fmla="*/ 582456 h 954118"/>
              <a:gd name="connsiteX0-37" fmla="*/ 0 w 3786468"/>
              <a:gd name="connsiteY0-38" fmla="*/ 992218 h 992218"/>
              <a:gd name="connsiteX1-39" fmla="*/ 1184711 w 3786468"/>
              <a:gd name="connsiteY1-40" fmla="*/ 0 h 992218"/>
              <a:gd name="connsiteX2-41" fmla="*/ 3154456 w 3786468"/>
              <a:gd name="connsiteY2-42" fmla="*/ 42333 h 992218"/>
              <a:gd name="connsiteX3-43" fmla="*/ 3786468 w 3786468"/>
              <a:gd name="connsiteY3-44" fmla="*/ 620556 h 992218"/>
              <a:gd name="connsiteX0-45" fmla="*/ 0 w 3786468"/>
              <a:gd name="connsiteY0-46" fmla="*/ 973168 h 973168"/>
              <a:gd name="connsiteX1-47" fmla="*/ 1216461 w 3786468"/>
              <a:gd name="connsiteY1-48" fmla="*/ 0 h 973168"/>
              <a:gd name="connsiteX2-49" fmla="*/ 3154456 w 3786468"/>
              <a:gd name="connsiteY2-50" fmla="*/ 23283 h 973168"/>
              <a:gd name="connsiteX3-51" fmla="*/ 3786468 w 3786468"/>
              <a:gd name="connsiteY3-52" fmla="*/ 601506 h 973168"/>
              <a:gd name="connsiteX0-53" fmla="*/ 0 w 3786468"/>
              <a:gd name="connsiteY0-54" fmla="*/ 973168 h 973168"/>
              <a:gd name="connsiteX1-55" fmla="*/ 1216461 w 3786468"/>
              <a:gd name="connsiteY1-56" fmla="*/ 0 h 973168"/>
              <a:gd name="connsiteX2-57" fmla="*/ 3129056 w 3786468"/>
              <a:gd name="connsiteY2-58" fmla="*/ 10583 h 973168"/>
              <a:gd name="connsiteX3-59" fmla="*/ 3786468 w 3786468"/>
              <a:gd name="connsiteY3-60" fmla="*/ 601506 h 973168"/>
              <a:gd name="connsiteX0-61" fmla="*/ 0 w 3786468"/>
              <a:gd name="connsiteY0-62" fmla="*/ 973168 h 973168"/>
              <a:gd name="connsiteX1-63" fmla="*/ 1216461 w 3786468"/>
              <a:gd name="connsiteY1-64" fmla="*/ 0 h 973168"/>
              <a:gd name="connsiteX2-65" fmla="*/ 3078256 w 3786468"/>
              <a:gd name="connsiteY2-66" fmla="*/ 10583 h 973168"/>
              <a:gd name="connsiteX3-67" fmla="*/ 3786468 w 3786468"/>
              <a:gd name="connsiteY3-68" fmla="*/ 601506 h 973168"/>
              <a:gd name="connsiteX0-69" fmla="*/ 0 w 3786468"/>
              <a:gd name="connsiteY0-70" fmla="*/ 985868 h 985868"/>
              <a:gd name="connsiteX1-71" fmla="*/ 1146611 w 3786468"/>
              <a:gd name="connsiteY1-72" fmla="*/ 0 h 985868"/>
              <a:gd name="connsiteX2-73" fmla="*/ 3078256 w 3786468"/>
              <a:gd name="connsiteY2-74" fmla="*/ 23283 h 985868"/>
              <a:gd name="connsiteX3-75" fmla="*/ 3786468 w 3786468"/>
              <a:gd name="connsiteY3-76" fmla="*/ 614206 h 985868"/>
              <a:gd name="connsiteX0-77" fmla="*/ 0 w 4319868"/>
              <a:gd name="connsiteY0-78" fmla="*/ 985868 h 985868"/>
              <a:gd name="connsiteX1-79" fmla="*/ 1146611 w 4319868"/>
              <a:gd name="connsiteY1-80" fmla="*/ 0 h 985868"/>
              <a:gd name="connsiteX2-81" fmla="*/ 3078256 w 4319868"/>
              <a:gd name="connsiteY2-82" fmla="*/ 23283 h 985868"/>
              <a:gd name="connsiteX3-83" fmla="*/ 4319868 w 4319868"/>
              <a:gd name="connsiteY3-84" fmla="*/ 557056 h 985868"/>
            </a:gdLst>
            <a:ahLst/>
            <a:cxnLst>
              <a:cxn ang="0">
                <a:pos x="connsiteX0-1" y="connsiteY0-2"/>
              </a:cxn>
              <a:cxn ang="0">
                <a:pos x="connsiteX1-3" y="connsiteY1-4"/>
              </a:cxn>
              <a:cxn ang="0">
                <a:pos x="connsiteX2-5" y="connsiteY2-6"/>
              </a:cxn>
              <a:cxn ang="0">
                <a:pos x="connsiteX3-7" y="connsiteY3-8"/>
              </a:cxn>
            </a:cxnLst>
            <a:rect l="l" t="t" r="r" b="b"/>
            <a:pathLst>
              <a:path w="4319868" h="985868">
                <a:moveTo>
                  <a:pt x="0" y="985868"/>
                </a:moveTo>
                <a:lnTo>
                  <a:pt x="1146611" y="0"/>
                </a:lnTo>
                <a:lnTo>
                  <a:pt x="3078256" y="23283"/>
                </a:lnTo>
                <a:lnTo>
                  <a:pt x="4319868" y="557056"/>
                </a:lnTo>
              </a:path>
            </a:pathLst>
          </a:custGeom>
          <a:noFill/>
          <a:ln w="57150">
            <a:solidFill>
              <a:srgbClr val="56C4D2"/>
            </a:solidFill>
            <a:prstDash val="dash"/>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 name="TextBox 32"/>
          <p:cNvSpPr txBox="1"/>
          <p:nvPr/>
        </p:nvSpPr>
        <p:spPr bwMode="gray">
          <a:xfrm>
            <a:off x="6435505" y="5265611"/>
            <a:ext cx="877163" cy="307777"/>
          </a:xfrm>
          <a:prstGeom prst="rect">
            <a:avLst/>
          </a:prstGeom>
          <a:noFill/>
        </p:spPr>
        <p:txBody>
          <a:bodyPr wrap="none" rtlCol="0">
            <a:spAutoFit/>
          </a:bodyPr>
          <a:lstStyle/>
          <a:p>
            <a:r>
              <a:rPr lang="en-US" altLang="zh-CN" sz="1400" dirty="0"/>
              <a:t>Color 20</a:t>
            </a:r>
            <a:endParaRPr lang="zh-CN" altLang="en-US" sz="1400" dirty="0"/>
          </a:p>
        </p:txBody>
      </p:sp>
      <p:cxnSp>
        <p:nvCxnSpPr>
          <p:cNvPr id="36" name="直接连接符 10"/>
          <p:cNvCxnSpPr>
            <a:stCxn id="7" idx="2"/>
            <a:endCxn id="8" idx="0"/>
          </p:cNvCxnSpPr>
          <p:nvPr/>
        </p:nvCxnSpPr>
        <p:spPr bwMode="gray">
          <a:xfrm>
            <a:off x="7626392" y="4424905"/>
            <a:ext cx="0" cy="10799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Freeform 14"/>
          <p:cNvSpPr/>
          <p:nvPr/>
        </p:nvSpPr>
        <p:spPr bwMode="gray">
          <a:xfrm>
            <a:off x="7568699" y="4359275"/>
            <a:ext cx="1069158" cy="1066800"/>
          </a:xfrm>
          <a:custGeom>
            <a:avLst/>
            <a:gdLst>
              <a:gd name="connsiteX0" fmla="*/ 0 w 1149350"/>
              <a:gd name="connsiteY0" fmla="*/ 0 h 1066800"/>
              <a:gd name="connsiteX1" fmla="*/ 0 w 1149350"/>
              <a:gd name="connsiteY1" fmla="*/ 1066800 h 1066800"/>
              <a:gd name="connsiteX2" fmla="*/ 1149350 w 1149350"/>
              <a:gd name="connsiteY2" fmla="*/ 1066800 h 1066800"/>
              <a:gd name="connsiteX0-1" fmla="*/ 0 w 993775"/>
              <a:gd name="connsiteY0-2" fmla="*/ 0 h 1066800"/>
              <a:gd name="connsiteX1-3" fmla="*/ 0 w 993775"/>
              <a:gd name="connsiteY1-4" fmla="*/ 1066800 h 1066800"/>
              <a:gd name="connsiteX2-5" fmla="*/ 993775 w 993775"/>
              <a:gd name="connsiteY2-6" fmla="*/ 847725 h 1066800"/>
              <a:gd name="connsiteX0-7" fmla="*/ 0 w 993775"/>
              <a:gd name="connsiteY0-8" fmla="*/ 0 h 1066800"/>
              <a:gd name="connsiteX1-9" fmla="*/ 0 w 993775"/>
              <a:gd name="connsiteY1-10" fmla="*/ 1066800 h 1066800"/>
              <a:gd name="connsiteX2-11" fmla="*/ 993775 w 993775"/>
              <a:gd name="connsiteY2-12" fmla="*/ 824865 h 1066800"/>
            </a:gdLst>
            <a:ahLst/>
            <a:cxnLst>
              <a:cxn ang="0">
                <a:pos x="connsiteX0-1" y="connsiteY0-2"/>
              </a:cxn>
              <a:cxn ang="0">
                <a:pos x="connsiteX1-3" y="connsiteY1-4"/>
              </a:cxn>
              <a:cxn ang="0">
                <a:pos x="connsiteX2-5" y="connsiteY2-6"/>
              </a:cxn>
            </a:cxnLst>
            <a:rect l="l" t="t" r="r" b="b"/>
            <a:pathLst>
              <a:path w="993775" h="1066800">
                <a:moveTo>
                  <a:pt x="0" y="0"/>
                </a:moveTo>
                <a:lnTo>
                  <a:pt x="0" y="1066800"/>
                </a:lnTo>
                <a:lnTo>
                  <a:pt x="993775" y="824865"/>
                </a:lnTo>
              </a:path>
            </a:pathLst>
          </a:custGeom>
          <a:noFill/>
          <a:ln w="57150">
            <a:solidFill>
              <a:srgbClr val="56C4D2"/>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dirty="0">
                <a:sym typeface="Huawei Sans" panose="020C0503030203020204" pitchFamily="34" charset="0"/>
              </a:rPr>
              <a:t>SRv6 Policy</a:t>
            </a:r>
            <a:r>
              <a:rPr lang="zh-CN" altLang="en-US" dirty="0">
                <a:sym typeface="Huawei Sans" panose="020C0503030203020204" pitchFamily="34" charset="0"/>
              </a:rPr>
              <a:t>路径模型</a:t>
            </a:r>
            <a:endParaRPr lang="zh-CN" altLang="en-US" dirty="0">
              <a:sym typeface="Huawei Sans" panose="020C0503030203020204" pitchFamily="34" charset="0"/>
            </a:endParaRPr>
          </a:p>
        </p:txBody>
      </p:sp>
      <p:sp>
        <p:nvSpPr>
          <p:cNvPr id="4" name="文本占位符 2"/>
          <p:cNvSpPr>
            <a:spLocks noGrp="1"/>
          </p:cNvSpPr>
          <p:nvPr>
            <p:ph type="body" sz="quarter" idx="10"/>
          </p:nvPr>
        </p:nvSpPr>
        <p:spPr bwMode="gray"/>
        <p:txBody>
          <a:bodyPr/>
          <a:lstStyle>
            <a:lvl1pPr marL="302260" indent="-302260" algn="l" defTabSz="913765" rtl="0" eaLnBrk="1" fontAlgn="ctr" latinLnBrk="0" hangingPunct="1">
              <a:lnSpc>
                <a:spcPct val="140000"/>
              </a:lnSpc>
              <a:spcBef>
                <a:spcPts val="790"/>
              </a:spcBef>
              <a:buSzPct val="50000"/>
              <a:buFont typeface="Wingdings" panose="05000000000000000000" pitchFamily="2" charset="2"/>
              <a:buChar char="l"/>
              <a:defRPr sz="2200" kern="1200" baseline="0">
                <a:solidFill>
                  <a:schemeClr val="tx1"/>
                </a:solidFill>
                <a:latin typeface="Huawei Sans" panose="020C0503030203020204" pitchFamily="34" charset="0"/>
                <a:ea typeface="方正兰亭黑简体" panose="02000000000000000000" pitchFamily="2" charset="-122"/>
                <a:cs typeface="+mn-cs"/>
              </a:defRPr>
            </a:lvl1pPr>
            <a:lvl2pPr marL="654685" indent="-252095" algn="l" defTabSz="913765" rtl="0" eaLnBrk="1" fontAlgn="ctr" latinLnBrk="0" hangingPunct="1">
              <a:lnSpc>
                <a:spcPct val="140000"/>
              </a:lnSpc>
              <a:spcBef>
                <a:spcPts val="720"/>
              </a:spcBef>
              <a:buClrTx/>
              <a:buSzPct val="50000"/>
              <a:buFont typeface="Wingdings" panose="05000000000000000000" pitchFamily="2" charset="2"/>
              <a:buChar char="p"/>
              <a:defRPr sz="2000" kern="1200" baseline="0">
                <a:solidFill>
                  <a:schemeClr val="tx1"/>
                </a:solidFill>
                <a:latin typeface="Huawei Sans" panose="020C0503030203020204" pitchFamily="34" charset="0"/>
                <a:ea typeface="方正兰亭黑简体" panose="02000000000000000000" pitchFamily="2" charset="-122"/>
                <a:cs typeface="+mn-cs"/>
              </a:defRPr>
            </a:lvl2pPr>
            <a:lvl3pPr marL="1003935" indent="-201295" algn="l" defTabSz="913765" rtl="0" eaLnBrk="1" fontAlgn="ctr" latinLnBrk="0" hangingPunct="1">
              <a:lnSpc>
                <a:spcPct val="140000"/>
              </a:lnSpc>
              <a:spcBef>
                <a:spcPts val="650"/>
              </a:spcBef>
              <a:buClrTx/>
              <a:buSzPct val="50000"/>
              <a:buFont typeface="Wingdings" panose="05000000000000000000" pitchFamily="2" charset="2"/>
              <a:buChar char="n"/>
              <a:defRPr sz="1800" kern="1200" baseline="0">
                <a:solidFill>
                  <a:schemeClr val="tx1"/>
                </a:solidFill>
                <a:latin typeface="Huawei Sans" panose="020C0503030203020204" pitchFamily="34" charset="0"/>
                <a:ea typeface="方正兰亭黑简体" panose="02000000000000000000" pitchFamily="2" charset="-122"/>
                <a:cs typeface="+mn-cs"/>
              </a:defRPr>
            </a:lvl3pPr>
            <a:lvl4pPr marL="1399540" indent="-198120" algn="l" defTabSz="913765" rtl="0" eaLnBrk="1" fontAlgn="ctr" latinLnBrk="0" hangingPunct="1">
              <a:lnSpc>
                <a:spcPct val="140000"/>
              </a:lnSpc>
              <a:spcBef>
                <a:spcPts val="575"/>
              </a:spcBef>
              <a:buFont typeface="Huawei Sans" panose="020C0503030203020204" pitchFamily="34" charset="0"/>
              <a:buChar char="−"/>
              <a:defRPr sz="1600" kern="1200" baseline="0">
                <a:solidFill>
                  <a:schemeClr val="tx1"/>
                </a:solidFill>
                <a:latin typeface="Huawei Sans" panose="020C0503030203020204" pitchFamily="34" charset="0"/>
                <a:ea typeface="方正兰亭黑简体" panose="02000000000000000000" pitchFamily="2" charset="-122"/>
                <a:cs typeface="+mn-cs"/>
              </a:defRPr>
            </a:lvl4pPr>
            <a:lvl5pPr marL="1802765" indent="-201295" algn="l" defTabSz="913765" rtl="0" eaLnBrk="1" fontAlgn="ctr" latinLnBrk="0" hangingPunct="1">
              <a:lnSpc>
                <a:spcPct val="140000"/>
              </a:lnSpc>
              <a:spcBef>
                <a:spcPts val="575"/>
              </a:spcBef>
              <a:buFont typeface="Huawei Sans" panose="020C0503030203020204" pitchFamily="34" charset="0"/>
              <a:buChar char="~"/>
              <a:defRPr sz="1400" kern="1200" baseline="0">
                <a:solidFill>
                  <a:schemeClr val="tx1"/>
                </a:solidFill>
                <a:latin typeface="Huawei Sans" panose="020C0503030203020204" pitchFamily="34" charset="0"/>
                <a:ea typeface="方正兰亭黑简体" panose="02000000000000000000" pitchFamily="2" charset="-122"/>
                <a:cs typeface="+mn-cs"/>
              </a:defRPr>
            </a:lvl5pPr>
            <a:lvl6pPr marL="25133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05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77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9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1600" dirty="0">
                <a:sym typeface="Huawei Sans" panose="020C0503030203020204" pitchFamily="34" charset="0"/>
              </a:rPr>
              <a:t>一个</a:t>
            </a:r>
            <a:r>
              <a:rPr lang="en-US" altLang="zh-CN" sz="1600" dirty="0">
                <a:sym typeface="Huawei Sans" panose="020C0503030203020204" pitchFamily="34" charset="0"/>
              </a:rPr>
              <a:t>SRv6 Policy</a:t>
            </a:r>
            <a:r>
              <a:rPr lang="zh-CN" altLang="en-US" sz="1600" dirty="0">
                <a:sym typeface="Huawei Sans" panose="020C0503030203020204" pitchFamily="34" charset="0"/>
              </a:rPr>
              <a:t>可以包含多个候选路径（</a:t>
            </a:r>
            <a:r>
              <a:rPr lang="en-US" altLang="zh-CN" sz="1600" dirty="0">
                <a:sym typeface="Huawei Sans" panose="020C0503030203020204" pitchFamily="34" charset="0"/>
              </a:rPr>
              <a:t>Candidate Path</a:t>
            </a:r>
            <a:r>
              <a:rPr lang="zh-CN" altLang="en-US" sz="1600" dirty="0">
                <a:sym typeface="Huawei Sans" panose="020C0503030203020204" pitchFamily="34" charset="0"/>
              </a:rPr>
              <a:t>）。候选路径携带优先级属性（</a:t>
            </a:r>
            <a:r>
              <a:rPr lang="en-US" altLang="zh-CN" sz="1600" dirty="0">
                <a:sym typeface="Huawei Sans" panose="020C0503030203020204" pitchFamily="34" charset="0"/>
              </a:rPr>
              <a:t>Preference</a:t>
            </a:r>
            <a:r>
              <a:rPr lang="zh-CN" altLang="en-US" sz="1600" dirty="0">
                <a:sym typeface="Huawei Sans" panose="020C0503030203020204" pitchFamily="34" charset="0"/>
              </a:rPr>
              <a:t>）。优先级最高的有效候选路径为</a:t>
            </a:r>
            <a:r>
              <a:rPr lang="en-US" altLang="zh-CN" sz="1600" dirty="0">
                <a:sym typeface="Huawei Sans" panose="020C0503030203020204" pitchFamily="34" charset="0"/>
              </a:rPr>
              <a:t>SRv6 Policy</a:t>
            </a:r>
            <a:r>
              <a:rPr lang="zh-CN" altLang="en-US" sz="1600" dirty="0">
                <a:sym typeface="Huawei Sans" panose="020C0503030203020204" pitchFamily="34" charset="0"/>
              </a:rPr>
              <a:t>的主路径，优先级次高的有效路径为</a:t>
            </a:r>
            <a:r>
              <a:rPr lang="en-US" altLang="zh-CN" sz="1600" dirty="0">
                <a:sym typeface="Huawei Sans" panose="020C0503030203020204" pitchFamily="34" charset="0"/>
              </a:rPr>
              <a:t>SRv6 Policy</a:t>
            </a:r>
            <a:r>
              <a:rPr lang="zh-CN" altLang="en-US" sz="1600" dirty="0">
                <a:sym typeface="Huawei Sans" panose="020C0503030203020204" pitchFamily="34" charset="0"/>
              </a:rPr>
              <a:t>的备份路径。</a:t>
            </a:r>
            <a:endParaRPr lang="zh-CN" altLang="en-US" sz="1600" dirty="0">
              <a:sym typeface="Huawei Sans" panose="020C0503030203020204" pitchFamily="34" charset="0"/>
            </a:endParaRPr>
          </a:p>
          <a:p>
            <a:r>
              <a:rPr lang="zh-CN" altLang="en-US" sz="1600" dirty="0">
                <a:sym typeface="Huawei Sans" panose="020C0503030203020204" pitchFamily="34" charset="0"/>
              </a:rPr>
              <a:t>一个候选路径就是</a:t>
            </a:r>
            <a:r>
              <a:rPr lang="en-US" altLang="zh-CN" sz="1600" dirty="0">
                <a:sym typeface="Huawei Sans" panose="020C0503030203020204" pitchFamily="34" charset="0"/>
              </a:rPr>
              <a:t>SRv6 Policy</a:t>
            </a:r>
            <a:r>
              <a:rPr lang="zh-CN" altLang="en-US" sz="1600" dirty="0">
                <a:sym typeface="Huawei Sans" panose="020C0503030203020204" pitchFamily="34" charset="0"/>
              </a:rPr>
              <a:t>通过静态配置或</a:t>
            </a:r>
            <a:r>
              <a:rPr lang="en-US" altLang="zh-CN" sz="1600" dirty="0">
                <a:sym typeface="Huawei Sans" panose="020C0503030203020204" pitchFamily="34" charset="0"/>
              </a:rPr>
              <a:t>BGP IPv6 SR Policy</a:t>
            </a:r>
            <a:r>
              <a:rPr lang="zh-CN" altLang="en-US" sz="1600" dirty="0">
                <a:sym typeface="Huawei Sans" panose="020C0503030203020204" pitchFamily="34" charset="0"/>
              </a:rPr>
              <a:t>向头端发送的基础单元。</a:t>
            </a:r>
            <a:endParaRPr lang="zh-CN" altLang="en-US" sz="1600" dirty="0">
              <a:sym typeface="Huawei Sans" panose="020C0503030203020204" pitchFamily="34" charset="0"/>
            </a:endParaRPr>
          </a:p>
          <a:p>
            <a:r>
              <a:rPr lang="en-US" altLang="zh-CN" sz="1600" dirty="0">
                <a:sym typeface="Huawei Sans" panose="020C0503030203020204" pitchFamily="34" charset="0"/>
              </a:rPr>
              <a:t>Segment List</a:t>
            </a:r>
            <a:r>
              <a:rPr lang="zh-CN" altLang="en-US" sz="1600" dirty="0">
                <a:sym typeface="Huawei Sans" panose="020C0503030203020204" pitchFamily="34" charset="0"/>
              </a:rPr>
              <a:t>附带权重（</a:t>
            </a:r>
            <a:r>
              <a:rPr lang="en-US" altLang="zh-CN" sz="1600" dirty="0">
                <a:sym typeface="Huawei Sans" panose="020C0503030203020204" pitchFamily="34" charset="0"/>
              </a:rPr>
              <a:t>Weight</a:t>
            </a:r>
            <a:r>
              <a:rPr lang="zh-CN" altLang="en-US" sz="1600" dirty="0">
                <a:sym typeface="Huawei Sans" panose="020C0503030203020204" pitchFamily="34" charset="0"/>
              </a:rPr>
              <a:t>）来控制</a:t>
            </a:r>
            <a:r>
              <a:rPr lang="en-US" altLang="zh-CN" sz="1600" dirty="0">
                <a:sym typeface="Huawei Sans" panose="020C0503030203020204" pitchFamily="34" charset="0"/>
              </a:rPr>
              <a:t>SRv6</a:t>
            </a:r>
            <a:r>
              <a:rPr lang="zh-CN" altLang="en-US" sz="1600" dirty="0">
                <a:sym typeface="Huawei Sans" panose="020C0503030203020204" pitchFamily="34" charset="0"/>
              </a:rPr>
              <a:t>路径的负载分担。</a:t>
            </a:r>
            <a:endParaRPr lang="zh-CN" altLang="en-US" sz="1600" dirty="0">
              <a:sym typeface="Huawei Sans" panose="020C0503030203020204" pitchFamily="34" charset="0"/>
            </a:endParaRPr>
          </a:p>
          <a:p>
            <a:pPr lvl="4"/>
            <a:endParaRPr lang="en-US" altLang="zh-CN" sz="1050" dirty="0">
              <a:sym typeface="Huawei Sans" panose="020C0503030203020204" pitchFamily="34" charset="0"/>
            </a:endParaRPr>
          </a:p>
        </p:txBody>
      </p:sp>
      <p:sp>
        <p:nvSpPr>
          <p:cNvPr id="6" name="矩形 5"/>
          <p:cNvSpPr/>
          <p:nvPr/>
        </p:nvSpPr>
        <p:spPr bwMode="gray">
          <a:xfrm>
            <a:off x="812576" y="3772838"/>
            <a:ext cx="1230131" cy="396081"/>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SRv6 Policy</a:t>
            </a:r>
            <a:endParaRPr lang="zh-CN" altLang="en-US" sz="1400" b="1">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矩形 6"/>
          <p:cNvSpPr/>
          <p:nvPr/>
        </p:nvSpPr>
        <p:spPr bwMode="gray">
          <a:xfrm>
            <a:off x="2600582" y="3792885"/>
            <a:ext cx="1434193" cy="339941"/>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候选路径</a:t>
            </a: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 name="矩形 7"/>
          <p:cNvSpPr/>
          <p:nvPr/>
        </p:nvSpPr>
        <p:spPr bwMode="gray">
          <a:xfrm>
            <a:off x="2600582" y="4151910"/>
            <a:ext cx="1434193" cy="339941"/>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a:latin typeface="Huawei Sans" panose="020C0503030203020204" pitchFamily="34" charset="0"/>
                <a:ea typeface="方正兰亭黑简体" panose="02000000000000000000" pitchFamily="2" charset="-122"/>
                <a:sym typeface="Huawei Sans" panose="020C0503030203020204" pitchFamily="34" charset="0"/>
              </a:rPr>
              <a:t>优先级 </a:t>
            </a:r>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200</a:t>
            </a:r>
            <a:endParaRPr lang="zh-CN" altLang="en-US" sz="1400" b="1">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 name="矩形 8"/>
          <p:cNvSpPr/>
          <p:nvPr/>
        </p:nvSpPr>
        <p:spPr bwMode="gray">
          <a:xfrm>
            <a:off x="2600582" y="4864727"/>
            <a:ext cx="1434193" cy="339941"/>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a:latin typeface="Huawei Sans" panose="020C0503030203020204" pitchFamily="34" charset="0"/>
                <a:ea typeface="方正兰亭黑简体" panose="02000000000000000000" pitchFamily="2" charset="-122"/>
                <a:sym typeface="Huawei Sans" panose="020C0503030203020204" pitchFamily="34" charset="0"/>
              </a:rPr>
              <a:t>候选路径</a:t>
            </a:r>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400" b="1">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 name="矩形 9"/>
          <p:cNvSpPr/>
          <p:nvPr/>
        </p:nvSpPr>
        <p:spPr bwMode="gray">
          <a:xfrm>
            <a:off x="2600582" y="5223752"/>
            <a:ext cx="1434193" cy="339941"/>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a:latin typeface="Huawei Sans" panose="020C0503030203020204" pitchFamily="34" charset="0"/>
                <a:ea typeface="方正兰亭黑简体" panose="02000000000000000000" pitchFamily="2" charset="-122"/>
                <a:sym typeface="Huawei Sans" panose="020C0503030203020204" pitchFamily="34" charset="0"/>
              </a:rPr>
              <a:t>优先级 </a:t>
            </a:r>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100</a:t>
            </a:r>
            <a:endParaRPr lang="zh-CN" altLang="en-US" sz="1400" b="1">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 name="矩形 10"/>
          <p:cNvSpPr/>
          <p:nvPr/>
        </p:nvSpPr>
        <p:spPr bwMode="gray">
          <a:xfrm>
            <a:off x="4736876" y="2921294"/>
            <a:ext cx="1736968" cy="339941"/>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Segment List 1</a:t>
            </a:r>
            <a:endParaRPr lang="zh-CN" altLang="en-US" sz="1400" b="1">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矩形 11"/>
          <p:cNvSpPr/>
          <p:nvPr/>
        </p:nvSpPr>
        <p:spPr bwMode="gray">
          <a:xfrm>
            <a:off x="4736876" y="3280320"/>
            <a:ext cx="1736968" cy="339941"/>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a:latin typeface="Huawei Sans" panose="020C0503030203020204" pitchFamily="34" charset="0"/>
                <a:ea typeface="方正兰亭黑简体" panose="02000000000000000000" pitchFamily="2" charset="-122"/>
                <a:sym typeface="Huawei Sans" panose="020C0503030203020204" pitchFamily="34" charset="0"/>
              </a:rPr>
              <a:t>权重</a:t>
            </a:r>
            <a:endParaRPr lang="zh-CN" altLang="en-US" sz="1400" b="1">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 name="矩形 14"/>
          <p:cNvSpPr/>
          <p:nvPr/>
        </p:nvSpPr>
        <p:spPr bwMode="gray">
          <a:xfrm>
            <a:off x="4736876" y="3801511"/>
            <a:ext cx="1736968" cy="339941"/>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Segment List 2</a:t>
            </a:r>
            <a:endParaRPr lang="zh-CN" altLang="en-US" sz="1400" b="1">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 name="矩形 15"/>
          <p:cNvSpPr/>
          <p:nvPr/>
        </p:nvSpPr>
        <p:spPr bwMode="gray">
          <a:xfrm>
            <a:off x="4736876" y="4173237"/>
            <a:ext cx="1736968" cy="339941"/>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a:latin typeface="Huawei Sans" panose="020C0503030203020204" pitchFamily="34" charset="0"/>
                <a:ea typeface="方正兰亭黑简体" panose="02000000000000000000" pitchFamily="2" charset="-122"/>
                <a:sym typeface="Huawei Sans" panose="020C0503030203020204" pitchFamily="34" charset="0"/>
              </a:rPr>
              <a:t>权重</a:t>
            </a:r>
            <a:endParaRPr lang="zh-CN" altLang="en-US" sz="1400" b="1">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8" name="直接连接符 17"/>
          <p:cNvCxnSpPr>
            <a:stCxn id="6" idx="3"/>
            <a:endCxn id="7" idx="1"/>
          </p:cNvCxnSpPr>
          <p:nvPr/>
        </p:nvCxnSpPr>
        <p:spPr bwMode="gray">
          <a:xfrm flipV="1">
            <a:off x="2042707" y="3962856"/>
            <a:ext cx="557875" cy="8023"/>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9" name="直接连接符 18"/>
          <p:cNvCxnSpPr>
            <a:stCxn id="11" idx="1"/>
            <a:endCxn id="7" idx="3"/>
          </p:cNvCxnSpPr>
          <p:nvPr/>
        </p:nvCxnSpPr>
        <p:spPr bwMode="gray">
          <a:xfrm flipH="1">
            <a:off x="4034775" y="3091265"/>
            <a:ext cx="702101" cy="871591"/>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2" name="直接连接符 21"/>
          <p:cNvCxnSpPr>
            <a:stCxn id="15" idx="1"/>
            <a:endCxn id="7" idx="3"/>
          </p:cNvCxnSpPr>
          <p:nvPr/>
        </p:nvCxnSpPr>
        <p:spPr bwMode="gray">
          <a:xfrm flipH="1" flipV="1">
            <a:off x="4034775" y="3962856"/>
            <a:ext cx="702101" cy="862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5" name="直接连接符 24"/>
          <p:cNvCxnSpPr>
            <a:stCxn id="6" idx="3"/>
            <a:endCxn id="9" idx="1"/>
          </p:cNvCxnSpPr>
          <p:nvPr/>
        </p:nvCxnSpPr>
        <p:spPr bwMode="gray">
          <a:xfrm>
            <a:off x="2042707" y="3970879"/>
            <a:ext cx="557875" cy="1063819"/>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6" name="直接连接符 25"/>
          <p:cNvCxnSpPr>
            <a:stCxn id="32" idx="1"/>
            <a:endCxn id="9" idx="3"/>
          </p:cNvCxnSpPr>
          <p:nvPr/>
        </p:nvCxnSpPr>
        <p:spPr bwMode="gray">
          <a:xfrm flipH="1" flipV="1">
            <a:off x="4034775" y="5034698"/>
            <a:ext cx="702101" cy="12699"/>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32" name="矩形 31"/>
          <p:cNvSpPr/>
          <p:nvPr/>
        </p:nvSpPr>
        <p:spPr bwMode="gray">
          <a:xfrm>
            <a:off x="4736876" y="4877426"/>
            <a:ext cx="1736968" cy="339941"/>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Segment List 1</a:t>
            </a:r>
            <a:endParaRPr lang="zh-CN" altLang="en-US" sz="1400" b="1">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 name="矩形 32"/>
          <p:cNvSpPr/>
          <p:nvPr/>
        </p:nvSpPr>
        <p:spPr bwMode="gray">
          <a:xfrm>
            <a:off x="4736876" y="5236452"/>
            <a:ext cx="1736968" cy="339941"/>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a:latin typeface="Huawei Sans" panose="020C0503030203020204" pitchFamily="34" charset="0"/>
                <a:ea typeface="方正兰亭黑简体" panose="02000000000000000000" pitchFamily="2" charset="-122"/>
                <a:sym typeface="Huawei Sans" panose="020C0503030203020204" pitchFamily="34" charset="0"/>
              </a:rPr>
              <a:t>权重</a:t>
            </a:r>
            <a:endParaRPr lang="zh-CN" altLang="en-US" sz="1400" b="1">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38" name="组合 37"/>
          <p:cNvGrpSpPr/>
          <p:nvPr/>
        </p:nvGrpSpPr>
        <p:grpSpPr bwMode="gray">
          <a:xfrm>
            <a:off x="3189473" y="4674469"/>
            <a:ext cx="234649" cy="45719"/>
            <a:chOff x="3989546" y="4479875"/>
            <a:chExt cx="236219" cy="45719"/>
          </a:xfrm>
          <a:solidFill>
            <a:srgbClr val="30B5C5"/>
          </a:solidFill>
        </p:grpSpPr>
        <p:sp>
          <p:nvSpPr>
            <p:cNvPr id="35" name="椭圆 34"/>
            <p:cNvSpPr/>
            <p:nvPr/>
          </p:nvSpPr>
          <p:spPr bwMode="gray">
            <a:xfrm>
              <a:off x="3989546" y="4479875"/>
              <a:ext cx="45719" cy="45719"/>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椭圆 35"/>
            <p:cNvSpPr/>
            <p:nvPr/>
          </p:nvSpPr>
          <p:spPr bwMode="gray">
            <a:xfrm>
              <a:off x="4084796" y="4479875"/>
              <a:ext cx="45719" cy="45719"/>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 name="椭圆 36"/>
            <p:cNvSpPr/>
            <p:nvPr/>
          </p:nvSpPr>
          <p:spPr bwMode="gray">
            <a:xfrm>
              <a:off x="4180046" y="4479875"/>
              <a:ext cx="45719" cy="45719"/>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39" name="组合 38"/>
          <p:cNvGrpSpPr/>
          <p:nvPr/>
        </p:nvGrpSpPr>
        <p:grpSpPr bwMode="gray">
          <a:xfrm>
            <a:off x="5488035" y="4662824"/>
            <a:ext cx="234649" cy="45719"/>
            <a:chOff x="3989546" y="4479875"/>
            <a:chExt cx="236219" cy="45719"/>
          </a:xfrm>
          <a:solidFill>
            <a:srgbClr val="30B5C5"/>
          </a:solidFill>
        </p:grpSpPr>
        <p:sp>
          <p:nvSpPr>
            <p:cNvPr id="40" name="椭圆 39"/>
            <p:cNvSpPr/>
            <p:nvPr/>
          </p:nvSpPr>
          <p:spPr bwMode="gray">
            <a:xfrm>
              <a:off x="3989546" y="4479875"/>
              <a:ext cx="45719" cy="45719"/>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椭圆 40"/>
            <p:cNvSpPr/>
            <p:nvPr/>
          </p:nvSpPr>
          <p:spPr bwMode="gray">
            <a:xfrm>
              <a:off x="4084796" y="4479875"/>
              <a:ext cx="45719" cy="45719"/>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椭圆 41"/>
            <p:cNvSpPr/>
            <p:nvPr/>
          </p:nvSpPr>
          <p:spPr bwMode="gray">
            <a:xfrm>
              <a:off x="4180046" y="4479875"/>
              <a:ext cx="45719" cy="45719"/>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43" name="组合 42"/>
          <p:cNvGrpSpPr/>
          <p:nvPr/>
        </p:nvGrpSpPr>
        <p:grpSpPr bwMode="gray">
          <a:xfrm>
            <a:off x="5488035" y="5721315"/>
            <a:ext cx="234649" cy="45719"/>
            <a:chOff x="3989546" y="4479875"/>
            <a:chExt cx="236219" cy="45719"/>
          </a:xfrm>
          <a:solidFill>
            <a:srgbClr val="30B5C5"/>
          </a:solidFill>
        </p:grpSpPr>
        <p:sp>
          <p:nvSpPr>
            <p:cNvPr id="44" name="椭圆 43"/>
            <p:cNvSpPr/>
            <p:nvPr/>
          </p:nvSpPr>
          <p:spPr bwMode="gray">
            <a:xfrm>
              <a:off x="3989546" y="4479875"/>
              <a:ext cx="45719" cy="45719"/>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椭圆 44"/>
            <p:cNvSpPr/>
            <p:nvPr/>
          </p:nvSpPr>
          <p:spPr bwMode="gray">
            <a:xfrm>
              <a:off x="4084796" y="4479875"/>
              <a:ext cx="45719" cy="45719"/>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椭圆 45"/>
            <p:cNvSpPr/>
            <p:nvPr/>
          </p:nvSpPr>
          <p:spPr bwMode="gray">
            <a:xfrm>
              <a:off x="4180046" y="4479875"/>
              <a:ext cx="45719" cy="45719"/>
            </a:xfrm>
            <a:prstGeom prst="ellipse">
              <a:avLst/>
            </a:prstGeom>
            <a:grp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47" name="文本框 46"/>
          <p:cNvSpPr txBox="1"/>
          <p:nvPr/>
        </p:nvSpPr>
        <p:spPr bwMode="gray">
          <a:xfrm>
            <a:off x="2884250" y="3296600"/>
            <a:ext cx="723275" cy="307777"/>
          </a:xfrm>
          <a:prstGeom prst="rect">
            <a:avLst/>
          </a:prstGeom>
          <a:noFill/>
        </p:spPr>
        <p:txBody>
          <a:bodyPr wrap="none" rtlCol="0">
            <a:spAutoFit/>
          </a:bodyPr>
          <a:lstStyle/>
          <a:p>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主路径</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 name="文本框 47"/>
          <p:cNvSpPr txBox="1"/>
          <p:nvPr/>
        </p:nvSpPr>
        <p:spPr bwMode="gray">
          <a:xfrm>
            <a:off x="2858412" y="5697663"/>
            <a:ext cx="723275" cy="307777"/>
          </a:xfrm>
          <a:prstGeom prst="rect">
            <a:avLst/>
          </a:prstGeom>
          <a:noFill/>
        </p:spPr>
        <p:txBody>
          <a:bodyPr wrap="none" rtlCol="0">
            <a:spAutoFit/>
          </a:bodyPr>
          <a:lstStyle/>
          <a:p>
            <a:r>
              <a:rPr lang="zh-CN" altLang="en-US" sz="1400" b="1">
                <a:latin typeface="Huawei Sans" panose="020C0503030203020204" pitchFamily="34" charset="0"/>
                <a:ea typeface="方正兰亭黑简体" panose="02000000000000000000" pitchFamily="2" charset="-122"/>
                <a:sym typeface="Huawei Sans" panose="020C0503030203020204" pitchFamily="34" charset="0"/>
              </a:rPr>
              <a:t>备路径</a:t>
            </a:r>
            <a:endParaRPr lang="zh-CN" altLang="en-US" sz="1400" b="1">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文本框 48"/>
          <p:cNvSpPr txBox="1"/>
          <p:nvPr/>
        </p:nvSpPr>
        <p:spPr bwMode="gray">
          <a:xfrm>
            <a:off x="6706425" y="3128085"/>
            <a:ext cx="4719723" cy="2031325"/>
          </a:xfrm>
          <a:prstGeom prst="rect">
            <a:avLst/>
          </a:prstGeom>
          <a:solidFill>
            <a:schemeClr val="bg1">
              <a:lumMod val="85000"/>
            </a:schemeClr>
          </a:solidFill>
        </p:spPr>
        <p:txBody>
          <a:bodyPr wrap="square">
            <a:spAutoFit/>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SR policy P1 &lt;headend, color, endpoint&gt;</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  Candidate-path CP1 &lt;protocol, origin, discriminator&gt;</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   Preference 200</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     Weight W1, SID-List1 &lt;SID11...SID1i&gt;</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     Weight W2, SID-List2 &lt;SID21...SID2j&gt;</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  Candidate-path CP2 &lt;protocol, origin, discriminator&gt;</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   Preference 100</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     Weight W3, SID-List3 &lt;SID31...SID3i&gt;</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     Weight W4, SID-List4 &lt;SID41...SID4j&gt;</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0" name="文本框 49"/>
          <p:cNvSpPr txBox="1"/>
          <p:nvPr/>
        </p:nvSpPr>
        <p:spPr bwMode="gray">
          <a:xfrm>
            <a:off x="771735" y="4284580"/>
            <a:ext cx="1270972" cy="738664"/>
          </a:xfrm>
          <a:prstGeom prst="rect">
            <a:avLst/>
          </a:prstGeom>
          <a:noFill/>
        </p:spPr>
        <p:txBody>
          <a:bodyPr wrap="square" rtlCol="0">
            <a:spAutoFit/>
          </a:bodyPr>
          <a:lstStyle>
            <a:defPPr>
              <a:defRPr lang="en-US"/>
            </a:defPPr>
            <a:lvl1pPr>
              <a:defRPr sz="1600" b="1">
                <a:solidFill>
                  <a:srgbClr val="0070C0"/>
                </a:solidFill>
              </a:defRPr>
            </a:lvl1pPr>
          </a:lstStyle>
          <a:p>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&lt;headend, color, endpoint&gt;</a:t>
            </a:r>
            <a:endPar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1" name="五边形 2"/>
          <p:cNvSpPr/>
          <p:nvPr/>
        </p:nvSpPr>
        <p:spPr bwMode="gray">
          <a:xfrm>
            <a:off x="8562976" y="110463"/>
            <a:ext cx="1531726"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SRv6 Policy</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路径建立</a:t>
            </a:r>
            <a:endPar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2" name="燕尾形 3"/>
          <p:cNvSpPr/>
          <p:nvPr/>
        </p:nvSpPr>
        <p:spPr bwMode="gray">
          <a:xfrm>
            <a:off x="10018141" y="110463"/>
            <a:ext cx="1730947"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SRv6 Policy</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引流</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r>
              <a:rPr lang="en-US" altLang="zh-CN" dirty="0">
                <a:sym typeface="Huawei Sans" panose="020C0503030203020204" pitchFamily="34" charset="0"/>
              </a:rPr>
              <a:t>SRv6 Policy</a:t>
            </a:r>
            <a:r>
              <a:rPr lang="zh-CN" altLang="en-US" dirty="0">
                <a:sym typeface="Huawei Sans" panose="020C0503030203020204" pitchFamily="34" charset="0"/>
              </a:rPr>
              <a:t>路径建立概述</a:t>
            </a:r>
            <a:endParaRPr lang="zh-CN" altLang="en-US" dirty="0">
              <a:sym typeface="Huawei Sans" panose="020C0503030203020204" pitchFamily="34" charset="0"/>
            </a:endParaRPr>
          </a:p>
        </p:txBody>
      </p:sp>
      <p:sp>
        <p:nvSpPr>
          <p:cNvPr id="30" name="文本占位符 29"/>
          <p:cNvSpPr>
            <a:spLocks noGrp="1"/>
          </p:cNvSpPr>
          <p:nvPr>
            <p:ph type="body" sz="quarter" idx="10"/>
          </p:nvPr>
        </p:nvSpPr>
        <p:spPr bwMode="gray">
          <a:xfrm>
            <a:off x="455613" y="1047750"/>
            <a:ext cx="11293475" cy="5153025"/>
          </a:xfrm>
        </p:spPr>
        <p:txBody>
          <a:bodyPr/>
          <a:lstStyle/>
          <a:p>
            <a:r>
              <a:rPr lang="zh-CN" altLang="en-US" sz="1600" dirty="0">
                <a:sym typeface="Huawei Sans" panose="020C0503030203020204" pitchFamily="34" charset="0"/>
              </a:rPr>
              <a:t>在华为</a:t>
            </a:r>
            <a:r>
              <a:rPr lang="en-US" altLang="zh-CN" sz="1600" dirty="0">
                <a:sym typeface="Huawei Sans" panose="020C0503030203020204" pitchFamily="34" charset="0"/>
              </a:rPr>
              <a:t>SRv6 Policy</a:t>
            </a:r>
            <a:r>
              <a:rPr lang="zh-CN" altLang="en-US" sz="1600" dirty="0">
                <a:sym typeface="Huawei Sans" panose="020C0503030203020204" pitchFamily="34" charset="0"/>
              </a:rPr>
              <a:t>解决方案架构中，依赖控制器（</a:t>
            </a:r>
            <a:r>
              <a:rPr lang="en-US" altLang="zh-CN" sz="1600" dirty="0" err="1">
                <a:sym typeface="Huawei Sans" panose="020C0503030203020204" pitchFamily="34" charset="0"/>
              </a:rPr>
              <a:t>iMaster</a:t>
            </a:r>
            <a:r>
              <a:rPr lang="en-US" altLang="zh-CN" sz="1600" dirty="0">
                <a:sym typeface="Huawei Sans" panose="020C0503030203020204" pitchFamily="34" charset="0"/>
              </a:rPr>
              <a:t> NCE-IP</a:t>
            </a:r>
            <a:r>
              <a:rPr lang="zh-CN" altLang="en-US" sz="1600" dirty="0">
                <a:sym typeface="Huawei Sans" panose="020C0503030203020204" pitchFamily="34" charset="0"/>
              </a:rPr>
              <a:t>）建立</a:t>
            </a:r>
            <a:r>
              <a:rPr lang="en-US" altLang="zh-CN" sz="1600" dirty="0">
                <a:sym typeface="Huawei Sans" panose="020C0503030203020204" pitchFamily="34" charset="0"/>
              </a:rPr>
              <a:t>SRv6 Policy</a:t>
            </a:r>
            <a:r>
              <a:rPr lang="zh-CN" altLang="en-US" sz="1600" dirty="0">
                <a:sym typeface="Huawei Sans" panose="020C0503030203020204" pitchFamily="34" charset="0"/>
              </a:rPr>
              <a:t>路径：</a:t>
            </a:r>
            <a:endParaRPr lang="zh-CN" altLang="en-US" sz="1600" dirty="0">
              <a:sym typeface="Huawei Sans" panose="020C0503030203020204" pitchFamily="34" charset="0"/>
            </a:endParaRPr>
          </a:p>
          <a:p>
            <a:pPr marL="746125" lvl="1" indent="-342900">
              <a:buSzPct val="100000"/>
              <a:buFont typeface="+mj-lt"/>
              <a:buAutoNum type="arabicPeriod"/>
            </a:pPr>
            <a:r>
              <a:rPr lang="zh-CN" altLang="en-US" sz="1400" dirty="0"/>
              <a:t>控制器通过</a:t>
            </a:r>
            <a:r>
              <a:rPr lang="en-US" altLang="zh-CN" sz="1400" dirty="0"/>
              <a:t>BGP-LS</a:t>
            </a:r>
            <a:r>
              <a:rPr lang="zh-CN" altLang="en-US" sz="1400" dirty="0"/>
              <a:t>（</a:t>
            </a:r>
            <a:r>
              <a:rPr lang="en-US" altLang="zh-CN" sz="1400" dirty="0"/>
              <a:t>Link-state</a:t>
            </a:r>
            <a:r>
              <a:rPr lang="zh-CN" altLang="en-US" sz="1400" dirty="0"/>
              <a:t>）收集扩展</a:t>
            </a:r>
            <a:r>
              <a:rPr lang="en-US" altLang="zh-CN" sz="1400" dirty="0"/>
              <a:t>IGP</a:t>
            </a:r>
            <a:r>
              <a:rPr lang="zh-CN" altLang="en-US" sz="1400" dirty="0"/>
              <a:t>协议收集的拓扑信息，用于计算</a:t>
            </a:r>
            <a:r>
              <a:rPr lang="en-US" altLang="zh-CN" sz="1400" dirty="0"/>
              <a:t>SRv6 Policy</a:t>
            </a:r>
            <a:r>
              <a:rPr lang="zh-CN" altLang="en-US" sz="1400" dirty="0"/>
              <a:t>路径和状态呈现。</a:t>
            </a:r>
            <a:endParaRPr lang="zh-CN" altLang="en-US" sz="1400" dirty="0"/>
          </a:p>
          <a:p>
            <a:pPr marL="746125" lvl="1" indent="-342900">
              <a:buSzPct val="100000"/>
              <a:buFont typeface="+mj-lt"/>
              <a:buAutoNum type="arabicPeriod"/>
            </a:pPr>
            <a:r>
              <a:rPr lang="zh-CN" altLang="en-US" sz="1400" dirty="0"/>
              <a:t>控制器通过</a:t>
            </a:r>
            <a:r>
              <a:rPr lang="en-US" altLang="zh-CN" sz="1400" dirty="0"/>
              <a:t>BGP IPv6 SR Policy</a:t>
            </a:r>
            <a:r>
              <a:rPr lang="zh-CN" altLang="en-US" sz="1400" dirty="0"/>
              <a:t>协议向源节点下发</a:t>
            </a:r>
            <a:r>
              <a:rPr lang="en-US" altLang="zh-CN" sz="1400" dirty="0"/>
              <a:t>SRv6 Policy</a:t>
            </a:r>
            <a:r>
              <a:rPr lang="zh-CN" altLang="en-US" sz="1400" dirty="0"/>
              <a:t>信息（</a:t>
            </a:r>
            <a:r>
              <a:rPr lang="en-US" altLang="zh-CN" sz="1400" dirty="0"/>
              <a:t>headend</a:t>
            </a:r>
            <a:r>
              <a:rPr lang="zh-CN" altLang="en-US" sz="1400" dirty="0"/>
              <a:t>、</a:t>
            </a:r>
            <a:r>
              <a:rPr lang="en-US" altLang="zh-CN" sz="1400" dirty="0"/>
              <a:t>color</a:t>
            </a:r>
            <a:r>
              <a:rPr lang="zh-CN" altLang="en-US" sz="1400" dirty="0"/>
              <a:t>、</a:t>
            </a:r>
            <a:r>
              <a:rPr lang="en-US" altLang="zh-CN" sz="1400" dirty="0"/>
              <a:t>endpoint</a:t>
            </a:r>
            <a:r>
              <a:rPr lang="zh-CN" altLang="en-US" sz="1400" dirty="0"/>
              <a:t>等）。</a:t>
            </a:r>
            <a:endParaRPr lang="zh-CN" altLang="en-US" sz="1400" dirty="0"/>
          </a:p>
          <a:p>
            <a:r>
              <a:rPr lang="zh-CN" altLang="en-US" sz="1600" dirty="0"/>
              <a:t>在华为</a:t>
            </a:r>
            <a:r>
              <a:rPr lang="en-US" altLang="zh-CN" sz="1600" dirty="0"/>
              <a:t>SRv6 Policy</a:t>
            </a:r>
            <a:r>
              <a:rPr lang="zh-CN" altLang="en-US" sz="1600" dirty="0"/>
              <a:t>解决方案中，还会使用</a:t>
            </a:r>
            <a:r>
              <a:rPr lang="en-US" altLang="zh-CN" sz="1600" dirty="0"/>
              <a:t>NETCONF</a:t>
            </a:r>
            <a:r>
              <a:rPr lang="zh-CN" altLang="en-US" sz="1600" dirty="0"/>
              <a:t>协议，该协议主要用于下发业务接口、路由策略（添加</a:t>
            </a:r>
            <a:r>
              <a:rPr lang="en-US" altLang="zh-CN" sz="1600" dirty="0"/>
              <a:t>Color</a:t>
            </a:r>
            <a:r>
              <a:rPr lang="zh-CN" altLang="en-US" sz="1600" dirty="0"/>
              <a:t>属性）等其他配置。</a:t>
            </a:r>
            <a:endParaRPr lang="en-US" altLang="zh-CN" sz="1600" dirty="0"/>
          </a:p>
          <a:p>
            <a:r>
              <a:rPr lang="zh-CN" altLang="en-US" sz="1600" dirty="0"/>
              <a:t>除了通过</a:t>
            </a:r>
            <a:r>
              <a:rPr lang="en-US" altLang="zh-CN" sz="1600" dirty="0" err="1"/>
              <a:t>iMaster</a:t>
            </a:r>
            <a:r>
              <a:rPr lang="en-US" altLang="zh-CN" sz="1600" dirty="0"/>
              <a:t> NCE-IP</a:t>
            </a:r>
            <a:r>
              <a:rPr lang="zh-CN" altLang="en-US" sz="1600" dirty="0"/>
              <a:t>下发</a:t>
            </a:r>
            <a:r>
              <a:rPr lang="en-US" altLang="zh-CN" sz="1600" dirty="0"/>
              <a:t>SRv6 Policy</a:t>
            </a:r>
            <a:r>
              <a:rPr lang="zh-CN" altLang="en-US" sz="1600" dirty="0"/>
              <a:t>之外，也可以通过</a:t>
            </a:r>
            <a:r>
              <a:rPr lang="zh-CN" altLang="en-US" sz="1600" dirty="0">
                <a:solidFill>
                  <a:srgbClr val="C7000B"/>
                </a:solidFill>
              </a:rPr>
              <a:t>手工的方式部署</a:t>
            </a:r>
            <a:r>
              <a:rPr lang="en-US" altLang="zh-CN" sz="1600" dirty="0"/>
              <a:t>SRv6 Policy</a:t>
            </a:r>
            <a:r>
              <a:rPr lang="zh-CN" altLang="en-US" sz="1600" dirty="0"/>
              <a:t>。</a:t>
            </a:r>
            <a:endParaRPr lang="zh-CN" altLang="en-US" sz="1600" dirty="0"/>
          </a:p>
        </p:txBody>
      </p:sp>
      <p:grpSp>
        <p:nvGrpSpPr>
          <p:cNvPr id="3" name="组合 2"/>
          <p:cNvGrpSpPr/>
          <p:nvPr/>
        </p:nvGrpSpPr>
        <p:grpSpPr bwMode="gray">
          <a:xfrm rot="10800000">
            <a:off x="9608736" y="3955706"/>
            <a:ext cx="1032830" cy="1941018"/>
            <a:chOff x="4518703" y="2205748"/>
            <a:chExt cx="1512166" cy="2521312"/>
          </a:xfrm>
        </p:grpSpPr>
        <p:cxnSp>
          <p:nvCxnSpPr>
            <p:cNvPr id="4" name="直接连接符 3"/>
            <p:cNvCxnSpPr/>
            <p:nvPr/>
          </p:nvCxnSpPr>
          <p:spPr bwMode="gray">
            <a:xfrm rot="16200000" flipH="1">
              <a:off x="4644458" y="3340649"/>
              <a:ext cx="1260656" cy="151216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p:nvCxnSpPr>
          <p:spPr bwMode="gray">
            <a:xfrm rot="16200000">
              <a:off x="4644458" y="2079993"/>
              <a:ext cx="1260656" cy="151216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6" name="直接连接符 5"/>
          <p:cNvCxnSpPr/>
          <p:nvPr/>
        </p:nvCxnSpPr>
        <p:spPr bwMode="gray">
          <a:xfrm flipH="1">
            <a:off x="6318258" y="3963559"/>
            <a:ext cx="1760319" cy="19331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bwMode="gray">
          <a:xfrm flipH="1" flipV="1">
            <a:off x="6316313" y="3950210"/>
            <a:ext cx="1748548" cy="19543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8" name="组合 7"/>
          <p:cNvGrpSpPr/>
          <p:nvPr/>
        </p:nvGrpSpPr>
        <p:grpSpPr bwMode="gray">
          <a:xfrm>
            <a:off x="5254106" y="3955706"/>
            <a:ext cx="1032830" cy="1941018"/>
            <a:chOff x="4518703" y="2205748"/>
            <a:chExt cx="1512166" cy="2521312"/>
          </a:xfrm>
        </p:grpSpPr>
        <p:cxnSp>
          <p:nvCxnSpPr>
            <p:cNvPr id="9" name="直接连接符 8"/>
            <p:cNvCxnSpPr/>
            <p:nvPr/>
          </p:nvCxnSpPr>
          <p:spPr bwMode="gray">
            <a:xfrm rot="16200000" flipH="1">
              <a:off x="4644458" y="3340649"/>
              <a:ext cx="1260656" cy="151216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bwMode="gray">
            <a:xfrm rot="16200000">
              <a:off x="4644458" y="2079993"/>
              <a:ext cx="1260656" cy="151216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1" name="直接连接符 10"/>
          <p:cNvCxnSpPr/>
          <p:nvPr/>
        </p:nvCxnSpPr>
        <p:spPr bwMode="gray">
          <a:xfrm flipH="1">
            <a:off x="6300653" y="3955706"/>
            <a:ext cx="331236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bwMode="gray">
          <a:xfrm flipH="1">
            <a:off x="6300653" y="5904577"/>
            <a:ext cx="331236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bwMode="gray">
          <a:xfrm flipV="1">
            <a:off x="8078577" y="3955706"/>
            <a:ext cx="0" cy="194887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接箭头连接符 13"/>
          <p:cNvCxnSpPr>
            <a:stCxn id="39" idx="3"/>
            <a:endCxn id="31" idx="1"/>
          </p:cNvCxnSpPr>
          <p:nvPr/>
        </p:nvCxnSpPr>
        <p:spPr bwMode="gray">
          <a:xfrm>
            <a:off x="2471390" y="4864024"/>
            <a:ext cx="2325086" cy="0"/>
          </a:xfrm>
          <a:prstGeom prst="straightConnector1">
            <a:avLst/>
          </a:prstGeom>
          <a:ln w="38100">
            <a:solidFill>
              <a:schemeClr val="bg2">
                <a:lumMod val="50000"/>
              </a:schemeClr>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sp>
        <p:nvSpPr>
          <p:cNvPr id="15" name="文本框 14"/>
          <p:cNvSpPr txBox="1"/>
          <p:nvPr/>
        </p:nvSpPr>
        <p:spPr bwMode="gray">
          <a:xfrm>
            <a:off x="2646784" y="4133184"/>
            <a:ext cx="979755" cy="307777"/>
          </a:xfrm>
          <a:prstGeom prst="rect">
            <a:avLst/>
          </a:prstGeom>
          <a:solidFill>
            <a:srgbClr val="00B0F0"/>
          </a:solidFill>
        </p:spPr>
        <p:txBody>
          <a:bodyPr wrap="none" rtlCol="0">
            <a:spAutoFit/>
          </a:bodyPr>
          <a:lstStyle/>
          <a:p>
            <a:r>
              <a:rPr lang="en-US" altLang="zh-CN" sz="140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1.</a:t>
            </a:r>
            <a:r>
              <a:rPr lang="zh-CN" altLang="en-US" sz="140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40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BGP-LS</a:t>
            </a:r>
            <a:endParaRPr lang="zh-CN" altLang="en-US" sz="140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 name="任意多边形 33"/>
          <p:cNvSpPr/>
          <p:nvPr/>
        </p:nvSpPr>
        <p:spPr bwMode="gray">
          <a:xfrm>
            <a:off x="5686841" y="4267826"/>
            <a:ext cx="4491318" cy="1308598"/>
          </a:xfrm>
          <a:custGeom>
            <a:avLst/>
            <a:gdLst>
              <a:gd name="connsiteX0" fmla="*/ 0 w 4491318"/>
              <a:gd name="connsiteY0" fmla="*/ 753035 h 1304365"/>
              <a:gd name="connsiteX1" fmla="*/ 605118 w 4491318"/>
              <a:gd name="connsiteY1" fmla="*/ 1304365 h 1304365"/>
              <a:gd name="connsiteX2" fmla="*/ 1627094 w 4491318"/>
              <a:gd name="connsiteY2" fmla="*/ 0 h 1304365"/>
              <a:gd name="connsiteX3" fmla="*/ 3859306 w 4491318"/>
              <a:gd name="connsiteY3" fmla="*/ 0 h 1304365"/>
              <a:gd name="connsiteX4" fmla="*/ 4491318 w 4491318"/>
              <a:gd name="connsiteY4" fmla="*/ 578223 h 1304365"/>
              <a:gd name="connsiteX0-1" fmla="*/ 0 w 4491318"/>
              <a:gd name="connsiteY0-2" fmla="*/ 757268 h 1308598"/>
              <a:gd name="connsiteX1-3" fmla="*/ 605118 w 4491318"/>
              <a:gd name="connsiteY1-4" fmla="*/ 1308598 h 1308598"/>
              <a:gd name="connsiteX2-5" fmla="*/ 1732928 w 4491318"/>
              <a:gd name="connsiteY2-6" fmla="*/ 0 h 1308598"/>
              <a:gd name="connsiteX3-7" fmla="*/ 3859306 w 4491318"/>
              <a:gd name="connsiteY3-8" fmla="*/ 4233 h 1308598"/>
              <a:gd name="connsiteX4-9" fmla="*/ 4491318 w 4491318"/>
              <a:gd name="connsiteY4-10" fmla="*/ 582456 h 1308598"/>
              <a:gd name="connsiteX0-11" fmla="*/ 0 w 4491318"/>
              <a:gd name="connsiteY0-12" fmla="*/ 757268 h 1308598"/>
              <a:gd name="connsiteX1-13" fmla="*/ 605118 w 4491318"/>
              <a:gd name="connsiteY1-14" fmla="*/ 1308598 h 1308598"/>
              <a:gd name="connsiteX2-15" fmla="*/ 1762561 w 4491318"/>
              <a:gd name="connsiteY2-16" fmla="*/ 0 h 1308598"/>
              <a:gd name="connsiteX3-17" fmla="*/ 3859306 w 4491318"/>
              <a:gd name="connsiteY3-18" fmla="*/ 4233 h 1308598"/>
              <a:gd name="connsiteX4-19" fmla="*/ 4491318 w 4491318"/>
              <a:gd name="connsiteY4-20" fmla="*/ 582456 h 1308598"/>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4491318" h="1308598">
                <a:moveTo>
                  <a:pt x="0" y="757268"/>
                </a:moveTo>
                <a:lnTo>
                  <a:pt x="605118" y="1308598"/>
                </a:lnTo>
                <a:lnTo>
                  <a:pt x="1762561" y="0"/>
                </a:lnTo>
                <a:lnTo>
                  <a:pt x="3859306" y="4233"/>
                </a:lnTo>
                <a:lnTo>
                  <a:pt x="4491318" y="582456"/>
                </a:lnTo>
              </a:path>
            </a:pathLst>
          </a:custGeom>
          <a:noFill/>
          <a:ln w="57150">
            <a:solidFill>
              <a:srgbClr val="FF3399"/>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8" name="图片 17"/>
          <p:cNvPicPr/>
          <p:nvPr/>
        </p:nvPicPr>
        <p:blipFill>
          <a:blip r:embed="rId1" cstate="print">
            <a:extLst>
              <a:ext uri="{28A0092B-C50C-407E-A947-70E740481C1C}">
                <a14:useLocalDpi xmlns:a14="http://schemas.microsoft.com/office/drawing/2010/main" val="0"/>
              </a:ext>
            </a:extLst>
          </a:blip>
          <a:stretch>
            <a:fillRect/>
          </a:stretch>
        </p:blipFill>
        <p:spPr bwMode="gray">
          <a:xfrm>
            <a:off x="4966351" y="4677034"/>
            <a:ext cx="540000" cy="442800"/>
          </a:xfrm>
          <a:prstGeom prst="rect">
            <a:avLst/>
          </a:prstGeom>
        </p:spPr>
      </p:pic>
      <p:pic>
        <p:nvPicPr>
          <p:cNvPr id="19"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5990558" y="3728008"/>
            <a:ext cx="540000" cy="442800"/>
          </a:xfrm>
          <a:prstGeom prst="rect">
            <a:avLst/>
          </a:prstGeom>
        </p:spPr>
      </p:pic>
      <p:pic>
        <p:nvPicPr>
          <p:cNvPr id="20" name="图片 19"/>
          <p:cNvPicPr/>
          <p:nvPr/>
        </p:nvPicPr>
        <p:blipFill>
          <a:blip r:embed="rId1" cstate="print">
            <a:extLst>
              <a:ext uri="{28A0092B-C50C-407E-A947-70E740481C1C}">
                <a14:useLocalDpi xmlns:a14="http://schemas.microsoft.com/office/drawing/2010/main" val="0"/>
              </a:ext>
            </a:extLst>
          </a:blip>
          <a:stretch>
            <a:fillRect/>
          </a:stretch>
        </p:blipFill>
        <p:spPr bwMode="gray">
          <a:xfrm>
            <a:off x="5990558" y="5626060"/>
            <a:ext cx="540000" cy="442800"/>
          </a:xfrm>
          <a:prstGeom prst="rect">
            <a:avLst/>
          </a:prstGeom>
        </p:spPr>
      </p:pic>
      <p:pic>
        <p:nvPicPr>
          <p:cNvPr id="21" name="图片 20"/>
          <p:cNvPicPr/>
          <p:nvPr/>
        </p:nvPicPr>
        <p:blipFill>
          <a:blip r:embed="rId1" cstate="print">
            <a:extLst>
              <a:ext uri="{28A0092B-C50C-407E-A947-70E740481C1C}">
                <a14:useLocalDpi xmlns:a14="http://schemas.microsoft.com/office/drawing/2010/main" val="0"/>
              </a:ext>
            </a:extLst>
          </a:blip>
          <a:stretch>
            <a:fillRect/>
          </a:stretch>
        </p:blipFill>
        <p:spPr bwMode="gray">
          <a:xfrm>
            <a:off x="7817095" y="3728008"/>
            <a:ext cx="540000" cy="442800"/>
          </a:xfrm>
          <a:prstGeom prst="rect">
            <a:avLst/>
          </a:prstGeom>
        </p:spPr>
      </p:pic>
      <p:pic>
        <p:nvPicPr>
          <p:cNvPr id="22" name="图片 21"/>
          <p:cNvPicPr/>
          <p:nvPr/>
        </p:nvPicPr>
        <p:blipFill>
          <a:blip r:embed="rId1" cstate="print">
            <a:extLst>
              <a:ext uri="{28A0092B-C50C-407E-A947-70E740481C1C}">
                <a14:useLocalDpi xmlns:a14="http://schemas.microsoft.com/office/drawing/2010/main" val="0"/>
              </a:ext>
            </a:extLst>
          </a:blip>
          <a:stretch>
            <a:fillRect/>
          </a:stretch>
        </p:blipFill>
        <p:spPr bwMode="gray">
          <a:xfrm>
            <a:off x="7817095" y="5626060"/>
            <a:ext cx="540000" cy="442800"/>
          </a:xfrm>
          <a:prstGeom prst="rect">
            <a:avLst/>
          </a:prstGeom>
        </p:spPr>
      </p:pic>
      <p:pic>
        <p:nvPicPr>
          <p:cNvPr id="23" name="图片 22"/>
          <p:cNvPicPr/>
          <p:nvPr/>
        </p:nvPicPr>
        <p:blipFill>
          <a:blip r:embed="rId1" cstate="print">
            <a:extLst>
              <a:ext uri="{28A0092B-C50C-407E-A947-70E740481C1C}">
                <a14:useLocalDpi xmlns:a14="http://schemas.microsoft.com/office/drawing/2010/main" val="0"/>
              </a:ext>
            </a:extLst>
          </a:blip>
          <a:stretch>
            <a:fillRect/>
          </a:stretch>
        </p:blipFill>
        <p:spPr bwMode="gray">
          <a:xfrm>
            <a:off x="9308610" y="3728008"/>
            <a:ext cx="540000" cy="442800"/>
          </a:xfrm>
          <a:prstGeom prst="rect">
            <a:avLst/>
          </a:prstGeom>
        </p:spPr>
      </p:pic>
      <p:pic>
        <p:nvPicPr>
          <p:cNvPr id="24" name="图片 23"/>
          <p:cNvPicPr/>
          <p:nvPr/>
        </p:nvPicPr>
        <p:blipFill>
          <a:blip r:embed="rId1" cstate="print">
            <a:extLst>
              <a:ext uri="{28A0092B-C50C-407E-A947-70E740481C1C}">
                <a14:useLocalDpi xmlns:a14="http://schemas.microsoft.com/office/drawing/2010/main" val="0"/>
              </a:ext>
            </a:extLst>
          </a:blip>
          <a:stretch>
            <a:fillRect/>
          </a:stretch>
        </p:blipFill>
        <p:spPr bwMode="gray">
          <a:xfrm>
            <a:off x="9308610" y="5626060"/>
            <a:ext cx="540000" cy="442800"/>
          </a:xfrm>
          <a:prstGeom prst="rect">
            <a:avLst/>
          </a:prstGeom>
        </p:spPr>
      </p:pic>
      <p:pic>
        <p:nvPicPr>
          <p:cNvPr id="25" name="图片 24"/>
          <p:cNvPicPr/>
          <p:nvPr/>
        </p:nvPicPr>
        <p:blipFill>
          <a:blip r:embed="rId1" cstate="print">
            <a:extLst>
              <a:ext uri="{28A0092B-C50C-407E-A947-70E740481C1C}">
                <a14:useLocalDpi xmlns:a14="http://schemas.microsoft.com/office/drawing/2010/main" val="0"/>
              </a:ext>
            </a:extLst>
          </a:blip>
          <a:stretch>
            <a:fillRect/>
          </a:stretch>
        </p:blipFill>
        <p:spPr bwMode="gray">
          <a:xfrm>
            <a:off x="10360348" y="4677034"/>
            <a:ext cx="540000" cy="442800"/>
          </a:xfrm>
          <a:prstGeom prst="rect">
            <a:avLst/>
          </a:prstGeom>
        </p:spPr>
      </p:pic>
      <p:sp>
        <p:nvSpPr>
          <p:cNvPr id="27" name="文本框 26"/>
          <p:cNvSpPr txBox="1"/>
          <p:nvPr/>
        </p:nvSpPr>
        <p:spPr bwMode="gray">
          <a:xfrm>
            <a:off x="8216440" y="4352382"/>
            <a:ext cx="679994" cy="338554"/>
          </a:xfrm>
          <a:prstGeom prst="rect">
            <a:avLst/>
          </a:prstGeom>
          <a:noFill/>
        </p:spPr>
        <p:txBody>
          <a:bodyPr wrap="none" rtlCol="0">
            <a:spAutoFit/>
          </a:bodyPr>
          <a:lstStyle/>
          <a:p>
            <a:r>
              <a:rPr lang="en-US" altLang="zh-CN" sz="1600">
                <a:solidFill>
                  <a:srgbClr val="FF3399"/>
                </a:solidFill>
                <a:latin typeface="Huawei Sans" panose="020C0503030203020204" pitchFamily="34" charset="0"/>
                <a:ea typeface="方正兰亭黑简体" panose="02000000000000000000" pitchFamily="2" charset="-122"/>
                <a:sym typeface="Huawei Sans" panose="020C0503030203020204" pitchFamily="34" charset="0"/>
              </a:rPr>
              <a:t>Color</a:t>
            </a:r>
            <a:endParaRPr lang="zh-CN" altLang="en-US" sz="1600">
              <a:solidFill>
                <a:srgbClr val="FF3399"/>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文本框 27"/>
          <p:cNvSpPr txBox="1"/>
          <p:nvPr/>
        </p:nvSpPr>
        <p:spPr bwMode="gray">
          <a:xfrm>
            <a:off x="4796476" y="5191981"/>
            <a:ext cx="800219" cy="338554"/>
          </a:xfrm>
          <a:prstGeom prst="rect">
            <a:avLst/>
          </a:prstGeom>
          <a:noFill/>
        </p:spPr>
        <p:txBody>
          <a:bodyPr wrap="none" rtlCol="0">
            <a:spAutoFit/>
          </a:bodyPr>
          <a:lstStyle/>
          <a:p>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源节点</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文本框 28"/>
          <p:cNvSpPr txBox="1"/>
          <p:nvPr/>
        </p:nvSpPr>
        <p:spPr bwMode="gray">
          <a:xfrm>
            <a:off x="10290748" y="5110328"/>
            <a:ext cx="1016625" cy="338554"/>
          </a:xfrm>
          <a:prstGeom prst="rect">
            <a:avLst/>
          </a:prstGeom>
          <a:noFill/>
        </p:spPr>
        <p:txBody>
          <a:bodyPr wrap="none" rtlCol="0">
            <a:spAutoFit/>
          </a:bodyPr>
          <a:lstStyle/>
          <a:p>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Endpoint</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文本框 31"/>
          <p:cNvSpPr txBox="1"/>
          <p:nvPr/>
        </p:nvSpPr>
        <p:spPr bwMode="gray">
          <a:xfrm>
            <a:off x="2640062" y="4499097"/>
            <a:ext cx="1911101" cy="307777"/>
          </a:xfrm>
          <a:prstGeom prst="rect">
            <a:avLst/>
          </a:prstGeom>
          <a:solidFill>
            <a:schemeClr val="accent2"/>
          </a:solidFill>
        </p:spPr>
        <p:txBody>
          <a:bodyPr wrap="none" rtlCol="0">
            <a:spAutoFit/>
          </a:bodyPr>
          <a:lstStyle/>
          <a:p>
            <a:r>
              <a:rPr lang="en-US" altLang="zh-CN" sz="14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2. BGP IPv6 SR Policy</a:t>
            </a:r>
            <a:endParaRPr lang="zh-CN" altLang="en-US" sz="14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 name="文本框 32"/>
          <p:cNvSpPr txBox="1"/>
          <p:nvPr/>
        </p:nvSpPr>
        <p:spPr bwMode="gray">
          <a:xfrm>
            <a:off x="2634921" y="4903406"/>
            <a:ext cx="1202573" cy="307777"/>
          </a:xfrm>
          <a:prstGeom prst="rect">
            <a:avLst/>
          </a:prstGeom>
          <a:solidFill>
            <a:schemeClr val="accent6">
              <a:lumMod val="75000"/>
            </a:schemeClr>
          </a:solidFill>
        </p:spPr>
        <p:txBody>
          <a:bodyPr wrap="none" rtlCol="0">
            <a:spAutoFit/>
          </a:bodyPr>
          <a:lstStyle/>
          <a:p>
            <a:r>
              <a:rPr lang="en-US" altLang="zh-CN" sz="140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3. NETCONF</a:t>
            </a:r>
            <a:endParaRPr lang="zh-CN" altLang="en-US" sz="140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 name="Rounded Rectangle 30"/>
          <p:cNvSpPr/>
          <p:nvPr/>
        </p:nvSpPr>
        <p:spPr bwMode="gray">
          <a:xfrm>
            <a:off x="4796476" y="3611563"/>
            <a:ext cx="6526033" cy="2504922"/>
          </a:xfrm>
          <a:prstGeom prst="roundRect">
            <a:avLst>
              <a:gd name="adj" fmla="val 8206"/>
            </a:avLst>
          </a:prstGeom>
          <a:noFill/>
          <a:ln w="19050">
            <a:solidFill>
              <a:srgbClr val="56C4D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r"/>
            <a:r>
              <a:rPr lang="zh-CN" altLang="en-US" dirty="0">
                <a:solidFill>
                  <a:schemeClr val="tx1"/>
                </a:solidFill>
              </a:rPr>
              <a:t>扩展</a:t>
            </a:r>
            <a:r>
              <a:rPr lang="en-US" altLang="zh-CN" dirty="0">
                <a:solidFill>
                  <a:schemeClr val="tx1"/>
                </a:solidFill>
              </a:rPr>
              <a:t>IS-IS</a:t>
            </a:r>
            <a:endParaRPr lang="zh-CN" altLang="en-US" dirty="0">
              <a:solidFill>
                <a:schemeClr val="tx1"/>
              </a:solidFill>
            </a:endParaRPr>
          </a:p>
        </p:txBody>
      </p:sp>
      <p:pic>
        <p:nvPicPr>
          <p:cNvPr id="39" name="图片 2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bwMode="gray">
          <a:xfrm>
            <a:off x="692985" y="4700031"/>
            <a:ext cx="1778405" cy="327985"/>
          </a:xfrm>
          <a:prstGeom prst="rect">
            <a:avLst/>
          </a:prstGeom>
        </p:spPr>
      </p:pic>
      <p:sp>
        <p:nvSpPr>
          <p:cNvPr id="36" name="五边形 2"/>
          <p:cNvSpPr/>
          <p:nvPr/>
        </p:nvSpPr>
        <p:spPr bwMode="gray">
          <a:xfrm>
            <a:off x="8562976" y="110463"/>
            <a:ext cx="1531726"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SRv6 Policy</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路径建立</a:t>
            </a:r>
            <a:endPar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 name="燕尾形 3"/>
          <p:cNvSpPr/>
          <p:nvPr/>
        </p:nvSpPr>
        <p:spPr bwMode="gray">
          <a:xfrm>
            <a:off x="10018141" y="110463"/>
            <a:ext cx="1730947"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SRv6 Policy</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引流</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gray"/>
        <p:txBody>
          <a:bodyPr/>
          <a:lstStyle/>
          <a:p>
            <a:r>
              <a:rPr lang="zh-CN" altLang="en-US" dirty="0"/>
              <a:t>通过</a:t>
            </a:r>
            <a:r>
              <a:rPr lang="en-US" altLang="zh-CN" dirty="0"/>
              <a:t>BGP-LS</a:t>
            </a:r>
            <a:r>
              <a:rPr lang="zh-CN" altLang="en-US" dirty="0"/>
              <a:t>收集信息</a:t>
            </a:r>
            <a:endParaRPr lang="zh-CN" altLang="en-US" dirty="0"/>
          </a:p>
        </p:txBody>
      </p:sp>
      <p:sp>
        <p:nvSpPr>
          <p:cNvPr id="3" name="Text Placeholder 2"/>
          <p:cNvSpPr>
            <a:spLocks noGrp="1"/>
          </p:cNvSpPr>
          <p:nvPr>
            <p:ph type="body" sz="quarter" idx="10"/>
          </p:nvPr>
        </p:nvSpPr>
        <p:spPr bwMode="gray"/>
        <p:txBody>
          <a:bodyPr/>
          <a:lstStyle/>
          <a:p>
            <a:r>
              <a:rPr lang="zh-CN" altLang="en-US" sz="1800" dirty="0"/>
              <a:t>在华为</a:t>
            </a:r>
            <a:r>
              <a:rPr lang="en-US" altLang="zh-CN" sz="1800" dirty="0"/>
              <a:t>SRv6 Policy</a:t>
            </a:r>
            <a:r>
              <a:rPr lang="zh-CN" altLang="en-US" sz="1800" dirty="0"/>
              <a:t>解决方案架构中，</a:t>
            </a:r>
            <a:r>
              <a:rPr lang="en-US" altLang="zh-CN" sz="1800" dirty="0"/>
              <a:t>BGP-LS</a:t>
            </a:r>
            <a:r>
              <a:rPr lang="zh-CN" altLang="en-US" sz="1800" dirty="0"/>
              <a:t>的主要功能有两个：</a:t>
            </a:r>
            <a:endParaRPr lang="en-US" altLang="zh-CN" sz="1800" dirty="0"/>
          </a:p>
          <a:p>
            <a:pPr lvl="1"/>
            <a:r>
              <a:rPr lang="zh-CN" altLang="en-US" sz="1600" dirty="0"/>
              <a:t>通过</a:t>
            </a:r>
            <a:r>
              <a:rPr lang="en-US" altLang="zh-CN" sz="1600" dirty="0"/>
              <a:t>BGP-LS</a:t>
            </a:r>
            <a:r>
              <a:rPr lang="zh-CN" altLang="en-US" sz="1600" dirty="0"/>
              <a:t>路由将</a:t>
            </a:r>
            <a:r>
              <a:rPr lang="en-US" altLang="zh-CN" sz="1600" dirty="0"/>
              <a:t>IS-IS/OSPFv3</a:t>
            </a:r>
            <a:r>
              <a:rPr lang="zh-CN" altLang="en-US" sz="1600" dirty="0"/>
              <a:t>收集的拓扑信息，前缀信息，</a:t>
            </a:r>
            <a:r>
              <a:rPr lang="en-US" altLang="zh-CN" sz="1600" dirty="0"/>
              <a:t>SRv6 Locator</a:t>
            </a:r>
            <a:r>
              <a:rPr lang="zh-CN" altLang="en-US" sz="1600" dirty="0"/>
              <a:t>和</a:t>
            </a:r>
            <a:r>
              <a:rPr lang="en-US" altLang="zh-CN" sz="1600" dirty="0"/>
              <a:t>SID</a:t>
            </a:r>
            <a:r>
              <a:rPr lang="zh-CN" altLang="en-US" sz="1600" dirty="0"/>
              <a:t>信息通告给</a:t>
            </a:r>
            <a:r>
              <a:rPr lang="en-US" altLang="zh-CN" sz="1600" dirty="0" err="1"/>
              <a:t>iMaster</a:t>
            </a:r>
            <a:r>
              <a:rPr lang="en-US" altLang="zh-CN" sz="1600" dirty="0"/>
              <a:t> NCE-IP</a:t>
            </a:r>
            <a:r>
              <a:rPr lang="zh-CN" altLang="en-US" sz="1600" dirty="0"/>
              <a:t>。</a:t>
            </a:r>
            <a:endParaRPr lang="en-US" altLang="zh-CN" sz="1600" dirty="0"/>
          </a:p>
          <a:p>
            <a:pPr lvl="1"/>
            <a:r>
              <a:rPr lang="zh-CN" altLang="en-US" sz="1600" dirty="0"/>
              <a:t>通过</a:t>
            </a:r>
            <a:r>
              <a:rPr lang="en-US" altLang="zh-CN" sz="1600" dirty="0"/>
              <a:t>BGP-LS</a:t>
            </a:r>
            <a:r>
              <a:rPr lang="zh-CN" altLang="en-US" sz="1600" dirty="0"/>
              <a:t>路由通告</a:t>
            </a:r>
            <a:r>
              <a:rPr lang="en-US" altLang="zh-CN" sz="1600" dirty="0"/>
              <a:t>SRv6 Policy</a:t>
            </a:r>
            <a:r>
              <a:rPr lang="zh-CN" altLang="en-US" sz="1600" dirty="0"/>
              <a:t>的状态。</a:t>
            </a:r>
            <a:endParaRPr lang="en-US" altLang="zh-CN" sz="1600" dirty="0"/>
          </a:p>
        </p:txBody>
      </p:sp>
      <p:pic>
        <p:nvPicPr>
          <p:cNvPr id="10" name="图片 31"/>
          <p:cNvPicPr>
            <a:picLocks noChangeAspect="1"/>
          </p:cNvPicPr>
          <p:nvPr/>
        </p:nvPicPr>
        <p:blipFill>
          <a:blip r:embed="rId1"/>
          <a:stretch>
            <a:fillRect/>
          </a:stretch>
        </p:blipFill>
        <p:spPr bwMode="gray">
          <a:xfrm>
            <a:off x="1210625" y="3575591"/>
            <a:ext cx="466668" cy="389308"/>
          </a:xfrm>
          <a:prstGeom prst="rect">
            <a:avLst/>
          </a:prstGeom>
        </p:spPr>
      </p:pic>
      <p:pic>
        <p:nvPicPr>
          <p:cNvPr id="11" name="图片 31"/>
          <p:cNvPicPr>
            <a:picLocks noChangeAspect="1"/>
          </p:cNvPicPr>
          <p:nvPr/>
        </p:nvPicPr>
        <p:blipFill>
          <a:blip r:embed="rId1"/>
          <a:stretch>
            <a:fillRect/>
          </a:stretch>
        </p:blipFill>
        <p:spPr bwMode="gray">
          <a:xfrm>
            <a:off x="1210625" y="4586829"/>
            <a:ext cx="466668" cy="389308"/>
          </a:xfrm>
          <a:prstGeom prst="rect">
            <a:avLst/>
          </a:prstGeom>
        </p:spPr>
      </p:pic>
      <p:pic>
        <p:nvPicPr>
          <p:cNvPr id="12" name="图片 31"/>
          <p:cNvPicPr>
            <a:picLocks noChangeAspect="1"/>
          </p:cNvPicPr>
          <p:nvPr/>
        </p:nvPicPr>
        <p:blipFill>
          <a:blip r:embed="rId1"/>
          <a:stretch>
            <a:fillRect/>
          </a:stretch>
        </p:blipFill>
        <p:spPr bwMode="gray">
          <a:xfrm>
            <a:off x="2753675" y="3571808"/>
            <a:ext cx="466668" cy="389308"/>
          </a:xfrm>
          <a:prstGeom prst="rect">
            <a:avLst/>
          </a:prstGeom>
        </p:spPr>
      </p:pic>
      <p:pic>
        <p:nvPicPr>
          <p:cNvPr id="13" name="图片 31"/>
          <p:cNvPicPr>
            <a:picLocks noChangeAspect="1"/>
          </p:cNvPicPr>
          <p:nvPr/>
        </p:nvPicPr>
        <p:blipFill>
          <a:blip r:embed="rId1"/>
          <a:stretch>
            <a:fillRect/>
          </a:stretch>
        </p:blipFill>
        <p:spPr bwMode="gray">
          <a:xfrm>
            <a:off x="2753675" y="4586829"/>
            <a:ext cx="466668" cy="389308"/>
          </a:xfrm>
          <a:prstGeom prst="rect">
            <a:avLst/>
          </a:prstGeom>
        </p:spPr>
      </p:pic>
      <p:pic>
        <p:nvPicPr>
          <p:cNvPr id="14" name="图片 31"/>
          <p:cNvPicPr>
            <a:picLocks noChangeAspect="1"/>
          </p:cNvPicPr>
          <p:nvPr/>
        </p:nvPicPr>
        <p:blipFill>
          <a:blip r:embed="rId1"/>
          <a:stretch>
            <a:fillRect/>
          </a:stretch>
        </p:blipFill>
        <p:spPr bwMode="gray">
          <a:xfrm>
            <a:off x="4296725" y="3575591"/>
            <a:ext cx="466668" cy="389308"/>
          </a:xfrm>
          <a:prstGeom prst="rect">
            <a:avLst/>
          </a:prstGeom>
        </p:spPr>
      </p:pic>
      <p:pic>
        <p:nvPicPr>
          <p:cNvPr id="15" name="图片 31"/>
          <p:cNvPicPr>
            <a:picLocks noChangeAspect="1"/>
          </p:cNvPicPr>
          <p:nvPr/>
        </p:nvPicPr>
        <p:blipFill>
          <a:blip r:embed="rId1"/>
          <a:stretch>
            <a:fillRect/>
          </a:stretch>
        </p:blipFill>
        <p:spPr bwMode="gray">
          <a:xfrm>
            <a:off x="4296725" y="4590612"/>
            <a:ext cx="466668" cy="389308"/>
          </a:xfrm>
          <a:prstGeom prst="rect">
            <a:avLst/>
          </a:prstGeom>
        </p:spPr>
      </p:pic>
      <p:cxnSp>
        <p:nvCxnSpPr>
          <p:cNvPr id="16" name="Straight Connector 15"/>
          <p:cNvCxnSpPr>
            <a:stCxn id="10" idx="3"/>
            <a:endCxn id="12" idx="1"/>
          </p:cNvCxnSpPr>
          <p:nvPr/>
        </p:nvCxnSpPr>
        <p:spPr bwMode="gray">
          <a:xfrm flipV="1">
            <a:off x="1677293" y="3766462"/>
            <a:ext cx="1076382" cy="3783"/>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a:stCxn id="11" idx="3"/>
            <a:endCxn id="13" idx="1"/>
          </p:cNvCxnSpPr>
          <p:nvPr/>
        </p:nvCxnSpPr>
        <p:spPr bwMode="gray">
          <a:xfrm>
            <a:off x="1677293" y="4781483"/>
            <a:ext cx="1076382"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stCxn id="10" idx="2"/>
            <a:endCxn id="11" idx="0"/>
          </p:cNvCxnSpPr>
          <p:nvPr/>
        </p:nvCxnSpPr>
        <p:spPr bwMode="gray">
          <a:xfrm>
            <a:off x="1443959" y="3964899"/>
            <a:ext cx="0" cy="62193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a:stCxn id="12" idx="2"/>
            <a:endCxn id="13" idx="0"/>
          </p:cNvCxnSpPr>
          <p:nvPr/>
        </p:nvCxnSpPr>
        <p:spPr bwMode="gray">
          <a:xfrm>
            <a:off x="2987009" y="3961116"/>
            <a:ext cx="0" cy="625713"/>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a:stCxn id="14" idx="2"/>
            <a:endCxn id="15" idx="0"/>
          </p:cNvCxnSpPr>
          <p:nvPr/>
        </p:nvCxnSpPr>
        <p:spPr bwMode="gray">
          <a:xfrm>
            <a:off x="4530059" y="3964899"/>
            <a:ext cx="0" cy="625713"/>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a:stCxn id="15" idx="1"/>
            <a:endCxn id="13" idx="3"/>
          </p:cNvCxnSpPr>
          <p:nvPr/>
        </p:nvCxnSpPr>
        <p:spPr bwMode="gray">
          <a:xfrm flipH="1" flipV="1">
            <a:off x="3220343" y="4781483"/>
            <a:ext cx="1076382" cy="3783"/>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a:stCxn id="14" idx="1"/>
            <a:endCxn id="12" idx="3"/>
          </p:cNvCxnSpPr>
          <p:nvPr/>
        </p:nvCxnSpPr>
        <p:spPr bwMode="gray">
          <a:xfrm flipH="1" flipV="1">
            <a:off x="3220343" y="3766462"/>
            <a:ext cx="1076382" cy="3783"/>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3" name="TextBox 271"/>
          <p:cNvSpPr txBox="1"/>
          <p:nvPr/>
        </p:nvSpPr>
        <p:spPr bwMode="gray">
          <a:xfrm>
            <a:off x="2997452" y="3354747"/>
            <a:ext cx="373820" cy="276999"/>
          </a:xfrm>
          <a:prstGeom prst="rect">
            <a:avLst/>
          </a:prstGeom>
          <a:noFill/>
        </p:spPr>
        <p:txBody>
          <a:bodyPr wrap="none" rtlCol="0">
            <a:spAutoFit/>
          </a:bodyPr>
          <a:lstStyle/>
          <a:p>
            <a:pPr>
              <a:buFont typeface="Wingdings" panose="05000000000000000000"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RR</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TextBox 271"/>
          <p:cNvSpPr txBox="1"/>
          <p:nvPr/>
        </p:nvSpPr>
        <p:spPr bwMode="gray">
          <a:xfrm>
            <a:off x="1214622" y="3354747"/>
            <a:ext cx="444352" cy="276999"/>
          </a:xfrm>
          <a:prstGeom prst="rect">
            <a:avLst/>
          </a:prstGeom>
          <a:noFill/>
        </p:spPr>
        <p:txBody>
          <a:bodyPr wrap="none" rtlCol="0">
            <a:spAutoFit/>
          </a:bodyPr>
          <a:lstStyle/>
          <a:p>
            <a:pPr>
              <a:buFont typeface="Wingdings" panose="05000000000000000000"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PE1</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TextBox 271"/>
          <p:cNvSpPr txBox="1"/>
          <p:nvPr/>
        </p:nvSpPr>
        <p:spPr bwMode="gray">
          <a:xfrm>
            <a:off x="1232941" y="4934964"/>
            <a:ext cx="444352" cy="276999"/>
          </a:xfrm>
          <a:prstGeom prst="rect">
            <a:avLst/>
          </a:prstGeom>
          <a:noFill/>
        </p:spPr>
        <p:txBody>
          <a:bodyPr wrap="none" rtlCol="0">
            <a:spAutoFit/>
          </a:bodyPr>
          <a:lstStyle/>
          <a:p>
            <a:pPr>
              <a:buFont typeface="Wingdings" panose="05000000000000000000"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PE2</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TextBox 271"/>
          <p:cNvSpPr txBox="1"/>
          <p:nvPr/>
        </p:nvSpPr>
        <p:spPr bwMode="gray">
          <a:xfrm>
            <a:off x="2807312" y="4934964"/>
            <a:ext cx="359394" cy="276999"/>
          </a:xfrm>
          <a:prstGeom prst="rect">
            <a:avLst/>
          </a:prstGeom>
          <a:noFill/>
        </p:spPr>
        <p:txBody>
          <a:bodyPr wrap="none" rtlCol="0">
            <a:spAutoFit/>
          </a:bodyPr>
          <a:lstStyle/>
          <a:p>
            <a:pPr>
              <a:buFont typeface="Wingdings" panose="05000000000000000000"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P1</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 name="TextBox 271"/>
          <p:cNvSpPr txBox="1"/>
          <p:nvPr/>
        </p:nvSpPr>
        <p:spPr bwMode="gray">
          <a:xfrm>
            <a:off x="4307883" y="4934964"/>
            <a:ext cx="444352" cy="276999"/>
          </a:xfrm>
          <a:prstGeom prst="rect">
            <a:avLst/>
          </a:prstGeom>
          <a:noFill/>
        </p:spPr>
        <p:txBody>
          <a:bodyPr wrap="none" rtlCol="0">
            <a:spAutoFit/>
          </a:bodyPr>
          <a:lstStyle/>
          <a:p>
            <a:pPr>
              <a:buFont typeface="Wingdings" panose="05000000000000000000"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PE4</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TextBox 271"/>
          <p:cNvSpPr txBox="1"/>
          <p:nvPr/>
        </p:nvSpPr>
        <p:spPr bwMode="gray">
          <a:xfrm>
            <a:off x="4314475" y="3358901"/>
            <a:ext cx="444352" cy="276999"/>
          </a:xfrm>
          <a:prstGeom prst="rect">
            <a:avLst/>
          </a:prstGeom>
          <a:noFill/>
        </p:spPr>
        <p:txBody>
          <a:bodyPr wrap="none" rtlCol="0">
            <a:spAutoFit/>
          </a:bodyPr>
          <a:lstStyle/>
          <a:p>
            <a:pPr>
              <a:buFont typeface="Wingdings" panose="05000000000000000000"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PE3</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9" name="图片 2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bwMode="gray">
          <a:xfrm>
            <a:off x="2008838" y="2440967"/>
            <a:ext cx="1977229" cy="364654"/>
          </a:xfrm>
          <a:prstGeom prst="rect">
            <a:avLst/>
          </a:prstGeom>
        </p:spPr>
      </p:pic>
      <p:sp>
        <p:nvSpPr>
          <p:cNvPr id="30" name="圆角矩形 75"/>
          <p:cNvSpPr/>
          <p:nvPr/>
        </p:nvSpPr>
        <p:spPr bwMode="gray">
          <a:xfrm>
            <a:off x="1926848" y="2414621"/>
            <a:ext cx="2115918" cy="403280"/>
          </a:xfrm>
          <a:prstGeom prst="roundRect">
            <a:avLst>
              <a:gd name="adj" fmla="val 2420"/>
            </a:avLst>
          </a:prstGeom>
          <a:noFill/>
          <a:ln w="19050" cap="flat" cmpd="sng" algn="ctr">
            <a:solidFill>
              <a:srgbClr val="30B5C5"/>
            </a:solidFill>
            <a:prstDash val="dash"/>
            <a:miter lim="800000"/>
          </a:ln>
          <a:effectLst/>
        </p:spPr>
        <p:txBody>
          <a:bodyPr wrap="square" lIns="108000" tIns="108000" rIns="108000" bIns="108000" rtlCol="0" anchor="ctr" anchorCtr="0">
            <a:noAutofit/>
          </a:bodyPr>
          <a:lstStyle/>
          <a:p>
            <a:pPr marL="0" marR="0" lvl="0" indent="0" algn="just" defTabSz="914400" eaLnBrk="1" fontAlgn="ctr" latinLnBrk="0" hangingPunct="1">
              <a:lnSpc>
                <a:spcPts val="1800"/>
              </a:lnSpc>
              <a:spcBef>
                <a:spcPts val="0"/>
              </a:spcBef>
              <a:spcAft>
                <a:spcPts val="300"/>
              </a:spcAft>
              <a:buClrTx/>
              <a:buSzTx/>
              <a:buFontTx/>
              <a:buNone/>
              <a:defRPr/>
            </a:pPr>
            <a:endParaRPr kumimoji="0" lang="en-US" altLang="zh-CN" sz="1400" b="0" i="0" u="none" strike="noStrike" kern="0" cap="none" spc="0" normalizeH="0" noProof="0" dirty="0">
              <a:ln>
                <a:noFill/>
              </a:ln>
              <a:solidFill>
                <a:prstClr val="black"/>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31" name="TextBox 271"/>
          <p:cNvSpPr txBox="1"/>
          <p:nvPr/>
        </p:nvSpPr>
        <p:spPr bwMode="gray">
          <a:xfrm rot="16200000">
            <a:off x="2517264" y="3079156"/>
            <a:ext cx="696024" cy="276999"/>
          </a:xfrm>
          <a:prstGeom prst="rect">
            <a:avLst/>
          </a:prstGeom>
          <a:noFill/>
        </p:spPr>
        <p:txBody>
          <a:bodyPr wrap="none" rtlCol="0">
            <a:spAutoFit/>
          </a:bodyPr>
          <a:lstStyle/>
          <a:p>
            <a:pPr>
              <a:buFont typeface="Wingdings" panose="05000000000000000000"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BGP-LS</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58" name="直接箭头连接符 84"/>
          <p:cNvCxnSpPr>
            <a:stCxn id="12" idx="0"/>
            <a:endCxn id="30" idx="2"/>
          </p:cNvCxnSpPr>
          <p:nvPr/>
        </p:nvCxnSpPr>
        <p:spPr bwMode="gray">
          <a:xfrm flipH="1" flipV="1">
            <a:off x="2984807" y="2817901"/>
            <a:ext cx="2202" cy="753907"/>
          </a:xfrm>
          <a:prstGeom prst="straightConnector1">
            <a:avLst/>
          </a:prstGeom>
          <a:ln w="19050" cap="flat" cmpd="sng" algn="ctr">
            <a:solidFill>
              <a:srgbClr val="56C4D2"/>
            </a:solidFill>
            <a:prstDash val="dash"/>
            <a:round/>
            <a:headEnd type="none" w="med" len="med"/>
            <a:tailEnd type="triangl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62" name="Straight Connector 61"/>
          <p:cNvCxnSpPr>
            <a:endCxn id="63" idx="1"/>
          </p:cNvCxnSpPr>
          <p:nvPr/>
        </p:nvCxnSpPr>
        <p:spPr bwMode="gray">
          <a:xfrm>
            <a:off x="3066411" y="5799636"/>
            <a:ext cx="493232" cy="0"/>
          </a:xfrm>
          <a:prstGeom prst="line">
            <a:avLst/>
          </a:prstGeom>
          <a:ln w="38100">
            <a:solidFill>
              <a:srgbClr val="E28189"/>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3" name="文本框 41"/>
          <p:cNvSpPr txBox="1"/>
          <p:nvPr/>
        </p:nvSpPr>
        <p:spPr bwMode="gray">
          <a:xfrm>
            <a:off x="3559643" y="5661136"/>
            <a:ext cx="973343" cy="276999"/>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SRv6 Policy</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64" name="直接箭头连接符 84"/>
          <p:cNvCxnSpPr/>
          <p:nvPr/>
        </p:nvCxnSpPr>
        <p:spPr bwMode="gray">
          <a:xfrm>
            <a:off x="1689887" y="3646224"/>
            <a:ext cx="1044738" cy="0"/>
          </a:xfrm>
          <a:prstGeom prst="straightConnector1">
            <a:avLst/>
          </a:prstGeom>
          <a:ln w="19050" cap="flat" cmpd="sng" algn="ctr">
            <a:solidFill>
              <a:srgbClr val="56C4D2"/>
            </a:solidFill>
            <a:prstDash val="dash"/>
            <a:round/>
            <a:headEnd type="none" w="med" len="med"/>
            <a:tailEnd type="triangl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65" name="直接箭头连接符 84"/>
          <p:cNvCxnSpPr/>
          <p:nvPr/>
        </p:nvCxnSpPr>
        <p:spPr bwMode="gray">
          <a:xfrm>
            <a:off x="3235064" y="3660303"/>
            <a:ext cx="1044738" cy="0"/>
          </a:xfrm>
          <a:prstGeom prst="straightConnector1">
            <a:avLst/>
          </a:prstGeom>
          <a:ln w="19050" cap="flat" cmpd="sng" algn="ctr">
            <a:solidFill>
              <a:srgbClr val="56C4D2"/>
            </a:solidFill>
            <a:prstDash val="dash"/>
            <a:round/>
            <a:headEnd type="triangle" w="med" len="med"/>
            <a:tailEnd type="non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66" name="直接箭头连接符 84"/>
          <p:cNvCxnSpPr/>
          <p:nvPr/>
        </p:nvCxnSpPr>
        <p:spPr bwMode="gray">
          <a:xfrm flipV="1">
            <a:off x="1689887" y="3975717"/>
            <a:ext cx="1092491" cy="648448"/>
          </a:xfrm>
          <a:prstGeom prst="straightConnector1">
            <a:avLst/>
          </a:prstGeom>
          <a:ln w="19050" cap="flat" cmpd="sng" algn="ctr">
            <a:solidFill>
              <a:srgbClr val="56C4D2"/>
            </a:solidFill>
            <a:prstDash val="dash"/>
            <a:round/>
            <a:headEnd type="none" w="med" len="med"/>
            <a:tailEnd type="triangl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67" name="直接箭头连接符 84"/>
          <p:cNvCxnSpPr/>
          <p:nvPr/>
        </p:nvCxnSpPr>
        <p:spPr bwMode="gray">
          <a:xfrm flipH="1" flipV="1">
            <a:off x="3152772" y="3958557"/>
            <a:ext cx="1125530" cy="676618"/>
          </a:xfrm>
          <a:prstGeom prst="straightConnector1">
            <a:avLst/>
          </a:prstGeom>
          <a:ln w="19050" cap="flat" cmpd="sng" algn="ctr">
            <a:solidFill>
              <a:srgbClr val="56C4D2"/>
            </a:solidFill>
            <a:prstDash val="dash"/>
            <a:round/>
            <a:headEnd type="none" w="med" len="med"/>
            <a:tailEnd type="triangl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69" name="直接箭头连接符 84"/>
          <p:cNvCxnSpPr>
            <a:endCxn id="71" idx="1"/>
          </p:cNvCxnSpPr>
          <p:nvPr/>
        </p:nvCxnSpPr>
        <p:spPr bwMode="gray">
          <a:xfrm>
            <a:off x="3066411" y="6053921"/>
            <a:ext cx="493232" cy="0"/>
          </a:xfrm>
          <a:prstGeom prst="straightConnector1">
            <a:avLst/>
          </a:prstGeom>
          <a:ln w="19050" cap="flat" cmpd="sng" algn="ctr">
            <a:solidFill>
              <a:srgbClr val="56C4D2"/>
            </a:solidFill>
            <a:prstDash val="dash"/>
            <a:round/>
            <a:headEnd type="none" w="med" len="med"/>
            <a:tailEnd type="triangl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sp>
        <p:nvSpPr>
          <p:cNvPr id="71" name="文本框 41"/>
          <p:cNvSpPr txBox="1"/>
          <p:nvPr/>
        </p:nvSpPr>
        <p:spPr bwMode="gray">
          <a:xfrm>
            <a:off x="3559643" y="5915421"/>
            <a:ext cx="1003801" cy="276999"/>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BGP-LS</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邻居</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2" name="文本框 5"/>
          <p:cNvSpPr txBox="1"/>
          <p:nvPr/>
        </p:nvSpPr>
        <p:spPr bwMode="gray">
          <a:xfrm>
            <a:off x="5172785" y="2323702"/>
            <a:ext cx="6490278" cy="3785652"/>
          </a:xfrm>
          <a:prstGeom prst="rect">
            <a:avLst/>
          </a:prstGeom>
          <a:solidFill>
            <a:schemeClr val="bg1">
              <a:lumMod val="85000"/>
            </a:schemeClr>
          </a:solidFill>
        </p:spPr>
        <p:txBody>
          <a:bodyPr wrap="square">
            <a:spAutoFit/>
          </a:bodyPr>
          <a:lstStyle>
            <a:defPPr>
              <a:defRPr lang="en-US"/>
            </a:defPPr>
            <a:lvl1pPr>
              <a:defRPr sz="1400"/>
            </a:lvl1p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[~PE1]display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bgp</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link-state unicast routing-table</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Total Number of Node Routes: 36</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*&gt;     Network  : [NODE][ISIS-LEVEL-2][IDENTIFIER0][LOCAL[as65001][bgp-ls-identifier1.0.0.1][ospf-area-id0.0.0.0][</a:t>
            </a:r>
            <a:r>
              <a:rPr lang="en-US" altLang="zh-CN"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igp-router-id0010.0000.0001.00</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拓扑节点信息</a:t>
            </a:r>
            <a:endPar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a:t>
            </a: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*&gt;     Network  : [LINK][ISIS-LEVEL-2][IDENTIFIER0][</a:t>
            </a:r>
            <a:r>
              <a:rPr lang="en-US" altLang="zh-CN"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LOCAL</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[as65001][bgp-ls-identifier1.0.0.1][ospf-area-id0.0.0.0][</a:t>
            </a:r>
            <a:r>
              <a:rPr lang="en-US" altLang="zh-CN"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igp-router-id0010.0000.0001.00</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REMOTE</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[as65001][bgp-ls-identifier1.0.0.1][ospf-area-id0.0.0.0][</a:t>
            </a:r>
            <a:r>
              <a:rPr lang="en-US" altLang="zh-CN"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igp-router-id0010.0000.0002.00</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]][LINK[if-address10.0.0.26][peer-address10.0.0.25][if-address::][peer-address::]]    </a:t>
            </a: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拓扑链路信息</a:t>
            </a:r>
            <a:endPar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*&gt;     Network  : [SRV6-SID][ISIS-LEVEL-2][IDENTIFIER0][LOCAL[as65001][bgp-ls-identifier1.0.0.1][ospf-area-id0.0.0.0][igp-router-id0010.0000.0006.00]][SID[mt-id2][sid</a:t>
            </a:r>
            <a:r>
              <a:rPr lang="en-US" altLang="zh-CN"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FC00:6::1</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//SRv6 SID</a:t>
            </a:r>
            <a:r>
              <a:rPr lang="zh-CN" altLang="en-US"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信息</a:t>
            </a:r>
            <a:endPar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*&gt;     Network  : [</a:t>
            </a:r>
            <a:r>
              <a:rPr lang="en-US" altLang="zh-CN"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TEPOLICY</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][SEGMENT-ROUTING][IDENTIFIER0][LOCAL[as65001][bgp-ls-identifier1.0.0.1][bgp-router-id1.0.0.1][ipv4-router-id0.0.0.0][ipv6-router-idFC01::1]][TE[protocol-origin2][Flag128][</a:t>
            </a:r>
            <a:r>
              <a:rPr lang="en-US" altLang="zh-CN"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endpointFC01::4</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color16</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][originator-as65001][originator-address172.21.17.102][discriminator49]]    </a:t>
            </a: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//SRv6 Policy</a:t>
            </a:r>
            <a:r>
              <a:rPr lang="zh-CN" altLang="en-US"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隧道状态</a:t>
            </a:r>
            <a:endPar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3" name="TextBox 271"/>
          <p:cNvSpPr txBox="1"/>
          <p:nvPr/>
        </p:nvSpPr>
        <p:spPr bwMode="gray">
          <a:xfrm>
            <a:off x="1747274" y="3881617"/>
            <a:ext cx="776175" cy="276999"/>
          </a:xfrm>
          <a:prstGeom prst="rect">
            <a:avLst/>
          </a:prstGeom>
          <a:noFill/>
        </p:spPr>
        <p:txBody>
          <a:bodyPr wrap="none" rtlCol="0">
            <a:spAutoFit/>
          </a:bodyPr>
          <a:lstStyle/>
          <a:p>
            <a:pPr>
              <a:buFont typeface="Wingdings" panose="05000000000000000000"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Color 16</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4" name="TextBox 271"/>
          <p:cNvSpPr txBox="1"/>
          <p:nvPr/>
        </p:nvSpPr>
        <p:spPr bwMode="gray">
          <a:xfrm>
            <a:off x="4103499" y="5135705"/>
            <a:ext cx="853119" cy="461665"/>
          </a:xfrm>
          <a:prstGeom prst="rect">
            <a:avLst/>
          </a:prstGeom>
          <a:noFill/>
        </p:spPr>
        <p:txBody>
          <a:bodyPr wrap="none" rtlCol="0">
            <a:spAutoFit/>
          </a:bodyPr>
          <a:lstStyle/>
          <a:p>
            <a:pPr algn="ctr">
              <a:buFont typeface="Wingdings" panose="05000000000000000000"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Loopback</a:t>
            </a:r>
            <a:endPar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buFont typeface="Wingdings" panose="05000000000000000000"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FC01::4</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5" name="TextBox 114"/>
          <p:cNvSpPr txBox="1"/>
          <p:nvPr/>
        </p:nvSpPr>
        <p:spPr bwMode="gray">
          <a:xfrm>
            <a:off x="653854" y="2982167"/>
            <a:ext cx="1502334" cy="461665"/>
          </a:xfrm>
          <a:prstGeom prst="rect">
            <a:avLst/>
          </a:prstGeom>
          <a:noFill/>
        </p:spPr>
        <p:txBody>
          <a:bodyPr wrap="non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ISIS System ID</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0010.0000.0001.00</a:t>
            </a:r>
            <a:endParaRPr lang="zh-CN" altLang="en-US" sz="1200" dirty="0"/>
          </a:p>
        </p:txBody>
      </p:sp>
      <p:sp>
        <p:nvSpPr>
          <p:cNvPr id="116" name="TextBox 115"/>
          <p:cNvSpPr txBox="1"/>
          <p:nvPr/>
        </p:nvSpPr>
        <p:spPr bwMode="gray">
          <a:xfrm>
            <a:off x="653854" y="5113371"/>
            <a:ext cx="1502334" cy="461665"/>
          </a:xfrm>
          <a:prstGeom prst="rect">
            <a:avLst/>
          </a:prstGeom>
          <a:noFill/>
        </p:spPr>
        <p:txBody>
          <a:bodyPr wrap="non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ISIS System ID</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0010.0000.0002.00</a:t>
            </a:r>
            <a:endParaRPr lang="zh-CN" altLang="en-US" sz="1200" dirty="0"/>
          </a:p>
        </p:txBody>
      </p:sp>
      <p:sp>
        <p:nvSpPr>
          <p:cNvPr id="117" name="TextBox 116"/>
          <p:cNvSpPr txBox="1"/>
          <p:nvPr/>
        </p:nvSpPr>
        <p:spPr bwMode="gray">
          <a:xfrm>
            <a:off x="2566704" y="5094578"/>
            <a:ext cx="813044" cy="461665"/>
          </a:xfrm>
          <a:prstGeom prst="rect">
            <a:avLst/>
          </a:prstGeom>
          <a:noFill/>
        </p:spPr>
        <p:txBody>
          <a:bodyPr wrap="non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END SID</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FC00:6::1</a:t>
            </a:r>
            <a:endParaRPr lang="zh-CN" altLang="en-US" sz="1200" dirty="0"/>
          </a:p>
        </p:txBody>
      </p:sp>
      <p:sp>
        <p:nvSpPr>
          <p:cNvPr id="118" name="Freeform 117"/>
          <p:cNvSpPr/>
          <p:nvPr/>
        </p:nvSpPr>
        <p:spPr bwMode="gray">
          <a:xfrm>
            <a:off x="1112676" y="3849560"/>
            <a:ext cx="3721100" cy="1013939"/>
          </a:xfrm>
          <a:custGeom>
            <a:avLst/>
            <a:gdLst>
              <a:gd name="connsiteX0" fmla="*/ 0 w 3505200"/>
              <a:gd name="connsiteY0" fmla="*/ 0 h 990600"/>
              <a:gd name="connsiteX1" fmla="*/ 3505200 w 3505200"/>
              <a:gd name="connsiteY1" fmla="*/ 0 h 990600"/>
              <a:gd name="connsiteX2" fmla="*/ 3505200 w 3505200"/>
              <a:gd name="connsiteY2" fmla="*/ 990600 h 990600"/>
              <a:gd name="connsiteX0-1" fmla="*/ 0 w 3516474"/>
              <a:gd name="connsiteY0-2" fmla="*/ 0 h 990600"/>
              <a:gd name="connsiteX1-3" fmla="*/ 3505200 w 3516474"/>
              <a:gd name="connsiteY1-4" fmla="*/ 0 h 990600"/>
              <a:gd name="connsiteX2-5" fmla="*/ 3516474 w 3516474"/>
              <a:gd name="connsiteY2-6" fmla="*/ 18119 h 990600"/>
              <a:gd name="connsiteX3" fmla="*/ 3505200 w 3516474"/>
              <a:gd name="connsiteY3" fmla="*/ 990600 h 990600"/>
              <a:gd name="connsiteX0-7" fmla="*/ 0 w 3506949"/>
              <a:gd name="connsiteY0-8" fmla="*/ 0 h 990600"/>
              <a:gd name="connsiteX1-9" fmla="*/ 3505200 w 3506949"/>
              <a:gd name="connsiteY1-10" fmla="*/ 0 h 990600"/>
              <a:gd name="connsiteX2-11" fmla="*/ 3506949 w 3506949"/>
              <a:gd name="connsiteY2-12" fmla="*/ 857584 h 990600"/>
              <a:gd name="connsiteX3-13" fmla="*/ 3505200 w 3506949"/>
              <a:gd name="connsiteY3-14" fmla="*/ 990600 h 990600"/>
              <a:gd name="connsiteX0-15" fmla="*/ 0 w 3721100"/>
              <a:gd name="connsiteY0-16" fmla="*/ 0 h 857584"/>
              <a:gd name="connsiteX1-17" fmla="*/ 3505200 w 3721100"/>
              <a:gd name="connsiteY1-18" fmla="*/ 0 h 857584"/>
              <a:gd name="connsiteX2-19" fmla="*/ 3506949 w 3721100"/>
              <a:gd name="connsiteY2-20" fmla="*/ 857584 h 857584"/>
              <a:gd name="connsiteX3-21" fmla="*/ 3721100 w 3721100"/>
              <a:gd name="connsiteY3-22" fmla="*/ 856519 h 857584"/>
              <a:gd name="connsiteX0-23" fmla="*/ 0 w 3721100"/>
              <a:gd name="connsiteY0-24" fmla="*/ 8744 h 866328"/>
              <a:gd name="connsiteX1-25" fmla="*/ 1766888 w 3721100"/>
              <a:gd name="connsiteY1-26" fmla="*/ 0 h 866328"/>
              <a:gd name="connsiteX2-27" fmla="*/ 3506949 w 3721100"/>
              <a:gd name="connsiteY2-28" fmla="*/ 866328 h 866328"/>
              <a:gd name="connsiteX3-29" fmla="*/ 3721100 w 3721100"/>
              <a:gd name="connsiteY3-30" fmla="*/ 865263 h 866328"/>
              <a:gd name="connsiteX0-31" fmla="*/ 0 w 3721100"/>
              <a:gd name="connsiteY0-32" fmla="*/ 8744 h 865263"/>
              <a:gd name="connsiteX1-33" fmla="*/ 1766888 w 3721100"/>
              <a:gd name="connsiteY1-34" fmla="*/ 0 h 865263"/>
              <a:gd name="connsiteX2-35" fmla="*/ 1763874 w 3721100"/>
              <a:gd name="connsiteY2-36" fmla="*/ 857584 h 865263"/>
              <a:gd name="connsiteX3-37" fmla="*/ 3721100 w 3721100"/>
              <a:gd name="connsiteY3-38" fmla="*/ 865263 h 865263"/>
              <a:gd name="connsiteX0-39" fmla="*/ 0 w 3721100"/>
              <a:gd name="connsiteY0-40" fmla="*/ 8744 h 914423"/>
              <a:gd name="connsiteX1-41" fmla="*/ 1766888 w 3721100"/>
              <a:gd name="connsiteY1-42" fmla="*/ 0 h 914423"/>
              <a:gd name="connsiteX2-43" fmla="*/ 1763874 w 3721100"/>
              <a:gd name="connsiteY2-44" fmla="*/ 914423 h 914423"/>
              <a:gd name="connsiteX3-45" fmla="*/ 3721100 w 3721100"/>
              <a:gd name="connsiteY3-46" fmla="*/ 865263 h 914423"/>
              <a:gd name="connsiteX0-47" fmla="*/ 0 w 3721100"/>
              <a:gd name="connsiteY0-48" fmla="*/ 8744 h 930847"/>
              <a:gd name="connsiteX1-49" fmla="*/ 1766888 w 3721100"/>
              <a:gd name="connsiteY1-50" fmla="*/ 0 h 930847"/>
              <a:gd name="connsiteX2-51" fmla="*/ 1763874 w 3721100"/>
              <a:gd name="connsiteY2-52" fmla="*/ 914423 h 930847"/>
              <a:gd name="connsiteX3-53" fmla="*/ 3721100 w 3721100"/>
              <a:gd name="connsiteY3-54" fmla="*/ 930847 h 930847"/>
              <a:gd name="connsiteX0-55" fmla="*/ 0 w 3721100"/>
              <a:gd name="connsiteY0-56" fmla="*/ 8744 h 930847"/>
              <a:gd name="connsiteX1-57" fmla="*/ 1766888 w 3721100"/>
              <a:gd name="connsiteY1-58" fmla="*/ 0 h 930847"/>
              <a:gd name="connsiteX2-59" fmla="*/ 1763874 w 3721100"/>
              <a:gd name="connsiteY2-60" fmla="*/ 914423 h 930847"/>
              <a:gd name="connsiteX3-61" fmla="*/ 3721100 w 3721100"/>
              <a:gd name="connsiteY3-62" fmla="*/ 930847 h 930847"/>
              <a:gd name="connsiteX0-63" fmla="*/ 0 w 3721100"/>
              <a:gd name="connsiteY0-64" fmla="*/ 8744 h 930847"/>
              <a:gd name="connsiteX1-65" fmla="*/ 1766888 w 3721100"/>
              <a:gd name="connsiteY1-66" fmla="*/ 0 h 930847"/>
              <a:gd name="connsiteX2-67" fmla="*/ 1763874 w 3721100"/>
              <a:gd name="connsiteY2-68" fmla="*/ 923168 h 930847"/>
              <a:gd name="connsiteX3-69" fmla="*/ 3721100 w 3721100"/>
              <a:gd name="connsiteY3-70" fmla="*/ 930847 h 930847"/>
            </a:gdLst>
            <a:ahLst/>
            <a:cxnLst>
              <a:cxn ang="0">
                <a:pos x="connsiteX0-1" y="connsiteY0-2"/>
              </a:cxn>
              <a:cxn ang="0">
                <a:pos x="connsiteX1-3" y="connsiteY1-4"/>
              </a:cxn>
              <a:cxn ang="0">
                <a:pos x="connsiteX2-5" y="connsiteY2-6"/>
              </a:cxn>
              <a:cxn ang="0">
                <a:pos x="connsiteX3-13" y="connsiteY3-14"/>
              </a:cxn>
            </a:cxnLst>
            <a:rect l="l" t="t" r="r" b="b"/>
            <a:pathLst>
              <a:path w="3721100" h="930847">
                <a:moveTo>
                  <a:pt x="0" y="8744"/>
                </a:moveTo>
                <a:lnTo>
                  <a:pt x="1766888" y="0"/>
                </a:lnTo>
                <a:cubicBezTo>
                  <a:pt x="1765883" y="285861"/>
                  <a:pt x="1764879" y="637307"/>
                  <a:pt x="1763874" y="923168"/>
                </a:cubicBezTo>
                <a:lnTo>
                  <a:pt x="3721100" y="930847"/>
                </a:lnTo>
              </a:path>
            </a:pathLst>
          </a:custGeom>
          <a:noFill/>
          <a:ln w="101600">
            <a:solidFill>
              <a:srgbClr val="E28189"/>
            </a:solidFill>
            <a:headEnd type="none" w="sm" len="sm"/>
            <a:tailEnd type="triangle"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五边形 2"/>
          <p:cNvSpPr/>
          <p:nvPr/>
        </p:nvSpPr>
        <p:spPr bwMode="gray">
          <a:xfrm>
            <a:off x="8562976" y="110463"/>
            <a:ext cx="1531726"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SRv6 Policy</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路径建立</a:t>
            </a:r>
            <a:endPar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燕尾形 3"/>
          <p:cNvSpPr/>
          <p:nvPr/>
        </p:nvSpPr>
        <p:spPr bwMode="gray">
          <a:xfrm>
            <a:off x="10018141" y="110463"/>
            <a:ext cx="1730947"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SRv6 Policy</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引流</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r>
              <a:rPr lang="zh-CN" altLang="en-US" dirty="0">
                <a:sym typeface="Huawei Sans" panose="020C0503030203020204" pitchFamily="34" charset="0"/>
              </a:rPr>
              <a:t>通过</a:t>
            </a:r>
            <a:r>
              <a:rPr lang="en-US" altLang="zh-CN" dirty="0">
                <a:sym typeface="Huawei Sans" panose="020C0503030203020204" pitchFamily="34" charset="0"/>
              </a:rPr>
              <a:t>BGP IPv6 SR Policy</a:t>
            </a:r>
            <a:r>
              <a:rPr lang="zh-CN" altLang="en-US" dirty="0">
                <a:sym typeface="Huawei Sans" panose="020C0503030203020204" pitchFamily="34" charset="0"/>
              </a:rPr>
              <a:t>下发路径</a:t>
            </a:r>
            <a:endParaRPr lang="zh-CN" altLang="en-US" dirty="0">
              <a:sym typeface="Huawei Sans" panose="020C0503030203020204" pitchFamily="34" charset="0"/>
            </a:endParaRPr>
          </a:p>
        </p:txBody>
      </p:sp>
      <p:sp>
        <p:nvSpPr>
          <p:cNvPr id="3" name="文本占位符 2"/>
          <p:cNvSpPr>
            <a:spLocks noGrp="1"/>
          </p:cNvSpPr>
          <p:nvPr>
            <p:ph type="body" sz="quarter" idx="10"/>
          </p:nvPr>
        </p:nvSpPr>
        <p:spPr bwMode="gray"/>
        <p:txBody>
          <a:bodyPr/>
          <a:lstStyle/>
          <a:p>
            <a:r>
              <a:rPr lang="en-US" altLang="zh-CN" sz="1700" dirty="0" err="1">
                <a:sym typeface="Huawei Sans" panose="020C0503030203020204" pitchFamily="34" charset="0"/>
              </a:rPr>
              <a:t>iMaster</a:t>
            </a:r>
            <a:r>
              <a:rPr lang="en-US" altLang="zh-CN" sz="1700" dirty="0">
                <a:sym typeface="Huawei Sans" panose="020C0503030203020204" pitchFamily="34" charset="0"/>
              </a:rPr>
              <a:t> NCE-IP</a:t>
            </a:r>
            <a:r>
              <a:rPr lang="zh-CN" altLang="en-US" sz="1700" dirty="0">
                <a:sym typeface="Huawei Sans" panose="020C0503030203020204" pitchFamily="34" charset="0"/>
              </a:rPr>
              <a:t>可以通过</a:t>
            </a:r>
            <a:r>
              <a:rPr lang="en-US" altLang="zh-CN" sz="1700" dirty="0">
                <a:sym typeface="Huawei Sans" panose="020C0503030203020204" pitchFamily="34" charset="0"/>
              </a:rPr>
              <a:t>BGP IPv6 SR Policy</a:t>
            </a:r>
            <a:r>
              <a:rPr lang="zh-CN" altLang="en-US" sz="1700" dirty="0">
                <a:sym typeface="Huawei Sans" panose="020C0503030203020204" pitchFamily="34" charset="0"/>
              </a:rPr>
              <a:t>邻居下发</a:t>
            </a:r>
            <a:r>
              <a:rPr lang="en-US" altLang="zh-CN" sz="1700" dirty="0">
                <a:sym typeface="Huawei Sans" panose="020C0503030203020204" pitchFamily="34" charset="0"/>
              </a:rPr>
              <a:t>SRv6 Policy</a:t>
            </a:r>
            <a:r>
              <a:rPr lang="zh-CN" altLang="en-US" sz="1700" dirty="0">
                <a:sym typeface="Huawei Sans" panose="020C0503030203020204" pitchFamily="34" charset="0"/>
              </a:rPr>
              <a:t>给源节点。</a:t>
            </a:r>
            <a:endParaRPr lang="en-US" altLang="zh-CN" sz="1700" dirty="0">
              <a:sym typeface="Huawei Sans" panose="020C0503030203020204" pitchFamily="34" charset="0"/>
            </a:endParaRPr>
          </a:p>
          <a:p>
            <a:r>
              <a:rPr lang="en-US" altLang="zh-CN" sz="1700" dirty="0">
                <a:sym typeface="Huawei Sans" panose="020C0503030203020204" pitchFamily="34" charset="0"/>
              </a:rPr>
              <a:t>SRv6 Policy</a:t>
            </a:r>
            <a:r>
              <a:rPr lang="zh-CN" altLang="en-US" sz="1700" dirty="0">
                <a:sym typeface="Huawei Sans" panose="020C0503030203020204" pitchFamily="34" charset="0"/>
              </a:rPr>
              <a:t>在</a:t>
            </a:r>
            <a:r>
              <a:rPr lang="en-US" altLang="zh-CN" sz="1700" dirty="0">
                <a:sym typeface="Huawei Sans" panose="020C0503030203020204" pitchFamily="34" charset="0"/>
              </a:rPr>
              <a:t>BGP</a:t>
            </a:r>
            <a:r>
              <a:rPr lang="zh-CN" altLang="en-US" sz="1700" dirty="0">
                <a:sym typeface="Huawei Sans" panose="020C0503030203020204" pitchFamily="34" charset="0"/>
              </a:rPr>
              <a:t>路由表呈现为</a:t>
            </a:r>
            <a:r>
              <a:rPr lang="en-US" altLang="zh-CN" sz="1700" dirty="0">
                <a:sym typeface="Huawei Sans" panose="020C0503030203020204" pitchFamily="34" charset="0"/>
              </a:rPr>
              <a:t>[distinguisher][color][endpoint]</a:t>
            </a:r>
            <a:r>
              <a:rPr lang="zh-CN" altLang="en-US" sz="1700" dirty="0">
                <a:sym typeface="Huawei Sans" panose="020C0503030203020204" pitchFamily="34" charset="0"/>
              </a:rPr>
              <a:t>。</a:t>
            </a:r>
            <a:endParaRPr lang="en-US" altLang="zh-CN" sz="1700" dirty="0">
              <a:sym typeface="Huawei Sans" panose="020C0503030203020204" pitchFamily="34" charset="0"/>
            </a:endParaRPr>
          </a:p>
        </p:txBody>
      </p:sp>
      <p:pic>
        <p:nvPicPr>
          <p:cNvPr id="5" name="图片 31"/>
          <p:cNvPicPr>
            <a:picLocks noChangeAspect="1"/>
          </p:cNvPicPr>
          <p:nvPr/>
        </p:nvPicPr>
        <p:blipFill>
          <a:blip r:embed="rId1"/>
          <a:stretch>
            <a:fillRect/>
          </a:stretch>
        </p:blipFill>
        <p:spPr bwMode="gray">
          <a:xfrm>
            <a:off x="2594471" y="3365526"/>
            <a:ext cx="466668" cy="389308"/>
          </a:xfrm>
          <a:prstGeom prst="rect">
            <a:avLst/>
          </a:prstGeom>
        </p:spPr>
      </p:pic>
      <p:pic>
        <p:nvPicPr>
          <p:cNvPr id="6" name="图片 31"/>
          <p:cNvPicPr>
            <a:picLocks noChangeAspect="1"/>
          </p:cNvPicPr>
          <p:nvPr/>
        </p:nvPicPr>
        <p:blipFill>
          <a:blip r:embed="rId1"/>
          <a:stretch>
            <a:fillRect/>
          </a:stretch>
        </p:blipFill>
        <p:spPr bwMode="gray">
          <a:xfrm>
            <a:off x="2594471" y="4376764"/>
            <a:ext cx="466668" cy="389308"/>
          </a:xfrm>
          <a:prstGeom prst="rect">
            <a:avLst/>
          </a:prstGeom>
        </p:spPr>
      </p:pic>
      <p:pic>
        <p:nvPicPr>
          <p:cNvPr id="7" name="图片 31"/>
          <p:cNvPicPr>
            <a:picLocks noChangeAspect="1"/>
          </p:cNvPicPr>
          <p:nvPr/>
        </p:nvPicPr>
        <p:blipFill>
          <a:blip r:embed="rId1"/>
          <a:stretch>
            <a:fillRect/>
          </a:stretch>
        </p:blipFill>
        <p:spPr bwMode="gray">
          <a:xfrm>
            <a:off x="4137521" y="3361743"/>
            <a:ext cx="466668" cy="389308"/>
          </a:xfrm>
          <a:prstGeom prst="rect">
            <a:avLst/>
          </a:prstGeom>
        </p:spPr>
      </p:pic>
      <p:pic>
        <p:nvPicPr>
          <p:cNvPr id="8" name="图片 31"/>
          <p:cNvPicPr>
            <a:picLocks noChangeAspect="1"/>
          </p:cNvPicPr>
          <p:nvPr/>
        </p:nvPicPr>
        <p:blipFill>
          <a:blip r:embed="rId1"/>
          <a:stretch>
            <a:fillRect/>
          </a:stretch>
        </p:blipFill>
        <p:spPr bwMode="gray">
          <a:xfrm>
            <a:off x="4137521" y="4376764"/>
            <a:ext cx="466668" cy="389308"/>
          </a:xfrm>
          <a:prstGeom prst="rect">
            <a:avLst/>
          </a:prstGeom>
        </p:spPr>
      </p:pic>
      <p:pic>
        <p:nvPicPr>
          <p:cNvPr id="10" name="图片 31"/>
          <p:cNvPicPr>
            <a:picLocks noChangeAspect="1"/>
          </p:cNvPicPr>
          <p:nvPr/>
        </p:nvPicPr>
        <p:blipFill>
          <a:blip r:embed="rId1"/>
          <a:stretch>
            <a:fillRect/>
          </a:stretch>
        </p:blipFill>
        <p:spPr bwMode="gray">
          <a:xfrm>
            <a:off x="5680571" y="3365526"/>
            <a:ext cx="466668" cy="389308"/>
          </a:xfrm>
          <a:prstGeom prst="rect">
            <a:avLst/>
          </a:prstGeom>
        </p:spPr>
      </p:pic>
      <p:pic>
        <p:nvPicPr>
          <p:cNvPr id="11" name="图片 31"/>
          <p:cNvPicPr>
            <a:picLocks noChangeAspect="1"/>
          </p:cNvPicPr>
          <p:nvPr/>
        </p:nvPicPr>
        <p:blipFill>
          <a:blip r:embed="rId1"/>
          <a:stretch>
            <a:fillRect/>
          </a:stretch>
        </p:blipFill>
        <p:spPr bwMode="gray">
          <a:xfrm>
            <a:off x="5680571" y="4380547"/>
            <a:ext cx="466668" cy="389308"/>
          </a:xfrm>
          <a:prstGeom prst="rect">
            <a:avLst/>
          </a:prstGeom>
        </p:spPr>
      </p:pic>
      <p:cxnSp>
        <p:nvCxnSpPr>
          <p:cNvPr id="12" name="Straight Connector 11"/>
          <p:cNvCxnSpPr>
            <a:stCxn id="5" idx="3"/>
            <a:endCxn id="7" idx="1"/>
          </p:cNvCxnSpPr>
          <p:nvPr/>
        </p:nvCxnSpPr>
        <p:spPr bwMode="gray">
          <a:xfrm flipV="1">
            <a:off x="3061139" y="3556397"/>
            <a:ext cx="1076382" cy="3783"/>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a:stCxn id="6" idx="3"/>
            <a:endCxn id="8" idx="1"/>
          </p:cNvCxnSpPr>
          <p:nvPr/>
        </p:nvCxnSpPr>
        <p:spPr bwMode="gray">
          <a:xfrm>
            <a:off x="3061139" y="4571418"/>
            <a:ext cx="1076382"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a:stCxn id="5" idx="2"/>
            <a:endCxn id="6" idx="0"/>
          </p:cNvCxnSpPr>
          <p:nvPr/>
        </p:nvCxnSpPr>
        <p:spPr bwMode="gray">
          <a:xfrm>
            <a:off x="2827805" y="3754834"/>
            <a:ext cx="0" cy="62193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a:stCxn id="7" idx="2"/>
            <a:endCxn id="8" idx="0"/>
          </p:cNvCxnSpPr>
          <p:nvPr/>
        </p:nvCxnSpPr>
        <p:spPr bwMode="gray">
          <a:xfrm>
            <a:off x="4370855" y="3751051"/>
            <a:ext cx="0" cy="625713"/>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a:stCxn id="10" idx="2"/>
            <a:endCxn id="11" idx="0"/>
          </p:cNvCxnSpPr>
          <p:nvPr/>
        </p:nvCxnSpPr>
        <p:spPr bwMode="gray">
          <a:xfrm>
            <a:off x="5913905" y="3754834"/>
            <a:ext cx="0" cy="625713"/>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a:stCxn id="11" idx="1"/>
            <a:endCxn id="8" idx="3"/>
          </p:cNvCxnSpPr>
          <p:nvPr/>
        </p:nvCxnSpPr>
        <p:spPr bwMode="gray">
          <a:xfrm flipH="1" flipV="1">
            <a:off x="4604189" y="4571418"/>
            <a:ext cx="1076382" cy="3783"/>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stCxn id="10" idx="1"/>
            <a:endCxn id="7" idx="3"/>
          </p:cNvCxnSpPr>
          <p:nvPr/>
        </p:nvCxnSpPr>
        <p:spPr bwMode="gray">
          <a:xfrm flipH="1" flipV="1">
            <a:off x="4604189" y="3556397"/>
            <a:ext cx="1076382" cy="3783"/>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9" name="TextBox 271"/>
          <p:cNvSpPr txBox="1"/>
          <p:nvPr/>
        </p:nvSpPr>
        <p:spPr bwMode="gray">
          <a:xfrm>
            <a:off x="4200323" y="3144682"/>
            <a:ext cx="373820" cy="276999"/>
          </a:xfrm>
          <a:prstGeom prst="rect">
            <a:avLst/>
          </a:prstGeom>
          <a:noFill/>
        </p:spPr>
        <p:txBody>
          <a:bodyPr wrap="none" rtlCol="0">
            <a:spAutoFit/>
          </a:bodyPr>
          <a:lstStyle/>
          <a:p>
            <a:pPr>
              <a:buFont typeface="Wingdings" panose="05000000000000000000"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RR</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TextBox 271"/>
          <p:cNvSpPr txBox="1"/>
          <p:nvPr/>
        </p:nvSpPr>
        <p:spPr bwMode="gray">
          <a:xfrm>
            <a:off x="2469293" y="3153902"/>
            <a:ext cx="444352" cy="276999"/>
          </a:xfrm>
          <a:prstGeom prst="rect">
            <a:avLst/>
          </a:prstGeom>
          <a:noFill/>
        </p:spPr>
        <p:txBody>
          <a:bodyPr wrap="none" rtlCol="0">
            <a:spAutoFit/>
          </a:bodyPr>
          <a:lstStyle/>
          <a:p>
            <a:pPr>
              <a:buFont typeface="Wingdings" panose="05000000000000000000"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PE1</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TextBox 271"/>
          <p:cNvSpPr txBox="1"/>
          <p:nvPr/>
        </p:nvSpPr>
        <p:spPr bwMode="gray">
          <a:xfrm>
            <a:off x="2616787" y="4724899"/>
            <a:ext cx="444352" cy="276999"/>
          </a:xfrm>
          <a:prstGeom prst="rect">
            <a:avLst/>
          </a:prstGeom>
          <a:noFill/>
        </p:spPr>
        <p:txBody>
          <a:bodyPr wrap="none" rtlCol="0">
            <a:spAutoFit/>
          </a:bodyPr>
          <a:lstStyle/>
          <a:p>
            <a:pPr>
              <a:buFont typeface="Wingdings" panose="05000000000000000000"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PE2</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TextBox 271"/>
          <p:cNvSpPr txBox="1"/>
          <p:nvPr/>
        </p:nvSpPr>
        <p:spPr bwMode="gray">
          <a:xfrm>
            <a:off x="4191158" y="4724899"/>
            <a:ext cx="359394" cy="276999"/>
          </a:xfrm>
          <a:prstGeom prst="rect">
            <a:avLst/>
          </a:prstGeom>
          <a:noFill/>
        </p:spPr>
        <p:txBody>
          <a:bodyPr wrap="none" rtlCol="0">
            <a:spAutoFit/>
          </a:bodyPr>
          <a:lstStyle/>
          <a:p>
            <a:pPr>
              <a:buFont typeface="Wingdings" panose="05000000000000000000"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P1</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TextBox 271"/>
          <p:cNvSpPr txBox="1"/>
          <p:nvPr/>
        </p:nvSpPr>
        <p:spPr bwMode="gray">
          <a:xfrm>
            <a:off x="5691729" y="4724899"/>
            <a:ext cx="444352" cy="276999"/>
          </a:xfrm>
          <a:prstGeom prst="rect">
            <a:avLst/>
          </a:prstGeom>
          <a:noFill/>
        </p:spPr>
        <p:txBody>
          <a:bodyPr wrap="none" rtlCol="0">
            <a:spAutoFit/>
          </a:bodyPr>
          <a:lstStyle/>
          <a:p>
            <a:pPr>
              <a:buFont typeface="Wingdings" panose="05000000000000000000"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PE4</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TextBox 271"/>
          <p:cNvSpPr txBox="1"/>
          <p:nvPr/>
        </p:nvSpPr>
        <p:spPr bwMode="gray">
          <a:xfrm>
            <a:off x="5698321" y="3148836"/>
            <a:ext cx="444352" cy="276999"/>
          </a:xfrm>
          <a:prstGeom prst="rect">
            <a:avLst/>
          </a:prstGeom>
          <a:noFill/>
        </p:spPr>
        <p:txBody>
          <a:bodyPr wrap="none" rtlCol="0">
            <a:spAutoFit/>
          </a:bodyPr>
          <a:lstStyle/>
          <a:p>
            <a:pPr>
              <a:buFont typeface="Wingdings" panose="05000000000000000000"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PE3</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5" name="图片 2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bwMode="gray">
          <a:xfrm>
            <a:off x="3392684" y="2230902"/>
            <a:ext cx="1977229" cy="364654"/>
          </a:xfrm>
          <a:prstGeom prst="rect">
            <a:avLst/>
          </a:prstGeom>
        </p:spPr>
      </p:pic>
      <p:sp>
        <p:nvSpPr>
          <p:cNvPr id="26" name="圆角矩形 75"/>
          <p:cNvSpPr/>
          <p:nvPr/>
        </p:nvSpPr>
        <p:spPr bwMode="gray">
          <a:xfrm>
            <a:off x="3310694" y="2204556"/>
            <a:ext cx="2115918" cy="403280"/>
          </a:xfrm>
          <a:prstGeom prst="roundRect">
            <a:avLst>
              <a:gd name="adj" fmla="val 2420"/>
            </a:avLst>
          </a:prstGeom>
          <a:noFill/>
          <a:ln w="19050" cap="flat" cmpd="sng" algn="ctr">
            <a:solidFill>
              <a:srgbClr val="30B5C5"/>
            </a:solidFill>
            <a:prstDash val="dash"/>
            <a:miter lim="800000"/>
          </a:ln>
          <a:effectLst/>
        </p:spPr>
        <p:txBody>
          <a:bodyPr wrap="square" lIns="108000" tIns="108000" rIns="108000" bIns="108000" rtlCol="0" anchor="ctr" anchorCtr="0">
            <a:noAutofit/>
          </a:bodyPr>
          <a:lstStyle/>
          <a:p>
            <a:pPr marL="0" marR="0" lvl="0" indent="0" algn="just" defTabSz="914400" eaLnBrk="1" fontAlgn="ctr" latinLnBrk="0" hangingPunct="1">
              <a:lnSpc>
                <a:spcPts val="1800"/>
              </a:lnSpc>
              <a:spcBef>
                <a:spcPts val="0"/>
              </a:spcBef>
              <a:spcAft>
                <a:spcPts val="300"/>
              </a:spcAft>
              <a:buClrTx/>
              <a:buSzTx/>
              <a:buFontTx/>
              <a:buNone/>
              <a:defRPr/>
            </a:pPr>
            <a:endParaRPr kumimoji="0" lang="en-US" altLang="zh-CN" sz="1400" b="0" i="0" u="none" strike="noStrike" kern="0" cap="none" spc="0" normalizeH="0" noProof="0" dirty="0">
              <a:ln>
                <a:noFill/>
              </a:ln>
              <a:solidFill>
                <a:prstClr val="black"/>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34" name="Freeform 33"/>
          <p:cNvSpPr/>
          <p:nvPr/>
        </p:nvSpPr>
        <p:spPr bwMode="gray">
          <a:xfrm>
            <a:off x="2496522" y="3639495"/>
            <a:ext cx="3721100" cy="1013939"/>
          </a:xfrm>
          <a:custGeom>
            <a:avLst/>
            <a:gdLst>
              <a:gd name="connsiteX0" fmla="*/ 0 w 3505200"/>
              <a:gd name="connsiteY0" fmla="*/ 0 h 990600"/>
              <a:gd name="connsiteX1" fmla="*/ 3505200 w 3505200"/>
              <a:gd name="connsiteY1" fmla="*/ 0 h 990600"/>
              <a:gd name="connsiteX2" fmla="*/ 3505200 w 3505200"/>
              <a:gd name="connsiteY2" fmla="*/ 990600 h 990600"/>
              <a:gd name="connsiteX0-1" fmla="*/ 0 w 3516474"/>
              <a:gd name="connsiteY0-2" fmla="*/ 0 h 990600"/>
              <a:gd name="connsiteX1-3" fmla="*/ 3505200 w 3516474"/>
              <a:gd name="connsiteY1-4" fmla="*/ 0 h 990600"/>
              <a:gd name="connsiteX2-5" fmla="*/ 3516474 w 3516474"/>
              <a:gd name="connsiteY2-6" fmla="*/ 18119 h 990600"/>
              <a:gd name="connsiteX3" fmla="*/ 3505200 w 3516474"/>
              <a:gd name="connsiteY3" fmla="*/ 990600 h 990600"/>
              <a:gd name="connsiteX0-7" fmla="*/ 0 w 3506949"/>
              <a:gd name="connsiteY0-8" fmla="*/ 0 h 990600"/>
              <a:gd name="connsiteX1-9" fmla="*/ 3505200 w 3506949"/>
              <a:gd name="connsiteY1-10" fmla="*/ 0 h 990600"/>
              <a:gd name="connsiteX2-11" fmla="*/ 3506949 w 3506949"/>
              <a:gd name="connsiteY2-12" fmla="*/ 857584 h 990600"/>
              <a:gd name="connsiteX3-13" fmla="*/ 3505200 w 3506949"/>
              <a:gd name="connsiteY3-14" fmla="*/ 990600 h 990600"/>
              <a:gd name="connsiteX0-15" fmla="*/ 0 w 3721100"/>
              <a:gd name="connsiteY0-16" fmla="*/ 0 h 857584"/>
              <a:gd name="connsiteX1-17" fmla="*/ 3505200 w 3721100"/>
              <a:gd name="connsiteY1-18" fmla="*/ 0 h 857584"/>
              <a:gd name="connsiteX2-19" fmla="*/ 3506949 w 3721100"/>
              <a:gd name="connsiteY2-20" fmla="*/ 857584 h 857584"/>
              <a:gd name="connsiteX3-21" fmla="*/ 3721100 w 3721100"/>
              <a:gd name="connsiteY3-22" fmla="*/ 856519 h 857584"/>
              <a:gd name="connsiteX0-23" fmla="*/ 0 w 3721100"/>
              <a:gd name="connsiteY0-24" fmla="*/ 8744 h 866328"/>
              <a:gd name="connsiteX1-25" fmla="*/ 1766888 w 3721100"/>
              <a:gd name="connsiteY1-26" fmla="*/ 0 h 866328"/>
              <a:gd name="connsiteX2-27" fmla="*/ 3506949 w 3721100"/>
              <a:gd name="connsiteY2-28" fmla="*/ 866328 h 866328"/>
              <a:gd name="connsiteX3-29" fmla="*/ 3721100 w 3721100"/>
              <a:gd name="connsiteY3-30" fmla="*/ 865263 h 866328"/>
              <a:gd name="connsiteX0-31" fmla="*/ 0 w 3721100"/>
              <a:gd name="connsiteY0-32" fmla="*/ 8744 h 865263"/>
              <a:gd name="connsiteX1-33" fmla="*/ 1766888 w 3721100"/>
              <a:gd name="connsiteY1-34" fmla="*/ 0 h 865263"/>
              <a:gd name="connsiteX2-35" fmla="*/ 1763874 w 3721100"/>
              <a:gd name="connsiteY2-36" fmla="*/ 857584 h 865263"/>
              <a:gd name="connsiteX3-37" fmla="*/ 3721100 w 3721100"/>
              <a:gd name="connsiteY3-38" fmla="*/ 865263 h 865263"/>
              <a:gd name="connsiteX0-39" fmla="*/ 0 w 3721100"/>
              <a:gd name="connsiteY0-40" fmla="*/ 8744 h 914423"/>
              <a:gd name="connsiteX1-41" fmla="*/ 1766888 w 3721100"/>
              <a:gd name="connsiteY1-42" fmla="*/ 0 h 914423"/>
              <a:gd name="connsiteX2-43" fmla="*/ 1763874 w 3721100"/>
              <a:gd name="connsiteY2-44" fmla="*/ 914423 h 914423"/>
              <a:gd name="connsiteX3-45" fmla="*/ 3721100 w 3721100"/>
              <a:gd name="connsiteY3-46" fmla="*/ 865263 h 914423"/>
              <a:gd name="connsiteX0-47" fmla="*/ 0 w 3721100"/>
              <a:gd name="connsiteY0-48" fmla="*/ 8744 h 930847"/>
              <a:gd name="connsiteX1-49" fmla="*/ 1766888 w 3721100"/>
              <a:gd name="connsiteY1-50" fmla="*/ 0 h 930847"/>
              <a:gd name="connsiteX2-51" fmla="*/ 1763874 w 3721100"/>
              <a:gd name="connsiteY2-52" fmla="*/ 914423 h 930847"/>
              <a:gd name="connsiteX3-53" fmla="*/ 3721100 w 3721100"/>
              <a:gd name="connsiteY3-54" fmla="*/ 930847 h 930847"/>
              <a:gd name="connsiteX0-55" fmla="*/ 0 w 3721100"/>
              <a:gd name="connsiteY0-56" fmla="*/ 8744 h 930847"/>
              <a:gd name="connsiteX1-57" fmla="*/ 1766888 w 3721100"/>
              <a:gd name="connsiteY1-58" fmla="*/ 0 h 930847"/>
              <a:gd name="connsiteX2-59" fmla="*/ 1763874 w 3721100"/>
              <a:gd name="connsiteY2-60" fmla="*/ 914423 h 930847"/>
              <a:gd name="connsiteX3-61" fmla="*/ 3721100 w 3721100"/>
              <a:gd name="connsiteY3-62" fmla="*/ 930847 h 930847"/>
              <a:gd name="connsiteX0-63" fmla="*/ 0 w 3721100"/>
              <a:gd name="connsiteY0-64" fmla="*/ 8744 h 930847"/>
              <a:gd name="connsiteX1-65" fmla="*/ 1766888 w 3721100"/>
              <a:gd name="connsiteY1-66" fmla="*/ 0 h 930847"/>
              <a:gd name="connsiteX2-67" fmla="*/ 1763874 w 3721100"/>
              <a:gd name="connsiteY2-68" fmla="*/ 923168 h 930847"/>
              <a:gd name="connsiteX3-69" fmla="*/ 3721100 w 3721100"/>
              <a:gd name="connsiteY3-70" fmla="*/ 930847 h 930847"/>
            </a:gdLst>
            <a:ahLst/>
            <a:cxnLst>
              <a:cxn ang="0">
                <a:pos x="connsiteX0-1" y="connsiteY0-2"/>
              </a:cxn>
              <a:cxn ang="0">
                <a:pos x="connsiteX1-3" y="connsiteY1-4"/>
              </a:cxn>
              <a:cxn ang="0">
                <a:pos x="connsiteX2-5" y="connsiteY2-6"/>
              </a:cxn>
              <a:cxn ang="0">
                <a:pos x="connsiteX3-13" y="connsiteY3-14"/>
              </a:cxn>
            </a:cxnLst>
            <a:rect l="l" t="t" r="r" b="b"/>
            <a:pathLst>
              <a:path w="3721100" h="930847">
                <a:moveTo>
                  <a:pt x="0" y="8744"/>
                </a:moveTo>
                <a:lnTo>
                  <a:pt x="1766888" y="0"/>
                </a:lnTo>
                <a:cubicBezTo>
                  <a:pt x="1765883" y="285861"/>
                  <a:pt x="1764879" y="637307"/>
                  <a:pt x="1763874" y="923168"/>
                </a:cubicBezTo>
                <a:lnTo>
                  <a:pt x="3721100" y="930847"/>
                </a:lnTo>
              </a:path>
            </a:pathLst>
          </a:custGeom>
          <a:noFill/>
          <a:ln w="101600">
            <a:solidFill>
              <a:srgbClr val="E28189"/>
            </a:solidFill>
            <a:tailEnd type="triangle"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TextBox 271"/>
          <p:cNvSpPr txBox="1"/>
          <p:nvPr/>
        </p:nvSpPr>
        <p:spPr bwMode="gray">
          <a:xfrm>
            <a:off x="3211242" y="3676351"/>
            <a:ext cx="776175" cy="276999"/>
          </a:xfrm>
          <a:prstGeom prst="rect">
            <a:avLst/>
          </a:prstGeom>
          <a:noFill/>
        </p:spPr>
        <p:txBody>
          <a:bodyPr wrap="none" rtlCol="0">
            <a:spAutoFit/>
          </a:bodyPr>
          <a:lstStyle/>
          <a:p>
            <a:pPr>
              <a:buFont typeface="Wingdings" panose="05000000000000000000"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Color 16</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TextBox 271"/>
          <p:cNvSpPr txBox="1"/>
          <p:nvPr/>
        </p:nvSpPr>
        <p:spPr bwMode="gray">
          <a:xfrm>
            <a:off x="5487345" y="4925640"/>
            <a:ext cx="853119" cy="461665"/>
          </a:xfrm>
          <a:prstGeom prst="rect">
            <a:avLst/>
          </a:prstGeom>
          <a:noFill/>
        </p:spPr>
        <p:txBody>
          <a:bodyPr wrap="none" rtlCol="0">
            <a:spAutoFit/>
          </a:bodyPr>
          <a:lstStyle/>
          <a:p>
            <a:pPr algn="ctr">
              <a:buFont typeface="Wingdings" panose="05000000000000000000"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Loopback</a:t>
            </a:r>
            <a:endPar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buFont typeface="Wingdings" panose="05000000000000000000"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FC01::4</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文本框 5"/>
          <p:cNvSpPr txBox="1"/>
          <p:nvPr/>
        </p:nvSpPr>
        <p:spPr bwMode="gray">
          <a:xfrm>
            <a:off x="6651815" y="2038829"/>
            <a:ext cx="4771381" cy="3600986"/>
          </a:xfrm>
          <a:prstGeom prst="rect">
            <a:avLst/>
          </a:prstGeom>
          <a:solidFill>
            <a:schemeClr val="bg1">
              <a:lumMod val="85000"/>
            </a:schemeClr>
          </a:solidFill>
        </p:spPr>
        <p:txBody>
          <a:bodyPr wrap="square">
            <a:spAutoFit/>
          </a:bodyPr>
          <a:lstStyle>
            <a:defPPr>
              <a:defRPr lang="en-US"/>
            </a:defPPr>
            <a:lvl1pPr>
              <a:defRPr sz="1400"/>
            </a:lvl1p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[~PE1]display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bgp</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sr</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-policy ipv6 routing-table [49][16][FC01::4]</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BGP local router ID : 1.0.0.1</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Local AS number : 65001</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Paths:   2 available, 1 best, 1 select, 0 best-external, 0 add-path</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BGP routing table entry information of [49]</a:t>
            </a:r>
            <a:r>
              <a:rPr lang="en-US" altLang="zh-CN"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[16][FC01::4]</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Tunnel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Encaps</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Attribute (23):</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Tunnel Type: SR Policy (15)</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Preference: 10</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Binding SID: FC00:1::1:1</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s-flag(0),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i</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-flag(0)</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Segment List</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Weight: 1</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Path MTU: 9600</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    Segment: type:2, SID: FC00:5::1</a:t>
            </a:r>
            <a:endParaRPr lang="en-US" altLang="zh-CN"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    Segment: type:2, SID: FC00:6::1</a:t>
            </a:r>
            <a:endParaRPr lang="en-US" altLang="zh-CN"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    Segment: type:2, SID: FC00:6::1:60</a:t>
            </a:r>
            <a:endParaRPr lang="en-US" altLang="zh-CN"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Template ID: 4294967278</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Not advertised to any peer yet</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TextBox 271"/>
          <p:cNvSpPr txBox="1"/>
          <p:nvPr/>
        </p:nvSpPr>
        <p:spPr bwMode="gray">
          <a:xfrm rot="20020946">
            <a:off x="2686522" y="2815127"/>
            <a:ext cx="1503938" cy="276999"/>
          </a:xfrm>
          <a:prstGeom prst="rect">
            <a:avLst/>
          </a:prstGeom>
          <a:noFill/>
        </p:spPr>
        <p:txBody>
          <a:bodyPr wrap="none" rtlCol="0">
            <a:spAutoFit/>
          </a:bodyPr>
          <a:lstStyle/>
          <a:p>
            <a:pPr>
              <a:buFont typeface="Wingdings" panose="05000000000000000000"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BGP IPv6 SR-Policy</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42" name="直接箭头连接符 84"/>
          <p:cNvCxnSpPr>
            <a:stCxn id="26" idx="2"/>
            <a:endCxn id="5" idx="0"/>
          </p:cNvCxnSpPr>
          <p:nvPr/>
        </p:nvCxnSpPr>
        <p:spPr bwMode="gray">
          <a:xfrm flipH="1">
            <a:off x="2827805" y="2607836"/>
            <a:ext cx="1540848" cy="757690"/>
          </a:xfrm>
          <a:prstGeom prst="straightConnector1">
            <a:avLst/>
          </a:prstGeom>
          <a:ln w="19050" cap="flat" cmpd="sng" algn="ctr">
            <a:solidFill>
              <a:srgbClr val="FFC000"/>
            </a:solidFill>
            <a:prstDash val="sysDot"/>
            <a:round/>
            <a:headEnd type="none" w="med" len="med"/>
            <a:tailEnd type="triangl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sp>
        <p:nvSpPr>
          <p:cNvPr id="44" name="TextBox 271"/>
          <p:cNvSpPr txBox="1"/>
          <p:nvPr/>
        </p:nvSpPr>
        <p:spPr bwMode="gray">
          <a:xfrm>
            <a:off x="2017896" y="3348721"/>
            <a:ext cx="646331" cy="276999"/>
          </a:xfrm>
          <a:prstGeom prst="rect">
            <a:avLst/>
          </a:prstGeom>
          <a:noFill/>
        </p:spPr>
        <p:txBody>
          <a:bodyPr wrap="none" rtlCol="0">
            <a:spAutoFit/>
          </a:bodyPr>
          <a:lstStyle/>
          <a:p>
            <a:pPr>
              <a:buFont typeface="Wingdings" panose="05000000000000000000" pitchFamily="2" charset="2"/>
              <a:buNone/>
              <a:defRPr/>
            </a:pPr>
            <a:r>
              <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源节点</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TextBox 44"/>
          <p:cNvSpPr txBox="1"/>
          <p:nvPr/>
        </p:nvSpPr>
        <p:spPr bwMode="gray">
          <a:xfrm>
            <a:off x="3979699" y="2790594"/>
            <a:ext cx="813044" cy="461665"/>
          </a:xfrm>
          <a:prstGeom prst="rect">
            <a:avLst/>
          </a:prstGeom>
          <a:noFill/>
        </p:spPr>
        <p:txBody>
          <a:bodyPr wrap="non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END SID</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FC00:5::1</a:t>
            </a:r>
            <a:endParaRPr lang="zh-CN" altLang="en-US" sz="1200" dirty="0"/>
          </a:p>
        </p:txBody>
      </p:sp>
      <p:sp>
        <p:nvSpPr>
          <p:cNvPr id="46" name="TextBox 45"/>
          <p:cNvSpPr txBox="1"/>
          <p:nvPr/>
        </p:nvSpPr>
        <p:spPr bwMode="gray">
          <a:xfrm>
            <a:off x="3962131" y="4866879"/>
            <a:ext cx="813044" cy="461665"/>
          </a:xfrm>
          <a:prstGeom prst="rect">
            <a:avLst/>
          </a:prstGeom>
          <a:noFill/>
        </p:spPr>
        <p:txBody>
          <a:bodyPr wrap="non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END SID</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FC00:6::1</a:t>
            </a:r>
            <a:endParaRPr lang="zh-CN" altLang="en-US" sz="1200" dirty="0"/>
          </a:p>
        </p:txBody>
      </p:sp>
      <p:sp>
        <p:nvSpPr>
          <p:cNvPr id="47" name="TextBox 46"/>
          <p:cNvSpPr txBox="1"/>
          <p:nvPr/>
        </p:nvSpPr>
        <p:spPr bwMode="gray">
          <a:xfrm>
            <a:off x="4631663" y="4145931"/>
            <a:ext cx="1021433" cy="461665"/>
          </a:xfrm>
          <a:prstGeom prst="rect">
            <a:avLst/>
          </a:prstGeom>
          <a:noFill/>
        </p:spPr>
        <p:txBody>
          <a:bodyPr wrap="non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END.X SID</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FC00:6::1:60</a:t>
            </a:r>
            <a:endParaRPr lang="zh-CN" altLang="en-US" sz="1200" dirty="0"/>
          </a:p>
        </p:txBody>
      </p:sp>
      <p:graphicFrame>
        <p:nvGraphicFramePr>
          <p:cNvPr id="48" name="Table 47"/>
          <p:cNvGraphicFramePr>
            <a:graphicFrameLocks noGrp="1"/>
          </p:cNvGraphicFramePr>
          <p:nvPr/>
        </p:nvGraphicFramePr>
        <p:xfrm>
          <a:off x="876719" y="3605124"/>
          <a:ext cx="1479259" cy="1554480"/>
        </p:xfrm>
        <a:graphic>
          <a:graphicData uri="http://schemas.openxmlformats.org/drawingml/2006/table">
            <a:tbl>
              <a:tblPr firstRow="1" bandRow="1">
                <a:tableStyleId>{72833802-FEF1-4C79-8D5D-14CF1EAF98D9}</a:tableStyleId>
              </a:tblPr>
              <a:tblGrid>
                <a:gridCol w="1479259"/>
              </a:tblGrid>
              <a:tr h="370840">
                <a:tc>
                  <a:txBody>
                    <a:bodyPr/>
                    <a:lstStyle/>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DIPv6</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FC00:5::1</a:t>
                      </a:r>
                      <a:endPar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SIPv6</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FC00:1::1</a:t>
                      </a:r>
                      <a:endPar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6C4D2"/>
                    </a:solidFill>
                  </a:tcPr>
                </a:tc>
              </a:tr>
              <a:tr h="197517">
                <a:tc>
                  <a:txBody>
                    <a:bodyPr/>
                    <a:lstStyle/>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SRH</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SL=</a:t>
                      </a: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2</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FC00:6::1:60</a:t>
                      </a:r>
                      <a:endPar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FC00:6::1</a:t>
                      </a:r>
                      <a:endPar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FC00:5::1</a:t>
                      </a:r>
                      <a:endParaRPr lang="zh-CN" altLang="en-US"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EEEC1"/>
                    </a:solidFill>
                  </a:tcPr>
                </a:tc>
              </a:tr>
              <a:tr h="0">
                <a:tc>
                  <a:txBody>
                    <a:bodyPr/>
                    <a:lstStyle/>
                    <a:p>
                      <a:pPr algn="ctr"/>
                      <a:r>
                        <a:rPr lang="en-US" altLang="zh-CN" sz="1200" dirty="0">
                          <a:solidFill>
                            <a:schemeClr val="bg1"/>
                          </a:solidFill>
                        </a:rPr>
                        <a:t>Payload</a:t>
                      </a:r>
                      <a:endParaRPr lang="zh-CN" altLang="en-US" sz="1200"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r>
            </a:tbl>
          </a:graphicData>
        </a:graphic>
      </p:graphicFrame>
      <p:cxnSp>
        <p:nvCxnSpPr>
          <p:cNvPr id="49" name="Straight Connector 48"/>
          <p:cNvCxnSpPr>
            <a:endCxn id="50" idx="1"/>
          </p:cNvCxnSpPr>
          <p:nvPr/>
        </p:nvCxnSpPr>
        <p:spPr bwMode="gray">
          <a:xfrm>
            <a:off x="4211273" y="5642436"/>
            <a:ext cx="480202" cy="0"/>
          </a:xfrm>
          <a:prstGeom prst="line">
            <a:avLst/>
          </a:prstGeom>
          <a:ln w="38100">
            <a:solidFill>
              <a:srgbClr val="E28189"/>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0" name="文本框 41"/>
          <p:cNvSpPr txBox="1"/>
          <p:nvPr/>
        </p:nvSpPr>
        <p:spPr bwMode="gray">
          <a:xfrm>
            <a:off x="4691475" y="5503936"/>
            <a:ext cx="973343" cy="276999"/>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SRv6 Policy</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52" name="直接箭头连接符 84"/>
          <p:cNvCxnSpPr>
            <a:stCxn id="54" idx="1"/>
          </p:cNvCxnSpPr>
          <p:nvPr/>
        </p:nvCxnSpPr>
        <p:spPr bwMode="gray">
          <a:xfrm flipH="1">
            <a:off x="4211273" y="5903356"/>
            <a:ext cx="480202" cy="0"/>
          </a:xfrm>
          <a:prstGeom prst="straightConnector1">
            <a:avLst/>
          </a:prstGeom>
          <a:ln w="19050" cap="flat" cmpd="sng" algn="ctr">
            <a:solidFill>
              <a:srgbClr val="FFC000"/>
            </a:solidFill>
            <a:prstDash val="sysDot"/>
            <a:round/>
            <a:headEnd type="triangle" w="med" len="med"/>
            <a:tailEnd type="non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sp>
        <p:nvSpPr>
          <p:cNvPr id="54" name="文本框 41"/>
          <p:cNvSpPr txBox="1"/>
          <p:nvPr/>
        </p:nvSpPr>
        <p:spPr bwMode="gray">
          <a:xfrm>
            <a:off x="4691475" y="5764856"/>
            <a:ext cx="1470274" cy="276999"/>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BGP SR-Policy</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邻居</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3" name="五边形 2"/>
          <p:cNvSpPr/>
          <p:nvPr/>
        </p:nvSpPr>
        <p:spPr bwMode="gray">
          <a:xfrm>
            <a:off x="8562976" y="110463"/>
            <a:ext cx="1531726"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SRv6 Policy</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路径建立</a:t>
            </a:r>
            <a:endPar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5" name="燕尾形 3"/>
          <p:cNvSpPr/>
          <p:nvPr/>
        </p:nvSpPr>
        <p:spPr bwMode="gray">
          <a:xfrm>
            <a:off x="10018141" y="110463"/>
            <a:ext cx="1730947"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SRv6 Policy</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引流</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gray"/>
        <p:txBody>
          <a:bodyPr/>
          <a:lstStyle/>
          <a:p>
            <a:r>
              <a:rPr lang="en-US" altLang="zh-CN" dirty="0"/>
              <a:t>SRv6 Policy</a:t>
            </a:r>
            <a:r>
              <a:rPr lang="zh-CN" altLang="en-US" dirty="0"/>
              <a:t>跨域路径建立</a:t>
            </a:r>
            <a:endParaRPr lang="zh-CN" altLang="en-US" dirty="0"/>
          </a:p>
        </p:txBody>
      </p:sp>
      <p:sp>
        <p:nvSpPr>
          <p:cNvPr id="3" name="Text Placeholder 2"/>
          <p:cNvSpPr>
            <a:spLocks noGrp="1"/>
          </p:cNvSpPr>
          <p:nvPr>
            <p:ph type="body" sz="quarter" idx="10"/>
          </p:nvPr>
        </p:nvSpPr>
        <p:spPr bwMode="gray"/>
        <p:txBody>
          <a:bodyPr/>
          <a:lstStyle/>
          <a:p>
            <a:r>
              <a:rPr lang="en-US" altLang="zh-CN" sz="1800" dirty="0"/>
              <a:t>SRv6</a:t>
            </a:r>
            <a:r>
              <a:rPr lang="zh-CN" altLang="en-US" sz="1800" dirty="0"/>
              <a:t>设备需要获取全网的</a:t>
            </a:r>
            <a:r>
              <a:rPr lang="en-US" altLang="zh-CN" sz="1800" dirty="0"/>
              <a:t>SID</a:t>
            </a:r>
            <a:r>
              <a:rPr lang="zh-CN" altLang="en-US" sz="1800" dirty="0"/>
              <a:t>信息才能实现端到端的数据转发。</a:t>
            </a:r>
            <a:endParaRPr lang="en-US" altLang="zh-CN" sz="1800" dirty="0"/>
          </a:p>
          <a:p>
            <a:r>
              <a:rPr lang="zh-CN" altLang="en-US" sz="1800" dirty="0"/>
              <a:t>在一个</a:t>
            </a:r>
            <a:r>
              <a:rPr lang="en-US" altLang="zh-CN" sz="1800" dirty="0"/>
              <a:t>AS</a:t>
            </a:r>
            <a:r>
              <a:rPr lang="zh-CN" altLang="en-US" sz="1800" dirty="0"/>
              <a:t>内，设备可以通过扩展的</a:t>
            </a:r>
            <a:r>
              <a:rPr lang="en-US" altLang="zh-CN" sz="1800" dirty="0"/>
              <a:t>IGP</a:t>
            </a:r>
            <a:r>
              <a:rPr lang="zh-CN" altLang="en-US" sz="1800" dirty="0"/>
              <a:t>协议（扩展</a:t>
            </a:r>
            <a:r>
              <a:rPr lang="en-US" altLang="zh-CN" sz="1800" dirty="0"/>
              <a:t>OSPFv3</a:t>
            </a:r>
            <a:r>
              <a:rPr lang="zh-CN" altLang="en-US" sz="1800" dirty="0"/>
              <a:t>或扩展</a:t>
            </a:r>
            <a:r>
              <a:rPr lang="en-US" altLang="zh-CN" sz="1800" dirty="0"/>
              <a:t>IS-IS</a:t>
            </a:r>
            <a:r>
              <a:rPr lang="zh-CN" altLang="en-US" sz="1800" dirty="0"/>
              <a:t>）获取</a:t>
            </a:r>
            <a:r>
              <a:rPr lang="en-US" altLang="zh-CN" sz="1800" dirty="0"/>
              <a:t>AS</a:t>
            </a:r>
            <a:r>
              <a:rPr lang="zh-CN" altLang="en-US" sz="1800" dirty="0"/>
              <a:t>内的</a:t>
            </a:r>
            <a:r>
              <a:rPr lang="en-US" altLang="zh-CN" sz="1800" dirty="0"/>
              <a:t>SID</a:t>
            </a:r>
            <a:r>
              <a:rPr lang="zh-CN" altLang="en-US" sz="1800" dirty="0"/>
              <a:t>信息，而在跨域场景中需要借助</a:t>
            </a:r>
            <a:r>
              <a:rPr lang="en-US" altLang="zh-CN" sz="1800" dirty="0"/>
              <a:t>BGP</a:t>
            </a:r>
            <a:r>
              <a:rPr lang="zh-CN" altLang="en-US" sz="1800" dirty="0"/>
              <a:t>帮助传递</a:t>
            </a:r>
            <a:r>
              <a:rPr lang="en-US" altLang="zh-CN" sz="1800" dirty="0"/>
              <a:t>SID</a:t>
            </a:r>
            <a:r>
              <a:rPr lang="zh-CN" altLang="en-US" sz="1800" dirty="0"/>
              <a:t>信息，这种通过</a:t>
            </a:r>
            <a:r>
              <a:rPr lang="en-US" altLang="zh-CN" sz="1800" dirty="0"/>
              <a:t>BGP</a:t>
            </a:r>
            <a:r>
              <a:rPr lang="zh-CN" altLang="en-US" sz="1800" dirty="0"/>
              <a:t>传递</a:t>
            </a:r>
            <a:r>
              <a:rPr lang="en-US" altLang="zh-CN" sz="1800" dirty="0"/>
              <a:t>SID</a:t>
            </a:r>
            <a:r>
              <a:rPr lang="zh-CN" altLang="en-US" sz="1800" dirty="0"/>
              <a:t>的技术叫做</a:t>
            </a:r>
            <a:r>
              <a:rPr lang="en-US" altLang="zh-CN" sz="1800" dirty="0"/>
              <a:t>BGP EPE</a:t>
            </a:r>
            <a:r>
              <a:rPr lang="zh-CN" altLang="en-US" sz="1800" dirty="0"/>
              <a:t>（</a:t>
            </a:r>
            <a:r>
              <a:rPr lang="en-US" altLang="zh-CN" sz="1800" dirty="0"/>
              <a:t>Egress Peer Engineering</a:t>
            </a:r>
            <a:r>
              <a:rPr lang="zh-CN" altLang="en-US" sz="1800" dirty="0"/>
              <a:t>）。</a:t>
            </a:r>
            <a:endParaRPr lang="zh-CN" altLang="en-US" sz="1800" dirty="0"/>
          </a:p>
        </p:txBody>
      </p:sp>
      <p:pic>
        <p:nvPicPr>
          <p:cNvPr id="4" name="图片 17"/>
          <p:cNvPicPr/>
          <p:nvPr/>
        </p:nvPicPr>
        <p:blipFill>
          <a:blip r:embed="rId1" cstate="print">
            <a:extLst>
              <a:ext uri="{28A0092B-C50C-407E-A947-70E740481C1C}">
                <a14:useLocalDpi xmlns:a14="http://schemas.microsoft.com/office/drawing/2010/main" val="0"/>
              </a:ext>
            </a:extLst>
          </a:blip>
          <a:stretch>
            <a:fillRect/>
          </a:stretch>
        </p:blipFill>
        <p:spPr bwMode="gray">
          <a:xfrm>
            <a:off x="1778028" y="3533896"/>
            <a:ext cx="540000" cy="442800"/>
          </a:xfrm>
          <a:prstGeom prst="rect">
            <a:avLst/>
          </a:prstGeom>
        </p:spPr>
      </p:pic>
      <p:pic>
        <p:nvPicPr>
          <p:cNvPr id="5" name="图片 17"/>
          <p:cNvPicPr/>
          <p:nvPr/>
        </p:nvPicPr>
        <p:blipFill>
          <a:blip r:embed="rId1" cstate="print">
            <a:extLst>
              <a:ext uri="{28A0092B-C50C-407E-A947-70E740481C1C}">
                <a14:useLocalDpi xmlns:a14="http://schemas.microsoft.com/office/drawing/2010/main" val="0"/>
              </a:ext>
            </a:extLst>
          </a:blip>
          <a:stretch>
            <a:fillRect/>
          </a:stretch>
        </p:blipFill>
        <p:spPr bwMode="gray">
          <a:xfrm>
            <a:off x="4358668" y="3533896"/>
            <a:ext cx="540000" cy="442800"/>
          </a:xfrm>
          <a:prstGeom prst="rect">
            <a:avLst/>
          </a:prstGeom>
        </p:spPr>
      </p:pic>
      <p:pic>
        <p:nvPicPr>
          <p:cNvPr id="6" name="图片 17"/>
          <p:cNvPicPr/>
          <p:nvPr/>
        </p:nvPicPr>
        <p:blipFill>
          <a:blip r:embed="rId1" cstate="print">
            <a:extLst>
              <a:ext uri="{28A0092B-C50C-407E-A947-70E740481C1C}">
                <a14:useLocalDpi xmlns:a14="http://schemas.microsoft.com/office/drawing/2010/main" val="0"/>
              </a:ext>
            </a:extLst>
          </a:blip>
          <a:stretch>
            <a:fillRect/>
          </a:stretch>
        </p:blipFill>
        <p:spPr bwMode="gray">
          <a:xfrm>
            <a:off x="7335548" y="3533896"/>
            <a:ext cx="540000" cy="442800"/>
          </a:xfrm>
          <a:prstGeom prst="rect">
            <a:avLst/>
          </a:prstGeom>
        </p:spPr>
      </p:pic>
      <p:pic>
        <p:nvPicPr>
          <p:cNvPr id="7" name="图片 17"/>
          <p:cNvPicPr/>
          <p:nvPr/>
        </p:nvPicPr>
        <p:blipFill>
          <a:blip r:embed="rId1" cstate="print">
            <a:extLst>
              <a:ext uri="{28A0092B-C50C-407E-A947-70E740481C1C}">
                <a14:useLocalDpi xmlns:a14="http://schemas.microsoft.com/office/drawing/2010/main" val="0"/>
              </a:ext>
            </a:extLst>
          </a:blip>
          <a:stretch>
            <a:fillRect/>
          </a:stretch>
        </p:blipFill>
        <p:spPr bwMode="gray">
          <a:xfrm>
            <a:off x="9916188" y="3533896"/>
            <a:ext cx="540000" cy="442800"/>
          </a:xfrm>
          <a:prstGeom prst="rect">
            <a:avLst/>
          </a:prstGeom>
        </p:spPr>
      </p:pic>
      <p:cxnSp>
        <p:nvCxnSpPr>
          <p:cNvPr id="8" name="直接连接符 18"/>
          <p:cNvCxnSpPr>
            <a:stCxn id="5" idx="1"/>
            <a:endCxn id="4" idx="3"/>
          </p:cNvCxnSpPr>
          <p:nvPr/>
        </p:nvCxnSpPr>
        <p:spPr bwMode="gray">
          <a:xfrm flipH="1">
            <a:off x="2318028" y="3755296"/>
            <a:ext cx="2040640"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 name="直接连接符 18"/>
          <p:cNvCxnSpPr/>
          <p:nvPr/>
        </p:nvCxnSpPr>
        <p:spPr bwMode="gray">
          <a:xfrm flipH="1">
            <a:off x="4898668" y="3832639"/>
            <a:ext cx="2436880"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8"/>
          <p:cNvCxnSpPr>
            <a:stCxn id="7" idx="1"/>
            <a:endCxn id="6" idx="3"/>
          </p:cNvCxnSpPr>
          <p:nvPr/>
        </p:nvCxnSpPr>
        <p:spPr bwMode="gray">
          <a:xfrm flipH="1">
            <a:off x="7875548" y="3755296"/>
            <a:ext cx="2040640"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8" name="Freeform 17"/>
          <p:cNvSpPr/>
          <p:nvPr/>
        </p:nvSpPr>
        <p:spPr bwMode="gray">
          <a:xfrm>
            <a:off x="4622867" y="2855805"/>
            <a:ext cx="2970057" cy="630887"/>
          </a:xfrm>
          <a:custGeom>
            <a:avLst/>
            <a:gdLst>
              <a:gd name="connsiteX0" fmla="*/ 1312433 w 1312433"/>
              <a:gd name="connsiteY0" fmla="*/ 505770 h 505770"/>
              <a:gd name="connsiteX1" fmla="*/ 699247 w 1312433"/>
              <a:gd name="connsiteY1" fmla="*/ 160 h 505770"/>
              <a:gd name="connsiteX2" fmla="*/ 0 w 1312433"/>
              <a:gd name="connsiteY2" fmla="*/ 462739 h 505770"/>
            </a:gdLst>
            <a:ahLst/>
            <a:cxnLst>
              <a:cxn ang="0">
                <a:pos x="connsiteX0" y="connsiteY0"/>
              </a:cxn>
              <a:cxn ang="0">
                <a:pos x="connsiteX1" y="connsiteY1"/>
              </a:cxn>
              <a:cxn ang="0">
                <a:pos x="connsiteX2" y="connsiteY2"/>
              </a:cxn>
            </a:cxnLst>
            <a:rect l="l" t="t" r="r" b="b"/>
            <a:pathLst>
              <a:path w="1312433" h="505770">
                <a:moveTo>
                  <a:pt x="1312433" y="505770"/>
                </a:moveTo>
                <a:cubicBezTo>
                  <a:pt x="1115209" y="256551"/>
                  <a:pt x="917986" y="7332"/>
                  <a:pt x="699247" y="160"/>
                </a:cubicBezTo>
                <a:cubicBezTo>
                  <a:pt x="480508" y="-7012"/>
                  <a:pt x="240254" y="227863"/>
                  <a:pt x="0" y="462739"/>
                </a:cubicBezTo>
              </a:path>
            </a:pathLst>
          </a:custGeom>
          <a:noFill/>
          <a:ln w="19050">
            <a:prstDash val="dash"/>
            <a:headEnd type="triangl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Rounded Rectangle 18"/>
          <p:cNvSpPr/>
          <p:nvPr/>
        </p:nvSpPr>
        <p:spPr bwMode="gray">
          <a:xfrm>
            <a:off x="714096" y="2970105"/>
            <a:ext cx="4401312" cy="1318958"/>
          </a:xfrm>
          <a:prstGeom prst="roundRect">
            <a:avLst>
              <a:gd name="adj" fmla="val 6499"/>
            </a:avLst>
          </a:prstGeom>
          <a:noFill/>
          <a:ln w="19050">
            <a:solidFill>
              <a:srgbClr val="56C4D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Rounded Rectangle 19"/>
          <p:cNvSpPr/>
          <p:nvPr/>
        </p:nvSpPr>
        <p:spPr bwMode="gray">
          <a:xfrm>
            <a:off x="7115580" y="2970105"/>
            <a:ext cx="4401312" cy="1318958"/>
          </a:xfrm>
          <a:prstGeom prst="roundRect">
            <a:avLst>
              <a:gd name="adj" fmla="val 6499"/>
            </a:avLst>
          </a:prstGeom>
          <a:noFill/>
          <a:ln w="19050">
            <a:solidFill>
              <a:srgbClr val="56C4D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7"/>
          <p:cNvSpPr txBox="1"/>
          <p:nvPr/>
        </p:nvSpPr>
        <p:spPr bwMode="gray">
          <a:xfrm>
            <a:off x="714096" y="2973943"/>
            <a:ext cx="1069524" cy="338554"/>
          </a:xfrm>
          <a:prstGeom prst="rect">
            <a:avLst/>
          </a:prstGeom>
          <a:noFill/>
        </p:spPr>
        <p:txBody>
          <a:bodyPr wrap="none" rtlCol="0">
            <a:spAutoFit/>
          </a:bodyPr>
          <a:lstStyle/>
          <a:p>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AS 65001</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文本框 27"/>
          <p:cNvSpPr txBox="1"/>
          <p:nvPr/>
        </p:nvSpPr>
        <p:spPr bwMode="gray">
          <a:xfrm>
            <a:off x="10456188" y="2973943"/>
            <a:ext cx="1069524" cy="338554"/>
          </a:xfrm>
          <a:prstGeom prst="rect">
            <a:avLst/>
          </a:prstGeom>
          <a:noFill/>
        </p:spPr>
        <p:txBody>
          <a:bodyPr wrap="none" rtlCol="0">
            <a:spAutoFit/>
          </a:bodyPr>
          <a:lstStyle/>
          <a:p>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AS 65002</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3" name="直接连接符 18"/>
          <p:cNvCxnSpPr/>
          <p:nvPr/>
        </p:nvCxnSpPr>
        <p:spPr bwMode="gray">
          <a:xfrm flipH="1">
            <a:off x="4898668" y="3659665"/>
            <a:ext cx="2436880"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4" name="Freeform 23"/>
          <p:cNvSpPr/>
          <p:nvPr/>
        </p:nvSpPr>
        <p:spPr bwMode="gray">
          <a:xfrm>
            <a:off x="7875548" y="3127303"/>
            <a:ext cx="2040640" cy="404281"/>
          </a:xfrm>
          <a:custGeom>
            <a:avLst/>
            <a:gdLst>
              <a:gd name="connsiteX0" fmla="*/ 1312433 w 1312433"/>
              <a:gd name="connsiteY0" fmla="*/ 505770 h 505770"/>
              <a:gd name="connsiteX1" fmla="*/ 699247 w 1312433"/>
              <a:gd name="connsiteY1" fmla="*/ 160 h 505770"/>
              <a:gd name="connsiteX2" fmla="*/ 0 w 1312433"/>
              <a:gd name="connsiteY2" fmla="*/ 462739 h 505770"/>
            </a:gdLst>
            <a:ahLst/>
            <a:cxnLst>
              <a:cxn ang="0">
                <a:pos x="connsiteX0" y="connsiteY0"/>
              </a:cxn>
              <a:cxn ang="0">
                <a:pos x="connsiteX1" y="connsiteY1"/>
              </a:cxn>
              <a:cxn ang="0">
                <a:pos x="connsiteX2" y="connsiteY2"/>
              </a:cxn>
            </a:cxnLst>
            <a:rect l="l" t="t" r="r" b="b"/>
            <a:pathLst>
              <a:path w="1312433" h="505770">
                <a:moveTo>
                  <a:pt x="1312433" y="505770"/>
                </a:moveTo>
                <a:cubicBezTo>
                  <a:pt x="1115209" y="256551"/>
                  <a:pt x="917986" y="7332"/>
                  <a:pt x="699247" y="160"/>
                </a:cubicBezTo>
                <a:cubicBezTo>
                  <a:pt x="480508" y="-7012"/>
                  <a:pt x="240254" y="227863"/>
                  <a:pt x="0" y="462739"/>
                </a:cubicBezTo>
              </a:path>
            </a:pathLst>
          </a:custGeom>
          <a:noFill/>
          <a:ln w="19050">
            <a:prstDash val="dash"/>
            <a:headEnd type="triangl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Freeform 24"/>
          <p:cNvSpPr/>
          <p:nvPr/>
        </p:nvSpPr>
        <p:spPr bwMode="gray">
          <a:xfrm>
            <a:off x="2318028" y="3127304"/>
            <a:ext cx="2040640" cy="404281"/>
          </a:xfrm>
          <a:custGeom>
            <a:avLst/>
            <a:gdLst>
              <a:gd name="connsiteX0" fmla="*/ 1312433 w 1312433"/>
              <a:gd name="connsiteY0" fmla="*/ 505770 h 505770"/>
              <a:gd name="connsiteX1" fmla="*/ 699247 w 1312433"/>
              <a:gd name="connsiteY1" fmla="*/ 160 h 505770"/>
              <a:gd name="connsiteX2" fmla="*/ 0 w 1312433"/>
              <a:gd name="connsiteY2" fmla="*/ 462739 h 505770"/>
            </a:gdLst>
            <a:ahLst/>
            <a:cxnLst>
              <a:cxn ang="0">
                <a:pos x="connsiteX0" y="connsiteY0"/>
              </a:cxn>
              <a:cxn ang="0">
                <a:pos x="connsiteX1" y="connsiteY1"/>
              </a:cxn>
              <a:cxn ang="0">
                <a:pos x="connsiteX2" y="connsiteY2"/>
              </a:cxn>
            </a:cxnLst>
            <a:rect l="l" t="t" r="r" b="b"/>
            <a:pathLst>
              <a:path w="1312433" h="505770">
                <a:moveTo>
                  <a:pt x="1312433" y="505770"/>
                </a:moveTo>
                <a:cubicBezTo>
                  <a:pt x="1115209" y="256551"/>
                  <a:pt x="917986" y="7332"/>
                  <a:pt x="699247" y="160"/>
                </a:cubicBezTo>
                <a:cubicBezTo>
                  <a:pt x="480508" y="-7012"/>
                  <a:pt x="240254" y="227863"/>
                  <a:pt x="0" y="462739"/>
                </a:cubicBezTo>
              </a:path>
            </a:pathLst>
          </a:custGeom>
          <a:noFill/>
          <a:ln w="19050">
            <a:prstDash val="dash"/>
            <a:headEnd type="triangl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矩形: 圆角 52"/>
          <p:cNvSpPr/>
          <p:nvPr/>
        </p:nvSpPr>
        <p:spPr bwMode="gray">
          <a:xfrm>
            <a:off x="2661410" y="2509769"/>
            <a:ext cx="1392354" cy="442813"/>
          </a:xfrm>
          <a:prstGeom prst="roundRect">
            <a:avLst>
              <a:gd name="adj" fmla="val 3125"/>
            </a:avLst>
          </a:prstGeom>
          <a:solidFill>
            <a:schemeClr val="bg1"/>
          </a:solidFill>
          <a:ln w="190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ltLang="zh-CN" sz="12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IGP</a:t>
            </a:r>
            <a:r>
              <a:rPr lang="zh-CN" altLang="en-US" sz="12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路由（携带</a:t>
            </a:r>
            <a:r>
              <a:rPr lang="en-US" altLang="zh-CN" sz="12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SRv6</a:t>
            </a:r>
            <a:r>
              <a:rPr lang="zh-CN" altLang="en-US" sz="12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相关路由）</a:t>
            </a:r>
            <a:endParaRPr lang="zh-CN" altLang="en-US" sz="12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矩形: 圆角 52"/>
          <p:cNvSpPr/>
          <p:nvPr/>
        </p:nvSpPr>
        <p:spPr bwMode="gray">
          <a:xfrm>
            <a:off x="8261868" y="2515387"/>
            <a:ext cx="1392354" cy="442813"/>
          </a:xfrm>
          <a:prstGeom prst="roundRect">
            <a:avLst>
              <a:gd name="adj" fmla="val 3125"/>
            </a:avLst>
          </a:prstGeom>
          <a:solidFill>
            <a:schemeClr val="bg1"/>
          </a:solidFill>
          <a:ln w="190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ltLang="zh-CN" sz="12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IGP</a:t>
            </a:r>
            <a:r>
              <a:rPr lang="zh-CN" altLang="en-US" sz="12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路由（携带</a:t>
            </a:r>
            <a:r>
              <a:rPr lang="en-US" altLang="zh-CN" sz="12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SRv6</a:t>
            </a:r>
            <a:r>
              <a:rPr lang="zh-CN" altLang="en-US" sz="12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相关路由）</a:t>
            </a:r>
            <a:endParaRPr lang="zh-CN" altLang="en-US" sz="12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35" name="Picture 34"/>
          <p:cNvPicPr>
            <a:picLocks noChangeAspect="1"/>
          </p:cNvPicPr>
          <p:nvPr/>
        </p:nvPicPr>
        <p:blipFill>
          <a:blip r:embed="rId2"/>
          <a:stretch>
            <a:fillRect/>
          </a:stretch>
        </p:blipFill>
        <p:spPr bwMode="gray">
          <a:xfrm rot="10800000">
            <a:off x="4413777" y="3383782"/>
            <a:ext cx="223863" cy="262084"/>
          </a:xfrm>
          <a:prstGeom prst="rect">
            <a:avLst/>
          </a:prstGeom>
        </p:spPr>
      </p:pic>
      <p:pic>
        <p:nvPicPr>
          <p:cNvPr id="36" name="Picture 35"/>
          <p:cNvPicPr>
            <a:picLocks noChangeAspect="1"/>
          </p:cNvPicPr>
          <p:nvPr/>
        </p:nvPicPr>
        <p:blipFill>
          <a:blip r:embed="rId2"/>
          <a:stretch>
            <a:fillRect/>
          </a:stretch>
        </p:blipFill>
        <p:spPr bwMode="gray">
          <a:xfrm rot="10800000" flipH="1">
            <a:off x="7628844" y="3382568"/>
            <a:ext cx="223863" cy="262084"/>
          </a:xfrm>
          <a:prstGeom prst="rect">
            <a:avLst/>
          </a:prstGeom>
        </p:spPr>
      </p:pic>
      <p:sp>
        <p:nvSpPr>
          <p:cNvPr id="37" name="Rectangular Callout 26"/>
          <p:cNvSpPr/>
          <p:nvPr/>
        </p:nvSpPr>
        <p:spPr bwMode="gray">
          <a:xfrm>
            <a:off x="4172492" y="2629906"/>
            <a:ext cx="942915" cy="480549"/>
          </a:xfrm>
          <a:prstGeom prst="wedgeRectCallout">
            <a:avLst>
              <a:gd name="adj1" fmla="val -11188"/>
              <a:gd name="adj2" fmla="val 97498"/>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IS-IS</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与</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BGP</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双向引入</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8" name="文本框 27"/>
          <p:cNvSpPr txBox="1"/>
          <p:nvPr/>
        </p:nvSpPr>
        <p:spPr bwMode="gray">
          <a:xfrm>
            <a:off x="5649080" y="2746174"/>
            <a:ext cx="899605" cy="307777"/>
          </a:xfrm>
          <a:prstGeom prst="rect">
            <a:avLst/>
          </a:prstGeom>
          <a:solidFill>
            <a:schemeClr val="bg1"/>
          </a:solidFill>
        </p:spPr>
        <p:txBody>
          <a:bodyPr wrap="none" rtlCol="0">
            <a:spAutoFit/>
          </a:bodyPr>
          <a:lstStyle/>
          <a:p>
            <a:r>
              <a:rPr lang="en-US" altLang="zh-CN" sz="14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BGP EPE</a:t>
            </a:r>
            <a:endParaRPr lang="zh-CN" altLang="en-US" sz="14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文本框 27"/>
          <p:cNvSpPr txBox="1"/>
          <p:nvPr/>
        </p:nvSpPr>
        <p:spPr bwMode="gray">
          <a:xfrm>
            <a:off x="3123777" y="2983468"/>
            <a:ext cx="495649" cy="276999"/>
          </a:xfrm>
          <a:prstGeom prst="rect">
            <a:avLst/>
          </a:prstGeom>
          <a:solidFill>
            <a:schemeClr val="bg1"/>
          </a:solid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IS-IS</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文本框 27"/>
          <p:cNvSpPr txBox="1"/>
          <p:nvPr/>
        </p:nvSpPr>
        <p:spPr bwMode="gray">
          <a:xfrm>
            <a:off x="8722113" y="2983641"/>
            <a:ext cx="495649" cy="276999"/>
          </a:xfrm>
          <a:prstGeom prst="rect">
            <a:avLst/>
          </a:prstGeom>
          <a:solidFill>
            <a:schemeClr val="bg1"/>
          </a:solid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IS-IS</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Rectangular Callout 26"/>
          <p:cNvSpPr/>
          <p:nvPr/>
        </p:nvSpPr>
        <p:spPr bwMode="gray">
          <a:xfrm>
            <a:off x="7149505" y="2631000"/>
            <a:ext cx="937015" cy="480549"/>
          </a:xfrm>
          <a:prstGeom prst="wedgeRectCallout">
            <a:avLst>
              <a:gd name="adj1" fmla="val 13592"/>
              <a:gd name="adj2" fmla="val 94789"/>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IS-IS</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与</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BGP</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双向引入</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2" name="文本框 27"/>
          <p:cNvSpPr txBox="1"/>
          <p:nvPr/>
        </p:nvSpPr>
        <p:spPr bwMode="gray">
          <a:xfrm>
            <a:off x="10572492" y="5438588"/>
            <a:ext cx="909223" cy="276999"/>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END.X SID</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5" name="矩形: 圆角 52"/>
          <p:cNvSpPr/>
          <p:nvPr/>
        </p:nvSpPr>
        <p:spPr bwMode="gray">
          <a:xfrm>
            <a:off x="5449809" y="2337078"/>
            <a:ext cx="1392354" cy="442813"/>
          </a:xfrm>
          <a:prstGeom prst="roundRect">
            <a:avLst>
              <a:gd name="adj" fmla="val 3125"/>
            </a:avLst>
          </a:prstGeom>
          <a:solidFill>
            <a:schemeClr val="bg1"/>
          </a:solidFill>
          <a:ln w="190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ltLang="zh-CN" sz="12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BGP</a:t>
            </a:r>
            <a:r>
              <a:rPr lang="zh-CN" altLang="en-US" sz="12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路由（携带</a:t>
            </a:r>
            <a:r>
              <a:rPr lang="en-US" altLang="zh-CN" sz="12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SRv6</a:t>
            </a:r>
            <a:r>
              <a:rPr lang="zh-CN" altLang="en-US" sz="12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相关路由）</a:t>
            </a:r>
            <a:endParaRPr lang="zh-CN" altLang="en-US" sz="12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graphicFrame>
        <p:nvGraphicFramePr>
          <p:cNvPr id="56" name="Table 55"/>
          <p:cNvGraphicFramePr>
            <a:graphicFrameLocks noGrp="1"/>
          </p:cNvGraphicFramePr>
          <p:nvPr/>
        </p:nvGraphicFramePr>
        <p:xfrm>
          <a:off x="2356894" y="4436051"/>
          <a:ext cx="1508584" cy="1737360"/>
        </p:xfrm>
        <a:graphic>
          <a:graphicData uri="http://schemas.openxmlformats.org/drawingml/2006/table">
            <a:tbl>
              <a:tblPr firstRow="1" bandRow="1">
                <a:tableStyleId>{72833802-FEF1-4C79-8D5D-14CF1EAF98D9}</a:tableStyleId>
              </a:tblPr>
              <a:tblGrid>
                <a:gridCol w="1508584"/>
              </a:tblGrid>
              <a:tr h="370840">
                <a:tc>
                  <a:txBody>
                    <a:bodyPr/>
                    <a:lstStyle/>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DIPv6</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FC02::2</a:t>
                      </a:r>
                      <a:endPar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SIPv6</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FC01::1</a:t>
                      </a:r>
                      <a:endPar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6C4D2"/>
                    </a:solidFill>
                  </a:tcPr>
                </a:tc>
              </a:tr>
              <a:tr h="725303">
                <a:tc>
                  <a:txBody>
                    <a:bodyPr/>
                    <a:lstStyle/>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SRH</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SL=</a:t>
                      </a: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3</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FC04::4</a:t>
                      </a:r>
                      <a:endPar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FC03::3</a:t>
                      </a:r>
                      <a:endPar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FC02::1C</a:t>
                      </a:r>
                      <a:endPar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FC02::2</a:t>
                      </a:r>
                      <a:endParaRPr lang="zh-CN" altLang="en-US"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EEEC1"/>
                    </a:solidFill>
                  </a:tcPr>
                </a:tc>
              </a:tr>
              <a:tr h="0">
                <a:tc>
                  <a:txBody>
                    <a:bodyPr/>
                    <a:lstStyle/>
                    <a:p>
                      <a:pPr algn="ctr"/>
                      <a:r>
                        <a:rPr lang="en-US" altLang="zh-CN" sz="1200" dirty="0">
                          <a:solidFill>
                            <a:schemeClr val="bg1"/>
                          </a:solidFill>
                        </a:rPr>
                        <a:t>Payload</a:t>
                      </a:r>
                      <a:endParaRPr lang="zh-CN" altLang="en-US" sz="1200"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r>
            </a:tbl>
          </a:graphicData>
        </a:graphic>
      </p:graphicFrame>
      <p:graphicFrame>
        <p:nvGraphicFramePr>
          <p:cNvPr id="57" name="Table 56"/>
          <p:cNvGraphicFramePr>
            <a:graphicFrameLocks noGrp="1"/>
          </p:cNvGraphicFramePr>
          <p:nvPr/>
        </p:nvGraphicFramePr>
        <p:xfrm>
          <a:off x="3938870" y="4430235"/>
          <a:ext cx="1491477" cy="1737360"/>
        </p:xfrm>
        <a:graphic>
          <a:graphicData uri="http://schemas.openxmlformats.org/drawingml/2006/table">
            <a:tbl>
              <a:tblPr firstRow="1" bandRow="1">
                <a:tableStyleId>{72833802-FEF1-4C79-8D5D-14CF1EAF98D9}</a:tableStyleId>
              </a:tblPr>
              <a:tblGrid>
                <a:gridCol w="1491477"/>
              </a:tblGrid>
              <a:tr h="370840">
                <a:tc>
                  <a:txBody>
                    <a:bodyPr/>
                    <a:lstStyle/>
                    <a:p>
                      <a:pPr marL="0" algn="ctr" defTabSz="913765" rtl="0" eaLnBrk="1" latinLnBrk="0" hangingPunct="1"/>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DIPv6</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1" kern="1200" dirty="0">
                          <a:solidFill>
                            <a:srgbClr val="C7000B"/>
                          </a:solidFill>
                          <a:latin typeface="Huawei Sans" panose="020C0503030203020204" pitchFamily="34" charset="0"/>
                          <a:ea typeface="方正兰亭黑简体" panose="02000000000000000000" pitchFamily="2" charset="-122"/>
                          <a:cs typeface="+mn-cs"/>
                          <a:sym typeface="Huawei Sans" panose="020C0503030203020204" pitchFamily="34" charset="0"/>
                        </a:rPr>
                        <a:t>FC02::1C</a:t>
                      </a:r>
                      <a:endParaRPr lang="en-US" altLang="zh-CN" sz="1200" b="1" kern="1200" dirty="0">
                        <a:solidFill>
                          <a:srgbClr val="C7000B"/>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SIPv6</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FC01::1</a:t>
                      </a:r>
                      <a:endPar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6C4D2"/>
                    </a:solidFill>
                  </a:tcPr>
                </a:tc>
              </a:tr>
              <a:tr h="725303">
                <a:tc>
                  <a:txBody>
                    <a:bodyPr/>
                    <a:lstStyle/>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SRH</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SL=</a:t>
                      </a: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2</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FC04::4</a:t>
                      </a:r>
                      <a:endPar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FC03::3</a:t>
                      </a:r>
                      <a:endPar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0" algn="ctr" defTabSz="913765" rtl="0" eaLnBrk="1" latinLnBrk="0" hangingPunct="1"/>
                      <a:r>
                        <a:rPr lang="en-US" altLang="zh-CN" sz="1200" b="1" kern="1200" dirty="0">
                          <a:solidFill>
                            <a:srgbClr val="C7000B"/>
                          </a:solidFill>
                          <a:latin typeface="Huawei Sans" panose="020C0503030203020204" pitchFamily="34" charset="0"/>
                          <a:ea typeface="方正兰亭黑简体" panose="02000000000000000000" pitchFamily="2" charset="-122"/>
                          <a:cs typeface="+mn-cs"/>
                          <a:sym typeface="Huawei Sans" panose="020C0503030203020204" pitchFamily="34" charset="0"/>
                        </a:rPr>
                        <a:t>FC02::1C</a:t>
                      </a:r>
                      <a:endParaRPr lang="en-US" altLang="zh-CN" sz="1200" b="1" kern="1200" dirty="0">
                        <a:solidFill>
                          <a:srgbClr val="C7000B"/>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p>
                      <a:pPr marL="0" algn="ctr" defTabSz="913765" rtl="0" eaLnBrk="1" latinLnBrk="0" hangingPunct="1"/>
                      <a:r>
                        <a:rPr lang="en-US" altLang="zh-CN"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FC02::2</a:t>
                      </a:r>
                      <a:endParaRPr lang="zh-CN" altLang="en-US"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EEEC1"/>
                    </a:solidFill>
                  </a:tcPr>
                </a:tc>
              </a:tr>
              <a:tr h="0">
                <a:tc>
                  <a:txBody>
                    <a:bodyPr/>
                    <a:lstStyle/>
                    <a:p>
                      <a:pPr algn="ctr"/>
                      <a:r>
                        <a:rPr lang="en-US" altLang="zh-CN" sz="1200" dirty="0">
                          <a:solidFill>
                            <a:schemeClr val="bg1"/>
                          </a:solidFill>
                        </a:rPr>
                        <a:t>Payload</a:t>
                      </a:r>
                      <a:endParaRPr lang="zh-CN" altLang="en-US" sz="1200"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r>
            </a:tbl>
          </a:graphicData>
        </a:graphic>
      </p:graphicFrame>
      <p:graphicFrame>
        <p:nvGraphicFramePr>
          <p:cNvPr id="58" name="Table 57"/>
          <p:cNvGraphicFramePr>
            <a:graphicFrameLocks noGrp="1"/>
          </p:cNvGraphicFramePr>
          <p:nvPr/>
        </p:nvGraphicFramePr>
        <p:xfrm>
          <a:off x="7879963" y="4436051"/>
          <a:ext cx="1365638" cy="1737360"/>
        </p:xfrm>
        <a:graphic>
          <a:graphicData uri="http://schemas.openxmlformats.org/drawingml/2006/table">
            <a:tbl>
              <a:tblPr firstRow="1" bandRow="1">
                <a:tableStyleId>{72833802-FEF1-4C79-8D5D-14CF1EAF98D9}</a:tableStyleId>
              </a:tblPr>
              <a:tblGrid>
                <a:gridCol w="1365638"/>
              </a:tblGrid>
              <a:tr h="370840">
                <a:tc>
                  <a:txBody>
                    <a:bodyPr/>
                    <a:lstStyle/>
                    <a:p>
                      <a:pPr marL="0" algn="ctr" defTabSz="913765" rtl="0" eaLnBrk="1" latinLnBrk="0" hangingPunct="1"/>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DIPv6</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1" kern="1200" dirty="0">
                          <a:solidFill>
                            <a:srgbClr val="C7000B"/>
                          </a:solidFill>
                          <a:latin typeface="Huawei Sans" panose="020C0503030203020204" pitchFamily="34" charset="0"/>
                          <a:ea typeface="方正兰亭黑简体" panose="02000000000000000000" pitchFamily="2" charset="-122"/>
                          <a:cs typeface="+mn-cs"/>
                          <a:sym typeface="Huawei Sans" panose="020C0503030203020204" pitchFamily="34" charset="0"/>
                        </a:rPr>
                        <a:t>FC04::4</a:t>
                      </a:r>
                      <a:endParaRPr lang="en-US" altLang="zh-CN" sz="1200" b="1" kern="1200" dirty="0">
                        <a:solidFill>
                          <a:srgbClr val="C7000B"/>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SIPv6</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FC01::1</a:t>
                      </a:r>
                      <a:endPar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6C4D2"/>
                    </a:solidFill>
                  </a:tcPr>
                </a:tc>
              </a:tr>
              <a:tr h="725303">
                <a:tc>
                  <a:txBody>
                    <a:bodyPr/>
                    <a:lstStyle/>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SRH</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SL=</a:t>
                      </a: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0</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0" algn="ctr" defTabSz="913765" rtl="0" eaLnBrk="1" latinLnBrk="0" hangingPunct="1"/>
                      <a:r>
                        <a:rPr lang="en-US" altLang="zh-CN" sz="1200" b="1" kern="1200" dirty="0">
                          <a:solidFill>
                            <a:srgbClr val="C7000B"/>
                          </a:solidFill>
                          <a:latin typeface="Huawei Sans" panose="020C0503030203020204" pitchFamily="34" charset="0"/>
                          <a:ea typeface="方正兰亭黑简体" panose="02000000000000000000" pitchFamily="2" charset="-122"/>
                          <a:cs typeface="+mn-cs"/>
                          <a:sym typeface="Huawei Sans" panose="020C0503030203020204" pitchFamily="34" charset="0"/>
                        </a:rPr>
                        <a:t>FC04::4</a:t>
                      </a:r>
                      <a:endParaRPr lang="en-US" altLang="zh-CN" sz="1200" b="1" kern="1200" dirty="0">
                        <a:solidFill>
                          <a:srgbClr val="C7000B"/>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p>
                      <a:pPr marL="0" algn="ctr" defTabSz="913765" rtl="0" eaLnBrk="1" latinLnBrk="0" hangingPunct="1"/>
                      <a:r>
                        <a:rPr lang="en-US" altLang="zh-CN"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FC03::3</a:t>
                      </a:r>
                      <a:endParaRPr lang="en-US" altLang="zh-CN"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p>
                      <a:pPr marL="0" algn="ctr" defTabSz="913765" rtl="0" eaLnBrk="1" latinLnBrk="0" hangingPunct="1"/>
                      <a:r>
                        <a:rPr lang="en-US" altLang="zh-CN"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FC02::1C</a:t>
                      </a:r>
                      <a:endParaRPr lang="en-US" altLang="zh-CN"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p>
                      <a:pPr marL="0" algn="ctr" defTabSz="913765" rtl="0" eaLnBrk="1" latinLnBrk="0" hangingPunct="1"/>
                      <a:r>
                        <a:rPr lang="en-US" altLang="zh-CN"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FC02::2</a:t>
                      </a:r>
                      <a:endParaRPr lang="zh-CN" altLang="en-US"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EEEC1"/>
                    </a:solidFill>
                  </a:tcPr>
                </a:tc>
              </a:tr>
              <a:tr h="0">
                <a:tc>
                  <a:txBody>
                    <a:bodyPr/>
                    <a:lstStyle/>
                    <a:p>
                      <a:pPr algn="ctr"/>
                      <a:r>
                        <a:rPr lang="en-US" altLang="zh-CN" sz="1200" dirty="0">
                          <a:solidFill>
                            <a:schemeClr val="bg1"/>
                          </a:solidFill>
                        </a:rPr>
                        <a:t>Payload</a:t>
                      </a:r>
                      <a:endParaRPr lang="zh-CN" altLang="en-US" sz="1200"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r>
            </a:tbl>
          </a:graphicData>
        </a:graphic>
      </p:graphicFrame>
      <p:cxnSp>
        <p:nvCxnSpPr>
          <p:cNvPr id="59" name="直接箭头连接符 3"/>
          <p:cNvCxnSpPr/>
          <p:nvPr/>
        </p:nvCxnSpPr>
        <p:spPr bwMode="gray">
          <a:xfrm>
            <a:off x="2356894" y="4350738"/>
            <a:ext cx="882372" cy="0"/>
          </a:xfrm>
          <a:prstGeom prst="straightConnector1">
            <a:avLst/>
          </a:prstGeom>
          <a:ln w="28575">
            <a:solidFill>
              <a:srgbClr val="56C4D2"/>
            </a:solidFill>
            <a:tailEnd type="triangle"/>
          </a:ln>
        </p:spPr>
        <p:style>
          <a:lnRef idx="1">
            <a:schemeClr val="accent1"/>
          </a:lnRef>
          <a:fillRef idx="0">
            <a:schemeClr val="accent1"/>
          </a:fillRef>
          <a:effectRef idx="0">
            <a:schemeClr val="accent1"/>
          </a:effectRef>
          <a:fontRef idx="minor">
            <a:schemeClr val="tx1"/>
          </a:fontRef>
        </p:style>
      </p:cxnSp>
      <p:cxnSp>
        <p:nvCxnSpPr>
          <p:cNvPr id="61" name="直接箭头连接符 3"/>
          <p:cNvCxnSpPr/>
          <p:nvPr/>
        </p:nvCxnSpPr>
        <p:spPr bwMode="gray">
          <a:xfrm>
            <a:off x="5010922" y="4350738"/>
            <a:ext cx="882372" cy="0"/>
          </a:xfrm>
          <a:prstGeom prst="straightConnector1">
            <a:avLst/>
          </a:prstGeom>
          <a:ln w="28575">
            <a:solidFill>
              <a:srgbClr val="56C4D2"/>
            </a:solidFill>
            <a:tailEnd type="triangle"/>
          </a:ln>
        </p:spPr>
        <p:style>
          <a:lnRef idx="1">
            <a:schemeClr val="accent1"/>
          </a:lnRef>
          <a:fillRef idx="0">
            <a:schemeClr val="accent1"/>
          </a:fillRef>
          <a:effectRef idx="0">
            <a:schemeClr val="accent1"/>
          </a:effectRef>
          <a:fontRef idx="minor">
            <a:schemeClr val="tx1"/>
          </a:fontRef>
        </p:style>
      </p:cxnSp>
      <p:cxnSp>
        <p:nvCxnSpPr>
          <p:cNvPr id="62" name="直接箭头连接符 3"/>
          <p:cNvCxnSpPr/>
          <p:nvPr/>
        </p:nvCxnSpPr>
        <p:spPr bwMode="gray">
          <a:xfrm>
            <a:off x="7879963" y="4350738"/>
            <a:ext cx="882372" cy="0"/>
          </a:xfrm>
          <a:prstGeom prst="straightConnector1">
            <a:avLst/>
          </a:prstGeom>
          <a:ln w="28575">
            <a:solidFill>
              <a:srgbClr val="56C4D2"/>
            </a:solidFill>
            <a:tailEnd type="triangle"/>
          </a:ln>
        </p:spPr>
        <p:style>
          <a:lnRef idx="1">
            <a:schemeClr val="accent1"/>
          </a:lnRef>
          <a:fillRef idx="0">
            <a:schemeClr val="accent1"/>
          </a:fillRef>
          <a:effectRef idx="0">
            <a:schemeClr val="accent1"/>
          </a:effectRef>
          <a:fontRef idx="minor">
            <a:schemeClr val="tx1"/>
          </a:fontRef>
        </p:style>
      </p:cxnSp>
      <p:sp>
        <p:nvSpPr>
          <p:cNvPr id="44" name="圆角矩形 59"/>
          <p:cNvSpPr/>
          <p:nvPr/>
        </p:nvSpPr>
        <p:spPr bwMode="gray">
          <a:xfrm>
            <a:off x="4946063" y="3854294"/>
            <a:ext cx="917445" cy="221690"/>
          </a:xfrm>
          <a:prstGeom prst="roundRect">
            <a:avLst>
              <a:gd name="adj" fmla="val 13019"/>
            </a:avLst>
          </a:prstGeom>
          <a:solidFill>
            <a:srgbClr val="D3394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FC02::1C</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圆角矩形 59"/>
          <p:cNvSpPr/>
          <p:nvPr/>
        </p:nvSpPr>
        <p:spPr bwMode="gray">
          <a:xfrm>
            <a:off x="1589305" y="3996387"/>
            <a:ext cx="917445" cy="221690"/>
          </a:xfrm>
          <a:prstGeom prst="roundRect">
            <a:avLst>
              <a:gd name="adj" fmla="val 13019"/>
            </a:avLst>
          </a:prstGeom>
          <a:solidFill>
            <a:srgbClr val="56C4D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FC01::1</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圆角矩形 59"/>
          <p:cNvSpPr/>
          <p:nvPr/>
        </p:nvSpPr>
        <p:spPr bwMode="gray">
          <a:xfrm>
            <a:off x="4002678" y="4002461"/>
            <a:ext cx="917445" cy="221690"/>
          </a:xfrm>
          <a:prstGeom prst="roundRect">
            <a:avLst>
              <a:gd name="adj" fmla="val 13019"/>
            </a:avLst>
          </a:prstGeom>
          <a:solidFill>
            <a:srgbClr val="56C4D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FC02::2</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圆角矩形 59"/>
          <p:cNvSpPr/>
          <p:nvPr/>
        </p:nvSpPr>
        <p:spPr bwMode="gray">
          <a:xfrm>
            <a:off x="6392163" y="3854294"/>
            <a:ext cx="917445" cy="221690"/>
          </a:xfrm>
          <a:prstGeom prst="roundRect">
            <a:avLst>
              <a:gd name="adj" fmla="val 13019"/>
            </a:avLst>
          </a:prstGeom>
          <a:solidFill>
            <a:srgbClr val="D3394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FC03::1C</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1" name="圆角矩形 59"/>
          <p:cNvSpPr/>
          <p:nvPr/>
        </p:nvSpPr>
        <p:spPr bwMode="gray">
          <a:xfrm>
            <a:off x="4953777" y="3398346"/>
            <a:ext cx="917445" cy="221690"/>
          </a:xfrm>
          <a:prstGeom prst="roundRect">
            <a:avLst>
              <a:gd name="adj" fmla="val 13019"/>
            </a:avLst>
          </a:prstGeom>
          <a:solidFill>
            <a:srgbClr val="D3394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FC02::1B</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0" name="圆角矩形 59"/>
          <p:cNvSpPr/>
          <p:nvPr/>
        </p:nvSpPr>
        <p:spPr bwMode="gray">
          <a:xfrm>
            <a:off x="6392163" y="3397870"/>
            <a:ext cx="917445" cy="221690"/>
          </a:xfrm>
          <a:prstGeom prst="roundRect">
            <a:avLst>
              <a:gd name="adj" fmla="val 13019"/>
            </a:avLst>
          </a:prstGeom>
          <a:solidFill>
            <a:srgbClr val="D3394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FC03::1B</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3" name="圆角矩形 59"/>
          <p:cNvSpPr/>
          <p:nvPr/>
        </p:nvSpPr>
        <p:spPr bwMode="gray">
          <a:xfrm>
            <a:off x="7350435" y="4002461"/>
            <a:ext cx="917445" cy="221690"/>
          </a:xfrm>
          <a:prstGeom prst="roundRect">
            <a:avLst>
              <a:gd name="adj" fmla="val 13019"/>
            </a:avLst>
          </a:prstGeom>
          <a:solidFill>
            <a:srgbClr val="56C4D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FC03::3</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4" name="圆角矩形 59"/>
          <p:cNvSpPr/>
          <p:nvPr/>
        </p:nvSpPr>
        <p:spPr bwMode="gray">
          <a:xfrm>
            <a:off x="9727465" y="3994406"/>
            <a:ext cx="917445" cy="221690"/>
          </a:xfrm>
          <a:prstGeom prst="roundRect">
            <a:avLst>
              <a:gd name="adj" fmla="val 13019"/>
            </a:avLst>
          </a:prstGeom>
          <a:solidFill>
            <a:srgbClr val="56C4D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FC04::4</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5" name="圆角矩形 59"/>
          <p:cNvSpPr/>
          <p:nvPr/>
        </p:nvSpPr>
        <p:spPr bwMode="gray">
          <a:xfrm>
            <a:off x="9655047" y="5472069"/>
            <a:ext cx="917445" cy="221690"/>
          </a:xfrm>
          <a:prstGeom prst="roundRect">
            <a:avLst>
              <a:gd name="adj" fmla="val 13019"/>
            </a:avLst>
          </a:prstGeom>
          <a:solidFill>
            <a:srgbClr val="D3394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FC02::1C</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6" name="圆角矩形 59"/>
          <p:cNvSpPr/>
          <p:nvPr/>
        </p:nvSpPr>
        <p:spPr bwMode="gray">
          <a:xfrm>
            <a:off x="9655048" y="5736004"/>
            <a:ext cx="917445" cy="221690"/>
          </a:xfrm>
          <a:prstGeom prst="roundRect">
            <a:avLst>
              <a:gd name="adj" fmla="val 13019"/>
            </a:avLst>
          </a:prstGeom>
          <a:solidFill>
            <a:srgbClr val="56C4D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FC02::2</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7" name="文本框 27"/>
          <p:cNvSpPr txBox="1"/>
          <p:nvPr/>
        </p:nvSpPr>
        <p:spPr bwMode="gray">
          <a:xfrm>
            <a:off x="10572493" y="5706370"/>
            <a:ext cx="784189" cy="276999"/>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END SID</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graphicFrame>
        <p:nvGraphicFramePr>
          <p:cNvPr id="68" name="Table 67"/>
          <p:cNvGraphicFramePr>
            <a:graphicFrameLocks noGrp="1"/>
          </p:cNvGraphicFramePr>
          <p:nvPr/>
        </p:nvGraphicFramePr>
        <p:xfrm>
          <a:off x="5503739" y="4439524"/>
          <a:ext cx="1365638" cy="1737360"/>
        </p:xfrm>
        <a:graphic>
          <a:graphicData uri="http://schemas.openxmlformats.org/drawingml/2006/table">
            <a:tbl>
              <a:tblPr firstRow="1" bandRow="1">
                <a:tableStyleId>{72833802-FEF1-4C79-8D5D-14CF1EAF98D9}</a:tableStyleId>
              </a:tblPr>
              <a:tblGrid>
                <a:gridCol w="1365638"/>
              </a:tblGrid>
              <a:tr h="370840">
                <a:tc>
                  <a:txBody>
                    <a:bodyPr/>
                    <a:lstStyle/>
                    <a:p>
                      <a:pPr marL="0" algn="ctr" defTabSz="913765" rtl="0" eaLnBrk="1" latinLnBrk="0" hangingPunct="1"/>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DIPv6</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1" kern="1200" dirty="0">
                          <a:solidFill>
                            <a:srgbClr val="C7000B"/>
                          </a:solidFill>
                          <a:latin typeface="Huawei Sans" panose="020C0503030203020204" pitchFamily="34" charset="0"/>
                          <a:ea typeface="方正兰亭黑简体" panose="02000000000000000000" pitchFamily="2" charset="-122"/>
                          <a:cs typeface="+mn-cs"/>
                          <a:sym typeface="Huawei Sans" panose="020C0503030203020204" pitchFamily="34" charset="0"/>
                        </a:rPr>
                        <a:t>FC03::3</a:t>
                      </a:r>
                      <a:endParaRPr lang="en-US" altLang="zh-CN" sz="1200" b="1" kern="1200" dirty="0">
                        <a:solidFill>
                          <a:srgbClr val="C7000B"/>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SIPv6</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FC01::1</a:t>
                      </a:r>
                      <a:endPar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6C4D2"/>
                    </a:solidFill>
                  </a:tcPr>
                </a:tc>
              </a:tr>
              <a:tr h="725303">
                <a:tc>
                  <a:txBody>
                    <a:bodyPr/>
                    <a:lstStyle/>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SRH</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SL=</a:t>
                      </a: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1</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0" algn="ctr" defTabSz="913765" rtl="0" eaLnBrk="1" latinLnBrk="0" hangingPunct="1"/>
                      <a:r>
                        <a:rPr lang="en-US" altLang="zh-CN"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FC04::4</a:t>
                      </a:r>
                      <a:endParaRPr lang="en-US" altLang="zh-CN"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p>
                      <a:pPr marL="0" algn="ctr" defTabSz="913765" rtl="0" eaLnBrk="1" latinLnBrk="0" hangingPunct="1"/>
                      <a:r>
                        <a:rPr lang="en-US" altLang="zh-CN" sz="1200" b="1" kern="1200" dirty="0">
                          <a:solidFill>
                            <a:srgbClr val="C7000B"/>
                          </a:solidFill>
                          <a:latin typeface="Huawei Sans" panose="020C0503030203020204" pitchFamily="34" charset="0"/>
                          <a:ea typeface="方正兰亭黑简体" panose="02000000000000000000" pitchFamily="2" charset="-122"/>
                          <a:cs typeface="+mn-cs"/>
                          <a:sym typeface="Huawei Sans" panose="020C0503030203020204" pitchFamily="34" charset="0"/>
                        </a:rPr>
                        <a:t>FC03::3</a:t>
                      </a:r>
                      <a:endParaRPr lang="en-US" altLang="zh-CN" sz="1200" b="1" kern="1200" dirty="0">
                        <a:solidFill>
                          <a:srgbClr val="C7000B"/>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p>
                      <a:pPr marL="0" algn="ctr" defTabSz="913765" rtl="0" eaLnBrk="1" latinLnBrk="0" hangingPunct="1"/>
                      <a:r>
                        <a:rPr lang="en-US" altLang="zh-CN"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FC02::1C</a:t>
                      </a:r>
                      <a:endParaRPr lang="en-US" altLang="zh-CN"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p>
                      <a:pPr marL="0" algn="ctr" defTabSz="913765" rtl="0" eaLnBrk="1" latinLnBrk="0" hangingPunct="1"/>
                      <a:r>
                        <a:rPr lang="en-US" altLang="zh-CN"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FC02::2</a:t>
                      </a:r>
                      <a:endParaRPr lang="zh-CN" altLang="en-US"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EEEC1"/>
                    </a:solidFill>
                  </a:tcPr>
                </a:tc>
              </a:tr>
              <a:tr h="0">
                <a:tc>
                  <a:txBody>
                    <a:bodyPr/>
                    <a:lstStyle/>
                    <a:p>
                      <a:pPr algn="ctr"/>
                      <a:r>
                        <a:rPr lang="en-US" altLang="zh-CN" sz="1200" dirty="0">
                          <a:solidFill>
                            <a:schemeClr val="bg1"/>
                          </a:solidFill>
                        </a:rPr>
                        <a:t>Payload</a:t>
                      </a:r>
                      <a:endParaRPr lang="zh-CN" altLang="en-US" sz="1200"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r>
            </a:tbl>
          </a:graphicData>
        </a:graphic>
      </p:graphicFrame>
      <p:sp>
        <p:nvSpPr>
          <p:cNvPr id="50" name="五边形 2"/>
          <p:cNvSpPr/>
          <p:nvPr/>
        </p:nvSpPr>
        <p:spPr bwMode="gray">
          <a:xfrm>
            <a:off x="8562976" y="110463"/>
            <a:ext cx="1531726"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SRv6 Policy</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路径建立</a:t>
            </a:r>
            <a:endPar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2" name="燕尾形 3"/>
          <p:cNvSpPr/>
          <p:nvPr/>
        </p:nvSpPr>
        <p:spPr bwMode="gray">
          <a:xfrm>
            <a:off x="10018141" y="110463"/>
            <a:ext cx="1730947"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SRv6 Policy</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引流</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Right Arrow 101"/>
          <p:cNvSpPr/>
          <p:nvPr/>
        </p:nvSpPr>
        <p:spPr bwMode="gray">
          <a:xfrm>
            <a:off x="3407125" y="4449160"/>
            <a:ext cx="7965064" cy="462456"/>
          </a:xfrm>
          <a:prstGeom prst="rightArrow">
            <a:avLst/>
          </a:prstGeom>
          <a:solidFill>
            <a:srgbClr val="BEE9EE"/>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Text Placeholder 2"/>
          <p:cNvSpPr>
            <a:spLocks noGrp="1"/>
          </p:cNvSpPr>
          <p:nvPr>
            <p:ph type="body" sz="quarter" idx="10"/>
          </p:nvPr>
        </p:nvSpPr>
        <p:spPr bwMode="gray"/>
        <p:txBody>
          <a:bodyPr/>
          <a:lstStyle/>
          <a:p>
            <a:r>
              <a:rPr lang="en-US" altLang="zh-CN" sz="1800" dirty="0"/>
              <a:t>SRv6</a:t>
            </a:r>
            <a:r>
              <a:rPr lang="zh-CN" altLang="en-US" sz="1800" dirty="0"/>
              <a:t>的</a:t>
            </a:r>
            <a:r>
              <a:rPr lang="en-US" altLang="zh-CN" sz="1800" dirty="0"/>
              <a:t>SRH</a:t>
            </a:r>
            <a:r>
              <a:rPr lang="zh-CN" altLang="en-US" sz="1800" dirty="0"/>
              <a:t>头部有栈深的限制，因此对于大型网络可以部署</a:t>
            </a:r>
            <a:r>
              <a:rPr lang="en-US" altLang="zh-CN" sz="1800" dirty="0"/>
              <a:t>SRv6</a:t>
            </a:r>
            <a:r>
              <a:rPr lang="zh-CN" altLang="en-US" sz="1800" dirty="0"/>
              <a:t>路径粘连方案。</a:t>
            </a:r>
            <a:endParaRPr lang="en-US" altLang="zh-CN" sz="1800" dirty="0"/>
          </a:p>
          <a:p>
            <a:r>
              <a:rPr lang="zh-CN" altLang="en-US" sz="1800" dirty="0"/>
              <a:t>路径粘连主要通过粘连</a:t>
            </a:r>
            <a:r>
              <a:rPr lang="en-US" altLang="zh-CN" sz="1800" dirty="0"/>
              <a:t>SID</a:t>
            </a:r>
            <a:r>
              <a:rPr lang="zh-CN" altLang="en-US" sz="1800" dirty="0"/>
              <a:t>与粘连节点实现：</a:t>
            </a:r>
            <a:endParaRPr lang="en-US" altLang="zh-CN" sz="1800" dirty="0"/>
          </a:p>
          <a:p>
            <a:pPr lvl="1"/>
            <a:r>
              <a:rPr lang="zh-CN" altLang="en-US" sz="1600" dirty="0"/>
              <a:t>粘连</a:t>
            </a:r>
            <a:r>
              <a:rPr lang="en-US" altLang="zh-CN" sz="1600" dirty="0"/>
              <a:t>SID</a:t>
            </a:r>
            <a:r>
              <a:rPr lang="zh-CN" altLang="en-US" sz="1600" dirty="0"/>
              <a:t>也叫</a:t>
            </a:r>
            <a:r>
              <a:rPr lang="en-US" altLang="zh-CN" sz="1600" dirty="0"/>
              <a:t>Binding SID</a:t>
            </a:r>
            <a:r>
              <a:rPr lang="zh-CN" altLang="en-US" sz="1600" dirty="0"/>
              <a:t>，通过</a:t>
            </a:r>
            <a:r>
              <a:rPr lang="en-US" altLang="zh-CN" sz="1600" dirty="0"/>
              <a:t>Binding SID</a:t>
            </a:r>
            <a:r>
              <a:rPr lang="zh-CN" altLang="en-US" sz="1600" dirty="0"/>
              <a:t>可以表示一段</a:t>
            </a:r>
            <a:r>
              <a:rPr lang="en-US" altLang="zh-CN" sz="1600" dirty="0"/>
              <a:t>SRv6 Policy</a:t>
            </a:r>
            <a:r>
              <a:rPr lang="zh-CN" altLang="en-US" sz="1600" dirty="0"/>
              <a:t>转发路径。</a:t>
            </a:r>
            <a:endParaRPr lang="en-US" altLang="zh-CN" sz="1600" dirty="0"/>
          </a:p>
          <a:p>
            <a:pPr lvl="1"/>
            <a:r>
              <a:rPr lang="zh-CN" altLang="en-US" sz="1600" dirty="0"/>
              <a:t>粘连节点会处理</a:t>
            </a:r>
            <a:r>
              <a:rPr lang="en-US" altLang="zh-CN" sz="1600" dirty="0"/>
              <a:t>Binding SID</a:t>
            </a:r>
            <a:r>
              <a:rPr lang="zh-CN" altLang="en-US" sz="1600" dirty="0"/>
              <a:t>，并压入</a:t>
            </a:r>
            <a:r>
              <a:rPr lang="en-US" altLang="zh-CN" sz="1600" dirty="0"/>
              <a:t>SRH</a:t>
            </a:r>
            <a:r>
              <a:rPr lang="zh-CN" altLang="en-US" sz="1600" dirty="0"/>
              <a:t>信息，粘连节点一般是</a:t>
            </a:r>
            <a:r>
              <a:rPr lang="en-US" altLang="zh-CN" sz="1600" dirty="0"/>
              <a:t>ABR</a:t>
            </a:r>
            <a:r>
              <a:rPr lang="zh-CN" altLang="en-US" sz="1600" dirty="0"/>
              <a:t>或</a:t>
            </a:r>
            <a:r>
              <a:rPr lang="en-US" altLang="zh-CN" sz="1600" dirty="0"/>
              <a:t>ASBR</a:t>
            </a:r>
            <a:r>
              <a:rPr lang="zh-CN" altLang="en-US" sz="1600" dirty="0"/>
              <a:t>设备。</a:t>
            </a:r>
            <a:endParaRPr lang="en-US" altLang="zh-CN" sz="1600" dirty="0"/>
          </a:p>
          <a:p>
            <a:pPr lvl="1"/>
            <a:endParaRPr lang="zh-CN" altLang="en-US" sz="1600" dirty="0"/>
          </a:p>
        </p:txBody>
      </p:sp>
      <p:sp>
        <p:nvSpPr>
          <p:cNvPr id="38" name="Rounded Rectangle 37"/>
          <p:cNvSpPr/>
          <p:nvPr/>
        </p:nvSpPr>
        <p:spPr bwMode="gray">
          <a:xfrm>
            <a:off x="3407125" y="2830539"/>
            <a:ext cx="3250462" cy="1061691"/>
          </a:xfrm>
          <a:prstGeom prst="roundRect">
            <a:avLst>
              <a:gd name="adj" fmla="val 3029"/>
            </a:avLst>
          </a:prstGeom>
          <a:noFill/>
          <a:ln w="19050">
            <a:solidFill>
              <a:srgbClr val="56C4D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ltLang="zh-CN" sz="1400" dirty="0">
                <a:solidFill>
                  <a:sysClr val="windowText" lastClr="000000"/>
                </a:solidFill>
              </a:rPr>
              <a:t>AS65001</a:t>
            </a:r>
            <a:endParaRPr lang="zh-CN" altLang="en-US" dirty="0">
              <a:solidFill>
                <a:sysClr val="windowText" lastClr="000000"/>
              </a:solidFill>
            </a:endParaRPr>
          </a:p>
        </p:txBody>
      </p:sp>
      <p:sp>
        <p:nvSpPr>
          <p:cNvPr id="39" name="Rounded Rectangle 38"/>
          <p:cNvSpPr/>
          <p:nvPr/>
        </p:nvSpPr>
        <p:spPr bwMode="gray">
          <a:xfrm>
            <a:off x="7554074" y="2829812"/>
            <a:ext cx="2548426" cy="1058617"/>
          </a:xfrm>
          <a:prstGeom prst="roundRect">
            <a:avLst>
              <a:gd name="adj" fmla="val 3029"/>
            </a:avLst>
          </a:prstGeom>
          <a:noFill/>
          <a:ln w="19050">
            <a:solidFill>
              <a:srgbClr val="56C4D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ltLang="zh-CN" sz="1400" dirty="0">
                <a:solidFill>
                  <a:sysClr val="windowText" lastClr="000000"/>
                </a:solidFill>
              </a:rPr>
              <a:t>AS65002</a:t>
            </a:r>
            <a:endParaRPr lang="zh-CN" altLang="en-US" sz="1400" dirty="0">
              <a:solidFill>
                <a:sysClr val="windowText" lastClr="000000"/>
              </a:solidFill>
            </a:endParaRPr>
          </a:p>
        </p:txBody>
      </p:sp>
      <p:sp>
        <p:nvSpPr>
          <p:cNvPr id="2" name="Title 1"/>
          <p:cNvSpPr>
            <a:spLocks noGrp="1"/>
          </p:cNvSpPr>
          <p:nvPr>
            <p:ph type="title"/>
          </p:nvPr>
        </p:nvSpPr>
        <p:spPr bwMode="gray"/>
        <p:txBody>
          <a:bodyPr/>
          <a:lstStyle/>
          <a:p>
            <a:r>
              <a:rPr lang="en-US" altLang="zh-CN" dirty="0"/>
              <a:t>SRv6 Policy</a:t>
            </a:r>
            <a:r>
              <a:rPr lang="zh-CN" altLang="en-US" dirty="0"/>
              <a:t>路径粘连 </a:t>
            </a:r>
            <a:r>
              <a:rPr lang="en-US" altLang="zh-CN" dirty="0"/>
              <a:t>(1)</a:t>
            </a:r>
            <a:endParaRPr lang="zh-CN" altLang="en-US" dirty="0"/>
          </a:p>
        </p:txBody>
      </p:sp>
      <p:pic>
        <p:nvPicPr>
          <p:cNvPr id="4" name="图片 17"/>
          <p:cNvPicPr/>
          <p:nvPr/>
        </p:nvPicPr>
        <p:blipFill>
          <a:blip r:embed="rId1" cstate="print">
            <a:extLst>
              <a:ext uri="{28A0092B-C50C-407E-A947-70E740481C1C}">
                <a14:useLocalDpi xmlns:a14="http://schemas.microsoft.com/office/drawing/2010/main" val="0"/>
              </a:ext>
            </a:extLst>
          </a:blip>
          <a:stretch>
            <a:fillRect/>
          </a:stretch>
        </p:blipFill>
        <p:spPr bwMode="gray">
          <a:xfrm>
            <a:off x="2584139" y="3118248"/>
            <a:ext cx="540000" cy="442800"/>
          </a:xfrm>
          <a:prstGeom prst="rect">
            <a:avLst/>
          </a:prstGeom>
        </p:spPr>
      </p:pic>
      <p:graphicFrame>
        <p:nvGraphicFramePr>
          <p:cNvPr id="5" name="Table 4"/>
          <p:cNvGraphicFramePr>
            <a:graphicFrameLocks noGrp="1"/>
          </p:cNvGraphicFramePr>
          <p:nvPr/>
        </p:nvGraphicFramePr>
        <p:xfrm>
          <a:off x="568747" y="4122457"/>
          <a:ext cx="1420080" cy="1005840"/>
        </p:xfrm>
        <a:graphic>
          <a:graphicData uri="http://schemas.openxmlformats.org/drawingml/2006/table">
            <a:tbl>
              <a:tblPr firstRow="1" bandRow="1">
                <a:tableStyleId>{72833802-FEF1-4C79-8D5D-14CF1EAF98D9}</a:tableStyleId>
              </a:tblPr>
              <a:tblGrid>
                <a:gridCol w="1420080"/>
              </a:tblGrid>
              <a:tr h="418918">
                <a:tc>
                  <a:txBody>
                    <a:bodyPr/>
                    <a:lstStyle/>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SRH</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SL=</a:t>
                      </a: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3</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Segment List</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0</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0" marR="0" lvl="0" indent="0" algn="ctr" defTabSz="913765" rtl="0" eaLnBrk="1" fontAlgn="auto" latinLnBrk="0" hangingPunct="1">
                        <a:lnSpc>
                          <a:spcPct val="100000"/>
                        </a:lnSpc>
                        <a:spcBef>
                          <a:spcPts val="0"/>
                        </a:spcBef>
                        <a:spcAft>
                          <a:spcPts val="0"/>
                        </a:spcAft>
                        <a:buClrTx/>
                        <a:buSzTx/>
                        <a:buFontTx/>
                        <a:buNone/>
                        <a:defRPr/>
                      </a:pP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Segment List</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1</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0" marR="0" lvl="0" indent="0" algn="ctr" defTabSz="913765" rtl="0" eaLnBrk="1" fontAlgn="auto" latinLnBrk="0" hangingPunct="1">
                        <a:lnSpc>
                          <a:spcPct val="100000"/>
                        </a:lnSpc>
                        <a:spcBef>
                          <a:spcPts val="0"/>
                        </a:spcBef>
                        <a:spcAft>
                          <a:spcPts val="0"/>
                        </a:spcAft>
                        <a:buClrTx/>
                        <a:buSzTx/>
                        <a:buFontTx/>
                        <a:buNone/>
                        <a:defRPr/>
                      </a:pP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Segment List</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2</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p>
                      <a:pPr marL="0" marR="0" lvl="0" indent="0" algn="ctr" defTabSz="913765" rtl="0" eaLnBrk="1" fontAlgn="auto" latinLnBrk="0" hangingPunct="1">
                        <a:lnSpc>
                          <a:spcPct val="100000"/>
                        </a:lnSpc>
                        <a:spcBef>
                          <a:spcPts val="0"/>
                        </a:spcBef>
                        <a:spcAft>
                          <a:spcPts val="0"/>
                        </a:spcAft>
                        <a:buClrTx/>
                        <a:buSzTx/>
                        <a:buFontTx/>
                        <a:buNone/>
                        <a:defRPr/>
                      </a:pP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Segment List</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3</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EEEC1"/>
                    </a:solidFill>
                  </a:tcPr>
                </a:tc>
              </a:tr>
            </a:tbl>
          </a:graphicData>
        </a:graphic>
      </p:graphicFrame>
      <p:pic>
        <p:nvPicPr>
          <p:cNvPr id="7" name="图片 17"/>
          <p:cNvPicPr/>
          <p:nvPr/>
        </p:nvPicPr>
        <p:blipFill>
          <a:blip r:embed="rId1" cstate="print">
            <a:extLst>
              <a:ext uri="{28A0092B-C50C-407E-A947-70E740481C1C}">
                <a14:useLocalDpi xmlns:a14="http://schemas.microsoft.com/office/drawing/2010/main" val="0"/>
              </a:ext>
            </a:extLst>
          </a:blip>
          <a:stretch>
            <a:fillRect/>
          </a:stretch>
        </p:blipFill>
        <p:spPr bwMode="gray">
          <a:xfrm>
            <a:off x="3797860" y="3118248"/>
            <a:ext cx="540000" cy="442800"/>
          </a:xfrm>
          <a:prstGeom prst="rect">
            <a:avLst/>
          </a:prstGeom>
        </p:spPr>
      </p:pic>
      <p:pic>
        <p:nvPicPr>
          <p:cNvPr id="9" name="图片 17"/>
          <p:cNvPicPr/>
          <p:nvPr/>
        </p:nvPicPr>
        <p:blipFill>
          <a:blip r:embed="rId1" cstate="print">
            <a:extLst>
              <a:ext uri="{28A0092B-C50C-407E-A947-70E740481C1C}">
                <a14:useLocalDpi xmlns:a14="http://schemas.microsoft.com/office/drawing/2010/main" val="0"/>
              </a:ext>
            </a:extLst>
          </a:blip>
          <a:stretch>
            <a:fillRect/>
          </a:stretch>
        </p:blipFill>
        <p:spPr bwMode="gray">
          <a:xfrm>
            <a:off x="5940103" y="3118248"/>
            <a:ext cx="540000" cy="442800"/>
          </a:xfrm>
          <a:prstGeom prst="rect">
            <a:avLst/>
          </a:prstGeom>
        </p:spPr>
      </p:pic>
      <p:cxnSp>
        <p:nvCxnSpPr>
          <p:cNvPr id="15" name="直接连接符 18"/>
          <p:cNvCxnSpPr>
            <a:stCxn id="7" idx="1"/>
            <a:endCxn id="4" idx="3"/>
          </p:cNvCxnSpPr>
          <p:nvPr/>
        </p:nvCxnSpPr>
        <p:spPr bwMode="gray">
          <a:xfrm flipH="1">
            <a:off x="3124139" y="3339648"/>
            <a:ext cx="673721"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18"/>
          <p:cNvCxnSpPr>
            <a:stCxn id="9" idx="3"/>
            <a:endCxn id="52" idx="1"/>
          </p:cNvCxnSpPr>
          <p:nvPr/>
        </p:nvCxnSpPr>
        <p:spPr bwMode="gray">
          <a:xfrm>
            <a:off x="6480103" y="3339648"/>
            <a:ext cx="1180226"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40" name="Left Brace 39"/>
          <p:cNvSpPr/>
          <p:nvPr/>
        </p:nvSpPr>
        <p:spPr bwMode="gray">
          <a:xfrm flipH="1">
            <a:off x="2002645" y="4126583"/>
            <a:ext cx="72618" cy="1002039"/>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1" name="文本框 27"/>
          <p:cNvSpPr txBox="1"/>
          <p:nvPr/>
        </p:nvSpPr>
        <p:spPr bwMode="gray">
          <a:xfrm>
            <a:off x="2084792" y="4363767"/>
            <a:ext cx="313277" cy="523220"/>
          </a:xfrm>
          <a:prstGeom prst="rect">
            <a:avLst/>
          </a:prstGeom>
          <a:noFill/>
        </p:spPr>
        <p:txBody>
          <a:bodyPr wrap="square" rtlCol="0">
            <a:spAutoFit/>
          </a:bodyPr>
          <a:lstStyle/>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栈深</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Trapezoid 43"/>
          <p:cNvSpPr/>
          <p:nvPr/>
        </p:nvSpPr>
        <p:spPr bwMode="gray">
          <a:xfrm>
            <a:off x="568747" y="3890594"/>
            <a:ext cx="1420079" cy="235663"/>
          </a:xfrm>
          <a:prstGeom prst="trapezoid">
            <a:avLst>
              <a:gd name="adj" fmla="val 228972"/>
            </a:avLst>
          </a:prstGeom>
          <a:gradFill>
            <a:gsLst>
              <a:gs pos="0">
                <a:schemeClr val="accent1">
                  <a:lumMod val="5000"/>
                  <a:lumOff val="95000"/>
                  <a:alpha val="50000"/>
                </a:schemeClr>
              </a:gs>
              <a:gs pos="100000">
                <a:srgbClr val="FEEEC1">
                  <a:alpha val="5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2" name="图片 17"/>
          <p:cNvPicPr/>
          <p:nvPr/>
        </p:nvPicPr>
        <p:blipFill>
          <a:blip r:embed="rId1" cstate="print">
            <a:extLst>
              <a:ext uri="{28A0092B-C50C-407E-A947-70E740481C1C}">
                <a14:useLocalDpi xmlns:a14="http://schemas.microsoft.com/office/drawing/2010/main" val="0"/>
              </a:ext>
            </a:extLst>
          </a:blip>
          <a:stretch>
            <a:fillRect/>
          </a:stretch>
        </p:blipFill>
        <p:spPr bwMode="gray">
          <a:xfrm>
            <a:off x="1008786" y="3447795"/>
            <a:ext cx="540000" cy="442800"/>
          </a:xfrm>
          <a:prstGeom prst="rect">
            <a:avLst/>
          </a:prstGeom>
        </p:spPr>
      </p:pic>
      <p:sp>
        <p:nvSpPr>
          <p:cNvPr id="46" name="TextBox 45"/>
          <p:cNvSpPr txBox="1"/>
          <p:nvPr/>
        </p:nvSpPr>
        <p:spPr bwMode="gray">
          <a:xfrm>
            <a:off x="2606381" y="2842863"/>
            <a:ext cx="492841" cy="276999"/>
          </a:xfrm>
          <a:prstGeom prst="rect">
            <a:avLst/>
          </a:prstGeom>
          <a:noFill/>
        </p:spPr>
        <p:txBody>
          <a:bodyPr wrap="square" rtlCol="0">
            <a:spAutoFit/>
          </a:bodyPr>
          <a:lstStyle/>
          <a:p>
            <a:pPr algn="ctr"/>
            <a:r>
              <a:rPr lang="en-US" altLang="zh-CN" sz="1200" dirty="0"/>
              <a:t>CE1</a:t>
            </a:r>
            <a:endParaRPr lang="zh-CN" altLang="en-US" sz="1200" dirty="0"/>
          </a:p>
        </p:txBody>
      </p:sp>
      <p:sp>
        <p:nvSpPr>
          <p:cNvPr id="47" name="TextBox 46"/>
          <p:cNvSpPr txBox="1"/>
          <p:nvPr/>
        </p:nvSpPr>
        <p:spPr bwMode="gray">
          <a:xfrm>
            <a:off x="3845018" y="2842863"/>
            <a:ext cx="445683" cy="276999"/>
          </a:xfrm>
          <a:prstGeom prst="rect">
            <a:avLst/>
          </a:prstGeom>
          <a:noFill/>
        </p:spPr>
        <p:txBody>
          <a:bodyPr wrap="square" rtlCol="0">
            <a:spAutoFit/>
          </a:bodyPr>
          <a:lstStyle/>
          <a:p>
            <a:pPr algn="ctr"/>
            <a:r>
              <a:rPr lang="en-US" altLang="zh-CN" sz="1200" dirty="0"/>
              <a:t>PE1</a:t>
            </a:r>
            <a:endParaRPr lang="zh-CN" altLang="en-US" sz="1200" dirty="0"/>
          </a:p>
        </p:txBody>
      </p:sp>
      <p:pic>
        <p:nvPicPr>
          <p:cNvPr id="52" name="图片 17"/>
          <p:cNvPicPr/>
          <p:nvPr/>
        </p:nvPicPr>
        <p:blipFill>
          <a:blip r:embed="rId1" cstate="print">
            <a:extLst>
              <a:ext uri="{28A0092B-C50C-407E-A947-70E740481C1C}">
                <a14:useLocalDpi xmlns:a14="http://schemas.microsoft.com/office/drawing/2010/main" val="0"/>
              </a:ext>
            </a:extLst>
          </a:blip>
          <a:stretch>
            <a:fillRect/>
          </a:stretch>
        </p:blipFill>
        <p:spPr bwMode="gray">
          <a:xfrm>
            <a:off x="7660329" y="3118248"/>
            <a:ext cx="540000" cy="442800"/>
          </a:xfrm>
          <a:prstGeom prst="rect">
            <a:avLst/>
          </a:prstGeom>
        </p:spPr>
      </p:pic>
      <p:pic>
        <p:nvPicPr>
          <p:cNvPr id="53" name="图片 17"/>
          <p:cNvPicPr/>
          <p:nvPr/>
        </p:nvPicPr>
        <p:blipFill>
          <a:blip r:embed="rId1" cstate="print">
            <a:extLst>
              <a:ext uri="{28A0092B-C50C-407E-A947-70E740481C1C}">
                <a14:useLocalDpi xmlns:a14="http://schemas.microsoft.com/office/drawing/2010/main" val="0"/>
              </a:ext>
            </a:extLst>
          </a:blip>
          <a:stretch>
            <a:fillRect/>
          </a:stretch>
        </p:blipFill>
        <p:spPr bwMode="gray">
          <a:xfrm>
            <a:off x="9183447" y="3118248"/>
            <a:ext cx="540000" cy="442800"/>
          </a:xfrm>
          <a:prstGeom prst="rect">
            <a:avLst/>
          </a:prstGeom>
        </p:spPr>
      </p:pic>
      <p:pic>
        <p:nvPicPr>
          <p:cNvPr id="54" name="图片 17"/>
          <p:cNvPicPr/>
          <p:nvPr/>
        </p:nvPicPr>
        <p:blipFill>
          <a:blip r:embed="rId1" cstate="print">
            <a:extLst>
              <a:ext uri="{28A0092B-C50C-407E-A947-70E740481C1C}">
                <a14:useLocalDpi xmlns:a14="http://schemas.microsoft.com/office/drawing/2010/main" val="0"/>
              </a:ext>
            </a:extLst>
          </a:blip>
          <a:stretch>
            <a:fillRect/>
          </a:stretch>
        </p:blipFill>
        <p:spPr bwMode="gray">
          <a:xfrm>
            <a:off x="10706565" y="3118248"/>
            <a:ext cx="540000" cy="442800"/>
          </a:xfrm>
          <a:prstGeom prst="rect">
            <a:avLst/>
          </a:prstGeom>
        </p:spPr>
      </p:pic>
      <p:cxnSp>
        <p:nvCxnSpPr>
          <p:cNvPr id="55" name="直接连接符 18"/>
          <p:cNvCxnSpPr>
            <a:stCxn id="53" idx="1"/>
            <a:endCxn id="52" idx="3"/>
          </p:cNvCxnSpPr>
          <p:nvPr/>
        </p:nvCxnSpPr>
        <p:spPr bwMode="gray">
          <a:xfrm flipH="1">
            <a:off x="8200329" y="3339648"/>
            <a:ext cx="983118"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56" name="TextBox 55"/>
          <p:cNvSpPr txBox="1"/>
          <p:nvPr/>
        </p:nvSpPr>
        <p:spPr bwMode="gray">
          <a:xfrm>
            <a:off x="7562740" y="2830539"/>
            <a:ext cx="723781" cy="276999"/>
          </a:xfrm>
          <a:prstGeom prst="rect">
            <a:avLst/>
          </a:prstGeom>
          <a:noFill/>
        </p:spPr>
        <p:txBody>
          <a:bodyPr wrap="square" rtlCol="0">
            <a:spAutoFit/>
          </a:bodyPr>
          <a:lstStyle/>
          <a:p>
            <a:pPr algn="ctr"/>
            <a:r>
              <a:rPr lang="en-US" altLang="zh-CN" sz="1200" dirty="0"/>
              <a:t>ASBR2</a:t>
            </a:r>
            <a:endParaRPr lang="zh-CN" altLang="en-US" sz="1200" dirty="0"/>
          </a:p>
        </p:txBody>
      </p:sp>
      <p:sp>
        <p:nvSpPr>
          <p:cNvPr id="57" name="TextBox 56"/>
          <p:cNvSpPr txBox="1"/>
          <p:nvPr/>
        </p:nvSpPr>
        <p:spPr bwMode="gray">
          <a:xfrm>
            <a:off x="9230605" y="2842863"/>
            <a:ext cx="445683" cy="276999"/>
          </a:xfrm>
          <a:prstGeom prst="rect">
            <a:avLst/>
          </a:prstGeom>
          <a:noFill/>
        </p:spPr>
        <p:txBody>
          <a:bodyPr wrap="square" rtlCol="0">
            <a:spAutoFit/>
          </a:bodyPr>
          <a:lstStyle/>
          <a:p>
            <a:pPr algn="ctr"/>
            <a:r>
              <a:rPr lang="en-US" altLang="zh-CN" sz="1200" dirty="0"/>
              <a:t>PE2</a:t>
            </a:r>
            <a:endParaRPr lang="zh-CN" altLang="en-US" sz="1200" dirty="0"/>
          </a:p>
        </p:txBody>
      </p:sp>
      <p:cxnSp>
        <p:nvCxnSpPr>
          <p:cNvPr id="59" name="直接连接符 18"/>
          <p:cNvCxnSpPr>
            <a:stCxn id="7" idx="3"/>
            <a:endCxn id="9" idx="1"/>
          </p:cNvCxnSpPr>
          <p:nvPr/>
        </p:nvCxnSpPr>
        <p:spPr bwMode="gray">
          <a:xfrm>
            <a:off x="4337860" y="3339648"/>
            <a:ext cx="1602243"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62" name="TextBox 61"/>
          <p:cNvSpPr txBox="1"/>
          <p:nvPr/>
        </p:nvSpPr>
        <p:spPr bwMode="gray">
          <a:xfrm>
            <a:off x="5848212" y="2841249"/>
            <a:ext cx="723781" cy="276999"/>
          </a:xfrm>
          <a:prstGeom prst="rect">
            <a:avLst/>
          </a:prstGeom>
          <a:noFill/>
        </p:spPr>
        <p:txBody>
          <a:bodyPr wrap="square" rtlCol="0">
            <a:spAutoFit/>
          </a:bodyPr>
          <a:lstStyle/>
          <a:p>
            <a:pPr algn="ctr"/>
            <a:r>
              <a:rPr lang="en-US" altLang="zh-CN" sz="1200" dirty="0"/>
              <a:t>ASBR1</a:t>
            </a:r>
            <a:endParaRPr lang="zh-CN" altLang="en-US" sz="1200" dirty="0"/>
          </a:p>
        </p:txBody>
      </p:sp>
      <p:sp>
        <p:nvSpPr>
          <p:cNvPr id="63" name="TextBox 62"/>
          <p:cNvSpPr txBox="1"/>
          <p:nvPr/>
        </p:nvSpPr>
        <p:spPr bwMode="gray">
          <a:xfrm>
            <a:off x="10733241" y="2842863"/>
            <a:ext cx="492842" cy="276999"/>
          </a:xfrm>
          <a:prstGeom prst="rect">
            <a:avLst/>
          </a:prstGeom>
          <a:noFill/>
        </p:spPr>
        <p:txBody>
          <a:bodyPr wrap="square" rtlCol="0">
            <a:spAutoFit/>
          </a:bodyPr>
          <a:lstStyle/>
          <a:p>
            <a:pPr algn="ctr"/>
            <a:r>
              <a:rPr lang="en-US" altLang="zh-CN" sz="1200" dirty="0"/>
              <a:t>CE2</a:t>
            </a:r>
            <a:endParaRPr lang="zh-CN" altLang="en-US" sz="1200" dirty="0"/>
          </a:p>
        </p:txBody>
      </p:sp>
      <p:cxnSp>
        <p:nvCxnSpPr>
          <p:cNvPr id="64" name="直接连接符 18"/>
          <p:cNvCxnSpPr>
            <a:stCxn id="54" idx="1"/>
            <a:endCxn id="53" idx="3"/>
          </p:cNvCxnSpPr>
          <p:nvPr/>
        </p:nvCxnSpPr>
        <p:spPr bwMode="gray">
          <a:xfrm flipH="1">
            <a:off x="9723447" y="3339648"/>
            <a:ext cx="983118"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67" name="文本框 27"/>
          <p:cNvSpPr txBox="1"/>
          <p:nvPr/>
        </p:nvSpPr>
        <p:spPr bwMode="gray">
          <a:xfrm>
            <a:off x="1492435" y="5196557"/>
            <a:ext cx="909223" cy="276999"/>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END.X SID</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8" name="圆角矩形 59"/>
          <p:cNvSpPr/>
          <p:nvPr/>
        </p:nvSpPr>
        <p:spPr bwMode="gray">
          <a:xfrm>
            <a:off x="574990" y="5224072"/>
            <a:ext cx="917445" cy="221690"/>
          </a:xfrm>
          <a:prstGeom prst="roundRect">
            <a:avLst>
              <a:gd name="adj" fmla="val 13019"/>
            </a:avLst>
          </a:prstGeom>
          <a:solidFill>
            <a:srgbClr val="D3394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FC02::1C</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9" name="圆角矩形 59"/>
          <p:cNvSpPr/>
          <p:nvPr/>
        </p:nvSpPr>
        <p:spPr bwMode="gray">
          <a:xfrm>
            <a:off x="574991" y="5466987"/>
            <a:ext cx="917445" cy="221690"/>
          </a:xfrm>
          <a:prstGeom prst="roundRect">
            <a:avLst>
              <a:gd name="adj" fmla="val 13019"/>
            </a:avLst>
          </a:prstGeom>
          <a:solidFill>
            <a:srgbClr val="56C4D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FC03::4</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0" name="文本框 27"/>
          <p:cNvSpPr txBox="1"/>
          <p:nvPr/>
        </p:nvSpPr>
        <p:spPr bwMode="gray">
          <a:xfrm>
            <a:off x="1492436" y="5434585"/>
            <a:ext cx="784189" cy="276999"/>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END SID</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2" name="圆角矩形 59"/>
          <p:cNvSpPr/>
          <p:nvPr/>
        </p:nvSpPr>
        <p:spPr bwMode="gray">
          <a:xfrm>
            <a:off x="3603517" y="3600790"/>
            <a:ext cx="917445" cy="221690"/>
          </a:xfrm>
          <a:prstGeom prst="roundRect">
            <a:avLst>
              <a:gd name="adj" fmla="val 13019"/>
            </a:avLst>
          </a:prstGeom>
          <a:solidFill>
            <a:srgbClr val="56C4D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FC01::1</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3" name="圆角矩形 59"/>
          <p:cNvSpPr/>
          <p:nvPr/>
        </p:nvSpPr>
        <p:spPr bwMode="gray">
          <a:xfrm>
            <a:off x="5754563" y="3605189"/>
            <a:ext cx="917445" cy="221690"/>
          </a:xfrm>
          <a:prstGeom prst="roundRect">
            <a:avLst>
              <a:gd name="adj" fmla="val 13019"/>
            </a:avLst>
          </a:prstGeom>
          <a:solidFill>
            <a:srgbClr val="56C4D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FC02::2</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4" name="圆角矩形 59"/>
          <p:cNvSpPr/>
          <p:nvPr/>
        </p:nvSpPr>
        <p:spPr bwMode="gray">
          <a:xfrm>
            <a:off x="7470703" y="3613894"/>
            <a:ext cx="917445" cy="221690"/>
          </a:xfrm>
          <a:prstGeom prst="roundRect">
            <a:avLst>
              <a:gd name="adj" fmla="val 13019"/>
            </a:avLst>
          </a:prstGeom>
          <a:solidFill>
            <a:srgbClr val="56C4D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FC03::3</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5" name="圆角矩形 59"/>
          <p:cNvSpPr/>
          <p:nvPr/>
        </p:nvSpPr>
        <p:spPr bwMode="gray">
          <a:xfrm>
            <a:off x="8994723" y="3599771"/>
            <a:ext cx="917445" cy="221690"/>
          </a:xfrm>
          <a:prstGeom prst="roundRect">
            <a:avLst>
              <a:gd name="adj" fmla="val 13019"/>
            </a:avLst>
          </a:prstGeom>
          <a:solidFill>
            <a:srgbClr val="56C4D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FC04::4</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7" name="圆角矩形 59"/>
          <p:cNvSpPr/>
          <p:nvPr/>
        </p:nvSpPr>
        <p:spPr bwMode="gray">
          <a:xfrm>
            <a:off x="6204166" y="3370532"/>
            <a:ext cx="917445" cy="221690"/>
          </a:xfrm>
          <a:prstGeom prst="roundRect">
            <a:avLst>
              <a:gd name="adj" fmla="val 13019"/>
            </a:avLst>
          </a:prstGeom>
          <a:solidFill>
            <a:srgbClr val="D3394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FC02::1C</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8" name="圆角矩形 59"/>
          <p:cNvSpPr/>
          <p:nvPr/>
        </p:nvSpPr>
        <p:spPr bwMode="gray">
          <a:xfrm>
            <a:off x="7018842" y="3079104"/>
            <a:ext cx="917445" cy="221690"/>
          </a:xfrm>
          <a:prstGeom prst="roundRect">
            <a:avLst>
              <a:gd name="adj" fmla="val 13019"/>
            </a:avLst>
          </a:prstGeom>
          <a:solidFill>
            <a:srgbClr val="D3394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FC03::1C</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9" name="圆角矩形 59"/>
          <p:cNvSpPr/>
          <p:nvPr/>
        </p:nvSpPr>
        <p:spPr bwMode="gray">
          <a:xfrm>
            <a:off x="574991" y="5708290"/>
            <a:ext cx="917445" cy="221690"/>
          </a:xfrm>
          <a:prstGeom prst="roundRect">
            <a:avLst>
              <a:gd name="adj" fmla="val 13019"/>
            </a:avLst>
          </a:prstGeom>
          <a:solidFill>
            <a:srgbClr val="AFD89C"/>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FC03::100</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0" name="文本框 27"/>
          <p:cNvSpPr txBox="1"/>
          <p:nvPr/>
        </p:nvSpPr>
        <p:spPr bwMode="gray">
          <a:xfrm>
            <a:off x="1492438" y="5686765"/>
            <a:ext cx="995785" cy="276999"/>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Binding SID</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graphicFrame>
        <p:nvGraphicFramePr>
          <p:cNvPr id="83" name="Table 82"/>
          <p:cNvGraphicFramePr>
            <a:graphicFrameLocks noGrp="1"/>
          </p:cNvGraphicFramePr>
          <p:nvPr/>
        </p:nvGraphicFramePr>
        <p:xfrm>
          <a:off x="3796705" y="3918293"/>
          <a:ext cx="1123866" cy="1561520"/>
        </p:xfrm>
        <a:graphic>
          <a:graphicData uri="http://schemas.openxmlformats.org/drawingml/2006/table">
            <a:tbl>
              <a:tblPr firstRow="1" bandRow="1">
                <a:tableStyleId>{72833802-FEF1-4C79-8D5D-14CF1EAF98D9}</a:tableStyleId>
              </a:tblPr>
              <a:tblGrid>
                <a:gridCol w="1123866"/>
              </a:tblGrid>
              <a:tr h="281360">
                <a:tc>
                  <a:txBody>
                    <a:bodyPr/>
                    <a:lstStyle/>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IPv6</a:t>
                      </a:r>
                      <a:r>
                        <a:rPr lang="en-US" altLang="zh-CN" sz="1200" b="0" baseline="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 Header</a:t>
                      </a:r>
                      <a:endPar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6C4D2"/>
                    </a:solidFill>
                  </a:tcPr>
                </a:tc>
              </a:tr>
              <a:tr h="763142">
                <a:tc>
                  <a:txBody>
                    <a:bodyPr/>
                    <a:lstStyle/>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SRH</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SL=</a:t>
                      </a: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3</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FC04::100</a:t>
                      </a:r>
                      <a:endPar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FC03::100</a:t>
                      </a:r>
                      <a:endPar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FC02::1C</a:t>
                      </a:r>
                      <a:endPar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FC02::2</a:t>
                      </a:r>
                      <a:endParaRPr lang="zh-CN" altLang="en-US"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EEEC1"/>
                    </a:solidFill>
                  </a:tcPr>
                </a:tc>
              </a:tr>
              <a:tr h="208130">
                <a:tc>
                  <a:txBody>
                    <a:bodyPr/>
                    <a:lstStyle/>
                    <a:p>
                      <a:pPr algn="ctr"/>
                      <a:r>
                        <a:rPr lang="en-US" altLang="zh-CN" sz="1200" dirty="0">
                          <a:solidFill>
                            <a:schemeClr val="bg1"/>
                          </a:solidFill>
                        </a:rPr>
                        <a:t>CE1-&gt;CE2</a:t>
                      </a:r>
                      <a:endParaRPr lang="zh-CN" altLang="en-US" sz="1200"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r>
            </a:tbl>
          </a:graphicData>
        </a:graphic>
      </p:graphicFrame>
      <p:sp>
        <p:nvSpPr>
          <p:cNvPr id="86" name="圆角矩形 59"/>
          <p:cNvSpPr/>
          <p:nvPr/>
        </p:nvSpPr>
        <p:spPr bwMode="gray">
          <a:xfrm>
            <a:off x="574991" y="5944552"/>
            <a:ext cx="917445" cy="221690"/>
          </a:xfrm>
          <a:prstGeom prst="roundRect">
            <a:avLst>
              <a:gd name="adj" fmla="val 13019"/>
            </a:avLst>
          </a:prstGeom>
          <a:solidFill>
            <a:srgbClr val="F28944"/>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FC04::100</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7" name="文本框 27"/>
          <p:cNvSpPr txBox="1"/>
          <p:nvPr/>
        </p:nvSpPr>
        <p:spPr bwMode="gray">
          <a:xfrm>
            <a:off x="1492438" y="5923027"/>
            <a:ext cx="1104790" cy="276999"/>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END.DT4 SID</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8" name="圆角矩形 59"/>
          <p:cNvSpPr/>
          <p:nvPr/>
        </p:nvSpPr>
        <p:spPr bwMode="gray">
          <a:xfrm>
            <a:off x="9491851" y="3220068"/>
            <a:ext cx="917445" cy="221690"/>
          </a:xfrm>
          <a:prstGeom prst="roundRect">
            <a:avLst>
              <a:gd name="adj" fmla="val 13019"/>
            </a:avLst>
          </a:prstGeom>
          <a:solidFill>
            <a:srgbClr val="F28944"/>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FC04::100</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9" name="圆角矩形 59"/>
          <p:cNvSpPr/>
          <p:nvPr/>
        </p:nvSpPr>
        <p:spPr bwMode="gray">
          <a:xfrm>
            <a:off x="7465907" y="3370532"/>
            <a:ext cx="917445" cy="221690"/>
          </a:xfrm>
          <a:prstGeom prst="roundRect">
            <a:avLst>
              <a:gd name="adj" fmla="val 13019"/>
            </a:avLst>
          </a:prstGeom>
          <a:solidFill>
            <a:srgbClr val="AFD89C"/>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FC03::100</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0" name="Rectangular Callout 26"/>
          <p:cNvSpPr/>
          <p:nvPr/>
        </p:nvSpPr>
        <p:spPr bwMode="gray">
          <a:xfrm>
            <a:off x="4632132" y="3116453"/>
            <a:ext cx="1048488" cy="650609"/>
          </a:xfrm>
          <a:prstGeom prst="wedgeRectCallout">
            <a:avLst>
              <a:gd name="adj1" fmla="val -74444"/>
              <a:gd name="adj2" fmla="val -24740"/>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栈深无法容纳端到端的</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Segment list</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aphicFrame>
        <p:nvGraphicFramePr>
          <p:cNvPr id="95" name="Table 94"/>
          <p:cNvGraphicFramePr>
            <a:graphicFrameLocks noGrp="1"/>
          </p:cNvGraphicFramePr>
          <p:nvPr/>
        </p:nvGraphicFramePr>
        <p:xfrm>
          <a:off x="5029591" y="3920448"/>
          <a:ext cx="1123866" cy="1561520"/>
        </p:xfrm>
        <a:graphic>
          <a:graphicData uri="http://schemas.openxmlformats.org/drawingml/2006/table">
            <a:tbl>
              <a:tblPr firstRow="1" bandRow="1">
                <a:tableStyleId>{72833802-FEF1-4C79-8D5D-14CF1EAF98D9}</a:tableStyleId>
              </a:tblPr>
              <a:tblGrid>
                <a:gridCol w="1123866"/>
              </a:tblGrid>
              <a:tr h="281360">
                <a:tc>
                  <a:txBody>
                    <a:bodyPr/>
                    <a:lstStyle/>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IPv6</a:t>
                      </a:r>
                      <a:r>
                        <a:rPr lang="en-US" altLang="zh-CN" sz="1200" b="0" baseline="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 Header</a:t>
                      </a:r>
                      <a:endPar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6C4D2"/>
                    </a:solidFill>
                  </a:tcPr>
                </a:tc>
              </a:tr>
              <a:tr h="763142">
                <a:tc>
                  <a:txBody>
                    <a:bodyPr/>
                    <a:lstStyle/>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SRH</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SL=</a:t>
                      </a: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2</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FC04::100</a:t>
                      </a:r>
                      <a:endPar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FC03::100</a:t>
                      </a:r>
                      <a:endPar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0" algn="ctr" defTabSz="913765" rtl="0" eaLnBrk="1" latinLnBrk="0" hangingPunct="1"/>
                      <a:r>
                        <a:rPr lang="en-US" altLang="zh-CN" sz="1200" b="1" kern="1200" dirty="0">
                          <a:solidFill>
                            <a:srgbClr val="C7000B"/>
                          </a:solidFill>
                          <a:latin typeface="Huawei Sans" panose="020C0503030203020204" pitchFamily="34" charset="0"/>
                          <a:ea typeface="方正兰亭黑简体" panose="02000000000000000000" pitchFamily="2" charset="-122"/>
                          <a:cs typeface="+mn-cs"/>
                          <a:sym typeface="Huawei Sans" panose="020C0503030203020204" pitchFamily="34" charset="0"/>
                        </a:rPr>
                        <a:t>FC02::1C</a:t>
                      </a:r>
                      <a:endParaRPr lang="en-US" altLang="zh-CN" sz="1200" b="1" kern="1200" dirty="0">
                        <a:solidFill>
                          <a:srgbClr val="C7000B"/>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FC02::2</a:t>
                      </a:r>
                      <a:endPar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EEEC1"/>
                    </a:solidFill>
                  </a:tcPr>
                </a:tc>
              </a:tr>
              <a:tr h="208130">
                <a:tc>
                  <a:txBody>
                    <a:bodyPr/>
                    <a:lstStyle/>
                    <a:p>
                      <a:pPr algn="ctr"/>
                      <a:r>
                        <a:rPr lang="en-US" altLang="zh-CN" sz="1200" dirty="0">
                          <a:solidFill>
                            <a:schemeClr val="bg1"/>
                          </a:solidFill>
                        </a:rPr>
                        <a:t>CE1-&gt;CE2</a:t>
                      </a:r>
                      <a:endParaRPr lang="zh-CN" altLang="en-US" sz="1200"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r>
            </a:tbl>
          </a:graphicData>
        </a:graphic>
      </p:graphicFrame>
      <p:graphicFrame>
        <p:nvGraphicFramePr>
          <p:cNvPr id="96" name="Table 95"/>
          <p:cNvGraphicFramePr>
            <a:graphicFrameLocks noGrp="1"/>
          </p:cNvGraphicFramePr>
          <p:nvPr/>
        </p:nvGraphicFramePr>
        <p:xfrm>
          <a:off x="6251108" y="3918293"/>
          <a:ext cx="1123866" cy="1561520"/>
        </p:xfrm>
        <a:graphic>
          <a:graphicData uri="http://schemas.openxmlformats.org/drawingml/2006/table">
            <a:tbl>
              <a:tblPr firstRow="1" bandRow="1">
                <a:tableStyleId>{72833802-FEF1-4C79-8D5D-14CF1EAF98D9}</a:tableStyleId>
              </a:tblPr>
              <a:tblGrid>
                <a:gridCol w="1123866"/>
              </a:tblGrid>
              <a:tr h="281360">
                <a:tc>
                  <a:txBody>
                    <a:bodyPr/>
                    <a:lstStyle/>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IPv6</a:t>
                      </a:r>
                      <a:r>
                        <a:rPr lang="en-US" altLang="zh-CN" sz="1200" b="0" baseline="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 Header</a:t>
                      </a:r>
                      <a:endPar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6C4D2"/>
                    </a:solidFill>
                  </a:tcPr>
                </a:tc>
              </a:tr>
              <a:tr h="763142">
                <a:tc>
                  <a:txBody>
                    <a:bodyPr/>
                    <a:lstStyle/>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SRH</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SL=</a:t>
                      </a: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1</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FC04::100</a:t>
                      </a:r>
                      <a:endPar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0" algn="ctr" defTabSz="913765" rtl="0" eaLnBrk="1" latinLnBrk="0" hangingPunct="1"/>
                      <a:r>
                        <a:rPr lang="en-US" altLang="zh-CN" sz="1200" b="1" kern="1200" dirty="0">
                          <a:solidFill>
                            <a:srgbClr val="C7000B"/>
                          </a:solidFill>
                          <a:latin typeface="Huawei Sans" panose="020C0503030203020204" pitchFamily="34" charset="0"/>
                          <a:ea typeface="方正兰亭黑简体" panose="02000000000000000000" pitchFamily="2" charset="-122"/>
                          <a:cs typeface="+mn-cs"/>
                          <a:sym typeface="Huawei Sans" panose="020C0503030203020204" pitchFamily="34" charset="0"/>
                        </a:rPr>
                        <a:t>FC03::100</a:t>
                      </a:r>
                      <a:endParaRPr lang="en-US" altLang="zh-CN" sz="1200" b="1" kern="1200" dirty="0">
                        <a:solidFill>
                          <a:srgbClr val="C7000B"/>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p>
                      <a:pPr marL="0" algn="ctr" defTabSz="913765" rtl="0" eaLnBrk="1" latinLnBrk="0" hangingPunct="1"/>
                      <a:r>
                        <a:rPr lang="en-US" altLang="zh-CN"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FC02::1C</a:t>
                      </a:r>
                      <a:endParaRPr lang="en-US" altLang="zh-CN"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FC02::2</a:t>
                      </a:r>
                      <a:endPar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EEEC1"/>
                    </a:solidFill>
                  </a:tcPr>
                </a:tc>
              </a:tr>
              <a:tr h="208130">
                <a:tc>
                  <a:txBody>
                    <a:bodyPr/>
                    <a:lstStyle/>
                    <a:p>
                      <a:pPr algn="ctr"/>
                      <a:r>
                        <a:rPr lang="en-US" altLang="zh-CN" sz="1200" dirty="0">
                          <a:solidFill>
                            <a:schemeClr val="bg1"/>
                          </a:solidFill>
                        </a:rPr>
                        <a:t>CE1-&gt;CE2</a:t>
                      </a:r>
                      <a:endParaRPr lang="zh-CN" altLang="en-US" sz="1200"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r>
            </a:tbl>
          </a:graphicData>
        </a:graphic>
      </p:graphicFrame>
      <p:graphicFrame>
        <p:nvGraphicFramePr>
          <p:cNvPr id="97" name="Table 96"/>
          <p:cNvGraphicFramePr>
            <a:graphicFrameLocks noGrp="1"/>
          </p:cNvGraphicFramePr>
          <p:nvPr/>
        </p:nvGraphicFramePr>
        <p:xfrm>
          <a:off x="7644362" y="3921440"/>
          <a:ext cx="1123866" cy="2018720"/>
        </p:xfrm>
        <a:graphic>
          <a:graphicData uri="http://schemas.openxmlformats.org/drawingml/2006/table">
            <a:tbl>
              <a:tblPr firstRow="1" bandRow="1">
                <a:tableStyleId>{72833802-FEF1-4C79-8D5D-14CF1EAF98D9}</a:tableStyleId>
              </a:tblPr>
              <a:tblGrid>
                <a:gridCol w="1123866"/>
              </a:tblGrid>
              <a:tr h="281360">
                <a:tc>
                  <a:txBody>
                    <a:bodyPr/>
                    <a:lstStyle/>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IPv6</a:t>
                      </a:r>
                      <a:r>
                        <a:rPr lang="en-US" altLang="zh-CN" sz="1200" b="0" baseline="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 Header</a:t>
                      </a:r>
                      <a:endPar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6C4D2"/>
                    </a:solidFill>
                  </a:tcPr>
                </a:tc>
              </a:tr>
              <a:tr h="143747">
                <a:tc>
                  <a:txBody>
                    <a:bodyPr/>
                    <a:lstStyle/>
                    <a:p>
                      <a:pPr marL="0" marR="0" lvl="0" indent="0" algn="ctr" defTabSz="913765" rtl="0" eaLnBrk="1" fontAlgn="auto" latinLnBrk="0" hangingPunct="1">
                        <a:lnSpc>
                          <a:spcPct val="100000"/>
                        </a:lnSpc>
                        <a:spcBef>
                          <a:spcPts val="0"/>
                        </a:spcBef>
                        <a:spcAft>
                          <a:spcPts val="0"/>
                        </a:spcAft>
                        <a:buClrTx/>
                        <a:buSzTx/>
                        <a:buFontTx/>
                        <a:buNone/>
                        <a:defRPr/>
                      </a:pP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SRH</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SL=</a:t>
                      </a: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0</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FC04::4</a:t>
                      </a:r>
                      <a:endPar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EEEC1"/>
                    </a:solidFill>
                  </a:tcPr>
                </a:tc>
              </a:tr>
              <a:tr h="763142">
                <a:tc>
                  <a:txBody>
                    <a:bodyPr/>
                    <a:lstStyle/>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SRH</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SL=</a:t>
                      </a: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0</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0" algn="ctr" defTabSz="913765" rtl="0" eaLnBrk="1" latinLnBrk="0" hangingPunct="1"/>
                      <a:r>
                        <a:rPr lang="en-US" altLang="zh-CN" sz="1200" b="1" kern="1200" dirty="0">
                          <a:solidFill>
                            <a:srgbClr val="C7000B"/>
                          </a:solidFill>
                          <a:latin typeface="Huawei Sans" panose="020C0503030203020204" pitchFamily="34" charset="0"/>
                          <a:ea typeface="方正兰亭黑简体" panose="02000000000000000000" pitchFamily="2" charset="-122"/>
                          <a:cs typeface="+mn-cs"/>
                          <a:sym typeface="Huawei Sans" panose="020C0503030203020204" pitchFamily="34" charset="0"/>
                        </a:rPr>
                        <a:t>FC04::100</a:t>
                      </a:r>
                      <a:endParaRPr lang="en-US" altLang="zh-CN" sz="1200" b="1" kern="1200" dirty="0">
                        <a:solidFill>
                          <a:srgbClr val="C7000B"/>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p>
                      <a:pPr marL="0" algn="ctr" defTabSz="913765" rtl="0" eaLnBrk="1" latinLnBrk="0" hangingPunct="1"/>
                      <a:r>
                        <a:rPr lang="en-US" altLang="zh-CN"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FC03::100</a:t>
                      </a:r>
                      <a:endParaRPr lang="en-US" altLang="zh-CN"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p>
                      <a:pPr marL="0" algn="ctr" defTabSz="913765" rtl="0" eaLnBrk="1" latinLnBrk="0" hangingPunct="1"/>
                      <a:r>
                        <a:rPr lang="en-US" altLang="zh-CN"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FC02::1C</a:t>
                      </a:r>
                      <a:endParaRPr lang="en-US" altLang="zh-CN"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FC02::2</a:t>
                      </a:r>
                      <a:endPar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EEEC1"/>
                    </a:solidFill>
                  </a:tcPr>
                </a:tc>
              </a:tr>
              <a:tr h="208130">
                <a:tc>
                  <a:txBody>
                    <a:bodyPr/>
                    <a:lstStyle/>
                    <a:p>
                      <a:pPr algn="ctr"/>
                      <a:r>
                        <a:rPr lang="en-US" altLang="zh-CN" sz="1200" dirty="0">
                          <a:solidFill>
                            <a:schemeClr val="bg1"/>
                          </a:solidFill>
                        </a:rPr>
                        <a:t>CE1-&gt;CE2</a:t>
                      </a:r>
                      <a:endParaRPr lang="zh-CN" altLang="en-US" sz="1200"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r>
            </a:tbl>
          </a:graphicData>
        </a:graphic>
      </p:graphicFrame>
      <p:graphicFrame>
        <p:nvGraphicFramePr>
          <p:cNvPr id="99" name="Table 98"/>
          <p:cNvGraphicFramePr>
            <a:graphicFrameLocks noGrp="1"/>
          </p:cNvGraphicFramePr>
          <p:nvPr/>
        </p:nvGraphicFramePr>
        <p:xfrm>
          <a:off x="9173995" y="3918293"/>
          <a:ext cx="1123866" cy="1561520"/>
        </p:xfrm>
        <a:graphic>
          <a:graphicData uri="http://schemas.openxmlformats.org/drawingml/2006/table">
            <a:tbl>
              <a:tblPr firstRow="1" bandRow="1">
                <a:tableStyleId>{72833802-FEF1-4C79-8D5D-14CF1EAF98D9}</a:tableStyleId>
              </a:tblPr>
              <a:tblGrid>
                <a:gridCol w="1123866"/>
              </a:tblGrid>
              <a:tr h="281360">
                <a:tc>
                  <a:txBody>
                    <a:bodyPr/>
                    <a:lstStyle/>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IPv6</a:t>
                      </a:r>
                      <a:r>
                        <a:rPr lang="en-US" altLang="zh-CN" sz="1200" b="0" baseline="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 Header</a:t>
                      </a:r>
                      <a:endPar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6C4D2"/>
                    </a:solidFill>
                  </a:tcPr>
                </a:tc>
              </a:tr>
              <a:tr h="763142">
                <a:tc>
                  <a:txBody>
                    <a:bodyPr/>
                    <a:lstStyle/>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SRH</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SL=</a:t>
                      </a: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0</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0" algn="ctr" defTabSz="913765" rtl="0" eaLnBrk="1" latinLnBrk="0" hangingPunct="1"/>
                      <a:r>
                        <a:rPr lang="en-US" altLang="zh-CN" sz="1200" b="1" kern="1200" dirty="0">
                          <a:solidFill>
                            <a:srgbClr val="C7000B"/>
                          </a:solidFill>
                          <a:latin typeface="Huawei Sans" panose="020C0503030203020204" pitchFamily="34" charset="0"/>
                          <a:ea typeface="方正兰亭黑简体" panose="02000000000000000000" pitchFamily="2" charset="-122"/>
                          <a:cs typeface="+mn-cs"/>
                          <a:sym typeface="Huawei Sans" panose="020C0503030203020204" pitchFamily="34" charset="0"/>
                        </a:rPr>
                        <a:t>FC04::100</a:t>
                      </a:r>
                      <a:endParaRPr lang="en-US" altLang="zh-CN" sz="1200" b="1" kern="1200" dirty="0">
                        <a:solidFill>
                          <a:srgbClr val="C7000B"/>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p>
                      <a:pPr marL="0" algn="ctr" defTabSz="913765" rtl="0" eaLnBrk="1" latinLnBrk="0" hangingPunct="1"/>
                      <a:r>
                        <a:rPr lang="en-US" altLang="zh-CN"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FC03::100</a:t>
                      </a:r>
                      <a:endParaRPr lang="en-US" altLang="zh-CN"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p>
                      <a:pPr marL="0" algn="ctr" defTabSz="913765" rtl="0" eaLnBrk="1" latinLnBrk="0" hangingPunct="1"/>
                      <a:r>
                        <a:rPr lang="en-US" altLang="zh-CN"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FC02::1C</a:t>
                      </a:r>
                      <a:endParaRPr lang="en-US" altLang="zh-CN"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FC02::2</a:t>
                      </a:r>
                      <a:endPar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EEEC1"/>
                    </a:solidFill>
                  </a:tcPr>
                </a:tc>
              </a:tr>
              <a:tr h="208130">
                <a:tc>
                  <a:txBody>
                    <a:bodyPr/>
                    <a:lstStyle/>
                    <a:p>
                      <a:pPr algn="ctr"/>
                      <a:r>
                        <a:rPr lang="en-US" altLang="zh-CN" sz="1200" dirty="0">
                          <a:solidFill>
                            <a:schemeClr val="bg1"/>
                          </a:solidFill>
                        </a:rPr>
                        <a:t>CE1-&gt;CE2</a:t>
                      </a:r>
                      <a:endParaRPr lang="zh-CN" altLang="en-US" sz="1200"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r>
            </a:tbl>
          </a:graphicData>
        </a:graphic>
      </p:graphicFrame>
      <p:graphicFrame>
        <p:nvGraphicFramePr>
          <p:cNvPr id="100" name="Table 99"/>
          <p:cNvGraphicFramePr>
            <a:graphicFrameLocks noGrp="1"/>
          </p:cNvGraphicFramePr>
          <p:nvPr/>
        </p:nvGraphicFramePr>
        <p:xfrm>
          <a:off x="2312748" y="3587579"/>
          <a:ext cx="1009154" cy="274320"/>
        </p:xfrm>
        <a:graphic>
          <a:graphicData uri="http://schemas.openxmlformats.org/drawingml/2006/table">
            <a:tbl>
              <a:tblPr firstRow="1" bandRow="1">
                <a:tableStyleId>{72833802-FEF1-4C79-8D5D-14CF1EAF98D9}</a:tableStyleId>
              </a:tblPr>
              <a:tblGrid>
                <a:gridCol w="1009154"/>
              </a:tblGrid>
              <a:tr h="208130">
                <a:tc>
                  <a:txBody>
                    <a:bodyPr/>
                    <a:lstStyle/>
                    <a:p>
                      <a:pPr algn="ctr"/>
                      <a:r>
                        <a:rPr lang="en-US" altLang="zh-CN" sz="1200" dirty="0">
                          <a:solidFill>
                            <a:schemeClr val="bg1"/>
                          </a:solidFill>
                        </a:rPr>
                        <a:t>CE1-&gt;CE2</a:t>
                      </a:r>
                      <a:endParaRPr lang="zh-CN" altLang="en-US" sz="1200"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r>
            </a:tbl>
          </a:graphicData>
        </a:graphic>
      </p:graphicFrame>
      <p:graphicFrame>
        <p:nvGraphicFramePr>
          <p:cNvPr id="101" name="Table 100"/>
          <p:cNvGraphicFramePr>
            <a:graphicFrameLocks noGrp="1"/>
          </p:cNvGraphicFramePr>
          <p:nvPr/>
        </p:nvGraphicFramePr>
        <p:xfrm>
          <a:off x="10471988" y="3589905"/>
          <a:ext cx="1009154" cy="274320"/>
        </p:xfrm>
        <a:graphic>
          <a:graphicData uri="http://schemas.openxmlformats.org/drawingml/2006/table">
            <a:tbl>
              <a:tblPr firstRow="1" bandRow="1">
                <a:tableStyleId>{72833802-FEF1-4C79-8D5D-14CF1EAF98D9}</a:tableStyleId>
              </a:tblPr>
              <a:tblGrid>
                <a:gridCol w="1009154"/>
              </a:tblGrid>
              <a:tr h="208130">
                <a:tc>
                  <a:txBody>
                    <a:bodyPr/>
                    <a:lstStyle/>
                    <a:p>
                      <a:pPr algn="ctr"/>
                      <a:r>
                        <a:rPr lang="en-US" altLang="zh-CN" sz="1200" dirty="0">
                          <a:solidFill>
                            <a:schemeClr val="bg1"/>
                          </a:solidFill>
                        </a:rPr>
                        <a:t>CE1-&gt;CE2</a:t>
                      </a:r>
                      <a:endParaRPr lang="zh-CN" altLang="en-US" sz="1200"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r>
            </a:tbl>
          </a:graphicData>
        </a:graphic>
      </p:graphicFrame>
      <p:sp>
        <p:nvSpPr>
          <p:cNvPr id="6" name="Rectangular Callout 26"/>
          <p:cNvSpPr/>
          <p:nvPr/>
        </p:nvSpPr>
        <p:spPr bwMode="gray">
          <a:xfrm>
            <a:off x="665703" y="2868967"/>
            <a:ext cx="807799" cy="488261"/>
          </a:xfrm>
          <a:prstGeom prst="wedgeRectCallout">
            <a:avLst>
              <a:gd name="adj1" fmla="val 18710"/>
              <a:gd name="adj2" fmla="val 73325"/>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假设设备栈深为</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4</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65" name="Rectangular Callout 26"/>
          <p:cNvSpPr/>
          <p:nvPr/>
        </p:nvSpPr>
        <p:spPr bwMode="gray">
          <a:xfrm>
            <a:off x="3796705" y="5502386"/>
            <a:ext cx="1123866" cy="352903"/>
          </a:xfrm>
          <a:prstGeom prst="rect">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从</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PE1</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发出</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66" name="Rectangular Callout 26"/>
          <p:cNvSpPr/>
          <p:nvPr/>
        </p:nvSpPr>
        <p:spPr bwMode="gray">
          <a:xfrm>
            <a:off x="5029591" y="5502386"/>
            <a:ext cx="1123866" cy="352903"/>
          </a:xfrm>
          <a:prstGeom prst="rect">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ASBR1</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内部处理</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71" name="Rectangular Callout 26"/>
          <p:cNvSpPr/>
          <p:nvPr/>
        </p:nvSpPr>
        <p:spPr bwMode="gray">
          <a:xfrm>
            <a:off x="6251108" y="5496551"/>
            <a:ext cx="1123866" cy="352903"/>
          </a:xfrm>
          <a:prstGeom prst="rect">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ASBR1</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内部处理</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76" name="Rectangular Callout 26"/>
          <p:cNvSpPr/>
          <p:nvPr/>
        </p:nvSpPr>
        <p:spPr bwMode="gray">
          <a:xfrm>
            <a:off x="7644363" y="5957505"/>
            <a:ext cx="1123866" cy="213990"/>
          </a:xfrm>
          <a:prstGeom prst="rect">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从</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ASBR2</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发出</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2" name="Rectangular Callout 26"/>
          <p:cNvSpPr/>
          <p:nvPr/>
        </p:nvSpPr>
        <p:spPr bwMode="gray">
          <a:xfrm>
            <a:off x="9173995" y="5521222"/>
            <a:ext cx="1123866" cy="352903"/>
          </a:xfrm>
          <a:prstGeom prst="rect">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PE2</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内部处理</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 name="TextBox 7"/>
          <p:cNvSpPr txBox="1"/>
          <p:nvPr/>
        </p:nvSpPr>
        <p:spPr>
          <a:xfrm>
            <a:off x="10503139" y="5788095"/>
            <a:ext cx="1040670" cy="307777"/>
          </a:xfrm>
          <a:prstGeom prst="rect">
            <a:avLst/>
          </a:prstGeom>
          <a:noFill/>
        </p:spPr>
        <p:txBody>
          <a:bodyPr wrap="none" rtlCol="0">
            <a:spAutoFit/>
          </a:bodyPr>
          <a:lstStyle/>
          <a:p>
            <a:r>
              <a:rPr lang="en-US" altLang="zh-CN" sz="1400" b="1" dirty="0">
                <a:solidFill>
                  <a:srgbClr val="C7000B"/>
                </a:solidFill>
              </a:rPr>
              <a:t>Insert</a:t>
            </a:r>
            <a:r>
              <a:rPr lang="zh-CN" altLang="en-US" sz="1400" b="1" dirty="0">
                <a:solidFill>
                  <a:srgbClr val="C7000B"/>
                </a:solidFill>
              </a:rPr>
              <a:t>模式</a:t>
            </a:r>
            <a:endParaRPr lang="zh-CN" altLang="en-US" sz="1400" b="1" dirty="0">
              <a:solidFill>
                <a:srgbClr val="C7000B"/>
              </a:solidFill>
            </a:endParaRPr>
          </a:p>
        </p:txBody>
      </p:sp>
      <p:sp>
        <p:nvSpPr>
          <p:cNvPr id="81" name="五边形 2"/>
          <p:cNvSpPr/>
          <p:nvPr/>
        </p:nvSpPr>
        <p:spPr bwMode="gray">
          <a:xfrm>
            <a:off x="8562976" y="110463"/>
            <a:ext cx="1531726"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SRv6 Policy</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路径建立</a:t>
            </a:r>
            <a:endPar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5" name="燕尾形 3"/>
          <p:cNvSpPr/>
          <p:nvPr/>
        </p:nvSpPr>
        <p:spPr bwMode="gray">
          <a:xfrm>
            <a:off x="10018141" y="110463"/>
            <a:ext cx="1730947"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SRv6 Policy</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引流</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Right Arrow 101"/>
          <p:cNvSpPr/>
          <p:nvPr/>
        </p:nvSpPr>
        <p:spPr bwMode="gray">
          <a:xfrm>
            <a:off x="3421546" y="3946850"/>
            <a:ext cx="7965064" cy="462456"/>
          </a:xfrm>
          <a:prstGeom prst="rightArrow">
            <a:avLst/>
          </a:prstGeom>
          <a:solidFill>
            <a:srgbClr val="BEE9EE"/>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Text Placeholder 2"/>
          <p:cNvSpPr>
            <a:spLocks noGrp="1"/>
          </p:cNvSpPr>
          <p:nvPr>
            <p:ph type="body" sz="quarter" idx="10"/>
          </p:nvPr>
        </p:nvSpPr>
        <p:spPr bwMode="gray"/>
        <p:txBody>
          <a:bodyPr/>
          <a:lstStyle/>
          <a:p>
            <a:r>
              <a:rPr lang="en-US" altLang="zh-CN" sz="1800" dirty="0"/>
              <a:t>SRv6</a:t>
            </a:r>
            <a:r>
              <a:rPr lang="zh-CN" altLang="en-US" sz="1800" dirty="0"/>
              <a:t>粘连标签常用的有两种封装模式：</a:t>
            </a:r>
            <a:endParaRPr lang="en-US" altLang="zh-CN" sz="1800" dirty="0"/>
          </a:p>
          <a:p>
            <a:pPr lvl="1"/>
            <a:r>
              <a:rPr lang="en-US" altLang="zh-CN" sz="1400" dirty="0"/>
              <a:t>Insert</a:t>
            </a:r>
            <a:r>
              <a:rPr lang="zh-CN" altLang="en-US" sz="1400" dirty="0"/>
              <a:t>模式：在原始</a:t>
            </a:r>
            <a:r>
              <a:rPr lang="en-US" altLang="zh-CN" sz="1400" dirty="0"/>
              <a:t>IPv6 </a:t>
            </a:r>
            <a:r>
              <a:rPr lang="zh-CN" altLang="en-US" sz="1400" dirty="0"/>
              <a:t>报文头后插入一个 </a:t>
            </a:r>
            <a:r>
              <a:rPr lang="en-US" altLang="zh-CN" sz="1400" dirty="0"/>
              <a:t>SRH</a:t>
            </a:r>
            <a:r>
              <a:rPr lang="zh-CN" altLang="en-US" sz="1400" dirty="0"/>
              <a:t>，数据包基于原始</a:t>
            </a:r>
            <a:r>
              <a:rPr lang="en-US" altLang="zh-CN" sz="1400" dirty="0"/>
              <a:t>IPv6</a:t>
            </a:r>
            <a:r>
              <a:rPr lang="zh-CN" altLang="en-US" sz="1400" dirty="0"/>
              <a:t>头部与新</a:t>
            </a:r>
            <a:r>
              <a:rPr lang="en-US" altLang="zh-CN" sz="1400" dirty="0"/>
              <a:t>SRH</a:t>
            </a:r>
            <a:r>
              <a:rPr lang="zh-CN" altLang="en-US" sz="1400" dirty="0"/>
              <a:t>头指导转发。</a:t>
            </a:r>
            <a:endParaRPr lang="en-US" altLang="zh-CN" sz="1400" dirty="0"/>
          </a:p>
          <a:p>
            <a:pPr lvl="1"/>
            <a:r>
              <a:rPr lang="en-US" altLang="zh-CN" sz="1400" dirty="0" err="1"/>
              <a:t>Encaps</a:t>
            </a:r>
            <a:r>
              <a:rPr lang="zh-CN" altLang="en-US" sz="1400" dirty="0"/>
              <a:t>模式：在原始</a:t>
            </a:r>
            <a:r>
              <a:rPr lang="en-US" altLang="zh-CN" sz="1400" dirty="0"/>
              <a:t>IPv6 </a:t>
            </a:r>
            <a:r>
              <a:rPr lang="zh-CN" altLang="en-US" sz="1400" dirty="0"/>
              <a:t>报文头前插入外层</a:t>
            </a:r>
            <a:r>
              <a:rPr lang="en-US" altLang="zh-CN" sz="1400" dirty="0"/>
              <a:t>IPv6</a:t>
            </a:r>
            <a:r>
              <a:rPr lang="zh-CN" altLang="en-US" sz="1400" dirty="0"/>
              <a:t>头部与</a:t>
            </a:r>
            <a:r>
              <a:rPr lang="en-US" altLang="zh-CN" sz="1400" dirty="0"/>
              <a:t>SRH</a:t>
            </a:r>
            <a:r>
              <a:rPr lang="zh-CN" altLang="en-US" sz="1400" dirty="0"/>
              <a:t>头，数据包基于外层</a:t>
            </a:r>
            <a:r>
              <a:rPr lang="en-US" altLang="zh-CN" sz="1400" dirty="0"/>
              <a:t>IPv6</a:t>
            </a:r>
            <a:r>
              <a:rPr lang="zh-CN" altLang="en-US" sz="1400" dirty="0"/>
              <a:t>头部与</a:t>
            </a:r>
            <a:r>
              <a:rPr lang="en-US" altLang="zh-CN" sz="1400" dirty="0"/>
              <a:t>SRH</a:t>
            </a:r>
            <a:r>
              <a:rPr lang="zh-CN" altLang="en-US" sz="1400" dirty="0"/>
              <a:t>头部转发数据。</a:t>
            </a:r>
            <a:endParaRPr lang="en-US" altLang="zh-CN" sz="1400" dirty="0"/>
          </a:p>
          <a:p>
            <a:pPr lvl="1"/>
            <a:endParaRPr lang="zh-CN" altLang="en-US" sz="1600" dirty="0"/>
          </a:p>
        </p:txBody>
      </p:sp>
      <p:sp>
        <p:nvSpPr>
          <p:cNvPr id="38" name="Rounded Rectangle 37"/>
          <p:cNvSpPr/>
          <p:nvPr/>
        </p:nvSpPr>
        <p:spPr bwMode="gray">
          <a:xfrm>
            <a:off x="3421546" y="2328229"/>
            <a:ext cx="3250462" cy="1061691"/>
          </a:xfrm>
          <a:prstGeom prst="roundRect">
            <a:avLst>
              <a:gd name="adj" fmla="val 3029"/>
            </a:avLst>
          </a:prstGeom>
          <a:noFill/>
          <a:ln w="19050">
            <a:solidFill>
              <a:srgbClr val="56C4D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ltLang="zh-CN" sz="1400" dirty="0">
                <a:solidFill>
                  <a:sysClr val="windowText" lastClr="000000"/>
                </a:solidFill>
              </a:rPr>
              <a:t>AS65001</a:t>
            </a:r>
            <a:endParaRPr lang="zh-CN" altLang="en-US" dirty="0">
              <a:solidFill>
                <a:sysClr val="windowText" lastClr="000000"/>
              </a:solidFill>
            </a:endParaRPr>
          </a:p>
        </p:txBody>
      </p:sp>
      <p:sp>
        <p:nvSpPr>
          <p:cNvPr id="39" name="Rounded Rectangle 38"/>
          <p:cNvSpPr/>
          <p:nvPr/>
        </p:nvSpPr>
        <p:spPr bwMode="gray">
          <a:xfrm>
            <a:off x="7568495" y="2327502"/>
            <a:ext cx="2548426" cy="1058617"/>
          </a:xfrm>
          <a:prstGeom prst="roundRect">
            <a:avLst>
              <a:gd name="adj" fmla="val 3029"/>
            </a:avLst>
          </a:prstGeom>
          <a:noFill/>
          <a:ln w="19050">
            <a:solidFill>
              <a:srgbClr val="56C4D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ltLang="zh-CN" sz="1400" dirty="0">
                <a:solidFill>
                  <a:sysClr val="windowText" lastClr="000000"/>
                </a:solidFill>
              </a:rPr>
              <a:t>AS65002</a:t>
            </a:r>
            <a:endParaRPr lang="zh-CN" altLang="en-US" sz="1400" dirty="0">
              <a:solidFill>
                <a:sysClr val="windowText" lastClr="000000"/>
              </a:solidFill>
            </a:endParaRPr>
          </a:p>
        </p:txBody>
      </p:sp>
      <p:sp>
        <p:nvSpPr>
          <p:cNvPr id="2" name="Title 1"/>
          <p:cNvSpPr>
            <a:spLocks noGrp="1"/>
          </p:cNvSpPr>
          <p:nvPr>
            <p:ph type="title"/>
          </p:nvPr>
        </p:nvSpPr>
        <p:spPr bwMode="gray"/>
        <p:txBody>
          <a:bodyPr/>
          <a:lstStyle/>
          <a:p>
            <a:r>
              <a:rPr lang="en-US" altLang="zh-CN" dirty="0"/>
              <a:t>SRv6 Policy</a:t>
            </a:r>
            <a:r>
              <a:rPr lang="zh-CN" altLang="en-US" dirty="0"/>
              <a:t>路径粘连 </a:t>
            </a:r>
            <a:r>
              <a:rPr lang="en-US" altLang="zh-CN" dirty="0"/>
              <a:t>(2)</a:t>
            </a:r>
            <a:endParaRPr lang="zh-CN" altLang="en-US" dirty="0"/>
          </a:p>
        </p:txBody>
      </p:sp>
      <p:pic>
        <p:nvPicPr>
          <p:cNvPr id="4" name="图片 17"/>
          <p:cNvPicPr/>
          <p:nvPr/>
        </p:nvPicPr>
        <p:blipFill>
          <a:blip r:embed="rId1" cstate="print">
            <a:extLst>
              <a:ext uri="{28A0092B-C50C-407E-A947-70E740481C1C}">
                <a14:useLocalDpi xmlns:a14="http://schemas.microsoft.com/office/drawing/2010/main" val="0"/>
              </a:ext>
            </a:extLst>
          </a:blip>
          <a:stretch>
            <a:fillRect/>
          </a:stretch>
        </p:blipFill>
        <p:spPr bwMode="gray">
          <a:xfrm>
            <a:off x="2598560" y="2615938"/>
            <a:ext cx="540000" cy="442800"/>
          </a:xfrm>
          <a:prstGeom prst="rect">
            <a:avLst/>
          </a:prstGeom>
        </p:spPr>
      </p:pic>
      <p:graphicFrame>
        <p:nvGraphicFramePr>
          <p:cNvPr id="5" name="Table 4"/>
          <p:cNvGraphicFramePr>
            <a:graphicFrameLocks noGrp="1"/>
          </p:cNvGraphicFramePr>
          <p:nvPr/>
        </p:nvGraphicFramePr>
        <p:xfrm>
          <a:off x="583168" y="3620147"/>
          <a:ext cx="1420080" cy="1005840"/>
        </p:xfrm>
        <a:graphic>
          <a:graphicData uri="http://schemas.openxmlformats.org/drawingml/2006/table">
            <a:tbl>
              <a:tblPr firstRow="1" bandRow="1">
                <a:tableStyleId>{72833802-FEF1-4C79-8D5D-14CF1EAF98D9}</a:tableStyleId>
              </a:tblPr>
              <a:tblGrid>
                <a:gridCol w="1420080"/>
              </a:tblGrid>
              <a:tr h="418918">
                <a:tc>
                  <a:txBody>
                    <a:bodyPr/>
                    <a:lstStyle/>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SRH</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SL=</a:t>
                      </a: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3</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Segment List</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0</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0" marR="0" lvl="0" indent="0" algn="ctr" defTabSz="913765" rtl="0" eaLnBrk="1" fontAlgn="auto" latinLnBrk="0" hangingPunct="1">
                        <a:lnSpc>
                          <a:spcPct val="100000"/>
                        </a:lnSpc>
                        <a:spcBef>
                          <a:spcPts val="0"/>
                        </a:spcBef>
                        <a:spcAft>
                          <a:spcPts val="0"/>
                        </a:spcAft>
                        <a:buClrTx/>
                        <a:buSzTx/>
                        <a:buFontTx/>
                        <a:buNone/>
                        <a:defRPr/>
                      </a:pP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Segment List</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1</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0" marR="0" lvl="0" indent="0" algn="ctr" defTabSz="913765" rtl="0" eaLnBrk="1" fontAlgn="auto" latinLnBrk="0" hangingPunct="1">
                        <a:lnSpc>
                          <a:spcPct val="100000"/>
                        </a:lnSpc>
                        <a:spcBef>
                          <a:spcPts val="0"/>
                        </a:spcBef>
                        <a:spcAft>
                          <a:spcPts val="0"/>
                        </a:spcAft>
                        <a:buClrTx/>
                        <a:buSzTx/>
                        <a:buFontTx/>
                        <a:buNone/>
                        <a:defRPr/>
                      </a:pP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Segment List</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2</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p>
                      <a:pPr marL="0" marR="0" lvl="0" indent="0" algn="ctr" defTabSz="913765" rtl="0" eaLnBrk="1" fontAlgn="auto" latinLnBrk="0" hangingPunct="1">
                        <a:lnSpc>
                          <a:spcPct val="100000"/>
                        </a:lnSpc>
                        <a:spcBef>
                          <a:spcPts val="0"/>
                        </a:spcBef>
                        <a:spcAft>
                          <a:spcPts val="0"/>
                        </a:spcAft>
                        <a:buClrTx/>
                        <a:buSzTx/>
                        <a:buFontTx/>
                        <a:buNone/>
                        <a:defRPr/>
                      </a:pP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Segment List</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3</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EEEC1"/>
                    </a:solidFill>
                  </a:tcPr>
                </a:tc>
              </a:tr>
            </a:tbl>
          </a:graphicData>
        </a:graphic>
      </p:graphicFrame>
      <p:pic>
        <p:nvPicPr>
          <p:cNvPr id="7" name="图片 17"/>
          <p:cNvPicPr/>
          <p:nvPr/>
        </p:nvPicPr>
        <p:blipFill>
          <a:blip r:embed="rId1" cstate="print">
            <a:extLst>
              <a:ext uri="{28A0092B-C50C-407E-A947-70E740481C1C}">
                <a14:useLocalDpi xmlns:a14="http://schemas.microsoft.com/office/drawing/2010/main" val="0"/>
              </a:ext>
            </a:extLst>
          </a:blip>
          <a:stretch>
            <a:fillRect/>
          </a:stretch>
        </p:blipFill>
        <p:spPr bwMode="gray">
          <a:xfrm>
            <a:off x="3812281" y="2615938"/>
            <a:ext cx="540000" cy="442800"/>
          </a:xfrm>
          <a:prstGeom prst="rect">
            <a:avLst/>
          </a:prstGeom>
        </p:spPr>
      </p:pic>
      <p:pic>
        <p:nvPicPr>
          <p:cNvPr id="9" name="图片 17"/>
          <p:cNvPicPr/>
          <p:nvPr/>
        </p:nvPicPr>
        <p:blipFill>
          <a:blip r:embed="rId1" cstate="print">
            <a:extLst>
              <a:ext uri="{28A0092B-C50C-407E-A947-70E740481C1C}">
                <a14:useLocalDpi xmlns:a14="http://schemas.microsoft.com/office/drawing/2010/main" val="0"/>
              </a:ext>
            </a:extLst>
          </a:blip>
          <a:stretch>
            <a:fillRect/>
          </a:stretch>
        </p:blipFill>
        <p:spPr bwMode="gray">
          <a:xfrm>
            <a:off x="5954524" y="2615938"/>
            <a:ext cx="540000" cy="442800"/>
          </a:xfrm>
          <a:prstGeom prst="rect">
            <a:avLst/>
          </a:prstGeom>
        </p:spPr>
      </p:pic>
      <p:cxnSp>
        <p:nvCxnSpPr>
          <p:cNvPr id="15" name="直接连接符 18"/>
          <p:cNvCxnSpPr>
            <a:stCxn id="7" idx="1"/>
            <a:endCxn id="4" idx="3"/>
          </p:cNvCxnSpPr>
          <p:nvPr/>
        </p:nvCxnSpPr>
        <p:spPr bwMode="gray">
          <a:xfrm flipH="1">
            <a:off x="3138560" y="2837338"/>
            <a:ext cx="673721"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18"/>
          <p:cNvCxnSpPr>
            <a:stCxn id="9" idx="3"/>
            <a:endCxn id="52" idx="1"/>
          </p:cNvCxnSpPr>
          <p:nvPr/>
        </p:nvCxnSpPr>
        <p:spPr bwMode="gray">
          <a:xfrm>
            <a:off x="6494524" y="2837338"/>
            <a:ext cx="1180226"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40" name="Left Brace 39"/>
          <p:cNvSpPr/>
          <p:nvPr/>
        </p:nvSpPr>
        <p:spPr bwMode="gray">
          <a:xfrm flipH="1">
            <a:off x="2017066" y="3624273"/>
            <a:ext cx="72618" cy="1002039"/>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1" name="文本框 27"/>
          <p:cNvSpPr txBox="1"/>
          <p:nvPr/>
        </p:nvSpPr>
        <p:spPr bwMode="gray">
          <a:xfrm>
            <a:off x="2099213" y="3861457"/>
            <a:ext cx="313277" cy="523220"/>
          </a:xfrm>
          <a:prstGeom prst="rect">
            <a:avLst/>
          </a:prstGeom>
          <a:noFill/>
        </p:spPr>
        <p:txBody>
          <a:bodyPr wrap="square" rtlCol="0">
            <a:spAutoFit/>
          </a:bodyPr>
          <a:lstStyle/>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栈深</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Trapezoid 43"/>
          <p:cNvSpPr/>
          <p:nvPr/>
        </p:nvSpPr>
        <p:spPr bwMode="gray">
          <a:xfrm>
            <a:off x="583168" y="3388284"/>
            <a:ext cx="1420079" cy="235663"/>
          </a:xfrm>
          <a:prstGeom prst="trapezoid">
            <a:avLst>
              <a:gd name="adj" fmla="val 228972"/>
            </a:avLst>
          </a:prstGeom>
          <a:gradFill>
            <a:gsLst>
              <a:gs pos="0">
                <a:schemeClr val="accent1">
                  <a:lumMod val="5000"/>
                  <a:lumOff val="95000"/>
                  <a:alpha val="50000"/>
                </a:schemeClr>
              </a:gs>
              <a:gs pos="100000">
                <a:srgbClr val="FEEEC1">
                  <a:alpha val="5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2" name="图片 17"/>
          <p:cNvPicPr/>
          <p:nvPr/>
        </p:nvPicPr>
        <p:blipFill>
          <a:blip r:embed="rId1" cstate="print">
            <a:extLst>
              <a:ext uri="{28A0092B-C50C-407E-A947-70E740481C1C}">
                <a14:useLocalDpi xmlns:a14="http://schemas.microsoft.com/office/drawing/2010/main" val="0"/>
              </a:ext>
            </a:extLst>
          </a:blip>
          <a:stretch>
            <a:fillRect/>
          </a:stretch>
        </p:blipFill>
        <p:spPr bwMode="gray">
          <a:xfrm>
            <a:off x="1023207" y="2945485"/>
            <a:ext cx="540000" cy="442800"/>
          </a:xfrm>
          <a:prstGeom prst="rect">
            <a:avLst/>
          </a:prstGeom>
        </p:spPr>
      </p:pic>
      <p:sp>
        <p:nvSpPr>
          <p:cNvPr id="46" name="TextBox 45"/>
          <p:cNvSpPr txBox="1"/>
          <p:nvPr/>
        </p:nvSpPr>
        <p:spPr bwMode="gray">
          <a:xfrm>
            <a:off x="2620802" y="2340553"/>
            <a:ext cx="492841" cy="276999"/>
          </a:xfrm>
          <a:prstGeom prst="rect">
            <a:avLst/>
          </a:prstGeom>
          <a:noFill/>
        </p:spPr>
        <p:txBody>
          <a:bodyPr wrap="square" rtlCol="0">
            <a:spAutoFit/>
          </a:bodyPr>
          <a:lstStyle/>
          <a:p>
            <a:pPr algn="ctr"/>
            <a:r>
              <a:rPr lang="en-US" altLang="zh-CN" sz="1200" dirty="0"/>
              <a:t>CE1</a:t>
            </a:r>
            <a:endParaRPr lang="zh-CN" altLang="en-US" sz="1200" dirty="0"/>
          </a:p>
        </p:txBody>
      </p:sp>
      <p:sp>
        <p:nvSpPr>
          <p:cNvPr id="47" name="TextBox 46"/>
          <p:cNvSpPr txBox="1"/>
          <p:nvPr/>
        </p:nvSpPr>
        <p:spPr bwMode="gray">
          <a:xfrm>
            <a:off x="3859439" y="2340553"/>
            <a:ext cx="445683" cy="276999"/>
          </a:xfrm>
          <a:prstGeom prst="rect">
            <a:avLst/>
          </a:prstGeom>
          <a:noFill/>
        </p:spPr>
        <p:txBody>
          <a:bodyPr wrap="square" rtlCol="0">
            <a:spAutoFit/>
          </a:bodyPr>
          <a:lstStyle/>
          <a:p>
            <a:pPr algn="ctr"/>
            <a:r>
              <a:rPr lang="en-US" altLang="zh-CN" sz="1200" dirty="0"/>
              <a:t>PE1</a:t>
            </a:r>
            <a:endParaRPr lang="zh-CN" altLang="en-US" sz="1200" dirty="0"/>
          </a:p>
        </p:txBody>
      </p:sp>
      <p:pic>
        <p:nvPicPr>
          <p:cNvPr id="52" name="图片 17"/>
          <p:cNvPicPr/>
          <p:nvPr/>
        </p:nvPicPr>
        <p:blipFill>
          <a:blip r:embed="rId1" cstate="print">
            <a:extLst>
              <a:ext uri="{28A0092B-C50C-407E-A947-70E740481C1C}">
                <a14:useLocalDpi xmlns:a14="http://schemas.microsoft.com/office/drawing/2010/main" val="0"/>
              </a:ext>
            </a:extLst>
          </a:blip>
          <a:stretch>
            <a:fillRect/>
          </a:stretch>
        </p:blipFill>
        <p:spPr bwMode="gray">
          <a:xfrm>
            <a:off x="7674750" y="2615938"/>
            <a:ext cx="540000" cy="442800"/>
          </a:xfrm>
          <a:prstGeom prst="rect">
            <a:avLst/>
          </a:prstGeom>
        </p:spPr>
      </p:pic>
      <p:pic>
        <p:nvPicPr>
          <p:cNvPr id="53" name="图片 17"/>
          <p:cNvPicPr/>
          <p:nvPr/>
        </p:nvPicPr>
        <p:blipFill>
          <a:blip r:embed="rId1" cstate="print">
            <a:extLst>
              <a:ext uri="{28A0092B-C50C-407E-A947-70E740481C1C}">
                <a14:useLocalDpi xmlns:a14="http://schemas.microsoft.com/office/drawing/2010/main" val="0"/>
              </a:ext>
            </a:extLst>
          </a:blip>
          <a:stretch>
            <a:fillRect/>
          </a:stretch>
        </p:blipFill>
        <p:spPr bwMode="gray">
          <a:xfrm>
            <a:off x="9197868" y="2615938"/>
            <a:ext cx="540000" cy="442800"/>
          </a:xfrm>
          <a:prstGeom prst="rect">
            <a:avLst/>
          </a:prstGeom>
        </p:spPr>
      </p:pic>
      <p:pic>
        <p:nvPicPr>
          <p:cNvPr id="54" name="图片 17"/>
          <p:cNvPicPr/>
          <p:nvPr/>
        </p:nvPicPr>
        <p:blipFill>
          <a:blip r:embed="rId1" cstate="print">
            <a:extLst>
              <a:ext uri="{28A0092B-C50C-407E-A947-70E740481C1C}">
                <a14:useLocalDpi xmlns:a14="http://schemas.microsoft.com/office/drawing/2010/main" val="0"/>
              </a:ext>
            </a:extLst>
          </a:blip>
          <a:stretch>
            <a:fillRect/>
          </a:stretch>
        </p:blipFill>
        <p:spPr bwMode="gray">
          <a:xfrm>
            <a:off x="10720986" y="2615938"/>
            <a:ext cx="540000" cy="442800"/>
          </a:xfrm>
          <a:prstGeom prst="rect">
            <a:avLst/>
          </a:prstGeom>
        </p:spPr>
      </p:pic>
      <p:cxnSp>
        <p:nvCxnSpPr>
          <p:cNvPr id="55" name="直接连接符 18"/>
          <p:cNvCxnSpPr>
            <a:stCxn id="53" idx="1"/>
            <a:endCxn id="52" idx="3"/>
          </p:cNvCxnSpPr>
          <p:nvPr/>
        </p:nvCxnSpPr>
        <p:spPr bwMode="gray">
          <a:xfrm flipH="1">
            <a:off x="8214750" y="2837338"/>
            <a:ext cx="983118"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56" name="TextBox 55"/>
          <p:cNvSpPr txBox="1"/>
          <p:nvPr/>
        </p:nvSpPr>
        <p:spPr bwMode="gray">
          <a:xfrm>
            <a:off x="7577161" y="2328229"/>
            <a:ext cx="723781" cy="276999"/>
          </a:xfrm>
          <a:prstGeom prst="rect">
            <a:avLst/>
          </a:prstGeom>
          <a:noFill/>
        </p:spPr>
        <p:txBody>
          <a:bodyPr wrap="square" rtlCol="0">
            <a:spAutoFit/>
          </a:bodyPr>
          <a:lstStyle/>
          <a:p>
            <a:pPr algn="ctr"/>
            <a:r>
              <a:rPr lang="en-US" altLang="zh-CN" sz="1200" dirty="0"/>
              <a:t>ASBR2</a:t>
            </a:r>
            <a:endParaRPr lang="zh-CN" altLang="en-US" sz="1200" dirty="0"/>
          </a:p>
        </p:txBody>
      </p:sp>
      <p:sp>
        <p:nvSpPr>
          <p:cNvPr id="57" name="TextBox 56"/>
          <p:cNvSpPr txBox="1"/>
          <p:nvPr/>
        </p:nvSpPr>
        <p:spPr bwMode="gray">
          <a:xfrm>
            <a:off x="9245026" y="2340553"/>
            <a:ext cx="445683" cy="276999"/>
          </a:xfrm>
          <a:prstGeom prst="rect">
            <a:avLst/>
          </a:prstGeom>
          <a:noFill/>
        </p:spPr>
        <p:txBody>
          <a:bodyPr wrap="square" rtlCol="0">
            <a:spAutoFit/>
          </a:bodyPr>
          <a:lstStyle/>
          <a:p>
            <a:pPr algn="ctr"/>
            <a:r>
              <a:rPr lang="en-US" altLang="zh-CN" sz="1200" dirty="0"/>
              <a:t>PE2</a:t>
            </a:r>
            <a:endParaRPr lang="zh-CN" altLang="en-US" sz="1200" dirty="0"/>
          </a:p>
        </p:txBody>
      </p:sp>
      <p:cxnSp>
        <p:nvCxnSpPr>
          <p:cNvPr id="59" name="直接连接符 18"/>
          <p:cNvCxnSpPr>
            <a:stCxn id="7" idx="3"/>
            <a:endCxn id="9" idx="1"/>
          </p:cNvCxnSpPr>
          <p:nvPr/>
        </p:nvCxnSpPr>
        <p:spPr bwMode="gray">
          <a:xfrm>
            <a:off x="4352281" y="2837338"/>
            <a:ext cx="1602243"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62" name="TextBox 61"/>
          <p:cNvSpPr txBox="1"/>
          <p:nvPr/>
        </p:nvSpPr>
        <p:spPr bwMode="gray">
          <a:xfrm>
            <a:off x="5862633" y="2338939"/>
            <a:ext cx="723781" cy="276999"/>
          </a:xfrm>
          <a:prstGeom prst="rect">
            <a:avLst/>
          </a:prstGeom>
          <a:noFill/>
        </p:spPr>
        <p:txBody>
          <a:bodyPr wrap="square" rtlCol="0">
            <a:spAutoFit/>
          </a:bodyPr>
          <a:lstStyle/>
          <a:p>
            <a:pPr algn="ctr"/>
            <a:r>
              <a:rPr lang="en-US" altLang="zh-CN" sz="1200" dirty="0"/>
              <a:t>ASBR1</a:t>
            </a:r>
            <a:endParaRPr lang="zh-CN" altLang="en-US" sz="1200" dirty="0"/>
          </a:p>
        </p:txBody>
      </p:sp>
      <p:sp>
        <p:nvSpPr>
          <p:cNvPr id="63" name="TextBox 62"/>
          <p:cNvSpPr txBox="1"/>
          <p:nvPr/>
        </p:nvSpPr>
        <p:spPr bwMode="gray">
          <a:xfrm>
            <a:off x="10747662" y="2340553"/>
            <a:ext cx="492842" cy="276999"/>
          </a:xfrm>
          <a:prstGeom prst="rect">
            <a:avLst/>
          </a:prstGeom>
          <a:noFill/>
        </p:spPr>
        <p:txBody>
          <a:bodyPr wrap="square" rtlCol="0">
            <a:spAutoFit/>
          </a:bodyPr>
          <a:lstStyle/>
          <a:p>
            <a:pPr algn="ctr"/>
            <a:r>
              <a:rPr lang="en-US" altLang="zh-CN" sz="1200" dirty="0"/>
              <a:t>CE2</a:t>
            </a:r>
            <a:endParaRPr lang="zh-CN" altLang="en-US" sz="1200" dirty="0"/>
          </a:p>
        </p:txBody>
      </p:sp>
      <p:cxnSp>
        <p:nvCxnSpPr>
          <p:cNvPr id="64" name="直接连接符 18"/>
          <p:cNvCxnSpPr>
            <a:stCxn id="54" idx="1"/>
            <a:endCxn id="53" idx="3"/>
          </p:cNvCxnSpPr>
          <p:nvPr/>
        </p:nvCxnSpPr>
        <p:spPr bwMode="gray">
          <a:xfrm flipH="1">
            <a:off x="9737868" y="2837338"/>
            <a:ext cx="983118"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67" name="文本框 27"/>
          <p:cNvSpPr txBox="1"/>
          <p:nvPr/>
        </p:nvSpPr>
        <p:spPr bwMode="gray">
          <a:xfrm>
            <a:off x="1506856" y="4694247"/>
            <a:ext cx="909223" cy="276999"/>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END.X SID</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8" name="圆角矩形 59"/>
          <p:cNvSpPr/>
          <p:nvPr/>
        </p:nvSpPr>
        <p:spPr bwMode="gray">
          <a:xfrm>
            <a:off x="589411" y="4721762"/>
            <a:ext cx="917445" cy="221690"/>
          </a:xfrm>
          <a:prstGeom prst="roundRect">
            <a:avLst>
              <a:gd name="adj" fmla="val 13019"/>
            </a:avLst>
          </a:prstGeom>
          <a:solidFill>
            <a:srgbClr val="D3394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FC02::1C</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9" name="圆角矩形 59"/>
          <p:cNvSpPr/>
          <p:nvPr/>
        </p:nvSpPr>
        <p:spPr bwMode="gray">
          <a:xfrm>
            <a:off x="589412" y="4964677"/>
            <a:ext cx="917445" cy="221690"/>
          </a:xfrm>
          <a:prstGeom prst="roundRect">
            <a:avLst>
              <a:gd name="adj" fmla="val 13019"/>
            </a:avLst>
          </a:prstGeom>
          <a:solidFill>
            <a:srgbClr val="56C4D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FC03::4</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0" name="文本框 27"/>
          <p:cNvSpPr txBox="1"/>
          <p:nvPr/>
        </p:nvSpPr>
        <p:spPr bwMode="gray">
          <a:xfrm>
            <a:off x="1506857" y="4932275"/>
            <a:ext cx="784189" cy="276999"/>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END SID</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2" name="圆角矩形 59"/>
          <p:cNvSpPr/>
          <p:nvPr/>
        </p:nvSpPr>
        <p:spPr bwMode="gray">
          <a:xfrm>
            <a:off x="3617938" y="3098480"/>
            <a:ext cx="917445" cy="221690"/>
          </a:xfrm>
          <a:prstGeom prst="roundRect">
            <a:avLst>
              <a:gd name="adj" fmla="val 13019"/>
            </a:avLst>
          </a:prstGeom>
          <a:solidFill>
            <a:srgbClr val="56C4D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FC01::1</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3" name="圆角矩形 59"/>
          <p:cNvSpPr/>
          <p:nvPr/>
        </p:nvSpPr>
        <p:spPr bwMode="gray">
          <a:xfrm>
            <a:off x="5768984" y="3102879"/>
            <a:ext cx="917445" cy="221690"/>
          </a:xfrm>
          <a:prstGeom prst="roundRect">
            <a:avLst>
              <a:gd name="adj" fmla="val 13019"/>
            </a:avLst>
          </a:prstGeom>
          <a:solidFill>
            <a:srgbClr val="56C4D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FC02::2</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4" name="圆角矩形 59"/>
          <p:cNvSpPr/>
          <p:nvPr/>
        </p:nvSpPr>
        <p:spPr bwMode="gray">
          <a:xfrm>
            <a:off x="7485124" y="3111584"/>
            <a:ext cx="917445" cy="221690"/>
          </a:xfrm>
          <a:prstGeom prst="roundRect">
            <a:avLst>
              <a:gd name="adj" fmla="val 13019"/>
            </a:avLst>
          </a:prstGeom>
          <a:solidFill>
            <a:srgbClr val="56C4D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FC03::3</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5" name="圆角矩形 59"/>
          <p:cNvSpPr/>
          <p:nvPr/>
        </p:nvSpPr>
        <p:spPr bwMode="gray">
          <a:xfrm>
            <a:off x="9009144" y="3097461"/>
            <a:ext cx="917445" cy="221690"/>
          </a:xfrm>
          <a:prstGeom prst="roundRect">
            <a:avLst>
              <a:gd name="adj" fmla="val 13019"/>
            </a:avLst>
          </a:prstGeom>
          <a:solidFill>
            <a:srgbClr val="56C4D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FC04::4</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7" name="圆角矩形 59"/>
          <p:cNvSpPr/>
          <p:nvPr/>
        </p:nvSpPr>
        <p:spPr bwMode="gray">
          <a:xfrm>
            <a:off x="6218587" y="2868222"/>
            <a:ext cx="917445" cy="221690"/>
          </a:xfrm>
          <a:prstGeom prst="roundRect">
            <a:avLst>
              <a:gd name="adj" fmla="val 13019"/>
            </a:avLst>
          </a:prstGeom>
          <a:solidFill>
            <a:srgbClr val="D3394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FC02::1C</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8" name="圆角矩形 59"/>
          <p:cNvSpPr/>
          <p:nvPr/>
        </p:nvSpPr>
        <p:spPr bwMode="gray">
          <a:xfrm>
            <a:off x="7033263" y="2576794"/>
            <a:ext cx="917445" cy="221690"/>
          </a:xfrm>
          <a:prstGeom prst="roundRect">
            <a:avLst>
              <a:gd name="adj" fmla="val 13019"/>
            </a:avLst>
          </a:prstGeom>
          <a:solidFill>
            <a:srgbClr val="D3394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FC03::1C</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9" name="圆角矩形 59"/>
          <p:cNvSpPr/>
          <p:nvPr/>
        </p:nvSpPr>
        <p:spPr bwMode="gray">
          <a:xfrm>
            <a:off x="589412" y="5205980"/>
            <a:ext cx="917445" cy="221690"/>
          </a:xfrm>
          <a:prstGeom prst="roundRect">
            <a:avLst>
              <a:gd name="adj" fmla="val 13019"/>
            </a:avLst>
          </a:prstGeom>
          <a:solidFill>
            <a:srgbClr val="AFD89C"/>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FC03::100</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0" name="文本框 27"/>
          <p:cNvSpPr txBox="1"/>
          <p:nvPr/>
        </p:nvSpPr>
        <p:spPr bwMode="gray">
          <a:xfrm>
            <a:off x="1506859" y="5184455"/>
            <a:ext cx="995785" cy="276999"/>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Binding SID</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graphicFrame>
        <p:nvGraphicFramePr>
          <p:cNvPr id="83" name="Table 82"/>
          <p:cNvGraphicFramePr>
            <a:graphicFrameLocks noGrp="1"/>
          </p:cNvGraphicFramePr>
          <p:nvPr/>
        </p:nvGraphicFramePr>
        <p:xfrm>
          <a:off x="3811126" y="3415983"/>
          <a:ext cx="1123866" cy="1561520"/>
        </p:xfrm>
        <a:graphic>
          <a:graphicData uri="http://schemas.openxmlformats.org/drawingml/2006/table">
            <a:tbl>
              <a:tblPr firstRow="1" bandRow="1">
                <a:tableStyleId>{72833802-FEF1-4C79-8D5D-14CF1EAF98D9}</a:tableStyleId>
              </a:tblPr>
              <a:tblGrid>
                <a:gridCol w="1123866"/>
              </a:tblGrid>
              <a:tr h="281360">
                <a:tc>
                  <a:txBody>
                    <a:bodyPr/>
                    <a:lstStyle/>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IPv6</a:t>
                      </a:r>
                      <a:r>
                        <a:rPr lang="en-US" altLang="zh-CN" sz="1200" b="0" baseline="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 Header</a:t>
                      </a:r>
                      <a:endPar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6C4D2"/>
                    </a:solidFill>
                  </a:tcPr>
                </a:tc>
              </a:tr>
              <a:tr h="763142">
                <a:tc>
                  <a:txBody>
                    <a:bodyPr/>
                    <a:lstStyle/>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SRH</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SL=</a:t>
                      </a: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3</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FC04::100</a:t>
                      </a:r>
                      <a:endPar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FC03::100</a:t>
                      </a:r>
                      <a:endPar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FC02::1C</a:t>
                      </a:r>
                      <a:endPar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FC02::2</a:t>
                      </a:r>
                      <a:endParaRPr lang="zh-CN" altLang="en-US"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EEEC1"/>
                    </a:solidFill>
                  </a:tcPr>
                </a:tc>
              </a:tr>
              <a:tr h="208130">
                <a:tc>
                  <a:txBody>
                    <a:bodyPr/>
                    <a:lstStyle/>
                    <a:p>
                      <a:pPr algn="ctr"/>
                      <a:r>
                        <a:rPr lang="en-US" altLang="zh-CN" sz="1200" dirty="0">
                          <a:solidFill>
                            <a:schemeClr val="bg1"/>
                          </a:solidFill>
                        </a:rPr>
                        <a:t>CE1-&gt;CE2</a:t>
                      </a:r>
                      <a:endParaRPr lang="zh-CN" altLang="en-US" sz="1200"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r>
            </a:tbl>
          </a:graphicData>
        </a:graphic>
      </p:graphicFrame>
      <p:sp>
        <p:nvSpPr>
          <p:cNvPr id="86" name="圆角矩形 59"/>
          <p:cNvSpPr/>
          <p:nvPr/>
        </p:nvSpPr>
        <p:spPr bwMode="gray">
          <a:xfrm>
            <a:off x="589412" y="5442242"/>
            <a:ext cx="917445" cy="221690"/>
          </a:xfrm>
          <a:prstGeom prst="roundRect">
            <a:avLst>
              <a:gd name="adj" fmla="val 13019"/>
            </a:avLst>
          </a:prstGeom>
          <a:solidFill>
            <a:srgbClr val="F28944"/>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FC04::100</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7" name="文本框 27"/>
          <p:cNvSpPr txBox="1"/>
          <p:nvPr/>
        </p:nvSpPr>
        <p:spPr bwMode="gray">
          <a:xfrm>
            <a:off x="1506859" y="5420717"/>
            <a:ext cx="1104790" cy="276999"/>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END.DT4 SID</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8" name="圆角矩形 59"/>
          <p:cNvSpPr/>
          <p:nvPr/>
        </p:nvSpPr>
        <p:spPr bwMode="gray">
          <a:xfrm>
            <a:off x="9506272" y="2717758"/>
            <a:ext cx="917445" cy="221690"/>
          </a:xfrm>
          <a:prstGeom prst="roundRect">
            <a:avLst>
              <a:gd name="adj" fmla="val 13019"/>
            </a:avLst>
          </a:prstGeom>
          <a:solidFill>
            <a:srgbClr val="F28944"/>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FC04::100</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9" name="圆角矩形 59"/>
          <p:cNvSpPr/>
          <p:nvPr/>
        </p:nvSpPr>
        <p:spPr bwMode="gray">
          <a:xfrm>
            <a:off x="7480328" y="2868222"/>
            <a:ext cx="917445" cy="221690"/>
          </a:xfrm>
          <a:prstGeom prst="roundRect">
            <a:avLst>
              <a:gd name="adj" fmla="val 13019"/>
            </a:avLst>
          </a:prstGeom>
          <a:solidFill>
            <a:srgbClr val="AFD89C"/>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FC03::100</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0" name="Rectangular Callout 26"/>
          <p:cNvSpPr/>
          <p:nvPr/>
        </p:nvSpPr>
        <p:spPr bwMode="gray">
          <a:xfrm>
            <a:off x="4646553" y="2614143"/>
            <a:ext cx="1048488" cy="650609"/>
          </a:xfrm>
          <a:prstGeom prst="wedgeRectCallout">
            <a:avLst>
              <a:gd name="adj1" fmla="val -74444"/>
              <a:gd name="adj2" fmla="val -24740"/>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栈深无法容纳端到端的</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Segment list</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aphicFrame>
        <p:nvGraphicFramePr>
          <p:cNvPr id="95" name="Table 94"/>
          <p:cNvGraphicFramePr>
            <a:graphicFrameLocks noGrp="1"/>
          </p:cNvGraphicFramePr>
          <p:nvPr/>
        </p:nvGraphicFramePr>
        <p:xfrm>
          <a:off x="5044012" y="3418138"/>
          <a:ext cx="1123866" cy="1561520"/>
        </p:xfrm>
        <a:graphic>
          <a:graphicData uri="http://schemas.openxmlformats.org/drawingml/2006/table">
            <a:tbl>
              <a:tblPr firstRow="1" bandRow="1">
                <a:tableStyleId>{72833802-FEF1-4C79-8D5D-14CF1EAF98D9}</a:tableStyleId>
              </a:tblPr>
              <a:tblGrid>
                <a:gridCol w="1123866"/>
              </a:tblGrid>
              <a:tr h="281360">
                <a:tc>
                  <a:txBody>
                    <a:bodyPr/>
                    <a:lstStyle/>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IPv6</a:t>
                      </a:r>
                      <a:r>
                        <a:rPr lang="en-US" altLang="zh-CN" sz="1200" b="0" baseline="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 Header</a:t>
                      </a:r>
                      <a:endPar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6C4D2"/>
                    </a:solidFill>
                  </a:tcPr>
                </a:tc>
              </a:tr>
              <a:tr h="763142">
                <a:tc>
                  <a:txBody>
                    <a:bodyPr/>
                    <a:lstStyle/>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SRH</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SL=</a:t>
                      </a: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2</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FC04::100</a:t>
                      </a:r>
                      <a:endPar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FC03::100</a:t>
                      </a:r>
                      <a:endPar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0" algn="ctr" defTabSz="913765" rtl="0" eaLnBrk="1" latinLnBrk="0" hangingPunct="1"/>
                      <a:r>
                        <a:rPr lang="en-US" altLang="zh-CN" sz="1200" b="1" kern="1200" dirty="0">
                          <a:solidFill>
                            <a:srgbClr val="C7000B"/>
                          </a:solidFill>
                          <a:latin typeface="Huawei Sans" panose="020C0503030203020204" pitchFamily="34" charset="0"/>
                          <a:ea typeface="方正兰亭黑简体" panose="02000000000000000000" pitchFamily="2" charset="-122"/>
                          <a:cs typeface="+mn-cs"/>
                          <a:sym typeface="Huawei Sans" panose="020C0503030203020204" pitchFamily="34" charset="0"/>
                        </a:rPr>
                        <a:t>FC02::1C</a:t>
                      </a:r>
                      <a:endParaRPr lang="en-US" altLang="zh-CN" sz="1200" b="1" kern="1200" dirty="0">
                        <a:solidFill>
                          <a:srgbClr val="C7000B"/>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FC02::2</a:t>
                      </a:r>
                      <a:endPar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EEEC1"/>
                    </a:solidFill>
                  </a:tcPr>
                </a:tc>
              </a:tr>
              <a:tr h="208130">
                <a:tc>
                  <a:txBody>
                    <a:bodyPr/>
                    <a:lstStyle/>
                    <a:p>
                      <a:pPr algn="ctr"/>
                      <a:r>
                        <a:rPr lang="en-US" altLang="zh-CN" sz="1200" dirty="0">
                          <a:solidFill>
                            <a:schemeClr val="bg1"/>
                          </a:solidFill>
                        </a:rPr>
                        <a:t>CE1-&gt;CE2</a:t>
                      </a:r>
                      <a:endParaRPr lang="zh-CN" altLang="en-US" sz="1200"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r>
            </a:tbl>
          </a:graphicData>
        </a:graphic>
      </p:graphicFrame>
      <p:graphicFrame>
        <p:nvGraphicFramePr>
          <p:cNvPr id="96" name="Table 95"/>
          <p:cNvGraphicFramePr>
            <a:graphicFrameLocks noGrp="1"/>
          </p:cNvGraphicFramePr>
          <p:nvPr/>
        </p:nvGraphicFramePr>
        <p:xfrm>
          <a:off x="6265529" y="3415983"/>
          <a:ext cx="1123866" cy="1561520"/>
        </p:xfrm>
        <a:graphic>
          <a:graphicData uri="http://schemas.openxmlformats.org/drawingml/2006/table">
            <a:tbl>
              <a:tblPr firstRow="1" bandRow="1">
                <a:tableStyleId>{72833802-FEF1-4C79-8D5D-14CF1EAF98D9}</a:tableStyleId>
              </a:tblPr>
              <a:tblGrid>
                <a:gridCol w="1123866"/>
              </a:tblGrid>
              <a:tr h="281360">
                <a:tc>
                  <a:txBody>
                    <a:bodyPr/>
                    <a:lstStyle/>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IPv6</a:t>
                      </a:r>
                      <a:r>
                        <a:rPr lang="en-US" altLang="zh-CN" sz="1200" b="0" baseline="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 Header</a:t>
                      </a:r>
                      <a:endPar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6C4D2"/>
                    </a:solidFill>
                  </a:tcPr>
                </a:tc>
              </a:tr>
              <a:tr h="763142">
                <a:tc>
                  <a:txBody>
                    <a:bodyPr/>
                    <a:lstStyle/>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SRH</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SL=</a:t>
                      </a: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1</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FC04::100</a:t>
                      </a:r>
                      <a:endPar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0" algn="ctr" defTabSz="913765" rtl="0" eaLnBrk="1" latinLnBrk="0" hangingPunct="1"/>
                      <a:r>
                        <a:rPr lang="en-US" altLang="zh-CN" sz="1200" b="1" kern="1200" dirty="0">
                          <a:solidFill>
                            <a:srgbClr val="C7000B"/>
                          </a:solidFill>
                          <a:latin typeface="Huawei Sans" panose="020C0503030203020204" pitchFamily="34" charset="0"/>
                          <a:ea typeface="方正兰亭黑简体" panose="02000000000000000000" pitchFamily="2" charset="-122"/>
                          <a:cs typeface="+mn-cs"/>
                          <a:sym typeface="Huawei Sans" panose="020C0503030203020204" pitchFamily="34" charset="0"/>
                        </a:rPr>
                        <a:t>FC03::100</a:t>
                      </a:r>
                      <a:endParaRPr lang="en-US" altLang="zh-CN" sz="1200" b="1" kern="1200" dirty="0">
                        <a:solidFill>
                          <a:srgbClr val="C7000B"/>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p>
                      <a:pPr marL="0" algn="ctr" defTabSz="913765" rtl="0" eaLnBrk="1" latinLnBrk="0" hangingPunct="1"/>
                      <a:r>
                        <a:rPr lang="en-US" altLang="zh-CN"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FC02::1C</a:t>
                      </a:r>
                      <a:endParaRPr lang="en-US" altLang="zh-CN"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FC02::2</a:t>
                      </a:r>
                      <a:endPar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EEEC1"/>
                    </a:solidFill>
                  </a:tcPr>
                </a:tc>
              </a:tr>
              <a:tr h="208130">
                <a:tc>
                  <a:txBody>
                    <a:bodyPr/>
                    <a:lstStyle/>
                    <a:p>
                      <a:pPr algn="ctr"/>
                      <a:r>
                        <a:rPr lang="en-US" altLang="zh-CN" sz="1200" dirty="0">
                          <a:solidFill>
                            <a:schemeClr val="bg1"/>
                          </a:solidFill>
                        </a:rPr>
                        <a:t>CE1-&gt;CE2</a:t>
                      </a:r>
                      <a:endParaRPr lang="zh-CN" altLang="en-US" sz="1200"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r>
            </a:tbl>
          </a:graphicData>
        </a:graphic>
      </p:graphicFrame>
      <p:graphicFrame>
        <p:nvGraphicFramePr>
          <p:cNvPr id="97" name="Table 96"/>
          <p:cNvGraphicFramePr>
            <a:graphicFrameLocks noGrp="1"/>
          </p:cNvGraphicFramePr>
          <p:nvPr/>
        </p:nvGraphicFramePr>
        <p:xfrm>
          <a:off x="7739808" y="3419130"/>
          <a:ext cx="1123866" cy="2293040"/>
        </p:xfrm>
        <a:graphic>
          <a:graphicData uri="http://schemas.openxmlformats.org/drawingml/2006/table">
            <a:tbl>
              <a:tblPr firstRow="1" bandRow="1">
                <a:tableStyleId>{72833802-FEF1-4C79-8D5D-14CF1EAF98D9}</a:tableStyleId>
              </a:tblPr>
              <a:tblGrid>
                <a:gridCol w="1123866"/>
              </a:tblGrid>
              <a:tr h="281360">
                <a:tc>
                  <a:txBody>
                    <a:bodyPr/>
                    <a:lstStyle/>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IPv6</a:t>
                      </a:r>
                      <a:r>
                        <a:rPr lang="en-US" altLang="zh-CN" sz="1200" b="0" baseline="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 Header</a:t>
                      </a:r>
                      <a:endPar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6C4D2"/>
                    </a:solidFill>
                  </a:tcPr>
                </a:tc>
              </a:tr>
              <a:tr h="143747">
                <a:tc>
                  <a:txBody>
                    <a:bodyPr/>
                    <a:lstStyle/>
                    <a:p>
                      <a:pPr marL="0" marR="0" lvl="0" indent="0" algn="ctr" defTabSz="913765" rtl="0" eaLnBrk="1" fontAlgn="auto" latinLnBrk="0" hangingPunct="1">
                        <a:lnSpc>
                          <a:spcPct val="100000"/>
                        </a:lnSpc>
                        <a:spcBef>
                          <a:spcPts val="0"/>
                        </a:spcBef>
                        <a:spcAft>
                          <a:spcPts val="0"/>
                        </a:spcAft>
                        <a:buClrTx/>
                        <a:buSzTx/>
                        <a:buFontTx/>
                        <a:buNone/>
                        <a:defRPr/>
                      </a:pP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SRH</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SL=</a:t>
                      </a: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0</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FC04::4</a:t>
                      </a:r>
                      <a:endPar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EEEC1"/>
                    </a:solidFill>
                  </a:tcPr>
                </a:tc>
              </a:tr>
              <a:tr h="143747">
                <a:tc>
                  <a:txBody>
                    <a:bodyPr/>
                    <a:lstStyle/>
                    <a:p>
                      <a:pPr marL="0" marR="0" lvl="0" indent="0" algn="ctr" defTabSz="913765" rtl="0" eaLnBrk="1" fontAlgn="auto" latinLnBrk="0" hangingPunct="1">
                        <a:lnSpc>
                          <a:spcPct val="100000"/>
                        </a:lnSpc>
                        <a:spcBef>
                          <a:spcPts val="0"/>
                        </a:spcBef>
                        <a:spcAft>
                          <a:spcPts val="0"/>
                        </a:spcAft>
                        <a:buClrTx/>
                        <a:buSzTx/>
                        <a:buFontTx/>
                        <a:buNone/>
                        <a:defRPr/>
                      </a:pP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IPv6</a:t>
                      </a:r>
                      <a:r>
                        <a:rPr lang="en-US" altLang="zh-CN" sz="1200" b="0" baseline="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 Header</a:t>
                      </a:r>
                      <a:endPar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6C4D2"/>
                    </a:solidFill>
                  </a:tcPr>
                </a:tc>
              </a:tr>
              <a:tr h="763142">
                <a:tc>
                  <a:txBody>
                    <a:bodyPr/>
                    <a:lstStyle/>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SRH</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SL=</a:t>
                      </a: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0</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0" algn="ctr" defTabSz="913765" rtl="0" eaLnBrk="1" latinLnBrk="0" hangingPunct="1"/>
                      <a:r>
                        <a:rPr lang="en-US" altLang="zh-CN" sz="1200" b="1" kern="1200" dirty="0">
                          <a:solidFill>
                            <a:srgbClr val="C7000B"/>
                          </a:solidFill>
                          <a:latin typeface="Huawei Sans" panose="020C0503030203020204" pitchFamily="34" charset="0"/>
                          <a:ea typeface="方正兰亭黑简体" panose="02000000000000000000" pitchFamily="2" charset="-122"/>
                          <a:cs typeface="+mn-cs"/>
                          <a:sym typeface="Huawei Sans" panose="020C0503030203020204" pitchFamily="34" charset="0"/>
                        </a:rPr>
                        <a:t>FC04::100</a:t>
                      </a:r>
                      <a:endParaRPr lang="en-US" altLang="zh-CN" sz="1200" b="1" kern="1200" dirty="0">
                        <a:solidFill>
                          <a:srgbClr val="C7000B"/>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p>
                      <a:pPr marL="0" algn="ctr" defTabSz="913765" rtl="0" eaLnBrk="1" latinLnBrk="0" hangingPunct="1"/>
                      <a:r>
                        <a:rPr lang="en-US" altLang="zh-CN"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FC03::100</a:t>
                      </a:r>
                      <a:endParaRPr lang="en-US" altLang="zh-CN"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p>
                      <a:pPr marL="0" algn="ctr" defTabSz="913765" rtl="0" eaLnBrk="1" latinLnBrk="0" hangingPunct="1"/>
                      <a:r>
                        <a:rPr lang="en-US" altLang="zh-CN"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FC02::1C</a:t>
                      </a:r>
                      <a:endParaRPr lang="en-US" altLang="zh-CN"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FC02::2</a:t>
                      </a:r>
                      <a:endPar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EEEC1"/>
                    </a:solidFill>
                  </a:tcPr>
                </a:tc>
              </a:tr>
              <a:tr h="208130">
                <a:tc>
                  <a:txBody>
                    <a:bodyPr/>
                    <a:lstStyle/>
                    <a:p>
                      <a:pPr algn="ctr"/>
                      <a:r>
                        <a:rPr lang="en-US" altLang="zh-CN" sz="1200" dirty="0">
                          <a:solidFill>
                            <a:schemeClr val="bg1"/>
                          </a:solidFill>
                        </a:rPr>
                        <a:t>CE1-&gt;CE2</a:t>
                      </a:r>
                      <a:endParaRPr lang="zh-CN" altLang="en-US" sz="1200"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r>
            </a:tbl>
          </a:graphicData>
        </a:graphic>
      </p:graphicFrame>
      <p:graphicFrame>
        <p:nvGraphicFramePr>
          <p:cNvPr id="99" name="Table 98"/>
          <p:cNvGraphicFramePr>
            <a:graphicFrameLocks noGrp="1"/>
          </p:cNvGraphicFramePr>
          <p:nvPr/>
        </p:nvGraphicFramePr>
        <p:xfrm>
          <a:off x="9142116" y="3415983"/>
          <a:ext cx="1123866" cy="1561520"/>
        </p:xfrm>
        <a:graphic>
          <a:graphicData uri="http://schemas.openxmlformats.org/drawingml/2006/table">
            <a:tbl>
              <a:tblPr firstRow="1" bandRow="1">
                <a:tableStyleId>{72833802-FEF1-4C79-8D5D-14CF1EAF98D9}</a:tableStyleId>
              </a:tblPr>
              <a:tblGrid>
                <a:gridCol w="1123866"/>
              </a:tblGrid>
              <a:tr h="281360">
                <a:tc>
                  <a:txBody>
                    <a:bodyPr/>
                    <a:lstStyle/>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IPv6</a:t>
                      </a:r>
                      <a:r>
                        <a:rPr lang="en-US" altLang="zh-CN" sz="1200" b="0" baseline="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 Header</a:t>
                      </a:r>
                      <a:endPar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6C4D2"/>
                    </a:solidFill>
                  </a:tcPr>
                </a:tc>
              </a:tr>
              <a:tr h="763142">
                <a:tc>
                  <a:txBody>
                    <a:bodyPr/>
                    <a:lstStyle/>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SRH</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SL=</a:t>
                      </a: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0</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0" algn="ctr" defTabSz="913765" rtl="0" eaLnBrk="1" latinLnBrk="0" hangingPunct="1"/>
                      <a:r>
                        <a:rPr lang="en-US" altLang="zh-CN" sz="1200" b="1" kern="1200" dirty="0">
                          <a:solidFill>
                            <a:srgbClr val="C7000B"/>
                          </a:solidFill>
                          <a:latin typeface="Huawei Sans" panose="020C0503030203020204" pitchFamily="34" charset="0"/>
                          <a:ea typeface="方正兰亭黑简体" panose="02000000000000000000" pitchFamily="2" charset="-122"/>
                          <a:cs typeface="+mn-cs"/>
                          <a:sym typeface="Huawei Sans" panose="020C0503030203020204" pitchFamily="34" charset="0"/>
                        </a:rPr>
                        <a:t>FC04::100</a:t>
                      </a:r>
                      <a:endParaRPr lang="en-US" altLang="zh-CN" sz="1200" b="1" kern="1200" dirty="0">
                        <a:solidFill>
                          <a:srgbClr val="C7000B"/>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p>
                      <a:pPr marL="0" algn="ctr" defTabSz="913765" rtl="0" eaLnBrk="1" latinLnBrk="0" hangingPunct="1"/>
                      <a:r>
                        <a:rPr lang="en-US" altLang="zh-CN"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FC03::100</a:t>
                      </a:r>
                      <a:endParaRPr lang="en-US" altLang="zh-CN"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p>
                      <a:pPr marL="0" algn="ctr" defTabSz="913765" rtl="0" eaLnBrk="1" latinLnBrk="0" hangingPunct="1"/>
                      <a:r>
                        <a:rPr lang="en-US" altLang="zh-CN"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FC02::1C</a:t>
                      </a:r>
                      <a:endParaRPr lang="en-US" altLang="zh-CN"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FC02::2</a:t>
                      </a:r>
                      <a:endPar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EEEC1"/>
                    </a:solidFill>
                  </a:tcPr>
                </a:tc>
              </a:tr>
              <a:tr h="208130">
                <a:tc>
                  <a:txBody>
                    <a:bodyPr/>
                    <a:lstStyle/>
                    <a:p>
                      <a:pPr algn="ctr"/>
                      <a:r>
                        <a:rPr lang="en-US" altLang="zh-CN" sz="1200" dirty="0">
                          <a:solidFill>
                            <a:schemeClr val="bg1"/>
                          </a:solidFill>
                        </a:rPr>
                        <a:t>CE1-&gt;CE2</a:t>
                      </a:r>
                      <a:endParaRPr lang="zh-CN" altLang="en-US" sz="1200"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r>
            </a:tbl>
          </a:graphicData>
        </a:graphic>
      </p:graphicFrame>
      <p:graphicFrame>
        <p:nvGraphicFramePr>
          <p:cNvPr id="100" name="Table 99"/>
          <p:cNvGraphicFramePr>
            <a:graphicFrameLocks noGrp="1"/>
          </p:cNvGraphicFramePr>
          <p:nvPr/>
        </p:nvGraphicFramePr>
        <p:xfrm>
          <a:off x="2327169" y="3085269"/>
          <a:ext cx="1009154" cy="274320"/>
        </p:xfrm>
        <a:graphic>
          <a:graphicData uri="http://schemas.openxmlformats.org/drawingml/2006/table">
            <a:tbl>
              <a:tblPr firstRow="1" bandRow="1">
                <a:tableStyleId>{72833802-FEF1-4C79-8D5D-14CF1EAF98D9}</a:tableStyleId>
              </a:tblPr>
              <a:tblGrid>
                <a:gridCol w="1009154"/>
              </a:tblGrid>
              <a:tr h="208130">
                <a:tc>
                  <a:txBody>
                    <a:bodyPr/>
                    <a:lstStyle/>
                    <a:p>
                      <a:pPr algn="ctr"/>
                      <a:r>
                        <a:rPr lang="en-US" altLang="zh-CN" sz="1200" dirty="0">
                          <a:solidFill>
                            <a:schemeClr val="bg1"/>
                          </a:solidFill>
                        </a:rPr>
                        <a:t>CE1-&gt;CE2</a:t>
                      </a:r>
                      <a:endParaRPr lang="zh-CN" altLang="en-US" sz="1200"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r>
            </a:tbl>
          </a:graphicData>
        </a:graphic>
      </p:graphicFrame>
      <p:graphicFrame>
        <p:nvGraphicFramePr>
          <p:cNvPr id="101" name="Table 100"/>
          <p:cNvGraphicFramePr>
            <a:graphicFrameLocks noGrp="1"/>
          </p:cNvGraphicFramePr>
          <p:nvPr/>
        </p:nvGraphicFramePr>
        <p:xfrm>
          <a:off x="10486409" y="3087595"/>
          <a:ext cx="1009154" cy="274320"/>
        </p:xfrm>
        <a:graphic>
          <a:graphicData uri="http://schemas.openxmlformats.org/drawingml/2006/table">
            <a:tbl>
              <a:tblPr firstRow="1" bandRow="1">
                <a:tableStyleId>{72833802-FEF1-4C79-8D5D-14CF1EAF98D9}</a:tableStyleId>
              </a:tblPr>
              <a:tblGrid>
                <a:gridCol w="1009154"/>
              </a:tblGrid>
              <a:tr h="208130">
                <a:tc>
                  <a:txBody>
                    <a:bodyPr/>
                    <a:lstStyle/>
                    <a:p>
                      <a:pPr algn="ctr"/>
                      <a:r>
                        <a:rPr lang="en-US" altLang="zh-CN" sz="1200" dirty="0">
                          <a:solidFill>
                            <a:schemeClr val="bg1"/>
                          </a:solidFill>
                        </a:rPr>
                        <a:t>CE1-&gt;CE2</a:t>
                      </a:r>
                      <a:endParaRPr lang="zh-CN" altLang="en-US" sz="1200"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r>
            </a:tbl>
          </a:graphicData>
        </a:graphic>
      </p:graphicFrame>
      <p:sp>
        <p:nvSpPr>
          <p:cNvPr id="6" name="Rectangular Callout 26"/>
          <p:cNvSpPr/>
          <p:nvPr/>
        </p:nvSpPr>
        <p:spPr bwMode="gray">
          <a:xfrm>
            <a:off x="680124" y="2366657"/>
            <a:ext cx="807799" cy="488261"/>
          </a:xfrm>
          <a:prstGeom prst="wedgeRectCallout">
            <a:avLst>
              <a:gd name="adj1" fmla="val 18710"/>
              <a:gd name="adj2" fmla="val 73325"/>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假设设备栈深为</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4</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65" name="Rectangular Callout 26"/>
          <p:cNvSpPr/>
          <p:nvPr/>
        </p:nvSpPr>
        <p:spPr bwMode="gray">
          <a:xfrm>
            <a:off x="3811126" y="5000076"/>
            <a:ext cx="1123866" cy="352903"/>
          </a:xfrm>
          <a:prstGeom prst="rect">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从</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PE1</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发出</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66" name="Rectangular Callout 26"/>
          <p:cNvSpPr/>
          <p:nvPr/>
        </p:nvSpPr>
        <p:spPr bwMode="gray">
          <a:xfrm>
            <a:off x="5044012" y="5000076"/>
            <a:ext cx="1123866" cy="352903"/>
          </a:xfrm>
          <a:prstGeom prst="rect">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ASBR1</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内部处理</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71" name="Rectangular Callout 26"/>
          <p:cNvSpPr/>
          <p:nvPr/>
        </p:nvSpPr>
        <p:spPr bwMode="gray">
          <a:xfrm>
            <a:off x="6265529" y="4994241"/>
            <a:ext cx="1123866" cy="352903"/>
          </a:xfrm>
          <a:prstGeom prst="rect">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ASBR1</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内部处理</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76" name="Rectangular Callout 26"/>
          <p:cNvSpPr/>
          <p:nvPr/>
        </p:nvSpPr>
        <p:spPr bwMode="gray">
          <a:xfrm>
            <a:off x="7739809" y="5732990"/>
            <a:ext cx="1123866" cy="213990"/>
          </a:xfrm>
          <a:prstGeom prst="rect">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从</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ASBR2</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发出</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2" name="Rectangular Callout 26"/>
          <p:cNvSpPr/>
          <p:nvPr/>
        </p:nvSpPr>
        <p:spPr bwMode="gray">
          <a:xfrm>
            <a:off x="9142116" y="5018912"/>
            <a:ext cx="1123866" cy="352903"/>
          </a:xfrm>
          <a:prstGeom prst="rect">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PE2</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内部处理</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 name="TextBox 7"/>
          <p:cNvSpPr txBox="1"/>
          <p:nvPr/>
        </p:nvSpPr>
        <p:spPr>
          <a:xfrm>
            <a:off x="10423717" y="5464465"/>
            <a:ext cx="1136850" cy="307777"/>
          </a:xfrm>
          <a:prstGeom prst="rect">
            <a:avLst/>
          </a:prstGeom>
          <a:noFill/>
        </p:spPr>
        <p:txBody>
          <a:bodyPr wrap="none" rtlCol="0">
            <a:spAutoFit/>
          </a:bodyPr>
          <a:lstStyle/>
          <a:p>
            <a:r>
              <a:rPr lang="en-US" altLang="zh-CN" sz="1400" b="1" dirty="0" err="1">
                <a:solidFill>
                  <a:srgbClr val="C7000B"/>
                </a:solidFill>
              </a:rPr>
              <a:t>Encaps</a:t>
            </a:r>
            <a:r>
              <a:rPr lang="zh-CN" altLang="en-US" sz="1400" b="1" dirty="0">
                <a:solidFill>
                  <a:srgbClr val="C7000B"/>
                </a:solidFill>
              </a:rPr>
              <a:t>模式</a:t>
            </a:r>
            <a:endParaRPr lang="zh-CN" altLang="en-US" sz="1400" b="1" dirty="0">
              <a:solidFill>
                <a:srgbClr val="C7000B"/>
              </a:solidFill>
            </a:endParaRPr>
          </a:p>
        </p:txBody>
      </p:sp>
      <p:sp>
        <p:nvSpPr>
          <p:cNvPr id="81" name="五边形 2"/>
          <p:cNvSpPr/>
          <p:nvPr/>
        </p:nvSpPr>
        <p:spPr bwMode="gray">
          <a:xfrm>
            <a:off x="8562976" y="110463"/>
            <a:ext cx="1531726"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SRv6 Policy</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路径建立</a:t>
            </a:r>
            <a:endPar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5" name="燕尾形 3"/>
          <p:cNvSpPr/>
          <p:nvPr/>
        </p:nvSpPr>
        <p:spPr bwMode="gray">
          <a:xfrm>
            <a:off x="10018141" y="110463"/>
            <a:ext cx="1730947"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SRv6 Policy</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引流</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gray"/>
        <p:txBody>
          <a:bodyPr/>
          <a:lstStyle/>
          <a:p>
            <a:r>
              <a:rPr lang="en-US" altLang="zh-CN" dirty="0"/>
              <a:t>SRv6 Policy</a:t>
            </a:r>
            <a:r>
              <a:rPr lang="zh-CN" altLang="en-US" dirty="0"/>
              <a:t>基于</a:t>
            </a:r>
            <a:r>
              <a:rPr lang="en-US" altLang="zh-CN" dirty="0"/>
              <a:t>Color</a:t>
            </a:r>
            <a:r>
              <a:rPr lang="zh-CN" altLang="en-US" dirty="0"/>
              <a:t>引流</a:t>
            </a:r>
            <a:endParaRPr lang="zh-CN" altLang="en-US" dirty="0"/>
          </a:p>
        </p:txBody>
      </p:sp>
      <p:sp>
        <p:nvSpPr>
          <p:cNvPr id="3" name="Text Placeholder 2"/>
          <p:cNvSpPr>
            <a:spLocks noGrp="1"/>
          </p:cNvSpPr>
          <p:nvPr>
            <p:ph type="body" sz="quarter" idx="10"/>
          </p:nvPr>
        </p:nvSpPr>
        <p:spPr bwMode="gray"/>
        <p:txBody>
          <a:bodyPr/>
          <a:lstStyle/>
          <a:p>
            <a:r>
              <a:rPr lang="en-US" altLang="zh-CN" sz="1800" dirty="0"/>
              <a:t>SRv6 Policy</a:t>
            </a:r>
            <a:r>
              <a:rPr lang="zh-CN" altLang="en-US" sz="1800" dirty="0"/>
              <a:t>可以基于路由</a:t>
            </a:r>
            <a:r>
              <a:rPr lang="en-US" altLang="zh-CN" sz="1800" dirty="0"/>
              <a:t>Color</a:t>
            </a:r>
            <a:r>
              <a:rPr lang="zh-CN" altLang="en-US" sz="1800" dirty="0"/>
              <a:t>属性引流。</a:t>
            </a:r>
            <a:r>
              <a:rPr lang="en-US" altLang="zh-CN" sz="1800" dirty="0"/>
              <a:t>Color</a:t>
            </a:r>
            <a:r>
              <a:rPr lang="zh-CN" altLang="en-US" sz="1800" dirty="0"/>
              <a:t>引流是直接基于路由的扩展团体属性</a:t>
            </a:r>
            <a:r>
              <a:rPr lang="en-US" altLang="zh-CN" sz="1800" dirty="0"/>
              <a:t>Color</a:t>
            </a:r>
            <a:r>
              <a:rPr lang="zh-CN" altLang="en-US" sz="1800" dirty="0"/>
              <a:t>和目的地址迭代到</a:t>
            </a:r>
            <a:r>
              <a:rPr lang="en-US" altLang="zh-CN" sz="1800" dirty="0"/>
              <a:t>SRv6 Policy</a:t>
            </a:r>
            <a:r>
              <a:rPr lang="zh-CN" altLang="en-US" sz="1800" dirty="0"/>
              <a:t>。</a:t>
            </a:r>
            <a:endParaRPr lang="en-US" altLang="zh-CN" sz="1800" dirty="0"/>
          </a:p>
          <a:p>
            <a:endParaRPr lang="zh-CN" altLang="en-US" sz="1800" dirty="0"/>
          </a:p>
        </p:txBody>
      </p:sp>
      <p:grpSp>
        <p:nvGrpSpPr>
          <p:cNvPr id="4" name="组合 2"/>
          <p:cNvGrpSpPr/>
          <p:nvPr/>
        </p:nvGrpSpPr>
        <p:grpSpPr bwMode="gray">
          <a:xfrm rot="10800000">
            <a:off x="7096112" y="3598769"/>
            <a:ext cx="1032830" cy="1941018"/>
            <a:chOff x="4518703" y="2205748"/>
            <a:chExt cx="1512166" cy="2521312"/>
          </a:xfrm>
        </p:grpSpPr>
        <p:cxnSp>
          <p:nvCxnSpPr>
            <p:cNvPr id="5" name="直接连接符 3"/>
            <p:cNvCxnSpPr/>
            <p:nvPr/>
          </p:nvCxnSpPr>
          <p:spPr bwMode="gray">
            <a:xfrm rot="16200000" flipH="1">
              <a:off x="4644458" y="3340649"/>
              <a:ext cx="1260656" cy="151216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直接连接符 4"/>
            <p:cNvCxnSpPr/>
            <p:nvPr/>
          </p:nvCxnSpPr>
          <p:spPr bwMode="gray">
            <a:xfrm rot="16200000">
              <a:off x="4644458" y="2079993"/>
              <a:ext cx="1260656" cy="151216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9" name="组合 7"/>
          <p:cNvGrpSpPr/>
          <p:nvPr/>
        </p:nvGrpSpPr>
        <p:grpSpPr bwMode="gray">
          <a:xfrm>
            <a:off x="4155847" y="3648033"/>
            <a:ext cx="1032830" cy="1941018"/>
            <a:chOff x="4518703" y="2205748"/>
            <a:chExt cx="1512166" cy="2521312"/>
          </a:xfrm>
        </p:grpSpPr>
        <p:cxnSp>
          <p:nvCxnSpPr>
            <p:cNvPr id="10" name="直接连接符 8"/>
            <p:cNvCxnSpPr/>
            <p:nvPr/>
          </p:nvCxnSpPr>
          <p:spPr bwMode="gray">
            <a:xfrm rot="16200000" flipH="1">
              <a:off x="4644458" y="3340649"/>
              <a:ext cx="1260656" cy="151216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直接连接符 9"/>
            <p:cNvCxnSpPr/>
            <p:nvPr/>
          </p:nvCxnSpPr>
          <p:spPr bwMode="gray">
            <a:xfrm rot="16200000">
              <a:off x="4644458" y="2079993"/>
              <a:ext cx="1260656" cy="151216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2" name="直接连接符 10"/>
          <p:cNvCxnSpPr>
            <a:stCxn id="19" idx="1"/>
            <a:endCxn id="17" idx="3"/>
          </p:cNvCxnSpPr>
          <p:nvPr/>
        </p:nvCxnSpPr>
        <p:spPr bwMode="gray">
          <a:xfrm flipH="1">
            <a:off x="5432299" y="3641735"/>
            <a:ext cx="128653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接连接符 11"/>
          <p:cNvCxnSpPr>
            <a:stCxn id="20" idx="1"/>
            <a:endCxn id="18" idx="3"/>
          </p:cNvCxnSpPr>
          <p:nvPr/>
        </p:nvCxnSpPr>
        <p:spPr bwMode="gray">
          <a:xfrm flipH="1">
            <a:off x="5432299" y="5539787"/>
            <a:ext cx="128653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16" name="图片 17"/>
          <p:cNvPicPr/>
          <p:nvPr/>
        </p:nvPicPr>
        <p:blipFill>
          <a:blip r:embed="rId1" cstate="print">
            <a:extLst>
              <a:ext uri="{28A0092B-C50C-407E-A947-70E740481C1C}">
                <a14:useLocalDpi xmlns:a14="http://schemas.microsoft.com/office/drawing/2010/main" val="0"/>
              </a:ext>
            </a:extLst>
          </a:blip>
          <a:stretch>
            <a:fillRect/>
          </a:stretch>
        </p:blipFill>
        <p:spPr bwMode="gray">
          <a:xfrm>
            <a:off x="3868092" y="4369361"/>
            <a:ext cx="540000" cy="442800"/>
          </a:xfrm>
          <a:prstGeom prst="rect">
            <a:avLst/>
          </a:prstGeom>
        </p:spPr>
      </p:pic>
      <p:pic>
        <p:nvPicPr>
          <p:cNvPr id="17"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4892299" y="3420335"/>
            <a:ext cx="540000" cy="442800"/>
          </a:xfrm>
          <a:prstGeom prst="rect">
            <a:avLst/>
          </a:prstGeom>
        </p:spPr>
      </p:pic>
      <p:pic>
        <p:nvPicPr>
          <p:cNvPr id="18" name="图片 19"/>
          <p:cNvPicPr/>
          <p:nvPr/>
        </p:nvPicPr>
        <p:blipFill>
          <a:blip r:embed="rId1" cstate="print">
            <a:extLst>
              <a:ext uri="{28A0092B-C50C-407E-A947-70E740481C1C}">
                <a14:useLocalDpi xmlns:a14="http://schemas.microsoft.com/office/drawing/2010/main" val="0"/>
              </a:ext>
            </a:extLst>
          </a:blip>
          <a:stretch>
            <a:fillRect/>
          </a:stretch>
        </p:blipFill>
        <p:spPr bwMode="gray">
          <a:xfrm>
            <a:off x="4892299" y="5318387"/>
            <a:ext cx="540000" cy="442800"/>
          </a:xfrm>
          <a:prstGeom prst="rect">
            <a:avLst/>
          </a:prstGeom>
        </p:spPr>
      </p:pic>
      <p:pic>
        <p:nvPicPr>
          <p:cNvPr id="19" name="图片 20"/>
          <p:cNvPicPr/>
          <p:nvPr/>
        </p:nvPicPr>
        <p:blipFill>
          <a:blip r:embed="rId1" cstate="print">
            <a:extLst>
              <a:ext uri="{28A0092B-C50C-407E-A947-70E740481C1C}">
                <a14:useLocalDpi xmlns:a14="http://schemas.microsoft.com/office/drawing/2010/main" val="0"/>
              </a:ext>
            </a:extLst>
          </a:blip>
          <a:stretch>
            <a:fillRect/>
          </a:stretch>
        </p:blipFill>
        <p:spPr bwMode="gray">
          <a:xfrm>
            <a:off x="6718836" y="3420335"/>
            <a:ext cx="540000" cy="442800"/>
          </a:xfrm>
          <a:prstGeom prst="rect">
            <a:avLst/>
          </a:prstGeom>
        </p:spPr>
      </p:pic>
      <p:pic>
        <p:nvPicPr>
          <p:cNvPr id="20" name="图片 21"/>
          <p:cNvPicPr/>
          <p:nvPr/>
        </p:nvPicPr>
        <p:blipFill>
          <a:blip r:embed="rId1" cstate="print">
            <a:extLst>
              <a:ext uri="{28A0092B-C50C-407E-A947-70E740481C1C}">
                <a14:useLocalDpi xmlns:a14="http://schemas.microsoft.com/office/drawing/2010/main" val="0"/>
              </a:ext>
            </a:extLst>
          </a:blip>
          <a:stretch>
            <a:fillRect/>
          </a:stretch>
        </p:blipFill>
        <p:spPr bwMode="gray">
          <a:xfrm>
            <a:off x="6718836" y="5318387"/>
            <a:ext cx="540000" cy="442800"/>
          </a:xfrm>
          <a:prstGeom prst="rect">
            <a:avLst/>
          </a:prstGeom>
        </p:spPr>
      </p:pic>
      <p:pic>
        <p:nvPicPr>
          <p:cNvPr id="23" name="图片 24"/>
          <p:cNvPicPr/>
          <p:nvPr/>
        </p:nvPicPr>
        <p:blipFill>
          <a:blip r:embed="rId1" cstate="print">
            <a:extLst>
              <a:ext uri="{28A0092B-C50C-407E-A947-70E740481C1C}">
                <a14:useLocalDpi xmlns:a14="http://schemas.microsoft.com/office/drawing/2010/main" val="0"/>
              </a:ext>
            </a:extLst>
          </a:blip>
          <a:stretch>
            <a:fillRect/>
          </a:stretch>
        </p:blipFill>
        <p:spPr bwMode="gray">
          <a:xfrm>
            <a:off x="7991686" y="4344532"/>
            <a:ext cx="540000" cy="442800"/>
          </a:xfrm>
          <a:prstGeom prst="rect">
            <a:avLst/>
          </a:prstGeom>
        </p:spPr>
      </p:pic>
      <p:sp>
        <p:nvSpPr>
          <p:cNvPr id="24" name="文本框 26"/>
          <p:cNvSpPr txBox="1"/>
          <p:nvPr/>
        </p:nvSpPr>
        <p:spPr bwMode="gray">
          <a:xfrm>
            <a:off x="5574700" y="3158538"/>
            <a:ext cx="1000595" cy="307777"/>
          </a:xfrm>
          <a:prstGeom prst="rect">
            <a:avLst/>
          </a:prstGeom>
          <a:noFill/>
        </p:spPr>
        <p:txBody>
          <a:bodyPr wrap="none" rtlCol="0">
            <a:spAutoFit/>
          </a:bodyPr>
          <a:lstStyle/>
          <a:p>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Color</a:t>
            </a:r>
            <a:r>
              <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15</a:t>
            </a:r>
            <a:endPar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文本框 27"/>
          <p:cNvSpPr txBox="1"/>
          <p:nvPr/>
        </p:nvSpPr>
        <p:spPr bwMode="gray">
          <a:xfrm>
            <a:off x="3701621" y="4783942"/>
            <a:ext cx="529312" cy="338554"/>
          </a:xfrm>
          <a:prstGeom prst="rect">
            <a:avLst/>
          </a:prstGeom>
          <a:noFill/>
        </p:spPr>
        <p:txBody>
          <a:bodyPr wrap="none" rtlCol="0">
            <a:spAutoFit/>
          </a:bodyPr>
          <a:lstStyle/>
          <a:p>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PE1</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文本框 28"/>
          <p:cNvSpPr txBox="1"/>
          <p:nvPr/>
        </p:nvSpPr>
        <p:spPr bwMode="gray">
          <a:xfrm>
            <a:off x="8109674" y="4806445"/>
            <a:ext cx="529312" cy="338554"/>
          </a:xfrm>
          <a:prstGeom prst="rect">
            <a:avLst/>
          </a:prstGeom>
          <a:noFill/>
        </p:spPr>
        <p:txBody>
          <a:bodyPr wrap="none" rtlCol="0">
            <a:spAutoFit/>
          </a:bodyPr>
          <a:lstStyle/>
          <a:p>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PE2</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文本框 26"/>
          <p:cNvSpPr txBox="1"/>
          <p:nvPr/>
        </p:nvSpPr>
        <p:spPr bwMode="gray">
          <a:xfrm>
            <a:off x="5613102" y="5737060"/>
            <a:ext cx="1000595" cy="307777"/>
          </a:xfrm>
          <a:prstGeom prst="rect">
            <a:avLst/>
          </a:prstGeom>
          <a:noFill/>
        </p:spPr>
        <p:txBody>
          <a:bodyPr wrap="none" rtlCol="0">
            <a:spAutoFit/>
          </a:bodyPr>
          <a:lstStyle/>
          <a:p>
            <a:r>
              <a:rPr lang="en-US" altLang="zh-CN" sz="1400" dirty="0">
                <a:solidFill>
                  <a:srgbClr val="56C4D2"/>
                </a:solidFill>
                <a:latin typeface="Huawei Sans" panose="020C0503030203020204" pitchFamily="34" charset="0"/>
                <a:ea typeface="方正兰亭黑简体" panose="02000000000000000000" pitchFamily="2" charset="-122"/>
                <a:sym typeface="Huawei Sans" panose="020C0503030203020204" pitchFamily="34" charset="0"/>
              </a:rPr>
              <a:t>Color</a:t>
            </a:r>
            <a:r>
              <a:rPr lang="zh-CN" altLang="en-US" sz="1400" dirty="0">
                <a:solidFill>
                  <a:srgbClr val="56C4D2"/>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solidFill>
                  <a:srgbClr val="56C4D2"/>
                </a:solidFill>
                <a:latin typeface="Huawei Sans" panose="020C0503030203020204" pitchFamily="34" charset="0"/>
                <a:ea typeface="方正兰亭黑简体" panose="02000000000000000000" pitchFamily="2" charset="-122"/>
                <a:sym typeface="Huawei Sans" panose="020C0503030203020204" pitchFamily="34" charset="0"/>
              </a:rPr>
              <a:t>20</a:t>
            </a:r>
            <a:endParaRPr lang="zh-CN" altLang="en-US" sz="1400" dirty="0">
              <a:solidFill>
                <a:srgbClr val="56C4D2"/>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9" name="图片 17"/>
          <p:cNvPicPr/>
          <p:nvPr/>
        </p:nvPicPr>
        <p:blipFill>
          <a:blip r:embed="rId1" cstate="print">
            <a:extLst>
              <a:ext uri="{28A0092B-C50C-407E-A947-70E740481C1C}">
                <a14:useLocalDpi xmlns:a14="http://schemas.microsoft.com/office/drawing/2010/main" val="0"/>
              </a:ext>
            </a:extLst>
          </a:blip>
          <a:stretch>
            <a:fillRect/>
          </a:stretch>
        </p:blipFill>
        <p:spPr bwMode="gray">
          <a:xfrm>
            <a:off x="2376147" y="4363645"/>
            <a:ext cx="540000" cy="442800"/>
          </a:xfrm>
          <a:prstGeom prst="rect">
            <a:avLst/>
          </a:prstGeom>
        </p:spPr>
      </p:pic>
      <p:cxnSp>
        <p:nvCxnSpPr>
          <p:cNvPr id="31" name="直接连接符 9"/>
          <p:cNvCxnSpPr>
            <a:stCxn id="29" idx="3"/>
            <a:endCxn id="16" idx="1"/>
          </p:cNvCxnSpPr>
          <p:nvPr/>
        </p:nvCxnSpPr>
        <p:spPr bwMode="gray">
          <a:xfrm>
            <a:off x="2916147" y="4585045"/>
            <a:ext cx="951945" cy="571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直接连接符 9"/>
          <p:cNvCxnSpPr>
            <a:stCxn id="23" idx="3"/>
            <a:endCxn id="30" idx="1"/>
          </p:cNvCxnSpPr>
          <p:nvPr/>
        </p:nvCxnSpPr>
        <p:spPr bwMode="gray">
          <a:xfrm>
            <a:off x="8531686" y="4565932"/>
            <a:ext cx="93788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4" name="文本框 27"/>
          <p:cNvSpPr txBox="1"/>
          <p:nvPr/>
        </p:nvSpPr>
        <p:spPr bwMode="gray">
          <a:xfrm>
            <a:off x="2475994" y="4751468"/>
            <a:ext cx="537327" cy="338554"/>
          </a:xfrm>
          <a:prstGeom prst="rect">
            <a:avLst/>
          </a:prstGeom>
          <a:noFill/>
        </p:spPr>
        <p:txBody>
          <a:bodyPr wrap="none" rtlCol="0">
            <a:spAutoFit/>
          </a:bodyPr>
          <a:lstStyle/>
          <a:p>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CE1</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0" name="Freeform 159"/>
          <p:cNvSpPr/>
          <p:nvPr/>
        </p:nvSpPr>
        <p:spPr bwMode="gray">
          <a:xfrm rot="20810939" flipH="1">
            <a:off x="9848528" y="3876809"/>
            <a:ext cx="1117868" cy="58434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Net1</a:t>
            </a:r>
            <a:endParaRPr lang="en-US"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1" name="Freeform 60"/>
          <p:cNvSpPr/>
          <p:nvPr/>
        </p:nvSpPr>
        <p:spPr bwMode="gray">
          <a:xfrm>
            <a:off x="8402676" y="3775182"/>
            <a:ext cx="1312433" cy="505770"/>
          </a:xfrm>
          <a:custGeom>
            <a:avLst/>
            <a:gdLst>
              <a:gd name="connsiteX0" fmla="*/ 1312433 w 1312433"/>
              <a:gd name="connsiteY0" fmla="*/ 505770 h 505770"/>
              <a:gd name="connsiteX1" fmla="*/ 699247 w 1312433"/>
              <a:gd name="connsiteY1" fmla="*/ 160 h 505770"/>
              <a:gd name="connsiteX2" fmla="*/ 0 w 1312433"/>
              <a:gd name="connsiteY2" fmla="*/ 462739 h 505770"/>
            </a:gdLst>
            <a:ahLst/>
            <a:cxnLst>
              <a:cxn ang="0">
                <a:pos x="connsiteX0" y="connsiteY0"/>
              </a:cxn>
              <a:cxn ang="0">
                <a:pos x="connsiteX1" y="connsiteY1"/>
              </a:cxn>
              <a:cxn ang="0">
                <a:pos x="connsiteX2" y="connsiteY2"/>
              </a:cxn>
            </a:cxnLst>
            <a:rect l="l" t="t" r="r" b="b"/>
            <a:pathLst>
              <a:path w="1312433" h="505770">
                <a:moveTo>
                  <a:pt x="1312433" y="505770"/>
                </a:moveTo>
                <a:cubicBezTo>
                  <a:pt x="1115209" y="256551"/>
                  <a:pt x="917986" y="7332"/>
                  <a:pt x="699247" y="160"/>
                </a:cubicBezTo>
                <a:cubicBezTo>
                  <a:pt x="480508" y="-7012"/>
                  <a:pt x="240254" y="227863"/>
                  <a:pt x="0" y="462739"/>
                </a:cubicBezTo>
              </a:path>
            </a:pathLst>
          </a:custGeom>
          <a:noFill/>
          <a:ln w="19050">
            <a:solidFill>
              <a:srgbClr val="F28944"/>
            </a:solidFill>
            <a:prstDash val="dash"/>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Freeform 61"/>
          <p:cNvSpPr/>
          <p:nvPr/>
        </p:nvSpPr>
        <p:spPr bwMode="gray">
          <a:xfrm>
            <a:off x="4068534" y="2829232"/>
            <a:ext cx="4148760" cy="1441555"/>
          </a:xfrm>
          <a:custGeom>
            <a:avLst/>
            <a:gdLst>
              <a:gd name="connsiteX0" fmla="*/ 3883510 w 3883510"/>
              <a:gd name="connsiteY0" fmla="*/ 1409282 h 1441555"/>
              <a:gd name="connsiteX1" fmla="*/ 1979407 w 3883510"/>
              <a:gd name="connsiteY1" fmla="*/ 30 h 1441555"/>
              <a:gd name="connsiteX2" fmla="*/ 0 w 3883510"/>
              <a:gd name="connsiteY2" fmla="*/ 1441555 h 1441555"/>
            </a:gdLst>
            <a:ahLst/>
            <a:cxnLst>
              <a:cxn ang="0">
                <a:pos x="connsiteX0" y="connsiteY0"/>
              </a:cxn>
              <a:cxn ang="0">
                <a:pos x="connsiteX1" y="connsiteY1"/>
              </a:cxn>
              <a:cxn ang="0">
                <a:pos x="connsiteX2" y="connsiteY2"/>
              </a:cxn>
            </a:cxnLst>
            <a:rect l="l" t="t" r="r" b="b"/>
            <a:pathLst>
              <a:path w="3883510" h="1441555">
                <a:moveTo>
                  <a:pt x="3883510" y="1409282"/>
                </a:moveTo>
                <a:cubicBezTo>
                  <a:pt x="3255084" y="701966"/>
                  <a:pt x="2626659" y="-5349"/>
                  <a:pt x="1979407" y="30"/>
                </a:cubicBezTo>
                <a:cubicBezTo>
                  <a:pt x="1332155" y="5409"/>
                  <a:pt x="666077" y="723482"/>
                  <a:pt x="0" y="1441555"/>
                </a:cubicBezTo>
              </a:path>
            </a:pathLst>
          </a:custGeom>
          <a:noFill/>
          <a:ln w="19050">
            <a:solidFill>
              <a:srgbClr val="F28944"/>
            </a:solidFill>
            <a:prstDash val="dash"/>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Freeform 62"/>
          <p:cNvSpPr/>
          <p:nvPr/>
        </p:nvSpPr>
        <p:spPr bwMode="gray">
          <a:xfrm>
            <a:off x="2669762" y="3743575"/>
            <a:ext cx="1312433" cy="505770"/>
          </a:xfrm>
          <a:custGeom>
            <a:avLst/>
            <a:gdLst>
              <a:gd name="connsiteX0" fmla="*/ 1312433 w 1312433"/>
              <a:gd name="connsiteY0" fmla="*/ 505770 h 505770"/>
              <a:gd name="connsiteX1" fmla="*/ 699247 w 1312433"/>
              <a:gd name="connsiteY1" fmla="*/ 160 h 505770"/>
              <a:gd name="connsiteX2" fmla="*/ 0 w 1312433"/>
              <a:gd name="connsiteY2" fmla="*/ 462739 h 505770"/>
            </a:gdLst>
            <a:ahLst/>
            <a:cxnLst>
              <a:cxn ang="0">
                <a:pos x="connsiteX0" y="connsiteY0"/>
              </a:cxn>
              <a:cxn ang="0">
                <a:pos x="connsiteX1" y="connsiteY1"/>
              </a:cxn>
              <a:cxn ang="0">
                <a:pos x="connsiteX2" y="connsiteY2"/>
              </a:cxn>
            </a:cxnLst>
            <a:rect l="l" t="t" r="r" b="b"/>
            <a:pathLst>
              <a:path w="1312433" h="505770">
                <a:moveTo>
                  <a:pt x="1312433" y="505770"/>
                </a:moveTo>
                <a:cubicBezTo>
                  <a:pt x="1115209" y="256551"/>
                  <a:pt x="917986" y="7332"/>
                  <a:pt x="699247" y="160"/>
                </a:cubicBezTo>
                <a:cubicBezTo>
                  <a:pt x="480508" y="-7012"/>
                  <a:pt x="240254" y="227863"/>
                  <a:pt x="0" y="462739"/>
                </a:cubicBezTo>
              </a:path>
            </a:pathLst>
          </a:custGeom>
          <a:noFill/>
          <a:ln w="19050">
            <a:solidFill>
              <a:srgbClr val="F28944"/>
            </a:solidFill>
            <a:prstDash val="dash"/>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8" name="组合 17"/>
          <p:cNvGrpSpPr/>
          <p:nvPr/>
        </p:nvGrpSpPr>
        <p:grpSpPr bwMode="gray">
          <a:xfrm>
            <a:off x="4959957" y="1981062"/>
            <a:ext cx="2349758" cy="931099"/>
            <a:chOff x="756083" y="2150074"/>
            <a:chExt cx="2349758" cy="595650"/>
          </a:xfrm>
        </p:grpSpPr>
        <p:sp>
          <p:nvSpPr>
            <p:cNvPr id="69" name="矩形: 圆角 52"/>
            <p:cNvSpPr/>
            <p:nvPr/>
          </p:nvSpPr>
          <p:spPr bwMode="gray">
            <a:xfrm>
              <a:off x="756083" y="2150074"/>
              <a:ext cx="2349758" cy="595650"/>
            </a:xfrm>
            <a:prstGeom prst="roundRect">
              <a:avLst>
                <a:gd name="adj" fmla="val 3125"/>
              </a:avLst>
            </a:prstGeom>
            <a:solidFill>
              <a:schemeClr val="bg1"/>
            </a:solidFill>
            <a:ln w="190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ltLang="zh-CN" sz="12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BGP</a:t>
              </a:r>
              <a:r>
                <a:rPr lang="zh-CN" altLang="en-US" sz="12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路由</a:t>
              </a:r>
              <a:endParaRPr lang="zh-CN" altLang="en-US" sz="12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0" name="TextBox 120"/>
            <p:cNvSpPr txBox="1"/>
            <p:nvPr/>
          </p:nvSpPr>
          <p:spPr bwMode="gray">
            <a:xfrm>
              <a:off x="788357" y="2308847"/>
              <a:ext cx="2274453" cy="421473"/>
            </a:xfrm>
            <a:prstGeom prst="roundRect">
              <a:avLst>
                <a:gd name="adj" fmla="val 3880"/>
              </a:avLst>
            </a:prstGeom>
            <a:noFill/>
            <a:ln w="12700">
              <a:solidFill>
                <a:srgbClr val="56C4D2"/>
              </a:solidFill>
            </a:ln>
          </p:spPr>
          <p:txBody>
            <a:bodyPr wrap="square" rtlCol="0" anchor="ctr">
              <a:spAutoFit/>
            </a:bodyPr>
            <a:lstStyle/>
            <a:p>
              <a:r>
                <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Prefix  NHP Ext-Community</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Net1   PE2   </a:t>
              </a: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0:15</a:t>
              </a:r>
              <a:endPar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Net2   PE2   </a:t>
              </a: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0:20</a:t>
              </a:r>
              <a:endParaRPr lang="zh-CN" altLang="en-US"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71" name="组合 17"/>
          <p:cNvGrpSpPr/>
          <p:nvPr/>
        </p:nvGrpSpPr>
        <p:grpSpPr bwMode="gray">
          <a:xfrm>
            <a:off x="8868381" y="2978293"/>
            <a:ext cx="1210060" cy="935618"/>
            <a:chOff x="746169" y="2147183"/>
            <a:chExt cx="1210060" cy="598541"/>
          </a:xfrm>
        </p:grpSpPr>
        <p:sp>
          <p:nvSpPr>
            <p:cNvPr id="72" name="矩形: 圆角 52"/>
            <p:cNvSpPr/>
            <p:nvPr/>
          </p:nvSpPr>
          <p:spPr bwMode="gray">
            <a:xfrm>
              <a:off x="746169" y="2147183"/>
              <a:ext cx="1210060" cy="598541"/>
            </a:xfrm>
            <a:prstGeom prst="roundRect">
              <a:avLst>
                <a:gd name="adj" fmla="val 3125"/>
              </a:avLst>
            </a:prstGeom>
            <a:solidFill>
              <a:schemeClr val="bg1"/>
            </a:solidFill>
            <a:ln w="190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ltLang="zh-CN" sz="12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IGP</a:t>
              </a:r>
              <a:r>
                <a:rPr lang="zh-CN" altLang="en-US" sz="12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路由</a:t>
              </a:r>
              <a:endParaRPr lang="zh-CN" altLang="en-US" sz="12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3" name="TextBox 120"/>
            <p:cNvSpPr txBox="1"/>
            <p:nvPr/>
          </p:nvSpPr>
          <p:spPr bwMode="gray">
            <a:xfrm>
              <a:off x="788358" y="2296500"/>
              <a:ext cx="1112567" cy="421473"/>
            </a:xfrm>
            <a:prstGeom prst="roundRect">
              <a:avLst>
                <a:gd name="adj" fmla="val 3880"/>
              </a:avLst>
            </a:prstGeom>
            <a:noFill/>
            <a:ln w="12700">
              <a:solidFill>
                <a:srgbClr val="56C4D2"/>
              </a:solidFill>
            </a:ln>
          </p:spPr>
          <p:txBody>
            <a:bodyPr wrap="square" rtlCol="0" anchor="ctr">
              <a:spAutoFit/>
            </a:bodyPr>
            <a:lstStyle/>
            <a:p>
              <a:r>
                <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Prefix  NHP</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Net1   CE2</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Net2   CE2</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74" name="组合 17"/>
          <p:cNvGrpSpPr/>
          <p:nvPr/>
        </p:nvGrpSpPr>
        <p:grpSpPr bwMode="gray">
          <a:xfrm>
            <a:off x="2082673" y="2972353"/>
            <a:ext cx="1210060" cy="935618"/>
            <a:chOff x="746169" y="2147183"/>
            <a:chExt cx="1210060" cy="598541"/>
          </a:xfrm>
        </p:grpSpPr>
        <p:sp>
          <p:nvSpPr>
            <p:cNvPr id="75" name="矩形: 圆角 52"/>
            <p:cNvSpPr/>
            <p:nvPr/>
          </p:nvSpPr>
          <p:spPr bwMode="gray">
            <a:xfrm>
              <a:off x="746169" y="2147183"/>
              <a:ext cx="1210060" cy="598541"/>
            </a:xfrm>
            <a:prstGeom prst="roundRect">
              <a:avLst>
                <a:gd name="adj" fmla="val 3125"/>
              </a:avLst>
            </a:prstGeom>
            <a:solidFill>
              <a:schemeClr val="bg1"/>
            </a:solidFill>
            <a:ln w="190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ltLang="zh-CN" sz="12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IGP</a:t>
              </a:r>
              <a:r>
                <a:rPr lang="zh-CN" altLang="en-US" sz="12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路由</a:t>
              </a:r>
              <a:endParaRPr lang="zh-CN" altLang="en-US" sz="12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6" name="TextBox 120"/>
            <p:cNvSpPr txBox="1"/>
            <p:nvPr/>
          </p:nvSpPr>
          <p:spPr bwMode="gray">
            <a:xfrm>
              <a:off x="788358" y="2296500"/>
              <a:ext cx="1112567" cy="421473"/>
            </a:xfrm>
            <a:prstGeom prst="roundRect">
              <a:avLst>
                <a:gd name="adj" fmla="val 3880"/>
              </a:avLst>
            </a:prstGeom>
            <a:noFill/>
            <a:ln w="12700">
              <a:solidFill>
                <a:srgbClr val="56C4D2"/>
              </a:solidFill>
            </a:ln>
          </p:spPr>
          <p:txBody>
            <a:bodyPr wrap="square" rtlCol="0" anchor="ctr">
              <a:spAutoFit/>
            </a:bodyPr>
            <a:lstStyle/>
            <a:p>
              <a:r>
                <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Prefix  NHP</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Net1   PE1</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Net2   PE1</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77" name="Freeform 159"/>
          <p:cNvSpPr/>
          <p:nvPr/>
        </p:nvSpPr>
        <p:spPr bwMode="gray">
          <a:xfrm rot="908411" flipH="1">
            <a:off x="9890898" y="4530586"/>
            <a:ext cx="1117868" cy="58434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Net2</a:t>
            </a:r>
            <a:endParaRPr lang="en-US"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30" name="图片 17"/>
          <p:cNvPicPr/>
          <p:nvPr/>
        </p:nvPicPr>
        <p:blipFill>
          <a:blip r:embed="rId1" cstate="print">
            <a:extLst>
              <a:ext uri="{28A0092B-C50C-407E-A947-70E740481C1C}">
                <a14:useLocalDpi xmlns:a14="http://schemas.microsoft.com/office/drawing/2010/main" val="0"/>
              </a:ext>
            </a:extLst>
          </a:blip>
          <a:stretch>
            <a:fillRect/>
          </a:stretch>
        </p:blipFill>
        <p:spPr bwMode="gray">
          <a:xfrm>
            <a:off x="9469574" y="4344532"/>
            <a:ext cx="540000" cy="442800"/>
          </a:xfrm>
          <a:prstGeom prst="rect">
            <a:avLst/>
          </a:prstGeom>
        </p:spPr>
      </p:pic>
      <p:sp>
        <p:nvSpPr>
          <p:cNvPr id="79" name="Freeform 78"/>
          <p:cNvSpPr/>
          <p:nvPr/>
        </p:nvSpPr>
        <p:spPr bwMode="gray">
          <a:xfrm>
            <a:off x="2676525" y="4338130"/>
            <a:ext cx="1600200" cy="186466"/>
          </a:xfrm>
          <a:custGeom>
            <a:avLst/>
            <a:gdLst>
              <a:gd name="connsiteX0" fmla="*/ 0 w 1600200"/>
              <a:gd name="connsiteY0" fmla="*/ 166688 h 186466"/>
              <a:gd name="connsiteX1" fmla="*/ 1166813 w 1600200"/>
              <a:gd name="connsiteY1" fmla="*/ 171450 h 186466"/>
              <a:gd name="connsiteX2" fmla="*/ 1600200 w 1600200"/>
              <a:gd name="connsiteY2" fmla="*/ 0 h 186466"/>
            </a:gdLst>
            <a:ahLst/>
            <a:cxnLst>
              <a:cxn ang="0">
                <a:pos x="connsiteX0" y="connsiteY0"/>
              </a:cxn>
              <a:cxn ang="0">
                <a:pos x="connsiteX1" y="connsiteY1"/>
              </a:cxn>
              <a:cxn ang="0">
                <a:pos x="connsiteX2" y="connsiteY2"/>
              </a:cxn>
            </a:cxnLst>
            <a:rect l="l" t="t" r="r" b="b"/>
            <a:pathLst>
              <a:path w="1600200" h="186466">
                <a:moveTo>
                  <a:pt x="0" y="166688"/>
                </a:moveTo>
                <a:cubicBezTo>
                  <a:pt x="450056" y="182959"/>
                  <a:pt x="900113" y="199231"/>
                  <a:pt x="1166813" y="171450"/>
                </a:cubicBezTo>
                <a:cubicBezTo>
                  <a:pt x="1433513" y="143669"/>
                  <a:pt x="1516856" y="71834"/>
                  <a:pt x="1600200" y="0"/>
                </a:cubicBezTo>
              </a:path>
            </a:pathLst>
          </a:custGeom>
          <a:noFill/>
          <a:ln w="28575">
            <a:solidFill>
              <a:srgbClr val="E2818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Freeform 79"/>
          <p:cNvSpPr/>
          <p:nvPr/>
        </p:nvSpPr>
        <p:spPr bwMode="gray">
          <a:xfrm flipV="1">
            <a:off x="2662090" y="4663280"/>
            <a:ext cx="1600200" cy="186466"/>
          </a:xfrm>
          <a:custGeom>
            <a:avLst/>
            <a:gdLst>
              <a:gd name="connsiteX0" fmla="*/ 0 w 1600200"/>
              <a:gd name="connsiteY0" fmla="*/ 166688 h 186466"/>
              <a:gd name="connsiteX1" fmla="*/ 1166813 w 1600200"/>
              <a:gd name="connsiteY1" fmla="*/ 171450 h 186466"/>
              <a:gd name="connsiteX2" fmla="*/ 1600200 w 1600200"/>
              <a:gd name="connsiteY2" fmla="*/ 0 h 186466"/>
            </a:gdLst>
            <a:ahLst/>
            <a:cxnLst>
              <a:cxn ang="0">
                <a:pos x="connsiteX0" y="connsiteY0"/>
              </a:cxn>
              <a:cxn ang="0">
                <a:pos x="connsiteX1" y="connsiteY1"/>
              </a:cxn>
              <a:cxn ang="0">
                <a:pos x="connsiteX2" y="connsiteY2"/>
              </a:cxn>
            </a:cxnLst>
            <a:rect l="l" t="t" r="r" b="b"/>
            <a:pathLst>
              <a:path w="1600200" h="186466">
                <a:moveTo>
                  <a:pt x="0" y="166688"/>
                </a:moveTo>
                <a:cubicBezTo>
                  <a:pt x="450056" y="182959"/>
                  <a:pt x="900113" y="199231"/>
                  <a:pt x="1166813" y="171450"/>
                </a:cubicBezTo>
                <a:cubicBezTo>
                  <a:pt x="1433513" y="143669"/>
                  <a:pt x="1516856" y="71834"/>
                  <a:pt x="1600200" y="0"/>
                </a:cubicBezTo>
              </a:path>
            </a:pathLst>
          </a:custGeom>
          <a:noFill/>
          <a:ln w="2857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文本框 27"/>
          <p:cNvSpPr txBox="1"/>
          <p:nvPr/>
        </p:nvSpPr>
        <p:spPr bwMode="gray">
          <a:xfrm>
            <a:off x="9435688" y="4744349"/>
            <a:ext cx="537327" cy="338554"/>
          </a:xfrm>
          <a:prstGeom prst="rect">
            <a:avLst/>
          </a:prstGeom>
          <a:noFill/>
        </p:spPr>
        <p:txBody>
          <a:bodyPr wrap="none" rtlCol="0">
            <a:spAutoFit/>
          </a:bodyPr>
          <a:lstStyle/>
          <a:p>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CE2</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55" name="Group 54"/>
          <p:cNvGrpSpPr/>
          <p:nvPr/>
        </p:nvGrpSpPr>
        <p:grpSpPr bwMode="gray">
          <a:xfrm>
            <a:off x="4175233" y="3529698"/>
            <a:ext cx="4022912" cy="942726"/>
            <a:chOff x="4161932" y="2603104"/>
            <a:chExt cx="4022912" cy="942726"/>
          </a:xfrm>
        </p:grpSpPr>
        <p:sp>
          <p:nvSpPr>
            <p:cNvPr id="52" name="任意多边形 33"/>
            <p:cNvSpPr/>
            <p:nvPr/>
          </p:nvSpPr>
          <p:spPr bwMode="gray">
            <a:xfrm>
              <a:off x="4227911" y="2603104"/>
              <a:ext cx="3887731" cy="902073"/>
            </a:xfrm>
            <a:custGeom>
              <a:avLst/>
              <a:gdLst>
                <a:gd name="connsiteX0" fmla="*/ 0 w 4491318"/>
                <a:gd name="connsiteY0" fmla="*/ 753035 h 1304365"/>
                <a:gd name="connsiteX1" fmla="*/ 605118 w 4491318"/>
                <a:gd name="connsiteY1" fmla="*/ 1304365 h 1304365"/>
                <a:gd name="connsiteX2" fmla="*/ 1627094 w 4491318"/>
                <a:gd name="connsiteY2" fmla="*/ 0 h 1304365"/>
                <a:gd name="connsiteX3" fmla="*/ 3859306 w 4491318"/>
                <a:gd name="connsiteY3" fmla="*/ 0 h 1304365"/>
                <a:gd name="connsiteX4" fmla="*/ 4491318 w 4491318"/>
                <a:gd name="connsiteY4" fmla="*/ 578223 h 1304365"/>
                <a:gd name="connsiteX0-1" fmla="*/ 0 w 4491318"/>
                <a:gd name="connsiteY0-2" fmla="*/ 757268 h 1308598"/>
                <a:gd name="connsiteX1-3" fmla="*/ 605118 w 4491318"/>
                <a:gd name="connsiteY1-4" fmla="*/ 1308598 h 1308598"/>
                <a:gd name="connsiteX2-5" fmla="*/ 1732928 w 4491318"/>
                <a:gd name="connsiteY2-6" fmla="*/ 0 h 1308598"/>
                <a:gd name="connsiteX3-7" fmla="*/ 3859306 w 4491318"/>
                <a:gd name="connsiteY3-8" fmla="*/ 4233 h 1308598"/>
                <a:gd name="connsiteX4-9" fmla="*/ 4491318 w 4491318"/>
                <a:gd name="connsiteY4-10" fmla="*/ 582456 h 1308598"/>
                <a:gd name="connsiteX0-11" fmla="*/ 0 w 4491318"/>
                <a:gd name="connsiteY0-12" fmla="*/ 757268 h 1308598"/>
                <a:gd name="connsiteX1-13" fmla="*/ 605118 w 4491318"/>
                <a:gd name="connsiteY1-14" fmla="*/ 1308598 h 1308598"/>
                <a:gd name="connsiteX2-15" fmla="*/ 1762561 w 4491318"/>
                <a:gd name="connsiteY2-16" fmla="*/ 0 h 1308598"/>
                <a:gd name="connsiteX3-17" fmla="*/ 3859306 w 4491318"/>
                <a:gd name="connsiteY3-18" fmla="*/ 4233 h 1308598"/>
                <a:gd name="connsiteX4-19" fmla="*/ 4491318 w 4491318"/>
                <a:gd name="connsiteY4-20" fmla="*/ 582456 h 1308598"/>
                <a:gd name="connsiteX0-21" fmla="*/ 0 w 4491318"/>
                <a:gd name="connsiteY0-22" fmla="*/ 791695 h 791695"/>
                <a:gd name="connsiteX1-23" fmla="*/ 814668 w 4491318"/>
                <a:gd name="connsiteY1-24" fmla="*/ 0 h 791695"/>
                <a:gd name="connsiteX2-25" fmla="*/ 1762561 w 4491318"/>
                <a:gd name="connsiteY2-26" fmla="*/ 34427 h 791695"/>
                <a:gd name="connsiteX3-27" fmla="*/ 3859306 w 4491318"/>
                <a:gd name="connsiteY3-28" fmla="*/ 38660 h 791695"/>
                <a:gd name="connsiteX4-29" fmla="*/ 4491318 w 4491318"/>
                <a:gd name="connsiteY4-30" fmla="*/ 616883 h 791695"/>
                <a:gd name="connsiteX0-31" fmla="*/ 0 w 4491318"/>
                <a:gd name="connsiteY0-32" fmla="*/ 757268 h 757268"/>
                <a:gd name="connsiteX1-33" fmla="*/ 1762561 w 4491318"/>
                <a:gd name="connsiteY1-34" fmla="*/ 0 h 757268"/>
                <a:gd name="connsiteX2-35" fmla="*/ 3859306 w 4491318"/>
                <a:gd name="connsiteY2-36" fmla="*/ 4233 h 757268"/>
                <a:gd name="connsiteX3-37" fmla="*/ 4491318 w 4491318"/>
                <a:gd name="connsiteY3-38" fmla="*/ 582456 h 757268"/>
                <a:gd name="connsiteX0-39" fmla="*/ 0 w 4491318"/>
                <a:gd name="connsiteY0-40" fmla="*/ 823943 h 823943"/>
                <a:gd name="connsiteX1-41" fmla="*/ 1057612 w 4491318"/>
                <a:gd name="connsiteY1-42" fmla="*/ 0 h 823943"/>
                <a:gd name="connsiteX2-43" fmla="*/ 3859306 w 4491318"/>
                <a:gd name="connsiteY2-44" fmla="*/ 70908 h 823943"/>
                <a:gd name="connsiteX3-45" fmla="*/ 4491318 w 4491318"/>
                <a:gd name="connsiteY3-46" fmla="*/ 649131 h 823943"/>
                <a:gd name="connsiteX0-47" fmla="*/ 0 w 4416551"/>
                <a:gd name="connsiteY0-48" fmla="*/ 842993 h 842993"/>
                <a:gd name="connsiteX1-49" fmla="*/ 982845 w 4416551"/>
                <a:gd name="connsiteY1-50" fmla="*/ 0 h 842993"/>
                <a:gd name="connsiteX2-51" fmla="*/ 3784539 w 4416551"/>
                <a:gd name="connsiteY2-52" fmla="*/ 70908 h 842993"/>
                <a:gd name="connsiteX3-53" fmla="*/ 4416551 w 4416551"/>
                <a:gd name="connsiteY3-54" fmla="*/ 649131 h 842993"/>
                <a:gd name="connsiteX0-55" fmla="*/ 0 w 4416551"/>
                <a:gd name="connsiteY0-56" fmla="*/ 830293 h 830293"/>
                <a:gd name="connsiteX1-57" fmla="*/ 997086 w 4416551"/>
                <a:gd name="connsiteY1-58" fmla="*/ 0 h 830293"/>
                <a:gd name="connsiteX2-59" fmla="*/ 3784539 w 4416551"/>
                <a:gd name="connsiteY2-60" fmla="*/ 58208 h 830293"/>
                <a:gd name="connsiteX3-61" fmla="*/ 4416551 w 4416551"/>
                <a:gd name="connsiteY3-62" fmla="*/ 636431 h 830293"/>
                <a:gd name="connsiteX0-63" fmla="*/ 0 w 4416551"/>
                <a:gd name="connsiteY0-64" fmla="*/ 841935 h 841935"/>
                <a:gd name="connsiteX1-65" fmla="*/ 997086 w 4416551"/>
                <a:gd name="connsiteY1-66" fmla="*/ 11642 h 841935"/>
                <a:gd name="connsiteX2-67" fmla="*/ 3264728 w 4416551"/>
                <a:gd name="connsiteY2-68" fmla="*/ 0 h 841935"/>
                <a:gd name="connsiteX3-69" fmla="*/ 4416551 w 4416551"/>
                <a:gd name="connsiteY3-70" fmla="*/ 648073 h 841935"/>
                <a:gd name="connsiteX0-71" fmla="*/ 0 w 4416551"/>
                <a:gd name="connsiteY0-72" fmla="*/ 841935 h 841935"/>
                <a:gd name="connsiteX1-73" fmla="*/ 997086 w 4416551"/>
                <a:gd name="connsiteY1-74" fmla="*/ 11642 h 841935"/>
                <a:gd name="connsiteX2-75" fmla="*/ 3264728 w 4416551"/>
                <a:gd name="connsiteY2-76" fmla="*/ 0 h 841935"/>
                <a:gd name="connsiteX3-77" fmla="*/ 4416551 w 4416551"/>
                <a:gd name="connsiteY3-78" fmla="*/ 648073 h 841935"/>
                <a:gd name="connsiteX0-79" fmla="*/ 0 w 4288378"/>
                <a:gd name="connsiteY0-80" fmla="*/ 841935 h 914773"/>
                <a:gd name="connsiteX1-81" fmla="*/ 997086 w 4288378"/>
                <a:gd name="connsiteY1-82" fmla="*/ 11642 h 914773"/>
                <a:gd name="connsiteX2-83" fmla="*/ 3264728 w 4288378"/>
                <a:gd name="connsiteY2-84" fmla="*/ 0 h 914773"/>
                <a:gd name="connsiteX3-85" fmla="*/ 4288378 w 4288378"/>
                <a:gd name="connsiteY3-86" fmla="*/ 914773 h 914773"/>
                <a:gd name="connsiteX0-87" fmla="*/ 0 w 4380947"/>
                <a:gd name="connsiteY0-88" fmla="*/ 841935 h 883023"/>
                <a:gd name="connsiteX1-89" fmla="*/ 997086 w 4380947"/>
                <a:gd name="connsiteY1-90" fmla="*/ 11642 h 883023"/>
                <a:gd name="connsiteX2-91" fmla="*/ 3264728 w 4380947"/>
                <a:gd name="connsiteY2-92" fmla="*/ 0 h 883023"/>
                <a:gd name="connsiteX3-93" fmla="*/ 4380947 w 4380947"/>
                <a:gd name="connsiteY3-94" fmla="*/ 883023 h 883023"/>
                <a:gd name="connsiteX0-95" fmla="*/ 0 w 4380947"/>
                <a:gd name="connsiteY0-96" fmla="*/ 841935 h 883023"/>
                <a:gd name="connsiteX1-97" fmla="*/ 997086 w 4380947"/>
                <a:gd name="connsiteY1-98" fmla="*/ 11642 h 883023"/>
                <a:gd name="connsiteX2-99" fmla="*/ 3293211 w 4380947"/>
                <a:gd name="connsiteY2-100" fmla="*/ 0 h 883023"/>
                <a:gd name="connsiteX3-101" fmla="*/ 4380947 w 4380947"/>
                <a:gd name="connsiteY3-102" fmla="*/ 883023 h 883023"/>
                <a:gd name="connsiteX0-103" fmla="*/ 0 w 4380947"/>
                <a:gd name="connsiteY0-104" fmla="*/ 841935 h 883023"/>
                <a:gd name="connsiteX1-105" fmla="*/ 997086 w 4380947"/>
                <a:gd name="connsiteY1-106" fmla="*/ 11642 h 883023"/>
                <a:gd name="connsiteX2-107" fmla="*/ 3293211 w 4380947"/>
                <a:gd name="connsiteY2-108" fmla="*/ 0 h 883023"/>
                <a:gd name="connsiteX3-109" fmla="*/ 4380947 w 4380947"/>
                <a:gd name="connsiteY3-110" fmla="*/ 883023 h 883023"/>
                <a:gd name="connsiteX0-111" fmla="*/ 0 w 4359585"/>
                <a:gd name="connsiteY0-112" fmla="*/ 841935 h 902073"/>
                <a:gd name="connsiteX1-113" fmla="*/ 997086 w 4359585"/>
                <a:gd name="connsiteY1-114" fmla="*/ 11642 h 902073"/>
                <a:gd name="connsiteX2-115" fmla="*/ 3293211 w 4359585"/>
                <a:gd name="connsiteY2-116" fmla="*/ 0 h 902073"/>
                <a:gd name="connsiteX3-117" fmla="*/ 4359585 w 4359585"/>
                <a:gd name="connsiteY3-118" fmla="*/ 902073 h 902073"/>
              </a:gdLst>
              <a:ahLst/>
              <a:cxnLst>
                <a:cxn ang="0">
                  <a:pos x="connsiteX0-1" y="connsiteY0-2"/>
                </a:cxn>
                <a:cxn ang="0">
                  <a:pos x="connsiteX1-3" y="connsiteY1-4"/>
                </a:cxn>
                <a:cxn ang="0">
                  <a:pos x="connsiteX2-5" y="connsiteY2-6"/>
                </a:cxn>
                <a:cxn ang="0">
                  <a:pos x="connsiteX3-7" y="connsiteY3-8"/>
                </a:cxn>
              </a:cxnLst>
              <a:rect l="l" t="t" r="r" b="b"/>
              <a:pathLst>
                <a:path w="4359585" h="902073">
                  <a:moveTo>
                    <a:pt x="0" y="841935"/>
                  </a:moveTo>
                  <a:lnTo>
                    <a:pt x="997086" y="11642"/>
                  </a:lnTo>
                  <a:lnTo>
                    <a:pt x="3293211" y="0"/>
                  </a:lnTo>
                  <a:lnTo>
                    <a:pt x="4359585" y="902073"/>
                  </a:lnTo>
                </a:path>
              </a:pathLst>
            </a:custGeom>
            <a:noFill/>
            <a:ln w="152400">
              <a:solidFill>
                <a:srgbClr val="E28189"/>
              </a:solidFill>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3" name="Oval 52"/>
            <p:cNvSpPr/>
            <p:nvPr/>
          </p:nvSpPr>
          <p:spPr bwMode="gray">
            <a:xfrm rot="2572608">
              <a:off x="4161932" y="3401778"/>
              <a:ext cx="138407" cy="85478"/>
            </a:xfrm>
            <a:prstGeom prst="ellipse">
              <a:avLst/>
            </a:prstGeom>
            <a:solidFill>
              <a:srgbClr val="E28189"/>
            </a:solidFill>
            <a:ln>
              <a:solidFill>
                <a:srgbClr val="E2818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Oval 53"/>
            <p:cNvSpPr/>
            <p:nvPr/>
          </p:nvSpPr>
          <p:spPr bwMode="gray">
            <a:xfrm rot="19019003">
              <a:off x="8046437" y="3460352"/>
              <a:ext cx="138407" cy="85478"/>
            </a:xfrm>
            <a:prstGeom prst="ellipse">
              <a:avLst/>
            </a:prstGeom>
            <a:solidFill>
              <a:srgbClr val="E28189"/>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6" name="Group 55"/>
          <p:cNvGrpSpPr/>
          <p:nvPr/>
        </p:nvGrpSpPr>
        <p:grpSpPr bwMode="gray">
          <a:xfrm flipV="1">
            <a:off x="4145219" y="4721444"/>
            <a:ext cx="4022912" cy="942726"/>
            <a:chOff x="4161932" y="2603104"/>
            <a:chExt cx="4022912" cy="942726"/>
          </a:xfrm>
        </p:grpSpPr>
        <p:sp>
          <p:nvSpPr>
            <p:cNvPr id="57" name="任意多边形 33"/>
            <p:cNvSpPr/>
            <p:nvPr/>
          </p:nvSpPr>
          <p:spPr bwMode="gray">
            <a:xfrm>
              <a:off x="4227911" y="2603104"/>
              <a:ext cx="3887731" cy="902073"/>
            </a:xfrm>
            <a:custGeom>
              <a:avLst/>
              <a:gdLst>
                <a:gd name="connsiteX0" fmla="*/ 0 w 4491318"/>
                <a:gd name="connsiteY0" fmla="*/ 753035 h 1304365"/>
                <a:gd name="connsiteX1" fmla="*/ 605118 w 4491318"/>
                <a:gd name="connsiteY1" fmla="*/ 1304365 h 1304365"/>
                <a:gd name="connsiteX2" fmla="*/ 1627094 w 4491318"/>
                <a:gd name="connsiteY2" fmla="*/ 0 h 1304365"/>
                <a:gd name="connsiteX3" fmla="*/ 3859306 w 4491318"/>
                <a:gd name="connsiteY3" fmla="*/ 0 h 1304365"/>
                <a:gd name="connsiteX4" fmla="*/ 4491318 w 4491318"/>
                <a:gd name="connsiteY4" fmla="*/ 578223 h 1304365"/>
                <a:gd name="connsiteX0-1" fmla="*/ 0 w 4491318"/>
                <a:gd name="connsiteY0-2" fmla="*/ 757268 h 1308598"/>
                <a:gd name="connsiteX1-3" fmla="*/ 605118 w 4491318"/>
                <a:gd name="connsiteY1-4" fmla="*/ 1308598 h 1308598"/>
                <a:gd name="connsiteX2-5" fmla="*/ 1732928 w 4491318"/>
                <a:gd name="connsiteY2-6" fmla="*/ 0 h 1308598"/>
                <a:gd name="connsiteX3-7" fmla="*/ 3859306 w 4491318"/>
                <a:gd name="connsiteY3-8" fmla="*/ 4233 h 1308598"/>
                <a:gd name="connsiteX4-9" fmla="*/ 4491318 w 4491318"/>
                <a:gd name="connsiteY4-10" fmla="*/ 582456 h 1308598"/>
                <a:gd name="connsiteX0-11" fmla="*/ 0 w 4491318"/>
                <a:gd name="connsiteY0-12" fmla="*/ 757268 h 1308598"/>
                <a:gd name="connsiteX1-13" fmla="*/ 605118 w 4491318"/>
                <a:gd name="connsiteY1-14" fmla="*/ 1308598 h 1308598"/>
                <a:gd name="connsiteX2-15" fmla="*/ 1762561 w 4491318"/>
                <a:gd name="connsiteY2-16" fmla="*/ 0 h 1308598"/>
                <a:gd name="connsiteX3-17" fmla="*/ 3859306 w 4491318"/>
                <a:gd name="connsiteY3-18" fmla="*/ 4233 h 1308598"/>
                <a:gd name="connsiteX4-19" fmla="*/ 4491318 w 4491318"/>
                <a:gd name="connsiteY4-20" fmla="*/ 582456 h 1308598"/>
                <a:gd name="connsiteX0-21" fmla="*/ 0 w 4491318"/>
                <a:gd name="connsiteY0-22" fmla="*/ 791695 h 791695"/>
                <a:gd name="connsiteX1-23" fmla="*/ 814668 w 4491318"/>
                <a:gd name="connsiteY1-24" fmla="*/ 0 h 791695"/>
                <a:gd name="connsiteX2-25" fmla="*/ 1762561 w 4491318"/>
                <a:gd name="connsiteY2-26" fmla="*/ 34427 h 791695"/>
                <a:gd name="connsiteX3-27" fmla="*/ 3859306 w 4491318"/>
                <a:gd name="connsiteY3-28" fmla="*/ 38660 h 791695"/>
                <a:gd name="connsiteX4-29" fmla="*/ 4491318 w 4491318"/>
                <a:gd name="connsiteY4-30" fmla="*/ 616883 h 791695"/>
                <a:gd name="connsiteX0-31" fmla="*/ 0 w 4491318"/>
                <a:gd name="connsiteY0-32" fmla="*/ 757268 h 757268"/>
                <a:gd name="connsiteX1-33" fmla="*/ 1762561 w 4491318"/>
                <a:gd name="connsiteY1-34" fmla="*/ 0 h 757268"/>
                <a:gd name="connsiteX2-35" fmla="*/ 3859306 w 4491318"/>
                <a:gd name="connsiteY2-36" fmla="*/ 4233 h 757268"/>
                <a:gd name="connsiteX3-37" fmla="*/ 4491318 w 4491318"/>
                <a:gd name="connsiteY3-38" fmla="*/ 582456 h 757268"/>
                <a:gd name="connsiteX0-39" fmla="*/ 0 w 4491318"/>
                <a:gd name="connsiteY0-40" fmla="*/ 823943 h 823943"/>
                <a:gd name="connsiteX1-41" fmla="*/ 1057612 w 4491318"/>
                <a:gd name="connsiteY1-42" fmla="*/ 0 h 823943"/>
                <a:gd name="connsiteX2-43" fmla="*/ 3859306 w 4491318"/>
                <a:gd name="connsiteY2-44" fmla="*/ 70908 h 823943"/>
                <a:gd name="connsiteX3-45" fmla="*/ 4491318 w 4491318"/>
                <a:gd name="connsiteY3-46" fmla="*/ 649131 h 823943"/>
                <a:gd name="connsiteX0-47" fmla="*/ 0 w 4416551"/>
                <a:gd name="connsiteY0-48" fmla="*/ 842993 h 842993"/>
                <a:gd name="connsiteX1-49" fmla="*/ 982845 w 4416551"/>
                <a:gd name="connsiteY1-50" fmla="*/ 0 h 842993"/>
                <a:gd name="connsiteX2-51" fmla="*/ 3784539 w 4416551"/>
                <a:gd name="connsiteY2-52" fmla="*/ 70908 h 842993"/>
                <a:gd name="connsiteX3-53" fmla="*/ 4416551 w 4416551"/>
                <a:gd name="connsiteY3-54" fmla="*/ 649131 h 842993"/>
                <a:gd name="connsiteX0-55" fmla="*/ 0 w 4416551"/>
                <a:gd name="connsiteY0-56" fmla="*/ 830293 h 830293"/>
                <a:gd name="connsiteX1-57" fmla="*/ 997086 w 4416551"/>
                <a:gd name="connsiteY1-58" fmla="*/ 0 h 830293"/>
                <a:gd name="connsiteX2-59" fmla="*/ 3784539 w 4416551"/>
                <a:gd name="connsiteY2-60" fmla="*/ 58208 h 830293"/>
                <a:gd name="connsiteX3-61" fmla="*/ 4416551 w 4416551"/>
                <a:gd name="connsiteY3-62" fmla="*/ 636431 h 830293"/>
                <a:gd name="connsiteX0-63" fmla="*/ 0 w 4416551"/>
                <a:gd name="connsiteY0-64" fmla="*/ 841935 h 841935"/>
                <a:gd name="connsiteX1-65" fmla="*/ 997086 w 4416551"/>
                <a:gd name="connsiteY1-66" fmla="*/ 11642 h 841935"/>
                <a:gd name="connsiteX2-67" fmla="*/ 3264728 w 4416551"/>
                <a:gd name="connsiteY2-68" fmla="*/ 0 h 841935"/>
                <a:gd name="connsiteX3-69" fmla="*/ 4416551 w 4416551"/>
                <a:gd name="connsiteY3-70" fmla="*/ 648073 h 841935"/>
                <a:gd name="connsiteX0-71" fmla="*/ 0 w 4416551"/>
                <a:gd name="connsiteY0-72" fmla="*/ 841935 h 841935"/>
                <a:gd name="connsiteX1-73" fmla="*/ 997086 w 4416551"/>
                <a:gd name="connsiteY1-74" fmla="*/ 11642 h 841935"/>
                <a:gd name="connsiteX2-75" fmla="*/ 3264728 w 4416551"/>
                <a:gd name="connsiteY2-76" fmla="*/ 0 h 841935"/>
                <a:gd name="connsiteX3-77" fmla="*/ 4416551 w 4416551"/>
                <a:gd name="connsiteY3-78" fmla="*/ 648073 h 841935"/>
                <a:gd name="connsiteX0-79" fmla="*/ 0 w 4288378"/>
                <a:gd name="connsiteY0-80" fmla="*/ 841935 h 914773"/>
                <a:gd name="connsiteX1-81" fmla="*/ 997086 w 4288378"/>
                <a:gd name="connsiteY1-82" fmla="*/ 11642 h 914773"/>
                <a:gd name="connsiteX2-83" fmla="*/ 3264728 w 4288378"/>
                <a:gd name="connsiteY2-84" fmla="*/ 0 h 914773"/>
                <a:gd name="connsiteX3-85" fmla="*/ 4288378 w 4288378"/>
                <a:gd name="connsiteY3-86" fmla="*/ 914773 h 914773"/>
                <a:gd name="connsiteX0-87" fmla="*/ 0 w 4380947"/>
                <a:gd name="connsiteY0-88" fmla="*/ 841935 h 883023"/>
                <a:gd name="connsiteX1-89" fmla="*/ 997086 w 4380947"/>
                <a:gd name="connsiteY1-90" fmla="*/ 11642 h 883023"/>
                <a:gd name="connsiteX2-91" fmla="*/ 3264728 w 4380947"/>
                <a:gd name="connsiteY2-92" fmla="*/ 0 h 883023"/>
                <a:gd name="connsiteX3-93" fmla="*/ 4380947 w 4380947"/>
                <a:gd name="connsiteY3-94" fmla="*/ 883023 h 883023"/>
                <a:gd name="connsiteX0-95" fmla="*/ 0 w 4380947"/>
                <a:gd name="connsiteY0-96" fmla="*/ 841935 h 883023"/>
                <a:gd name="connsiteX1-97" fmla="*/ 997086 w 4380947"/>
                <a:gd name="connsiteY1-98" fmla="*/ 11642 h 883023"/>
                <a:gd name="connsiteX2-99" fmla="*/ 3293211 w 4380947"/>
                <a:gd name="connsiteY2-100" fmla="*/ 0 h 883023"/>
                <a:gd name="connsiteX3-101" fmla="*/ 4380947 w 4380947"/>
                <a:gd name="connsiteY3-102" fmla="*/ 883023 h 883023"/>
                <a:gd name="connsiteX0-103" fmla="*/ 0 w 4380947"/>
                <a:gd name="connsiteY0-104" fmla="*/ 841935 h 883023"/>
                <a:gd name="connsiteX1-105" fmla="*/ 997086 w 4380947"/>
                <a:gd name="connsiteY1-106" fmla="*/ 11642 h 883023"/>
                <a:gd name="connsiteX2-107" fmla="*/ 3293211 w 4380947"/>
                <a:gd name="connsiteY2-108" fmla="*/ 0 h 883023"/>
                <a:gd name="connsiteX3-109" fmla="*/ 4380947 w 4380947"/>
                <a:gd name="connsiteY3-110" fmla="*/ 883023 h 883023"/>
                <a:gd name="connsiteX0-111" fmla="*/ 0 w 4359585"/>
                <a:gd name="connsiteY0-112" fmla="*/ 841935 h 902073"/>
                <a:gd name="connsiteX1-113" fmla="*/ 997086 w 4359585"/>
                <a:gd name="connsiteY1-114" fmla="*/ 11642 h 902073"/>
                <a:gd name="connsiteX2-115" fmla="*/ 3293211 w 4359585"/>
                <a:gd name="connsiteY2-116" fmla="*/ 0 h 902073"/>
                <a:gd name="connsiteX3-117" fmla="*/ 4359585 w 4359585"/>
                <a:gd name="connsiteY3-118" fmla="*/ 902073 h 902073"/>
              </a:gdLst>
              <a:ahLst/>
              <a:cxnLst>
                <a:cxn ang="0">
                  <a:pos x="connsiteX0-1" y="connsiteY0-2"/>
                </a:cxn>
                <a:cxn ang="0">
                  <a:pos x="connsiteX1-3" y="connsiteY1-4"/>
                </a:cxn>
                <a:cxn ang="0">
                  <a:pos x="connsiteX2-5" y="connsiteY2-6"/>
                </a:cxn>
                <a:cxn ang="0">
                  <a:pos x="connsiteX3-7" y="connsiteY3-8"/>
                </a:cxn>
              </a:cxnLst>
              <a:rect l="l" t="t" r="r" b="b"/>
              <a:pathLst>
                <a:path w="4359585" h="902073">
                  <a:moveTo>
                    <a:pt x="0" y="841935"/>
                  </a:moveTo>
                  <a:lnTo>
                    <a:pt x="997086" y="11642"/>
                  </a:lnTo>
                  <a:lnTo>
                    <a:pt x="3293211" y="0"/>
                  </a:lnTo>
                  <a:lnTo>
                    <a:pt x="4359585" y="902073"/>
                  </a:lnTo>
                </a:path>
              </a:pathLst>
            </a:custGeom>
            <a:noFill/>
            <a:ln w="152400">
              <a:solidFill>
                <a:srgbClr val="56C4D2"/>
              </a:solidFill>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8" name="Oval 57"/>
            <p:cNvSpPr/>
            <p:nvPr/>
          </p:nvSpPr>
          <p:spPr bwMode="gray">
            <a:xfrm rot="2572608">
              <a:off x="4161932" y="3401778"/>
              <a:ext cx="138407" cy="85478"/>
            </a:xfrm>
            <a:prstGeom prst="ellipse">
              <a:avLst/>
            </a:prstGeom>
            <a:solidFill>
              <a:srgbClr val="56C4D2"/>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Oval 58"/>
            <p:cNvSpPr/>
            <p:nvPr/>
          </p:nvSpPr>
          <p:spPr bwMode="gray">
            <a:xfrm rot="19019003">
              <a:off x="8046437" y="3460352"/>
              <a:ext cx="138407" cy="85478"/>
            </a:xfrm>
            <a:prstGeom prst="ellipse">
              <a:avLst/>
            </a:prstGeom>
            <a:solidFill>
              <a:srgbClr val="56C4D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2" name="Freeform 81"/>
          <p:cNvSpPr/>
          <p:nvPr/>
        </p:nvSpPr>
        <p:spPr bwMode="gray">
          <a:xfrm>
            <a:off x="8124825" y="4323843"/>
            <a:ext cx="1997869" cy="174644"/>
          </a:xfrm>
          <a:custGeom>
            <a:avLst/>
            <a:gdLst>
              <a:gd name="connsiteX0" fmla="*/ 0 w 1997869"/>
              <a:gd name="connsiteY0" fmla="*/ 97631 h 174644"/>
              <a:gd name="connsiteX1" fmla="*/ 290513 w 1997869"/>
              <a:gd name="connsiteY1" fmla="*/ 142875 h 174644"/>
              <a:gd name="connsiteX2" fmla="*/ 1562100 w 1997869"/>
              <a:gd name="connsiteY2" fmla="*/ 166687 h 174644"/>
              <a:gd name="connsiteX3" fmla="*/ 1997869 w 1997869"/>
              <a:gd name="connsiteY3" fmla="*/ 0 h 174644"/>
            </a:gdLst>
            <a:ahLst/>
            <a:cxnLst>
              <a:cxn ang="0">
                <a:pos x="connsiteX0" y="connsiteY0"/>
              </a:cxn>
              <a:cxn ang="0">
                <a:pos x="connsiteX1" y="connsiteY1"/>
              </a:cxn>
              <a:cxn ang="0">
                <a:pos x="connsiteX2" y="connsiteY2"/>
              </a:cxn>
              <a:cxn ang="0">
                <a:pos x="connsiteX3" y="connsiteY3"/>
              </a:cxn>
            </a:cxnLst>
            <a:rect l="l" t="t" r="r" b="b"/>
            <a:pathLst>
              <a:path w="1997869" h="174644">
                <a:moveTo>
                  <a:pt x="0" y="97631"/>
                </a:moveTo>
                <a:cubicBezTo>
                  <a:pt x="15081" y="114498"/>
                  <a:pt x="30163" y="131366"/>
                  <a:pt x="290513" y="142875"/>
                </a:cubicBezTo>
                <a:cubicBezTo>
                  <a:pt x="550863" y="154384"/>
                  <a:pt x="1277541" y="190499"/>
                  <a:pt x="1562100" y="166687"/>
                </a:cubicBezTo>
                <a:cubicBezTo>
                  <a:pt x="1846659" y="142875"/>
                  <a:pt x="1926035" y="30162"/>
                  <a:pt x="1997869" y="0"/>
                </a:cubicBezTo>
              </a:path>
            </a:pathLst>
          </a:custGeom>
          <a:noFill/>
          <a:ln w="28575">
            <a:solidFill>
              <a:srgbClr val="E28189"/>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Freeform 82"/>
          <p:cNvSpPr/>
          <p:nvPr/>
        </p:nvSpPr>
        <p:spPr bwMode="gray">
          <a:xfrm flipV="1">
            <a:off x="8098929" y="4683009"/>
            <a:ext cx="1997869" cy="174644"/>
          </a:xfrm>
          <a:custGeom>
            <a:avLst/>
            <a:gdLst>
              <a:gd name="connsiteX0" fmla="*/ 0 w 1997869"/>
              <a:gd name="connsiteY0" fmla="*/ 97631 h 174644"/>
              <a:gd name="connsiteX1" fmla="*/ 290513 w 1997869"/>
              <a:gd name="connsiteY1" fmla="*/ 142875 h 174644"/>
              <a:gd name="connsiteX2" fmla="*/ 1562100 w 1997869"/>
              <a:gd name="connsiteY2" fmla="*/ 166687 h 174644"/>
              <a:gd name="connsiteX3" fmla="*/ 1997869 w 1997869"/>
              <a:gd name="connsiteY3" fmla="*/ 0 h 174644"/>
            </a:gdLst>
            <a:ahLst/>
            <a:cxnLst>
              <a:cxn ang="0">
                <a:pos x="connsiteX0" y="connsiteY0"/>
              </a:cxn>
              <a:cxn ang="0">
                <a:pos x="connsiteX1" y="connsiteY1"/>
              </a:cxn>
              <a:cxn ang="0">
                <a:pos x="connsiteX2" y="connsiteY2"/>
              </a:cxn>
              <a:cxn ang="0">
                <a:pos x="connsiteX3" y="connsiteY3"/>
              </a:cxn>
            </a:cxnLst>
            <a:rect l="l" t="t" r="r" b="b"/>
            <a:pathLst>
              <a:path w="1997869" h="174644">
                <a:moveTo>
                  <a:pt x="0" y="97631"/>
                </a:moveTo>
                <a:cubicBezTo>
                  <a:pt x="15081" y="114498"/>
                  <a:pt x="30163" y="131366"/>
                  <a:pt x="290513" y="142875"/>
                </a:cubicBezTo>
                <a:cubicBezTo>
                  <a:pt x="550863" y="154384"/>
                  <a:pt x="1277541" y="190499"/>
                  <a:pt x="1562100" y="166687"/>
                </a:cubicBezTo>
                <a:cubicBezTo>
                  <a:pt x="1846659" y="142875"/>
                  <a:pt x="1926035" y="30162"/>
                  <a:pt x="1997869" y="0"/>
                </a:cubicBezTo>
              </a:path>
            </a:pathLst>
          </a:custGeom>
          <a:noFill/>
          <a:ln w="28575">
            <a:solidFill>
              <a:srgbClr val="56C4D2"/>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4" name="Rectangular Callout 26"/>
          <p:cNvSpPr/>
          <p:nvPr/>
        </p:nvSpPr>
        <p:spPr bwMode="gray">
          <a:xfrm>
            <a:off x="6555174" y="2442225"/>
            <a:ext cx="1634849" cy="640423"/>
          </a:xfrm>
          <a:prstGeom prst="wedgeRectCallout">
            <a:avLst>
              <a:gd name="adj1" fmla="val -62899"/>
              <a:gd name="adj2" fmla="val -21149"/>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使用路由策略对特定的</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BGP</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路由添加</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Color</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值（扩展团体属性）</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5" name="Rectangular Callout 26"/>
          <p:cNvSpPr/>
          <p:nvPr/>
        </p:nvSpPr>
        <p:spPr bwMode="gray">
          <a:xfrm>
            <a:off x="4589428" y="4277226"/>
            <a:ext cx="1864276" cy="640423"/>
          </a:xfrm>
          <a:prstGeom prst="wedgeRectCallout">
            <a:avLst>
              <a:gd name="adj1" fmla="val -68821"/>
              <a:gd name="adj2" fmla="val -6031"/>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PE</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转发报文时，根据报文</a:t>
            </a:r>
            <a:r>
              <a:rPr lang="zh-CN" altLang="en-US" sz="1200" b="1"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目标地址</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与路由</a:t>
            </a:r>
            <a:r>
              <a:rPr lang="zh-CN" altLang="en-US" sz="1200" b="1"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下一跳</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决定迭代的</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SRv6</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 </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Policy</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6" name="Rounded Rectangle 85"/>
          <p:cNvSpPr/>
          <p:nvPr/>
        </p:nvSpPr>
        <p:spPr bwMode="gray">
          <a:xfrm>
            <a:off x="1506237" y="4207809"/>
            <a:ext cx="971137" cy="343868"/>
          </a:xfrm>
          <a:prstGeom prst="roundRect">
            <a:avLst/>
          </a:prstGeom>
          <a:solidFill>
            <a:srgbClr val="E28189"/>
          </a:solidFill>
          <a:ln>
            <a:solidFill>
              <a:srgbClr val="E2818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t>DIP:Net1</a:t>
            </a:r>
            <a:endParaRPr lang="zh-CN" altLang="en-US" sz="1400" dirty="0"/>
          </a:p>
        </p:txBody>
      </p:sp>
      <p:sp>
        <p:nvSpPr>
          <p:cNvPr id="87" name="Rounded Rectangle 86"/>
          <p:cNvSpPr/>
          <p:nvPr/>
        </p:nvSpPr>
        <p:spPr bwMode="gray">
          <a:xfrm>
            <a:off x="1508324" y="4650823"/>
            <a:ext cx="971137" cy="343868"/>
          </a:xfrm>
          <a:prstGeom prst="roundRect">
            <a:avLst/>
          </a:prstGeom>
          <a:solidFill>
            <a:srgbClr val="56C4D2"/>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t>DIP:Net2</a:t>
            </a:r>
            <a:endParaRPr lang="zh-CN" altLang="en-US" sz="1400" dirty="0"/>
          </a:p>
        </p:txBody>
      </p:sp>
      <p:sp>
        <p:nvSpPr>
          <p:cNvPr id="64" name="五边形 2"/>
          <p:cNvSpPr/>
          <p:nvPr/>
        </p:nvSpPr>
        <p:spPr bwMode="gray">
          <a:xfrm>
            <a:off x="8562976" y="110463"/>
            <a:ext cx="1531726"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SRv6 Policy</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路径建立</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5" name="燕尾形 3"/>
          <p:cNvSpPr/>
          <p:nvPr/>
        </p:nvSpPr>
        <p:spPr bwMode="gray">
          <a:xfrm>
            <a:off x="10018141" y="110463"/>
            <a:ext cx="1730947"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SRv6 Policy</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引流</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7" name="Oval 41"/>
          <p:cNvSpPr>
            <a:spLocks noChangeAspect="1"/>
          </p:cNvSpPr>
          <p:nvPr/>
        </p:nvSpPr>
        <p:spPr bwMode="gray">
          <a:xfrm>
            <a:off x="8129067" y="4163512"/>
            <a:ext cx="159261" cy="159261"/>
          </a:xfrm>
          <a:prstGeom prst="ellipse">
            <a:avLst/>
          </a:prstGeom>
          <a:solidFill>
            <a:srgbClr val="FFC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latin typeface="Huawei Sans" panose="020C0503030203020204" pitchFamily="34" charset="0"/>
              <a:ea typeface="方正兰亭黑简体" panose="02000000000000000000" pitchFamily="2" charset="-122"/>
            </a:endParaRPr>
          </a:p>
        </p:txBody>
      </p:sp>
      <p:sp>
        <p:nvSpPr>
          <p:cNvPr id="66" name="Rectangular Callout 26"/>
          <p:cNvSpPr/>
          <p:nvPr/>
        </p:nvSpPr>
        <p:spPr bwMode="gray">
          <a:xfrm>
            <a:off x="7788249" y="3110909"/>
            <a:ext cx="971623" cy="538968"/>
          </a:xfrm>
          <a:prstGeom prst="wedgeRectCallout">
            <a:avLst>
              <a:gd name="adj1" fmla="val -6421"/>
              <a:gd name="adj2" fmla="val 131842"/>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或在路由出方向部署路由策略</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1" name="Oval 41"/>
          <p:cNvSpPr>
            <a:spLocks noChangeAspect="1"/>
          </p:cNvSpPr>
          <p:nvPr/>
        </p:nvSpPr>
        <p:spPr bwMode="gray">
          <a:xfrm>
            <a:off x="3966277" y="4201321"/>
            <a:ext cx="159261" cy="159261"/>
          </a:xfrm>
          <a:prstGeom prst="ellipse">
            <a:avLst/>
          </a:prstGeom>
          <a:solidFill>
            <a:srgbClr val="FFC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latin typeface="Huawei Sans" panose="020C0503030203020204" pitchFamily="34" charset="0"/>
              <a:ea typeface="方正兰亭黑简体" panose="02000000000000000000" pitchFamily="2" charset="-122"/>
            </a:endParaRPr>
          </a:p>
        </p:txBody>
      </p:sp>
      <p:sp>
        <p:nvSpPr>
          <p:cNvPr id="78" name="Rectangular Callout 26"/>
          <p:cNvSpPr/>
          <p:nvPr/>
        </p:nvSpPr>
        <p:spPr bwMode="gray">
          <a:xfrm>
            <a:off x="3490809" y="3065191"/>
            <a:ext cx="1023391" cy="580648"/>
          </a:xfrm>
          <a:prstGeom prst="wedgeRectCallout">
            <a:avLst>
              <a:gd name="adj1" fmla="val -569"/>
              <a:gd name="adj2" fmla="val 131851"/>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或在路由入方向部署路由策略</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8" name="Rounded Rectangle 87"/>
          <p:cNvSpPr/>
          <p:nvPr/>
        </p:nvSpPr>
        <p:spPr bwMode="gray">
          <a:xfrm>
            <a:off x="1790936" y="5144341"/>
            <a:ext cx="2343692" cy="1024066"/>
          </a:xfrm>
          <a:prstGeom prst="roundRect">
            <a:avLst>
              <a:gd name="adj" fmla="val 6322"/>
            </a:avLst>
          </a:prstGeom>
          <a:noFill/>
          <a:ln w="19050">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altLang="zh-CN" sz="1400" dirty="0">
                <a:solidFill>
                  <a:schemeClr val="tx1"/>
                </a:solidFill>
              </a:rPr>
              <a:t>PE1</a:t>
            </a:r>
            <a:endParaRPr lang="zh-CN" altLang="en-US" sz="1400" dirty="0">
              <a:solidFill>
                <a:schemeClr val="tx1"/>
              </a:solidFill>
            </a:endParaRPr>
          </a:p>
        </p:txBody>
      </p:sp>
      <p:sp>
        <p:nvSpPr>
          <p:cNvPr id="91" name="Rounded Rectangle 90"/>
          <p:cNvSpPr/>
          <p:nvPr/>
        </p:nvSpPr>
        <p:spPr bwMode="gray">
          <a:xfrm>
            <a:off x="1929494" y="5430954"/>
            <a:ext cx="664873" cy="251046"/>
          </a:xfrm>
          <a:prstGeom prst="roundRect">
            <a:avLst>
              <a:gd name="adj" fmla="val 6322"/>
            </a:avLst>
          </a:prstGeom>
          <a:noFill/>
          <a:ln>
            <a:solidFill>
              <a:srgbClr val="E28189"/>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rPr>
              <a:t>VRF1</a:t>
            </a:r>
            <a:endParaRPr lang="zh-CN" altLang="en-US" sz="1400" dirty="0">
              <a:solidFill>
                <a:schemeClr val="tx1"/>
              </a:solidFill>
            </a:endParaRPr>
          </a:p>
        </p:txBody>
      </p:sp>
      <p:sp>
        <p:nvSpPr>
          <p:cNvPr id="92" name="Rounded Rectangle 91"/>
          <p:cNvSpPr/>
          <p:nvPr/>
        </p:nvSpPr>
        <p:spPr bwMode="gray">
          <a:xfrm>
            <a:off x="1923689" y="5829296"/>
            <a:ext cx="664873" cy="251046"/>
          </a:xfrm>
          <a:prstGeom prst="roundRect">
            <a:avLst>
              <a:gd name="adj" fmla="val 6322"/>
            </a:avLst>
          </a:prstGeom>
          <a:noFill/>
          <a:ln>
            <a:solidFill>
              <a:srgbClr val="56C4D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rPr>
              <a:t>VRF2</a:t>
            </a:r>
            <a:endParaRPr lang="zh-CN" altLang="en-US" sz="1400" dirty="0">
              <a:solidFill>
                <a:schemeClr val="tx1"/>
              </a:solidFill>
            </a:endParaRPr>
          </a:p>
        </p:txBody>
      </p:sp>
      <p:sp>
        <p:nvSpPr>
          <p:cNvPr id="93" name="Can 41"/>
          <p:cNvSpPr/>
          <p:nvPr/>
        </p:nvSpPr>
        <p:spPr bwMode="gray">
          <a:xfrm rot="5400000">
            <a:off x="3588193" y="5119061"/>
            <a:ext cx="159327" cy="874835"/>
          </a:xfrm>
          <a:prstGeom prst="can">
            <a:avLst>
              <a:gd name="adj" fmla="val 55435"/>
            </a:avLst>
          </a:prstGeom>
          <a:solidFill>
            <a:srgbClr val="E28189"/>
          </a:solidFill>
          <a:ln w="12700">
            <a:solidFill>
              <a:srgbClr val="E2818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4" name="Can 41"/>
          <p:cNvSpPr/>
          <p:nvPr/>
        </p:nvSpPr>
        <p:spPr bwMode="gray">
          <a:xfrm rot="5400000">
            <a:off x="3588192" y="5517403"/>
            <a:ext cx="159327" cy="874835"/>
          </a:xfrm>
          <a:prstGeom prst="can">
            <a:avLst>
              <a:gd name="adj" fmla="val 55435"/>
            </a:avLst>
          </a:prstGeom>
          <a:solidFill>
            <a:srgbClr val="56C4D2"/>
          </a:solidFill>
          <a:ln w="12700">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96" name="Straight Connector 95"/>
          <p:cNvCxnSpPr>
            <a:stCxn id="91" idx="3"/>
            <a:endCxn id="93" idx="3"/>
          </p:cNvCxnSpPr>
          <p:nvPr/>
        </p:nvCxnSpPr>
        <p:spPr bwMode="gray">
          <a:xfrm>
            <a:off x="2594367" y="5556477"/>
            <a:ext cx="636072" cy="2"/>
          </a:xfrm>
          <a:prstGeom prst="line">
            <a:avLst/>
          </a:prstGeom>
          <a:ln w="19050">
            <a:solidFill>
              <a:srgbClr val="E28189"/>
            </a:solidFill>
          </a:ln>
        </p:spPr>
        <p:style>
          <a:lnRef idx="1">
            <a:schemeClr val="accent1"/>
          </a:lnRef>
          <a:fillRef idx="0">
            <a:schemeClr val="accent1"/>
          </a:fillRef>
          <a:effectRef idx="0">
            <a:schemeClr val="accent1"/>
          </a:effectRef>
          <a:fontRef idx="minor">
            <a:schemeClr val="tx1"/>
          </a:fontRef>
        </p:style>
      </p:cxnSp>
      <p:cxnSp>
        <p:nvCxnSpPr>
          <p:cNvPr id="98" name="Straight Connector 97"/>
          <p:cNvCxnSpPr>
            <a:stCxn id="92" idx="3"/>
            <a:endCxn id="94" idx="3"/>
          </p:cNvCxnSpPr>
          <p:nvPr/>
        </p:nvCxnSpPr>
        <p:spPr bwMode="gray">
          <a:xfrm>
            <a:off x="2588562" y="5954819"/>
            <a:ext cx="641876" cy="2"/>
          </a:xfrm>
          <a:prstGeom prst="line">
            <a:avLst/>
          </a:prstGeom>
          <a:ln w="19050">
            <a:solidFill>
              <a:srgbClr val="56C4D2"/>
            </a:solidFill>
          </a:ln>
        </p:spPr>
        <p:style>
          <a:lnRef idx="1">
            <a:schemeClr val="accent1"/>
          </a:lnRef>
          <a:fillRef idx="0">
            <a:schemeClr val="accent1"/>
          </a:fillRef>
          <a:effectRef idx="0">
            <a:schemeClr val="accent1"/>
          </a:effectRef>
          <a:fontRef idx="minor">
            <a:schemeClr val="tx1"/>
          </a:fontRef>
        </p:style>
      </p:cxnSp>
      <p:sp>
        <p:nvSpPr>
          <p:cNvPr id="101" name="TextBox 100"/>
          <p:cNvSpPr txBox="1"/>
          <p:nvPr/>
        </p:nvSpPr>
        <p:spPr bwMode="gray">
          <a:xfrm>
            <a:off x="3161285" y="5423825"/>
            <a:ext cx="973343" cy="276999"/>
          </a:xfrm>
          <a:prstGeom prst="rect">
            <a:avLst/>
          </a:prstGeom>
          <a:noFill/>
        </p:spPr>
        <p:txBody>
          <a:bodyPr wrap="none" rtlCol="0">
            <a:spAutoFit/>
          </a:bodyPr>
          <a:lstStyle/>
          <a:p>
            <a:r>
              <a:rPr lang="en-US" altLang="zh-CN" sz="1200" dirty="0">
                <a:solidFill>
                  <a:schemeClr val="bg1"/>
                </a:solidFill>
              </a:rPr>
              <a:t>SRv6 Policy</a:t>
            </a:r>
            <a:endParaRPr lang="zh-CN" altLang="en-US" sz="1200" dirty="0">
              <a:solidFill>
                <a:schemeClr val="bg1"/>
              </a:solidFill>
            </a:endParaRPr>
          </a:p>
        </p:txBody>
      </p:sp>
      <p:sp>
        <p:nvSpPr>
          <p:cNvPr id="102" name="TextBox 101"/>
          <p:cNvSpPr txBox="1"/>
          <p:nvPr/>
        </p:nvSpPr>
        <p:spPr bwMode="gray">
          <a:xfrm>
            <a:off x="3161285" y="5824530"/>
            <a:ext cx="973343" cy="276999"/>
          </a:xfrm>
          <a:prstGeom prst="rect">
            <a:avLst/>
          </a:prstGeom>
          <a:noFill/>
        </p:spPr>
        <p:txBody>
          <a:bodyPr wrap="none" rtlCol="0">
            <a:spAutoFit/>
          </a:bodyPr>
          <a:lstStyle/>
          <a:p>
            <a:r>
              <a:rPr lang="en-US" altLang="zh-CN" sz="1200" dirty="0">
                <a:solidFill>
                  <a:schemeClr val="bg1"/>
                </a:solidFill>
              </a:rPr>
              <a:t>SRv6</a:t>
            </a:r>
            <a:r>
              <a:rPr lang="zh-CN" altLang="en-US" sz="1200" dirty="0">
                <a:solidFill>
                  <a:schemeClr val="bg1"/>
                </a:solidFill>
              </a:rPr>
              <a:t> </a:t>
            </a:r>
            <a:r>
              <a:rPr lang="en-US" altLang="zh-CN" sz="1200" dirty="0">
                <a:solidFill>
                  <a:schemeClr val="bg1"/>
                </a:solidFill>
              </a:rPr>
              <a:t>Policy</a:t>
            </a:r>
            <a:endParaRPr lang="zh-CN" altLang="en-US" sz="1200" dirty="0">
              <a:solidFill>
                <a:schemeClr val="bg1"/>
              </a:solidFill>
            </a:endParaRPr>
          </a:p>
        </p:txBody>
      </p:sp>
      <p:sp>
        <p:nvSpPr>
          <p:cNvPr id="103" name="Rounded Rectangle 102"/>
          <p:cNvSpPr/>
          <p:nvPr/>
        </p:nvSpPr>
        <p:spPr bwMode="gray">
          <a:xfrm>
            <a:off x="2695169" y="5426776"/>
            <a:ext cx="407045" cy="251046"/>
          </a:xfrm>
          <a:prstGeom prst="roundRect">
            <a:avLst>
              <a:gd name="adj" fmla="val 6322"/>
            </a:avLst>
          </a:prstGeom>
          <a:solidFill>
            <a:srgbClr val="E28189"/>
          </a:solidFill>
          <a:ln>
            <a:solidFill>
              <a:srgbClr val="E28189"/>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bg1"/>
                </a:solidFill>
              </a:rPr>
              <a:t>15</a:t>
            </a:r>
            <a:endParaRPr lang="zh-CN" altLang="en-US" sz="1400" dirty="0">
              <a:solidFill>
                <a:schemeClr val="bg1"/>
              </a:solidFill>
            </a:endParaRPr>
          </a:p>
        </p:txBody>
      </p:sp>
      <p:sp>
        <p:nvSpPr>
          <p:cNvPr id="104" name="Rounded Rectangle 103"/>
          <p:cNvSpPr/>
          <p:nvPr/>
        </p:nvSpPr>
        <p:spPr bwMode="gray">
          <a:xfrm>
            <a:off x="2689091" y="5834569"/>
            <a:ext cx="407045" cy="251046"/>
          </a:xfrm>
          <a:prstGeom prst="roundRect">
            <a:avLst>
              <a:gd name="adj" fmla="val 6322"/>
            </a:avLst>
          </a:prstGeom>
          <a:solidFill>
            <a:srgbClr val="56C4D2"/>
          </a:solidFill>
          <a:ln>
            <a:solidFill>
              <a:srgbClr val="56C4D2"/>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bg1"/>
                </a:solidFill>
              </a:rPr>
              <a:t>20</a:t>
            </a:r>
            <a:endParaRPr lang="zh-CN" altLang="en-US" sz="1400" dirty="0">
              <a:solidFill>
                <a:schemeClr val="bg1"/>
              </a:solidFill>
            </a:endParaRPr>
          </a:p>
        </p:txBody>
      </p:sp>
      <p:sp>
        <p:nvSpPr>
          <p:cNvPr id="105" name="Rectangular Callout 26"/>
          <p:cNvSpPr/>
          <p:nvPr/>
        </p:nvSpPr>
        <p:spPr bwMode="gray">
          <a:xfrm>
            <a:off x="781657" y="5304319"/>
            <a:ext cx="908776" cy="650500"/>
          </a:xfrm>
          <a:prstGeom prst="wedgeRectCallout">
            <a:avLst>
              <a:gd name="adj1" fmla="val 65943"/>
              <a:gd name="adj2" fmla="val 7149"/>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或指定特定</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VRF</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所属的颜色</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gray"/>
        <p:txBody>
          <a:bodyPr/>
          <a:lstStyle/>
          <a:p>
            <a:r>
              <a:rPr lang="en-US" altLang="zh-CN" dirty="0"/>
              <a:t>SRv6 Policy</a:t>
            </a:r>
            <a:r>
              <a:rPr lang="zh-CN" altLang="en-US" dirty="0"/>
              <a:t>基于</a:t>
            </a:r>
            <a:r>
              <a:rPr lang="en-US" altLang="zh-CN" dirty="0"/>
              <a:t>DSCP</a:t>
            </a:r>
            <a:r>
              <a:rPr lang="zh-CN" altLang="en-US" dirty="0"/>
              <a:t>引流</a:t>
            </a:r>
            <a:endParaRPr lang="zh-CN" altLang="en-US" dirty="0"/>
          </a:p>
        </p:txBody>
      </p:sp>
      <p:sp>
        <p:nvSpPr>
          <p:cNvPr id="3" name="Text Placeholder 2"/>
          <p:cNvSpPr>
            <a:spLocks noGrp="1"/>
          </p:cNvSpPr>
          <p:nvPr>
            <p:ph type="body" sz="quarter" idx="10"/>
          </p:nvPr>
        </p:nvSpPr>
        <p:spPr bwMode="gray"/>
        <p:txBody>
          <a:bodyPr/>
          <a:lstStyle/>
          <a:p>
            <a:r>
              <a:rPr lang="zh-CN" altLang="en-US" sz="1800" dirty="0"/>
              <a:t>对于去往同一个目的地址的不同业务流量（</a:t>
            </a:r>
            <a:r>
              <a:rPr lang="en-US" altLang="zh-CN" sz="1800" dirty="0"/>
              <a:t>HTTP</a:t>
            </a:r>
            <a:r>
              <a:rPr lang="zh-CN" altLang="en-US" sz="1800" dirty="0"/>
              <a:t>，</a:t>
            </a:r>
            <a:r>
              <a:rPr lang="en-US" altLang="zh-CN" sz="1800" dirty="0"/>
              <a:t>FTP</a:t>
            </a:r>
            <a:r>
              <a:rPr lang="zh-CN" altLang="en-US" sz="1800" dirty="0"/>
              <a:t>等），基于</a:t>
            </a:r>
            <a:r>
              <a:rPr lang="en-US" altLang="zh-CN" sz="1800" dirty="0"/>
              <a:t>Color</a:t>
            </a:r>
            <a:r>
              <a:rPr lang="zh-CN" altLang="en-US" sz="1800" dirty="0"/>
              <a:t>引流会导致所有流量都迭代到同一条转发路径，无法精细化控制流量，因此需要使用基于</a:t>
            </a:r>
            <a:r>
              <a:rPr lang="en-US" altLang="zh-CN" sz="1800" dirty="0"/>
              <a:t>DSCP</a:t>
            </a:r>
            <a:r>
              <a:rPr lang="zh-CN" altLang="en-US" sz="1800" dirty="0"/>
              <a:t>引流的方式将流量迭代到不同的转发路径。</a:t>
            </a:r>
            <a:endParaRPr lang="en-US" altLang="zh-CN" sz="1800" dirty="0"/>
          </a:p>
        </p:txBody>
      </p:sp>
      <p:grpSp>
        <p:nvGrpSpPr>
          <p:cNvPr id="4" name="组合 2"/>
          <p:cNvGrpSpPr/>
          <p:nvPr/>
        </p:nvGrpSpPr>
        <p:grpSpPr bwMode="gray">
          <a:xfrm rot="10800000">
            <a:off x="7583741" y="3357977"/>
            <a:ext cx="1032830" cy="1941018"/>
            <a:chOff x="4518703" y="2205748"/>
            <a:chExt cx="1512166" cy="2521312"/>
          </a:xfrm>
        </p:grpSpPr>
        <p:cxnSp>
          <p:nvCxnSpPr>
            <p:cNvPr id="5" name="直接连接符 3"/>
            <p:cNvCxnSpPr/>
            <p:nvPr/>
          </p:nvCxnSpPr>
          <p:spPr bwMode="gray">
            <a:xfrm rot="16200000" flipH="1">
              <a:off x="4644458" y="3340649"/>
              <a:ext cx="1260656" cy="151216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直接连接符 4"/>
            <p:cNvCxnSpPr/>
            <p:nvPr/>
          </p:nvCxnSpPr>
          <p:spPr bwMode="gray">
            <a:xfrm rot="16200000">
              <a:off x="4644458" y="2079993"/>
              <a:ext cx="1260656" cy="151216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9" name="组合 7"/>
          <p:cNvGrpSpPr/>
          <p:nvPr/>
        </p:nvGrpSpPr>
        <p:grpSpPr bwMode="gray">
          <a:xfrm>
            <a:off x="4643476" y="3407241"/>
            <a:ext cx="1032830" cy="1941018"/>
            <a:chOff x="4518703" y="2205748"/>
            <a:chExt cx="1512166" cy="2521312"/>
          </a:xfrm>
        </p:grpSpPr>
        <p:cxnSp>
          <p:nvCxnSpPr>
            <p:cNvPr id="10" name="直接连接符 8"/>
            <p:cNvCxnSpPr/>
            <p:nvPr/>
          </p:nvCxnSpPr>
          <p:spPr bwMode="gray">
            <a:xfrm rot="16200000" flipH="1">
              <a:off x="4644458" y="3340649"/>
              <a:ext cx="1260656" cy="151216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直接连接符 9"/>
            <p:cNvCxnSpPr/>
            <p:nvPr/>
          </p:nvCxnSpPr>
          <p:spPr bwMode="gray">
            <a:xfrm rot="16200000">
              <a:off x="4644458" y="2079993"/>
              <a:ext cx="1260656" cy="151216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2" name="直接连接符 10"/>
          <p:cNvCxnSpPr>
            <a:stCxn id="19" idx="1"/>
            <a:endCxn id="17" idx="3"/>
          </p:cNvCxnSpPr>
          <p:nvPr/>
        </p:nvCxnSpPr>
        <p:spPr bwMode="gray">
          <a:xfrm flipH="1">
            <a:off x="5919928" y="3400943"/>
            <a:ext cx="128653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接连接符 11"/>
          <p:cNvCxnSpPr>
            <a:stCxn id="20" idx="1"/>
            <a:endCxn id="18" idx="3"/>
          </p:cNvCxnSpPr>
          <p:nvPr/>
        </p:nvCxnSpPr>
        <p:spPr bwMode="gray">
          <a:xfrm flipH="1">
            <a:off x="5919928" y="5298995"/>
            <a:ext cx="128653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16" name="图片 17"/>
          <p:cNvPicPr/>
          <p:nvPr/>
        </p:nvPicPr>
        <p:blipFill>
          <a:blip r:embed="rId1" cstate="print">
            <a:extLst>
              <a:ext uri="{28A0092B-C50C-407E-A947-70E740481C1C}">
                <a14:useLocalDpi xmlns:a14="http://schemas.microsoft.com/office/drawing/2010/main" val="0"/>
              </a:ext>
            </a:extLst>
          </a:blip>
          <a:stretch>
            <a:fillRect/>
          </a:stretch>
        </p:blipFill>
        <p:spPr bwMode="gray">
          <a:xfrm>
            <a:off x="4355721" y="4128569"/>
            <a:ext cx="540000" cy="442800"/>
          </a:xfrm>
          <a:prstGeom prst="rect">
            <a:avLst/>
          </a:prstGeom>
        </p:spPr>
      </p:pic>
      <p:pic>
        <p:nvPicPr>
          <p:cNvPr id="17"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5379928" y="3179543"/>
            <a:ext cx="540000" cy="442800"/>
          </a:xfrm>
          <a:prstGeom prst="rect">
            <a:avLst/>
          </a:prstGeom>
        </p:spPr>
      </p:pic>
      <p:pic>
        <p:nvPicPr>
          <p:cNvPr id="18" name="图片 19"/>
          <p:cNvPicPr/>
          <p:nvPr/>
        </p:nvPicPr>
        <p:blipFill>
          <a:blip r:embed="rId1" cstate="print">
            <a:extLst>
              <a:ext uri="{28A0092B-C50C-407E-A947-70E740481C1C}">
                <a14:useLocalDpi xmlns:a14="http://schemas.microsoft.com/office/drawing/2010/main" val="0"/>
              </a:ext>
            </a:extLst>
          </a:blip>
          <a:stretch>
            <a:fillRect/>
          </a:stretch>
        </p:blipFill>
        <p:spPr bwMode="gray">
          <a:xfrm>
            <a:off x="5379928" y="5077595"/>
            <a:ext cx="540000" cy="442800"/>
          </a:xfrm>
          <a:prstGeom prst="rect">
            <a:avLst/>
          </a:prstGeom>
        </p:spPr>
      </p:pic>
      <p:pic>
        <p:nvPicPr>
          <p:cNvPr id="19" name="图片 20"/>
          <p:cNvPicPr/>
          <p:nvPr/>
        </p:nvPicPr>
        <p:blipFill>
          <a:blip r:embed="rId1" cstate="print">
            <a:extLst>
              <a:ext uri="{28A0092B-C50C-407E-A947-70E740481C1C}">
                <a14:useLocalDpi xmlns:a14="http://schemas.microsoft.com/office/drawing/2010/main" val="0"/>
              </a:ext>
            </a:extLst>
          </a:blip>
          <a:stretch>
            <a:fillRect/>
          </a:stretch>
        </p:blipFill>
        <p:spPr bwMode="gray">
          <a:xfrm>
            <a:off x="7206465" y="3179543"/>
            <a:ext cx="540000" cy="442800"/>
          </a:xfrm>
          <a:prstGeom prst="rect">
            <a:avLst/>
          </a:prstGeom>
        </p:spPr>
      </p:pic>
      <p:pic>
        <p:nvPicPr>
          <p:cNvPr id="20" name="图片 21"/>
          <p:cNvPicPr/>
          <p:nvPr/>
        </p:nvPicPr>
        <p:blipFill>
          <a:blip r:embed="rId1" cstate="print">
            <a:extLst>
              <a:ext uri="{28A0092B-C50C-407E-A947-70E740481C1C}">
                <a14:useLocalDpi xmlns:a14="http://schemas.microsoft.com/office/drawing/2010/main" val="0"/>
              </a:ext>
            </a:extLst>
          </a:blip>
          <a:stretch>
            <a:fillRect/>
          </a:stretch>
        </p:blipFill>
        <p:spPr bwMode="gray">
          <a:xfrm>
            <a:off x="7206465" y="5077595"/>
            <a:ext cx="540000" cy="442800"/>
          </a:xfrm>
          <a:prstGeom prst="rect">
            <a:avLst/>
          </a:prstGeom>
        </p:spPr>
      </p:pic>
      <p:pic>
        <p:nvPicPr>
          <p:cNvPr id="23" name="图片 24"/>
          <p:cNvPicPr/>
          <p:nvPr/>
        </p:nvPicPr>
        <p:blipFill>
          <a:blip r:embed="rId1" cstate="print">
            <a:extLst>
              <a:ext uri="{28A0092B-C50C-407E-A947-70E740481C1C}">
                <a14:useLocalDpi xmlns:a14="http://schemas.microsoft.com/office/drawing/2010/main" val="0"/>
              </a:ext>
            </a:extLst>
          </a:blip>
          <a:stretch>
            <a:fillRect/>
          </a:stretch>
        </p:blipFill>
        <p:spPr bwMode="gray">
          <a:xfrm>
            <a:off x="8479315" y="4103740"/>
            <a:ext cx="540000" cy="442800"/>
          </a:xfrm>
          <a:prstGeom prst="rect">
            <a:avLst/>
          </a:prstGeom>
        </p:spPr>
      </p:pic>
      <p:sp>
        <p:nvSpPr>
          <p:cNvPr id="24" name="文本框 26"/>
          <p:cNvSpPr txBox="1"/>
          <p:nvPr/>
        </p:nvSpPr>
        <p:spPr bwMode="gray">
          <a:xfrm>
            <a:off x="6062329" y="2917746"/>
            <a:ext cx="1000595" cy="307777"/>
          </a:xfrm>
          <a:prstGeom prst="rect">
            <a:avLst/>
          </a:prstGeom>
          <a:noFill/>
        </p:spPr>
        <p:txBody>
          <a:bodyPr wrap="none" rtlCol="0">
            <a:spAutoFit/>
          </a:bodyPr>
          <a:lstStyle/>
          <a:p>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Color</a:t>
            </a:r>
            <a:r>
              <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15</a:t>
            </a:r>
            <a:endPar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文本框 27"/>
          <p:cNvSpPr txBox="1"/>
          <p:nvPr/>
        </p:nvSpPr>
        <p:spPr bwMode="gray">
          <a:xfrm>
            <a:off x="4189250" y="4543150"/>
            <a:ext cx="529312" cy="338554"/>
          </a:xfrm>
          <a:prstGeom prst="rect">
            <a:avLst/>
          </a:prstGeom>
          <a:noFill/>
        </p:spPr>
        <p:txBody>
          <a:bodyPr wrap="none" rtlCol="0">
            <a:spAutoFit/>
          </a:bodyPr>
          <a:lstStyle/>
          <a:p>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PE1</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文本框 28"/>
          <p:cNvSpPr txBox="1"/>
          <p:nvPr/>
        </p:nvSpPr>
        <p:spPr bwMode="gray">
          <a:xfrm>
            <a:off x="8597303" y="4565653"/>
            <a:ext cx="529312" cy="338554"/>
          </a:xfrm>
          <a:prstGeom prst="rect">
            <a:avLst/>
          </a:prstGeom>
          <a:noFill/>
        </p:spPr>
        <p:txBody>
          <a:bodyPr wrap="none" rtlCol="0">
            <a:spAutoFit/>
          </a:bodyPr>
          <a:lstStyle/>
          <a:p>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PE2</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文本框 26"/>
          <p:cNvSpPr txBox="1"/>
          <p:nvPr/>
        </p:nvSpPr>
        <p:spPr bwMode="gray">
          <a:xfrm>
            <a:off x="6100731" y="5496268"/>
            <a:ext cx="1000595" cy="307777"/>
          </a:xfrm>
          <a:prstGeom prst="rect">
            <a:avLst/>
          </a:prstGeom>
          <a:noFill/>
        </p:spPr>
        <p:txBody>
          <a:bodyPr wrap="none" rtlCol="0">
            <a:spAutoFit/>
          </a:bodyPr>
          <a:lstStyle/>
          <a:p>
            <a:r>
              <a:rPr lang="en-US" altLang="zh-CN" sz="1400" dirty="0">
                <a:solidFill>
                  <a:srgbClr val="56C4D2"/>
                </a:solidFill>
                <a:latin typeface="Huawei Sans" panose="020C0503030203020204" pitchFamily="34" charset="0"/>
                <a:ea typeface="方正兰亭黑简体" panose="02000000000000000000" pitchFamily="2" charset="-122"/>
                <a:sym typeface="Huawei Sans" panose="020C0503030203020204" pitchFamily="34" charset="0"/>
              </a:rPr>
              <a:t>Color</a:t>
            </a:r>
            <a:r>
              <a:rPr lang="zh-CN" altLang="en-US" sz="1400" dirty="0">
                <a:solidFill>
                  <a:srgbClr val="56C4D2"/>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solidFill>
                  <a:srgbClr val="56C4D2"/>
                </a:solidFill>
                <a:latin typeface="Huawei Sans" panose="020C0503030203020204" pitchFamily="34" charset="0"/>
                <a:ea typeface="方正兰亭黑简体" panose="02000000000000000000" pitchFamily="2" charset="-122"/>
                <a:sym typeface="Huawei Sans" panose="020C0503030203020204" pitchFamily="34" charset="0"/>
              </a:rPr>
              <a:t>20</a:t>
            </a:r>
            <a:endParaRPr lang="zh-CN" altLang="en-US" sz="1400" dirty="0">
              <a:solidFill>
                <a:srgbClr val="56C4D2"/>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9" name="图片 17"/>
          <p:cNvPicPr/>
          <p:nvPr/>
        </p:nvPicPr>
        <p:blipFill>
          <a:blip r:embed="rId1" cstate="print">
            <a:extLst>
              <a:ext uri="{28A0092B-C50C-407E-A947-70E740481C1C}">
                <a14:useLocalDpi xmlns:a14="http://schemas.microsoft.com/office/drawing/2010/main" val="0"/>
              </a:ext>
            </a:extLst>
          </a:blip>
          <a:stretch>
            <a:fillRect/>
          </a:stretch>
        </p:blipFill>
        <p:spPr bwMode="gray">
          <a:xfrm>
            <a:off x="2863776" y="4122853"/>
            <a:ext cx="540000" cy="442800"/>
          </a:xfrm>
          <a:prstGeom prst="rect">
            <a:avLst/>
          </a:prstGeom>
        </p:spPr>
      </p:pic>
      <p:cxnSp>
        <p:nvCxnSpPr>
          <p:cNvPr id="31" name="直接连接符 9"/>
          <p:cNvCxnSpPr>
            <a:stCxn id="29" idx="3"/>
            <a:endCxn id="16" idx="1"/>
          </p:cNvCxnSpPr>
          <p:nvPr/>
        </p:nvCxnSpPr>
        <p:spPr bwMode="gray">
          <a:xfrm>
            <a:off x="3403776" y="4344253"/>
            <a:ext cx="951945" cy="571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直接连接符 9"/>
          <p:cNvCxnSpPr>
            <a:stCxn id="23" idx="3"/>
            <a:endCxn id="30" idx="1"/>
          </p:cNvCxnSpPr>
          <p:nvPr/>
        </p:nvCxnSpPr>
        <p:spPr bwMode="gray">
          <a:xfrm>
            <a:off x="9019315" y="4325140"/>
            <a:ext cx="93788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4" name="文本框 27"/>
          <p:cNvSpPr txBox="1"/>
          <p:nvPr/>
        </p:nvSpPr>
        <p:spPr bwMode="gray">
          <a:xfrm>
            <a:off x="2963623" y="4510676"/>
            <a:ext cx="537327" cy="338554"/>
          </a:xfrm>
          <a:prstGeom prst="rect">
            <a:avLst/>
          </a:prstGeom>
          <a:noFill/>
        </p:spPr>
        <p:txBody>
          <a:bodyPr wrap="none" rtlCol="0">
            <a:spAutoFit/>
          </a:bodyPr>
          <a:lstStyle/>
          <a:p>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CE1</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0" name="Freeform 159"/>
          <p:cNvSpPr/>
          <p:nvPr/>
        </p:nvSpPr>
        <p:spPr bwMode="gray">
          <a:xfrm flipH="1">
            <a:off x="10314204" y="3892496"/>
            <a:ext cx="1342120" cy="701565"/>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Net1</a:t>
            </a:r>
            <a:endParaRPr lang="en-US"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1" name="Freeform 60"/>
          <p:cNvSpPr/>
          <p:nvPr/>
        </p:nvSpPr>
        <p:spPr bwMode="gray">
          <a:xfrm>
            <a:off x="8890305" y="3534390"/>
            <a:ext cx="1312433" cy="505770"/>
          </a:xfrm>
          <a:custGeom>
            <a:avLst/>
            <a:gdLst>
              <a:gd name="connsiteX0" fmla="*/ 1312433 w 1312433"/>
              <a:gd name="connsiteY0" fmla="*/ 505770 h 505770"/>
              <a:gd name="connsiteX1" fmla="*/ 699247 w 1312433"/>
              <a:gd name="connsiteY1" fmla="*/ 160 h 505770"/>
              <a:gd name="connsiteX2" fmla="*/ 0 w 1312433"/>
              <a:gd name="connsiteY2" fmla="*/ 462739 h 505770"/>
            </a:gdLst>
            <a:ahLst/>
            <a:cxnLst>
              <a:cxn ang="0">
                <a:pos x="connsiteX0" y="connsiteY0"/>
              </a:cxn>
              <a:cxn ang="0">
                <a:pos x="connsiteX1" y="connsiteY1"/>
              </a:cxn>
              <a:cxn ang="0">
                <a:pos x="connsiteX2" y="connsiteY2"/>
              </a:cxn>
            </a:cxnLst>
            <a:rect l="l" t="t" r="r" b="b"/>
            <a:pathLst>
              <a:path w="1312433" h="505770">
                <a:moveTo>
                  <a:pt x="1312433" y="505770"/>
                </a:moveTo>
                <a:cubicBezTo>
                  <a:pt x="1115209" y="256551"/>
                  <a:pt x="917986" y="7332"/>
                  <a:pt x="699247" y="160"/>
                </a:cubicBezTo>
                <a:cubicBezTo>
                  <a:pt x="480508" y="-7012"/>
                  <a:pt x="240254" y="227863"/>
                  <a:pt x="0" y="462739"/>
                </a:cubicBezTo>
              </a:path>
            </a:pathLst>
          </a:custGeom>
          <a:noFill/>
          <a:ln w="19050">
            <a:solidFill>
              <a:srgbClr val="F28944"/>
            </a:solidFill>
            <a:prstDash val="dash"/>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Freeform 61"/>
          <p:cNvSpPr/>
          <p:nvPr/>
        </p:nvSpPr>
        <p:spPr bwMode="gray">
          <a:xfrm>
            <a:off x="4556163" y="2588440"/>
            <a:ext cx="4148760" cy="1441555"/>
          </a:xfrm>
          <a:custGeom>
            <a:avLst/>
            <a:gdLst>
              <a:gd name="connsiteX0" fmla="*/ 3883510 w 3883510"/>
              <a:gd name="connsiteY0" fmla="*/ 1409282 h 1441555"/>
              <a:gd name="connsiteX1" fmla="*/ 1979407 w 3883510"/>
              <a:gd name="connsiteY1" fmla="*/ 30 h 1441555"/>
              <a:gd name="connsiteX2" fmla="*/ 0 w 3883510"/>
              <a:gd name="connsiteY2" fmla="*/ 1441555 h 1441555"/>
            </a:gdLst>
            <a:ahLst/>
            <a:cxnLst>
              <a:cxn ang="0">
                <a:pos x="connsiteX0" y="connsiteY0"/>
              </a:cxn>
              <a:cxn ang="0">
                <a:pos x="connsiteX1" y="connsiteY1"/>
              </a:cxn>
              <a:cxn ang="0">
                <a:pos x="connsiteX2" y="connsiteY2"/>
              </a:cxn>
            </a:cxnLst>
            <a:rect l="l" t="t" r="r" b="b"/>
            <a:pathLst>
              <a:path w="3883510" h="1441555">
                <a:moveTo>
                  <a:pt x="3883510" y="1409282"/>
                </a:moveTo>
                <a:cubicBezTo>
                  <a:pt x="3255084" y="701966"/>
                  <a:pt x="2626659" y="-5349"/>
                  <a:pt x="1979407" y="30"/>
                </a:cubicBezTo>
                <a:cubicBezTo>
                  <a:pt x="1332155" y="5409"/>
                  <a:pt x="666077" y="723482"/>
                  <a:pt x="0" y="1441555"/>
                </a:cubicBezTo>
              </a:path>
            </a:pathLst>
          </a:custGeom>
          <a:noFill/>
          <a:ln w="19050">
            <a:solidFill>
              <a:srgbClr val="F28944"/>
            </a:solidFill>
            <a:prstDash val="dash"/>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Freeform 62"/>
          <p:cNvSpPr/>
          <p:nvPr/>
        </p:nvSpPr>
        <p:spPr bwMode="gray">
          <a:xfrm>
            <a:off x="3157391" y="3502783"/>
            <a:ext cx="1312433" cy="505770"/>
          </a:xfrm>
          <a:custGeom>
            <a:avLst/>
            <a:gdLst>
              <a:gd name="connsiteX0" fmla="*/ 1312433 w 1312433"/>
              <a:gd name="connsiteY0" fmla="*/ 505770 h 505770"/>
              <a:gd name="connsiteX1" fmla="*/ 699247 w 1312433"/>
              <a:gd name="connsiteY1" fmla="*/ 160 h 505770"/>
              <a:gd name="connsiteX2" fmla="*/ 0 w 1312433"/>
              <a:gd name="connsiteY2" fmla="*/ 462739 h 505770"/>
            </a:gdLst>
            <a:ahLst/>
            <a:cxnLst>
              <a:cxn ang="0">
                <a:pos x="connsiteX0" y="connsiteY0"/>
              </a:cxn>
              <a:cxn ang="0">
                <a:pos x="connsiteX1" y="connsiteY1"/>
              </a:cxn>
              <a:cxn ang="0">
                <a:pos x="connsiteX2" y="connsiteY2"/>
              </a:cxn>
            </a:cxnLst>
            <a:rect l="l" t="t" r="r" b="b"/>
            <a:pathLst>
              <a:path w="1312433" h="505770">
                <a:moveTo>
                  <a:pt x="1312433" y="505770"/>
                </a:moveTo>
                <a:cubicBezTo>
                  <a:pt x="1115209" y="256551"/>
                  <a:pt x="917986" y="7332"/>
                  <a:pt x="699247" y="160"/>
                </a:cubicBezTo>
                <a:cubicBezTo>
                  <a:pt x="480508" y="-7012"/>
                  <a:pt x="240254" y="227863"/>
                  <a:pt x="0" y="462739"/>
                </a:cubicBezTo>
              </a:path>
            </a:pathLst>
          </a:custGeom>
          <a:noFill/>
          <a:ln w="19050">
            <a:solidFill>
              <a:srgbClr val="F28944"/>
            </a:solidFill>
            <a:prstDash val="dash"/>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8" name="组合 17"/>
          <p:cNvGrpSpPr/>
          <p:nvPr/>
        </p:nvGrpSpPr>
        <p:grpSpPr bwMode="gray">
          <a:xfrm>
            <a:off x="5447586" y="1927889"/>
            <a:ext cx="2349758" cy="743484"/>
            <a:chOff x="756083" y="2270097"/>
            <a:chExt cx="2349758" cy="475627"/>
          </a:xfrm>
        </p:grpSpPr>
        <p:sp>
          <p:nvSpPr>
            <p:cNvPr id="69" name="矩形: 圆角 52"/>
            <p:cNvSpPr/>
            <p:nvPr/>
          </p:nvSpPr>
          <p:spPr bwMode="gray">
            <a:xfrm>
              <a:off x="756083" y="2270097"/>
              <a:ext cx="2349758" cy="475627"/>
            </a:xfrm>
            <a:prstGeom prst="roundRect">
              <a:avLst>
                <a:gd name="adj" fmla="val 3125"/>
              </a:avLst>
            </a:prstGeom>
            <a:solidFill>
              <a:schemeClr val="bg1"/>
            </a:solidFill>
            <a:ln w="190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ltLang="zh-CN" sz="12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BGP</a:t>
              </a:r>
              <a:r>
                <a:rPr lang="zh-CN" altLang="en-US" sz="12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路由</a:t>
              </a:r>
              <a:endParaRPr lang="zh-CN" altLang="en-US" sz="12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0" name="TextBox 120"/>
            <p:cNvSpPr txBox="1"/>
            <p:nvPr/>
          </p:nvSpPr>
          <p:spPr bwMode="gray">
            <a:xfrm>
              <a:off x="788357" y="2417231"/>
              <a:ext cx="2274453" cy="301053"/>
            </a:xfrm>
            <a:prstGeom prst="roundRect">
              <a:avLst>
                <a:gd name="adj" fmla="val 3880"/>
              </a:avLst>
            </a:prstGeom>
            <a:noFill/>
            <a:ln w="12700">
              <a:solidFill>
                <a:srgbClr val="56C4D2"/>
              </a:solidFill>
            </a:ln>
          </p:spPr>
          <p:txBody>
            <a:bodyPr wrap="square" rtlCol="0" anchor="ctr">
              <a:spAutoFit/>
            </a:bodyPr>
            <a:lstStyle/>
            <a:p>
              <a:r>
                <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Prefix  NHP Ext-Community</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Net1   PE2   </a:t>
              </a: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0:1000</a:t>
              </a:r>
              <a:endPar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71" name="组合 17"/>
          <p:cNvGrpSpPr/>
          <p:nvPr/>
        </p:nvGrpSpPr>
        <p:grpSpPr bwMode="gray">
          <a:xfrm>
            <a:off x="9356010" y="2917747"/>
            <a:ext cx="1210060" cy="755373"/>
            <a:chOff x="746169" y="2262490"/>
            <a:chExt cx="1210060" cy="483233"/>
          </a:xfrm>
        </p:grpSpPr>
        <p:sp>
          <p:nvSpPr>
            <p:cNvPr id="72" name="矩形: 圆角 52"/>
            <p:cNvSpPr/>
            <p:nvPr/>
          </p:nvSpPr>
          <p:spPr bwMode="gray">
            <a:xfrm>
              <a:off x="746169" y="2262490"/>
              <a:ext cx="1210060" cy="483233"/>
            </a:xfrm>
            <a:prstGeom prst="roundRect">
              <a:avLst>
                <a:gd name="adj" fmla="val 3125"/>
              </a:avLst>
            </a:prstGeom>
            <a:solidFill>
              <a:schemeClr val="bg1"/>
            </a:solidFill>
            <a:ln w="190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ltLang="zh-CN" sz="12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IGP</a:t>
              </a:r>
              <a:r>
                <a:rPr lang="zh-CN" altLang="en-US" sz="12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路由</a:t>
              </a:r>
              <a:endParaRPr lang="zh-CN" altLang="en-US" sz="12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3" name="TextBox 120"/>
            <p:cNvSpPr txBox="1"/>
            <p:nvPr/>
          </p:nvSpPr>
          <p:spPr bwMode="gray">
            <a:xfrm>
              <a:off x="788358" y="2418648"/>
              <a:ext cx="1112567" cy="301053"/>
            </a:xfrm>
            <a:prstGeom prst="roundRect">
              <a:avLst>
                <a:gd name="adj" fmla="val 3880"/>
              </a:avLst>
            </a:prstGeom>
            <a:noFill/>
            <a:ln w="12700">
              <a:solidFill>
                <a:srgbClr val="56C4D2"/>
              </a:solidFill>
            </a:ln>
          </p:spPr>
          <p:txBody>
            <a:bodyPr wrap="square" rtlCol="0" anchor="ctr">
              <a:spAutoFit/>
            </a:bodyPr>
            <a:lstStyle/>
            <a:p>
              <a:r>
                <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Prefix  NHP</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Net1   CE2</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74" name="组合 17"/>
          <p:cNvGrpSpPr/>
          <p:nvPr/>
        </p:nvGrpSpPr>
        <p:grpSpPr bwMode="gray">
          <a:xfrm>
            <a:off x="2570302" y="3019528"/>
            <a:ext cx="1210060" cy="740771"/>
            <a:chOff x="746169" y="2186883"/>
            <a:chExt cx="1210060" cy="473892"/>
          </a:xfrm>
        </p:grpSpPr>
        <p:sp>
          <p:nvSpPr>
            <p:cNvPr id="75" name="矩形: 圆角 52"/>
            <p:cNvSpPr/>
            <p:nvPr/>
          </p:nvSpPr>
          <p:spPr bwMode="gray">
            <a:xfrm>
              <a:off x="746169" y="2186883"/>
              <a:ext cx="1210060" cy="473892"/>
            </a:xfrm>
            <a:prstGeom prst="roundRect">
              <a:avLst>
                <a:gd name="adj" fmla="val 3125"/>
              </a:avLst>
            </a:prstGeom>
            <a:solidFill>
              <a:schemeClr val="bg1"/>
            </a:solidFill>
            <a:ln w="190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ltLang="zh-CN" sz="12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IGP</a:t>
              </a:r>
              <a:r>
                <a:rPr lang="zh-CN" altLang="en-US" sz="12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路由</a:t>
              </a:r>
              <a:endParaRPr lang="zh-CN" altLang="en-US" sz="12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6" name="TextBox 120"/>
            <p:cNvSpPr txBox="1"/>
            <p:nvPr/>
          </p:nvSpPr>
          <p:spPr bwMode="gray">
            <a:xfrm>
              <a:off x="799116" y="2336064"/>
              <a:ext cx="1112567" cy="301053"/>
            </a:xfrm>
            <a:prstGeom prst="roundRect">
              <a:avLst>
                <a:gd name="adj" fmla="val 3880"/>
              </a:avLst>
            </a:prstGeom>
            <a:noFill/>
            <a:ln w="12700">
              <a:solidFill>
                <a:srgbClr val="56C4D2"/>
              </a:solidFill>
            </a:ln>
          </p:spPr>
          <p:txBody>
            <a:bodyPr wrap="square" rtlCol="0" anchor="ctr">
              <a:spAutoFit/>
            </a:bodyPr>
            <a:lstStyle/>
            <a:p>
              <a:r>
                <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Prefix  NHP</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Net1   PE1</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pic>
        <p:nvPicPr>
          <p:cNvPr id="30" name="图片 17"/>
          <p:cNvPicPr/>
          <p:nvPr/>
        </p:nvPicPr>
        <p:blipFill>
          <a:blip r:embed="rId1" cstate="print">
            <a:extLst>
              <a:ext uri="{28A0092B-C50C-407E-A947-70E740481C1C}">
                <a14:useLocalDpi xmlns:a14="http://schemas.microsoft.com/office/drawing/2010/main" val="0"/>
              </a:ext>
            </a:extLst>
          </a:blip>
          <a:stretch>
            <a:fillRect/>
          </a:stretch>
        </p:blipFill>
        <p:spPr bwMode="gray">
          <a:xfrm>
            <a:off x="9957203" y="4103740"/>
            <a:ext cx="540000" cy="442800"/>
          </a:xfrm>
          <a:prstGeom prst="rect">
            <a:avLst/>
          </a:prstGeom>
        </p:spPr>
      </p:pic>
      <p:sp>
        <p:nvSpPr>
          <p:cNvPr id="79" name="Freeform 78"/>
          <p:cNvSpPr/>
          <p:nvPr/>
        </p:nvSpPr>
        <p:spPr bwMode="gray">
          <a:xfrm>
            <a:off x="3164154" y="4097338"/>
            <a:ext cx="1600200" cy="186466"/>
          </a:xfrm>
          <a:custGeom>
            <a:avLst/>
            <a:gdLst>
              <a:gd name="connsiteX0" fmla="*/ 0 w 1600200"/>
              <a:gd name="connsiteY0" fmla="*/ 166688 h 186466"/>
              <a:gd name="connsiteX1" fmla="*/ 1166813 w 1600200"/>
              <a:gd name="connsiteY1" fmla="*/ 171450 h 186466"/>
              <a:gd name="connsiteX2" fmla="*/ 1600200 w 1600200"/>
              <a:gd name="connsiteY2" fmla="*/ 0 h 186466"/>
            </a:gdLst>
            <a:ahLst/>
            <a:cxnLst>
              <a:cxn ang="0">
                <a:pos x="connsiteX0" y="connsiteY0"/>
              </a:cxn>
              <a:cxn ang="0">
                <a:pos x="connsiteX1" y="connsiteY1"/>
              </a:cxn>
              <a:cxn ang="0">
                <a:pos x="connsiteX2" y="connsiteY2"/>
              </a:cxn>
            </a:cxnLst>
            <a:rect l="l" t="t" r="r" b="b"/>
            <a:pathLst>
              <a:path w="1600200" h="186466">
                <a:moveTo>
                  <a:pt x="0" y="166688"/>
                </a:moveTo>
                <a:cubicBezTo>
                  <a:pt x="450056" y="182959"/>
                  <a:pt x="900113" y="199231"/>
                  <a:pt x="1166813" y="171450"/>
                </a:cubicBezTo>
                <a:cubicBezTo>
                  <a:pt x="1433513" y="143669"/>
                  <a:pt x="1516856" y="71834"/>
                  <a:pt x="1600200" y="0"/>
                </a:cubicBezTo>
              </a:path>
            </a:pathLst>
          </a:custGeom>
          <a:noFill/>
          <a:ln w="28575">
            <a:solidFill>
              <a:srgbClr val="E2818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Freeform 79"/>
          <p:cNvSpPr/>
          <p:nvPr/>
        </p:nvSpPr>
        <p:spPr bwMode="gray">
          <a:xfrm flipV="1">
            <a:off x="3149719" y="4422488"/>
            <a:ext cx="1600200" cy="186466"/>
          </a:xfrm>
          <a:custGeom>
            <a:avLst/>
            <a:gdLst>
              <a:gd name="connsiteX0" fmla="*/ 0 w 1600200"/>
              <a:gd name="connsiteY0" fmla="*/ 166688 h 186466"/>
              <a:gd name="connsiteX1" fmla="*/ 1166813 w 1600200"/>
              <a:gd name="connsiteY1" fmla="*/ 171450 h 186466"/>
              <a:gd name="connsiteX2" fmla="*/ 1600200 w 1600200"/>
              <a:gd name="connsiteY2" fmla="*/ 0 h 186466"/>
            </a:gdLst>
            <a:ahLst/>
            <a:cxnLst>
              <a:cxn ang="0">
                <a:pos x="connsiteX0" y="connsiteY0"/>
              </a:cxn>
              <a:cxn ang="0">
                <a:pos x="connsiteX1" y="connsiteY1"/>
              </a:cxn>
              <a:cxn ang="0">
                <a:pos x="connsiteX2" y="connsiteY2"/>
              </a:cxn>
            </a:cxnLst>
            <a:rect l="l" t="t" r="r" b="b"/>
            <a:pathLst>
              <a:path w="1600200" h="186466">
                <a:moveTo>
                  <a:pt x="0" y="166688"/>
                </a:moveTo>
                <a:cubicBezTo>
                  <a:pt x="450056" y="182959"/>
                  <a:pt x="900113" y="199231"/>
                  <a:pt x="1166813" y="171450"/>
                </a:cubicBezTo>
                <a:cubicBezTo>
                  <a:pt x="1433513" y="143669"/>
                  <a:pt x="1516856" y="71834"/>
                  <a:pt x="1600200" y="0"/>
                </a:cubicBezTo>
              </a:path>
            </a:pathLst>
          </a:custGeom>
          <a:noFill/>
          <a:ln w="2857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文本框 27"/>
          <p:cNvSpPr txBox="1"/>
          <p:nvPr/>
        </p:nvSpPr>
        <p:spPr bwMode="gray">
          <a:xfrm>
            <a:off x="9923317" y="4503557"/>
            <a:ext cx="537327" cy="338554"/>
          </a:xfrm>
          <a:prstGeom prst="rect">
            <a:avLst/>
          </a:prstGeom>
          <a:noFill/>
        </p:spPr>
        <p:txBody>
          <a:bodyPr wrap="none" rtlCol="0">
            <a:spAutoFit/>
          </a:bodyPr>
          <a:lstStyle/>
          <a:p>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CE2</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55" name="Group 54"/>
          <p:cNvGrpSpPr/>
          <p:nvPr/>
        </p:nvGrpSpPr>
        <p:grpSpPr bwMode="gray">
          <a:xfrm>
            <a:off x="4662862" y="3288906"/>
            <a:ext cx="4022912" cy="942726"/>
            <a:chOff x="4161932" y="2603104"/>
            <a:chExt cx="4022912" cy="942726"/>
          </a:xfrm>
        </p:grpSpPr>
        <p:sp>
          <p:nvSpPr>
            <p:cNvPr id="52" name="任意多边形 33"/>
            <p:cNvSpPr/>
            <p:nvPr/>
          </p:nvSpPr>
          <p:spPr bwMode="gray">
            <a:xfrm>
              <a:off x="4227911" y="2603104"/>
              <a:ext cx="3887731" cy="902073"/>
            </a:xfrm>
            <a:custGeom>
              <a:avLst/>
              <a:gdLst>
                <a:gd name="connsiteX0" fmla="*/ 0 w 4491318"/>
                <a:gd name="connsiteY0" fmla="*/ 753035 h 1304365"/>
                <a:gd name="connsiteX1" fmla="*/ 605118 w 4491318"/>
                <a:gd name="connsiteY1" fmla="*/ 1304365 h 1304365"/>
                <a:gd name="connsiteX2" fmla="*/ 1627094 w 4491318"/>
                <a:gd name="connsiteY2" fmla="*/ 0 h 1304365"/>
                <a:gd name="connsiteX3" fmla="*/ 3859306 w 4491318"/>
                <a:gd name="connsiteY3" fmla="*/ 0 h 1304365"/>
                <a:gd name="connsiteX4" fmla="*/ 4491318 w 4491318"/>
                <a:gd name="connsiteY4" fmla="*/ 578223 h 1304365"/>
                <a:gd name="connsiteX0-1" fmla="*/ 0 w 4491318"/>
                <a:gd name="connsiteY0-2" fmla="*/ 757268 h 1308598"/>
                <a:gd name="connsiteX1-3" fmla="*/ 605118 w 4491318"/>
                <a:gd name="connsiteY1-4" fmla="*/ 1308598 h 1308598"/>
                <a:gd name="connsiteX2-5" fmla="*/ 1732928 w 4491318"/>
                <a:gd name="connsiteY2-6" fmla="*/ 0 h 1308598"/>
                <a:gd name="connsiteX3-7" fmla="*/ 3859306 w 4491318"/>
                <a:gd name="connsiteY3-8" fmla="*/ 4233 h 1308598"/>
                <a:gd name="connsiteX4-9" fmla="*/ 4491318 w 4491318"/>
                <a:gd name="connsiteY4-10" fmla="*/ 582456 h 1308598"/>
                <a:gd name="connsiteX0-11" fmla="*/ 0 w 4491318"/>
                <a:gd name="connsiteY0-12" fmla="*/ 757268 h 1308598"/>
                <a:gd name="connsiteX1-13" fmla="*/ 605118 w 4491318"/>
                <a:gd name="connsiteY1-14" fmla="*/ 1308598 h 1308598"/>
                <a:gd name="connsiteX2-15" fmla="*/ 1762561 w 4491318"/>
                <a:gd name="connsiteY2-16" fmla="*/ 0 h 1308598"/>
                <a:gd name="connsiteX3-17" fmla="*/ 3859306 w 4491318"/>
                <a:gd name="connsiteY3-18" fmla="*/ 4233 h 1308598"/>
                <a:gd name="connsiteX4-19" fmla="*/ 4491318 w 4491318"/>
                <a:gd name="connsiteY4-20" fmla="*/ 582456 h 1308598"/>
                <a:gd name="connsiteX0-21" fmla="*/ 0 w 4491318"/>
                <a:gd name="connsiteY0-22" fmla="*/ 791695 h 791695"/>
                <a:gd name="connsiteX1-23" fmla="*/ 814668 w 4491318"/>
                <a:gd name="connsiteY1-24" fmla="*/ 0 h 791695"/>
                <a:gd name="connsiteX2-25" fmla="*/ 1762561 w 4491318"/>
                <a:gd name="connsiteY2-26" fmla="*/ 34427 h 791695"/>
                <a:gd name="connsiteX3-27" fmla="*/ 3859306 w 4491318"/>
                <a:gd name="connsiteY3-28" fmla="*/ 38660 h 791695"/>
                <a:gd name="connsiteX4-29" fmla="*/ 4491318 w 4491318"/>
                <a:gd name="connsiteY4-30" fmla="*/ 616883 h 791695"/>
                <a:gd name="connsiteX0-31" fmla="*/ 0 w 4491318"/>
                <a:gd name="connsiteY0-32" fmla="*/ 757268 h 757268"/>
                <a:gd name="connsiteX1-33" fmla="*/ 1762561 w 4491318"/>
                <a:gd name="connsiteY1-34" fmla="*/ 0 h 757268"/>
                <a:gd name="connsiteX2-35" fmla="*/ 3859306 w 4491318"/>
                <a:gd name="connsiteY2-36" fmla="*/ 4233 h 757268"/>
                <a:gd name="connsiteX3-37" fmla="*/ 4491318 w 4491318"/>
                <a:gd name="connsiteY3-38" fmla="*/ 582456 h 757268"/>
                <a:gd name="connsiteX0-39" fmla="*/ 0 w 4491318"/>
                <a:gd name="connsiteY0-40" fmla="*/ 823943 h 823943"/>
                <a:gd name="connsiteX1-41" fmla="*/ 1057612 w 4491318"/>
                <a:gd name="connsiteY1-42" fmla="*/ 0 h 823943"/>
                <a:gd name="connsiteX2-43" fmla="*/ 3859306 w 4491318"/>
                <a:gd name="connsiteY2-44" fmla="*/ 70908 h 823943"/>
                <a:gd name="connsiteX3-45" fmla="*/ 4491318 w 4491318"/>
                <a:gd name="connsiteY3-46" fmla="*/ 649131 h 823943"/>
                <a:gd name="connsiteX0-47" fmla="*/ 0 w 4416551"/>
                <a:gd name="connsiteY0-48" fmla="*/ 842993 h 842993"/>
                <a:gd name="connsiteX1-49" fmla="*/ 982845 w 4416551"/>
                <a:gd name="connsiteY1-50" fmla="*/ 0 h 842993"/>
                <a:gd name="connsiteX2-51" fmla="*/ 3784539 w 4416551"/>
                <a:gd name="connsiteY2-52" fmla="*/ 70908 h 842993"/>
                <a:gd name="connsiteX3-53" fmla="*/ 4416551 w 4416551"/>
                <a:gd name="connsiteY3-54" fmla="*/ 649131 h 842993"/>
                <a:gd name="connsiteX0-55" fmla="*/ 0 w 4416551"/>
                <a:gd name="connsiteY0-56" fmla="*/ 830293 h 830293"/>
                <a:gd name="connsiteX1-57" fmla="*/ 997086 w 4416551"/>
                <a:gd name="connsiteY1-58" fmla="*/ 0 h 830293"/>
                <a:gd name="connsiteX2-59" fmla="*/ 3784539 w 4416551"/>
                <a:gd name="connsiteY2-60" fmla="*/ 58208 h 830293"/>
                <a:gd name="connsiteX3-61" fmla="*/ 4416551 w 4416551"/>
                <a:gd name="connsiteY3-62" fmla="*/ 636431 h 830293"/>
                <a:gd name="connsiteX0-63" fmla="*/ 0 w 4416551"/>
                <a:gd name="connsiteY0-64" fmla="*/ 841935 h 841935"/>
                <a:gd name="connsiteX1-65" fmla="*/ 997086 w 4416551"/>
                <a:gd name="connsiteY1-66" fmla="*/ 11642 h 841935"/>
                <a:gd name="connsiteX2-67" fmla="*/ 3264728 w 4416551"/>
                <a:gd name="connsiteY2-68" fmla="*/ 0 h 841935"/>
                <a:gd name="connsiteX3-69" fmla="*/ 4416551 w 4416551"/>
                <a:gd name="connsiteY3-70" fmla="*/ 648073 h 841935"/>
                <a:gd name="connsiteX0-71" fmla="*/ 0 w 4416551"/>
                <a:gd name="connsiteY0-72" fmla="*/ 841935 h 841935"/>
                <a:gd name="connsiteX1-73" fmla="*/ 997086 w 4416551"/>
                <a:gd name="connsiteY1-74" fmla="*/ 11642 h 841935"/>
                <a:gd name="connsiteX2-75" fmla="*/ 3264728 w 4416551"/>
                <a:gd name="connsiteY2-76" fmla="*/ 0 h 841935"/>
                <a:gd name="connsiteX3-77" fmla="*/ 4416551 w 4416551"/>
                <a:gd name="connsiteY3-78" fmla="*/ 648073 h 841935"/>
                <a:gd name="connsiteX0-79" fmla="*/ 0 w 4288378"/>
                <a:gd name="connsiteY0-80" fmla="*/ 841935 h 914773"/>
                <a:gd name="connsiteX1-81" fmla="*/ 997086 w 4288378"/>
                <a:gd name="connsiteY1-82" fmla="*/ 11642 h 914773"/>
                <a:gd name="connsiteX2-83" fmla="*/ 3264728 w 4288378"/>
                <a:gd name="connsiteY2-84" fmla="*/ 0 h 914773"/>
                <a:gd name="connsiteX3-85" fmla="*/ 4288378 w 4288378"/>
                <a:gd name="connsiteY3-86" fmla="*/ 914773 h 914773"/>
                <a:gd name="connsiteX0-87" fmla="*/ 0 w 4380947"/>
                <a:gd name="connsiteY0-88" fmla="*/ 841935 h 883023"/>
                <a:gd name="connsiteX1-89" fmla="*/ 997086 w 4380947"/>
                <a:gd name="connsiteY1-90" fmla="*/ 11642 h 883023"/>
                <a:gd name="connsiteX2-91" fmla="*/ 3264728 w 4380947"/>
                <a:gd name="connsiteY2-92" fmla="*/ 0 h 883023"/>
                <a:gd name="connsiteX3-93" fmla="*/ 4380947 w 4380947"/>
                <a:gd name="connsiteY3-94" fmla="*/ 883023 h 883023"/>
                <a:gd name="connsiteX0-95" fmla="*/ 0 w 4380947"/>
                <a:gd name="connsiteY0-96" fmla="*/ 841935 h 883023"/>
                <a:gd name="connsiteX1-97" fmla="*/ 997086 w 4380947"/>
                <a:gd name="connsiteY1-98" fmla="*/ 11642 h 883023"/>
                <a:gd name="connsiteX2-99" fmla="*/ 3293211 w 4380947"/>
                <a:gd name="connsiteY2-100" fmla="*/ 0 h 883023"/>
                <a:gd name="connsiteX3-101" fmla="*/ 4380947 w 4380947"/>
                <a:gd name="connsiteY3-102" fmla="*/ 883023 h 883023"/>
                <a:gd name="connsiteX0-103" fmla="*/ 0 w 4380947"/>
                <a:gd name="connsiteY0-104" fmla="*/ 841935 h 883023"/>
                <a:gd name="connsiteX1-105" fmla="*/ 997086 w 4380947"/>
                <a:gd name="connsiteY1-106" fmla="*/ 11642 h 883023"/>
                <a:gd name="connsiteX2-107" fmla="*/ 3293211 w 4380947"/>
                <a:gd name="connsiteY2-108" fmla="*/ 0 h 883023"/>
                <a:gd name="connsiteX3-109" fmla="*/ 4380947 w 4380947"/>
                <a:gd name="connsiteY3-110" fmla="*/ 883023 h 883023"/>
                <a:gd name="connsiteX0-111" fmla="*/ 0 w 4359585"/>
                <a:gd name="connsiteY0-112" fmla="*/ 841935 h 902073"/>
                <a:gd name="connsiteX1-113" fmla="*/ 997086 w 4359585"/>
                <a:gd name="connsiteY1-114" fmla="*/ 11642 h 902073"/>
                <a:gd name="connsiteX2-115" fmla="*/ 3293211 w 4359585"/>
                <a:gd name="connsiteY2-116" fmla="*/ 0 h 902073"/>
                <a:gd name="connsiteX3-117" fmla="*/ 4359585 w 4359585"/>
                <a:gd name="connsiteY3-118" fmla="*/ 902073 h 902073"/>
              </a:gdLst>
              <a:ahLst/>
              <a:cxnLst>
                <a:cxn ang="0">
                  <a:pos x="connsiteX0-1" y="connsiteY0-2"/>
                </a:cxn>
                <a:cxn ang="0">
                  <a:pos x="connsiteX1-3" y="connsiteY1-4"/>
                </a:cxn>
                <a:cxn ang="0">
                  <a:pos x="connsiteX2-5" y="connsiteY2-6"/>
                </a:cxn>
                <a:cxn ang="0">
                  <a:pos x="connsiteX3-7" y="connsiteY3-8"/>
                </a:cxn>
              </a:cxnLst>
              <a:rect l="l" t="t" r="r" b="b"/>
              <a:pathLst>
                <a:path w="4359585" h="902073">
                  <a:moveTo>
                    <a:pt x="0" y="841935"/>
                  </a:moveTo>
                  <a:lnTo>
                    <a:pt x="997086" y="11642"/>
                  </a:lnTo>
                  <a:lnTo>
                    <a:pt x="3293211" y="0"/>
                  </a:lnTo>
                  <a:lnTo>
                    <a:pt x="4359585" y="902073"/>
                  </a:lnTo>
                </a:path>
              </a:pathLst>
            </a:custGeom>
            <a:noFill/>
            <a:ln w="152400">
              <a:solidFill>
                <a:srgbClr val="E28189"/>
              </a:solidFill>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3" name="Oval 52"/>
            <p:cNvSpPr/>
            <p:nvPr/>
          </p:nvSpPr>
          <p:spPr bwMode="gray">
            <a:xfrm rot="2572608">
              <a:off x="4161932" y="3401778"/>
              <a:ext cx="138407" cy="85478"/>
            </a:xfrm>
            <a:prstGeom prst="ellipse">
              <a:avLst/>
            </a:prstGeom>
            <a:solidFill>
              <a:srgbClr val="E28189"/>
            </a:solidFill>
            <a:ln>
              <a:solidFill>
                <a:srgbClr val="E2818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Oval 53"/>
            <p:cNvSpPr/>
            <p:nvPr/>
          </p:nvSpPr>
          <p:spPr bwMode="gray">
            <a:xfrm rot="19019003">
              <a:off x="8046437" y="3460352"/>
              <a:ext cx="138407" cy="85478"/>
            </a:xfrm>
            <a:prstGeom prst="ellipse">
              <a:avLst/>
            </a:prstGeom>
            <a:solidFill>
              <a:srgbClr val="E28189"/>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6" name="Group 55"/>
          <p:cNvGrpSpPr/>
          <p:nvPr/>
        </p:nvGrpSpPr>
        <p:grpSpPr bwMode="gray">
          <a:xfrm flipV="1">
            <a:off x="4632848" y="4480652"/>
            <a:ext cx="4022912" cy="942726"/>
            <a:chOff x="4161932" y="2603104"/>
            <a:chExt cx="4022912" cy="942726"/>
          </a:xfrm>
        </p:grpSpPr>
        <p:sp>
          <p:nvSpPr>
            <p:cNvPr id="57" name="任意多边形 33"/>
            <p:cNvSpPr/>
            <p:nvPr/>
          </p:nvSpPr>
          <p:spPr bwMode="gray">
            <a:xfrm>
              <a:off x="4227911" y="2603104"/>
              <a:ext cx="3887731" cy="902073"/>
            </a:xfrm>
            <a:custGeom>
              <a:avLst/>
              <a:gdLst>
                <a:gd name="connsiteX0" fmla="*/ 0 w 4491318"/>
                <a:gd name="connsiteY0" fmla="*/ 753035 h 1304365"/>
                <a:gd name="connsiteX1" fmla="*/ 605118 w 4491318"/>
                <a:gd name="connsiteY1" fmla="*/ 1304365 h 1304365"/>
                <a:gd name="connsiteX2" fmla="*/ 1627094 w 4491318"/>
                <a:gd name="connsiteY2" fmla="*/ 0 h 1304365"/>
                <a:gd name="connsiteX3" fmla="*/ 3859306 w 4491318"/>
                <a:gd name="connsiteY3" fmla="*/ 0 h 1304365"/>
                <a:gd name="connsiteX4" fmla="*/ 4491318 w 4491318"/>
                <a:gd name="connsiteY4" fmla="*/ 578223 h 1304365"/>
                <a:gd name="connsiteX0-1" fmla="*/ 0 w 4491318"/>
                <a:gd name="connsiteY0-2" fmla="*/ 757268 h 1308598"/>
                <a:gd name="connsiteX1-3" fmla="*/ 605118 w 4491318"/>
                <a:gd name="connsiteY1-4" fmla="*/ 1308598 h 1308598"/>
                <a:gd name="connsiteX2-5" fmla="*/ 1732928 w 4491318"/>
                <a:gd name="connsiteY2-6" fmla="*/ 0 h 1308598"/>
                <a:gd name="connsiteX3-7" fmla="*/ 3859306 w 4491318"/>
                <a:gd name="connsiteY3-8" fmla="*/ 4233 h 1308598"/>
                <a:gd name="connsiteX4-9" fmla="*/ 4491318 w 4491318"/>
                <a:gd name="connsiteY4-10" fmla="*/ 582456 h 1308598"/>
                <a:gd name="connsiteX0-11" fmla="*/ 0 w 4491318"/>
                <a:gd name="connsiteY0-12" fmla="*/ 757268 h 1308598"/>
                <a:gd name="connsiteX1-13" fmla="*/ 605118 w 4491318"/>
                <a:gd name="connsiteY1-14" fmla="*/ 1308598 h 1308598"/>
                <a:gd name="connsiteX2-15" fmla="*/ 1762561 w 4491318"/>
                <a:gd name="connsiteY2-16" fmla="*/ 0 h 1308598"/>
                <a:gd name="connsiteX3-17" fmla="*/ 3859306 w 4491318"/>
                <a:gd name="connsiteY3-18" fmla="*/ 4233 h 1308598"/>
                <a:gd name="connsiteX4-19" fmla="*/ 4491318 w 4491318"/>
                <a:gd name="connsiteY4-20" fmla="*/ 582456 h 1308598"/>
                <a:gd name="connsiteX0-21" fmla="*/ 0 w 4491318"/>
                <a:gd name="connsiteY0-22" fmla="*/ 791695 h 791695"/>
                <a:gd name="connsiteX1-23" fmla="*/ 814668 w 4491318"/>
                <a:gd name="connsiteY1-24" fmla="*/ 0 h 791695"/>
                <a:gd name="connsiteX2-25" fmla="*/ 1762561 w 4491318"/>
                <a:gd name="connsiteY2-26" fmla="*/ 34427 h 791695"/>
                <a:gd name="connsiteX3-27" fmla="*/ 3859306 w 4491318"/>
                <a:gd name="connsiteY3-28" fmla="*/ 38660 h 791695"/>
                <a:gd name="connsiteX4-29" fmla="*/ 4491318 w 4491318"/>
                <a:gd name="connsiteY4-30" fmla="*/ 616883 h 791695"/>
                <a:gd name="connsiteX0-31" fmla="*/ 0 w 4491318"/>
                <a:gd name="connsiteY0-32" fmla="*/ 757268 h 757268"/>
                <a:gd name="connsiteX1-33" fmla="*/ 1762561 w 4491318"/>
                <a:gd name="connsiteY1-34" fmla="*/ 0 h 757268"/>
                <a:gd name="connsiteX2-35" fmla="*/ 3859306 w 4491318"/>
                <a:gd name="connsiteY2-36" fmla="*/ 4233 h 757268"/>
                <a:gd name="connsiteX3-37" fmla="*/ 4491318 w 4491318"/>
                <a:gd name="connsiteY3-38" fmla="*/ 582456 h 757268"/>
                <a:gd name="connsiteX0-39" fmla="*/ 0 w 4491318"/>
                <a:gd name="connsiteY0-40" fmla="*/ 823943 h 823943"/>
                <a:gd name="connsiteX1-41" fmla="*/ 1057612 w 4491318"/>
                <a:gd name="connsiteY1-42" fmla="*/ 0 h 823943"/>
                <a:gd name="connsiteX2-43" fmla="*/ 3859306 w 4491318"/>
                <a:gd name="connsiteY2-44" fmla="*/ 70908 h 823943"/>
                <a:gd name="connsiteX3-45" fmla="*/ 4491318 w 4491318"/>
                <a:gd name="connsiteY3-46" fmla="*/ 649131 h 823943"/>
                <a:gd name="connsiteX0-47" fmla="*/ 0 w 4416551"/>
                <a:gd name="connsiteY0-48" fmla="*/ 842993 h 842993"/>
                <a:gd name="connsiteX1-49" fmla="*/ 982845 w 4416551"/>
                <a:gd name="connsiteY1-50" fmla="*/ 0 h 842993"/>
                <a:gd name="connsiteX2-51" fmla="*/ 3784539 w 4416551"/>
                <a:gd name="connsiteY2-52" fmla="*/ 70908 h 842993"/>
                <a:gd name="connsiteX3-53" fmla="*/ 4416551 w 4416551"/>
                <a:gd name="connsiteY3-54" fmla="*/ 649131 h 842993"/>
                <a:gd name="connsiteX0-55" fmla="*/ 0 w 4416551"/>
                <a:gd name="connsiteY0-56" fmla="*/ 830293 h 830293"/>
                <a:gd name="connsiteX1-57" fmla="*/ 997086 w 4416551"/>
                <a:gd name="connsiteY1-58" fmla="*/ 0 h 830293"/>
                <a:gd name="connsiteX2-59" fmla="*/ 3784539 w 4416551"/>
                <a:gd name="connsiteY2-60" fmla="*/ 58208 h 830293"/>
                <a:gd name="connsiteX3-61" fmla="*/ 4416551 w 4416551"/>
                <a:gd name="connsiteY3-62" fmla="*/ 636431 h 830293"/>
                <a:gd name="connsiteX0-63" fmla="*/ 0 w 4416551"/>
                <a:gd name="connsiteY0-64" fmla="*/ 841935 h 841935"/>
                <a:gd name="connsiteX1-65" fmla="*/ 997086 w 4416551"/>
                <a:gd name="connsiteY1-66" fmla="*/ 11642 h 841935"/>
                <a:gd name="connsiteX2-67" fmla="*/ 3264728 w 4416551"/>
                <a:gd name="connsiteY2-68" fmla="*/ 0 h 841935"/>
                <a:gd name="connsiteX3-69" fmla="*/ 4416551 w 4416551"/>
                <a:gd name="connsiteY3-70" fmla="*/ 648073 h 841935"/>
                <a:gd name="connsiteX0-71" fmla="*/ 0 w 4416551"/>
                <a:gd name="connsiteY0-72" fmla="*/ 841935 h 841935"/>
                <a:gd name="connsiteX1-73" fmla="*/ 997086 w 4416551"/>
                <a:gd name="connsiteY1-74" fmla="*/ 11642 h 841935"/>
                <a:gd name="connsiteX2-75" fmla="*/ 3264728 w 4416551"/>
                <a:gd name="connsiteY2-76" fmla="*/ 0 h 841935"/>
                <a:gd name="connsiteX3-77" fmla="*/ 4416551 w 4416551"/>
                <a:gd name="connsiteY3-78" fmla="*/ 648073 h 841935"/>
                <a:gd name="connsiteX0-79" fmla="*/ 0 w 4288378"/>
                <a:gd name="connsiteY0-80" fmla="*/ 841935 h 914773"/>
                <a:gd name="connsiteX1-81" fmla="*/ 997086 w 4288378"/>
                <a:gd name="connsiteY1-82" fmla="*/ 11642 h 914773"/>
                <a:gd name="connsiteX2-83" fmla="*/ 3264728 w 4288378"/>
                <a:gd name="connsiteY2-84" fmla="*/ 0 h 914773"/>
                <a:gd name="connsiteX3-85" fmla="*/ 4288378 w 4288378"/>
                <a:gd name="connsiteY3-86" fmla="*/ 914773 h 914773"/>
                <a:gd name="connsiteX0-87" fmla="*/ 0 w 4380947"/>
                <a:gd name="connsiteY0-88" fmla="*/ 841935 h 883023"/>
                <a:gd name="connsiteX1-89" fmla="*/ 997086 w 4380947"/>
                <a:gd name="connsiteY1-90" fmla="*/ 11642 h 883023"/>
                <a:gd name="connsiteX2-91" fmla="*/ 3264728 w 4380947"/>
                <a:gd name="connsiteY2-92" fmla="*/ 0 h 883023"/>
                <a:gd name="connsiteX3-93" fmla="*/ 4380947 w 4380947"/>
                <a:gd name="connsiteY3-94" fmla="*/ 883023 h 883023"/>
                <a:gd name="connsiteX0-95" fmla="*/ 0 w 4380947"/>
                <a:gd name="connsiteY0-96" fmla="*/ 841935 h 883023"/>
                <a:gd name="connsiteX1-97" fmla="*/ 997086 w 4380947"/>
                <a:gd name="connsiteY1-98" fmla="*/ 11642 h 883023"/>
                <a:gd name="connsiteX2-99" fmla="*/ 3293211 w 4380947"/>
                <a:gd name="connsiteY2-100" fmla="*/ 0 h 883023"/>
                <a:gd name="connsiteX3-101" fmla="*/ 4380947 w 4380947"/>
                <a:gd name="connsiteY3-102" fmla="*/ 883023 h 883023"/>
                <a:gd name="connsiteX0-103" fmla="*/ 0 w 4380947"/>
                <a:gd name="connsiteY0-104" fmla="*/ 841935 h 883023"/>
                <a:gd name="connsiteX1-105" fmla="*/ 997086 w 4380947"/>
                <a:gd name="connsiteY1-106" fmla="*/ 11642 h 883023"/>
                <a:gd name="connsiteX2-107" fmla="*/ 3293211 w 4380947"/>
                <a:gd name="connsiteY2-108" fmla="*/ 0 h 883023"/>
                <a:gd name="connsiteX3-109" fmla="*/ 4380947 w 4380947"/>
                <a:gd name="connsiteY3-110" fmla="*/ 883023 h 883023"/>
                <a:gd name="connsiteX0-111" fmla="*/ 0 w 4359585"/>
                <a:gd name="connsiteY0-112" fmla="*/ 841935 h 902073"/>
                <a:gd name="connsiteX1-113" fmla="*/ 997086 w 4359585"/>
                <a:gd name="connsiteY1-114" fmla="*/ 11642 h 902073"/>
                <a:gd name="connsiteX2-115" fmla="*/ 3293211 w 4359585"/>
                <a:gd name="connsiteY2-116" fmla="*/ 0 h 902073"/>
                <a:gd name="connsiteX3-117" fmla="*/ 4359585 w 4359585"/>
                <a:gd name="connsiteY3-118" fmla="*/ 902073 h 902073"/>
              </a:gdLst>
              <a:ahLst/>
              <a:cxnLst>
                <a:cxn ang="0">
                  <a:pos x="connsiteX0-1" y="connsiteY0-2"/>
                </a:cxn>
                <a:cxn ang="0">
                  <a:pos x="connsiteX1-3" y="connsiteY1-4"/>
                </a:cxn>
                <a:cxn ang="0">
                  <a:pos x="connsiteX2-5" y="connsiteY2-6"/>
                </a:cxn>
                <a:cxn ang="0">
                  <a:pos x="connsiteX3-7" y="connsiteY3-8"/>
                </a:cxn>
              </a:cxnLst>
              <a:rect l="l" t="t" r="r" b="b"/>
              <a:pathLst>
                <a:path w="4359585" h="902073">
                  <a:moveTo>
                    <a:pt x="0" y="841935"/>
                  </a:moveTo>
                  <a:lnTo>
                    <a:pt x="997086" y="11642"/>
                  </a:lnTo>
                  <a:lnTo>
                    <a:pt x="3293211" y="0"/>
                  </a:lnTo>
                  <a:lnTo>
                    <a:pt x="4359585" y="902073"/>
                  </a:lnTo>
                </a:path>
              </a:pathLst>
            </a:custGeom>
            <a:noFill/>
            <a:ln w="152400">
              <a:solidFill>
                <a:srgbClr val="56C4D2"/>
              </a:solidFill>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8" name="Oval 57"/>
            <p:cNvSpPr/>
            <p:nvPr/>
          </p:nvSpPr>
          <p:spPr bwMode="gray">
            <a:xfrm rot="2572608">
              <a:off x="4161932" y="3401778"/>
              <a:ext cx="138407" cy="85478"/>
            </a:xfrm>
            <a:prstGeom prst="ellipse">
              <a:avLst/>
            </a:prstGeom>
            <a:solidFill>
              <a:srgbClr val="56C4D2"/>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Oval 58"/>
            <p:cNvSpPr/>
            <p:nvPr/>
          </p:nvSpPr>
          <p:spPr bwMode="gray">
            <a:xfrm rot="19019003">
              <a:off x="8046437" y="3460352"/>
              <a:ext cx="138407" cy="85478"/>
            </a:xfrm>
            <a:prstGeom prst="ellipse">
              <a:avLst/>
            </a:prstGeom>
            <a:solidFill>
              <a:srgbClr val="56C4D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2" name="Freeform 81"/>
          <p:cNvSpPr/>
          <p:nvPr/>
        </p:nvSpPr>
        <p:spPr bwMode="gray">
          <a:xfrm>
            <a:off x="8612454" y="4083051"/>
            <a:ext cx="1997869" cy="174644"/>
          </a:xfrm>
          <a:custGeom>
            <a:avLst/>
            <a:gdLst>
              <a:gd name="connsiteX0" fmla="*/ 0 w 1997869"/>
              <a:gd name="connsiteY0" fmla="*/ 97631 h 174644"/>
              <a:gd name="connsiteX1" fmla="*/ 290513 w 1997869"/>
              <a:gd name="connsiteY1" fmla="*/ 142875 h 174644"/>
              <a:gd name="connsiteX2" fmla="*/ 1562100 w 1997869"/>
              <a:gd name="connsiteY2" fmla="*/ 166687 h 174644"/>
              <a:gd name="connsiteX3" fmla="*/ 1997869 w 1997869"/>
              <a:gd name="connsiteY3" fmla="*/ 0 h 174644"/>
            </a:gdLst>
            <a:ahLst/>
            <a:cxnLst>
              <a:cxn ang="0">
                <a:pos x="connsiteX0" y="connsiteY0"/>
              </a:cxn>
              <a:cxn ang="0">
                <a:pos x="connsiteX1" y="connsiteY1"/>
              </a:cxn>
              <a:cxn ang="0">
                <a:pos x="connsiteX2" y="connsiteY2"/>
              </a:cxn>
              <a:cxn ang="0">
                <a:pos x="connsiteX3" y="connsiteY3"/>
              </a:cxn>
            </a:cxnLst>
            <a:rect l="l" t="t" r="r" b="b"/>
            <a:pathLst>
              <a:path w="1997869" h="174644">
                <a:moveTo>
                  <a:pt x="0" y="97631"/>
                </a:moveTo>
                <a:cubicBezTo>
                  <a:pt x="15081" y="114498"/>
                  <a:pt x="30163" y="131366"/>
                  <a:pt x="290513" y="142875"/>
                </a:cubicBezTo>
                <a:cubicBezTo>
                  <a:pt x="550863" y="154384"/>
                  <a:pt x="1277541" y="190499"/>
                  <a:pt x="1562100" y="166687"/>
                </a:cubicBezTo>
                <a:cubicBezTo>
                  <a:pt x="1846659" y="142875"/>
                  <a:pt x="1926035" y="30162"/>
                  <a:pt x="1997869" y="0"/>
                </a:cubicBezTo>
              </a:path>
            </a:pathLst>
          </a:custGeom>
          <a:noFill/>
          <a:ln w="28575">
            <a:solidFill>
              <a:srgbClr val="E28189"/>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Freeform 82"/>
          <p:cNvSpPr/>
          <p:nvPr/>
        </p:nvSpPr>
        <p:spPr bwMode="gray">
          <a:xfrm flipV="1">
            <a:off x="8586558" y="4442217"/>
            <a:ext cx="1997869" cy="174644"/>
          </a:xfrm>
          <a:custGeom>
            <a:avLst/>
            <a:gdLst>
              <a:gd name="connsiteX0" fmla="*/ 0 w 1997869"/>
              <a:gd name="connsiteY0" fmla="*/ 97631 h 174644"/>
              <a:gd name="connsiteX1" fmla="*/ 290513 w 1997869"/>
              <a:gd name="connsiteY1" fmla="*/ 142875 h 174644"/>
              <a:gd name="connsiteX2" fmla="*/ 1562100 w 1997869"/>
              <a:gd name="connsiteY2" fmla="*/ 166687 h 174644"/>
              <a:gd name="connsiteX3" fmla="*/ 1997869 w 1997869"/>
              <a:gd name="connsiteY3" fmla="*/ 0 h 174644"/>
            </a:gdLst>
            <a:ahLst/>
            <a:cxnLst>
              <a:cxn ang="0">
                <a:pos x="connsiteX0" y="connsiteY0"/>
              </a:cxn>
              <a:cxn ang="0">
                <a:pos x="connsiteX1" y="connsiteY1"/>
              </a:cxn>
              <a:cxn ang="0">
                <a:pos x="connsiteX2" y="connsiteY2"/>
              </a:cxn>
              <a:cxn ang="0">
                <a:pos x="connsiteX3" y="connsiteY3"/>
              </a:cxn>
            </a:cxnLst>
            <a:rect l="l" t="t" r="r" b="b"/>
            <a:pathLst>
              <a:path w="1997869" h="174644">
                <a:moveTo>
                  <a:pt x="0" y="97631"/>
                </a:moveTo>
                <a:cubicBezTo>
                  <a:pt x="15081" y="114498"/>
                  <a:pt x="30163" y="131366"/>
                  <a:pt x="290513" y="142875"/>
                </a:cubicBezTo>
                <a:cubicBezTo>
                  <a:pt x="550863" y="154384"/>
                  <a:pt x="1277541" y="190499"/>
                  <a:pt x="1562100" y="166687"/>
                </a:cubicBezTo>
                <a:cubicBezTo>
                  <a:pt x="1846659" y="142875"/>
                  <a:pt x="1926035" y="30162"/>
                  <a:pt x="1997869" y="0"/>
                </a:cubicBezTo>
              </a:path>
            </a:pathLst>
          </a:custGeom>
          <a:noFill/>
          <a:ln w="28575">
            <a:solidFill>
              <a:srgbClr val="56C4D2"/>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4" name="Rectangular Callout 26"/>
          <p:cNvSpPr/>
          <p:nvPr/>
        </p:nvSpPr>
        <p:spPr bwMode="gray">
          <a:xfrm>
            <a:off x="7661213" y="2022750"/>
            <a:ext cx="1634849" cy="640423"/>
          </a:xfrm>
          <a:prstGeom prst="wedgeRectCallout">
            <a:avLst>
              <a:gd name="adj1" fmla="val -87729"/>
              <a:gd name="adj2" fmla="val 23376"/>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使用路由策略对特定的</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BGP</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路由添加</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Color</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值（扩展团体属性）</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5" name="Rectangular Callout 26"/>
          <p:cNvSpPr/>
          <p:nvPr/>
        </p:nvSpPr>
        <p:spPr bwMode="gray">
          <a:xfrm>
            <a:off x="5114767" y="3981154"/>
            <a:ext cx="2105642" cy="766115"/>
          </a:xfrm>
          <a:prstGeom prst="wedgeRectCallout">
            <a:avLst>
              <a:gd name="adj1" fmla="val -68821"/>
              <a:gd name="adj2" fmla="val -6031"/>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PE1</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基于报文目标地址与路由下一跳匹配映射策略（</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Color 1000</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），然后基于</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DSCP</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迭代到不同的转发路径。</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6" name="Rounded Rectangle 85"/>
          <p:cNvSpPr/>
          <p:nvPr/>
        </p:nvSpPr>
        <p:spPr bwMode="gray">
          <a:xfrm>
            <a:off x="1465632" y="4031459"/>
            <a:ext cx="1589040" cy="287675"/>
          </a:xfrm>
          <a:prstGeom prst="roundRect">
            <a:avLst/>
          </a:prstGeom>
          <a:solidFill>
            <a:srgbClr val="E28189"/>
          </a:solidFill>
          <a:ln>
            <a:solidFill>
              <a:srgbClr val="E2818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t>DIP:Net1</a:t>
            </a:r>
            <a:r>
              <a:rPr lang="zh-CN" altLang="en-US" sz="1200" dirty="0"/>
              <a:t>，</a:t>
            </a:r>
            <a:r>
              <a:rPr lang="en-US" altLang="zh-CN" sz="1200" dirty="0"/>
              <a:t>DSCP:46</a:t>
            </a:r>
            <a:endParaRPr lang="zh-CN" altLang="en-US" sz="1200" dirty="0"/>
          </a:p>
        </p:txBody>
      </p:sp>
      <p:sp>
        <p:nvSpPr>
          <p:cNvPr id="87" name="Rounded Rectangle 86"/>
          <p:cNvSpPr/>
          <p:nvPr/>
        </p:nvSpPr>
        <p:spPr bwMode="gray">
          <a:xfrm>
            <a:off x="1463109" y="4388325"/>
            <a:ext cx="1591127" cy="288677"/>
          </a:xfrm>
          <a:prstGeom prst="roundRect">
            <a:avLst/>
          </a:prstGeom>
          <a:solidFill>
            <a:srgbClr val="56C4D2"/>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t>DIP:Net1</a:t>
            </a:r>
            <a:r>
              <a:rPr lang="zh-CN" altLang="en-US" sz="1200" dirty="0"/>
              <a:t>，</a:t>
            </a:r>
            <a:r>
              <a:rPr lang="en-US" altLang="zh-CN" sz="1200" dirty="0"/>
              <a:t>DSCP:23</a:t>
            </a:r>
            <a:endParaRPr lang="zh-CN" altLang="en-US" sz="1200" dirty="0"/>
          </a:p>
        </p:txBody>
      </p:sp>
      <p:pic>
        <p:nvPicPr>
          <p:cNvPr id="64" name="图片 14" descr="交换机.png"/>
          <p:cNvPicPr>
            <a:picLocks noChangeAspect="1"/>
          </p:cNvPicPr>
          <p:nvPr/>
        </p:nvPicPr>
        <p:blipFill>
          <a:blip r:embed="rId2" cstate="print"/>
          <a:stretch>
            <a:fillRect/>
          </a:stretch>
        </p:blipFill>
        <p:spPr bwMode="gray">
          <a:xfrm>
            <a:off x="10721789" y="3667179"/>
            <a:ext cx="515973" cy="422158"/>
          </a:xfrm>
          <a:prstGeom prst="rect">
            <a:avLst/>
          </a:prstGeom>
        </p:spPr>
      </p:pic>
      <p:pic>
        <p:nvPicPr>
          <p:cNvPr id="65" name="图片 14" descr="交换机.png"/>
          <p:cNvPicPr>
            <a:picLocks noChangeAspect="1"/>
          </p:cNvPicPr>
          <p:nvPr/>
        </p:nvPicPr>
        <p:blipFill>
          <a:blip r:embed="rId2" cstate="print"/>
          <a:stretch>
            <a:fillRect/>
          </a:stretch>
        </p:blipFill>
        <p:spPr bwMode="gray">
          <a:xfrm>
            <a:off x="10714275" y="4465778"/>
            <a:ext cx="515973" cy="422158"/>
          </a:xfrm>
          <a:prstGeom prst="rect">
            <a:avLst/>
          </a:prstGeom>
        </p:spPr>
      </p:pic>
      <p:sp>
        <p:nvSpPr>
          <p:cNvPr id="66" name="圆角矩形 75"/>
          <p:cNvSpPr/>
          <p:nvPr/>
        </p:nvSpPr>
        <p:spPr bwMode="gray">
          <a:xfrm>
            <a:off x="11070164" y="4557356"/>
            <a:ext cx="697626" cy="245193"/>
          </a:xfrm>
          <a:prstGeom prst="roundRect">
            <a:avLst>
              <a:gd name="adj" fmla="val 10604"/>
            </a:avLst>
          </a:prstGeom>
          <a:solidFill>
            <a:schemeClr val="bg1"/>
          </a:solidFill>
          <a:ln w="127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200" dirty="0">
                <a:solidFill>
                  <a:sysClr val="windowText" lastClr="000000"/>
                </a:solidFill>
                <a:latin typeface="Huawei Sans" panose="020C0503030203020204" pitchFamily="34" charset="0"/>
                <a:ea typeface="方正兰亭黑简体" panose="02000000000000000000" pitchFamily="2" charset="-122"/>
                <a:sym typeface="Huawei Sans" panose="020C0503030203020204" pitchFamily="34" charset="0"/>
              </a:rPr>
              <a:t>HTTP</a:t>
            </a:r>
            <a:r>
              <a:rPr lang="zh-CN" altLang="en-US" sz="1200" dirty="0">
                <a:solidFill>
                  <a:sysClr val="windowText" lastClr="000000"/>
                </a:solidFill>
                <a:latin typeface="Huawei Sans" panose="020C0503030203020204" pitchFamily="34" charset="0"/>
                <a:ea typeface="方正兰亭黑简体" panose="02000000000000000000" pitchFamily="2" charset="-122"/>
                <a:sym typeface="Huawei Sans" panose="020C0503030203020204" pitchFamily="34" charset="0"/>
              </a:rPr>
              <a:t>服务</a:t>
            </a:r>
            <a:endParaRPr lang="zh-CN" altLang="en-US" sz="1200" dirty="0">
              <a:solidFill>
                <a:sysClr val="windowText" lastClr="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7" name="圆角矩形 75"/>
          <p:cNvSpPr/>
          <p:nvPr/>
        </p:nvSpPr>
        <p:spPr bwMode="gray">
          <a:xfrm>
            <a:off x="11072202" y="3755465"/>
            <a:ext cx="697626" cy="245193"/>
          </a:xfrm>
          <a:prstGeom prst="roundRect">
            <a:avLst>
              <a:gd name="adj" fmla="val 10604"/>
            </a:avLst>
          </a:prstGeom>
          <a:solidFill>
            <a:schemeClr val="bg1"/>
          </a:solidFill>
          <a:ln w="127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r>
              <a:rPr lang="en-US" altLang="zh-CN" sz="1200" dirty="0">
                <a:solidFill>
                  <a:sysClr val="windowText" lastClr="000000"/>
                </a:solidFill>
                <a:latin typeface="Huawei Sans" panose="020C0503030203020204" pitchFamily="34" charset="0"/>
                <a:ea typeface="方正兰亭黑简体" panose="02000000000000000000" pitchFamily="2" charset="-122"/>
                <a:sym typeface="Huawei Sans" panose="020C0503030203020204" pitchFamily="34" charset="0"/>
              </a:rPr>
              <a:t>FTP</a:t>
            </a:r>
            <a:r>
              <a:rPr lang="zh-CN" altLang="en-US" sz="1200" dirty="0">
                <a:solidFill>
                  <a:sysClr val="windowText" lastClr="000000"/>
                </a:solidFill>
                <a:latin typeface="Huawei Sans" panose="020C0503030203020204" pitchFamily="34" charset="0"/>
                <a:ea typeface="方正兰亭黑简体" panose="02000000000000000000" pitchFamily="2" charset="-122"/>
                <a:sym typeface="Huawei Sans" panose="020C0503030203020204" pitchFamily="34" charset="0"/>
              </a:rPr>
              <a:t>服务</a:t>
            </a:r>
            <a:endParaRPr lang="zh-CN" altLang="en-US" sz="1200" dirty="0">
              <a:solidFill>
                <a:sysClr val="windowText" lastClr="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6" name="Rectangle: Rounded Corners 35"/>
          <p:cNvSpPr/>
          <p:nvPr/>
        </p:nvSpPr>
        <p:spPr bwMode="gray">
          <a:xfrm>
            <a:off x="1680909" y="5288180"/>
            <a:ext cx="1167458" cy="384761"/>
          </a:xfrm>
          <a:prstGeom prst="roundRect">
            <a:avLst>
              <a:gd name="adj" fmla="val 8002"/>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rPr>
              <a:t>映射策略（</a:t>
            </a:r>
            <a:r>
              <a:rPr lang="en-US" altLang="zh-CN" sz="1200" dirty="0">
                <a:solidFill>
                  <a:schemeClr val="tx1"/>
                </a:solidFill>
              </a:rPr>
              <a:t>Color </a:t>
            </a:r>
            <a:r>
              <a:rPr lang="en-US" altLang="zh-CN" sz="1200" b="1" dirty="0">
                <a:solidFill>
                  <a:srgbClr val="C7000B"/>
                </a:solidFill>
              </a:rPr>
              <a:t>1000</a:t>
            </a:r>
            <a:r>
              <a:rPr lang="zh-CN" altLang="en-US" sz="1200" dirty="0">
                <a:solidFill>
                  <a:schemeClr val="tx1"/>
                </a:solidFill>
              </a:rPr>
              <a:t>）</a:t>
            </a:r>
            <a:endParaRPr lang="en-US" sz="1200" dirty="0">
              <a:solidFill>
                <a:schemeClr val="tx1"/>
              </a:solidFill>
            </a:endParaRPr>
          </a:p>
        </p:txBody>
      </p:sp>
      <p:sp>
        <p:nvSpPr>
          <p:cNvPr id="97" name="Rectangle: Rounded Corners 134"/>
          <p:cNvSpPr/>
          <p:nvPr/>
        </p:nvSpPr>
        <p:spPr bwMode="gray">
          <a:xfrm>
            <a:off x="3586100" y="4963793"/>
            <a:ext cx="1136644" cy="421876"/>
          </a:xfrm>
          <a:prstGeom prst="roundRect">
            <a:avLst>
              <a:gd name="adj" fmla="val 8002"/>
            </a:avLst>
          </a:prstGeom>
          <a:noFill/>
          <a:ln>
            <a:solidFill>
              <a:srgbClr val="E2818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SRv6 Policy 1</a:t>
            </a:r>
            <a:endParaRPr lang="en-US" altLang="zh-CN" sz="1200" dirty="0">
              <a:solidFill>
                <a:schemeClr val="tx1"/>
              </a:solidFill>
            </a:endParaRPr>
          </a:p>
          <a:p>
            <a:pPr algn="ctr"/>
            <a:r>
              <a:rPr lang="en-US" altLang="zh-CN" sz="1200" dirty="0">
                <a:solidFill>
                  <a:schemeClr val="tx1"/>
                </a:solidFill>
              </a:rPr>
              <a:t>(Color </a:t>
            </a:r>
            <a:r>
              <a:rPr lang="en-US" altLang="zh-CN" sz="1200" b="1" dirty="0">
                <a:solidFill>
                  <a:srgbClr val="C7000B"/>
                </a:solidFill>
              </a:rPr>
              <a:t>15</a:t>
            </a:r>
            <a:r>
              <a:rPr lang="zh-CN" altLang="en-US" sz="1200" dirty="0">
                <a:solidFill>
                  <a:schemeClr val="tx1"/>
                </a:solidFill>
              </a:rPr>
              <a:t>）</a:t>
            </a:r>
            <a:endParaRPr lang="en-US" sz="1200" dirty="0">
              <a:solidFill>
                <a:schemeClr val="tx1"/>
              </a:solidFill>
            </a:endParaRPr>
          </a:p>
        </p:txBody>
      </p:sp>
      <p:sp>
        <p:nvSpPr>
          <p:cNvPr id="98" name="Rectangle: Rounded Corners 136"/>
          <p:cNvSpPr/>
          <p:nvPr/>
        </p:nvSpPr>
        <p:spPr bwMode="gray">
          <a:xfrm>
            <a:off x="3586100" y="5626976"/>
            <a:ext cx="1136644" cy="421876"/>
          </a:xfrm>
          <a:prstGeom prst="roundRect">
            <a:avLst>
              <a:gd name="adj" fmla="val 8002"/>
            </a:avLst>
          </a:prstGeom>
          <a:no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SRv6 Policy 2</a:t>
            </a:r>
            <a:r>
              <a:rPr lang="zh-CN" altLang="en-US" sz="1200" dirty="0">
                <a:solidFill>
                  <a:schemeClr val="tx1"/>
                </a:solidFill>
              </a:rPr>
              <a:t>（</a:t>
            </a:r>
            <a:r>
              <a:rPr lang="en-US" altLang="zh-CN" sz="1200" dirty="0">
                <a:solidFill>
                  <a:schemeClr val="tx1"/>
                </a:solidFill>
              </a:rPr>
              <a:t>Color </a:t>
            </a:r>
            <a:r>
              <a:rPr lang="en-US" altLang="zh-CN" sz="1200" b="1" dirty="0">
                <a:solidFill>
                  <a:srgbClr val="C7000B"/>
                </a:solidFill>
              </a:rPr>
              <a:t>20</a:t>
            </a:r>
            <a:r>
              <a:rPr lang="zh-CN" altLang="en-US" sz="1200" dirty="0">
                <a:solidFill>
                  <a:schemeClr val="tx1"/>
                </a:solidFill>
              </a:rPr>
              <a:t>）</a:t>
            </a:r>
            <a:endParaRPr lang="en-US" altLang="zh-CN" sz="1200" dirty="0">
              <a:solidFill>
                <a:schemeClr val="tx1"/>
              </a:solidFill>
            </a:endParaRPr>
          </a:p>
        </p:txBody>
      </p:sp>
      <p:cxnSp>
        <p:nvCxnSpPr>
          <p:cNvPr id="99" name="Straight Arrow Connector 98"/>
          <p:cNvCxnSpPr/>
          <p:nvPr/>
        </p:nvCxnSpPr>
        <p:spPr bwMode="gray">
          <a:xfrm>
            <a:off x="755395" y="5362809"/>
            <a:ext cx="891226" cy="0"/>
          </a:xfrm>
          <a:prstGeom prst="straightConnector1">
            <a:avLst/>
          </a:prstGeom>
          <a:ln w="28575">
            <a:solidFill>
              <a:srgbClr val="E28189"/>
            </a:solidFill>
            <a:tailEnd type="triangle"/>
          </a:ln>
        </p:spPr>
        <p:style>
          <a:lnRef idx="1">
            <a:schemeClr val="accent1"/>
          </a:lnRef>
          <a:fillRef idx="0">
            <a:schemeClr val="accent1"/>
          </a:fillRef>
          <a:effectRef idx="0">
            <a:schemeClr val="accent1"/>
          </a:effectRef>
          <a:fontRef idx="minor">
            <a:schemeClr val="tx1"/>
          </a:fontRef>
        </p:style>
      </p:cxnSp>
      <p:cxnSp>
        <p:nvCxnSpPr>
          <p:cNvPr id="100" name="Straight Arrow Connector 99"/>
          <p:cNvCxnSpPr/>
          <p:nvPr/>
        </p:nvCxnSpPr>
        <p:spPr bwMode="gray">
          <a:xfrm>
            <a:off x="755395" y="5582790"/>
            <a:ext cx="891226" cy="0"/>
          </a:xfrm>
          <a:prstGeom prst="straightConnector1">
            <a:avLst/>
          </a:prstGeom>
          <a:ln w="28575">
            <a:solidFill>
              <a:srgbClr val="56C4D2"/>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Connector: Elbow 45"/>
          <p:cNvCxnSpPr>
            <a:endCxn id="97" idx="1"/>
          </p:cNvCxnSpPr>
          <p:nvPr/>
        </p:nvCxnSpPr>
        <p:spPr bwMode="gray">
          <a:xfrm flipV="1">
            <a:off x="2848367" y="5174731"/>
            <a:ext cx="737733" cy="177964"/>
          </a:xfrm>
          <a:prstGeom prst="bentConnector3">
            <a:avLst/>
          </a:prstGeom>
          <a:ln w="28575">
            <a:solidFill>
              <a:srgbClr val="E28189"/>
            </a:solidFill>
            <a:tailEnd type="triangle"/>
          </a:ln>
        </p:spPr>
        <p:style>
          <a:lnRef idx="1">
            <a:schemeClr val="accent1"/>
          </a:lnRef>
          <a:fillRef idx="0">
            <a:schemeClr val="accent1"/>
          </a:fillRef>
          <a:effectRef idx="0">
            <a:schemeClr val="accent1"/>
          </a:effectRef>
          <a:fontRef idx="minor">
            <a:schemeClr val="tx1"/>
          </a:fontRef>
        </p:style>
      </p:cxnSp>
      <p:cxnSp>
        <p:nvCxnSpPr>
          <p:cNvPr id="102" name="Connector: Elbow 139"/>
          <p:cNvCxnSpPr>
            <a:endCxn id="98" idx="1"/>
          </p:cNvCxnSpPr>
          <p:nvPr/>
        </p:nvCxnSpPr>
        <p:spPr bwMode="gray">
          <a:xfrm>
            <a:off x="2848367" y="5602756"/>
            <a:ext cx="737733" cy="235158"/>
          </a:xfrm>
          <a:prstGeom prst="bentConnector3">
            <a:avLst/>
          </a:prstGeom>
          <a:ln w="28575">
            <a:solidFill>
              <a:srgbClr val="56C4D2"/>
            </a:solidFill>
            <a:tailEnd type="triangle"/>
          </a:ln>
        </p:spPr>
        <p:style>
          <a:lnRef idx="1">
            <a:schemeClr val="accent1"/>
          </a:lnRef>
          <a:fillRef idx="0">
            <a:schemeClr val="accent1"/>
          </a:fillRef>
          <a:effectRef idx="0">
            <a:schemeClr val="accent1"/>
          </a:effectRef>
          <a:fontRef idx="minor">
            <a:schemeClr val="tx1"/>
          </a:fontRef>
        </p:style>
      </p:cxnSp>
      <p:sp>
        <p:nvSpPr>
          <p:cNvPr id="105" name="圆角矩形 75"/>
          <p:cNvSpPr/>
          <p:nvPr/>
        </p:nvSpPr>
        <p:spPr bwMode="gray">
          <a:xfrm>
            <a:off x="668591" y="4910002"/>
            <a:ext cx="4143269" cy="1202721"/>
          </a:xfrm>
          <a:prstGeom prst="roundRect">
            <a:avLst>
              <a:gd name="adj" fmla="val 2420"/>
            </a:avLst>
          </a:prstGeom>
          <a:noFill/>
          <a:ln w="19050" cap="flat" cmpd="sng" algn="ctr">
            <a:solidFill>
              <a:srgbClr val="30B5C5"/>
            </a:solidFill>
            <a:prstDash val="dash"/>
            <a:miter lim="800000"/>
          </a:ln>
          <a:effectLst/>
        </p:spPr>
        <p:txBody>
          <a:bodyPr wrap="square" lIns="108000" tIns="108000" rIns="108000" bIns="108000" rtlCol="0" anchor="t" anchorCtr="0">
            <a:noAutofit/>
          </a:bodyPr>
          <a:lstStyle/>
          <a:p>
            <a:pPr marL="0" marR="0" lvl="0" indent="0" defTabSz="914400" eaLnBrk="1" fontAlgn="ctr" latinLnBrk="0" hangingPunct="1">
              <a:lnSpc>
                <a:spcPts val="1000"/>
              </a:lnSpc>
              <a:spcBef>
                <a:spcPts val="0"/>
              </a:spcBef>
              <a:spcAft>
                <a:spcPts val="300"/>
              </a:spcAft>
              <a:buClrTx/>
              <a:buSzTx/>
              <a:buFontTx/>
              <a:buNone/>
              <a:defRPr/>
            </a:pPr>
            <a:r>
              <a:rPr kumimoji="0" lang="en-US" altLang="zh-CN" sz="1400" b="1" i="0" u="none" strike="noStrike" kern="0" cap="none" spc="0" normalizeH="0" noProof="0" dirty="0">
                <a:ln>
                  <a:noFill/>
                </a:ln>
                <a:solidFill>
                  <a:prstClr val="black"/>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PE1</a:t>
            </a:r>
            <a:endParaRPr kumimoji="0" lang="en-US" altLang="zh-CN" sz="1400" b="1" i="0" u="none" strike="noStrike" kern="0" cap="none" spc="0" normalizeH="0" noProof="0" dirty="0">
              <a:ln>
                <a:noFill/>
              </a:ln>
              <a:solidFill>
                <a:prstClr val="black"/>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21" name="Rounded Rectangle 20"/>
          <p:cNvSpPr/>
          <p:nvPr/>
        </p:nvSpPr>
        <p:spPr bwMode="gray">
          <a:xfrm>
            <a:off x="830994" y="5275104"/>
            <a:ext cx="655965" cy="383865"/>
          </a:xfrm>
          <a:prstGeom prst="roundRect">
            <a:avLst>
              <a:gd name="adj" fmla="val 7362"/>
            </a:avLst>
          </a:prstGeom>
          <a:solidFill>
            <a:schemeClr val="bg1"/>
          </a:solidFill>
          <a:ln w="127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200" dirty="0">
                <a:solidFill>
                  <a:sysClr val="windowText" lastClr="000000"/>
                </a:solidFill>
                <a:latin typeface="Huawei Sans" panose="020C0503030203020204" pitchFamily="34" charset="0"/>
                <a:ea typeface="方正兰亭黑简体" panose="02000000000000000000" pitchFamily="2" charset="-122"/>
              </a:rPr>
              <a:t>目标地址</a:t>
            </a:r>
            <a:endParaRPr lang="en-US" altLang="zh-CN" sz="1200" dirty="0">
              <a:solidFill>
                <a:sysClr val="windowText" lastClr="000000"/>
              </a:solidFill>
              <a:latin typeface="Huawei Sans" panose="020C0503030203020204" pitchFamily="34" charset="0"/>
              <a:ea typeface="方正兰亭黑简体" panose="02000000000000000000" pitchFamily="2" charset="-122"/>
            </a:endParaRPr>
          </a:p>
          <a:p>
            <a:pPr algn="ctr"/>
            <a:r>
              <a:rPr lang="zh-CN" altLang="en-US" sz="1200" dirty="0">
                <a:solidFill>
                  <a:sysClr val="windowText" lastClr="000000"/>
                </a:solidFill>
                <a:latin typeface="Huawei Sans" panose="020C0503030203020204" pitchFamily="34" charset="0"/>
                <a:ea typeface="方正兰亭黑简体" panose="02000000000000000000" pitchFamily="2" charset="-122"/>
              </a:rPr>
              <a:t>下一跳</a:t>
            </a:r>
            <a:endParaRPr lang="zh-CN" altLang="en-US" sz="1200" dirty="0">
              <a:solidFill>
                <a:sysClr val="windowText" lastClr="000000"/>
              </a:solidFill>
              <a:latin typeface="Huawei Sans" panose="020C0503030203020204" pitchFamily="34" charset="0"/>
              <a:ea typeface="方正兰亭黑简体" panose="02000000000000000000" pitchFamily="2" charset="-122"/>
            </a:endParaRPr>
          </a:p>
        </p:txBody>
      </p:sp>
      <p:sp>
        <p:nvSpPr>
          <p:cNvPr id="106" name="Rounded Rectangle 105"/>
          <p:cNvSpPr/>
          <p:nvPr/>
        </p:nvSpPr>
        <p:spPr bwMode="gray">
          <a:xfrm>
            <a:off x="2713424" y="4930877"/>
            <a:ext cx="653810" cy="332836"/>
          </a:xfrm>
          <a:prstGeom prst="roundRect">
            <a:avLst>
              <a:gd name="adj" fmla="val 7362"/>
            </a:avLst>
          </a:prstGeom>
          <a:solidFill>
            <a:schemeClr val="bg1"/>
          </a:solidFill>
          <a:ln w="127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200" dirty="0">
                <a:solidFill>
                  <a:sysClr val="windowText" lastClr="000000"/>
                </a:solidFill>
                <a:latin typeface="Huawei Sans" panose="020C0503030203020204" pitchFamily="34" charset="0"/>
                <a:ea typeface="方正兰亭黑简体" panose="02000000000000000000" pitchFamily="2" charset="-122"/>
              </a:rPr>
              <a:t>DSCP 24</a:t>
            </a:r>
            <a:endParaRPr lang="zh-CN" altLang="en-US" sz="1200" dirty="0">
              <a:solidFill>
                <a:sysClr val="windowText" lastClr="000000"/>
              </a:solidFill>
              <a:latin typeface="Huawei Sans" panose="020C0503030203020204" pitchFamily="34" charset="0"/>
              <a:ea typeface="方正兰亭黑简体" panose="02000000000000000000" pitchFamily="2" charset="-122"/>
            </a:endParaRPr>
          </a:p>
        </p:txBody>
      </p:sp>
      <p:sp>
        <p:nvSpPr>
          <p:cNvPr id="77" name="Rounded Rectangle 76"/>
          <p:cNvSpPr/>
          <p:nvPr/>
        </p:nvSpPr>
        <p:spPr bwMode="gray">
          <a:xfrm>
            <a:off x="2713424" y="5728113"/>
            <a:ext cx="653810" cy="332836"/>
          </a:xfrm>
          <a:prstGeom prst="roundRect">
            <a:avLst>
              <a:gd name="adj" fmla="val 7362"/>
            </a:avLst>
          </a:prstGeom>
          <a:solidFill>
            <a:schemeClr val="bg1"/>
          </a:solidFill>
          <a:ln w="127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200" dirty="0">
                <a:solidFill>
                  <a:sysClr val="windowText" lastClr="000000"/>
                </a:solidFill>
                <a:latin typeface="Huawei Sans" panose="020C0503030203020204" pitchFamily="34" charset="0"/>
                <a:ea typeface="方正兰亭黑简体" panose="02000000000000000000" pitchFamily="2" charset="-122"/>
              </a:rPr>
              <a:t>DSCP 28</a:t>
            </a:r>
            <a:endParaRPr lang="zh-CN" altLang="en-US" sz="1200" dirty="0">
              <a:solidFill>
                <a:sysClr val="windowText" lastClr="000000"/>
              </a:solidFill>
              <a:latin typeface="Huawei Sans" panose="020C0503030203020204" pitchFamily="34" charset="0"/>
              <a:ea typeface="方正兰亭黑简体" panose="02000000000000000000" pitchFamily="2" charset="-122"/>
            </a:endParaRPr>
          </a:p>
        </p:txBody>
      </p:sp>
      <p:sp>
        <p:nvSpPr>
          <p:cNvPr id="88" name="Oval 41"/>
          <p:cNvSpPr>
            <a:spLocks noChangeAspect="1"/>
          </p:cNvSpPr>
          <p:nvPr/>
        </p:nvSpPr>
        <p:spPr bwMode="gray">
          <a:xfrm>
            <a:off x="8603282" y="3920825"/>
            <a:ext cx="159261" cy="159261"/>
          </a:xfrm>
          <a:prstGeom prst="ellipse">
            <a:avLst/>
          </a:prstGeom>
          <a:solidFill>
            <a:srgbClr val="FFC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latin typeface="Huawei Sans" panose="020C0503030203020204" pitchFamily="34" charset="0"/>
              <a:ea typeface="方正兰亭黑简体" panose="02000000000000000000" pitchFamily="2" charset="-122"/>
            </a:endParaRPr>
          </a:p>
        </p:txBody>
      </p:sp>
      <p:sp>
        <p:nvSpPr>
          <p:cNvPr id="89" name="Rectangular Callout 26"/>
          <p:cNvSpPr/>
          <p:nvPr/>
        </p:nvSpPr>
        <p:spPr bwMode="gray">
          <a:xfrm>
            <a:off x="8262464" y="2868222"/>
            <a:ext cx="971623" cy="538968"/>
          </a:xfrm>
          <a:prstGeom prst="wedgeRectCallout">
            <a:avLst>
              <a:gd name="adj1" fmla="val -6421"/>
              <a:gd name="adj2" fmla="val 131842"/>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或在路由出方向部署路由策略</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90" name="Oval 41"/>
          <p:cNvSpPr>
            <a:spLocks noChangeAspect="1"/>
          </p:cNvSpPr>
          <p:nvPr/>
        </p:nvSpPr>
        <p:spPr bwMode="gray">
          <a:xfrm>
            <a:off x="4440492" y="3958634"/>
            <a:ext cx="159261" cy="159261"/>
          </a:xfrm>
          <a:prstGeom prst="ellipse">
            <a:avLst/>
          </a:prstGeom>
          <a:solidFill>
            <a:srgbClr val="FFC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latin typeface="Huawei Sans" panose="020C0503030203020204" pitchFamily="34" charset="0"/>
              <a:ea typeface="方正兰亭黑简体" panose="02000000000000000000" pitchFamily="2" charset="-122"/>
            </a:endParaRPr>
          </a:p>
        </p:txBody>
      </p:sp>
      <p:sp>
        <p:nvSpPr>
          <p:cNvPr id="91" name="Rectangular Callout 26"/>
          <p:cNvSpPr/>
          <p:nvPr/>
        </p:nvSpPr>
        <p:spPr bwMode="gray">
          <a:xfrm>
            <a:off x="3965024" y="2822504"/>
            <a:ext cx="1023391" cy="580648"/>
          </a:xfrm>
          <a:prstGeom prst="wedgeRectCallout">
            <a:avLst>
              <a:gd name="adj1" fmla="val -569"/>
              <a:gd name="adj2" fmla="val 131851"/>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或在路由入方向部署路由策略</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92" name="Rounded Rectangle 91"/>
          <p:cNvSpPr/>
          <p:nvPr/>
        </p:nvSpPr>
        <p:spPr bwMode="gray">
          <a:xfrm>
            <a:off x="1300312" y="2276915"/>
            <a:ext cx="2593507" cy="673422"/>
          </a:xfrm>
          <a:prstGeom prst="roundRect">
            <a:avLst>
              <a:gd name="adj" fmla="val 6322"/>
            </a:avLst>
          </a:prstGeom>
          <a:noFill/>
          <a:ln w="19050">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altLang="zh-CN" sz="1400" dirty="0">
                <a:solidFill>
                  <a:schemeClr val="tx1"/>
                </a:solidFill>
              </a:rPr>
              <a:t>PE1</a:t>
            </a:r>
            <a:endParaRPr lang="zh-CN" altLang="en-US" sz="1400" dirty="0">
              <a:solidFill>
                <a:schemeClr val="tx1"/>
              </a:solidFill>
            </a:endParaRPr>
          </a:p>
        </p:txBody>
      </p:sp>
      <p:sp>
        <p:nvSpPr>
          <p:cNvPr id="93" name="Rounded Rectangle 92"/>
          <p:cNvSpPr/>
          <p:nvPr/>
        </p:nvSpPr>
        <p:spPr bwMode="gray">
          <a:xfrm>
            <a:off x="1438871" y="2563528"/>
            <a:ext cx="664873" cy="251046"/>
          </a:xfrm>
          <a:prstGeom prst="roundRect">
            <a:avLst>
              <a:gd name="adj" fmla="val 6322"/>
            </a:avLst>
          </a:prstGeom>
          <a:noFill/>
          <a:ln>
            <a:solidFill>
              <a:srgbClr val="E28189"/>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rPr>
              <a:t>VRF1</a:t>
            </a:r>
            <a:endParaRPr lang="zh-CN" altLang="en-US" sz="1400" dirty="0">
              <a:solidFill>
                <a:schemeClr val="tx1"/>
              </a:solidFill>
            </a:endParaRPr>
          </a:p>
        </p:txBody>
      </p:sp>
      <p:sp>
        <p:nvSpPr>
          <p:cNvPr id="95" name="Can 41"/>
          <p:cNvSpPr/>
          <p:nvPr/>
        </p:nvSpPr>
        <p:spPr bwMode="gray">
          <a:xfrm rot="5400000">
            <a:off x="3322621" y="2232994"/>
            <a:ext cx="159327" cy="912117"/>
          </a:xfrm>
          <a:prstGeom prst="can">
            <a:avLst>
              <a:gd name="adj" fmla="val 55435"/>
            </a:avLst>
          </a:prstGeom>
          <a:solidFill>
            <a:srgbClr val="E28189"/>
          </a:solidFill>
          <a:ln w="12700">
            <a:solidFill>
              <a:srgbClr val="E2818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04" name="Straight Connector 103"/>
          <p:cNvCxnSpPr>
            <a:stCxn id="93" idx="3"/>
            <a:endCxn id="95" idx="3"/>
          </p:cNvCxnSpPr>
          <p:nvPr/>
        </p:nvCxnSpPr>
        <p:spPr bwMode="gray">
          <a:xfrm>
            <a:off x="2103744" y="2689051"/>
            <a:ext cx="842482" cy="2"/>
          </a:xfrm>
          <a:prstGeom prst="line">
            <a:avLst/>
          </a:prstGeom>
          <a:ln w="19050">
            <a:solidFill>
              <a:srgbClr val="E28189"/>
            </a:solidFill>
          </a:ln>
        </p:spPr>
        <p:style>
          <a:lnRef idx="1">
            <a:schemeClr val="accent1"/>
          </a:lnRef>
          <a:fillRef idx="0">
            <a:schemeClr val="accent1"/>
          </a:fillRef>
          <a:effectRef idx="0">
            <a:schemeClr val="accent1"/>
          </a:effectRef>
          <a:fontRef idx="minor">
            <a:schemeClr val="tx1"/>
          </a:fontRef>
        </p:style>
      </p:cxnSp>
      <p:sp>
        <p:nvSpPr>
          <p:cNvPr id="108" name="TextBox 107"/>
          <p:cNvSpPr txBox="1"/>
          <p:nvPr/>
        </p:nvSpPr>
        <p:spPr bwMode="gray">
          <a:xfrm>
            <a:off x="2879545" y="2545320"/>
            <a:ext cx="973343" cy="276999"/>
          </a:xfrm>
          <a:prstGeom prst="rect">
            <a:avLst/>
          </a:prstGeom>
          <a:noFill/>
        </p:spPr>
        <p:txBody>
          <a:bodyPr wrap="none" rtlCol="0">
            <a:spAutoFit/>
          </a:bodyPr>
          <a:lstStyle/>
          <a:p>
            <a:r>
              <a:rPr lang="en-US" altLang="zh-CN" sz="1200" dirty="0">
                <a:solidFill>
                  <a:schemeClr val="bg1"/>
                </a:solidFill>
              </a:rPr>
              <a:t>SRv6</a:t>
            </a:r>
            <a:r>
              <a:rPr lang="zh-CN" altLang="en-US" sz="1200" dirty="0">
                <a:solidFill>
                  <a:schemeClr val="bg1"/>
                </a:solidFill>
              </a:rPr>
              <a:t> </a:t>
            </a:r>
            <a:r>
              <a:rPr lang="en-US" altLang="zh-CN" sz="1200" dirty="0">
                <a:solidFill>
                  <a:schemeClr val="bg1"/>
                </a:solidFill>
              </a:rPr>
              <a:t>Policy</a:t>
            </a:r>
            <a:endParaRPr lang="zh-CN" altLang="en-US" sz="1200" dirty="0">
              <a:solidFill>
                <a:schemeClr val="bg1"/>
              </a:solidFill>
            </a:endParaRPr>
          </a:p>
        </p:txBody>
      </p:sp>
      <p:sp>
        <p:nvSpPr>
          <p:cNvPr id="110" name="Rounded Rectangle 109"/>
          <p:cNvSpPr/>
          <p:nvPr/>
        </p:nvSpPr>
        <p:spPr bwMode="gray">
          <a:xfrm>
            <a:off x="2204546" y="2559350"/>
            <a:ext cx="608782" cy="251046"/>
          </a:xfrm>
          <a:prstGeom prst="roundRect">
            <a:avLst>
              <a:gd name="adj" fmla="val 6322"/>
            </a:avLst>
          </a:prstGeom>
          <a:solidFill>
            <a:srgbClr val="E28189"/>
          </a:solidFill>
          <a:ln>
            <a:solidFill>
              <a:srgbClr val="E28189"/>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bg1"/>
                </a:solidFill>
              </a:rPr>
              <a:t>1000</a:t>
            </a:r>
            <a:endParaRPr lang="zh-CN" altLang="en-US" sz="1400" dirty="0">
              <a:solidFill>
                <a:schemeClr val="bg1"/>
              </a:solidFill>
            </a:endParaRPr>
          </a:p>
        </p:txBody>
      </p:sp>
      <p:sp>
        <p:nvSpPr>
          <p:cNvPr id="112" name="Rectangular Callout 26"/>
          <p:cNvSpPr/>
          <p:nvPr/>
        </p:nvSpPr>
        <p:spPr bwMode="gray">
          <a:xfrm>
            <a:off x="487058" y="2336278"/>
            <a:ext cx="823693" cy="650500"/>
          </a:xfrm>
          <a:prstGeom prst="wedgeRectCallout">
            <a:avLst>
              <a:gd name="adj1" fmla="val 65943"/>
              <a:gd name="adj2" fmla="val 7149"/>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或指定特定</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VRF</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所属的颜色</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94" name="五边形 2"/>
          <p:cNvSpPr/>
          <p:nvPr/>
        </p:nvSpPr>
        <p:spPr bwMode="gray">
          <a:xfrm>
            <a:off x="8562976" y="110463"/>
            <a:ext cx="1531726"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SRv6 Policy</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路径建立</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3" name="燕尾形 3"/>
          <p:cNvSpPr/>
          <p:nvPr/>
        </p:nvSpPr>
        <p:spPr bwMode="gray">
          <a:xfrm>
            <a:off x="10018141" y="110463"/>
            <a:ext cx="1730947"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SRv6 Policy</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引流</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en-US" altLang="zh-CN" sz="2000" dirty="0">
                <a:solidFill>
                  <a:schemeClr val="bg1">
                    <a:lumMod val="50000"/>
                  </a:schemeClr>
                </a:solidFill>
                <a:sym typeface="Huawei Sans" panose="020C0503030203020204" pitchFamily="34" charset="0"/>
              </a:rPr>
              <a:t>SRv6</a:t>
            </a:r>
            <a:r>
              <a:rPr lang="zh-CN" altLang="en-US" sz="2000" dirty="0">
                <a:solidFill>
                  <a:schemeClr val="bg1">
                    <a:lumMod val="50000"/>
                  </a:schemeClr>
                </a:solidFill>
                <a:sym typeface="Huawei Sans" panose="020C0503030203020204" pitchFamily="34" charset="0"/>
              </a:rPr>
              <a:t>概述</a:t>
            </a:r>
            <a:endParaRPr lang="zh-CN" altLang="en-US" sz="2000" dirty="0">
              <a:solidFill>
                <a:schemeClr val="bg1">
                  <a:lumMod val="50000"/>
                </a:schemeClr>
              </a:solidFill>
              <a:sym typeface="Huawei Sans" panose="020C0503030203020204" pitchFamily="34" charset="0"/>
            </a:endParaRPr>
          </a:p>
          <a:p>
            <a:r>
              <a:rPr lang="en-US" altLang="zh-CN" sz="2000" b="1" dirty="0">
                <a:sym typeface="Huawei Sans" panose="020C0503030203020204" pitchFamily="34" charset="0"/>
              </a:rPr>
              <a:t>SRv6</a:t>
            </a:r>
            <a:r>
              <a:rPr lang="zh-CN" altLang="en-US" sz="2000" b="1" dirty="0">
                <a:sym typeface="Huawei Sans" panose="020C0503030203020204" pitchFamily="34" charset="0"/>
              </a:rPr>
              <a:t>原理</a:t>
            </a:r>
            <a:endParaRPr lang="zh-CN" altLang="en-US" sz="2000" b="1" dirty="0">
              <a:sym typeface="Huawei Sans" panose="020C0503030203020204" pitchFamily="34" charset="0"/>
            </a:endParaRPr>
          </a:p>
          <a:p>
            <a:pPr lvl="1"/>
            <a:r>
              <a:rPr lang="en-US" altLang="zh-CN" sz="1800" dirty="0">
                <a:solidFill>
                  <a:schemeClr val="bg1">
                    <a:lumMod val="50000"/>
                  </a:schemeClr>
                </a:solidFill>
                <a:sym typeface="Huawei Sans" panose="020C0503030203020204" pitchFamily="34" charset="0"/>
              </a:rPr>
              <a:t>SRv6</a:t>
            </a:r>
            <a:r>
              <a:rPr lang="zh-CN" altLang="en-US" sz="1800" dirty="0">
                <a:solidFill>
                  <a:schemeClr val="bg1">
                    <a:lumMod val="50000"/>
                  </a:schemeClr>
                </a:solidFill>
                <a:sym typeface="Huawei Sans" panose="020C0503030203020204" pitchFamily="34" charset="0"/>
              </a:rPr>
              <a:t>基本概念</a:t>
            </a:r>
            <a:endParaRPr lang="en-US" altLang="zh-CN" sz="1800" dirty="0">
              <a:solidFill>
                <a:schemeClr val="bg1">
                  <a:lumMod val="50000"/>
                </a:schemeClr>
              </a:solidFill>
              <a:sym typeface="Huawei Sans" panose="020C0503030203020204" pitchFamily="34" charset="0"/>
            </a:endParaRPr>
          </a:p>
          <a:p>
            <a:pPr lvl="1"/>
            <a:r>
              <a:rPr lang="en-US" altLang="zh-CN" sz="1800" dirty="0">
                <a:solidFill>
                  <a:schemeClr val="bg1">
                    <a:lumMod val="50000"/>
                  </a:schemeClr>
                </a:solidFill>
                <a:sym typeface="Huawei Sans" panose="020C0503030203020204" pitchFamily="34" charset="0"/>
              </a:rPr>
              <a:t>SRv6 Policy</a:t>
            </a:r>
            <a:r>
              <a:rPr lang="zh-CN" altLang="en-US" sz="1800" dirty="0">
                <a:solidFill>
                  <a:schemeClr val="bg1">
                    <a:lumMod val="50000"/>
                  </a:schemeClr>
                </a:solidFill>
                <a:sym typeface="Huawei Sans" panose="020C0503030203020204" pitchFamily="34" charset="0"/>
              </a:rPr>
              <a:t>路径建立与引流</a:t>
            </a:r>
            <a:endParaRPr lang="en-US" altLang="zh-CN" sz="1800" dirty="0">
              <a:solidFill>
                <a:schemeClr val="bg1">
                  <a:lumMod val="50000"/>
                </a:schemeClr>
              </a:solidFill>
              <a:sym typeface="Huawei Sans" panose="020C0503030203020204" pitchFamily="34" charset="0"/>
            </a:endParaRPr>
          </a:p>
          <a:p>
            <a:pPr lvl="1">
              <a:buSzPct val="60000"/>
              <a:buFont typeface="Wingdings" panose="05000000000000000000" pitchFamily="2" charset="2"/>
              <a:buChar char="n"/>
            </a:pPr>
            <a:r>
              <a:rPr lang="en-US" altLang="zh-CN" sz="1800" dirty="0">
                <a:sym typeface="Huawei Sans" panose="020C0503030203020204" pitchFamily="34" charset="0"/>
              </a:rPr>
              <a:t>SRv6</a:t>
            </a:r>
            <a:r>
              <a:rPr lang="zh-CN" altLang="en-US" sz="1800" dirty="0">
                <a:sym typeface="Huawei Sans" panose="020C0503030203020204" pitchFamily="34" charset="0"/>
              </a:rPr>
              <a:t>典型用例</a:t>
            </a:r>
            <a:endParaRPr lang="en-US" altLang="zh-CN" sz="1800" dirty="0">
              <a:sym typeface="Huawei Sans" panose="020C0503030203020204" pitchFamily="34" charset="0"/>
            </a:endParaRPr>
          </a:p>
          <a:p>
            <a:r>
              <a:rPr lang="en-US" altLang="zh-CN" sz="2000" dirty="0">
                <a:solidFill>
                  <a:schemeClr val="bg1">
                    <a:lumMod val="50000"/>
                  </a:schemeClr>
                </a:solidFill>
                <a:sym typeface="Huawei Sans" panose="020C0503030203020204" pitchFamily="34" charset="0"/>
              </a:rPr>
              <a:t>SRv6</a:t>
            </a:r>
            <a:r>
              <a:rPr lang="zh-CN" altLang="en-US" sz="2000" dirty="0">
                <a:solidFill>
                  <a:schemeClr val="bg1">
                    <a:lumMod val="50000"/>
                  </a:schemeClr>
                </a:solidFill>
                <a:sym typeface="Huawei Sans" panose="020C0503030203020204" pitchFamily="34" charset="0"/>
              </a:rPr>
              <a:t>高可靠性</a:t>
            </a:r>
            <a:endParaRPr lang="en-US" altLang="zh-CN" sz="2000" dirty="0">
              <a:solidFill>
                <a:schemeClr val="bg1">
                  <a:lumMod val="50000"/>
                </a:schemeClr>
              </a:solidFill>
              <a:sym typeface="Huawei Sans" panose="020C0503030203020204" pitchFamily="34" charset="0"/>
            </a:endParaRPr>
          </a:p>
          <a:p>
            <a:r>
              <a:rPr lang="en-US" altLang="zh-CN" sz="2000" dirty="0">
                <a:solidFill>
                  <a:schemeClr val="bg1">
                    <a:lumMod val="50000"/>
                  </a:schemeClr>
                </a:solidFill>
                <a:sym typeface="Huawei Sans" panose="020C0503030203020204" pitchFamily="34" charset="0"/>
              </a:rPr>
              <a:t>SRv6</a:t>
            </a:r>
            <a:r>
              <a:rPr lang="zh-CN" altLang="en-US" sz="2000" dirty="0">
                <a:solidFill>
                  <a:schemeClr val="bg1">
                    <a:lumMod val="50000"/>
                  </a:schemeClr>
                </a:solidFill>
                <a:sym typeface="Huawei Sans" panose="020C0503030203020204" pitchFamily="34" charset="0"/>
              </a:rPr>
              <a:t>基础配置</a:t>
            </a:r>
            <a:endParaRPr lang="en-US" altLang="zh-CN" sz="2000" dirty="0">
              <a:solidFill>
                <a:schemeClr val="bg1">
                  <a:lumMod val="50000"/>
                </a:schemeClr>
              </a:solidFill>
              <a:sym typeface="Huawei Sans" panose="020C0503030203020204" pitchFamily="34" charset="0"/>
            </a:endParaRPr>
          </a:p>
          <a:p>
            <a:r>
              <a:rPr lang="zh-CN" altLang="en-US" sz="2000" dirty="0">
                <a:solidFill>
                  <a:schemeClr val="bg1">
                    <a:lumMod val="50000"/>
                  </a:schemeClr>
                </a:solidFill>
                <a:sym typeface="Huawei Sans" panose="020C0503030203020204" pitchFamily="34" charset="0"/>
              </a:rPr>
              <a:t>基于</a:t>
            </a:r>
            <a:r>
              <a:rPr lang="en-US" altLang="zh-CN" sz="2000" dirty="0" err="1">
                <a:solidFill>
                  <a:schemeClr val="bg1">
                    <a:lumMod val="50000"/>
                  </a:schemeClr>
                </a:solidFill>
                <a:sym typeface="Huawei Sans" panose="020C0503030203020204" pitchFamily="34" charset="0"/>
              </a:rPr>
              <a:t>iMaster</a:t>
            </a:r>
            <a:r>
              <a:rPr lang="en-US" altLang="zh-CN" sz="2000" dirty="0">
                <a:solidFill>
                  <a:schemeClr val="bg1">
                    <a:lumMod val="50000"/>
                  </a:schemeClr>
                </a:solidFill>
                <a:sym typeface="Huawei Sans" panose="020C0503030203020204" pitchFamily="34" charset="0"/>
              </a:rPr>
              <a:t> NCE-IP</a:t>
            </a:r>
            <a:r>
              <a:rPr lang="zh-CN" altLang="en-US" sz="2000" dirty="0">
                <a:solidFill>
                  <a:schemeClr val="bg1">
                    <a:lumMod val="50000"/>
                  </a:schemeClr>
                </a:solidFill>
                <a:sym typeface="Huawei Sans" panose="020C0503030203020204" pitchFamily="34" charset="0"/>
              </a:rPr>
              <a:t>部署</a:t>
            </a:r>
            <a:r>
              <a:rPr lang="en-US" altLang="zh-CN" sz="2000" dirty="0">
                <a:solidFill>
                  <a:schemeClr val="bg1">
                    <a:lumMod val="50000"/>
                  </a:schemeClr>
                </a:solidFill>
                <a:sym typeface="Huawei Sans" panose="020C0503030203020204" pitchFamily="34" charset="0"/>
              </a:rPr>
              <a:t>SRv6</a:t>
            </a:r>
            <a:endParaRPr lang="zh-CN" altLang="en-US" sz="2000" dirty="0">
              <a:solidFill>
                <a:schemeClr val="bg1">
                  <a:lumMod val="50000"/>
                </a:schemeClr>
              </a:solidFill>
              <a:sym typeface="Huawei Sans" panose="020C0503030203020204" pitchFamily="34"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矩形 36"/>
          <p:cNvSpPr/>
          <p:nvPr/>
        </p:nvSpPr>
        <p:spPr bwMode="gray">
          <a:xfrm>
            <a:off x="617308" y="2635490"/>
            <a:ext cx="2698614" cy="998104"/>
          </a:xfrm>
          <a:prstGeom prst="ellipse">
            <a:avLst/>
          </a:prstGeom>
          <a:noFill/>
          <a:ln>
            <a:solidFill>
              <a:srgbClr val="56C4D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8" name="矩形 36"/>
          <p:cNvSpPr/>
          <p:nvPr/>
        </p:nvSpPr>
        <p:spPr bwMode="gray">
          <a:xfrm>
            <a:off x="8594614" y="2661971"/>
            <a:ext cx="2698614" cy="998104"/>
          </a:xfrm>
          <a:prstGeom prst="ellipse">
            <a:avLst/>
          </a:prstGeom>
          <a:noFill/>
          <a:ln>
            <a:solidFill>
              <a:srgbClr val="56C4D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9" name="矩形 36"/>
          <p:cNvSpPr/>
          <p:nvPr/>
        </p:nvSpPr>
        <p:spPr bwMode="gray">
          <a:xfrm>
            <a:off x="3388296" y="2195172"/>
            <a:ext cx="5130863" cy="1466589"/>
          </a:xfrm>
          <a:prstGeom prst="roundRect">
            <a:avLst>
              <a:gd name="adj" fmla="val 5979"/>
            </a:avLst>
          </a:prstGeom>
          <a:noFill/>
          <a:ln>
            <a:solidFill>
              <a:srgbClr val="56C4D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 name="标题 1"/>
          <p:cNvSpPr>
            <a:spLocks noGrp="1"/>
          </p:cNvSpPr>
          <p:nvPr>
            <p:ph type="title"/>
          </p:nvPr>
        </p:nvSpPr>
        <p:spPr bwMode="gray"/>
        <p:txBody>
          <a:bodyPr>
            <a:normAutofit/>
          </a:bodyPr>
          <a:lstStyle/>
          <a:p>
            <a:r>
              <a:rPr lang="en-US" altLang="zh-CN" dirty="0">
                <a:sym typeface="Huawei Sans" panose="020C0503030203020204" pitchFamily="34" charset="0"/>
              </a:rPr>
              <a:t>L3VPN Over SRv6 Policy</a:t>
            </a:r>
            <a:endParaRPr lang="zh-CN" altLang="en-US" dirty="0">
              <a:sym typeface="Huawei Sans" panose="020C0503030203020204" pitchFamily="34" charset="0"/>
            </a:endParaRPr>
          </a:p>
        </p:txBody>
      </p:sp>
      <p:sp>
        <p:nvSpPr>
          <p:cNvPr id="36" name="文本占位符 35"/>
          <p:cNvSpPr>
            <a:spLocks noGrp="1"/>
          </p:cNvSpPr>
          <p:nvPr>
            <p:ph type="body" sz="quarter" idx="10"/>
          </p:nvPr>
        </p:nvSpPr>
        <p:spPr bwMode="gray"/>
        <p:txBody>
          <a:bodyPr/>
          <a:lstStyle/>
          <a:p>
            <a:r>
              <a:rPr lang="zh-CN" altLang="en-US" sz="1600" dirty="0">
                <a:sym typeface="Huawei Sans" panose="020C0503030203020204" pitchFamily="34" charset="0"/>
              </a:rPr>
              <a:t>当使用</a:t>
            </a:r>
            <a:r>
              <a:rPr lang="en-US" altLang="zh-CN" sz="1600" dirty="0">
                <a:sym typeface="Huawei Sans" panose="020C0503030203020204" pitchFamily="34" charset="0"/>
              </a:rPr>
              <a:t>SRv6 Policy</a:t>
            </a:r>
            <a:r>
              <a:rPr lang="zh-CN" altLang="en-US" sz="1600" dirty="0">
                <a:sym typeface="Huawei Sans" panose="020C0503030203020204" pitchFamily="34" charset="0"/>
              </a:rPr>
              <a:t>承载</a:t>
            </a:r>
            <a:r>
              <a:rPr lang="en-US" altLang="zh-CN" sz="1600" dirty="0">
                <a:sym typeface="Huawei Sans" panose="020C0503030203020204" pitchFamily="34" charset="0"/>
              </a:rPr>
              <a:t>VPN</a:t>
            </a:r>
            <a:r>
              <a:rPr lang="zh-CN" altLang="en-US" sz="1600" dirty="0">
                <a:sym typeface="Huawei Sans" panose="020C0503030203020204" pitchFamily="34" charset="0"/>
              </a:rPr>
              <a:t>流量时，最末跳</a:t>
            </a:r>
            <a:r>
              <a:rPr lang="en-US" altLang="zh-CN" sz="1600" dirty="0">
                <a:sym typeface="Huawei Sans" panose="020C0503030203020204" pitchFamily="34" charset="0"/>
              </a:rPr>
              <a:t>SRv6</a:t>
            </a:r>
            <a:r>
              <a:rPr lang="zh-CN" altLang="en-US" sz="1600" dirty="0">
                <a:sym typeface="Huawei Sans" panose="020C0503030203020204" pitchFamily="34" charset="0"/>
              </a:rPr>
              <a:t>设备在处理数据时，与普通</a:t>
            </a:r>
            <a:r>
              <a:rPr lang="en-US" altLang="zh-CN" sz="1600" dirty="0">
                <a:sym typeface="Huawei Sans" panose="020C0503030203020204" pitchFamily="34" charset="0"/>
              </a:rPr>
              <a:t>SRv6</a:t>
            </a:r>
            <a:r>
              <a:rPr lang="zh-CN" altLang="en-US" sz="1600" dirty="0">
                <a:sym typeface="Huawei Sans" panose="020C0503030203020204" pitchFamily="34" charset="0"/>
              </a:rPr>
              <a:t>处理数据的方式稍有不同。</a:t>
            </a:r>
            <a:endParaRPr lang="en-US" altLang="zh-CN" sz="1600" dirty="0">
              <a:sym typeface="Huawei Sans" panose="020C0503030203020204" pitchFamily="34" charset="0"/>
            </a:endParaRPr>
          </a:p>
        </p:txBody>
      </p:sp>
      <p:sp>
        <p:nvSpPr>
          <p:cNvPr id="41" name="矩形 123"/>
          <p:cNvSpPr/>
          <p:nvPr/>
        </p:nvSpPr>
        <p:spPr bwMode="gray">
          <a:xfrm>
            <a:off x="3274244" y="3353984"/>
            <a:ext cx="497252"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PE1</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43" name="图片 125"/>
          <p:cNvPicPr/>
          <p:nvPr/>
        </p:nvPicPr>
        <p:blipFill>
          <a:blip r:embed="rId1" cstate="print">
            <a:extLst>
              <a:ext uri="{28A0092B-C50C-407E-A947-70E740481C1C}">
                <a14:useLocalDpi xmlns:a14="http://schemas.microsoft.com/office/drawing/2010/main" val="0"/>
              </a:ext>
            </a:extLst>
          </a:blip>
          <a:stretch>
            <a:fillRect/>
          </a:stretch>
        </p:blipFill>
        <p:spPr bwMode="gray">
          <a:xfrm>
            <a:off x="3254092" y="2915100"/>
            <a:ext cx="540000" cy="442800"/>
          </a:xfrm>
          <a:prstGeom prst="rect">
            <a:avLst/>
          </a:prstGeom>
        </p:spPr>
      </p:pic>
      <p:pic>
        <p:nvPicPr>
          <p:cNvPr id="44" name="图片 127"/>
          <p:cNvPicPr/>
          <p:nvPr/>
        </p:nvPicPr>
        <p:blipFill>
          <a:blip r:embed="rId1" cstate="print">
            <a:extLst>
              <a:ext uri="{28A0092B-C50C-407E-A947-70E740481C1C}">
                <a14:useLocalDpi xmlns:a14="http://schemas.microsoft.com/office/drawing/2010/main" val="0"/>
              </a:ext>
            </a:extLst>
          </a:blip>
          <a:stretch>
            <a:fillRect/>
          </a:stretch>
        </p:blipFill>
        <p:spPr bwMode="gray">
          <a:xfrm>
            <a:off x="1368964" y="2915100"/>
            <a:ext cx="540000" cy="442800"/>
          </a:xfrm>
          <a:prstGeom prst="rect">
            <a:avLst/>
          </a:prstGeom>
        </p:spPr>
      </p:pic>
      <p:sp>
        <p:nvSpPr>
          <p:cNvPr id="45" name="矩形 128"/>
          <p:cNvSpPr/>
          <p:nvPr/>
        </p:nvSpPr>
        <p:spPr bwMode="gray">
          <a:xfrm>
            <a:off x="1393388" y="3353984"/>
            <a:ext cx="502062"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CE1</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 name="矩形 133"/>
          <p:cNvSpPr/>
          <p:nvPr/>
        </p:nvSpPr>
        <p:spPr bwMode="gray">
          <a:xfrm>
            <a:off x="5892555" y="3353984"/>
            <a:ext cx="396262"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P1</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49" name="图片 134"/>
          <p:cNvPicPr/>
          <p:nvPr/>
        </p:nvPicPr>
        <p:blipFill>
          <a:blip r:embed="rId1" cstate="print">
            <a:extLst>
              <a:ext uri="{28A0092B-C50C-407E-A947-70E740481C1C}">
                <a14:useLocalDpi xmlns:a14="http://schemas.microsoft.com/office/drawing/2010/main" val="0"/>
              </a:ext>
            </a:extLst>
          </a:blip>
          <a:stretch>
            <a:fillRect/>
          </a:stretch>
        </p:blipFill>
        <p:spPr bwMode="gray">
          <a:xfrm>
            <a:off x="5826000" y="2915100"/>
            <a:ext cx="540000" cy="442800"/>
          </a:xfrm>
          <a:prstGeom prst="rect">
            <a:avLst/>
          </a:prstGeom>
        </p:spPr>
      </p:pic>
      <p:sp>
        <p:nvSpPr>
          <p:cNvPr id="52" name="矩形 138"/>
          <p:cNvSpPr/>
          <p:nvPr/>
        </p:nvSpPr>
        <p:spPr bwMode="gray">
          <a:xfrm>
            <a:off x="8143049" y="3353984"/>
            <a:ext cx="497252"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PE2</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53" name="图片 139"/>
          <p:cNvPicPr/>
          <p:nvPr/>
        </p:nvPicPr>
        <p:blipFill>
          <a:blip r:embed="rId1" cstate="print">
            <a:extLst>
              <a:ext uri="{28A0092B-C50C-407E-A947-70E740481C1C}">
                <a14:useLocalDpi xmlns:a14="http://schemas.microsoft.com/office/drawing/2010/main" val="0"/>
              </a:ext>
            </a:extLst>
          </a:blip>
          <a:stretch>
            <a:fillRect/>
          </a:stretch>
        </p:blipFill>
        <p:spPr bwMode="gray">
          <a:xfrm>
            <a:off x="8126988" y="2915100"/>
            <a:ext cx="540000" cy="442800"/>
          </a:xfrm>
          <a:prstGeom prst="rect">
            <a:avLst/>
          </a:prstGeom>
        </p:spPr>
      </p:pic>
      <p:pic>
        <p:nvPicPr>
          <p:cNvPr id="54" name="图片 140"/>
          <p:cNvPicPr/>
          <p:nvPr/>
        </p:nvPicPr>
        <p:blipFill>
          <a:blip r:embed="rId1" cstate="print">
            <a:extLst>
              <a:ext uri="{28A0092B-C50C-407E-A947-70E740481C1C}">
                <a14:useLocalDpi xmlns:a14="http://schemas.microsoft.com/office/drawing/2010/main" val="0"/>
              </a:ext>
            </a:extLst>
          </a:blip>
          <a:stretch>
            <a:fillRect/>
          </a:stretch>
        </p:blipFill>
        <p:spPr bwMode="gray">
          <a:xfrm>
            <a:off x="10038074" y="2915100"/>
            <a:ext cx="540000" cy="442800"/>
          </a:xfrm>
          <a:prstGeom prst="rect">
            <a:avLst/>
          </a:prstGeom>
        </p:spPr>
      </p:pic>
      <p:sp>
        <p:nvSpPr>
          <p:cNvPr id="55" name="矩形 141"/>
          <p:cNvSpPr/>
          <p:nvPr/>
        </p:nvSpPr>
        <p:spPr bwMode="gray">
          <a:xfrm>
            <a:off x="10057043" y="3353984"/>
            <a:ext cx="502062"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CE2</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58" name="直接连接符 8"/>
          <p:cNvCxnSpPr>
            <a:stCxn id="44" idx="3"/>
            <a:endCxn id="43" idx="1"/>
          </p:cNvCxnSpPr>
          <p:nvPr/>
        </p:nvCxnSpPr>
        <p:spPr bwMode="gray">
          <a:xfrm>
            <a:off x="1908964" y="3136500"/>
            <a:ext cx="134512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直接连接符 8"/>
          <p:cNvCxnSpPr>
            <a:stCxn id="43" idx="3"/>
            <a:endCxn id="49" idx="1"/>
          </p:cNvCxnSpPr>
          <p:nvPr/>
        </p:nvCxnSpPr>
        <p:spPr bwMode="gray">
          <a:xfrm>
            <a:off x="3794092" y="3136500"/>
            <a:ext cx="203190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直接连接符 8"/>
          <p:cNvCxnSpPr>
            <a:stCxn id="49" idx="3"/>
            <a:endCxn id="53" idx="1"/>
          </p:cNvCxnSpPr>
          <p:nvPr/>
        </p:nvCxnSpPr>
        <p:spPr bwMode="gray">
          <a:xfrm>
            <a:off x="6366000" y="3136500"/>
            <a:ext cx="176098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直接连接符 8"/>
          <p:cNvCxnSpPr>
            <a:stCxn id="53" idx="3"/>
            <a:endCxn id="54" idx="1"/>
          </p:cNvCxnSpPr>
          <p:nvPr/>
        </p:nvCxnSpPr>
        <p:spPr bwMode="gray">
          <a:xfrm>
            <a:off x="8666988" y="3136500"/>
            <a:ext cx="137108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65" name="Freeform 159"/>
          <p:cNvSpPr/>
          <p:nvPr/>
        </p:nvSpPr>
        <p:spPr bwMode="gray">
          <a:xfrm flipH="1">
            <a:off x="4317289" y="2770985"/>
            <a:ext cx="973564" cy="50891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6" name="Freeform 159"/>
          <p:cNvSpPr/>
          <p:nvPr/>
        </p:nvSpPr>
        <p:spPr bwMode="gray">
          <a:xfrm flipH="1">
            <a:off x="6794694" y="2770985"/>
            <a:ext cx="973564" cy="50891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6" name="矩形 142"/>
          <p:cNvSpPr/>
          <p:nvPr/>
        </p:nvSpPr>
        <p:spPr bwMode="gray">
          <a:xfrm>
            <a:off x="8715337" y="2952460"/>
            <a:ext cx="915492" cy="364164"/>
          </a:xfrm>
          <a:prstGeom prst="roundRect">
            <a:avLst>
              <a:gd name="adj" fmla="val 11436"/>
            </a:avLst>
          </a:prstGeom>
          <a:solidFill>
            <a:srgbClr val="FF993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End.DT4</a:t>
            </a:r>
            <a:endPar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FC03::300</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0" name="文本框 59"/>
          <p:cNvSpPr txBox="1"/>
          <p:nvPr/>
        </p:nvSpPr>
        <p:spPr bwMode="gray">
          <a:xfrm>
            <a:off x="648818" y="2982611"/>
            <a:ext cx="655949" cy="307777"/>
          </a:xfrm>
          <a:prstGeom prst="rect">
            <a:avLst/>
          </a:prstGeom>
          <a:noFill/>
        </p:spPr>
        <p:txBody>
          <a:bodyPr wrap="none" rtlCol="0">
            <a:spAutoFit/>
          </a:bodyPr>
          <a:lstStyle/>
          <a:p>
            <a:r>
              <a:rPr lang="en-US" altLang="zh-CN" sz="14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VPNA</a:t>
            </a:r>
            <a:endParaRPr lang="en-US" altLang="zh-CN" sz="14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1" name="文本框 59"/>
          <p:cNvSpPr txBox="1"/>
          <p:nvPr/>
        </p:nvSpPr>
        <p:spPr bwMode="gray">
          <a:xfrm>
            <a:off x="10576446" y="3136500"/>
            <a:ext cx="655949" cy="307777"/>
          </a:xfrm>
          <a:prstGeom prst="rect">
            <a:avLst/>
          </a:prstGeom>
          <a:noFill/>
        </p:spPr>
        <p:txBody>
          <a:bodyPr wrap="none" rtlCol="0">
            <a:spAutoFit/>
          </a:bodyPr>
          <a:lstStyle/>
          <a:p>
            <a:r>
              <a:rPr lang="en-US" altLang="zh-CN" sz="14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VPNA</a:t>
            </a:r>
            <a:endParaRPr lang="en-US" altLang="zh-CN" sz="14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2" name="文本框 59"/>
          <p:cNvSpPr txBox="1"/>
          <p:nvPr/>
        </p:nvSpPr>
        <p:spPr bwMode="gray">
          <a:xfrm>
            <a:off x="5757543" y="2152130"/>
            <a:ext cx="689612" cy="307777"/>
          </a:xfrm>
          <a:prstGeom prst="rect">
            <a:avLst/>
          </a:prstGeom>
          <a:noFill/>
        </p:spPr>
        <p:txBody>
          <a:bodyPr wrap="none" rtlCol="0">
            <a:spAutoFit/>
          </a:bodyPr>
          <a:lstStyle/>
          <a:p>
            <a:r>
              <a:rPr lang="en-US" altLang="zh-CN" sz="14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65000</a:t>
            </a:r>
            <a:endParaRPr lang="en-US" altLang="zh-CN" sz="14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graphicFrame>
        <p:nvGraphicFramePr>
          <p:cNvPr id="74" name="Table 73"/>
          <p:cNvGraphicFramePr>
            <a:graphicFrameLocks noGrp="1"/>
          </p:cNvGraphicFramePr>
          <p:nvPr/>
        </p:nvGraphicFramePr>
        <p:xfrm>
          <a:off x="1889340" y="3678245"/>
          <a:ext cx="1009675" cy="731520"/>
        </p:xfrm>
        <a:graphic>
          <a:graphicData uri="http://schemas.openxmlformats.org/drawingml/2006/table">
            <a:tbl>
              <a:tblPr firstRow="1" bandRow="1">
                <a:tableStyleId>{72833802-FEF1-4C79-8D5D-14CF1EAF98D9}</a:tableStyleId>
              </a:tblPr>
              <a:tblGrid>
                <a:gridCol w="1009675"/>
              </a:tblGrid>
              <a:tr h="370840">
                <a:tc>
                  <a:txBody>
                    <a:bodyPr/>
                    <a:lstStyle/>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DIP</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Net2</a:t>
                      </a:r>
                      <a:endPar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SIP</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CE1</a:t>
                      </a:r>
                      <a:endPar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6C4D2"/>
                    </a:solidFill>
                  </a:tcPr>
                </a:tc>
              </a:tr>
              <a:tr h="0">
                <a:tc>
                  <a:txBody>
                    <a:bodyPr/>
                    <a:lstStyle/>
                    <a:p>
                      <a:pPr algn="ctr"/>
                      <a:r>
                        <a:rPr lang="en-US" altLang="zh-CN" sz="1200" dirty="0">
                          <a:solidFill>
                            <a:schemeClr val="bg1"/>
                          </a:solidFill>
                        </a:rPr>
                        <a:t>Payload</a:t>
                      </a:r>
                      <a:endParaRPr lang="zh-CN" altLang="en-US" sz="1200"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r>
            </a:tbl>
          </a:graphicData>
        </a:graphic>
      </p:graphicFrame>
      <p:cxnSp>
        <p:nvCxnSpPr>
          <p:cNvPr id="77" name="直接箭头连接符 3"/>
          <p:cNvCxnSpPr/>
          <p:nvPr/>
        </p:nvCxnSpPr>
        <p:spPr bwMode="gray">
          <a:xfrm>
            <a:off x="3518724" y="3235445"/>
            <a:ext cx="5109101" cy="0"/>
          </a:xfrm>
          <a:prstGeom prst="straightConnector1">
            <a:avLst/>
          </a:prstGeom>
          <a:ln w="57150">
            <a:solidFill>
              <a:srgbClr val="E28189"/>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78" name="Table 77"/>
          <p:cNvGraphicFramePr>
            <a:graphicFrameLocks noGrp="1"/>
          </p:cNvGraphicFramePr>
          <p:nvPr/>
        </p:nvGraphicFramePr>
        <p:xfrm>
          <a:off x="3780440" y="3679083"/>
          <a:ext cx="1345061" cy="2011680"/>
        </p:xfrm>
        <a:graphic>
          <a:graphicData uri="http://schemas.openxmlformats.org/drawingml/2006/table">
            <a:tbl>
              <a:tblPr firstRow="1" bandRow="1">
                <a:tableStyleId>{72833802-FEF1-4C79-8D5D-14CF1EAF98D9}</a:tableStyleId>
              </a:tblPr>
              <a:tblGrid>
                <a:gridCol w="1345061"/>
              </a:tblGrid>
              <a:tr h="370840">
                <a:tc>
                  <a:txBody>
                    <a:bodyPr/>
                    <a:lstStyle/>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DIPv6</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FC02::2</a:t>
                      </a:r>
                      <a:endPar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SIPv6</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FC01::1</a:t>
                      </a:r>
                      <a:endPar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6C4D2"/>
                    </a:solidFill>
                  </a:tcPr>
                </a:tc>
              </a:tr>
              <a:tr h="725303">
                <a:tc>
                  <a:txBody>
                    <a:bodyPr/>
                    <a:lstStyle/>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SRH</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SL=</a:t>
                      </a: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2</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FC03::300</a:t>
                      </a:r>
                      <a:endPar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FC03::3</a:t>
                      </a:r>
                      <a:endPar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FC02::2</a:t>
                      </a:r>
                      <a:endParaRPr lang="zh-CN" altLang="en-US"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EEEC1"/>
                    </a:solidFill>
                  </a:tcPr>
                </a:tc>
              </a:tr>
              <a:tr h="370840">
                <a:tc>
                  <a:txBody>
                    <a:bodyPr/>
                    <a:lstStyle/>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DIP</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Net2</a:t>
                      </a:r>
                      <a:endPar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SIP</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CE1</a:t>
                      </a:r>
                      <a:endPar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r>
              <a:tr h="0">
                <a:tc>
                  <a:txBody>
                    <a:bodyPr/>
                    <a:lstStyle/>
                    <a:p>
                      <a:pPr algn="ctr"/>
                      <a:r>
                        <a:rPr lang="en-US" altLang="zh-CN" sz="1200" dirty="0">
                          <a:solidFill>
                            <a:schemeClr val="bg1"/>
                          </a:solidFill>
                        </a:rPr>
                        <a:t>Payload</a:t>
                      </a:r>
                      <a:endParaRPr lang="zh-CN" altLang="en-US" sz="1200"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r>
            </a:tbl>
          </a:graphicData>
        </a:graphic>
      </p:graphicFrame>
      <p:graphicFrame>
        <p:nvGraphicFramePr>
          <p:cNvPr id="80" name="Table 79"/>
          <p:cNvGraphicFramePr>
            <a:graphicFrameLocks noGrp="1"/>
          </p:cNvGraphicFramePr>
          <p:nvPr/>
        </p:nvGraphicFramePr>
        <p:xfrm>
          <a:off x="6351154" y="3679083"/>
          <a:ext cx="1345061" cy="2011680"/>
        </p:xfrm>
        <a:graphic>
          <a:graphicData uri="http://schemas.openxmlformats.org/drawingml/2006/table">
            <a:tbl>
              <a:tblPr firstRow="1" bandRow="1">
                <a:tableStyleId>{72833802-FEF1-4C79-8D5D-14CF1EAF98D9}</a:tableStyleId>
              </a:tblPr>
              <a:tblGrid>
                <a:gridCol w="1345061"/>
              </a:tblGrid>
              <a:tr h="370840">
                <a:tc>
                  <a:txBody>
                    <a:bodyPr/>
                    <a:lstStyle/>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DIPv6</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FC03::3</a:t>
                      </a:r>
                      <a:endPar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SIPv6</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FC01::1</a:t>
                      </a:r>
                      <a:endPar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6C4D2"/>
                    </a:solidFill>
                  </a:tcPr>
                </a:tc>
              </a:tr>
              <a:tr h="725303">
                <a:tc>
                  <a:txBody>
                    <a:bodyPr/>
                    <a:lstStyle/>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SRH</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SL=</a:t>
                      </a: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1</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FC03::300</a:t>
                      </a:r>
                      <a:endPar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0" algn="ctr" defTabSz="913765" rtl="0" eaLnBrk="1" latinLnBrk="0" hangingPunct="1"/>
                      <a:r>
                        <a:rPr lang="en-US" altLang="zh-CN" sz="1200" b="1" kern="1200" dirty="0">
                          <a:solidFill>
                            <a:srgbClr val="C7000B"/>
                          </a:solidFill>
                          <a:latin typeface="Huawei Sans" panose="020C0503030203020204" pitchFamily="34" charset="0"/>
                          <a:ea typeface="方正兰亭黑简体" panose="02000000000000000000" pitchFamily="2" charset="-122"/>
                          <a:cs typeface="+mn-cs"/>
                          <a:sym typeface="Huawei Sans" panose="020C0503030203020204" pitchFamily="34" charset="0"/>
                        </a:rPr>
                        <a:t>FC03::3</a:t>
                      </a:r>
                      <a:endParaRPr lang="en-US" altLang="zh-CN" sz="1200" b="1" kern="1200" dirty="0">
                        <a:solidFill>
                          <a:srgbClr val="C7000B"/>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FC02::2</a:t>
                      </a:r>
                      <a:endPar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EEEC1"/>
                    </a:solidFill>
                  </a:tcPr>
                </a:tc>
              </a:tr>
              <a:tr h="370840">
                <a:tc>
                  <a:txBody>
                    <a:bodyPr/>
                    <a:lstStyle/>
                    <a:p>
                      <a:pPr marL="0" marR="0" lvl="0" indent="0" algn="ctr" defTabSz="913765" rtl="0" eaLnBrk="1" fontAlgn="auto" latinLnBrk="0" hangingPunct="1">
                        <a:lnSpc>
                          <a:spcPct val="100000"/>
                        </a:lnSpc>
                        <a:spcBef>
                          <a:spcPts val="0"/>
                        </a:spcBef>
                        <a:spcAft>
                          <a:spcPts val="0"/>
                        </a:spcAft>
                        <a:buClrTx/>
                        <a:buSzTx/>
                        <a:buFontTx/>
                        <a:buNone/>
                        <a:defRPr/>
                      </a:pP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DIP</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Net2</a:t>
                      </a:r>
                      <a:endPar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SIP</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CE1</a:t>
                      </a:r>
                      <a:endPar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r>
              <a:tr h="0">
                <a:tc>
                  <a:txBody>
                    <a:bodyPr/>
                    <a:lstStyle/>
                    <a:p>
                      <a:pPr algn="ctr"/>
                      <a:r>
                        <a:rPr lang="en-US" altLang="zh-CN" sz="1200" dirty="0">
                          <a:solidFill>
                            <a:schemeClr val="bg1"/>
                          </a:solidFill>
                        </a:rPr>
                        <a:t>Payload</a:t>
                      </a:r>
                      <a:endParaRPr lang="zh-CN" altLang="en-US" sz="1200"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r>
            </a:tbl>
          </a:graphicData>
        </a:graphic>
      </p:graphicFrame>
      <p:graphicFrame>
        <p:nvGraphicFramePr>
          <p:cNvPr id="81" name="Table 80"/>
          <p:cNvGraphicFramePr>
            <a:graphicFrameLocks noGrp="1"/>
          </p:cNvGraphicFramePr>
          <p:nvPr/>
        </p:nvGraphicFramePr>
        <p:xfrm>
          <a:off x="7821923" y="3668346"/>
          <a:ext cx="1611805" cy="2011680"/>
        </p:xfrm>
        <a:graphic>
          <a:graphicData uri="http://schemas.openxmlformats.org/drawingml/2006/table">
            <a:tbl>
              <a:tblPr firstRow="1" bandRow="1">
                <a:tableStyleId>{72833802-FEF1-4C79-8D5D-14CF1EAF98D9}</a:tableStyleId>
              </a:tblPr>
              <a:tblGrid>
                <a:gridCol w="1611805"/>
              </a:tblGrid>
              <a:tr h="370840">
                <a:tc>
                  <a:txBody>
                    <a:bodyPr/>
                    <a:lstStyle/>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DIPv6</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FC03::300</a:t>
                      </a:r>
                      <a:endPar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SIPv6</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FC01::1</a:t>
                      </a:r>
                      <a:endPar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6C4D2"/>
                    </a:solidFill>
                  </a:tcPr>
                </a:tc>
              </a:tr>
              <a:tr h="725303">
                <a:tc>
                  <a:txBody>
                    <a:bodyPr/>
                    <a:lstStyle/>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SRH</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SL=</a:t>
                      </a: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0</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0" algn="ctr" defTabSz="913765" rtl="0" eaLnBrk="1" latinLnBrk="0" hangingPunct="1"/>
                      <a:r>
                        <a:rPr lang="en-US" altLang="zh-CN" sz="1200" b="1" kern="1200" dirty="0">
                          <a:solidFill>
                            <a:srgbClr val="C7000B"/>
                          </a:solidFill>
                          <a:latin typeface="Huawei Sans" panose="020C0503030203020204" pitchFamily="34" charset="0"/>
                          <a:ea typeface="方正兰亭黑简体" panose="02000000000000000000" pitchFamily="2" charset="-122"/>
                          <a:cs typeface="+mn-cs"/>
                          <a:sym typeface="Huawei Sans" panose="020C0503030203020204" pitchFamily="34" charset="0"/>
                        </a:rPr>
                        <a:t>FC03::300</a:t>
                      </a:r>
                      <a:endParaRPr lang="en-US" altLang="zh-CN" sz="1200" b="1" kern="1200" dirty="0">
                        <a:solidFill>
                          <a:srgbClr val="C7000B"/>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p>
                      <a:pPr marL="0" algn="ctr" defTabSz="913765" rtl="0" eaLnBrk="1" latinLnBrk="0" hangingPunct="1"/>
                      <a:r>
                        <a:rPr lang="en-US" altLang="zh-CN"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FC03::3</a:t>
                      </a:r>
                      <a:endParaRPr lang="en-US" altLang="zh-CN"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FC02::2</a:t>
                      </a:r>
                      <a:endPar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EEEC1"/>
                    </a:solidFill>
                  </a:tcPr>
                </a:tc>
              </a:tr>
              <a:tr h="370840">
                <a:tc>
                  <a:txBody>
                    <a:bodyPr/>
                    <a:lstStyle/>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DIP</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Net2</a:t>
                      </a:r>
                      <a:endPar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SIP</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CE1</a:t>
                      </a:r>
                      <a:endPar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r>
              <a:tr h="0">
                <a:tc>
                  <a:txBody>
                    <a:bodyPr/>
                    <a:lstStyle/>
                    <a:p>
                      <a:pPr algn="ctr"/>
                      <a:r>
                        <a:rPr lang="en-US" altLang="zh-CN" sz="1200" dirty="0">
                          <a:solidFill>
                            <a:schemeClr val="bg1"/>
                          </a:solidFill>
                        </a:rPr>
                        <a:t>Payload</a:t>
                      </a:r>
                      <a:endParaRPr lang="zh-CN" altLang="en-US" sz="1200"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r>
            </a:tbl>
          </a:graphicData>
        </a:graphic>
      </p:graphicFrame>
      <p:graphicFrame>
        <p:nvGraphicFramePr>
          <p:cNvPr id="82" name="Table 81"/>
          <p:cNvGraphicFramePr>
            <a:graphicFrameLocks noGrp="1"/>
          </p:cNvGraphicFramePr>
          <p:nvPr/>
        </p:nvGraphicFramePr>
        <p:xfrm>
          <a:off x="9523219" y="3661761"/>
          <a:ext cx="1009675" cy="731520"/>
        </p:xfrm>
        <a:graphic>
          <a:graphicData uri="http://schemas.openxmlformats.org/drawingml/2006/table">
            <a:tbl>
              <a:tblPr firstRow="1" bandRow="1">
                <a:tableStyleId>{72833802-FEF1-4C79-8D5D-14CF1EAF98D9}</a:tableStyleId>
              </a:tblPr>
              <a:tblGrid>
                <a:gridCol w="1009675"/>
              </a:tblGrid>
              <a:tr h="370840">
                <a:tc>
                  <a:txBody>
                    <a:bodyPr/>
                    <a:lstStyle/>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DIP</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CE2</a:t>
                      </a:r>
                      <a:endPar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SIP</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CE1</a:t>
                      </a:r>
                      <a:endPar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6C4D2"/>
                    </a:solidFill>
                  </a:tcPr>
                </a:tc>
              </a:tr>
              <a:tr h="0">
                <a:tc>
                  <a:txBody>
                    <a:bodyPr/>
                    <a:lstStyle/>
                    <a:p>
                      <a:pPr algn="ctr"/>
                      <a:r>
                        <a:rPr lang="en-US" altLang="zh-CN" sz="1200" dirty="0">
                          <a:solidFill>
                            <a:schemeClr val="bg1"/>
                          </a:solidFill>
                        </a:rPr>
                        <a:t>Payload</a:t>
                      </a:r>
                      <a:endParaRPr lang="zh-CN" altLang="en-US" sz="1200"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r>
            </a:tbl>
          </a:graphicData>
        </a:graphic>
      </p:graphicFrame>
      <p:cxnSp>
        <p:nvCxnSpPr>
          <p:cNvPr id="85" name="Elbow Connector 84"/>
          <p:cNvCxnSpPr/>
          <p:nvPr/>
        </p:nvCxnSpPr>
        <p:spPr bwMode="gray">
          <a:xfrm>
            <a:off x="2918878" y="4092109"/>
            <a:ext cx="857185" cy="1205098"/>
          </a:xfrm>
          <a:prstGeom prst="bentConnector3">
            <a:avLst>
              <a:gd name="adj1" fmla="val 50000"/>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99" name="Rectangular Callout 26"/>
          <p:cNvSpPr/>
          <p:nvPr/>
        </p:nvSpPr>
        <p:spPr bwMode="gray">
          <a:xfrm>
            <a:off x="1723642" y="4622427"/>
            <a:ext cx="1348277" cy="588952"/>
          </a:xfrm>
          <a:prstGeom prst="wedgeRectCallout">
            <a:avLst>
              <a:gd name="adj1" fmla="val 67232"/>
              <a:gd name="adj2" fmla="val 20831"/>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IP</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报文依据</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Color</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被相应</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SRv6</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 </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Policy</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承载</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08" name="Rectangular Callout 26"/>
          <p:cNvSpPr/>
          <p:nvPr/>
        </p:nvSpPr>
        <p:spPr bwMode="gray">
          <a:xfrm>
            <a:off x="5176065" y="3693237"/>
            <a:ext cx="1162955" cy="435372"/>
          </a:xfrm>
          <a:prstGeom prst="wedgeRectCallout">
            <a:avLst>
              <a:gd name="adj1" fmla="val -60537"/>
              <a:gd name="adj2" fmla="val -25113"/>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基于外层</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IPv6</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头部转发</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09" name="Rectangular Callout 26"/>
          <p:cNvSpPr/>
          <p:nvPr/>
        </p:nvSpPr>
        <p:spPr bwMode="gray">
          <a:xfrm>
            <a:off x="10238232" y="4586642"/>
            <a:ext cx="1162955" cy="624737"/>
          </a:xfrm>
          <a:prstGeom prst="wedgeRectCallout">
            <a:avLst>
              <a:gd name="adj1" fmla="val -60537"/>
              <a:gd name="adj2" fmla="val -25113"/>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剥离外层</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IPv6</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头部，以普通</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IP</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报文转发</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cxnSp>
        <p:nvCxnSpPr>
          <p:cNvPr id="110" name="Elbow Connector 109"/>
          <p:cNvCxnSpPr/>
          <p:nvPr/>
        </p:nvCxnSpPr>
        <p:spPr bwMode="gray">
          <a:xfrm flipV="1">
            <a:off x="9523219" y="4421037"/>
            <a:ext cx="549061" cy="790343"/>
          </a:xfrm>
          <a:prstGeom prst="bentConnector2">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15" name="Rectangular Callout 26"/>
          <p:cNvSpPr/>
          <p:nvPr/>
        </p:nvSpPr>
        <p:spPr bwMode="gray">
          <a:xfrm>
            <a:off x="8185674" y="5723397"/>
            <a:ext cx="1382834" cy="434683"/>
          </a:xfrm>
          <a:prstGeom prst="wedgeRectCallout">
            <a:avLst>
              <a:gd name="adj1" fmla="val -60444"/>
              <a:gd name="adj2" fmla="val -24752"/>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最末跳</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SRv6</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路由器进行两次查表</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 name="Freeform 4"/>
          <p:cNvSpPr/>
          <p:nvPr/>
        </p:nvSpPr>
        <p:spPr bwMode="gray">
          <a:xfrm>
            <a:off x="7466588" y="5708085"/>
            <a:ext cx="660400" cy="204652"/>
          </a:xfrm>
          <a:custGeom>
            <a:avLst/>
            <a:gdLst>
              <a:gd name="connsiteX0" fmla="*/ 0 w 660400"/>
              <a:gd name="connsiteY0" fmla="*/ 0 h 330200"/>
              <a:gd name="connsiteX1" fmla="*/ 336550 w 660400"/>
              <a:gd name="connsiteY1" fmla="*/ 330200 h 330200"/>
              <a:gd name="connsiteX2" fmla="*/ 660400 w 660400"/>
              <a:gd name="connsiteY2" fmla="*/ 0 h 330200"/>
            </a:gdLst>
            <a:ahLst/>
            <a:cxnLst>
              <a:cxn ang="0">
                <a:pos x="connsiteX0" y="connsiteY0"/>
              </a:cxn>
              <a:cxn ang="0">
                <a:pos x="connsiteX1" y="connsiteY1"/>
              </a:cxn>
              <a:cxn ang="0">
                <a:pos x="connsiteX2" y="connsiteY2"/>
              </a:cxn>
            </a:cxnLst>
            <a:rect l="l" t="t" r="r" b="b"/>
            <a:pathLst>
              <a:path w="660400" h="330200">
                <a:moveTo>
                  <a:pt x="0" y="0"/>
                </a:moveTo>
                <a:cubicBezTo>
                  <a:pt x="113241" y="165100"/>
                  <a:pt x="226483" y="330200"/>
                  <a:pt x="336550" y="330200"/>
                </a:cubicBezTo>
                <a:cubicBezTo>
                  <a:pt x="446617" y="330200"/>
                  <a:pt x="553508" y="165100"/>
                  <a:pt x="660400" y="0"/>
                </a:cubicBezTo>
              </a:path>
            </a:pathLst>
          </a:cu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7" name="圆角矩形 59"/>
          <p:cNvSpPr/>
          <p:nvPr/>
        </p:nvSpPr>
        <p:spPr bwMode="gray">
          <a:xfrm>
            <a:off x="3060002" y="2402459"/>
            <a:ext cx="917445" cy="221690"/>
          </a:xfrm>
          <a:prstGeom prst="roundRect">
            <a:avLst>
              <a:gd name="adj" fmla="val 13019"/>
            </a:avLst>
          </a:prstGeom>
          <a:solidFill>
            <a:srgbClr val="D3394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FC01:: /96</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1" name="圆角矩形 59"/>
          <p:cNvSpPr/>
          <p:nvPr/>
        </p:nvSpPr>
        <p:spPr bwMode="gray">
          <a:xfrm>
            <a:off x="3060002" y="2660140"/>
            <a:ext cx="917445" cy="221690"/>
          </a:xfrm>
          <a:prstGeom prst="roundRect">
            <a:avLst>
              <a:gd name="adj" fmla="val 13019"/>
            </a:avLst>
          </a:prstGeom>
          <a:solidFill>
            <a:srgbClr val="56C4D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FC01::1</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3" name="圆角矩形 59"/>
          <p:cNvSpPr/>
          <p:nvPr/>
        </p:nvSpPr>
        <p:spPr bwMode="gray">
          <a:xfrm>
            <a:off x="5616669" y="2402459"/>
            <a:ext cx="917445" cy="221690"/>
          </a:xfrm>
          <a:prstGeom prst="roundRect">
            <a:avLst>
              <a:gd name="adj" fmla="val 13019"/>
            </a:avLst>
          </a:prstGeom>
          <a:solidFill>
            <a:srgbClr val="D3394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FC02:: /96</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4" name="圆角矩形 59"/>
          <p:cNvSpPr/>
          <p:nvPr/>
        </p:nvSpPr>
        <p:spPr bwMode="gray">
          <a:xfrm>
            <a:off x="5616669" y="2660140"/>
            <a:ext cx="917445" cy="221690"/>
          </a:xfrm>
          <a:prstGeom prst="roundRect">
            <a:avLst>
              <a:gd name="adj" fmla="val 13019"/>
            </a:avLst>
          </a:prstGeom>
          <a:solidFill>
            <a:srgbClr val="56C4D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FC02::2</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3" name="圆角矩形 59"/>
          <p:cNvSpPr/>
          <p:nvPr/>
        </p:nvSpPr>
        <p:spPr bwMode="gray">
          <a:xfrm>
            <a:off x="7925052" y="2402459"/>
            <a:ext cx="917445" cy="221690"/>
          </a:xfrm>
          <a:prstGeom prst="roundRect">
            <a:avLst>
              <a:gd name="adj" fmla="val 13019"/>
            </a:avLst>
          </a:prstGeom>
          <a:solidFill>
            <a:srgbClr val="D3394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FC03:: /96</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6" name="圆角矩形 59"/>
          <p:cNvSpPr/>
          <p:nvPr/>
        </p:nvSpPr>
        <p:spPr bwMode="gray">
          <a:xfrm>
            <a:off x="7925052" y="2660140"/>
            <a:ext cx="917445" cy="221690"/>
          </a:xfrm>
          <a:prstGeom prst="roundRect">
            <a:avLst>
              <a:gd name="adj" fmla="val 13019"/>
            </a:avLst>
          </a:prstGeom>
          <a:solidFill>
            <a:srgbClr val="56C4D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FC03::3</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4" name="圆角矩形 59"/>
          <p:cNvSpPr/>
          <p:nvPr/>
        </p:nvSpPr>
        <p:spPr bwMode="gray">
          <a:xfrm>
            <a:off x="9727693" y="5644010"/>
            <a:ext cx="917445" cy="221690"/>
          </a:xfrm>
          <a:prstGeom prst="roundRect">
            <a:avLst>
              <a:gd name="adj" fmla="val 13019"/>
            </a:avLst>
          </a:prstGeom>
          <a:solidFill>
            <a:srgbClr val="D3394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FC01:: /96</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6" name="圆角矩形 59"/>
          <p:cNvSpPr/>
          <p:nvPr/>
        </p:nvSpPr>
        <p:spPr bwMode="gray">
          <a:xfrm>
            <a:off x="9727693" y="5900463"/>
            <a:ext cx="917445" cy="221690"/>
          </a:xfrm>
          <a:prstGeom prst="roundRect">
            <a:avLst>
              <a:gd name="adj" fmla="val 13019"/>
            </a:avLst>
          </a:prstGeom>
          <a:solidFill>
            <a:srgbClr val="56C4D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FC01::1</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7" name="矩形 46"/>
          <p:cNvSpPr/>
          <p:nvPr/>
        </p:nvSpPr>
        <p:spPr bwMode="gray">
          <a:xfrm>
            <a:off x="10628964" y="5621699"/>
            <a:ext cx="708848" cy="276999"/>
          </a:xfrm>
          <a:prstGeom prst="rect">
            <a:avLst/>
          </a:prstGeom>
        </p:spPr>
        <p:txBody>
          <a:bodyPr wrap="none">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Locator</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8" name="矩形 46"/>
          <p:cNvSpPr/>
          <p:nvPr/>
        </p:nvSpPr>
        <p:spPr bwMode="gray">
          <a:xfrm>
            <a:off x="10616943" y="5878495"/>
            <a:ext cx="732894" cy="276999"/>
          </a:xfrm>
          <a:prstGeom prst="rect">
            <a:avLst/>
          </a:prstGeom>
        </p:spPr>
        <p:txBody>
          <a:bodyPr wrap="none">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End SID</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9" name="Freeform 88"/>
          <p:cNvSpPr/>
          <p:nvPr/>
        </p:nvSpPr>
        <p:spPr bwMode="gray">
          <a:xfrm>
            <a:off x="3589037" y="1844424"/>
            <a:ext cx="4752229" cy="524899"/>
          </a:xfrm>
          <a:custGeom>
            <a:avLst/>
            <a:gdLst>
              <a:gd name="connsiteX0" fmla="*/ 3883510 w 3883510"/>
              <a:gd name="connsiteY0" fmla="*/ 1409282 h 1441555"/>
              <a:gd name="connsiteX1" fmla="*/ 1979407 w 3883510"/>
              <a:gd name="connsiteY1" fmla="*/ 30 h 1441555"/>
              <a:gd name="connsiteX2" fmla="*/ 0 w 3883510"/>
              <a:gd name="connsiteY2" fmla="*/ 1441555 h 1441555"/>
            </a:gdLst>
            <a:ahLst/>
            <a:cxnLst>
              <a:cxn ang="0">
                <a:pos x="connsiteX0" y="connsiteY0"/>
              </a:cxn>
              <a:cxn ang="0">
                <a:pos x="connsiteX1" y="connsiteY1"/>
              </a:cxn>
              <a:cxn ang="0">
                <a:pos x="connsiteX2" y="connsiteY2"/>
              </a:cxn>
            </a:cxnLst>
            <a:rect l="l" t="t" r="r" b="b"/>
            <a:pathLst>
              <a:path w="3883510" h="1441555">
                <a:moveTo>
                  <a:pt x="3883510" y="1409282"/>
                </a:moveTo>
                <a:cubicBezTo>
                  <a:pt x="3255084" y="701966"/>
                  <a:pt x="2626659" y="-5349"/>
                  <a:pt x="1979407" y="30"/>
                </a:cubicBezTo>
                <a:cubicBezTo>
                  <a:pt x="1332155" y="5409"/>
                  <a:pt x="666077" y="723482"/>
                  <a:pt x="0" y="1441555"/>
                </a:cubicBezTo>
              </a:path>
            </a:pathLst>
          </a:custGeom>
          <a:noFill/>
          <a:ln w="19050">
            <a:prstDash val="dash"/>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0" name="组合 17"/>
          <p:cNvGrpSpPr/>
          <p:nvPr/>
        </p:nvGrpSpPr>
        <p:grpSpPr bwMode="gray">
          <a:xfrm>
            <a:off x="4729245" y="1419716"/>
            <a:ext cx="2760420" cy="743484"/>
            <a:chOff x="734049" y="2270097"/>
            <a:chExt cx="2760420" cy="475627"/>
          </a:xfrm>
        </p:grpSpPr>
        <p:sp>
          <p:nvSpPr>
            <p:cNvPr id="91" name="矩形: 圆角 52"/>
            <p:cNvSpPr/>
            <p:nvPr/>
          </p:nvSpPr>
          <p:spPr bwMode="gray">
            <a:xfrm>
              <a:off x="734049" y="2270097"/>
              <a:ext cx="2760420" cy="475627"/>
            </a:xfrm>
            <a:prstGeom prst="roundRect">
              <a:avLst>
                <a:gd name="adj" fmla="val 3125"/>
              </a:avLst>
            </a:prstGeom>
            <a:solidFill>
              <a:schemeClr val="bg1"/>
            </a:solidFill>
            <a:ln w="190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ltLang="zh-CN" sz="12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MP-BGP</a:t>
              </a:r>
              <a:r>
                <a:rPr lang="zh-CN" altLang="en-US" sz="12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路由</a:t>
              </a:r>
              <a:endParaRPr lang="zh-CN" altLang="en-US" sz="12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2" name="TextBox 120"/>
            <p:cNvSpPr txBox="1"/>
            <p:nvPr/>
          </p:nvSpPr>
          <p:spPr bwMode="gray">
            <a:xfrm>
              <a:off x="788357" y="2417231"/>
              <a:ext cx="2654486" cy="301052"/>
            </a:xfrm>
            <a:prstGeom prst="roundRect">
              <a:avLst>
                <a:gd name="adj" fmla="val 3880"/>
              </a:avLst>
            </a:prstGeom>
            <a:noFill/>
            <a:ln w="12700">
              <a:solidFill>
                <a:srgbClr val="56C4D2"/>
              </a:solidFill>
            </a:ln>
          </p:spPr>
          <p:txBody>
            <a:bodyPr wrap="square" rtlCol="0" anchor="ctr">
              <a:spAutoFit/>
            </a:bodyPr>
            <a:lstStyle/>
            <a:p>
              <a:r>
                <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Prefix  NHP Ext-Community</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Net2   PE2   </a:t>
              </a: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FC03::300 + 0:15 + RT</a:t>
              </a:r>
              <a:endPar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93" name="Freeform 92"/>
          <p:cNvSpPr/>
          <p:nvPr/>
        </p:nvSpPr>
        <p:spPr bwMode="gray">
          <a:xfrm>
            <a:off x="8882905" y="2535353"/>
            <a:ext cx="1326929" cy="374698"/>
          </a:xfrm>
          <a:custGeom>
            <a:avLst/>
            <a:gdLst>
              <a:gd name="connsiteX0" fmla="*/ 3883510 w 3883510"/>
              <a:gd name="connsiteY0" fmla="*/ 1409282 h 1441555"/>
              <a:gd name="connsiteX1" fmla="*/ 1979407 w 3883510"/>
              <a:gd name="connsiteY1" fmla="*/ 30 h 1441555"/>
              <a:gd name="connsiteX2" fmla="*/ 0 w 3883510"/>
              <a:gd name="connsiteY2" fmla="*/ 1441555 h 1441555"/>
            </a:gdLst>
            <a:ahLst/>
            <a:cxnLst>
              <a:cxn ang="0">
                <a:pos x="connsiteX0" y="connsiteY0"/>
              </a:cxn>
              <a:cxn ang="0">
                <a:pos x="connsiteX1" y="connsiteY1"/>
              </a:cxn>
              <a:cxn ang="0">
                <a:pos x="connsiteX2" y="connsiteY2"/>
              </a:cxn>
            </a:cxnLst>
            <a:rect l="l" t="t" r="r" b="b"/>
            <a:pathLst>
              <a:path w="3883510" h="1441555">
                <a:moveTo>
                  <a:pt x="3883510" y="1409282"/>
                </a:moveTo>
                <a:cubicBezTo>
                  <a:pt x="3255084" y="701966"/>
                  <a:pt x="2626659" y="-5349"/>
                  <a:pt x="1979407" y="30"/>
                </a:cubicBezTo>
                <a:cubicBezTo>
                  <a:pt x="1332155" y="5409"/>
                  <a:pt x="666077" y="723482"/>
                  <a:pt x="0" y="1441555"/>
                </a:cubicBezTo>
              </a:path>
            </a:pathLst>
          </a:custGeom>
          <a:noFill/>
          <a:ln w="19050">
            <a:prstDash val="dash"/>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4" name="组合 17"/>
          <p:cNvGrpSpPr/>
          <p:nvPr/>
        </p:nvGrpSpPr>
        <p:grpSpPr bwMode="gray">
          <a:xfrm>
            <a:off x="9058414" y="1930103"/>
            <a:ext cx="1210060" cy="755373"/>
            <a:chOff x="746169" y="2262490"/>
            <a:chExt cx="1210060" cy="483233"/>
          </a:xfrm>
        </p:grpSpPr>
        <p:sp>
          <p:nvSpPr>
            <p:cNvPr id="95" name="矩形: 圆角 52"/>
            <p:cNvSpPr/>
            <p:nvPr/>
          </p:nvSpPr>
          <p:spPr bwMode="gray">
            <a:xfrm>
              <a:off x="746169" y="2262490"/>
              <a:ext cx="1210060" cy="483233"/>
            </a:xfrm>
            <a:prstGeom prst="roundRect">
              <a:avLst>
                <a:gd name="adj" fmla="val 3125"/>
              </a:avLst>
            </a:prstGeom>
            <a:solidFill>
              <a:schemeClr val="bg1"/>
            </a:solidFill>
            <a:ln w="190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ltLang="zh-CN" sz="12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IGP</a:t>
              </a:r>
              <a:r>
                <a:rPr lang="zh-CN" altLang="en-US" sz="12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路由</a:t>
              </a:r>
              <a:endParaRPr lang="zh-CN" altLang="en-US" sz="12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6" name="TextBox 120"/>
            <p:cNvSpPr txBox="1"/>
            <p:nvPr/>
          </p:nvSpPr>
          <p:spPr bwMode="gray">
            <a:xfrm>
              <a:off x="788358" y="2418648"/>
              <a:ext cx="1112567" cy="301053"/>
            </a:xfrm>
            <a:prstGeom prst="roundRect">
              <a:avLst>
                <a:gd name="adj" fmla="val 3880"/>
              </a:avLst>
            </a:prstGeom>
            <a:noFill/>
            <a:ln w="12700">
              <a:solidFill>
                <a:srgbClr val="56C4D2"/>
              </a:solidFill>
            </a:ln>
          </p:spPr>
          <p:txBody>
            <a:bodyPr wrap="square" rtlCol="0" anchor="ctr">
              <a:spAutoFit/>
            </a:bodyPr>
            <a:lstStyle/>
            <a:p>
              <a:r>
                <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Prefix  NHP</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Net2    CE2</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97" name="Freeform 96"/>
          <p:cNvSpPr/>
          <p:nvPr/>
        </p:nvSpPr>
        <p:spPr bwMode="gray">
          <a:xfrm>
            <a:off x="1762986" y="2541991"/>
            <a:ext cx="1326929" cy="374698"/>
          </a:xfrm>
          <a:custGeom>
            <a:avLst/>
            <a:gdLst>
              <a:gd name="connsiteX0" fmla="*/ 3883510 w 3883510"/>
              <a:gd name="connsiteY0" fmla="*/ 1409282 h 1441555"/>
              <a:gd name="connsiteX1" fmla="*/ 1979407 w 3883510"/>
              <a:gd name="connsiteY1" fmla="*/ 30 h 1441555"/>
              <a:gd name="connsiteX2" fmla="*/ 0 w 3883510"/>
              <a:gd name="connsiteY2" fmla="*/ 1441555 h 1441555"/>
            </a:gdLst>
            <a:ahLst/>
            <a:cxnLst>
              <a:cxn ang="0">
                <a:pos x="connsiteX0" y="connsiteY0"/>
              </a:cxn>
              <a:cxn ang="0">
                <a:pos x="connsiteX1" y="connsiteY1"/>
              </a:cxn>
              <a:cxn ang="0">
                <a:pos x="connsiteX2" y="connsiteY2"/>
              </a:cxn>
            </a:cxnLst>
            <a:rect l="l" t="t" r="r" b="b"/>
            <a:pathLst>
              <a:path w="3883510" h="1441555">
                <a:moveTo>
                  <a:pt x="3883510" y="1409282"/>
                </a:moveTo>
                <a:cubicBezTo>
                  <a:pt x="3255084" y="701966"/>
                  <a:pt x="2626659" y="-5349"/>
                  <a:pt x="1979407" y="30"/>
                </a:cubicBezTo>
                <a:cubicBezTo>
                  <a:pt x="1332155" y="5409"/>
                  <a:pt x="666077" y="723482"/>
                  <a:pt x="0" y="1441555"/>
                </a:cubicBezTo>
              </a:path>
            </a:pathLst>
          </a:custGeom>
          <a:noFill/>
          <a:ln w="19050">
            <a:prstDash val="dash"/>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8" name="组合 17"/>
          <p:cNvGrpSpPr/>
          <p:nvPr/>
        </p:nvGrpSpPr>
        <p:grpSpPr bwMode="gray">
          <a:xfrm>
            <a:off x="1771545" y="1931285"/>
            <a:ext cx="1210060" cy="755373"/>
            <a:chOff x="746169" y="2262490"/>
            <a:chExt cx="1210060" cy="483233"/>
          </a:xfrm>
        </p:grpSpPr>
        <p:sp>
          <p:nvSpPr>
            <p:cNvPr id="100" name="矩形: 圆角 52"/>
            <p:cNvSpPr/>
            <p:nvPr/>
          </p:nvSpPr>
          <p:spPr bwMode="gray">
            <a:xfrm>
              <a:off x="746169" y="2262490"/>
              <a:ext cx="1210060" cy="483233"/>
            </a:xfrm>
            <a:prstGeom prst="roundRect">
              <a:avLst>
                <a:gd name="adj" fmla="val 3125"/>
              </a:avLst>
            </a:prstGeom>
            <a:solidFill>
              <a:schemeClr val="bg1"/>
            </a:solidFill>
            <a:ln w="190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ltLang="zh-CN" sz="12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IGP</a:t>
              </a:r>
              <a:r>
                <a:rPr lang="zh-CN" altLang="en-US" sz="12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路由</a:t>
              </a:r>
              <a:endParaRPr lang="zh-CN" altLang="en-US" sz="12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1" name="TextBox 120"/>
            <p:cNvSpPr txBox="1"/>
            <p:nvPr/>
          </p:nvSpPr>
          <p:spPr bwMode="gray">
            <a:xfrm>
              <a:off x="788358" y="2418648"/>
              <a:ext cx="1112567" cy="301053"/>
            </a:xfrm>
            <a:prstGeom prst="roundRect">
              <a:avLst>
                <a:gd name="adj" fmla="val 3880"/>
              </a:avLst>
            </a:prstGeom>
            <a:noFill/>
            <a:ln w="12700">
              <a:solidFill>
                <a:srgbClr val="56C4D2"/>
              </a:solidFill>
            </a:ln>
          </p:spPr>
          <p:txBody>
            <a:bodyPr wrap="square" rtlCol="0" anchor="ctr">
              <a:spAutoFit/>
            </a:bodyPr>
            <a:lstStyle/>
            <a:p>
              <a:r>
                <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Prefix  NHP</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Net2   PE1</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102" name="Freeform 159"/>
          <p:cNvSpPr/>
          <p:nvPr/>
        </p:nvSpPr>
        <p:spPr bwMode="gray">
          <a:xfrm flipH="1">
            <a:off x="10442957" y="2666488"/>
            <a:ext cx="753503" cy="39387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N</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et2</a:t>
            </a:r>
            <a:endParaRPr 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3" name="矩形 133"/>
          <p:cNvSpPr/>
          <p:nvPr/>
        </p:nvSpPr>
        <p:spPr bwMode="gray">
          <a:xfrm>
            <a:off x="4967470" y="3231959"/>
            <a:ext cx="907621" cy="307777"/>
          </a:xfrm>
          <a:prstGeom prst="rect">
            <a:avLst/>
          </a:prstGeom>
        </p:spPr>
        <p:txBody>
          <a:bodyPr wrap="none">
            <a:spAutoFit/>
          </a:bodyPr>
          <a:lstStyle/>
          <a:p>
            <a:pPr algn="ctr"/>
            <a:r>
              <a:rPr lang="en-US" altLang="zh-CN" sz="14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Color 15</a:t>
            </a:r>
            <a:endParaRPr lang="zh-CN" altLang="en-US" sz="14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r>
              <a:rPr lang="en-US" altLang="zh-CN" dirty="0">
                <a:sym typeface="Huawei Sans" panose="020C0503030203020204" pitchFamily="34" charset="0"/>
              </a:rPr>
              <a:t>L3VPN Over SRv6 BE</a:t>
            </a:r>
            <a:endParaRPr lang="zh-CN" altLang="en-US" dirty="0">
              <a:sym typeface="Huawei Sans" panose="020C0503030203020204" pitchFamily="34" charset="0"/>
            </a:endParaRPr>
          </a:p>
        </p:txBody>
      </p:sp>
      <p:sp>
        <p:nvSpPr>
          <p:cNvPr id="36" name="文本占位符 35"/>
          <p:cNvSpPr>
            <a:spLocks noGrp="1"/>
          </p:cNvSpPr>
          <p:nvPr>
            <p:ph type="body" sz="quarter" idx="10"/>
          </p:nvPr>
        </p:nvSpPr>
        <p:spPr bwMode="gray"/>
        <p:txBody>
          <a:bodyPr/>
          <a:lstStyle/>
          <a:p>
            <a:r>
              <a:rPr lang="en-US" altLang="zh-CN" sz="1600" dirty="0">
                <a:sym typeface="Huawei Sans" panose="020C0503030203020204" pitchFamily="34" charset="0"/>
              </a:rPr>
              <a:t>SRv6 BE</a:t>
            </a:r>
            <a:r>
              <a:rPr lang="zh-CN" altLang="en-US" sz="1600" dirty="0">
                <a:sym typeface="Huawei Sans" panose="020C0503030203020204" pitchFamily="34" charset="0"/>
              </a:rPr>
              <a:t>（</a:t>
            </a:r>
            <a:r>
              <a:rPr lang="en-US" altLang="zh-CN" sz="1600" dirty="0">
                <a:sym typeface="Huawei Sans" panose="020C0503030203020204" pitchFamily="34" charset="0"/>
              </a:rPr>
              <a:t>Best Effort</a:t>
            </a:r>
            <a:r>
              <a:rPr lang="zh-CN" altLang="en-US" sz="1600" dirty="0">
                <a:sym typeface="Huawei Sans" panose="020C0503030203020204" pitchFamily="34" charset="0"/>
              </a:rPr>
              <a:t>）承载</a:t>
            </a:r>
            <a:r>
              <a:rPr lang="en-US" altLang="zh-CN" sz="1600" dirty="0">
                <a:sym typeface="Huawei Sans" panose="020C0503030203020204" pitchFamily="34" charset="0"/>
              </a:rPr>
              <a:t>VPN</a:t>
            </a:r>
            <a:r>
              <a:rPr lang="zh-CN" altLang="en-US" sz="1600" dirty="0">
                <a:sym typeface="Huawei Sans" panose="020C0503030203020204" pitchFamily="34" charset="0"/>
              </a:rPr>
              <a:t>流量时，</a:t>
            </a:r>
            <a:r>
              <a:rPr lang="en-US" altLang="zh-CN" sz="1600" dirty="0">
                <a:sym typeface="Huawei Sans" panose="020C0503030203020204" pitchFamily="34" charset="0"/>
              </a:rPr>
              <a:t>PE</a:t>
            </a:r>
            <a:r>
              <a:rPr lang="zh-CN" altLang="en-US" sz="1600" dirty="0">
                <a:sym typeface="Huawei Sans" panose="020C0503030203020204" pitchFamily="34" charset="0"/>
              </a:rPr>
              <a:t>之间的</a:t>
            </a:r>
            <a:r>
              <a:rPr lang="en-US" altLang="zh-CN" sz="1600" dirty="0">
                <a:sym typeface="Huawei Sans" panose="020C0503030203020204" pitchFamily="34" charset="0"/>
              </a:rPr>
              <a:t>P</a:t>
            </a:r>
            <a:r>
              <a:rPr lang="zh-CN" altLang="en-US" sz="1600" dirty="0">
                <a:sym typeface="Huawei Sans" panose="020C0503030203020204" pitchFamily="34" charset="0"/>
              </a:rPr>
              <a:t>设备不作为</a:t>
            </a:r>
            <a:r>
              <a:rPr lang="en-US" altLang="zh-CN" sz="1600" dirty="0">
                <a:sym typeface="Huawei Sans" panose="020C0503030203020204" pitchFamily="34" charset="0"/>
              </a:rPr>
              <a:t>Endpoint</a:t>
            </a:r>
            <a:r>
              <a:rPr lang="zh-CN" altLang="en-US" sz="1600" dirty="0">
                <a:sym typeface="Huawei Sans" panose="020C0503030203020204" pitchFamily="34" charset="0"/>
              </a:rPr>
              <a:t>节点使用。</a:t>
            </a:r>
            <a:endParaRPr lang="en-US" altLang="zh-CN" sz="1600" dirty="0">
              <a:sym typeface="Huawei Sans" panose="020C0503030203020204" pitchFamily="34" charset="0"/>
            </a:endParaRPr>
          </a:p>
        </p:txBody>
      </p:sp>
      <p:sp>
        <p:nvSpPr>
          <p:cNvPr id="7" name="矩形 36"/>
          <p:cNvSpPr/>
          <p:nvPr/>
        </p:nvSpPr>
        <p:spPr bwMode="gray">
          <a:xfrm>
            <a:off x="617308" y="3218337"/>
            <a:ext cx="2698614" cy="998104"/>
          </a:xfrm>
          <a:prstGeom prst="ellipse">
            <a:avLst/>
          </a:prstGeom>
          <a:noFill/>
          <a:ln>
            <a:solidFill>
              <a:srgbClr val="56C4D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 name="矩形 36"/>
          <p:cNvSpPr/>
          <p:nvPr/>
        </p:nvSpPr>
        <p:spPr bwMode="gray">
          <a:xfrm>
            <a:off x="8594614" y="3244818"/>
            <a:ext cx="2698614" cy="998104"/>
          </a:xfrm>
          <a:prstGeom prst="ellipse">
            <a:avLst/>
          </a:prstGeom>
          <a:noFill/>
          <a:ln>
            <a:solidFill>
              <a:srgbClr val="56C4D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 name="矩形 36"/>
          <p:cNvSpPr/>
          <p:nvPr/>
        </p:nvSpPr>
        <p:spPr bwMode="gray">
          <a:xfrm>
            <a:off x="3388296" y="2621163"/>
            <a:ext cx="5130863" cy="1623445"/>
          </a:xfrm>
          <a:prstGeom prst="roundRect">
            <a:avLst>
              <a:gd name="adj" fmla="val 5979"/>
            </a:avLst>
          </a:prstGeom>
          <a:noFill/>
          <a:ln>
            <a:solidFill>
              <a:srgbClr val="56C4D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 name="矩形 123"/>
          <p:cNvSpPr/>
          <p:nvPr/>
        </p:nvSpPr>
        <p:spPr bwMode="gray">
          <a:xfrm>
            <a:off x="3274244" y="3936831"/>
            <a:ext cx="497252"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PE1</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2" name="图片 125"/>
          <p:cNvPicPr/>
          <p:nvPr/>
        </p:nvPicPr>
        <p:blipFill>
          <a:blip r:embed="rId1" cstate="print">
            <a:extLst>
              <a:ext uri="{28A0092B-C50C-407E-A947-70E740481C1C}">
                <a14:useLocalDpi xmlns:a14="http://schemas.microsoft.com/office/drawing/2010/main" val="0"/>
              </a:ext>
            </a:extLst>
          </a:blip>
          <a:stretch>
            <a:fillRect/>
          </a:stretch>
        </p:blipFill>
        <p:spPr bwMode="gray">
          <a:xfrm>
            <a:off x="3254092" y="3497947"/>
            <a:ext cx="540000" cy="442800"/>
          </a:xfrm>
          <a:prstGeom prst="rect">
            <a:avLst/>
          </a:prstGeom>
        </p:spPr>
      </p:pic>
      <p:pic>
        <p:nvPicPr>
          <p:cNvPr id="13" name="图片 127"/>
          <p:cNvPicPr/>
          <p:nvPr/>
        </p:nvPicPr>
        <p:blipFill>
          <a:blip r:embed="rId1" cstate="print">
            <a:extLst>
              <a:ext uri="{28A0092B-C50C-407E-A947-70E740481C1C}">
                <a14:useLocalDpi xmlns:a14="http://schemas.microsoft.com/office/drawing/2010/main" val="0"/>
              </a:ext>
            </a:extLst>
          </a:blip>
          <a:stretch>
            <a:fillRect/>
          </a:stretch>
        </p:blipFill>
        <p:spPr bwMode="gray">
          <a:xfrm>
            <a:off x="1368964" y="3497947"/>
            <a:ext cx="540000" cy="442800"/>
          </a:xfrm>
          <a:prstGeom prst="rect">
            <a:avLst/>
          </a:prstGeom>
        </p:spPr>
      </p:pic>
      <p:sp>
        <p:nvSpPr>
          <p:cNvPr id="14" name="矩形 128"/>
          <p:cNvSpPr/>
          <p:nvPr/>
        </p:nvSpPr>
        <p:spPr bwMode="gray">
          <a:xfrm>
            <a:off x="1393388" y="3936831"/>
            <a:ext cx="502062"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CE1</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 name="矩形 133"/>
          <p:cNvSpPr/>
          <p:nvPr/>
        </p:nvSpPr>
        <p:spPr bwMode="gray">
          <a:xfrm>
            <a:off x="5892555" y="3936831"/>
            <a:ext cx="396262"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P1</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6" name="图片 134"/>
          <p:cNvPicPr/>
          <p:nvPr/>
        </p:nvPicPr>
        <p:blipFill>
          <a:blip r:embed="rId1" cstate="print">
            <a:extLst>
              <a:ext uri="{28A0092B-C50C-407E-A947-70E740481C1C}">
                <a14:useLocalDpi xmlns:a14="http://schemas.microsoft.com/office/drawing/2010/main" val="0"/>
              </a:ext>
            </a:extLst>
          </a:blip>
          <a:stretch>
            <a:fillRect/>
          </a:stretch>
        </p:blipFill>
        <p:spPr bwMode="gray">
          <a:xfrm>
            <a:off x="5826000" y="3497947"/>
            <a:ext cx="540000" cy="442800"/>
          </a:xfrm>
          <a:prstGeom prst="rect">
            <a:avLst/>
          </a:prstGeom>
        </p:spPr>
      </p:pic>
      <p:sp>
        <p:nvSpPr>
          <p:cNvPr id="19" name="矩形 138"/>
          <p:cNvSpPr/>
          <p:nvPr/>
        </p:nvSpPr>
        <p:spPr bwMode="gray">
          <a:xfrm>
            <a:off x="8143049" y="3936831"/>
            <a:ext cx="497252"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PE2</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0" name="图片 139"/>
          <p:cNvPicPr/>
          <p:nvPr/>
        </p:nvPicPr>
        <p:blipFill>
          <a:blip r:embed="rId1" cstate="print">
            <a:extLst>
              <a:ext uri="{28A0092B-C50C-407E-A947-70E740481C1C}">
                <a14:useLocalDpi xmlns:a14="http://schemas.microsoft.com/office/drawing/2010/main" val="0"/>
              </a:ext>
            </a:extLst>
          </a:blip>
          <a:stretch>
            <a:fillRect/>
          </a:stretch>
        </p:blipFill>
        <p:spPr bwMode="gray">
          <a:xfrm>
            <a:off x="8126988" y="3497947"/>
            <a:ext cx="540000" cy="442800"/>
          </a:xfrm>
          <a:prstGeom prst="rect">
            <a:avLst/>
          </a:prstGeom>
        </p:spPr>
      </p:pic>
      <p:pic>
        <p:nvPicPr>
          <p:cNvPr id="21" name="图片 140"/>
          <p:cNvPicPr/>
          <p:nvPr/>
        </p:nvPicPr>
        <p:blipFill>
          <a:blip r:embed="rId1" cstate="print">
            <a:extLst>
              <a:ext uri="{28A0092B-C50C-407E-A947-70E740481C1C}">
                <a14:useLocalDpi xmlns:a14="http://schemas.microsoft.com/office/drawing/2010/main" val="0"/>
              </a:ext>
            </a:extLst>
          </a:blip>
          <a:stretch>
            <a:fillRect/>
          </a:stretch>
        </p:blipFill>
        <p:spPr bwMode="gray">
          <a:xfrm>
            <a:off x="10038074" y="3497947"/>
            <a:ext cx="540000" cy="442800"/>
          </a:xfrm>
          <a:prstGeom prst="rect">
            <a:avLst/>
          </a:prstGeom>
        </p:spPr>
      </p:pic>
      <p:sp>
        <p:nvSpPr>
          <p:cNvPr id="22" name="矩形 141"/>
          <p:cNvSpPr/>
          <p:nvPr/>
        </p:nvSpPr>
        <p:spPr bwMode="gray">
          <a:xfrm>
            <a:off x="10057043" y="3936831"/>
            <a:ext cx="502062"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CE2</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3" name="直接连接符 8"/>
          <p:cNvCxnSpPr>
            <a:stCxn id="13" idx="3"/>
            <a:endCxn id="12" idx="1"/>
          </p:cNvCxnSpPr>
          <p:nvPr/>
        </p:nvCxnSpPr>
        <p:spPr bwMode="gray">
          <a:xfrm>
            <a:off x="1908964" y="3719347"/>
            <a:ext cx="134512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直接连接符 8"/>
          <p:cNvCxnSpPr>
            <a:stCxn id="12" idx="3"/>
            <a:endCxn id="16" idx="1"/>
          </p:cNvCxnSpPr>
          <p:nvPr/>
        </p:nvCxnSpPr>
        <p:spPr bwMode="gray">
          <a:xfrm>
            <a:off x="3794092" y="3719347"/>
            <a:ext cx="203190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直接连接符 8"/>
          <p:cNvCxnSpPr>
            <a:stCxn id="16" idx="3"/>
            <a:endCxn id="20" idx="1"/>
          </p:cNvCxnSpPr>
          <p:nvPr/>
        </p:nvCxnSpPr>
        <p:spPr bwMode="gray">
          <a:xfrm>
            <a:off x="6366000" y="3719347"/>
            <a:ext cx="176098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直接连接符 8"/>
          <p:cNvCxnSpPr>
            <a:stCxn id="20" idx="3"/>
            <a:endCxn id="21" idx="1"/>
          </p:cNvCxnSpPr>
          <p:nvPr/>
        </p:nvCxnSpPr>
        <p:spPr bwMode="gray">
          <a:xfrm>
            <a:off x="8666988" y="3719347"/>
            <a:ext cx="137108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Freeform 159"/>
          <p:cNvSpPr/>
          <p:nvPr/>
        </p:nvSpPr>
        <p:spPr bwMode="gray">
          <a:xfrm flipH="1">
            <a:off x="4317289" y="3353832"/>
            <a:ext cx="973564" cy="50891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Freeform 159"/>
          <p:cNvSpPr/>
          <p:nvPr/>
        </p:nvSpPr>
        <p:spPr bwMode="gray">
          <a:xfrm flipH="1">
            <a:off x="6794694" y="3353832"/>
            <a:ext cx="973564" cy="50891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矩形 142"/>
          <p:cNvSpPr/>
          <p:nvPr/>
        </p:nvSpPr>
        <p:spPr bwMode="gray">
          <a:xfrm>
            <a:off x="8715375" y="3535045"/>
            <a:ext cx="1316355" cy="363855"/>
          </a:xfrm>
          <a:prstGeom prst="roundRect">
            <a:avLst>
              <a:gd name="adj" fmla="val 11436"/>
            </a:avLst>
          </a:prstGeom>
          <a:solidFill>
            <a:srgbClr val="FF993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End.DT4</a:t>
            </a:r>
            <a:endPar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FC03::300</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 name="文本框 59"/>
          <p:cNvSpPr txBox="1"/>
          <p:nvPr/>
        </p:nvSpPr>
        <p:spPr bwMode="gray">
          <a:xfrm>
            <a:off x="664110" y="3565458"/>
            <a:ext cx="655949" cy="307777"/>
          </a:xfrm>
          <a:prstGeom prst="rect">
            <a:avLst/>
          </a:prstGeom>
          <a:noFill/>
        </p:spPr>
        <p:txBody>
          <a:bodyPr wrap="none" rtlCol="0">
            <a:spAutoFit/>
          </a:bodyPr>
          <a:lstStyle/>
          <a:p>
            <a:r>
              <a:rPr lang="en-US" altLang="zh-CN" sz="14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VPNA</a:t>
            </a:r>
            <a:endParaRPr lang="en-US" altLang="zh-CN" sz="14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 name="文本框 59"/>
          <p:cNvSpPr txBox="1"/>
          <p:nvPr/>
        </p:nvSpPr>
        <p:spPr bwMode="gray">
          <a:xfrm>
            <a:off x="10552765" y="3696340"/>
            <a:ext cx="655949" cy="307777"/>
          </a:xfrm>
          <a:prstGeom prst="rect">
            <a:avLst/>
          </a:prstGeom>
          <a:noFill/>
        </p:spPr>
        <p:txBody>
          <a:bodyPr wrap="none" rtlCol="0">
            <a:spAutoFit/>
          </a:bodyPr>
          <a:lstStyle/>
          <a:p>
            <a:r>
              <a:rPr lang="en-US" altLang="zh-CN" sz="14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VPNA</a:t>
            </a:r>
            <a:endParaRPr lang="en-US" altLang="zh-CN" sz="14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文本框 59"/>
          <p:cNvSpPr txBox="1"/>
          <p:nvPr/>
        </p:nvSpPr>
        <p:spPr bwMode="gray">
          <a:xfrm>
            <a:off x="5745879" y="2616526"/>
            <a:ext cx="689612" cy="307777"/>
          </a:xfrm>
          <a:prstGeom prst="rect">
            <a:avLst/>
          </a:prstGeom>
          <a:noFill/>
        </p:spPr>
        <p:txBody>
          <a:bodyPr wrap="none" rtlCol="0">
            <a:spAutoFit/>
          </a:bodyPr>
          <a:lstStyle/>
          <a:p>
            <a:r>
              <a:rPr lang="en-US" altLang="zh-CN" sz="14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65000</a:t>
            </a:r>
            <a:endParaRPr lang="en-US" altLang="zh-CN" sz="14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graphicFrame>
        <p:nvGraphicFramePr>
          <p:cNvPr id="33" name="Table 32"/>
          <p:cNvGraphicFramePr>
            <a:graphicFrameLocks noGrp="1"/>
          </p:cNvGraphicFramePr>
          <p:nvPr/>
        </p:nvGraphicFramePr>
        <p:xfrm>
          <a:off x="1889340" y="4261092"/>
          <a:ext cx="1009675" cy="731520"/>
        </p:xfrm>
        <a:graphic>
          <a:graphicData uri="http://schemas.openxmlformats.org/drawingml/2006/table">
            <a:tbl>
              <a:tblPr firstRow="1" bandRow="1">
                <a:tableStyleId>{72833802-FEF1-4C79-8D5D-14CF1EAF98D9}</a:tableStyleId>
              </a:tblPr>
              <a:tblGrid>
                <a:gridCol w="1009675"/>
              </a:tblGrid>
              <a:tr h="370840">
                <a:tc>
                  <a:txBody>
                    <a:bodyPr/>
                    <a:lstStyle/>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DIP</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Net2</a:t>
                      </a:r>
                      <a:endPar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SIP</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CE1</a:t>
                      </a:r>
                      <a:endPar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6C4D2"/>
                    </a:solidFill>
                  </a:tcPr>
                </a:tc>
              </a:tr>
              <a:tr h="0">
                <a:tc>
                  <a:txBody>
                    <a:bodyPr/>
                    <a:lstStyle/>
                    <a:p>
                      <a:pPr algn="ctr"/>
                      <a:r>
                        <a:rPr lang="en-US" altLang="zh-CN" sz="1200" dirty="0">
                          <a:solidFill>
                            <a:schemeClr val="bg1"/>
                          </a:solidFill>
                        </a:rPr>
                        <a:t>Payload</a:t>
                      </a:r>
                      <a:endParaRPr lang="zh-CN" altLang="en-US" sz="1200"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r>
            </a:tbl>
          </a:graphicData>
        </a:graphic>
      </p:graphicFrame>
      <p:cxnSp>
        <p:nvCxnSpPr>
          <p:cNvPr id="37" name="直接箭头连接符 3"/>
          <p:cNvCxnSpPr/>
          <p:nvPr/>
        </p:nvCxnSpPr>
        <p:spPr bwMode="gray">
          <a:xfrm>
            <a:off x="1908964" y="3818292"/>
            <a:ext cx="554836" cy="0"/>
          </a:xfrm>
          <a:prstGeom prst="straightConnector1">
            <a:avLst/>
          </a:prstGeom>
          <a:ln w="28575">
            <a:solidFill>
              <a:srgbClr val="56C4D2"/>
            </a:solidFill>
            <a:tailEnd type="triangle"/>
          </a:ln>
        </p:spPr>
        <p:style>
          <a:lnRef idx="1">
            <a:schemeClr val="accent1"/>
          </a:lnRef>
          <a:fillRef idx="0">
            <a:schemeClr val="accent1"/>
          </a:fillRef>
          <a:effectRef idx="0">
            <a:schemeClr val="accent1"/>
          </a:effectRef>
          <a:fontRef idx="minor">
            <a:schemeClr val="tx1"/>
          </a:fontRef>
        </p:style>
      </p:cxnSp>
      <p:cxnSp>
        <p:nvCxnSpPr>
          <p:cNvPr id="38" name="直接箭头连接符 3"/>
          <p:cNvCxnSpPr/>
          <p:nvPr/>
        </p:nvCxnSpPr>
        <p:spPr bwMode="gray">
          <a:xfrm>
            <a:off x="3794092" y="3818292"/>
            <a:ext cx="554836" cy="0"/>
          </a:xfrm>
          <a:prstGeom prst="straightConnector1">
            <a:avLst/>
          </a:prstGeom>
          <a:ln w="28575">
            <a:solidFill>
              <a:srgbClr val="56C4D2"/>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39" name="Table 38"/>
          <p:cNvGraphicFramePr>
            <a:graphicFrameLocks noGrp="1"/>
          </p:cNvGraphicFramePr>
          <p:nvPr/>
        </p:nvGraphicFramePr>
        <p:xfrm>
          <a:off x="3780440" y="4261930"/>
          <a:ext cx="1510413" cy="1188720"/>
        </p:xfrm>
        <a:graphic>
          <a:graphicData uri="http://schemas.openxmlformats.org/drawingml/2006/table">
            <a:tbl>
              <a:tblPr firstRow="1" bandRow="1">
                <a:tableStyleId>{72833802-FEF1-4C79-8D5D-14CF1EAF98D9}</a:tableStyleId>
              </a:tblPr>
              <a:tblGrid>
                <a:gridCol w="1510413"/>
              </a:tblGrid>
              <a:tr h="370840">
                <a:tc>
                  <a:txBody>
                    <a:bodyPr/>
                    <a:lstStyle/>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DIPv6</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FC03::300</a:t>
                      </a:r>
                      <a:endPar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SIPv6</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FC01::1</a:t>
                      </a:r>
                      <a:endPar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6C4D2"/>
                    </a:solidFill>
                  </a:tcPr>
                </a:tc>
              </a:tr>
              <a:tr h="370840">
                <a:tc>
                  <a:txBody>
                    <a:bodyPr/>
                    <a:lstStyle/>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DIP</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Net2</a:t>
                      </a:r>
                      <a:endPar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SIP</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CE1</a:t>
                      </a:r>
                      <a:endPar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r>
              <a:tr h="0">
                <a:tc>
                  <a:txBody>
                    <a:bodyPr/>
                    <a:lstStyle/>
                    <a:p>
                      <a:pPr algn="ctr"/>
                      <a:r>
                        <a:rPr lang="en-US" altLang="zh-CN" sz="1200" dirty="0">
                          <a:solidFill>
                            <a:schemeClr val="bg1"/>
                          </a:solidFill>
                        </a:rPr>
                        <a:t>Payload</a:t>
                      </a:r>
                      <a:endParaRPr lang="zh-CN" altLang="en-US" sz="1200"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r>
            </a:tbl>
          </a:graphicData>
        </a:graphic>
      </p:graphicFrame>
      <p:cxnSp>
        <p:nvCxnSpPr>
          <p:cNvPr id="40" name="直接箭头连接符 3"/>
          <p:cNvCxnSpPr/>
          <p:nvPr/>
        </p:nvCxnSpPr>
        <p:spPr bwMode="gray">
          <a:xfrm>
            <a:off x="6364806" y="3818292"/>
            <a:ext cx="554836" cy="0"/>
          </a:xfrm>
          <a:prstGeom prst="straightConnector1">
            <a:avLst/>
          </a:prstGeom>
          <a:ln w="28575">
            <a:solidFill>
              <a:srgbClr val="56C4D2"/>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43" name="Table 42"/>
          <p:cNvGraphicFramePr>
            <a:graphicFrameLocks noGrp="1"/>
          </p:cNvGraphicFramePr>
          <p:nvPr/>
        </p:nvGraphicFramePr>
        <p:xfrm>
          <a:off x="8715337" y="4264208"/>
          <a:ext cx="1009675" cy="731520"/>
        </p:xfrm>
        <a:graphic>
          <a:graphicData uri="http://schemas.openxmlformats.org/drawingml/2006/table">
            <a:tbl>
              <a:tblPr firstRow="1" bandRow="1">
                <a:tableStyleId>{72833802-FEF1-4C79-8D5D-14CF1EAF98D9}</a:tableStyleId>
              </a:tblPr>
              <a:tblGrid>
                <a:gridCol w="1009675"/>
              </a:tblGrid>
              <a:tr h="370840">
                <a:tc>
                  <a:txBody>
                    <a:bodyPr/>
                    <a:lstStyle/>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DIP</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Net2</a:t>
                      </a:r>
                      <a:endPar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SIP</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CE1</a:t>
                      </a:r>
                      <a:endPar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6C4D2"/>
                    </a:solidFill>
                  </a:tcPr>
                </a:tc>
              </a:tr>
              <a:tr h="0">
                <a:tc>
                  <a:txBody>
                    <a:bodyPr/>
                    <a:lstStyle/>
                    <a:p>
                      <a:pPr algn="ctr"/>
                      <a:r>
                        <a:rPr lang="en-US" altLang="zh-CN" sz="1200" dirty="0">
                          <a:solidFill>
                            <a:schemeClr val="bg1"/>
                          </a:solidFill>
                        </a:rPr>
                        <a:t>Payload</a:t>
                      </a:r>
                      <a:endParaRPr lang="zh-CN" altLang="en-US" sz="1200"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r>
            </a:tbl>
          </a:graphicData>
        </a:graphic>
      </p:graphicFrame>
      <p:cxnSp>
        <p:nvCxnSpPr>
          <p:cNvPr id="44" name="直接箭头连接符 3"/>
          <p:cNvCxnSpPr/>
          <p:nvPr/>
        </p:nvCxnSpPr>
        <p:spPr bwMode="gray">
          <a:xfrm>
            <a:off x="8715337" y="3941044"/>
            <a:ext cx="554836" cy="0"/>
          </a:xfrm>
          <a:prstGeom prst="straightConnector1">
            <a:avLst/>
          </a:prstGeom>
          <a:ln w="28575">
            <a:solidFill>
              <a:srgbClr val="56C4D2"/>
            </a:solidFill>
            <a:tailEnd type="triangle"/>
          </a:ln>
        </p:spPr>
        <p:style>
          <a:lnRef idx="1">
            <a:schemeClr val="accent1"/>
          </a:lnRef>
          <a:fillRef idx="0">
            <a:schemeClr val="accent1"/>
          </a:fillRef>
          <a:effectRef idx="0">
            <a:schemeClr val="accent1"/>
          </a:effectRef>
          <a:fontRef idx="minor">
            <a:schemeClr val="tx1"/>
          </a:fontRef>
        </p:style>
      </p:cxnSp>
      <p:cxnSp>
        <p:nvCxnSpPr>
          <p:cNvPr id="45" name="Elbow Connector 44"/>
          <p:cNvCxnSpPr/>
          <p:nvPr/>
        </p:nvCxnSpPr>
        <p:spPr bwMode="gray">
          <a:xfrm>
            <a:off x="2918878" y="4674956"/>
            <a:ext cx="852618" cy="328928"/>
          </a:xfrm>
          <a:prstGeom prst="bentConnector3">
            <a:avLst>
              <a:gd name="adj1" fmla="val 50000"/>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6" name="Rectangular Callout 26"/>
          <p:cNvSpPr/>
          <p:nvPr/>
        </p:nvSpPr>
        <p:spPr bwMode="gray">
          <a:xfrm>
            <a:off x="1912620" y="5186680"/>
            <a:ext cx="1408430" cy="435610"/>
          </a:xfrm>
          <a:prstGeom prst="wedgeRectCallout">
            <a:avLst>
              <a:gd name="adj1" fmla="val 45031"/>
              <a:gd name="adj2" fmla="val -100244"/>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IP</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报文被</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SRv6 Policy</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承载</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8" name="Rectangular Callout 26"/>
          <p:cNvSpPr/>
          <p:nvPr/>
        </p:nvSpPr>
        <p:spPr bwMode="gray">
          <a:xfrm>
            <a:off x="8125460" y="5186680"/>
            <a:ext cx="1504950" cy="711835"/>
          </a:xfrm>
          <a:prstGeom prst="wedgeRectCallout">
            <a:avLst>
              <a:gd name="adj1" fmla="val -38423"/>
              <a:gd name="adj2" fmla="val -83049"/>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数据到达</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PE2</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后剥离外层</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IPv6</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头部，以普通</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IP</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报文转发</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cxnSp>
        <p:nvCxnSpPr>
          <p:cNvPr id="49" name="Elbow Connector 48"/>
          <p:cNvCxnSpPr>
            <a:endCxn id="43" idx="1"/>
          </p:cNvCxnSpPr>
          <p:nvPr/>
        </p:nvCxnSpPr>
        <p:spPr bwMode="gray">
          <a:xfrm flipV="1">
            <a:off x="7902648" y="4629968"/>
            <a:ext cx="812689" cy="392056"/>
          </a:xfrm>
          <a:prstGeom prst="bentConnector3">
            <a:avLst>
              <a:gd name="adj1" fmla="val 50000"/>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51" name="Table 50"/>
          <p:cNvGraphicFramePr>
            <a:graphicFrameLocks noGrp="1"/>
          </p:cNvGraphicFramePr>
          <p:nvPr/>
        </p:nvGraphicFramePr>
        <p:xfrm>
          <a:off x="6376174" y="4261930"/>
          <a:ext cx="1510413" cy="1188720"/>
        </p:xfrm>
        <a:graphic>
          <a:graphicData uri="http://schemas.openxmlformats.org/drawingml/2006/table">
            <a:tbl>
              <a:tblPr firstRow="1" bandRow="1">
                <a:tableStyleId>{72833802-FEF1-4C79-8D5D-14CF1EAF98D9}</a:tableStyleId>
              </a:tblPr>
              <a:tblGrid>
                <a:gridCol w="1510413"/>
              </a:tblGrid>
              <a:tr h="370840">
                <a:tc>
                  <a:txBody>
                    <a:bodyPr/>
                    <a:lstStyle/>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DIPv6</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FC03::300</a:t>
                      </a:r>
                      <a:endPar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SIPv6</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FC01::1</a:t>
                      </a:r>
                      <a:endPar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6C4D2"/>
                    </a:solidFill>
                  </a:tcPr>
                </a:tc>
              </a:tr>
              <a:tr h="370840">
                <a:tc>
                  <a:txBody>
                    <a:bodyPr/>
                    <a:lstStyle/>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DIP</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Net2</a:t>
                      </a:r>
                      <a:endPar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SIP</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CE1</a:t>
                      </a:r>
                      <a:endPar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r>
              <a:tr h="0">
                <a:tc>
                  <a:txBody>
                    <a:bodyPr/>
                    <a:lstStyle/>
                    <a:p>
                      <a:pPr algn="ctr"/>
                      <a:r>
                        <a:rPr lang="en-US" altLang="zh-CN" sz="1200" dirty="0">
                          <a:solidFill>
                            <a:schemeClr val="bg1"/>
                          </a:solidFill>
                        </a:rPr>
                        <a:t>Payload</a:t>
                      </a:r>
                      <a:endParaRPr lang="zh-CN" altLang="en-US" sz="1200"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r>
            </a:tbl>
          </a:graphicData>
        </a:graphic>
      </p:graphicFrame>
      <p:sp>
        <p:nvSpPr>
          <p:cNvPr id="47" name="Rectangular Callout 26"/>
          <p:cNvSpPr/>
          <p:nvPr/>
        </p:nvSpPr>
        <p:spPr bwMode="gray">
          <a:xfrm>
            <a:off x="5145531" y="4586046"/>
            <a:ext cx="1162955" cy="435372"/>
          </a:xfrm>
          <a:prstGeom prst="wedgeRectCallout">
            <a:avLst>
              <a:gd name="adj1" fmla="val -49071"/>
              <a:gd name="adj2" fmla="val -95122"/>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基于外层</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IPv6</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头部转发</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0" name="圆角矩形 59"/>
          <p:cNvSpPr/>
          <p:nvPr/>
        </p:nvSpPr>
        <p:spPr bwMode="gray">
          <a:xfrm>
            <a:off x="9719310" y="5448300"/>
            <a:ext cx="1226820" cy="221615"/>
          </a:xfrm>
          <a:prstGeom prst="roundRect">
            <a:avLst>
              <a:gd name="adj" fmla="val 13019"/>
            </a:avLst>
          </a:prstGeom>
          <a:solidFill>
            <a:srgbClr val="D3394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FC01:: /96</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2" name="圆角矩形 59"/>
          <p:cNvSpPr/>
          <p:nvPr/>
        </p:nvSpPr>
        <p:spPr bwMode="gray">
          <a:xfrm>
            <a:off x="10028601" y="5743864"/>
            <a:ext cx="917445" cy="221690"/>
          </a:xfrm>
          <a:prstGeom prst="roundRect">
            <a:avLst>
              <a:gd name="adj" fmla="val 13019"/>
            </a:avLst>
          </a:prstGeom>
          <a:solidFill>
            <a:srgbClr val="56C4D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FC01::1</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3" name="矩形 46"/>
          <p:cNvSpPr/>
          <p:nvPr/>
        </p:nvSpPr>
        <p:spPr bwMode="gray">
          <a:xfrm>
            <a:off x="10929872" y="5425772"/>
            <a:ext cx="708848" cy="276999"/>
          </a:xfrm>
          <a:prstGeom prst="rect">
            <a:avLst/>
          </a:prstGeom>
        </p:spPr>
        <p:txBody>
          <a:bodyPr wrap="none">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Locator</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4" name="矩形 46"/>
          <p:cNvSpPr/>
          <p:nvPr/>
        </p:nvSpPr>
        <p:spPr bwMode="gray">
          <a:xfrm>
            <a:off x="10917851" y="5721896"/>
            <a:ext cx="732894" cy="276999"/>
          </a:xfrm>
          <a:prstGeom prst="rect">
            <a:avLst/>
          </a:prstGeom>
        </p:spPr>
        <p:txBody>
          <a:bodyPr wrap="none">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End SID</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5" name="圆角矩形 59"/>
          <p:cNvSpPr/>
          <p:nvPr/>
        </p:nvSpPr>
        <p:spPr bwMode="gray">
          <a:xfrm>
            <a:off x="3075305" y="2983230"/>
            <a:ext cx="1261110" cy="221615"/>
          </a:xfrm>
          <a:prstGeom prst="roundRect">
            <a:avLst>
              <a:gd name="adj" fmla="val 13019"/>
            </a:avLst>
          </a:prstGeom>
          <a:solidFill>
            <a:srgbClr val="D3394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FC01:: /96</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6" name="圆角矩形 59"/>
          <p:cNvSpPr/>
          <p:nvPr/>
        </p:nvSpPr>
        <p:spPr bwMode="gray">
          <a:xfrm>
            <a:off x="3075604" y="3241131"/>
            <a:ext cx="917445" cy="221690"/>
          </a:xfrm>
          <a:prstGeom prst="roundRect">
            <a:avLst>
              <a:gd name="adj" fmla="val 13019"/>
            </a:avLst>
          </a:prstGeom>
          <a:solidFill>
            <a:srgbClr val="56C4D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FC01::1</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7" name="圆角矩形 59"/>
          <p:cNvSpPr/>
          <p:nvPr/>
        </p:nvSpPr>
        <p:spPr bwMode="gray">
          <a:xfrm>
            <a:off x="5664835" y="2983230"/>
            <a:ext cx="1129665" cy="221615"/>
          </a:xfrm>
          <a:prstGeom prst="roundRect">
            <a:avLst>
              <a:gd name="adj" fmla="val 13019"/>
            </a:avLst>
          </a:prstGeom>
          <a:solidFill>
            <a:srgbClr val="D3394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FC02:: /96</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8" name="圆角矩形 59"/>
          <p:cNvSpPr/>
          <p:nvPr/>
        </p:nvSpPr>
        <p:spPr bwMode="gray">
          <a:xfrm>
            <a:off x="5659246" y="3241131"/>
            <a:ext cx="917445" cy="221690"/>
          </a:xfrm>
          <a:prstGeom prst="roundRect">
            <a:avLst>
              <a:gd name="adj" fmla="val 13019"/>
            </a:avLst>
          </a:prstGeom>
          <a:solidFill>
            <a:srgbClr val="56C4D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FC02::2</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9" name="圆角矩形 59"/>
          <p:cNvSpPr/>
          <p:nvPr/>
        </p:nvSpPr>
        <p:spPr bwMode="gray">
          <a:xfrm>
            <a:off x="7760335" y="2983230"/>
            <a:ext cx="1075690" cy="221615"/>
          </a:xfrm>
          <a:prstGeom prst="roundRect">
            <a:avLst>
              <a:gd name="adj" fmla="val 13019"/>
            </a:avLst>
          </a:prstGeom>
          <a:solidFill>
            <a:srgbClr val="D3394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FC03:: /96</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0" name="圆角矩形 59"/>
          <p:cNvSpPr/>
          <p:nvPr/>
        </p:nvSpPr>
        <p:spPr bwMode="gray">
          <a:xfrm>
            <a:off x="7918403" y="3241131"/>
            <a:ext cx="917445" cy="221690"/>
          </a:xfrm>
          <a:prstGeom prst="roundRect">
            <a:avLst>
              <a:gd name="adj" fmla="val 13019"/>
            </a:avLst>
          </a:prstGeom>
          <a:solidFill>
            <a:srgbClr val="56C4D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FC03::3</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3" name="Freeform 62"/>
          <p:cNvSpPr/>
          <p:nvPr/>
        </p:nvSpPr>
        <p:spPr bwMode="gray">
          <a:xfrm>
            <a:off x="3556763" y="2411534"/>
            <a:ext cx="4752229" cy="524899"/>
          </a:xfrm>
          <a:custGeom>
            <a:avLst/>
            <a:gdLst>
              <a:gd name="connsiteX0" fmla="*/ 3883510 w 3883510"/>
              <a:gd name="connsiteY0" fmla="*/ 1409282 h 1441555"/>
              <a:gd name="connsiteX1" fmla="*/ 1979407 w 3883510"/>
              <a:gd name="connsiteY1" fmla="*/ 30 h 1441555"/>
              <a:gd name="connsiteX2" fmla="*/ 0 w 3883510"/>
              <a:gd name="connsiteY2" fmla="*/ 1441555 h 1441555"/>
            </a:gdLst>
            <a:ahLst/>
            <a:cxnLst>
              <a:cxn ang="0">
                <a:pos x="connsiteX0" y="connsiteY0"/>
              </a:cxn>
              <a:cxn ang="0">
                <a:pos x="connsiteX1" y="connsiteY1"/>
              </a:cxn>
              <a:cxn ang="0">
                <a:pos x="connsiteX2" y="connsiteY2"/>
              </a:cxn>
            </a:cxnLst>
            <a:rect l="l" t="t" r="r" b="b"/>
            <a:pathLst>
              <a:path w="3883510" h="1441555">
                <a:moveTo>
                  <a:pt x="3883510" y="1409282"/>
                </a:moveTo>
                <a:cubicBezTo>
                  <a:pt x="3255084" y="701966"/>
                  <a:pt x="2626659" y="-5349"/>
                  <a:pt x="1979407" y="30"/>
                </a:cubicBezTo>
                <a:cubicBezTo>
                  <a:pt x="1332155" y="5409"/>
                  <a:pt x="666077" y="723482"/>
                  <a:pt x="0" y="1441555"/>
                </a:cubicBezTo>
              </a:path>
            </a:pathLst>
          </a:custGeom>
          <a:noFill/>
          <a:ln w="19050">
            <a:prstDash val="dash"/>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4" name="组合 17"/>
          <p:cNvGrpSpPr/>
          <p:nvPr/>
        </p:nvGrpSpPr>
        <p:grpSpPr bwMode="gray">
          <a:xfrm>
            <a:off x="4942840" y="1642110"/>
            <a:ext cx="2642236" cy="871855"/>
            <a:chOff x="756083" y="2270097"/>
            <a:chExt cx="2536378" cy="475627"/>
          </a:xfrm>
        </p:grpSpPr>
        <p:sp>
          <p:nvSpPr>
            <p:cNvPr id="65" name="矩形: 圆角 52"/>
            <p:cNvSpPr/>
            <p:nvPr/>
          </p:nvSpPr>
          <p:spPr bwMode="gray">
            <a:xfrm>
              <a:off x="756083" y="2270097"/>
              <a:ext cx="2349758" cy="475627"/>
            </a:xfrm>
            <a:prstGeom prst="roundRect">
              <a:avLst>
                <a:gd name="adj" fmla="val 3125"/>
              </a:avLst>
            </a:prstGeom>
            <a:solidFill>
              <a:schemeClr val="bg1"/>
            </a:solidFill>
            <a:ln w="190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ltLang="zh-CN" sz="12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MP-BGP</a:t>
              </a:r>
              <a:r>
                <a:rPr lang="zh-CN" altLang="en-US" sz="12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路由</a:t>
              </a:r>
              <a:endParaRPr lang="zh-CN" altLang="en-US" sz="12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6" name="TextBox 120"/>
            <p:cNvSpPr txBox="1"/>
            <p:nvPr/>
          </p:nvSpPr>
          <p:spPr bwMode="gray">
            <a:xfrm>
              <a:off x="788390" y="2439145"/>
              <a:ext cx="2504071" cy="257045"/>
            </a:xfrm>
            <a:prstGeom prst="roundRect">
              <a:avLst>
                <a:gd name="adj" fmla="val 3880"/>
              </a:avLst>
            </a:prstGeom>
            <a:noFill/>
            <a:ln w="12700">
              <a:solidFill>
                <a:srgbClr val="56C4D2"/>
              </a:solidFill>
            </a:ln>
          </p:spPr>
          <p:txBody>
            <a:bodyPr wrap="square" rtlCol="0" anchor="ctr">
              <a:spAutoFit/>
            </a:bodyPr>
            <a:lstStyle/>
            <a:p>
              <a:r>
                <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Prefix  NHP Ext-Community</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Net2   PE2   </a:t>
              </a: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FC03::300 + RT</a:t>
              </a:r>
              <a:endPar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67" name="Freeform 66"/>
          <p:cNvSpPr/>
          <p:nvPr/>
        </p:nvSpPr>
        <p:spPr bwMode="gray">
          <a:xfrm>
            <a:off x="8850631" y="3102463"/>
            <a:ext cx="1326929" cy="374698"/>
          </a:xfrm>
          <a:custGeom>
            <a:avLst/>
            <a:gdLst>
              <a:gd name="connsiteX0" fmla="*/ 3883510 w 3883510"/>
              <a:gd name="connsiteY0" fmla="*/ 1409282 h 1441555"/>
              <a:gd name="connsiteX1" fmla="*/ 1979407 w 3883510"/>
              <a:gd name="connsiteY1" fmla="*/ 30 h 1441555"/>
              <a:gd name="connsiteX2" fmla="*/ 0 w 3883510"/>
              <a:gd name="connsiteY2" fmla="*/ 1441555 h 1441555"/>
            </a:gdLst>
            <a:ahLst/>
            <a:cxnLst>
              <a:cxn ang="0">
                <a:pos x="connsiteX0" y="connsiteY0"/>
              </a:cxn>
              <a:cxn ang="0">
                <a:pos x="connsiteX1" y="connsiteY1"/>
              </a:cxn>
              <a:cxn ang="0">
                <a:pos x="connsiteX2" y="connsiteY2"/>
              </a:cxn>
            </a:cxnLst>
            <a:rect l="l" t="t" r="r" b="b"/>
            <a:pathLst>
              <a:path w="3883510" h="1441555">
                <a:moveTo>
                  <a:pt x="3883510" y="1409282"/>
                </a:moveTo>
                <a:cubicBezTo>
                  <a:pt x="3255084" y="701966"/>
                  <a:pt x="2626659" y="-5349"/>
                  <a:pt x="1979407" y="30"/>
                </a:cubicBezTo>
                <a:cubicBezTo>
                  <a:pt x="1332155" y="5409"/>
                  <a:pt x="666077" y="723482"/>
                  <a:pt x="0" y="1441555"/>
                </a:cubicBezTo>
              </a:path>
            </a:pathLst>
          </a:custGeom>
          <a:noFill/>
          <a:ln w="19050">
            <a:prstDash val="dash"/>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8" name="组合 17"/>
          <p:cNvGrpSpPr/>
          <p:nvPr/>
        </p:nvGrpSpPr>
        <p:grpSpPr bwMode="gray">
          <a:xfrm>
            <a:off x="9045674" y="2466819"/>
            <a:ext cx="1210060" cy="755373"/>
            <a:chOff x="746169" y="2262490"/>
            <a:chExt cx="1210060" cy="483233"/>
          </a:xfrm>
        </p:grpSpPr>
        <p:sp>
          <p:nvSpPr>
            <p:cNvPr id="69" name="矩形: 圆角 52"/>
            <p:cNvSpPr/>
            <p:nvPr/>
          </p:nvSpPr>
          <p:spPr bwMode="gray">
            <a:xfrm>
              <a:off x="746169" y="2262490"/>
              <a:ext cx="1210060" cy="483233"/>
            </a:xfrm>
            <a:prstGeom prst="roundRect">
              <a:avLst>
                <a:gd name="adj" fmla="val 3125"/>
              </a:avLst>
            </a:prstGeom>
            <a:solidFill>
              <a:schemeClr val="bg1"/>
            </a:solidFill>
            <a:ln w="190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ltLang="zh-CN" sz="12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IGP</a:t>
              </a:r>
              <a:r>
                <a:rPr lang="zh-CN" altLang="en-US" sz="12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路由</a:t>
              </a:r>
              <a:endParaRPr lang="zh-CN" altLang="en-US" sz="12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0" name="TextBox 120"/>
            <p:cNvSpPr txBox="1"/>
            <p:nvPr/>
          </p:nvSpPr>
          <p:spPr bwMode="gray">
            <a:xfrm>
              <a:off x="788358" y="2418648"/>
              <a:ext cx="1112567" cy="301053"/>
            </a:xfrm>
            <a:prstGeom prst="roundRect">
              <a:avLst>
                <a:gd name="adj" fmla="val 3880"/>
              </a:avLst>
            </a:prstGeom>
            <a:noFill/>
            <a:ln w="12700">
              <a:solidFill>
                <a:srgbClr val="56C4D2"/>
              </a:solidFill>
            </a:ln>
          </p:spPr>
          <p:txBody>
            <a:bodyPr wrap="square" rtlCol="0" anchor="ctr">
              <a:spAutoFit/>
            </a:bodyPr>
            <a:lstStyle/>
            <a:p>
              <a:r>
                <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Prefix  NHP</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Net2    CE2</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74" name="Freeform 73"/>
          <p:cNvSpPr/>
          <p:nvPr/>
        </p:nvSpPr>
        <p:spPr bwMode="gray">
          <a:xfrm>
            <a:off x="1730712" y="3109101"/>
            <a:ext cx="1326929" cy="374698"/>
          </a:xfrm>
          <a:custGeom>
            <a:avLst/>
            <a:gdLst>
              <a:gd name="connsiteX0" fmla="*/ 3883510 w 3883510"/>
              <a:gd name="connsiteY0" fmla="*/ 1409282 h 1441555"/>
              <a:gd name="connsiteX1" fmla="*/ 1979407 w 3883510"/>
              <a:gd name="connsiteY1" fmla="*/ 30 h 1441555"/>
              <a:gd name="connsiteX2" fmla="*/ 0 w 3883510"/>
              <a:gd name="connsiteY2" fmla="*/ 1441555 h 1441555"/>
            </a:gdLst>
            <a:ahLst/>
            <a:cxnLst>
              <a:cxn ang="0">
                <a:pos x="connsiteX0" y="connsiteY0"/>
              </a:cxn>
              <a:cxn ang="0">
                <a:pos x="connsiteX1" y="connsiteY1"/>
              </a:cxn>
              <a:cxn ang="0">
                <a:pos x="connsiteX2" y="connsiteY2"/>
              </a:cxn>
            </a:cxnLst>
            <a:rect l="l" t="t" r="r" b="b"/>
            <a:pathLst>
              <a:path w="3883510" h="1441555">
                <a:moveTo>
                  <a:pt x="3883510" y="1409282"/>
                </a:moveTo>
                <a:cubicBezTo>
                  <a:pt x="3255084" y="701966"/>
                  <a:pt x="2626659" y="-5349"/>
                  <a:pt x="1979407" y="30"/>
                </a:cubicBezTo>
                <a:cubicBezTo>
                  <a:pt x="1332155" y="5409"/>
                  <a:pt x="666077" y="723482"/>
                  <a:pt x="0" y="1441555"/>
                </a:cubicBezTo>
              </a:path>
            </a:pathLst>
          </a:custGeom>
          <a:noFill/>
          <a:ln w="19050">
            <a:prstDash val="dash"/>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Freeform 159"/>
          <p:cNvSpPr/>
          <p:nvPr/>
        </p:nvSpPr>
        <p:spPr bwMode="gray">
          <a:xfrm flipH="1">
            <a:off x="10454764" y="3255899"/>
            <a:ext cx="753503" cy="39387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N</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et2</a:t>
            </a:r>
            <a:endParaRPr 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71" name="组合 17"/>
          <p:cNvGrpSpPr/>
          <p:nvPr/>
        </p:nvGrpSpPr>
        <p:grpSpPr bwMode="gray">
          <a:xfrm>
            <a:off x="1748815" y="2441044"/>
            <a:ext cx="1210060" cy="755373"/>
            <a:chOff x="746169" y="2262490"/>
            <a:chExt cx="1210060" cy="483233"/>
          </a:xfrm>
        </p:grpSpPr>
        <p:sp>
          <p:nvSpPr>
            <p:cNvPr id="72" name="矩形: 圆角 52"/>
            <p:cNvSpPr/>
            <p:nvPr/>
          </p:nvSpPr>
          <p:spPr bwMode="gray">
            <a:xfrm>
              <a:off x="746169" y="2262490"/>
              <a:ext cx="1210060" cy="483233"/>
            </a:xfrm>
            <a:prstGeom prst="roundRect">
              <a:avLst>
                <a:gd name="adj" fmla="val 3125"/>
              </a:avLst>
            </a:prstGeom>
            <a:solidFill>
              <a:schemeClr val="bg1"/>
            </a:solidFill>
            <a:ln w="190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ltLang="zh-CN" sz="12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IGP</a:t>
              </a:r>
              <a:r>
                <a:rPr lang="zh-CN" altLang="en-US" sz="12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路由</a:t>
              </a:r>
              <a:endParaRPr lang="zh-CN" altLang="en-US" sz="12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3" name="TextBox 120"/>
            <p:cNvSpPr txBox="1"/>
            <p:nvPr/>
          </p:nvSpPr>
          <p:spPr bwMode="gray">
            <a:xfrm>
              <a:off x="788358" y="2418648"/>
              <a:ext cx="1112567" cy="301053"/>
            </a:xfrm>
            <a:prstGeom prst="roundRect">
              <a:avLst>
                <a:gd name="adj" fmla="val 3880"/>
              </a:avLst>
            </a:prstGeom>
            <a:noFill/>
            <a:ln w="12700">
              <a:solidFill>
                <a:srgbClr val="56C4D2"/>
              </a:solidFill>
            </a:ln>
          </p:spPr>
          <p:txBody>
            <a:bodyPr wrap="square" rtlCol="0" anchor="ctr">
              <a:spAutoFit/>
            </a:bodyPr>
            <a:lstStyle/>
            <a:p>
              <a:r>
                <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Prefix  NHP</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Net2   PE1</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矩形 36"/>
          <p:cNvSpPr/>
          <p:nvPr/>
        </p:nvSpPr>
        <p:spPr bwMode="gray">
          <a:xfrm>
            <a:off x="617308" y="2769311"/>
            <a:ext cx="2698614" cy="998104"/>
          </a:xfrm>
          <a:prstGeom prst="ellipse">
            <a:avLst/>
          </a:prstGeom>
          <a:noFill/>
          <a:ln>
            <a:solidFill>
              <a:srgbClr val="56C4D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8" name="矩形 36"/>
          <p:cNvSpPr/>
          <p:nvPr/>
        </p:nvSpPr>
        <p:spPr bwMode="gray">
          <a:xfrm>
            <a:off x="8594614" y="2795792"/>
            <a:ext cx="2698614" cy="998104"/>
          </a:xfrm>
          <a:prstGeom prst="ellipse">
            <a:avLst/>
          </a:prstGeom>
          <a:noFill/>
          <a:ln>
            <a:solidFill>
              <a:srgbClr val="56C4D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9" name="矩形 36"/>
          <p:cNvSpPr/>
          <p:nvPr/>
        </p:nvSpPr>
        <p:spPr bwMode="gray">
          <a:xfrm>
            <a:off x="3388296" y="2328993"/>
            <a:ext cx="5130863" cy="1466589"/>
          </a:xfrm>
          <a:prstGeom prst="roundRect">
            <a:avLst>
              <a:gd name="adj" fmla="val 5979"/>
            </a:avLst>
          </a:prstGeom>
          <a:noFill/>
          <a:ln>
            <a:solidFill>
              <a:srgbClr val="56C4D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 name="标题 1"/>
          <p:cNvSpPr>
            <a:spLocks noGrp="1"/>
          </p:cNvSpPr>
          <p:nvPr>
            <p:ph type="title"/>
          </p:nvPr>
        </p:nvSpPr>
        <p:spPr bwMode="gray"/>
        <p:txBody>
          <a:bodyPr>
            <a:normAutofit/>
          </a:bodyPr>
          <a:lstStyle/>
          <a:p>
            <a:r>
              <a:rPr lang="en-US" altLang="zh-CN" dirty="0">
                <a:sym typeface="Huawei Sans" panose="020C0503030203020204" pitchFamily="34" charset="0"/>
              </a:rPr>
              <a:t>Native IPv6 Over SRv6 Policy</a:t>
            </a:r>
            <a:endParaRPr lang="zh-CN" altLang="en-US" dirty="0">
              <a:sym typeface="Huawei Sans" panose="020C0503030203020204" pitchFamily="34" charset="0"/>
            </a:endParaRPr>
          </a:p>
        </p:txBody>
      </p:sp>
      <p:sp>
        <p:nvSpPr>
          <p:cNvPr id="36" name="文本占位符 35"/>
          <p:cNvSpPr>
            <a:spLocks noGrp="1"/>
          </p:cNvSpPr>
          <p:nvPr>
            <p:ph type="body" sz="quarter" idx="10"/>
          </p:nvPr>
        </p:nvSpPr>
        <p:spPr bwMode="gray"/>
        <p:txBody>
          <a:bodyPr/>
          <a:lstStyle/>
          <a:p>
            <a:r>
              <a:rPr lang="zh-CN" altLang="en-US" sz="1600" dirty="0">
                <a:sym typeface="Huawei Sans" panose="020C0503030203020204" pitchFamily="34" charset="0"/>
              </a:rPr>
              <a:t>普通</a:t>
            </a:r>
            <a:r>
              <a:rPr lang="en-US" altLang="zh-CN" sz="1600" dirty="0">
                <a:sym typeface="Huawei Sans" panose="020C0503030203020204" pitchFamily="34" charset="0"/>
              </a:rPr>
              <a:t>IPv6</a:t>
            </a:r>
            <a:r>
              <a:rPr lang="zh-CN" altLang="en-US" sz="1600" dirty="0">
                <a:sym typeface="Huawei Sans" panose="020C0503030203020204" pitchFamily="34" charset="0"/>
              </a:rPr>
              <a:t>数据也能被</a:t>
            </a:r>
            <a:r>
              <a:rPr lang="en-US" altLang="zh-CN" sz="1600" dirty="0">
                <a:sym typeface="Huawei Sans" panose="020C0503030203020204" pitchFamily="34" charset="0"/>
              </a:rPr>
              <a:t>SRv6</a:t>
            </a:r>
            <a:r>
              <a:rPr lang="zh-CN" altLang="en-US" sz="1600" dirty="0">
                <a:sym typeface="Huawei Sans" panose="020C0503030203020204" pitchFamily="34" charset="0"/>
              </a:rPr>
              <a:t>承载。</a:t>
            </a:r>
            <a:endParaRPr lang="en-US" altLang="zh-CN" sz="1600" dirty="0">
              <a:sym typeface="Huawei Sans" panose="020C0503030203020204" pitchFamily="34" charset="0"/>
            </a:endParaRPr>
          </a:p>
        </p:txBody>
      </p:sp>
      <p:sp>
        <p:nvSpPr>
          <p:cNvPr id="41" name="矩形 123"/>
          <p:cNvSpPr/>
          <p:nvPr/>
        </p:nvSpPr>
        <p:spPr bwMode="gray">
          <a:xfrm>
            <a:off x="3274244" y="3487805"/>
            <a:ext cx="497252"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PE1</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43" name="图片 125"/>
          <p:cNvPicPr/>
          <p:nvPr/>
        </p:nvPicPr>
        <p:blipFill>
          <a:blip r:embed="rId1" cstate="print">
            <a:extLst>
              <a:ext uri="{28A0092B-C50C-407E-A947-70E740481C1C}">
                <a14:useLocalDpi xmlns:a14="http://schemas.microsoft.com/office/drawing/2010/main" val="0"/>
              </a:ext>
            </a:extLst>
          </a:blip>
          <a:stretch>
            <a:fillRect/>
          </a:stretch>
        </p:blipFill>
        <p:spPr bwMode="gray">
          <a:xfrm>
            <a:off x="3254092" y="3048921"/>
            <a:ext cx="540000" cy="442800"/>
          </a:xfrm>
          <a:prstGeom prst="rect">
            <a:avLst/>
          </a:prstGeom>
        </p:spPr>
      </p:pic>
      <p:pic>
        <p:nvPicPr>
          <p:cNvPr id="44" name="图片 127"/>
          <p:cNvPicPr/>
          <p:nvPr/>
        </p:nvPicPr>
        <p:blipFill>
          <a:blip r:embed="rId1" cstate="print">
            <a:extLst>
              <a:ext uri="{28A0092B-C50C-407E-A947-70E740481C1C}">
                <a14:useLocalDpi xmlns:a14="http://schemas.microsoft.com/office/drawing/2010/main" val="0"/>
              </a:ext>
            </a:extLst>
          </a:blip>
          <a:stretch>
            <a:fillRect/>
          </a:stretch>
        </p:blipFill>
        <p:spPr bwMode="gray">
          <a:xfrm>
            <a:off x="1368964" y="3048921"/>
            <a:ext cx="540000" cy="442800"/>
          </a:xfrm>
          <a:prstGeom prst="rect">
            <a:avLst/>
          </a:prstGeom>
        </p:spPr>
      </p:pic>
      <p:sp>
        <p:nvSpPr>
          <p:cNvPr id="45" name="矩形 128"/>
          <p:cNvSpPr/>
          <p:nvPr/>
        </p:nvSpPr>
        <p:spPr bwMode="gray">
          <a:xfrm>
            <a:off x="1393388" y="3487805"/>
            <a:ext cx="502062"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CE1</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 name="矩形 133"/>
          <p:cNvSpPr/>
          <p:nvPr/>
        </p:nvSpPr>
        <p:spPr bwMode="gray">
          <a:xfrm>
            <a:off x="5892555" y="3487805"/>
            <a:ext cx="396262"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P1</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49" name="图片 134"/>
          <p:cNvPicPr/>
          <p:nvPr/>
        </p:nvPicPr>
        <p:blipFill>
          <a:blip r:embed="rId1" cstate="print">
            <a:extLst>
              <a:ext uri="{28A0092B-C50C-407E-A947-70E740481C1C}">
                <a14:useLocalDpi xmlns:a14="http://schemas.microsoft.com/office/drawing/2010/main" val="0"/>
              </a:ext>
            </a:extLst>
          </a:blip>
          <a:stretch>
            <a:fillRect/>
          </a:stretch>
        </p:blipFill>
        <p:spPr bwMode="gray">
          <a:xfrm>
            <a:off x="5826000" y="3048921"/>
            <a:ext cx="540000" cy="442800"/>
          </a:xfrm>
          <a:prstGeom prst="rect">
            <a:avLst/>
          </a:prstGeom>
        </p:spPr>
      </p:pic>
      <p:sp>
        <p:nvSpPr>
          <p:cNvPr id="52" name="矩形 138"/>
          <p:cNvSpPr/>
          <p:nvPr/>
        </p:nvSpPr>
        <p:spPr bwMode="gray">
          <a:xfrm>
            <a:off x="8143049" y="3487805"/>
            <a:ext cx="497252"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PE2</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53" name="图片 139"/>
          <p:cNvPicPr/>
          <p:nvPr/>
        </p:nvPicPr>
        <p:blipFill>
          <a:blip r:embed="rId1" cstate="print">
            <a:extLst>
              <a:ext uri="{28A0092B-C50C-407E-A947-70E740481C1C}">
                <a14:useLocalDpi xmlns:a14="http://schemas.microsoft.com/office/drawing/2010/main" val="0"/>
              </a:ext>
            </a:extLst>
          </a:blip>
          <a:stretch>
            <a:fillRect/>
          </a:stretch>
        </p:blipFill>
        <p:spPr bwMode="gray">
          <a:xfrm>
            <a:off x="8126988" y="3048921"/>
            <a:ext cx="540000" cy="442800"/>
          </a:xfrm>
          <a:prstGeom prst="rect">
            <a:avLst/>
          </a:prstGeom>
        </p:spPr>
      </p:pic>
      <p:pic>
        <p:nvPicPr>
          <p:cNvPr id="54" name="图片 140"/>
          <p:cNvPicPr/>
          <p:nvPr/>
        </p:nvPicPr>
        <p:blipFill>
          <a:blip r:embed="rId1" cstate="print">
            <a:extLst>
              <a:ext uri="{28A0092B-C50C-407E-A947-70E740481C1C}">
                <a14:useLocalDpi xmlns:a14="http://schemas.microsoft.com/office/drawing/2010/main" val="0"/>
              </a:ext>
            </a:extLst>
          </a:blip>
          <a:stretch>
            <a:fillRect/>
          </a:stretch>
        </p:blipFill>
        <p:spPr bwMode="gray">
          <a:xfrm>
            <a:off x="10038074" y="3048921"/>
            <a:ext cx="540000" cy="442800"/>
          </a:xfrm>
          <a:prstGeom prst="rect">
            <a:avLst/>
          </a:prstGeom>
        </p:spPr>
      </p:pic>
      <p:sp>
        <p:nvSpPr>
          <p:cNvPr id="55" name="矩形 141"/>
          <p:cNvSpPr/>
          <p:nvPr/>
        </p:nvSpPr>
        <p:spPr bwMode="gray">
          <a:xfrm>
            <a:off x="10057043" y="3487805"/>
            <a:ext cx="502062"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CE2</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58" name="直接连接符 8"/>
          <p:cNvCxnSpPr>
            <a:stCxn id="44" idx="3"/>
            <a:endCxn id="43" idx="1"/>
          </p:cNvCxnSpPr>
          <p:nvPr/>
        </p:nvCxnSpPr>
        <p:spPr bwMode="gray">
          <a:xfrm>
            <a:off x="1908964" y="3270321"/>
            <a:ext cx="134512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直接连接符 8"/>
          <p:cNvCxnSpPr>
            <a:stCxn id="43" idx="3"/>
            <a:endCxn id="49" idx="1"/>
          </p:cNvCxnSpPr>
          <p:nvPr/>
        </p:nvCxnSpPr>
        <p:spPr bwMode="gray">
          <a:xfrm>
            <a:off x="3794092" y="3270321"/>
            <a:ext cx="203190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直接连接符 8"/>
          <p:cNvCxnSpPr>
            <a:stCxn id="49" idx="3"/>
            <a:endCxn id="53" idx="1"/>
          </p:cNvCxnSpPr>
          <p:nvPr/>
        </p:nvCxnSpPr>
        <p:spPr bwMode="gray">
          <a:xfrm>
            <a:off x="6366000" y="3270321"/>
            <a:ext cx="176098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直接连接符 8"/>
          <p:cNvCxnSpPr>
            <a:stCxn id="53" idx="3"/>
            <a:endCxn id="54" idx="1"/>
          </p:cNvCxnSpPr>
          <p:nvPr/>
        </p:nvCxnSpPr>
        <p:spPr bwMode="gray">
          <a:xfrm>
            <a:off x="8666988" y="3270321"/>
            <a:ext cx="137108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65" name="Freeform 159"/>
          <p:cNvSpPr/>
          <p:nvPr/>
        </p:nvSpPr>
        <p:spPr bwMode="gray">
          <a:xfrm flipH="1">
            <a:off x="4317289" y="2904806"/>
            <a:ext cx="973564" cy="50891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6" name="Freeform 159"/>
          <p:cNvSpPr/>
          <p:nvPr/>
        </p:nvSpPr>
        <p:spPr bwMode="gray">
          <a:xfrm flipH="1">
            <a:off x="6794694" y="2904806"/>
            <a:ext cx="973564" cy="50891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2" name="文本框 59"/>
          <p:cNvSpPr txBox="1"/>
          <p:nvPr/>
        </p:nvSpPr>
        <p:spPr bwMode="gray">
          <a:xfrm>
            <a:off x="5757543" y="2285951"/>
            <a:ext cx="689612" cy="307777"/>
          </a:xfrm>
          <a:prstGeom prst="rect">
            <a:avLst/>
          </a:prstGeom>
          <a:noFill/>
        </p:spPr>
        <p:txBody>
          <a:bodyPr wrap="none" rtlCol="0">
            <a:spAutoFit/>
          </a:bodyPr>
          <a:lstStyle/>
          <a:p>
            <a:r>
              <a:rPr lang="en-US" altLang="zh-CN" sz="14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65000</a:t>
            </a:r>
            <a:endParaRPr lang="en-US" altLang="zh-CN" sz="14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graphicFrame>
        <p:nvGraphicFramePr>
          <p:cNvPr id="74" name="Table 73"/>
          <p:cNvGraphicFramePr>
            <a:graphicFrameLocks noGrp="1"/>
          </p:cNvGraphicFramePr>
          <p:nvPr/>
        </p:nvGraphicFramePr>
        <p:xfrm>
          <a:off x="1813734" y="3812066"/>
          <a:ext cx="1085282" cy="731520"/>
        </p:xfrm>
        <a:graphic>
          <a:graphicData uri="http://schemas.openxmlformats.org/drawingml/2006/table">
            <a:tbl>
              <a:tblPr firstRow="1" bandRow="1">
                <a:tableStyleId>{72833802-FEF1-4C79-8D5D-14CF1EAF98D9}</a:tableStyleId>
              </a:tblPr>
              <a:tblGrid>
                <a:gridCol w="1085282"/>
              </a:tblGrid>
              <a:tr h="370840">
                <a:tc>
                  <a:txBody>
                    <a:bodyPr/>
                    <a:lstStyle/>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DIPv6</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Net2</a:t>
                      </a:r>
                      <a:endPar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SIPv6</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CE1</a:t>
                      </a:r>
                      <a:endPar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6C4D2"/>
                    </a:solidFill>
                  </a:tcPr>
                </a:tc>
              </a:tr>
              <a:tr h="0">
                <a:tc>
                  <a:txBody>
                    <a:bodyPr/>
                    <a:lstStyle/>
                    <a:p>
                      <a:pPr algn="ctr"/>
                      <a:r>
                        <a:rPr lang="en-US" altLang="zh-CN" sz="1200" dirty="0">
                          <a:solidFill>
                            <a:schemeClr val="bg1"/>
                          </a:solidFill>
                        </a:rPr>
                        <a:t>Payload</a:t>
                      </a:r>
                      <a:endParaRPr lang="zh-CN" altLang="en-US" sz="1200"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r>
            </a:tbl>
          </a:graphicData>
        </a:graphic>
      </p:graphicFrame>
      <p:cxnSp>
        <p:nvCxnSpPr>
          <p:cNvPr id="77" name="直接箭头连接符 3"/>
          <p:cNvCxnSpPr/>
          <p:nvPr/>
        </p:nvCxnSpPr>
        <p:spPr bwMode="gray">
          <a:xfrm>
            <a:off x="3518724" y="3369266"/>
            <a:ext cx="5109101" cy="0"/>
          </a:xfrm>
          <a:prstGeom prst="straightConnector1">
            <a:avLst/>
          </a:prstGeom>
          <a:ln w="57150">
            <a:solidFill>
              <a:srgbClr val="E28189"/>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78" name="Table 77"/>
          <p:cNvGraphicFramePr>
            <a:graphicFrameLocks noGrp="1"/>
          </p:cNvGraphicFramePr>
          <p:nvPr/>
        </p:nvGraphicFramePr>
        <p:xfrm>
          <a:off x="3780440" y="3812904"/>
          <a:ext cx="1345061" cy="1554480"/>
        </p:xfrm>
        <a:graphic>
          <a:graphicData uri="http://schemas.openxmlformats.org/drawingml/2006/table">
            <a:tbl>
              <a:tblPr firstRow="1" bandRow="1">
                <a:tableStyleId>{72833802-FEF1-4C79-8D5D-14CF1EAF98D9}</a:tableStyleId>
              </a:tblPr>
              <a:tblGrid>
                <a:gridCol w="1345061"/>
              </a:tblGrid>
              <a:tr h="370840">
                <a:tc>
                  <a:txBody>
                    <a:bodyPr/>
                    <a:lstStyle/>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DIPv6</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FC02::2</a:t>
                      </a:r>
                      <a:endPar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SIPv6</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CE1</a:t>
                      </a:r>
                      <a:endPar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6C4D2"/>
                    </a:solidFill>
                  </a:tcPr>
                </a:tc>
              </a:tr>
              <a:tr h="725303">
                <a:tc>
                  <a:txBody>
                    <a:bodyPr/>
                    <a:lstStyle/>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SRH</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SL=</a:t>
                      </a: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2</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Net2</a:t>
                      </a:r>
                      <a:endPar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FC03::3</a:t>
                      </a:r>
                      <a:endPar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FC02::2</a:t>
                      </a:r>
                      <a:endParaRPr lang="zh-CN" altLang="en-US"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EEEC1"/>
                    </a:solidFill>
                  </a:tcPr>
                </a:tc>
              </a:tr>
              <a:tr h="0">
                <a:tc>
                  <a:txBody>
                    <a:bodyPr/>
                    <a:lstStyle/>
                    <a:p>
                      <a:pPr algn="ctr"/>
                      <a:r>
                        <a:rPr lang="en-US" altLang="zh-CN" sz="1200" dirty="0">
                          <a:solidFill>
                            <a:schemeClr val="bg1"/>
                          </a:solidFill>
                        </a:rPr>
                        <a:t>Payload</a:t>
                      </a:r>
                      <a:endParaRPr lang="zh-CN" altLang="en-US" sz="1200"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r>
            </a:tbl>
          </a:graphicData>
        </a:graphic>
      </p:graphicFrame>
      <p:graphicFrame>
        <p:nvGraphicFramePr>
          <p:cNvPr id="80" name="Table 79"/>
          <p:cNvGraphicFramePr>
            <a:graphicFrameLocks noGrp="1"/>
          </p:cNvGraphicFramePr>
          <p:nvPr/>
        </p:nvGraphicFramePr>
        <p:xfrm>
          <a:off x="6351154" y="3812904"/>
          <a:ext cx="1345061" cy="1554480"/>
        </p:xfrm>
        <a:graphic>
          <a:graphicData uri="http://schemas.openxmlformats.org/drawingml/2006/table">
            <a:tbl>
              <a:tblPr firstRow="1" bandRow="1">
                <a:tableStyleId>{72833802-FEF1-4C79-8D5D-14CF1EAF98D9}</a:tableStyleId>
              </a:tblPr>
              <a:tblGrid>
                <a:gridCol w="1345061"/>
              </a:tblGrid>
              <a:tr h="370840">
                <a:tc>
                  <a:txBody>
                    <a:bodyPr/>
                    <a:lstStyle/>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DIPv6</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FC03::3</a:t>
                      </a:r>
                      <a:endPar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SIPv6</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CE1</a:t>
                      </a:r>
                      <a:endPar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6C4D2"/>
                    </a:solidFill>
                  </a:tcPr>
                </a:tc>
              </a:tr>
              <a:tr h="725303">
                <a:tc>
                  <a:txBody>
                    <a:bodyPr/>
                    <a:lstStyle/>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SRH</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SL=</a:t>
                      </a: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1</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Net2</a:t>
                      </a:r>
                      <a:endPar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0" algn="ctr" defTabSz="913765" rtl="0" eaLnBrk="1" latinLnBrk="0" hangingPunct="1"/>
                      <a:r>
                        <a:rPr lang="en-US" altLang="zh-CN" sz="1200" b="1" kern="1200" dirty="0">
                          <a:solidFill>
                            <a:srgbClr val="C7000B"/>
                          </a:solidFill>
                          <a:latin typeface="Huawei Sans" panose="020C0503030203020204" pitchFamily="34" charset="0"/>
                          <a:ea typeface="方正兰亭黑简体" panose="02000000000000000000" pitchFamily="2" charset="-122"/>
                          <a:cs typeface="+mn-cs"/>
                          <a:sym typeface="Huawei Sans" panose="020C0503030203020204" pitchFamily="34" charset="0"/>
                        </a:rPr>
                        <a:t>FC03::3</a:t>
                      </a:r>
                      <a:endParaRPr lang="en-US" altLang="zh-CN" sz="1200" b="1" kern="1200" dirty="0">
                        <a:solidFill>
                          <a:srgbClr val="C7000B"/>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FC02::2</a:t>
                      </a:r>
                      <a:endPar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EEEC1"/>
                    </a:solidFill>
                  </a:tcPr>
                </a:tc>
              </a:tr>
              <a:tr h="0">
                <a:tc>
                  <a:txBody>
                    <a:bodyPr/>
                    <a:lstStyle/>
                    <a:p>
                      <a:pPr algn="ctr"/>
                      <a:r>
                        <a:rPr lang="en-US" altLang="zh-CN" sz="1200" dirty="0">
                          <a:solidFill>
                            <a:schemeClr val="bg1"/>
                          </a:solidFill>
                        </a:rPr>
                        <a:t>Payload</a:t>
                      </a:r>
                      <a:endParaRPr lang="zh-CN" altLang="en-US" sz="1200"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r>
            </a:tbl>
          </a:graphicData>
        </a:graphic>
      </p:graphicFrame>
      <p:graphicFrame>
        <p:nvGraphicFramePr>
          <p:cNvPr id="81" name="Table 80"/>
          <p:cNvGraphicFramePr>
            <a:graphicFrameLocks noGrp="1"/>
          </p:cNvGraphicFramePr>
          <p:nvPr/>
        </p:nvGraphicFramePr>
        <p:xfrm>
          <a:off x="7969214" y="3812066"/>
          <a:ext cx="1342174" cy="1554480"/>
        </p:xfrm>
        <a:graphic>
          <a:graphicData uri="http://schemas.openxmlformats.org/drawingml/2006/table">
            <a:tbl>
              <a:tblPr firstRow="1" bandRow="1">
                <a:tableStyleId>{72833802-FEF1-4C79-8D5D-14CF1EAF98D9}</a:tableStyleId>
              </a:tblPr>
              <a:tblGrid>
                <a:gridCol w="1342174"/>
              </a:tblGrid>
              <a:tr h="370840">
                <a:tc>
                  <a:txBody>
                    <a:bodyPr/>
                    <a:lstStyle/>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DIPv6</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Net2</a:t>
                      </a:r>
                      <a:endPar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SIPv6</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CE1</a:t>
                      </a:r>
                      <a:endPar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6C4D2"/>
                    </a:solidFill>
                  </a:tcPr>
                </a:tc>
              </a:tr>
              <a:tr h="725303">
                <a:tc>
                  <a:txBody>
                    <a:bodyPr/>
                    <a:lstStyle/>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SRH</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SL=</a:t>
                      </a: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0</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0" algn="ctr" defTabSz="913765" rtl="0" eaLnBrk="1" latinLnBrk="0" hangingPunct="1"/>
                      <a:r>
                        <a:rPr lang="en-US" altLang="zh-CN" sz="1200" b="1" kern="1200" dirty="0">
                          <a:solidFill>
                            <a:srgbClr val="C7000B"/>
                          </a:solidFill>
                          <a:latin typeface="Huawei Sans" panose="020C0503030203020204" pitchFamily="34" charset="0"/>
                          <a:ea typeface="方正兰亭黑简体" panose="02000000000000000000" pitchFamily="2" charset="-122"/>
                          <a:cs typeface="+mn-cs"/>
                          <a:sym typeface="Huawei Sans" panose="020C0503030203020204" pitchFamily="34" charset="0"/>
                        </a:rPr>
                        <a:t>Net2</a:t>
                      </a:r>
                      <a:endParaRPr lang="en-US" altLang="zh-CN" sz="1200" b="1" kern="1200" dirty="0">
                        <a:solidFill>
                          <a:srgbClr val="C7000B"/>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p>
                      <a:pPr marL="0" algn="ctr" defTabSz="913765" rtl="0" eaLnBrk="1" latinLnBrk="0" hangingPunct="1"/>
                      <a:r>
                        <a:rPr lang="en-US" altLang="zh-CN"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FC03::3</a:t>
                      </a:r>
                      <a:endParaRPr lang="en-US" altLang="zh-CN"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FC02::2</a:t>
                      </a:r>
                      <a:endPar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EEEC1"/>
                    </a:solidFill>
                  </a:tcPr>
                </a:tc>
              </a:tr>
              <a:tr h="0">
                <a:tc>
                  <a:txBody>
                    <a:bodyPr/>
                    <a:lstStyle/>
                    <a:p>
                      <a:pPr algn="ctr"/>
                      <a:r>
                        <a:rPr lang="en-US" altLang="zh-CN" sz="1200" dirty="0">
                          <a:solidFill>
                            <a:schemeClr val="bg1"/>
                          </a:solidFill>
                        </a:rPr>
                        <a:t>Payload</a:t>
                      </a:r>
                      <a:endParaRPr lang="zh-CN" altLang="en-US" sz="1200"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r>
            </a:tbl>
          </a:graphicData>
        </a:graphic>
      </p:graphicFrame>
      <p:cxnSp>
        <p:nvCxnSpPr>
          <p:cNvPr id="85" name="Elbow Connector 84"/>
          <p:cNvCxnSpPr>
            <a:endCxn id="78" idx="1"/>
          </p:cNvCxnSpPr>
          <p:nvPr/>
        </p:nvCxnSpPr>
        <p:spPr bwMode="gray">
          <a:xfrm>
            <a:off x="2918878" y="4225930"/>
            <a:ext cx="861562" cy="364214"/>
          </a:xfrm>
          <a:prstGeom prst="bentConnector3">
            <a:avLst>
              <a:gd name="adj1" fmla="val 50000"/>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99" name="Rectangular Callout 26"/>
          <p:cNvSpPr/>
          <p:nvPr/>
        </p:nvSpPr>
        <p:spPr bwMode="gray">
          <a:xfrm>
            <a:off x="2016417" y="4726016"/>
            <a:ext cx="1371879" cy="588952"/>
          </a:xfrm>
          <a:prstGeom prst="wedgeRectCallout">
            <a:avLst>
              <a:gd name="adj1" fmla="val 37457"/>
              <a:gd name="adj2" fmla="val -95187"/>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IPv6</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报文依据</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Color</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被相应</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SRv6</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 </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Policy</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承载</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08" name="Rectangular Callout 26"/>
          <p:cNvSpPr/>
          <p:nvPr/>
        </p:nvSpPr>
        <p:spPr bwMode="gray">
          <a:xfrm>
            <a:off x="5176065" y="3827058"/>
            <a:ext cx="1162955" cy="435372"/>
          </a:xfrm>
          <a:prstGeom prst="wedgeRectCallout">
            <a:avLst>
              <a:gd name="adj1" fmla="val -60537"/>
              <a:gd name="adj2" fmla="val -25113"/>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基于外层</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IPv6</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头部转发</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09" name="Rectangular Callout 26"/>
          <p:cNvSpPr/>
          <p:nvPr/>
        </p:nvSpPr>
        <p:spPr bwMode="gray">
          <a:xfrm>
            <a:off x="10141154" y="4720463"/>
            <a:ext cx="1162955" cy="624737"/>
          </a:xfrm>
          <a:prstGeom prst="wedgeRectCallout">
            <a:avLst>
              <a:gd name="adj1" fmla="val -60537"/>
              <a:gd name="adj2" fmla="val -25113"/>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剥离</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SRH</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头部，以普通</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IPv6</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报文转发</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cxnSp>
        <p:nvCxnSpPr>
          <p:cNvPr id="110" name="Elbow Connector 109"/>
          <p:cNvCxnSpPr/>
          <p:nvPr/>
        </p:nvCxnSpPr>
        <p:spPr bwMode="gray">
          <a:xfrm flipV="1">
            <a:off x="9352531" y="4582098"/>
            <a:ext cx="632533" cy="640774"/>
          </a:xfrm>
          <a:prstGeom prst="bentConnector2">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7" name="圆角矩形 59"/>
          <p:cNvSpPr/>
          <p:nvPr/>
        </p:nvSpPr>
        <p:spPr bwMode="gray">
          <a:xfrm>
            <a:off x="3060002" y="2536280"/>
            <a:ext cx="917445" cy="221690"/>
          </a:xfrm>
          <a:prstGeom prst="roundRect">
            <a:avLst>
              <a:gd name="adj" fmla="val 13019"/>
            </a:avLst>
          </a:prstGeom>
          <a:solidFill>
            <a:srgbClr val="D3394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FC01:: /96</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1" name="圆角矩形 59"/>
          <p:cNvSpPr/>
          <p:nvPr/>
        </p:nvSpPr>
        <p:spPr bwMode="gray">
          <a:xfrm>
            <a:off x="3060002" y="2793961"/>
            <a:ext cx="917445" cy="221690"/>
          </a:xfrm>
          <a:prstGeom prst="roundRect">
            <a:avLst>
              <a:gd name="adj" fmla="val 13019"/>
            </a:avLst>
          </a:prstGeom>
          <a:solidFill>
            <a:srgbClr val="56C4D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FC01::1</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3" name="圆角矩形 59"/>
          <p:cNvSpPr/>
          <p:nvPr/>
        </p:nvSpPr>
        <p:spPr bwMode="gray">
          <a:xfrm>
            <a:off x="5616669" y="2536280"/>
            <a:ext cx="917445" cy="221690"/>
          </a:xfrm>
          <a:prstGeom prst="roundRect">
            <a:avLst>
              <a:gd name="adj" fmla="val 13019"/>
            </a:avLst>
          </a:prstGeom>
          <a:solidFill>
            <a:srgbClr val="D3394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FC02:: /96</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4" name="圆角矩形 59"/>
          <p:cNvSpPr/>
          <p:nvPr/>
        </p:nvSpPr>
        <p:spPr bwMode="gray">
          <a:xfrm>
            <a:off x="5616669" y="2793961"/>
            <a:ext cx="917445" cy="221690"/>
          </a:xfrm>
          <a:prstGeom prst="roundRect">
            <a:avLst>
              <a:gd name="adj" fmla="val 13019"/>
            </a:avLst>
          </a:prstGeom>
          <a:solidFill>
            <a:srgbClr val="56C4D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FC02::2</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3" name="圆角矩形 59"/>
          <p:cNvSpPr/>
          <p:nvPr/>
        </p:nvSpPr>
        <p:spPr bwMode="gray">
          <a:xfrm>
            <a:off x="7925052" y="2536280"/>
            <a:ext cx="917445" cy="221690"/>
          </a:xfrm>
          <a:prstGeom prst="roundRect">
            <a:avLst>
              <a:gd name="adj" fmla="val 13019"/>
            </a:avLst>
          </a:prstGeom>
          <a:solidFill>
            <a:srgbClr val="D3394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FC03:: /96</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6" name="圆角矩形 59"/>
          <p:cNvSpPr/>
          <p:nvPr/>
        </p:nvSpPr>
        <p:spPr bwMode="gray">
          <a:xfrm>
            <a:off x="7925052" y="2793961"/>
            <a:ext cx="917445" cy="221690"/>
          </a:xfrm>
          <a:prstGeom prst="roundRect">
            <a:avLst>
              <a:gd name="adj" fmla="val 13019"/>
            </a:avLst>
          </a:prstGeom>
          <a:solidFill>
            <a:srgbClr val="56C4D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FC03::3</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4" name="圆角矩形 59"/>
          <p:cNvSpPr/>
          <p:nvPr/>
        </p:nvSpPr>
        <p:spPr bwMode="gray">
          <a:xfrm>
            <a:off x="9755662" y="5554243"/>
            <a:ext cx="917445" cy="221690"/>
          </a:xfrm>
          <a:prstGeom prst="roundRect">
            <a:avLst>
              <a:gd name="adj" fmla="val 13019"/>
            </a:avLst>
          </a:prstGeom>
          <a:solidFill>
            <a:srgbClr val="D3394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FC01:: /96</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6" name="圆角矩形 59"/>
          <p:cNvSpPr/>
          <p:nvPr/>
        </p:nvSpPr>
        <p:spPr bwMode="gray">
          <a:xfrm>
            <a:off x="9755662" y="5810696"/>
            <a:ext cx="917445" cy="221690"/>
          </a:xfrm>
          <a:prstGeom prst="roundRect">
            <a:avLst>
              <a:gd name="adj" fmla="val 13019"/>
            </a:avLst>
          </a:prstGeom>
          <a:solidFill>
            <a:srgbClr val="56C4D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FC01::1</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7" name="矩形 46"/>
          <p:cNvSpPr/>
          <p:nvPr/>
        </p:nvSpPr>
        <p:spPr bwMode="gray">
          <a:xfrm>
            <a:off x="10656933" y="5531932"/>
            <a:ext cx="708848" cy="276999"/>
          </a:xfrm>
          <a:prstGeom prst="rect">
            <a:avLst/>
          </a:prstGeom>
        </p:spPr>
        <p:txBody>
          <a:bodyPr wrap="none">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Locator</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8" name="矩形 46"/>
          <p:cNvSpPr/>
          <p:nvPr/>
        </p:nvSpPr>
        <p:spPr bwMode="gray">
          <a:xfrm>
            <a:off x="10644912" y="5788728"/>
            <a:ext cx="732894" cy="276999"/>
          </a:xfrm>
          <a:prstGeom prst="rect">
            <a:avLst/>
          </a:prstGeom>
        </p:spPr>
        <p:txBody>
          <a:bodyPr wrap="none">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End SID</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9" name="Freeform 88"/>
          <p:cNvSpPr/>
          <p:nvPr/>
        </p:nvSpPr>
        <p:spPr bwMode="gray">
          <a:xfrm>
            <a:off x="3589037" y="1978245"/>
            <a:ext cx="4752229" cy="524899"/>
          </a:xfrm>
          <a:custGeom>
            <a:avLst/>
            <a:gdLst>
              <a:gd name="connsiteX0" fmla="*/ 3883510 w 3883510"/>
              <a:gd name="connsiteY0" fmla="*/ 1409282 h 1441555"/>
              <a:gd name="connsiteX1" fmla="*/ 1979407 w 3883510"/>
              <a:gd name="connsiteY1" fmla="*/ 30 h 1441555"/>
              <a:gd name="connsiteX2" fmla="*/ 0 w 3883510"/>
              <a:gd name="connsiteY2" fmla="*/ 1441555 h 1441555"/>
            </a:gdLst>
            <a:ahLst/>
            <a:cxnLst>
              <a:cxn ang="0">
                <a:pos x="connsiteX0" y="connsiteY0"/>
              </a:cxn>
              <a:cxn ang="0">
                <a:pos x="connsiteX1" y="connsiteY1"/>
              </a:cxn>
              <a:cxn ang="0">
                <a:pos x="connsiteX2" y="connsiteY2"/>
              </a:cxn>
            </a:cxnLst>
            <a:rect l="l" t="t" r="r" b="b"/>
            <a:pathLst>
              <a:path w="3883510" h="1441555">
                <a:moveTo>
                  <a:pt x="3883510" y="1409282"/>
                </a:moveTo>
                <a:cubicBezTo>
                  <a:pt x="3255084" y="701966"/>
                  <a:pt x="2626659" y="-5349"/>
                  <a:pt x="1979407" y="30"/>
                </a:cubicBezTo>
                <a:cubicBezTo>
                  <a:pt x="1332155" y="5409"/>
                  <a:pt x="666077" y="723482"/>
                  <a:pt x="0" y="1441555"/>
                </a:cubicBezTo>
              </a:path>
            </a:pathLst>
          </a:custGeom>
          <a:noFill/>
          <a:ln w="19050">
            <a:prstDash val="dash"/>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0" name="组合 17"/>
          <p:cNvGrpSpPr/>
          <p:nvPr/>
        </p:nvGrpSpPr>
        <p:grpSpPr bwMode="gray">
          <a:xfrm>
            <a:off x="4817381" y="1553537"/>
            <a:ext cx="2614386" cy="743484"/>
            <a:chOff x="756083" y="2270097"/>
            <a:chExt cx="2614386" cy="475627"/>
          </a:xfrm>
        </p:grpSpPr>
        <p:sp>
          <p:nvSpPr>
            <p:cNvPr id="91" name="矩形: 圆角 52"/>
            <p:cNvSpPr/>
            <p:nvPr/>
          </p:nvSpPr>
          <p:spPr bwMode="gray">
            <a:xfrm>
              <a:off x="756083" y="2270097"/>
              <a:ext cx="2614386" cy="475627"/>
            </a:xfrm>
            <a:prstGeom prst="roundRect">
              <a:avLst>
                <a:gd name="adj" fmla="val 3125"/>
              </a:avLst>
            </a:prstGeom>
            <a:solidFill>
              <a:schemeClr val="bg1"/>
            </a:solidFill>
            <a:ln w="190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ltLang="zh-CN" sz="12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BGP</a:t>
              </a:r>
              <a:r>
                <a:rPr lang="zh-CN" altLang="en-US" sz="12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路由</a:t>
              </a:r>
              <a:endParaRPr lang="zh-CN" altLang="en-US" sz="12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2" name="TextBox 120"/>
            <p:cNvSpPr txBox="1"/>
            <p:nvPr/>
          </p:nvSpPr>
          <p:spPr bwMode="gray">
            <a:xfrm>
              <a:off x="788357" y="2417231"/>
              <a:ext cx="2539923" cy="301052"/>
            </a:xfrm>
            <a:prstGeom prst="roundRect">
              <a:avLst>
                <a:gd name="adj" fmla="val 3880"/>
              </a:avLst>
            </a:prstGeom>
            <a:noFill/>
            <a:ln w="12700">
              <a:solidFill>
                <a:srgbClr val="56C4D2"/>
              </a:solidFill>
            </a:ln>
          </p:spPr>
          <p:txBody>
            <a:bodyPr wrap="square" rtlCol="0" anchor="ctr">
              <a:spAutoFit/>
            </a:bodyPr>
            <a:lstStyle/>
            <a:p>
              <a:r>
                <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Prefix  NHP Ext-Community</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Net2   PE2   </a:t>
              </a: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0:15</a:t>
              </a:r>
              <a:endPar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93" name="Freeform 92"/>
          <p:cNvSpPr/>
          <p:nvPr/>
        </p:nvSpPr>
        <p:spPr bwMode="gray">
          <a:xfrm>
            <a:off x="8882905" y="2669174"/>
            <a:ext cx="1326929" cy="374698"/>
          </a:xfrm>
          <a:custGeom>
            <a:avLst/>
            <a:gdLst>
              <a:gd name="connsiteX0" fmla="*/ 3883510 w 3883510"/>
              <a:gd name="connsiteY0" fmla="*/ 1409282 h 1441555"/>
              <a:gd name="connsiteX1" fmla="*/ 1979407 w 3883510"/>
              <a:gd name="connsiteY1" fmla="*/ 30 h 1441555"/>
              <a:gd name="connsiteX2" fmla="*/ 0 w 3883510"/>
              <a:gd name="connsiteY2" fmla="*/ 1441555 h 1441555"/>
            </a:gdLst>
            <a:ahLst/>
            <a:cxnLst>
              <a:cxn ang="0">
                <a:pos x="connsiteX0" y="connsiteY0"/>
              </a:cxn>
              <a:cxn ang="0">
                <a:pos x="connsiteX1" y="connsiteY1"/>
              </a:cxn>
              <a:cxn ang="0">
                <a:pos x="connsiteX2" y="connsiteY2"/>
              </a:cxn>
            </a:cxnLst>
            <a:rect l="l" t="t" r="r" b="b"/>
            <a:pathLst>
              <a:path w="3883510" h="1441555">
                <a:moveTo>
                  <a:pt x="3883510" y="1409282"/>
                </a:moveTo>
                <a:cubicBezTo>
                  <a:pt x="3255084" y="701966"/>
                  <a:pt x="2626659" y="-5349"/>
                  <a:pt x="1979407" y="30"/>
                </a:cubicBezTo>
                <a:cubicBezTo>
                  <a:pt x="1332155" y="5409"/>
                  <a:pt x="666077" y="723482"/>
                  <a:pt x="0" y="1441555"/>
                </a:cubicBezTo>
              </a:path>
            </a:pathLst>
          </a:custGeom>
          <a:noFill/>
          <a:ln w="19050">
            <a:prstDash val="dash"/>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4" name="组合 17"/>
          <p:cNvGrpSpPr/>
          <p:nvPr/>
        </p:nvGrpSpPr>
        <p:grpSpPr bwMode="gray">
          <a:xfrm>
            <a:off x="9058414" y="2063924"/>
            <a:ext cx="1210060" cy="755373"/>
            <a:chOff x="746169" y="2262490"/>
            <a:chExt cx="1210060" cy="483233"/>
          </a:xfrm>
        </p:grpSpPr>
        <p:sp>
          <p:nvSpPr>
            <p:cNvPr id="95" name="矩形: 圆角 52"/>
            <p:cNvSpPr/>
            <p:nvPr/>
          </p:nvSpPr>
          <p:spPr bwMode="gray">
            <a:xfrm>
              <a:off x="746169" y="2262490"/>
              <a:ext cx="1210060" cy="483233"/>
            </a:xfrm>
            <a:prstGeom prst="roundRect">
              <a:avLst>
                <a:gd name="adj" fmla="val 3125"/>
              </a:avLst>
            </a:prstGeom>
            <a:solidFill>
              <a:schemeClr val="bg1"/>
            </a:solidFill>
            <a:ln w="190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ltLang="zh-CN" sz="12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IGP</a:t>
              </a:r>
              <a:r>
                <a:rPr lang="zh-CN" altLang="en-US" sz="12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路由</a:t>
              </a:r>
              <a:endParaRPr lang="zh-CN" altLang="en-US" sz="12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6" name="TextBox 120"/>
            <p:cNvSpPr txBox="1"/>
            <p:nvPr/>
          </p:nvSpPr>
          <p:spPr bwMode="gray">
            <a:xfrm>
              <a:off x="788358" y="2418648"/>
              <a:ext cx="1112567" cy="301053"/>
            </a:xfrm>
            <a:prstGeom prst="roundRect">
              <a:avLst>
                <a:gd name="adj" fmla="val 3880"/>
              </a:avLst>
            </a:prstGeom>
            <a:noFill/>
            <a:ln w="12700">
              <a:solidFill>
                <a:srgbClr val="56C4D2"/>
              </a:solidFill>
            </a:ln>
          </p:spPr>
          <p:txBody>
            <a:bodyPr wrap="square" rtlCol="0" anchor="ctr">
              <a:spAutoFit/>
            </a:bodyPr>
            <a:lstStyle/>
            <a:p>
              <a:r>
                <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Prefix  NHP</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Net2    CE2</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97" name="Freeform 96"/>
          <p:cNvSpPr/>
          <p:nvPr/>
        </p:nvSpPr>
        <p:spPr bwMode="gray">
          <a:xfrm>
            <a:off x="1762986" y="2675812"/>
            <a:ext cx="1326929" cy="374698"/>
          </a:xfrm>
          <a:custGeom>
            <a:avLst/>
            <a:gdLst>
              <a:gd name="connsiteX0" fmla="*/ 3883510 w 3883510"/>
              <a:gd name="connsiteY0" fmla="*/ 1409282 h 1441555"/>
              <a:gd name="connsiteX1" fmla="*/ 1979407 w 3883510"/>
              <a:gd name="connsiteY1" fmla="*/ 30 h 1441555"/>
              <a:gd name="connsiteX2" fmla="*/ 0 w 3883510"/>
              <a:gd name="connsiteY2" fmla="*/ 1441555 h 1441555"/>
            </a:gdLst>
            <a:ahLst/>
            <a:cxnLst>
              <a:cxn ang="0">
                <a:pos x="connsiteX0" y="connsiteY0"/>
              </a:cxn>
              <a:cxn ang="0">
                <a:pos x="connsiteX1" y="connsiteY1"/>
              </a:cxn>
              <a:cxn ang="0">
                <a:pos x="connsiteX2" y="connsiteY2"/>
              </a:cxn>
            </a:cxnLst>
            <a:rect l="l" t="t" r="r" b="b"/>
            <a:pathLst>
              <a:path w="3883510" h="1441555">
                <a:moveTo>
                  <a:pt x="3883510" y="1409282"/>
                </a:moveTo>
                <a:cubicBezTo>
                  <a:pt x="3255084" y="701966"/>
                  <a:pt x="2626659" y="-5349"/>
                  <a:pt x="1979407" y="30"/>
                </a:cubicBezTo>
                <a:cubicBezTo>
                  <a:pt x="1332155" y="5409"/>
                  <a:pt x="666077" y="723482"/>
                  <a:pt x="0" y="1441555"/>
                </a:cubicBezTo>
              </a:path>
            </a:pathLst>
          </a:custGeom>
          <a:noFill/>
          <a:ln w="19050">
            <a:prstDash val="dash"/>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8" name="组合 17"/>
          <p:cNvGrpSpPr/>
          <p:nvPr/>
        </p:nvGrpSpPr>
        <p:grpSpPr bwMode="gray">
          <a:xfrm>
            <a:off x="1771545" y="2065106"/>
            <a:ext cx="1210060" cy="755373"/>
            <a:chOff x="746169" y="2262490"/>
            <a:chExt cx="1210060" cy="483233"/>
          </a:xfrm>
        </p:grpSpPr>
        <p:sp>
          <p:nvSpPr>
            <p:cNvPr id="100" name="矩形: 圆角 52"/>
            <p:cNvSpPr/>
            <p:nvPr/>
          </p:nvSpPr>
          <p:spPr bwMode="gray">
            <a:xfrm>
              <a:off x="746169" y="2262490"/>
              <a:ext cx="1210060" cy="483233"/>
            </a:xfrm>
            <a:prstGeom prst="roundRect">
              <a:avLst>
                <a:gd name="adj" fmla="val 3125"/>
              </a:avLst>
            </a:prstGeom>
            <a:solidFill>
              <a:schemeClr val="bg1"/>
            </a:solidFill>
            <a:ln w="190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ltLang="zh-CN" sz="12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IGP</a:t>
              </a:r>
              <a:r>
                <a:rPr lang="zh-CN" altLang="en-US" sz="12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路由</a:t>
              </a:r>
              <a:endParaRPr lang="zh-CN" altLang="en-US" sz="12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1" name="TextBox 120"/>
            <p:cNvSpPr txBox="1"/>
            <p:nvPr/>
          </p:nvSpPr>
          <p:spPr bwMode="gray">
            <a:xfrm>
              <a:off x="788358" y="2418648"/>
              <a:ext cx="1112567" cy="301053"/>
            </a:xfrm>
            <a:prstGeom prst="roundRect">
              <a:avLst>
                <a:gd name="adj" fmla="val 3880"/>
              </a:avLst>
            </a:prstGeom>
            <a:noFill/>
            <a:ln w="12700">
              <a:solidFill>
                <a:srgbClr val="56C4D2"/>
              </a:solidFill>
            </a:ln>
          </p:spPr>
          <p:txBody>
            <a:bodyPr wrap="square" rtlCol="0" anchor="ctr">
              <a:spAutoFit/>
            </a:bodyPr>
            <a:lstStyle/>
            <a:p>
              <a:r>
                <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Prefix  NHP</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Net2   PE1</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102" name="Freeform 159"/>
          <p:cNvSpPr/>
          <p:nvPr/>
        </p:nvSpPr>
        <p:spPr bwMode="gray">
          <a:xfrm flipH="1">
            <a:off x="10442957" y="2800309"/>
            <a:ext cx="753503" cy="39387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N</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et2</a:t>
            </a:r>
            <a:endParaRPr 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3" name="矩形 133"/>
          <p:cNvSpPr/>
          <p:nvPr/>
        </p:nvSpPr>
        <p:spPr bwMode="gray">
          <a:xfrm>
            <a:off x="4967470" y="3365780"/>
            <a:ext cx="907621" cy="307777"/>
          </a:xfrm>
          <a:prstGeom prst="rect">
            <a:avLst/>
          </a:prstGeom>
        </p:spPr>
        <p:txBody>
          <a:bodyPr wrap="none">
            <a:spAutoFit/>
          </a:bodyPr>
          <a:lstStyle/>
          <a:p>
            <a:pPr algn="ctr"/>
            <a:r>
              <a:rPr lang="en-US" altLang="zh-CN" sz="14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Color 15</a:t>
            </a:r>
            <a:endParaRPr lang="zh-CN" altLang="en-US" sz="14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graphicFrame>
        <p:nvGraphicFramePr>
          <p:cNvPr id="75" name="Table 74"/>
          <p:cNvGraphicFramePr>
            <a:graphicFrameLocks noGrp="1"/>
          </p:cNvGraphicFramePr>
          <p:nvPr/>
        </p:nvGraphicFramePr>
        <p:xfrm>
          <a:off x="9612558" y="3793896"/>
          <a:ext cx="1085282" cy="731520"/>
        </p:xfrm>
        <a:graphic>
          <a:graphicData uri="http://schemas.openxmlformats.org/drawingml/2006/table">
            <a:tbl>
              <a:tblPr firstRow="1" bandRow="1">
                <a:tableStyleId>{72833802-FEF1-4C79-8D5D-14CF1EAF98D9}</a:tableStyleId>
              </a:tblPr>
              <a:tblGrid>
                <a:gridCol w="1085282"/>
              </a:tblGrid>
              <a:tr h="370840">
                <a:tc>
                  <a:txBody>
                    <a:bodyPr/>
                    <a:lstStyle/>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DIPv6</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Net2</a:t>
                      </a:r>
                      <a:endPar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SIPv6</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CE1</a:t>
                      </a:r>
                      <a:endPar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6C4D2"/>
                    </a:solidFill>
                  </a:tcPr>
                </a:tc>
              </a:tr>
              <a:tr h="0">
                <a:tc>
                  <a:txBody>
                    <a:bodyPr/>
                    <a:lstStyle/>
                    <a:p>
                      <a:pPr algn="ctr"/>
                      <a:r>
                        <a:rPr lang="en-US" altLang="zh-CN" sz="1200" dirty="0">
                          <a:solidFill>
                            <a:schemeClr val="bg1"/>
                          </a:solidFill>
                        </a:rPr>
                        <a:t>Payload</a:t>
                      </a:r>
                      <a:endParaRPr lang="zh-CN" altLang="en-US" sz="1200"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r>
            </a:tbl>
          </a:graphicData>
        </a:graphic>
      </p:graphicFrame>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en-US" altLang="zh-CN" sz="2200" dirty="0">
                <a:solidFill>
                  <a:schemeClr val="bg1">
                    <a:lumMod val="50000"/>
                  </a:schemeClr>
                </a:solidFill>
                <a:sym typeface="Huawei Sans" panose="020C0503030203020204" pitchFamily="34" charset="0"/>
              </a:rPr>
              <a:t>SRv6</a:t>
            </a:r>
            <a:r>
              <a:rPr lang="zh-CN" altLang="en-US" sz="2200" dirty="0">
                <a:solidFill>
                  <a:schemeClr val="bg1">
                    <a:lumMod val="50000"/>
                  </a:schemeClr>
                </a:solidFill>
                <a:sym typeface="Huawei Sans" panose="020C0503030203020204" pitchFamily="34" charset="0"/>
              </a:rPr>
              <a:t>概述</a:t>
            </a:r>
            <a:endParaRPr lang="zh-CN" altLang="en-US" sz="2200" dirty="0">
              <a:solidFill>
                <a:schemeClr val="bg1">
                  <a:lumMod val="50000"/>
                </a:schemeClr>
              </a:solidFill>
              <a:sym typeface="Huawei Sans" panose="020C0503030203020204" pitchFamily="34" charset="0"/>
            </a:endParaRPr>
          </a:p>
          <a:p>
            <a:r>
              <a:rPr lang="en-US" altLang="zh-CN" sz="2200" dirty="0">
                <a:solidFill>
                  <a:schemeClr val="bg1">
                    <a:lumMod val="50000"/>
                  </a:schemeClr>
                </a:solidFill>
                <a:sym typeface="Huawei Sans" panose="020C0503030203020204" pitchFamily="34" charset="0"/>
              </a:rPr>
              <a:t>SRv6</a:t>
            </a:r>
            <a:r>
              <a:rPr lang="zh-CN" altLang="en-US" sz="2200" dirty="0">
                <a:solidFill>
                  <a:schemeClr val="bg1">
                    <a:lumMod val="50000"/>
                  </a:schemeClr>
                </a:solidFill>
                <a:sym typeface="Huawei Sans" panose="020C0503030203020204" pitchFamily="34" charset="0"/>
              </a:rPr>
              <a:t>原理</a:t>
            </a:r>
            <a:endParaRPr lang="zh-CN" altLang="en-US" sz="2200" dirty="0">
              <a:solidFill>
                <a:schemeClr val="bg1">
                  <a:lumMod val="50000"/>
                </a:schemeClr>
              </a:solidFill>
              <a:sym typeface="Huawei Sans" panose="020C0503030203020204" pitchFamily="34" charset="0"/>
            </a:endParaRPr>
          </a:p>
          <a:p>
            <a:r>
              <a:rPr lang="en-US" altLang="zh-CN" sz="2200" b="1" dirty="0">
                <a:sym typeface="Huawei Sans" panose="020C0503030203020204" pitchFamily="34" charset="0"/>
              </a:rPr>
              <a:t>SRv6</a:t>
            </a:r>
            <a:r>
              <a:rPr lang="zh-CN" altLang="en-US" sz="2200" b="1" dirty="0">
                <a:sym typeface="Huawei Sans" panose="020C0503030203020204" pitchFamily="34" charset="0"/>
              </a:rPr>
              <a:t>高可靠性</a:t>
            </a:r>
            <a:endParaRPr lang="en-US" altLang="zh-CN" sz="2200" b="1" dirty="0">
              <a:sym typeface="Huawei Sans" panose="020C0503030203020204" pitchFamily="34" charset="0"/>
            </a:endParaRPr>
          </a:p>
          <a:p>
            <a:pPr lvl="1">
              <a:buSzPct val="60000"/>
              <a:buFont typeface="Wingdings" panose="05000000000000000000" pitchFamily="2" charset="2"/>
              <a:buChar char="n"/>
            </a:pPr>
            <a:r>
              <a:rPr lang="en-US" altLang="zh-CN" sz="2000" dirty="0">
                <a:sym typeface="Huawei Sans" panose="020C0503030203020204" pitchFamily="34" charset="0"/>
              </a:rPr>
              <a:t>SRv6</a:t>
            </a:r>
            <a:r>
              <a:rPr lang="zh-CN" altLang="en-US" sz="2000" dirty="0">
                <a:sym typeface="Huawei Sans" panose="020C0503030203020204" pitchFamily="34" charset="0"/>
              </a:rPr>
              <a:t>高可靠性概述</a:t>
            </a:r>
            <a:endParaRPr lang="en-US" altLang="zh-CN" sz="2000" dirty="0">
              <a:sym typeface="Huawei Sans" panose="020C0503030203020204" pitchFamily="34" charset="0"/>
            </a:endParaRPr>
          </a:p>
          <a:p>
            <a:pPr lvl="1"/>
            <a:r>
              <a:rPr lang="en-US" altLang="zh-CN" sz="2000" dirty="0">
                <a:solidFill>
                  <a:schemeClr val="bg1">
                    <a:lumMod val="50000"/>
                  </a:schemeClr>
                </a:solidFill>
                <a:sym typeface="Huawei Sans" panose="020C0503030203020204" pitchFamily="34" charset="0"/>
              </a:rPr>
              <a:t>SRv6</a:t>
            </a:r>
            <a:r>
              <a:rPr lang="zh-CN" altLang="en-US" sz="2000" dirty="0">
                <a:solidFill>
                  <a:schemeClr val="bg1">
                    <a:lumMod val="50000"/>
                  </a:schemeClr>
                </a:solidFill>
                <a:sym typeface="Huawei Sans" panose="020C0503030203020204" pitchFamily="34" charset="0"/>
              </a:rPr>
              <a:t>隧道状态检测与隧道保护</a:t>
            </a:r>
            <a:endParaRPr lang="en-US" altLang="zh-CN" sz="2000" dirty="0">
              <a:solidFill>
                <a:schemeClr val="bg1">
                  <a:lumMod val="50000"/>
                </a:schemeClr>
              </a:solidFill>
              <a:sym typeface="Huawei Sans" panose="020C0503030203020204" pitchFamily="34" charset="0"/>
            </a:endParaRPr>
          </a:p>
          <a:p>
            <a:pPr lvl="1"/>
            <a:r>
              <a:rPr lang="en-US" altLang="zh-CN" sz="2000" dirty="0">
                <a:solidFill>
                  <a:schemeClr val="bg1">
                    <a:lumMod val="50000"/>
                  </a:schemeClr>
                </a:solidFill>
                <a:sym typeface="Huawei Sans" panose="020C0503030203020204" pitchFamily="34" charset="0"/>
              </a:rPr>
              <a:t>SRv6</a:t>
            </a:r>
            <a:r>
              <a:rPr lang="zh-CN" altLang="en-US" sz="2000" dirty="0">
                <a:solidFill>
                  <a:schemeClr val="bg1">
                    <a:lumMod val="50000"/>
                  </a:schemeClr>
                </a:solidFill>
                <a:sym typeface="Huawei Sans" panose="020C0503030203020204" pitchFamily="34" charset="0"/>
              </a:rPr>
              <a:t>尾节点保护与接入保护</a:t>
            </a:r>
            <a:endParaRPr lang="en-US" altLang="zh-CN" sz="2000" dirty="0">
              <a:solidFill>
                <a:schemeClr val="bg1">
                  <a:lumMod val="50000"/>
                </a:schemeClr>
              </a:solidFill>
              <a:sym typeface="Huawei Sans" panose="020C0503030203020204" pitchFamily="34" charset="0"/>
            </a:endParaRPr>
          </a:p>
          <a:p>
            <a:r>
              <a:rPr lang="en-US" altLang="zh-CN" sz="2200" dirty="0">
                <a:solidFill>
                  <a:schemeClr val="bg1">
                    <a:lumMod val="50000"/>
                  </a:schemeClr>
                </a:solidFill>
                <a:sym typeface="Huawei Sans" panose="020C0503030203020204" pitchFamily="34" charset="0"/>
              </a:rPr>
              <a:t>SRv6</a:t>
            </a:r>
            <a:r>
              <a:rPr lang="zh-CN" altLang="en-US" sz="2200" dirty="0">
                <a:solidFill>
                  <a:schemeClr val="bg1">
                    <a:lumMod val="50000"/>
                  </a:schemeClr>
                </a:solidFill>
                <a:sym typeface="Huawei Sans" panose="020C0503030203020204" pitchFamily="34" charset="0"/>
              </a:rPr>
              <a:t>基础配置</a:t>
            </a:r>
            <a:endParaRPr lang="en-US" altLang="zh-CN" sz="2200" dirty="0">
              <a:solidFill>
                <a:schemeClr val="bg1">
                  <a:lumMod val="50000"/>
                </a:schemeClr>
              </a:solidFill>
              <a:sym typeface="Huawei Sans" panose="020C0503030203020204" pitchFamily="34" charset="0"/>
            </a:endParaRPr>
          </a:p>
          <a:p>
            <a:r>
              <a:rPr lang="zh-CN" altLang="en-US" sz="2200" dirty="0">
                <a:solidFill>
                  <a:schemeClr val="bg1">
                    <a:lumMod val="50000"/>
                  </a:schemeClr>
                </a:solidFill>
                <a:sym typeface="Huawei Sans" panose="020C0503030203020204" pitchFamily="34" charset="0"/>
              </a:rPr>
              <a:t>基于</a:t>
            </a:r>
            <a:r>
              <a:rPr lang="en-US" altLang="zh-CN" sz="2200" dirty="0" err="1">
                <a:solidFill>
                  <a:schemeClr val="bg1">
                    <a:lumMod val="50000"/>
                  </a:schemeClr>
                </a:solidFill>
                <a:sym typeface="Huawei Sans" panose="020C0503030203020204" pitchFamily="34" charset="0"/>
              </a:rPr>
              <a:t>iMaster</a:t>
            </a:r>
            <a:r>
              <a:rPr lang="en-US" altLang="zh-CN" sz="2200" dirty="0">
                <a:solidFill>
                  <a:schemeClr val="bg1">
                    <a:lumMod val="50000"/>
                  </a:schemeClr>
                </a:solidFill>
                <a:sym typeface="Huawei Sans" panose="020C0503030203020204" pitchFamily="34" charset="0"/>
              </a:rPr>
              <a:t> NCE-IP</a:t>
            </a:r>
            <a:r>
              <a:rPr lang="zh-CN" altLang="en-US" sz="2200" dirty="0">
                <a:solidFill>
                  <a:schemeClr val="bg1">
                    <a:lumMod val="50000"/>
                  </a:schemeClr>
                </a:solidFill>
                <a:sym typeface="Huawei Sans" panose="020C0503030203020204" pitchFamily="34" charset="0"/>
              </a:rPr>
              <a:t>部署</a:t>
            </a:r>
            <a:r>
              <a:rPr lang="en-US" altLang="zh-CN" sz="2200" dirty="0">
                <a:solidFill>
                  <a:schemeClr val="bg1">
                    <a:lumMod val="50000"/>
                  </a:schemeClr>
                </a:solidFill>
                <a:sym typeface="Huawei Sans" panose="020C0503030203020204" pitchFamily="34" charset="0"/>
              </a:rPr>
              <a:t>SRv6</a:t>
            </a:r>
            <a:endParaRPr lang="zh-CN" altLang="en-US" sz="2200" dirty="0">
              <a:solidFill>
                <a:schemeClr val="bg1">
                  <a:lumMod val="50000"/>
                </a:schemeClr>
              </a:solidFill>
              <a:sym typeface="Huawei Sans" panose="020C0503030203020204" pitchFamily="34" charset="0"/>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bwMode="gray"/>
        <p:txBody>
          <a:bodyPr/>
          <a:lstStyle/>
          <a:p>
            <a:r>
              <a:rPr lang="zh-CN" altLang="en-US" dirty="0"/>
              <a:t>广域承载网高可靠性需求</a:t>
            </a:r>
            <a:endParaRPr lang="zh-CN" altLang="en-US" dirty="0"/>
          </a:p>
        </p:txBody>
      </p:sp>
      <p:sp>
        <p:nvSpPr>
          <p:cNvPr id="4" name="Text Placeholder 3"/>
          <p:cNvSpPr>
            <a:spLocks noGrp="1"/>
          </p:cNvSpPr>
          <p:nvPr>
            <p:ph type="body" sz="quarter" idx="10"/>
          </p:nvPr>
        </p:nvSpPr>
        <p:spPr bwMode="gray"/>
        <p:txBody>
          <a:bodyPr/>
          <a:lstStyle/>
          <a:p>
            <a:r>
              <a:rPr lang="en-US" altLang="zh-CN" sz="2000" dirty="0"/>
              <a:t>50 </a:t>
            </a:r>
            <a:r>
              <a:rPr lang="en-US" altLang="zh-CN" sz="2000" dirty="0" err="1"/>
              <a:t>ms</a:t>
            </a:r>
            <a:r>
              <a:rPr lang="zh-CN" altLang="en-US" sz="2000" dirty="0"/>
              <a:t>故障恢复已经成为广域承载网基础要求。</a:t>
            </a:r>
            <a:endParaRPr lang="zh-CN" altLang="en-US" sz="2000" dirty="0"/>
          </a:p>
          <a:p>
            <a:pPr lvl="1"/>
            <a:r>
              <a:rPr lang="zh-CN" altLang="en-US" sz="1800" dirty="0"/>
              <a:t>语音业务：实时性强，如果故障恢复时间控制在毫秒级，用户无感知或有轻微感觉，对业务影响不大，达到秒级，则会话中断。</a:t>
            </a:r>
            <a:endParaRPr lang="en-US" altLang="zh-CN" sz="1800" dirty="0"/>
          </a:p>
          <a:p>
            <a:pPr lvl="1"/>
            <a:r>
              <a:rPr lang="en-US" altLang="zh-CN" sz="1800" dirty="0"/>
              <a:t>IPTV</a:t>
            </a:r>
            <a:r>
              <a:rPr lang="zh-CN" altLang="en-US" sz="1800" dirty="0"/>
              <a:t>业务：如果故障恢复时间控制在毫秒级，</a:t>
            </a:r>
            <a:r>
              <a:rPr lang="en-US" altLang="zh-CN" sz="1800" dirty="0"/>
              <a:t>IPTV</a:t>
            </a:r>
            <a:r>
              <a:rPr lang="zh-CN" altLang="en-US" sz="1800" dirty="0"/>
              <a:t>可能出现瞬时马赛克现象。</a:t>
            </a:r>
            <a:endParaRPr lang="zh-CN" altLang="en-US" sz="1800" dirty="0"/>
          </a:p>
        </p:txBody>
      </p:sp>
      <p:sp>
        <p:nvSpPr>
          <p:cNvPr id="6" name="AutoShape 23"/>
          <p:cNvSpPr>
            <a:spLocks noChangeArrowheads="1"/>
          </p:cNvSpPr>
          <p:nvPr/>
        </p:nvSpPr>
        <p:spPr bwMode="gray">
          <a:xfrm>
            <a:off x="2398385" y="4352620"/>
            <a:ext cx="1076100" cy="360362"/>
          </a:xfrm>
          <a:prstGeom prst="chevron">
            <a:avLst>
              <a:gd name="adj" fmla="val 49192"/>
            </a:avLst>
          </a:prstGeom>
          <a:solidFill>
            <a:srgbClr val="F6B78C"/>
          </a:solidFill>
          <a:ln w="9525" algn="ctr">
            <a:noFill/>
            <a:miter lim="800000"/>
          </a:ln>
          <a:effectLst>
            <a:outerShdw dist="35921" dir="2700000" algn="ctr" rotWithShape="0">
              <a:schemeClr val="bg2"/>
            </a:outerShdw>
          </a:effectLst>
        </p:spPr>
        <p:txBody>
          <a:bodyPr wrap="none" lIns="83420" tIns="41710" rIns="83420" bIns="41710" anchor="ctr"/>
          <a:lstStyle/>
          <a:p>
            <a:pPr algn="ctr" defTabSz="835025">
              <a:defRPr/>
            </a:pPr>
            <a:r>
              <a:rPr lang="zh-CN" altLang="en-US" sz="1200" dirty="0">
                <a:solidFill>
                  <a:schemeClr val="bg1"/>
                </a:solidFill>
                <a:latin typeface="Huawei Sans" panose="020C0503030203020204" pitchFamily="34" charset="0"/>
                <a:ea typeface="方正兰亭黑简体" panose="02000000000000000000" pitchFamily="2" charset="-122"/>
                <a:cs typeface="+mn-ea"/>
                <a:sym typeface="+mn-lt"/>
              </a:rPr>
              <a:t>有轻微感觉</a:t>
            </a:r>
            <a:endParaRPr lang="zh-CN" altLang="en-US" sz="1200" dirty="0">
              <a:solidFill>
                <a:schemeClr val="bg1"/>
              </a:solidFill>
              <a:latin typeface="Huawei Sans" panose="020C0503030203020204" pitchFamily="34" charset="0"/>
              <a:ea typeface="方正兰亭黑简体" panose="02000000000000000000" pitchFamily="2" charset="-122"/>
              <a:cs typeface="+mn-ea"/>
              <a:sym typeface="+mn-lt"/>
            </a:endParaRPr>
          </a:p>
        </p:txBody>
      </p:sp>
      <p:sp>
        <p:nvSpPr>
          <p:cNvPr id="7" name="AutoShape 24"/>
          <p:cNvSpPr>
            <a:spLocks noChangeArrowheads="1"/>
          </p:cNvSpPr>
          <p:nvPr/>
        </p:nvSpPr>
        <p:spPr bwMode="gray">
          <a:xfrm>
            <a:off x="3524307" y="4537259"/>
            <a:ext cx="1027341" cy="361950"/>
          </a:xfrm>
          <a:prstGeom prst="chevron">
            <a:avLst>
              <a:gd name="adj" fmla="val 28297"/>
            </a:avLst>
          </a:prstGeom>
          <a:solidFill>
            <a:srgbClr val="E28189"/>
          </a:solidFill>
          <a:ln w="9525" algn="ctr">
            <a:noFill/>
            <a:miter lim="800000"/>
          </a:ln>
          <a:effectLst>
            <a:outerShdw dist="35921" dir="2700000" algn="ctr" rotWithShape="0">
              <a:schemeClr val="bg2"/>
            </a:outerShdw>
          </a:effectLst>
        </p:spPr>
        <p:txBody>
          <a:bodyPr wrap="none" lIns="83420" tIns="41710" rIns="83420" bIns="41710" anchor="ctr"/>
          <a:lstStyle/>
          <a:p>
            <a:pPr algn="ctr" defTabSz="835025">
              <a:defRPr/>
            </a:pPr>
            <a:r>
              <a:rPr lang="zh-CN" altLang="en-US" sz="1200" dirty="0">
                <a:solidFill>
                  <a:schemeClr val="bg1"/>
                </a:solidFill>
                <a:latin typeface="Huawei Sans" panose="020C0503030203020204" pitchFamily="34" charset="0"/>
                <a:ea typeface="方正兰亭黑简体" panose="02000000000000000000" pitchFamily="2" charset="-122"/>
                <a:cs typeface="+mn-ea"/>
                <a:sym typeface="+mn-lt"/>
              </a:rPr>
              <a:t>有明显感觉</a:t>
            </a:r>
            <a:endParaRPr lang="zh-CN" altLang="en-US" sz="1200" dirty="0">
              <a:solidFill>
                <a:schemeClr val="bg1"/>
              </a:solidFill>
              <a:latin typeface="Huawei Sans" panose="020C0503030203020204" pitchFamily="34" charset="0"/>
              <a:ea typeface="方正兰亭黑简体" panose="02000000000000000000" pitchFamily="2" charset="-122"/>
              <a:cs typeface="+mn-ea"/>
              <a:sym typeface="+mn-lt"/>
            </a:endParaRPr>
          </a:p>
        </p:txBody>
      </p:sp>
      <p:sp>
        <p:nvSpPr>
          <p:cNvPr id="8" name="Line 25"/>
          <p:cNvSpPr>
            <a:spLocks noChangeShapeType="1"/>
          </p:cNvSpPr>
          <p:nvPr/>
        </p:nvSpPr>
        <p:spPr bwMode="gray">
          <a:xfrm flipH="1">
            <a:off x="1098220" y="5099219"/>
            <a:ext cx="4608512" cy="16989"/>
          </a:xfrm>
          <a:prstGeom prst="line">
            <a:avLst/>
          </a:prstGeom>
          <a:noFill/>
          <a:ln w="15875">
            <a:solidFill>
              <a:schemeClr val="tx1"/>
            </a:solidFill>
            <a:round/>
            <a:headEnd type="triangle" w="med" len="lg"/>
          </a:ln>
          <a:extLst>
            <a:ext uri="{909E8E84-426E-40DD-AFC4-6F175D3DCCD1}">
              <a14:hiddenFill xmlns:a14="http://schemas.microsoft.com/office/drawing/2010/main">
                <a:noFill/>
              </a14:hiddenFill>
            </a:ext>
          </a:extLst>
        </p:spPr>
        <p:txBody>
          <a:bodyPr wrap="none" anchor="ctr"/>
          <a:lstStyle/>
          <a:p>
            <a:endParaRPr lang="zh-CN" altLang="en-US">
              <a:latin typeface="Huawei Sans" panose="020C0503030203020204" pitchFamily="34" charset="0"/>
              <a:ea typeface="方正兰亭黑简体" panose="02000000000000000000" pitchFamily="2" charset="-122"/>
              <a:cs typeface="+mn-ea"/>
              <a:sym typeface="+mn-lt"/>
            </a:endParaRPr>
          </a:p>
        </p:txBody>
      </p:sp>
      <p:sp>
        <p:nvSpPr>
          <p:cNvPr id="9" name="Line 26"/>
          <p:cNvSpPr>
            <a:spLocks noChangeShapeType="1"/>
          </p:cNvSpPr>
          <p:nvPr/>
        </p:nvSpPr>
        <p:spPr bwMode="gray">
          <a:xfrm flipH="1">
            <a:off x="1098221" y="3415995"/>
            <a:ext cx="7938" cy="1700212"/>
          </a:xfrm>
          <a:prstGeom prst="line">
            <a:avLst/>
          </a:prstGeom>
          <a:noFill/>
          <a:ln w="15875">
            <a:solidFill>
              <a:schemeClr val="tx1"/>
            </a:solidFill>
            <a:round/>
            <a:headEnd type="triangle" w="med" len="lg"/>
          </a:ln>
          <a:extLst>
            <a:ext uri="{909E8E84-426E-40DD-AFC4-6F175D3DCCD1}">
              <a14:hiddenFill xmlns:a14="http://schemas.microsoft.com/office/drawing/2010/main">
                <a:noFill/>
              </a14:hiddenFill>
            </a:ext>
          </a:extLst>
        </p:spPr>
        <p:txBody>
          <a:bodyPr wrap="none" anchor="ctr"/>
          <a:lstStyle/>
          <a:p>
            <a:endParaRPr lang="zh-CN" altLang="en-US">
              <a:latin typeface="Huawei Sans" panose="020C0503030203020204" pitchFamily="34" charset="0"/>
              <a:ea typeface="方正兰亭黑简体" panose="02000000000000000000" pitchFamily="2" charset="-122"/>
              <a:cs typeface="+mn-ea"/>
              <a:sym typeface="+mn-lt"/>
            </a:endParaRPr>
          </a:p>
        </p:txBody>
      </p:sp>
      <p:sp>
        <p:nvSpPr>
          <p:cNvPr id="10" name="Text Box 27"/>
          <p:cNvSpPr txBox="1">
            <a:spLocks noChangeArrowheads="1"/>
          </p:cNvSpPr>
          <p:nvPr/>
        </p:nvSpPr>
        <p:spPr bwMode="gray">
          <a:xfrm>
            <a:off x="2138033" y="5127321"/>
            <a:ext cx="623639" cy="2689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3420" tIns="41710" rIns="83420" bIns="41710">
            <a:spAutoFit/>
          </a:bodyPr>
          <a:lstStyle>
            <a:lvl1pPr defTabSz="835025" eaLnBrk="0" hangingPunct="0">
              <a:defRPr sz="1400">
                <a:solidFill>
                  <a:schemeClr val="bg1"/>
                </a:solidFill>
                <a:latin typeface="FrutigerNext LT Regular" pitchFamily="34" charset="0"/>
                <a:ea typeface="MS PGothic" panose="020B0600070205080204" pitchFamily="34" charset="-128"/>
              </a:defRPr>
            </a:lvl1pPr>
            <a:lvl2pPr marL="742950" indent="-285750" defTabSz="835025" eaLnBrk="0" hangingPunct="0">
              <a:defRPr sz="1400">
                <a:solidFill>
                  <a:schemeClr val="bg1"/>
                </a:solidFill>
                <a:latin typeface="FrutigerNext LT Regular" pitchFamily="34" charset="0"/>
                <a:ea typeface="MS PGothic" panose="020B0600070205080204" pitchFamily="34" charset="-128"/>
              </a:defRPr>
            </a:lvl2pPr>
            <a:lvl3pPr marL="1143000" indent="-228600" defTabSz="835025" eaLnBrk="0" hangingPunct="0">
              <a:defRPr sz="1400">
                <a:solidFill>
                  <a:schemeClr val="bg1"/>
                </a:solidFill>
                <a:latin typeface="FrutigerNext LT Regular" pitchFamily="34" charset="0"/>
                <a:ea typeface="MS PGothic" panose="020B0600070205080204" pitchFamily="34" charset="-128"/>
              </a:defRPr>
            </a:lvl3pPr>
            <a:lvl4pPr marL="1600200" indent="-228600" defTabSz="835025" eaLnBrk="0" hangingPunct="0">
              <a:defRPr sz="1400">
                <a:solidFill>
                  <a:schemeClr val="bg1"/>
                </a:solidFill>
                <a:latin typeface="FrutigerNext LT Regular" pitchFamily="34" charset="0"/>
                <a:ea typeface="MS PGothic" panose="020B0600070205080204" pitchFamily="34" charset="-128"/>
              </a:defRPr>
            </a:lvl4pPr>
            <a:lvl5pPr marL="2057400" indent="-228600" defTabSz="835025" eaLnBrk="0" hangingPunct="0">
              <a:defRPr sz="1400">
                <a:solidFill>
                  <a:schemeClr val="bg1"/>
                </a:solidFill>
                <a:latin typeface="FrutigerNext LT Regular" pitchFamily="34" charset="0"/>
                <a:ea typeface="MS PGothic" panose="020B0600070205080204" pitchFamily="34" charset="-128"/>
              </a:defRPr>
            </a:lvl5pPr>
            <a:lvl6pPr marL="2514600" indent="-228600" defTabSz="835025" eaLnBrk="0" fontAlgn="base" hangingPunct="0">
              <a:spcBef>
                <a:spcPct val="0"/>
              </a:spcBef>
              <a:spcAft>
                <a:spcPct val="0"/>
              </a:spcAft>
              <a:defRPr sz="1400">
                <a:solidFill>
                  <a:schemeClr val="bg1"/>
                </a:solidFill>
                <a:latin typeface="FrutigerNext LT Regular" pitchFamily="34" charset="0"/>
                <a:ea typeface="MS PGothic" panose="020B0600070205080204" pitchFamily="34" charset="-128"/>
              </a:defRPr>
            </a:lvl6pPr>
            <a:lvl7pPr marL="2971800" indent="-228600" defTabSz="835025" eaLnBrk="0" fontAlgn="base" hangingPunct="0">
              <a:spcBef>
                <a:spcPct val="0"/>
              </a:spcBef>
              <a:spcAft>
                <a:spcPct val="0"/>
              </a:spcAft>
              <a:defRPr sz="1400">
                <a:solidFill>
                  <a:schemeClr val="bg1"/>
                </a:solidFill>
                <a:latin typeface="FrutigerNext LT Regular" pitchFamily="34" charset="0"/>
                <a:ea typeface="MS PGothic" panose="020B0600070205080204" pitchFamily="34" charset="-128"/>
              </a:defRPr>
            </a:lvl7pPr>
            <a:lvl8pPr marL="3429000" indent="-228600" defTabSz="835025" eaLnBrk="0" fontAlgn="base" hangingPunct="0">
              <a:spcBef>
                <a:spcPct val="0"/>
              </a:spcBef>
              <a:spcAft>
                <a:spcPct val="0"/>
              </a:spcAft>
              <a:defRPr sz="1400">
                <a:solidFill>
                  <a:schemeClr val="bg1"/>
                </a:solidFill>
                <a:latin typeface="FrutigerNext LT Regular" pitchFamily="34" charset="0"/>
                <a:ea typeface="MS PGothic" panose="020B0600070205080204" pitchFamily="34" charset="-128"/>
              </a:defRPr>
            </a:lvl8pPr>
            <a:lvl9pPr marL="3886200" indent="-228600" defTabSz="835025" eaLnBrk="0" fontAlgn="base" hangingPunct="0">
              <a:spcBef>
                <a:spcPct val="0"/>
              </a:spcBef>
              <a:spcAft>
                <a:spcPct val="0"/>
              </a:spcAft>
              <a:defRPr sz="1400">
                <a:solidFill>
                  <a:schemeClr val="bg1"/>
                </a:solidFill>
                <a:latin typeface="FrutigerNext LT Regular" pitchFamily="34" charset="0"/>
                <a:ea typeface="MS PGothic" panose="020B0600070205080204" pitchFamily="34" charset="-128"/>
              </a:defRPr>
            </a:lvl9pPr>
          </a:lstStyle>
          <a:p>
            <a:pPr eaLnBrk="1" hangingPunct="1">
              <a:spcBef>
                <a:spcPct val="50000"/>
              </a:spcBef>
            </a:pPr>
            <a:r>
              <a:rPr lang="en-US" altLang="zh-CN" sz="1200" dirty="0">
                <a:solidFill>
                  <a:schemeClr val="tx1"/>
                </a:solidFill>
                <a:latin typeface="Huawei Sans" panose="020C0503030203020204" pitchFamily="34" charset="0"/>
                <a:ea typeface="方正兰亭黑简体" panose="02000000000000000000" pitchFamily="2" charset="-122"/>
                <a:cs typeface="+mn-ea"/>
                <a:sym typeface="+mn-lt"/>
              </a:rPr>
              <a:t>50 </a:t>
            </a:r>
            <a:r>
              <a:rPr lang="en-US" altLang="zh-CN" sz="1200" dirty="0" err="1">
                <a:solidFill>
                  <a:schemeClr val="tx1"/>
                </a:solidFill>
                <a:latin typeface="Huawei Sans" panose="020C0503030203020204" pitchFamily="34" charset="0"/>
                <a:ea typeface="方正兰亭黑简体" panose="02000000000000000000" pitchFamily="2" charset="-122"/>
                <a:cs typeface="+mn-ea"/>
                <a:sym typeface="+mn-lt"/>
              </a:rPr>
              <a:t>ms</a:t>
            </a:r>
            <a:endParaRPr lang="en-US" altLang="zh-CN" sz="1200" dirty="0">
              <a:solidFill>
                <a:schemeClr val="tx1"/>
              </a:solidFill>
              <a:latin typeface="Huawei Sans" panose="020C0503030203020204" pitchFamily="34" charset="0"/>
              <a:ea typeface="方正兰亭黑简体" panose="02000000000000000000" pitchFamily="2" charset="-122"/>
              <a:cs typeface="+mn-ea"/>
              <a:sym typeface="+mn-lt"/>
            </a:endParaRPr>
          </a:p>
        </p:txBody>
      </p:sp>
      <p:sp>
        <p:nvSpPr>
          <p:cNvPr id="11" name="Text Box 28"/>
          <p:cNvSpPr txBox="1">
            <a:spLocks noChangeArrowheads="1"/>
          </p:cNvSpPr>
          <p:nvPr/>
        </p:nvSpPr>
        <p:spPr bwMode="gray">
          <a:xfrm>
            <a:off x="1104572" y="3415996"/>
            <a:ext cx="735013" cy="453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3420" tIns="41710" rIns="83420" bIns="41710">
            <a:spAutoFit/>
          </a:bodyPr>
          <a:lstStyle>
            <a:lvl1pPr defTabSz="835025" eaLnBrk="0" hangingPunct="0">
              <a:defRPr sz="1400">
                <a:solidFill>
                  <a:schemeClr val="bg1"/>
                </a:solidFill>
                <a:latin typeface="FrutigerNext LT Regular" pitchFamily="34" charset="0"/>
                <a:ea typeface="MS PGothic" panose="020B0600070205080204" pitchFamily="34" charset="-128"/>
              </a:defRPr>
            </a:lvl1pPr>
            <a:lvl2pPr marL="742950" indent="-285750" defTabSz="835025" eaLnBrk="0" hangingPunct="0">
              <a:defRPr sz="1400">
                <a:solidFill>
                  <a:schemeClr val="bg1"/>
                </a:solidFill>
                <a:latin typeface="FrutigerNext LT Regular" pitchFamily="34" charset="0"/>
                <a:ea typeface="MS PGothic" panose="020B0600070205080204" pitchFamily="34" charset="-128"/>
              </a:defRPr>
            </a:lvl2pPr>
            <a:lvl3pPr marL="1143000" indent="-228600" defTabSz="835025" eaLnBrk="0" hangingPunct="0">
              <a:defRPr sz="1400">
                <a:solidFill>
                  <a:schemeClr val="bg1"/>
                </a:solidFill>
                <a:latin typeface="FrutigerNext LT Regular" pitchFamily="34" charset="0"/>
                <a:ea typeface="MS PGothic" panose="020B0600070205080204" pitchFamily="34" charset="-128"/>
              </a:defRPr>
            </a:lvl3pPr>
            <a:lvl4pPr marL="1600200" indent="-228600" defTabSz="835025" eaLnBrk="0" hangingPunct="0">
              <a:defRPr sz="1400">
                <a:solidFill>
                  <a:schemeClr val="bg1"/>
                </a:solidFill>
                <a:latin typeface="FrutigerNext LT Regular" pitchFamily="34" charset="0"/>
                <a:ea typeface="MS PGothic" panose="020B0600070205080204" pitchFamily="34" charset="-128"/>
              </a:defRPr>
            </a:lvl4pPr>
            <a:lvl5pPr marL="2057400" indent="-228600" defTabSz="835025" eaLnBrk="0" hangingPunct="0">
              <a:defRPr sz="1400">
                <a:solidFill>
                  <a:schemeClr val="bg1"/>
                </a:solidFill>
                <a:latin typeface="FrutigerNext LT Regular" pitchFamily="34" charset="0"/>
                <a:ea typeface="MS PGothic" panose="020B0600070205080204" pitchFamily="34" charset="-128"/>
              </a:defRPr>
            </a:lvl5pPr>
            <a:lvl6pPr marL="2514600" indent="-228600" defTabSz="835025" eaLnBrk="0" fontAlgn="base" hangingPunct="0">
              <a:spcBef>
                <a:spcPct val="0"/>
              </a:spcBef>
              <a:spcAft>
                <a:spcPct val="0"/>
              </a:spcAft>
              <a:defRPr sz="1400">
                <a:solidFill>
                  <a:schemeClr val="bg1"/>
                </a:solidFill>
                <a:latin typeface="FrutigerNext LT Regular" pitchFamily="34" charset="0"/>
                <a:ea typeface="MS PGothic" panose="020B0600070205080204" pitchFamily="34" charset="-128"/>
              </a:defRPr>
            </a:lvl6pPr>
            <a:lvl7pPr marL="2971800" indent="-228600" defTabSz="835025" eaLnBrk="0" fontAlgn="base" hangingPunct="0">
              <a:spcBef>
                <a:spcPct val="0"/>
              </a:spcBef>
              <a:spcAft>
                <a:spcPct val="0"/>
              </a:spcAft>
              <a:defRPr sz="1400">
                <a:solidFill>
                  <a:schemeClr val="bg1"/>
                </a:solidFill>
                <a:latin typeface="FrutigerNext LT Regular" pitchFamily="34" charset="0"/>
                <a:ea typeface="MS PGothic" panose="020B0600070205080204" pitchFamily="34" charset="-128"/>
              </a:defRPr>
            </a:lvl7pPr>
            <a:lvl8pPr marL="3429000" indent="-228600" defTabSz="835025" eaLnBrk="0" fontAlgn="base" hangingPunct="0">
              <a:spcBef>
                <a:spcPct val="0"/>
              </a:spcBef>
              <a:spcAft>
                <a:spcPct val="0"/>
              </a:spcAft>
              <a:defRPr sz="1400">
                <a:solidFill>
                  <a:schemeClr val="bg1"/>
                </a:solidFill>
                <a:latin typeface="FrutigerNext LT Regular" pitchFamily="34" charset="0"/>
                <a:ea typeface="MS PGothic" panose="020B0600070205080204" pitchFamily="34" charset="-128"/>
              </a:defRPr>
            </a:lvl8pPr>
            <a:lvl9pPr marL="3886200" indent="-228600" defTabSz="835025" eaLnBrk="0" fontAlgn="base" hangingPunct="0">
              <a:spcBef>
                <a:spcPct val="0"/>
              </a:spcBef>
              <a:spcAft>
                <a:spcPct val="0"/>
              </a:spcAft>
              <a:defRPr sz="1400">
                <a:solidFill>
                  <a:schemeClr val="bg1"/>
                </a:solidFill>
                <a:latin typeface="FrutigerNext LT Regular" pitchFamily="34" charset="0"/>
                <a:ea typeface="MS PGothic" panose="020B0600070205080204" pitchFamily="34" charset="-128"/>
              </a:defRPr>
            </a:lvl9pPr>
          </a:lstStyle>
          <a:p>
            <a:pPr eaLnBrk="1" hangingPunct="1">
              <a:spcBef>
                <a:spcPct val="50000"/>
              </a:spcBef>
            </a:pPr>
            <a:r>
              <a:rPr lang="zh-CN" altLang="en-US" sz="1200">
                <a:solidFill>
                  <a:schemeClr val="tx1"/>
                </a:solidFill>
                <a:latin typeface="Huawei Sans" panose="020C0503030203020204" pitchFamily="34" charset="0"/>
                <a:ea typeface="方正兰亭黑简体" panose="02000000000000000000" pitchFamily="2" charset="-122"/>
                <a:cs typeface="+mn-ea"/>
                <a:sym typeface="+mn-lt"/>
              </a:rPr>
              <a:t>语音用户体验</a:t>
            </a:r>
            <a:endParaRPr lang="zh-CN" altLang="en-US" sz="1200">
              <a:solidFill>
                <a:schemeClr val="tx1"/>
              </a:solidFill>
              <a:latin typeface="Huawei Sans" panose="020C0503030203020204" pitchFamily="34" charset="0"/>
              <a:ea typeface="方正兰亭黑简体" panose="02000000000000000000" pitchFamily="2" charset="-122"/>
              <a:cs typeface="+mn-ea"/>
              <a:sym typeface="+mn-lt"/>
            </a:endParaRPr>
          </a:p>
        </p:txBody>
      </p:sp>
      <p:sp>
        <p:nvSpPr>
          <p:cNvPr id="12" name="AutoShape 29"/>
          <p:cNvSpPr>
            <a:spLocks noChangeArrowheads="1"/>
          </p:cNvSpPr>
          <p:nvPr/>
        </p:nvSpPr>
        <p:spPr bwMode="gray">
          <a:xfrm>
            <a:off x="1134734" y="3992258"/>
            <a:ext cx="1257300" cy="360363"/>
          </a:xfrm>
          <a:prstGeom prst="chevron">
            <a:avLst>
              <a:gd name="adj" fmla="val 31126"/>
            </a:avLst>
          </a:prstGeom>
          <a:solidFill>
            <a:srgbClr val="94DAE2"/>
          </a:solidFill>
          <a:ln w="9525" algn="ctr">
            <a:noFill/>
            <a:miter lim="800000"/>
          </a:ln>
          <a:effectLst>
            <a:outerShdw dist="35921" dir="2700000" algn="ctr" rotWithShape="0">
              <a:schemeClr val="bg2"/>
            </a:outerShdw>
          </a:effectLst>
        </p:spPr>
        <p:txBody>
          <a:bodyPr wrap="none" lIns="83420" tIns="41710" rIns="83420" bIns="41710" anchor="ctr"/>
          <a:lstStyle/>
          <a:p>
            <a:pPr algn="ctr" defTabSz="835025">
              <a:defRPr/>
            </a:pPr>
            <a:r>
              <a:rPr lang="zh-CN" altLang="en-US" sz="1200" dirty="0">
                <a:solidFill>
                  <a:schemeClr val="bg1"/>
                </a:solidFill>
                <a:latin typeface="Huawei Sans" panose="020C0503030203020204" pitchFamily="34" charset="0"/>
                <a:ea typeface="方正兰亭黑简体" panose="02000000000000000000" pitchFamily="2" charset="-122"/>
                <a:cs typeface="+mn-ea"/>
                <a:sym typeface="+mn-lt"/>
              </a:rPr>
              <a:t>无感觉</a:t>
            </a:r>
            <a:endParaRPr lang="zh-CN" altLang="en-US" sz="1200" dirty="0">
              <a:solidFill>
                <a:schemeClr val="bg1"/>
              </a:solidFill>
              <a:latin typeface="Huawei Sans" panose="020C0503030203020204" pitchFamily="34" charset="0"/>
              <a:ea typeface="方正兰亭黑简体" panose="02000000000000000000" pitchFamily="2" charset="-122"/>
              <a:cs typeface="+mn-ea"/>
              <a:sym typeface="+mn-lt"/>
            </a:endParaRPr>
          </a:p>
        </p:txBody>
      </p:sp>
      <p:sp>
        <p:nvSpPr>
          <p:cNvPr id="13" name="Line 30"/>
          <p:cNvSpPr>
            <a:spLocks noChangeShapeType="1"/>
          </p:cNvSpPr>
          <p:nvPr/>
        </p:nvSpPr>
        <p:spPr bwMode="gray">
          <a:xfrm flipH="1">
            <a:off x="2392035" y="4063695"/>
            <a:ext cx="1588" cy="1024411"/>
          </a:xfrm>
          <a:prstGeom prst="line">
            <a:avLst/>
          </a:prstGeom>
          <a:noFill/>
          <a:ln w="15875">
            <a:solidFill>
              <a:schemeClr val="tx1"/>
            </a:solidFill>
            <a:prstDash val="dashDot"/>
            <a:round/>
          </a:ln>
          <a:extLst>
            <a:ext uri="{909E8E84-426E-40DD-AFC4-6F175D3DCCD1}">
              <a14:hiddenFill xmlns:a14="http://schemas.microsoft.com/office/drawing/2010/main">
                <a:noFill/>
              </a14:hiddenFill>
            </a:ext>
          </a:extLst>
        </p:spPr>
        <p:txBody>
          <a:bodyPr/>
          <a:lstStyle/>
          <a:p>
            <a:endParaRPr lang="zh-CN" altLang="en-US">
              <a:latin typeface="Huawei Sans" panose="020C0503030203020204" pitchFamily="34" charset="0"/>
              <a:ea typeface="方正兰亭黑简体" panose="02000000000000000000" pitchFamily="2" charset="-122"/>
              <a:cs typeface="+mn-ea"/>
              <a:sym typeface="+mn-lt"/>
            </a:endParaRPr>
          </a:p>
        </p:txBody>
      </p:sp>
      <p:sp>
        <p:nvSpPr>
          <p:cNvPr id="14" name="Line 31"/>
          <p:cNvSpPr>
            <a:spLocks noChangeShapeType="1"/>
          </p:cNvSpPr>
          <p:nvPr/>
        </p:nvSpPr>
        <p:spPr bwMode="gray">
          <a:xfrm flipV="1">
            <a:off x="3474485" y="4383873"/>
            <a:ext cx="5526" cy="732333"/>
          </a:xfrm>
          <a:prstGeom prst="line">
            <a:avLst/>
          </a:prstGeom>
          <a:noFill/>
          <a:ln w="15875">
            <a:solidFill>
              <a:schemeClr val="tx1"/>
            </a:solidFill>
            <a:prstDash val="dashDot"/>
            <a:round/>
          </a:ln>
          <a:extLst>
            <a:ext uri="{909E8E84-426E-40DD-AFC4-6F175D3DCCD1}">
              <a14:hiddenFill xmlns:a14="http://schemas.microsoft.com/office/drawing/2010/main">
                <a:noFill/>
              </a14:hiddenFill>
            </a:ext>
          </a:extLst>
        </p:spPr>
        <p:txBody>
          <a:bodyPr/>
          <a:lstStyle/>
          <a:p>
            <a:endParaRPr lang="zh-CN" altLang="en-US">
              <a:latin typeface="Huawei Sans" panose="020C0503030203020204" pitchFamily="34" charset="0"/>
              <a:ea typeface="方正兰亭黑简体" panose="02000000000000000000" pitchFamily="2" charset="-122"/>
              <a:cs typeface="+mn-ea"/>
              <a:sym typeface="+mn-lt"/>
            </a:endParaRPr>
          </a:p>
        </p:txBody>
      </p:sp>
      <p:sp>
        <p:nvSpPr>
          <p:cNvPr id="15" name="Text Box 33"/>
          <p:cNvSpPr txBox="1">
            <a:spLocks noChangeArrowheads="1"/>
          </p:cNvSpPr>
          <p:nvPr/>
        </p:nvSpPr>
        <p:spPr bwMode="gray">
          <a:xfrm>
            <a:off x="1098222" y="5127321"/>
            <a:ext cx="509764" cy="2689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3420" tIns="41710" rIns="83420" bIns="41710">
            <a:spAutoFit/>
          </a:bodyPr>
          <a:lstStyle>
            <a:lvl1pPr defTabSz="835025" eaLnBrk="0" hangingPunct="0">
              <a:defRPr sz="1400">
                <a:solidFill>
                  <a:schemeClr val="bg1"/>
                </a:solidFill>
                <a:latin typeface="FrutigerNext LT Regular" pitchFamily="34" charset="0"/>
                <a:ea typeface="MS PGothic" panose="020B0600070205080204" pitchFamily="34" charset="-128"/>
              </a:defRPr>
            </a:lvl1pPr>
            <a:lvl2pPr marL="742950" indent="-285750" defTabSz="835025" eaLnBrk="0" hangingPunct="0">
              <a:defRPr sz="1400">
                <a:solidFill>
                  <a:schemeClr val="bg1"/>
                </a:solidFill>
                <a:latin typeface="FrutigerNext LT Regular" pitchFamily="34" charset="0"/>
                <a:ea typeface="MS PGothic" panose="020B0600070205080204" pitchFamily="34" charset="-128"/>
              </a:defRPr>
            </a:lvl2pPr>
            <a:lvl3pPr marL="1143000" indent="-228600" defTabSz="835025" eaLnBrk="0" hangingPunct="0">
              <a:defRPr sz="1400">
                <a:solidFill>
                  <a:schemeClr val="bg1"/>
                </a:solidFill>
                <a:latin typeface="FrutigerNext LT Regular" pitchFamily="34" charset="0"/>
                <a:ea typeface="MS PGothic" panose="020B0600070205080204" pitchFamily="34" charset="-128"/>
              </a:defRPr>
            </a:lvl3pPr>
            <a:lvl4pPr marL="1600200" indent="-228600" defTabSz="835025" eaLnBrk="0" hangingPunct="0">
              <a:defRPr sz="1400">
                <a:solidFill>
                  <a:schemeClr val="bg1"/>
                </a:solidFill>
                <a:latin typeface="FrutigerNext LT Regular" pitchFamily="34" charset="0"/>
                <a:ea typeface="MS PGothic" panose="020B0600070205080204" pitchFamily="34" charset="-128"/>
              </a:defRPr>
            </a:lvl4pPr>
            <a:lvl5pPr marL="2057400" indent="-228600" defTabSz="835025" eaLnBrk="0" hangingPunct="0">
              <a:defRPr sz="1400">
                <a:solidFill>
                  <a:schemeClr val="bg1"/>
                </a:solidFill>
                <a:latin typeface="FrutigerNext LT Regular" pitchFamily="34" charset="0"/>
                <a:ea typeface="MS PGothic" panose="020B0600070205080204" pitchFamily="34" charset="-128"/>
              </a:defRPr>
            </a:lvl5pPr>
            <a:lvl6pPr marL="2514600" indent="-228600" defTabSz="835025" eaLnBrk="0" fontAlgn="base" hangingPunct="0">
              <a:spcBef>
                <a:spcPct val="0"/>
              </a:spcBef>
              <a:spcAft>
                <a:spcPct val="0"/>
              </a:spcAft>
              <a:defRPr sz="1400">
                <a:solidFill>
                  <a:schemeClr val="bg1"/>
                </a:solidFill>
                <a:latin typeface="FrutigerNext LT Regular" pitchFamily="34" charset="0"/>
                <a:ea typeface="MS PGothic" panose="020B0600070205080204" pitchFamily="34" charset="-128"/>
              </a:defRPr>
            </a:lvl6pPr>
            <a:lvl7pPr marL="2971800" indent="-228600" defTabSz="835025" eaLnBrk="0" fontAlgn="base" hangingPunct="0">
              <a:spcBef>
                <a:spcPct val="0"/>
              </a:spcBef>
              <a:spcAft>
                <a:spcPct val="0"/>
              </a:spcAft>
              <a:defRPr sz="1400">
                <a:solidFill>
                  <a:schemeClr val="bg1"/>
                </a:solidFill>
                <a:latin typeface="FrutigerNext LT Regular" pitchFamily="34" charset="0"/>
                <a:ea typeface="MS PGothic" panose="020B0600070205080204" pitchFamily="34" charset="-128"/>
              </a:defRPr>
            </a:lvl7pPr>
            <a:lvl8pPr marL="3429000" indent="-228600" defTabSz="835025" eaLnBrk="0" fontAlgn="base" hangingPunct="0">
              <a:spcBef>
                <a:spcPct val="0"/>
              </a:spcBef>
              <a:spcAft>
                <a:spcPct val="0"/>
              </a:spcAft>
              <a:defRPr sz="1400">
                <a:solidFill>
                  <a:schemeClr val="bg1"/>
                </a:solidFill>
                <a:latin typeface="FrutigerNext LT Regular" pitchFamily="34" charset="0"/>
                <a:ea typeface="MS PGothic" panose="020B0600070205080204" pitchFamily="34" charset="-128"/>
              </a:defRPr>
            </a:lvl8pPr>
            <a:lvl9pPr marL="3886200" indent="-228600" defTabSz="835025" eaLnBrk="0" fontAlgn="base" hangingPunct="0">
              <a:spcBef>
                <a:spcPct val="0"/>
              </a:spcBef>
              <a:spcAft>
                <a:spcPct val="0"/>
              </a:spcAft>
              <a:defRPr sz="1400">
                <a:solidFill>
                  <a:schemeClr val="bg1"/>
                </a:solidFill>
                <a:latin typeface="FrutigerNext LT Regular" pitchFamily="34" charset="0"/>
                <a:ea typeface="MS PGothic" panose="020B0600070205080204" pitchFamily="34" charset="-128"/>
              </a:defRPr>
            </a:lvl9pPr>
          </a:lstStyle>
          <a:p>
            <a:pPr eaLnBrk="1" hangingPunct="1">
              <a:spcBef>
                <a:spcPct val="50000"/>
              </a:spcBef>
            </a:pPr>
            <a:r>
              <a:rPr lang="en-US" altLang="zh-CN" sz="1200" dirty="0">
                <a:solidFill>
                  <a:schemeClr val="tx1"/>
                </a:solidFill>
                <a:latin typeface="Huawei Sans" panose="020C0503030203020204" pitchFamily="34" charset="0"/>
                <a:ea typeface="方正兰亭黑简体" panose="02000000000000000000" pitchFamily="2" charset="-122"/>
                <a:cs typeface="+mn-ea"/>
                <a:sym typeface="+mn-lt"/>
              </a:rPr>
              <a:t>0 </a:t>
            </a:r>
            <a:r>
              <a:rPr lang="en-US" altLang="zh-CN" sz="1200" dirty="0" err="1">
                <a:solidFill>
                  <a:schemeClr val="tx1"/>
                </a:solidFill>
                <a:latin typeface="Huawei Sans" panose="020C0503030203020204" pitchFamily="34" charset="0"/>
                <a:ea typeface="方正兰亭黑简体" panose="02000000000000000000" pitchFamily="2" charset="-122"/>
                <a:cs typeface="+mn-ea"/>
                <a:sym typeface="+mn-lt"/>
              </a:rPr>
              <a:t>ms</a:t>
            </a:r>
            <a:endParaRPr lang="en-US" altLang="zh-CN" sz="1200" dirty="0">
              <a:solidFill>
                <a:schemeClr val="tx1"/>
              </a:solidFill>
              <a:latin typeface="Huawei Sans" panose="020C0503030203020204" pitchFamily="34" charset="0"/>
              <a:ea typeface="方正兰亭黑简体" panose="02000000000000000000" pitchFamily="2" charset="-122"/>
              <a:cs typeface="+mn-ea"/>
              <a:sym typeface="+mn-lt"/>
            </a:endParaRPr>
          </a:p>
        </p:txBody>
      </p:sp>
      <p:sp>
        <p:nvSpPr>
          <p:cNvPr id="16" name="Text Box 34"/>
          <p:cNvSpPr txBox="1">
            <a:spLocks noChangeArrowheads="1"/>
          </p:cNvSpPr>
          <p:nvPr/>
        </p:nvSpPr>
        <p:spPr bwMode="gray">
          <a:xfrm>
            <a:off x="3093906" y="5116208"/>
            <a:ext cx="719138" cy="2689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3420" tIns="41710" rIns="83420" bIns="41710">
            <a:spAutoFit/>
          </a:bodyPr>
          <a:lstStyle>
            <a:lvl1pPr defTabSz="835025" eaLnBrk="0" hangingPunct="0">
              <a:defRPr sz="1400">
                <a:solidFill>
                  <a:schemeClr val="bg1"/>
                </a:solidFill>
                <a:latin typeface="FrutigerNext LT Regular" pitchFamily="34" charset="0"/>
                <a:ea typeface="MS PGothic" panose="020B0600070205080204" pitchFamily="34" charset="-128"/>
              </a:defRPr>
            </a:lvl1pPr>
            <a:lvl2pPr marL="742950" indent="-285750" defTabSz="835025" eaLnBrk="0" hangingPunct="0">
              <a:defRPr sz="1400">
                <a:solidFill>
                  <a:schemeClr val="bg1"/>
                </a:solidFill>
                <a:latin typeface="FrutigerNext LT Regular" pitchFamily="34" charset="0"/>
                <a:ea typeface="MS PGothic" panose="020B0600070205080204" pitchFamily="34" charset="-128"/>
              </a:defRPr>
            </a:lvl2pPr>
            <a:lvl3pPr marL="1143000" indent="-228600" defTabSz="835025" eaLnBrk="0" hangingPunct="0">
              <a:defRPr sz="1400">
                <a:solidFill>
                  <a:schemeClr val="bg1"/>
                </a:solidFill>
                <a:latin typeface="FrutigerNext LT Regular" pitchFamily="34" charset="0"/>
                <a:ea typeface="MS PGothic" panose="020B0600070205080204" pitchFamily="34" charset="-128"/>
              </a:defRPr>
            </a:lvl3pPr>
            <a:lvl4pPr marL="1600200" indent="-228600" defTabSz="835025" eaLnBrk="0" hangingPunct="0">
              <a:defRPr sz="1400">
                <a:solidFill>
                  <a:schemeClr val="bg1"/>
                </a:solidFill>
                <a:latin typeface="FrutigerNext LT Regular" pitchFamily="34" charset="0"/>
                <a:ea typeface="MS PGothic" panose="020B0600070205080204" pitchFamily="34" charset="-128"/>
              </a:defRPr>
            </a:lvl4pPr>
            <a:lvl5pPr marL="2057400" indent="-228600" defTabSz="835025" eaLnBrk="0" hangingPunct="0">
              <a:defRPr sz="1400">
                <a:solidFill>
                  <a:schemeClr val="bg1"/>
                </a:solidFill>
                <a:latin typeface="FrutigerNext LT Regular" pitchFamily="34" charset="0"/>
                <a:ea typeface="MS PGothic" panose="020B0600070205080204" pitchFamily="34" charset="-128"/>
              </a:defRPr>
            </a:lvl5pPr>
            <a:lvl6pPr marL="2514600" indent="-228600" defTabSz="835025" eaLnBrk="0" fontAlgn="base" hangingPunct="0">
              <a:spcBef>
                <a:spcPct val="0"/>
              </a:spcBef>
              <a:spcAft>
                <a:spcPct val="0"/>
              </a:spcAft>
              <a:defRPr sz="1400">
                <a:solidFill>
                  <a:schemeClr val="bg1"/>
                </a:solidFill>
                <a:latin typeface="FrutigerNext LT Regular" pitchFamily="34" charset="0"/>
                <a:ea typeface="MS PGothic" panose="020B0600070205080204" pitchFamily="34" charset="-128"/>
              </a:defRPr>
            </a:lvl6pPr>
            <a:lvl7pPr marL="2971800" indent="-228600" defTabSz="835025" eaLnBrk="0" fontAlgn="base" hangingPunct="0">
              <a:spcBef>
                <a:spcPct val="0"/>
              </a:spcBef>
              <a:spcAft>
                <a:spcPct val="0"/>
              </a:spcAft>
              <a:defRPr sz="1400">
                <a:solidFill>
                  <a:schemeClr val="bg1"/>
                </a:solidFill>
                <a:latin typeface="FrutigerNext LT Regular" pitchFamily="34" charset="0"/>
                <a:ea typeface="MS PGothic" panose="020B0600070205080204" pitchFamily="34" charset="-128"/>
              </a:defRPr>
            </a:lvl7pPr>
            <a:lvl8pPr marL="3429000" indent="-228600" defTabSz="835025" eaLnBrk="0" fontAlgn="base" hangingPunct="0">
              <a:spcBef>
                <a:spcPct val="0"/>
              </a:spcBef>
              <a:spcAft>
                <a:spcPct val="0"/>
              </a:spcAft>
              <a:defRPr sz="1400">
                <a:solidFill>
                  <a:schemeClr val="bg1"/>
                </a:solidFill>
                <a:latin typeface="FrutigerNext LT Regular" pitchFamily="34" charset="0"/>
                <a:ea typeface="MS PGothic" panose="020B0600070205080204" pitchFamily="34" charset="-128"/>
              </a:defRPr>
            </a:lvl8pPr>
            <a:lvl9pPr marL="3886200" indent="-228600" defTabSz="835025" eaLnBrk="0" fontAlgn="base" hangingPunct="0">
              <a:spcBef>
                <a:spcPct val="0"/>
              </a:spcBef>
              <a:spcAft>
                <a:spcPct val="0"/>
              </a:spcAft>
              <a:defRPr sz="1400">
                <a:solidFill>
                  <a:schemeClr val="bg1"/>
                </a:solidFill>
                <a:latin typeface="FrutigerNext LT Regular" pitchFamily="34" charset="0"/>
                <a:ea typeface="MS PGothic" panose="020B0600070205080204" pitchFamily="34" charset="-128"/>
              </a:defRPr>
            </a:lvl9pPr>
          </a:lstStyle>
          <a:p>
            <a:pPr eaLnBrk="1" hangingPunct="1">
              <a:spcBef>
                <a:spcPct val="50000"/>
              </a:spcBef>
            </a:pPr>
            <a:r>
              <a:rPr lang="en-US" altLang="zh-CN" sz="1200" dirty="0">
                <a:solidFill>
                  <a:schemeClr val="tx1"/>
                </a:solidFill>
                <a:latin typeface="Huawei Sans" panose="020C0503030203020204" pitchFamily="34" charset="0"/>
                <a:ea typeface="方正兰亭黑简体" panose="02000000000000000000" pitchFamily="2" charset="-122"/>
                <a:cs typeface="+mn-ea"/>
                <a:sym typeface="+mn-lt"/>
              </a:rPr>
              <a:t>500 </a:t>
            </a:r>
            <a:r>
              <a:rPr lang="en-US" altLang="zh-CN" sz="1200" dirty="0" err="1">
                <a:solidFill>
                  <a:schemeClr val="tx1"/>
                </a:solidFill>
                <a:latin typeface="Huawei Sans" panose="020C0503030203020204" pitchFamily="34" charset="0"/>
                <a:ea typeface="方正兰亭黑简体" panose="02000000000000000000" pitchFamily="2" charset="-122"/>
                <a:cs typeface="+mn-ea"/>
                <a:sym typeface="+mn-lt"/>
              </a:rPr>
              <a:t>ms</a:t>
            </a:r>
            <a:endParaRPr lang="en-US" altLang="zh-CN" sz="1200" dirty="0">
              <a:solidFill>
                <a:schemeClr val="tx1"/>
              </a:solidFill>
              <a:latin typeface="Huawei Sans" panose="020C0503030203020204" pitchFamily="34" charset="0"/>
              <a:ea typeface="方正兰亭黑简体" panose="02000000000000000000" pitchFamily="2" charset="-122"/>
              <a:cs typeface="+mn-ea"/>
              <a:sym typeface="+mn-lt"/>
            </a:endParaRPr>
          </a:p>
        </p:txBody>
      </p:sp>
      <p:sp>
        <p:nvSpPr>
          <p:cNvPr id="17" name="Rectangle 35"/>
          <p:cNvSpPr>
            <a:spLocks noChangeArrowheads="1"/>
          </p:cNvSpPr>
          <p:nvPr/>
        </p:nvSpPr>
        <p:spPr bwMode="gray">
          <a:xfrm>
            <a:off x="2176075" y="3228790"/>
            <a:ext cx="2622159" cy="326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9200" tIns="39600" rIns="79200" bIns="39600">
            <a:spAutoFit/>
          </a:bodyPr>
          <a:lstStyle>
            <a:lvl1pPr defTabSz="802005" eaLnBrk="0" hangingPunct="0">
              <a:defRPr sz="1400">
                <a:solidFill>
                  <a:schemeClr val="bg1"/>
                </a:solidFill>
                <a:latin typeface="FrutigerNext LT Regular" pitchFamily="34" charset="0"/>
                <a:ea typeface="MS PGothic" panose="020B0600070205080204" pitchFamily="34" charset="-128"/>
              </a:defRPr>
            </a:lvl1pPr>
            <a:lvl2pPr marL="742950" indent="-285750" defTabSz="802005" eaLnBrk="0" hangingPunct="0">
              <a:defRPr sz="1400">
                <a:solidFill>
                  <a:schemeClr val="bg1"/>
                </a:solidFill>
                <a:latin typeface="FrutigerNext LT Regular" pitchFamily="34" charset="0"/>
                <a:ea typeface="MS PGothic" panose="020B0600070205080204" pitchFamily="34" charset="-128"/>
              </a:defRPr>
            </a:lvl2pPr>
            <a:lvl3pPr marL="1143000" indent="-228600" defTabSz="802005" eaLnBrk="0" hangingPunct="0">
              <a:defRPr sz="1400">
                <a:solidFill>
                  <a:schemeClr val="bg1"/>
                </a:solidFill>
                <a:latin typeface="FrutigerNext LT Regular" pitchFamily="34" charset="0"/>
                <a:ea typeface="MS PGothic" panose="020B0600070205080204" pitchFamily="34" charset="-128"/>
              </a:defRPr>
            </a:lvl3pPr>
            <a:lvl4pPr marL="1600200" indent="-228600" defTabSz="802005" eaLnBrk="0" hangingPunct="0">
              <a:defRPr sz="1400">
                <a:solidFill>
                  <a:schemeClr val="bg1"/>
                </a:solidFill>
                <a:latin typeface="FrutigerNext LT Regular" pitchFamily="34" charset="0"/>
                <a:ea typeface="MS PGothic" panose="020B0600070205080204" pitchFamily="34" charset="-128"/>
              </a:defRPr>
            </a:lvl4pPr>
            <a:lvl5pPr marL="2057400" indent="-228600" defTabSz="802005" eaLnBrk="0" hangingPunct="0">
              <a:defRPr sz="1400">
                <a:solidFill>
                  <a:schemeClr val="bg1"/>
                </a:solidFill>
                <a:latin typeface="FrutigerNext LT Regular" pitchFamily="34" charset="0"/>
                <a:ea typeface="MS PGothic" panose="020B0600070205080204" pitchFamily="34" charset="-128"/>
              </a:defRPr>
            </a:lvl5pPr>
            <a:lvl6pPr marL="2514600" indent="-228600" defTabSz="802005" eaLnBrk="0" fontAlgn="base" hangingPunct="0">
              <a:spcBef>
                <a:spcPct val="0"/>
              </a:spcBef>
              <a:spcAft>
                <a:spcPct val="0"/>
              </a:spcAft>
              <a:defRPr sz="1400">
                <a:solidFill>
                  <a:schemeClr val="bg1"/>
                </a:solidFill>
                <a:latin typeface="FrutigerNext LT Regular" pitchFamily="34" charset="0"/>
                <a:ea typeface="MS PGothic" panose="020B0600070205080204" pitchFamily="34" charset="-128"/>
              </a:defRPr>
            </a:lvl6pPr>
            <a:lvl7pPr marL="2971800" indent="-228600" defTabSz="802005" eaLnBrk="0" fontAlgn="base" hangingPunct="0">
              <a:spcBef>
                <a:spcPct val="0"/>
              </a:spcBef>
              <a:spcAft>
                <a:spcPct val="0"/>
              </a:spcAft>
              <a:defRPr sz="1400">
                <a:solidFill>
                  <a:schemeClr val="bg1"/>
                </a:solidFill>
                <a:latin typeface="FrutigerNext LT Regular" pitchFamily="34" charset="0"/>
                <a:ea typeface="MS PGothic" panose="020B0600070205080204" pitchFamily="34" charset="-128"/>
              </a:defRPr>
            </a:lvl7pPr>
            <a:lvl8pPr marL="3429000" indent="-228600" defTabSz="802005" eaLnBrk="0" fontAlgn="base" hangingPunct="0">
              <a:spcBef>
                <a:spcPct val="0"/>
              </a:spcBef>
              <a:spcAft>
                <a:spcPct val="0"/>
              </a:spcAft>
              <a:defRPr sz="1400">
                <a:solidFill>
                  <a:schemeClr val="bg1"/>
                </a:solidFill>
                <a:latin typeface="FrutigerNext LT Regular" pitchFamily="34" charset="0"/>
                <a:ea typeface="MS PGothic" panose="020B0600070205080204" pitchFamily="34" charset="-128"/>
              </a:defRPr>
            </a:lvl8pPr>
            <a:lvl9pPr marL="3886200" indent="-228600" defTabSz="802005" eaLnBrk="0" fontAlgn="base" hangingPunct="0">
              <a:spcBef>
                <a:spcPct val="0"/>
              </a:spcBef>
              <a:spcAft>
                <a:spcPct val="0"/>
              </a:spcAft>
              <a:defRPr sz="1400">
                <a:solidFill>
                  <a:schemeClr val="bg1"/>
                </a:solidFill>
                <a:latin typeface="FrutigerNext LT Regular" pitchFamily="34" charset="0"/>
                <a:ea typeface="MS PGothic" panose="020B0600070205080204" pitchFamily="34" charset="-128"/>
              </a:defRPr>
            </a:lvl9pPr>
          </a:lstStyle>
          <a:p>
            <a:pPr eaLnBrk="1" hangingPunct="1"/>
            <a:r>
              <a:rPr lang="zh-CN" altLang="en-US" sz="1600" dirty="0">
                <a:solidFill>
                  <a:schemeClr val="tx1"/>
                </a:solidFill>
                <a:latin typeface="Huawei Sans" panose="020C0503030203020204" pitchFamily="34" charset="0"/>
                <a:ea typeface="方正兰亭黑简体" panose="02000000000000000000" pitchFamily="2" charset="-122"/>
                <a:cs typeface="+mn-ea"/>
                <a:sym typeface="+mn-lt"/>
              </a:rPr>
              <a:t>网络故障对语音业务的影响</a:t>
            </a:r>
            <a:endParaRPr lang="zh-CN" altLang="en-US" sz="1600" dirty="0">
              <a:solidFill>
                <a:schemeClr val="tx1"/>
              </a:solidFill>
              <a:latin typeface="Huawei Sans" panose="020C0503030203020204" pitchFamily="34" charset="0"/>
              <a:ea typeface="方正兰亭黑简体" panose="02000000000000000000" pitchFamily="2" charset="-122"/>
              <a:cs typeface="+mn-ea"/>
              <a:sym typeface="+mn-lt"/>
            </a:endParaRPr>
          </a:p>
        </p:txBody>
      </p:sp>
      <p:sp>
        <p:nvSpPr>
          <p:cNvPr id="18" name="Rectangle 36"/>
          <p:cNvSpPr>
            <a:spLocks noChangeArrowheads="1"/>
          </p:cNvSpPr>
          <p:nvPr/>
        </p:nvSpPr>
        <p:spPr bwMode="gray">
          <a:xfrm>
            <a:off x="1041361" y="5396222"/>
            <a:ext cx="4824225" cy="449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79200" tIns="39600" rIns="79200" bIns="39600">
            <a:spAutoFit/>
          </a:bodyPr>
          <a:lstStyle>
            <a:lvl1pPr defTabSz="802005" eaLnBrk="0" hangingPunct="0">
              <a:defRPr sz="1400">
                <a:solidFill>
                  <a:schemeClr val="bg1"/>
                </a:solidFill>
                <a:latin typeface="FrutigerNext LT Regular" pitchFamily="34" charset="0"/>
                <a:ea typeface="MS PGothic" panose="020B0600070205080204" pitchFamily="34" charset="-128"/>
              </a:defRPr>
            </a:lvl1pPr>
            <a:lvl2pPr marL="742950" indent="-285750" defTabSz="802005" eaLnBrk="0" hangingPunct="0">
              <a:defRPr sz="1400">
                <a:solidFill>
                  <a:schemeClr val="bg1"/>
                </a:solidFill>
                <a:latin typeface="FrutigerNext LT Regular" pitchFamily="34" charset="0"/>
                <a:ea typeface="MS PGothic" panose="020B0600070205080204" pitchFamily="34" charset="-128"/>
              </a:defRPr>
            </a:lvl2pPr>
            <a:lvl3pPr marL="1143000" indent="-228600" defTabSz="802005" eaLnBrk="0" hangingPunct="0">
              <a:defRPr sz="1400">
                <a:solidFill>
                  <a:schemeClr val="bg1"/>
                </a:solidFill>
                <a:latin typeface="FrutigerNext LT Regular" pitchFamily="34" charset="0"/>
                <a:ea typeface="MS PGothic" panose="020B0600070205080204" pitchFamily="34" charset="-128"/>
              </a:defRPr>
            </a:lvl3pPr>
            <a:lvl4pPr marL="1600200" indent="-228600" defTabSz="802005" eaLnBrk="0" hangingPunct="0">
              <a:defRPr sz="1400">
                <a:solidFill>
                  <a:schemeClr val="bg1"/>
                </a:solidFill>
                <a:latin typeface="FrutigerNext LT Regular" pitchFamily="34" charset="0"/>
                <a:ea typeface="MS PGothic" panose="020B0600070205080204" pitchFamily="34" charset="-128"/>
              </a:defRPr>
            </a:lvl4pPr>
            <a:lvl5pPr marL="2057400" indent="-228600" defTabSz="802005" eaLnBrk="0" hangingPunct="0">
              <a:defRPr sz="1400">
                <a:solidFill>
                  <a:schemeClr val="bg1"/>
                </a:solidFill>
                <a:latin typeface="FrutigerNext LT Regular" pitchFamily="34" charset="0"/>
                <a:ea typeface="MS PGothic" panose="020B0600070205080204" pitchFamily="34" charset="-128"/>
              </a:defRPr>
            </a:lvl5pPr>
            <a:lvl6pPr marL="2514600" indent="-228600" defTabSz="802005" eaLnBrk="0" fontAlgn="base" hangingPunct="0">
              <a:spcBef>
                <a:spcPct val="0"/>
              </a:spcBef>
              <a:spcAft>
                <a:spcPct val="0"/>
              </a:spcAft>
              <a:defRPr sz="1400">
                <a:solidFill>
                  <a:schemeClr val="bg1"/>
                </a:solidFill>
                <a:latin typeface="FrutigerNext LT Regular" pitchFamily="34" charset="0"/>
                <a:ea typeface="MS PGothic" panose="020B0600070205080204" pitchFamily="34" charset="-128"/>
              </a:defRPr>
            </a:lvl6pPr>
            <a:lvl7pPr marL="2971800" indent="-228600" defTabSz="802005" eaLnBrk="0" fontAlgn="base" hangingPunct="0">
              <a:spcBef>
                <a:spcPct val="0"/>
              </a:spcBef>
              <a:spcAft>
                <a:spcPct val="0"/>
              </a:spcAft>
              <a:defRPr sz="1400">
                <a:solidFill>
                  <a:schemeClr val="bg1"/>
                </a:solidFill>
                <a:latin typeface="FrutigerNext LT Regular" pitchFamily="34" charset="0"/>
                <a:ea typeface="MS PGothic" panose="020B0600070205080204" pitchFamily="34" charset="-128"/>
              </a:defRPr>
            </a:lvl7pPr>
            <a:lvl8pPr marL="3429000" indent="-228600" defTabSz="802005" eaLnBrk="0" fontAlgn="base" hangingPunct="0">
              <a:spcBef>
                <a:spcPct val="0"/>
              </a:spcBef>
              <a:spcAft>
                <a:spcPct val="0"/>
              </a:spcAft>
              <a:defRPr sz="1400">
                <a:solidFill>
                  <a:schemeClr val="bg1"/>
                </a:solidFill>
                <a:latin typeface="FrutigerNext LT Regular" pitchFamily="34" charset="0"/>
                <a:ea typeface="MS PGothic" panose="020B0600070205080204" pitchFamily="34" charset="-128"/>
              </a:defRPr>
            </a:lvl8pPr>
            <a:lvl9pPr marL="3886200" indent="-228600" defTabSz="802005" eaLnBrk="0" fontAlgn="base" hangingPunct="0">
              <a:spcBef>
                <a:spcPct val="0"/>
              </a:spcBef>
              <a:spcAft>
                <a:spcPct val="0"/>
              </a:spcAft>
              <a:defRPr sz="1400">
                <a:solidFill>
                  <a:schemeClr val="bg1"/>
                </a:solidFill>
                <a:latin typeface="FrutigerNext LT Regular" pitchFamily="34" charset="0"/>
                <a:ea typeface="MS PGothic" panose="020B0600070205080204" pitchFamily="34" charset="-128"/>
              </a:defRPr>
            </a:lvl9pPr>
          </a:lstStyle>
          <a:p>
            <a:pPr eaLnBrk="1" hangingPunct="1"/>
            <a:r>
              <a:rPr lang="zh-CN" altLang="en-US" sz="1200" b="1" dirty="0">
                <a:solidFill>
                  <a:schemeClr val="tx1"/>
                </a:solidFill>
                <a:latin typeface="Huawei Sans" panose="020C0503030203020204" pitchFamily="34" charset="0"/>
                <a:ea typeface="方正兰亭黑简体" panose="02000000000000000000" pitchFamily="2" charset="-122"/>
                <a:cs typeface="+mn-ea"/>
                <a:sym typeface="+mn-lt"/>
              </a:rPr>
              <a:t>标准参照：</a:t>
            </a:r>
            <a:r>
              <a:rPr lang="en-US" altLang="zh-CN" sz="1200" b="1" dirty="0">
                <a:solidFill>
                  <a:schemeClr val="tx1"/>
                </a:solidFill>
                <a:latin typeface="Huawei Sans" panose="020C0503030203020204" pitchFamily="34" charset="0"/>
                <a:ea typeface="方正兰亭黑简体" panose="02000000000000000000" pitchFamily="2" charset="-122"/>
                <a:cs typeface="+mn-ea"/>
                <a:sym typeface="+mn-lt"/>
              </a:rPr>
              <a:t>YD/T 1071-2000 &lt;IP Telephone Gateway technical specification&gt;</a:t>
            </a:r>
            <a:endParaRPr lang="zh-CN" altLang="en-US" sz="1200" b="1" dirty="0">
              <a:solidFill>
                <a:schemeClr val="tx1"/>
              </a:solidFill>
              <a:latin typeface="Huawei Sans" panose="020C0503030203020204" pitchFamily="34" charset="0"/>
              <a:ea typeface="方正兰亭黑简体" panose="02000000000000000000" pitchFamily="2" charset="-122"/>
              <a:cs typeface="+mn-ea"/>
              <a:sym typeface="+mn-lt"/>
            </a:endParaRPr>
          </a:p>
        </p:txBody>
      </p:sp>
      <p:sp>
        <p:nvSpPr>
          <p:cNvPr id="19" name="Text Box 34"/>
          <p:cNvSpPr txBox="1">
            <a:spLocks noChangeArrowheads="1"/>
          </p:cNvSpPr>
          <p:nvPr/>
        </p:nvSpPr>
        <p:spPr bwMode="gray">
          <a:xfrm>
            <a:off x="4343091" y="5138479"/>
            <a:ext cx="955873" cy="2689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3420" tIns="41710" rIns="83420" bIns="41710">
            <a:spAutoFit/>
          </a:bodyPr>
          <a:lstStyle>
            <a:lvl1pPr defTabSz="835025" eaLnBrk="0" hangingPunct="0">
              <a:defRPr sz="1400">
                <a:solidFill>
                  <a:schemeClr val="bg1"/>
                </a:solidFill>
                <a:latin typeface="FrutigerNext LT Regular" pitchFamily="34" charset="0"/>
                <a:ea typeface="MS PGothic" panose="020B0600070205080204" pitchFamily="34" charset="-128"/>
              </a:defRPr>
            </a:lvl1pPr>
            <a:lvl2pPr marL="742950" indent="-285750" defTabSz="835025" eaLnBrk="0" hangingPunct="0">
              <a:defRPr sz="1400">
                <a:solidFill>
                  <a:schemeClr val="bg1"/>
                </a:solidFill>
                <a:latin typeface="FrutigerNext LT Regular" pitchFamily="34" charset="0"/>
                <a:ea typeface="MS PGothic" panose="020B0600070205080204" pitchFamily="34" charset="-128"/>
              </a:defRPr>
            </a:lvl2pPr>
            <a:lvl3pPr marL="1143000" indent="-228600" defTabSz="835025" eaLnBrk="0" hangingPunct="0">
              <a:defRPr sz="1400">
                <a:solidFill>
                  <a:schemeClr val="bg1"/>
                </a:solidFill>
                <a:latin typeface="FrutigerNext LT Regular" pitchFamily="34" charset="0"/>
                <a:ea typeface="MS PGothic" panose="020B0600070205080204" pitchFamily="34" charset="-128"/>
              </a:defRPr>
            </a:lvl3pPr>
            <a:lvl4pPr marL="1600200" indent="-228600" defTabSz="835025" eaLnBrk="0" hangingPunct="0">
              <a:defRPr sz="1400">
                <a:solidFill>
                  <a:schemeClr val="bg1"/>
                </a:solidFill>
                <a:latin typeface="FrutigerNext LT Regular" pitchFamily="34" charset="0"/>
                <a:ea typeface="MS PGothic" panose="020B0600070205080204" pitchFamily="34" charset="-128"/>
              </a:defRPr>
            </a:lvl4pPr>
            <a:lvl5pPr marL="2057400" indent="-228600" defTabSz="835025" eaLnBrk="0" hangingPunct="0">
              <a:defRPr sz="1400">
                <a:solidFill>
                  <a:schemeClr val="bg1"/>
                </a:solidFill>
                <a:latin typeface="FrutigerNext LT Regular" pitchFamily="34" charset="0"/>
                <a:ea typeface="MS PGothic" panose="020B0600070205080204" pitchFamily="34" charset="-128"/>
              </a:defRPr>
            </a:lvl5pPr>
            <a:lvl6pPr marL="2514600" indent="-228600" defTabSz="835025" eaLnBrk="0" fontAlgn="base" hangingPunct="0">
              <a:spcBef>
                <a:spcPct val="0"/>
              </a:spcBef>
              <a:spcAft>
                <a:spcPct val="0"/>
              </a:spcAft>
              <a:defRPr sz="1400">
                <a:solidFill>
                  <a:schemeClr val="bg1"/>
                </a:solidFill>
                <a:latin typeface="FrutigerNext LT Regular" pitchFamily="34" charset="0"/>
                <a:ea typeface="MS PGothic" panose="020B0600070205080204" pitchFamily="34" charset="-128"/>
              </a:defRPr>
            </a:lvl6pPr>
            <a:lvl7pPr marL="2971800" indent="-228600" defTabSz="835025" eaLnBrk="0" fontAlgn="base" hangingPunct="0">
              <a:spcBef>
                <a:spcPct val="0"/>
              </a:spcBef>
              <a:spcAft>
                <a:spcPct val="0"/>
              </a:spcAft>
              <a:defRPr sz="1400">
                <a:solidFill>
                  <a:schemeClr val="bg1"/>
                </a:solidFill>
                <a:latin typeface="FrutigerNext LT Regular" pitchFamily="34" charset="0"/>
                <a:ea typeface="MS PGothic" panose="020B0600070205080204" pitchFamily="34" charset="-128"/>
              </a:defRPr>
            </a:lvl7pPr>
            <a:lvl8pPr marL="3429000" indent="-228600" defTabSz="835025" eaLnBrk="0" fontAlgn="base" hangingPunct="0">
              <a:spcBef>
                <a:spcPct val="0"/>
              </a:spcBef>
              <a:spcAft>
                <a:spcPct val="0"/>
              </a:spcAft>
              <a:defRPr sz="1400">
                <a:solidFill>
                  <a:schemeClr val="bg1"/>
                </a:solidFill>
                <a:latin typeface="FrutigerNext LT Regular" pitchFamily="34" charset="0"/>
                <a:ea typeface="MS PGothic" panose="020B0600070205080204" pitchFamily="34" charset="-128"/>
              </a:defRPr>
            </a:lvl8pPr>
            <a:lvl9pPr marL="3886200" indent="-228600" defTabSz="835025" eaLnBrk="0" fontAlgn="base" hangingPunct="0">
              <a:spcBef>
                <a:spcPct val="0"/>
              </a:spcBef>
              <a:spcAft>
                <a:spcPct val="0"/>
              </a:spcAft>
              <a:defRPr sz="1400">
                <a:solidFill>
                  <a:schemeClr val="bg1"/>
                </a:solidFill>
                <a:latin typeface="FrutigerNext LT Regular" pitchFamily="34" charset="0"/>
                <a:ea typeface="MS PGothic" panose="020B0600070205080204" pitchFamily="34" charset="-128"/>
              </a:defRPr>
            </a:lvl9pPr>
          </a:lstStyle>
          <a:p>
            <a:pPr eaLnBrk="1" hangingPunct="1">
              <a:spcBef>
                <a:spcPct val="50000"/>
              </a:spcBef>
            </a:pPr>
            <a:r>
              <a:rPr lang="en-US" altLang="zh-CN" sz="1200" dirty="0">
                <a:solidFill>
                  <a:schemeClr val="tx1"/>
                </a:solidFill>
                <a:latin typeface="Huawei Sans" panose="020C0503030203020204" pitchFamily="34" charset="0"/>
                <a:ea typeface="方正兰亭黑简体" panose="02000000000000000000" pitchFamily="2" charset="-122"/>
                <a:cs typeface="+mn-ea"/>
                <a:sym typeface="+mn-lt"/>
              </a:rPr>
              <a:t>2000 </a:t>
            </a:r>
            <a:r>
              <a:rPr lang="en-US" altLang="zh-CN" sz="1200" dirty="0" err="1">
                <a:solidFill>
                  <a:schemeClr val="tx1"/>
                </a:solidFill>
                <a:latin typeface="Huawei Sans" panose="020C0503030203020204" pitchFamily="34" charset="0"/>
                <a:ea typeface="方正兰亭黑简体" panose="02000000000000000000" pitchFamily="2" charset="-122"/>
                <a:cs typeface="+mn-ea"/>
                <a:sym typeface="+mn-lt"/>
              </a:rPr>
              <a:t>mS</a:t>
            </a:r>
            <a:endParaRPr lang="en-US" altLang="zh-CN" sz="1200" dirty="0">
              <a:solidFill>
                <a:schemeClr val="tx1"/>
              </a:solidFill>
              <a:latin typeface="Huawei Sans" panose="020C0503030203020204" pitchFamily="34" charset="0"/>
              <a:ea typeface="方正兰亭黑简体" panose="02000000000000000000" pitchFamily="2" charset="-122"/>
              <a:cs typeface="+mn-ea"/>
              <a:sym typeface="+mn-lt"/>
            </a:endParaRPr>
          </a:p>
        </p:txBody>
      </p:sp>
      <p:sp>
        <p:nvSpPr>
          <p:cNvPr id="20" name="Line 31"/>
          <p:cNvSpPr>
            <a:spLocks noChangeShapeType="1"/>
          </p:cNvSpPr>
          <p:nvPr/>
        </p:nvSpPr>
        <p:spPr bwMode="gray">
          <a:xfrm flipH="1" flipV="1">
            <a:off x="4545987" y="4524380"/>
            <a:ext cx="0" cy="583332"/>
          </a:xfrm>
          <a:prstGeom prst="line">
            <a:avLst/>
          </a:prstGeom>
          <a:noFill/>
          <a:ln w="15875">
            <a:solidFill>
              <a:schemeClr val="tx1"/>
            </a:solidFill>
            <a:prstDash val="dashDot"/>
            <a:round/>
          </a:ln>
          <a:extLst>
            <a:ext uri="{909E8E84-426E-40DD-AFC4-6F175D3DCCD1}">
              <a14:hiddenFill xmlns:a14="http://schemas.microsoft.com/office/drawing/2010/main">
                <a:noFill/>
              </a14:hiddenFill>
            </a:ext>
          </a:extLst>
        </p:spPr>
        <p:txBody>
          <a:bodyPr/>
          <a:lstStyle/>
          <a:p>
            <a:endParaRPr lang="zh-CN" altLang="en-US">
              <a:latin typeface="Huawei Sans" panose="020C0503030203020204" pitchFamily="34" charset="0"/>
              <a:ea typeface="方正兰亭黑简体" panose="02000000000000000000" pitchFamily="2" charset="-122"/>
              <a:cs typeface="+mn-ea"/>
              <a:sym typeface="+mn-lt"/>
            </a:endParaRPr>
          </a:p>
        </p:txBody>
      </p:sp>
      <p:sp>
        <p:nvSpPr>
          <p:cNvPr id="21" name="AutoShape 24"/>
          <p:cNvSpPr>
            <a:spLocks noChangeArrowheads="1"/>
          </p:cNvSpPr>
          <p:nvPr/>
        </p:nvSpPr>
        <p:spPr bwMode="gray">
          <a:xfrm>
            <a:off x="4575925" y="4698096"/>
            <a:ext cx="887413" cy="361950"/>
          </a:xfrm>
          <a:prstGeom prst="chevron">
            <a:avLst>
              <a:gd name="adj" fmla="val 28297"/>
            </a:avLst>
          </a:prstGeom>
          <a:solidFill>
            <a:srgbClr val="C7000B"/>
          </a:solidFill>
          <a:ln w="9525" algn="ctr">
            <a:noFill/>
            <a:miter lim="800000"/>
          </a:ln>
          <a:effectLst>
            <a:outerShdw dist="35921" dir="2700000" algn="ctr" rotWithShape="0">
              <a:schemeClr val="bg2"/>
            </a:outerShdw>
          </a:effectLst>
        </p:spPr>
        <p:txBody>
          <a:bodyPr wrap="none" lIns="83420" tIns="41710" rIns="83420" bIns="41710" anchor="ctr"/>
          <a:lstStyle/>
          <a:p>
            <a:pPr algn="ctr" defTabSz="835025">
              <a:defRPr/>
            </a:pPr>
            <a:r>
              <a:rPr lang="zh-CN" altLang="en-US" sz="1200" dirty="0">
                <a:solidFill>
                  <a:schemeClr val="bg1"/>
                </a:solidFill>
                <a:latin typeface="Huawei Sans" panose="020C0503030203020204" pitchFamily="34" charset="0"/>
                <a:ea typeface="方正兰亭黑简体" panose="02000000000000000000" pitchFamily="2" charset="-122"/>
                <a:cs typeface="+mn-ea"/>
                <a:sym typeface="+mn-lt"/>
              </a:rPr>
              <a:t>会话中断</a:t>
            </a:r>
            <a:endParaRPr lang="zh-CN" altLang="en-US" sz="1200" dirty="0">
              <a:solidFill>
                <a:schemeClr val="bg1"/>
              </a:solidFill>
              <a:latin typeface="Huawei Sans" panose="020C0503030203020204" pitchFamily="34" charset="0"/>
              <a:ea typeface="方正兰亭黑简体" panose="02000000000000000000" pitchFamily="2" charset="-122"/>
              <a:cs typeface="+mn-ea"/>
              <a:sym typeface="+mn-lt"/>
            </a:endParaRPr>
          </a:p>
        </p:txBody>
      </p:sp>
      <p:grpSp>
        <p:nvGrpSpPr>
          <p:cNvPr id="22" name="组合 21"/>
          <p:cNvGrpSpPr/>
          <p:nvPr/>
        </p:nvGrpSpPr>
        <p:grpSpPr bwMode="gray">
          <a:xfrm>
            <a:off x="6611069" y="3648215"/>
            <a:ext cx="4329851" cy="1430587"/>
            <a:chOff x="6240000" y="3664175"/>
            <a:chExt cx="4468509" cy="1430586"/>
          </a:xfrm>
        </p:grpSpPr>
        <p:sp>
          <p:nvSpPr>
            <p:cNvPr id="23" name="AutoShape 17"/>
            <p:cNvSpPr>
              <a:spLocks noChangeArrowheads="1"/>
            </p:cNvSpPr>
            <p:nvPr/>
          </p:nvSpPr>
          <p:spPr bwMode="gray">
            <a:xfrm rot="5400000">
              <a:off x="9984990" y="4371243"/>
              <a:ext cx="808679" cy="638358"/>
            </a:xfrm>
            <a:prstGeom prst="parallelogram">
              <a:avLst>
                <a:gd name="adj" fmla="val 30556"/>
              </a:avLst>
            </a:prstGeom>
            <a:solidFill>
              <a:srgbClr val="C00000"/>
            </a:solidFill>
            <a:ln w="9525">
              <a:solidFill>
                <a:srgbClr val="000000">
                  <a:lumMod val="75000"/>
                  <a:lumOff val="25000"/>
                </a:srgbClr>
              </a:solidFill>
              <a:miter lim="800000"/>
            </a:ln>
            <a:effectLst/>
          </p:spPr>
          <p:txBody>
            <a:bodyPr wrap="none" anchor="ctr"/>
            <a:lstStyle/>
            <a:p>
              <a:pPr>
                <a:defRPr/>
              </a:pPr>
              <a:endParaRPr lang="zh-CN" altLang="en-US" sz="1050" kern="0">
                <a:solidFill>
                  <a:srgbClr val="000000"/>
                </a:solidFill>
                <a:latin typeface="Huawei Sans" panose="020C0503030203020204" pitchFamily="34" charset="0"/>
                <a:ea typeface="方正兰亭黑简体" panose="02000000000000000000" pitchFamily="2" charset="-122"/>
              </a:endParaRPr>
            </a:p>
          </p:txBody>
        </p:sp>
        <p:sp>
          <p:nvSpPr>
            <p:cNvPr id="24" name="AutoShape 18"/>
            <p:cNvSpPr>
              <a:spLocks noChangeArrowheads="1"/>
            </p:cNvSpPr>
            <p:nvPr/>
          </p:nvSpPr>
          <p:spPr bwMode="gray">
            <a:xfrm rot="5400000">
              <a:off x="9559417" y="4371243"/>
              <a:ext cx="808679" cy="638358"/>
            </a:xfrm>
            <a:prstGeom prst="parallelogram">
              <a:avLst>
                <a:gd name="adj" fmla="val 30556"/>
              </a:avLst>
            </a:prstGeom>
            <a:solidFill>
              <a:srgbClr val="558ED5"/>
            </a:solidFill>
            <a:ln w="9525">
              <a:solidFill>
                <a:srgbClr val="000000">
                  <a:lumMod val="75000"/>
                  <a:lumOff val="25000"/>
                </a:srgbClr>
              </a:solidFill>
              <a:miter lim="800000"/>
            </a:ln>
            <a:effectLst/>
          </p:spPr>
          <p:txBody>
            <a:bodyPr wrap="none" anchor="ctr"/>
            <a:lstStyle/>
            <a:p>
              <a:pPr>
                <a:defRPr/>
              </a:pPr>
              <a:endParaRPr lang="zh-CN" altLang="en-US" sz="1050" kern="0">
                <a:solidFill>
                  <a:srgbClr val="000000"/>
                </a:solidFill>
                <a:latin typeface="Huawei Sans" panose="020C0503030203020204" pitchFamily="34" charset="0"/>
                <a:ea typeface="方正兰亭黑简体" panose="02000000000000000000" pitchFamily="2" charset="-122"/>
              </a:endParaRPr>
            </a:p>
          </p:txBody>
        </p:sp>
        <p:sp>
          <p:nvSpPr>
            <p:cNvPr id="25" name="AutoShape 19"/>
            <p:cNvSpPr>
              <a:spLocks noChangeArrowheads="1"/>
            </p:cNvSpPr>
            <p:nvPr/>
          </p:nvSpPr>
          <p:spPr bwMode="gray">
            <a:xfrm rot="5400000">
              <a:off x="9133846" y="4371243"/>
              <a:ext cx="808679" cy="638358"/>
            </a:xfrm>
            <a:prstGeom prst="parallelogram">
              <a:avLst>
                <a:gd name="adj" fmla="val 30556"/>
              </a:avLst>
            </a:prstGeom>
            <a:solidFill>
              <a:srgbClr val="558ED5"/>
            </a:solidFill>
            <a:ln w="9525">
              <a:solidFill>
                <a:srgbClr val="000000">
                  <a:lumMod val="75000"/>
                  <a:lumOff val="25000"/>
                </a:srgbClr>
              </a:solidFill>
              <a:miter lim="800000"/>
            </a:ln>
            <a:effectLst/>
          </p:spPr>
          <p:txBody>
            <a:bodyPr wrap="none" anchor="ctr"/>
            <a:lstStyle/>
            <a:p>
              <a:pPr>
                <a:defRPr/>
              </a:pPr>
              <a:endParaRPr lang="zh-CN" altLang="en-US" sz="1050" kern="0">
                <a:solidFill>
                  <a:srgbClr val="000000"/>
                </a:solidFill>
                <a:latin typeface="Huawei Sans" panose="020C0503030203020204" pitchFamily="34" charset="0"/>
                <a:ea typeface="方正兰亭黑简体" panose="02000000000000000000" pitchFamily="2" charset="-122"/>
              </a:endParaRPr>
            </a:p>
          </p:txBody>
        </p:sp>
        <p:sp>
          <p:nvSpPr>
            <p:cNvPr id="26" name="AutoShape 20"/>
            <p:cNvSpPr>
              <a:spLocks noChangeArrowheads="1"/>
            </p:cNvSpPr>
            <p:nvPr/>
          </p:nvSpPr>
          <p:spPr bwMode="gray">
            <a:xfrm rot="5400000">
              <a:off x="8708273" y="4371243"/>
              <a:ext cx="808679" cy="638358"/>
            </a:xfrm>
            <a:prstGeom prst="parallelogram">
              <a:avLst>
                <a:gd name="adj" fmla="val 30556"/>
              </a:avLst>
            </a:prstGeom>
            <a:solidFill>
              <a:srgbClr val="00B050"/>
            </a:solidFill>
            <a:ln w="9525">
              <a:solidFill>
                <a:srgbClr val="000000">
                  <a:lumMod val="75000"/>
                  <a:lumOff val="25000"/>
                </a:srgbClr>
              </a:solidFill>
              <a:miter lim="800000"/>
            </a:ln>
            <a:effectLst/>
          </p:spPr>
          <p:txBody>
            <a:bodyPr wrap="none" anchor="ctr"/>
            <a:lstStyle/>
            <a:p>
              <a:pPr>
                <a:defRPr/>
              </a:pPr>
              <a:endParaRPr lang="zh-CN" altLang="en-US" sz="1050" kern="0">
                <a:solidFill>
                  <a:srgbClr val="000000"/>
                </a:solidFill>
                <a:latin typeface="Huawei Sans" panose="020C0503030203020204" pitchFamily="34" charset="0"/>
                <a:ea typeface="方正兰亭黑简体" panose="02000000000000000000" pitchFamily="2" charset="-122"/>
              </a:endParaRPr>
            </a:p>
          </p:txBody>
        </p:sp>
        <p:sp>
          <p:nvSpPr>
            <p:cNvPr id="27" name="AutoShape 21"/>
            <p:cNvSpPr>
              <a:spLocks noChangeArrowheads="1"/>
            </p:cNvSpPr>
            <p:nvPr/>
          </p:nvSpPr>
          <p:spPr bwMode="gray">
            <a:xfrm rot="5400000">
              <a:off x="8282701" y="4371243"/>
              <a:ext cx="808679" cy="638358"/>
            </a:xfrm>
            <a:prstGeom prst="parallelogram">
              <a:avLst>
                <a:gd name="adj" fmla="val 30556"/>
              </a:avLst>
            </a:prstGeom>
            <a:solidFill>
              <a:srgbClr val="558ED5"/>
            </a:solidFill>
            <a:ln w="9525">
              <a:solidFill>
                <a:srgbClr val="000000">
                  <a:lumMod val="75000"/>
                  <a:lumOff val="25000"/>
                </a:srgbClr>
              </a:solidFill>
              <a:miter lim="800000"/>
            </a:ln>
            <a:effectLst/>
          </p:spPr>
          <p:txBody>
            <a:bodyPr wrap="none" anchor="ctr"/>
            <a:lstStyle/>
            <a:p>
              <a:pPr>
                <a:defRPr/>
              </a:pPr>
              <a:endParaRPr lang="zh-CN" altLang="en-US" sz="1050" kern="0">
                <a:solidFill>
                  <a:srgbClr val="000000"/>
                </a:solidFill>
                <a:latin typeface="Huawei Sans" panose="020C0503030203020204" pitchFamily="34" charset="0"/>
                <a:ea typeface="方正兰亭黑简体" panose="02000000000000000000" pitchFamily="2" charset="-122"/>
              </a:endParaRPr>
            </a:p>
          </p:txBody>
        </p:sp>
        <p:sp>
          <p:nvSpPr>
            <p:cNvPr id="28" name="AutoShape 22"/>
            <p:cNvSpPr>
              <a:spLocks noChangeArrowheads="1"/>
            </p:cNvSpPr>
            <p:nvPr/>
          </p:nvSpPr>
          <p:spPr bwMode="gray">
            <a:xfrm rot="5400000">
              <a:off x="7857128" y="4371243"/>
              <a:ext cx="808679" cy="638358"/>
            </a:xfrm>
            <a:prstGeom prst="parallelogram">
              <a:avLst>
                <a:gd name="adj" fmla="val 30556"/>
              </a:avLst>
            </a:prstGeom>
            <a:solidFill>
              <a:srgbClr val="558ED5"/>
            </a:solidFill>
            <a:ln w="9525">
              <a:solidFill>
                <a:srgbClr val="000000">
                  <a:lumMod val="75000"/>
                  <a:lumOff val="25000"/>
                </a:srgbClr>
              </a:solidFill>
              <a:miter lim="800000"/>
            </a:ln>
            <a:effectLst/>
          </p:spPr>
          <p:txBody>
            <a:bodyPr wrap="none" anchor="ctr"/>
            <a:lstStyle/>
            <a:p>
              <a:pPr>
                <a:defRPr/>
              </a:pPr>
              <a:endParaRPr lang="zh-CN" altLang="en-US" sz="1050" kern="0">
                <a:solidFill>
                  <a:srgbClr val="000000"/>
                </a:solidFill>
                <a:latin typeface="Huawei Sans" panose="020C0503030203020204" pitchFamily="34" charset="0"/>
                <a:ea typeface="方正兰亭黑简体" panose="02000000000000000000" pitchFamily="2" charset="-122"/>
              </a:endParaRPr>
            </a:p>
          </p:txBody>
        </p:sp>
        <p:sp>
          <p:nvSpPr>
            <p:cNvPr id="29" name="AutoShape 23"/>
            <p:cNvSpPr>
              <a:spLocks noChangeArrowheads="1"/>
            </p:cNvSpPr>
            <p:nvPr/>
          </p:nvSpPr>
          <p:spPr bwMode="gray">
            <a:xfrm rot="5400000">
              <a:off x="7431556" y="4371243"/>
              <a:ext cx="808679" cy="638358"/>
            </a:xfrm>
            <a:prstGeom prst="parallelogram">
              <a:avLst>
                <a:gd name="adj" fmla="val 30556"/>
              </a:avLst>
            </a:prstGeom>
            <a:solidFill>
              <a:srgbClr val="00B050"/>
            </a:solidFill>
            <a:ln w="9525">
              <a:solidFill>
                <a:srgbClr val="000000">
                  <a:lumMod val="75000"/>
                  <a:lumOff val="25000"/>
                </a:srgbClr>
              </a:solidFill>
              <a:miter lim="800000"/>
            </a:ln>
            <a:effectLst/>
          </p:spPr>
          <p:txBody>
            <a:bodyPr wrap="none" anchor="ctr"/>
            <a:lstStyle/>
            <a:p>
              <a:pPr>
                <a:defRPr/>
              </a:pPr>
              <a:endParaRPr lang="zh-CN" altLang="en-US" sz="1050" kern="0">
                <a:solidFill>
                  <a:srgbClr val="000000"/>
                </a:solidFill>
                <a:latin typeface="Huawei Sans" panose="020C0503030203020204" pitchFamily="34" charset="0"/>
                <a:ea typeface="方正兰亭黑简体" panose="02000000000000000000" pitchFamily="2" charset="-122"/>
              </a:endParaRPr>
            </a:p>
          </p:txBody>
        </p:sp>
        <p:sp>
          <p:nvSpPr>
            <p:cNvPr id="30" name="AutoShape 24"/>
            <p:cNvSpPr>
              <a:spLocks noChangeArrowheads="1"/>
            </p:cNvSpPr>
            <p:nvPr/>
          </p:nvSpPr>
          <p:spPr bwMode="gray">
            <a:xfrm rot="5400000">
              <a:off x="7005985" y="4371243"/>
              <a:ext cx="808679" cy="638358"/>
            </a:xfrm>
            <a:prstGeom prst="parallelogram">
              <a:avLst>
                <a:gd name="adj" fmla="val 30556"/>
              </a:avLst>
            </a:prstGeom>
            <a:solidFill>
              <a:srgbClr val="558ED5"/>
            </a:solidFill>
            <a:ln w="9525">
              <a:solidFill>
                <a:srgbClr val="000000">
                  <a:lumMod val="75000"/>
                  <a:lumOff val="25000"/>
                </a:srgbClr>
              </a:solidFill>
              <a:miter lim="800000"/>
            </a:ln>
            <a:effectLst/>
          </p:spPr>
          <p:txBody>
            <a:bodyPr wrap="none" anchor="ctr"/>
            <a:lstStyle/>
            <a:p>
              <a:pPr>
                <a:defRPr/>
              </a:pPr>
              <a:endParaRPr lang="zh-CN" altLang="en-US" sz="1050" kern="0">
                <a:solidFill>
                  <a:srgbClr val="000000"/>
                </a:solidFill>
                <a:latin typeface="Huawei Sans" panose="020C0503030203020204" pitchFamily="34" charset="0"/>
                <a:ea typeface="方正兰亭黑简体" panose="02000000000000000000" pitchFamily="2" charset="-122"/>
              </a:endParaRPr>
            </a:p>
          </p:txBody>
        </p:sp>
        <p:sp>
          <p:nvSpPr>
            <p:cNvPr id="31" name="AutoShape 25"/>
            <p:cNvSpPr>
              <a:spLocks noChangeArrowheads="1"/>
            </p:cNvSpPr>
            <p:nvPr/>
          </p:nvSpPr>
          <p:spPr bwMode="gray">
            <a:xfrm rot="5400000">
              <a:off x="6580412" y="4371243"/>
              <a:ext cx="808679" cy="638358"/>
            </a:xfrm>
            <a:prstGeom prst="parallelogram">
              <a:avLst>
                <a:gd name="adj" fmla="val 30556"/>
              </a:avLst>
            </a:prstGeom>
            <a:solidFill>
              <a:srgbClr val="558ED5"/>
            </a:solidFill>
            <a:ln w="9525">
              <a:solidFill>
                <a:srgbClr val="000000">
                  <a:lumMod val="75000"/>
                  <a:lumOff val="25000"/>
                </a:srgbClr>
              </a:solidFill>
              <a:miter lim="800000"/>
            </a:ln>
            <a:effectLst/>
          </p:spPr>
          <p:txBody>
            <a:bodyPr wrap="none" anchor="ctr"/>
            <a:lstStyle/>
            <a:p>
              <a:pPr>
                <a:defRPr/>
              </a:pPr>
              <a:endParaRPr lang="zh-CN" altLang="en-US" sz="1050" kern="0">
                <a:solidFill>
                  <a:srgbClr val="000000"/>
                </a:solidFill>
                <a:latin typeface="Huawei Sans" panose="020C0503030203020204" pitchFamily="34" charset="0"/>
                <a:ea typeface="方正兰亭黑简体" panose="02000000000000000000" pitchFamily="2" charset="-122"/>
              </a:endParaRPr>
            </a:p>
          </p:txBody>
        </p:sp>
        <p:sp>
          <p:nvSpPr>
            <p:cNvPr id="32" name="AutoShape 26"/>
            <p:cNvSpPr>
              <a:spLocks noChangeArrowheads="1"/>
            </p:cNvSpPr>
            <p:nvPr/>
          </p:nvSpPr>
          <p:spPr bwMode="gray">
            <a:xfrm rot="5400000">
              <a:off x="6154839" y="4371243"/>
              <a:ext cx="808679" cy="638358"/>
            </a:xfrm>
            <a:prstGeom prst="parallelogram">
              <a:avLst>
                <a:gd name="adj" fmla="val 30556"/>
              </a:avLst>
            </a:prstGeom>
            <a:solidFill>
              <a:srgbClr val="C00000"/>
            </a:solidFill>
            <a:ln w="9525">
              <a:solidFill>
                <a:srgbClr val="000000">
                  <a:lumMod val="75000"/>
                  <a:lumOff val="25000"/>
                </a:srgbClr>
              </a:solidFill>
              <a:miter lim="800000"/>
            </a:ln>
            <a:effectLst/>
          </p:spPr>
          <p:txBody>
            <a:bodyPr wrap="none" anchor="ctr"/>
            <a:lstStyle/>
            <a:p>
              <a:pPr>
                <a:defRPr/>
              </a:pPr>
              <a:endParaRPr lang="zh-CN" altLang="en-US" sz="1050" kern="0">
                <a:solidFill>
                  <a:srgbClr val="000000"/>
                </a:solidFill>
                <a:latin typeface="Huawei Sans" panose="020C0503030203020204" pitchFamily="34" charset="0"/>
                <a:ea typeface="方正兰亭黑简体" panose="02000000000000000000" pitchFamily="2" charset="-122"/>
              </a:endParaRPr>
            </a:p>
          </p:txBody>
        </p:sp>
        <p:sp>
          <p:nvSpPr>
            <p:cNvPr id="33" name="Text Box 27"/>
            <p:cNvSpPr txBox="1">
              <a:spLocks noChangeArrowheads="1"/>
            </p:cNvSpPr>
            <p:nvPr/>
          </p:nvSpPr>
          <p:spPr bwMode="gray">
            <a:xfrm>
              <a:off x="6576911" y="4486088"/>
              <a:ext cx="235248" cy="276999"/>
            </a:xfrm>
            <a:prstGeom prst="rect">
              <a:avLst/>
            </a:prstGeom>
            <a:noFill/>
            <a:ln w="9525">
              <a:noFill/>
              <a:miter lim="800000"/>
            </a:ln>
            <a:effectLst/>
          </p:spPr>
          <p:txBody>
            <a:bodyPr wrap="none" anchor="ctr">
              <a:spAutoFit/>
            </a:bodyPr>
            <a:lstStyle/>
            <a:p>
              <a:pPr>
                <a:buClrTx/>
                <a:buFontTx/>
                <a:buNone/>
              </a:pPr>
              <a:r>
                <a:rPr lang="en-US" altLang="zh-CN" sz="1200" dirty="0">
                  <a:solidFill>
                    <a:schemeClr val="bg1"/>
                  </a:solidFill>
                  <a:latin typeface="Huawei Sans" panose="020C0503030203020204" pitchFamily="34" charset="0"/>
                  <a:ea typeface="方正兰亭黑简体" panose="02000000000000000000" pitchFamily="2" charset="-122"/>
                </a:rPr>
                <a:t>I</a:t>
              </a:r>
              <a:endParaRPr lang="en-US" altLang="zh-CN" sz="1200" dirty="0">
                <a:solidFill>
                  <a:schemeClr val="bg1"/>
                </a:solidFill>
                <a:latin typeface="Huawei Sans" panose="020C0503030203020204" pitchFamily="34" charset="0"/>
                <a:ea typeface="方正兰亭黑简体" panose="02000000000000000000" pitchFamily="2" charset="-122"/>
              </a:endParaRPr>
            </a:p>
          </p:txBody>
        </p:sp>
        <p:sp>
          <p:nvSpPr>
            <p:cNvPr id="34" name="Text Box 28"/>
            <p:cNvSpPr txBox="1">
              <a:spLocks noChangeArrowheads="1"/>
            </p:cNvSpPr>
            <p:nvPr/>
          </p:nvSpPr>
          <p:spPr bwMode="gray">
            <a:xfrm>
              <a:off x="10407061" y="4486088"/>
              <a:ext cx="235248" cy="276999"/>
            </a:xfrm>
            <a:prstGeom prst="rect">
              <a:avLst/>
            </a:prstGeom>
            <a:noFill/>
            <a:ln w="9525">
              <a:noFill/>
              <a:miter lim="800000"/>
            </a:ln>
            <a:effectLst/>
          </p:spPr>
          <p:txBody>
            <a:bodyPr wrap="none" anchor="ctr">
              <a:spAutoFit/>
            </a:bodyPr>
            <a:lstStyle/>
            <a:p>
              <a:pPr>
                <a:buClrTx/>
                <a:buFontTx/>
                <a:buNone/>
              </a:pPr>
              <a:r>
                <a:rPr lang="en-US" altLang="zh-CN" sz="1200" dirty="0">
                  <a:solidFill>
                    <a:schemeClr val="bg1"/>
                  </a:solidFill>
                  <a:latin typeface="Huawei Sans" panose="020C0503030203020204" pitchFamily="34" charset="0"/>
                  <a:ea typeface="方正兰亭黑简体" panose="02000000000000000000" pitchFamily="2" charset="-122"/>
                </a:rPr>
                <a:t>I</a:t>
              </a:r>
              <a:endParaRPr lang="en-US" altLang="zh-CN" sz="1200" dirty="0">
                <a:solidFill>
                  <a:schemeClr val="bg1"/>
                </a:solidFill>
                <a:latin typeface="Huawei Sans" panose="020C0503030203020204" pitchFamily="34" charset="0"/>
                <a:ea typeface="方正兰亭黑简体" panose="02000000000000000000" pitchFamily="2" charset="-122"/>
              </a:endParaRPr>
            </a:p>
          </p:txBody>
        </p:sp>
        <p:sp>
          <p:nvSpPr>
            <p:cNvPr id="35" name="Text Box 29"/>
            <p:cNvSpPr txBox="1">
              <a:spLocks noChangeArrowheads="1"/>
            </p:cNvSpPr>
            <p:nvPr/>
          </p:nvSpPr>
          <p:spPr bwMode="gray">
            <a:xfrm>
              <a:off x="6949288" y="4470535"/>
              <a:ext cx="286531" cy="276999"/>
            </a:xfrm>
            <a:prstGeom prst="rect">
              <a:avLst/>
            </a:prstGeom>
            <a:noFill/>
            <a:ln w="9525">
              <a:noFill/>
              <a:miter lim="800000"/>
            </a:ln>
            <a:effectLst/>
          </p:spPr>
          <p:txBody>
            <a:bodyPr wrap="none" anchor="ctr">
              <a:spAutoFit/>
            </a:bodyPr>
            <a:lstStyle/>
            <a:p>
              <a:pPr>
                <a:buClrTx/>
                <a:buFontTx/>
                <a:buNone/>
              </a:pPr>
              <a:r>
                <a:rPr lang="en-US" altLang="zh-CN" sz="1200">
                  <a:solidFill>
                    <a:srgbClr val="000000"/>
                  </a:solidFill>
                  <a:latin typeface="Huawei Sans" panose="020C0503030203020204" pitchFamily="34" charset="0"/>
                  <a:ea typeface="方正兰亭黑简体" panose="02000000000000000000" pitchFamily="2" charset="-122"/>
                </a:rPr>
                <a:t>B</a:t>
              </a:r>
              <a:endParaRPr lang="en-US" altLang="zh-CN" sz="1200">
                <a:solidFill>
                  <a:srgbClr val="000000"/>
                </a:solidFill>
                <a:latin typeface="Huawei Sans" panose="020C0503030203020204" pitchFamily="34" charset="0"/>
                <a:ea typeface="方正兰亭黑简体" panose="02000000000000000000" pitchFamily="2" charset="-122"/>
              </a:endParaRPr>
            </a:p>
          </p:txBody>
        </p:sp>
        <p:sp>
          <p:nvSpPr>
            <p:cNvPr id="36" name="Text Box 30"/>
            <p:cNvSpPr txBox="1">
              <a:spLocks noChangeArrowheads="1"/>
            </p:cNvSpPr>
            <p:nvPr/>
          </p:nvSpPr>
          <p:spPr bwMode="gray">
            <a:xfrm>
              <a:off x="7374860" y="4470535"/>
              <a:ext cx="286531" cy="276999"/>
            </a:xfrm>
            <a:prstGeom prst="rect">
              <a:avLst/>
            </a:prstGeom>
            <a:noFill/>
            <a:ln w="9525">
              <a:noFill/>
              <a:miter lim="800000"/>
            </a:ln>
            <a:effectLst/>
          </p:spPr>
          <p:txBody>
            <a:bodyPr wrap="none" anchor="ctr">
              <a:spAutoFit/>
            </a:bodyPr>
            <a:lstStyle/>
            <a:p>
              <a:pPr>
                <a:buClrTx/>
                <a:buFontTx/>
                <a:buNone/>
              </a:pPr>
              <a:r>
                <a:rPr lang="en-US" altLang="zh-CN" sz="1200">
                  <a:solidFill>
                    <a:srgbClr val="000000"/>
                  </a:solidFill>
                  <a:latin typeface="Huawei Sans" panose="020C0503030203020204" pitchFamily="34" charset="0"/>
                  <a:ea typeface="方正兰亭黑简体" panose="02000000000000000000" pitchFamily="2" charset="-122"/>
                </a:rPr>
                <a:t>B</a:t>
              </a:r>
              <a:endParaRPr lang="en-US" altLang="zh-CN" sz="1200">
                <a:solidFill>
                  <a:srgbClr val="000000"/>
                </a:solidFill>
                <a:latin typeface="Huawei Sans" panose="020C0503030203020204" pitchFamily="34" charset="0"/>
                <a:ea typeface="方正兰亭黑简体" panose="02000000000000000000" pitchFamily="2" charset="-122"/>
              </a:endParaRPr>
            </a:p>
          </p:txBody>
        </p:sp>
        <p:sp>
          <p:nvSpPr>
            <p:cNvPr id="37" name="Text Box 31"/>
            <p:cNvSpPr txBox="1">
              <a:spLocks noChangeArrowheads="1"/>
            </p:cNvSpPr>
            <p:nvPr/>
          </p:nvSpPr>
          <p:spPr bwMode="gray">
            <a:xfrm>
              <a:off x="8226004" y="4470535"/>
              <a:ext cx="286531" cy="276999"/>
            </a:xfrm>
            <a:prstGeom prst="rect">
              <a:avLst/>
            </a:prstGeom>
            <a:noFill/>
            <a:ln w="9525">
              <a:noFill/>
              <a:miter lim="800000"/>
            </a:ln>
            <a:effectLst/>
          </p:spPr>
          <p:txBody>
            <a:bodyPr wrap="none" anchor="ctr">
              <a:spAutoFit/>
            </a:bodyPr>
            <a:lstStyle/>
            <a:p>
              <a:pPr>
                <a:buClrTx/>
                <a:buFontTx/>
                <a:buNone/>
              </a:pPr>
              <a:r>
                <a:rPr lang="en-US" altLang="zh-CN" sz="1200" dirty="0">
                  <a:solidFill>
                    <a:srgbClr val="000000"/>
                  </a:solidFill>
                  <a:latin typeface="Huawei Sans" panose="020C0503030203020204" pitchFamily="34" charset="0"/>
                  <a:ea typeface="方正兰亭黑简体" panose="02000000000000000000" pitchFamily="2" charset="-122"/>
                </a:rPr>
                <a:t>B</a:t>
              </a:r>
              <a:endParaRPr lang="en-US" altLang="zh-CN" sz="1200" dirty="0">
                <a:solidFill>
                  <a:srgbClr val="000000"/>
                </a:solidFill>
                <a:latin typeface="Huawei Sans" panose="020C0503030203020204" pitchFamily="34" charset="0"/>
                <a:ea typeface="方正兰亭黑简体" panose="02000000000000000000" pitchFamily="2" charset="-122"/>
              </a:endParaRPr>
            </a:p>
          </p:txBody>
        </p:sp>
        <p:sp>
          <p:nvSpPr>
            <p:cNvPr id="38" name="Text Box 32"/>
            <p:cNvSpPr txBox="1">
              <a:spLocks noChangeArrowheads="1"/>
            </p:cNvSpPr>
            <p:nvPr/>
          </p:nvSpPr>
          <p:spPr bwMode="gray">
            <a:xfrm>
              <a:off x="8651575" y="4470535"/>
              <a:ext cx="286531" cy="276999"/>
            </a:xfrm>
            <a:prstGeom prst="rect">
              <a:avLst/>
            </a:prstGeom>
            <a:noFill/>
            <a:ln w="9525">
              <a:noFill/>
              <a:miter lim="800000"/>
            </a:ln>
            <a:effectLst/>
          </p:spPr>
          <p:txBody>
            <a:bodyPr wrap="none" anchor="ctr">
              <a:spAutoFit/>
            </a:bodyPr>
            <a:lstStyle/>
            <a:p>
              <a:pPr>
                <a:buClrTx/>
                <a:buFontTx/>
                <a:buNone/>
              </a:pPr>
              <a:r>
                <a:rPr lang="en-US" altLang="zh-CN" sz="1200">
                  <a:solidFill>
                    <a:srgbClr val="000000"/>
                  </a:solidFill>
                  <a:latin typeface="Huawei Sans" panose="020C0503030203020204" pitchFamily="34" charset="0"/>
                  <a:ea typeface="方正兰亭黑简体" panose="02000000000000000000" pitchFamily="2" charset="-122"/>
                </a:rPr>
                <a:t>B</a:t>
              </a:r>
              <a:endParaRPr lang="en-US" altLang="zh-CN" sz="1200">
                <a:solidFill>
                  <a:srgbClr val="000000"/>
                </a:solidFill>
                <a:latin typeface="Huawei Sans" panose="020C0503030203020204" pitchFamily="34" charset="0"/>
                <a:ea typeface="方正兰亭黑简体" panose="02000000000000000000" pitchFamily="2" charset="-122"/>
              </a:endParaRPr>
            </a:p>
          </p:txBody>
        </p:sp>
        <p:sp>
          <p:nvSpPr>
            <p:cNvPr id="39" name="Text Box 33"/>
            <p:cNvSpPr txBox="1">
              <a:spLocks noChangeArrowheads="1"/>
            </p:cNvSpPr>
            <p:nvPr/>
          </p:nvSpPr>
          <p:spPr bwMode="gray">
            <a:xfrm>
              <a:off x="9502722" y="4470535"/>
              <a:ext cx="286531" cy="276999"/>
            </a:xfrm>
            <a:prstGeom prst="rect">
              <a:avLst/>
            </a:prstGeom>
            <a:noFill/>
            <a:ln w="9525">
              <a:noFill/>
              <a:miter lim="800000"/>
            </a:ln>
            <a:effectLst/>
          </p:spPr>
          <p:txBody>
            <a:bodyPr wrap="none" anchor="ctr">
              <a:spAutoFit/>
            </a:bodyPr>
            <a:lstStyle/>
            <a:p>
              <a:pPr>
                <a:buClrTx/>
                <a:buFontTx/>
                <a:buNone/>
              </a:pPr>
              <a:r>
                <a:rPr lang="en-US" altLang="zh-CN" sz="1200">
                  <a:solidFill>
                    <a:srgbClr val="000000"/>
                  </a:solidFill>
                  <a:latin typeface="Huawei Sans" panose="020C0503030203020204" pitchFamily="34" charset="0"/>
                  <a:ea typeface="方正兰亭黑简体" panose="02000000000000000000" pitchFamily="2" charset="-122"/>
                </a:rPr>
                <a:t>B</a:t>
              </a:r>
              <a:endParaRPr lang="en-US" altLang="zh-CN" sz="1200">
                <a:solidFill>
                  <a:srgbClr val="000000"/>
                </a:solidFill>
                <a:latin typeface="Huawei Sans" panose="020C0503030203020204" pitchFamily="34" charset="0"/>
                <a:ea typeface="方正兰亭黑简体" panose="02000000000000000000" pitchFamily="2" charset="-122"/>
              </a:endParaRPr>
            </a:p>
          </p:txBody>
        </p:sp>
        <p:sp>
          <p:nvSpPr>
            <p:cNvPr id="40" name="Text Box 34"/>
            <p:cNvSpPr txBox="1">
              <a:spLocks noChangeArrowheads="1"/>
            </p:cNvSpPr>
            <p:nvPr/>
          </p:nvSpPr>
          <p:spPr bwMode="gray">
            <a:xfrm>
              <a:off x="9928295" y="4470535"/>
              <a:ext cx="286531" cy="276999"/>
            </a:xfrm>
            <a:prstGeom prst="rect">
              <a:avLst/>
            </a:prstGeom>
            <a:noFill/>
            <a:ln w="9525">
              <a:noFill/>
              <a:miter lim="800000"/>
            </a:ln>
            <a:effectLst/>
          </p:spPr>
          <p:txBody>
            <a:bodyPr wrap="none" anchor="ctr">
              <a:spAutoFit/>
            </a:bodyPr>
            <a:lstStyle/>
            <a:p>
              <a:pPr>
                <a:buClrTx/>
                <a:buFontTx/>
                <a:buNone/>
              </a:pPr>
              <a:r>
                <a:rPr lang="en-US" altLang="zh-CN" sz="1200">
                  <a:solidFill>
                    <a:srgbClr val="000000"/>
                  </a:solidFill>
                  <a:latin typeface="Huawei Sans" panose="020C0503030203020204" pitchFamily="34" charset="0"/>
                  <a:ea typeface="方正兰亭黑简体" panose="02000000000000000000" pitchFamily="2" charset="-122"/>
                </a:rPr>
                <a:t>B</a:t>
              </a:r>
              <a:endParaRPr lang="en-US" altLang="zh-CN" sz="1200">
                <a:solidFill>
                  <a:srgbClr val="000000"/>
                </a:solidFill>
                <a:latin typeface="Huawei Sans" panose="020C0503030203020204" pitchFamily="34" charset="0"/>
                <a:ea typeface="方正兰亭黑简体" panose="02000000000000000000" pitchFamily="2" charset="-122"/>
              </a:endParaRPr>
            </a:p>
          </p:txBody>
        </p:sp>
        <p:sp>
          <p:nvSpPr>
            <p:cNvPr id="41" name="Text Box 35"/>
            <p:cNvSpPr txBox="1">
              <a:spLocks noChangeArrowheads="1"/>
            </p:cNvSpPr>
            <p:nvPr/>
          </p:nvSpPr>
          <p:spPr bwMode="gray">
            <a:xfrm>
              <a:off x="9118523" y="4470535"/>
              <a:ext cx="281569" cy="276999"/>
            </a:xfrm>
            <a:prstGeom prst="rect">
              <a:avLst/>
            </a:prstGeom>
            <a:noFill/>
            <a:ln w="9525">
              <a:noFill/>
              <a:miter lim="800000"/>
            </a:ln>
            <a:effectLst/>
          </p:spPr>
          <p:txBody>
            <a:bodyPr wrap="none" anchor="ctr">
              <a:spAutoFit/>
            </a:bodyPr>
            <a:lstStyle/>
            <a:p>
              <a:pPr>
                <a:buClrTx/>
                <a:buFontTx/>
                <a:buNone/>
              </a:pPr>
              <a:r>
                <a:rPr lang="en-US" altLang="zh-CN" sz="1200">
                  <a:solidFill>
                    <a:srgbClr val="000000"/>
                  </a:solidFill>
                  <a:latin typeface="Huawei Sans" panose="020C0503030203020204" pitchFamily="34" charset="0"/>
                  <a:ea typeface="方正兰亭黑简体" panose="02000000000000000000" pitchFamily="2" charset="-122"/>
                </a:rPr>
                <a:t>P</a:t>
              </a:r>
              <a:endParaRPr lang="en-US" altLang="zh-CN" sz="1200">
                <a:solidFill>
                  <a:srgbClr val="000000"/>
                </a:solidFill>
                <a:latin typeface="Huawei Sans" panose="020C0503030203020204" pitchFamily="34" charset="0"/>
                <a:ea typeface="方正兰亭黑简体" panose="02000000000000000000" pitchFamily="2" charset="-122"/>
              </a:endParaRPr>
            </a:p>
          </p:txBody>
        </p:sp>
        <p:sp>
          <p:nvSpPr>
            <p:cNvPr id="42" name="Text Box 36"/>
            <p:cNvSpPr txBox="1">
              <a:spLocks noChangeArrowheads="1"/>
            </p:cNvSpPr>
            <p:nvPr/>
          </p:nvSpPr>
          <p:spPr bwMode="gray">
            <a:xfrm>
              <a:off x="7841806" y="4470535"/>
              <a:ext cx="281569" cy="276999"/>
            </a:xfrm>
            <a:prstGeom prst="rect">
              <a:avLst/>
            </a:prstGeom>
            <a:noFill/>
            <a:ln w="9525">
              <a:noFill/>
              <a:miter lim="800000"/>
            </a:ln>
            <a:effectLst/>
          </p:spPr>
          <p:txBody>
            <a:bodyPr wrap="none" anchor="ctr">
              <a:spAutoFit/>
            </a:bodyPr>
            <a:lstStyle/>
            <a:p>
              <a:pPr>
                <a:buClrTx/>
                <a:buFontTx/>
                <a:buNone/>
              </a:pPr>
              <a:r>
                <a:rPr lang="en-US" altLang="zh-CN" sz="1200">
                  <a:solidFill>
                    <a:srgbClr val="000000"/>
                  </a:solidFill>
                  <a:latin typeface="Huawei Sans" panose="020C0503030203020204" pitchFamily="34" charset="0"/>
                  <a:ea typeface="方正兰亭黑简体" panose="02000000000000000000" pitchFamily="2" charset="-122"/>
                </a:rPr>
                <a:t>P</a:t>
              </a:r>
              <a:endParaRPr lang="en-US" altLang="zh-CN" sz="1200">
                <a:solidFill>
                  <a:srgbClr val="000000"/>
                </a:solidFill>
                <a:latin typeface="Huawei Sans" panose="020C0503030203020204" pitchFamily="34" charset="0"/>
                <a:ea typeface="方正兰亭黑简体" panose="02000000000000000000" pitchFamily="2" charset="-122"/>
              </a:endParaRPr>
            </a:p>
          </p:txBody>
        </p:sp>
        <p:sp>
          <p:nvSpPr>
            <p:cNvPr id="43" name="AutoShape 41"/>
            <p:cNvSpPr/>
            <p:nvPr/>
          </p:nvSpPr>
          <p:spPr bwMode="gray">
            <a:xfrm rot="5400000" flipH="1">
              <a:off x="8032272" y="2241087"/>
              <a:ext cx="293901" cy="3781854"/>
            </a:xfrm>
            <a:prstGeom prst="rightBrace">
              <a:avLst>
                <a:gd name="adj1" fmla="val 107176"/>
                <a:gd name="adj2" fmla="val 50000"/>
              </a:avLst>
            </a:prstGeom>
            <a:noFill/>
            <a:ln w="19050">
              <a:solidFill>
                <a:schemeClr val="tx1"/>
              </a:solidFill>
              <a:round/>
            </a:ln>
            <a:effectLst/>
          </p:spPr>
          <p:txBody>
            <a:bodyPr wrap="none" lIns="82260" tIns="41130" rIns="82260" bIns="41130" anchor="ctr"/>
            <a:lstStyle/>
            <a:p>
              <a:pPr>
                <a:defRPr/>
              </a:pPr>
              <a:endParaRPr lang="en-US" sz="1145" kern="0" dirty="0">
                <a:solidFill>
                  <a:srgbClr val="000000"/>
                </a:solidFill>
                <a:latin typeface="Huawei Sans" panose="020C0503030203020204" pitchFamily="34" charset="0"/>
                <a:ea typeface="方正兰亭黑简体" panose="02000000000000000000" pitchFamily="2" charset="-122"/>
                <a:cs typeface="Arial" panose="020B0604020202020204" pitchFamily="34" charset="0"/>
              </a:endParaRPr>
            </a:p>
          </p:txBody>
        </p:sp>
        <p:sp>
          <p:nvSpPr>
            <p:cNvPr id="44" name="矩形 43"/>
            <p:cNvSpPr/>
            <p:nvPr/>
          </p:nvSpPr>
          <p:spPr bwMode="gray">
            <a:xfrm>
              <a:off x="7753650" y="3664175"/>
              <a:ext cx="851145" cy="386327"/>
            </a:xfrm>
            <a:prstGeom prst="rect">
              <a:avLst/>
            </a:prstGeom>
            <a:noFill/>
            <a:ln w="9525" cap="flat" cmpd="sng" algn="ctr">
              <a:noFill/>
              <a:prstDash val="solid"/>
              <a:round/>
              <a:headEnd type="none" w="med" len="med"/>
              <a:tailEnd type="none" w="med" len="med"/>
            </a:ln>
            <a:effectLst/>
          </p:spPr>
          <p:txBody>
            <a:bodyPr vert="horz" wrap="square" lIns="87086" tIns="43543" rIns="87086" bIns="43543" numCol="1" rtlCol="0" anchor="ctr" anchorCtr="0" compatLnSpc="1"/>
            <a:lstStyle/>
            <a:p>
              <a:pPr algn="ctr">
                <a:buFontTx/>
                <a:buNone/>
              </a:pPr>
              <a:r>
                <a:rPr lang="en-US" altLang="zh-CN" sz="1400" b="1" dirty="0">
                  <a:solidFill>
                    <a:srgbClr val="000000"/>
                  </a:solidFill>
                  <a:latin typeface="Huawei Sans" panose="020C0503030203020204" pitchFamily="34" charset="0"/>
                  <a:ea typeface="方正兰亭黑简体" panose="02000000000000000000" pitchFamily="2" charset="-122"/>
                </a:rPr>
                <a:t>GOP</a:t>
              </a:r>
              <a:endParaRPr lang="zh-CN" altLang="en-US" sz="1400" b="1" dirty="0">
                <a:solidFill>
                  <a:srgbClr val="000000"/>
                </a:solidFill>
                <a:latin typeface="Huawei Sans" panose="020C0503030203020204" pitchFamily="34" charset="0"/>
                <a:ea typeface="方正兰亭黑简体" panose="02000000000000000000" pitchFamily="2" charset="-122"/>
              </a:endParaRPr>
            </a:p>
          </p:txBody>
        </p:sp>
      </p:grpSp>
      <p:sp>
        <p:nvSpPr>
          <p:cNvPr id="45" name="矩形 44"/>
          <p:cNvSpPr/>
          <p:nvPr/>
        </p:nvSpPr>
        <p:spPr bwMode="gray">
          <a:xfrm>
            <a:off x="7292491" y="5329863"/>
            <a:ext cx="3002746" cy="276999"/>
          </a:xfrm>
          <a:prstGeom prst="rect">
            <a:avLst/>
          </a:prstGeom>
        </p:spPr>
        <p:txBody>
          <a:bodyPr wrap="none">
            <a:spAutoFit/>
          </a:bodyPr>
          <a:lstStyle/>
          <a:p>
            <a:pPr algn="ctr">
              <a:buClrTx/>
              <a:buFontTx/>
              <a:buNone/>
            </a:pPr>
            <a:r>
              <a:rPr lang="zh-CN" altLang="en-US" sz="1200" b="1" dirty="0">
                <a:latin typeface="Huawei Sans" panose="020C0503030203020204" pitchFamily="34" charset="0"/>
                <a:ea typeface="方正兰亭黑简体" panose="02000000000000000000" pitchFamily="2" charset="-122"/>
                <a:cs typeface="+mn-ea"/>
              </a:rPr>
              <a:t>丢包导致的</a:t>
            </a:r>
            <a:r>
              <a:rPr lang="en-US" altLang="zh-CN" sz="1200" b="1" dirty="0">
                <a:latin typeface="Huawei Sans" panose="020C0503030203020204" pitchFamily="34" charset="0"/>
                <a:ea typeface="方正兰亭黑简体" panose="02000000000000000000" pitchFamily="2" charset="-122"/>
                <a:cs typeface="+mn-ea"/>
              </a:rPr>
              <a:t>I</a:t>
            </a:r>
            <a:r>
              <a:rPr lang="zh-CN" altLang="en-US" sz="1200" b="1" dirty="0">
                <a:latin typeface="Huawei Sans" panose="020C0503030203020204" pitchFamily="34" charset="0"/>
                <a:ea typeface="方正兰亭黑简体" panose="02000000000000000000" pitchFamily="2" charset="-122"/>
                <a:cs typeface="+mn-ea"/>
              </a:rPr>
              <a:t>帧损伤是造成花屏的关键原因</a:t>
            </a:r>
            <a:endParaRPr lang="zh-CN" altLang="en-US" sz="1200" b="1" dirty="0">
              <a:latin typeface="Huawei Sans" panose="020C0503030203020204" pitchFamily="34" charset="0"/>
              <a:ea typeface="方正兰亭黑简体" panose="02000000000000000000" pitchFamily="2" charset="-122"/>
              <a:cs typeface="+mn-ea"/>
            </a:endParaRPr>
          </a:p>
        </p:txBody>
      </p:sp>
      <p:sp>
        <p:nvSpPr>
          <p:cNvPr id="46" name="Rectangle 35"/>
          <p:cNvSpPr>
            <a:spLocks noChangeArrowheads="1"/>
          </p:cNvSpPr>
          <p:nvPr/>
        </p:nvSpPr>
        <p:spPr bwMode="gray">
          <a:xfrm>
            <a:off x="7663460" y="3268118"/>
            <a:ext cx="2631777" cy="326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9200" tIns="39600" rIns="79200" bIns="39600">
            <a:spAutoFit/>
          </a:bodyPr>
          <a:lstStyle>
            <a:lvl1pPr defTabSz="802005" eaLnBrk="0" hangingPunct="0">
              <a:defRPr sz="1400">
                <a:solidFill>
                  <a:schemeClr val="bg1"/>
                </a:solidFill>
                <a:latin typeface="FrutigerNext LT Regular" pitchFamily="34" charset="0"/>
                <a:ea typeface="MS PGothic" panose="020B0600070205080204" pitchFamily="34" charset="-128"/>
              </a:defRPr>
            </a:lvl1pPr>
            <a:lvl2pPr marL="742950" indent="-285750" defTabSz="802005" eaLnBrk="0" hangingPunct="0">
              <a:defRPr sz="1400">
                <a:solidFill>
                  <a:schemeClr val="bg1"/>
                </a:solidFill>
                <a:latin typeface="FrutigerNext LT Regular" pitchFamily="34" charset="0"/>
                <a:ea typeface="MS PGothic" panose="020B0600070205080204" pitchFamily="34" charset="-128"/>
              </a:defRPr>
            </a:lvl2pPr>
            <a:lvl3pPr marL="1143000" indent="-228600" defTabSz="802005" eaLnBrk="0" hangingPunct="0">
              <a:defRPr sz="1400">
                <a:solidFill>
                  <a:schemeClr val="bg1"/>
                </a:solidFill>
                <a:latin typeface="FrutigerNext LT Regular" pitchFamily="34" charset="0"/>
                <a:ea typeface="MS PGothic" panose="020B0600070205080204" pitchFamily="34" charset="-128"/>
              </a:defRPr>
            </a:lvl3pPr>
            <a:lvl4pPr marL="1600200" indent="-228600" defTabSz="802005" eaLnBrk="0" hangingPunct="0">
              <a:defRPr sz="1400">
                <a:solidFill>
                  <a:schemeClr val="bg1"/>
                </a:solidFill>
                <a:latin typeface="FrutigerNext LT Regular" pitchFamily="34" charset="0"/>
                <a:ea typeface="MS PGothic" panose="020B0600070205080204" pitchFamily="34" charset="-128"/>
              </a:defRPr>
            </a:lvl4pPr>
            <a:lvl5pPr marL="2057400" indent="-228600" defTabSz="802005" eaLnBrk="0" hangingPunct="0">
              <a:defRPr sz="1400">
                <a:solidFill>
                  <a:schemeClr val="bg1"/>
                </a:solidFill>
                <a:latin typeface="FrutigerNext LT Regular" pitchFamily="34" charset="0"/>
                <a:ea typeface="MS PGothic" panose="020B0600070205080204" pitchFamily="34" charset="-128"/>
              </a:defRPr>
            </a:lvl5pPr>
            <a:lvl6pPr marL="2514600" indent="-228600" defTabSz="802005" eaLnBrk="0" fontAlgn="base" hangingPunct="0">
              <a:spcBef>
                <a:spcPct val="0"/>
              </a:spcBef>
              <a:spcAft>
                <a:spcPct val="0"/>
              </a:spcAft>
              <a:defRPr sz="1400">
                <a:solidFill>
                  <a:schemeClr val="bg1"/>
                </a:solidFill>
                <a:latin typeface="FrutigerNext LT Regular" pitchFamily="34" charset="0"/>
                <a:ea typeface="MS PGothic" panose="020B0600070205080204" pitchFamily="34" charset="-128"/>
              </a:defRPr>
            </a:lvl6pPr>
            <a:lvl7pPr marL="2971800" indent="-228600" defTabSz="802005" eaLnBrk="0" fontAlgn="base" hangingPunct="0">
              <a:spcBef>
                <a:spcPct val="0"/>
              </a:spcBef>
              <a:spcAft>
                <a:spcPct val="0"/>
              </a:spcAft>
              <a:defRPr sz="1400">
                <a:solidFill>
                  <a:schemeClr val="bg1"/>
                </a:solidFill>
                <a:latin typeface="FrutigerNext LT Regular" pitchFamily="34" charset="0"/>
                <a:ea typeface="MS PGothic" panose="020B0600070205080204" pitchFamily="34" charset="-128"/>
              </a:defRPr>
            </a:lvl7pPr>
            <a:lvl8pPr marL="3429000" indent="-228600" defTabSz="802005" eaLnBrk="0" fontAlgn="base" hangingPunct="0">
              <a:spcBef>
                <a:spcPct val="0"/>
              </a:spcBef>
              <a:spcAft>
                <a:spcPct val="0"/>
              </a:spcAft>
              <a:defRPr sz="1400">
                <a:solidFill>
                  <a:schemeClr val="bg1"/>
                </a:solidFill>
                <a:latin typeface="FrutigerNext LT Regular" pitchFamily="34" charset="0"/>
                <a:ea typeface="MS PGothic" panose="020B0600070205080204" pitchFamily="34" charset="-128"/>
              </a:defRPr>
            </a:lvl8pPr>
            <a:lvl9pPr marL="3886200" indent="-228600" defTabSz="802005" eaLnBrk="0" fontAlgn="base" hangingPunct="0">
              <a:spcBef>
                <a:spcPct val="0"/>
              </a:spcBef>
              <a:spcAft>
                <a:spcPct val="0"/>
              </a:spcAft>
              <a:defRPr sz="1400">
                <a:solidFill>
                  <a:schemeClr val="bg1"/>
                </a:solidFill>
                <a:latin typeface="FrutigerNext LT Regular" pitchFamily="34" charset="0"/>
                <a:ea typeface="MS PGothic" panose="020B0600070205080204" pitchFamily="34" charset="-128"/>
              </a:defRPr>
            </a:lvl9pPr>
          </a:lstStyle>
          <a:p>
            <a:pPr eaLnBrk="1" hangingPunct="1"/>
            <a:r>
              <a:rPr lang="zh-CN" altLang="en-US" sz="1600" dirty="0">
                <a:solidFill>
                  <a:schemeClr val="tx1"/>
                </a:solidFill>
                <a:latin typeface="Huawei Sans" panose="020C0503030203020204" pitchFamily="34" charset="0"/>
                <a:ea typeface="方正兰亭黑简体" panose="02000000000000000000" pitchFamily="2" charset="-122"/>
                <a:cs typeface="+mn-ea"/>
                <a:sym typeface="+mn-lt"/>
              </a:rPr>
              <a:t>网络故障对</a:t>
            </a:r>
            <a:r>
              <a:rPr lang="en-US" altLang="zh-CN" sz="1600" dirty="0">
                <a:solidFill>
                  <a:schemeClr val="tx1"/>
                </a:solidFill>
                <a:latin typeface="Huawei Sans" panose="020C0503030203020204" pitchFamily="34" charset="0"/>
                <a:ea typeface="方正兰亭黑简体" panose="02000000000000000000" pitchFamily="2" charset="-122"/>
                <a:cs typeface="+mn-ea"/>
                <a:sym typeface="+mn-lt"/>
              </a:rPr>
              <a:t>IPTV</a:t>
            </a:r>
            <a:r>
              <a:rPr lang="zh-CN" altLang="en-US" sz="1600" dirty="0">
                <a:solidFill>
                  <a:schemeClr val="tx1"/>
                </a:solidFill>
                <a:latin typeface="Huawei Sans" panose="020C0503030203020204" pitchFamily="34" charset="0"/>
                <a:ea typeface="方正兰亭黑简体" panose="02000000000000000000" pitchFamily="2" charset="-122"/>
                <a:cs typeface="+mn-ea"/>
                <a:sym typeface="+mn-lt"/>
              </a:rPr>
              <a:t>业务的影响</a:t>
            </a:r>
            <a:endParaRPr lang="zh-CN" altLang="en-US" sz="1600" dirty="0">
              <a:solidFill>
                <a:schemeClr val="tx1"/>
              </a:solidFill>
              <a:latin typeface="Huawei Sans" panose="020C0503030203020204" pitchFamily="34" charset="0"/>
              <a:ea typeface="方正兰亭黑简体" panose="02000000000000000000" pitchFamily="2" charset="-122"/>
              <a:cs typeface="+mn-ea"/>
              <a:sym typeface="+mn-lt"/>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 name="梯形 41"/>
          <p:cNvSpPr/>
          <p:nvPr/>
        </p:nvSpPr>
        <p:spPr bwMode="gray">
          <a:xfrm>
            <a:off x="1509238" y="2060974"/>
            <a:ext cx="6532856" cy="1135945"/>
          </a:xfrm>
          <a:prstGeom prst="trapezoid">
            <a:avLst>
              <a:gd name="adj" fmla="val 75739"/>
            </a:avLst>
          </a:prstGeom>
          <a:gradFill flip="none" rotWithShape="1">
            <a:gsLst>
              <a:gs pos="0">
                <a:schemeClr val="bg1"/>
              </a:gs>
              <a:gs pos="100000">
                <a:srgbClr val="94DAE2">
                  <a:alpha val="26000"/>
                </a:srgbClr>
              </a:gs>
            </a:gsLst>
            <a:lin ang="5400000" scaled="1"/>
            <a:tileRect/>
          </a:gra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4" name="梯形 41"/>
          <p:cNvSpPr/>
          <p:nvPr/>
        </p:nvSpPr>
        <p:spPr bwMode="gray">
          <a:xfrm>
            <a:off x="1509238" y="3468993"/>
            <a:ext cx="6532856" cy="1135945"/>
          </a:xfrm>
          <a:prstGeom prst="trapezoid">
            <a:avLst>
              <a:gd name="adj" fmla="val 75739"/>
            </a:avLst>
          </a:prstGeom>
          <a:gradFill flip="none" rotWithShape="1">
            <a:gsLst>
              <a:gs pos="0">
                <a:schemeClr val="bg1"/>
              </a:gs>
              <a:gs pos="100000">
                <a:srgbClr val="94DAE2">
                  <a:alpha val="26000"/>
                </a:srgbClr>
              </a:gs>
            </a:gsLst>
            <a:lin ang="5400000" scaled="1"/>
            <a:tileRect/>
          </a:gra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5" name="梯形 41"/>
          <p:cNvSpPr/>
          <p:nvPr/>
        </p:nvSpPr>
        <p:spPr bwMode="gray">
          <a:xfrm>
            <a:off x="1509238" y="4807347"/>
            <a:ext cx="6532856" cy="1135945"/>
          </a:xfrm>
          <a:prstGeom prst="trapezoid">
            <a:avLst>
              <a:gd name="adj" fmla="val 75739"/>
            </a:avLst>
          </a:prstGeom>
          <a:gradFill flip="none" rotWithShape="1">
            <a:gsLst>
              <a:gs pos="0">
                <a:schemeClr val="bg1"/>
              </a:gs>
              <a:gs pos="100000">
                <a:srgbClr val="94DAE2">
                  <a:alpha val="26000"/>
                </a:srgbClr>
              </a:gs>
            </a:gsLst>
            <a:lin ang="5400000" scaled="1"/>
            <a:tileRect/>
          </a:gra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 name="Title 1"/>
          <p:cNvSpPr>
            <a:spLocks noGrp="1"/>
          </p:cNvSpPr>
          <p:nvPr>
            <p:ph type="title"/>
          </p:nvPr>
        </p:nvSpPr>
        <p:spPr bwMode="gray"/>
        <p:txBody>
          <a:bodyPr>
            <a:normAutofit/>
          </a:bodyPr>
          <a:lstStyle/>
          <a:p>
            <a:r>
              <a:rPr lang="zh-CN" altLang="en-US" dirty="0"/>
              <a:t>多层可靠性方案概览</a:t>
            </a:r>
            <a:endParaRPr lang="zh-CN" altLang="en-US" dirty="0"/>
          </a:p>
        </p:txBody>
      </p:sp>
      <p:sp>
        <p:nvSpPr>
          <p:cNvPr id="3" name="Text Placeholder 2"/>
          <p:cNvSpPr>
            <a:spLocks noGrp="1"/>
          </p:cNvSpPr>
          <p:nvPr>
            <p:ph type="body" sz="quarter" idx="10"/>
          </p:nvPr>
        </p:nvSpPr>
        <p:spPr bwMode="gray"/>
        <p:txBody>
          <a:bodyPr/>
          <a:lstStyle/>
          <a:p>
            <a:r>
              <a:rPr lang="zh-CN" altLang="en-US" sz="1800" dirty="0"/>
              <a:t>广域承载网需要从设备、网络、业务各层构建高可靠性，实现端到端</a:t>
            </a:r>
            <a:r>
              <a:rPr lang="en-US" altLang="zh-CN" sz="1800" dirty="0"/>
              <a:t>99.999%</a:t>
            </a:r>
            <a:r>
              <a:rPr lang="zh-CN" altLang="en-US" sz="1800" dirty="0"/>
              <a:t>高可用、全业务</a:t>
            </a:r>
            <a:r>
              <a:rPr lang="en-US" altLang="zh-CN" sz="1800" dirty="0"/>
              <a:t>50 </a:t>
            </a:r>
            <a:r>
              <a:rPr lang="en-US" altLang="zh-CN" sz="1800" dirty="0" err="1"/>
              <a:t>ms</a:t>
            </a:r>
            <a:r>
              <a:rPr lang="zh-CN" altLang="en-US" sz="1800" dirty="0"/>
              <a:t>快速保护倒换。</a:t>
            </a:r>
            <a:endParaRPr lang="zh-CN" altLang="en-US" sz="1800" dirty="0"/>
          </a:p>
        </p:txBody>
      </p:sp>
      <p:cxnSp>
        <p:nvCxnSpPr>
          <p:cNvPr id="130" name="直接连接符 152"/>
          <p:cNvCxnSpPr/>
          <p:nvPr/>
        </p:nvCxnSpPr>
        <p:spPr bwMode="gray">
          <a:xfrm flipV="1">
            <a:off x="2617361" y="4237482"/>
            <a:ext cx="4014584" cy="1"/>
          </a:xfrm>
          <a:prstGeom prst="line">
            <a:avLst/>
          </a:prstGeom>
          <a:ln w="19050">
            <a:solidFill>
              <a:schemeClr val="tx1">
                <a:lumMod val="50000"/>
              </a:schemeClr>
            </a:solidFill>
            <a:prstDash val="dash"/>
            <a:headEnd type="stealth"/>
            <a:tailEnd type="stealth"/>
          </a:ln>
        </p:spPr>
        <p:style>
          <a:lnRef idx="1">
            <a:schemeClr val="accent1"/>
          </a:lnRef>
          <a:fillRef idx="0">
            <a:schemeClr val="accent1"/>
          </a:fillRef>
          <a:effectRef idx="0">
            <a:schemeClr val="accent1"/>
          </a:effectRef>
          <a:fontRef idx="minor">
            <a:schemeClr val="tx1"/>
          </a:fontRef>
        </p:style>
      </p:cxnSp>
      <p:cxnSp>
        <p:nvCxnSpPr>
          <p:cNvPr id="132" name="直接连接符 154"/>
          <p:cNvCxnSpPr>
            <a:stCxn id="147" idx="0"/>
          </p:cNvCxnSpPr>
          <p:nvPr/>
        </p:nvCxnSpPr>
        <p:spPr bwMode="gray">
          <a:xfrm flipH="1" flipV="1">
            <a:off x="2613790" y="2152953"/>
            <a:ext cx="19625" cy="2991111"/>
          </a:xfrm>
          <a:prstGeom prst="line">
            <a:avLst/>
          </a:prstGeom>
          <a:ln w="6350">
            <a:solidFill>
              <a:schemeClr val="tx1">
                <a:lumMod val="5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35" name="直接连接符 157"/>
          <p:cNvCxnSpPr>
            <a:stCxn id="146" idx="0"/>
          </p:cNvCxnSpPr>
          <p:nvPr/>
        </p:nvCxnSpPr>
        <p:spPr bwMode="gray">
          <a:xfrm flipH="1" flipV="1">
            <a:off x="6631945" y="2157933"/>
            <a:ext cx="784" cy="2986131"/>
          </a:xfrm>
          <a:prstGeom prst="line">
            <a:avLst/>
          </a:prstGeom>
          <a:ln w="6350">
            <a:solidFill>
              <a:schemeClr val="tx1">
                <a:lumMod val="5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36" name="直接连接符 158"/>
          <p:cNvCxnSpPr/>
          <p:nvPr/>
        </p:nvCxnSpPr>
        <p:spPr bwMode="gray">
          <a:xfrm>
            <a:off x="2632691" y="2638400"/>
            <a:ext cx="3999254" cy="0"/>
          </a:xfrm>
          <a:prstGeom prst="line">
            <a:avLst/>
          </a:prstGeom>
          <a:ln w="19050">
            <a:solidFill>
              <a:schemeClr val="tx1">
                <a:lumMod val="50000"/>
              </a:schemeClr>
            </a:solidFill>
            <a:prstDash val="dash"/>
            <a:headEnd type="stealth"/>
            <a:tailEnd type="stealth"/>
          </a:ln>
        </p:spPr>
        <p:style>
          <a:lnRef idx="1">
            <a:schemeClr val="accent1"/>
          </a:lnRef>
          <a:fillRef idx="0">
            <a:schemeClr val="accent1"/>
          </a:fillRef>
          <a:effectRef idx="0">
            <a:schemeClr val="accent1"/>
          </a:effectRef>
          <a:fontRef idx="minor">
            <a:schemeClr val="tx1"/>
          </a:fontRef>
        </p:style>
      </p:cxnSp>
      <p:sp>
        <p:nvSpPr>
          <p:cNvPr id="137" name="TextBox 149"/>
          <p:cNvSpPr txBox="1"/>
          <p:nvPr/>
        </p:nvSpPr>
        <p:spPr bwMode="gray">
          <a:xfrm>
            <a:off x="3983138" y="2353531"/>
            <a:ext cx="1239442" cy="307777"/>
          </a:xfrm>
          <a:prstGeom prst="rect">
            <a:avLst/>
          </a:prstGeom>
          <a:noFill/>
        </p:spPr>
        <p:txBody>
          <a:bodyPr wrap="none">
            <a:spAutoFit/>
          </a:bodyPr>
          <a:lstStyle>
            <a:defPPr>
              <a:defRPr lang="zh-CN"/>
            </a:defPPr>
            <a:lvl1pPr algn="l" defTabSz="1219200" rtl="0" eaLnBrk="0" fontAlgn="base" hangingPunct="0">
              <a:spcBef>
                <a:spcPct val="0"/>
              </a:spcBef>
              <a:spcAft>
                <a:spcPct val="0"/>
              </a:spcAft>
              <a:defRPr sz="2400" kern="1200">
                <a:solidFill>
                  <a:schemeClr val="tx1"/>
                </a:solidFill>
                <a:latin typeface="Arial" panose="020B0604020202020204" pitchFamily="34" charset="0"/>
                <a:ea typeface="微软雅黑" panose="020B0503020204020204" charset="-122"/>
                <a:cs typeface="+mn-cs"/>
              </a:defRPr>
            </a:lvl1pPr>
            <a:lvl2pPr marL="609600" indent="-152400" algn="l" defTabSz="1219200" rtl="0" eaLnBrk="0" fontAlgn="base" hangingPunct="0">
              <a:spcBef>
                <a:spcPct val="0"/>
              </a:spcBef>
              <a:spcAft>
                <a:spcPct val="0"/>
              </a:spcAft>
              <a:defRPr sz="2400" kern="1200">
                <a:solidFill>
                  <a:schemeClr val="tx1"/>
                </a:solidFill>
                <a:latin typeface="Arial" panose="020B0604020202020204" pitchFamily="34" charset="0"/>
                <a:ea typeface="微软雅黑" panose="020B0503020204020204" charset="-122"/>
                <a:cs typeface="+mn-cs"/>
              </a:defRPr>
            </a:lvl2pPr>
            <a:lvl3pPr marL="1219200" indent="-304800" algn="l" defTabSz="1219200" rtl="0" eaLnBrk="0" fontAlgn="base" hangingPunct="0">
              <a:spcBef>
                <a:spcPct val="0"/>
              </a:spcBef>
              <a:spcAft>
                <a:spcPct val="0"/>
              </a:spcAft>
              <a:defRPr sz="2400" kern="1200">
                <a:solidFill>
                  <a:schemeClr val="tx1"/>
                </a:solidFill>
                <a:latin typeface="Arial" panose="020B0604020202020204" pitchFamily="34" charset="0"/>
                <a:ea typeface="微软雅黑" panose="020B0503020204020204" charset="-122"/>
                <a:cs typeface="+mn-cs"/>
              </a:defRPr>
            </a:lvl3pPr>
            <a:lvl4pPr marL="1828800" indent="-457200" algn="l" defTabSz="1219200" rtl="0" eaLnBrk="0" fontAlgn="base" hangingPunct="0">
              <a:spcBef>
                <a:spcPct val="0"/>
              </a:spcBef>
              <a:spcAft>
                <a:spcPct val="0"/>
              </a:spcAft>
              <a:defRPr sz="2400" kern="1200">
                <a:solidFill>
                  <a:schemeClr val="tx1"/>
                </a:solidFill>
                <a:latin typeface="Arial" panose="020B0604020202020204" pitchFamily="34" charset="0"/>
                <a:ea typeface="微软雅黑" panose="020B0503020204020204" charset="-122"/>
                <a:cs typeface="+mn-cs"/>
              </a:defRPr>
            </a:lvl4pPr>
            <a:lvl5pPr marL="2438400" indent="-609600" algn="l" defTabSz="1219200" rtl="0" eaLnBrk="0" fontAlgn="base" hangingPunct="0">
              <a:spcBef>
                <a:spcPct val="0"/>
              </a:spcBef>
              <a:spcAft>
                <a:spcPct val="0"/>
              </a:spcAft>
              <a:defRPr sz="2400" kern="1200">
                <a:solidFill>
                  <a:schemeClr val="tx1"/>
                </a:solidFill>
                <a:latin typeface="Arial" panose="020B0604020202020204" pitchFamily="34" charset="0"/>
                <a:ea typeface="微软雅黑" panose="020B0503020204020204" charset="-122"/>
                <a:cs typeface="+mn-cs"/>
              </a:defRPr>
            </a:lvl5pPr>
            <a:lvl6pPr marL="2286000" algn="l" defTabSz="914400" rtl="0" eaLnBrk="1" latinLnBrk="0" hangingPunct="1">
              <a:defRPr sz="2400" kern="1200">
                <a:solidFill>
                  <a:schemeClr val="tx1"/>
                </a:solidFill>
                <a:latin typeface="Arial" panose="020B0604020202020204" pitchFamily="34" charset="0"/>
                <a:ea typeface="微软雅黑" panose="020B0503020204020204" charset="-122"/>
                <a:cs typeface="+mn-cs"/>
              </a:defRPr>
            </a:lvl6pPr>
            <a:lvl7pPr marL="2743200" algn="l" defTabSz="914400" rtl="0" eaLnBrk="1" latinLnBrk="0" hangingPunct="1">
              <a:defRPr sz="2400" kern="1200">
                <a:solidFill>
                  <a:schemeClr val="tx1"/>
                </a:solidFill>
                <a:latin typeface="Arial" panose="020B0604020202020204" pitchFamily="34" charset="0"/>
                <a:ea typeface="微软雅黑" panose="020B0503020204020204" charset="-122"/>
                <a:cs typeface="+mn-cs"/>
              </a:defRPr>
            </a:lvl7pPr>
            <a:lvl8pPr marL="3200400" algn="l" defTabSz="914400" rtl="0" eaLnBrk="1" latinLnBrk="0" hangingPunct="1">
              <a:defRPr sz="2400" kern="1200">
                <a:solidFill>
                  <a:schemeClr val="tx1"/>
                </a:solidFill>
                <a:latin typeface="Arial" panose="020B0604020202020204" pitchFamily="34" charset="0"/>
                <a:ea typeface="微软雅黑" panose="020B0503020204020204" charset="-122"/>
                <a:cs typeface="+mn-cs"/>
              </a:defRPr>
            </a:lvl8pPr>
            <a:lvl9pPr marL="3657600" algn="l" defTabSz="914400" rtl="0" eaLnBrk="1" latinLnBrk="0" hangingPunct="1">
              <a:defRPr sz="2400" kern="1200">
                <a:solidFill>
                  <a:schemeClr val="tx1"/>
                </a:solidFill>
                <a:latin typeface="Arial" panose="020B0604020202020204" pitchFamily="34" charset="0"/>
                <a:ea typeface="微软雅黑" panose="020B0503020204020204" charset="-122"/>
                <a:cs typeface="+mn-cs"/>
              </a:defRPr>
            </a:lvl9pPr>
          </a:lstStyle>
          <a:p>
            <a:pPr defTabSz="965835" eaLnBrk="1" fontAlgn="auto" hangingPunct="1">
              <a:spcBef>
                <a:spcPts val="0"/>
              </a:spcBef>
              <a:spcAft>
                <a:spcPts val="0"/>
              </a:spcAft>
              <a:defRPr/>
            </a:pPr>
            <a:r>
              <a:rPr lang="en-US" altLang="zh-CN" sz="1400" kern="0" dirty="0">
                <a:solidFill>
                  <a:prstClr val="black"/>
                </a:solidFill>
                <a:latin typeface="+mn-lt"/>
                <a:ea typeface="+mn-ea"/>
                <a:cs typeface="+mn-ea"/>
                <a:sym typeface="+mn-lt"/>
              </a:rPr>
              <a:t>EVPN L3VPN</a:t>
            </a:r>
            <a:endParaRPr lang="zh-CN" altLang="en-US" sz="1400" kern="0" dirty="0" err="1">
              <a:solidFill>
                <a:prstClr val="black"/>
              </a:solidFill>
              <a:latin typeface="+mn-lt"/>
              <a:ea typeface="+mn-ea"/>
              <a:cs typeface="+mn-ea"/>
              <a:sym typeface="+mn-lt"/>
            </a:endParaRPr>
          </a:p>
        </p:txBody>
      </p:sp>
      <p:sp>
        <p:nvSpPr>
          <p:cNvPr id="138" name="文本框 160"/>
          <p:cNvSpPr txBox="1"/>
          <p:nvPr/>
        </p:nvSpPr>
        <p:spPr bwMode="gray">
          <a:xfrm>
            <a:off x="7936474" y="4803288"/>
            <a:ext cx="3402129" cy="1384995"/>
          </a:xfrm>
          <a:prstGeom prst="rect">
            <a:avLst/>
          </a:prstGeom>
          <a:noFill/>
        </p:spPr>
        <p:txBody>
          <a:bodyPr wrap="square" rtlCol="0">
            <a:spAutoFit/>
          </a:bodyPr>
          <a:lstStyle/>
          <a:p>
            <a:pPr marL="171450" indent="-171450">
              <a:buFont typeface="Arial" panose="020B0604020202020204" pitchFamily="34" charset="0"/>
              <a:buChar char="•"/>
            </a:pPr>
            <a:r>
              <a:rPr lang="zh-CN" altLang="en-US" sz="1400" dirty="0">
                <a:cs typeface="+mn-ea"/>
                <a:sym typeface="+mn-lt"/>
              </a:rPr>
              <a:t>高可靠的硬件架构：主控、交换、转发、电源、风扇等关键部件采用冗余设计关键设备</a:t>
            </a:r>
            <a:r>
              <a:rPr lang="en-US" altLang="zh-CN" sz="1400" dirty="0">
                <a:cs typeface="+mn-ea"/>
                <a:sym typeface="+mn-lt"/>
              </a:rPr>
              <a:t>/</a:t>
            </a:r>
            <a:r>
              <a:rPr lang="zh-CN" altLang="en-US" sz="1400" dirty="0">
                <a:cs typeface="+mn-ea"/>
                <a:sym typeface="+mn-lt"/>
              </a:rPr>
              <a:t>关键部件冗余。</a:t>
            </a:r>
            <a:endParaRPr lang="en-US" altLang="zh-CN" sz="1400" dirty="0">
              <a:cs typeface="+mn-ea"/>
              <a:sym typeface="+mn-lt"/>
            </a:endParaRPr>
          </a:p>
          <a:p>
            <a:pPr marL="171450" indent="-171450">
              <a:buFont typeface="Arial" panose="020B0604020202020204" pitchFamily="34" charset="0"/>
              <a:buChar char="•"/>
            </a:pPr>
            <a:r>
              <a:rPr lang="zh-CN" altLang="en-US" sz="1400" dirty="0">
                <a:cs typeface="+mn-ea"/>
                <a:sym typeface="+mn-lt"/>
              </a:rPr>
              <a:t>高可靠组网架构：有效的冗余路径，环形</a:t>
            </a:r>
            <a:r>
              <a:rPr lang="en-US" altLang="zh-CN" sz="1400" dirty="0">
                <a:cs typeface="+mn-ea"/>
                <a:sym typeface="+mn-lt"/>
              </a:rPr>
              <a:t>/Spine-Leaf/</a:t>
            </a:r>
            <a:r>
              <a:rPr lang="zh-CN" altLang="en-US" sz="1400" dirty="0">
                <a:cs typeface="+mn-ea"/>
                <a:sym typeface="+mn-lt"/>
              </a:rPr>
              <a:t>双平面等组网，并预留足够的保护带宽。</a:t>
            </a:r>
            <a:endParaRPr lang="en-US" altLang="zh-CN" sz="1400" dirty="0">
              <a:cs typeface="+mn-ea"/>
              <a:sym typeface="+mn-lt"/>
            </a:endParaRPr>
          </a:p>
        </p:txBody>
      </p:sp>
      <p:sp>
        <p:nvSpPr>
          <p:cNvPr id="141" name="文本框 163"/>
          <p:cNvSpPr txBox="1"/>
          <p:nvPr/>
        </p:nvSpPr>
        <p:spPr bwMode="gray">
          <a:xfrm>
            <a:off x="7936474" y="3471479"/>
            <a:ext cx="3402129" cy="523220"/>
          </a:xfrm>
          <a:prstGeom prst="rect">
            <a:avLst/>
          </a:prstGeom>
          <a:noFill/>
        </p:spPr>
        <p:txBody>
          <a:bodyPr wrap="square" rtlCol="0">
            <a:spAutoFit/>
          </a:bodyPr>
          <a:lstStyle/>
          <a:p>
            <a:pPr marL="171450" indent="-171450">
              <a:buFont typeface="Arial" panose="020B0604020202020204" pitchFamily="34" charset="0"/>
              <a:buChar char="•"/>
            </a:pPr>
            <a:r>
              <a:rPr lang="en-US" altLang="zh-CN" sz="1400" dirty="0">
                <a:cs typeface="+mn-ea"/>
                <a:sym typeface="+mn-lt"/>
              </a:rPr>
              <a:t>TI-LFA</a:t>
            </a:r>
            <a:r>
              <a:rPr lang="zh-CN" altLang="en-US" sz="1400" dirty="0">
                <a:cs typeface="+mn-ea"/>
                <a:sym typeface="+mn-lt"/>
              </a:rPr>
              <a:t>、</a:t>
            </a:r>
            <a:r>
              <a:rPr lang="en-US" altLang="zh-CN" sz="1400" dirty="0">
                <a:cs typeface="+mn-ea"/>
                <a:sym typeface="+mn-lt"/>
              </a:rPr>
              <a:t>Midpoint</a:t>
            </a:r>
            <a:r>
              <a:rPr lang="zh-CN" altLang="en-US" sz="1400" dirty="0">
                <a:cs typeface="+mn-ea"/>
                <a:sym typeface="+mn-lt"/>
              </a:rPr>
              <a:t>保护（</a:t>
            </a:r>
            <a:r>
              <a:rPr lang="en-US" altLang="zh-CN" sz="1400" dirty="0">
                <a:cs typeface="+mn-ea"/>
                <a:sym typeface="+mn-lt"/>
              </a:rPr>
              <a:t>TE FRR</a:t>
            </a:r>
            <a:r>
              <a:rPr lang="zh-CN" altLang="en-US" sz="1400" dirty="0">
                <a:cs typeface="+mn-ea"/>
                <a:sym typeface="+mn-lt"/>
              </a:rPr>
              <a:t>）</a:t>
            </a:r>
            <a:r>
              <a:rPr lang="en-US" altLang="zh-CN" sz="1400" dirty="0">
                <a:cs typeface="+mn-ea"/>
                <a:sym typeface="+mn-lt"/>
              </a:rPr>
              <a:t>, Candidate Path</a:t>
            </a:r>
            <a:r>
              <a:rPr lang="zh-CN" altLang="en-US" sz="1400" dirty="0">
                <a:cs typeface="+mn-ea"/>
                <a:sym typeface="+mn-lt"/>
              </a:rPr>
              <a:t>（</a:t>
            </a:r>
            <a:r>
              <a:rPr lang="en-US" altLang="zh-CN" sz="1400" dirty="0">
                <a:cs typeface="+mn-ea"/>
                <a:sym typeface="+mn-lt"/>
              </a:rPr>
              <a:t>HSB</a:t>
            </a:r>
            <a:r>
              <a:rPr lang="zh-CN" altLang="en-US" sz="1400" dirty="0">
                <a:cs typeface="+mn-ea"/>
                <a:sym typeface="+mn-lt"/>
              </a:rPr>
              <a:t>）。</a:t>
            </a:r>
            <a:endParaRPr lang="en-US" altLang="zh-CN" sz="1400" dirty="0">
              <a:cs typeface="+mn-ea"/>
              <a:sym typeface="+mn-lt"/>
            </a:endParaRPr>
          </a:p>
        </p:txBody>
      </p:sp>
      <p:sp>
        <p:nvSpPr>
          <p:cNvPr id="142" name="文本框 164"/>
          <p:cNvSpPr txBox="1"/>
          <p:nvPr/>
        </p:nvSpPr>
        <p:spPr bwMode="gray">
          <a:xfrm>
            <a:off x="7936709" y="2060974"/>
            <a:ext cx="3401894" cy="307777"/>
          </a:xfrm>
          <a:prstGeom prst="rect">
            <a:avLst/>
          </a:prstGeom>
          <a:noFill/>
        </p:spPr>
        <p:txBody>
          <a:bodyPr wrap="square" rtlCol="0">
            <a:spAutoFit/>
          </a:bodyPr>
          <a:lstStyle/>
          <a:p>
            <a:pPr marL="171450" indent="-171450">
              <a:buFont typeface="Arial" panose="020B0604020202020204" pitchFamily="34" charset="0"/>
              <a:buChar char="•"/>
            </a:pPr>
            <a:r>
              <a:rPr lang="en-US" altLang="zh-CN" sz="1400" dirty="0">
                <a:cs typeface="+mn-ea"/>
                <a:sym typeface="+mn-lt"/>
              </a:rPr>
              <a:t>VPN FRR</a:t>
            </a:r>
            <a:r>
              <a:rPr lang="zh-CN" altLang="en-US" sz="1400" dirty="0">
                <a:cs typeface="+mn-ea"/>
                <a:sym typeface="+mn-lt"/>
              </a:rPr>
              <a:t>。</a:t>
            </a:r>
            <a:endParaRPr lang="en-US" altLang="zh-CN" sz="1400" dirty="0">
              <a:cs typeface="+mn-ea"/>
              <a:sym typeface="+mn-lt"/>
            </a:endParaRPr>
          </a:p>
        </p:txBody>
      </p:sp>
      <p:pic>
        <p:nvPicPr>
          <p:cNvPr id="146" name="图片 13"/>
          <p:cNvPicPr/>
          <p:nvPr/>
        </p:nvPicPr>
        <p:blipFill>
          <a:blip r:embed="rId1" cstate="print">
            <a:extLst>
              <a:ext uri="{28A0092B-C50C-407E-A947-70E740481C1C}">
                <a14:useLocalDpi xmlns:a14="http://schemas.microsoft.com/office/drawing/2010/main" val="0"/>
              </a:ext>
            </a:extLst>
          </a:blip>
          <a:stretch>
            <a:fillRect/>
          </a:stretch>
        </p:blipFill>
        <p:spPr bwMode="gray">
          <a:xfrm>
            <a:off x="6362729" y="5144064"/>
            <a:ext cx="540000" cy="442800"/>
          </a:xfrm>
          <a:prstGeom prst="rect">
            <a:avLst/>
          </a:prstGeom>
        </p:spPr>
      </p:pic>
      <p:pic>
        <p:nvPicPr>
          <p:cNvPr id="147" name="图片 16"/>
          <p:cNvPicPr/>
          <p:nvPr/>
        </p:nvPicPr>
        <p:blipFill>
          <a:blip r:embed="rId1" cstate="print">
            <a:extLst>
              <a:ext uri="{28A0092B-C50C-407E-A947-70E740481C1C}">
                <a14:useLocalDpi xmlns:a14="http://schemas.microsoft.com/office/drawing/2010/main" val="0"/>
              </a:ext>
            </a:extLst>
          </a:blip>
          <a:stretch>
            <a:fillRect/>
          </a:stretch>
        </p:blipFill>
        <p:spPr bwMode="gray">
          <a:xfrm>
            <a:off x="2363415" y="5144064"/>
            <a:ext cx="540000" cy="442800"/>
          </a:xfrm>
          <a:prstGeom prst="rect">
            <a:avLst/>
          </a:prstGeom>
        </p:spPr>
      </p:pic>
      <p:pic>
        <p:nvPicPr>
          <p:cNvPr id="148" name="图片 16"/>
          <p:cNvPicPr/>
          <p:nvPr/>
        </p:nvPicPr>
        <p:blipFill>
          <a:blip r:embed="rId1" cstate="print">
            <a:extLst>
              <a:ext uri="{28A0092B-C50C-407E-A947-70E740481C1C}">
                <a14:useLocalDpi xmlns:a14="http://schemas.microsoft.com/office/drawing/2010/main" val="0"/>
              </a:ext>
            </a:extLst>
          </a:blip>
          <a:stretch>
            <a:fillRect/>
          </a:stretch>
        </p:blipFill>
        <p:spPr bwMode="gray">
          <a:xfrm>
            <a:off x="3696520" y="5144064"/>
            <a:ext cx="540000" cy="442800"/>
          </a:xfrm>
          <a:prstGeom prst="rect">
            <a:avLst/>
          </a:prstGeom>
        </p:spPr>
      </p:pic>
      <p:pic>
        <p:nvPicPr>
          <p:cNvPr id="149" name="图片 16"/>
          <p:cNvPicPr/>
          <p:nvPr/>
        </p:nvPicPr>
        <p:blipFill>
          <a:blip r:embed="rId1" cstate="print">
            <a:extLst>
              <a:ext uri="{28A0092B-C50C-407E-A947-70E740481C1C}">
                <a14:useLocalDpi xmlns:a14="http://schemas.microsoft.com/office/drawing/2010/main" val="0"/>
              </a:ext>
            </a:extLst>
          </a:blip>
          <a:stretch>
            <a:fillRect/>
          </a:stretch>
        </p:blipFill>
        <p:spPr bwMode="gray">
          <a:xfrm>
            <a:off x="5029625" y="5144064"/>
            <a:ext cx="540000" cy="442800"/>
          </a:xfrm>
          <a:prstGeom prst="rect">
            <a:avLst/>
          </a:prstGeom>
        </p:spPr>
      </p:pic>
      <p:cxnSp>
        <p:nvCxnSpPr>
          <p:cNvPr id="150" name="Straight Connector 149"/>
          <p:cNvCxnSpPr>
            <a:stCxn id="148" idx="1"/>
            <a:endCxn id="147" idx="3"/>
          </p:cNvCxnSpPr>
          <p:nvPr/>
        </p:nvCxnSpPr>
        <p:spPr bwMode="gray">
          <a:xfrm flipH="1">
            <a:off x="2903415" y="5365464"/>
            <a:ext cx="793105"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53" name="Straight Connector 152"/>
          <p:cNvCxnSpPr>
            <a:stCxn id="149" idx="1"/>
            <a:endCxn id="148" idx="3"/>
          </p:cNvCxnSpPr>
          <p:nvPr/>
        </p:nvCxnSpPr>
        <p:spPr bwMode="gray">
          <a:xfrm flipH="1">
            <a:off x="4236520" y="5365464"/>
            <a:ext cx="793105"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57" name="Straight Connector 156"/>
          <p:cNvCxnSpPr>
            <a:stCxn id="146" idx="1"/>
            <a:endCxn id="149" idx="3"/>
          </p:cNvCxnSpPr>
          <p:nvPr/>
        </p:nvCxnSpPr>
        <p:spPr bwMode="gray">
          <a:xfrm flipH="1">
            <a:off x="5569625" y="5365464"/>
            <a:ext cx="793104"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63" name="TextBox 162"/>
          <p:cNvSpPr txBox="1"/>
          <p:nvPr/>
        </p:nvSpPr>
        <p:spPr bwMode="gray">
          <a:xfrm>
            <a:off x="1640140" y="5635515"/>
            <a:ext cx="723275" cy="307777"/>
          </a:xfrm>
          <a:prstGeom prst="rect">
            <a:avLst/>
          </a:prstGeom>
          <a:noFill/>
        </p:spPr>
        <p:txBody>
          <a:bodyPr wrap="none" rtlCol="0">
            <a:spAutoFit/>
          </a:bodyPr>
          <a:lstStyle/>
          <a:p>
            <a:r>
              <a:rPr lang="zh-CN" altLang="en-US" sz="1400" dirty="0"/>
              <a:t>物理层</a:t>
            </a:r>
            <a:endParaRPr lang="zh-CN" altLang="en-US" sz="1400" dirty="0"/>
          </a:p>
        </p:txBody>
      </p:sp>
      <p:sp>
        <p:nvSpPr>
          <p:cNvPr id="164" name="TextBox 163"/>
          <p:cNvSpPr txBox="1"/>
          <p:nvPr/>
        </p:nvSpPr>
        <p:spPr bwMode="gray">
          <a:xfrm>
            <a:off x="1640140" y="4321356"/>
            <a:ext cx="723275" cy="307777"/>
          </a:xfrm>
          <a:prstGeom prst="rect">
            <a:avLst/>
          </a:prstGeom>
          <a:noFill/>
        </p:spPr>
        <p:txBody>
          <a:bodyPr wrap="none" rtlCol="0">
            <a:spAutoFit/>
          </a:bodyPr>
          <a:lstStyle/>
          <a:p>
            <a:r>
              <a:rPr lang="zh-CN" altLang="en-US" sz="1400" dirty="0"/>
              <a:t>隧道层</a:t>
            </a:r>
            <a:endParaRPr lang="zh-CN" altLang="en-US" sz="1400" dirty="0"/>
          </a:p>
        </p:txBody>
      </p:sp>
      <p:sp>
        <p:nvSpPr>
          <p:cNvPr id="165" name="TextBox 164"/>
          <p:cNvSpPr txBox="1"/>
          <p:nvPr/>
        </p:nvSpPr>
        <p:spPr bwMode="gray">
          <a:xfrm>
            <a:off x="1640140" y="2900488"/>
            <a:ext cx="723275" cy="307777"/>
          </a:xfrm>
          <a:prstGeom prst="rect">
            <a:avLst/>
          </a:prstGeom>
          <a:noFill/>
        </p:spPr>
        <p:txBody>
          <a:bodyPr wrap="none" rtlCol="0">
            <a:spAutoFit/>
          </a:bodyPr>
          <a:lstStyle/>
          <a:p>
            <a:r>
              <a:rPr lang="zh-CN" altLang="en-US" sz="1400" dirty="0"/>
              <a:t>业务层</a:t>
            </a:r>
            <a:endParaRPr lang="zh-CN" altLang="en-US" sz="1400" dirty="0"/>
          </a:p>
        </p:txBody>
      </p:sp>
      <p:sp>
        <p:nvSpPr>
          <p:cNvPr id="167" name="Can 41"/>
          <p:cNvSpPr/>
          <p:nvPr/>
        </p:nvSpPr>
        <p:spPr bwMode="gray">
          <a:xfrm rot="5400000">
            <a:off x="4466976" y="1879917"/>
            <a:ext cx="311782" cy="3998530"/>
          </a:xfrm>
          <a:prstGeom prst="can">
            <a:avLst>
              <a:gd name="adj" fmla="val 55435"/>
            </a:avLst>
          </a:prstGeom>
          <a:solidFill>
            <a:srgbClr val="FFF2CC"/>
          </a:solidFill>
          <a:ln w="12700">
            <a:solidFill>
              <a:srgbClr val="FFD1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8" name="TextBox 149"/>
          <p:cNvSpPr txBox="1"/>
          <p:nvPr/>
        </p:nvSpPr>
        <p:spPr bwMode="gray">
          <a:xfrm>
            <a:off x="4129857" y="3713131"/>
            <a:ext cx="938077" cy="307777"/>
          </a:xfrm>
          <a:prstGeom prst="rect">
            <a:avLst/>
          </a:prstGeom>
          <a:noFill/>
        </p:spPr>
        <p:txBody>
          <a:bodyPr wrap="none">
            <a:spAutoFit/>
          </a:bodyPr>
          <a:lstStyle>
            <a:defPPr>
              <a:defRPr lang="zh-CN"/>
            </a:defPPr>
            <a:lvl1pPr algn="l" defTabSz="1219200" rtl="0" eaLnBrk="0" fontAlgn="base" hangingPunct="0">
              <a:spcBef>
                <a:spcPct val="0"/>
              </a:spcBef>
              <a:spcAft>
                <a:spcPct val="0"/>
              </a:spcAft>
              <a:defRPr sz="2400" kern="1200">
                <a:solidFill>
                  <a:schemeClr val="tx1"/>
                </a:solidFill>
                <a:latin typeface="Arial" panose="020B0604020202020204" pitchFamily="34" charset="0"/>
                <a:ea typeface="微软雅黑" panose="020B0503020204020204" charset="-122"/>
                <a:cs typeface="+mn-cs"/>
              </a:defRPr>
            </a:lvl1pPr>
            <a:lvl2pPr marL="609600" indent="-152400" algn="l" defTabSz="1219200" rtl="0" eaLnBrk="0" fontAlgn="base" hangingPunct="0">
              <a:spcBef>
                <a:spcPct val="0"/>
              </a:spcBef>
              <a:spcAft>
                <a:spcPct val="0"/>
              </a:spcAft>
              <a:defRPr sz="2400" kern="1200">
                <a:solidFill>
                  <a:schemeClr val="tx1"/>
                </a:solidFill>
                <a:latin typeface="Arial" panose="020B0604020202020204" pitchFamily="34" charset="0"/>
                <a:ea typeface="微软雅黑" panose="020B0503020204020204" charset="-122"/>
                <a:cs typeface="+mn-cs"/>
              </a:defRPr>
            </a:lvl2pPr>
            <a:lvl3pPr marL="1219200" indent="-304800" algn="l" defTabSz="1219200" rtl="0" eaLnBrk="0" fontAlgn="base" hangingPunct="0">
              <a:spcBef>
                <a:spcPct val="0"/>
              </a:spcBef>
              <a:spcAft>
                <a:spcPct val="0"/>
              </a:spcAft>
              <a:defRPr sz="2400" kern="1200">
                <a:solidFill>
                  <a:schemeClr val="tx1"/>
                </a:solidFill>
                <a:latin typeface="Arial" panose="020B0604020202020204" pitchFamily="34" charset="0"/>
                <a:ea typeface="微软雅黑" panose="020B0503020204020204" charset="-122"/>
                <a:cs typeface="+mn-cs"/>
              </a:defRPr>
            </a:lvl3pPr>
            <a:lvl4pPr marL="1828800" indent="-457200" algn="l" defTabSz="1219200" rtl="0" eaLnBrk="0" fontAlgn="base" hangingPunct="0">
              <a:spcBef>
                <a:spcPct val="0"/>
              </a:spcBef>
              <a:spcAft>
                <a:spcPct val="0"/>
              </a:spcAft>
              <a:defRPr sz="2400" kern="1200">
                <a:solidFill>
                  <a:schemeClr val="tx1"/>
                </a:solidFill>
                <a:latin typeface="Arial" panose="020B0604020202020204" pitchFamily="34" charset="0"/>
                <a:ea typeface="微软雅黑" panose="020B0503020204020204" charset="-122"/>
                <a:cs typeface="+mn-cs"/>
              </a:defRPr>
            </a:lvl4pPr>
            <a:lvl5pPr marL="2438400" indent="-609600" algn="l" defTabSz="1219200" rtl="0" eaLnBrk="0" fontAlgn="base" hangingPunct="0">
              <a:spcBef>
                <a:spcPct val="0"/>
              </a:spcBef>
              <a:spcAft>
                <a:spcPct val="0"/>
              </a:spcAft>
              <a:defRPr sz="2400" kern="1200">
                <a:solidFill>
                  <a:schemeClr val="tx1"/>
                </a:solidFill>
                <a:latin typeface="Arial" panose="020B0604020202020204" pitchFamily="34" charset="0"/>
                <a:ea typeface="微软雅黑" panose="020B0503020204020204" charset="-122"/>
                <a:cs typeface="+mn-cs"/>
              </a:defRPr>
            </a:lvl5pPr>
            <a:lvl6pPr marL="2286000" algn="l" defTabSz="914400" rtl="0" eaLnBrk="1" latinLnBrk="0" hangingPunct="1">
              <a:defRPr sz="2400" kern="1200">
                <a:solidFill>
                  <a:schemeClr val="tx1"/>
                </a:solidFill>
                <a:latin typeface="Arial" panose="020B0604020202020204" pitchFamily="34" charset="0"/>
                <a:ea typeface="微软雅黑" panose="020B0503020204020204" charset="-122"/>
                <a:cs typeface="+mn-cs"/>
              </a:defRPr>
            </a:lvl6pPr>
            <a:lvl7pPr marL="2743200" algn="l" defTabSz="914400" rtl="0" eaLnBrk="1" latinLnBrk="0" hangingPunct="1">
              <a:defRPr sz="2400" kern="1200">
                <a:solidFill>
                  <a:schemeClr val="tx1"/>
                </a:solidFill>
                <a:latin typeface="Arial" panose="020B0604020202020204" pitchFamily="34" charset="0"/>
                <a:ea typeface="微软雅黑" panose="020B0503020204020204" charset="-122"/>
                <a:cs typeface="+mn-cs"/>
              </a:defRPr>
            </a:lvl7pPr>
            <a:lvl8pPr marL="3200400" algn="l" defTabSz="914400" rtl="0" eaLnBrk="1" latinLnBrk="0" hangingPunct="1">
              <a:defRPr sz="2400" kern="1200">
                <a:solidFill>
                  <a:schemeClr val="tx1"/>
                </a:solidFill>
                <a:latin typeface="Arial" panose="020B0604020202020204" pitchFamily="34" charset="0"/>
                <a:ea typeface="微软雅黑" panose="020B0503020204020204" charset="-122"/>
                <a:cs typeface="+mn-cs"/>
              </a:defRPr>
            </a:lvl8pPr>
            <a:lvl9pPr marL="3657600" algn="l" defTabSz="914400" rtl="0" eaLnBrk="1" latinLnBrk="0" hangingPunct="1">
              <a:defRPr sz="2400" kern="1200">
                <a:solidFill>
                  <a:schemeClr val="tx1"/>
                </a:solidFill>
                <a:latin typeface="Arial" panose="020B0604020202020204" pitchFamily="34" charset="0"/>
                <a:ea typeface="微软雅黑" panose="020B0503020204020204" charset="-122"/>
                <a:cs typeface="+mn-cs"/>
              </a:defRPr>
            </a:lvl9pPr>
          </a:lstStyle>
          <a:p>
            <a:pPr defTabSz="965835" eaLnBrk="1" fontAlgn="auto" hangingPunct="1">
              <a:spcBef>
                <a:spcPts val="0"/>
              </a:spcBef>
              <a:spcAft>
                <a:spcPts val="0"/>
              </a:spcAft>
              <a:defRPr/>
            </a:pPr>
            <a:r>
              <a:rPr lang="en-US" altLang="zh-CN" sz="1400" kern="0" dirty="0">
                <a:solidFill>
                  <a:prstClr val="black"/>
                </a:solidFill>
                <a:latin typeface="+mn-lt"/>
                <a:ea typeface="+mn-ea"/>
                <a:cs typeface="+mn-ea"/>
                <a:sym typeface="+mn-lt"/>
              </a:rPr>
              <a:t>SRv6</a:t>
            </a:r>
            <a:r>
              <a:rPr lang="zh-CN" altLang="en-US" sz="1400" kern="0" dirty="0">
                <a:solidFill>
                  <a:prstClr val="black"/>
                </a:solidFill>
                <a:latin typeface="+mn-lt"/>
                <a:ea typeface="+mn-ea"/>
                <a:cs typeface="+mn-ea"/>
                <a:sym typeface="+mn-lt"/>
              </a:rPr>
              <a:t>隧道</a:t>
            </a:r>
            <a:endParaRPr lang="zh-CN" altLang="en-US" sz="1400" kern="0" dirty="0">
              <a:solidFill>
                <a:prstClr val="black"/>
              </a:solidFill>
              <a:latin typeface="+mn-lt"/>
              <a:ea typeface="+mn-ea"/>
              <a:cs typeface="+mn-ea"/>
              <a:sym typeface="+mn-lt"/>
            </a:endParaRPr>
          </a:p>
        </p:txBody>
      </p:sp>
      <p:sp>
        <p:nvSpPr>
          <p:cNvPr id="169" name="TextBox 149"/>
          <p:cNvSpPr txBox="1"/>
          <p:nvPr/>
        </p:nvSpPr>
        <p:spPr bwMode="gray">
          <a:xfrm>
            <a:off x="4365498" y="4234982"/>
            <a:ext cx="466794" cy="307777"/>
          </a:xfrm>
          <a:prstGeom prst="rect">
            <a:avLst/>
          </a:prstGeom>
          <a:noFill/>
        </p:spPr>
        <p:txBody>
          <a:bodyPr wrap="none">
            <a:spAutoFit/>
          </a:bodyPr>
          <a:lstStyle>
            <a:defPPr>
              <a:defRPr lang="zh-CN"/>
            </a:defPPr>
            <a:lvl1pPr algn="l" defTabSz="1219200" rtl="0" eaLnBrk="0" fontAlgn="base" hangingPunct="0">
              <a:spcBef>
                <a:spcPct val="0"/>
              </a:spcBef>
              <a:spcAft>
                <a:spcPct val="0"/>
              </a:spcAft>
              <a:defRPr sz="2400" kern="1200">
                <a:solidFill>
                  <a:schemeClr val="tx1"/>
                </a:solidFill>
                <a:latin typeface="Arial" panose="020B0604020202020204" pitchFamily="34" charset="0"/>
                <a:ea typeface="微软雅黑" panose="020B0503020204020204" charset="-122"/>
                <a:cs typeface="+mn-cs"/>
              </a:defRPr>
            </a:lvl1pPr>
            <a:lvl2pPr marL="609600" indent="-152400" algn="l" defTabSz="1219200" rtl="0" eaLnBrk="0" fontAlgn="base" hangingPunct="0">
              <a:spcBef>
                <a:spcPct val="0"/>
              </a:spcBef>
              <a:spcAft>
                <a:spcPct val="0"/>
              </a:spcAft>
              <a:defRPr sz="2400" kern="1200">
                <a:solidFill>
                  <a:schemeClr val="tx1"/>
                </a:solidFill>
                <a:latin typeface="Arial" panose="020B0604020202020204" pitchFamily="34" charset="0"/>
                <a:ea typeface="微软雅黑" panose="020B0503020204020204" charset="-122"/>
                <a:cs typeface="+mn-cs"/>
              </a:defRPr>
            </a:lvl2pPr>
            <a:lvl3pPr marL="1219200" indent="-304800" algn="l" defTabSz="1219200" rtl="0" eaLnBrk="0" fontAlgn="base" hangingPunct="0">
              <a:spcBef>
                <a:spcPct val="0"/>
              </a:spcBef>
              <a:spcAft>
                <a:spcPct val="0"/>
              </a:spcAft>
              <a:defRPr sz="2400" kern="1200">
                <a:solidFill>
                  <a:schemeClr val="tx1"/>
                </a:solidFill>
                <a:latin typeface="Arial" panose="020B0604020202020204" pitchFamily="34" charset="0"/>
                <a:ea typeface="微软雅黑" panose="020B0503020204020204" charset="-122"/>
                <a:cs typeface="+mn-cs"/>
              </a:defRPr>
            </a:lvl3pPr>
            <a:lvl4pPr marL="1828800" indent="-457200" algn="l" defTabSz="1219200" rtl="0" eaLnBrk="0" fontAlgn="base" hangingPunct="0">
              <a:spcBef>
                <a:spcPct val="0"/>
              </a:spcBef>
              <a:spcAft>
                <a:spcPct val="0"/>
              </a:spcAft>
              <a:defRPr sz="2400" kern="1200">
                <a:solidFill>
                  <a:schemeClr val="tx1"/>
                </a:solidFill>
                <a:latin typeface="Arial" panose="020B0604020202020204" pitchFamily="34" charset="0"/>
                <a:ea typeface="微软雅黑" panose="020B0503020204020204" charset="-122"/>
                <a:cs typeface="+mn-cs"/>
              </a:defRPr>
            </a:lvl4pPr>
            <a:lvl5pPr marL="2438400" indent="-609600" algn="l" defTabSz="1219200" rtl="0" eaLnBrk="0" fontAlgn="base" hangingPunct="0">
              <a:spcBef>
                <a:spcPct val="0"/>
              </a:spcBef>
              <a:spcAft>
                <a:spcPct val="0"/>
              </a:spcAft>
              <a:defRPr sz="2400" kern="1200">
                <a:solidFill>
                  <a:schemeClr val="tx1"/>
                </a:solidFill>
                <a:latin typeface="Arial" panose="020B0604020202020204" pitchFamily="34" charset="0"/>
                <a:ea typeface="微软雅黑" panose="020B0503020204020204" charset="-122"/>
                <a:cs typeface="+mn-cs"/>
              </a:defRPr>
            </a:lvl5pPr>
            <a:lvl6pPr marL="2286000" algn="l" defTabSz="914400" rtl="0" eaLnBrk="1" latinLnBrk="0" hangingPunct="1">
              <a:defRPr sz="2400" kern="1200">
                <a:solidFill>
                  <a:schemeClr val="tx1"/>
                </a:solidFill>
                <a:latin typeface="Arial" panose="020B0604020202020204" pitchFamily="34" charset="0"/>
                <a:ea typeface="微软雅黑" panose="020B0503020204020204" charset="-122"/>
                <a:cs typeface="+mn-cs"/>
              </a:defRPr>
            </a:lvl6pPr>
            <a:lvl7pPr marL="2743200" algn="l" defTabSz="914400" rtl="0" eaLnBrk="1" latinLnBrk="0" hangingPunct="1">
              <a:defRPr sz="2400" kern="1200">
                <a:solidFill>
                  <a:schemeClr val="tx1"/>
                </a:solidFill>
                <a:latin typeface="Arial" panose="020B0604020202020204" pitchFamily="34" charset="0"/>
                <a:ea typeface="微软雅黑" panose="020B0503020204020204" charset="-122"/>
                <a:cs typeface="+mn-cs"/>
              </a:defRPr>
            </a:lvl7pPr>
            <a:lvl8pPr marL="3200400" algn="l" defTabSz="914400" rtl="0" eaLnBrk="1" latinLnBrk="0" hangingPunct="1">
              <a:defRPr sz="2400" kern="1200">
                <a:solidFill>
                  <a:schemeClr val="tx1"/>
                </a:solidFill>
                <a:latin typeface="Arial" panose="020B0604020202020204" pitchFamily="34" charset="0"/>
                <a:ea typeface="微软雅黑" panose="020B0503020204020204" charset="-122"/>
                <a:cs typeface="+mn-cs"/>
              </a:defRPr>
            </a:lvl8pPr>
            <a:lvl9pPr marL="3657600" algn="l" defTabSz="914400" rtl="0" eaLnBrk="1" latinLnBrk="0" hangingPunct="1">
              <a:defRPr sz="2400" kern="1200">
                <a:solidFill>
                  <a:schemeClr val="tx1"/>
                </a:solidFill>
                <a:latin typeface="Arial" panose="020B0604020202020204" pitchFamily="34" charset="0"/>
                <a:ea typeface="微软雅黑" panose="020B0503020204020204" charset="-122"/>
                <a:cs typeface="+mn-cs"/>
              </a:defRPr>
            </a:lvl9pPr>
          </a:lstStyle>
          <a:p>
            <a:pPr defTabSz="965835" eaLnBrk="1" fontAlgn="auto" hangingPunct="1">
              <a:spcBef>
                <a:spcPts val="0"/>
              </a:spcBef>
              <a:spcAft>
                <a:spcPts val="0"/>
              </a:spcAft>
              <a:defRPr/>
            </a:pPr>
            <a:r>
              <a:rPr lang="en-US" altLang="zh-CN" sz="1400" kern="0" dirty="0">
                <a:solidFill>
                  <a:prstClr val="black"/>
                </a:solidFill>
                <a:latin typeface="+mn-lt"/>
                <a:ea typeface="+mn-ea"/>
                <a:cs typeface="+mn-ea"/>
                <a:sym typeface="+mn-lt"/>
              </a:rPr>
              <a:t>IGP</a:t>
            </a:r>
            <a:endParaRPr lang="zh-CN" altLang="en-US" sz="1400" kern="0" dirty="0" err="1">
              <a:solidFill>
                <a:prstClr val="black"/>
              </a:solidFill>
              <a:latin typeface="+mn-lt"/>
              <a:ea typeface="+mn-ea"/>
              <a:cs typeface="+mn-ea"/>
              <a:sym typeface="+mn-lt"/>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gray"/>
        <p:txBody>
          <a:bodyPr/>
          <a:lstStyle/>
          <a:p>
            <a:r>
              <a:rPr lang="zh-CN" altLang="en-US" dirty="0"/>
              <a:t>多层网络高可靠性技术概览</a:t>
            </a:r>
            <a:endParaRPr lang="zh-CN" altLang="en-US" dirty="0"/>
          </a:p>
        </p:txBody>
      </p:sp>
      <p:sp>
        <p:nvSpPr>
          <p:cNvPr id="5" name="矩形 52"/>
          <p:cNvSpPr/>
          <p:nvPr/>
        </p:nvSpPr>
        <p:spPr bwMode="gray">
          <a:xfrm>
            <a:off x="2510518" y="5084281"/>
            <a:ext cx="1535348" cy="595714"/>
          </a:xfrm>
          <a:prstGeom prst="roundRect">
            <a:avLst/>
          </a:prstGeom>
          <a:solidFill>
            <a:srgbClr val="56C4D2"/>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568" tIns="48284" rIns="96568" bIns="48284" numCol="1" spcCol="0" rtlCol="0" fromWordArt="0" anchor="ctr" anchorCtr="0" forceAA="0" compatLnSpc="1">
            <a:noAutofit/>
          </a:bodyPr>
          <a:lstStyle/>
          <a:p>
            <a:pPr algn="ctr" defTabSz="965835"/>
            <a:r>
              <a:rPr lang="en-US" altLang="zh-CN" sz="1400" b="1" dirty="0">
                <a:solidFill>
                  <a:schemeClr val="bg1"/>
                </a:solidFill>
                <a:latin typeface="Huawei Sans" panose="020C0503030203020204" pitchFamily="34" charset="0"/>
                <a:ea typeface="微软雅黑" panose="020B0503020204020204" charset="-122"/>
                <a:cs typeface="+mn-ea"/>
                <a:sym typeface="Huawei Sans" panose="020C0503030203020204" pitchFamily="34" charset="0"/>
              </a:rPr>
              <a:t>Physical Link</a:t>
            </a:r>
            <a:endParaRPr lang="zh-CN" altLang="en-US" sz="1400" b="1" dirty="0">
              <a:solidFill>
                <a:schemeClr val="bg1"/>
              </a:solidFill>
              <a:latin typeface="Huawei Sans" panose="020C0503030203020204" pitchFamily="34" charset="0"/>
              <a:ea typeface="微软雅黑" panose="020B0503020204020204" charset="-122"/>
              <a:cs typeface="+mn-ea"/>
              <a:sym typeface="Huawei Sans" panose="020C0503030203020204" pitchFamily="34" charset="0"/>
            </a:endParaRPr>
          </a:p>
        </p:txBody>
      </p:sp>
      <p:sp>
        <p:nvSpPr>
          <p:cNvPr id="6" name="矩形 53"/>
          <p:cNvSpPr/>
          <p:nvPr/>
        </p:nvSpPr>
        <p:spPr bwMode="gray">
          <a:xfrm>
            <a:off x="2495121" y="3987760"/>
            <a:ext cx="1535348" cy="595714"/>
          </a:xfrm>
          <a:prstGeom prst="roundRect">
            <a:avLst/>
          </a:prstGeom>
          <a:solidFill>
            <a:srgbClr val="56C4D2"/>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568" tIns="48284" rIns="96568" bIns="48284" numCol="1" spcCol="0" rtlCol="0" fromWordArt="0" anchor="ctr" anchorCtr="0" forceAA="0" compatLnSpc="1">
            <a:noAutofit/>
          </a:bodyPr>
          <a:lstStyle/>
          <a:p>
            <a:pPr algn="ctr" defTabSz="965835"/>
            <a:r>
              <a:rPr lang="en-US" altLang="zh-CN" sz="1400" b="1" dirty="0">
                <a:solidFill>
                  <a:schemeClr val="bg1"/>
                </a:solidFill>
                <a:latin typeface="Huawei Sans" panose="020C0503030203020204" pitchFamily="34" charset="0"/>
                <a:ea typeface="微软雅黑" panose="020B0503020204020204" charset="-122"/>
                <a:cs typeface="+mn-ea"/>
                <a:sym typeface="Huawei Sans" panose="020C0503030203020204" pitchFamily="34" charset="0"/>
              </a:rPr>
              <a:t>IGP</a:t>
            </a:r>
            <a:endParaRPr lang="zh-CN" altLang="en-US" sz="1400" b="1" dirty="0">
              <a:solidFill>
                <a:schemeClr val="bg1"/>
              </a:solidFill>
              <a:latin typeface="Huawei Sans" panose="020C0503030203020204" pitchFamily="34" charset="0"/>
              <a:ea typeface="微软雅黑" panose="020B0503020204020204" charset="-122"/>
              <a:cs typeface="+mn-ea"/>
              <a:sym typeface="Huawei Sans" panose="020C0503030203020204" pitchFamily="34" charset="0"/>
            </a:endParaRPr>
          </a:p>
        </p:txBody>
      </p:sp>
      <p:sp>
        <p:nvSpPr>
          <p:cNvPr id="7" name="矩形 56"/>
          <p:cNvSpPr/>
          <p:nvPr/>
        </p:nvSpPr>
        <p:spPr bwMode="gray">
          <a:xfrm>
            <a:off x="2494408" y="2849419"/>
            <a:ext cx="1535348" cy="595714"/>
          </a:xfrm>
          <a:prstGeom prst="roundRect">
            <a:avLst/>
          </a:prstGeom>
          <a:solidFill>
            <a:srgbClr val="56C4D2"/>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568" tIns="48284" rIns="96568" bIns="48284" numCol="1" spcCol="0" rtlCol="0" fromWordArt="0" anchor="ctr" anchorCtr="0" forceAA="0" compatLnSpc="1">
            <a:noAutofit/>
          </a:bodyPr>
          <a:lstStyle/>
          <a:p>
            <a:pPr algn="ctr" defTabSz="965835"/>
            <a:r>
              <a:rPr lang="en-US" altLang="zh-CN" sz="1400" b="1" dirty="0">
                <a:solidFill>
                  <a:schemeClr val="bg1"/>
                </a:solidFill>
                <a:latin typeface="Huawei Sans" panose="020C0503030203020204" pitchFamily="34" charset="0"/>
                <a:ea typeface="微软雅黑" panose="020B0503020204020204" charset="-122"/>
                <a:cs typeface="+mn-ea"/>
                <a:sym typeface="Huawei Sans" panose="020C0503030203020204" pitchFamily="34" charset="0"/>
              </a:rPr>
              <a:t>LSP</a:t>
            </a:r>
            <a:endParaRPr lang="zh-CN" altLang="en-US" sz="1400" b="1" dirty="0">
              <a:solidFill>
                <a:schemeClr val="bg1"/>
              </a:solidFill>
              <a:latin typeface="Huawei Sans" panose="020C0503030203020204" pitchFamily="34" charset="0"/>
              <a:ea typeface="微软雅黑" panose="020B0503020204020204" charset="-122"/>
              <a:cs typeface="+mn-ea"/>
              <a:sym typeface="Huawei Sans" panose="020C0503030203020204" pitchFamily="34" charset="0"/>
            </a:endParaRPr>
          </a:p>
        </p:txBody>
      </p:sp>
      <p:sp>
        <p:nvSpPr>
          <p:cNvPr id="8" name="矩形 57"/>
          <p:cNvSpPr/>
          <p:nvPr/>
        </p:nvSpPr>
        <p:spPr bwMode="gray">
          <a:xfrm>
            <a:off x="7973324" y="2520370"/>
            <a:ext cx="1619982" cy="332548"/>
          </a:xfrm>
          <a:prstGeom prst="roundRect">
            <a:avLst/>
          </a:prstGeom>
          <a:solidFill>
            <a:srgbClr val="81C15F"/>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568" tIns="48284" rIns="96568" bIns="48284" numCol="1" spcCol="0" rtlCol="0" fromWordArt="0" anchor="ctr" anchorCtr="0" forceAA="0" compatLnSpc="1">
            <a:noAutofit/>
          </a:bodyPr>
          <a:lstStyle/>
          <a:p>
            <a:pPr algn="ctr" defTabSz="965835"/>
            <a:r>
              <a:rPr lang="en-US" altLang="zh-CN" sz="1400" b="1" dirty="0">
                <a:solidFill>
                  <a:schemeClr val="bg1"/>
                </a:solidFill>
                <a:latin typeface="Huawei Sans" panose="020C0503030203020204" pitchFamily="34" charset="0"/>
                <a:ea typeface="微软雅黑" panose="020B0503020204020204" charset="-122"/>
                <a:cs typeface="+mn-ea"/>
                <a:sym typeface="Huawei Sans" panose="020C0503030203020204" pitchFamily="34" charset="0"/>
              </a:rPr>
              <a:t>HSB</a:t>
            </a:r>
            <a:endParaRPr lang="zh-CN" altLang="en-US" sz="1400" b="1" dirty="0">
              <a:solidFill>
                <a:schemeClr val="bg1"/>
              </a:solidFill>
              <a:latin typeface="Huawei Sans" panose="020C0503030203020204" pitchFamily="34" charset="0"/>
              <a:ea typeface="微软雅黑" panose="020B0503020204020204" charset="-122"/>
              <a:cs typeface="+mn-ea"/>
              <a:sym typeface="Huawei Sans" panose="020C0503030203020204" pitchFamily="34" charset="0"/>
            </a:endParaRPr>
          </a:p>
        </p:txBody>
      </p:sp>
      <p:sp>
        <p:nvSpPr>
          <p:cNvPr id="9" name="矩形 58"/>
          <p:cNvSpPr/>
          <p:nvPr/>
        </p:nvSpPr>
        <p:spPr bwMode="gray">
          <a:xfrm>
            <a:off x="2510518" y="1793629"/>
            <a:ext cx="1535348" cy="595714"/>
          </a:xfrm>
          <a:prstGeom prst="roundRect">
            <a:avLst/>
          </a:prstGeom>
          <a:solidFill>
            <a:srgbClr val="56C4D2"/>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568" tIns="48284" rIns="96568" bIns="48284" numCol="1" spcCol="0" rtlCol="0" fromWordArt="0" anchor="ctr" anchorCtr="0" forceAA="0" compatLnSpc="1">
            <a:noAutofit/>
          </a:bodyPr>
          <a:lstStyle/>
          <a:p>
            <a:pPr algn="ctr" defTabSz="965835"/>
            <a:r>
              <a:rPr lang="en-US" altLang="zh-CN" sz="1400" b="1" dirty="0">
                <a:solidFill>
                  <a:schemeClr val="bg1"/>
                </a:solidFill>
                <a:latin typeface="Huawei Sans" panose="020C0503030203020204" pitchFamily="34" charset="0"/>
                <a:ea typeface="微软雅黑" panose="020B0503020204020204" charset="-122"/>
                <a:cs typeface="+mn-ea"/>
                <a:sym typeface="Huawei Sans" panose="020C0503030203020204" pitchFamily="34" charset="0"/>
              </a:rPr>
              <a:t>VPN</a:t>
            </a:r>
            <a:endParaRPr lang="zh-CN" altLang="en-US" sz="1400" b="1" dirty="0">
              <a:solidFill>
                <a:schemeClr val="bg1"/>
              </a:solidFill>
              <a:latin typeface="Huawei Sans" panose="020C0503030203020204" pitchFamily="34" charset="0"/>
              <a:ea typeface="微软雅黑" panose="020B0503020204020204" charset="-122"/>
              <a:cs typeface="+mn-ea"/>
              <a:sym typeface="Huawei Sans" panose="020C0503030203020204" pitchFamily="34" charset="0"/>
            </a:endParaRPr>
          </a:p>
        </p:txBody>
      </p:sp>
      <p:sp>
        <p:nvSpPr>
          <p:cNvPr id="11" name="矩形 60"/>
          <p:cNvSpPr/>
          <p:nvPr/>
        </p:nvSpPr>
        <p:spPr bwMode="gray">
          <a:xfrm>
            <a:off x="7989434" y="4608390"/>
            <a:ext cx="1618722" cy="337657"/>
          </a:xfrm>
          <a:prstGeom prst="roundRect">
            <a:avLst/>
          </a:prstGeom>
          <a:solidFill>
            <a:srgbClr val="81C15F"/>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568" tIns="48284" rIns="96568" bIns="48284" numCol="1" spcCol="0" rtlCol="0" fromWordArt="0" anchor="ctr" anchorCtr="0" forceAA="0" compatLnSpc="1">
            <a:noAutofit/>
          </a:bodyPr>
          <a:lstStyle/>
          <a:p>
            <a:pPr algn="ctr" defTabSz="965835"/>
            <a:r>
              <a:rPr lang="en-US" altLang="zh-CN" sz="1400" b="1" dirty="0">
                <a:solidFill>
                  <a:schemeClr val="bg1"/>
                </a:solidFill>
                <a:latin typeface="Huawei Sans" panose="020C0503030203020204" pitchFamily="34" charset="0"/>
                <a:ea typeface="微软雅黑" panose="020B0503020204020204" charset="-122"/>
                <a:cs typeface="+mn-ea"/>
                <a:sym typeface="Huawei Sans" panose="020C0503030203020204" pitchFamily="34" charset="0"/>
              </a:rPr>
              <a:t>TI-LFA</a:t>
            </a:r>
            <a:endParaRPr lang="zh-CN" altLang="en-US" sz="1400" b="1" dirty="0">
              <a:solidFill>
                <a:schemeClr val="bg1"/>
              </a:solidFill>
              <a:latin typeface="Huawei Sans" panose="020C0503030203020204" pitchFamily="34" charset="0"/>
              <a:ea typeface="微软雅黑" panose="020B0503020204020204" charset="-122"/>
              <a:cs typeface="+mn-ea"/>
              <a:sym typeface="Huawei Sans" panose="020C0503030203020204" pitchFamily="34" charset="0"/>
            </a:endParaRPr>
          </a:p>
        </p:txBody>
      </p:sp>
      <p:cxnSp>
        <p:nvCxnSpPr>
          <p:cNvPr id="12" name="直接箭头连接符 61"/>
          <p:cNvCxnSpPr>
            <a:stCxn id="5" idx="3"/>
            <a:endCxn id="16" idx="1"/>
          </p:cNvCxnSpPr>
          <p:nvPr/>
        </p:nvCxnSpPr>
        <p:spPr bwMode="gray">
          <a:xfrm flipV="1">
            <a:off x="4045866" y="5372784"/>
            <a:ext cx="1245799" cy="9354"/>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接箭头连接符 62"/>
          <p:cNvCxnSpPr>
            <a:stCxn id="6" idx="3"/>
            <a:endCxn id="17" idx="1"/>
          </p:cNvCxnSpPr>
          <p:nvPr/>
        </p:nvCxnSpPr>
        <p:spPr bwMode="gray">
          <a:xfrm flipV="1">
            <a:off x="4030469" y="4272059"/>
            <a:ext cx="1245800" cy="13558"/>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接箭头连接符 63"/>
          <p:cNvCxnSpPr>
            <a:stCxn id="7" idx="3"/>
            <a:endCxn id="19" idx="1"/>
          </p:cNvCxnSpPr>
          <p:nvPr/>
        </p:nvCxnSpPr>
        <p:spPr bwMode="gray">
          <a:xfrm flipV="1">
            <a:off x="4029756" y="3114873"/>
            <a:ext cx="1261909" cy="32403"/>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接箭头连接符 64"/>
          <p:cNvCxnSpPr>
            <a:stCxn id="9" idx="3"/>
            <a:endCxn id="18" idx="1"/>
          </p:cNvCxnSpPr>
          <p:nvPr/>
        </p:nvCxnSpPr>
        <p:spPr bwMode="gray">
          <a:xfrm flipV="1">
            <a:off x="4045866" y="2080185"/>
            <a:ext cx="1245799" cy="11301"/>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6" name="矩形 65"/>
          <p:cNvSpPr/>
          <p:nvPr/>
        </p:nvSpPr>
        <p:spPr bwMode="gray">
          <a:xfrm>
            <a:off x="5291665" y="5074927"/>
            <a:ext cx="1535348" cy="595714"/>
          </a:xfrm>
          <a:prstGeom prst="roundRect">
            <a:avLst/>
          </a:prstGeom>
          <a:solidFill>
            <a:srgbClr val="F28944"/>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568" tIns="48284" rIns="96568" bIns="48284" numCol="1" spcCol="0" rtlCol="0" fromWordArt="0" anchor="ctr" anchorCtr="0" forceAA="0" compatLnSpc="1">
            <a:noAutofit/>
          </a:bodyPr>
          <a:lstStyle/>
          <a:p>
            <a:pPr algn="ctr" defTabSz="965835"/>
            <a:r>
              <a:rPr lang="en-US" altLang="zh-CN" sz="1400" b="1" dirty="0">
                <a:solidFill>
                  <a:schemeClr val="bg1"/>
                </a:solidFill>
                <a:latin typeface="Huawei Sans" panose="020C0503030203020204" pitchFamily="34" charset="0"/>
                <a:ea typeface="微软雅黑" panose="020B0503020204020204" charset="-122"/>
                <a:cs typeface="+mn-ea"/>
                <a:sym typeface="Huawei Sans" panose="020C0503030203020204" pitchFamily="34" charset="0"/>
              </a:rPr>
              <a:t>BFD for </a:t>
            </a:r>
            <a:r>
              <a:rPr lang="en-US" altLang="zh-CN" sz="1400" b="1" dirty="0" err="1">
                <a:solidFill>
                  <a:schemeClr val="bg1"/>
                </a:solidFill>
                <a:latin typeface="Huawei Sans" panose="020C0503030203020204" pitchFamily="34" charset="0"/>
                <a:ea typeface="微软雅黑" panose="020B0503020204020204" charset="-122"/>
                <a:cs typeface="+mn-ea"/>
                <a:sym typeface="Huawei Sans" panose="020C0503030203020204" pitchFamily="34" charset="0"/>
              </a:rPr>
              <a:t>Intf</a:t>
            </a:r>
            <a:endParaRPr lang="zh-CN" altLang="en-US" sz="1400" b="1" dirty="0">
              <a:solidFill>
                <a:schemeClr val="bg1"/>
              </a:solidFill>
              <a:latin typeface="Huawei Sans" panose="020C0503030203020204" pitchFamily="34" charset="0"/>
              <a:ea typeface="微软雅黑" panose="020B0503020204020204" charset="-122"/>
              <a:cs typeface="+mn-ea"/>
              <a:sym typeface="Huawei Sans" panose="020C0503030203020204" pitchFamily="34" charset="0"/>
            </a:endParaRPr>
          </a:p>
        </p:txBody>
      </p:sp>
      <p:sp>
        <p:nvSpPr>
          <p:cNvPr id="17" name="矩形 66"/>
          <p:cNvSpPr/>
          <p:nvPr/>
        </p:nvSpPr>
        <p:spPr bwMode="gray">
          <a:xfrm>
            <a:off x="5276269" y="3974202"/>
            <a:ext cx="1535348" cy="595714"/>
          </a:xfrm>
          <a:prstGeom prst="roundRect">
            <a:avLst/>
          </a:prstGeom>
          <a:solidFill>
            <a:srgbClr val="F28944"/>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568" tIns="48284" rIns="96568" bIns="48284" numCol="1" spcCol="0" rtlCol="0" fromWordArt="0" anchor="ctr" anchorCtr="0" forceAA="0" compatLnSpc="1">
            <a:noAutofit/>
          </a:bodyPr>
          <a:lstStyle/>
          <a:p>
            <a:pPr algn="ctr" defTabSz="965835"/>
            <a:r>
              <a:rPr lang="en-US" altLang="zh-CN" sz="1400" b="1" dirty="0">
                <a:solidFill>
                  <a:schemeClr val="bg1"/>
                </a:solidFill>
                <a:latin typeface="Huawei Sans" panose="020C0503030203020204" pitchFamily="34" charset="0"/>
                <a:ea typeface="微软雅黑" panose="020B0503020204020204" charset="-122"/>
                <a:cs typeface="+mn-ea"/>
                <a:sym typeface="Huawei Sans" panose="020C0503030203020204" pitchFamily="34" charset="0"/>
              </a:rPr>
              <a:t>BFD for IGP</a:t>
            </a:r>
            <a:endParaRPr lang="zh-CN" altLang="en-US" sz="1400" b="1" dirty="0">
              <a:solidFill>
                <a:schemeClr val="bg1"/>
              </a:solidFill>
              <a:latin typeface="Huawei Sans" panose="020C0503030203020204" pitchFamily="34" charset="0"/>
              <a:ea typeface="微软雅黑" panose="020B0503020204020204" charset="-122"/>
              <a:cs typeface="+mn-ea"/>
              <a:sym typeface="Huawei Sans" panose="020C0503030203020204" pitchFamily="34" charset="0"/>
            </a:endParaRPr>
          </a:p>
        </p:txBody>
      </p:sp>
      <p:sp>
        <p:nvSpPr>
          <p:cNvPr id="18" name="矩形 67"/>
          <p:cNvSpPr/>
          <p:nvPr/>
        </p:nvSpPr>
        <p:spPr bwMode="gray">
          <a:xfrm>
            <a:off x="5291665" y="1782328"/>
            <a:ext cx="1535348" cy="595714"/>
          </a:xfrm>
          <a:prstGeom prst="roundRect">
            <a:avLst/>
          </a:prstGeom>
          <a:solidFill>
            <a:srgbClr val="F28944"/>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568" tIns="48284" rIns="96568" bIns="48284" numCol="1" spcCol="0" rtlCol="0" fromWordArt="0" anchor="ctr" anchorCtr="0" forceAA="0" compatLnSpc="1">
            <a:noAutofit/>
          </a:bodyPr>
          <a:lstStyle/>
          <a:p>
            <a:pPr algn="ctr" defTabSz="965835"/>
            <a:r>
              <a:rPr lang="en-US" altLang="zh-CN" sz="1400" b="1" dirty="0">
                <a:solidFill>
                  <a:schemeClr val="bg1"/>
                </a:solidFill>
                <a:latin typeface="Huawei Sans" panose="020C0503030203020204" pitchFamily="34" charset="0"/>
                <a:ea typeface="微软雅黑" panose="020B0503020204020204" charset="-122"/>
                <a:cs typeface="+mn-ea"/>
                <a:sym typeface="Huawei Sans" panose="020C0503030203020204" pitchFamily="34" charset="0"/>
              </a:rPr>
              <a:t>BFD for </a:t>
            </a:r>
            <a:r>
              <a:rPr lang="en-US" altLang="zh-CN" sz="1400" b="1" dirty="0">
                <a:solidFill>
                  <a:schemeClr val="bg1"/>
                </a:solidFill>
                <a:latin typeface="Huawei Sans" panose="020C0503030203020204" pitchFamily="34" charset="0"/>
                <a:ea typeface="微软雅黑" panose="020B0503020204020204" charset="-122"/>
                <a:cs typeface="+mn-ea"/>
                <a:sym typeface="+mn-lt"/>
              </a:rPr>
              <a:t>Locator</a:t>
            </a:r>
            <a:endParaRPr lang="zh-CN" altLang="en-US" sz="1400" b="1" dirty="0">
              <a:solidFill>
                <a:schemeClr val="bg1"/>
              </a:solidFill>
              <a:latin typeface="Huawei Sans" panose="020C0503030203020204" pitchFamily="34" charset="0"/>
              <a:ea typeface="微软雅黑" panose="020B0503020204020204" charset="-122"/>
              <a:cs typeface="+mn-ea"/>
              <a:sym typeface="+mn-lt"/>
            </a:endParaRPr>
          </a:p>
        </p:txBody>
      </p:sp>
      <p:sp>
        <p:nvSpPr>
          <p:cNvPr id="19" name="矩形 68"/>
          <p:cNvSpPr/>
          <p:nvPr/>
        </p:nvSpPr>
        <p:spPr bwMode="gray">
          <a:xfrm>
            <a:off x="5291665" y="2773826"/>
            <a:ext cx="1535348" cy="682094"/>
          </a:xfrm>
          <a:prstGeom prst="roundRect">
            <a:avLst/>
          </a:prstGeom>
          <a:solidFill>
            <a:srgbClr val="F28944"/>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568" tIns="48284" rIns="96568" bIns="48284" numCol="1" spcCol="0" rtlCol="0" fromWordArt="0" anchor="ctr" anchorCtr="0" forceAA="0" compatLnSpc="1">
            <a:noAutofit/>
          </a:bodyPr>
          <a:lstStyle/>
          <a:p>
            <a:pPr algn="ctr" defTabSz="965835"/>
            <a:r>
              <a:rPr lang="en-US" altLang="zh-CN" sz="1400" b="1" dirty="0">
                <a:solidFill>
                  <a:schemeClr val="bg1"/>
                </a:solidFill>
                <a:latin typeface="Huawei Sans" panose="020C0503030203020204" pitchFamily="34" charset="0"/>
                <a:ea typeface="微软雅黑" panose="020B0503020204020204" charset="-122"/>
                <a:cs typeface="+mn-ea"/>
                <a:sym typeface="Huawei Sans" panose="020C0503030203020204" pitchFamily="34" charset="0"/>
              </a:rPr>
              <a:t>SBFD for </a:t>
            </a:r>
            <a:endParaRPr lang="en-US" altLang="zh-CN" sz="1400" b="1" dirty="0">
              <a:solidFill>
                <a:schemeClr val="bg1"/>
              </a:solidFill>
              <a:latin typeface="Huawei Sans" panose="020C0503030203020204" pitchFamily="34" charset="0"/>
              <a:ea typeface="微软雅黑" panose="020B0503020204020204" charset="-122"/>
              <a:cs typeface="+mn-ea"/>
              <a:sym typeface="Huawei Sans" panose="020C0503030203020204" pitchFamily="34" charset="0"/>
            </a:endParaRPr>
          </a:p>
          <a:p>
            <a:pPr algn="ctr" defTabSz="965835"/>
            <a:r>
              <a:rPr lang="en-US" altLang="zh-CN" sz="1400" b="1" dirty="0">
                <a:solidFill>
                  <a:schemeClr val="bg1"/>
                </a:solidFill>
                <a:latin typeface="Huawei Sans" panose="020C0503030203020204" pitchFamily="34" charset="0"/>
                <a:ea typeface="微软雅黑" panose="020B0503020204020204" charset="-122"/>
                <a:cs typeface="+mn-ea"/>
                <a:sym typeface="Huawei Sans" panose="020C0503030203020204" pitchFamily="34" charset="0"/>
              </a:rPr>
              <a:t>SRv6 Policy</a:t>
            </a:r>
            <a:endParaRPr lang="zh-CN" altLang="en-US" sz="1400" b="1" dirty="0">
              <a:solidFill>
                <a:schemeClr val="bg1"/>
              </a:solidFill>
              <a:latin typeface="Huawei Sans" panose="020C0503030203020204" pitchFamily="34" charset="0"/>
              <a:ea typeface="微软雅黑" panose="020B0503020204020204" charset="-122"/>
              <a:cs typeface="+mn-ea"/>
              <a:sym typeface="Huawei Sans" panose="020C0503030203020204" pitchFamily="34" charset="0"/>
            </a:endParaRPr>
          </a:p>
        </p:txBody>
      </p:sp>
      <p:cxnSp>
        <p:nvCxnSpPr>
          <p:cNvPr id="20" name="直接箭头连接符 69"/>
          <p:cNvCxnSpPr>
            <a:stCxn id="9" idx="3"/>
            <a:endCxn id="19" idx="1"/>
          </p:cNvCxnSpPr>
          <p:nvPr/>
        </p:nvCxnSpPr>
        <p:spPr bwMode="gray">
          <a:xfrm>
            <a:off x="4045866" y="2091486"/>
            <a:ext cx="1245799" cy="1023387"/>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1" name="矩形 70"/>
          <p:cNvSpPr/>
          <p:nvPr/>
        </p:nvSpPr>
        <p:spPr bwMode="gray">
          <a:xfrm>
            <a:off x="7989436" y="1850071"/>
            <a:ext cx="1618723" cy="375370"/>
          </a:xfrm>
          <a:prstGeom prst="roundRect">
            <a:avLst/>
          </a:prstGeom>
          <a:solidFill>
            <a:srgbClr val="81C15F"/>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568" tIns="48284" rIns="96568" bIns="48284" numCol="1" spcCol="0" rtlCol="0" fromWordArt="0" anchor="ctr" anchorCtr="0" forceAA="0" compatLnSpc="1">
            <a:noAutofit/>
          </a:bodyPr>
          <a:lstStyle/>
          <a:p>
            <a:pPr algn="ctr" defTabSz="965835"/>
            <a:r>
              <a:rPr lang="en-US" altLang="zh-CN" sz="1400" b="1" dirty="0">
                <a:solidFill>
                  <a:schemeClr val="bg1"/>
                </a:solidFill>
                <a:latin typeface="Huawei Sans" panose="020C0503030203020204" pitchFamily="34" charset="0"/>
                <a:ea typeface="微软雅黑" panose="020B0503020204020204" charset="-122"/>
                <a:cs typeface="+mn-ea"/>
                <a:sym typeface="Huawei Sans" panose="020C0503030203020204" pitchFamily="34" charset="0"/>
              </a:rPr>
              <a:t>VPN FRR</a:t>
            </a:r>
            <a:endParaRPr lang="zh-CN" altLang="en-US" sz="1400" b="1" dirty="0">
              <a:solidFill>
                <a:schemeClr val="bg1"/>
              </a:solidFill>
              <a:latin typeface="Huawei Sans" panose="020C0503030203020204" pitchFamily="34" charset="0"/>
              <a:ea typeface="微软雅黑" panose="020B0503020204020204" charset="-122"/>
              <a:cs typeface="+mn-ea"/>
              <a:sym typeface="Huawei Sans" panose="020C0503030203020204" pitchFamily="34" charset="0"/>
            </a:endParaRPr>
          </a:p>
        </p:txBody>
      </p:sp>
      <p:cxnSp>
        <p:nvCxnSpPr>
          <p:cNvPr id="22" name="直接箭头连接符 71"/>
          <p:cNvCxnSpPr>
            <a:stCxn id="16" idx="3"/>
            <a:endCxn id="11" idx="1"/>
          </p:cNvCxnSpPr>
          <p:nvPr/>
        </p:nvCxnSpPr>
        <p:spPr bwMode="gray">
          <a:xfrm flipV="1">
            <a:off x="6827013" y="4777219"/>
            <a:ext cx="1162421" cy="595565"/>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72"/>
          <p:cNvCxnSpPr>
            <a:stCxn id="18" idx="3"/>
            <a:endCxn id="21" idx="1"/>
          </p:cNvCxnSpPr>
          <p:nvPr/>
        </p:nvCxnSpPr>
        <p:spPr bwMode="gray">
          <a:xfrm flipV="1">
            <a:off x="6827013" y="2037756"/>
            <a:ext cx="1162423" cy="42429"/>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73"/>
          <p:cNvCxnSpPr>
            <a:stCxn id="17" idx="3"/>
            <a:endCxn id="11" idx="1"/>
          </p:cNvCxnSpPr>
          <p:nvPr/>
        </p:nvCxnSpPr>
        <p:spPr bwMode="gray">
          <a:xfrm>
            <a:off x="6811617" y="4272059"/>
            <a:ext cx="1177817" cy="505160"/>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接箭头连接符 76"/>
          <p:cNvCxnSpPr>
            <a:stCxn id="19" idx="3"/>
            <a:endCxn id="21" idx="1"/>
          </p:cNvCxnSpPr>
          <p:nvPr/>
        </p:nvCxnSpPr>
        <p:spPr bwMode="gray">
          <a:xfrm flipV="1">
            <a:off x="6827013" y="2037756"/>
            <a:ext cx="1162423" cy="1077117"/>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0" name="矩形 81"/>
          <p:cNvSpPr/>
          <p:nvPr/>
        </p:nvSpPr>
        <p:spPr bwMode="gray">
          <a:xfrm>
            <a:off x="7999654" y="3825866"/>
            <a:ext cx="1608504" cy="487595"/>
          </a:xfrm>
          <a:prstGeom prst="roundRect">
            <a:avLst/>
          </a:prstGeom>
          <a:solidFill>
            <a:srgbClr val="81C15F"/>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568" tIns="48284" rIns="96568" bIns="48284" numCol="1" spcCol="0" rtlCol="0" fromWordArt="0" anchor="ctr" anchorCtr="0" forceAA="0" compatLnSpc="1">
            <a:noAutofit/>
          </a:bodyPr>
          <a:lstStyle/>
          <a:p>
            <a:pPr algn="ctr" defTabSz="965835"/>
            <a:r>
              <a:rPr lang="en-US" altLang="zh-CN" sz="1400" b="1" dirty="0">
                <a:solidFill>
                  <a:schemeClr val="bg1"/>
                </a:solidFill>
                <a:latin typeface="Huawei Sans" panose="020C0503030203020204" pitchFamily="34" charset="0"/>
                <a:ea typeface="微软雅黑" panose="020B0503020204020204" charset="-122"/>
                <a:cs typeface="+mn-ea"/>
                <a:sym typeface="Huawei Sans" panose="020C0503030203020204" pitchFamily="34" charset="0"/>
              </a:rPr>
              <a:t>Midpoint</a:t>
            </a:r>
            <a:r>
              <a:rPr lang="zh-CN" altLang="en-US" sz="1400" b="1" dirty="0">
                <a:solidFill>
                  <a:schemeClr val="bg1"/>
                </a:solidFill>
                <a:latin typeface="Huawei Sans" panose="020C0503030203020204" pitchFamily="34" charset="0"/>
                <a:ea typeface="微软雅黑" panose="020B0503020204020204" charset="-122"/>
                <a:cs typeface="+mn-ea"/>
                <a:sym typeface="Huawei Sans" panose="020C0503030203020204" pitchFamily="34" charset="0"/>
              </a:rPr>
              <a:t>保护</a:t>
            </a:r>
            <a:endParaRPr lang="zh-CN" altLang="en-US" sz="1400" b="1" dirty="0">
              <a:solidFill>
                <a:schemeClr val="bg1"/>
              </a:solidFill>
              <a:latin typeface="Huawei Sans" panose="020C0503030203020204" pitchFamily="34" charset="0"/>
              <a:ea typeface="微软雅黑" panose="020B0503020204020204" charset="-122"/>
              <a:cs typeface="+mn-ea"/>
              <a:sym typeface="Huawei Sans" panose="020C0503030203020204" pitchFamily="34" charset="0"/>
            </a:endParaRPr>
          </a:p>
        </p:txBody>
      </p:sp>
      <p:cxnSp>
        <p:nvCxnSpPr>
          <p:cNvPr id="31" name="直接箭头连接符 82"/>
          <p:cNvCxnSpPr>
            <a:stCxn id="17" idx="3"/>
            <a:endCxn id="30" idx="1"/>
          </p:cNvCxnSpPr>
          <p:nvPr/>
        </p:nvCxnSpPr>
        <p:spPr bwMode="gray">
          <a:xfrm flipV="1">
            <a:off x="6811617" y="4069664"/>
            <a:ext cx="1188037" cy="202395"/>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接箭头连接符 83"/>
          <p:cNvCxnSpPr>
            <a:stCxn id="16" idx="3"/>
            <a:endCxn id="30" idx="1"/>
          </p:cNvCxnSpPr>
          <p:nvPr/>
        </p:nvCxnSpPr>
        <p:spPr bwMode="gray">
          <a:xfrm flipV="1">
            <a:off x="6827013" y="4069664"/>
            <a:ext cx="1172641" cy="1303120"/>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3" name="矩形 84"/>
          <p:cNvSpPr/>
          <p:nvPr/>
        </p:nvSpPr>
        <p:spPr bwMode="gray">
          <a:xfrm>
            <a:off x="7988177" y="3147847"/>
            <a:ext cx="1619982" cy="383090"/>
          </a:xfrm>
          <a:prstGeom prst="roundRect">
            <a:avLst/>
          </a:prstGeom>
          <a:solidFill>
            <a:srgbClr val="81C15F"/>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568" tIns="48284" rIns="96568" bIns="48284" numCol="1" spcCol="0" rtlCol="0" fromWordArt="0" anchor="ctr" anchorCtr="0" forceAA="0" compatLnSpc="1">
            <a:noAutofit/>
          </a:bodyPr>
          <a:lstStyle/>
          <a:p>
            <a:pPr>
              <a:lnSpc>
                <a:spcPct val="120000"/>
              </a:lnSpc>
            </a:pPr>
            <a:r>
              <a:rPr lang="en-US" altLang="zh-CN" sz="1400" b="1" dirty="0">
                <a:solidFill>
                  <a:schemeClr val="bg1"/>
                </a:solidFill>
                <a:latin typeface="Huawei Sans" panose="020C0503030203020204" pitchFamily="34" charset="0"/>
                <a:ea typeface="微软雅黑" panose="020B0503020204020204" charset="-122"/>
                <a:cs typeface="+mn-ea"/>
                <a:sym typeface="Huawei Sans" panose="020C0503030203020204" pitchFamily="34" charset="0"/>
              </a:rPr>
              <a:t>Mixed VPN FRR</a:t>
            </a:r>
            <a:endParaRPr lang="zh-CN" altLang="en-US" sz="1400" b="1" dirty="0">
              <a:solidFill>
                <a:schemeClr val="bg1"/>
              </a:solidFill>
              <a:latin typeface="Huawei Sans" panose="020C0503030203020204" pitchFamily="34" charset="0"/>
              <a:ea typeface="微软雅黑" panose="020B0503020204020204" charset="-122"/>
              <a:cs typeface="+mn-ea"/>
              <a:sym typeface="Huawei Sans" panose="020C0503030203020204" pitchFamily="34" charset="0"/>
            </a:endParaRPr>
          </a:p>
        </p:txBody>
      </p:sp>
      <p:cxnSp>
        <p:nvCxnSpPr>
          <p:cNvPr id="34" name="直接箭头连接符 85"/>
          <p:cNvCxnSpPr>
            <a:stCxn id="19" idx="3"/>
            <a:endCxn id="8" idx="1"/>
          </p:cNvCxnSpPr>
          <p:nvPr/>
        </p:nvCxnSpPr>
        <p:spPr bwMode="gray">
          <a:xfrm flipV="1">
            <a:off x="6827013" y="2686644"/>
            <a:ext cx="1146311" cy="428229"/>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5" name="直接箭头连接符 86"/>
          <p:cNvCxnSpPr>
            <a:stCxn id="16" idx="3"/>
            <a:endCxn id="33" idx="1"/>
          </p:cNvCxnSpPr>
          <p:nvPr/>
        </p:nvCxnSpPr>
        <p:spPr bwMode="gray">
          <a:xfrm flipV="1">
            <a:off x="6827013" y="3339392"/>
            <a:ext cx="1161164" cy="2033392"/>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7" name="矩形 107"/>
          <p:cNvSpPr/>
          <p:nvPr/>
        </p:nvSpPr>
        <p:spPr bwMode="gray">
          <a:xfrm>
            <a:off x="7994545" y="5240974"/>
            <a:ext cx="1618722" cy="384848"/>
          </a:xfrm>
          <a:prstGeom prst="roundRect">
            <a:avLst/>
          </a:prstGeom>
          <a:solidFill>
            <a:srgbClr val="81C15F"/>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568" tIns="48284" rIns="96568" bIns="48284" numCol="1" spcCol="0" rtlCol="0" fromWordArt="0" anchor="ctr" anchorCtr="0" forceAA="0" compatLnSpc="1">
            <a:noAutofit/>
          </a:bodyPr>
          <a:lstStyle/>
          <a:p>
            <a:pPr algn="ctr" defTabSz="965835"/>
            <a:r>
              <a:rPr lang="en-US" altLang="zh-CN" sz="1400" b="1" dirty="0">
                <a:solidFill>
                  <a:schemeClr val="bg1"/>
                </a:solidFill>
                <a:cs typeface="+mn-ea"/>
                <a:sym typeface="+mn-lt"/>
              </a:rPr>
              <a:t>Micro Loop</a:t>
            </a:r>
            <a:endParaRPr lang="en-US" altLang="zh-CN" sz="1400" b="1" dirty="0">
              <a:solidFill>
                <a:schemeClr val="bg1"/>
              </a:solidFill>
              <a:cs typeface="+mn-ea"/>
              <a:sym typeface="+mn-lt"/>
            </a:endParaRPr>
          </a:p>
          <a:p>
            <a:pPr algn="ctr" defTabSz="965835"/>
            <a:r>
              <a:rPr lang="en-US" altLang="zh-CN" sz="1400" b="1" dirty="0">
                <a:solidFill>
                  <a:schemeClr val="bg1"/>
                </a:solidFill>
                <a:cs typeface="+mn-ea"/>
                <a:sym typeface="+mn-lt"/>
              </a:rPr>
              <a:t>Avoidance</a:t>
            </a:r>
            <a:endParaRPr lang="zh-CN" altLang="en-US" sz="1400" b="1" dirty="0">
              <a:solidFill>
                <a:schemeClr val="bg1"/>
              </a:solidFill>
              <a:cs typeface="+mn-ea"/>
              <a:sym typeface="+mn-lt"/>
            </a:endParaRPr>
          </a:p>
        </p:txBody>
      </p:sp>
      <p:sp>
        <p:nvSpPr>
          <p:cNvPr id="42" name="矩形 25"/>
          <p:cNvSpPr/>
          <p:nvPr/>
        </p:nvSpPr>
        <p:spPr bwMode="gray">
          <a:xfrm>
            <a:off x="2772284" y="1347874"/>
            <a:ext cx="1011815" cy="338554"/>
          </a:xfrm>
          <a:prstGeom prst="rect">
            <a:avLst/>
          </a:prstGeom>
        </p:spPr>
        <p:txBody>
          <a:bodyPr wrap="none">
            <a:spAutoFit/>
          </a:bodyPr>
          <a:lstStyle/>
          <a:p>
            <a:pPr algn="ctr" defTabSz="965835"/>
            <a:r>
              <a:rPr lang="zh-CN" altLang="en-US" sz="1600" b="1" dirty="0">
                <a:latin typeface="Huawei Sans" panose="020C0503030203020204" pitchFamily="34" charset="0"/>
                <a:ea typeface="微软雅黑" panose="020B0503020204020204" charset="-122"/>
                <a:cs typeface="+mn-ea"/>
                <a:sym typeface="+mn-lt"/>
              </a:rPr>
              <a:t>检测对象</a:t>
            </a:r>
            <a:endParaRPr lang="en-US" altLang="zh-CN" sz="1600" b="1" dirty="0">
              <a:latin typeface="Huawei Sans" panose="020C0503030203020204" pitchFamily="34" charset="0"/>
              <a:ea typeface="微软雅黑" panose="020B0503020204020204" charset="-122"/>
              <a:cs typeface="+mn-ea"/>
              <a:sym typeface="+mn-lt"/>
            </a:endParaRPr>
          </a:p>
        </p:txBody>
      </p:sp>
      <p:sp>
        <p:nvSpPr>
          <p:cNvPr id="43" name="矩形 26"/>
          <p:cNvSpPr/>
          <p:nvPr/>
        </p:nvSpPr>
        <p:spPr bwMode="gray">
          <a:xfrm>
            <a:off x="5276269" y="1347874"/>
            <a:ext cx="1746366" cy="338554"/>
          </a:xfrm>
          <a:prstGeom prst="rect">
            <a:avLst/>
          </a:prstGeom>
        </p:spPr>
        <p:txBody>
          <a:bodyPr wrap="square">
            <a:spAutoFit/>
          </a:bodyPr>
          <a:lstStyle/>
          <a:p>
            <a:pPr algn="ctr" defTabSz="965835"/>
            <a:r>
              <a:rPr lang="zh-CN" altLang="en-US" sz="1600" b="1" kern="0" dirty="0">
                <a:cs typeface="+mn-ea"/>
                <a:sym typeface="+mn-lt"/>
              </a:rPr>
              <a:t>检测技术</a:t>
            </a:r>
            <a:endParaRPr lang="zh-CN" altLang="en-US" sz="1600" b="1" kern="0" dirty="0">
              <a:cs typeface="+mn-ea"/>
              <a:sym typeface="+mn-lt"/>
            </a:endParaRPr>
          </a:p>
        </p:txBody>
      </p:sp>
      <p:sp>
        <p:nvSpPr>
          <p:cNvPr id="44" name="矩形 27"/>
          <p:cNvSpPr/>
          <p:nvPr/>
        </p:nvSpPr>
        <p:spPr bwMode="gray">
          <a:xfrm>
            <a:off x="8145336" y="1347874"/>
            <a:ext cx="1317139" cy="338554"/>
          </a:xfrm>
          <a:prstGeom prst="rect">
            <a:avLst/>
          </a:prstGeom>
        </p:spPr>
        <p:txBody>
          <a:bodyPr wrap="square">
            <a:spAutoFit/>
          </a:bodyPr>
          <a:lstStyle/>
          <a:p>
            <a:pPr algn="ctr" defTabSz="965835"/>
            <a:r>
              <a:rPr lang="zh-CN" altLang="en-US" sz="1600" b="1" kern="0" dirty="0">
                <a:cs typeface="+mn-ea"/>
                <a:sym typeface="+mn-lt"/>
              </a:rPr>
              <a:t>保护技术</a:t>
            </a:r>
            <a:endParaRPr lang="zh-CN" altLang="en-US" sz="1600" b="1" kern="0" dirty="0">
              <a:cs typeface="+mn-ea"/>
              <a:sym typeface="+mn-lt"/>
            </a:endParaRPr>
          </a:p>
        </p:txBody>
      </p:sp>
      <p:cxnSp>
        <p:nvCxnSpPr>
          <p:cNvPr id="46" name="直接箭头连接符 73"/>
          <p:cNvCxnSpPr>
            <a:stCxn id="17" idx="3"/>
            <a:endCxn id="37" idx="1"/>
          </p:cNvCxnSpPr>
          <p:nvPr/>
        </p:nvCxnSpPr>
        <p:spPr bwMode="gray">
          <a:xfrm>
            <a:off x="6811617" y="4272059"/>
            <a:ext cx="1182928" cy="1161339"/>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gray"/>
        <p:txBody>
          <a:bodyPr/>
          <a:lstStyle/>
          <a:p>
            <a:r>
              <a:rPr lang="zh-CN" altLang="en-US" dirty="0"/>
              <a:t>多层网络高可靠性技术使用场景</a:t>
            </a:r>
            <a:endParaRPr lang="zh-CN" altLang="en-US" dirty="0"/>
          </a:p>
        </p:txBody>
      </p:sp>
      <p:graphicFrame>
        <p:nvGraphicFramePr>
          <p:cNvPr id="4" name="表格 226"/>
          <p:cNvGraphicFramePr>
            <a:graphicFrameLocks noGrp="1"/>
          </p:cNvGraphicFramePr>
          <p:nvPr/>
        </p:nvGraphicFramePr>
        <p:xfrm>
          <a:off x="1136026" y="3475903"/>
          <a:ext cx="10161135" cy="2420596"/>
        </p:xfrm>
        <a:graphic>
          <a:graphicData uri="http://schemas.openxmlformats.org/drawingml/2006/table">
            <a:tbl>
              <a:tblPr firstRow="1" bandRow="1">
                <a:tableStyleId>{912C8C85-51F0-491E-9774-3900AFEF0FD7}</a:tableStyleId>
              </a:tblPr>
              <a:tblGrid>
                <a:gridCol w="1143853"/>
                <a:gridCol w="1143689"/>
                <a:gridCol w="1128767"/>
                <a:gridCol w="1209368"/>
                <a:gridCol w="1927123"/>
                <a:gridCol w="2212258"/>
                <a:gridCol w="1396077"/>
              </a:tblGrid>
              <a:tr h="306044">
                <a:tc>
                  <a:txBody>
                    <a:bodyPr/>
                    <a:lstStyle/>
                    <a:p>
                      <a:pPr algn="ctr"/>
                      <a:r>
                        <a:rPr lang="zh-CN" altLang="en-US" sz="1400" dirty="0">
                          <a:solidFill>
                            <a:schemeClr val="tx1"/>
                          </a:solidFill>
                        </a:rPr>
                        <a:t>业务</a:t>
                      </a:r>
                      <a:endParaRPr lang="zh-CN" altLang="en-US" sz="1400" dirty="0">
                        <a:solidFill>
                          <a:schemeClr val="tx1"/>
                        </a:solidFill>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zh-CN" altLang="en-US" sz="1400" dirty="0">
                          <a:solidFill>
                            <a:schemeClr val="tx1"/>
                          </a:solidFill>
                        </a:rPr>
                        <a:t>保护类型</a:t>
                      </a:r>
                      <a:endParaRPr lang="zh-CN" alt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zh-CN" altLang="en-US" sz="1400" dirty="0">
                          <a:solidFill>
                            <a:schemeClr val="tx1"/>
                          </a:solidFill>
                        </a:rPr>
                        <a:t>隧道类型</a:t>
                      </a:r>
                      <a:endParaRPr lang="zh-CN" alt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zh-CN" altLang="en-US" sz="1400" dirty="0">
                          <a:solidFill>
                            <a:schemeClr val="tx1"/>
                          </a:solidFill>
                        </a:rPr>
                        <a:t>故障点</a:t>
                      </a:r>
                      <a:endParaRPr lang="zh-CN" alt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zh-CN" altLang="en-US" sz="1400" dirty="0">
                          <a:solidFill>
                            <a:schemeClr val="tx1"/>
                          </a:solidFill>
                        </a:rPr>
                        <a:t>检测技术</a:t>
                      </a:r>
                      <a:endParaRPr lang="zh-CN" alt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zh-CN" altLang="en-US" sz="1400" dirty="0">
                          <a:solidFill>
                            <a:schemeClr val="tx1"/>
                          </a:solidFill>
                        </a:rPr>
                        <a:t>保护技术</a:t>
                      </a:r>
                      <a:endParaRPr lang="zh-CN" alt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zh-CN" altLang="en-US" sz="1400" dirty="0">
                          <a:solidFill>
                            <a:schemeClr val="tx1"/>
                          </a:solidFill>
                        </a:rPr>
                        <a:t>规格</a:t>
                      </a:r>
                      <a:endParaRPr lang="zh-CN" altLang="en-US" sz="1400" dirty="0">
                        <a:solidFill>
                          <a:schemeClr val="tx1"/>
                        </a:solidFill>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r h="306044">
                <a:tc rowSpan="3">
                  <a:txBody>
                    <a:bodyPr/>
                    <a:lstStyle/>
                    <a:p>
                      <a:r>
                        <a:rPr lang="zh-CN" altLang="en-US" sz="1400" dirty="0">
                          <a:latin typeface="+mn-lt"/>
                          <a:ea typeface="+mn-ea"/>
                          <a:cs typeface="+mn-ea"/>
                          <a:sym typeface="+mn-lt"/>
                        </a:rPr>
                        <a:t>普通业务</a:t>
                      </a:r>
                      <a:endParaRPr lang="zh-CN" altLang="en-US" sz="1400" dirty="0"/>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3">
                  <a:txBody>
                    <a:bodyPr/>
                    <a:lstStyle/>
                    <a:p>
                      <a:pPr marL="0" marR="0" lvl="0" indent="0" algn="l" defTabSz="913765" rtl="0" eaLnBrk="1" fontAlgn="auto" latinLnBrk="0" hangingPunct="1">
                        <a:lnSpc>
                          <a:spcPct val="100000"/>
                        </a:lnSpc>
                        <a:spcBef>
                          <a:spcPts val="0"/>
                        </a:spcBef>
                        <a:spcAft>
                          <a:spcPts val="0"/>
                        </a:spcAft>
                        <a:buClrTx/>
                        <a:buSzTx/>
                        <a:buFontTx/>
                        <a:buNone/>
                        <a:defRPr/>
                      </a:pPr>
                      <a:r>
                        <a:rPr lang="zh-CN" altLang="en-US" sz="1400" dirty="0"/>
                        <a:t>本地保护，端到端保护</a:t>
                      </a:r>
                      <a:endParaRPr lang="zh-CN" altLang="en-US" sz="1400" dirty="0"/>
                    </a:p>
                    <a:p>
                      <a:endParaRPr lang="zh-CN" alt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3">
                  <a:txBody>
                    <a:bodyPr/>
                    <a:lstStyle/>
                    <a:p>
                      <a:pPr marL="0" marR="0" lvl="0" indent="0" algn="l" defTabSz="913765" rtl="0" eaLnBrk="1" fontAlgn="auto" latinLnBrk="0" hangingPunct="1">
                        <a:lnSpc>
                          <a:spcPct val="100000"/>
                        </a:lnSpc>
                        <a:spcBef>
                          <a:spcPts val="0"/>
                        </a:spcBef>
                        <a:spcAft>
                          <a:spcPts val="0"/>
                        </a:spcAft>
                        <a:buClrTx/>
                        <a:buSzTx/>
                        <a:buFontTx/>
                        <a:buNone/>
                        <a:defRPr/>
                      </a:pPr>
                      <a:r>
                        <a:rPr lang="en-US" altLang="zh-CN" sz="1400" dirty="0"/>
                        <a:t>SRv6 BE</a:t>
                      </a:r>
                      <a:r>
                        <a:rPr lang="zh-CN" altLang="en-US" sz="1400" baseline="0" dirty="0"/>
                        <a:t>，</a:t>
                      </a:r>
                      <a:r>
                        <a:rPr lang="en-US" altLang="zh-CN" sz="1400" dirty="0"/>
                        <a:t>SRv6 Policy</a:t>
                      </a:r>
                      <a:endParaRPr lang="zh-CN" alt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1184910" rtl="0" eaLnBrk="1" fontAlgn="auto" latinLnBrk="0" hangingPunct="1">
                        <a:lnSpc>
                          <a:spcPct val="100000"/>
                        </a:lnSpc>
                        <a:spcBef>
                          <a:spcPts val="0"/>
                        </a:spcBef>
                        <a:spcAft>
                          <a:spcPts val="0"/>
                        </a:spcAft>
                        <a:buClrTx/>
                        <a:buSzTx/>
                        <a:buFontTx/>
                        <a:buNone/>
                        <a:defRPr/>
                      </a:pPr>
                      <a:r>
                        <a:rPr lang="en-US" altLang="zh-CN" sz="1400" b="0" dirty="0">
                          <a:latin typeface="+mn-lt"/>
                          <a:ea typeface="+mn-ea"/>
                          <a:cs typeface="+mn-ea"/>
                          <a:sym typeface="+mn-lt"/>
                        </a:rPr>
                        <a:t>4~8</a:t>
                      </a:r>
                      <a:endParaRPr lang="en-US" altLang="zh-CN" sz="1400" b="0" dirty="0">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1184910" rtl="0" eaLnBrk="1" fontAlgn="auto" latinLnBrk="0" hangingPunct="1">
                        <a:lnSpc>
                          <a:spcPct val="100000"/>
                        </a:lnSpc>
                        <a:spcBef>
                          <a:spcPts val="0"/>
                        </a:spcBef>
                        <a:spcAft>
                          <a:spcPts val="0"/>
                        </a:spcAft>
                        <a:buClrTx/>
                        <a:buSzTx/>
                        <a:buFontTx/>
                        <a:buNone/>
                        <a:defRPr/>
                      </a:pPr>
                      <a:r>
                        <a:rPr lang="en-US" altLang="zh-CN" sz="1400" b="0" dirty="0">
                          <a:latin typeface="+mn-lt"/>
                          <a:ea typeface="+mn-ea"/>
                          <a:cs typeface="+mn-ea"/>
                          <a:sym typeface="+mn-lt"/>
                        </a:rPr>
                        <a:t>BFD for Interface</a:t>
                      </a:r>
                      <a:endParaRPr lang="en-US" altLang="zh-CN" sz="1400" b="0" dirty="0">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1184910" rtl="0" eaLnBrk="1" fontAlgn="auto" latinLnBrk="0" hangingPunct="1">
                        <a:lnSpc>
                          <a:spcPct val="100000"/>
                        </a:lnSpc>
                        <a:spcBef>
                          <a:spcPts val="0"/>
                        </a:spcBef>
                        <a:spcAft>
                          <a:spcPts val="0"/>
                        </a:spcAft>
                        <a:buClrTx/>
                        <a:buSzTx/>
                        <a:buFontTx/>
                        <a:buNone/>
                        <a:defRPr/>
                      </a:pPr>
                      <a:r>
                        <a:rPr lang="en-US" altLang="zh-CN" sz="1400" b="0" dirty="0">
                          <a:latin typeface="+mn-lt"/>
                          <a:ea typeface="+mn-ea"/>
                          <a:cs typeface="+mn-ea"/>
                          <a:sym typeface="+mn-lt"/>
                        </a:rPr>
                        <a:t>1. TI-LFA</a:t>
                      </a:r>
                      <a:r>
                        <a:rPr lang="zh-CN" altLang="en-US" sz="1400" b="0" dirty="0">
                          <a:latin typeface="+mn-lt"/>
                          <a:ea typeface="+mn-ea"/>
                          <a:cs typeface="+mn-ea"/>
                          <a:sym typeface="+mn-lt"/>
                        </a:rPr>
                        <a:t>（</a:t>
                      </a:r>
                      <a:r>
                        <a:rPr lang="en-US" altLang="zh-CN" sz="1400" b="0" dirty="0" err="1">
                          <a:latin typeface="+mn-lt"/>
                          <a:ea typeface="+mn-ea"/>
                          <a:cs typeface="+mn-ea"/>
                          <a:sym typeface="+mn-lt"/>
                        </a:rPr>
                        <a:t>BE+Policy</a:t>
                      </a:r>
                      <a:r>
                        <a:rPr lang="zh-CN" altLang="en-US" sz="1400" b="0" dirty="0">
                          <a:latin typeface="+mn-lt"/>
                          <a:ea typeface="+mn-ea"/>
                          <a:cs typeface="+mn-ea"/>
                          <a:sym typeface="+mn-lt"/>
                        </a:rPr>
                        <a:t>）</a:t>
                      </a:r>
                      <a:endParaRPr lang="en-US" altLang="zh-CN" sz="1400" b="0" dirty="0">
                        <a:latin typeface="+mn-lt"/>
                        <a:ea typeface="+mn-ea"/>
                        <a:cs typeface="+mn-ea"/>
                        <a:sym typeface="+mn-lt"/>
                      </a:endParaRPr>
                    </a:p>
                    <a:p>
                      <a:pPr marL="0" marR="0" lvl="0" indent="0" algn="l" defTabSz="1184910" rtl="0" eaLnBrk="1" fontAlgn="auto" latinLnBrk="0" hangingPunct="1">
                        <a:lnSpc>
                          <a:spcPct val="100000"/>
                        </a:lnSpc>
                        <a:spcBef>
                          <a:spcPts val="0"/>
                        </a:spcBef>
                        <a:spcAft>
                          <a:spcPts val="0"/>
                        </a:spcAft>
                        <a:buClrTx/>
                        <a:buSzTx/>
                        <a:buFontTx/>
                        <a:buNone/>
                        <a:defRPr/>
                      </a:pPr>
                      <a:r>
                        <a:rPr lang="en-US" altLang="zh-CN" sz="1400" b="0" dirty="0">
                          <a:latin typeface="+mn-lt"/>
                          <a:ea typeface="+mn-ea"/>
                          <a:cs typeface="+mn-ea"/>
                          <a:sym typeface="+mn-lt"/>
                        </a:rPr>
                        <a:t>2.</a:t>
                      </a:r>
                      <a:r>
                        <a:rPr lang="en-US" altLang="zh-CN" sz="1400" b="0" baseline="0" dirty="0">
                          <a:latin typeface="+mn-lt"/>
                          <a:ea typeface="+mn-ea"/>
                          <a:cs typeface="+mn-ea"/>
                          <a:sym typeface="+mn-lt"/>
                        </a:rPr>
                        <a:t> </a:t>
                      </a:r>
                      <a:r>
                        <a:rPr lang="en-US" altLang="zh-CN" sz="1400" b="0" dirty="0">
                          <a:latin typeface="+mn-lt"/>
                          <a:ea typeface="+mn-ea"/>
                          <a:cs typeface="+mn-ea"/>
                          <a:sym typeface="+mn-lt"/>
                        </a:rPr>
                        <a:t>Midpoint TI-LFA</a:t>
                      </a:r>
                      <a:r>
                        <a:rPr lang="zh-CN" altLang="en-US" sz="1400" b="0" dirty="0">
                          <a:latin typeface="+mn-lt"/>
                          <a:ea typeface="+mn-ea"/>
                          <a:cs typeface="+mn-ea"/>
                          <a:sym typeface="+mn-lt"/>
                        </a:rPr>
                        <a:t>（</a:t>
                      </a:r>
                      <a:r>
                        <a:rPr lang="en-US" altLang="zh-CN" sz="1400" b="0" dirty="0">
                          <a:latin typeface="+mn-lt"/>
                          <a:ea typeface="+mn-ea"/>
                          <a:cs typeface="+mn-ea"/>
                          <a:sym typeface="+mn-lt"/>
                        </a:rPr>
                        <a:t>Policy</a:t>
                      </a:r>
                      <a:r>
                        <a:rPr lang="zh-CN" altLang="en-US" sz="1400" b="0" dirty="0">
                          <a:latin typeface="+mn-lt"/>
                          <a:ea typeface="+mn-ea"/>
                          <a:cs typeface="+mn-ea"/>
                          <a:sym typeface="+mn-lt"/>
                        </a:rPr>
                        <a:t>）</a:t>
                      </a:r>
                      <a:endParaRPr lang="en-US" altLang="zh-CN" sz="1400" b="0" dirty="0">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sz="1400" dirty="0"/>
                        <a:t>50 </a:t>
                      </a:r>
                      <a:r>
                        <a:rPr lang="en-US" altLang="zh-CN" sz="1400" dirty="0" err="1"/>
                        <a:t>ms</a:t>
                      </a:r>
                      <a:endParaRPr lang="zh-CN" altLang="en-US" sz="1400" dirty="0"/>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271802">
                <a:tc v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v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1184910" rtl="0" eaLnBrk="1" fontAlgn="auto" latinLnBrk="0" hangingPunct="1">
                        <a:lnSpc>
                          <a:spcPct val="100000"/>
                        </a:lnSpc>
                        <a:spcBef>
                          <a:spcPts val="0"/>
                        </a:spcBef>
                        <a:spcAft>
                          <a:spcPts val="0"/>
                        </a:spcAft>
                        <a:buClrTx/>
                        <a:buSzTx/>
                        <a:buFontTx/>
                        <a:buNone/>
                        <a:defRPr/>
                      </a:pPr>
                      <a:r>
                        <a:rPr lang="en-US" altLang="zh-CN" sz="1400" b="0" dirty="0">
                          <a:latin typeface="+mn-lt"/>
                          <a:ea typeface="+mn-ea"/>
                          <a:cs typeface="+mn-ea"/>
                          <a:sym typeface="+mn-lt"/>
                        </a:rPr>
                        <a:t>3</a:t>
                      </a:r>
                      <a:r>
                        <a:rPr lang="zh-CN" altLang="en-US" sz="1400" b="0" dirty="0">
                          <a:latin typeface="+mn-lt"/>
                          <a:ea typeface="+mn-ea"/>
                          <a:cs typeface="+mn-ea"/>
                          <a:sym typeface="+mn-lt"/>
                        </a:rPr>
                        <a:t>，</a:t>
                      </a:r>
                      <a:r>
                        <a:rPr lang="en-US" altLang="zh-CN" sz="1400" b="0" dirty="0">
                          <a:latin typeface="+mn-lt"/>
                          <a:ea typeface="+mn-ea"/>
                          <a:cs typeface="+mn-ea"/>
                          <a:sym typeface="+mn-lt"/>
                        </a:rPr>
                        <a:t>9</a:t>
                      </a:r>
                      <a:endParaRPr lang="en-US" altLang="zh-CN" sz="1400" b="0" dirty="0">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1184910" rtl="0" eaLnBrk="1" fontAlgn="auto" latinLnBrk="0" hangingPunct="1">
                        <a:lnSpc>
                          <a:spcPct val="100000"/>
                        </a:lnSpc>
                        <a:spcBef>
                          <a:spcPts val="0"/>
                        </a:spcBef>
                        <a:spcAft>
                          <a:spcPts val="0"/>
                        </a:spcAft>
                        <a:buClrTx/>
                        <a:buSzTx/>
                        <a:buFontTx/>
                        <a:buNone/>
                        <a:defRPr/>
                      </a:pPr>
                      <a:r>
                        <a:rPr lang="en-US" altLang="zh-CN" sz="1400" b="0" dirty="0">
                          <a:latin typeface="+mn-lt"/>
                          <a:ea typeface="+mn-ea"/>
                          <a:cs typeface="+mn-ea"/>
                          <a:sym typeface="+mn-lt"/>
                        </a:rPr>
                        <a:t>BFD for Locator</a:t>
                      </a:r>
                      <a:endParaRPr lang="en-US" altLang="zh-CN" sz="1400" b="0" dirty="0">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1184910" rtl="0" eaLnBrk="1" fontAlgn="auto" latinLnBrk="0" hangingPunct="1">
                        <a:lnSpc>
                          <a:spcPct val="100000"/>
                        </a:lnSpc>
                        <a:spcBef>
                          <a:spcPts val="0"/>
                        </a:spcBef>
                        <a:spcAft>
                          <a:spcPts val="0"/>
                        </a:spcAft>
                        <a:buClrTx/>
                        <a:buSzTx/>
                        <a:buFontTx/>
                        <a:buNone/>
                        <a:defRPr/>
                      </a:pPr>
                      <a:r>
                        <a:rPr lang="en-US" altLang="zh-CN" sz="1400" b="0" dirty="0">
                          <a:latin typeface="+mn-lt"/>
                          <a:ea typeface="+mn-ea"/>
                          <a:cs typeface="+mn-ea"/>
                          <a:sym typeface="+mn-lt"/>
                        </a:rPr>
                        <a:t>VPN FRR</a:t>
                      </a:r>
                      <a:endParaRPr lang="en-US" altLang="zh-CN" sz="1400" b="0" dirty="0">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sz="1400" dirty="0"/>
                        <a:t>50 </a:t>
                      </a:r>
                      <a:r>
                        <a:rPr lang="en-US" altLang="zh-CN" sz="1400" dirty="0" err="1"/>
                        <a:t>ms</a:t>
                      </a:r>
                      <a:endParaRPr lang="zh-CN" altLang="en-US" sz="1400" dirty="0"/>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271802">
                <a:tc vMerge="1">
                  <a:tcPr/>
                </a:tc>
                <a:tc vMerge="1">
                  <a:tcPr/>
                </a:tc>
                <a:tc v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1184910" rtl="0" eaLnBrk="1" fontAlgn="auto" latinLnBrk="0" hangingPunct="1">
                        <a:lnSpc>
                          <a:spcPct val="100000"/>
                        </a:lnSpc>
                        <a:spcBef>
                          <a:spcPts val="0"/>
                        </a:spcBef>
                        <a:spcAft>
                          <a:spcPts val="0"/>
                        </a:spcAft>
                        <a:buClrTx/>
                        <a:buSzTx/>
                        <a:buFontTx/>
                        <a:buNone/>
                        <a:defRPr/>
                      </a:pPr>
                      <a:r>
                        <a:rPr lang="en-US" altLang="zh-CN" sz="1400" b="0" dirty="0">
                          <a:latin typeface="+mn-lt"/>
                          <a:ea typeface="+mn-ea"/>
                          <a:cs typeface="+mn-ea"/>
                          <a:sym typeface="+mn-lt"/>
                        </a:rPr>
                        <a:t>1~2</a:t>
                      </a:r>
                      <a:r>
                        <a:rPr lang="zh-CN" altLang="en-US" sz="1400" b="0" dirty="0">
                          <a:latin typeface="+mn-lt"/>
                          <a:ea typeface="+mn-ea"/>
                          <a:cs typeface="+mn-ea"/>
                          <a:sym typeface="+mn-lt"/>
                        </a:rPr>
                        <a:t>，</a:t>
                      </a:r>
                      <a:r>
                        <a:rPr lang="en-US" altLang="zh-CN" sz="1400" b="0" dirty="0">
                          <a:latin typeface="+mn-lt"/>
                          <a:ea typeface="+mn-ea"/>
                          <a:cs typeface="+mn-ea"/>
                          <a:sym typeface="+mn-lt"/>
                        </a:rPr>
                        <a:t>10~11</a:t>
                      </a:r>
                      <a:endParaRPr lang="en-US" altLang="zh-CN" sz="1400" b="0" dirty="0">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1184910" rtl="0" eaLnBrk="1" fontAlgn="auto" latinLnBrk="0" hangingPunct="1">
                        <a:lnSpc>
                          <a:spcPct val="100000"/>
                        </a:lnSpc>
                        <a:spcBef>
                          <a:spcPts val="0"/>
                        </a:spcBef>
                        <a:spcAft>
                          <a:spcPts val="0"/>
                        </a:spcAft>
                        <a:buClrTx/>
                        <a:buSzTx/>
                        <a:buFontTx/>
                        <a:buNone/>
                        <a:defRPr/>
                      </a:pPr>
                      <a:r>
                        <a:rPr lang="en-US" altLang="zh-CN" sz="1400" b="0" dirty="0">
                          <a:latin typeface="+mn-lt"/>
                          <a:ea typeface="+mn-ea"/>
                          <a:cs typeface="+mn-ea"/>
                          <a:sym typeface="+mn-lt"/>
                        </a:rPr>
                        <a:t>BFD for Interface</a:t>
                      </a:r>
                      <a:endParaRPr lang="en-US" altLang="zh-CN" sz="1400" b="0" dirty="0">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1184910" rtl="0" eaLnBrk="1" fontAlgn="auto" latinLnBrk="0" hangingPunct="1">
                        <a:lnSpc>
                          <a:spcPct val="100000"/>
                        </a:lnSpc>
                        <a:spcBef>
                          <a:spcPts val="0"/>
                        </a:spcBef>
                        <a:spcAft>
                          <a:spcPts val="0"/>
                        </a:spcAft>
                        <a:buClrTx/>
                        <a:buSzTx/>
                        <a:buFontTx/>
                        <a:buNone/>
                        <a:defRPr/>
                      </a:pPr>
                      <a:r>
                        <a:rPr lang="en-US" altLang="zh-CN" sz="1400" dirty="0">
                          <a:cs typeface="+mn-ea"/>
                          <a:sym typeface="+mn-lt"/>
                        </a:rPr>
                        <a:t>VPN Mixed FRR</a:t>
                      </a:r>
                      <a:r>
                        <a:rPr lang="zh-CN" altLang="en-US" sz="1400" dirty="0">
                          <a:cs typeface="+mn-ea"/>
                          <a:sym typeface="+mn-lt"/>
                        </a:rPr>
                        <a:t>，</a:t>
                      </a:r>
                      <a:r>
                        <a:rPr lang="en-US" altLang="zh-CN" sz="1400" dirty="0">
                          <a:cs typeface="+mn-ea"/>
                          <a:sym typeface="+mn-lt"/>
                        </a:rPr>
                        <a:t>IP FRR</a:t>
                      </a:r>
                      <a:endParaRPr lang="en-US" altLang="zh-CN" sz="1400" b="0" dirty="0">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3765" rtl="0" eaLnBrk="1" fontAlgn="auto" latinLnBrk="0" hangingPunct="1">
                        <a:lnSpc>
                          <a:spcPct val="100000"/>
                        </a:lnSpc>
                        <a:spcBef>
                          <a:spcPts val="0"/>
                        </a:spcBef>
                        <a:spcAft>
                          <a:spcPts val="0"/>
                        </a:spcAft>
                        <a:buClrTx/>
                        <a:buSzTx/>
                        <a:buFontTx/>
                        <a:buNone/>
                        <a:defRPr/>
                      </a:pPr>
                      <a:r>
                        <a:rPr lang="en-US" altLang="zh-CN" sz="1400" dirty="0"/>
                        <a:t>50 </a:t>
                      </a:r>
                      <a:r>
                        <a:rPr lang="en-US" altLang="zh-CN" sz="1400" dirty="0" err="1"/>
                        <a:t>ms</a:t>
                      </a:r>
                      <a:endParaRPr lang="zh-CN" altLang="en-US" sz="1400" dirty="0"/>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22826">
                <a:tc rowSpan="3">
                  <a:txBody>
                    <a:bodyPr/>
                    <a:lstStyle/>
                    <a:p>
                      <a:r>
                        <a:rPr lang="zh-CN" altLang="en-US" sz="1400" dirty="0">
                          <a:cs typeface="+mn-ea"/>
                          <a:sym typeface="+mn-lt"/>
                        </a:rPr>
                        <a:t>高</a:t>
                      </a:r>
                      <a:r>
                        <a:rPr lang="en-US" altLang="zh-CN" sz="1400" dirty="0">
                          <a:cs typeface="+mn-ea"/>
                          <a:sym typeface="+mn-lt"/>
                        </a:rPr>
                        <a:t>SLA</a:t>
                      </a:r>
                      <a:r>
                        <a:rPr lang="zh-CN" altLang="en-US" sz="1400" dirty="0">
                          <a:cs typeface="+mn-ea"/>
                          <a:sym typeface="+mn-lt"/>
                        </a:rPr>
                        <a:t>业务</a:t>
                      </a:r>
                      <a:endParaRPr lang="zh-CN" altLang="en-US" sz="1400" dirty="0"/>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rowSpan="3">
                  <a:txBody>
                    <a:bodyPr/>
                    <a:lstStyle/>
                    <a:p>
                      <a:pPr marL="0" marR="0" lvl="0" indent="0" algn="l" defTabSz="913765" rtl="0" eaLnBrk="1" fontAlgn="auto" latinLnBrk="0" hangingPunct="1">
                        <a:lnSpc>
                          <a:spcPct val="100000"/>
                        </a:lnSpc>
                        <a:spcBef>
                          <a:spcPts val="0"/>
                        </a:spcBef>
                        <a:spcAft>
                          <a:spcPts val="0"/>
                        </a:spcAft>
                        <a:buClrTx/>
                        <a:buSzTx/>
                        <a:buFontTx/>
                        <a:buNone/>
                        <a:defRPr/>
                      </a:pPr>
                      <a:r>
                        <a:rPr lang="zh-CN" altLang="en-US" sz="1400" dirty="0"/>
                        <a:t>本地保护，端到端保护</a:t>
                      </a:r>
                      <a:endParaRPr lang="zh-CN" alt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rowSpan="3">
                  <a:txBody>
                    <a:bodyPr/>
                    <a:lstStyle/>
                    <a:p>
                      <a:pPr marL="0" marR="0" lvl="0" indent="0" algn="l" defTabSz="1184910" rtl="0" eaLnBrk="1" fontAlgn="auto" latinLnBrk="0" hangingPunct="1">
                        <a:lnSpc>
                          <a:spcPct val="100000"/>
                        </a:lnSpc>
                        <a:spcBef>
                          <a:spcPts val="0"/>
                        </a:spcBef>
                        <a:spcAft>
                          <a:spcPts val="0"/>
                        </a:spcAft>
                        <a:buClrTx/>
                        <a:buSzTx/>
                        <a:buFontTx/>
                        <a:buNone/>
                        <a:defRPr/>
                      </a:pPr>
                      <a:r>
                        <a:rPr lang="en-US" altLang="zh-CN" sz="1400" dirty="0"/>
                        <a:t>SRv6 Policy</a:t>
                      </a:r>
                      <a:endParaRPr lang="zh-CN" alt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marL="0" marR="0" lvl="0" indent="0" algn="l" defTabSz="1184910" rtl="0" eaLnBrk="1" fontAlgn="auto" latinLnBrk="0" hangingPunct="1">
                        <a:lnSpc>
                          <a:spcPct val="100000"/>
                        </a:lnSpc>
                        <a:spcBef>
                          <a:spcPts val="0"/>
                        </a:spcBef>
                        <a:spcAft>
                          <a:spcPts val="0"/>
                        </a:spcAft>
                        <a:buClrTx/>
                        <a:buSzTx/>
                        <a:buFontTx/>
                        <a:buNone/>
                        <a:defRPr/>
                      </a:pPr>
                      <a:r>
                        <a:rPr lang="en-US" altLang="zh-CN" sz="1400" b="0" dirty="0">
                          <a:latin typeface="+mn-lt"/>
                          <a:ea typeface="+mn-ea"/>
                          <a:cs typeface="+mn-ea"/>
                          <a:sym typeface="+mn-lt"/>
                        </a:rPr>
                        <a:t>4~8</a:t>
                      </a:r>
                      <a:endParaRPr lang="en-US" altLang="zh-CN" sz="1400" b="0" dirty="0">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sz="1400" dirty="0"/>
                        <a:t>SBFD</a:t>
                      </a:r>
                      <a:r>
                        <a:rPr lang="en-US" altLang="zh-CN" sz="1400" baseline="0" dirty="0"/>
                        <a:t> for SRv6 Policy</a:t>
                      </a:r>
                      <a:endParaRPr lang="zh-CN" alt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sz="1400" dirty="0"/>
                        <a:t>HSB</a:t>
                      </a:r>
                      <a:endParaRPr lang="zh-CN" alt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sz="1400" dirty="0"/>
                        <a:t>50 </a:t>
                      </a:r>
                      <a:r>
                        <a:rPr lang="en-US" altLang="zh-CN" sz="1400" dirty="0" err="1"/>
                        <a:t>ms</a:t>
                      </a:r>
                      <a:endParaRPr lang="zh-CN" altLang="en-US" sz="1400" dirty="0"/>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31983">
                <a:tc v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v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v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marL="0" marR="0" lvl="0" indent="0" algn="l" defTabSz="1184910" rtl="0" eaLnBrk="1" fontAlgn="auto" latinLnBrk="0" hangingPunct="1">
                        <a:lnSpc>
                          <a:spcPct val="100000"/>
                        </a:lnSpc>
                        <a:spcBef>
                          <a:spcPts val="0"/>
                        </a:spcBef>
                        <a:spcAft>
                          <a:spcPts val="0"/>
                        </a:spcAft>
                        <a:buClrTx/>
                        <a:buSzTx/>
                        <a:buFontTx/>
                        <a:buNone/>
                        <a:defRPr/>
                      </a:pPr>
                      <a:r>
                        <a:rPr lang="en-US" altLang="zh-CN" sz="1400" b="0" dirty="0">
                          <a:latin typeface="+mn-lt"/>
                          <a:ea typeface="+mn-ea"/>
                          <a:cs typeface="+mn-ea"/>
                          <a:sym typeface="+mn-lt"/>
                        </a:rPr>
                        <a:t>3</a:t>
                      </a:r>
                      <a:r>
                        <a:rPr lang="zh-CN" altLang="en-US" sz="1400" b="0" dirty="0">
                          <a:latin typeface="+mn-lt"/>
                          <a:ea typeface="+mn-ea"/>
                          <a:cs typeface="+mn-ea"/>
                          <a:sym typeface="+mn-lt"/>
                        </a:rPr>
                        <a:t>，</a:t>
                      </a:r>
                      <a:r>
                        <a:rPr lang="en-US" altLang="zh-CN" sz="1400" b="0" dirty="0">
                          <a:latin typeface="+mn-lt"/>
                          <a:ea typeface="+mn-ea"/>
                          <a:cs typeface="+mn-ea"/>
                          <a:sym typeface="+mn-lt"/>
                        </a:rPr>
                        <a:t>9</a:t>
                      </a:r>
                      <a:endParaRPr lang="en-US" altLang="zh-CN" sz="1400" b="0" dirty="0">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1184910" rtl="0" eaLnBrk="1" fontAlgn="auto" latinLnBrk="0" hangingPunct="1">
                        <a:lnSpc>
                          <a:spcPct val="100000"/>
                        </a:lnSpc>
                        <a:spcBef>
                          <a:spcPts val="0"/>
                        </a:spcBef>
                        <a:spcAft>
                          <a:spcPts val="0"/>
                        </a:spcAft>
                        <a:buClrTx/>
                        <a:buSzTx/>
                        <a:buFontTx/>
                        <a:buNone/>
                        <a:defRPr/>
                      </a:pPr>
                      <a:r>
                        <a:rPr lang="en-US" altLang="zh-CN" sz="1400" dirty="0"/>
                        <a:t>SBFD</a:t>
                      </a:r>
                      <a:r>
                        <a:rPr lang="en-US" altLang="zh-CN" sz="1400" baseline="0" dirty="0"/>
                        <a:t> for SRv6 Policy</a:t>
                      </a:r>
                      <a:endParaRPr lang="zh-CN" alt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sz="1400" kern="1200" dirty="0">
                          <a:solidFill>
                            <a:schemeClr val="tx1"/>
                          </a:solidFill>
                          <a:latin typeface="+mn-lt"/>
                          <a:ea typeface="+mn-ea"/>
                          <a:cs typeface="+mn-cs"/>
                        </a:rPr>
                        <a:t>VPN FRR</a:t>
                      </a:r>
                      <a:endParaRPr lang="zh-CN" altLang="en-US" sz="1400"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sz="1400" kern="1200" dirty="0">
                          <a:solidFill>
                            <a:schemeClr val="tx1"/>
                          </a:solidFill>
                          <a:latin typeface="+mn-lt"/>
                          <a:ea typeface="+mn-ea"/>
                          <a:cs typeface="+mn-cs"/>
                        </a:rPr>
                        <a:t>200 </a:t>
                      </a:r>
                      <a:r>
                        <a:rPr lang="en-US" altLang="zh-CN" sz="1400" kern="1200" dirty="0" err="1">
                          <a:solidFill>
                            <a:schemeClr val="tx1"/>
                          </a:solidFill>
                          <a:latin typeface="+mn-lt"/>
                          <a:ea typeface="+mn-ea"/>
                          <a:cs typeface="+mn-cs"/>
                        </a:rPr>
                        <a:t>ms</a:t>
                      </a:r>
                      <a:r>
                        <a:rPr lang="en-US" altLang="zh-CN" sz="1400" kern="1200" dirty="0">
                          <a:solidFill>
                            <a:schemeClr val="tx1"/>
                          </a:solidFill>
                          <a:latin typeface="+mn-lt"/>
                          <a:ea typeface="+mn-ea"/>
                          <a:cs typeface="+mn-cs"/>
                        </a:rPr>
                        <a:t>/50 </a:t>
                      </a:r>
                      <a:r>
                        <a:rPr lang="en-US" altLang="zh-CN" sz="1400" kern="1200" dirty="0" err="1">
                          <a:solidFill>
                            <a:schemeClr val="tx1"/>
                          </a:solidFill>
                          <a:latin typeface="+mn-lt"/>
                          <a:ea typeface="+mn-ea"/>
                          <a:cs typeface="+mn-cs"/>
                        </a:rPr>
                        <a:t>ms</a:t>
                      </a:r>
                      <a:endParaRPr lang="zh-CN" altLang="en-US" sz="1400"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31983">
                <a:tc vMerge="1">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v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v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marL="0" marR="0" lvl="0" indent="0" algn="l" defTabSz="913765" rtl="0" eaLnBrk="1" fontAlgn="auto" latinLnBrk="0" hangingPunct="1">
                        <a:lnSpc>
                          <a:spcPct val="100000"/>
                        </a:lnSpc>
                        <a:spcBef>
                          <a:spcPts val="0"/>
                        </a:spcBef>
                        <a:spcAft>
                          <a:spcPts val="0"/>
                        </a:spcAft>
                        <a:buClrTx/>
                        <a:buSzTx/>
                        <a:buFontTx/>
                        <a:buNone/>
                        <a:defRPr/>
                      </a:pPr>
                      <a:r>
                        <a:rPr lang="en-US" altLang="zh-CN" sz="1400" b="0" dirty="0">
                          <a:latin typeface="+mn-lt"/>
                          <a:ea typeface="+mn-ea"/>
                          <a:cs typeface="+mn-ea"/>
                          <a:sym typeface="+mn-lt"/>
                        </a:rPr>
                        <a:t>1~2</a:t>
                      </a:r>
                      <a:r>
                        <a:rPr lang="zh-CN" altLang="en-US" sz="1400" b="0" dirty="0">
                          <a:latin typeface="+mn-lt"/>
                          <a:ea typeface="+mn-ea"/>
                          <a:cs typeface="+mn-ea"/>
                          <a:sym typeface="+mn-lt"/>
                        </a:rPr>
                        <a:t>，</a:t>
                      </a:r>
                      <a:r>
                        <a:rPr lang="en-US" altLang="zh-CN" sz="1400" b="0" dirty="0">
                          <a:latin typeface="+mn-lt"/>
                          <a:ea typeface="+mn-ea"/>
                          <a:cs typeface="+mn-ea"/>
                          <a:sym typeface="+mn-lt"/>
                        </a:rPr>
                        <a:t>10~11</a:t>
                      </a:r>
                      <a:endParaRPr lang="en-US" altLang="zh-CN" sz="1400" b="0" dirty="0">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marL="0" marR="0" lvl="0" indent="0" algn="l" defTabSz="1184910" rtl="0" eaLnBrk="1" fontAlgn="auto" latinLnBrk="0" hangingPunct="1">
                        <a:lnSpc>
                          <a:spcPct val="100000"/>
                        </a:lnSpc>
                        <a:spcBef>
                          <a:spcPts val="0"/>
                        </a:spcBef>
                        <a:spcAft>
                          <a:spcPts val="0"/>
                        </a:spcAft>
                        <a:buClrTx/>
                        <a:buSzTx/>
                        <a:buFontTx/>
                        <a:buNone/>
                        <a:defRPr/>
                      </a:pPr>
                      <a:r>
                        <a:rPr lang="en-US" altLang="zh-CN" sz="1400" b="0" dirty="0">
                          <a:latin typeface="+mn-lt"/>
                          <a:ea typeface="+mn-ea"/>
                          <a:cs typeface="+mn-ea"/>
                          <a:sym typeface="+mn-lt"/>
                        </a:rPr>
                        <a:t>BFD for Interface</a:t>
                      </a:r>
                      <a:endParaRPr lang="en-US" altLang="zh-CN" sz="1400" b="0" dirty="0">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marL="0" marR="0" lvl="0" indent="0" algn="l" defTabSz="913765" rtl="0" eaLnBrk="1" fontAlgn="auto" latinLnBrk="0" hangingPunct="1">
                        <a:lnSpc>
                          <a:spcPct val="100000"/>
                        </a:lnSpc>
                        <a:spcBef>
                          <a:spcPts val="0"/>
                        </a:spcBef>
                        <a:spcAft>
                          <a:spcPts val="0"/>
                        </a:spcAft>
                        <a:buClrTx/>
                        <a:buSzTx/>
                        <a:buFontTx/>
                        <a:buNone/>
                        <a:defRPr/>
                      </a:pPr>
                      <a:r>
                        <a:rPr lang="en-US" altLang="zh-CN" sz="1400" dirty="0">
                          <a:cs typeface="+mn-ea"/>
                          <a:sym typeface="+mn-lt"/>
                        </a:rPr>
                        <a:t>VPN Mixed FRR</a:t>
                      </a:r>
                      <a:r>
                        <a:rPr lang="zh-CN" altLang="en-US" sz="1400" dirty="0">
                          <a:cs typeface="+mn-ea"/>
                          <a:sym typeface="+mn-lt"/>
                        </a:rPr>
                        <a:t>，</a:t>
                      </a:r>
                      <a:r>
                        <a:rPr lang="en-US" altLang="zh-CN" sz="1400" dirty="0">
                          <a:cs typeface="+mn-ea"/>
                          <a:sym typeface="+mn-lt"/>
                        </a:rPr>
                        <a:t>IP FRR</a:t>
                      </a:r>
                      <a:endParaRPr lang="en-US" altLang="zh-CN" sz="1400" b="0" dirty="0">
                        <a:latin typeface="+mn-lt"/>
                        <a:ea typeface="+mn-ea"/>
                        <a:cs typeface="+mn-ea"/>
                        <a:sym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marL="0" marR="0" lvl="0" indent="0" algn="l" defTabSz="913765" rtl="0" eaLnBrk="1" fontAlgn="auto" latinLnBrk="0" hangingPunct="1">
                        <a:lnSpc>
                          <a:spcPct val="100000"/>
                        </a:lnSpc>
                        <a:spcBef>
                          <a:spcPts val="0"/>
                        </a:spcBef>
                        <a:spcAft>
                          <a:spcPts val="0"/>
                        </a:spcAft>
                        <a:buClrTx/>
                        <a:buSzTx/>
                        <a:buFontTx/>
                        <a:buNone/>
                        <a:defRPr/>
                      </a:pPr>
                      <a:r>
                        <a:rPr lang="en-US" altLang="zh-CN" sz="1400" dirty="0"/>
                        <a:t>50 </a:t>
                      </a:r>
                      <a:r>
                        <a:rPr lang="en-US" altLang="zh-CN" sz="1400" dirty="0" err="1"/>
                        <a:t>ms</a:t>
                      </a:r>
                      <a:endParaRPr lang="zh-CN" altLang="en-US" sz="1400" dirty="0"/>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r>
            </a:tbl>
          </a:graphicData>
        </a:graphic>
      </p:graphicFrame>
      <p:pic>
        <p:nvPicPr>
          <p:cNvPr id="6" name="图片 48"/>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bwMode="gray">
          <a:xfrm>
            <a:off x="4313950" y="1458221"/>
            <a:ext cx="378863" cy="310667"/>
          </a:xfrm>
          <a:prstGeom prst="rect">
            <a:avLst/>
          </a:prstGeom>
        </p:spPr>
      </p:pic>
      <p:pic>
        <p:nvPicPr>
          <p:cNvPr id="7" name="图片 48"/>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bwMode="gray">
          <a:xfrm>
            <a:off x="4313950" y="2470482"/>
            <a:ext cx="378863" cy="310667"/>
          </a:xfrm>
          <a:prstGeom prst="rect">
            <a:avLst/>
          </a:prstGeom>
        </p:spPr>
      </p:pic>
      <p:pic>
        <p:nvPicPr>
          <p:cNvPr id="8" name="图片 48"/>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bwMode="gray">
          <a:xfrm>
            <a:off x="6450062" y="1459901"/>
            <a:ext cx="378863" cy="310667"/>
          </a:xfrm>
          <a:prstGeom prst="rect">
            <a:avLst/>
          </a:prstGeom>
        </p:spPr>
      </p:pic>
      <p:pic>
        <p:nvPicPr>
          <p:cNvPr id="9" name="图片 48"/>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bwMode="gray">
          <a:xfrm>
            <a:off x="6450062" y="2472162"/>
            <a:ext cx="378863" cy="310667"/>
          </a:xfrm>
          <a:prstGeom prst="rect">
            <a:avLst/>
          </a:prstGeom>
        </p:spPr>
      </p:pic>
      <p:pic>
        <p:nvPicPr>
          <p:cNvPr id="10" name="图片 48"/>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bwMode="gray">
          <a:xfrm>
            <a:off x="7597204" y="1461581"/>
            <a:ext cx="378863" cy="310667"/>
          </a:xfrm>
          <a:prstGeom prst="rect">
            <a:avLst/>
          </a:prstGeom>
        </p:spPr>
      </p:pic>
      <p:pic>
        <p:nvPicPr>
          <p:cNvPr id="11" name="图片 48"/>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bwMode="gray">
          <a:xfrm>
            <a:off x="7597204" y="2473842"/>
            <a:ext cx="378863" cy="310667"/>
          </a:xfrm>
          <a:prstGeom prst="rect">
            <a:avLst/>
          </a:prstGeom>
        </p:spPr>
      </p:pic>
      <p:sp>
        <p:nvSpPr>
          <p:cNvPr id="12" name="圆角矩形 75"/>
          <p:cNvSpPr/>
          <p:nvPr/>
        </p:nvSpPr>
        <p:spPr bwMode="gray">
          <a:xfrm>
            <a:off x="4058318" y="1092308"/>
            <a:ext cx="4160547" cy="2017581"/>
          </a:xfrm>
          <a:prstGeom prst="roundRect">
            <a:avLst>
              <a:gd name="adj" fmla="val 2420"/>
            </a:avLst>
          </a:prstGeom>
          <a:noFill/>
          <a:ln w="19050" cap="flat" cmpd="sng" algn="ctr">
            <a:solidFill>
              <a:srgbClr val="30B5C5"/>
            </a:solidFill>
            <a:prstDash val="dash"/>
            <a:miter lim="800000"/>
          </a:ln>
          <a:effectLst/>
        </p:spPr>
        <p:txBody>
          <a:bodyPr wrap="square" lIns="108000" tIns="108000" rIns="108000" bIns="108000" rtlCol="0" anchor="ctr" anchorCtr="0">
            <a:noAutofit/>
          </a:bodyPr>
          <a:lstStyle/>
          <a:p>
            <a:pPr marL="0" marR="0" lvl="0" indent="0" algn="just" defTabSz="914400" eaLnBrk="1" fontAlgn="ctr" latinLnBrk="0" hangingPunct="1">
              <a:lnSpc>
                <a:spcPts val="1800"/>
              </a:lnSpc>
              <a:spcBef>
                <a:spcPts val="0"/>
              </a:spcBef>
              <a:spcAft>
                <a:spcPts val="300"/>
              </a:spcAft>
              <a:buClrTx/>
              <a:buSzTx/>
              <a:buFontTx/>
              <a:buNone/>
              <a:defRPr/>
            </a:pPr>
            <a:endParaRPr kumimoji="0" lang="en-US" altLang="zh-CN" sz="1400" b="0" i="0" u="none" strike="noStrike" kern="0" cap="none" spc="0" normalizeH="0" noProof="0" dirty="0">
              <a:ln>
                <a:noFill/>
              </a:ln>
              <a:solidFill>
                <a:prstClr val="black"/>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cxnSp>
        <p:nvCxnSpPr>
          <p:cNvPr id="13" name="Straight Connector 12"/>
          <p:cNvCxnSpPr>
            <a:stCxn id="7" idx="0"/>
            <a:endCxn id="6" idx="2"/>
          </p:cNvCxnSpPr>
          <p:nvPr/>
        </p:nvCxnSpPr>
        <p:spPr bwMode="gray">
          <a:xfrm flipV="1">
            <a:off x="4503382" y="1768888"/>
            <a:ext cx="0" cy="70159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a:stCxn id="48" idx="1"/>
            <a:endCxn id="6" idx="3"/>
          </p:cNvCxnSpPr>
          <p:nvPr/>
        </p:nvCxnSpPr>
        <p:spPr bwMode="gray">
          <a:xfrm flipH="1" flipV="1">
            <a:off x="4692813" y="1613555"/>
            <a:ext cx="689909" cy="51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a:stCxn id="10" idx="1"/>
            <a:endCxn id="8" idx="3"/>
          </p:cNvCxnSpPr>
          <p:nvPr/>
        </p:nvCxnSpPr>
        <p:spPr bwMode="gray">
          <a:xfrm flipH="1" flipV="1">
            <a:off x="6828925" y="1615235"/>
            <a:ext cx="768279" cy="168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a:stCxn id="11" idx="1"/>
            <a:endCxn id="9" idx="3"/>
          </p:cNvCxnSpPr>
          <p:nvPr/>
        </p:nvCxnSpPr>
        <p:spPr bwMode="gray">
          <a:xfrm flipH="1" flipV="1">
            <a:off x="6828925" y="2627496"/>
            <a:ext cx="768279" cy="168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a:stCxn id="49" idx="1"/>
            <a:endCxn id="7" idx="3"/>
          </p:cNvCxnSpPr>
          <p:nvPr/>
        </p:nvCxnSpPr>
        <p:spPr bwMode="gray">
          <a:xfrm flipH="1" flipV="1">
            <a:off x="4692813" y="2625816"/>
            <a:ext cx="689909" cy="51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stCxn id="9" idx="0"/>
            <a:endCxn id="8" idx="2"/>
          </p:cNvCxnSpPr>
          <p:nvPr/>
        </p:nvCxnSpPr>
        <p:spPr bwMode="gray">
          <a:xfrm flipV="1">
            <a:off x="6639494" y="1770568"/>
            <a:ext cx="0" cy="70159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a:stCxn id="11" idx="0"/>
            <a:endCxn id="10" idx="2"/>
          </p:cNvCxnSpPr>
          <p:nvPr/>
        </p:nvCxnSpPr>
        <p:spPr bwMode="gray">
          <a:xfrm flipV="1">
            <a:off x="7786636" y="1772248"/>
            <a:ext cx="0" cy="70159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a:stCxn id="21" idx="3"/>
            <a:endCxn id="6" idx="1"/>
          </p:cNvCxnSpPr>
          <p:nvPr/>
        </p:nvCxnSpPr>
        <p:spPr bwMode="gray">
          <a:xfrm>
            <a:off x="3397548" y="1613554"/>
            <a:ext cx="916402" cy="1"/>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21" name="图片 48"/>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bwMode="gray">
          <a:xfrm>
            <a:off x="3018685" y="1458220"/>
            <a:ext cx="378863" cy="310667"/>
          </a:xfrm>
          <a:prstGeom prst="rect">
            <a:avLst/>
          </a:prstGeom>
        </p:spPr>
      </p:pic>
      <p:pic>
        <p:nvPicPr>
          <p:cNvPr id="22" name="图片 48"/>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bwMode="gray">
          <a:xfrm>
            <a:off x="3018685" y="2472280"/>
            <a:ext cx="378863" cy="310667"/>
          </a:xfrm>
          <a:prstGeom prst="rect">
            <a:avLst/>
          </a:prstGeom>
        </p:spPr>
      </p:pic>
      <p:cxnSp>
        <p:nvCxnSpPr>
          <p:cNvPr id="23" name="Straight Connector 22"/>
          <p:cNvCxnSpPr>
            <a:stCxn id="22" idx="3"/>
            <a:endCxn id="7" idx="1"/>
          </p:cNvCxnSpPr>
          <p:nvPr/>
        </p:nvCxnSpPr>
        <p:spPr bwMode="gray">
          <a:xfrm flipV="1">
            <a:off x="3397548" y="2625816"/>
            <a:ext cx="916402" cy="1798"/>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24" name="图片 48"/>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bwMode="gray">
          <a:xfrm>
            <a:off x="8774465" y="1461581"/>
            <a:ext cx="378863" cy="310667"/>
          </a:xfrm>
          <a:prstGeom prst="rect">
            <a:avLst/>
          </a:prstGeom>
        </p:spPr>
      </p:pic>
      <p:pic>
        <p:nvPicPr>
          <p:cNvPr id="25" name="图片 48"/>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bwMode="gray">
          <a:xfrm>
            <a:off x="8774465" y="2475641"/>
            <a:ext cx="378863" cy="310667"/>
          </a:xfrm>
          <a:prstGeom prst="rect">
            <a:avLst/>
          </a:prstGeom>
        </p:spPr>
      </p:pic>
      <p:cxnSp>
        <p:nvCxnSpPr>
          <p:cNvPr id="26" name="Straight Connector 25"/>
          <p:cNvCxnSpPr>
            <a:stCxn id="11" idx="3"/>
            <a:endCxn id="25" idx="1"/>
          </p:cNvCxnSpPr>
          <p:nvPr/>
        </p:nvCxnSpPr>
        <p:spPr bwMode="gray">
          <a:xfrm>
            <a:off x="7976067" y="2629176"/>
            <a:ext cx="798398" cy="1799"/>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a:stCxn id="10" idx="3"/>
            <a:endCxn id="24" idx="1"/>
          </p:cNvCxnSpPr>
          <p:nvPr/>
        </p:nvCxnSpPr>
        <p:spPr bwMode="gray">
          <a:xfrm>
            <a:off x="7976067" y="1616915"/>
            <a:ext cx="798398"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8" name="TextBox 271"/>
          <p:cNvSpPr txBox="1"/>
          <p:nvPr/>
        </p:nvSpPr>
        <p:spPr bwMode="gray">
          <a:xfrm>
            <a:off x="4324702" y="1248699"/>
            <a:ext cx="357790" cy="276999"/>
          </a:xfrm>
          <a:prstGeom prst="rect">
            <a:avLst/>
          </a:prstGeom>
          <a:noFill/>
        </p:spPr>
        <p:txBody>
          <a:bodyPr wrap="none" rtlCol="0">
            <a:spAutoFit/>
          </a:bodyPr>
          <a:lstStyle/>
          <a:p>
            <a:pPr>
              <a:buFont typeface="Wingdings" panose="05000000000000000000"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TextBox 271"/>
          <p:cNvSpPr txBox="1"/>
          <p:nvPr/>
        </p:nvSpPr>
        <p:spPr bwMode="gray">
          <a:xfrm>
            <a:off x="4324702" y="2741616"/>
            <a:ext cx="357790" cy="276999"/>
          </a:xfrm>
          <a:prstGeom prst="rect">
            <a:avLst/>
          </a:prstGeom>
          <a:noFill/>
        </p:spPr>
        <p:txBody>
          <a:bodyPr wrap="square" rtlCol="0">
            <a:spAutoFit/>
          </a:bodyPr>
          <a:lstStyle/>
          <a:p>
            <a:pPr>
              <a:buFont typeface="Wingdings" panose="05000000000000000000"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 name="TextBox 271"/>
          <p:cNvSpPr txBox="1"/>
          <p:nvPr/>
        </p:nvSpPr>
        <p:spPr bwMode="gray">
          <a:xfrm>
            <a:off x="7614662" y="2741616"/>
            <a:ext cx="357790" cy="276999"/>
          </a:xfrm>
          <a:prstGeom prst="rect">
            <a:avLst/>
          </a:prstGeom>
          <a:noFill/>
        </p:spPr>
        <p:txBody>
          <a:bodyPr wrap="none" rtlCol="0">
            <a:spAutoFit/>
          </a:bodyPr>
          <a:lstStyle/>
          <a:p>
            <a:pPr>
              <a:buFont typeface="Wingdings" panose="05000000000000000000"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 name="TextBox 271"/>
          <p:cNvSpPr txBox="1"/>
          <p:nvPr/>
        </p:nvSpPr>
        <p:spPr bwMode="gray">
          <a:xfrm>
            <a:off x="6352433" y="1241069"/>
            <a:ext cx="565429" cy="276999"/>
          </a:xfrm>
          <a:prstGeom prst="rect">
            <a:avLst/>
          </a:prstGeom>
          <a:noFill/>
        </p:spPr>
        <p:txBody>
          <a:bodyPr wrap="square" rtlCol="0">
            <a:spAutoFit/>
          </a:bodyPr>
          <a:lstStyle/>
          <a:p>
            <a:pPr algn="ctr">
              <a:buFont typeface="Wingdings" panose="05000000000000000000"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TextBox 271"/>
          <p:cNvSpPr txBox="1"/>
          <p:nvPr/>
        </p:nvSpPr>
        <p:spPr bwMode="gray">
          <a:xfrm>
            <a:off x="6362901" y="2739472"/>
            <a:ext cx="529519" cy="276999"/>
          </a:xfrm>
          <a:prstGeom prst="rect">
            <a:avLst/>
          </a:prstGeom>
          <a:noFill/>
        </p:spPr>
        <p:txBody>
          <a:bodyPr wrap="square" rtlCol="0">
            <a:spAutoFit/>
          </a:bodyPr>
          <a:lstStyle/>
          <a:p>
            <a:pPr algn="ctr">
              <a:buFont typeface="Wingdings" panose="05000000000000000000"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 name="TextBox 271"/>
          <p:cNvSpPr txBox="1"/>
          <p:nvPr/>
        </p:nvSpPr>
        <p:spPr bwMode="gray">
          <a:xfrm>
            <a:off x="3018684" y="2747494"/>
            <a:ext cx="378863" cy="276999"/>
          </a:xfrm>
          <a:prstGeom prst="rect">
            <a:avLst/>
          </a:prstGeom>
          <a:noFill/>
        </p:spPr>
        <p:txBody>
          <a:bodyPr wrap="square" rtlCol="0">
            <a:spAutoFit/>
          </a:bodyPr>
          <a:lstStyle/>
          <a:p>
            <a:pPr>
              <a:buFont typeface="Wingdings" panose="05000000000000000000"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CE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TextBox 271"/>
          <p:cNvSpPr txBox="1"/>
          <p:nvPr/>
        </p:nvSpPr>
        <p:spPr bwMode="gray">
          <a:xfrm>
            <a:off x="3018684" y="1239493"/>
            <a:ext cx="378863" cy="276999"/>
          </a:xfrm>
          <a:prstGeom prst="rect">
            <a:avLst/>
          </a:prstGeom>
          <a:noFill/>
        </p:spPr>
        <p:txBody>
          <a:bodyPr wrap="square" rtlCol="0">
            <a:spAutoFit/>
          </a:bodyPr>
          <a:lstStyle/>
          <a:p>
            <a:pPr>
              <a:buFont typeface="Wingdings" panose="05000000000000000000"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CE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TextBox 271"/>
          <p:cNvSpPr txBox="1"/>
          <p:nvPr/>
        </p:nvSpPr>
        <p:spPr bwMode="gray">
          <a:xfrm>
            <a:off x="8769935" y="1254078"/>
            <a:ext cx="378863" cy="276999"/>
          </a:xfrm>
          <a:prstGeom prst="rect">
            <a:avLst/>
          </a:prstGeom>
          <a:noFill/>
        </p:spPr>
        <p:txBody>
          <a:bodyPr wrap="square" rtlCol="0">
            <a:spAutoFit/>
          </a:bodyPr>
          <a:lstStyle/>
          <a:p>
            <a:pPr>
              <a:buFont typeface="Wingdings" panose="05000000000000000000"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CE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TextBox 271"/>
          <p:cNvSpPr txBox="1"/>
          <p:nvPr/>
        </p:nvSpPr>
        <p:spPr bwMode="gray">
          <a:xfrm>
            <a:off x="8769935" y="2747494"/>
            <a:ext cx="378863" cy="276999"/>
          </a:xfrm>
          <a:prstGeom prst="rect">
            <a:avLst/>
          </a:prstGeom>
          <a:noFill/>
        </p:spPr>
        <p:txBody>
          <a:bodyPr wrap="square" rtlCol="0">
            <a:spAutoFit/>
          </a:bodyPr>
          <a:lstStyle/>
          <a:p>
            <a:pPr>
              <a:buFont typeface="Wingdings" panose="05000000000000000000"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CE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 name="TextBox 271"/>
          <p:cNvSpPr txBox="1"/>
          <p:nvPr/>
        </p:nvSpPr>
        <p:spPr bwMode="gray">
          <a:xfrm>
            <a:off x="7603835" y="1238203"/>
            <a:ext cx="357790" cy="276999"/>
          </a:xfrm>
          <a:prstGeom prst="rect">
            <a:avLst/>
          </a:prstGeom>
          <a:noFill/>
        </p:spPr>
        <p:txBody>
          <a:bodyPr wrap="none" rtlCol="0">
            <a:spAutoFit/>
          </a:bodyPr>
          <a:lstStyle/>
          <a:p>
            <a:pPr>
              <a:buFont typeface="Wingdings" panose="05000000000000000000"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TextBox 271"/>
          <p:cNvSpPr txBox="1"/>
          <p:nvPr/>
        </p:nvSpPr>
        <p:spPr bwMode="gray">
          <a:xfrm>
            <a:off x="4141744" y="3101984"/>
            <a:ext cx="723275" cy="307777"/>
          </a:xfrm>
          <a:prstGeom prst="rect">
            <a:avLst/>
          </a:prstGeom>
          <a:solidFill>
            <a:srgbClr val="56C4D2"/>
          </a:solidFill>
        </p:spPr>
        <p:txBody>
          <a:bodyPr wrap="none" rtlCol="0">
            <a:spAutoFit/>
          </a:bodyPr>
          <a:lstStyle/>
          <a:p>
            <a:pPr>
              <a:buFont typeface="Wingdings" panose="05000000000000000000" pitchFamily="2" charset="2"/>
              <a:buNone/>
              <a:defRPr/>
            </a:pPr>
            <a:r>
              <a:rPr lang="zh-CN" altLang="en-US" sz="1400" kern="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承载网</a:t>
            </a:r>
            <a:endParaRPr lang="zh-CN" altLang="en-US" sz="1400" kern="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41" name="Straight Connector 40"/>
          <p:cNvCxnSpPr>
            <a:stCxn id="21" idx="2"/>
            <a:endCxn id="22" idx="0"/>
          </p:cNvCxnSpPr>
          <p:nvPr/>
        </p:nvCxnSpPr>
        <p:spPr bwMode="gray">
          <a:xfrm>
            <a:off x="3208117" y="1768887"/>
            <a:ext cx="0" cy="703393"/>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a:stCxn id="24" idx="2"/>
            <a:endCxn id="25" idx="0"/>
          </p:cNvCxnSpPr>
          <p:nvPr/>
        </p:nvCxnSpPr>
        <p:spPr bwMode="gray">
          <a:xfrm>
            <a:off x="8963897" y="1772248"/>
            <a:ext cx="0" cy="703393"/>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43" name="Oval 42"/>
          <p:cNvSpPr>
            <a:spLocks noChangeAspect="1"/>
          </p:cNvSpPr>
          <p:nvPr/>
        </p:nvSpPr>
        <p:spPr bwMode="gray">
          <a:xfrm>
            <a:off x="3241287" y="1644761"/>
            <a:ext cx="200729" cy="200729"/>
          </a:xfrm>
          <a:prstGeom prst="ellipse">
            <a:avLst/>
          </a:prstGeom>
          <a:solidFill>
            <a:srgbClr val="FFC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4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Oval 43"/>
          <p:cNvSpPr>
            <a:spLocks noChangeAspect="1"/>
          </p:cNvSpPr>
          <p:nvPr/>
        </p:nvSpPr>
        <p:spPr bwMode="gray">
          <a:xfrm>
            <a:off x="3773779" y="1511801"/>
            <a:ext cx="200729" cy="200729"/>
          </a:xfrm>
          <a:prstGeom prst="ellipse">
            <a:avLst/>
          </a:prstGeom>
          <a:solidFill>
            <a:srgbClr val="FFC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4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Oval 44"/>
          <p:cNvSpPr>
            <a:spLocks noChangeAspect="1"/>
          </p:cNvSpPr>
          <p:nvPr/>
        </p:nvSpPr>
        <p:spPr bwMode="gray">
          <a:xfrm>
            <a:off x="4279828" y="1664201"/>
            <a:ext cx="200729" cy="200729"/>
          </a:xfrm>
          <a:prstGeom prst="ellipse">
            <a:avLst/>
          </a:prstGeom>
          <a:solidFill>
            <a:srgbClr val="FFC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3</a:t>
            </a:r>
            <a:endParaRPr lang="zh-CN" altLang="en-US" sz="14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48" name="图片 48"/>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bwMode="gray">
          <a:xfrm>
            <a:off x="5382722" y="1458735"/>
            <a:ext cx="378863" cy="310667"/>
          </a:xfrm>
          <a:prstGeom prst="rect">
            <a:avLst/>
          </a:prstGeom>
        </p:spPr>
      </p:pic>
      <p:pic>
        <p:nvPicPr>
          <p:cNvPr id="49" name="图片 48"/>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bwMode="gray">
          <a:xfrm>
            <a:off x="5382722" y="2470996"/>
            <a:ext cx="378863" cy="310667"/>
          </a:xfrm>
          <a:prstGeom prst="rect">
            <a:avLst/>
          </a:prstGeom>
        </p:spPr>
      </p:pic>
      <p:cxnSp>
        <p:nvCxnSpPr>
          <p:cNvPr id="50" name="Straight Connector 49"/>
          <p:cNvCxnSpPr>
            <a:stCxn id="49" idx="0"/>
            <a:endCxn id="48" idx="2"/>
          </p:cNvCxnSpPr>
          <p:nvPr/>
        </p:nvCxnSpPr>
        <p:spPr bwMode="gray">
          <a:xfrm flipV="1">
            <a:off x="5572154" y="1769402"/>
            <a:ext cx="0" cy="70159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51" name="TextBox 271"/>
          <p:cNvSpPr txBox="1"/>
          <p:nvPr/>
        </p:nvSpPr>
        <p:spPr bwMode="gray">
          <a:xfrm>
            <a:off x="5285093" y="1239903"/>
            <a:ext cx="565429" cy="276999"/>
          </a:xfrm>
          <a:prstGeom prst="rect">
            <a:avLst/>
          </a:prstGeom>
          <a:noFill/>
        </p:spPr>
        <p:txBody>
          <a:bodyPr wrap="square" rtlCol="0">
            <a:spAutoFit/>
          </a:bodyPr>
          <a:lstStyle/>
          <a:p>
            <a:pPr algn="ctr">
              <a:buFont typeface="Wingdings" panose="05000000000000000000"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2" name="TextBox 271"/>
          <p:cNvSpPr txBox="1"/>
          <p:nvPr/>
        </p:nvSpPr>
        <p:spPr bwMode="gray">
          <a:xfrm>
            <a:off x="5295561" y="2738306"/>
            <a:ext cx="529519" cy="276999"/>
          </a:xfrm>
          <a:prstGeom prst="rect">
            <a:avLst/>
          </a:prstGeom>
          <a:noFill/>
        </p:spPr>
        <p:txBody>
          <a:bodyPr wrap="square" rtlCol="0">
            <a:spAutoFit/>
          </a:bodyPr>
          <a:lstStyle/>
          <a:p>
            <a:pPr algn="ctr">
              <a:buFont typeface="Wingdings" panose="05000000000000000000"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53" name="Straight Connector 52"/>
          <p:cNvCxnSpPr>
            <a:stCxn id="8" idx="1"/>
            <a:endCxn id="48" idx="3"/>
          </p:cNvCxnSpPr>
          <p:nvPr/>
        </p:nvCxnSpPr>
        <p:spPr bwMode="gray">
          <a:xfrm flipH="1" flipV="1">
            <a:off x="5761585" y="1614069"/>
            <a:ext cx="688477" cy="1166"/>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a:stCxn id="9" idx="1"/>
            <a:endCxn id="49" idx="3"/>
          </p:cNvCxnSpPr>
          <p:nvPr/>
        </p:nvCxnSpPr>
        <p:spPr bwMode="gray">
          <a:xfrm flipH="1" flipV="1">
            <a:off x="5761585" y="2626330"/>
            <a:ext cx="688477" cy="1166"/>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56" name="Oval 55"/>
          <p:cNvSpPr>
            <a:spLocks noChangeAspect="1"/>
          </p:cNvSpPr>
          <p:nvPr/>
        </p:nvSpPr>
        <p:spPr bwMode="gray">
          <a:xfrm>
            <a:off x="5347167" y="1668522"/>
            <a:ext cx="200729" cy="200729"/>
          </a:xfrm>
          <a:prstGeom prst="ellipse">
            <a:avLst/>
          </a:prstGeom>
          <a:solidFill>
            <a:srgbClr val="FFC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5</a:t>
            </a:r>
            <a:endParaRPr lang="zh-CN" altLang="en-US" sz="14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7" name="Oval 56"/>
          <p:cNvSpPr>
            <a:spLocks noChangeAspect="1"/>
          </p:cNvSpPr>
          <p:nvPr/>
        </p:nvSpPr>
        <p:spPr bwMode="gray">
          <a:xfrm>
            <a:off x="4939195" y="1511801"/>
            <a:ext cx="200729" cy="200729"/>
          </a:xfrm>
          <a:prstGeom prst="ellipse">
            <a:avLst/>
          </a:prstGeom>
          <a:solidFill>
            <a:srgbClr val="FFC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4</a:t>
            </a:r>
            <a:endParaRPr lang="zh-CN" altLang="en-US" sz="14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8" name="Oval 57"/>
          <p:cNvSpPr>
            <a:spLocks noChangeAspect="1"/>
          </p:cNvSpPr>
          <p:nvPr/>
        </p:nvSpPr>
        <p:spPr bwMode="gray">
          <a:xfrm>
            <a:off x="6423837" y="1661747"/>
            <a:ext cx="200729" cy="200729"/>
          </a:xfrm>
          <a:prstGeom prst="ellipse">
            <a:avLst/>
          </a:prstGeom>
          <a:solidFill>
            <a:srgbClr val="FFC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7</a:t>
            </a:r>
            <a:endParaRPr lang="zh-CN" altLang="en-US" sz="14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9" name="Oval 58"/>
          <p:cNvSpPr>
            <a:spLocks noChangeAspect="1"/>
          </p:cNvSpPr>
          <p:nvPr/>
        </p:nvSpPr>
        <p:spPr bwMode="gray">
          <a:xfrm>
            <a:off x="6015865" y="1505026"/>
            <a:ext cx="200729" cy="200729"/>
          </a:xfrm>
          <a:prstGeom prst="ellipse">
            <a:avLst/>
          </a:prstGeom>
          <a:solidFill>
            <a:srgbClr val="FFC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6</a:t>
            </a:r>
            <a:endParaRPr lang="zh-CN" altLang="en-US" sz="14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0" name="Oval 59"/>
          <p:cNvSpPr>
            <a:spLocks noChangeAspect="1"/>
          </p:cNvSpPr>
          <p:nvPr/>
        </p:nvSpPr>
        <p:spPr bwMode="gray">
          <a:xfrm>
            <a:off x="7872087" y="1633987"/>
            <a:ext cx="200729" cy="200729"/>
          </a:xfrm>
          <a:prstGeom prst="ellipse">
            <a:avLst/>
          </a:prstGeom>
          <a:solidFill>
            <a:srgbClr val="FFC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9</a:t>
            </a:r>
            <a:endParaRPr lang="zh-CN" altLang="en-US" sz="14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1" name="Oval 60"/>
          <p:cNvSpPr>
            <a:spLocks noChangeAspect="1"/>
          </p:cNvSpPr>
          <p:nvPr/>
        </p:nvSpPr>
        <p:spPr bwMode="gray">
          <a:xfrm>
            <a:off x="7121475" y="1506902"/>
            <a:ext cx="200729" cy="200729"/>
          </a:xfrm>
          <a:prstGeom prst="ellipse">
            <a:avLst/>
          </a:prstGeom>
          <a:solidFill>
            <a:srgbClr val="FFC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8</a:t>
            </a:r>
            <a:endParaRPr lang="zh-CN" altLang="en-US" sz="14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2" name="Oval 61"/>
          <p:cNvSpPr>
            <a:spLocks noChangeAspect="1"/>
          </p:cNvSpPr>
          <p:nvPr/>
        </p:nvSpPr>
        <p:spPr bwMode="gray">
          <a:xfrm>
            <a:off x="8706657" y="1656200"/>
            <a:ext cx="200729" cy="200729"/>
          </a:xfrm>
          <a:prstGeom prst="ellipse">
            <a:avLst/>
          </a:prstGeom>
          <a:solidFill>
            <a:srgbClr val="FFC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11</a:t>
            </a:r>
            <a:endParaRPr lang="zh-CN" altLang="en-US" sz="14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3" name="Oval 62"/>
          <p:cNvSpPr>
            <a:spLocks noChangeAspect="1"/>
          </p:cNvSpPr>
          <p:nvPr/>
        </p:nvSpPr>
        <p:spPr bwMode="gray">
          <a:xfrm>
            <a:off x="8298685" y="1499479"/>
            <a:ext cx="200729" cy="200729"/>
          </a:xfrm>
          <a:prstGeom prst="ellipse">
            <a:avLst/>
          </a:prstGeom>
          <a:solidFill>
            <a:srgbClr val="FFC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10</a:t>
            </a:r>
            <a:endParaRPr lang="zh-CN" altLang="en-US" sz="14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4" name="Rectangle 63"/>
          <p:cNvSpPr/>
          <p:nvPr/>
        </p:nvSpPr>
        <p:spPr bwMode="gray">
          <a:xfrm>
            <a:off x="2840792" y="1204583"/>
            <a:ext cx="1300499" cy="1810721"/>
          </a:xfrm>
          <a:prstGeom prst="rect">
            <a:avLst/>
          </a:prstGeom>
          <a:noFill/>
          <a:ln w="19050" cap="flat" cmpd="sng" algn="ctr">
            <a:solidFill>
              <a:srgbClr val="E28189"/>
            </a:solidFill>
            <a:prstDash val="dash"/>
            <a:miter lim="800000"/>
          </a:ln>
          <a:effectLst/>
        </p:spPr>
        <p:txBody>
          <a:bodyPr wrap="square" lIns="108000" tIns="108000" rIns="108000" bIns="108000" rtlCol="0" anchor="ctr" anchorCtr="0">
            <a:noAutofit/>
          </a:bodyPr>
          <a:lstStyle/>
          <a:p>
            <a:pPr algn="just" defTabSz="914400" fontAlgn="ctr">
              <a:lnSpc>
                <a:spcPts val="1800"/>
              </a:lnSpc>
              <a:spcAft>
                <a:spcPts val="300"/>
              </a:spcAft>
            </a:pPr>
            <a:endParaRPr lang="en-US" sz="1400" kern="0">
              <a:solidFill>
                <a:prstClr val="black"/>
              </a:solidFill>
              <a:latin typeface="Huawei Sans" panose="020C0503030203020204" pitchFamily="34" charset="0"/>
              <a:ea typeface="方正兰亭黑简体" panose="02000000000000000000" pitchFamily="2" charset="-122"/>
              <a:cs typeface="Arial" panose="020B0604020202020204" pitchFamily="34" charset="0"/>
            </a:endParaRPr>
          </a:p>
        </p:txBody>
      </p:sp>
      <p:sp>
        <p:nvSpPr>
          <p:cNvPr id="65" name="TextBox 271"/>
          <p:cNvSpPr txBox="1"/>
          <p:nvPr/>
        </p:nvSpPr>
        <p:spPr bwMode="gray">
          <a:xfrm rot="16200000">
            <a:off x="2241708" y="1584740"/>
            <a:ext cx="902811" cy="307777"/>
          </a:xfrm>
          <a:prstGeom prst="rect">
            <a:avLst/>
          </a:prstGeom>
          <a:solidFill>
            <a:srgbClr val="E28189"/>
          </a:solidFill>
          <a:ln>
            <a:noFill/>
          </a:ln>
        </p:spPr>
        <p:txBody>
          <a:bodyPr wrap="none" rtlCol="0">
            <a:spAutoFit/>
          </a:bodyPr>
          <a:lstStyle/>
          <a:p>
            <a:pPr>
              <a:buFont typeface="Wingdings" panose="05000000000000000000" pitchFamily="2" charset="2"/>
              <a:buNone/>
              <a:defRPr/>
            </a:pPr>
            <a:r>
              <a:rPr lang="zh-CN" altLang="en-US" sz="1400" kern="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接入网络</a:t>
            </a:r>
            <a:endParaRPr lang="zh-CN" altLang="en-US" sz="1400" kern="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6" name="Rectangle 65"/>
          <p:cNvSpPr/>
          <p:nvPr/>
        </p:nvSpPr>
        <p:spPr bwMode="gray">
          <a:xfrm>
            <a:off x="4245029" y="1208254"/>
            <a:ext cx="3864226" cy="1807051"/>
          </a:xfrm>
          <a:prstGeom prst="rect">
            <a:avLst/>
          </a:prstGeom>
          <a:noFill/>
          <a:ln w="19050" cap="flat" cmpd="sng" algn="ctr">
            <a:solidFill>
              <a:srgbClr val="E28189"/>
            </a:solidFill>
            <a:prstDash val="dash"/>
            <a:miter lim="800000"/>
          </a:ln>
          <a:effectLst/>
        </p:spPr>
        <p:txBody>
          <a:bodyPr wrap="square" lIns="108000" tIns="108000" rIns="108000" bIns="108000" rtlCol="0" anchor="ctr" anchorCtr="0">
            <a:noAutofit/>
          </a:bodyPr>
          <a:lstStyle/>
          <a:p>
            <a:pPr algn="just" defTabSz="914400" fontAlgn="ctr">
              <a:lnSpc>
                <a:spcPts val="1800"/>
              </a:lnSpc>
              <a:spcAft>
                <a:spcPts val="300"/>
              </a:spcAft>
            </a:pPr>
            <a:endParaRPr lang="en-US" sz="1400" kern="0">
              <a:solidFill>
                <a:prstClr val="black"/>
              </a:solidFill>
              <a:latin typeface="Huawei Sans" panose="020C0503030203020204" pitchFamily="34" charset="0"/>
              <a:ea typeface="方正兰亭黑简体" panose="02000000000000000000" pitchFamily="2" charset="-122"/>
              <a:cs typeface="Arial" panose="020B0604020202020204" pitchFamily="34" charset="0"/>
            </a:endParaRPr>
          </a:p>
        </p:txBody>
      </p:sp>
      <p:sp>
        <p:nvSpPr>
          <p:cNvPr id="67" name="TextBox 271"/>
          <p:cNvSpPr txBox="1"/>
          <p:nvPr/>
        </p:nvSpPr>
        <p:spPr bwMode="gray">
          <a:xfrm>
            <a:off x="6947911" y="3001218"/>
            <a:ext cx="902811" cy="307777"/>
          </a:xfrm>
          <a:prstGeom prst="rect">
            <a:avLst/>
          </a:prstGeom>
          <a:solidFill>
            <a:srgbClr val="E28189"/>
          </a:solidFill>
          <a:ln>
            <a:noFill/>
          </a:ln>
        </p:spPr>
        <p:txBody>
          <a:bodyPr wrap="none" rtlCol="0">
            <a:spAutoFit/>
          </a:bodyPr>
          <a:lstStyle/>
          <a:p>
            <a:pPr>
              <a:buFont typeface="Wingdings" panose="05000000000000000000" pitchFamily="2" charset="2"/>
              <a:buNone/>
              <a:defRPr/>
            </a:pPr>
            <a:r>
              <a:rPr lang="zh-CN" altLang="en-US" sz="1400" kern="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中间网络</a:t>
            </a:r>
            <a:endParaRPr lang="zh-CN" altLang="en-US" sz="1400" kern="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8" name="Rectangle 67"/>
          <p:cNvSpPr/>
          <p:nvPr/>
        </p:nvSpPr>
        <p:spPr bwMode="gray">
          <a:xfrm>
            <a:off x="8181108" y="1208254"/>
            <a:ext cx="1606950" cy="1807050"/>
          </a:xfrm>
          <a:prstGeom prst="rect">
            <a:avLst/>
          </a:prstGeom>
          <a:noFill/>
          <a:ln w="19050" cap="flat" cmpd="sng" algn="ctr">
            <a:solidFill>
              <a:srgbClr val="E28189"/>
            </a:solidFill>
            <a:prstDash val="dash"/>
            <a:miter lim="800000"/>
          </a:ln>
          <a:effectLst/>
        </p:spPr>
        <p:txBody>
          <a:bodyPr wrap="square" lIns="108000" tIns="108000" rIns="108000" bIns="108000" rtlCol="0" anchor="ctr" anchorCtr="0">
            <a:noAutofit/>
          </a:bodyPr>
          <a:lstStyle/>
          <a:p>
            <a:pPr algn="just" defTabSz="914400" fontAlgn="ctr">
              <a:lnSpc>
                <a:spcPts val="1800"/>
              </a:lnSpc>
              <a:spcAft>
                <a:spcPts val="300"/>
              </a:spcAft>
            </a:pPr>
            <a:endParaRPr lang="en-US" sz="1400" kern="0">
              <a:solidFill>
                <a:prstClr val="black"/>
              </a:solidFill>
              <a:latin typeface="Huawei Sans" panose="020C0503030203020204" pitchFamily="34" charset="0"/>
              <a:ea typeface="方正兰亭黑简体" panose="02000000000000000000" pitchFamily="2" charset="-122"/>
              <a:cs typeface="Arial" panose="020B0604020202020204" pitchFamily="34" charset="0"/>
            </a:endParaRPr>
          </a:p>
        </p:txBody>
      </p:sp>
      <p:sp>
        <p:nvSpPr>
          <p:cNvPr id="69" name="TextBox 271"/>
          <p:cNvSpPr txBox="1"/>
          <p:nvPr/>
        </p:nvSpPr>
        <p:spPr bwMode="gray">
          <a:xfrm rot="5400000">
            <a:off x="9477891" y="1531493"/>
            <a:ext cx="902811" cy="307777"/>
          </a:xfrm>
          <a:prstGeom prst="rect">
            <a:avLst/>
          </a:prstGeom>
          <a:solidFill>
            <a:srgbClr val="E28189"/>
          </a:solidFill>
          <a:ln>
            <a:noFill/>
          </a:ln>
        </p:spPr>
        <p:txBody>
          <a:bodyPr wrap="none" rtlCol="0">
            <a:spAutoFit/>
          </a:bodyPr>
          <a:lstStyle/>
          <a:p>
            <a:pPr>
              <a:buFont typeface="Wingdings" panose="05000000000000000000" pitchFamily="2" charset="2"/>
              <a:buNone/>
              <a:defRPr/>
            </a:pPr>
            <a:r>
              <a:rPr lang="zh-CN" altLang="en-US" sz="1400" kern="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接入网络</a:t>
            </a:r>
            <a:endParaRPr lang="zh-CN" altLang="en-US" sz="1400" kern="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en-US" altLang="zh-CN" sz="2200" dirty="0">
                <a:solidFill>
                  <a:schemeClr val="bg1">
                    <a:lumMod val="50000"/>
                  </a:schemeClr>
                </a:solidFill>
                <a:sym typeface="Huawei Sans" panose="020C0503030203020204" pitchFamily="34" charset="0"/>
              </a:rPr>
              <a:t>SRv6</a:t>
            </a:r>
            <a:r>
              <a:rPr lang="zh-CN" altLang="en-US" sz="2200" dirty="0">
                <a:solidFill>
                  <a:schemeClr val="bg1">
                    <a:lumMod val="50000"/>
                  </a:schemeClr>
                </a:solidFill>
                <a:sym typeface="Huawei Sans" panose="020C0503030203020204" pitchFamily="34" charset="0"/>
              </a:rPr>
              <a:t>概述</a:t>
            </a:r>
            <a:endParaRPr lang="zh-CN" altLang="en-US" sz="2200" dirty="0">
              <a:solidFill>
                <a:schemeClr val="bg1">
                  <a:lumMod val="50000"/>
                </a:schemeClr>
              </a:solidFill>
              <a:sym typeface="Huawei Sans" panose="020C0503030203020204" pitchFamily="34" charset="0"/>
            </a:endParaRPr>
          </a:p>
          <a:p>
            <a:r>
              <a:rPr lang="en-US" altLang="zh-CN" sz="2200" dirty="0">
                <a:solidFill>
                  <a:schemeClr val="bg1">
                    <a:lumMod val="50000"/>
                  </a:schemeClr>
                </a:solidFill>
                <a:sym typeface="Huawei Sans" panose="020C0503030203020204" pitchFamily="34" charset="0"/>
              </a:rPr>
              <a:t>SRv6</a:t>
            </a:r>
            <a:r>
              <a:rPr lang="zh-CN" altLang="en-US" sz="2200" dirty="0">
                <a:solidFill>
                  <a:schemeClr val="bg1">
                    <a:lumMod val="50000"/>
                  </a:schemeClr>
                </a:solidFill>
                <a:sym typeface="Huawei Sans" panose="020C0503030203020204" pitchFamily="34" charset="0"/>
              </a:rPr>
              <a:t>原理</a:t>
            </a:r>
            <a:endParaRPr lang="zh-CN" altLang="en-US" sz="2200" dirty="0">
              <a:solidFill>
                <a:schemeClr val="bg1">
                  <a:lumMod val="50000"/>
                </a:schemeClr>
              </a:solidFill>
              <a:sym typeface="Huawei Sans" panose="020C0503030203020204" pitchFamily="34" charset="0"/>
            </a:endParaRPr>
          </a:p>
          <a:p>
            <a:r>
              <a:rPr lang="en-US" altLang="zh-CN" sz="2200" b="1" dirty="0">
                <a:sym typeface="Huawei Sans" panose="020C0503030203020204" pitchFamily="34" charset="0"/>
              </a:rPr>
              <a:t>SRv6</a:t>
            </a:r>
            <a:r>
              <a:rPr lang="zh-CN" altLang="en-US" sz="2200" b="1" dirty="0">
                <a:sym typeface="Huawei Sans" panose="020C0503030203020204" pitchFamily="34" charset="0"/>
              </a:rPr>
              <a:t>高可靠性</a:t>
            </a:r>
            <a:endParaRPr lang="en-US" altLang="zh-CN" sz="2200" b="1" dirty="0">
              <a:sym typeface="Huawei Sans" panose="020C0503030203020204" pitchFamily="34" charset="0"/>
            </a:endParaRPr>
          </a:p>
          <a:p>
            <a:pPr lvl="1"/>
            <a:r>
              <a:rPr lang="en-US" altLang="zh-CN" sz="2000" dirty="0">
                <a:solidFill>
                  <a:schemeClr val="bg1">
                    <a:lumMod val="50000"/>
                  </a:schemeClr>
                </a:solidFill>
                <a:sym typeface="Huawei Sans" panose="020C0503030203020204" pitchFamily="34" charset="0"/>
              </a:rPr>
              <a:t>SRv6</a:t>
            </a:r>
            <a:r>
              <a:rPr lang="zh-CN" altLang="en-US" sz="2000" dirty="0">
                <a:solidFill>
                  <a:schemeClr val="bg1">
                    <a:lumMod val="50000"/>
                  </a:schemeClr>
                </a:solidFill>
                <a:sym typeface="Huawei Sans" panose="020C0503030203020204" pitchFamily="34" charset="0"/>
              </a:rPr>
              <a:t>高可靠性概述</a:t>
            </a:r>
            <a:endParaRPr lang="en-US" altLang="zh-CN" sz="2000" dirty="0">
              <a:solidFill>
                <a:schemeClr val="bg1">
                  <a:lumMod val="50000"/>
                </a:schemeClr>
              </a:solidFill>
              <a:sym typeface="Huawei Sans" panose="020C0503030203020204" pitchFamily="34" charset="0"/>
            </a:endParaRPr>
          </a:p>
          <a:p>
            <a:pPr lvl="1">
              <a:buSzPct val="60000"/>
              <a:buFont typeface="Wingdings" panose="05000000000000000000" pitchFamily="2" charset="2"/>
              <a:buChar char="n"/>
            </a:pPr>
            <a:r>
              <a:rPr lang="en-US" altLang="zh-CN" sz="2000" dirty="0">
                <a:sym typeface="Huawei Sans" panose="020C0503030203020204" pitchFamily="34" charset="0"/>
              </a:rPr>
              <a:t>SRv6</a:t>
            </a:r>
            <a:r>
              <a:rPr lang="zh-CN" altLang="en-US" sz="2000" dirty="0">
                <a:sym typeface="Huawei Sans" panose="020C0503030203020204" pitchFamily="34" charset="0"/>
              </a:rPr>
              <a:t>隧道状态检测与隧道保护</a:t>
            </a:r>
            <a:endParaRPr lang="en-US" altLang="zh-CN" sz="2000" dirty="0">
              <a:sym typeface="Huawei Sans" panose="020C0503030203020204" pitchFamily="34" charset="0"/>
            </a:endParaRPr>
          </a:p>
          <a:p>
            <a:pPr lvl="1"/>
            <a:r>
              <a:rPr lang="en-US" altLang="zh-CN" sz="2000" dirty="0">
                <a:solidFill>
                  <a:schemeClr val="bg1">
                    <a:lumMod val="50000"/>
                  </a:schemeClr>
                </a:solidFill>
                <a:sym typeface="Huawei Sans" panose="020C0503030203020204" pitchFamily="34" charset="0"/>
              </a:rPr>
              <a:t>SRv6</a:t>
            </a:r>
            <a:r>
              <a:rPr lang="zh-CN" altLang="en-US" sz="2000" dirty="0">
                <a:solidFill>
                  <a:schemeClr val="bg1">
                    <a:lumMod val="50000"/>
                  </a:schemeClr>
                </a:solidFill>
                <a:sym typeface="Huawei Sans" panose="020C0503030203020204" pitchFamily="34" charset="0"/>
              </a:rPr>
              <a:t>尾节点保护与接入保护</a:t>
            </a:r>
            <a:endParaRPr lang="en-US" altLang="zh-CN" sz="2000" dirty="0">
              <a:solidFill>
                <a:schemeClr val="bg1">
                  <a:lumMod val="50000"/>
                </a:schemeClr>
              </a:solidFill>
              <a:sym typeface="Huawei Sans" panose="020C0503030203020204" pitchFamily="34" charset="0"/>
            </a:endParaRPr>
          </a:p>
          <a:p>
            <a:r>
              <a:rPr lang="en-US" altLang="zh-CN" sz="2200" dirty="0">
                <a:solidFill>
                  <a:schemeClr val="bg1">
                    <a:lumMod val="50000"/>
                  </a:schemeClr>
                </a:solidFill>
                <a:sym typeface="Huawei Sans" panose="020C0503030203020204" pitchFamily="34" charset="0"/>
              </a:rPr>
              <a:t>SRv6</a:t>
            </a:r>
            <a:r>
              <a:rPr lang="zh-CN" altLang="en-US" sz="2200" dirty="0">
                <a:solidFill>
                  <a:schemeClr val="bg1">
                    <a:lumMod val="50000"/>
                  </a:schemeClr>
                </a:solidFill>
                <a:sym typeface="Huawei Sans" panose="020C0503030203020204" pitchFamily="34" charset="0"/>
              </a:rPr>
              <a:t>基础配置</a:t>
            </a:r>
            <a:endParaRPr lang="en-US" altLang="zh-CN" sz="2200" dirty="0">
              <a:solidFill>
                <a:schemeClr val="bg1">
                  <a:lumMod val="50000"/>
                </a:schemeClr>
              </a:solidFill>
              <a:sym typeface="Huawei Sans" panose="020C0503030203020204" pitchFamily="34" charset="0"/>
            </a:endParaRPr>
          </a:p>
          <a:p>
            <a:r>
              <a:rPr lang="zh-CN" altLang="en-US" sz="2200" dirty="0">
                <a:solidFill>
                  <a:schemeClr val="bg1">
                    <a:lumMod val="50000"/>
                  </a:schemeClr>
                </a:solidFill>
                <a:sym typeface="Huawei Sans" panose="020C0503030203020204" pitchFamily="34" charset="0"/>
              </a:rPr>
              <a:t>基于</a:t>
            </a:r>
            <a:r>
              <a:rPr lang="en-US" altLang="zh-CN" sz="2200" dirty="0" err="1">
                <a:solidFill>
                  <a:schemeClr val="bg1">
                    <a:lumMod val="50000"/>
                  </a:schemeClr>
                </a:solidFill>
                <a:sym typeface="Huawei Sans" panose="020C0503030203020204" pitchFamily="34" charset="0"/>
              </a:rPr>
              <a:t>iMaster</a:t>
            </a:r>
            <a:r>
              <a:rPr lang="en-US" altLang="zh-CN" sz="2200" dirty="0">
                <a:solidFill>
                  <a:schemeClr val="bg1">
                    <a:lumMod val="50000"/>
                  </a:schemeClr>
                </a:solidFill>
                <a:sym typeface="Huawei Sans" panose="020C0503030203020204" pitchFamily="34" charset="0"/>
              </a:rPr>
              <a:t> NCE-IP</a:t>
            </a:r>
            <a:r>
              <a:rPr lang="zh-CN" altLang="en-US" sz="2200" dirty="0">
                <a:solidFill>
                  <a:schemeClr val="bg1">
                    <a:lumMod val="50000"/>
                  </a:schemeClr>
                </a:solidFill>
                <a:sym typeface="Huawei Sans" panose="020C0503030203020204" pitchFamily="34" charset="0"/>
              </a:rPr>
              <a:t>部署</a:t>
            </a:r>
            <a:r>
              <a:rPr lang="en-US" altLang="zh-CN" sz="2200" dirty="0">
                <a:solidFill>
                  <a:schemeClr val="bg1">
                    <a:lumMod val="50000"/>
                  </a:schemeClr>
                </a:solidFill>
                <a:sym typeface="Huawei Sans" panose="020C0503030203020204" pitchFamily="34" charset="0"/>
              </a:rPr>
              <a:t>SRv6</a:t>
            </a:r>
            <a:endParaRPr lang="zh-CN" altLang="en-US" sz="2200" dirty="0">
              <a:solidFill>
                <a:schemeClr val="bg1">
                  <a:lumMod val="50000"/>
                </a:schemeClr>
              </a:solidFill>
              <a:sym typeface="Huawei Sans" panose="020C0503030203020204" pitchFamily="34" charset="0"/>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圆角矩形 20"/>
          <p:cNvSpPr/>
          <p:nvPr/>
        </p:nvSpPr>
        <p:spPr bwMode="gray">
          <a:xfrm>
            <a:off x="632197" y="2250392"/>
            <a:ext cx="5297710" cy="3552099"/>
          </a:xfrm>
          <a:prstGeom prst="roundRect">
            <a:avLst>
              <a:gd name="adj" fmla="val 2222"/>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marL="285750" indent="-200025">
              <a:lnSpc>
                <a:spcPts val="2400"/>
              </a:lnSpc>
              <a:spcAft>
                <a:spcPts val="600"/>
              </a:spcAft>
              <a:buFont typeface="Arial" panose="020B0604020202020204" pitchFamily="34" charset="0"/>
              <a:buChar char="•"/>
            </a:pPr>
            <a:endParaRPr lang="en-US" altLang="zh-CN" sz="1400" dirty="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marL="285750" indent="-200025">
              <a:lnSpc>
                <a:spcPts val="2400"/>
              </a:lnSpc>
              <a:spcAft>
                <a:spcPts val="600"/>
              </a:spcAft>
              <a:buFont typeface="Arial" panose="020B0604020202020204" pitchFamily="34" charset="0"/>
              <a:buChar char="•"/>
            </a:pPr>
            <a:endParaRPr lang="en-US" altLang="zh-CN" sz="1400" dirty="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marL="285750" indent="-200025">
              <a:lnSpc>
                <a:spcPts val="2400"/>
              </a:lnSpc>
              <a:spcAft>
                <a:spcPts val="600"/>
              </a:spcAft>
              <a:buFont typeface="Arial" panose="020B0604020202020204" pitchFamily="34" charset="0"/>
              <a:buChar char="•"/>
            </a:pPr>
            <a:endParaRPr lang="en-US" altLang="zh-CN" sz="1400" dirty="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marL="285750" indent="-200025">
              <a:lnSpc>
                <a:spcPts val="2400"/>
              </a:lnSpc>
              <a:spcAft>
                <a:spcPts val="600"/>
              </a:spcAft>
              <a:buFont typeface="Arial" panose="020B0604020202020204" pitchFamily="34" charset="0"/>
              <a:buChar char="•"/>
            </a:pPr>
            <a:endParaRPr lang="en-US" altLang="zh-CN" sz="1400" dirty="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marL="285750" indent="-200025">
              <a:lnSpc>
                <a:spcPts val="2400"/>
              </a:lnSpc>
              <a:spcAft>
                <a:spcPts val="600"/>
              </a:spcAft>
              <a:buFont typeface="Arial" panose="020B0604020202020204" pitchFamily="34" charset="0"/>
              <a:buChar char="•"/>
            </a:pPr>
            <a:endParaRPr lang="en-US" altLang="zh-CN" sz="1400" dirty="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marL="285750" indent="-200025">
              <a:lnSpc>
                <a:spcPts val="2400"/>
              </a:lnSpc>
              <a:spcAft>
                <a:spcPts val="600"/>
              </a:spcAft>
              <a:buFont typeface="Arial" panose="020B0604020202020204" pitchFamily="34" charset="0"/>
              <a:buChar char="•"/>
            </a:pPr>
            <a:endParaRPr lang="en-US" altLang="zh-CN" sz="1400" dirty="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marL="285750" indent="-200025">
              <a:lnSpc>
                <a:spcPts val="2400"/>
              </a:lnSpc>
              <a:spcAft>
                <a:spcPts val="600"/>
              </a:spcAft>
              <a:buFont typeface="Arial" panose="020B0604020202020204" pitchFamily="34" charset="0"/>
              <a:buChar char="•"/>
            </a:pPr>
            <a:r>
              <a:rPr lang="en-US" altLang="zh-CN" sz="1400" dirty="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rPr>
              <a:t>SBFD</a:t>
            </a:r>
            <a:r>
              <a:rPr lang="zh-CN" altLang="en-US" sz="1400" dirty="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rPr>
              <a:t>检测可以用于端到端的检测隧道连通性。</a:t>
            </a:r>
            <a:endParaRPr lang="en-US" altLang="zh-CN" sz="1400" dirty="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marL="285750" indent="-200025">
              <a:lnSpc>
                <a:spcPts val="2400"/>
              </a:lnSpc>
              <a:spcAft>
                <a:spcPts val="600"/>
              </a:spcAft>
              <a:buFont typeface="Arial" panose="020B0604020202020204" pitchFamily="34" charset="0"/>
              <a:buChar char="•"/>
            </a:pPr>
            <a:r>
              <a:rPr lang="zh-CN" altLang="en-US" sz="1400" dirty="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rPr>
              <a:t>但</a:t>
            </a:r>
            <a:r>
              <a:rPr lang="en-US" altLang="zh-CN" sz="1400" dirty="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rPr>
              <a:t>SBFD</a:t>
            </a:r>
            <a:r>
              <a:rPr lang="zh-CN" altLang="en-US" sz="1400" dirty="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rPr>
              <a:t>不能检测网络具体的故障位置，因此一般与</a:t>
            </a:r>
            <a:r>
              <a:rPr lang="en-US" altLang="zh-CN" sz="1400" dirty="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rPr>
              <a:t>HSB</a:t>
            </a:r>
            <a:r>
              <a:rPr lang="zh-CN" altLang="en-US" sz="1400" dirty="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rPr>
              <a:t>或</a:t>
            </a:r>
            <a:r>
              <a:rPr lang="en-US" altLang="zh-CN" sz="1400" dirty="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rPr>
              <a:t>VPN FRR</a:t>
            </a:r>
            <a:r>
              <a:rPr lang="zh-CN" altLang="en-US" sz="1400" dirty="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rPr>
              <a:t>配合使用。</a:t>
            </a:r>
            <a:endParaRPr lang="zh-CN" altLang="en-US" sz="1400" dirty="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 name="Title 2"/>
          <p:cNvSpPr>
            <a:spLocks noGrp="1"/>
          </p:cNvSpPr>
          <p:nvPr>
            <p:ph type="title"/>
          </p:nvPr>
        </p:nvSpPr>
        <p:spPr bwMode="gray"/>
        <p:txBody>
          <a:bodyPr/>
          <a:lstStyle/>
          <a:p>
            <a:r>
              <a:rPr lang="en-US" altLang="zh-CN" dirty="0"/>
              <a:t>SRv6</a:t>
            </a:r>
            <a:r>
              <a:rPr lang="zh-CN" altLang="en-US" dirty="0"/>
              <a:t>隧道检测技术</a:t>
            </a:r>
            <a:endParaRPr lang="zh-CN" altLang="en-US" dirty="0"/>
          </a:p>
        </p:txBody>
      </p:sp>
      <p:sp>
        <p:nvSpPr>
          <p:cNvPr id="4" name="Text Placeholder 3"/>
          <p:cNvSpPr>
            <a:spLocks noGrp="1"/>
          </p:cNvSpPr>
          <p:nvPr>
            <p:ph type="body" sz="quarter" idx="10"/>
          </p:nvPr>
        </p:nvSpPr>
        <p:spPr bwMode="gray"/>
        <p:txBody>
          <a:bodyPr/>
          <a:lstStyle/>
          <a:p>
            <a:r>
              <a:rPr lang="en-US" altLang="zh-CN" sz="1800" dirty="0"/>
              <a:t>SRv6</a:t>
            </a:r>
            <a:r>
              <a:rPr lang="zh-CN" altLang="en-US" sz="1800" dirty="0"/>
              <a:t>隧道一般可以通过</a:t>
            </a:r>
            <a:r>
              <a:rPr lang="en-US" altLang="zh-CN" sz="1800" dirty="0"/>
              <a:t>SBFD</a:t>
            </a:r>
            <a:r>
              <a:rPr lang="zh-CN" altLang="en-US" sz="1800" dirty="0"/>
              <a:t>，</a:t>
            </a:r>
            <a:r>
              <a:rPr lang="en-US" altLang="zh-CN" sz="1800" dirty="0"/>
              <a:t>Ping</a:t>
            </a:r>
            <a:r>
              <a:rPr lang="zh-CN" altLang="en-US" sz="1800" dirty="0"/>
              <a:t>，</a:t>
            </a:r>
            <a:r>
              <a:rPr lang="en-US" altLang="zh-CN" sz="1800" dirty="0" err="1"/>
              <a:t>Tracert</a:t>
            </a:r>
            <a:r>
              <a:rPr lang="zh-CN" altLang="en-US" sz="1800" dirty="0"/>
              <a:t>等方式检测连通性。</a:t>
            </a:r>
            <a:endParaRPr lang="en-US" altLang="zh-CN" sz="1800" dirty="0"/>
          </a:p>
        </p:txBody>
      </p:sp>
      <p:pic>
        <p:nvPicPr>
          <p:cNvPr id="5" name="图片 4"/>
          <p:cNvPicPr/>
          <p:nvPr/>
        </p:nvPicPr>
        <p:blipFill>
          <a:blip r:embed="rId1" cstate="print">
            <a:extLst>
              <a:ext uri="{28A0092B-C50C-407E-A947-70E740481C1C}">
                <a14:useLocalDpi xmlns:a14="http://schemas.microsoft.com/office/drawing/2010/main" val="0"/>
              </a:ext>
            </a:extLst>
          </a:blip>
          <a:stretch>
            <a:fillRect/>
          </a:stretch>
        </p:blipFill>
        <p:spPr bwMode="gray">
          <a:xfrm>
            <a:off x="1079376" y="3423828"/>
            <a:ext cx="472108" cy="381818"/>
          </a:xfrm>
          <a:prstGeom prst="rect">
            <a:avLst/>
          </a:prstGeom>
        </p:spPr>
      </p:pic>
      <p:pic>
        <p:nvPicPr>
          <p:cNvPr id="6" name="图片 4"/>
          <p:cNvPicPr/>
          <p:nvPr/>
        </p:nvPicPr>
        <p:blipFill>
          <a:blip r:embed="rId1" cstate="print">
            <a:extLst>
              <a:ext uri="{28A0092B-C50C-407E-A947-70E740481C1C}">
                <a14:useLocalDpi xmlns:a14="http://schemas.microsoft.com/office/drawing/2010/main" val="0"/>
              </a:ext>
            </a:extLst>
          </a:blip>
          <a:stretch>
            <a:fillRect/>
          </a:stretch>
        </p:blipFill>
        <p:spPr bwMode="gray">
          <a:xfrm>
            <a:off x="4990976" y="3423828"/>
            <a:ext cx="472108" cy="381818"/>
          </a:xfrm>
          <a:prstGeom prst="rect">
            <a:avLst/>
          </a:prstGeom>
        </p:spPr>
      </p:pic>
      <p:cxnSp>
        <p:nvCxnSpPr>
          <p:cNvPr id="8" name="Straight Connector 7"/>
          <p:cNvCxnSpPr>
            <a:stCxn id="5" idx="3"/>
            <a:endCxn id="6" idx="1"/>
          </p:cNvCxnSpPr>
          <p:nvPr/>
        </p:nvCxnSpPr>
        <p:spPr bwMode="gray">
          <a:xfrm>
            <a:off x="1551484" y="3614737"/>
            <a:ext cx="3439492"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 name="Freeform 159"/>
          <p:cNvSpPr/>
          <p:nvPr/>
        </p:nvSpPr>
        <p:spPr bwMode="gray">
          <a:xfrm flipH="1">
            <a:off x="2472268" y="3037769"/>
            <a:ext cx="1590544" cy="83142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 name="Can 41"/>
          <p:cNvSpPr/>
          <p:nvPr/>
        </p:nvSpPr>
        <p:spPr bwMode="gray">
          <a:xfrm rot="5400000">
            <a:off x="3160616" y="1898678"/>
            <a:ext cx="221228" cy="3439492"/>
          </a:xfrm>
          <a:prstGeom prst="can">
            <a:avLst>
              <a:gd name="adj" fmla="val 35068"/>
            </a:avLst>
          </a:prstGeom>
          <a:solidFill>
            <a:srgbClr val="FFF2CC"/>
          </a:solidFill>
          <a:ln w="12700">
            <a:solidFill>
              <a:srgbClr val="FFD1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 name="TextBox 149"/>
          <p:cNvSpPr txBox="1"/>
          <p:nvPr/>
        </p:nvSpPr>
        <p:spPr bwMode="gray">
          <a:xfrm>
            <a:off x="2788568" y="3471264"/>
            <a:ext cx="938077" cy="307777"/>
          </a:xfrm>
          <a:prstGeom prst="rect">
            <a:avLst/>
          </a:prstGeom>
          <a:noFill/>
        </p:spPr>
        <p:txBody>
          <a:bodyPr wrap="none">
            <a:spAutoFit/>
          </a:bodyPr>
          <a:lstStyle>
            <a:defPPr>
              <a:defRPr lang="zh-CN"/>
            </a:defPPr>
            <a:lvl1pPr algn="l" defTabSz="1219200" rtl="0" eaLnBrk="0" fontAlgn="base" hangingPunct="0">
              <a:spcBef>
                <a:spcPct val="0"/>
              </a:spcBef>
              <a:spcAft>
                <a:spcPct val="0"/>
              </a:spcAft>
              <a:defRPr sz="2400" kern="1200">
                <a:solidFill>
                  <a:schemeClr val="tx1"/>
                </a:solidFill>
                <a:latin typeface="Arial" panose="020B0604020202020204" pitchFamily="34" charset="0"/>
                <a:ea typeface="微软雅黑" panose="020B0503020204020204" charset="-122"/>
                <a:cs typeface="+mn-cs"/>
              </a:defRPr>
            </a:lvl1pPr>
            <a:lvl2pPr marL="609600" indent="-152400" algn="l" defTabSz="1219200" rtl="0" eaLnBrk="0" fontAlgn="base" hangingPunct="0">
              <a:spcBef>
                <a:spcPct val="0"/>
              </a:spcBef>
              <a:spcAft>
                <a:spcPct val="0"/>
              </a:spcAft>
              <a:defRPr sz="2400" kern="1200">
                <a:solidFill>
                  <a:schemeClr val="tx1"/>
                </a:solidFill>
                <a:latin typeface="Arial" panose="020B0604020202020204" pitchFamily="34" charset="0"/>
                <a:ea typeface="微软雅黑" panose="020B0503020204020204" charset="-122"/>
                <a:cs typeface="+mn-cs"/>
              </a:defRPr>
            </a:lvl2pPr>
            <a:lvl3pPr marL="1219200" indent="-304800" algn="l" defTabSz="1219200" rtl="0" eaLnBrk="0" fontAlgn="base" hangingPunct="0">
              <a:spcBef>
                <a:spcPct val="0"/>
              </a:spcBef>
              <a:spcAft>
                <a:spcPct val="0"/>
              </a:spcAft>
              <a:defRPr sz="2400" kern="1200">
                <a:solidFill>
                  <a:schemeClr val="tx1"/>
                </a:solidFill>
                <a:latin typeface="Arial" panose="020B0604020202020204" pitchFamily="34" charset="0"/>
                <a:ea typeface="微软雅黑" panose="020B0503020204020204" charset="-122"/>
                <a:cs typeface="+mn-cs"/>
              </a:defRPr>
            </a:lvl3pPr>
            <a:lvl4pPr marL="1828800" indent="-457200" algn="l" defTabSz="1219200" rtl="0" eaLnBrk="0" fontAlgn="base" hangingPunct="0">
              <a:spcBef>
                <a:spcPct val="0"/>
              </a:spcBef>
              <a:spcAft>
                <a:spcPct val="0"/>
              </a:spcAft>
              <a:defRPr sz="2400" kern="1200">
                <a:solidFill>
                  <a:schemeClr val="tx1"/>
                </a:solidFill>
                <a:latin typeface="Arial" panose="020B0604020202020204" pitchFamily="34" charset="0"/>
                <a:ea typeface="微软雅黑" panose="020B0503020204020204" charset="-122"/>
                <a:cs typeface="+mn-cs"/>
              </a:defRPr>
            </a:lvl4pPr>
            <a:lvl5pPr marL="2438400" indent="-609600" algn="l" defTabSz="1219200" rtl="0" eaLnBrk="0" fontAlgn="base" hangingPunct="0">
              <a:spcBef>
                <a:spcPct val="0"/>
              </a:spcBef>
              <a:spcAft>
                <a:spcPct val="0"/>
              </a:spcAft>
              <a:defRPr sz="2400" kern="1200">
                <a:solidFill>
                  <a:schemeClr val="tx1"/>
                </a:solidFill>
                <a:latin typeface="Arial" panose="020B0604020202020204" pitchFamily="34" charset="0"/>
                <a:ea typeface="微软雅黑" panose="020B0503020204020204" charset="-122"/>
                <a:cs typeface="+mn-cs"/>
              </a:defRPr>
            </a:lvl5pPr>
            <a:lvl6pPr marL="2286000" algn="l" defTabSz="914400" rtl="0" eaLnBrk="1" latinLnBrk="0" hangingPunct="1">
              <a:defRPr sz="2400" kern="1200">
                <a:solidFill>
                  <a:schemeClr val="tx1"/>
                </a:solidFill>
                <a:latin typeface="Arial" panose="020B0604020202020204" pitchFamily="34" charset="0"/>
                <a:ea typeface="微软雅黑" panose="020B0503020204020204" charset="-122"/>
                <a:cs typeface="+mn-cs"/>
              </a:defRPr>
            </a:lvl6pPr>
            <a:lvl7pPr marL="2743200" algn="l" defTabSz="914400" rtl="0" eaLnBrk="1" latinLnBrk="0" hangingPunct="1">
              <a:defRPr sz="2400" kern="1200">
                <a:solidFill>
                  <a:schemeClr val="tx1"/>
                </a:solidFill>
                <a:latin typeface="Arial" panose="020B0604020202020204" pitchFamily="34" charset="0"/>
                <a:ea typeface="微软雅黑" panose="020B0503020204020204" charset="-122"/>
                <a:cs typeface="+mn-cs"/>
              </a:defRPr>
            </a:lvl7pPr>
            <a:lvl8pPr marL="3200400" algn="l" defTabSz="914400" rtl="0" eaLnBrk="1" latinLnBrk="0" hangingPunct="1">
              <a:defRPr sz="2400" kern="1200">
                <a:solidFill>
                  <a:schemeClr val="tx1"/>
                </a:solidFill>
                <a:latin typeface="Arial" panose="020B0604020202020204" pitchFamily="34" charset="0"/>
                <a:ea typeface="微软雅黑" panose="020B0503020204020204" charset="-122"/>
                <a:cs typeface="+mn-cs"/>
              </a:defRPr>
            </a:lvl8pPr>
            <a:lvl9pPr marL="3657600" algn="l" defTabSz="914400" rtl="0" eaLnBrk="1" latinLnBrk="0" hangingPunct="1">
              <a:defRPr sz="2400" kern="1200">
                <a:solidFill>
                  <a:schemeClr val="tx1"/>
                </a:solidFill>
                <a:latin typeface="Arial" panose="020B0604020202020204" pitchFamily="34" charset="0"/>
                <a:ea typeface="微软雅黑" panose="020B0503020204020204" charset="-122"/>
                <a:cs typeface="+mn-cs"/>
              </a:defRPr>
            </a:lvl9pPr>
          </a:lstStyle>
          <a:p>
            <a:pPr defTabSz="965835" eaLnBrk="1" fontAlgn="auto" hangingPunct="1">
              <a:spcBef>
                <a:spcPts val="0"/>
              </a:spcBef>
              <a:spcAft>
                <a:spcPts val="0"/>
              </a:spcAft>
              <a:defRPr/>
            </a:pPr>
            <a:r>
              <a:rPr lang="en-US" altLang="zh-CN" sz="1400" kern="0" dirty="0">
                <a:solidFill>
                  <a:prstClr val="black"/>
                </a:solidFill>
                <a:latin typeface="+mn-lt"/>
                <a:ea typeface="+mn-ea"/>
                <a:cs typeface="+mn-ea"/>
                <a:sym typeface="+mn-lt"/>
              </a:rPr>
              <a:t>SRv6</a:t>
            </a:r>
            <a:r>
              <a:rPr lang="zh-CN" altLang="en-US" sz="1400" kern="0" dirty="0">
                <a:solidFill>
                  <a:prstClr val="black"/>
                </a:solidFill>
                <a:latin typeface="+mn-lt"/>
                <a:ea typeface="+mn-ea"/>
                <a:cs typeface="+mn-ea"/>
                <a:sym typeface="+mn-lt"/>
              </a:rPr>
              <a:t>隧道</a:t>
            </a:r>
            <a:endParaRPr lang="zh-CN" altLang="en-US" sz="1400" kern="0" dirty="0">
              <a:solidFill>
                <a:prstClr val="black"/>
              </a:solidFill>
              <a:latin typeface="+mn-lt"/>
              <a:ea typeface="+mn-ea"/>
              <a:cs typeface="+mn-ea"/>
              <a:sym typeface="+mn-lt"/>
            </a:endParaRPr>
          </a:p>
        </p:txBody>
      </p:sp>
      <p:sp>
        <p:nvSpPr>
          <p:cNvPr id="18" name="Rectangular Callout 26"/>
          <p:cNvSpPr/>
          <p:nvPr/>
        </p:nvSpPr>
        <p:spPr bwMode="gray">
          <a:xfrm>
            <a:off x="932268" y="2990495"/>
            <a:ext cx="856088" cy="306777"/>
          </a:xfrm>
          <a:prstGeom prst="wedgeRectCallout">
            <a:avLst>
              <a:gd name="adj1" fmla="val 24914"/>
              <a:gd name="adj2" fmla="val 81664"/>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SBFD</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检测</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9" name="圆角矩形 19"/>
          <p:cNvSpPr/>
          <p:nvPr/>
        </p:nvSpPr>
        <p:spPr bwMode="gray">
          <a:xfrm>
            <a:off x="632197" y="1788976"/>
            <a:ext cx="5297710" cy="400674"/>
          </a:xfrm>
          <a:prstGeom prst="roundRect">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SBFD</a:t>
            </a: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检测</a:t>
            </a:r>
            <a:endPar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圆角矩形 19"/>
          <p:cNvSpPr/>
          <p:nvPr/>
        </p:nvSpPr>
        <p:spPr bwMode="gray">
          <a:xfrm>
            <a:off x="6246207" y="1788976"/>
            <a:ext cx="5297710" cy="400674"/>
          </a:xfrm>
          <a:prstGeom prst="roundRect">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Ping/</a:t>
            </a:r>
            <a:r>
              <a:rPr lang="en-US" altLang="zh-CN" sz="1600" dirty="0" err="1">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Tracert</a:t>
            </a: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检测</a:t>
            </a:r>
            <a:endPar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圆角矩形 20"/>
          <p:cNvSpPr/>
          <p:nvPr/>
        </p:nvSpPr>
        <p:spPr bwMode="gray">
          <a:xfrm>
            <a:off x="6246207" y="2250392"/>
            <a:ext cx="5297710" cy="3552099"/>
          </a:xfrm>
          <a:prstGeom prst="roundRect">
            <a:avLst>
              <a:gd name="adj" fmla="val 2222"/>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marL="285750" indent="-200025">
              <a:lnSpc>
                <a:spcPts val="2400"/>
              </a:lnSpc>
              <a:spcAft>
                <a:spcPts val="600"/>
              </a:spcAft>
              <a:buFont typeface="Arial" panose="020B0604020202020204" pitchFamily="34" charset="0"/>
              <a:buChar char="•"/>
            </a:pPr>
            <a:endParaRPr lang="en-US" altLang="zh-CN" sz="1400" dirty="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marL="285750" indent="-200025">
              <a:lnSpc>
                <a:spcPts val="2400"/>
              </a:lnSpc>
              <a:spcAft>
                <a:spcPts val="600"/>
              </a:spcAft>
              <a:buFont typeface="Arial" panose="020B0604020202020204" pitchFamily="34" charset="0"/>
              <a:buChar char="•"/>
            </a:pPr>
            <a:endParaRPr lang="en-US" altLang="zh-CN" sz="1400" dirty="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marL="285750" indent="-200025">
              <a:lnSpc>
                <a:spcPts val="2400"/>
              </a:lnSpc>
              <a:spcAft>
                <a:spcPts val="600"/>
              </a:spcAft>
              <a:buFont typeface="Arial" panose="020B0604020202020204" pitchFamily="34" charset="0"/>
              <a:buChar char="•"/>
            </a:pPr>
            <a:endParaRPr lang="en-US" altLang="zh-CN" sz="1400" dirty="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marL="285750" indent="-200025">
              <a:lnSpc>
                <a:spcPts val="2400"/>
              </a:lnSpc>
              <a:spcAft>
                <a:spcPts val="600"/>
              </a:spcAft>
              <a:buFont typeface="Arial" panose="020B0604020202020204" pitchFamily="34" charset="0"/>
              <a:buChar char="•"/>
            </a:pPr>
            <a:endParaRPr lang="en-US" altLang="zh-CN" sz="1400" dirty="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marL="285750" indent="-200025">
              <a:lnSpc>
                <a:spcPts val="2400"/>
              </a:lnSpc>
              <a:spcAft>
                <a:spcPts val="600"/>
              </a:spcAft>
              <a:buFont typeface="Arial" panose="020B0604020202020204" pitchFamily="34" charset="0"/>
              <a:buChar char="•"/>
            </a:pPr>
            <a:endParaRPr lang="en-US" altLang="zh-CN" sz="1400" dirty="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marL="285750" indent="-200025">
              <a:lnSpc>
                <a:spcPts val="2400"/>
              </a:lnSpc>
              <a:spcAft>
                <a:spcPts val="600"/>
              </a:spcAft>
              <a:buFont typeface="Arial" panose="020B0604020202020204" pitchFamily="34" charset="0"/>
              <a:buChar char="•"/>
            </a:pPr>
            <a:r>
              <a:rPr lang="en-US" altLang="zh-CN" sz="1400" dirty="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rPr>
              <a:t>SRv6 SID Ping</a:t>
            </a:r>
            <a:r>
              <a:rPr lang="zh-CN" altLang="en-US" sz="1400" dirty="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rPr>
              <a:t>主要用于检查网络连接及主机是否可达。</a:t>
            </a:r>
            <a:endParaRPr lang="en-US" altLang="zh-CN" sz="1400" dirty="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marL="654685" lvl="1" indent="-252095" defTabSz="913765" fontAlgn="base">
              <a:lnSpc>
                <a:spcPct val="140000"/>
              </a:lnSpc>
              <a:spcBef>
                <a:spcPts val="720"/>
              </a:spcBef>
              <a:spcAft>
                <a:spcPts val="600"/>
              </a:spcAft>
              <a:buSzPct val="50000"/>
              <a:buFont typeface="Wingdings" panose="05000000000000000000" pitchFamily="2" charset="2"/>
              <a:buChar char="p"/>
            </a:pPr>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Ping</a:t>
            </a: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检测有逐段检测与与非逐段检测两种。</a:t>
            </a:r>
            <a:endPar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285750" indent="-200025">
              <a:lnSpc>
                <a:spcPts val="2400"/>
              </a:lnSpc>
              <a:spcAft>
                <a:spcPts val="600"/>
              </a:spcAft>
              <a:buFont typeface="Arial" panose="020B0604020202020204" pitchFamily="34" charset="0"/>
              <a:buChar char="•"/>
            </a:pPr>
            <a:r>
              <a:rPr lang="en-US" altLang="zh-CN" sz="1400" dirty="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rPr>
              <a:t>SRv6 SID </a:t>
            </a:r>
            <a:r>
              <a:rPr lang="en-US" altLang="zh-CN" sz="1400" dirty="0" err="1">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rPr>
              <a:t>Tracert</a:t>
            </a:r>
            <a:r>
              <a:rPr lang="zh-CN" altLang="en-US" sz="1400" dirty="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rPr>
              <a:t>在检查网络连接及主机是否可达的同时，还可以分析网络什么地方发生了故障。</a:t>
            </a:r>
            <a:endParaRPr lang="zh-CN" altLang="en-US" sz="1400" dirty="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3" name="图片 4"/>
          <p:cNvPicPr/>
          <p:nvPr/>
        </p:nvPicPr>
        <p:blipFill>
          <a:blip r:embed="rId1" cstate="print">
            <a:extLst>
              <a:ext uri="{28A0092B-C50C-407E-A947-70E740481C1C}">
                <a14:useLocalDpi xmlns:a14="http://schemas.microsoft.com/office/drawing/2010/main" val="0"/>
              </a:ext>
            </a:extLst>
          </a:blip>
          <a:stretch>
            <a:fillRect/>
          </a:stretch>
        </p:blipFill>
        <p:spPr bwMode="gray">
          <a:xfrm>
            <a:off x="6658022" y="3072837"/>
            <a:ext cx="472108" cy="381818"/>
          </a:xfrm>
          <a:prstGeom prst="rect">
            <a:avLst/>
          </a:prstGeom>
        </p:spPr>
      </p:pic>
      <p:pic>
        <p:nvPicPr>
          <p:cNvPr id="24" name="图片 4"/>
          <p:cNvPicPr/>
          <p:nvPr/>
        </p:nvPicPr>
        <p:blipFill>
          <a:blip r:embed="rId1" cstate="print">
            <a:extLst>
              <a:ext uri="{28A0092B-C50C-407E-A947-70E740481C1C}">
                <a14:useLocalDpi xmlns:a14="http://schemas.microsoft.com/office/drawing/2010/main" val="0"/>
              </a:ext>
            </a:extLst>
          </a:blip>
          <a:stretch>
            <a:fillRect/>
          </a:stretch>
        </p:blipFill>
        <p:spPr bwMode="gray">
          <a:xfrm>
            <a:off x="10569622" y="3072837"/>
            <a:ext cx="472108" cy="381818"/>
          </a:xfrm>
          <a:prstGeom prst="rect">
            <a:avLst/>
          </a:prstGeom>
        </p:spPr>
      </p:pic>
      <p:cxnSp>
        <p:nvCxnSpPr>
          <p:cNvPr id="25" name="Straight Connector 24"/>
          <p:cNvCxnSpPr>
            <a:stCxn id="23" idx="3"/>
            <a:endCxn id="24" idx="1"/>
          </p:cNvCxnSpPr>
          <p:nvPr/>
        </p:nvCxnSpPr>
        <p:spPr bwMode="gray">
          <a:xfrm>
            <a:off x="7130130" y="3263746"/>
            <a:ext cx="3439492"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6" name="Freeform 159"/>
          <p:cNvSpPr/>
          <p:nvPr/>
        </p:nvSpPr>
        <p:spPr bwMode="gray">
          <a:xfrm flipH="1">
            <a:off x="8050914" y="2686778"/>
            <a:ext cx="1590544" cy="83142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Rectangular Callout 26"/>
          <p:cNvSpPr/>
          <p:nvPr/>
        </p:nvSpPr>
        <p:spPr bwMode="gray">
          <a:xfrm>
            <a:off x="6878526" y="2523209"/>
            <a:ext cx="1014238" cy="240097"/>
          </a:xfrm>
          <a:prstGeom prst="wedgeRectCallout">
            <a:avLst>
              <a:gd name="adj1" fmla="val 11140"/>
              <a:gd name="adj2" fmla="val 79019"/>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err="1">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Tracert</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检测</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pic>
        <p:nvPicPr>
          <p:cNvPr id="33" name="图片 4"/>
          <p:cNvPicPr/>
          <p:nvPr/>
        </p:nvPicPr>
        <p:blipFill>
          <a:blip r:embed="rId1" cstate="print">
            <a:extLst>
              <a:ext uri="{28A0092B-C50C-407E-A947-70E740481C1C}">
                <a14:useLocalDpi xmlns:a14="http://schemas.microsoft.com/office/drawing/2010/main" val="0"/>
              </a:ext>
            </a:extLst>
          </a:blip>
          <a:stretch>
            <a:fillRect/>
          </a:stretch>
        </p:blipFill>
        <p:spPr bwMode="gray">
          <a:xfrm>
            <a:off x="7788846" y="3072837"/>
            <a:ext cx="472108" cy="381818"/>
          </a:xfrm>
          <a:prstGeom prst="rect">
            <a:avLst/>
          </a:prstGeom>
        </p:spPr>
      </p:pic>
      <p:pic>
        <p:nvPicPr>
          <p:cNvPr id="34" name="图片 4"/>
          <p:cNvPicPr/>
          <p:nvPr/>
        </p:nvPicPr>
        <p:blipFill>
          <a:blip r:embed="rId1" cstate="print">
            <a:extLst>
              <a:ext uri="{28A0092B-C50C-407E-A947-70E740481C1C}">
                <a14:useLocalDpi xmlns:a14="http://schemas.microsoft.com/office/drawing/2010/main" val="0"/>
              </a:ext>
            </a:extLst>
          </a:blip>
          <a:stretch>
            <a:fillRect/>
          </a:stretch>
        </p:blipFill>
        <p:spPr bwMode="gray">
          <a:xfrm>
            <a:off x="9429877" y="3072837"/>
            <a:ext cx="472108" cy="381818"/>
          </a:xfrm>
          <a:prstGeom prst="rect">
            <a:avLst/>
          </a:prstGeom>
        </p:spPr>
      </p:pic>
      <p:sp>
        <p:nvSpPr>
          <p:cNvPr id="35" name="Can 41"/>
          <p:cNvSpPr/>
          <p:nvPr/>
        </p:nvSpPr>
        <p:spPr bwMode="gray">
          <a:xfrm rot="5400000">
            <a:off x="8759022" y="1548679"/>
            <a:ext cx="181708" cy="3439492"/>
          </a:xfrm>
          <a:prstGeom prst="can">
            <a:avLst>
              <a:gd name="adj" fmla="val 35068"/>
            </a:avLst>
          </a:prstGeom>
          <a:solidFill>
            <a:srgbClr val="FFF2CC"/>
          </a:solidFill>
          <a:ln w="12700">
            <a:solidFill>
              <a:srgbClr val="FFD1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TextBox 149"/>
          <p:cNvSpPr txBox="1"/>
          <p:nvPr/>
        </p:nvSpPr>
        <p:spPr bwMode="gray">
          <a:xfrm>
            <a:off x="8430077" y="3140290"/>
            <a:ext cx="830677" cy="276999"/>
          </a:xfrm>
          <a:prstGeom prst="rect">
            <a:avLst/>
          </a:prstGeom>
          <a:noFill/>
        </p:spPr>
        <p:txBody>
          <a:bodyPr wrap="none">
            <a:spAutoFit/>
          </a:bodyPr>
          <a:lstStyle>
            <a:defPPr>
              <a:defRPr lang="zh-CN"/>
            </a:defPPr>
            <a:lvl1pPr algn="l" defTabSz="1219200" rtl="0" eaLnBrk="0" fontAlgn="base" hangingPunct="0">
              <a:spcBef>
                <a:spcPct val="0"/>
              </a:spcBef>
              <a:spcAft>
                <a:spcPct val="0"/>
              </a:spcAft>
              <a:defRPr sz="2400" kern="1200">
                <a:solidFill>
                  <a:schemeClr val="tx1"/>
                </a:solidFill>
                <a:latin typeface="Arial" panose="020B0604020202020204" pitchFamily="34" charset="0"/>
                <a:ea typeface="微软雅黑" panose="020B0503020204020204" charset="-122"/>
                <a:cs typeface="+mn-cs"/>
              </a:defRPr>
            </a:lvl1pPr>
            <a:lvl2pPr marL="609600" indent="-152400" algn="l" defTabSz="1219200" rtl="0" eaLnBrk="0" fontAlgn="base" hangingPunct="0">
              <a:spcBef>
                <a:spcPct val="0"/>
              </a:spcBef>
              <a:spcAft>
                <a:spcPct val="0"/>
              </a:spcAft>
              <a:defRPr sz="2400" kern="1200">
                <a:solidFill>
                  <a:schemeClr val="tx1"/>
                </a:solidFill>
                <a:latin typeface="Arial" panose="020B0604020202020204" pitchFamily="34" charset="0"/>
                <a:ea typeface="微软雅黑" panose="020B0503020204020204" charset="-122"/>
                <a:cs typeface="+mn-cs"/>
              </a:defRPr>
            </a:lvl2pPr>
            <a:lvl3pPr marL="1219200" indent="-304800" algn="l" defTabSz="1219200" rtl="0" eaLnBrk="0" fontAlgn="base" hangingPunct="0">
              <a:spcBef>
                <a:spcPct val="0"/>
              </a:spcBef>
              <a:spcAft>
                <a:spcPct val="0"/>
              </a:spcAft>
              <a:defRPr sz="2400" kern="1200">
                <a:solidFill>
                  <a:schemeClr val="tx1"/>
                </a:solidFill>
                <a:latin typeface="Arial" panose="020B0604020202020204" pitchFamily="34" charset="0"/>
                <a:ea typeface="微软雅黑" panose="020B0503020204020204" charset="-122"/>
                <a:cs typeface="+mn-cs"/>
              </a:defRPr>
            </a:lvl3pPr>
            <a:lvl4pPr marL="1828800" indent="-457200" algn="l" defTabSz="1219200" rtl="0" eaLnBrk="0" fontAlgn="base" hangingPunct="0">
              <a:spcBef>
                <a:spcPct val="0"/>
              </a:spcBef>
              <a:spcAft>
                <a:spcPct val="0"/>
              </a:spcAft>
              <a:defRPr sz="2400" kern="1200">
                <a:solidFill>
                  <a:schemeClr val="tx1"/>
                </a:solidFill>
                <a:latin typeface="Arial" panose="020B0604020202020204" pitchFamily="34" charset="0"/>
                <a:ea typeface="微软雅黑" panose="020B0503020204020204" charset="-122"/>
                <a:cs typeface="+mn-cs"/>
              </a:defRPr>
            </a:lvl4pPr>
            <a:lvl5pPr marL="2438400" indent="-609600" algn="l" defTabSz="1219200" rtl="0" eaLnBrk="0" fontAlgn="base" hangingPunct="0">
              <a:spcBef>
                <a:spcPct val="0"/>
              </a:spcBef>
              <a:spcAft>
                <a:spcPct val="0"/>
              </a:spcAft>
              <a:defRPr sz="2400" kern="1200">
                <a:solidFill>
                  <a:schemeClr val="tx1"/>
                </a:solidFill>
                <a:latin typeface="Arial" panose="020B0604020202020204" pitchFamily="34" charset="0"/>
                <a:ea typeface="微软雅黑" panose="020B0503020204020204" charset="-122"/>
                <a:cs typeface="+mn-cs"/>
              </a:defRPr>
            </a:lvl5pPr>
            <a:lvl6pPr marL="2286000" algn="l" defTabSz="914400" rtl="0" eaLnBrk="1" latinLnBrk="0" hangingPunct="1">
              <a:defRPr sz="2400" kern="1200">
                <a:solidFill>
                  <a:schemeClr val="tx1"/>
                </a:solidFill>
                <a:latin typeface="Arial" panose="020B0604020202020204" pitchFamily="34" charset="0"/>
                <a:ea typeface="微软雅黑" panose="020B0503020204020204" charset="-122"/>
                <a:cs typeface="+mn-cs"/>
              </a:defRPr>
            </a:lvl6pPr>
            <a:lvl7pPr marL="2743200" algn="l" defTabSz="914400" rtl="0" eaLnBrk="1" latinLnBrk="0" hangingPunct="1">
              <a:defRPr sz="2400" kern="1200">
                <a:solidFill>
                  <a:schemeClr val="tx1"/>
                </a:solidFill>
                <a:latin typeface="Arial" panose="020B0604020202020204" pitchFamily="34" charset="0"/>
                <a:ea typeface="微软雅黑" panose="020B0503020204020204" charset="-122"/>
                <a:cs typeface="+mn-cs"/>
              </a:defRPr>
            </a:lvl7pPr>
            <a:lvl8pPr marL="3200400" algn="l" defTabSz="914400" rtl="0" eaLnBrk="1" latinLnBrk="0" hangingPunct="1">
              <a:defRPr sz="2400" kern="1200">
                <a:solidFill>
                  <a:schemeClr val="tx1"/>
                </a:solidFill>
                <a:latin typeface="Arial" panose="020B0604020202020204" pitchFamily="34" charset="0"/>
                <a:ea typeface="微软雅黑" panose="020B0503020204020204" charset="-122"/>
                <a:cs typeface="+mn-cs"/>
              </a:defRPr>
            </a:lvl8pPr>
            <a:lvl9pPr marL="3657600" algn="l" defTabSz="914400" rtl="0" eaLnBrk="1" latinLnBrk="0" hangingPunct="1">
              <a:defRPr sz="2400" kern="1200">
                <a:solidFill>
                  <a:schemeClr val="tx1"/>
                </a:solidFill>
                <a:latin typeface="Arial" panose="020B0604020202020204" pitchFamily="34" charset="0"/>
                <a:ea typeface="微软雅黑" panose="020B0503020204020204" charset="-122"/>
                <a:cs typeface="+mn-cs"/>
              </a:defRPr>
            </a:lvl9pPr>
          </a:lstStyle>
          <a:p>
            <a:pPr defTabSz="965835" eaLnBrk="1" fontAlgn="auto" hangingPunct="1">
              <a:spcBef>
                <a:spcPts val="0"/>
              </a:spcBef>
              <a:spcAft>
                <a:spcPts val="0"/>
              </a:spcAft>
              <a:defRPr/>
            </a:pPr>
            <a:r>
              <a:rPr lang="en-US" altLang="zh-CN" sz="1200" kern="0" dirty="0">
                <a:solidFill>
                  <a:prstClr val="black"/>
                </a:solidFill>
                <a:latin typeface="+mn-lt"/>
                <a:ea typeface="+mn-ea"/>
                <a:cs typeface="+mn-ea"/>
                <a:sym typeface="+mn-lt"/>
              </a:rPr>
              <a:t>SRv6</a:t>
            </a:r>
            <a:r>
              <a:rPr lang="zh-CN" altLang="en-US" sz="1200" kern="0" dirty="0">
                <a:solidFill>
                  <a:prstClr val="black"/>
                </a:solidFill>
                <a:latin typeface="+mn-lt"/>
                <a:ea typeface="+mn-ea"/>
                <a:cs typeface="+mn-ea"/>
                <a:sym typeface="+mn-lt"/>
              </a:rPr>
              <a:t>隧道</a:t>
            </a:r>
            <a:endParaRPr lang="zh-CN" altLang="en-US" sz="1200" kern="0" dirty="0">
              <a:solidFill>
                <a:prstClr val="black"/>
              </a:solidFill>
              <a:latin typeface="+mn-lt"/>
              <a:ea typeface="+mn-ea"/>
              <a:cs typeface="+mn-ea"/>
              <a:sym typeface="+mn-lt"/>
            </a:endParaRPr>
          </a:p>
        </p:txBody>
      </p:sp>
      <p:sp>
        <p:nvSpPr>
          <p:cNvPr id="37" name="Freeform 36"/>
          <p:cNvSpPr/>
          <p:nvPr/>
        </p:nvSpPr>
        <p:spPr>
          <a:xfrm>
            <a:off x="7060914" y="2858838"/>
            <a:ext cx="831850" cy="190536"/>
          </a:xfrm>
          <a:custGeom>
            <a:avLst/>
            <a:gdLst>
              <a:gd name="connsiteX0" fmla="*/ 0 w 831850"/>
              <a:gd name="connsiteY0" fmla="*/ 190536 h 190536"/>
              <a:gd name="connsiteX1" fmla="*/ 438150 w 831850"/>
              <a:gd name="connsiteY1" fmla="*/ 36 h 190536"/>
              <a:gd name="connsiteX2" fmla="*/ 831850 w 831850"/>
              <a:gd name="connsiteY2" fmla="*/ 177836 h 190536"/>
            </a:gdLst>
            <a:ahLst/>
            <a:cxnLst>
              <a:cxn ang="0">
                <a:pos x="connsiteX0" y="connsiteY0"/>
              </a:cxn>
              <a:cxn ang="0">
                <a:pos x="connsiteX1" y="connsiteY1"/>
              </a:cxn>
              <a:cxn ang="0">
                <a:pos x="connsiteX2" y="connsiteY2"/>
              </a:cxn>
            </a:cxnLst>
            <a:rect l="l" t="t" r="r" b="b"/>
            <a:pathLst>
              <a:path w="831850" h="190536">
                <a:moveTo>
                  <a:pt x="0" y="190536"/>
                </a:moveTo>
                <a:cubicBezTo>
                  <a:pt x="149754" y="96344"/>
                  <a:pt x="299508" y="2153"/>
                  <a:pt x="438150" y="36"/>
                </a:cubicBezTo>
                <a:cubicBezTo>
                  <a:pt x="576792" y="-2081"/>
                  <a:pt x="704321" y="87877"/>
                  <a:pt x="831850" y="177836"/>
                </a:cubicBezTo>
              </a:path>
            </a:pathLst>
          </a:custGeom>
          <a:noFill/>
          <a:ln w="28575">
            <a:solidFill>
              <a:srgbClr val="E28189"/>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Freeform 37"/>
          <p:cNvSpPr/>
          <p:nvPr/>
        </p:nvSpPr>
        <p:spPr>
          <a:xfrm>
            <a:off x="8154832" y="2839214"/>
            <a:ext cx="1414436" cy="190536"/>
          </a:xfrm>
          <a:custGeom>
            <a:avLst/>
            <a:gdLst>
              <a:gd name="connsiteX0" fmla="*/ 0 w 831850"/>
              <a:gd name="connsiteY0" fmla="*/ 190536 h 190536"/>
              <a:gd name="connsiteX1" fmla="*/ 438150 w 831850"/>
              <a:gd name="connsiteY1" fmla="*/ 36 h 190536"/>
              <a:gd name="connsiteX2" fmla="*/ 831850 w 831850"/>
              <a:gd name="connsiteY2" fmla="*/ 177836 h 190536"/>
            </a:gdLst>
            <a:ahLst/>
            <a:cxnLst>
              <a:cxn ang="0">
                <a:pos x="connsiteX0" y="connsiteY0"/>
              </a:cxn>
              <a:cxn ang="0">
                <a:pos x="connsiteX1" y="connsiteY1"/>
              </a:cxn>
              <a:cxn ang="0">
                <a:pos x="connsiteX2" y="connsiteY2"/>
              </a:cxn>
            </a:cxnLst>
            <a:rect l="l" t="t" r="r" b="b"/>
            <a:pathLst>
              <a:path w="831850" h="190536">
                <a:moveTo>
                  <a:pt x="0" y="190536"/>
                </a:moveTo>
                <a:cubicBezTo>
                  <a:pt x="149754" y="96344"/>
                  <a:pt x="299508" y="2153"/>
                  <a:pt x="438150" y="36"/>
                </a:cubicBezTo>
                <a:cubicBezTo>
                  <a:pt x="576792" y="-2081"/>
                  <a:pt x="704321" y="87877"/>
                  <a:pt x="831850" y="177836"/>
                </a:cubicBezTo>
              </a:path>
            </a:pathLst>
          </a:custGeom>
          <a:noFill/>
          <a:ln w="28575">
            <a:solidFill>
              <a:srgbClr val="E28189"/>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Freeform 38"/>
          <p:cNvSpPr/>
          <p:nvPr/>
        </p:nvSpPr>
        <p:spPr>
          <a:xfrm>
            <a:off x="9690596" y="2839214"/>
            <a:ext cx="1015322" cy="190536"/>
          </a:xfrm>
          <a:custGeom>
            <a:avLst/>
            <a:gdLst>
              <a:gd name="connsiteX0" fmla="*/ 0 w 831850"/>
              <a:gd name="connsiteY0" fmla="*/ 190536 h 190536"/>
              <a:gd name="connsiteX1" fmla="*/ 438150 w 831850"/>
              <a:gd name="connsiteY1" fmla="*/ 36 h 190536"/>
              <a:gd name="connsiteX2" fmla="*/ 831850 w 831850"/>
              <a:gd name="connsiteY2" fmla="*/ 177836 h 190536"/>
            </a:gdLst>
            <a:ahLst/>
            <a:cxnLst>
              <a:cxn ang="0">
                <a:pos x="connsiteX0" y="connsiteY0"/>
              </a:cxn>
              <a:cxn ang="0">
                <a:pos x="connsiteX1" y="connsiteY1"/>
              </a:cxn>
              <a:cxn ang="0">
                <a:pos x="connsiteX2" y="connsiteY2"/>
              </a:cxn>
            </a:cxnLst>
            <a:rect l="l" t="t" r="r" b="b"/>
            <a:pathLst>
              <a:path w="831850" h="190536">
                <a:moveTo>
                  <a:pt x="0" y="190536"/>
                </a:moveTo>
                <a:cubicBezTo>
                  <a:pt x="149754" y="96344"/>
                  <a:pt x="299508" y="2153"/>
                  <a:pt x="438150" y="36"/>
                </a:cubicBezTo>
                <a:cubicBezTo>
                  <a:pt x="576792" y="-2081"/>
                  <a:pt x="704321" y="87877"/>
                  <a:pt x="831850" y="177836"/>
                </a:cubicBezTo>
              </a:path>
            </a:pathLst>
          </a:custGeom>
          <a:noFill/>
          <a:ln w="28575">
            <a:solidFill>
              <a:srgbClr val="E28189"/>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Freeform 39"/>
          <p:cNvSpPr/>
          <p:nvPr/>
        </p:nvSpPr>
        <p:spPr>
          <a:xfrm flipV="1">
            <a:off x="6894076" y="3521359"/>
            <a:ext cx="3957114" cy="599874"/>
          </a:xfrm>
          <a:custGeom>
            <a:avLst/>
            <a:gdLst>
              <a:gd name="connsiteX0" fmla="*/ 0 w 831850"/>
              <a:gd name="connsiteY0" fmla="*/ 190536 h 190536"/>
              <a:gd name="connsiteX1" fmla="*/ 438150 w 831850"/>
              <a:gd name="connsiteY1" fmla="*/ 36 h 190536"/>
              <a:gd name="connsiteX2" fmla="*/ 831850 w 831850"/>
              <a:gd name="connsiteY2" fmla="*/ 177836 h 190536"/>
            </a:gdLst>
            <a:ahLst/>
            <a:cxnLst>
              <a:cxn ang="0">
                <a:pos x="connsiteX0" y="connsiteY0"/>
              </a:cxn>
              <a:cxn ang="0">
                <a:pos x="connsiteX1" y="connsiteY1"/>
              </a:cxn>
              <a:cxn ang="0">
                <a:pos x="connsiteX2" y="connsiteY2"/>
              </a:cxn>
            </a:cxnLst>
            <a:rect l="l" t="t" r="r" b="b"/>
            <a:pathLst>
              <a:path w="831850" h="190536">
                <a:moveTo>
                  <a:pt x="0" y="190536"/>
                </a:moveTo>
                <a:cubicBezTo>
                  <a:pt x="149754" y="96344"/>
                  <a:pt x="299508" y="2153"/>
                  <a:pt x="438150" y="36"/>
                </a:cubicBezTo>
                <a:cubicBezTo>
                  <a:pt x="576792" y="-2081"/>
                  <a:pt x="704321" y="87877"/>
                  <a:pt x="831850" y="177836"/>
                </a:cubicBezTo>
              </a:path>
            </a:pathLst>
          </a:custGeom>
          <a:noFill/>
          <a:ln w="28575">
            <a:solidFill>
              <a:srgbClr val="56C4D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Rectangular Callout 26"/>
          <p:cNvSpPr/>
          <p:nvPr/>
        </p:nvSpPr>
        <p:spPr bwMode="gray">
          <a:xfrm>
            <a:off x="6658022" y="3881136"/>
            <a:ext cx="1014238" cy="240097"/>
          </a:xfrm>
          <a:prstGeom prst="wedgeRectCallout">
            <a:avLst>
              <a:gd name="adj1" fmla="val 19592"/>
              <a:gd name="adj2" fmla="val -131240"/>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Ping</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检测</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2" name="Freeform 41"/>
          <p:cNvSpPr/>
          <p:nvPr/>
        </p:nvSpPr>
        <p:spPr>
          <a:xfrm flipV="1">
            <a:off x="7060914" y="3495110"/>
            <a:ext cx="831850" cy="190536"/>
          </a:xfrm>
          <a:custGeom>
            <a:avLst/>
            <a:gdLst>
              <a:gd name="connsiteX0" fmla="*/ 0 w 831850"/>
              <a:gd name="connsiteY0" fmla="*/ 190536 h 190536"/>
              <a:gd name="connsiteX1" fmla="*/ 438150 w 831850"/>
              <a:gd name="connsiteY1" fmla="*/ 36 h 190536"/>
              <a:gd name="connsiteX2" fmla="*/ 831850 w 831850"/>
              <a:gd name="connsiteY2" fmla="*/ 177836 h 190536"/>
            </a:gdLst>
            <a:ahLst/>
            <a:cxnLst>
              <a:cxn ang="0">
                <a:pos x="connsiteX0" y="connsiteY0"/>
              </a:cxn>
              <a:cxn ang="0">
                <a:pos x="connsiteX1" y="connsiteY1"/>
              </a:cxn>
              <a:cxn ang="0">
                <a:pos x="connsiteX2" y="connsiteY2"/>
              </a:cxn>
            </a:cxnLst>
            <a:rect l="l" t="t" r="r" b="b"/>
            <a:pathLst>
              <a:path w="831850" h="190536">
                <a:moveTo>
                  <a:pt x="0" y="190536"/>
                </a:moveTo>
                <a:cubicBezTo>
                  <a:pt x="149754" y="96344"/>
                  <a:pt x="299508" y="2153"/>
                  <a:pt x="438150" y="36"/>
                </a:cubicBezTo>
                <a:cubicBezTo>
                  <a:pt x="576792" y="-2081"/>
                  <a:pt x="704321" y="87877"/>
                  <a:pt x="831850" y="177836"/>
                </a:cubicBezTo>
              </a:path>
            </a:pathLst>
          </a:custGeom>
          <a:noFill/>
          <a:ln w="28575">
            <a:solidFill>
              <a:srgbClr val="56C4D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Freeform 42"/>
          <p:cNvSpPr/>
          <p:nvPr/>
        </p:nvSpPr>
        <p:spPr>
          <a:xfrm flipV="1">
            <a:off x="8154832" y="3475486"/>
            <a:ext cx="1414436" cy="190536"/>
          </a:xfrm>
          <a:custGeom>
            <a:avLst/>
            <a:gdLst>
              <a:gd name="connsiteX0" fmla="*/ 0 w 831850"/>
              <a:gd name="connsiteY0" fmla="*/ 190536 h 190536"/>
              <a:gd name="connsiteX1" fmla="*/ 438150 w 831850"/>
              <a:gd name="connsiteY1" fmla="*/ 36 h 190536"/>
              <a:gd name="connsiteX2" fmla="*/ 831850 w 831850"/>
              <a:gd name="connsiteY2" fmla="*/ 177836 h 190536"/>
            </a:gdLst>
            <a:ahLst/>
            <a:cxnLst>
              <a:cxn ang="0">
                <a:pos x="connsiteX0" y="connsiteY0"/>
              </a:cxn>
              <a:cxn ang="0">
                <a:pos x="connsiteX1" y="connsiteY1"/>
              </a:cxn>
              <a:cxn ang="0">
                <a:pos x="connsiteX2" y="connsiteY2"/>
              </a:cxn>
            </a:cxnLst>
            <a:rect l="l" t="t" r="r" b="b"/>
            <a:pathLst>
              <a:path w="831850" h="190536">
                <a:moveTo>
                  <a:pt x="0" y="190536"/>
                </a:moveTo>
                <a:cubicBezTo>
                  <a:pt x="149754" y="96344"/>
                  <a:pt x="299508" y="2153"/>
                  <a:pt x="438150" y="36"/>
                </a:cubicBezTo>
                <a:cubicBezTo>
                  <a:pt x="576792" y="-2081"/>
                  <a:pt x="704321" y="87877"/>
                  <a:pt x="831850" y="177836"/>
                </a:cubicBezTo>
              </a:path>
            </a:pathLst>
          </a:custGeom>
          <a:noFill/>
          <a:ln w="28575">
            <a:solidFill>
              <a:srgbClr val="56C4D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Freeform 43"/>
          <p:cNvSpPr/>
          <p:nvPr/>
        </p:nvSpPr>
        <p:spPr>
          <a:xfrm flipV="1">
            <a:off x="9690596" y="3475486"/>
            <a:ext cx="1015322" cy="190536"/>
          </a:xfrm>
          <a:custGeom>
            <a:avLst/>
            <a:gdLst>
              <a:gd name="connsiteX0" fmla="*/ 0 w 831850"/>
              <a:gd name="connsiteY0" fmla="*/ 190536 h 190536"/>
              <a:gd name="connsiteX1" fmla="*/ 438150 w 831850"/>
              <a:gd name="connsiteY1" fmla="*/ 36 h 190536"/>
              <a:gd name="connsiteX2" fmla="*/ 831850 w 831850"/>
              <a:gd name="connsiteY2" fmla="*/ 177836 h 190536"/>
            </a:gdLst>
            <a:ahLst/>
            <a:cxnLst>
              <a:cxn ang="0">
                <a:pos x="connsiteX0" y="connsiteY0"/>
              </a:cxn>
              <a:cxn ang="0">
                <a:pos x="connsiteX1" y="connsiteY1"/>
              </a:cxn>
              <a:cxn ang="0">
                <a:pos x="connsiteX2" y="connsiteY2"/>
              </a:cxn>
            </a:cxnLst>
            <a:rect l="l" t="t" r="r" b="b"/>
            <a:pathLst>
              <a:path w="831850" h="190536">
                <a:moveTo>
                  <a:pt x="0" y="190536"/>
                </a:moveTo>
                <a:cubicBezTo>
                  <a:pt x="149754" y="96344"/>
                  <a:pt x="299508" y="2153"/>
                  <a:pt x="438150" y="36"/>
                </a:cubicBezTo>
                <a:cubicBezTo>
                  <a:pt x="576792" y="-2081"/>
                  <a:pt x="704321" y="87877"/>
                  <a:pt x="831850" y="177836"/>
                </a:cubicBezTo>
              </a:path>
            </a:pathLst>
          </a:custGeom>
          <a:noFill/>
          <a:ln w="28575">
            <a:solidFill>
              <a:srgbClr val="56C4D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任意多边形 2"/>
          <p:cNvSpPr/>
          <p:nvPr/>
        </p:nvSpPr>
        <p:spPr bwMode="gray">
          <a:xfrm>
            <a:off x="1430156" y="3439068"/>
            <a:ext cx="3666087" cy="355214"/>
          </a:xfrm>
          <a:custGeom>
            <a:avLst/>
            <a:gdLst>
              <a:gd name="connsiteX0" fmla="*/ 0 w 3505113"/>
              <a:gd name="connsiteY0" fmla="*/ 33347 h 577788"/>
              <a:gd name="connsiteX1" fmla="*/ 3037668 w 3505113"/>
              <a:gd name="connsiteY1" fmla="*/ 17849 h 577788"/>
              <a:gd name="connsiteX2" fmla="*/ 3332135 w 3505113"/>
              <a:gd name="connsiteY2" fmla="*/ 250323 h 577788"/>
              <a:gd name="connsiteX3" fmla="*/ 3223647 w 3505113"/>
              <a:gd name="connsiteY3" fmla="*/ 529293 h 577788"/>
              <a:gd name="connsiteX4" fmla="*/ 77491 w 3505113"/>
              <a:gd name="connsiteY4" fmla="*/ 575788 h 577788"/>
              <a:gd name="connsiteX0-1" fmla="*/ 0 w 3536296"/>
              <a:gd name="connsiteY0-2" fmla="*/ 33347 h 577788"/>
              <a:gd name="connsiteX1-3" fmla="*/ 3037668 w 3536296"/>
              <a:gd name="connsiteY1-4" fmla="*/ 17849 h 577788"/>
              <a:gd name="connsiteX2-5" fmla="*/ 3401985 w 3536296"/>
              <a:gd name="connsiteY2-6" fmla="*/ 250323 h 577788"/>
              <a:gd name="connsiteX3-7" fmla="*/ 3223647 w 3536296"/>
              <a:gd name="connsiteY3-8" fmla="*/ 529293 h 577788"/>
              <a:gd name="connsiteX4-9" fmla="*/ 77491 w 3536296"/>
              <a:gd name="connsiteY4-10" fmla="*/ 575788 h 577788"/>
              <a:gd name="connsiteX0-11" fmla="*/ 0 w 3530217"/>
              <a:gd name="connsiteY0-12" fmla="*/ 33347 h 577788"/>
              <a:gd name="connsiteX1-13" fmla="*/ 3037668 w 3530217"/>
              <a:gd name="connsiteY1-14" fmla="*/ 17849 h 577788"/>
              <a:gd name="connsiteX2-15" fmla="*/ 3401985 w 3530217"/>
              <a:gd name="connsiteY2-16" fmla="*/ 250323 h 577788"/>
              <a:gd name="connsiteX3-17" fmla="*/ 3223647 w 3530217"/>
              <a:gd name="connsiteY3-18" fmla="*/ 529293 h 577788"/>
              <a:gd name="connsiteX4-19" fmla="*/ 77491 w 3530217"/>
              <a:gd name="connsiteY4-20" fmla="*/ 575788 h 577788"/>
              <a:gd name="connsiteX0-21" fmla="*/ 0 w 3437980"/>
              <a:gd name="connsiteY0-22" fmla="*/ 33347 h 587138"/>
              <a:gd name="connsiteX1-23" fmla="*/ 3037668 w 3437980"/>
              <a:gd name="connsiteY1-24" fmla="*/ 17849 h 587138"/>
              <a:gd name="connsiteX2-25" fmla="*/ 3401985 w 3437980"/>
              <a:gd name="connsiteY2-26" fmla="*/ 250323 h 587138"/>
              <a:gd name="connsiteX3-27" fmla="*/ 3026797 w 3437980"/>
              <a:gd name="connsiteY3-28" fmla="*/ 554693 h 587138"/>
              <a:gd name="connsiteX4-29" fmla="*/ 77491 w 3437980"/>
              <a:gd name="connsiteY4-30" fmla="*/ 575788 h 587138"/>
              <a:gd name="connsiteX0-31" fmla="*/ 0 w 3432439"/>
              <a:gd name="connsiteY0-32" fmla="*/ 53399 h 607190"/>
              <a:gd name="connsiteX1-33" fmla="*/ 3024968 w 3432439"/>
              <a:gd name="connsiteY1-34" fmla="*/ 12501 h 607190"/>
              <a:gd name="connsiteX2-35" fmla="*/ 3401985 w 3432439"/>
              <a:gd name="connsiteY2-36" fmla="*/ 270375 h 607190"/>
              <a:gd name="connsiteX3-37" fmla="*/ 3026797 w 3432439"/>
              <a:gd name="connsiteY3-38" fmla="*/ 574745 h 607190"/>
              <a:gd name="connsiteX4-39" fmla="*/ 77491 w 3432439"/>
              <a:gd name="connsiteY4-40" fmla="*/ 595840 h 607190"/>
              <a:gd name="connsiteX0-41" fmla="*/ 0 w 3432439"/>
              <a:gd name="connsiteY0-42" fmla="*/ 18434 h 572225"/>
              <a:gd name="connsiteX1-43" fmla="*/ 3024968 w 3432439"/>
              <a:gd name="connsiteY1-44" fmla="*/ 28336 h 572225"/>
              <a:gd name="connsiteX2-45" fmla="*/ 3401985 w 3432439"/>
              <a:gd name="connsiteY2-46" fmla="*/ 235410 h 572225"/>
              <a:gd name="connsiteX3-47" fmla="*/ 3026797 w 3432439"/>
              <a:gd name="connsiteY3-48" fmla="*/ 539780 h 572225"/>
              <a:gd name="connsiteX4-49" fmla="*/ 77491 w 3432439"/>
              <a:gd name="connsiteY4-50" fmla="*/ 560875 h 572225"/>
              <a:gd name="connsiteX0-51" fmla="*/ 0 w 3429658"/>
              <a:gd name="connsiteY0-52" fmla="*/ 16335 h 570126"/>
              <a:gd name="connsiteX1-53" fmla="*/ 3024968 w 3429658"/>
              <a:gd name="connsiteY1-54" fmla="*/ 26237 h 570126"/>
              <a:gd name="connsiteX2-55" fmla="*/ 3401985 w 3429658"/>
              <a:gd name="connsiteY2-56" fmla="*/ 233311 h 570126"/>
              <a:gd name="connsiteX3-57" fmla="*/ 3026797 w 3429658"/>
              <a:gd name="connsiteY3-58" fmla="*/ 537681 h 570126"/>
              <a:gd name="connsiteX4-59" fmla="*/ 77491 w 3429658"/>
              <a:gd name="connsiteY4-60" fmla="*/ 558776 h 570126"/>
              <a:gd name="connsiteX0-61" fmla="*/ 0 w 3401985"/>
              <a:gd name="connsiteY0-62" fmla="*/ 16335 h 561442"/>
              <a:gd name="connsiteX1-63" fmla="*/ 3024968 w 3401985"/>
              <a:gd name="connsiteY1-64" fmla="*/ 26237 h 561442"/>
              <a:gd name="connsiteX2-65" fmla="*/ 3401985 w 3401985"/>
              <a:gd name="connsiteY2-66" fmla="*/ 233311 h 561442"/>
              <a:gd name="connsiteX3-67" fmla="*/ 3026797 w 3401985"/>
              <a:gd name="connsiteY3-68" fmla="*/ 537681 h 561442"/>
              <a:gd name="connsiteX4-69" fmla="*/ 77491 w 3401985"/>
              <a:gd name="connsiteY4-70" fmla="*/ 558776 h 561442"/>
              <a:gd name="connsiteX0-71" fmla="*/ 0 w 3401986"/>
              <a:gd name="connsiteY0-72" fmla="*/ 22418 h 567525"/>
              <a:gd name="connsiteX1-73" fmla="*/ 3031318 w 3401986"/>
              <a:gd name="connsiteY1-74" fmla="*/ 19620 h 567525"/>
              <a:gd name="connsiteX2-75" fmla="*/ 3401985 w 3401986"/>
              <a:gd name="connsiteY2-76" fmla="*/ 239394 h 567525"/>
              <a:gd name="connsiteX3-77" fmla="*/ 3026797 w 3401986"/>
              <a:gd name="connsiteY3-78" fmla="*/ 543764 h 567525"/>
              <a:gd name="connsiteX4-79" fmla="*/ 77491 w 3401986"/>
              <a:gd name="connsiteY4-80" fmla="*/ 564859 h 567525"/>
              <a:gd name="connsiteX0-81" fmla="*/ 0 w 3402070"/>
              <a:gd name="connsiteY0-82" fmla="*/ 22418 h 567525"/>
              <a:gd name="connsiteX1-83" fmla="*/ 3031318 w 3402070"/>
              <a:gd name="connsiteY1-84" fmla="*/ 19620 h 567525"/>
              <a:gd name="connsiteX2-85" fmla="*/ 3401985 w 3402070"/>
              <a:gd name="connsiteY2-86" fmla="*/ 239394 h 567525"/>
              <a:gd name="connsiteX3-87" fmla="*/ 3026797 w 3402070"/>
              <a:gd name="connsiteY3-88" fmla="*/ 543764 h 567525"/>
              <a:gd name="connsiteX4-89" fmla="*/ 77491 w 3402070"/>
              <a:gd name="connsiteY4-90" fmla="*/ 564859 h 567525"/>
              <a:gd name="connsiteX0-91" fmla="*/ 0 w 3423915"/>
              <a:gd name="connsiteY0-92" fmla="*/ 27234 h 578951"/>
              <a:gd name="connsiteX1-93" fmla="*/ 3031318 w 3423915"/>
              <a:gd name="connsiteY1-94" fmla="*/ 24436 h 578951"/>
              <a:gd name="connsiteX2-95" fmla="*/ 3389285 w 3423915"/>
              <a:gd name="connsiteY2-96" fmla="*/ 275960 h 578951"/>
              <a:gd name="connsiteX3-97" fmla="*/ 3026797 w 3423915"/>
              <a:gd name="connsiteY3-98" fmla="*/ 548580 h 578951"/>
              <a:gd name="connsiteX4-99" fmla="*/ 77491 w 3423915"/>
              <a:gd name="connsiteY4-100" fmla="*/ 569675 h 578951"/>
              <a:gd name="connsiteX0-101" fmla="*/ 0 w 3423088"/>
              <a:gd name="connsiteY0-102" fmla="*/ 27234 h 578951"/>
              <a:gd name="connsiteX1-103" fmla="*/ 3031318 w 3423088"/>
              <a:gd name="connsiteY1-104" fmla="*/ 24436 h 578951"/>
              <a:gd name="connsiteX2-105" fmla="*/ 3389285 w 3423088"/>
              <a:gd name="connsiteY2-106" fmla="*/ 275960 h 578951"/>
              <a:gd name="connsiteX3-107" fmla="*/ 3026797 w 3423088"/>
              <a:gd name="connsiteY3-108" fmla="*/ 548580 h 578951"/>
              <a:gd name="connsiteX4-109" fmla="*/ 77491 w 3423088"/>
              <a:gd name="connsiteY4-110" fmla="*/ 569675 h 578951"/>
              <a:gd name="connsiteX0-111" fmla="*/ 0 w 3389428"/>
              <a:gd name="connsiteY0-112" fmla="*/ 27234 h 578951"/>
              <a:gd name="connsiteX1-113" fmla="*/ 3031318 w 3389428"/>
              <a:gd name="connsiteY1-114" fmla="*/ 24436 h 578951"/>
              <a:gd name="connsiteX2-115" fmla="*/ 3389285 w 3389428"/>
              <a:gd name="connsiteY2-116" fmla="*/ 275960 h 578951"/>
              <a:gd name="connsiteX3-117" fmla="*/ 3026797 w 3389428"/>
              <a:gd name="connsiteY3-118" fmla="*/ 548580 h 578951"/>
              <a:gd name="connsiteX4-119" fmla="*/ 77491 w 3389428"/>
              <a:gd name="connsiteY4-120" fmla="*/ 569675 h 578951"/>
              <a:gd name="connsiteX0-121" fmla="*/ 0 w 3389413"/>
              <a:gd name="connsiteY0-122" fmla="*/ 27234 h 572596"/>
              <a:gd name="connsiteX1-123" fmla="*/ 3031318 w 3389413"/>
              <a:gd name="connsiteY1-124" fmla="*/ 24436 h 572596"/>
              <a:gd name="connsiteX2-125" fmla="*/ 3389285 w 3389413"/>
              <a:gd name="connsiteY2-126" fmla="*/ 275960 h 572596"/>
              <a:gd name="connsiteX3-127" fmla="*/ 3026797 w 3389413"/>
              <a:gd name="connsiteY3-128" fmla="*/ 548580 h 572596"/>
              <a:gd name="connsiteX4-129" fmla="*/ 77491 w 3389413"/>
              <a:gd name="connsiteY4-130" fmla="*/ 569675 h 572596"/>
              <a:gd name="connsiteX0-131" fmla="*/ 0 w 3426550"/>
              <a:gd name="connsiteY0-132" fmla="*/ 27234 h 575718"/>
              <a:gd name="connsiteX1-133" fmla="*/ 3031318 w 3426550"/>
              <a:gd name="connsiteY1-134" fmla="*/ 24436 h 575718"/>
              <a:gd name="connsiteX2-135" fmla="*/ 3389285 w 3426550"/>
              <a:gd name="connsiteY2-136" fmla="*/ 275960 h 575718"/>
              <a:gd name="connsiteX3-137" fmla="*/ 3026797 w 3426550"/>
              <a:gd name="connsiteY3-138" fmla="*/ 548580 h 575718"/>
              <a:gd name="connsiteX4-139" fmla="*/ 7641 w 3426550"/>
              <a:gd name="connsiteY4-140" fmla="*/ 563325 h 575718"/>
              <a:gd name="connsiteX0-141" fmla="*/ 0 w 3389397"/>
              <a:gd name="connsiteY0-142" fmla="*/ 27234 h 570610"/>
              <a:gd name="connsiteX1-143" fmla="*/ 3031318 w 3389397"/>
              <a:gd name="connsiteY1-144" fmla="*/ 24436 h 570610"/>
              <a:gd name="connsiteX2-145" fmla="*/ 3389285 w 3389397"/>
              <a:gd name="connsiteY2-146" fmla="*/ 275960 h 570610"/>
              <a:gd name="connsiteX3-147" fmla="*/ 3026797 w 3389397"/>
              <a:gd name="connsiteY3-148" fmla="*/ 548580 h 570610"/>
              <a:gd name="connsiteX4-149" fmla="*/ 7641 w 3389397"/>
              <a:gd name="connsiteY4-150" fmla="*/ 563325 h 570610"/>
              <a:gd name="connsiteX0-151" fmla="*/ 0 w 3389291"/>
              <a:gd name="connsiteY0-152" fmla="*/ 27234 h 570610"/>
              <a:gd name="connsiteX1-153" fmla="*/ 3018618 w 3389291"/>
              <a:gd name="connsiteY1-154" fmla="*/ 24436 h 570610"/>
              <a:gd name="connsiteX2-155" fmla="*/ 3389285 w 3389291"/>
              <a:gd name="connsiteY2-156" fmla="*/ 275960 h 570610"/>
              <a:gd name="connsiteX3-157" fmla="*/ 3026797 w 3389291"/>
              <a:gd name="connsiteY3-158" fmla="*/ 548580 h 570610"/>
              <a:gd name="connsiteX4-159" fmla="*/ 7641 w 3389291"/>
              <a:gd name="connsiteY4-160" fmla="*/ 563325 h 570610"/>
              <a:gd name="connsiteX0-161" fmla="*/ 0 w 3389291"/>
              <a:gd name="connsiteY0-162" fmla="*/ 27234 h 570610"/>
              <a:gd name="connsiteX1-163" fmla="*/ 3018618 w 3389291"/>
              <a:gd name="connsiteY1-164" fmla="*/ 24436 h 570610"/>
              <a:gd name="connsiteX2-165" fmla="*/ 3389285 w 3389291"/>
              <a:gd name="connsiteY2-166" fmla="*/ 275960 h 570610"/>
              <a:gd name="connsiteX3-167" fmla="*/ 3026797 w 3389291"/>
              <a:gd name="connsiteY3-168" fmla="*/ 548580 h 570610"/>
              <a:gd name="connsiteX4-169" fmla="*/ 7641 w 3389291"/>
              <a:gd name="connsiteY4-170" fmla="*/ 563325 h 570610"/>
              <a:gd name="connsiteX0-171" fmla="*/ 0 w 3389291"/>
              <a:gd name="connsiteY0-172" fmla="*/ 27234 h 570610"/>
              <a:gd name="connsiteX1-173" fmla="*/ 3018618 w 3389291"/>
              <a:gd name="connsiteY1-174" fmla="*/ 24436 h 570610"/>
              <a:gd name="connsiteX2-175" fmla="*/ 3389285 w 3389291"/>
              <a:gd name="connsiteY2-176" fmla="*/ 275960 h 570610"/>
              <a:gd name="connsiteX3-177" fmla="*/ 3026797 w 3389291"/>
              <a:gd name="connsiteY3-178" fmla="*/ 548580 h 570610"/>
              <a:gd name="connsiteX4-179" fmla="*/ 7641 w 3389291"/>
              <a:gd name="connsiteY4-180" fmla="*/ 563325 h 570610"/>
              <a:gd name="connsiteX0-181" fmla="*/ 0 w 3389291"/>
              <a:gd name="connsiteY0-182" fmla="*/ 27234 h 570610"/>
              <a:gd name="connsiteX1-183" fmla="*/ 3018618 w 3389291"/>
              <a:gd name="connsiteY1-184" fmla="*/ 24436 h 570610"/>
              <a:gd name="connsiteX2-185" fmla="*/ 3389285 w 3389291"/>
              <a:gd name="connsiteY2-186" fmla="*/ 275960 h 570610"/>
              <a:gd name="connsiteX3-187" fmla="*/ 3026797 w 3389291"/>
              <a:gd name="connsiteY3-188" fmla="*/ 548580 h 570610"/>
              <a:gd name="connsiteX4-189" fmla="*/ 7641 w 3389291"/>
              <a:gd name="connsiteY4-190" fmla="*/ 563325 h 57061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389291" h="570610">
                <a:moveTo>
                  <a:pt x="0" y="27234"/>
                </a:moveTo>
                <a:cubicBezTo>
                  <a:pt x="1241156" y="1403"/>
                  <a:pt x="2847437" y="-17018"/>
                  <a:pt x="3018618" y="24436"/>
                </a:cubicBezTo>
                <a:cubicBezTo>
                  <a:pt x="3189799" y="65890"/>
                  <a:pt x="3387922" y="61603"/>
                  <a:pt x="3389285" y="275960"/>
                </a:cubicBezTo>
                <a:cubicBezTo>
                  <a:pt x="3390648" y="490317"/>
                  <a:pt x="3190354" y="513386"/>
                  <a:pt x="3026797" y="548580"/>
                </a:cubicBezTo>
                <a:cubicBezTo>
                  <a:pt x="2863240" y="583774"/>
                  <a:pt x="1309498" y="567199"/>
                  <a:pt x="7641" y="563325"/>
                </a:cubicBezTo>
              </a:path>
            </a:pathLst>
          </a:custGeom>
          <a:ln w="38100">
            <a:solidFill>
              <a:srgbClr val="E28189"/>
            </a:solidFill>
            <a:tailEnd type="stealth"/>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r>
              <a:rPr lang="en-US" altLang="zh-CN">
                <a:sym typeface="Huawei Sans" panose="020C0503030203020204" pitchFamily="34" charset="0"/>
              </a:rPr>
              <a:t>SBFD</a:t>
            </a:r>
            <a:r>
              <a:rPr lang="zh-CN" altLang="en-US">
                <a:sym typeface="Huawei Sans" panose="020C0503030203020204" pitchFamily="34" charset="0"/>
              </a:rPr>
              <a:t>工作原理</a:t>
            </a:r>
            <a:endParaRPr lang="zh-CN" altLang="en-US">
              <a:sym typeface="Huawei Sans" panose="020C0503030203020204" pitchFamily="34" charset="0"/>
            </a:endParaRPr>
          </a:p>
        </p:txBody>
      </p:sp>
      <p:cxnSp>
        <p:nvCxnSpPr>
          <p:cNvPr id="4" name="直接连接符 3"/>
          <p:cNvCxnSpPr>
            <a:stCxn id="5" idx="2"/>
          </p:cNvCxnSpPr>
          <p:nvPr/>
        </p:nvCxnSpPr>
        <p:spPr bwMode="gray">
          <a:xfrm>
            <a:off x="2049208" y="2516526"/>
            <a:ext cx="0" cy="2097017"/>
          </a:xfrm>
          <a:prstGeom prst="line">
            <a:avLst/>
          </a:prstGeom>
          <a:ln w="19050"/>
        </p:spPr>
        <p:style>
          <a:lnRef idx="1">
            <a:schemeClr val="accent1"/>
          </a:lnRef>
          <a:fillRef idx="0">
            <a:schemeClr val="accent1"/>
          </a:fillRef>
          <a:effectRef idx="0">
            <a:schemeClr val="accent1"/>
          </a:effectRef>
          <a:fontRef idx="minor">
            <a:schemeClr val="tx1"/>
          </a:fontRef>
        </p:style>
      </p:cxnSp>
      <p:pic>
        <p:nvPicPr>
          <p:cNvPr id="5" name="图片 4"/>
          <p:cNvPicPr/>
          <p:nvPr/>
        </p:nvPicPr>
        <p:blipFill>
          <a:blip r:embed="rId1" cstate="print">
            <a:extLst>
              <a:ext uri="{28A0092B-C50C-407E-A947-70E740481C1C}">
                <a14:useLocalDpi xmlns:a14="http://schemas.microsoft.com/office/drawing/2010/main" val="0"/>
              </a:ext>
            </a:extLst>
          </a:blip>
          <a:stretch>
            <a:fillRect/>
          </a:stretch>
        </p:blipFill>
        <p:spPr bwMode="gray">
          <a:xfrm>
            <a:off x="1813154" y="2134708"/>
            <a:ext cx="472108" cy="381818"/>
          </a:xfrm>
          <a:prstGeom prst="rect">
            <a:avLst/>
          </a:prstGeom>
        </p:spPr>
      </p:pic>
      <p:cxnSp>
        <p:nvCxnSpPr>
          <p:cNvPr id="6" name="直接连接符 5"/>
          <p:cNvCxnSpPr>
            <a:stCxn id="7" idx="2"/>
          </p:cNvCxnSpPr>
          <p:nvPr/>
        </p:nvCxnSpPr>
        <p:spPr bwMode="gray">
          <a:xfrm>
            <a:off x="5039975" y="2516526"/>
            <a:ext cx="8856" cy="2097017"/>
          </a:xfrm>
          <a:prstGeom prst="line">
            <a:avLst/>
          </a:prstGeom>
          <a:ln w="19050"/>
        </p:spPr>
        <p:style>
          <a:lnRef idx="1">
            <a:schemeClr val="accent1"/>
          </a:lnRef>
          <a:fillRef idx="0">
            <a:schemeClr val="accent1"/>
          </a:fillRef>
          <a:effectRef idx="0">
            <a:schemeClr val="accent1"/>
          </a:effectRef>
          <a:fontRef idx="minor">
            <a:schemeClr val="tx1"/>
          </a:fontRef>
        </p:style>
      </p:cxnSp>
      <p:pic>
        <p:nvPicPr>
          <p:cNvPr id="7" name="图片 6"/>
          <p:cNvPicPr/>
          <p:nvPr/>
        </p:nvPicPr>
        <p:blipFill>
          <a:blip r:embed="rId1" cstate="print">
            <a:extLst>
              <a:ext uri="{28A0092B-C50C-407E-A947-70E740481C1C}">
                <a14:useLocalDpi xmlns:a14="http://schemas.microsoft.com/office/drawing/2010/main" val="0"/>
              </a:ext>
            </a:extLst>
          </a:blip>
          <a:stretch>
            <a:fillRect/>
          </a:stretch>
        </p:blipFill>
        <p:spPr bwMode="gray">
          <a:xfrm>
            <a:off x="4803921" y="2134708"/>
            <a:ext cx="472108" cy="381818"/>
          </a:xfrm>
          <a:prstGeom prst="rect">
            <a:avLst/>
          </a:prstGeom>
        </p:spPr>
      </p:pic>
      <p:sp>
        <p:nvSpPr>
          <p:cNvPr id="10" name="文本框 9"/>
          <p:cNvSpPr txBox="1"/>
          <p:nvPr/>
        </p:nvSpPr>
        <p:spPr bwMode="gray">
          <a:xfrm>
            <a:off x="1519915" y="1531523"/>
            <a:ext cx="1364088" cy="523220"/>
          </a:xfrm>
          <a:prstGeom prst="rect">
            <a:avLst/>
          </a:prstGeom>
          <a:noFill/>
        </p:spPr>
        <p:txBody>
          <a:bodyPr wrap="square" rtlCol="0">
            <a:spAutoFit/>
          </a:bodyPr>
          <a:lstStyle/>
          <a:p>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   检测端</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（发起端）</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 name="文本框 10"/>
          <p:cNvSpPr txBox="1"/>
          <p:nvPr/>
        </p:nvSpPr>
        <p:spPr bwMode="gray">
          <a:xfrm>
            <a:off x="4628182" y="1665262"/>
            <a:ext cx="849443" cy="307777"/>
          </a:xfrm>
          <a:prstGeom prst="rect">
            <a:avLst/>
          </a:prstGeom>
          <a:noFill/>
        </p:spPr>
        <p:txBody>
          <a:bodyPr wrap="square" rtlCol="0">
            <a:spAutoFit/>
          </a:bodyPr>
          <a:lstStyle/>
          <a:p>
            <a:r>
              <a:rPr lang="zh-CN" altLang="en-US" sz="1400" b="1">
                <a:latin typeface="Huawei Sans" panose="020C0503030203020204" pitchFamily="34" charset="0"/>
                <a:ea typeface="方正兰亭黑简体" panose="02000000000000000000" pitchFamily="2" charset="-122"/>
                <a:sym typeface="Huawei Sans" panose="020C0503030203020204" pitchFamily="34" charset="0"/>
              </a:rPr>
              <a:t>反射端</a:t>
            </a:r>
            <a:endParaRPr lang="zh-CN" altLang="en-US" sz="1400" b="1">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右箭头 22"/>
          <p:cNvSpPr/>
          <p:nvPr/>
        </p:nvSpPr>
        <p:spPr bwMode="gray">
          <a:xfrm>
            <a:off x="2220057" y="2595709"/>
            <a:ext cx="2009244" cy="524056"/>
          </a:xfrm>
          <a:prstGeom prst="rightArrow">
            <a:avLst>
              <a:gd name="adj1" fmla="val 50000"/>
              <a:gd name="adj2" fmla="val 65571"/>
            </a:avLst>
          </a:prstGeom>
          <a:solidFill>
            <a:schemeClr val="bg1">
              <a:lumMod val="95000"/>
            </a:schemeClr>
          </a:solidFill>
          <a:ln w="1905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SBFD Control Packet</a:t>
            </a:r>
            <a:endPar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右箭头 23"/>
          <p:cNvSpPr/>
          <p:nvPr/>
        </p:nvSpPr>
        <p:spPr bwMode="gray">
          <a:xfrm flipH="1">
            <a:off x="2794704" y="3793568"/>
            <a:ext cx="2050821" cy="472891"/>
          </a:xfrm>
          <a:prstGeom prst="rightArrow">
            <a:avLst>
              <a:gd name="adj1" fmla="val 50000"/>
              <a:gd name="adj2" fmla="val 65571"/>
            </a:avLst>
          </a:prstGeom>
          <a:solidFill>
            <a:schemeClr val="bg1">
              <a:lumMod val="95000"/>
            </a:schemeClr>
          </a:solidFill>
          <a:ln w="1905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SBFD Control Packet</a:t>
            </a:r>
            <a:endPar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 name="矩形: 圆角 14"/>
          <p:cNvSpPr/>
          <p:nvPr/>
        </p:nvSpPr>
        <p:spPr bwMode="gray">
          <a:xfrm>
            <a:off x="849219" y="2734165"/>
            <a:ext cx="1135403" cy="1105341"/>
          </a:xfrm>
          <a:prstGeom prst="roundRect">
            <a:avLst/>
          </a:prstGeom>
          <a:noFill/>
          <a:ln w="190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 name="文本框 15"/>
          <p:cNvSpPr txBox="1"/>
          <p:nvPr/>
        </p:nvSpPr>
        <p:spPr bwMode="gray">
          <a:xfrm>
            <a:off x="1071294" y="2796193"/>
            <a:ext cx="849443" cy="307777"/>
          </a:xfrm>
          <a:prstGeom prst="rect">
            <a:avLst/>
          </a:prstGeom>
          <a:noFill/>
        </p:spPr>
        <p:txBody>
          <a:bodyPr wrap="square" rtlCol="0">
            <a:spAutoFit/>
          </a:bodyPr>
          <a:lstStyle/>
          <a:p>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Down</a:t>
            </a:r>
            <a:endParaRPr lang="zh-CN" altLang="en-US" sz="14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 name="文本框 16"/>
          <p:cNvSpPr txBox="1"/>
          <p:nvPr/>
        </p:nvSpPr>
        <p:spPr bwMode="gray">
          <a:xfrm>
            <a:off x="871437" y="3405330"/>
            <a:ext cx="1323809" cy="307777"/>
          </a:xfrm>
          <a:prstGeom prst="rect">
            <a:avLst/>
          </a:prstGeom>
          <a:noFill/>
        </p:spPr>
        <p:txBody>
          <a:bodyPr wrap="square" rtlCol="0">
            <a:spAutoFit/>
          </a:bodyPr>
          <a:lstStyle/>
          <a:p>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Down-&gt; Up</a:t>
            </a:r>
            <a:endParaRPr lang="zh-CN" altLang="en-US" sz="14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 name="任意多边形 2"/>
          <p:cNvSpPr/>
          <p:nvPr/>
        </p:nvSpPr>
        <p:spPr bwMode="gray">
          <a:xfrm>
            <a:off x="2185101" y="3149647"/>
            <a:ext cx="2801481" cy="564894"/>
          </a:xfrm>
          <a:custGeom>
            <a:avLst/>
            <a:gdLst>
              <a:gd name="connsiteX0" fmla="*/ 0 w 3505113"/>
              <a:gd name="connsiteY0" fmla="*/ 33347 h 577788"/>
              <a:gd name="connsiteX1" fmla="*/ 3037668 w 3505113"/>
              <a:gd name="connsiteY1" fmla="*/ 17849 h 577788"/>
              <a:gd name="connsiteX2" fmla="*/ 3332135 w 3505113"/>
              <a:gd name="connsiteY2" fmla="*/ 250323 h 577788"/>
              <a:gd name="connsiteX3" fmla="*/ 3223647 w 3505113"/>
              <a:gd name="connsiteY3" fmla="*/ 529293 h 577788"/>
              <a:gd name="connsiteX4" fmla="*/ 77491 w 3505113"/>
              <a:gd name="connsiteY4" fmla="*/ 575788 h 577788"/>
              <a:gd name="connsiteX0-1" fmla="*/ 0 w 3536296"/>
              <a:gd name="connsiteY0-2" fmla="*/ 33347 h 577788"/>
              <a:gd name="connsiteX1-3" fmla="*/ 3037668 w 3536296"/>
              <a:gd name="connsiteY1-4" fmla="*/ 17849 h 577788"/>
              <a:gd name="connsiteX2-5" fmla="*/ 3401985 w 3536296"/>
              <a:gd name="connsiteY2-6" fmla="*/ 250323 h 577788"/>
              <a:gd name="connsiteX3-7" fmla="*/ 3223647 w 3536296"/>
              <a:gd name="connsiteY3-8" fmla="*/ 529293 h 577788"/>
              <a:gd name="connsiteX4-9" fmla="*/ 77491 w 3536296"/>
              <a:gd name="connsiteY4-10" fmla="*/ 575788 h 577788"/>
              <a:gd name="connsiteX0-11" fmla="*/ 0 w 3530217"/>
              <a:gd name="connsiteY0-12" fmla="*/ 33347 h 577788"/>
              <a:gd name="connsiteX1-13" fmla="*/ 3037668 w 3530217"/>
              <a:gd name="connsiteY1-14" fmla="*/ 17849 h 577788"/>
              <a:gd name="connsiteX2-15" fmla="*/ 3401985 w 3530217"/>
              <a:gd name="connsiteY2-16" fmla="*/ 250323 h 577788"/>
              <a:gd name="connsiteX3-17" fmla="*/ 3223647 w 3530217"/>
              <a:gd name="connsiteY3-18" fmla="*/ 529293 h 577788"/>
              <a:gd name="connsiteX4-19" fmla="*/ 77491 w 3530217"/>
              <a:gd name="connsiteY4-20" fmla="*/ 575788 h 577788"/>
              <a:gd name="connsiteX0-21" fmla="*/ 0 w 3437980"/>
              <a:gd name="connsiteY0-22" fmla="*/ 33347 h 587138"/>
              <a:gd name="connsiteX1-23" fmla="*/ 3037668 w 3437980"/>
              <a:gd name="connsiteY1-24" fmla="*/ 17849 h 587138"/>
              <a:gd name="connsiteX2-25" fmla="*/ 3401985 w 3437980"/>
              <a:gd name="connsiteY2-26" fmla="*/ 250323 h 587138"/>
              <a:gd name="connsiteX3-27" fmla="*/ 3026797 w 3437980"/>
              <a:gd name="connsiteY3-28" fmla="*/ 554693 h 587138"/>
              <a:gd name="connsiteX4-29" fmla="*/ 77491 w 3437980"/>
              <a:gd name="connsiteY4-30" fmla="*/ 575788 h 587138"/>
              <a:gd name="connsiteX0-31" fmla="*/ 0 w 3432439"/>
              <a:gd name="connsiteY0-32" fmla="*/ 53399 h 607190"/>
              <a:gd name="connsiteX1-33" fmla="*/ 3024968 w 3432439"/>
              <a:gd name="connsiteY1-34" fmla="*/ 12501 h 607190"/>
              <a:gd name="connsiteX2-35" fmla="*/ 3401985 w 3432439"/>
              <a:gd name="connsiteY2-36" fmla="*/ 270375 h 607190"/>
              <a:gd name="connsiteX3-37" fmla="*/ 3026797 w 3432439"/>
              <a:gd name="connsiteY3-38" fmla="*/ 574745 h 607190"/>
              <a:gd name="connsiteX4-39" fmla="*/ 77491 w 3432439"/>
              <a:gd name="connsiteY4-40" fmla="*/ 595840 h 607190"/>
              <a:gd name="connsiteX0-41" fmla="*/ 0 w 3432439"/>
              <a:gd name="connsiteY0-42" fmla="*/ 18434 h 572225"/>
              <a:gd name="connsiteX1-43" fmla="*/ 3024968 w 3432439"/>
              <a:gd name="connsiteY1-44" fmla="*/ 28336 h 572225"/>
              <a:gd name="connsiteX2-45" fmla="*/ 3401985 w 3432439"/>
              <a:gd name="connsiteY2-46" fmla="*/ 235410 h 572225"/>
              <a:gd name="connsiteX3-47" fmla="*/ 3026797 w 3432439"/>
              <a:gd name="connsiteY3-48" fmla="*/ 539780 h 572225"/>
              <a:gd name="connsiteX4-49" fmla="*/ 77491 w 3432439"/>
              <a:gd name="connsiteY4-50" fmla="*/ 560875 h 572225"/>
              <a:gd name="connsiteX0-51" fmla="*/ 0 w 3429658"/>
              <a:gd name="connsiteY0-52" fmla="*/ 16335 h 570126"/>
              <a:gd name="connsiteX1-53" fmla="*/ 3024968 w 3429658"/>
              <a:gd name="connsiteY1-54" fmla="*/ 26237 h 570126"/>
              <a:gd name="connsiteX2-55" fmla="*/ 3401985 w 3429658"/>
              <a:gd name="connsiteY2-56" fmla="*/ 233311 h 570126"/>
              <a:gd name="connsiteX3-57" fmla="*/ 3026797 w 3429658"/>
              <a:gd name="connsiteY3-58" fmla="*/ 537681 h 570126"/>
              <a:gd name="connsiteX4-59" fmla="*/ 77491 w 3429658"/>
              <a:gd name="connsiteY4-60" fmla="*/ 558776 h 570126"/>
              <a:gd name="connsiteX0-61" fmla="*/ 0 w 3401985"/>
              <a:gd name="connsiteY0-62" fmla="*/ 16335 h 561442"/>
              <a:gd name="connsiteX1-63" fmla="*/ 3024968 w 3401985"/>
              <a:gd name="connsiteY1-64" fmla="*/ 26237 h 561442"/>
              <a:gd name="connsiteX2-65" fmla="*/ 3401985 w 3401985"/>
              <a:gd name="connsiteY2-66" fmla="*/ 233311 h 561442"/>
              <a:gd name="connsiteX3-67" fmla="*/ 3026797 w 3401985"/>
              <a:gd name="connsiteY3-68" fmla="*/ 537681 h 561442"/>
              <a:gd name="connsiteX4-69" fmla="*/ 77491 w 3401985"/>
              <a:gd name="connsiteY4-70" fmla="*/ 558776 h 561442"/>
              <a:gd name="connsiteX0-71" fmla="*/ 0 w 3401986"/>
              <a:gd name="connsiteY0-72" fmla="*/ 22418 h 567525"/>
              <a:gd name="connsiteX1-73" fmla="*/ 3031318 w 3401986"/>
              <a:gd name="connsiteY1-74" fmla="*/ 19620 h 567525"/>
              <a:gd name="connsiteX2-75" fmla="*/ 3401985 w 3401986"/>
              <a:gd name="connsiteY2-76" fmla="*/ 239394 h 567525"/>
              <a:gd name="connsiteX3-77" fmla="*/ 3026797 w 3401986"/>
              <a:gd name="connsiteY3-78" fmla="*/ 543764 h 567525"/>
              <a:gd name="connsiteX4-79" fmla="*/ 77491 w 3401986"/>
              <a:gd name="connsiteY4-80" fmla="*/ 564859 h 567525"/>
              <a:gd name="connsiteX0-81" fmla="*/ 0 w 3402070"/>
              <a:gd name="connsiteY0-82" fmla="*/ 22418 h 567525"/>
              <a:gd name="connsiteX1-83" fmla="*/ 3031318 w 3402070"/>
              <a:gd name="connsiteY1-84" fmla="*/ 19620 h 567525"/>
              <a:gd name="connsiteX2-85" fmla="*/ 3401985 w 3402070"/>
              <a:gd name="connsiteY2-86" fmla="*/ 239394 h 567525"/>
              <a:gd name="connsiteX3-87" fmla="*/ 3026797 w 3402070"/>
              <a:gd name="connsiteY3-88" fmla="*/ 543764 h 567525"/>
              <a:gd name="connsiteX4-89" fmla="*/ 77491 w 3402070"/>
              <a:gd name="connsiteY4-90" fmla="*/ 564859 h 567525"/>
              <a:gd name="connsiteX0-91" fmla="*/ 0 w 3423915"/>
              <a:gd name="connsiteY0-92" fmla="*/ 27234 h 578951"/>
              <a:gd name="connsiteX1-93" fmla="*/ 3031318 w 3423915"/>
              <a:gd name="connsiteY1-94" fmla="*/ 24436 h 578951"/>
              <a:gd name="connsiteX2-95" fmla="*/ 3389285 w 3423915"/>
              <a:gd name="connsiteY2-96" fmla="*/ 275960 h 578951"/>
              <a:gd name="connsiteX3-97" fmla="*/ 3026797 w 3423915"/>
              <a:gd name="connsiteY3-98" fmla="*/ 548580 h 578951"/>
              <a:gd name="connsiteX4-99" fmla="*/ 77491 w 3423915"/>
              <a:gd name="connsiteY4-100" fmla="*/ 569675 h 578951"/>
              <a:gd name="connsiteX0-101" fmla="*/ 0 w 3423088"/>
              <a:gd name="connsiteY0-102" fmla="*/ 27234 h 578951"/>
              <a:gd name="connsiteX1-103" fmla="*/ 3031318 w 3423088"/>
              <a:gd name="connsiteY1-104" fmla="*/ 24436 h 578951"/>
              <a:gd name="connsiteX2-105" fmla="*/ 3389285 w 3423088"/>
              <a:gd name="connsiteY2-106" fmla="*/ 275960 h 578951"/>
              <a:gd name="connsiteX3-107" fmla="*/ 3026797 w 3423088"/>
              <a:gd name="connsiteY3-108" fmla="*/ 548580 h 578951"/>
              <a:gd name="connsiteX4-109" fmla="*/ 77491 w 3423088"/>
              <a:gd name="connsiteY4-110" fmla="*/ 569675 h 578951"/>
              <a:gd name="connsiteX0-111" fmla="*/ 0 w 3389428"/>
              <a:gd name="connsiteY0-112" fmla="*/ 27234 h 578951"/>
              <a:gd name="connsiteX1-113" fmla="*/ 3031318 w 3389428"/>
              <a:gd name="connsiteY1-114" fmla="*/ 24436 h 578951"/>
              <a:gd name="connsiteX2-115" fmla="*/ 3389285 w 3389428"/>
              <a:gd name="connsiteY2-116" fmla="*/ 275960 h 578951"/>
              <a:gd name="connsiteX3-117" fmla="*/ 3026797 w 3389428"/>
              <a:gd name="connsiteY3-118" fmla="*/ 548580 h 578951"/>
              <a:gd name="connsiteX4-119" fmla="*/ 77491 w 3389428"/>
              <a:gd name="connsiteY4-120" fmla="*/ 569675 h 578951"/>
              <a:gd name="connsiteX0-121" fmla="*/ 0 w 3389413"/>
              <a:gd name="connsiteY0-122" fmla="*/ 27234 h 572596"/>
              <a:gd name="connsiteX1-123" fmla="*/ 3031318 w 3389413"/>
              <a:gd name="connsiteY1-124" fmla="*/ 24436 h 572596"/>
              <a:gd name="connsiteX2-125" fmla="*/ 3389285 w 3389413"/>
              <a:gd name="connsiteY2-126" fmla="*/ 275960 h 572596"/>
              <a:gd name="connsiteX3-127" fmla="*/ 3026797 w 3389413"/>
              <a:gd name="connsiteY3-128" fmla="*/ 548580 h 572596"/>
              <a:gd name="connsiteX4-129" fmla="*/ 77491 w 3389413"/>
              <a:gd name="connsiteY4-130" fmla="*/ 569675 h 572596"/>
              <a:gd name="connsiteX0-131" fmla="*/ 0 w 3426550"/>
              <a:gd name="connsiteY0-132" fmla="*/ 27234 h 575718"/>
              <a:gd name="connsiteX1-133" fmla="*/ 3031318 w 3426550"/>
              <a:gd name="connsiteY1-134" fmla="*/ 24436 h 575718"/>
              <a:gd name="connsiteX2-135" fmla="*/ 3389285 w 3426550"/>
              <a:gd name="connsiteY2-136" fmla="*/ 275960 h 575718"/>
              <a:gd name="connsiteX3-137" fmla="*/ 3026797 w 3426550"/>
              <a:gd name="connsiteY3-138" fmla="*/ 548580 h 575718"/>
              <a:gd name="connsiteX4-139" fmla="*/ 7641 w 3426550"/>
              <a:gd name="connsiteY4-140" fmla="*/ 563325 h 575718"/>
              <a:gd name="connsiteX0-141" fmla="*/ 0 w 3389397"/>
              <a:gd name="connsiteY0-142" fmla="*/ 27234 h 570610"/>
              <a:gd name="connsiteX1-143" fmla="*/ 3031318 w 3389397"/>
              <a:gd name="connsiteY1-144" fmla="*/ 24436 h 570610"/>
              <a:gd name="connsiteX2-145" fmla="*/ 3389285 w 3389397"/>
              <a:gd name="connsiteY2-146" fmla="*/ 275960 h 570610"/>
              <a:gd name="connsiteX3-147" fmla="*/ 3026797 w 3389397"/>
              <a:gd name="connsiteY3-148" fmla="*/ 548580 h 570610"/>
              <a:gd name="connsiteX4-149" fmla="*/ 7641 w 3389397"/>
              <a:gd name="connsiteY4-150" fmla="*/ 563325 h 570610"/>
              <a:gd name="connsiteX0-151" fmla="*/ 0 w 3389291"/>
              <a:gd name="connsiteY0-152" fmla="*/ 27234 h 570610"/>
              <a:gd name="connsiteX1-153" fmla="*/ 3018618 w 3389291"/>
              <a:gd name="connsiteY1-154" fmla="*/ 24436 h 570610"/>
              <a:gd name="connsiteX2-155" fmla="*/ 3389285 w 3389291"/>
              <a:gd name="connsiteY2-156" fmla="*/ 275960 h 570610"/>
              <a:gd name="connsiteX3-157" fmla="*/ 3026797 w 3389291"/>
              <a:gd name="connsiteY3-158" fmla="*/ 548580 h 570610"/>
              <a:gd name="connsiteX4-159" fmla="*/ 7641 w 3389291"/>
              <a:gd name="connsiteY4-160" fmla="*/ 563325 h 570610"/>
              <a:gd name="connsiteX0-161" fmla="*/ 0 w 3389291"/>
              <a:gd name="connsiteY0-162" fmla="*/ 27234 h 570610"/>
              <a:gd name="connsiteX1-163" fmla="*/ 3018618 w 3389291"/>
              <a:gd name="connsiteY1-164" fmla="*/ 24436 h 570610"/>
              <a:gd name="connsiteX2-165" fmla="*/ 3389285 w 3389291"/>
              <a:gd name="connsiteY2-166" fmla="*/ 275960 h 570610"/>
              <a:gd name="connsiteX3-167" fmla="*/ 3026797 w 3389291"/>
              <a:gd name="connsiteY3-168" fmla="*/ 548580 h 570610"/>
              <a:gd name="connsiteX4-169" fmla="*/ 7641 w 3389291"/>
              <a:gd name="connsiteY4-170" fmla="*/ 563325 h 570610"/>
              <a:gd name="connsiteX0-171" fmla="*/ 0 w 3389291"/>
              <a:gd name="connsiteY0-172" fmla="*/ 27234 h 570610"/>
              <a:gd name="connsiteX1-173" fmla="*/ 3018618 w 3389291"/>
              <a:gd name="connsiteY1-174" fmla="*/ 24436 h 570610"/>
              <a:gd name="connsiteX2-175" fmla="*/ 3389285 w 3389291"/>
              <a:gd name="connsiteY2-176" fmla="*/ 275960 h 570610"/>
              <a:gd name="connsiteX3-177" fmla="*/ 3026797 w 3389291"/>
              <a:gd name="connsiteY3-178" fmla="*/ 548580 h 570610"/>
              <a:gd name="connsiteX4-179" fmla="*/ 7641 w 3389291"/>
              <a:gd name="connsiteY4-180" fmla="*/ 563325 h 570610"/>
              <a:gd name="connsiteX0-181" fmla="*/ 0 w 3389291"/>
              <a:gd name="connsiteY0-182" fmla="*/ 27234 h 570610"/>
              <a:gd name="connsiteX1-183" fmla="*/ 3018618 w 3389291"/>
              <a:gd name="connsiteY1-184" fmla="*/ 24436 h 570610"/>
              <a:gd name="connsiteX2-185" fmla="*/ 3389285 w 3389291"/>
              <a:gd name="connsiteY2-186" fmla="*/ 275960 h 570610"/>
              <a:gd name="connsiteX3-187" fmla="*/ 3026797 w 3389291"/>
              <a:gd name="connsiteY3-188" fmla="*/ 548580 h 570610"/>
              <a:gd name="connsiteX4-189" fmla="*/ 7641 w 3389291"/>
              <a:gd name="connsiteY4-190" fmla="*/ 563325 h 57061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389291" h="570610">
                <a:moveTo>
                  <a:pt x="0" y="27234"/>
                </a:moveTo>
                <a:cubicBezTo>
                  <a:pt x="1241156" y="1403"/>
                  <a:pt x="2847437" y="-17018"/>
                  <a:pt x="3018618" y="24436"/>
                </a:cubicBezTo>
                <a:cubicBezTo>
                  <a:pt x="3189799" y="65890"/>
                  <a:pt x="3387922" y="61603"/>
                  <a:pt x="3389285" y="275960"/>
                </a:cubicBezTo>
                <a:cubicBezTo>
                  <a:pt x="3390648" y="490317"/>
                  <a:pt x="3190354" y="513386"/>
                  <a:pt x="3026797" y="548580"/>
                </a:cubicBezTo>
                <a:cubicBezTo>
                  <a:pt x="2863240" y="583774"/>
                  <a:pt x="1309498" y="567199"/>
                  <a:pt x="7641" y="563325"/>
                </a:cubicBezTo>
              </a:path>
            </a:pathLst>
          </a:custGeom>
          <a:ln w="38100">
            <a:solidFill>
              <a:srgbClr val="E28189"/>
            </a:solidFill>
            <a:tailEnd type="stealth"/>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 name="文本框 32"/>
          <p:cNvSpPr txBox="1"/>
          <p:nvPr/>
        </p:nvSpPr>
        <p:spPr bwMode="gray">
          <a:xfrm>
            <a:off x="422254" y="4646757"/>
            <a:ext cx="5713012" cy="1470467"/>
          </a:xfrm>
          <a:prstGeom prst="rect">
            <a:avLst/>
          </a:prstGeom>
          <a:noFill/>
        </p:spPr>
        <p:txBody>
          <a:bodyPr wrap="square">
            <a:spAutoFit/>
          </a:bodyPr>
          <a:lstStyle/>
          <a:p>
            <a:pPr marL="285750" indent="-285750">
              <a:lnSpc>
                <a:spcPct val="130000"/>
              </a:lnSpc>
              <a:buFont typeface="Arial" panose="020B0604020202020204" pitchFamily="34" charset="0"/>
              <a:buChar char="•"/>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SBFD</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分为发起端和反射端，在链路检测之前，发起端和反射端通过互相发送</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SBFD</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控制报文（</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SBFD Control Packet</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）通告</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SBFD</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描述符（</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Discriminator</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）等信息。链路检测时，发起端主动发送</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SBFD</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报文，反射端根据本端情况环回此报文，发起端根据反射报文决定本端状态。</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 name="矩形 36"/>
          <p:cNvSpPr/>
          <p:nvPr/>
        </p:nvSpPr>
        <p:spPr bwMode="gray">
          <a:xfrm>
            <a:off x="7249615" y="3015405"/>
            <a:ext cx="915806" cy="611624"/>
          </a:xfrm>
          <a:prstGeom prst="rect">
            <a:avLst/>
          </a:prstGeom>
          <a:solidFill>
            <a:srgbClr val="F6B78C"/>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Down</a:t>
            </a:r>
            <a:endParaRPr lang="zh-CN" altLang="en-US" sz="16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矩形 37"/>
          <p:cNvSpPr/>
          <p:nvPr/>
        </p:nvSpPr>
        <p:spPr bwMode="gray">
          <a:xfrm>
            <a:off x="9751515" y="3015405"/>
            <a:ext cx="915806" cy="611624"/>
          </a:xfrm>
          <a:prstGeom prst="rect">
            <a:avLst/>
          </a:prstGeom>
          <a:solidFill>
            <a:srgbClr val="AFD89C"/>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Up</a:t>
            </a:r>
            <a:endParaRPr lang="zh-CN" altLang="en-US" sz="16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弧形 39"/>
          <p:cNvSpPr/>
          <p:nvPr/>
        </p:nvSpPr>
        <p:spPr bwMode="gray">
          <a:xfrm>
            <a:off x="6643012" y="2447257"/>
            <a:ext cx="952836" cy="952836"/>
          </a:xfrm>
          <a:prstGeom prst="arc">
            <a:avLst>
              <a:gd name="adj1" fmla="val 5326009"/>
              <a:gd name="adj2" fmla="val 0"/>
            </a:avLst>
          </a:prstGeom>
          <a:ln w="19050">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弧形 40"/>
          <p:cNvSpPr/>
          <p:nvPr/>
        </p:nvSpPr>
        <p:spPr bwMode="gray">
          <a:xfrm flipH="1">
            <a:off x="10268340" y="2477135"/>
            <a:ext cx="915806" cy="952836"/>
          </a:xfrm>
          <a:prstGeom prst="arc">
            <a:avLst>
              <a:gd name="adj1" fmla="val 5326009"/>
              <a:gd name="adj2" fmla="val 0"/>
            </a:avLst>
          </a:prstGeom>
          <a:ln w="19050">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43" name="直接箭头连接符 42"/>
          <p:cNvCxnSpPr/>
          <p:nvPr/>
        </p:nvCxnSpPr>
        <p:spPr bwMode="gray">
          <a:xfrm>
            <a:off x="8165421" y="3227450"/>
            <a:ext cx="1586094"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直接箭头连接符 44"/>
          <p:cNvCxnSpPr/>
          <p:nvPr/>
        </p:nvCxnSpPr>
        <p:spPr bwMode="gray">
          <a:xfrm flipH="1">
            <a:off x="8165421" y="3422817"/>
            <a:ext cx="1586094"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6" name="文本框 45"/>
          <p:cNvSpPr txBox="1"/>
          <p:nvPr/>
        </p:nvSpPr>
        <p:spPr bwMode="gray">
          <a:xfrm>
            <a:off x="8631426" y="2856687"/>
            <a:ext cx="798606" cy="307777"/>
          </a:xfrm>
          <a:prstGeom prst="rect">
            <a:avLst/>
          </a:prstGeom>
          <a:noFill/>
        </p:spPr>
        <p:txBody>
          <a:bodyPr wrap="square" rtlCol="0">
            <a:spAutoFit/>
          </a:bodyPr>
          <a:lstStyle/>
          <a:p>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Up</a:t>
            </a:r>
            <a:endParaRPr lang="zh-CN" altLang="en-US" sz="14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文本框 46"/>
          <p:cNvSpPr txBox="1"/>
          <p:nvPr/>
        </p:nvSpPr>
        <p:spPr bwMode="gray">
          <a:xfrm>
            <a:off x="8351012" y="3553851"/>
            <a:ext cx="1264611" cy="523220"/>
          </a:xfrm>
          <a:prstGeom prst="rect">
            <a:avLst/>
          </a:prstGeom>
          <a:noFill/>
        </p:spPr>
        <p:txBody>
          <a:bodyPr wrap="square" rtlCol="0">
            <a:spAutoFit/>
          </a:bodyPr>
          <a:lstStyle/>
          <a:p>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Admin Down</a:t>
            </a:r>
            <a:endParaRPr lang="en-US" altLang="zh-CN" sz="140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   (Timer)</a:t>
            </a:r>
            <a:endParaRPr lang="zh-CN" altLang="en-US" sz="14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 name="文本框 47"/>
          <p:cNvSpPr txBox="1"/>
          <p:nvPr/>
        </p:nvSpPr>
        <p:spPr bwMode="gray">
          <a:xfrm>
            <a:off x="6352446" y="1849836"/>
            <a:ext cx="1264611" cy="523220"/>
          </a:xfrm>
          <a:prstGeom prst="rect">
            <a:avLst/>
          </a:prstGeom>
          <a:noFill/>
        </p:spPr>
        <p:txBody>
          <a:bodyPr wrap="square" rtlCol="0">
            <a:spAutoFit/>
          </a:bodyPr>
          <a:lstStyle/>
          <a:p>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Admin Down</a:t>
            </a:r>
            <a:endParaRPr lang="en-US" altLang="zh-CN" sz="140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(Timer)</a:t>
            </a:r>
            <a:endParaRPr lang="zh-CN" altLang="en-US" sz="14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文本框 48"/>
          <p:cNvSpPr txBox="1"/>
          <p:nvPr/>
        </p:nvSpPr>
        <p:spPr bwMode="gray">
          <a:xfrm>
            <a:off x="10450347" y="1982335"/>
            <a:ext cx="798606" cy="307777"/>
          </a:xfrm>
          <a:prstGeom prst="rect">
            <a:avLst/>
          </a:prstGeom>
          <a:noFill/>
        </p:spPr>
        <p:txBody>
          <a:bodyPr wrap="square" rtlCol="0">
            <a:spAutoFit/>
          </a:bodyPr>
          <a:lstStyle/>
          <a:p>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Up</a:t>
            </a:r>
            <a:endParaRPr lang="zh-CN" altLang="en-US" sz="14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0" name="文本框 49"/>
          <p:cNvSpPr txBox="1"/>
          <p:nvPr/>
        </p:nvSpPr>
        <p:spPr bwMode="gray">
          <a:xfrm>
            <a:off x="6279092" y="4196854"/>
            <a:ext cx="5201703" cy="1772793"/>
          </a:xfrm>
          <a:prstGeom prst="rect">
            <a:avLst/>
          </a:prstGeom>
          <a:noFill/>
        </p:spPr>
        <p:txBody>
          <a:bodyPr wrap="square">
            <a:spAutoFit/>
          </a:bodyPr>
          <a:lstStyle/>
          <a:p>
            <a:pPr marL="285750" indent="-285750">
              <a:lnSpc>
                <a:spcPct val="130000"/>
              </a:lnSpc>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反射端构造的环回报文携带两种报文状态字段，</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Admin Down</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或者</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Up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285750" indent="-285750">
              <a:lnSpc>
                <a:spcPct val="130000"/>
              </a:lnSpc>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发起端收到反射端发回的</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Up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报文则将本地状态置为</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Up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。发起端收到反射端返回</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Admin Down</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报文，则将状态置为</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Down</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。发起端在定时器超时前收不到返回报文，也将状态置为</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Down</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1" name="文本框 50"/>
          <p:cNvSpPr txBox="1"/>
          <p:nvPr/>
        </p:nvSpPr>
        <p:spPr bwMode="gray">
          <a:xfrm>
            <a:off x="8085724" y="1459747"/>
            <a:ext cx="1745488" cy="307777"/>
          </a:xfrm>
          <a:prstGeom prst="rect">
            <a:avLst/>
          </a:prstGeom>
          <a:noFill/>
        </p:spPr>
        <p:txBody>
          <a:bodyPr wrap="square" rtlCol="0">
            <a:spAutoFit/>
          </a:bodyPr>
          <a:lstStyle/>
          <a:p>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SBFD</a:t>
            </a:r>
            <a:r>
              <a:rPr lang="zh-CN" altLang="en-US" sz="1400" b="1">
                <a:latin typeface="Huawei Sans" panose="020C0503030203020204" pitchFamily="34" charset="0"/>
                <a:ea typeface="方正兰亭黑简体" panose="02000000000000000000" pitchFamily="2" charset="-122"/>
                <a:sym typeface="Huawei Sans" panose="020C0503030203020204" pitchFamily="34" charset="0"/>
              </a:rPr>
              <a:t>发起端状态机</a:t>
            </a:r>
            <a:endParaRPr lang="zh-CN" altLang="en-US" sz="1400" b="1">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gray"/>
        <p:txBody>
          <a:bodyPr/>
          <a:lstStyle/>
          <a:p>
            <a:r>
              <a:rPr lang="en-US" altLang="zh-CN" dirty="0"/>
              <a:t>SRv6 Ping/</a:t>
            </a:r>
            <a:r>
              <a:rPr lang="en-US" altLang="zh-CN" dirty="0" err="1"/>
              <a:t>Tracert</a:t>
            </a:r>
            <a:r>
              <a:rPr lang="zh-CN" altLang="en-US" dirty="0"/>
              <a:t>介绍</a:t>
            </a:r>
            <a:endParaRPr lang="zh-CN" altLang="en-US" dirty="0"/>
          </a:p>
        </p:txBody>
      </p:sp>
      <p:graphicFrame>
        <p:nvGraphicFramePr>
          <p:cNvPr id="47" name="表格 49"/>
          <p:cNvGraphicFramePr>
            <a:graphicFrameLocks noGrp="1"/>
          </p:cNvGraphicFramePr>
          <p:nvPr/>
        </p:nvGraphicFramePr>
        <p:xfrm>
          <a:off x="2956512" y="1308791"/>
          <a:ext cx="5714758" cy="4129871"/>
        </p:xfrm>
        <a:graphic>
          <a:graphicData uri="http://schemas.openxmlformats.org/drawingml/2006/table">
            <a:tbl>
              <a:tblPr/>
              <a:tblGrid>
                <a:gridCol w="696387"/>
                <a:gridCol w="732304"/>
                <a:gridCol w="744886"/>
                <a:gridCol w="683801"/>
                <a:gridCol w="1428691"/>
                <a:gridCol w="1428689"/>
              </a:tblGrid>
              <a:tr h="431437">
                <a:tc>
                  <a:txBody>
                    <a:bodyPr/>
                    <a:lstStyle>
                      <a:lvl1pPr marL="0"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1pPr>
                      <a:lvl2pPr marL="575945"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2pPr>
                      <a:lvl3pPr marL="1151890"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3pPr>
                      <a:lvl4pPr marL="1727835"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4pPr>
                      <a:lvl5pPr marL="2303780"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5pPr>
                      <a:lvl6pPr marL="2879725"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6pPr>
                      <a:lvl7pPr marL="3455670"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7pPr>
                      <a:lvl8pPr marL="4031615"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8pPr>
                      <a:lvl9pPr marL="4607560"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9pPr>
                    </a:lstStyle>
                    <a:p>
                      <a:pPr algn="l" fontAlgn="ctr"/>
                      <a:r>
                        <a:rPr lang="en-US" altLang="zh-CN" sz="1200" b="0" i="0" u="none" strike="noStrike" dirty="0">
                          <a:solidFill>
                            <a:schemeClr val="bg1"/>
                          </a:solidFill>
                          <a:effectLst/>
                          <a:latin typeface="Huawei Sans" panose="020C0503030203020204" pitchFamily="34" charset="0"/>
                          <a:ea typeface="方正兰亭黑简体" panose="02000000000000000000" pitchFamily="2" charset="-122"/>
                          <a:cs typeface="Huawei Sans" panose="020C0503030203020204" pitchFamily="34" charset="0"/>
                        </a:rPr>
                        <a:t>Version</a:t>
                      </a:r>
                      <a:endParaRPr lang="zh-CN" altLang="en-US" sz="1200" b="0" i="0" u="none" strike="noStrike" dirty="0">
                        <a:solidFill>
                          <a:schemeClr val="bg1"/>
                        </a:solidFill>
                        <a:effectLst/>
                        <a:latin typeface="Huawei Sans" panose="020C0503030203020204" pitchFamily="34" charset="0"/>
                        <a:ea typeface="方正兰亭黑简体" panose="02000000000000000000" pitchFamily="2" charset="-122"/>
                        <a:cs typeface="Huawei Sans" panose="020C0503030203020204" pitchFamily="34" charset="0"/>
                      </a:endParaRPr>
                    </a:p>
                  </a:txBody>
                  <a:tcPr marL="9525" marR="9525" marT="9525" marB="0" anchor="ctr" anchorCtr="1">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50000"/>
                      </a:schemeClr>
                    </a:solidFill>
                  </a:tcPr>
                </a:tc>
                <a:tc gridSpan="2">
                  <a:txBody>
                    <a:bodyPr/>
                    <a:lstStyle/>
                    <a:p>
                      <a:pPr algn="l" fontAlgn="ctr"/>
                      <a:r>
                        <a:rPr lang="en-US" altLang="zh-CN" sz="1200" b="0" i="0" u="none" strike="noStrike" dirty="0">
                          <a:solidFill>
                            <a:schemeClr val="bg1"/>
                          </a:solidFill>
                          <a:effectLst/>
                          <a:latin typeface="Huawei Sans" panose="020C0503030203020204" pitchFamily="34" charset="0"/>
                          <a:ea typeface="方正兰亭黑简体" panose="02000000000000000000" pitchFamily="2" charset="-122"/>
                          <a:cs typeface="Huawei Sans" panose="020C0503030203020204" pitchFamily="34" charset="0"/>
                        </a:rPr>
                        <a:t>Traffic Class</a:t>
                      </a:r>
                      <a:endParaRPr lang="zh-CN" altLang="en-US" sz="1200" b="0" i="0" u="none" strike="noStrike" dirty="0">
                        <a:solidFill>
                          <a:schemeClr val="bg1"/>
                        </a:solidFill>
                        <a:effectLst/>
                        <a:latin typeface="Huawei Sans" panose="020C0503030203020204" pitchFamily="34" charset="0"/>
                        <a:ea typeface="方正兰亭黑简体" panose="02000000000000000000" pitchFamily="2" charset="-122"/>
                        <a:cs typeface="Huawei Sans" panose="020C0503030203020204" pitchFamily="34" charset="0"/>
                      </a:endParaRPr>
                    </a:p>
                  </a:txBody>
                  <a:tcPr marL="9525" marR="9525" marT="9525" marB="0" anchor="ctr" anchorCtr="1">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50000"/>
                      </a:schemeClr>
                    </a:solidFill>
                  </a:tcPr>
                </a:tc>
                <a:tc hMerge="1">
                  <a:tcPr marL="9523" marR="9523" marT="9523" marB="0" anchor="ctr" anchorCtr="1">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92D050"/>
                    </a:solidFill>
                  </a:tcPr>
                </a:tc>
                <a:tc gridSpan="3">
                  <a:txBody>
                    <a:bodyPr/>
                    <a:lstStyle/>
                    <a:p>
                      <a:pPr algn="l" fontAlgn="ctr"/>
                      <a:r>
                        <a:rPr lang="en-US" altLang="zh-CN" sz="1200" b="0" i="0" u="none" strike="noStrike" dirty="0">
                          <a:solidFill>
                            <a:schemeClr val="bg1"/>
                          </a:solidFill>
                          <a:effectLst/>
                          <a:latin typeface="Huawei Sans" panose="020C0503030203020204" pitchFamily="34" charset="0"/>
                          <a:ea typeface="方正兰亭黑简体" panose="02000000000000000000" pitchFamily="2" charset="-122"/>
                          <a:cs typeface="Huawei Sans" panose="020C0503030203020204" pitchFamily="34" charset="0"/>
                        </a:rPr>
                        <a:t>Flow Label</a:t>
                      </a:r>
                      <a:endParaRPr lang="zh-CN" altLang="en-US" sz="1200" b="0" i="0" u="none" strike="noStrike" dirty="0">
                        <a:solidFill>
                          <a:schemeClr val="bg1"/>
                        </a:solidFill>
                        <a:effectLst/>
                        <a:latin typeface="Huawei Sans" panose="020C0503030203020204" pitchFamily="34" charset="0"/>
                        <a:ea typeface="方正兰亭黑简体" panose="02000000000000000000" pitchFamily="2" charset="-122"/>
                        <a:cs typeface="Huawei Sans" panose="020C0503030203020204" pitchFamily="34" charset="0"/>
                      </a:endParaRPr>
                    </a:p>
                  </a:txBody>
                  <a:tcPr marL="9525" marR="9525" marT="9525" marB="0" anchor="ctr" anchorCtr="1">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50000"/>
                      </a:schemeClr>
                    </a:solidFill>
                  </a:tcPr>
                </a:tc>
                <a:tc hMerge="1">
                  <a:tcPr marL="9523" marR="9523" marT="9523" marB="0" anchor="ctr" anchorCtr="1">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92D050"/>
                    </a:solidFill>
                  </a:tcPr>
                </a:tc>
                <a:tc hMerge="1">
                  <a:tcPr marL="9525" marR="9525" marT="9525" marB="0" anchor="ctr" anchorCtr="1">
                    <a:solidFill>
                      <a:srgbClr val="92D050"/>
                    </a:solidFill>
                  </a:tcPr>
                </a:tc>
              </a:tr>
              <a:tr h="431437">
                <a:tc gridSpan="4">
                  <a:txBody>
                    <a:bodyPr/>
                    <a:lstStyle>
                      <a:lvl1pPr marL="0"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1pPr>
                      <a:lvl2pPr marL="575945"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2pPr>
                      <a:lvl3pPr marL="1151890"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3pPr>
                      <a:lvl4pPr marL="1727835"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4pPr>
                      <a:lvl5pPr marL="2303780"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5pPr>
                      <a:lvl6pPr marL="2879725"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6pPr>
                      <a:lvl7pPr marL="3455670"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7pPr>
                      <a:lvl8pPr marL="4031615"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8pPr>
                      <a:lvl9pPr marL="4607560"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9pPr>
                    </a:lstStyle>
                    <a:p>
                      <a:pPr algn="l" fontAlgn="ctr"/>
                      <a:r>
                        <a:rPr lang="en-US" altLang="zh-CN" sz="1200" b="0" i="0" u="none" strike="noStrike" dirty="0">
                          <a:solidFill>
                            <a:schemeClr val="bg1"/>
                          </a:solidFill>
                          <a:effectLst/>
                          <a:latin typeface="Huawei Sans" panose="020C0503030203020204" pitchFamily="34" charset="0"/>
                          <a:ea typeface="方正兰亭黑简体" panose="02000000000000000000" pitchFamily="2" charset="-122"/>
                          <a:cs typeface="Huawei Sans" panose="020C0503030203020204" pitchFamily="34" charset="0"/>
                        </a:rPr>
                        <a:t>Payload</a:t>
                      </a:r>
                      <a:r>
                        <a:rPr lang="en-US" altLang="zh-CN" sz="1200" b="0" i="0" u="none" strike="noStrike" baseline="0" dirty="0">
                          <a:solidFill>
                            <a:schemeClr val="bg1"/>
                          </a:solidFill>
                          <a:effectLst/>
                          <a:latin typeface="Huawei Sans" panose="020C0503030203020204" pitchFamily="34" charset="0"/>
                          <a:ea typeface="方正兰亭黑简体" panose="02000000000000000000" pitchFamily="2" charset="-122"/>
                          <a:cs typeface="Huawei Sans" panose="020C0503030203020204" pitchFamily="34" charset="0"/>
                        </a:rPr>
                        <a:t> Length</a:t>
                      </a:r>
                      <a:endParaRPr lang="zh-CN" altLang="en-US" sz="1200" b="0" i="0" u="none" strike="noStrike" dirty="0">
                        <a:solidFill>
                          <a:schemeClr val="bg1"/>
                        </a:solidFill>
                        <a:effectLst/>
                        <a:latin typeface="Huawei Sans" panose="020C0503030203020204" pitchFamily="34" charset="0"/>
                        <a:ea typeface="方正兰亭黑简体" panose="02000000000000000000" pitchFamily="2" charset="-122"/>
                        <a:cs typeface="Huawei Sans" panose="020C0503030203020204" pitchFamily="34" charset="0"/>
                      </a:endParaRPr>
                    </a:p>
                  </a:txBody>
                  <a:tcPr marL="9525" marR="9525" marT="9525" marB="0" anchor="ctr" anchorCtr="1">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50000"/>
                      </a:schemeClr>
                    </a:solidFill>
                  </a:tcPr>
                </a:tc>
                <a:tc hMerge="1">
                  <a:tcPr/>
                </a:tc>
                <a:tc hMerge="1">
                  <a:tcPr marL="9525" marR="9525" marT="9525" marB="0" anchor="ctr" anchorCtr="1">
                    <a:solidFill>
                      <a:srgbClr val="92D050"/>
                    </a:solidFill>
                  </a:tcPr>
                </a:tc>
                <a:tc hMerge="1">
                  <a:tcPr/>
                </a:tc>
                <a:tc>
                  <a:txBody>
                    <a:bodyPr/>
                    <a:lstStyle/>
                    <a:p>
                      <a:pPr marL="0" algn="l" defTabSz="1151890" rtl="0" eaLnBrk="1" fontAlgn="ctr" latinLnBrk="0" hangingPunct="1"/>
                      <a:r>
                        <a:rPr lang="en-US" altLang="zh-CN" sz="1200" b="0" i="0" u="none" strike="noStrike" kern="1200" dirty="0">
                          <a:solidFill>
                            <a:schemeClr val="bg1"/>
                          </a:solidFill>
                          <a:effectLst/>
                          <a:latin typeface="Huawei Sans" panose="020C0503030203020204" pitchFamily="34" charset="0"/>
                          <a:ea typeface="方正兰亭黑简体" panose="02000000000000000000" pitchFamily="2" charset="-122"/>
                          <a:cs typeface="Huawei Sans" panose="020C0503030203020204" pitchFamily="34" charset="0"/>
                        </a:rPr>
                        <a:t>Next Header=43</a:t>
                      </a:r>
                      <a:endParaRPr lang="zh-CN" altLang="en-US" sz="1200" b="0" i="0" u="none" strike="noStrike" kern="1200" dirty="0">
                        <a:solidFill>
                          <a:schemeClr val="bg1"/>
                        </a:solidFill>
                        <a:effectLst/>
                        <a:latin typeface="Huawei Sans" panose="020C0503030203020204" pitchFamily="34" charset="0"/>
                        <a:ea typeface="方正兰亭黑简体" panose="02000000000000000000" pitchFamily="2" charset="-122"/>
                        <a:cs typeface="Huawei Sans" panose="020C0503030203020204" pitchFamily="34" charset="0"/>
                      </a:endParaRPr>
                    </a:p>
                  </a:txBody>
                  <a:tcPr marL="9525" marR="9525" marT="9525" marB="0" anchor="ctr" anchorCtr="1">
                    <a:lnL w="12700" cmpd="sng">
                      <a:solidFill>
                        <a:srgbClr val="FFFFFF"/>
                      </a:solidFill>
                    </a:lnL>
                    <a:lnR w="12700" cmpd="sng">
                      <a:solidFill>
                        <a:srgbClr val="FFFFFF"/>
                      </a:solid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lvl1pPr marL="0"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1pPr>
                      <a:lvl2pPr marL="575945"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2pPr>
                      <a:lvl3pPr marL="1151890"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3pPr>
                      <a:lvl4pPr marL="1727835"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4pPr>
                      <a:lvl5pPr marL="2303780"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5pPr>
                      <a:lvl6pPr marL="2879725"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6pPr>
                      <a:lvl7pPr marL="3455670"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7pPr>
                      <a:lvl8pPr marL="4031615"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8pPr>
                      <a:lvl9pPr marL="4607560"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9pPr>
                    </a:lstStyle>
                    <a:p>
                      <a:pPr algn="l" fontAlgn="ctr"/>
                      <a:r>
                        <a:rPr lang="en-US" altLang="zh-CN" sz="1200" b="0" i="0" u="none" strike="noStrike" dirty="0">
                          <a:solidFill>
                            <a:schemeClr val="bg1"/>
                          </a:solidFill>
                          <a:effectLst/>
                          <a:latin typeface="Huawei Sans" panose="020C0503030203020204" pitchFamily="34" charset="0"/>
                          <a:ea typeface="方正兰亭黑简体" panose="02000000000000000000" pitchFamily="2" charset="-122"/>
                          <a:cs typeface="Huawei Sans" panose="020C0503030203020204" pitchFamily="34" charset="0"/>
                        </a:rPr>
                        <a:t>Hop Limit</a:t>
                      </a:r>
                      <a:endParaRPr lang="zh-CN" altLang="en-US" sz="1200" b="0" i="0" u="none" strike="noStrike" dirty="0">
                        <a:solidFill>
                          <a:schemeClr val="bg1"/>
                        </a:solidFill>
                        <a:effectLst/>
                        <a:latin typeface="Huawei Sans" panose="020C0503030203020204" pitchFamily="34" charset="0"/>
                        <a:ea typeface="方正兰亭黑简体" panose="02000000000000000000" pitchFamily="2" charset="-122"/>
                        <a:cs typeface="Huawei Sans" panose="020C0503030203020204" pitchFamily="34" charset="0"/>
                      </a:endParaRPr>
                    </a:p>
                  </a:txBody>
                  <a:tcPr marL="9525" marR="9525" marT="9525" marB="0" anchor="ctr" anchorCtr="1">
                    <a:lnL w="12700" cap="flat" cmpd="sng" algn="ctr">
                      <a:solidFill>
                        <a:srgbClr val="FFFFFF"/>
                      </a:solidFill>
                      <a:prstDash val="solid"/>
                      <a:round/>
                      <a:headEnd type="none" w="med" len="med"/>
                      <a:tailEnd type="none" w="med" len="med"/>
                    </a:lnL>
                    <a:lnR w="12700" cmpd="sng">
                      <a:solidFill>
                        <a:srgbClr val="FFFFFF"/>
                      </a:solid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r>
              <a:tr h="354445">
                <a:tc gridSpan="6">
                  <a:txBody>
                    <a:bodyPr/>
                    <a:lstStyle>
                      <a:lvl1pPr marL="0"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1pPr>
                      <a:lvl2pPr marL="575945"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2pPr>
                      <a:lvl3pPr marL="1151890"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3pPr>
                      <a:lvl4pPr marL="1727835"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4pPr>
                      <a:lvl5pPr marL="2303780"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5pPr>
                      <a:lvl6pPr marL="2879725"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6pPr>
                      <a:lvl7pPr marL="3455670"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7pPr>
                      <a:lvl8pPr marL="4031615"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8pPr>
                      <a:lvl9pPr marL="4607560"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9pPr>
                    </a:lstStyle>
                    <a:p>
                      <a:pPr algn="l" fontAlgn="ctr"/>
                      <a:r>
                        <a:rPr lang="en-US" altLang="zh-CN" sz="1200" b="0" i="0" u="none" strike="noStrike" dirty="0">
                          <a:solidFill>
                            <a:schemeClr val="bg1"/>
                          </a:solidFill>
                          <a:effectLst/>
                          <a:latin typeface="Huawei Sans" panose="020C0503030203020204" pitchFamily="34" charset="0"/>
                          <a:ea typeface="方正兰亭黑简体" panose="02000000000000000000" pitchFamily="2" charset="-122"/>
                          <a:cs typeface="Huawei Sans" panose="020C0503030203020204" pitchFamily="34" charset="0"/>
                        </a:rPr>
                        <a:t>IPv6</a:t>
                      </a:r>
                      <a:r>
                        <a:rPr lang="zh-CN" altLang="en-US" sz="1200" b="0" i="0" u="none" strike="noStrike" dirty="0">
                          <a:solidFill>
                            <a:schemeClr val="bg1"/>
                          </a:solidFill>
                          <a:effectLst/>
                          <a:latin typeface="Huawei Sans" panose="020C0503030203020204" pitchFamily="34" charset="0"/>
                          <a:ea typeface="方正兰亭黑简体" panose="02000000000000000000" pitchFamily="2" charset="-122"/>
                          <a:cs typeface="Huawei Sans" panose="020C0503030203020204" pitchFamily="34" charset="0"/>
                        </a:rPr>
                        <a:t>源地址</a:t>
                      </a:r>
                      <a:r>
                        <a:rPr lang="en-US" altLang="zh-CN" sz="1200" b="0" i="0" u="none" strike="noStrike" dirty="0">
                          <a:solidFill>
                            <a:schemeClr val="bg1"/>
                          </a:solidFill>
                          <a:effectLst/>
                          <a:latin typeface="Huawei Sans" panose="020C0503030203020204" pitchFamily="34" charset="0"/>
                          <a:ea typeface="方正兰亭黑简体" panose="02000000000000000000" pitchFamily="2" charset="-122"/>
                          <a:cs typeface="Huawei Sans" panose="020C0503030203020204" pitchFamily="34" charset="0"/>
                        </a:rPr>
                        <a:t>(SA)</a:t>
                      </a:r>
                      <a:endParaRPr lang="zh-CN" altLang="en-US" sz="1200" b="0" i="0" u="none" strike="noStrike" dirty="0">
                        <a:solidFill>
                          <a:schemeClr val="bg1"/>
                        </a:solidFill>
                        <a:effectLst/>
                        <a:latin typeface="Huawei Sans" panose="020C0503030203020204" pitchFamily="34" charset="0"/>
                        <a:ea typeface="方正兰亭黑简体" panose="02000000000000000000" pitchFamily="2" charset="-122"/>
                        <a:cs typeface="Huawei Sans" panose="020C0503030203020204" pitchFamily="34" charset="0"/>
                      </a:endParaRPr>
                    </a:p>
                  </a:txBody>
                  <a:tcPr marL="9525" marR="9525" marT="9525" marB="0" anchor="ctr" anchorCtr="1">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50000"/>
                      </a:schemeClr>
                    </a:solidFill>
                  </a:tcPr>
                </a:tc>
                <a:tc hMerge="1">
                  <a:tcPr/>
                </a:tc>
                <a:tc hMerge="1">
                  <a:tcPr marL="9525" marR="9525" marT="9525" marB="0" anchor="ctr" anchorCtr="1">
                    <a:solidFill>
                      <a:srgbClr val="92D050"/>
                    </a:solidFill>
                  </a:tcPr>
                </a:tc>
                <a:tc hMerge="1">
                  <a:tcPr/>
                </a:tc>
                <a:tc hMerge="1">
                  <a:tcPr marL="9525" marR="9525" marT="9525" marB="0" anchor="ctr" anchorCtr="1">
                    <a:solidFill>
                      <a:srgbClr val="92D050"/>
                    </a:solidFill>
                  </a:tcPr>
                </a:tc>
                <a:tc hMerge="1">
                  <a:tcPr marL="9525" marR="9525" marT="9525" marB="0" anchor="ctr" anchorCtr="1">
                    <a:solidFill>
                      <a:srgbClr val="92D050"/>
                    </a:solidFill>
                  </a:tcPr>
                </a:tc>
              </a:tr>
              <a:tr h="354445">
                <a:tc gridSpan="6">
                  <a:txBody>
                    <a:bodyPr/>
                    <a:lstStyle>
                      <a:lvl1pPr marL="0"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1pPr>
                      <a:lvl2pPr marL="575945"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2pPr>
                      <a:lvl3pPr marL="1151890"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3pPr>
                      <a:lvl4pPr marL="1727835"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4pPr>
                      <a:lvl5pPr marL="2303780"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5pPr>
                      <a:lvl6pPr marL="2879725"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6pPr>
                      <a:lvl7pPr marL="3455670"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7pPr>
                      <a:lvl8pPr marL="4031615"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8pPr>
                      <a:lvl9pPr marL="4607560"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9pPr>
                    </a:lstStyle>
                    <a:p>
                      <a:pPr algn="l" fontAlgn="ctr"/>
                      <a:r>
                        <a:rPr lang="en-US" altLang="zh-CN" sz="1200" b="0" i="0" u="none" strike="noStrike" dirty="0">
                          <a:solidFill>
                            <a:schemeClr val="bg1"/>
                          </a:solidFill>
                          <a:effectLst/>
                          <a:latin typeface="Huawei Sans" panose="020C0503030203020204" pitchFamily="34" charset="0"/>
                          <a:ea typeface="方正兰亭黑简体" panose="02000000000000000000" pitchFamily="2" charset="-122"/>
                          <a:cs typeface="Huawei Sans" panose="020C0503030203020204" pitchFamily="34" charset="0"/>
                        </a:rPr>
                        <a:t>IPv6</a:t>
                      </a:r>
                      <a:r>
                        <a:rPr lang="zh-CN" altLang="en-US" sz="1200" b="0" i="0" u="none" strike="noStrike" dirty="0">
                          <a:solidFill>
                            <a:schemeClr val="bg1"/>
                          </a:solidFill>
                          <a:effectLst/>
                          <a:latin typeface="Huawei Sans" panose="020C0503030203020204" pitchFamily="34" charset="0"/>
                          <a:ea typeface="方正兰亭黑简体" panose="02000000000000000000" pitchFamily="2" charset="-122"/>
                          <a:cs typeface="Huawei Sans" panose="020C0503030203020204" pitchFamily="34" charset="0"/>
                        </a:rPr>
                        <a:t>目的地址</a:t>
                      </a:r>
                      <a:r>
                        <a:rPr lang="en-US" altLang="zh-CN" sz="1200" b="0" i="0" u="none" strike="noStrike" dirty="0">
                          <a:solidFill>
                            <a:schemeClr val="bg1"/>
                          </a:solidFill>
                          <a:effectLst/>
                          <a:latin typeface="Huawei Sans" panose="020C0503030203020204" pitchFamily="34" charset="0"/>
                          <a:ea typeface="方正兰亭黑简体" panose="02000000000000000000" pitchFamily="2" charset="-122"/>
                          <a:cs typeface="Huawei Sans" panose="020C0503030203020204" pitchFamily="34" charset="0"/>
                        </a:rPr>
                        <a:t>(DA)</a:t>
                      </a:r>
                      <a:endParaRPr lang="zh-CN" altLang="en-US" sz="1200" b="0" i="0" u="none" strike="noStrike" dirty="0">
                        <a:solidFill>
                          <a:schemeClr val="bg1"/>
                        </a:solidFill>
                        <a:effectLst/>
                        <a:latin typeface="Huawei Sans" panose="020C0503030203020204" pitchFamily="34" charset="0"/>
                        <a:ea typeface="方正兰亭黑简体" panose="02000000000000000000" pitchFamily="2" charset="-122"/>
                        <a:cs typeface="Huawei Sans" panose="020C0503030203020204" pitchFamily="34" charset="0"/>
                      </a:endParaRPr>
                    </a:p>
                  </a:txBody>
                  <a:tcPr marL="9525" marR="9525" marT="9525" marB="0" anchor="ctr" anchorCtr="1">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50000"/>
                      </a:schemeClr>
                    </a:solidFill>
                  </a:tcPr>
                </a:tc>
                <a:tc hMerge="1">
                  <a:tcPr/>
                </a:tc>
                <a:tc hMerge="1">
                  <a:tcPr marL="9525" marR="9525" marT="9525" marB="0" anchor="ctr" anchorCtr="1">
                    <a:solidFill>
                      <a:srgbClr val="92D050"/>
                    </a:solidFill>
                  </a:tcPr>
                </a:tc>
                <a:tc hMerge="1">
                  <a:tcPr/>
                </a:tc>
                <a:tc hMerge="1">
                  <a:tcPr marL="9525" marR="9525" marT="9525" marB="0" anchor="ctr" anchorCtr="1">
                    <a:solidFill>
                      <a:srgbClr val="92D050"/>
                    </a:solidFill>
                  </a:tcPr>
                </a:tc>
                <a:tc hMerge="1">
                  <a:tcPr marL="9525" marR="9525" marT="9525" marB="0" anchor="ctr" anchorCtr="1">
                    <a:solidFill>
                      <a:srgbClr val="92D050"/>
                    </a:solidFill>
                  </a:tcPr>
                </a:tc>
              </a:tr>
              <a:tr h="431437">
                <a:tc gridSpan="2">
                  <a:txBody>
                    <a:bodyPr/>
                    <a:lstStyle>
                      <a:lvl1pPr marL="0"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1pPr>
                      <a:lvl2pPr marL="575945"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2pPr>
                      <a:lvl3pPr marL="1151890"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3pPr>
                      <a:lvl4pPr marL="1727835"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4pPr>
                      <a:lvl5pPr marL="2303780"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5pPr>
                      <a:lvl6pPr marL="2879725"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6pPr>
                      <a:lvl7pPr marL="3455670"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7pPr>
                      <a:lvl8pPr marL="4031615"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8pPr>
                      <a:lvl9pPr marL="4607560"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9pPr>
                    </a:lstStyle>
                    <a:p>
                      <a:pPr algn="l" fontAlgn="ctr"/>
                      <a:r>
                        <a:rPr lang="en-US" altLang="zh-CN" sz="1200" b="0" i="0" u="none" strike="noStrike" dirty="0">
                          <a:solidFill>
                            <a:schemeClr val="bg1"/>
                          </a:solidFill>
                          <a:effectLst/>
                          <a:latin typeface="Huawei Sans" panose="020C0503030203020204" pitchFamily="34" charset="0"/>
                          <a:ea typeface="方正兰亭黑简体" panose="02000000000000000000" pitchFamily="2" charset="-122"/>
                          <a:cs typeface="Huawei Sans" panose="020C0503030203020204" pitchFamily="34" charset="0"/>
                        </a:rPr>
                        <a:t>Next </a:t>
                      </a:r>
                      <a:r>
                        <a:rPr lang="en-US" altLang="zh-CN" sz="1200" b="0" i="0" u="none" strike="noStrike" kern="1200" dirty="0">
                          <a:solidFill>
                            <a:schemeClr val="bg1"/>
                          </a:solidFill>
                          <a:effectLst/>
                          <a:latin typeface="Huawei Sans" panose="020C0503030203020204" pitchFamily="34" charset="0"/>
                          <a:ea typeface="方正兰亭黑简体" panose="02000000000000000000" pitchFamily="2" charset="-122"/>
                          <a:cs typeface="Huawei Sans" panose="020C0503030203020204" pitchFamily="34" charset="0"/>
                        </a:rPr>
                        <a:t>Header</a:t>
                      </a:r>
                      <a:endParaRPr lang="zh-CN" altLang="en-US" sz="1200" b="0" i="0" u="none" strike="noStrike" kern="1200" dirty="0">
                        <a:solidFill>
                          <a:schemeClr val="bg1"/>
                        </a:solidFill>
                        <a:effectLst/>
                        <a:latin typeface="Huawei Sans" panose="020C0503030203020204" pitchFamily="34" charset="0"/>
                        <a:ea typeface="方正兰亭黑简体" panose="02000000000000000000" pitchFamily="2" charset="-122"/>
                        <a:cs typeface="Huawei Sans" panose="020C0503030203020204" pitchFamily="34" charset="0"/>
                      </a:endParaRPr>
                    </a:p>
                  </a:txBody>
                  <a:tcPr marL="9525" marR="9525" marT="9525" marB="0" anchor="ctr" anchorCtr="1">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56C4D2"/>
                    </a:solidFill>
                  </a:tcPr>
                </a:tc>
                <a:tc hMerge="1">
                  <a:tcPr/>
                </a:tc>
                <a:tc gridSpan="2">
                  <a:txBody>
                    <a:bodyPr/>
                    <a:lstStyle>
                      <a:lvl1pPr marL="0"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1pPr>
                      <a:lvl2pPr marL="575945"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2pPr>
                      <a:lvl3pPr marL="1151890"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3pPr>
                      <a:lvl4pPr marL="1727835"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4pPr>
                      <a:lvl5pPr marL="2303780"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5pPr>
                      <a:lvl6pPr marL="2879725"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6pPr>
                      <a:lvl7pPr marL="3455670"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7pPr>
                      <a:lvl8pPr marL="4031615"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8pPr>
                      <a:lvl9pPr marL="4607560"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9pPr>
                    </a:lstStyle>
                    <a:p>
                      <a:pPr marL="0" algn="l" defTabSz="911225" rtl="0" eaLnBrk="1" fontAlgn="ctr" latinLnBrk="0" hangingPunct="1"/>
                      <a:r>
                        <a:rPr lang="en-US" altLang="zh-CN" sz="1200" b="0" i="0" u="none" strike="noStrike" kern="1200" dirty="0">
                          <a:solidFill>
                            <a:schemeClr val="bg1"/>
                          </a:solidFill>
                          <a:effectLst/>
                          <a:latin typeface="Huawei Sans" panose="020C0503030203020204" pitchFamily="34" charset="0"/>
                          <a:ea typeface="方正兰亭黑简体" panose="02000000000000000000" pitchFamily="2" charset="-122"/>
                          <a:cs typeface="Huawei Sans" panose="020C0503030203020204" pitchFamily="34" charset="0"/>
                        </a:rPr>
                        <a:t>Hdr Ext Len</a:t>
                      </a:r>
                      <a:endParaRPr lang="zh-CN" altLang="en-US" sz="1200" b="0" i="0" u="none" strike="noStrike" kern="1200" dirty="0">
                        <a:solidFill>
                          <a:schemeClr val="bg1"/>
                        </a:solidFill>
                        <a:effectLst/>
                        <a:latin typeface="Huawei Sans" panose="020C0503030203020204" pitchFamily="34" charset="0"/>
                        <a:ea typeface="方正兰亭黑简体" panose="02000000000000000000" pitchFamily="2" charset="-122"/>
                        <a:cs typeface="Huawei Sans" panose="020C0503030203020204" pitchFamily="34" charset="0"/>
                      </a:endParaRPr>
                    </a:p>
                  </a:txBody>
                  <a:tcPr marL="9525" marR="9525" marT="9525" marB="0" anchor="ctr" anchorCtr="1">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56C4D2"/>
                    </a:solidFill>
                  </a:tcPr>
                </a:tc>
                <a:tc hMerge="1">
                  <a:tcPr/>
                </a:tc>
                <a:tc>
                  <a:txBody>
                    <a:bodyPr/>
                    <a:lstStyle>
                      <a:lvl1pPr marL="0"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1pPr>
                      <a:lvl2pPr marL="575945"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2pPr>
                      <a:lvl3pPr marL="1151890"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3pPr>
                      <a:lvl4pPr marL="1727835"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4pPr>
                      <a:lvl5pPr marL="2303780"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5pPr>
                      <a:lvl6pPr marL="2879725"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6pPr>
                      <a:lvl7pPr marL="3455670"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7pPr>
                      <a:lvl8pPr marL="4031615"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8pPr>
                      <a:lvl9pPr marL="4607560"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9pPr>
                    </a:lstStyle>
                    <a:p>
                      <a:pPr marL="0" algn="l" defTabSz="1151890" rtl="0" eaLnBrk="1" fontAlgn="ctr" latinLnBrk="0" hangingPunct="1"/>
                      <a:r>
                        <a:rPr lang="en-US" altLang="zh-CN" sz="1200" b="0" i="0" u="none" strike="noStrike" kern="1200" dirty="0">
                          <a:solidFill>
                            <a:schemeClr val="bg1"/>
                          </a:solidFill>
                          <a:effectLst/>
                          <a:latin typeface="Huawei Sans" panose="020C0503030203020204" pitchFamily="34" charset="0"/>
                          <a:ea typeface="方正兰亭黑简体" panose="02000000000000000000" pitchFamily="2" charset="-122"/>
                          <a:cs typeface="Huawei Sans" panose="020C0503030203020204" pitchFamily="34" charset="0"/>
                        </a:rPr>
                        <a:t>Routing Type=4 </a:t>
                      </a:r>
                      <a:endParaRPr lang="zh-CN" altLang="en-US" sz="1200" b="0" i="0" u="none" strike="noStrike" kern="1200" dirty="0">
                        <a:solidFill>
                          <a:schemeClr val="bg1"/>
                        </a:solidFill>
                        <a:effectLst/>
                        <a:latin typeface="Huawei Sans" panose="020C0503030203020204" pitchFamily="34" charset="0"/>
                        <a:ea typeface="方正兰亭黑简体" panose="02000000000000000000" pitchFamily="2" charset="-122"/>
                        <a:cs typeface="Huawei Sans" panose="020C0503030203020204" pitchFamily="34" charset="0"/>
                      </a:endParaRPr>
                    </a:p>
                  </a:txBody>
                  <a:tcPr marL="9525" marR="9525" marT="9525" marB="0" anchor="ctr" anchorCtr="1">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56C4D2"/>
                    </a:solidFill>
                  </a:tcPr>
                </a:tc>
                <a:tc>
                  <a:txBody>
                    <a:bodyPr/>
                    <a:lstStyle>
                      <a:lvl1pPr marL="0"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1pPr>
                      <a:lvl2pPr marL="575945"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2pPr>
                      <a:lvl3pPr marL="1151890"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3pPr>
                      <a:lvl4pPr marL="1727835"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4pPr>
                      <a:lvl5pPr marL="2303780"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5pPr>
                      <a:lvl6pPr marL="2879725"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6pPr>
                      <a:lvl7pPr marL="3455670"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7pPr>
                      <a:lvl8pPr marL="4031615"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8pPr>
                      <a:lvl9pPr marL="4607560"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9pPr>
                    </a:lstStyle>
                    <a:p>
                      <a:pPr marL="0" algn="l" defTabSz="911225" rtl="0" eaLnBrk="1" fontAlgn="ctr" latinLnBrk="0" hangingPunct="1"/>
                      <a:r>
                        <a:rPr lang="en-US" altLang="zh-CN" sz="1200" b="0" i="0" u="none" strike="noStrike" kern="1200" dirty="0">
                          <a:solidFill>
                            <a:schemeClr val="bg1"/>
                          </a:solidFill>
                          <a:effectLst/>
                          <a:latin typeface="Huawei Sans" panose="020C0503030203020204" pitchFamily="34" charset="0"/>
                          <a:ea typeface="方正兰亭黑简体" panose="02000000000000000000" pitchFamily="2" charset="-122"/>
                          <a:cs typeface="Huawei Sans" panose="020C0503030203020204" pitchFamily="34" charset="0"/>
                        </a:rPr>
                        <a:t>Segments Left=2</a:t>
                      </a:r>
                      <a:endParaRPr lang="zh-CN" altLang="en-US" sz="1200" b="0" i="0" u="none" strike="noStrike" kern="1200" dirty="0">
                        <a:solidFill>
                          <a:schemeClr val="bg1"/>
                        </a:solidFill>
                        <a:effectLst/>
                        <a:latin typeface="Huawei Sans" panose="020C0503030203020204" pitchFamily="34" charset="0"/>
                        <a:ea typeface="方正兰亭黑简体" panose="02000000000000000000" pitchFamily="2" charset="-122"/>
                        <a:cs typeface="Huawei Sans" panose="020C0503030203020204" pitchFamily="34" charset="0"/>
                      </a:endParaRPr>
                    </a:p>
                  </a:txBody>
                  <a:tcPr marL="9525" marR="9525" marT="9525" marB="0" anchor="ctr" anchorCtr="1">
                    <a:lnL w="12700" cap="flat" cmpd="sng" algn="ctr">
                      <a:solidFill>
                        <a:srgbClr val="FFFFFF"/>
                      </a:solidFill>
                      <a:prstDash val="solid"/>
                      <a:round/>
                      <a:headEnd type="none" w="med" len="med"/>
                      <a:tailEnd type="none" w="med" len="med"/>
                    </a:lnL>
                    <a:lnR w="12700" cmpd="sng">
                      <a:solidFill>
                        <a:srgbClr val="FFFFFF"/>
                      </a:solid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56C4D2"/>
                    </a:solidFill>
                  </a:tcPr>
                </a:tc>
              </a:tr>
              <a:tr h="354445">
                <a:tc gridSpan="2">
                  <a:txBody>
                    <a:bodyPr/>
                    <a:lstStyle>
                      <a:lvl1pPr marL="0"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1pPr>
                      <a:lvl2pPr marL="575945"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2pPr>
                      <a:lvl3pPr marL="1151890"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3pPr>
                      <a:lvl4pPr marL="1727835"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4pPr>
                      <a:lvl5pPr marL="2303780"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5pPr>
                      <a:lvl6pPr marL="2879725"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6pPr>
                      <a:lvl7pPr marL="3455670"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7pPr>
                      <a:lvl8pPr marL="4031615"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8pPr>
                      <a:lvl9pPr marL="4607560"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9pPr>
                    </a:lstStyle>
                    <a:p>
                      <a:pPr marL="0" algn="l" defTabSz="911225" rtl="0" eaLnBrk="1" fontAlgn="ctr" latinLnBrk="0" hangingPunct="1"/>
                      <a:r>
                        <a:rPr lang="en-US" altLang="zh-CN" sz="1200" b="0" i="0" u="none" strike="noStrike" kern="1200" dirty="0">
                          <a:solidFill>
                            <a:schemeClr val="bg1"/>
                          </a:solidFill>
                          <a:effectLst/>
                          <a:latin typeface="Huawei Sans" panose="020C0503030203020204" pitchFamily="34" charset="0"/>
                          <a:ea typeface="方正兰亭黑简体" panose="02000000000000000000" pitchFamily="2" charset="-122"/>
                          <a:cs typeface="Huawei Sans" panose="020C0503030203020204" pitchFamily="34" charset="0"/>
                        </a:rPr>
                        <a:t>Last Entry</a:t>
                      </a:r>
                      <a:endParaRPr lang="zh-CN" altLang="en-US" sz="1200" b="0" i="0" u="none" strike="noStrike" kern="1200" dirty="0">
                        <a:solidFill>
                          <a:schemeClr val="bg1"/>
                        </a:solidFill>
                        <a:effectLst/>
                        <a:latin typeface="Huawei Sans" panose="020C0503030203020204" pitchFamily="34" charset="0"/>
                        <a:ea typeface="方正兰亭黑简体" panose="02000000000000000000" pitchFamily="2" charset="-122"/>
                        <a:cs typeface="Huawei Sans" panose="020C0503030203020204" pitchFamily="34" charset="0"/>
                      </a:endParaRPr>
                    </a:p>
                  </a:txBody>
                  <a:tcPr marL="9525" marR="9525" marT="9525" marB="0" anchor="ctr" anchorCtr="1">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56C4D2"/>
                    </a:solidFill>
                  </a:tcPr>
                </a:tc>
                <a:tc hMerge="1">
                  <a:tcPr/>
                </a:tc>
                <a:tc gridSpan="2">
                  <a:txBody>
                    <a:bodyPr/>
                    <a:lstStyle>
                      <a:lvl1pPr marL="0"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1pPr>
                      <a:lvl2pPr marL="575945"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2pPr>
                      <a:lvl3pPr marL="1151890"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3pPr>
                      <a:lvl4pPr marL="1727835"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4pPr>
                      <a:lvl5pPr marL="2303780"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5pPr>
                      <a:lvl6pPr marL="2879725"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6pPr>
                      <a:lvl7pPr marL="3455670"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7pPr>
                      <a:lvl8pPr marL="4031615"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8pPr>
                      <a:lvl9pPr marL="4607560"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9pPr>
                    </a:lstStyle>
                    <a:p>
                      <a:pPr marL="0" algn="l" defTabSz="911225" rtl="0" eaLnBrk="1" fontAlgn="ctr" latinLnBrk="0" hangingPunct="1"/>
                      <a:r>
                        <a:rPr lang="en-US" altLang="zh-CN" sz="1200" b="1" i="0" u="none" strike="noStrike" kern="1200" dirty="0">
                          <a:solidFill>
                            <a:srgbClr val="C7000B"/>
                          </a:solidFill>
                          <a:effectLst/>
                          <a:latin typeface="Huawei Sans" panose="020C0503030203020204" pitchFamily="34" charset="0"/>
                          <a:ea typeface="方正兰亭黑简体" panose="02000000000000000000" pitchFamily="2" charset="-122"/>
                          <a:cs typeface="Huawei Sans" panose="020C0503030203020204" pitchFamily="34" charset="0"/>
                        </a:rPr>
                        <a:t>Flags </a:t>
                      </a:r>
                      <a:endParaRPr lang="zh-CN" altLang="en-US" sz="1200" b="1" i="0" u="none" strike="noStrike" kern="1200" dirty="0">
                        <a:solidFill>
                          <a:srgbClr val="C7000B"/>
                        </a:solidFill>
                        <a:effectLst/>
                        <a:latin typeface="Huawei Sans" panose="020C0503030203020204" pitchFamily="34" charset="0"/>
                        <a:ea typeface="方正兰亭黑简体" panose="02000000000000000000" pitchFamily="2" charset="-122"/>
                        <a:cs typeface="Huawei Sans" panose="020C0503030203020204" pitchFamily="34" charset="0"/>
                      </a:endParaRPr>
                    </a:p>
                  </a:txBody>
                  <a:tcPr marL="9525" marR="9525" marT="9525" marB="0" anchor="ctr" anchorCtr="1">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56C4D2"/>
                    </a:solidFill>
                  </a:tcPr>
                </a:tc>
                <a:tc hMerge="1">
                  <a:tcPr/>
                </a:tc>
                <a:tc gridSpan="2">
                  <a:txBody>
                    <a:bodyPr/>
                    <a:lstStyle>
                      <a:lvl1pPr marL="0"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1pPr>
                      <a:lvl2pPr marL="575945"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2pPr>
                      <a:lvl3pPr marL="1151890"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3pPr>
                      <a:lvl4pPr marL="1727835"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4pPr>
                      <a:lvl5pPr marL="2303780"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5pPr>
                      <a:lvl6pPr marL="2879725"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6pPr>
                      <a:lvl7pPr marL="3455670"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7pPr>
                      <a:lvl8pPr marL="4031615"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8pPr>
                      <a:lvl9pPr marL="4607560"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9pPr>
                    </a:lstStyle>
                    <a:p>
                      <a:pPr marL="0" algn="l" defTabSz="911225" rtl="0" eaLnBrk="1" fontAlgn="ctr" latinLnBrk="0" hangingPunct="1"/>
                      <a:r>
                        <a:rPr lang="en-US" altLang="zh-CN" sz="1200" b="0" i="0" u="none" strike="noStrike" kern="1200" dirty="0">
                          <a:solidFill>
                            <a:schemeClr val="bg1"/>
                          </a:solidFill>
                          <a:effectLst/>
                          <a:latin typeface="Huawei Sans" panose="020C0503030203020204" pitchFamily="34" charset="0"/>
                          <a:ea typeface="方正兰亭黑简体" panose="02000000000000000000" pitchFamily="2" charset="-122"/>
                          <a:cs typeface="Huawei Sans" panose="020C0503030203020204" pitchFamily="34" charset="0"/>
                        </a:rPr>
                        <a:t>Tag </a:t>
                      </a:r>
                      <a:endParaRPr lang="zh-CN" altLang="en-US" sz="1200" b="0" i="0" u="none" strike="noStrike" kern="1200" dirty="0">
                        <a:solidFill>
                          <a:schemeClr val="bg1"/>
                        </a:solidFill>
                        <a:effectLst/>
                        <a:latin typeface="Huawei Sans" panose="020C0503030203020204" pitchFamily="34" charset="0"/>
                        <a:ea typeface="方正兰亭黑简体" panose="02000000000000000000" pitchFamily="2" charset="-122"/>
                        <a:cs typeface="Huawei Sans" panose="020C0503030203020204" pitchFamily="34" charset="0"/>
                      </a:endParaRPr>
                    </a:p>
                  </a:txBody>
                  <a:tcPr marL="9525" marR="9525" marT="9525" marB="0" anchor="ctr" anchorCtr="1">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56C4D2"/>
                    </a:solidFill>
                  </a:tcPr>
                </a:tc>
                <a:tc hMerge="1">
                  <a:tcPr marL="9525" marR="9525" marT="9525" marB="0" anchor="ctr" anchorCtr="1">
                    <a:solidFill>
                      <a:schemeClr val="accent6">
                        <a:lumMod val="75000"/>
                      </a:schemeClr>
                    </a:solidFill>
                  </a:tcPr>
                </a:tc>
              </a:tr>
              <a:tr h="354445">
                <a:tc gridSpan="6">
                  <a:txBody>
                    <a:bodyPr/>
                    <a:lstStyle>
                      <a:lvl1pPr marL="0"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1pPr>
                      <a:lvl2pPr marL="575945"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2pPr>
                      <a:lvl3pPr marL="1151890"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3pPr>
                      <a:lvl4pPr marL="1727835"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4pPr>
                      <a:lvl5pPr marL="2303780"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5pPr>
                      <a:lvl6pPr marL="2879725"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6pPr>
                      <a:lvl7pPr marL="3455670"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7pPr>
                      <a:lvl8pPr marL="4031615"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8pPr>
                      <a:lvl9pPr marL="4607560"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9pPr>
                    </a:lstStyle>
                    <a:p>
                      <a:pPr marL="0" algn="l" defTabSz="911225" rtl="0" eaLnBrk="1" fontAlgn="ctr" latinLnBrk="0" hangingPunct="1"/>
                      <a:r>
                        <a:rPr lang="en-US" altLang="zh-CN" sz="1200" b="1" i="0" u="none" strike="noStrike" kern="1200" dirty="0">
                          <a:solidFill>
                            <a:srgbClr val="C7000B"/>
                          </a:solidFill>
                          <a:effectLst/>
                          <a:latin typeface="Huawei Sans" panose="020C0503030203020204" pitchFamily="34" charset="0"/>
                          <a:ea typeface="方正兰亭黑简体" panose="02000000000000000000" pitchFamily="2" charset="-122"/>
                          <a:cs typeface="Huawei Sans" panose="020C0503030203020204" pitchFamily="34" charset="0"/>
                        </a:rPr>
                        <a:t>Segment List[0]</a:t>
                      </a:r>
                      <a:endParaRPr lang="zh-CN" altLang="en-US" sz="1200" b="1" i="0" u="none" strike="noStrike" kern="1200" dirty="0">
                        <a:solidFill>
                          <a:srgbClr val="C7000B"/>
                        </a:solidFill>
                        <a:effectLst/>
                        <a:latin typeface="Huawei Sans" panose="020C0503030203020204" pitchFamily="34" charset="0"/>
                        <a:ea typeface="方正兰亭黑简体" panose="02000000000000000000" pitchFamily="2" charset="-122"/>
                        <a:cs typeface="Huawei Sans" panose="020C0503030203020204" pitchFamily="34" charset="0"/>
                      </a:endParaRPr>
                    </a:p>
                  </a:txBody>
                  <a:tcPr marL="9525" marR="9525" marT="9525" marB="0" anchor="ctr" anchorCtr="1">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56C4D2"/>
                    </a:solidFill>
                  </a:tcPr>
                </a:tc>
                <a:tc hMerge="1">
                  <a:tcPr/>
                </a:tc>
                <a:tc hMerge="1">
                  <a:tcPr marL="9525" marR="9525" marT="9525" marB="0" anchor="ctr" anchorCtr="1">
                    <a:solidFill>
                      <a:schemeClr val="accent6">
                        <a:lumMod val="75000"/>
                      </a:schemeClr>
                    </a:solidFill>
                  </a:tcPr>
                </a:tc>
                <a:tc hMerge="1">
                  <a:tcPr/>
                </a:tc>
                <a:tc hMerge="1">
                  <a:tcPr marL="9525" marR="9525" marT="9525" marB="0" anchor="ctr" anchorCtr="1">
                    <a:solidFill>
                      <a:schemeClr val="accent6">
                        <a:lumMod val="75000"/>
                      </a:schemeClr>
                    </a:solidFill>
                  </a:tcPr>
                </a:tc>
                <a:tc hMerge="1">
                  <a:tcPr marL="9525" marR="9525" marT="9525" marB="0" anchor="ctr" anchorCtr="1">
                    <a:solidFill>
                      <a:schemeClr val="accent6">
                        <a:lumMod val="75000"/>
                      </a:schemeClr>
                    </a:solidFill>
                  </a:tcPr>
                </a:tc>
              </a:tr>
              <a:tr h="354445">
                <a:tc gridSpan="6">
                  <a:txBody>
                    <a:bodyPr/>
                    <a:lstStyle>
                      <a:lvl1pPr marL="0"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1pPr>
                      <a:lvl2pPr marL="575945"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2pPr>
                      <a:lvl3pPr marL="1151890"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3pPr>
                      <a:lvl4pPr marL="1727835"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4pPr>
                      <a:lvl5pPr marL="2303780"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5pPr>
                      <a:lvl6pPr marL="2879725"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6pPr>
                      <a:lvl7pPr marL="3455670"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7pPr>
                      <a:lvl8pPr marL="4031615"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8pPr>
                      <a:lvl9pPr marL="4607560"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9pPr>
                    </a:lstStyle>
                    <a:p>
                      <a:pPr marL="0" marR="0" lvl="0" indent="0" algn="l" defTabSz="911225" rtl="0" eaLnBrk="1" fontAlgn="ctr" latinLnBrk="0" hangingPunct="1">
                        <a:lnSpc>
                          <a:spcPct val="100000"/>
                        </a:lnSpc>
                        <a:spcBef>
                          <a:spcPts val="0"/>
                        </a:spcBef>
                        <a:spcAft>
                          <a:spcPts val="0"/>
                        </a:spcAft>
                        <a:buClrTx/>
                        <a:buSzTx/>
                        <a:buFontTx/>
                        <a:buNone/>
                        <a:defRPr/>
                      </a:pPr>
                      <a:r>
                        <a:rPr lang="en-US" altLang="zh-CN" sz="1200" b="1" i="0" u="none" strike="noStrike" kern="1200" dirty="0">
                          <a:solidFill>
                            <a:srgbClr val="C7000B"/>
                          </a:solidFill>
                          <a:effectLst/>
                          <a:latin typeface="Huawei Sans" panose="020C0503030203020204" pitchFamily="34" charset="0"/>
                          <a:ea typeface="方正兰亭黑简体" panose="02000000000000000000" pitchFamily="2" charset="-122"/>
                          <a:cs typeface="Huawei Sans" panose="020C0503030203020204" pitchFamily="34" charset="0"/>
                        </a:rPr>
                        <a:t>Segment List[1]</a:t>
                      </a:r>
                      <a:endParaRPr lang="zh-CN" altLang="en-US" sz="1200" b="1" i="0" u="none" strike="noStrike" kern="1200" dirty="0">
                        <a:solidFill>
                          <a:srgbClr val="C7000B"/>
                        </a:solidFill>
                        <a:effectLst/>
                        <a:latin typeface="Huawei Sans" panose="020C0503030203020204" pitchFamily="34" charset="0"/>
                        <a:ea typeface="方正兰亭黑简体" panose="02000000000000000000" pitchFamily="2" charset="-122"/>
                        <a:cs typeface="Huawei Sans" panose="020C0503030203020204" pitchFamily="34" charset="0"/>
                      </a:endParaRPr>
                    </a:p>
                  </a:txBody>
                  <a:tcPr marL="9525" marR="9525" marT="9525" marB="0" anchor="ctr" anchorCtr="1">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56C4D2"/>
                    </a:solidFill>
                  </a:tcPr>
                </a:tc>
                <a:tc hMerge="1">
                  <a:tcPr/>
                </a:tc>
                <a:tc hMerge="1">
                  <a:tcPr marL="9525" marR="9525" marT="9525" marB="0" anchor="ctr" anchorCtr="1">
                    <a:solidFill>
                      <a:schemeClr val="accent6">
                        <a:lumMod val="75000"/>
                      </a:schemeClr>
                    </a:solidFill>
                  </a:tcPr>
                </a:tc>
                <a:tc hMerge="1">
                  <a:tcPr/>
                </a:tc>
                <a:tc hMerge="1">
                  <a:tcPr marL="9525" marR="9525" marT="9525" marB="0" anchor="ctr" anchorCtr="1">
                    <a:solidFill>
                      <a:schemeClr val="accent6">
                        <a:lumMod val="75000"/>
                      </a:schemeClr>
                    </a:solidFill>
                  </a:tcPr>
                </a:tc>
                <a:tc hMerge="1">
                  <a:tcPr marL="9525" marR="9525" marT="9525" marB="0" anchor="ctr" anchorCtr="1">
                    <a:solidFill>
                      <a:schemeClr val="accent6">
                        <a:lumMod val="75000"/>
                      </a:schemeClr>
                    </a:solidFill>
                  </a:tcPr>
                </a:tc>
              </a:tr>
              <a:tr h="354445">
                <a:tc gridSpan="6">
                  <a:txBody>
                    <a:bodyPr/>
                    <a:lstStyle>
                      <a:lvl1pPr marL="0"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1pPr>
                      <a:lvl2pPr marL="575945"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2pPr>
                      <a:lvl3pPr marL="1151890"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3pPr>
                      <a:lvl4pPr marL="1727835"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4pPr>
                      <a:lvl5pPr marL="2303780"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5pPr>
                      <a:lvl6pPr marL="2879725"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6pPr>
                      <a:lvl7pPr marL="3455670"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7pPr>
                      <a:lvl8pPr marL="4031615"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8pPr>
                      <a:lvl9pPr marL="4607560"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9pPr>
                    </a:lstStyle>
                    <a:p>
                      <a:pPr marL="0" marR="0" lvl="0" indent="0" algn="l" defTabSz="911225" rtl="0" eaLnBrk="1" fontAlgn="ctr" latinLnBrk="0" hangingPunct="1">
                        <a:lnSpc>
                          <a:spcPct val="100000"/>
                        </a:lnSpc>
                        <a:spcBef>
                          <a:spcPts val="0"/>
                        </a:spcBef>
                        <a:spcAft>
                          <a:spcPts val="0"/>
                        </a:spcAft>
                        <a:buClrTx/>
                        <a:buSzTx/>
                        <a:buFontTx/>
                        <a:buNone/>
                        <a:defRPr/>
                      </a:pPr>
                      <a:r>
                        <a:rPr lang="en-US" altLang="zh-CN" sz="1200" b="1" i="0" u="none" strike="noStrike" kern="1200" dirty="0">
                          <a:solidFill>
                            <a:srgbClr val="C7000B"/>
                          </a:solidFill>
                          <a:effectLst/>
                          <a:latin typeface="Huawei Sans" panose="020C0503030203020204" pitchFamily="34" charset="0"/>
                          <a:ea typeface="方正兰亭黑简体" panose="02000000000000000000" pitchFamily="2" charset="-122"/>
                          <a:cs typeface="Huawei Sans" panose="020C0503030203020204" pitchFamily="34" charset="0"/>
                        </a:rPr>
                        <a:t>Segment List[2]</a:t>
                      </a:r>
                      <a:r>
                        <a:rPr lang="zh-CN" altLang="en-US" sz="1200" b="1" i="0" u="none" strike="noStrike" kern="1200" dirty="0">
                          <a:solidFill>
                            <a:srgbClr val="C7000B"/>
                          </a:solidFill>
                          <a:effectLst/>
                          <a:latin typeface="Huawei Sans" panose="020C0503030203020204" pitchFamily="34" charset="0"/>
                          <a:ea typeface="方正兰亭黑简体" panose="02000000000000000000" pitchFamily="2" charset="-122"/>
                          <a:cs typeface="Huawei Sans" panose="020C0503030203020204" pitchFamily="34" charset="0"/>
                        </a:rPr>
                        <a:t> </a:t>
                      </a:r>
                      <a:endParaRPr lang="zh-CN" altLang="en-US" sz="1200" b="1" i="0" u="none" strike="noStrike" kern="1200" dirty="0">
                        <a:solidFill>
                          <a:srgbClr val="C7000B"/>
                        </a:solidFill>
                        <a:effectLst/>
                        <a:latin typeface="Huawei Sans" panose="020C0503030203020204" pitchFamily="34" charset="0"/>
                        <a:ea typeface="方正兰亭黑简体" panose="02000000000000000000" pitchFamily="2" charset="-122"/>
                        <a:cs typeface="Huawei Sans" panose="020C0503030203020204" pitchFamily="34" charset="0"/>
                      </a:endParaRPr>
                    </a:p>
                  </a:txBody>
                  <a:tcPr marL="9525" marR="9525" marT="9525" marB="0" anchor="ctr" anchorCtr="1">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56C4D2"/>
                    </a:solidFill>
                  </a:tcPr>
                </a:tc>
                <a:tc hMerge="1">
                  <a:tcPr/>
                </a:tc>
                <a:tc hMerge="1">
                  <a:tcPr marL="9525" marR="9525" marT="9525" marB="0" anchor="ctr" anchorCtr="1">
                    <a:solidFill>
                      <a:schemeClr val="accent6">
                        <a:lumMod val="75000"/>
                      </a:schemeClr>
                    </a:solidFill>
                  </a:tcPr>
                </a:tc>
                <a:tc hMerge="1">
                  <a:tcPr/>
                </a:tc>
                <a:tc hMerge="1">
                  <a:tcPr marL="9525" marR="9525" marT="9525" marB="0" anchor="ctr" anchorCtr="1">
                    <a:solidFill>
                      <a:schemeClr val="accent6">
                        <a:lumMod val="75000"/>
                      </a:schemeClr>
                    </a:solidFill>
                  </a:tcPr>
                </a:tc>
                <a:tc hMerge="1">
                  <a:tcPr marL="9525" marR="9525" marT="9525" marB="0" anchor="ctr" anchorCtr="1">
                    <a:solidFill>
                      <a:schemeClr val="accent6">
                        <a:lumMod val="75000"/>
                      </a:schemeClr>
                    </a:solidFill>
                  </a:tcPr>
                </a:tc>
              </a:tr>
              <a:tr h="354445">
                <a:tc gridSpan="6">
                  <a:txBody>
                    <a:bodyPr/>
                    <a:lstStyle>
                      <a:lvl1pPr marL="0"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1pPr>
                      <a:lvl2pPr marL="575945"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2pPr>
                      <a:lvl3pPr marL="1151890"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3pPr>
                      <a:lvl4pPr marL="1727835"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4pPr>
                      <a:lvl5pPr marL="2303780"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5pPr>
                      <a:lvl6pPr marL="2879725"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6pPr>
                      <a:lvl7pPr marL="3455670"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7pPr>
                      <a:lvl8pPr marL="4031615"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8pPr>
                      <a:lvl9pPr marL="4607560"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9pPr>
                    </a:lstStyle>
                    <a:p>
                      <a:pPr marL="0" marR="0" lvl="0" indent="0" algn="l" defTabSz="911225" rtl="0" eaLnBrk="1" fontAlgn="ctr" latinLnBrk="0" hangingPunct="1">
                        <a:lnSpc>
                          <a:spcPct val="100000"/>
                        </a:lnSpc>
                        <a:spcBef>
                          <a:spcPts val="0"/>
                        </a:spcBef>
                        <a:spcAft>
                          <a:spcPts val="0"/>
                        </a:spcAft>
                        <a:buClrTx/>
                        <a:buSzTx/>
                        <a:buFontTx/>
                        <a:buNone/>
                        <a:defRPr/>
                      </a:pPr>
                      <a:r>
                        <a:rPr lang="en-US" sz="1200" b="0" i="0" u="none" strike="noStrike" kern="1200" dirty="0">
                          <a:solidFill>
                            <a:schemeClr val="bg1"/>
                          </a:solidFill>
                          <a:effectLst/>
                          <a:latin typeface="Huawei Sans" panose="020C0503030203020204" pitchFamily="34" charset="0"/>
                          <a:ea typeface="方正兰亭黑简体" panose="02000000000000000000" pitchFamily="2" charset="-122"/>
                          <a:cs typeface="Huawei Sans" panose="020C0503030203020204" pitchFamily="34" charset="0"/>
                        </a:rPr>
                        <a:t>Optional TLV objects</a:t>
                      </a:r>
                      <a:endParaRPr lang="zh-CN" altLang="en-US" sz="1200" b="0" i="0" u="none" strike="noStrike" kern="1200" dirty="0">
                        <a:solidFill>
                          <a:schemeClr val="bg1"/>
                        </a:solidFill>
                        <a:effectLst/>
                        <a:latin typeface="Huawei Sans" panose="020C0503030203020204" pitchFamily="34" charset="0"/>
                        <a:ea typeface="方正兰亭黑简体" panose="02000000000000000000" pitchFamily="2" charset="-122"/>
                        <a:cs typeface="Huawei Sans" panose="020C0503030203020204" pitchFamily="34" charset="0"/>
                      </a:endParaRPr>
                    </a:p>
                  </a:txBody>
                  <a:tcPr marL="9525" marR="9525" marT="9525" marB="0" anchor="ctr" anchorCtr="1">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56C4D2"/>
                    </a:solidFill>
                  </a:tcPr>
                </a:tc>
                <a:tc hMerge="1">
                  <a:tcPr/>
                </a:tc>
                <a:tc hMerge="1">
                  <a:tcPr/>
                </a:tc>
                <a:tc hMerge="1">
                  <a:tcPr/>
                </a:tc>
                <a:tc hMerge="1">
                  <a:tcPr/>
                </a:tc>
                <a:tc hMerge="1">
                  <a:tcPr/>
                </a:tc>
              </a:tr>
              <a:tr h="354445">
                <a:tc gridSpan="6">
                  <a:txBody>
                    <a:bodyPr/>
                    <a:lstStyle>
                      <a:lvl1pPr marL="0"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1pPr>
                      <a:lvl2pPr marL="575945"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2pPr>
                      <a:lvl3pPr marL="1151890"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3pPr>
                      <a:lvl4pPr marL="1727835"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4pPr>
                      <a:lvl5pPr marL="2303780"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5pPr>
                      <a:lvl6pPr marL="2879725"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6pPr>
                      <a:lvl7pPr marL="3455670"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7pPr>
                      <a:lvl8pPr marL="4031615"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8pPr>
                      <a:lvl9pPr marL="4607560" algn="l" defTabSz="1151890" rtl="0" eaLnBrk="1" latinLnBrk="0" hangingPunct="1">
                        <a:defRPr sz="2300" kern="1200">
                          <a:solidFill>
                            <a:schemeClr val="dk1"/>
                          </a:solidFill>
                          <a:latin typeface="FrutigerNext LT Medium"/>
                          <a:ea typeface="微软雅黑" panose="020B0503020204020204" charset="-122"/>
                          <a:cs typeface="宋体" panose="02010600030101010101" pitchFamily="2" charset="-122"/>
                        </a:defRPr>
                      </a:lvl9pPr>
                    </a:lstStyle>
                    <a:p>
                      <a:pPr algn="l" fontAlgn="ctr"/>
                      <a:r>
                        <a:rPr lang="en-US" altLang="zh-CN" sz="1200" b="0" i="0" u="none" strike="noStrike" dirty="0">
                          <a:solidFill>
                            <a:schemeClr val="bg1"/>
                          </a:solidFill>
                          <a:effectLst/>
                          <a:latin typeface="Huawei Sans" panose="020C0503030203020204" pitchFamily="34" charset="0"/>
                          <a:ea typeface="方正兰亭黑简体" panose="02000000000000000000" pitchFamily="2" charset="-122"/>
                          <a:cs typeface="Huawei Sans" panose="020C0503030203020204" pitchFamily="34" charset="0"/>
                        </a:rPr>
                        <a:t>L2/L3 Payload</a:t>
                      </a:r>
                      <a:endParaRPr lang="zh-CN" altLang="en-US" sz="1200" b="0" i="0" u="none" strike="noStrike" dirty="0">
                        <a:solidFill>
                          <a:schemeClr val="bg1"/>
                        </a:solidFill>
                        <a:effectLst/>
                        <a:latin typeface="Huawei Sans" panose="020C0503030203020204" pitchFamily="34" charset="0"/>
                        <a:ea typeface="方正兰亭黑简体" panose="02000000000000000000" pitchFamily="2" charset="-122"/>
                        <a:cs typeface="Huawei Sans" panose="020C0503030203020204" pitchFamily="34" charset="0"/>
                      </a:endParaRPr>
                    </a:p>
                  </a:txBody>
                  <a:tcPr marL="9525" marR="9525" marT="9525" marB="0" anchor="ctr" anchorCtr="1">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50000"/>
                      </a:schemeClr>
                    </a:solidFill>
                  </a:tcPr>
                </a:tc>
                <a:tc hMerge="1">
                  <a:tcPr/>
                </a:tc>
                <a:tc hMerge="1">
                  <a:tcPr marL="9525" marR="9525" marT="9525" marB="0" anchor="ctr" anchorCtr="1">
                    <a:solidFill>
                      <a:schemeClr val="accent6">
                        <a:lumMod val="75000"/>
                      </a:schemeClr>
                    </a:solidFill>
                  </a:tcPr>
                </a:tc>
                <a:tc hMerge="1">
                  <a:tcPr/>
                </a:tc>
                <a:tc hMerge="1">
                  <a:tcPr marL="9525" marR="9525" marT="9525" marB="0" anchor="ctr" anchorCtr="1">
                    <a:solidFill>
                      <a:schemeClr val="accent6">
                        <a:lumMod val="75000"/>
                      </a:schemeClr>
                    </a:solidFill>
                  </a:tcPr>
                </a:tc>
                <a:tc hMerge="1">
                  <a:tcPr marL="9525" marR="9525" marT="9525" marB="0" anchor="ctr" anchorCtr="1">
                    <a:solidFill>
                      <a:schemeClr val="accent6">
                        <a:lumMod val="75000"/>
                      </a:schemeClr>
                    </a:solidFill>
                  </a:tcPr>
                </a:tc>
              </a:tr>
            </a:tbl>
          </a:graphicData>
        </a:graphic>
      </p:graphicFrame>
      <p:sp>
        <p:nvSpPr>
          <p:cNvPr id="49" name="矩形 1"/>
          <p:cNvSpPr/>
          <p:nvPr/>
        </p:nvSpPr>
        <p:spPr>
          <a:xfrm>
            <a:off x="888343" y="2031447"/>
            <a:ext cx="172016" cy="3259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endParaRPr>
          </a:p>
        </p:txBody>
      </p:sp>
      <p:sp>
        <p:nvSpPr>
          <p:cNvPr id="50" name="矩形 57"/>
          <p:cNvSpPr/>
          <p:nvPr/>
        </p:nvSpPr>
        <p:spPr>
          <a:xfrm>
            <a:off x="1060359" y="2031447"/>
            <a:ext cx="172016" cy="3259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endParaRPr>
          </a:p>
        </p:txBody>
      </p:sp>
      <p:sp>
        <p:nvSpPr>
          <p:cNvPr id="53" name="矩形 58"/>
          <p:cNvSpPr/>
          <p:nvPr/>
        </p:nvSpPr>
        <p:spPr>
          <a:xfrm>
            <a:off x="1227967" y="2031447"/>
            <a:ext cx="172016" cy="3259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FFC000"/>
                </a:solidFill>
                <a:latin typeface="Huawei Sans" panose="020C0503030203020204" pitchFamily="34" charset="0"/>
                <a:ea typeface="方正兰亭黑简体" panose="02000000000000000000" pitchFamily="2" charset="-122"/>
              </a:rPr>
              <a:t>O</a:t>
            </a:r>
            <a:endParaRPr lang="zh-CN" altLang="en-US" dirty="0">
              <a:solidFill>
                <a:srgbClr val="FFC000"/>
              </a:solidFill>
              <a:latin typeface="Huawei Sans" panose="020C0503030203020204" pitchFamily="34" charset="0"/>
              <a:ea typeface="方正兰亭黑简体" panose="02000000000000000000" pitchFamily="2" charset="-122"/>
            </a:endParaRPr>
          </a:p>
        </p:txBody>
      </p:sp>
      <p:sp>
        <p:nvSpPr>
          <p:cNvPr id="54" name="矩形 59"/>
          <p:cNvSpPr/>
          <p:nvPr/>
        </p:nvSpPr>
        <p:spPr>
          <a:xfrm>
            <a:off x="1399983" y="2031447"/>
            <a:ext cx="851264" cy="3259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latin typeface="Huawei Sans" panose="020C0503030203020204" pitchFamily="34" charset="0"/>
                <a:ea typeface="方正兰亭黑简体" panose="02000000000000000000" pitchFamily="2" charset="-122"/>
              </a:rPr>
              <a:t>Reserved</a:t>
            </a:r>
            <a:endParaRPr lang="zh-CN" altLang="en-US" sz="1200" dirty="0">
              <a:solidFill>
                <a:schemeClr val="tx1"/>
              </a:solidFill>
              <a:latin typeface="Huawei Sans" panose="020C0503030203020204" pitchFamily="34" charset="0"/>
              <a:ea typeface="方正兰亭黑简体" panose="02000000000000000000" pitchFamily="2" charset="-122"/>
            </a:endParaRPr>
          </a:p>
        </p:txBody>
      </p:sp>
      <p:cxnSp>
        <p:nvCxnSpPr>
          <p:cNvPr id="55" name="直接箭头连接符 4"/>
          <p:cNvCxnSpPr>
            <a:endCxn id="54" idx="3"/>
          </p:cNvCxnSpPr>
          <p:nvPr/>
        </p:nvCxnSpPr>
        <p:spPr>
          <a:xfrm flipH="1" flipV="1">
            <a:off x="2251247" y="2194410"/>
            <a:ext cx="2535357" cy="1199262"/>
          </a:xfrm>
          <a:prstGeom prst="straightConnector1">
            <a:avLst/>
          </a:prstGeom>
          <a:ln w="28575">
            <a:solidFill>
              <a:srgbClr val="E28189"/>
            </a:solidFill>
            <a:tailEnd type="triangle"/>
          </a:ln>
        </p:spPr>
        <p:style>
          <a:lnRef idx="1">
            <a:schemeClr val="accent1"/>
          </a:lnRef>
          <a:fillRef idx="0">
            <a:schemeClr val="accent1"/>
          </a:fillRef>
          <a:effectRef idx="0">
            <a:schemeClr val="accent1"/>
          </a:effectRef>
          <a:fontRef idx="minor">
            <a:schemeClr val="tx1"/>
          </a:fontRef>
        </p:style>
      </p:cxnSp>
      <p:sp>
        <p:nvSpPr>
          <p:cNvPr id="58" name="矩形 5"/>
          <p:cNvSpPr/>
          <p:nvPr/>
        </p:nvSpPr>
        <p:spPr>
          <a:xfrm>
            <a:off x="598311" y="2944996"/>
            <a:ext cx="2255566" cy="2493665"/>
          </a:xfrm>
          <a:prstGeom prst="roundRect">
            <a:avLst>
              <a:gd name="adj" fmla="val 3487"/>
            </a:avLst>
          </a:prstGeom>
          <a:noFill/>
          <a:ln w="19050">
            <a:solidFill>
              <a:srgbClr val="56C4D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rgbClr val="000000"/>
                </a:solidFill>
                <a:latin typeface="Huawei Sans" panose="020C0503030203020204" pitchFamily="34" charset="0"/>
                <a:ea typeface="方正兰亭黑简体" panose="02000000000000000000" pitchFamily="2" charset="-122"/>
              </a:rPr>
              <a:t>方案一：</a:t>
            </a:r>
            <a:r>
              <a:rPr lang="en-US" altLang="zh-CN" sz="1600" b="1" dirty="0">
                <a:solidFill>
                  <a:srgbClr val="000000"/>
                </a:solidFill>
                <a:latin typeface="Huawei Sans" panose="020C0503030203020204" pitchFamily="34" charset="0"/>
                <a:ea typeface="方正兰亭黑简体" panose="02000000000000000000" pitchFamily="2" charset="-122"/>
              </a:rPr>
              <a:t>SRH</a:t>
            </a:r>
            <a:r>
              <a:rPr lang="zh-CN" altLang="en-US" sz="1600" b="1" dirty="0">
                <a:solidFill>
                  <a:srgbClr val="000000"/>
                </a:solidFill>
                <a:latin typeface="Huawei Sans" panose="020C0503030203020204" pitchFamily="34" charset="0"/>
                <a:ea typeface="方正兰亭黑简体" panose="02000000000000000000" pitchFamily="2" charset="-122"/>
              </a:rPr>
              <a:t>里的</a:t>
            </a:r>
            <a:r>
              <a:rPr lang="en-US" altLang="zh-CN" sz="1600" b="1" dirty="0">
                <a:solidFill>
                  <a:srgbClr val="000000"/>
                </a:solidFill>
                <a:latin typeface="Huawei Sans" panose="020C0503030203020204" pitchFamily="34" charset="0"/>
                <a:ea typeface="方正兰亭黑简体" panose="02000000000000000000" pitchFamily="2" charset="-122"/>
              </a:rPr>
              <a:t>O-bit</a:t>
            </a:r>
            <a:endParaRPr lang="en-US" altLang="zh-CN" sz="1600" b="1" dirty="0">
              <a:solidFill>
                <a:srgbClr val="000000"/>
              </a:solidFill>
              <a:latin typeface="Huawei Sans" panose="020C0503030203020204" pitchFamily="34" charset="0"/>
              <a:ea typeface="方正兰亭黑简体" panose="02000000000000000000" pitchFamily="2" charset="-122"/>
            </a:endParaRPr>
          </a:p>
          <a:p>
            <a:r>
              <a:rPr lang="zh-CN" altLang="en-US" sz="1600" dirty="0">
                <a:solidFill>
                  <a:srgbClr val="000000"/>
                </a:solidFill>
                <a:latin typeface="Huawei Sans" panose="020C0503030203020204" pitchFamily="34" charset="0"/>
                <a:ea typeface="方正兰亭黑简体" panose="02000000000000000000" pitchFamily="2" charset="-122"/>
              </a:rPr>
              <a:t>由于</a:t>
            </a:r>
            <a:r>
              <a:rPr lang="en-US" altLang="zh-CN" sz="1600" dirty="0">
                <a:solidFill>
                  <a:srgbClr val="000000"/>
                </a:solidFill>
                <a:latin typeface="Huawei Sans" panose="020C0503030203020204" pitchFamily="34" charset="0"/>
                <a:ea typeface="方正兰亭黑简体" panose="02000000000000000000" pitchFamily="2" charset="-122"/>
              </a:rPr>
              <a:t>O-bit</a:t>
            </a:r>
            <a:r>
              <a:rPr lang="zh-CN" altLang="en-US" sz="1600" dirty="0">
                <a:solidFill>
                  <a:srgbClr val="000000"/>
                </a:solidFill>
                <a:latin typeface="Huawei Sans" panose="020C0503030203020204" pitchFamily="34" charset="0"/>
                <a:ea typeface="方正兰亭黑简体" panose="02000000000000000000" pitchFamily="2" charset="-122"/>
              </a:rPr>
              <a:t>处于</a:t>
            </a:r>
            <a:r>
              <a:rPr lang="en-US" altLang="zh-CN" sz="1600" dirty="0">
                <a:solidFill>
                  <a:srgbClr val="000000"/>
                </a:solidFill>
                <a:latin typeface="Huawei Sans" panose="020C0503030203020204" pitchFamily="34" charset="0"/>
                <a:ea typeface="方正兰亭黑简体" panose="02000000000000000000" pitchFamily="2" charset="-122"/>
              </a:rPr>
              <a:t>SRv6</a:t>
            </a:r>
            <a:r>
              <a:rPr lang="zh-CN" altLang="en-US" sz="1600" dirty="0">
                <a:solidFill>
                  <a:srgbClr val="000000"/>
                </a:solidFill>
                <a:latin typeface="Huawei Sans" panose="020C0503030203020204" pitchFamily="34" charset="0"/>
                <a:ea typeface="方正兰亭黑简体" panose="02000000000000000000" pitchFamily="2" charset="-122"/>
              </a:rPr>
              <a:t>报文头中，每一个</a:t>
            </a:r>
            <a:r>
              <a:rPr lang="en-US" altLang="zh-CN" sz="1600" dirty="0" err="1">
                <a:solidFill>
                  <a:srgbClr val="000000"/>
                </a:solidFill>
                <a:latin typeface="Huawei Sans" panose="020C0503030203020204" pitchFamily="34" charset="0"/>
                <a:ea typeface="方正兰亭黑简体" panose="02000000000000000000" pitchFamily="2" charset="-122"/>
              </a:rPr>
              <a:t>SRv6</a:t>
            </a:r>
            <a:r>
              <a:rPr lang="en-US" altLang="zh-CN" sz="1600" dirty="0">
                <a:solidFill>
                  <a:srgbClr val="000000"/>
                </a:solidFill>
                <a:latin typeface="Huawei Sans" panose="020C0503030203020204" pitchFamily="34" charset="0"/>
                <a:ea typeface="方正兰亭黑简体" panose="02000000000000000000" pitchFamily="2" charset="-122"/>
              </a:rPr>
              <a:t> Endpoint</a:t>
            </a:r>
            <a:r>
              <a:rPr lang="zh-CN" altLang="en-US" sz="1600" dirty="0">
                <a:solidFill>
                  <a:srgbClr val="000000"/>
                </a:solidFill>
                <a:latin typeface="Huawei Sans" panose="020C0503030203020204" pitchFamily="34" charset="0"/>
                <a:ea typeface="方正兰亭黑简体" panose="02000000000000000000" pitchFamily="2" charset="-122"/>
              </a:rPr>
              <a:t>节点都需要处理并响应</a:t>
            </a:r>
            <a:r>
              <a:rPr lang="en-US" altLang="zh-CN" sz="1600" dirty="0">
                <a:solidFill>
                  <a:srgbClr val="000000"/>
                </a:solidFill>
                <a:latin typeface="Huawei Sans" panose="020C0503030203020204" pitchFamily="34" charset="0"/>
                <a:ea typeface="方正兰亭黑简体" panose="02000000000000000000" pitchFamily="2" charset="-122"/>
              </a:rPr>
              <a:t>ICMPv6 </a:t>
            </a:r>
            <a:r>
              <a:rPr lang="en-US" altLang="zh-CN" sz="1600" dirty="0" err="1">
                <a:solidFill>
                  <a:srgbClr val="000000"/>
                </a:solidFill>
                <a:latin typeface="Huawei Sans" panose="020C0503030203020204" pitchFamily="34" charset="0"/>
                <a:ea typeface="方正兰亭黑简体" panose="02000000000000000000" pitchFamily="2" charset="-122"/>
              </a:rPr>
              <a:t>Ping&amp;Tracert</a:t>
            </a:r>
            <a:r>
              <a:rPr lang="zh-CN" altLang="en-US" sz="1600" dirty="0">
                <a:solidFill>
                  <a:srgbClr val="000000"/>
                </a:solidFill>
                <a:latin typeface="Huawei Sans" panose="020C0503030203020204" pitchFamily="34" charset="0"/>
                <a:ea typeface="方正兰亭黑简体" panose="02000000000000000000" pitchFamily="2" charset="-122"/>
              </a:rPr>
              <a:t>请求。所以基于</a:t>
            </a:r>
            <a:r>
              <a:rPr lang="en-US" altLang="zh-CN" sz="1600" dirty="0">
                <a:solidFill>
                  <a:srgbClr val="000000"/>
                </a:solidFill>
                <a:latin typeface="Huawei Sans" panose="020C0503030203020204" pitchFamily="34" charset="0"/>
                <a:ea typeface="方正兰亭黑简体" panose="02000000000000000000" pitchFamily="2" charset="-122"/>
              </a:rPr>
              <a:t>O-bit</a:t>
            </a:r>
            <a:r>
              <a:rPr lang="zh-CN" altLang="en-US" sz="1600" dirty="0">
                <a:solidFill>
                  <a:srgbClr val="000000"/>
                </a:solidFill>
                <a:latin typeface="Huawei Sans" panose="020C0503030203020204" pitchFamily="34" charset="0"/>
                <a:ea typeface="方正兰亭黑简体" panose="02000000000000000000" pitchFamily="2" charset="-122"/>
              </a:rPr>
              <a:t>，就可以实现</a:t>
            </a:r>
            <a:r>
              <a:rPr lang="zh-CN" altLang="en-US" sz="1600" b="1" dirty="0">
                <a:solidFill>
                  <a:srgbClr val="C7000B"/>
                </a:solidFill>
                <a:latin typeface="Huawei Sans" panose="020C0503030203020204" pitchFamily="34" charset="0"/>
                <a:ea typeface="方正兰亭黑简体" panose="02000000000000000000" pitchFamily="2" charset="-122"/>
              </a:rPr>
              <a:t>逐段（</a:t>
            </a:r>
            <a:r>
              <a:rPr lang="en-US" altLang="zh-CN" sz="1600" b="1" dirty="0">
                <a:solidFill>
                  <a:srgbClr val="C7000B"/>
                </a:solidFill>
                <a:latin typeface="Huawei Sans" panose="020C0503030203020204" pitchFamily="34" charset="0"/>
                <a:ea typeface="方正兰亭黑简体" panose="02000000000000000000" pitchFamily="2" charset="-122"/>
              </a:rPr>
              <a:t>Segment-by-Segment</a:t>
            </a:r>
            <a:r>
              <a:rPr lang="zh-CN" altLang="en-US" sz="1600" b="1" dirty="0">
                <a:solidFill>
                  <a:srgbClr val="C7000B"/>
                </a:solidFill>
                <a:latin typeface="Huawei Sans" panose="020C0503030203020204" pitchFamily="34" charset="0"/>
                <a:ea typeface="方正兰亭黑简体" panose="02000000000000000000" pitchFamily="2" charset="-122"/>
              </a:rPr>
              <a:t>）检测</a:t>
            </a:r>
            <a:r>
              <a:rPr lang="zh-CN" altLang="en-US" sz="1600" dirty="0">
                <a:solidFill>
                  <a:srgbClr val="000000"/>
                </a:solidFill>
                <a:latin typeface="Huawei Sans" panose="020C0503030203020204" pitchFamily="34" charset="0"/>
                <a:ea typeface="方正兰亭黑简体" panose="02000000000000000000" pitchFamily="2" charset="-122"/>
              </a:rPr>
              <a:t>。</a:t>
            </a:r>
            <a:endParaRPr lang="en-US" altLang="zh-CN" sz="1600" dirty="0">
              <a:solidFill>
                <a:srgbClr val="000000"/>
              </a:solidFill>
              <a:latin typeface="Huawei Sans" panose="020C0503030203020204" pitchFamily="34" charset="0"/>
              <a:ea typeface="方正兰亭黑简体" panose="02000000000000000000" pitchFamily="2" charset="-122"/>
            </a:endParaRPr>
          </a:p>
        </p:txBody>
      </p:sp>
      <p:sp>
        <p:nvSpPr>
          <p:cNvPr id="59" name="矩形 68"/>
          <p:cNvSpPr/>
          <p:nvPr/>
        </p:nvSpPr>
        <p:spPr>
          <a:xfrm>
            <a:off x="809770" y="1623129"/>
            <a:ext cx="1523173" cy="338554"/>
          </a:xfrm>
          <a:prstGeom prst="rect">
            <a:avLst/>
          </a:prstGeom>
        </p:spPr>
        <p:txBody>
          <a:bodyPr wrap="none">
            <a:spAutoFit/>
          </a:bodyPr>
          <a:lstStyle/>
          <a:p>
            <a:pPr algn="ctr"/>
            <a:r>
              <a:rPr lang="en-US" altLang="zh-CN" sz="1600" b="1" dirty="0">
                <a:latin typeface="Huawei Sans" panose="020C0503030203020204" pitchFamily="34" charset="0"/>
                <a:ea typeface="方正兰亭黑简体" panose="02000000000000000000" pitchFamily="2" charset="-122"/>
              </a:rPr>
              <a:t>Flags</a:t>
            </a:r>
            <a:r>
              <a:rPr lang="zh-CN" altLang="en-US" sz="1600" b="1" dirty="0">
                <a:latin typeface="Huawei Sans" panose="020C0503030203020204" pitchFamily="34" charset="0"/>
                <a:ea typeface="方正兰亭黑简体" panose="02000000000000000000" pitchFamily="2" charset="-122"/>
              </a:rPr>
              <a:t>详细格式</a:t>
            </a:r>
            <a:endParaRPr lang="en-US" altLang="zh-CN" sz="1600" dirty="0">
              <a:latin typeface="Huawei Sans" panose="020C0503030203020204" pitchFamily="34" charset="0"/>
              <a:ea typeface="方正兰亭黑简体" panose="02000000000000000000" pitchFamily="2" charset="-122"/>
            </a:endParaRPr>
          </a:p>
        </p:txBody>
      </p:sp>
      <p:cxnSp>
        <p:nvCxnSpPr>
          <p:cNvPr id="60" name="直接箭头连接符 69"/>
          <p:cNvCxnSpPr/>
          <p:nvPr/>
        </p:nvCxnSpPr>
        <p:spPr>
          <a:xfrm flipV="1">
            <a:off x="6682757" y="2357372"/>
            <a:ext cx="2085844" cy="1475333"/>
          </a:xfrm>
          <a:prstGeom prst="straightConnector1">
            <a:avLst/>
          </a:prstGeom>
          <a:ln w="28575">
            <a:solidFill>
              <a:srgbClr val="E28189"/>
            </a:solidFill>
            <a:tailEnd type="triangle"/>
          </a:ln>
        </p:spPr>
        <p:style>
          <a:lnRef idx="1">
            <a:schemeClr val="accent1"/>
          </a:lnRef>
          <a:fillRef idx="0">
            <a:schemeClr val="accent1"/>
          </a:fillRef>
          <a:effectRef idx="0">
            <a:schemeClr val="accent1"/>
          </a:effectRef>
          <a:fontRef idx="minor">
            <a:schemeClr val="tx1"/>
          </a:fontRef>
        </p:style>
      </p:cxnSp>
      <p:sp>
        <p:nvSpPr>
          <p:cNvPr id="61" name="矩形 73"/>
          <p:cNvSpPr/>
          <p:nvPr/>
        </p:nvSpPr>
        <p:spPr>
          <a:xfrm>
            <a:off x="8768601" y="1861833"/>
            <a:ext cx="2734777" cy="3793900"/>
          </a:xfrm>
          <a:prstGeom prst="roundRect">
            <a:avLst>
              <a:gd name="adj" fmla="val 1895"/>
            </a:avLst>
          </a:prstGeom>
          <a:noFill/>
          <a:ln w="19050">
            <a:solidFill>
              <a:srgbClr val="56C4D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b="1"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方案二：利用</a:t>
            </a:r>
            <a:r>
              <a:rPr lang="en-US" altLang="zh-CN" sz="1600" b="1" dirty="0" err="1">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End.OP</a:t>
            </a:r>
            <a:r>
              <a:rPr lang="en-US" altLang="zh-CN" sz="1600" b="1"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 SID</a:t>
            </a:r>
            <a:endParaRPr lang="en-US" altLang="zh-CN" sz="1600" b="1"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endParaRPr>
          </a:p>
          <a:p>
            <a:r>
              <a:rPr lang="en-US" altLang="zh-CN" sz="1600" dirty="0">
                <a:solidFill>
                  <a:srgbClr val="000000"/>
                </a:solidFill>
                <a:latin typeface="Huawei Sans" panose="020C0503030203020204" pitchFamily="34" charset="0"/>
                <a:ea typeface="方正兰亭黑简体" panose="02000000000000000000" pitchFamily="2" charset="-122"/>
              </a:rPr>
              <a:t>End.OP SID</a:t>
            </a:r>
            <a:r>
              <a:rPr lang="zh-CN" altLang="en-US" sz="1600" dirty="0">
                <a:solidFill>
                  <a:srgbClr val="000000"/>
                </a:solidFill>
                <a:latin typeface="Huawei Sans" panose="020C0503030203020204" pitchFamily="34" charset="0"/>
                <a:ea typeface="方正兰亭黑简体" panose="02000000000000000000" pitchFamily="2" charset="-122"/>
              </a:rPr>
              <a:t>可以指示将数据包上送到控制平面进行</a:t>
            </a:r>
            <a:r>
              <a:rPr lang="en-US" altLang="zh-CN" sz="1600" dirty="0">
                <a:solidFill>
                  <a:srgbClr val="000000"/>
                </a:solidFill>
                <a:latin typeface="Huawei Sans" panose="020C0503030203020204" pitchFamily="34" charset="0"/>
                <a:ea typeface="方正兰亭黑简体" panose="02000000000000000000" pitchFamily="2" charset="-122"/>
              </a:rPr>
              <a:t>OAM</a:t>
            </a:r>
            <a:r>
              <a:rPr lang="zh-CN" altLang="en-US" sz="1600" dirty="0">
                <a:solidFill>
                  <a:srgbClr val="000000"/>
                </a:solidFill>
                <a:latin typeface="Huawei Sans" panose="020C0503030203020204" pitchFamily="34" charset="0"/>
                <a:ea typeface="方正兰亭黑简体" panose="02000000000000000000" pitchFamily="2" charset="-122"/>
              </a:rPr>
              <a:t>处理。</a:t>
            </a:r>
            <a:endParaRPr lang="en-US" altLang="zh-CN" sz="1600" dirty="0">
              <a:solidFill>
                <a:srgbClr val="000000"/>
              </a:solidFill>
              <a:latin typeface="Huawei Sans" panose="020C0503030203020204" pitchFamily="34" charset="0"/>
              <a:ea typeface="方正兰亭黑简体" panose="02000000000000000000" pitchFamily="2" charset="-122"/>
            </a:endParaRPr>
          </a:p>
          <a:p>
            <a:endParaRPr lang="en-US" altLang="zh-CN" sz="1600" dirty="0">
              <a:solidFill>
                <a:srgbClr val="000000"/>
              </a:solidFill>
              <a:latin typeface="Huawei Sans" panose="020C0503030203020204" pitchFamily="34" charset="0"/>
              <a:ea typeface="方正兰亭黑简体" panose="02000000000000000000" pitchFamily="2" charset="-122"/>
            </a:endParaRPr>
          </a:p>
          <a:p>
            <a:r>
              <a:rPr lang="zh-CN" altLang="en-US" sz="1600" dirty="0">
                <a:solidFill>
                  <a:srgbClr val="000000"/>
                </a:solidFill>
                <a:latin typeface="Huawei Sans" panose="020C0503030203020204" pitchFamily="34" charset="0"/>
                <a:ea typeface="方正兰亭黑简体" panose="02000000000000000000" pitchFamily="2" charset="-122"/>
              </a:rPr>
              <a:t>检测</a:t>
            </a:r>
            <a:r>
              <a:rPr lang="en-US" altLang="zh-CN" sz="1600" dirty="0">
                <a:solidFill>
                  <a:srgbClr val="000000"/>
                </a:solidFill>
                <a:latin typeface="Huawei Sans" panose="020C0503030203020204" pitchFamily="34" charset="0"/>
                <a:ea typeface="方正兰亭黑简体" panose="02000000000000000000" pitchFamily="2" charset="-122"/>
              </a:rPr>
              <a:t>SRv6 Policy</a:t>
            </a:r>
            <a:r>
              <a:rPr lang="zh-CN" altLang="en-US" sz="1600" dirty="0">
                <a:solidFill>
                  <a:srgbClr val="000000"/>
                </a:solidFill>
                <a:latin typeface="Huawei Sans" panose="020C0503030203020204" pitchFamily="34" charset="0"/>
                <a:ea typeface="方正兰亭黑简体" panose="02000000000000000000" pitchFamily="2" charset="-122"/>
              </a:rPr>
              <a:t>时，头节点会将</a:t>
            </a:r>
            <a:r>
              <a:rPr lang="en-US" altLang="zh-CN" sz="1600" dirty="0" err="1">
                <a:solidFill>
                  <a:srgbClr val="000000"/>
                </a:solidFill>
                <a:latin typeface="Huawei Sans" panose="020C0503030203020204" pitchFamily="34" charset="0"/>
                <a:ea typeface="方正兰亭黑简体" panose="02000000000000000000" pitchFamily="2" charset="-122"/>
              </a:rPr>
              <a:t>End.OP</a:t>
            </a:r>
            <a:r>
              <a:rPr lang="en-US" altLang="zh-CN" sz="1600" dirty="0">
                <a:solidFill>
                  <a:srgbClr val="000000"/>
                </a:solidFill>
                <a:latin typeface="Huawei Sans" panose="020C0503030203020204" pitchFamily="34" charset="0"/>
                <a:ea typeface="方正兰亭黑简体" panose="02000000000000000000" pitchFamily="2" charset="-122"/>
              </a:rPr>
              <a:t> SID</a:t>
            </a:r>
            <a:r>
              <a:rPr lang="zh-CN" altLang="en-US" sz="1600" dirty="0">
                <a:solidFill>
                  <a:srgbClr val="000000"/>
                </a:solidFill>
                <a:latin typeface="Huawei Sans" panose="020C0503030203020204" pitchFamily="34" charset="0"/>
                <a:ea typeface="方正兰亭黑简体" panose="02000000000000000000" pitchFamily="2" charset="-122"/>
              </a:rPr>
              <a:t>编入</a:t>
            </a:r>
            <a:r>
              <a:rPr lang="en-US" altLang="zh-CN" sz="1600" dirty="0">
                <a:solidFill>
                  <a:srgbClr val="000000"/>
                </a:solidFill>
                <a:latin typeface="Huawei Sans" panose="020C0503030203020204" pitchFamily="34" charset="0"/>
                <a:ea typeface="方正兰亭黑简体" panose="02000000000000000000" pitchFamily="2" charset="-122"/>
              </a:rPr>
              <a:t>Segment List</a:t>
            </a:r>
            <a:r>
              <a:rPr lang="zh-CN" altLang="en-US" sz="1600" dirty="0">
                <a:solidFill>
                  <a:srgbClr val="000000"/>
                </a:solidFill>
                <a:latin typeface="Huawei Sans" panose="020C0503030203020204" pitchFamily="34" charset="0"/>
                <a:ea typeface="方正兰亭黑简体" panose="02000000000000000000" pitchFamily="2" charset="-122"/>
              </a:rPr>
              <a:t>。</a:t>
            </a:r>
            <a:endParaRPr lang="en-US" altLang="zh-CN" sz="1600" dirty="0">
              <a:solidFill>
                <a:srgbClr val="000000"/>
              </a:solidFill>
              <a:latin typeface="Huawei Sans" panose="020C0503030203020204" pitchFamily="34" charset="0"/>
              <a:ea typeface="方正兰亭黑简体" panose="02000000000000000000" pitchFamily="2" charset="-122"/>
            </a:endParaRPr>
          </a:p>
          <a:p>
            <a:endParaRPr lang="en-US" altLang="zh-CN" sz="1600" dirty="0">
              <a:solidFill>
                <a:srgbClr val="000000"/>
              </a:solidFill>
              <a:latin typeface="Huawei Sans" panose="020C0503030203020204" pitchFamily="34" charset="0"/>
              <a:ea typeface="方正兰亭黑简体" panose="02000000000000000000" pitchFamily="2" charset="-122"/>
            </a:endParaRPr>
          </a:p>
          <a:p>
            <a:r>
              <a:rPr lang="zh-CN" altLang="en-US" sz="1600" dirty="0">
                <a:solidFill>
                  <a:srgbClr val="000000"/>
                </a:solidFill>
                <a:latin typeface="Huawei Sans" panose="020C0503030203020204" pitchFamily="34" charset="0"/>
                <a:ea typeface="方正兰亭黑简体" panose="02000000000000000000" pitchFamily="2" charset="-122"/>
              </a:rPr>
              <a:t>由于只有生成了</a:t>
            </a:r>
            <a:r>
              <a:rPr lang="en-US" altLang="zh-CN" sz="1600" dirty="0" err="1">
                <a:solidFill>
                  <a:srgbClr val="000000"/>
                </a:solidFill>
                <a:latin typeface="Huawei Sans" panose="020C0503030203020204" pitchFamily="34" charset="0"/>
                <a:ea typeface="方正兰亭黑简体" panose="02000000000000000000" pitchFamily="2" charset="-122"/>
              </a:rPr>
              <a:t>End.OP</a:t>
            </a:r>
            <a:r>
              <a:rPr lang="en-US" altLang="zh-CN" sz="1600" dirty="0">
                <a:solidFill>
                  <a:srgbClr val="000000"/>
                </a:solidFill>
                <a:latin typeface="Huawei Sans" panose="020C0503030203020204" pitchFamily="34" charset="0"/>
                <a:ea typeface="方正兰亭黑简体" panose="02000000000000000000" pitchFamily="2" charset="-122"/>
              </a:rPr>
              <a:t> SID</a:t>
            </a:r>
            <a:r>
              <a:rPr lang="zh-CN" altLang="en-US" sz="1600" dirty="0">
                <a:solidFill>
                  <a:srgbClr val="000000"/>
                </a:solidFill>
                <a:latin typeface="Huawei Sans" panose="020C0503030203020204" pitchFamily="34" charset="0"/>
                <a:ea typeface="方正兰亭黑简体" panose="02000000000000000000" pitchFamily="2" charset="-122"/>
              </a:rPr>
              <a:t>的</a:t>
            </a:r>
            <a:r>
              <a:rPr lang="en-US" altLang="zh-CN" sz="1600" dirty="0">
                <a:solidFill>
                  <a:srgbClr val="000000"/>
                </a:solidFill>
                <a:latin typeface="Huawei Sans" panose="020C0503030203020204" pitchFamily="34" charset="0"/>
                <a:ea typeface="方正兰亭黑简体" panose="02000000000000000000" pitchFamily="2" charset="-122"/>
              </a:rPr>
              <a:t>SRv6 Endpoint</a:t>
            </a:r>
            <a:r>
              <a:rPr lang="zh-CN" altLang="en-US" sz="1600" dirty="0">
                <a:solidFill>
                  <a:srgbClr val="000000"/>
                </a:solidFill>
                <a:latin typeface="Huawei Sans" panose="020C0503030203020204" pitchFamily="34" charset="0"/>
                <a:ea typeface="方正兰亭黑简体" panose="02000000000000000000" pitchFamily="2" charset="-122"/>
              </a:rPr>
              <a:t>节点才能处理</a:t>
            </a:r>
            <a:r>
              <a:rPr lang="en-US" altLang="zh-CN" sz="1600" dirty="0">
                <a:solidFill>
                  <a:srgbClr val="000000"/>
                </a:solidFill>
                <a:latin typeface="Huawei Sans" panose="020C0503030203020204" pitchFamily="34" charset="0"/>
                <a:ea typeface="方正兰亭黑简体" panose="02000000000000000000" pitchFamily="2" charset="-122"/>
              </a:rPr>
              <a:t>ICMPv6 </a:t>
            </a:r>
            <a:r>
              <a:rPr lang="en-US" altLang="zh-CN" sz="1600" dirty="0" err="1">
                <a:solidFill>
                  <a:srgbClr val="000000"/>
                </a:solidFill>
                <a:latin typeface="Huawei Sans" panose="020C0503030203020204" pitchFamily="34" charset="0"/>
                <a:ea typeface="方正兰亭黑简体" panose="02000000000000000000" pitchFamily="2" charset="-122"/>
              </a:rPr>
              <a:t>Ping&amp;Tracert</a:t>
            </a:r>
            <a:r>
              <a:rPr lang="zh-CN" altLang="en-US" sz="1600" dirty="0">
                <a:solidFill>
                  <a:srgbClr val="000000"/>
                </a:solidFill>
                <a:latin typeface="Huawei Sans" panose="020C0503030203020204" pitchFamily="34" charset="0"/>
                <a:ea typeface="方正兰亭黑简体" panose="02000000000000000000" pitchFamily="2" charset="-122"/>
              </a:rPr>
              <a:t>请求报文，所以基于</a:t>
            </a:r>
            <a:r>
              <a:rPr lang="en-US" altLang="zh-CN" sz="1600" dirty="0" err="1">
                <a:solidFill>
                  <a:srgbClr val="000000"/>
                </a:solidFill>
                <a:latin typeface="Huawei Sans" panose="020C0503030203020204" pitchFamily="34" charset="0"/>
                <a:ea typeface="方正兰亭黑简体" panose="02000000000000000000" pitchFamily="2" charset="-122"/>
              </a:rPr>
              <a:t>End.OP</a:t>
            </a:r>
            <a:r>
              <a:rPr lang="en-US" altLang="zh-CN" sz="1600" dirty="0">
                <a:solidFill>
                  <a:srgbClr val="000000"/>
                </a:solidFill>
                <a:latin typeface="Huawei Sans" panose="020C0503030203020204" pitchFamily="34" charset="0"/>
                <a:ea typeface="方正兰亭黑简体" panose="02000000000000000000" pitchFamily="2" charset="-122"/>
              </a:rPr>
              <a:t> SID</a:t>
            </a:r>
            <a:r>
              <a:rPr lang="zh-CN" altLang="en-US" sz="1600" dirty="0">
                <a:solidFill>
                  <a:srgbClr val="000000"/>
                </a:solidFill>
                <a:latin typeface="Huawei Sans" panose="020C0503030203020204" pitchFamily="34" charset="0"/>
                <a:ea typeface="方正兰亭黑简体" panose="02000000000000000000" pitchFamily="2" charset="-122"/>
              </a:rPr>
              <a:t>，就可以实现</a:t>
            </a:r>
            <a:r>
              <a:rPr lang="zh-CN" altLang="en-US" sz="1600" b="1" dirty="0">
                <a:solidFill>
                  <a:srgbClr val="C7000B"/>
                </a:solidFill>
                <a:latin typeface="Huawei Sans" panose="020C0503030203020204" pitchFamily="34" charset="0"/>
                <a:ea typeface="方正兰亭黑简体" panose="02000000000000000000" pitchFamily="2" charset="-122"/>
              </a:rPr>
              <a:t>端到端（</a:t>
            </a:r>
            <a:r>
              <a:rPr lang="en-US" altLang="zh-CN" sz="1600" b="1" dirty="0">
                <a:solidFill>
                  <a:srgbClr val="C7000B"/>
                </a:solidFill>
                <a:latin typeface="Huawei Sans" panose="020C0503030203020204" pitchFamily="34" charset="0"/>
                <a:ea typeface="方正兰亭黑简体" panose="02000000000000000000" pitchFamily="2" charset="-122"/>
              </a:rPr>
              <a:t>End-to-End</a:t>
            </a:r>
            <a:r>
              <a:rPr lang="zh-CN" altLang="en-US" sz="1600" b="1" dirty="0">
                <a:solidFill>
                  <a:srgbClr val="C7000B"/>
                </a:solidFill>
                <a:latin typeface="Huawei Sans" panose="020C0503030203020204" pitchFamily="34" charset="0"/>
                <a:ea typeface="方正兰亭黑简体" panose="02000000000000000000" pitchFamily="2" charset="-122"/>
              </a:rPr>
              <a:t>）检测</a:t>
            </a:r>
            <a:r>
              <a:rPr lang="zh-CN" altLang="en-US" sz="1600" dirty="0">
                <a:solidFill>
                  <a:srgbClr val="000000"/>
                </a:solidFill>
                <a:latin typeface="Huawei Sans" panose="020C0503030203020204" pitchFamily="34" charset="0"/>
                <a:ea typeface="方正兰亭黑简体" panose="02000000000000000000" pitchFamily="2" charset="-122"/>
              </a:rPr>
              <a:t>。</a:t>
            </a:r>
            <a:endParaRPr lang="en-US" altLang="zh-CN" sz="1600" dirty="0">
              <a:solidFill>
                <a:srgbClr val="000000"/>
              </a:solidFill>
              <a:latin typeface="Huawei Sans" panose="020C0503030203020204" pitchFamily="34" charset="0"/>
              <a:ea typeface="方正兰亭黑简体" panose="02000000000000000000" pitchFamily="2" charset="-122"/>
            </a:endParaRPr>
          </a:p>
        </p:txBody>
      </p:sp>
      <p:sp>
        <p:nvSpPr>
          <p:cNvPr id="62" name="矩形 12"/>
          <p:cNvSpPr/>
          <p:nvPr/>
        </p:nvSpPr>
        <p:spPr>
          <a:xfrm>
            <a:off x="788277" y="2289896"/>
            <a:ext cx="1556836" cy="461665"/>
          </a:xfrm>
          <a:prstGeom prst="rect">
            <a:avLst/>
          </a:prstGeom>
        </p:spPr>
        <p:txBody>
          <a:bodyPr wrap="none">
            <a:spAutoFit/>
          </a:bodyPr>
          <a:lstStyle/>
          <a:p>
            <a:r>
              <a:rPr lang="en-US" altLang="zh-CN" sz="2400" dirty="0">
                <a:latin typeface="Huawei Sans" panose="020C0503030203020204" pitchFamily="34" charset="0"/>
                <a:ea typeface="方正兰亭黑简体" panose="02000000000000000000" pitchFamily="2" charset="-122"/>
              </a:rPr>
              <a:t>00</a:t>
            </a:r>
            <a:r>
              <a:rPr lang="en-US" altLang="zh-CN" sz="2400" dirty="0">
                <a:solidFill>
                  <a:srgbClr val="0000FF"/>
                </a:solidFill>
                <a:latin typeface="Huawei Sans" panose="020C0503030203020204" pitchFamily="34" charset="0"/>
                <a:ea typeface="方正兰亭黑简体" panose="02000000000000000000" pitchFamily="2" charset="-122"/>
              </a:rPr>
              <a:t>1</a:t>
            </a:r>
            <a:r>
              <a:rPr lang="en-US" altLang="zh-CN" sz="2400" dirty="0">
                <a:latin typeface="Huawei Sans" panose="020C0503030203020204" pitchFamily="34" charset="0"/>
                <a:ea typeface="方正兰亭黑简体" panose="02000000000000000000" pitchFamily="2" charset="-122"/>
              </a:rPr>
              <a:t>00000</a:t>
            </a:r>
            <a:endParaRPr lang="zh-CN" altLang="en-US" sz="24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gray"/>
        <p:txBody>
          <a:bodyPr/>
          <a:lstStyle/>
          <a:p>
            <a:r>
              <a:rPr lang="en-US" altLang="zh-CN" dirty="0"/>
              <a:t>SRv6 Ping</a:t>
            </a:r>
            <a:r>
              <a:rPr lang="zh-CN" altLang="en-US" dirty="0"/>
              <a:t>工作原理</a:t>
            </a:r>
            <a:endParaRPr lang="zh-CN" altLang="en-US" dirty="0"/>
          </a:p>
        </p:txBody>
      </p:sp>
      <p:sp>
        <p:nvSpPr>
          <p:cNvPr id="3" name="Text Placeholder 2"/>
          <p:cNvSpPr>
            <a:spLocks noGrp="1"/>
          </p:cNvSpPr>
          <p:nvPr>
            <p:ph type="body" sz="quarter" idx="10"/>
          </p:nvPr>
        </p:nvSpPr>
        <p:spPr bwMode="gray"/>
        <p:txBody>
          <a:bodyPr/>
          <a:lstStyle/>
          <a:p>
            <a:r>
              <a:rPr lang="en-US" altLang="zh-CN" sz="1600" dirty="0"/>
              <a:t>SRv6 Ping</a:t>
            </a:r>
            <a:r>
              <a:rPr lang="zh-CN" altLang="en-US" sz="1600" dirty="0"/>
              <a:t>可以分为逐段</a:t>
            </a:r>
            <a:r>
              <a:rPr lang="en-US" altLang="zh-CN" sz="1600" dirty="0"/>
              <a:t>Ping</a:t>
            </a:r>
            <a:r>
              <a:rPr lang="zh-CN" altLang="en-US" sz="1600" dirty="0"/>
              <a:t>测试与非逐段</a:t>
            </a:r>
            <a:r>
              <a:rPr lang="en-US" altLang="zh-CN" sz="1600" dirty="0"/>
              <a:t>Ping</a:t>
            </a:r>
            <a:r>
              <a:rPr lang="zh-CN" altLang="en-US" sz="1600" dirty="0"/>
              <a:t>测试</a:t>
            </a:r>
            <a:endParaRPr lang="en-US" altLang="zh-CN" sz="1600" dirty="0"/>
          </a:p>
        </p:txBody>
      </p:sp>
      <p:pic>
        <p:nvPicPr>
          <p:cNvPr id="4" name="图片 48"/>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bwMode="gray">
          <a:xfrm>
            <a:off x="1546476" y="2461448"/>
            <a:ext cx="378863" cy="310667"/>
          </a:xfrm>
          <a:prstGeom prst="rect">
            <a:avLst/>
          </a:prstGeom>
        </p:spPr>
      </p:pic>
      <p:pic>
        <p:nvPicPr>
          <p:cNvPr id="5" name="图片 48"/>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bwMode="gray">
          <a:xfrm>
            <a:off x="4185330" y="2461448"/>
            <a:ext cx="378863" cy="310667"/>
          </a:xfrm>
          <a:prstGeom prst="rect">
            <a:avLst/>
          </a:prstGeom>
        </p:spPr>
      </p:pic>
      <p:pic>
        <p:nvPicPr>
          <p:cNvPr id="6" name="图片 48"/>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bwMode="gray">
          <a:xfrm>
            <a:off x="2865903" y="2460282"/>
            <a:ext cx="378863" cy="310667"/>
          </a:xfrm>
          <a:prstGeom prst="rect">
            <a:avLst/>
          </a:prstGeom>
        </p:spPr>
      </p:pic>
      <p:cxnSp>
        <p:nvCxnSpPr>
          <p:cNvPr id="7" name="Straight Connector 6"/>
          <p:cNvCxnSpPr>
            <a:stCxn id="4" idx="3"/>
            <a:endCxn id="6" idx="1"/>
          </p:cNvCxnSpPr>
          <p:nvPr/>
        </p:nvCxnSpPr>
        <p:spPr bwMode="gray">
          <a:xfrm flipV="1">
            <a:off x="1925339" y="2615616"/>
            <a:ext cx="940564" cy="1166"/>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a:stCxn id="6" idx="3"/>
            <a:endCxn id="5" idx="1"/>
          </p:cNvCxnSpPr>
          <p:nvPr/>
        </p:nvCxnSpPr>
        <p:spPr bwMode="gray">
          <a:xfrm>
            <a:off x="3244766" y="2615616"/>
            <a:ext cx="940564" cy="1166"/>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3" name="文本框 9"/>
          <p:cNvSpPr txBox="1"/>
          <p:nvPr/>
        </p:nvSpPr>
        <p:spPr bwMode="gray">
          <a:xfrm>
            <a:off x="1483715" y="1943886"/>
            <a:ext cx="509852" cy="307777"/>
          </a:xfrm>
          <a:prstGeom prst="rect">
            <a:avLst/>
          </a:prstGeom>
          <a:noFill/>
        </p:spPr>
        <p:txBody>
          <a:bodyPr wrap="square" rtlCol="0">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PE1</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文本框 9"/>
          <p:cNvSpPr txBox="1"/>
          <p:nvPr/>
        </p:nvSpPr>
        <p:spPr bwMode="gray">
          <a:xfrm>
            <a:off x="2800408" y="1945599"/>
            <a:ext cx="509852" cy="307777"/>
          </a:xfrm>
          <a:prstGeom prst="rect">
            <a:avLst/>
          </a:prstGeom>
          <a:noFill/>
        </p:spPr>
        <p:txBody>
          <a:bodyPr wrap="square" rtlCol="0">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P1</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 name="文本框 9"/>
          <p:cNvSpPr txBox="1"/>
          <p:nvPr/>
        </p:nvSpPr>
        <p:spPr bwMode="gray">
          <a:xfrm>
            <a:off x="4119834" y="1945599"/>
            <a:ext cx="509852" cy="307777"/>
          </a:xfrm>
          <a:prstGeom prst="rect">
            <a:avLst/>
          </a:prstGeom>
          <a:noFill/>
        </p:spPr>
        <p:txBody>
          <a:bodyPr wrap="square" rtlCol="0">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PE2</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6" name="直接箭头连接符 3"/>
          <p:cNvCxnSpPr/>
          <p:nvPr/>
        </p:nvCxnSpPr>
        <p:spPr bwMode="gray">
          <a:xfrm>
            <a:off x="1219602" y="3563022"/>
            <a:ext cx="4771818" cy="0"/>
          </a:xfrm>
          <a:prstGeom prst="straightConnector1">
            <a:avLst/>
          </a:prstGeom>
          <a:ln w="57150">
            <a:solidFill>
              <a:srgbClr val="E28189"/>
            </a:solidFill>
            <a:tailEnd type="triangle"/>
          </a:ln>
        </p:spPr>
        <p:style>
          <a:lnRef idx="1">
            <a:schemeClr val="accent1"/>
          </a:lnRef>
          <a:fillRef idx="0">
            <a:schemeClr val="accent1"/>
          </a:fillRef>
          <a:effectRef idx="0">
            <a:schemeClr val="accent1"/>
          </a:effectRef>
          <a:fontRef idx="minor">
            <a:schemeClr val="tx1"/>
          </a:fontRef>
        </p:style>
      </p:cxnSp>
      <p:sp>
        <p:nvSpPr>
          <p:cNvPr id="19" name="圆角矩形 59"/>
          <p:cNvSpPr/>
          <p:nvPr/>
        </p:nvSpPr>
        <p:spPr bwMode="gray">
          <a:xfrm>
            <a:off x="1381801" y="2225931"/>
            <a:ext cx="705712" cy="221690"/>
          </a:xfrm>
          <a:prstGeom prst="roundRect">
            <a:avLst>
              <a:gd name="adj" fmla="val 13019"/>
            </a:avLst>
          </a:prstGeom>
          <a:solidFill>
            <a:srgbClr val="56C4D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FC01::1</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圆角矩形 59"/>
          <p:cNvSpPr/>
          <p:nvPr/>
        </p:nvSpPr>
        <p:spPr bwMode="gray">
          <a:xfrm>
            <a:off x="2702478" y="2225112"/>
            <a:ext cx="705712" cy="221690"/>
          </a:xfrm>
          <a:prstGeom prst="roundRect">
            <a:avLst>
              <a:gd name="adj" fmla="val 13019"/>
            </a:avLst>
          </a:prstGeom>
          <a:solidFill>
            <a:srgbClr val="56C4D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FC02::2</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圆角矩形 59"/>
          <p:cNvSpPr/>
          <p:nvPr/>
        </p:nvSpPr>
        <p:spPr bwMode="gray">
          <a:xfrm>
            <a:off x="4023155" y="2225112"/>
            <a:ext cx="705712" cy="221690"/>
          </a:xfrm>
          <a:prstGeom prst="roundRect">
            <a:avLst>
              <a:gd name="adj" fmla="val 13019"/>
            </a:avLst>
          </a:prstGeom>
          <a:solidFill>
            <a:srgbClr val="56C4D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FC03::3</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aphicFrame>
        <p:nvGraphicFramePr>
          <p:cNvPr id="26" name="Table 25"/>
          <p:cNvGraphicFramePr>
            <a:graphicFrameLocks noGrp="1"/>
          </p:cNvGraphicFramePr>
          <p:nvPr/>
        </p:nvGraphicFramePr>
        <p:xfrm>
          <a:off x="1710534" y="2822764"/>
          <a:ext cx="1345061" cy="1371600"/>
        </p:xfrm>
        <a:graphic>
          <a:graphicData uri="http://schemas.openxmlformats.org/drawingml/2006/table">
            <a:tbl>
              <a:tblPr firstRow="1" bandRow="1">
                <a:tableStyleId>{72833802-FEF1-4C79-8D5D-14CF1EAF98D9}</a:tableStyleId>
              </a:tblPr>
              <a:tblGrid>
                <a:gridCol w="1345061"/>
              </a:tblGrid>
              <a:tr h="283025">
                <a:tc>
                  <a:txBody>
                    <a:bodyPr/>
                    <a:lstStyle/>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DIPv6</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FC02::2</a:t>
                      </a:r>
                      <a:endPar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SIPv6</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FC01::1</a:t>
                      </a:r>
                      <a:endPar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6C4D2"/>
                    </a:solidFill>
                  </a:tcPr>
                </a:tc>
              </a:tr>
              <a:tr h="448992">
                <a:tc>
                  <a:txBody>
                    <a:bodyPr/>
                    <a:lstStyle/>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SRH</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SL=</a:t>
                      </a: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1</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FC03::3</a:t>
                      </a:r>
                      <a:endPar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FC02::2</a:t>
                      </a:r>
                      <a:endParaRPr lang="zh-CN" altLang="en-US"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EEEC1"/>
                    </a:solidFill>
                  </a:tcPr>
                </a:tc>
              </a:tr>
              <a:tr h="169815">
                <a:tc>
                  <a:txBody>
                    <a:bodyPr/>
                    <a:lstStyle/>
                    <a:p>
                      <a:pPr algn="ctr"/>
                      <a:r>
                        <a:rPr lang="en-US" altLang="zh-CN" sz="1200" dirty="0">
                          <a:solidFill>
                            <a:schemeClr val="bg1"/>
                          </a:solidFill>
                        </a:rPr>
                        <a:t>ICMPv6 Request</a:t>
                      </a:r>
                      <a:endParaRPr lang="zh-CN" altLang="en-US" sz="1200"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r>
            </a:tbl>
          </a:graphicData>
        </a:graphic>
      </p:graphicFrame>
      <p:graphicFrame>
        <p:nvGraphicFramePr>
          <p:cNvPr id="27" name="Table 26"/>
          <p:cNvGraphicFramePr>
            <a:graphicFrameLocks noGrp="1"/>
          </p:cNvGraphicFramePr>
          <p:nvPr/>
        </p:nvGraphicFramePr>
        <p:xfrm>
          <a:off x="3195887" y="2821647"/>
          <a:ext cx="1345061" cy="1371600"/>
        </p:xfrm>
        <a:graphic>
          <a:graphicData uri="http://schemas.openxmlformats.org/drawingml/2006/table">
            <a:tbl>
              <a:tblPr firstRow="1" bandRow="1">
                <a:tableStyleId>{72833802-FEF1-4C79-8D5D-14CF1EAF98D9}</a:tableStyleId>
              </a:tblPr>
              <a:tblGrid>
                <a:gridCol w="1345061"/>
              </a:tblGrid>
              <a:tr h="283025">
                <a:tc>
                  <a:txBody>
                    <a:bodyPr/>
                    <a:lstStyle/>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DIPv6</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FC03::3</a:t>
                      </a:r>
                      <a:endPar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SIPv6</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FC01::1</a:t>
                      </a:r>
                      <a:endPar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6C4D2"/>
                    </a:solidFill>
                  </a:tcPr>
                </a:tc>
              </a:tr>
              <a:tr h="448992">
                <a:tc>
                  <a:txBody>
                    <a:bodyPr/>
                    <a:lstStyle/>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SRH</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SL=</a:t>
                      </a: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0</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0" algn="ctr" defTabSz="913765" rtl="0" eaLnBrk="1" latinLnBrk="0" hangingPunct="1"/>
                      <a:r>
                        <a:rPr lang="en-US" altLang="zh-CN" sz="1200" b="1" kern="1200" dirty="0">
                          <a:solidFill>
                            <a:srgbClr val="C7000B"/>
                          </a:solidFill>
                          <a:latin typeface="Huawei Sans" panose="020C0503030203020204" pitchFamily="34" charset="0"/>
                          <a:ea typeface="方正兰亭黑简体" panose="02000000000000000000" pitchFamily="2" charset="-122"/>
                          <a:cs typeface="+mn-cs"/>
                          <a:sym typeface="Huawei Sans" panose="020C0503030203020204" pitchFamily="34" charset="0"/>
                        </a:rPr>
                        <a:t>FC03::3</a:t>
                      </a:r>
                      <a:endParaRPr lang="en-US" altLang="zh-CN" sz="1200" b="1" kern="1200" dirty="0">
                        <a:solidFill>
                          <a:srgbClr val="C7000B"/>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p>
                      <a:pPr marL="0" algn="ctr" defTabSz="913765" rtl="0" eaLnBrk="1" latinLnBrk="0" hangingPunct="1"/>
                      <a:r>
                        <a:rPr lang="en-US" altLang="zh-CN"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FC02::2</a:t>
                      </a:r>
                      <a:endParaRPr lang="zh-CN" altLang="en-US"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EEEC1"/>
                    </a:solidFill>
                  </a:tcPr>
                </a:tc>
              </a:tr>
              <a:tr h="169815">
                <a:tc>
                  <a:txBody>
                    <a:bodyPr/>
                    <a:lstStyle/>
                    <a:p>
                      <a:pPr algn="ctr"/>
                      <a:r>
                        <a:rPr lang="en-US" altLang="zh-CN" sz="1200" dirty="0">
                          <a:solidFill>
                            <a:schemeClr val="bg1"/>
                          </a:solidFill>
                        </a:rPr>
                        <a:t>ICMPv6 Request</a:t>
                      </a:r>
                      <a:endParaRPr lang="zh-CN" altLang="en-US" sz="1200"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r>
            </a:tbl>
          </a:graphicData>
        </a:graphic>
      </p:graphicFrame>
      <p:graphicFrame>
        <p:nvGraphicFramePr>
          <p:cNvPr id="30" name="Table 29"/>
          <p:cNvGraphicFramePr>
            <a:graphicFrameLocks noGrp="1"/>
          </p:cNvGraphicFramePr>
          <p:nvPr/>
        </p:nvGraphicFramePr>
        <p:xfrm>
          <a:off x="2063129" y="4287008"/>
          <a:ext cx="1345061" cy="731520"/>
        </p:xfrm>
        <a:graphic>
          <a:graphicData uri="http://schemas.openxmlformats.org/drawingml/2006/table">
            <a:tbl>
              <a:tblPr firstRow="1" bandRow="1">
                <a:tableStyleId>{72833802-FEF1-4C79-8D5D-14CF1EAF98D9}</a:tableStyleId>
              </a:tblPr>
              <a:tblGrid>
                <a:gridCol w="1345061"/>
              </a:tblGrid>
              <a:tr h="370840">
                <a:tc>
                  <a:txBody>
                    <a:bodyPr/>
                    <a:lstStyle/>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DIPv6</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FC01::1</a:t>
                      </a:r>
                      <a:endPar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SIPv6</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FC02::2</a:t>
                      </a:r>
                      <a:endPar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6C4D2"/>
                    </a:solidFill>
                  </a:tcPr>
                </a:tc>
              </a:tr>
              <a:tr h="0">
                <a:tc>
                  <a:txBody>
                    <a:bodyPr/>
                    <a:lstStyle/>
                    <a:p>
                      <a:pPr algn="ctr"/>
                      <a:r>
                        <a:rPr lang="en-US" altLang="zh-CN" sz="1200" dirty="0">
                          <a:solidFill>
                            <a:schemeClr val="bg1"/>
                          </a:solidFill>
                        </a:rPr>
                        <a:t>ICMPv6 Reply</a:t>
                      </a:r>
                      <a:endParaRPr lang="zh-CN" altLang="en-US" sz="1200"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r>
            </a:tbl>
          </a:graphicData>
        </a:graphic>
      </p:graphicFrame>
      <p:cxnSp>
        <p:nvCxnSpPr>
          <p:cNvPr id="31" name="直接箭头连接符 3"/>
          <p:cNvCxnSpPr>
            <a:stCxn id="30" idx="1"/>
          </p:cNvCxnSpPr>
          <p:nvPr/>
        </p:nvCxnSpPr>
        <p:spPr bwMode="gray">
          <a:xfrm flipH="1">
            <a:off x="1381801" y="4652768"/>
            <a:ext cx="681328" cy="0"/>
          </a:xfrm>
          <a:prstGeom prst="straightConnector1">
            <a:avLst/>
          </a:prstGeom>
          <a:ln w="57150">
            <a:solidFill>
              <a:srgbClr val="E28189"/>
            </a:solidFill>
            <a:tailEnd type="triangle"/>
          </a:ln>
        </p:spPr>
        <p:style>
          <a:lnRef idx="1">
            <a:schemeClr val="accent1"/>
          </a:lnRef>
          <a:fillRef idx="0">
            <a:schemeClr val="accent1"/>
          </a:fillRef>
          <a:effectRef idx="0">
            <a:schemeClr val="accent1"/>
          </a:effectRef>
          <a:fontRef idx="minor">
            <a:schemeClr val="tx1"/>
          </a:fontRef>
        </p:style>
      </p:cxnSp>
      <p:sp>
        <p:nvSpPr>
          <p:cNvPr id="56" name="文本框 50"/>
          <p:cNvSpPr txBox="1"/>
          <p:nvPr/>
        </p:nvSpPr>
        <p:spPr bwMode="gray">
          <a:xfrm>
            <a:off x="548413" y="5478167"/>
            <a:ext cx="1095439" cy="584775"/>
          </a:xfrm>
          <a:prstGeom prst="rect">
            <a:avLst/>
          </a:prstGeom>
          <a:noFill/>
        </p:spPr>
        <p:txBody>
          <a:bodyPr wrap="square" rtlCol="0">
            <a:spAutoFit/>
          </a:bodyPr>
          <a:lstStyle/>
          <a:p>
            <a:pPr algn="ctr"/>
            <a:r>
              <a:rPr lang="zh-CN" altLang="en-US" sz="1600" b="1" dirty="0">
                <a:latin typeface="Huawei Sans" panose="020C0503030203020204" pitchFamily="34" charset="0"/>
                <a:ea typeface="方正兰亭黑简体" panose="02000000000000000000" pitchFamily="2" charset="-122"/>
                <a:sym typeface="Huawei Sans" panose="020C0503030203020204" pitchFamily="34" charset="0"/>
              </a:rPr>
              <a:t>逐段</a:t>
            </a: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Ping</a:t>
            </a:r>
            <a:r>
              <a:rPr lang="zh-CN" altLang="en-US" sz="1600" b="1" dirty="0">
                <a:latin typeface="Huawei Sans" panose="020C0503030203020204" pitchFamily="34" charset="0"/>
                <a:ea typeface="方正兰亭黑简体" panose="02000000000000000000" pitchFamily="2" charset="-122"/>
                <a:sym typeface="Huawei Sans" panose="020C0503030203020204" pitchFamily="34" charset="0"/>
              </a:rPr>
              <a:t>测试</a:t>
            </a:r>
            <a:endParaRPr lang="zh-CN" altLang="en-US" sz="16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7" name="文本框 50"/>
          <p:cNvSpPr txBox="1"/>
          <p:nvPr/>
        </p:nvSpPr>
        <p:spPr bwMode="gray">
          <a:xfrm>
            <a:off x="6039639" y="5478168"/>
            <a:ext cx="1313661" cy="584775"/>
          </a:xfrm>
          <a:prstGeom prst="rect">
            <a:avLst/>
          </a:prstGeom>
          <a:noFill/>
        </p:spPr>
        <p:txBody>
          <a:bodyPr wrap="square" rtlCol="0">
            <a:spAutoFit/>
          </a:bodyPr>
          <a:lstStyle/>
          <a:p>
            <a:pPr algn="ctr"/>
            <a:r>
              <a:rPr lang="zh-CN" altLang="en-US" sz="1600" b="1" dirty="0">
                <a:latin typeface="Huawei Sans" panose="020C0503030203020204" pitchFamily="34" charset="0"/>
                <a:ea typeface="方正兰亭黑简体" panose="02000000000000000000" pitchFamily="2" charset="-122"/>
                <a:sym typeface="Huawei Sans" panose="020C0503030203020204" pitchFamily="34" charset="0"/>
              </a:rPr>
              <a:t>非逐段</a:t>
            </a: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Ping</a:t>
            </a:r>
            <a:r>
              <a:rPr lang="zh-CN" altLang="en-US" sz="1600" b="1" dirty="0">
                <a:latin typeface="Huawei Sans" panose="020C0503030203020204" pitchFamily="34" charset="0"/>
                <a:ea typeface="方正兰亭黑简体" panose="02000000000000000000" pitchFamily="2" charset="-122"/>
                <a:sym typeface="Huawei Sans" panose="020C0503030203020204" pitchFamily="34" charset="0"/>
              </a:rPr>
              <a:t>测试</a:t>
            </a:r>
            <a:endParaRPr lang="zh-CN" altLang="en-US" sz="1600" b="1"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47" name="图片 48"/>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bwMode="gray">
          <a:xfrm>
            <a:off x="7128055" y="2461448"/>
            <a:ext cx="378863" cy="310667"/>
          </a:xfrm>
          <a:prstGeom prst="rect">
            <a:avLst/>
          </a:prstGeom>
        </p:spPr>
      </p:pic>
      <p:pic>
        <p:nvPicPr>
          <p:cNvPr id="49" name="图片 48"/>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bwMode="gray">
          <a:xfrm>
            <a:off x="9766909" y="2461448"/>
            <a:ext cx="378863" cy="310667"/>
          </a:xfrm>
          <a:prstGeom prst="rect">
            <a:avLst/>
          </a:prstGeom>
        </p:spPr>
      </p:pic>
      <p:pic>
        <p:nvPicPr>
          <p:cNvPr id="50" name="图片 48"/>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bwMode="gray">
          <a:xfrm>
            <a:off x="8447482" y="2460282"/>
            <a:ext cx="378863" cy="310667"/>
          </a:xfrm>
          <a:prstGeom prst="rect">
            <a:avLst/>
          </a:prstGeom>
        </p:spPr>
      </p:pic>
      <p:cxnSp>
        <p:nvCxnSpPr>
          <p:cNvPr id="53" name="Straight Connector 52"/>
          <p:cNvCxnSpPr>
            <a:stCxn id="47" idx="3"/>
            <a:endCxn id="50" idx="1"/>
          </p:cNvCxnSpPr>
          <p:nvPr/>
        </p:nvCxnSpPr>
        <p:spPr bwMode="gray">
          <a:xfrm flipV="1">
            <a:off x="7506918" y="2615616"/>
            <a:ext cx="940564" cy="1166"/>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a:stCxn id="50" idx="3"/>
            <a:endCxn id="49" idx="1"/>
          </p:cNvCxnSpPr>
          <p:nvPr/>
        </p:nvCxnSpPr>
        <p:spPr bwMode="gray">
          <a:xfrm>
            <a:off x="8826345" y="2615616"/>
            <a:ext cx="940564" cy="1166"/>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55" name="文本框 9"/>
          <p:cNvSpPr txBox="1"/>
          <p:nvPr/>
        </p:nvSpPr>
        <p:spPr bwMode="gray">
          <a:xfrm>
            <a:off x="7065294" y="1943886"/>
            <a:ext cx="509852" cy="307777"/>
          </a:xfrm>
          <a:prstGeom prst="rect">
            <a:avLst/>
          </a:prstGeom>
          <a:noFill/>
        </p:spPr>
        <p:txBody>
          <a:bodyPr wrap="square" rtlCol="0">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PE1</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8" name="文本框 9"/>
          <p:cNvSpPr txBox="1"/>
          <p:nvPr/>
        </p:nvSpPr>
        <p:spPr bwMode="gray">
          <a:xfrm>
            <a:off x="8381987" y="1945599"/>
            <a:ext cx="509852" cy="307777"/>
          </a:xfrm>
          <a:prstGeom prst="rect">
            <a:avLst/>
          </a:prstGeom>
          <a:noFill/>
        </p:spPr>
        <p:txBody>
          <a:bodyPr wrap="square" rtlCol="0">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P1</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9" name="文本框 9"/>
          <p:cNvSpPr txBox="1"/>
          <p:nvPr/>
        </p:nvSpPr>
        <p:spPr bwMode="gray">
          <a:xfrm>
            <a:off x="9701413" y="1945599"/>
            <a:ext cx="509852" cy="307777"/>
          </a:xfrm>
          <a:prstGeom prst="rect">
            <a:avLst/>
          </a:prstGeom>
          <a:noFill/>
        </p:spPr>
        <p:txBody>
          <a:bodyPr wrap="square" rtlCol="0">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PE2</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60" name="直接箭头连接符 3"/>
          <p:cNvCxnSpPr/>
          <p:nvPr/>
        </p:nvCxnSpPr>
        <p:spPr bwMode="gray">
          <a:xfrm>
            <a:off x="6801181" y="3563022"/>
            <a:ext cx="4771818" cy="0"/>
          </a:xfrm>
          <a:prstGeom prst="straightConnector1">
            <a:avLst/>
          </a:prstGeom>
          <a:ln w="57150">
            <a:solidFill>
              <a:srgbClr val="E28189"/>
            </a:solidFill>
            <a:tailEnd type="triangle"/>
          </a:ln>
        </p:spPr>
        <p:style>
          <a:lnRef idx="1">
            <a:schemeClr val="accent1"/>
          </a:lnRef>
          <a:fillRef idx="0">
            <a:schemeClr val="accent1"/>
          </a:fillRef>
          <a:effectRef idx="0">
            <a:schemeClr val="accent1"/>
          </a:effectRef>
          <a:fontRef idx="minor">
            <a:schemeClr val="tx1"/>
          </a:fontRef>
        </p:style>
      </p:cxnSp>
      <p:sp>
        <p:nvSpPr>
          <p:cNvPr id="61" name="圆角矩形 59"/>
          <p:cNvSpPr/>
          <p:nvPr/>
        </p:nvSpPr>
        <p:spPr bwMode="gray">
          <a:xfrm>
            <a:off x="6963380" y="2225931"/>
            <a:ext cx="705712" cy="221690"/>
          </a:xfrm>
          <a:prstGeom prst="roundRect">
            <a:avLst>
              <a:gd name="adj" fmla="val 13019"/>
            </a:avLst>
          </a:prstGeom>
          <a:solidFill>
            <a:srgbClr val="56C4D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FC01::1</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2" name="圆角矩形 59"/>
          <p:cNvSpPr/>
          <p:nvPr/>
        </p:nvSpPr>
        <p:spPr bwMode="gray">
          <a:xfrm>
            <a:off x="8284057" y="2225112"/>
            <a:ext cx="705712" cy="221690"/>
          </a:xfrm>
          <a:prstGeom prst="roundRect">
            <a:avLst>
              <a:gd name="adj" fmla="val 13019"/>
            </a:avLst>
          </a:prstGeom>
          <a:solidFill>
            <a:srgbClr val="56C4D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FC02::2</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3" name="圆角矩形 59"/>
          <p:cNvSpPr/>
          <p:nvPr/>
        </p:nvSpPr>
        <p:spPr bwMode="gray">
          <a:xfrm>
            <a:off x="9604734" y="2225112"/>
            <a:ext cx="705712" cy="221690"/>
          </a:xfrm>
          <a:prstGeom prst="roundRect">
            <a:avLst>
              <a:gd name="adj" fmla="val 13019"/>
            </a:avLst>
          </a:prstGeom>
          <a:solidFill>
            <a:srgbClr val="56C4D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FC03::3</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aphicFrame>
        <p:nvGraphicFramePr>
          <p:cNvPr id="64" name="Table 63"/>
          <p:cNvGraphicFramePr>
            <a:graphicFrameLocks noGrp="1"/>
          </p:cNvGraphicFramePr>
          <p:nvPr/>
        </p:nvGraphicFramePr>
        <p:xfrm>
          <a:off x="7292113" y="2822764"/>
          <a:ext cx="1345061" cy="1371600"/>
        </p:xfrm>
        <a:graphic>
          <a:graphicData uri="http://schemas.openxmlformats.org/drawingml/2006/table">
            <a:tbl>
              <a:tblPr firstRow="1" bandRow="1">
                <a:tableStyleId>{72833802-FEF1-4C79-8D5D-14CF1EAF98D9}</a:tableStyleId>
              </a:tblPr>
              <a:tblGrid>
                <a:gridCol w="1345061"/>
              </a:tblGrid>
              <a:tr h="283025">
                <a:tc>
                  <a:txBody>
                    <a:bodyPr/>
                    <a:lstStyle/>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DIPv6</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FC02::2</a:t>
                      </a:r>
                      <a:endPar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SIPv6</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FC01::1</a:t>
                      </a:r>
                      <a:endPar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6C4D2"/>
                    </a:solidFill>
                  </a:tcPr>
                </a:tc>
              </a:tr>
              <a:tr h="448992">
                <a:tc>
                  <a:txBody>
                    <a:bodyPr/>
                    <a:lstStyle/>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SRH</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SL=</a:t>
                      </a: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1</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FC03::3</a:t>
                      </a:r>
                      <a:endPar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FC02::2</a:t>
                      </a:r>
                      <a:endParaRPr lang="zh-CN" altLang="en-US"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EEEC1"/>
                    </a:solidFill>
                  </a:tcPr>
                </a:tc>
              </a:tr>
              <a:tr h="169815">
                <a:tc>
                  <a:txBody>
                    <a:bodyPr/>
                    <a:lstStyle/>
                    <a:p>
                      <a:pPr algn="ctr"/>
                      <a:r>
                        <a:rPr lang="en-US" altLang="zh-CN" sz="1200" dirty="0">
                          <a:solidFill>
                            <a:schemeClr val="bg1"/>
                          </a:solidFill>
                        </a:rPr>
                        <a:t>ICMPv6 Request</a:t>
                      </a:r>
                      <a:endParaRPr lang="zh-CN" altLang="en-US" sz="1200"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r>
            </a:tbl>
          </a:graphicData>
        </a:graphic>
      </p:graphicFrame>
      <p:graphicFrame>
        <p:nvGraphicFramePr>
          <p:cNvPr id="65" name="Table 64"/>
          <p:cNvGraphicFramePr>
            <a:graphicFrameLocks noGrp="1"/>
          </p:cNvGraphicFramePr>
          <p:nvPr/>
        </p:nvGraphicFramePr>
        <p:xfrm>
          <a:off x="8777466" y="2821647"/>
          <a:ext cx="1345061" cy="1371600"/>
        </p:xfrm>
        <a:graphic>
          <a:graphicData uri="http://schemas.openxmlformats.org/drawingml/2006/table">
            <a:tbl>
              <a:tblPr firstRow="1" bandRow="1">
                <a:tableStyleId>{72833802-FEF1-4C79-8D5D-14CF1EAF98D9}</a:tableStyleId>
              </a:tblPr>
              <a:tblGrid>
                <a:gridCol w="1345061"/>
              </a:tblGrid>
              <a:tr h="283025">
                <a:tc>
                  <a:txBody>
                    <a:bodyPr/>
                    <a:lstStyle/>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DIPv6</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FC03::3</a:t>
                      </a:r>
                      <a:endPar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SIPv6</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FC01::1</a:t>
                      </a:r>
                      <a:endPar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6C4D2"/>
                    </a:solidFill>
                  </a:tcPr>
                </a:tc>
              </a:tr>
              <a:tr h="448992">
                <a:tc>
                  <a:txBody>
                    <a:bodyPr/>
                    <a:lstStyle/>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SRH</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SL=</a:t>
                      </a: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0</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0" algn="ctr" defTabSz="913765" rtl="0" eaLnBrk="1" latinLnBrk="0" hangingPunct="1"/>
                      <a:r>
                        <a:rPr lang="en-US" altLang="zh-CN" sz="1200" b="1" kern="1200" dirty="0">
                          <a:solidFill>
                            <a:srgbClr val="C7000B"/>
                          </a:solidFill>
                          <a:latin typeface="Huawei Sans" panose="020C0503030203020204" pitchFamily="34" charset="0"/>
                          <a:ea typeface="方正兰亭黑简体" panose="02000000000000000000" pitchFamily="2" charset="-122"/>
                          <a:cs typeface="+mn-cs"/>
                          <a:sym typeface="Huawei Sans" panose="020C0503030203020204" pitchFamily="34" charset="0"/>
                        </a:rPr>
                        <a:t>FC03::3</a:t>
                      </a:r>
                      <a:endParaRPr lang="en-US" altLang="zh-CN" sz="1200" b="1" kern="1200" dirty="0">
                        <a:solidFill>
                          <a:srgbClr val="C7000B"/>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p>
                      <a:pPr marL="0" algn="ctr" defTabSz="913765" rtl="0" eaLnBrk="1" latinLnBrk="0" hangingPunct="1"/>
                      <a:r>
                        <a:rPr lang="en-US" altLang="zh-CN"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FC02::2</a:t>
                      </a:r>
                      <a:endParaRPr lang="zh-CN" altLang="en-US"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EEEC1"/>
                    </a:solidFill>
                  </a:tcPr>
                </a:tc>
              </a:tr>
              <a:tr h="169815">
                <a:tc>
                  <a:txBody>
                    <a:bodyPr/>
                    <a:lstStyle/>
                    <a:p>
                      <a:pPr algn="ctr"/>
                      <a:r>
                        <a:rPr lang="en-US" altLang="zh-CN" sz="1200" dirty="0">
                          <a:solidFill>
                            <a:schemeClr val="bg1"/>
                          </a:solidFill>
                        </a:rPr>
                        <a:t>ICMPv6 Request</a:t>
                      </a:r>
                      <a:endParaRPr lang="zh-CN" altLang="en-US" sz="1200"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r>
            </a:tbl>
          </a:graphicData>
        </a:graphic>
      </p:graphicFrame>
      <p:graphicFrame>
        <p:nvGraphicFramePr>
          <p:cNvPr id="66" name="Table 65"/>
          <p:cNvGraphicFramePr>
            <a:graphicFrameLocks noGrp="1"/>
          </p:cNvGraphicFramePr>
          <p:nvPr/>
        </p:nvGraphicFramePr>
        <p:xfrm>
          <a:off x="8932203" y="4339590"/>
          <a:ext cx="1345061" cy="731520"/>
        </p:xfrm>
        <a:graphic>
          <a:graphicData uri="http://schemas.openxmlformats.org/drawingml/2006/table">
            <a:tbl>
              <a:tblPr firstRow="1" bandRow="1">
                <a:tableStyleId>{72833802-FEF1-4C79-8D5D-14CF1EAF98D9}</a:tableStyleId>
              </a:tblPr>
              <a:tblGrid>
                <a:gridCol w="1345061"/>
              </a:tblGrid>
              <a:tr h="370840">
                <a:tc>
                  <a:txBody>
                    <a:bodyPr/>
                    <a:lstStyle/>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DIPv6</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FC01::1</a:t>
                      </a:r>
                      <a:endPar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SIPv6</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FC03::3</a:t>
                      </a:r>
                      <a:endPar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6C4D2"/>
                    </a:solidFill>
                  </a:tcPr>
                </a:tc>
              </a:tr>
              <a:tr h="0">
                <a:tc>
                  <a:txBody>
                    <a:bodyPr/>
                    <a:lstStyle/>
                    <a:p>
                      <a:pPr algn="ctr"/>
                      <a:r>
                        <a:rPr lang="en-US" altLang="zh-CN" sz="1200" dirty="0">
                          <a:solidFill>
                            <a:schemeClr val="bg1"/>
                          </a:solidFill>
                        </a:rPr>
                        <a:t>ICMPv6 Reply</a:t>
                      </a:r>
                      <a:endParaRPr lang="zh-CN" altLang="en-US" sz="1200"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r>
            </a:tbl>
          </a:graphicData>
        </a:graphic>
      </p:graphicFrame>
      <p:cxnSp>
        <p:nvCxnSpPr>
          <p:cNvPr id="67" name="直接箭头连接符 3"/>
          <p:cNvCxnSpPr>
            <a:stCxn id="66" idx="1"/>
          </p:cNvCxnSpPr>
          <p:nvPr/>
        </p:nvCxnSpPr>
        <p:spPr bwMode="gray">
          <a:xfrm flipH="1">
            <a:off x="7716285" y="4705350"/>
            <a:ext cx="1215918" cy="0"/>
          </a:xfrm>
          <a:prstGeom prst="straightConnector1">
            <a:avLst/>
          </a:prstGeom>
          <a:ln w="57150">
            <a:solidFill>
              <a:srgbClr val="E28189"/>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68" name="Table 67"/>
          <p:cNvGraphicFramePr>
            <a:graphicFrameLocks noGrp="1"/>
          </p:cNvGraphicFramePr>
          <p:nvPr/>
        </p:nvGraphicFramePr>
        <p:xfrm>
          <a:off x="3350624" y="5192735"/>
          <a:ext cx="1345061" cy="731520"/>
        </p:xfrm>
        <a:graphic>
          <a:graphicData uri="http://schemas.openxmlformats.org/drawingml/2006/table">
            <a:tbl>
              <a:tblPr firstRow="1" bandRow="1">
                <a:tableStyleId>{72833802-FEF1-4C79-8D5D-14CF1EAF98D9}</a:tableStyleId>
              </a:tblPr>
              <a:tblGrid>
                <a:gridCol w="1345061"/>
              </a:tblGrid>
              <a:tr h="370840">
                <a:tc>
                  <a:txBody>
                    <a:bodyPr/>
                    <a:lstStyle/>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DIPv6</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FC01::1</a:t>
                      </a:r>
                      <a:endPar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SIPv6</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FC03::3</a:t>
                      </a:r>
                      <a:endPar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6C4D2"/>
                    </a:solidFill>
                  </a:tcPr>
                </a:tc>
              </a:tr>
              <a:tr h="0">
                <a:tc>
                  <a:txBody>
                    <a:bodyPr/>
                    <a:lstStyle/>
                    <a:p>
                      <a:pPr algn="ctr"/>
                      <a:r>
                        <a:rPr lang="en-US" altLang="zh-CN" sz="1200" dirty="0">
                          <a:solidFill>
                            <a:schemeClr val="bg1"/>
                          </a:solidFill>
                        </a:rPr>
                        <a:t>ICMPv6 Reply</a:t>
                      </a:r>
                      <a:endParaRPr lang="zh-CN" altLang="en-US" sz="1200"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r>
            </a:tbl>
          </a:graphicData>
        </a:graphic>
      </p:graphicFrame>
      <p:cxnSp>
        <p:nvCxnSpPr>
          <p:cNvPr id="69" name="直接箭头连接符 3"/>
          <p:cNvCxnSpPr>
            <a:stCxn id="68" idx="1"/>
          </p:cNvCxnSpPr>
          <p:nvPr/>
        </p:nvCxnSpPr>
        <p:spPr bwMode="gray">
          <a:xfrm flipH="1">
            <a:off x="2134706" y="5558495"/>
            <a:ext cx="1215918" cy="0"/>
          </a:xfrm>
          <a:prstGeom prst="straightConnector1">
            <a:avLst/>
          </a:prstGeom>
          <a:ln w="57150">
            <a:solidFill>
              <a:srgbClr val="E28189"/>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gray"/>
        <p:txBody>
          <a:bodyPr/>
          <a:lstStyle/>
          <a:p>
            <a:r>
              <a:rPr lang="en-US" altLang="zh-CN" dirty="0"/>
              <a:t>SRv6 </a:t>
            </a:r>
            <a:r>
              <a:rPr lang="en-US" altLang="zh-CN" dirty="0" err="1"/>
              <a:t>Tracert</a:t>
            </a:r>
            <a:r>
              <a:rPr lang="zh-CN" altLang="en-US" dirty="0"/>
              <a:t>工作原理</a:t>
            </a:r>
            <a:endParaRPr lang="zh-CN" altLang="en-US" dirty="0"/>
          </a:p>
        </p:txBody>
      </p:sp>
      <p:sp>
        <p:nvSpPr>
          <p:cNvPr id="3" name="Text Placeholder 2"/>
          <p:cNvSpPr>
            <a:spLocks noGrp="1"/>
          </p:cNvSpPr>
          <p:nvPr>
            <p:ph type="body" sz="quarter" idx="10"/>
          </p:nvPr>
        </p:nvSpPr>
        <p:spPr bwMode="gray"/>
        <p:txBody>
          <a:bodyPr/>
          <a:lstStyle/>
          <a:p>
            <a:r>
              <a:rPr lang="en-US" altLang="zh-CN" sz="1600" dirty="0"/>
              <a:t>SRv6 </a:t>
            </a:r>
            <a:r>
              <a:rPr lang="en-US" altLang="zh-CN" sz="1600" dirty="0" err="1"/>
              <a:t>Tracert</a:t>
            </a:r>
            <a:r>
              <a:rPr lang="zh-CN" altLang="en-US" sz="1600" dirty="0"/>
              <a:t>可以分为</a:t>
            </a:r>
            <a:r>
              <a:rPr lang="en-US" altLang="zh-CN" sz="1600" dirty="0"/>
              <a:t>Overlay </a:t>
            </a:r>
            <a:r>
              <a:rPr lang="en-US" altLang="zh-CN" sz="1600" dirty="0" err="1"/>
              <a:t>Tracert</a:t>
            </a:r>
            <a:r>
              <a:rPr lang="zh-CN" altLang="en-US" sz="1600" dirty="0"/>
              <a:t>与非</a:t>
            </a:r>
            <a:r>
              <a:rPr lang="en-US" altLang="zh-CN" sz="1600" dirty="0"/>
              <a:t>Overlay </a:t>
            </a:r>
            <a:r>
              <a:rPr lang="en-US" altLang="zh-CN" sz="1600" dirty="0" err="1"/>
              <a:t>Tracert</a:t>
            </a:r>
            <a:r>
              <a:rPr lang="zh-CN" altLang="en-US" sz="1600" dirty="0"/>
              <a:t>。</a:t>
            </a:r>
            <a:endParaRPr lang="zh-CN" altLang="en-US" sz="1600" dirty="0"/>
          </a:p>
        </p:txBody>
      </p:sp>
      <p:pic>
        <p:nvPicPr>
          <p:cNvPr id="4" name="图片 48"/>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bwMode="gray">
          <a:xfrm>
            <a:off x="1565272" y="2242284"/>
            <a:ext cx="378863" cy="310667"/>
          </a:xfrm>
          <a:prstGeom prst="rect">
            <a:avLst/>
          </a:prstGeom>
        </p:spPr>
      </p:pic>
      <p:pic>
        <p:nvPicPr>
          <p:cNvPr id="5" name="图片 48"/>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bwMode="gray">
          <a:xfrm>
            <a:off x="4204126" y="2242284"/>
            <a:ext cx="378863" cy="310667"/>
          </a:xfrm>
          <a:prstGeom prst="rect">
            <a:avLst/>
          </a:prstGeom>
        </p:spPr>
      </p:pic>
      <p:pic>
        <p:nvPicPr>
          <p:cNvPr id="6" name="图片 48"/>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bwMode="gray">
          <a:xfrm>
            <a:off x="2884699" y="2241118"/>
            <a:ext cx="378863" cy="310667"/>
          </a:xfrm>
          <a:prstGeom prst="rect">
            <a:avLst/>
          </a:prstGeom>
        </p:spPr>
      </p:pic>
      <p:cxnSp>
        <p:nvCxnSpPr>
          <p:cNvPr id="7" name="Straight Connector 6"/>
          <p:cNvCxnSpPr>
            <a:stCxn id="4" idx="3"/>
            <a:endCxn id="6" idx="1"/>
          </p:cNvCxnSpPr>
          <p:nvPr/>
        </p:nvCxnSpPr>
        <p:spPr bwMode="gray">
          <a:xfrm flipV="1">
            <a:off x="1944135" y="2396452"/>
            <a:ext cx="940564" cy="1166"/>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a:stCxn id="6" idx="3"/>
            <a:endCxn id="5" idx="1"/>
          </p:cNvCxnSpPr>
          <p:nvPr/>
        </p:nvCxnSpPr>
        <p:spPr bwMode="gray">
          <a:xfrm>
            <a:off x="3263562" y="2396452"/>
            <a:ext cx="940564" cy="1166"/>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3" name="文本框 9"/>
          <p:cNvSpPr txBox="1"/>
          <p:nvPr/>
        </p:nvSpPr>
        <p:spPr bwMode="gray">
          <a:xfrm>
            <a:off x="1502511" y="1724722"/>
            <a:ext cx="509852" cy="307777"/>
          </a:xfrm>
          <a:prstGeom prst="rect">
            <a:avLst/>
          </a:prstGeom>
          <a:noFill/>
        </p:spPr>
        <p:txBody>
          <a:bodyPr wrap="square" rtlCol="0">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PE1</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文本框 9"/>
          <p:cNvSpPr txBox="1"/>
          <p:nvPr/>
        </p:nvSpPr>
        <p:spPr bwMode="gray">
          <a:xfrm>
            <a:off x="2819204" y="1726435"/>
            <a:ext cx="509852" cy="307777"/>
          </a:xfrm>
          <a:prstGeom prst="rect">
            <a:avLst/>
          </a:prstGeom>
          <a:noFill/>
        </p:spPr>
        <p:txBody>
          <a:bodyPr wrap="square" rtlCol="0">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P1</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 name="文本框 9"/>
          <p:cNvSpPr txBox="1"/>
          <p:nvPr/>
        </p:nvSpPr>
        <p:spPr bwMode="gray">
          <a:xfrm>
            <a:off x="4138630" y="1726435"/>
            <a:ext cx="509852" cy="307777"/>
          </a:xfrm>
          <a:prstGeom prst="rect">
            <a:avLst/>
          </a:prstGeom>
          <a:noFill/>
        </p:spPr>
        <p:txBody>
          <a:bodyPr wrap="square" rtlCol="0">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PE2</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6" name="直接箭头连接符 3"/>
          <p:cNvCxnSpPr/>
          <p:nvPr/>
        </p:nvCxnSpPr>
        <p:spPr bwMode="gray">
          <a:xfrm>
            <a:off x="1238398" y="3343858"/>
            <a:ext cx="4771818" cy="0"/>
          </a:xfrm>
          <a:prstGeom prst="straightConnector1">
            <a:avLst/>
          </a:prstGeom>
          <a:ln w="57150">
            <a:solidFill>
              <a:srgbClr val="E28189"/>
            </a:solidFill>
            <a:tailEnd type="triangle"/>
          </a:ln>
        </p:spPr>
        <p:style>
          <a:lnRef idx="1">
            <a:schemeClr val="accent1"/>
          </a:lnRef>
          <a:fillRef idx="0">
            <a:schemeClr val="accent1"/>
          </a:fillRef>
          <a:effectRef idx="0">
            <a:schemeClr val="accent1"/>
          </a:effectRef>
          <a:fontRef idx="minor">
            <a:schemeClr val="tx1"/>
          </a:fontRef>
        </p:style>
      </p:cxnSp>
      <p:sp>
        <p:nvSpPr>
          <p:cNvPr id="19" name="圆角矩形 59"/>
          <p:cNvSpPr/>
          <p:nvPr/>
        </p:nvSpPr>
        <p:spPr bwMode="gray">
          <a:xfrm>
            <a:off x="1400597" y="2006767"/>
            <a:ext cx="705712" cy="221690"/>
          </a:xfrm>
          <a:prstGeom prst="roundRect">
            <a:avLst>
              <a:gd name="adj" fmla="val 13019"/>
            </a:avLst>
          </a:prstGeom>
          <a:solidFill>
            <a:srgbClr val="56C4D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FC01::1</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圆角矩形 59"/>
          <p:cNvSpPr/>
          <p:nvPr/>
        </p:nvSpPr>
        <p:spPr bwMode="gray">
          <a:xfrm>
            <a:off x="2721274" y="2005948"/>
            <a:ext cx="705712" cy="221690"/>
          </a:xfrm>
          <a:prstGeom prst="roundRect">
            <a:avLst>
              <a:gd name="adj" fmla="val 13019"/>
            </a:avLst>
          </a:prstGeom>
          <a:solidFill>
            <a:srgbClr val="56C4D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FC02::2</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圆角矩形 59"/>
          <p:cNvSpPr/>
          <p:nvPr/>
        </p:nvSpPr>
        <p:spPr bwMode="gray">
          <a:xfrm>
            <a:off x="4041951" y="2005948"/>
            <a:ext cx="705712" cy="221690"/>
          </a:xfrm>
          <a:prstGeom prst="roundRect">
            <a:avLst>
              <a:gd name="adj" fmla="val 13019"/>
            </a:avLst>
          </a:prstGeom>
          <a:solidFill>
            <a:srgbClr val="56C4D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FC03::3</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aphicFrame>
        <p:nvGraphicFramePr>
          <p:cNvPr id="26" name="Table 25"/>
          <p:cNvGraphicFramePr>
            <a:graphicFrameLocks noGrp="1"/>
          </p:cNvGraphicFramePr>
          <p:nvPr/>
        </p:nvGraphicFramePr>
        <p:xfrm>
          <a:off x="1729330" y="2603600"/>
          <a:ext cx="1345061" cy="1554480"/>
        </p:xfrm>
        <a:graphic>
          <a:graphicData uri="http://schemas.openxmlformats.org/drawingml/2006/table">
            <a:tbl>
              <a:tblPr firstRow="1" bandRow="1">
                <a:tableStyleId>{72833802-FEF1-4C79-8D5D-14CF1EAF98D9}</a:tableStyleId>
              </a:tblPr>
              <a:tblGrid>
                <a:gridCol w="1345061"/>
              </a:tblGrid>
              <a:tr h="283025">
                <a:tc>
                  <a:txBody>
                    <a:bodyPr/>
                    <a:lstStyle/>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DIPv6</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FC02::2</a:t>
                      </a:r>
                      <a:endPar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SIPv6</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FC01::1</a:t>
                      </a:r>
                      <a:endPar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TTL=63</a:t>
                      </a:r>
                      <a:endPar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6C4D2"/>
                    </a:solidFill>
                  </a:tcPr>
                </a:tc>
              </a:tr>
              <a:tr h="448992">
                <a:tc>
                  <a:txBody>
                    <a:bodyPr/>
                    <a:lstStyle/>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SRH</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SL=</a:t>
                      </a: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1</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FC03::3</a:t>
                      </a:r>
                      <a:endPar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FC02::2</a:t>
                      </a:r>
                      <a:endParaRPr lang="zh-CN" altLang="en-US"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EEEC1"/>
                    </a:solidFill>
                  </a:tcPr>
                </a:tc>
              </a:tr>
              <a:tr h="169815">
                <a:tc>
                  <a:txBody>
                    <a:bodyPr/>
                    <a:lstStyle/>
                    <a:p>
                      <a:pPr algn="ctr"/>
                      <a:r>
                        <a:rPr lang="en-US" altLang="zh-CN" sz="1200" dirty="0">
                          <a:solidFill>
                            <a:schemeClr val="bg1"/>
                          </a:solidFill>
                        </a:rPr>
                        <a:t>UDP</a:t>
                      </a:r>
                      <a:endParaRPr lang="zh-CN" altLang="en-US" sz="1200"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r>
            </a:tbl>
          </a:graphicData>
        </a:graphic>
      </p:graphicFrame>
      <p:graphicFrame>
        <p:nvGraphicFramePr>
          <p:cNvPr id="27" name="Table 26"/>
          <p:cNvGraphicFramePr>
            <a:graphicFrameLocks noGrp="1"/>
          </p:cNvGraphicFramePr>
          <p:nvPr/>
        </p:nvGraphicFramePr>
        <p:xfrm>
          <a:off x="3214683" y="2602483"/>
          <a:ext cx="1345061" cy="1554480"/>
        </p:xfrm>
        <a:graphic>
          <a:graphicData uri="http://schemas.openxmlformats.org/drawingml/2006/table">
            <a:tbl>
              <a:tblPr firstRow="1" bandRow="1">
                <a:tableStyleId>{72833802-FEF1-4C79-8D5D-14CF1EAF98D9}</a:tableStyleId>
              </a:tblPr>
              <a:tblGrid>
                <a:gridCol w="1345061"/>
              </a:tblGrid>
              <a:tr h="283025">
                <a:tc>
                  <a:txBody>
                    <a:bodyPr/>
                    <a:lstStyle/>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DIPv6</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FC03::3</a:t>
                      </a:r>
                      <a:endPar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SIPv6</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FC01::1</a:t>
                      </a:r>
                      <a:endPar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TTL=62</a:t>
                      </a:r>
                      <a:endPar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6C4D2"/>
                    </a:solidFill>
                  </a:tcPr>
                </a:tc>
              </a:tr>
              <a:tr h="448992">
                <a:tc>
                  <a:txBody>
                    <a:bodyPr/>
                    <a:lstStyle/>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SRH</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SL=</a:t>
                      </a: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0</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0" algn="ctr" defTabSz="913765" rtl="0" eaLnBrk="1" latinLnBrk="0" hangingPunct="1"/>
                      <a:r>
                        <a:rPr lang="en-US" altLang="zh-CN" sz="1200" b="1" kern="1200" dirty="0">
                          <a:solidFill>
                            <a:srgbClr val="C7000B"/>
                          </a:solidFill>
                          <a:latin typeface="Huawei Sans" panose="020C0503030203020204" pitchFamily="34" charset="0"/>
                          <a:ea typeface="方正兰亭黑简体" panose="02000000000000000000" pitchFamily="2" charset="-122"/>
                          <a:cs typeface="+mn-cs"/>
                          <a:sym typeface="Huawei Sans" panose="020C0503030203020204" pitchFamily="34" charset="0"/>
                        </a:rPr>
                        <a:t>FC03::3</a:t>
                      </a:r>
                      <a:endParaRPr lang="en-US" altLang="zh-CN" sz="1200" b="1" kern="1200" dirty="0">
                        <a:solidFill>
                          <a:srgbClr val="C7000B"/>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p>
                      <a:pPr marL="0" algn="ctr" defTabSz="913765" rtl="0" eaLnBrk="1" latinLnBrk="0" hangingPunct="1"/>
                      <a:r>
                        <a:rPr lang="en-US" altLang="zh-CN"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FC02::2</a:t>
                      </a:r>
                      <a:endParaRPr lang="zh-CN" altLang="en-US"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EEEC1"/>
                    </a:solidFill>
                  </a:tcPr>
                </a:tc>
              </a:tr>
              <a:tr h="169815">
                <a:tc>
                  <a:txBody>
                    <a:bodyPr/>
                    <a:lstStyle/>
                    <a:p>
                      <a:pPr algn="ctr"/>
                      <a:r>
                        <a:rPr lang="en-US" altLang="zh-CN" sz="1200" dirty="0">
                          <a:solidFill>
                            <a:schemeClr val="bg1"/>
                          </a:solidFill>
                        </a:rPr>
                        <a:t>UDP</a:t>
                      </a:r>
                      <a:endParaRPr lang="zh-CN" altLang="en-US" sz="1200"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r>
            </a:tbl>
          </a:graphicData>
        </a:graphic>
      </p:graphicFrame>
      <p:graphicFrame>
        <p:nvGraphicFramePr>
          <p:cNvPr id="30" name="Table 29"/>
          <p:cNvGraphicFramePr>
            <a:graphicFrameLocks noGrp="1"/>
          </p:cNvGraphicFramePr>
          <p:nvPr/>
        </p:nvGraphicFramePr>
        <p:xfrm>
          <a:off x="2081924" y="4269947"/>
          <a:ext cx="2122201" cy="731520"/>
        </p:xfrm>
        <a:graphic>
          <a:graphicData uri="http://schemas.openxmlformats.org/drawingml/2006/table">
            <a:tbl>
              <a:tblPr firstRow="1" bandRow="1">
                <a:tableStyleId>{72833802-FEF1-4C79-8D5D-14CF1EAF98D9}</a:tableStyleId>
              </a:tblPr>
              <a:tblGrid>
                <a:gridCol w="2122201"/>
              </a:tblGrid>
              <a:tr h="370840">
                <a:tc>
                  <a:txBody>
                    <a:bodyPr/>
                    <a:lstStyle/>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DIPv6</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FC01::1</a:t>
                      </a:r>
                      <a:endPar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SIPv6</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FC02::2</a:t>
                      </a:r>
                      <a:endPar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6C4D2"/>
                    </a:solidFill>
                  </a:tcPr>
                </a:tc>
              </a:tr>
              <a:tr h="0">
                <a:tc>
                  <a:txBody>
                    <a:bodyPr/>
                    <a:lstStyle/>
                    <a:p>
                      <a:pPr algn="ctr"/>
                      <a:r>
                        <a:rPr lang="en-US" altLang="zh-CN" sz="1200" dirty="0">
                          <a:solidFill>
                            <a:schemeClr val="bg1"/>
                          </a:solidFill>
                        </a:rPr>
                        <a:t>ICMPv6</a:t>
                      </a:r>
                      <a:r>
                        <a:rPr lang="en-US" altLang="zh-CN" sz="1200" baseline="0" dirty="0">
                          <a:solidFill>
                            <a:schemeClr val="bg1"/>
                          </a:solidFill>
                        </a:rPr>
                        <a:t> Port-Unreachable</a:t>
                      </a:r>
                      <a:endParaRPr lang="zh-CN" altLang="en-US" sz="1200"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r>
            </a:tbl>
          </a:graphicData>
        </a:graphic>
      </p:graphicFrame>
      <p:cxnSp>
        <p:nvCxnSpPr>
          <p:cNvPr id="31" name="直接箭头连接符 3"/>
          <p:cNvCxnSpPr>
            <a:stCxn id="30" idx="1"/>
          </p:cNvCxnSpPr>
          <p:nvPr/>
        </p:nvCxnSpPr>
        <p:spPr bwMode="gray">
          <a:xfrm flipH="1">
            <a:off x="1251130" y="4635707"/>
            <a:ext cx="830794" cy="0"/>
          </a:xfrm>
          <a:prstGeom prst="straightConnector1">
            <a:avLst/>
          </a:prstGeom>
          <a:ln w="57150">
            <a:solidFill>
              <a:srgbClr val="E28189"/>
            </a:solidFill>
            <a:tailEnd type="triangle"/>
          </a:ln>
        </p:spPr>
        <p:style>
          <a:lnRef idx="1">
            <a:schemeClr val="accent1"/>
          </a:lnRef>
          <a:fillRef idx="0">
            <a:schemeClr val="accent1"/>
          </a:fillRef>
          <a:effectRef idx="0">
            <a:schemeClr val="accent1"/>
          </a:effectRef>
          <a:fontRef idx="minor">
            <a:schemeClr val="tx1"/>
          </a:fontRef>
        </p:style>
      </p:cxnSp>
      <p:pic>
        <p:nvPicPr>
          <p:cNvPr id="35" name="图片 48"/>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bwMode="gray">
          <a:xfrm>
            <a:off x="7312654" y="1685724"/>
            <a:ext cx="378863" cy="310667"/>
          </a:xfrm>
          <a:prstGeom prst="rect">
            <a:avLst/>
          </a:prstGeom>
        </p:spPr>
      </p:pic>
      <p:pic>
        <p:nvPicPr>
          <p:cNvPr id="36" name="图片 48"/>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bwMode="gray">
          <a:xfrm>
            <a:off x="9951508" y="1685724"/>
            <a:ext cx="378863" cy="310667"/>
          </a:xfrm>
          <a:prstGeom prst="rect">
            <a:avLst/>
          </a:prstGeom>
        </p:spPr>
      </p:pic>
      <p:pic>
        <p:nvPicPr>
          <p:cNvPr id="37" name="图片 48"/>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bwMode="gray">
          <a:xfrm>
            <a:off x="8632081" y="1684558"/>
            <a:ext cx="378863" cy="310667"/>
          </a:xfrm>
          <a:prstGeom prst="rect">
            <a:avLst/>
          </a:prstGeom>
        </p:spPr>
      </p:pic>
      <p:cxnSp>
        <p:nvCxnSpPr>
          <p:cNvPr id="38" name="Straight Connector 37"/>
          <p:cNvCxnSpPr>
            <a:stCxn id="35" idx="3"/>
            <a:endCxn id="37" idx="1"/>
          </p:cNvCxnSpPr>
          <p:nvPr/>
        </p:nvCxnSpPr>
        <p:spPr bwMode="gray">
          <a:xfrm flipV="1">
            <a:off x="7691517" y="1839892"/>
            <a:ext cx="940564" cy="1166"/>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a:stCxn id="37" idx="3"/>
            <a:endCxn id="36" idx="1"/>
          </p:cNvCxnSpPr>
          <p:nvPr/>
        </p:nvCxnSpPr>
        <p:spPr bwMode="gray">
          <a:xfrm>
            <a:off x="9010944" y="1839892"/>
            <a:ext cx="940564" cy="1166"/>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40" name="文本框 9"/>
          <p:cNvSpPr txBox="1"/>
          <p:nvPr/>
        </p:nvSpPr>
        <p:spPr bwMode="gray">
          <a:xfrm>
            <a:off x="7249893" y="1168162"/>
            <a:ext cx="509852" cy="307777"/>
          </a:xfrm>
          <a:prstGeom prst="rect">
            <a:avLst/>
          </a:prstGeom>
          <a:noFill/>
        </p:spPr>
        <p:txBody>
          <a:bodyPr wrap="square" rtlCol="0">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PE1</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文本框 9"/>
          <p:cNvSpPr txBox="1"/>
          <p:nvPr/>
        </p:nvSpPr>
        <p:spPr bwMode="gray">
          <a:xfrm>
            <a:off x="8566586" y="1169875"/>
            <a:ext cx="509852" cy="307777"/>
          </a:xfrm>
          <a:prstGeom prst="rect">
            <a:avLst/>
          </a:prstGeom>
          <a:noFill/>
        </p:spPr>
        <p:txBody>
          <a:bodyPr wrap="square" rtlCol="0">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P1</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文本框 9"/>
          <p:cNvSpPr txBox="1"/>
          <p:nvPr/>
        </p:nvSpPr>
        <p:spPr bwMode="gray">
          <a:xfrm>
            <a:off x="9886012" y="1169875"/>
            <a:ext cx="509852" cy="307777"/>
          </a:xfrm>
          <a:prstGeom prst="rect">
            <a:avLst/>
          </a:prstGeom>
          <a:noFill/>
        </p:spPr>
        <p:txBody>
          <a:bodyPr wrap="square" rtlCol="0">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PE2</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43" name="直接箭头连接符 3"/>
          <p:cNvCxnSpPr>
            <a:stCxn id="48" idx="3"/>
          </p:cNvCxnSpPr>
          <p:nvPr/>
        </p:nvCxnSpPr>
        <p:spPr bwMode="gray">
          <a:xfrm>
            <a:off x="8584704" y="2812992"/>
            <a:ext cx="1215918" cy="0"/>
          </a:xfrm>
          <a:prstGeom prst="straightConnector1">
            <a:avLst/>
          </a:prstGeom>
          <a:ln w="57150">
            <a:solidFill>
              <a:srgbClr val="E28189"/>
            </a:solidFill>
            <a:tailEnd type="triangle"/>
          </a:ln>
        </p:spPr>
        <p:style>
          <a:lnRef idx="1">
            <a:schemeClr val="accent1"/>
          </a:lnRef>
          <a:fillRef idx="0">
            <a:schemeClr val="accent1"/>
          </a:fillRef>
          <a:effectRef idx="0">
            <a:schemeClr val="accent1"/>
          </a:effectRef>
          <a:fontRef idx="minor">
            <a:schemeClr val="tx1"/>
          </a:fontRef>
        </p:style>
      </p:cxnSp>
      <p:sp>
        <p:nvSpPr>
          <p:cNvPr id="44" name="圆角矩形 59"/>
          <p:cNvSpPr/>
          <p:nvPr/>
        </p:nvSpPr>
        <p:spPr bwMode="gray">
          <a:xfrm>
            <a:off x="7147979" y="1450207"/>
            <a:ext cx="705712" cy="221690"/>
          </a:xfrm>
          <a:prstGeom prst="roundRect">
            <a:avLst>
              <a:gd name="adj" fmla="val 13019"/>
            </a:avLst>
          </a:prstGeom>
          <a:solidFill>
            <a:srgbClr val="56C4D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FC01::1</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圆角矩形 59"/>
          <p:cNvSpPr/>
          <p:nvPr/>
        </p:nvSpPr>
        <p:spPr bwMode="gray">
          <a:xfrm>
            <a:off x="8468656" y="1449388"/>
            <a:ext cx="705712" cy="221690"/>
          </a:xfrm>
          <a:prstGeom prst="roundRect">
            <a:avLst>
              <a:gd name="adj" fmla="val 13019"/>
            </a:avLst>
          </a:prstGeom>
          <a:solidFill>
            <a:srgbClr val="56C4D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FC02::2</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圆角矩形 59"/>
          <p:cNvSpPr/>
          <p:nvPr/>
        </p:nvSpPr>
        <p:spPr bwMode="gray">
          <a:xfrm>
            <a:off x="9789333" y="1449388"/>
            <a:ext cx="705712" cy="221690"/>
          </a:xfrm>
          <a:prstGeom prst="roundRect">
            <a:avLst>
              <a:gd name="adj" fmla="val 13019"/>
            </a:avLst>
          </a:prstGeom>
          <a:solidFill>
            <a:srgbClr val="56C4D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FC03::3</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aphicFrame>
        <p:nvGraphicFramePr>
          <p:cNvPr id="48" name="Table 47"/>
          <p:cNvGraphicFramePr>
            <a:graphicFrameLocks noGrp="1"/>
          </p:cNvGraphicFramePr>
          <p:nvPr/>
        </p:nvGraphicFramePr>
        <p:xfrm>
          <a:off x="7239643" y="2035752"/>
          <a:ext cx="1345061" cy="1554480"/>
        </p:xfrm>
        <a:graphic>
          <a:graphicData uri="http://schemas.openxmlformats.org/drawingml/2006/table">
            <a:tbl>
              <a:tblPr firstRow="1" bandRow="1">
                <a:tableStyleId>{72833802-FEF1-4C79-8D5D-14CF1EAF98D9}</a:tableStyleId>
              </a:tblPr>
              <a:tblGrid>
                <a:gridCol w="1345061"/>
              </a:tblGrid>
              <a:tr h="305320">
                <a:tc>
                  <a:txBody>
                    <a:bodyPr/>
                    <a:lstStyle/>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DIPv6</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FC02::2</a:t>
                      </a:r>
                      <a:endPar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SIPv6</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FC01::1</a:t>
                      </a:r>
                      <a:endPar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TTL=0</a:t>
                      </a:r>
                      <a:endPar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6C4D2"/>
                    </a:solidFill>
                  </a:tcPr>
                </a:tc>
              </a:tr>
              <a:tr h="305320">
                <a:tc>
                  <a:txBody>
                    <a:bodyPr/>
                    <a:lstStyle/>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SRH</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SL=</a:t>
                      </a: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1</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FC03::3</a:t>
                      </a:r>
                      <a:endPar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FC02::2</a:t>
                      </a:r>
                      <a:endParaRPr lang="zh-CN" altLang="en-US"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EEEC1"/>
                    </a:solidFill>
                  </a:tcPr>
                </a:tc>
              </a:tr>
              <a:tr h="130852">
                <a:tc>
                  <a:txBody>
                    <a:bodyPr/>
                    <a:lstStyle/>
                    <a:p>
                      <a:pPr algn="ctr"/>
                      <a:r>
                        <a:rPr lang="en-US" altLang="zh-CN" sz="1200" dirty="0">
                          <a:solidFill>
                            <a:schemeClr val="bg1"/>
                          </a:solidFill>
                        </a:rPr>
                        <a:t>UDP</a:t>
                      </a:r>
                      <a:endParaRPr lang="zh-CN" altLang="en-US" sz="1200"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r>
            </a:tbl>
          </a:graphicData>
        </a:graphic>
      </p:graphicFrame>
      <p:graphicFrame>
        <p:nvGraphicFramePr>
          <p:cNvPr id="51" name="Table 50"/>
          <p:cNvGraphicFramePr>
            <a:graphicFrameLocks noGrp="1"/>
          </p:cNvGraphicFramePr>
          <p:nvPr/>
        </p:nvGraphicFramePr>
        <p:xfrm>
          <a:off x="8451457" y="3281606"/>
          <a:ext cx="1944407" cy="731520"/>
        </p:xfrm>
        <a:graphic>
          <a:graphicData uri="http://schemas.openxmlformats.org/drawingml/2006/table">
            <a:tbl>
              <a:tblPr firstRow="1" bandRow="1">
                <a:tableStyleId>{72833802-FEF1-4C79-8D5D-14CF1EAF98D9}</a:tableStyleId>
              </a:tblPr>
              <a:tblGrid>
                <a:gridCol w="1944407"/>
              </a:tblGrid>
              <a:tr h="370840">
                <a:tc>
                  <a:txBody>
                    <a:bodyPr/>
                    <a:lstStyle/>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DIPv6</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FC01::1</a:t>
                      </a:r>
                      <a:endPar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SIPv6</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FC02::2</a:t>
                      </a:r>
                      <a:endPar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6C4D2"/>
                    </a:solidFill>
                  </a:tcPr>
                </a:tc>
              </a:tr>
              <a:tr h="0">
                <a:tc>
                  <a:txBody>
                    <a:bodyPr/>
                    <a:lstStyle/>
                    <a:p>
                      <a:pPr algn="ctr"/>
                      <a:r>
                        <a:rPr lang="en-US" altLang="zh-CN" sz="1200" dirty="0">
                          <a:solidFill>
                            <a:schemeClr val="bg1"/>
                          </a:solidFill>
                        </a:rPr>
                        <a:t>ICMPv6 Time Exceeded </a:t>
                      </a:r>
                      <a:endParaRPr lang="zh-CN" altLang="en-US" sz="1200"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r>
            </a:tbl>
          </a:graphicData>
        </a:graphic>
      </p:graphicFrame>
      <p:cxnSp>
        <p:nvCxnSpPr>
          <p:cNvPr id="52" name="直接箭头连接符 3"/>
          <p:cNvCxnSpPr>
            <a:stCxn id="51" idx="1"/>
          </p:cNvCxnSpPr>
          <p:nvPr/>
        </p:nvCxnSpPr>
        <p:spPr bwMode="gray">
          <a:xfrm flipH="1">
            <a:off x="7235539" y="3647366"/>
            <a:ext cx="1215918" cy="0"/>
          </a:xfrm>
          <a:prstGeom prst="straightConnector1">
            <a:avLst/>
          </a:prstGeom>
          <a:ln w="57150">
            <a:solidFill>
              <a:srgbClr val="E28189"/>
            </a:solidFill>
            <a:tailEnd type="triangle"/>
          </a:ln>
        </p:spPr>
        <p:style>
          <a:lnRef idx="1">
            <a:schemeClr val="accent1"/>
          </a:lnRef>
          <a:fillRef idx="0">
            <a:schemeClr val="accent1"/>
          </a:fillRef>
          <a:effectRef idx="0">
            <a:schemeClr val="accent1"/>
          </a:effectRef>
          <a:fontRef idx="minor">
            <a:schemeClr val="tx1"/>
          </a:fontRef>
        </p:style>
      </p:cxnSp>
      <p:sp>
        <p:nvSpPr>
          <p:cNvPr id="56" name="文本框 50"/>
          <p:cNvSpPr txBox="1"/>
          <p:nvPr/>
        </p:nvSpPr>
        <p:spPr bwMode="gray">
          <a:xfrm>
            <a:off x="455613" y="5626326"/>
            <a:ext cx="1309159" cy="584775"/>
          </a:xfrm>
          <a:prstGeom prst="rect">
            <a:avLst/>
          </a:prstGeom>
          <a:noFill/>
        </p:spPr>
        <p:txBody>
          <a:bodyPr wrap="square" rtlCol="0">
            <a:spAutoFit/>
          </a:bodyPr>
          <a:lstStyle/>
          <a:p>
            <a:pPr algn="ct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Overlay </a:t>
            </a:r>
            <a:r>
              <a:rPr lang="en-US" altLang="zh-CN" sz="1600" b="1" dirty="0" err="1">
                <a:latin typeface="Huawei Sans" panose="020C0503030203020204" pitchFamily="34" charset="0"/>
                <a:ea typeface="方正兰亭黑简体" panose="02000000000000000000" pitchFamily="2" charset="-122"/>
                <a:sym typeface="Huawei Sans" panose="020C0503030203020204" pitchFamily="34" charset="0"/>
              </a:rPr>
              <a:t>Tracert</a:t>
            </a:r>
            <a:r>
              <a:rPr lang="zh-CN" altLang="en-US" sz="1600" b="1" dirty="0">
                <a:latin typeface="Huawei Sans" panose="020C0503030203020204" pitchFamily="34" charset="0"/>
                <a:ea typeface="方正兰亭黑简体" panose="02000000000000000000" pitchFamily="2" charset="-122"/>
                <a:sym typeface="Huawei Sans" panose="020C0503030203020204" pitchFamily="34" charset="0"/>
              </a:rPr>
              <a:t>测试</a:t>
            </a:r>
            <a:endParaRPr lang="zh-CN" altLang="en-US" sz="16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7" name="文本框 50"/>
          <p:cNvSpPr txBox="1"/>
          <p:nvPr/>
        </p:nvSpPr>
        <p:spPr bwMode="gray">
          <a:xfrm>
            <a:off x="5975920" y="5614760"/>
            <a:ext cx="1313661" cy="584775"/>
          </a:xfrm>
          <a:prstGeom prst="rect">
            <a:avLst/>
          </a:prstGeom>
          <a:noFill/>
        </p:spPr>
        <p:txBody>
          <a:bodyPr wrap="square" rtlCol="0">
            <a:spAutoFit/>
          </a:bodyPr>
          <a:lstStyle/>
          <a:p>
            <a:pPr algn="ctr"/>
            <a:r>
              <a:rPr lang="zh-CN" altLang="en-US" sz="1600" b="1" dirty="0">
                <a:latin typeface="Huawei Sans" panose="020C0503030203020204" pitchFamily="34" charset="0"/>
                <a:ea typeface="方正兰亭黑简体" panose="02000000000000000000" pitchFamily="2" charset="-122"/>
                <a:sym typeface="Huawei Sans" panose="020C0503030203020204" pitchFamily="34" charset="0"/>
              </a:rPr>
              <a:t>非</a:t>
            </a: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Overlay </a:t>
            </a:r>
            <a:r>
              <a:rPr lang="en-US" altLang="zh-CN" sz="1600" b="1" dirty="0" err="1">
                <a:latin typeface="Huawei Sans" panose="020C0503030203020204" pitchFamily="34" charset="0"/>
                <a:ea typeface="方正兰亭黑简体" panose="02000000000000000000" pitchFamily="2" charset="-122"/>
                <a:sym typeface="Huawei Sans" panose="020C0503030203020204" pitchFamily="34" charset="0"/>
              </a:rPr>
              <a:t>Tracert</a:t>
            </a:r>
            <a:r>
              <a:rPr lang="zh-CN" altLang="en-US" sz="1600" b="1" dirty="0">
                <a:latin typeface="Huawei Sans" panose="020C0503030203020204" pitchFamily="34" charset="0"/>
                <a:ea typeface="方正兰亭黑简体" panose="02000000000000000000" pitchFamily="2" charset="-122"/>
                <a:sym typeface="Huawei Sans" panose="020C0503030203020204" pitchFamily="34" charset="0"/>
              </a:rPr>
              <a:t>测试</a:t>
            </a:r>
            <a:endParaRPr lang="zh-CN" altLang="en-US" sz="16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aphicFrame>
        <p:nvGraphicFramePr>
          <p:cNvPr id="47" name="Table 46"/>
          <p:cNvGraphicFramePr>
            <a:graphicFrameLocks noGrp="1"/>
          </p:cNvGraphicFramePr>
          <p:nvPr/>
        </p:nvGraphicFramePr>
        <p:xfrm>
          <a:off x="3209724" y="5083051"/>
          <a:ext cx="1983165" cy="731520"/>
        </p:xfrm>
        <a:graphic>
          <a:graphicData uri="http://schemas.openxmlformats.org/drawingml/2006/table">
            <a:tbl>
              <a:tblPr firstRow="1" bandRow="1">
                <a:tableStyleId>{72833802-FEF1-4C79-8D5D-14CF1EAF98D9}</a:tableStyleId>
              </a:tblPr>
              <a:tblGrid>
                <a:gridCol w="1983165"/>
              </a:tblGrid>
              <a:tr h="370840">
                <a:tc>
                  <a:txBody>
                    <a:bodyPr/>
                    <a:lstStyle/>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DIPv6</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FC01::1</a:t>
                      </a:r>
                      <a:endPar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SIPv6</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FC03::3</a:t>
                      </a:r>
                      <a:endPar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6C4D2"/>
                    </a:solidFill>
                  </a:tcPr>
                </a:tc>
              </a:tr>
              <a:tr h="0">
                <a:tc>
                  <a:txBody>
                    <a:bodyPr/>
                    <a:lstStyle/>
                    <a:p>
                      <a:pPr algn="ctr"/>
                      <a:r>
                        <a:rPr lang="en-US" altLang="zh-CN" sz="1200" dirty="0">
                          <a:solidFill>
                            <a:schemeClr val="bg1"/>
                          </a:solidFill>
                        </a:rPr>
                        <a:t>ICMPv6</a:t>
                      </a:r>
                      <a:r>
                        <a:rPr lang="en-US" altLang="zh-CN" sz="1200" baseline="0" dirty="0">
                          <a:solidFill>
                            <a:schemeClr val="bg1"/>
                          </a:solidFill>
                        </a:rPr>
                        <a:t> Port-Unreachable</a:t>
                      </a:r>
                      <a:endParaRPr lang="zh-CN" altLang="en-US" sz="1200"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r>
            </a:tbl>
          </a:graphicData>
        </a:graphic>
      </p:graphicFrame>
      <p:cxnSp>
        <p:nvCxnSpPr>
          <p:cNvPr id="49" name="直接箭头连接符 3"/>
          <p:cNvCxnSpPr>
            <a:stCxn id="47" idx="1"/>
          </p:cNvCxnSpPr>
          <p:nvPr/>
        </p:nvCxnSpPr>
        <p:spPr bwMode="gray">
          <a:xfrm flipH="1">
            <a:off x="2378928" y="5448811"/>
            <a:ext cx="830796" cy="0"/>
          </a:xfrm>
          <a:prstGeom prst="straightConnector1">
            <a:avLst/>
          </a:prstGeom>
          <a:ln w="57150">
            <a:solidFill>
              <a:srgbClr val="E28189"/>
            </a:solidFill>
            <a:tailEnd type="triangle"/>
          </a:ln>
        </p:spPr>
        <p:style>
          <a:lnRef idx="1">
            <a:schemeClr val="accent1"/>
          </a:lnRef>
          <a:fillRef idx="0">
            <a:schemeClr val="accent1"/>
          </a:fillRef>
          <a:effectRef idx="0">
            <a:schemeClr val="accent1"/>
          </a:effectRef>
          <a:fontRef idx="minor">
            <a:schemeClr val="tx1"/>
          </a:fontRef>
        </p:style>
      </p:cxnSp>
      <p:cxnSp>
        <p:nvCxnSpPr>
          <p:cNvPr id="58" name="直接箭头连接符 3"/>
          <p:cNvCxnSpPr/>
          <p:nvPr/>
        </p:nvCxnSpPr>
        <p:spPr bwMode="gray">
          <a:xfrm>
            <a:off x="6753388" y="4817699"/>
            <a:ext cx="4321008" cy="0"/>
          </a:xfrm>
          <a:prstGeom prst="straightConnector1">
            <a:avLst/>
          </a:prstGeom>
          <a:ln w="57150">
            <a:solidFill>
              <a:srgbClr val="E28189"/>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59" name="Table 58"/>
          <p:cNvGraphicFramePr>
            <a:graphicFrameLocks noGrp="1"/>
          </p:cNvGraphicFramePr>
          <p:nvPr/>
        </p:nvGraphicFramePr>
        <p:xfrm>
          <a:off x="7244320" y="4077441"/>
          <a:ext cx="1345061" cy="1554480"/>
        </p:xfrm>
        <a:graphic>
          <a:graphicData uri="http://schemas.openxmlformats.org/drawingml/2006/table">
            <a:tbl>
              <a:tblPr firstRow="1" bandRow="1">
                <a:tableStyleId>{72833802-FEF1-4C79-8D5D-14CF1EAF98D9}</a:tableStyleId>
              </a:tblPr>
              <a:tblGrid>
                <a:gridCol w="1345061"/>
              </a:tblGrid>
              <a:tr h="283025">
                <a:tc>
                  <a:txBody>
                    <a:bodyPr/>
                    <a:lstStyle/>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DIPv6</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FC02::2</a:t>
                      </a:r>
                      <a:endPar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SIPv6</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FC01::1</a:t>
                      </a:r>
                      <a:endPar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TTL=1</a:t>
                      </a:r>
                      <a:endPar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6C4D2"/>
                    </a:solidFill>
                  </a:tcPr>
                </a:tc>
              </a:tr>
              <a:tr h="448992">
                <a:tc>
                  <a:txBody>
                    <a:bodyPr/>
                    <a:lstStyle/>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SRH</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SL=</a:t>
                      </a: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1</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FC03::3</a:t>
                      </a:r>
                      <a:endPar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FC02::2</a:t>
                      </a:r>
                      <a:endParaRPr lang="zh-CN" altLang="en-US"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EEEC1"/>
                    </a:solidFill>
                  </a:tcPr>
                </a:tc>
              </a:tr>
              <a:tr h="169815">
                <a:tc>
                  <a:txBody>
                    <a:bodyPr/>
                    <a:lstStyle/>
                    <a:p>
                      <a:pPr algn="ctr"/>
                      <a:r>
                        <a:rPr lang="en-US" altLang="zh-CN" sz="1200" dirty="0">
                          <a:solidFill>
                            <a:schemeClr val="bg1"/>
                          </a:solidFill>
                        </a:rPr>
                        <a:t>UDP</a:t>
                      </a:r>
                      <a:endParaRPr lang="zh-CN" altLang="en-US" sz="1200"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r>
            </a:tbl>
          </a:graphicData>
        </a:graphic>
      </p:graphicFrame>
      <p:graphicFrame>
        <p:nvGraphicFramePr>
          <p:cNvPr id="60" name="Table 59"/>
          <p:cNvGraphicFramePr>
            <a:graphicFrameLocks noGrp="1"/>
          </p:cNvGraphicFramePr>
          <p:nvPr/>
        </p:nvGraphicFramePr>
        <p:xfrm>
          <a:off x="8684517" y="4076324"/>
          <a:ext cx="1345061" cy="1554480"/>
        </p:xfrm>
        <a:graphic>
          <a:graphicData uri="http://schemas.openxmlformats.org/drawingml/2006/table">
            <a:tbl>
              <a:tblPr firstRow="1" bandRow="1">
                <a:tableStyleId>{72833802-FEF1-4C79-8D5D-14CF1EAF98D9}</a:tableStyleId>
              </a:tblPr>
              <a:tblGrid>
                <a:gridCol w="1345061"/>
              </a:tblGrid>
              <a:tr h="283025">
                <a:tc>
                  <a:txBody>
                    <a:bodyPr/>
                    <a:lstStyle/>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DIPv6</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FC03::3</a:t>
                      </a:r>
                      <a:endPar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SIPv6</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FC01::1</a:t>
                      </a:r>
                      <a:endPar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TTL=0</a:t>
                      </a:r>
                      <a:endPar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6C4D2"/>
                    </a:solidFill>
                  </a:tcPr>
                </a:tc>
              </a:tr>
              <a:tr h="448992">
                <a:tc>
                  <a:txBody>
                    <a:bodyPr/>
                    <a:lstStyle/>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SRH</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SL=</a:t>
                      </a: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0</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0" algn="ctr" defTabSz="913765" rtl="0" eaLnBrk="1" latinLnBrk="0" hangingPunct="1"/>
                      <a:r>
                        <a:rPr lang="en-US" altLang="zh-CN" sz="1200" b="1" kern="1200" dirty="0">
                          <a:solidFill>
                            <a:srgbClr val="C7000B"/>
                          </a:solidFill>
                          <a:latin typeface="Huawei Sans" panose="020C0503030203020204" pitchFamily="34" charset="0"/>
                          <a:ea typeface="方正兰亭黑简体" panose="02000000000000000000" pitchFamily="2" charset="-122"/>
                          <a:cs typeface="+mn-cs"/>
                          <a:sym typeface="Huawei Sans" panose="020C0503030203020204" pitchFamily="34" charset="0"/>
                        </a:rPr>
                        <a:t>FC03::3</a:t>
                      </a:r>
                      <a:endParaRPr lang="en-US" altLang="zh-CN" sz="1200" b="1" kern="1200" dirty="0">
                        <a:solidFill>
                          <a:srgbClr val="C7000B"/>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p>
                      <a:pPr marL="0" algn="ctr" defTabSz="913765" rtl="0" eaLnBrk="1" latinLnBrk="0" hangingPunct="1"/>
                      <a:r>
                        <a:rPr lang="en-US" altLang="zh-CN"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FC02::2</a:t>
                      </a:r>
                      <a:endParaRPr lang="zh-CN" altLang="en-US"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EEEC1"/>
                    </a:solidFill>
                  </a:tcPr>
                </a:tc>
              </a:tr>
              <a:tr h="169815">
                <a:tc>
                  <a:txBody>
                    <a:bodyPr/>
                    <a:lstStyle/>
                    <a:p>
                      <a:pPr algn="ctr"/>
                      <a:r>
                        <a:rPr lang="en-US" altLang="zh-CN" sz="1200" dirty="0">
                          <a:solidFill>
                            <a:schemeClr val="bg1"/>
                          </a:solidFill>
                        </a:rPr>
                        <a:t>UDP</a:t>
                      </a:r>
                      <a:endParaRPr lang="zh-CN" altLang="en-US" sz="1200"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r>
            </a:tbl>
          </a:graphicData>
        </a:graphic>
      </p:graphicFrame>
      <p:graphicFrame>
        <p:nvGraphicFramePr>
          <p:cNvPr id="61" name="Table 60"/>
          <p:cNvGraphicFramePr>
            <a:graphicFrameLocks noGrp="1"/>
          </p:cNvGraphicFramePr>
          <p:nvPr/>
        </p:nvGraphicFramePr>
        <p:xfrm>
          <a:off x="9653865" y="5400580"/>
          <a:ext cx="2020867" cy="731520"/>
        </p:xfrm>
        <a:graphic>
          <a:graphicData uri="http://schemas.openxmlformats.org/drawingml/2006/table">
            <a:tbl>
              <a:tblPr firstRow="1" bandRow="1">
                <a:tableStyleId>{72833802-FEF1-4C79-8D5D-14CF1EAF98D9}</a:tableStyleId>
              </a:tblPr>
              <a:tblGrid>
                <a:gridCol w="2020867"/>
              </a:tblGrid>
              <a:tr h="370840">
                <a:tc>
                  <a:txBody>
                    <a:bodyPr/>
                    <a:lstStyle/>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DIPv6</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FC01::1</a:t>
                      </a:r>
                      <a:endPar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SIPv6</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FC03::3</a:t>
                      </a:r>
                      <a:endPar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6C4D2"/>
                    </a:solidFill>
                  </a:tcPr>
                </a:tc>
              </a:tr>
              <a:tr h="0">
                <a:tc>
                  <a:txBody>
                    <a:bodyPr/>
                    <a:lstStyle/>
                    <a:p>
                      <a:pPr algn="ctr"/>
                      <a:r>
                        <a:rPr lang="en-US" altLang="zh-CN" sz="1200" dirty="0">
                          <a:solidFill>
                            <a:schemeClr val="bg1"/>
                          </a:solidFill>
                        </a:rPr>
                        <a:t>ICMPv6</a:t>
                      </a:r>
                      <a:r>
                        <a:rPr lang="en-US" altLang="zh-CN" sz="1200" baseline="0" dirty="0">
                          <a:solidFill>
                            <a:schemeClr val="bg1"/>
                          </a:solidFill>
                        </a:rPr>
                        <a:t> Port-Unreachable</a:t>
                      </a:r>
                      <a:endParaRPr lang="zh-CN" altLang="en-US" sz="1200"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r>
            </a:tbl>
          </a:graphicData>
        </a:graphic>
      </p:graphicFrame>
      <p:cxnSp>
        <p:nvCxnSpPr>
          <p:cNvPr id="62" name="直接箭头连接符 3"/>
          <p:cNvCxnSpPr>
            <a:stCxn id="61" idx="1"/>
          </p:cNvCxnSpPr>
          <p:nvPr/>
        </p:nvCxnSpPr>
        <p:spPr bwMode="gray">
          <a:xfrm flipH="1">
            <a:off x="8823069" y="5766340"/>
            <a:ext cx="830796" cy="0"/>
          </a:xfrm>
          <a:prstGeom prst="straightConnector1">
            <a:avLst/>
          </a:prstGeom>
          <a:ln w="57150">
            <a:solidFill>
              <a:srgbClr val="E28189"/>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Tree>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gray"/>
        <p:txBody>
          <a:bodyPr/>
          <a:lstStyle/>
          <a:p>
            <a:r>
              <a:rPr lang="zh-CN" altLang="en-US" dirty="0"/>
              <a:t>隧道保护技术概述</a:t>
            </a:r>
            <a:endParaRPr lang="zh-CN" altLang="en-US" dirty="0"/>
          </a:p>
        </p:txBody>
      </p:sp>
      <p:sp>
        <p:nvSpPr>
          <p:cNvPr id="3" name="Text Placeholder 2"/>
          <p:cNvSpPr>
            <a:spLocks noGrp="1"/>
          </p:cNvSpPr>
          <p:nvPr>
            <p:ph type="body" sz="quarter" idx="10"/>
          </p:nvPr>
        </p:nvSpPr>
        <p:spPr bwMode="gray"/>
        <p:txBody>
          <a:bodyPr/>
          <a:lstStyle/>
          <a:p>
            <a:r>
              <a:rPr lang="en-US" altLang="zh-CN" dirty="0"/>
              <a:t>SRv6</a:t>
            </a:r>
            <a:r>
              <a:rPr lang="zh-CN" altLang="en-US" dirty="0"/>
              <a:t>隧道保护可以分为两大类：本地保护和端到端保护</a:t>
            </a:r>
            <a:endParaRPr lang="zh-CN" altLang="en-US" dirty="0"/>
          </a:p>
        </p:txBody>
      </p:sp>
      <p:sp>
        <p:nvSpPr>
          <p:cNvPr id="4" name="文本框 1"/>
          <p:cNvSpPr txBox="1"/>
          <p:nvPr/>
        </p:nvSpPr>
        <p:spPr bwMode="gray">
          <a:xfrm>
            <a:off x="915049" y="2358567"/>
            <a:ext cx="1107996" cy="369332"/>
          </a:xfrm>
          <a:prstGeom prst="rect">
            <a:avLst/>
          </a:prstGeom>
          <a:solidFill>
            <a:srgbClr val="56C4D2"/>
          </a:solidFill>
        </p:spPr>
        <p:txBody>
          <a:bodyPr wrap="none" rtlCol="0">
            <a:spAutoFit/>
          </a:bodyPr>
          <a:lstStyle/>
          <a:p>
            <a:r>
              <a:rPr lang="zh-CN" altLang="en-US"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本地保护</a:t>
            </a:r>
            <a:endParaRPr lang="zh-CN" altLang="en-US"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文本框 4"/>
          <p:cNvSpPr txBox="1"/>
          <p:nvPr/>
        </p:nvSpPr>
        <p:spPr bwMode="gray">
          <a:xfrm>
            <a:off x="908502" y="4141881"/>
            <a:ext cx="1338828" cy="369332"/>
          </a:xfrm>
          <a:prstGeom prst="rect">
            <a:avLst/>
          </a:prstGeom>
          <a:solidFill>
            <a:srgbClr val="56C4D2"/>
          </a:solidFill>
        </p:spPr>
        <p:txBody>
          <a:bodyPr wrap="none" rtlCol="0">
            <a:spAutoFit/>
          </a:bodyPr>
          <a:lstStyle/>
          <a:p>
            <a:r>
              <a:rPr lang="zh-CN" altLang="en-US">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端到端保护</a:t>
            </a:r>
            <a:endParaRPr lang="zh-CN" altLang="en-US">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6" name="直接连接符 6"/>
          <p:cNvCxnSpPr>
            <a:stCxn id="19" idx="0"/>
            <a:endCxn id="18" idx="2"/>
          </p:cNvCxnSpPr>
          <p:nvPr/>
        </p:nvCxnSpPr>
        <p:spPr bwMode="gray">
          <a:xfrm flipV="1">
            <a:off x="7858610" y="2215594"/>
            <a:ext cx="0" cy="104051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直接连接符 9"/>
          <p:cNvCxnSpPr>
            <a:stCxn id="15" idx="0"/>
            <a:endCxn id="14" idx="2"/>
          </p:cNvCxnSpPr>
          <p:nvPr/>
        </p:nvCxnSpPr>
        <p:spPr bwMode="gray">
          <a:xfrm flipV="1">
            <a:off x="4708052" y="2215594"/>
            <a:ext cx="0" cy="104051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直接连接符 11"/>
          <p:cNvCxnSpPr/>
          <p:nvPr/>
        </p:nvCxnSpPr>
        <p:spPr bwMode="gray">
          <a:xfrm>
            <a:off x="3780998" y="2716378"/>
            <a:ext cx="911125" cy="70990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接连接符 12"/>
          <p:cNvCxnSpPr/>
          <p:nvPr/>
        </p:nvCxnSpPr>
        <p:spPr bwMode="gray">
          <a:xfrm flipV="1">
            <a:off x="3819803" y="2029519"/>
            <a:ext cx="911125" cy="70242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13"/>
          <p:cNvCxnSpPr/>
          <p:nvPr/>
        </p:nvCxnSpPr>
        <p:spPr bwMode="gray">
          <a:xfrm flipH="1">
            <a:off x="4742824" y="2029516"/>
            <a:ext cx="287266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直接连接符 14"/>
          <p:cNvCxnSpPr/>
          <p:nvPr/>
        </p:nvCxnSpPr>
        <p:spPr bwMode="gray">
          <a:xfrm flipH="1">
            <a:off x="4742824" y="3497048"/>
            <a:ext cx="287266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直接连接符 15"/>
          <p:cNvCxnSpPr/>
          <p:nvPr/>
        </p:nvCxnSpPr>
        <p:spPr bwMode="gray">
          <a:xfrm flipV="1">
            <a:off x="6284738" y="2029517"/>
            <a:ext cx="0" cy="139676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13" name="图片 17"/>
          <p:cNvPicPr/>
          <p:nvPr/>
        </p:nvPicPr>
        <p:blipFill>
          <a:blip r:embed="rId1" cstate="print">
            <a:extLst>
              <a:ext uri="{28A0092B-C50C-407E-A947-70E740481C1C}">
                <a14:useLocalDpi xmlns:a14="http://schemas.microsoft.com/office/drawing/2010/main" val="0"/>
              </a:ext>
            </a:extLst>
          </a:blip>
          <a:stretch>
            <a:fillRect/>
          </a:stretch>
        </p:blipFill>
        <p:spPr bwMode="gray">
          <a:xfrm>
            <a:off x="3585644" y="2530680"/>
            <a:ext cx="468318" cy="383051"/>
          </a:xfrm>
          <a:prstGeom prst="rect">
            <a:avLst/>
          </a:prstGeom>
        </p:spPr>
      </p:pic>
      <p:pic>
        <p:nvPicPr>
          <p:cNvPr id="14"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4473893" y="1832543"/>
            <a:ext cx="468318" cy="383051"/>
          </a:xfrm>
          <a:prstGeom prst="rect">
            <a:avLst/>
          </a:prstGeom>
        </p:spPr>
      </p:pic>
      <p:pic>
        <p:nvPicPr>
          <p:cNvPr id="15" name="图片 19"/>
          <p:cNvPicPr/>
          <p:nvPr/>
        </p:nvPicPr>
        <p:blipFill>
          <a:blip r:embed="rId1" cstate="print">
            <a:extLst>
              <a:ext uri="{28A0092B-C50C-407E-A947-70E740481C1C}">
                <a14:useLocalDpi xmlns:a14="http://schemas.microsoft.com/office/drawing/2010/main" val="0"/>
              </a:ext>
            </a:extLst>
          </a:blip>
          <a:stretch>
            <a:fillRect/>
          </a:stretch>
        </p:blipFill>
        <p:spPr bwMode="gray">
          <a:xfrm>
            <a:off x="4473893" y="3256112"/>
            <a:ext cx="468318" cy="383051"/>
          </a:xfrm>
          <a:prstGeom prst="rect">
            <a:avLst/>
          </a:prstGeom>
        </p:spPr>
      </p:pic>
      <p:pic>
        <p:nvPicPr>
          <p:cNvPr id="16" name="图片 20"/>
          <p:cNvPicPr/>
          <p:nvPr/>
        </p:nvPicPr>
        <p:blipFill>
          <a:blip r:embed="rId1" cstate="print">
            <a:extLst>
              <a:ext uri="{28A0092B-C50C-407E-A947-70E740481C1C}">
                <a14:useLocalDpi xmlns:a14="http://schemas.microsoft.com/office/drawing/2010/main" val="0"/>
              </a:ext>
            </a:extLst>
          </a:blip>
          <a:stretch>
            <a:fillRect/>
          </a:stretch>
        </p:blipFill>
        <p:spPr bwMode="gray">
          <a:xfrm>
            <a:off x="6057967" y="1832543"/>
            <a:ext cx="468318" cy="383051"/>
          </a:xfrm>
          <a:prstGeom prst="rect">
            <a:avLst/>
          </a:prstGeom>
        </p:spPr>
      </p:pic>
      <p:pic>
        <p:nvPicPr>
          <p:cNvPr id="17" name="图片 21"/>
          <p:cNvPicPr/>
          <p:nvPr/>
        </p:nvPicPr>
        <p:blipFill>
          <a:blip r:embed="rId1" cstate="print">
            <a:extLst>
              <a:ext uri="{28A0092B-C50C-407E-A947-70E740481C1C}">
                <a14:useLocalDpi xmlns:a14="http://schemas.microsoft.com/office/drawing/2010/main" val="0"/>
              </a:ext>
            </a:extLst>
          </a:blip>
          <a:stretch>
            <a:fillRect/>
          </a:stretch>
        </p:blipFill>
        <p:spPr bwMode="gray">
          <a:xfrm>
            <a:off x="6057967" y="3256112"/>
            <a:ext cx="468318" cy="383051"/>
          </a:xfrm>
          <a:prstGeom prst="rect">
            <a:avLst/>
          </a:prstGeom>
        </p:spPr>
      </p:pic>
      <p:pic>
        <p:nvPicPr>
          <p:cNvPr id="18" name="图片 22"/>
          <p:cNvPicPr/>
          <p:nvPr/>
        </p:nvPicPr>
        <p:blipFill>
          <a:blip r:embed="rId1" cstate="print">
            <a:extLst>
              <a:ext uri="{28A0092B-C50C-407E-A947-70E740481C1C}">
                <a14:useLocalDpi xmlns:a14="http://schemas.microsoft.com/office/drawing/2010/main" val="0"/>
              </a:ext>
            </a:extLst>
          </a:blip>
          <a:stretch>
            <a:fillRect/>
          </a:stretch>
        </p:blipFill>
        <p:spPr bwMode="gray">
          <a:xfrm>
            <a:off x="7624451" y="1832543"/>
            <a:ext cx="468318" cy="383051"/>
          </a:xfrm>
          <a:prstGeom prst="rect">
            <a:avLst/>
          </a:prstGeom>
        </p:spPr>
      </p:pic>
      <p:pic>
        <p:nvPicPr>
          <p:cNvPr id="19" name="图片 23"/>
          <p:cNvPicPr/>
          <p:nvPr/>
        </p:nvPicPr>
        <p:blipFill>
          <a:blip r:embed="rId1" cstate="print">
            <a:extLst>
              <a:ext uri="{28A0092B-C50C-407E-A947-70E740481C1C}">
                <a14:useLocalDpi xmlns:a14="http://schemas.microsoft.com/office/drawing/2010/main" val="0"/>
              </a:ext>
            </a:extLst>
          </a:blip>
          <a:stretch>
            <a:fillRect/>
          </a:stretch>
        </p:blipFill>
        <p:spPr bwMode="gray">
          <a:xfrm>
            <a:off x="7624451" y="3256112"/>
            <a:ext cx="468318" cy="383051"/>
          </a:xfrm>
          <a:prstGeom prst="rect">
            <a:avLst/>
          </a:prstGeom>
        </p:spPr>
      </p:pic>
      <p:sp>
        <p:nvSpPr>
          <p:cNvPr id="20" name="文本框 26"/>
          <p:cNvSpPr txBox="1"/>
          <p:nvPr/>
        </p:nvSpPr>
        <p:spPr bwMode="gray">
          <a:xfrm>
            <a:off x="3399655" y="2886257"/>
            <a:ext cx="840295" cy="338554"/>
          </a:xfrm>
          <a:prstGeom prst="rect">
            <a:avLst/>
          </a:prstGeom>
          <a:noFill/>
        </p:spPr>
        <p:txBody>
          <a:bodyPr wrap="none" rtlCol="0">
            <a:spAutoFit/>
          </a:bodyPr>
          <a:lstStyle/>
          <a:p>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Ingress</a:t>
            </a:r>
            <a:endParaRPr lang="zh-CN" altLang="en-US" sz="16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文本框 27"/>
          <p:cNvSpPr txBox="1"/>
          <p:nvPr/>
        </p:nvSpPr>
        <p:spPr bwMode="gray">
          <a:xfrm>
            <a:off x="8029234" y="1877633"/>
            <a:ext cx="774571" cy="338554"/>
          </a:xfrm>
          <a:prstGeom prst="rect">
            <a:avLst/>
          </a:prstGeom>
          <a:noFill/>
        </p:spPr>
        <p:txBody>
          <a:bodyPr wrap="none" rtlCol="0">
            <a:spAutoFit/>
          </a:bodyPr>
          <a:lstStyle/>
          <a:p>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Egress</a:t>
            </a:r>
            <a:endParaRPr lang="zh-CN" altLang="en-US" sz="16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任意多边形: 形状 56"/>
          <p:cNvSpPr/>
          <p:nvPr/>
        </p:nvSpPr>
        <p:spPr bwMode="gray">
          <a:xfrm>
            <a:off x="3464534" y="1743590"/>
            <a:ext cx="4355271" cy="1011738"/>
          </a:xfrm>
          <a:custGeom>
            <a:avLst/>
            <a:gdLst>
              <a:gd name="connsiteX0" fmla="*/ 0 w 4817660"/>
              <a:gd name="connsiteY0" fmla="*/ 1011738 h 1011738"/>
              <a:gd name="connsiteX1" fmla="*/ 914400 w 4817660"/>
              <a:gd name="connsiteY1" fmla="*/ 424884 h 1011738"/>
              <a:gd name="connsiteX2" fmla="*/ 1187355 w 4817660"/>
              <a:gd name="connsiteY2" fmla="*/ 138281 h 1011738"/>
              <a:gd name="connsiteX3" fmla="*/ 2156346 w 4817660"/>
              <a:gd name="connsiteY3" fmla="*/ 1804 h 1011738"/>
              <a:gd name="connsiteX4" fmla="*/ 2893325 w 4817660"/>
              <a:gd name="connsiteY4" fmla="*/ 56395 h 1011738"/>
              <a:gd name="connsiteX5" fmla="*/ 3889612 w 4817660"/>
              <a:gd name="connsiteY5" fmla="*/ 1804 h 1011738"/>
              <a:gd name="connsiteX6" fmla="*/ 4817660 w 4817660"/>
              <a:gd name="connsiteY6" fmla="*/ 124633 h 1011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7660" h="1011738">
                <a:moveTo>
                  <a:pt x="0" y="1011738"/>
                </a:moveTo>
                <a:cubicBezTo>
                  <a:pt x="358254" y="791099"/>
                  <a:pt x="716508" y="570460"/>
                  <a:pt x="914400" y="424884"/>
                </a:cubicBezTo>
                <a:cubicBezTo>
                  <a:pt x="1112292" y="279308"/>
                  <a:pt x="980364" y="208794"/>
                  <a:pt x="1187355" y="138281"/>
                </a:cubicBezTo>
                <a:cubicBezTo>
                  <a:pt x="1394346" y="67768"/>
                  <a:pt x="1872018" y="15452"/>
                  <a:pt x="2156346" y="1804"/>
                </a:cubicBezTo>
                <a:cubicBezTo>
                  <a:pt x="2440674" y="-11844"/>
                  <a:pt x="2604447" y="56395"/>
                  <a:pt x="2893325" y="56395"/>
                </a:cubicBezTo>
                <a:cubicBezTo>
                  <a:pt x="3182203" y="56395"/>
                  <a:pt x="3568890" y="-9569"/>
                  <a:pt x="3889612" y="1804"/>
                </a:cubicBezTo>
                <a:cubicBezTo>
                  <a:pt x="4210334" y="13177"/>
                  <a:pt x="4635690" y="104162"/>
                  <a:pt x="4817660" y="124633"/>
                </a:cubicBezTo>
              </a:path>
            </a:pathLst>
          </a:custGeom>
          <a:noFill/>
          <a:ln w="38100">
            <a:solidFill>
              <a:schemeClr val="accent6">
                <a:lumMod val="60000"/>
                <a:lumOff val="40000"/>
              </a:schemeClr>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23" name="组合 67"/>
          <p:cNvGrpSpPr/>
          <p:nvPr/>
        </p:nvGrpSpPr>
        <p:grpSpPr bwMode="gray">
          <a:xfrm>
            <a:off x="5357364" y="1856626"/>
            <a:ext cx="288000" cy="288000"/>
            <a:chOff x="856677" y="2615810"/>
            <a:chExt cx="288000" cy="288000"/>
          </a:xfrm>
        </p:grpSpPr>
        <p:sp>
          <p:nvSpPr>
            <p:cNvPr id="24" name="椭圆 68"/>
            <p:cNvSpPr/>
            <p:nvPr/>
          </p:nvSpPr>
          <p:spPr bwMode="gray">
            <a:xfrm>
              <a:off x="856677" y="2615810"/>
              <a:ext cx="288000" cy="288000"/>
            </a:xfrm>
            <a:prstGeom prst="ellipse">
              <a:avLst/>
            </a:prstGeom>
            <a:solidFill>
              <a:srgbClr val="EC70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25" name="组合 69"/>
            <p:cNvGrpSpPr/>
            <p:nvPr/>
          </p:nvGrpSpPr>
          <p:grpSpPr bwMode="gray">
            <a:xfrm>
              <a:off x="923444" y="2692169"/>
              <a:ext cx="144001" cy="144002"/>
              <a:chOff x="898853" y="2657982"/>
              <a:chExt cx="203649" cy="203652"/>
            </a:xfrm>
          </p:grpSpPr>
          <p:cxnSp>
            <p:nvCxnSpPr>
              <p:cNvPr id="26" name="直接连接符 70"/>
              <p:cNvCxnSpPr>
                <a:stCxn id="24" idx="3"/>
                <a:endCxn id="24" idx="7"/>
              </p:cNvCxnSpPr>
              <p:nvPr/>
            </p:nvCxnSpPr>
            <p:spPr bwMode="gray">
              <a:xfrm flipV="1">
                <a:off x="898853" y="2657986"/>
                <a:ext cx="203648" cy="203648"/>
              </a:xfrm>
              <a:prstGeom prst="line">
                <a:avLst/>
              </a:prstGeom>
              <a:solidFill>
                <a:srgbClr val="EC7061"/>
              </a:solidFill>
              <a:ln w="38100" cap="rnd">
                <a:solidFill>
                  <a:schemeClr val="bg1"/>
                </a:solidFill>
                <a:round/>
              </a:ln>
              <a:effectLst/>
            </p:spPr>
            <p:style>
              <a:lnRef idx="2">
                <a:schemeClr val="accent1"/>
              </a:lnRef>
              <a:fillRef idx="0">
                <a:schemeClr val="accent1"/>
              </a:fillRef>
              <a:effectRef idx="1">
                <a:schemeClr val="accent1"/>
              </a:effectRef>
              <a:fontRef idx="minor">
                <a:schemeClr val="tx1"/>
              </a:fontRef>
            </p:style>
          </p:cxnSp>
          <p:cxnSp>
            <p:nvCxnSpPr>
              <p:cNvPr id="27" name="直接连接符 71"/>
              <p:cNvCxnSpPr>
                <a:stCxn id="24" idx="1"/>
                <a:endCxn id="24" idx="5"/>
              </p:cNvCxnSpPr>
              <p:nvPr/>
            </p:nvCxnSpPr>
            <p:spPr bwMode="gray">
              <a:xfrm>
                <a:off x="898853" y="2657986"/>
                <a:ext cx="203648" cy="203648"/>
              </a:xfrm>
              <a:prstGeom prst="line">
                <a:avLst/>
              </a:prstGeom>
              <a:solidFill>
                <a:srgbClr val="EC7061"/>
              </a:solidFill>
              <a:ln w="38100" cap="rnd">
                <a:solidFill>
                  <a:schemeClr val="bg1"/>
                </a:solidFill>
                <a:round/>
              </a:ln>
              <a:effectLst/>
            </p:spPr>
            <p:style>
              <a:lnRef idx="2">
                <a:schemeClr val="accent1"/>
              </a:lnRef>
              <a:fillRef idx="0">
                <a:schemeClr val="accent1"/>
              </a:fillRef>
              <a:effectRef idx="1">
                <a:schemeClr val="accent1"/>
              </a:effectRef>
              <a:fontRef idx="minor">
                <a:schemeClr val="tx1"/>
              </a:fontRef>
            </p:style>
          </p:cxnSp>
        </p:grpSp>
      </p:grpSp>
      <p:sp>
        <p:nvSpPr>
          <p:cNvPr id="28" name="任意多边形: 形状 85"/>
          <p:cNvSpPr/>
          <p:nvPr/>
        </p:nvSpPr>
        <p:spPr bwMode="gray">
          <a:xfrm rot="21216772">
            <a:off x="4740213" y="2203482"/>
            <a:ext cx="1511708" cy="1245001"/>
          </a:xfrm>
          <a:custGeom>
            <a:avLst/>
            <a:gdLst>
              <a:gd name="connsiteX0" fmla="*/ 237666 w 1629737"/>
              <a:gd name="connsiteY0" fmla="*/ 0 h 1605289"/>
              <a:gd name="connsiteX1" fmla="*/ 73893 w 1629737"/>
              <a:gd name="connsiteY1" fmla="*/ 1269242 h 1605289"/>
              <a:gd name="connsiteX2" fmla="*/ 1288543 w 1629737"/>
              <a:gd name="connsiteY2" fmla="*/ 1528550 h 1605289"/>
              <a:gd name="connsiteX3" fmla="*/ 1629737 w 1629737"/>
              <a:gd name="connsiteY3" fmla="*/ 122830 h 1605289"/>
            </a:gdLst>
            <a:ahLst/>
            <a:cxnLst>
              <a:cxn ang="0">
                <a:pos x="connsiteX0" y="connsiteY0"/>
              </a:cxn>
              <a:cxn ang="0">
                <a:pos x="connsiteX1" y="connsiteY1"/>
              </a:cxn>
              <a:cxn ang="0">
                <a:pos x="connsiteX2" y="connsiteY2"/>
              </a:cxn>
              <a:cxn ang="0">
                <a:pos x="connsiteX3" y="connsiteY3"/>
              </a:cxn>
            </a:cxnLst>
            <a:rect l="l" t="t" r="r" b="b"/>
            <a:pathLst>
              <a:path w="1629737" h="1605289">
                <a:moveTo>
                  <a:pt x="237666" y="0"/>
                </a:moveTo>
                <a:cubicBezTo>
                  <a:pt x="68206" y="507242"/>
                  <a:pt x="-101253" y="1014484"/>
                  <a:pt x="73893" y="1269242"/>
                </a:cubicBezTo>
                <a:cubicBezTo>
                  <a:pt x="249039" y="1524000"/>
                  <a:pt x="1029236" y="1719619"/>
                  <a:pt x="1288543" y="1528550"/>
                </a:cubicBezTo>
                <a:cubicBezTo>
                  <a:pt x="1547850" y="1337481"/>
                  <a:pt x="1588793" y="730155"/>
                  <a:pt x="1629737" y="122830"/>
                </a:cubicBezTo>
              </a:path>
            </a:pathLst>
          </a:custGeom>
          <a:noFill/>
          <a:ln w="38100">
            <a:solidFill>
              <a:srgbClr val="FCC800"/>
            </a:solidFill>
            <a:prstDash val="sys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9" name="直接连接符 97"/>
          <p:cNvCxnSpPr>
            <a:stCxn id="42" idx="0"/>
            <a:endCxn id="41" idx="2"/>
          </p:cNvCxnSpPr>
          <p:nvPr/>
        </p:nvCxnSpPr>
        <p:spPr bwMode="gray">
          <a:xfrm flipV="1">
            <a:off x="7858610" y="4604822"/>
            <a:ext cx="0" cy="104051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直接连接符 98"/>
          <p:cNvCxnSpPr>
            <a:stCxn id="38" idx="0"/>
            <a:endCxn id="37" idx="2"/>
          </p:cNvCxnSpPr>
          <p:nvPr/>
        </p:nvCxnSpPr>
        <p:spPr bwMode="gray">
          <a:xfrm flipV="1">
            <a:off x="4708052" y="4604822"/>
            <a:ext cx="0" cy="104051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直接连接符 99"/>
          <p:cNvCxnSpPr/>
          <p:nvPr/>
        </p:nvCxnSpPr>
        <p:spPr bwMode="gray">
          <a:xfrm>
            <a:off x="3780998" y="5105606"/>
            <a:ext cx="911125" cy="70990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直接连接符 100"/>
          <p:cNvCxnSpPr/>
          <p:nvPr/>
        </p:nvCxnSpPr>
        <p:spPr bwMode="gray">
          <a:xfrm flipV="1">
            <a:off x="3819803" y="4418747"/>
            <a:ext cx="911125" cy="70242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直接连接符 101"/>
          <p:cNvCxnSpPr/>
          <p:nvPr/>
        </p:nvCxnSpPr>
        <p:spPr bwMode="gray">
          <a:xfrm flipH="1">
            <a:off x="4742824" y="4418744"/>
            <a:ext cx="287266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直接连接符 102"/>
          <p:cNvCxnSpPr/>
          <p:nvPr/>
        </p:nvCxnSpPr>
        <p:spPr bwMode="gray">
          <a:xfrm flipH="1">
            <a:off x="4669947" y="5886276"/>
            <a:ext cx="287266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直接连接符 103"/>
          <p:cNvCxnSpPr/>
          <p:nvPr/>
        </p:nvCxnSpPr>
        <p:spPr bwMode="gray">
          <a:xfrm flipV="1">
            <a:off x="6284738" y="4418745"/>
            <a:ext cx="0" cy="146753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36" name="图片 104"/>
          <p:cNvPicPr/>
          <p:nvPr/>
        </p:nvPicPr>
        <p:blipFill>
          <a:blip r:embed="rId1" cstate="print">
            <a:extLst>
              <a:ext uri="{28A0092B-C50C-407E-A947-70E740481C1C}">
                <a14:useLocalDpi xmlns:a14="http://schemas.microsoft.com/office/drawing/2010/main" val="0"/>
              </a:ext>
            </a:extLst>
          </a:blip>
          <a:stretch>
            <a:fillRect/>
          </a:stretch>
        </p:blipFill>
        <p:spPr bwMode="gray">
          <a:xfrm>
            <a:off x="3585644" y="4919908"/>
            <a:ext cx="468318" cy="383051"/>
          </a:xfrm>
          <a:prstGeom prst="rect">
            <a:avLst/>
          </a:prstGeom>
        </p:spPr>
      </p:pic>
      <p:pic>
        <p:nvPicPr>
          <p:cNvPr id="37" name="图片 105"/>
          <p:cNvPicPr/>
          <p:nvPr/>
        </p:nvPicPr>
        <p:blipFill>
          <a:blip r:embed="rId1" cstate="print">
            <a:extLst>
              <a:ext uri="{28A0092B-C50C-407E-A947-70E740481C1C}">
                <a14:useLocalDpi xmlns:a14="http://schemas.microsoft.com/office/drawing/2010/main" val="0"/>
              </a:ext>
            </a:extLst>
          </a:blip>
          <a:stretch>
            <a:fillRect/>
          </a:stretch>
        </p:blipFill>
        <p:spPr bwMode="gray">
          <a:xfrm>
            <a:off x="4473893" y="4221771"/>
            <a:ext cx="468318" cy="383051"/>
          </a:xfrm>
          <a:prstGeom prst="rect">
            <a:avLst/>
          </a:prstGeom>
        </p:spPr>
      </p:pic>
      <p:pic>
        <p:nvPicPr>
          <p:cNvPr id="38" name="图片 106"/>
          <p:cNvPicPr/>
          <p:nvPr/>
        </p:nvPicPr>
        <p:blipFill>
          <a:blip r:embed="rId1" cstate="print">
            <a:extLst>
              <a:ext uri="{28A0092B-C50C-407E-A947-70E740481C1C}">
                <a14:useLocalDpi xmlns:a14="http://schemas.microsoft.com/office/drawing/2010/main" val="0"/>
              </a:ext>
            </a:extLst>
          </a:blip>
          <a:stretch>
            <a:fillRect/>
          </a:stretch>
        </p:blipFill>
        <p:spPr bwMode="gray">
          <a:xfrm>
            <a:off x="4473893" y="5645340"/>
            <a:ext cx="468318" cy="383051"/>
          </a:xfrm>
          <a:prstGeom prst="rect">
            <a:avLst/>
          </a:prstGeom>
        </p:spPr>
      </p:pic>
      <p:pic>
        <p:nvPicPr>
          <p:cNvPr id="39" name="图片 107"/>
          <p:cNvPicPr/>
          <p:nvPr/>
        </p:nvPicPr>
        <p:blipFill>
          <a:blip r:embed="rId1" cstate="print">
            <a:extLst>
              <a:ext uri="{28A0092B-C50C-407E-A947-70E740481C1C}">
                <a14:useLocalDpi xmlns:a14="http://schemas.microsoft.com/office/drawing/2010/main" val="0"/>
              </a:ext>
            </a:extLst>
          </a:blip>
          <a:stretch>
            <a:fillRect/>
          </a:stretch>
        </p:blipFill>
        <p:spPr bwMode="gray">
          <a:xfrm>
            <a:off x="6057967" y="4221771"/>
            <a:ext cx="468318" cy="383051"/>
          </a:xfrm>
          <a:prstGeom prst="rect">
            <a:avLst/>
          </a:prstGeom>
        </p:spPr>
      </p:pic>
      <p:pic>
        <p:nvPicPr>
          <p:cNvPr id="40" name="图片 108"/>
          <p:cNvPicPr/>
          <p:nvPr/>
        </p:nvPicPr>
        <p:blipFill>
          <a:blip r:embed="rId1" cstate="print">
            <a:extLst>
              <a:ext uri="{28A0092B-C50C-407E-A947-70E740481C1C}">
                <a14:useLocalDpi xmlns:a14="http://schemas.microsoft.com/office/drawing/2010/main" val="0"/>
              </a:ext>
            </a:extLst>
          </a:blip>
          <a:stretch>
            <a:fillRect/>
          </a:stretch>
        </p:blipFill>
        <p:spPr bwMode="gray">
          <a:xfrm>
            <a:off x="6057967" y="5645340"/>
            <a:ext cx="468318" cy="383051"/>
          </a:xfrm>
          <a:prstGeom prst="rect">
            <a:avLst/>
          </a:prstGeom>
        </p:spPr>
      </p:pic>
      <p:pic>
        <p:nvPicPr>
          <p:cNvPr id="41" name="图片 109"/>
          <p:cNvPicPr/>
          <p:nvPr/>
        </p:nvPicPr>
        <p:blipFill>
          <a:blip r:embed="rId1" cstate="print">
            <a:extLst>
              <a:ext uri="{28A0092B-C50C-407E-A947-70E740481C1C}">
                <a14:useLocalDpi xmlns:a14="http://schemas.microsoft.com/office/drawing/2010/main" val="0"/>
              </a:ext>
            </a:extLst>
          </a:blip>
          <a:stretch>
            <a:fillRect/>
          </a:stretch>
        </p:blipFill>
        <p:spPr bwMode="gray">
          <a:xfrm>
            <a:off x="7624451" y="4221771"/>
            <a:ext cx="468318" cy="383051"/>
          </a:xfrm>
          <a:prstGeom prst="rect">
            <a:avLst/>
          </a:prstGeom>
        </p:spPr>
      </p:pic>
      <p:pic>
        <p:nvPicPr>
          <p:cNvPr id="42" name="图片 110"/>
          <p:cNvPicPr/>
          <p:nvPr/>
        </p:nvPicPr>
        <p:blipFill>
          <a:blip r:embed="rId1" cstate="print">
            <a:extLst>
              <a:ext uri="{28A0092B-C50C-407E-A947-70E740481C1C}">
                <a14:useLocalDpi xmlns:a14="http://schemas.microsoft.com/office/drawing/2010/main" val="0"/>
              </a:ext>
            </a:extLst>
          </a:blip>
          <a:stretch>
            <a:fillRect/>
          </a:stretch>
        </p:blipFill>
        <p:spPr bwMode="gray">
          <a:xfrm>
            <a:off x="7624451" y="5645340"/>
            <a:ext cx="468318" cy="383051"/>
          </a:xfrm>
          <a:prstGeom prst="rect">
            <a:avLst/>
          </a:prstGeom>
        </p:spPr>
      </p:pic>
      <p:sp>
        <p:nvSpPr>
          <p:cNvPr id="43" name="文本框 111"/>
          <p:cNvSpPr txBox="1"/>
          <p:nvPr/>
        </p:nvSpPr>
        <p:spPr bwMode="gray">
          <a:xfrm>
            <a:off x="3399935" y="5368661"/>
            <a:ext cx="840295" cy="338554"/>
          </a:xfrm>
          <a:prstGeom prst="rect">
            <a:avLst/>
          </a:prstGeom>
          <a:noFill/>
        </p:spPr>
        <p:txBody>
          <a:bodyPr wrap="none" rtlCol="0">
            <a:spAutoFit/>
          </a:bodyPr>
          <a:lstStyle/>
          <a:p>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Ingress</a:t>
            </a:r>
            <a:endParaRPr lang="zh-CN" altLang="en-US" sz="16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文本框 112"/>
          <p:cNvSpPr txBox="1"/>
          <p:nvPr/>
        </p:nvSpPr>
        <p:spPr bwMode="gray">
          <a:xfrm>
            <a:off x="8029234" y="4266861"/>
            <a:ext cx="774571" cy="338554"/>
          </a:xfrm>
          <a:prstGeom prst="rect">
            <a:avLst/>
          </a:prstGeom>
          <a:noFill/>
        </p:spPr>
        <p:txBody>
          <a:bodyPr wrap="none" rtlCol="0">
            <a:spAutoFit/>
          </a:bodyPr>
          <a:lstStyle/>
          <a:p>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Egress</a:t>
            </a:r>
            <a:endParaRPr lang="zh-CN" altLang="en-US" sz="16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任意多边形: 形状 113"/>
          <p:cNvSpPr/>
          <p:nvPr/>
        </p:nvSpPr>
        <p:spPr bwMode="gray">
          <a:xfrm>
            <a:off x="3464534" y="4132818"/>
            <a:ext cx="4355271" cy="1011738"/>
          </a:xfrm>
          <a:custGeom>
            <a:avLst/>
            <a:gdLst>
              <a:gd name="connsiteX0" fmla="*/ 0 w 4817660"/>
              <a:gd name="connsiteY0" fmla="*/ 1011738 h 1011738"/>
              <a:gd name="connsiteX1" fmla="*/ 914400 w 4817660"/>
              <a:gd name="connsiteY1" fmla="*/ 424884 h 1011738"/>
              <a:gd name="connsiteX2" fmla="*/ 1187355 w 4817660"/>
              <a:gd name="connsiteY2" fmla="*/ 138281 h 1011738"/>
              <a:gd name="connsiteX3" fmla="*/ 2156346 w 4817660"/>
              <a:gd name="connsiteY3" fmla="*/ 1804 h 1011738"/>
              <a:gd name="connsiteX4" fmla="*/ 2893325 w 4817660"/>
              <a:gd name="connsiteY4" fmla="*/ 56395 h 1011738"/>
              <a:gd name="connsiteX5" fmla="*/ 3889612 w 4817660"/>
              <a:gd name="connsiteY5" fmla="*/ 1804 h 1011738"/>
              <a:gd name="connsiteX6" fmla="*/ 4817660 w 4817660"/>
              <a:gd name="connsiteY6" fmla="*/ 124633 h 1011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7660" h="1011738">
                <a:moveTo>
                  <a:pt x="0" y="1011738"/>
                </a:moveTo>
                <a:cubicBezTo>
                  <a:pt x="358254" y="791099"/>
                  <a:pt x="716508" y="570460"/>
                  <a:pt x="914400" y="424884"/>
                </a:cubicBezTo>
                <a:cubicBezTo>
                  <a:pt x="1112292" y="279308"/>
                  <a:pt x="980364" y="208794"/>
                  <a:pt x="1187355" y="138281"/>
                </a:cubicBezTo>
                <a:cubicBezTo>
                  <a:pt x="1394346" y="67768"/>
                  <a:pt x="1872018" y="15452"/>
                  <a:pt x="2156346" y="1804"/>
                </a:cubicBezTo>
                <a:cubicBezTo>
                  <a:pt x="2440674" y="-11844"/>
                  <a:pt x="2604447" y="56395"/>
                  <a:pt x="2893325" y="56395"/>
                </a:cubicBezTo>
                <a:cubicBezTo>
                  <a:pt x="3182203" y="56395"/>
                  <a:pt x="3568890" y="-9569"/>
                  <a:pt x="3889612" y="1804"/>
                </a:cubicBezTo>
                <a:cubicBezTo>
                  <a:pt x="4210334" y="13177"/>
                  <a:pt x="4635690" y="104162"/>
                  <a:pt x="4817660" y="124633"/>
                </a:cubicBezTo>
              </a:path>
            </a:pathLst>
          </a:custGeom>
          <a:noFill/>
          <a:ln w="38100">
            <a:solidFill>
              <a:schemeClr val="accent6">
                <a:lumMod val="60000"/>
                <a:lumOff val="40000"/>
              </a:schemeClr>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46" name="组合 114"/>
          <p:cNvGrpSpPr/>
          <p:nvPr/>
        </p:nvGrpSpPr>
        <p:grpSpPr bwMode="gray">
          <a:xfrm>
            <a:off x="5357364" y="4245854"/>
            <a:ext cx="288000" cy="288000"/>
            <a:chOff x="856677" y="2615810"/>
            <a:chExt cx="288000" cy="288000"/>
          </a:xfrm>
        </p:grpSpPr>
        <p:sp>
          <p:nvSpPr>
            <p:cNvPr id="47" name="椭圆 115"/>
            <p:cNvSpPr/>
            <p:nvPr/>
          </p:nvSpPr>
          <p:spPr bwMode="gray">
            <a:xfrm>
              <a:off x="856677" y="2615810"/>
              <a:ext cx="288000" cy="288000"/>
            </a:xfrm>
            <a:prstGeom prst="ellipse">
              <a:avLst/>
            </a:prstGeom>
            <a:solidFill>
              <a:srgbClr val="EC70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48" name="组合 116"/>
            <p:cNvGrpSpPr/>
            <p:nvPr/>
          </p:nvGrpSpPr>
          <p:grpSpPr bwMode="gray">
            <a:xfrm>
              <a:off x="923444" y="2692169"/>
              <a:ext cx="144001" cy="144002"/>
              <a:chOff x="898853" y="2657982"/>
              <a:chExt cx="203649" cy="203652"/>
            </a:xfrm>
          </p:grpSpPr>
          <p:cxnSp>
            <p:nvCxnSpPr>
              <p:cNvPr id="49" name="直接连接符 117"/>
              <p:cNvCxnSpPr>
                <a:stCxn id="47" idx="3"/>
                <a:endCxn id="47" idx="7"/>
              </p:cNvCxnSpPr>
              <p:nvPr/>
            </p:nvCxnSpPr>
            <p:spPr bwMode="gray">
              <a:xfrm flipV="1">
                <a:off x="898853" y="2657986"/>
                <a:ext cx="203648" cy="203648"/>
              </a:xfrm>
              <a:prstGeom prst="line">
                <a:avLst/>
              </a:prstGeom>
              <a:solidFill>
                <a:srgbClr val="EC7061"/>
              </a:solidFill>
              <a:ln w="38100" cap="rnd">
                <a:solidFill>
                  <a:schemeClr val="bg1"/>
                </a:solidFill>
                <a:round/>
              </a:ln>
              <a:effectLst/>
            </p:spPr>
            <p:style>
              <a:lnRef idx="2">
                <a:schemeClr val="accent1"/>
              </a:lnRef>
              <a:fillRef idx="0">
                <a:schemeClr val="accent1"/>
              </a:fillRef>
              <a:effectRef idx="1">
                <a:schemeClr val="accent1"/>
              </a:effectRef>
              <a:fontRef idx="minor">
                <a:schemeClr val="tx1"/>
              </a:fontRef>
            </p:style>
          </p:cxnSp>
          <p:cxnSp>
            <p:nvCxnSpPr>
              <p:cNvPr id="50" name="直接连接符 118"/>
              <p:cNvCxnSpPr>
                <a:stCxn id="47" idx="1"/>
                <a:endCxn id="47" idx="5"/>
              </p:cNvCxnSpPr>
              <p:nvPr/>
            </p:nvCxnSpPr>
            <p:spPr bwMode="gray">
              <a:xfrm>
                <a:off x="898853" y="2657986"/>
                <a:ext cx="203648" cy="203648"/>
              </a:xfrm>
              <a:prstGeom prst="line">
                <a:avLst/>
              </a:prstGeom>
              <a:solidFill>
                <a:srgbClr val="EC7061"/>
              </a:solidFill>
              <a:ln w="38100" cap="rnd">
                <a:solidFill>
                  <a:schemeClr val="bg1"/>
                </a:solidFill>
                <a:round/>
              </a:ln>
              <a:effectLst/>
            </p:spPr>
            <p:style>
              <a:lnRef idx="2">
                <a:schemeClr val="accent1"/>
              </a:lnRef>
              <a:fillRef idx="0">
                <a:schemeClr val="accent1"/>
              </a:fillRef>
              <a:effectRef idx="1">
                <a:schemeClr val="accent1"/>
              </a:effectRef>
              <a:fontRef idx="minor">
                <a:schemeClr val="tx1"/>
              </a:fontRef>
            </p:style>
          </p:cxnSp>
        </p:grpSp>
      </p:grpSp>
      <p:sp>
        <p:nvSpPr>
          <p:cNvPr id="51" name="任意多边形: 形状 84"/>
          <p:cNvSpPr/>
          <p:nvPr/>
        </p:nvSpPr>
        <p:spPr bwMode="gray">
          <a:xfrm>
            <a:off x="3651138" y="4701350"/>
            <a:ext cx="4273382" cy="1266064"/>
          </a:xfrm>
          <a:custGeom>
            <a:avLst/>
            <a:gdLst>
              <a:gd name="connsiteX0" fmla="*/ 0 w 4148919"/>
              <a:gd name="connsiteY0" fmla="*/ 573206 h 1555885"/>
              <a:gd name="connsiteX1" fmla="*/ 955343 w 4148919"/>
              <a:gd name="connsiteY1" fmla="*/ 1282890 h 1555885"/>
              <a:gd name="connsiteX2" fmla="*/ 1269242 w 4148919"/>
              <a:gd name="connsiteY2" fmla="*/ 1419367 h 1555885"/>
              <a:gd name="connsiteX3" fmla="*/ 2210937 w 4148919"/>
              <a:gd name="connsiteY3" fmla="*/ 1555845 h 1555885"/>
              <a:gd name="connsiteX4" fmla="*/ 2906973 w 4148919"/>
              <a:gd name="connsiteY4" fmla="*/ 1405719 h 1555885"/>
              <a:gd name="connsiteX5" fmla="*/ 3698543 w 4148919"/>
              <a:gd name="connsiteY5" fmla="*/ 1446663 h 1555885"/>
              <a:gd name="connsiteX6" fmla="*/ 4148919 w 4148919"/>
              <a:gd name="connsiteY6" fmla="*/ 0 h 1555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48919" h="1555885">
                <a:moveTo>
                  <a:pt x="0" y="573206"/>
                </a:moveTo>
                <a:cubicBezTo>
                  <a:pt x="371901" y="857534"/>
                  <a:pt x="743803" y="1141863"/>
                  <a:pt x="955343" y="1282890"/>
                </a:cubicBezTo>
                <a:cubicBezTo>
                  <a:pt x="1166883" y="1423917"/>
                  <a:pt x="1059976" y="1373875"/>
                  <a:pt x="1269242" y="1419367"/>
                </a:cubicBezTo>
                <a:cubicBezTo>
                  <a:pt x="1478508" y="1464859"/>
                  <a:pt x="1937982" y="1558120"/>
                  <a:pt x="2210937" y="1555845"/>
                </a:cubicBezTo>
                <a:cubicBezTo>
                  <a:pt x="2483892" y="1553570"/>
                  <a:pt x="2659039" y="1423916"/>
                  <a:pt x="2906973" y="1405719"/>
                </a:cubicBezTo>
                <a:cubicBezTo>
                  <a:pt x="3154907" y="1387522"/>
                  <a:pt x="3491552" y="1680950"/>
                  <a:pt x="3698543" y="1446663"/>
                </a:cubicBezTo>
                <a:cubicBezTo>
                  <a:pt x="3905534" y="1212376"/>
                  <a:pt x="4064758" y="257033"/>
                  <a:pt x="4148919" y="0"/>
                </a:cubicBezTo>
              </a:path>
            </a:pathLst>
          </a:custGeom>
          <a:noFill/>
          <a:ln w="38100">
            <a:solidFill>
              <a:srgbClr val="FCC800"/>
            </a:solidFill>
            <a:prstDash val="sys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2" name="文本框 122"/>
          <p:cNvSpPr txBox="1"/>
          <p:nvPr/>
        </p:nvSpPr>
        <p:spPr bwMode="gray">
          <a:xfrm>
            <a:off x="861569" y="2790648"/>
            <a:ext cx="1988045" cy="584775"/>
          </a:xfrm>
          <a:prstGeom prst="rect">
            <a:avLst/>
          </a:prstGeom>
          <a:noFill/>
        </p:spPr>
        <p:txBody>
          <a:bodyPr wrap="none" rtlCol="0">
            <a:spAutoFit/>
          </a:bodyPr>
          <a:lstStyle/>
          <a:p>
            <a:pPr marL="285750" indent="-285750">
              <a:buFont typeface="Arial" panose="020B0604020202020204" pitchFamily="34" charset="0"/>
              <a:buChar char="•"/>
            </a:pP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切换快</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a:p>
            <a:pPr marL="285750" indent="-285750">
              <a:buFont typeface="Arial" panose="020B0604020202020204" pitchFamily="34" charset="0"/>
              <a:buChar char="•"/>
            </a:pP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只保护链路</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节点</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3" name="文本框 123"/>
          <p:cNvSpPr txBox="1"/>
          <p:nvPr/>
        </p:nvSpPr>
        <p:spPr bwMode="gray">
          <a:xfrm>
            <a:off x="861569" y="4592531"/>
            <a:ext cx="2525050" cy="584775"/>
          </a:xfrm>
          <a:prstGeom prst="rect">
            <a:avLst/>
          </a:prstGeom>
          <a:noFill/>
        </p:spPr>
        <p:txBody>
          <a:bodyPr wrap="none" rtlCol="0">
            <a:spAutoFit/>
          </a:bodyPr>
          <a:lstStyle/>
          <a:p>
            <a:pPr marL="285750" indent="-285750">
              <a:buFont typeface="Arial" panose="020B0604020202020204" pitchFamily="34" charset="0"/>
              <a:buChar char="•"/>
            </a:pPr>
            <a:r>
              <a:rPr lang="zh-CN" altLang="en-US" sz="1600">
                <a:latin typeface="Huawei Sans" panose="020C0503030203020204" pitchFamily="34" charset="0"/>
                <a:ea typeface="方正兰亭黑简体" panose="02000000000000000000" pitchFamily="2" charset="-122"/>
                <a:sym typeface="Huawei Sans" panose="020C0503030203020204" pitchFamily="34" charset="0"/>
              </a:rPr>
              <a:t>依赖检测机制快速切换</a:t>
            </a:r>
            <a:endParaRPr lang="en-US" altLang="zh-CN" sz="1600">
              <a:latin typeface="Huawei Sans" panose="020C0503030203020204" pitchFamily="34" charset="0"/>
              <a:ea typeface="方正兰亭黑简体" panose="02000000000000000000" pitchFamily="2" charset="-122"/>
              <a:sym typeface="Huawei Sans" panose="020C0503030203020204" pitchFamily="34" charset="0"/>
            </a:endParaRPr>
          </a:p>
          <a:p>
            <a:pPr marL="285750" indent="-285750">
              <a:buFont typeface="Arial" panose="020B0604020202020204" pitchFamily="34" charset="0"/>
              <a:buChar char="•"/>
            </a:pPr>
            <a:r>
              <a:rPr lang="zh-CN" altLang="en-US" sz="1600">
                <a:latin typeface="Huawei Sans" panose="020C0503030203020204" pitchFamily="34" charset="0"/>
                <a:ea typeface="方正兰亭黑简体" panose="02000000000000000000" pitchFamily="2" charset="-122"/>
                <a:sym typeface="Huawei Sans" panose="020C0503030203020204" pitchFamily="34" charset="0"/>
              </a:rPr>
              <a:t>保护端到端路径</a:t>
            </a:r>
            <a:endParaRPr lang="zh-CN" altLang="en-US" sz="16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4" name="文本框 124"/>
          <p:cNvSpPr txBox="1"/>
          <p:nvPr/>
        </p:nvSpPr>
        <p:spPr bwMode="gray">
          <a:xfrm>
            <a:off x="8881134" y="1982676"/>
            <a:ext cx="1334019" cy="338554"/>
          </a:xfrm>
          <a:prstGeom prst="rect">
            <a:avLst/>
          </a:prstGeom>
          <a:solidFill>
            <a:srgbClr val="E28189"/>
          </a:solidFill>
        </p:spPr>
        <p:txBody>
          <a:bodyPr wrap="square" rtlCol="0">
            <a:spAutoFit/>
          </a:bodyPr>
          <a:lstStyle/>
          <a:p>
            <a:r>
              <a:rPr lang="en-US" altLang="zh-CN" sz="16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TI-LFA FRR</a:t>
            </a:r>
            <a:endParaRPr lang="zh-CN" altLang="en-US" sz="16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5" name="文本框 125"/>
          <p:cNvSpPr txBox="1"/>
          <p:nvPr/>
        </p:nvSpPr>
        <p:spPr bwMode="gray">
          <a:xfrm>
            <a:off x="8893966" y="4549412"/>
            <a:ext cx="1370888" cy="338554"/>
          </a:xfrm>
          <a:prstGeom prst="rect">
            <a:avLst/>
          </a:prstGeom>
          <a:solidFill>
            <a:srgbClr val="E28189"/>
          </a:solidFill>
        </p:spPr>
        <p:txBody>
          <a:bodyPr wrap="square" rtlCol="0">
            <a:spAutoFit/>
          </a:bodyPr>
          <a:lstStyle>
            <a:defPPr>
              <a:defRPr lang="en-US"/>
            </a:defPPr>
            <a:lvl1pPr>
              <a:defRPr sz="1600">
                <a:solidFill>
                  <a:schemeClr val="bg1"/>
                </a:solidFill>
                <a:latin typeface="Huawei Sans" panose="020C0503030203020204" pitchFamily="34" charset="0"/>
                <a:ea typeface="方正兰亭黑简体" panose="02000000000000000000" pitchFamily="2" charset="-122"/>
              </a:defRPr>
            </a:lvl1pPr>
          </a:lstStyle>
          <a:p>
            <a:r>
              <a:rPr lang="en-US" altLang="zh-CN" dirty="0">
                <a:sym typeface="Huawei Sans" panose="020C0503030203020204" pitchFamily="34" charset="0"/>
              </a:rPr>
              <a:t>Hot-Standby</a:t>
            </a:r>
            <a:endParaRPr lang="zh-CN" altLang="en-US" dirty="0">
              <a:sym typeface="Huawei Sans" panose="020C0503030203020204" pitchFamily="34" charset="0"/>
            </a:endParaRPr>
          </a:p>
        </p:txBody>
      </p:sp>
      <p:sp>
        <p:nvSpPr>
          <p:cNvPr id="57" name="文本框 124"/>
          <p:cNvSpPr txBox="1"/>
          <p:nvPr/>
        </p:nvSpPr>
        <p:spPr bwMode="gray">
          <a:xfrm>
            <a:off x="8885567" y="2354615"/>
            <a:ext cx="1334019" cy="584775"/>
          </a:xfrm>
          <a:prstGeom prst="rect">
            <a:avLst/>
          </a:prstGeom>
          <a:solidFill>
            <a:srgbClr val="E28189"/>
          </a:solidFill>
        </p:spPr>
        <p:txBody>
          <a:bodyPr wrap="square" rtlCol="0">
            <a:spAutoFit/>
          </a:bodyPr>
          <a:lstStyle/>
          <a:p>
            <a:r>
              <a:rPr lang="en-US" altLang="zh-CN" sz="16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Midpoint TI-LFA FRR</a:t>
            </a:r>
            <a:endParaRPr lang="zh-CN" altLang="en-US" sz="16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8" name="文本框 126"/>
          <p:cNvSpPr txBox="1"/>
          <p:nvPr/>
        </p:nvSpPr>
        <p:spPr bwMode="gray">
          <a:xfrm>
            <a:off x="8885568" y="2987737"/>
            <a:ext cx="1334018" cy="338554"/>
          </a:xfrm>
          <a:prstGeom prst="rect">
            <a:avLst/>
          </a:prstGeom>
          <a:solidFill>
            <a:srgbClr val="E28189"/>
          </a:solidFill>
        </p:spPr>
        <p:txBody>
          <a:bodyPr wrap="square" rtlCol="0">
            <a:spAutoFit/>
          </a:bodyPr>
          <a:lstStyle>
            <a:defPPr>
              <a:defRPr lang="en-US"/>
            </a:defPPr>
            <a:lvl1pPr>
              <a:defRPr sz="1600">
                <a:solidFill>
                  <a:schemeClr val="bg1"/>
                </a:solidFill>
                <a:latin typeface="Huawei Sans" panose="020C0503030203020204" pitchFamily="34" charset="0"/>
                <a:ea typeface="方正兰亭黑简体" panose="02000000000000000000" pitchFamily="2" charset="-122"/>
              </a:defRPr>
            </a:lvl1pPr>
          </a:lstStyle>
          <a:p>
            <a:r>
              <a:rPr lang="zh-CN" altLang="en-US" dirty="0">
                <a:sym typeface="Huawei Sans" panose="020C0503030203020204" pitchFamily="34" charset="0"/>
              </a:rPr>
              <a:t>防微环</a:t>
            </a:r>
            <a:endParaRPr lang="zh-CN" altLang="en-US" dirty="0">
              <a:sym typeface="Huawei Sans" panose="020C0503030203020204" pitchFamily="34" charset="0"/>
            </a:endParaRPr>
          </a:p>
        </p:txBody>
      </p:sp>
      <p:sp>
        <p:nvSpPr>
          <p:cNvPr id="59" name="文本框 125"/>
          <p:cNvSpPr txBox="1"/>
          <p:nvPr/>
        </p:nvSpPr>
        <p:spPr bwMode="gray">
          <a:xfrm>
            <a:off x="8893966" y="4940044"/>
            <a:ext cx="1370888" cy="338554"/>
          </a:xfrm>
          <a:prstGeom prst="rect">
            <a:avLst/>
          </a:prstGeom>
          <a:solidFill>
            <a:srgbClr val="E28189"/>
          </a:solidFill>
        </p:spPr>
        <p:txBody>
          <a:bodyPr wrap="square" rtlCol="0">
            <a:spAutoFit/>
          </a:bodyPr>
          <a:lstStyle>
            <a:defPPr>
              <a:defRPr lang="en-US"/>
            </a:defPPr>
            <a:lvl1pPr>
              <a:defRPr sz="1600">
                <a:solidFill>
                  <a:schemeClr val="bg1"/>
                </a:solidFill>
                <a:latin typeface="Huawei Sans" panose="020C0503030203020204" pitchFamily="34" charset="0"/>
                <a:ea typeface="方正兰亭黑简体" panose="02000000000000000000" pitchFamily="2" charset="-122"/>
              </a:defRPr>
            </a:lvl1pPr>
          </a:lstStyle>
          <a:p>
            <a:r>
              <a:rPr lang="en-US" altLang="zh-CN" dirty="0">
                <a:sym typeface="Huawei Sans" panose="020C0503030203020204" pitchFamily="34" charset="0"/>
              </a:rPr>
              <a:t>ECMP</a:t>
            </a:r>
            <a:endParaRPr lang="zh-CN" altLang="en-US" dirty="0">
              <a:sym typeface="Huawei Sans" panose="020C0503030203020204" pitchFamily="34" charset="0"/>
            </a:endParaRPr>
          </a:p>
        </p:txBody>
      </p:sp>
      <p:sp>
        <p:nvSpPr>
          <p:cNvPr id="60" name="文本框 125"/>
          <p:cNvSpPr txBox="1"/>
          <p:nvPr/>
        </p:nvSpPr>
        <p:spPr bwMode="gray">
          <a:xfrm>
            <a:off x="8893966" y="5336119"/>
            <a:ext cx="1370888" cy="338554"/>
          </a:xfrm>
          <a:prstGeom prst="rect">
            <a:avLst/>
          </a:prstGeom>
          <a:solidFill>
            <a:srgbClr val="E28189"/>
          </a:solidFill>
        </p:spPr>
        <p:txBody>
          <a:bodyPr wrap="square" rtlCol="0">
            <a:spAutoFit/>
          </a:bodyPr>
          <a:lstStyle>
            <a:defPPr>
              <a:defRPr lang="en-US"/>
            </a:defPPr>
            <a:lvl1pPr>
              <a:defRPr sz="1600">
                <a:solidFill>
                  <a:schemeClr val="bg1"/>
                </a:solidFill>
                <a:latin typeface="Huawei Sans" panose="020C0503030203020204" pitchFamily="34" charset="0"/>
                <a:ea typeface="方正兰亭黑简体" panose="02000000000000000000" pitchFamily="2" charset="-122"/>
              </a:defRPr>
            </a:lvl1pPr>
          </a:lstStyle>
          <a:p>
            <a:r>
              <a:rPr lang="zh-CN" altLang="en-US" dirty="0">
                <a:sym typeface="Huawei Sans" panose="020C0503030203020204" pitchFamily="34" charset="0"/>
              </a:rPr>
              <a:t>逃生路径</a:t>
            </a:r>
            <a:endParaRPr lang="zh-CN" altLang="en-US" dirty="0">
              <a:sym typeface="Huawei Sans" panose="020C0503030203020204" pitchFamily="34" charset="0"/>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 Same Side Corner Rectangle 29"/>
          <p:cNvSpPr/>
          <p:nvPr/>
        </p:nvSpPr>
        <p:spPr bwMode="gray">
          <a:xfrm>
            <a:off x="3959113" y="2613250"/>
            <a:ext cx="484682" cy="2243331"/>
          </a:xfrm>
          <a:prstGeom prst="round2SameRect">
            <a:avLst>
              <a:gd name="adj1" fmla="val 16667"/>
              <a:gd name="adj2" fmla="val 14389"/>
            </a:avLst>
          </a:prstGeom>
          <a:solidFill>
            <a:srgbClr val="56C4D2">
              <a:alpha val="30196"/>
            </a:srgbClr>
          </a:solidFill>
          <a:ln w="12700" cap="flat" cmpd="sng" algn="ctr">
            <a:noFill/>
            <a:prstDash val="solid"/>
            <a:miter lim="800000"/>
          </a:ln>
          <a:effectLst/>
        </p:spPr>
        <p:txBody>
          <a:bodyPr rtlCol="0" anchor="ctr"/>
          <a:lstStyle/>
          <a:p>
            <a:pPr algn="ctr" defTabSz="914400">
              <a:defRPr/>
            </a:pPr>
            <a:endParaRPr lang="en-US" sz="4000" kern="0">
              <a:solidFill>
                <a:prstClr val="white"/>
              </a:solidFill>
              <a:cs typeface="+mn-ea"/>
              <a:sym typeface="+mn-lt"/>
            </a:endParaRPr>
          </a:p>
        </p:txBody>
      </p:sp>
      <p:sp>
        <p:nvSpPr>
          <p:cNvPr id="7" name="Round Same Side Corner Rectangle 28"/>
          <p:cNvSpPr/>
          <p:nvPr/>
        </p:nvSpPr>
        <p:spPr bwMode="gray">
          <a:xfrm rot="5400000">
            <a:off x="1438024" y="3480845"/>
            <a:ext cx="2219868" cy="484682"/>
          </a:xfrm>
          <a:prstGeom prst="round2SameRect">
            <a:avLst>
              <a:gd name="adj1" fmla="val 11333"/>
              <a:gd name="adj2" fmla="val 17112"/>
            </a:avLst>
          </a:prstGeom>
          <a:solidFill>
            <a:srgbClr val="92D050">
              <a:alpha val="30196"/>
            </a:srgbClr>
          </a:solidFill>
          <a:ln w="12700" cap="flat" cmpd="sng" algn="ctr">
            <a:noFill/>
            <a:prstDash val="solid"/>
            <a:miter lim="800000"/>
          </a:ln>
          <a:effectLst/>
        </p:spPr>
        <p:txBody>
          <a:bodyPr rtlCol="0" anchor="ctr"/>
          <a:lstStyle/>
          <a:p>
            <a:pPr algn="ctr" defTabSz="914400">
              <a:defRPr/>
            </a:pPr>
            <a:endParaRPr lang="en-US" sz="4000" kern="0">
              <a:solidFill>
                <a:prstClr val="white"/>
              </a:solidFill>
              <a:cs typeface="+mn-ea"/>
              <a:sym typeface="+mn-lt"/>
            </a:endParaRPr>
          </a:p>
        </p:txBody>
      </p:sp>
      <p:sp>
        <p:nvSpPr>
          <p:cNvPr id="2" name="Title 1"/>
          <p:cNvSpPr>
            <a:spLocks noGrp="1"/>
          </p:cNvSpPr>
          <p:nvPr>
            <p:ph type="title"/>
          </p:nvPr>
        </p:nvSpPr>
        <p:spPr bwMode="gray"/>
        <p:txBody>
          <a:bodyPr/>
          <a:lstStyle/>
          <a:p>
            <a:r>
              <a:rPr lang="en-US" altLang="zh-CN" dirty="0"/>
              <a:t>TI-LFA FRR</a:t>
            </a:r>
            <a:r>
              <a:rPr lang="zh-CN" altLang="en-US" dirty="0"/>
              <a:t>原理</a:t>
            </a:r>
            <a:endParaRPr lang="zh-CN" altLang="en-US" dirty="0"/>
          </a:p>
        </p:txBody>
      </p:sp>
      <p:sp>
        <p:nvSpPr>
          <p:cNvPr id="3" name="Text Placeholder 2"/>
          <p:cNvSpPr>
            <a:spLocks noGrp="1"/>
          </p:cNvSpPr>
          <p:nvPr>
            <p:ph type="body" sz="quarter" idx="10"/>
          </p:nvPr>
        </p:nvSpPr>
        <p:spPr bwMode="gray"/>
        <p:txBody>
          <a:bodyPr/>
          <a:lstStyle/>
          <a:p>
            <a:r>
              <a:rPr lang="en-US" altLang="zh-CN" sz="1600" dirty="0"/>
              <a:t>TI-LFA</a:t>
            </a:r>
            <a:r>
              <a:rPr lang="zh-CN" altLang="en-US" sz="1600" dirty="0"/>
              <a:t>（</a:t>
            </a:r>
            <a:r>
              <a:rPr lang="en-US" altLang="zh-CN" sz="1600" dirty="0"/>
              <a:t>Topology-Independent Loop-free Alternate</a:t>
            </a:r>
            <a:r>
              <a:rPr lang="zh-CN" altLang="en-US" sz="1600" dirty="0"/>
              <a:t>）</a:t>
            </a:r>
            <a:r>
              <a:rPr lang="en-US" altLang="zh-CN" sz="1600" dirty="0"/>
              <a:t>FRR</a:t>
            </a:r>
            <a:r>
              <a:rPr lang="zh-CN" altLang="en-US" sz="1600" dirty="0"/>
              <a:t>能为</a:t>
            </a:r>
            <a:r>
              <a:rPr lang="en-US" altLang="zh-CN" sz="1600" dirty="0"/>
              <a:t>SRv6</a:t>
            </a:r>
            <a:r>
              <a:rPr lang="zh-CN" altLang="en-US" sz="1600" dirty="0"/>
              <a:t>隧道提供链路及节点的保护。当某处链路或节点故障时，流量会快速切换到备份路径继续转发。</a:t>
            </a:r>
            <a:endParaRPr lang="zh-CN" altLang="en-US" sz="1600" dirty="0"/>
          </a:p>
          <a:p>
            <a:endParaRPr lang="zh-CN" altLang="en-US" dirty="0"/>
          </a:p>
        </p:txBody>
      </p:sp>
      <p:sp>
        <p:nvSpPr>
          <p:cNvPr id="4" name="矩形 91"/>
          <p:cNvSpPr/>
          <p:nvPr/>
        </p:nvSpPr>
        <p:spPr bwMode="gray">
          <a:xfrm>
            <a:off x="6096000" y="2000123"/>
            <a:ext cx="5653087" cy="3898503"/>
          </a:xfrm>
          <a:prstGeom prst="rect">
            <a:avLst/>
          </a:prstGeom>
        </p:spPr>
        <p:txBody>
          <a:bodyPr wrap="square">
            <a:spAutoFit/>
          </a:bodyPr>
          <a:lstStyle/>
          <a:p>
            <a:pPr marL="302260" indent="-302260" algn="just" defTabSz="913765">
              <a:lnSpc>
                <a:spcPct val="140000"/>
              </a:lnSpc>
              <a:spcBef>
                <a:spcPts val="790"/>
              </a:spcBef>
              <a:buSzPct val="50000"/>
              <a:buFont typeface="Wingdings" panose="05000000000000000000" pitchFamily="2" charset="2"/>
              <a:buChar char="l"/>
            </a:pPr>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如图，</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PE1</a:t>
            </a:r>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到</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PE2</a:t>
            </a:r>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的最短路径也就是主用路径为</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PE1-&gt;P1-&gt;P4-&gt;PE2</a:t>
            </a:r>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P1</a:t>
            </a:r>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需要计算到</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PE2</a:t>
            </a:r>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的</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TI-LFA</a:t>
            </a:r>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备份路径：</a:t>
            </a:r>
            <a:endParaRPr lang="zh-CN" altLang="en-US" sz="1400" dirty="0">
              <a:latin typeface="Huawei Sans" panose="020C0503030203020204" pitchFamily="34" charset="0"/>
              <a:ea typeface="方正兰亭黑简体" panose="02000000000000000000" pitchFamily="2" charset="-122"/>
              <a:cs typeface="Huawei Sans" panose="020C0503030203020204" pitchFamily="34" charset="0"/>
            </a:endParaRPr>
          </a:p>
          <a:p>
            <a:pPr marL="688975" lvl="1" indent="-285750" defTabSz="913765" fontAlgn="base">
              <a:lnSpc>
                <a:spcPct val="140000"/>
              </a:lnSpc>
              <a:spcBef>
                <a:spcPts val="720"/>
              </a:spcBef>
              <a:buSzPct val="100000"/>
              <a:buFont typeface="+mj-lt"/>
              <a:buAutoNum type="arabicPeriod"/>
            </a:pPr>
            <a:r>
              <a:rPr lang="zh-CN" altLang="en-US" sz="1200" dirty="0">
                <a:latin typeface="Huawei Sans" panose="020C0503030203020204" pitchFamily="34" charset="0"/>
                <a:ea typeface="方正兰亭黑简体" panose="02000000000000000000" pitchFamily="2" charset="-122"/>
              </a:rPr>
              <a:t>排除主下一跳（</a:t>
            </a:r>
            <a:r>
              <a:rPr lang="en-US" altLang="zh-CN" sz="1200" dirty="0">
                <a:latin typeface="Huawei Sans" panose="020C0503030203020204" pitchFamily="34" charset="0"/>
                <a:ea typeface="方正兰亭黑简体" panose="02000000000000000000" pitchFamily="2" charset="-122"/>
              </a:rPr>
              <a:t>Link P1-&gt;P4</a:t>
            </a:r>
            <a:r>
              <a:rPr lang="zh-CN" altLang="en-US" sz="1200" dirty="0">
                <a:latin typeface="Huawei Sans" panose="020C0503030203020204" pitchFamily="34" charset="0"/>
                <a:ea typeface="方正兰亭黑简体" panose="02000000000000000000" pitchFamily="2" charset="-122"/>
              </a:rPr>
              <a:t>）计算收敛后的最短路径：</a:t>
            </a:r>
            <a:r>
              <a:rPr lang="en-US" altLang="zh-CN" sz="1200" dirty="0">
                <a:latin typeface="Huawei Sans" panose="020C0503030203020204" pitchFamily="34" charset="0"/>
                <a:ea typeface="方正兰亭黑简体" panose="02000000000000000000" pitchFamily="2" charset="-122"/>
              </a:rPr>
              <a:t>P1-&gt;P2-&gt;P3-&gt;P4-&gt;PE2</a:t>
            </a:r>
            <a:r>
              <a:rPr lang="zh-CN" altLang="en-US" sz="1200" dirty="0">
                <a:latin typeface="Huawei Sans" panose="020C0503030203020204" pitchFamily="34" charset="0"/>
                <a:ea typeface="方正兰亭黑简体" panose="02000000000000000000" pitchFamily="2" charset="-122"/>
              </a:rPr>
              <a:t>。</a:t>
            </a:r>
            <a:endParaRPr lang="zh-CN" altLang="en-US" sz="1200" dirty="0">
              <a:latin typeface="Huawei Sans" panose="020C0503030203020204" pitchFamily="34" charset="0"/>
              <a:ea typeface="方正兰亭黑简体" panose="02000000000000000000" pitchFamily="2" charset="-122"/>
            </a:endParaRPr>
          </a:p>
          <a:p>
            <a:pPr marL="688975" lvl="1" indent="-285750" defTabSz="913765" fontAlgn="base">
              <a:lnSpc>
                <a:spcPct val="140000"/>
              </a:lnSpc>
              <a:spcBef>
                <a:spcPts val="720"/>
              </a:spcBef>
              <a:buSzPct val="100000"/>
              <a:buFont typeface="+mj-lt"/>
              <a:buAutoNum type="arabicPeriod"/>
            </a:pPr>
            <a:r>
              <a:rPr lang="zh-CN" altLang="en-US" sz="1200" dirty="0">
                <a:latin typeface="Huawei Sans" panose="020C0503030203020204" pitchFamily="34" charset="0"/>
                <a:ea typeface="方正兰亭黑简体" panose="02000000000000000000" pitchFamily="2" charset="-122"/>
              </a:rPr>
              <a:t>计算</a:t>
            </a:r>
            <a:r>
              <a:rPr lang="en-US" altLang="zh-CN" sz="1200" dirty="0">
                <a:latin typeface="Huawei Sans" panose="020C0503030203020204" pitchFamily="34" charset="0"/>
                <a:ea typeface="方正兰亭黑简体" panose="02000000000000000000" pitchFamily="2" charset="-122"/>
              </a:rPr>
              <a:t>P</a:t>
            </a:r>
            <a:r>
              <a:rPr lang="zh-CN" altLang="en-US" sz="1200" dirty="0">
                <a:latin typeface="Huawei Sans" panose="020C0503030203020204" pitchFamily="34" charset="0"/>
                <a:ea typeface="方正兰亭黑简体" panose="02000000000000000000" pitchFamily="2" charset="-122"/>
              </a:rPr>
              <a:t>空间和</a:t>
            </a:r>
            <a:r>
              <a:rPr lang="en-US" altLang="zh-CN" sz="1200" dirty="0">
                <a:latin typeface="Huawei Sans" panose="020C0503030203020204" pitchFamily="34" charset="0"/>
                <a:ea typeface="方正兰亭黑简体" panose="02000000000000000000" pitchFamily="2" charset="-122"/>
              </a:rPr>
              <a:t>Q</a:t>
            </a:r>
            <a:r>
              <a:rPr lang="zh-CN" altLang="en-US" sz="1200" dirty="0">
                <a:latin typeface="Huawei Sans" panose="020C0503030203020204" pitchFamily="34" charset="0"/>
                <a:ea typeface="方正兰亭黑简体" panose="02000000000000000000" pitchFamily="2" charset="-122"/>
              </a:rPr>
              <a:t>空间，</a:t>
            </a:r>
            <a:r>
              <a:rPr lang="en-US" altLang="zh-CN" sz="1200" dirty="0">
                <a:latin typeface="Huawei Sans" panose="020C0503030203020204" pitchFamily="34" charset="0"/>
                <a:ea typeface="方正兰亭黑简体" panose="02000000000000000000" pitchFamily="2" charset="-122"/>
              </a:rPr>
              <a:t>P</a:t>
            </a:r>
            <a:r>
              <a:rPr lang="zh-CN" altLang="en-US" sz="1200" dirty="0">
                <a:latin typeface="Huawei Sans" panose="020C0503030203020204" pitchFamily="34" charset="0"/>
                <a:ea typeface="方正兰亭黑简体" panose="02000000000000000000" pitchFamily="2" charset="-122"/>
              </a:rPr>
              <a:t>空间为（</a:t>
            </a:r>
            <a:r>
              <a:rPr lang="en-US" altLang="zh-CN" sz="1200" dirty="0">
                <a:latin typeface="Huawei Sans" panose="020C0503030203020204" pitchFamily="34" charset="0"/>
                <a:ea typeface="方正兰亭黑简体" panose="02000000000000000000" pitchFamily="2" charset="-122"/>
              </a:rPr>
              <a:t>P1</a:t>
            </a:r>
            <a:r>
              <a:rPr lang="zh-CN" altLang="en-US" sz="1200" dirty="0">
                <a:latin typeface="Huawei Sans" panose="020C0503030203020204" pitchFamily="34" charset="0"/>
                <a:ea typeface="方正兰亭黑简体" panose="02000000000000000000" pitchFamily="2" charset="-122"/>
              </a:rPr>
              <a:t>，</a:t>
            </a:r>
            <a:r>
              <a:rPr lang="en-US" altLang="zh-CN" sz="1200" dirty="0">
                <a:latin typeface="Huawei Sans" panose="020C0503030203020204" pitchFamily="34" charset="0"/>
                <a:ea typeface="方正兰亭黑简体" panose="02000000000000000000" pitchFamily="2" charset="-122"/>
              </a:rPr>
              <a:t>P2</a:t>
            </a:r>
            <a:r>
              <a:rPr lang="zh-CN" altLang="en-US" sz="1200" dirty="0">
                <a:latin typeface="Huawei Sans" panose="020C0503030203020204" pitchFamily="34" charset="0"/>
                <a:ea typeface="方正兰亭黑简体" panose="02000000000000000000" pitchFamily="2" charset="-122"/>
              </a:rPr>
              <a:t>），</a:t>
            </a:r>
            <a:r>
              <a:rPr lang="en-US" altLang="zh-CN" sz="1200" dirty="0">
                <a:latin typeface="Huawei Sans" panose="020C0503030203020204" pitchFamily="34" charset="0"/>
                <a:ea typeface="方正兰亭黑简体" panose="02000000000000000000" pitchFamily="2" charset="-122"/>
              </a:rPr>
              <a:t>Q</a:t>
            </a:r>
            <a:r>
              <a:rPr lang="zh-CN" altLang="en-US" sz="1200" dirty="0">
                <a:latin typeface="Huawei Sans" panose="020C0503030203020204" pitchFamily="34" charset="0"/>
                <a:ea typeface="方正兰亭黑简体" panose="02000000000000000000" pitchFamily="2" charset="-122"/>
              </a:rPr>
              <a:t>空间为（</a:t>
            </a:r>
            <a:r>
              <a:rPr lang="en-US" altLang="zh-CN" sz="1200" dirty="0">
                <a:latin typeface="Huawei Sans" panose="020C0503030203020204" pitchFamily="34" charset="0"/>
                <a:ea typeface="方正兰亭黑简体" panose="02000000000000000000" pitchFamily="2" charset="-122"/>
              </a:rPr>
              <a:t>P3</a:t>
            </a:r>
            <a:r>
              <a:rPr lang="zh-CN" altLang="en-US" sz="1200" dirty="0">
                <a:latin typeface="Huawei Sans" panose="020C0503030203020204" pitchFamily="34" charset="0"/>
                <a:ea typeface="方正兰亭黑简体" panose="02000000000000000000" pitchFamily="2" charset="-122"/>
              </a:rPr>
              <a:t>，</a:t>
            </a:r>
            <a:r>
              <a:rPr lang="en-US" altLang="zh-CN" sz="1200" dirty="0">
                <a:latin typeface="Huawei Sans" panose="020C0503030203020204" pitchFamily="34" charset="0"/>
                <a:ea typeface="方正兰亭黑简体" panose="02000000000000000000" pitchFamily="2" charset="-122"/>
              </a:rPr>
              <a:t>P4</a:t>
            </a:r>
            <a:r>
              <a:rPr lang="zh-CN" altLang="en-US" sz="1200" dirty="0">
                <a:latin typeface="Huawei Sans" panose="020C0503030203020204" pitchFamily="34" charset="0"/>
                <a:ea typeface="方正兰亭黑简体" panose="02000000000000000000" pitchFamily="2" charset="-122"/>
              </a:rPr>
              <a:t>，</a:t>
            </a:r>
            <a:r>
              <a:rPr lang="en-US" altLang="zh-CN" sz="1200" dirty="0">
                <a:latin typeface="Huawei Sans" panose="020C0503030203020204" pitchFamily="34" charset="0"/>
                <a:ea typeface="方正兰亭黑简体" panose="02000000000000000000" pitchFamily="2" charset="-122"/>
              </a:rPr>
              <a:t>PE2</a:t>
            </a:r>
            <a:r>
              <a:rPr lang="zh-CN" altLang="en-US" sz="1200" dirty="0">
                <a:latin typeface="Huawei Sans" panose="020C0503030203020204" pitchFamily="34" charset="0"/>
                <a:ea typeface="方正兰亭黑简体" panose="02000000000000000000" pitchFamily="2" charset="-122"/>
              </a:rPr>
              <a:t>）。</a:t>
            </a:r>
            <a:endParaRPr lang="zh-CN" altLang="en-US" sz="1200" dirty="0">
              <a:latin typeface="Huawei Sans" panose="020C0503030203020204" pitchFamily="34" charset="0"/>
              <a:ea typeface="方正兰亭黑简体" panose="02000000000000000000" pitchFamily="2" charset="-122"/>
            </a:endParaRPr>
          </a:p>
          <a:p>
            <a:pPr marL="688975" lvl="1" indent="-285750" defTabSz="913765" fontAlgn="base">
              <a:lnSpc>
                <a:spcPct val="140000"/>
              </a:lnSpc>
              <a:spcBef>
                <a:spcPts val="720"/>
              </a:spcBef>
              <a:buSzPct val="100000"/>
              <a:buFont typeface="+mj-lt"/>
              <a:buAutoNum type="arabicPeriod"/>
            </a:pPr>
            <a:r>
              <a:rPr lang="zh-CN" altLang="en-US" sz="1200" dirty="0">
                <a:latin typeface="Huawei Sans" panose="020C0503030203020204" pitchFamily="34" charset="0"/>
                <a:ea typeface="方正兰亭黑简体" panose="02000000000000000000" pitchFamily="2" charset="-122"/>
              </a:rPr>
              <a:t>计算</a:t>
            </a:r>
            <a:r>
              <a:rPr lang="en-US" altLang="zh-CN" sz="1200" dirty="0">
                <a:latin typeface="Huawei Sans" panose="020C0503030203020204" pitchFamily="34" charset="0"/>
                <a:ea typeface="方正兰亭黑简体" panose="02000000000000000000" pitchFamily="2" charset="-122"/>
              </a:rPr>
              <a:t>TI-LFA</a:t>
            </a:r>
            <a:r>
              <a:rPr lang="zh-CN" altLang="en-US" sz="1200" dirty="0">
                <a:latin typeface="Huawei Sans" panose="020C0503030203020204" pitchFamily="34" charset="0"/>
                <a:ea typeface="方正兰亭黑简体" panose="02000000000000000000" pitchFamily="2" charset="-122"/>
              </a:rPr>
              <a:t>路径：把任意路径表示为多段路径：源节点</a:t>
            </a:r>
            <a:r>
              <a:rPr lang="en-US" altLang="zh-CN" sz="1200" dirty="0">
                <a:latin typeface="Huawei Sans" panose="020C0503030203020204" pitchFamily="34" charset="0"/>
                <a:ea typeface="方正兰亭黑简体" panose="02000000000000000000" pitchFamily="2" charset="-122"/>
              </a:rPr>
              <a:t>&lt;–&gt;P&lt;–&gt;Q&lt;-&gt;</a:t>
            </a:r>
            <a:r>
              <a:rPr lang="zh-CN" altLang="en-US" sz="1200" dirty="0">
                <a:latin typeface="Huawei Sans" panose="020C0503030203020204" pitchFamily="34" charset="0"/>
                <a:ea typeface="方正兰亭黑简体" panose="02000000000000000000" pitchFamily="2" charset="-122"/>
              </a:rPr>
              <a:t>目的节点。其中源节点到</a:t>
            </a:r>
            <a:r>
              <a:rPr lang="en-US" altLang="zh-CN" sz="1200" dirty="0">
                <a:latin typeface="Huawei Sans" panose="020C0503030203020204" pitchFamily="34" charset="0"/>
                <a:ea typeface="方正兰亭黑简体" panose="02000000000000000000" pitchFamily="2" charset="-122"/>
              </a:rPr>
              <a:t>P</a:t>
            </a:r>
            <a:r>
              <a:rPr lang="zh-CN" altLang="en-US" sz="1200" dirty="0">
                <a:latin typeface="Huawei Sans" panose="020C0503030203020204" pitchFamily="34" charset="0"/>
                <a:ea typeface="方正兰亭黑简体" panose="02000000000000000000" pitchFamily="2" charset="-122"/>
              </a:rPr>
              <a:t>是无环路径，</a:t>
            </a:r>
            <a:r>
              <a:rPr lang="en-US" altLang="zh-CN" sz="1200" dirty="0">
                <a:latin typeface="Huawei Sans" panose="020C0503030203020204" pitchFamily="34" charset="0"/>
                <a:ea typeface="方正兰亭黑简体" panose="02000000000000000000" pitchFamily="2" charset="-122"/>
              </a:rPr>
              <a:t>Q</a:t>
            </a:r>
            <a:r>
              <a:rPr lang="zh-CN" altLang="en-US" sz="1200" dirty="0">
                <a:latin typeface="Huawei Sans" panose="020C0503030203020204" pitchFamily="34" charset="0"/>
                <a:ea typeface="方正兰亭黑简体" panose="02000000000000000000" pitchFamily="2" charset="-122"/>
              </a:rPr>
              <a:t>到目的节点是无环路径。</a:t>
            </a:r>
            <a:r>
              <a:rPr lang="en-US" altLang="zh-CN" sz="1200" dirty="0">
                <a:latin typeface="Huawei Sans" panose="020C0503030203020204" pitchFamily="34" charset="0"/>
                <a:ea typeface="方正兰亭黑简体" panose="02000000000000000000" pitchFamily="2" charset="-122"/>
              </a:rPr>
              <a:t>P</a:t>
            </a:r>
            <a:r>
              <a:rPr lang="zh-CN" altLang="en-US" sz="1200" dirty="0">
                <a:latin typeface="Huawei Sans" panose="020C0503030203020204" pitchFamily="34" charset="0"/>
                <a:ea typeface="方正兰亭黑简体" panose="02000000000000000000" pitchFamily="2" charset="-122"/>
              </a:rPr>
              <a:t>到</a:t>
            </a:r>
            <a:r>
              <a:rPr lang="en-US" altLang="zh-CN" sz="1200" dirty="0">
                <a:latin typeface="Huawei Sans" panose="020C0503030203020204" pitchFamily="34" charset="0"/>
                <a:ea typeface="方正兰亭黑简体" panose="02000000000000000000" pitchFamily="2" charset="-122"/>
              </a:rPr>
              <a:t>Q</a:t>
            </a:r>
            <a:r>
              <a:rPr lang="zh-CN" altLang="en-US" sz="1200" dirty="0">
                <a:latin typeface="Huawei Sans" panose="020C0503030203020204" pitchFamily="34" charset="0"/>
                <a:ea typeface="方正兰亭黑简体" panose="02000000000000000000" pitchFamily="2" charset="-122"/>
              </a:rPr>
              <a:t>使用严格显式路径（</a:t>
            </a:r>
            <a:r>
              <a:rPr lang="en-US" altLang="zh-CN" sz="1200" dirty="0">
                <a:latin typeface="Huawei Sans" panose="020C0503030203020204" pitchFamily="34" charset="0"/>
                <a:ea typeface="方正兰亭黑简体" panose="02000000000000000000" pitchFamily="2" charset="-122"/>
              </a:rPr>
              <a:t>END.X SID</a:t>
            </a:r>
            <a:r>
              <a:rPr lang="zh-CN" altLang="en-US" sz="1200" dirty="0">
                <a:latin typeface="Huawei Sans" panose="020C0503030203020204" pitchFamily="34" charset="0"/>
                <a:ea typeface="方正兰亭黑简体" panose="02000000000000000000" pitchFamily="2" charset="-122"/>
              </a:rPr>
              <a:t>）来表达，这样整个</a:t>
            </a:r>
            <a:r>
              <a:rPr lang="en-US" altLang="zh-CN" sz="1200" dirty="0">
                <a:latin typeface="Huawei Sans" panose="020C0503030203020204" pitchFamily="34" charset="0"/>
                <a:ea typeface="方正兰亭黑简体" panose="02000000000000000000" pitchFamily="2" charset="-122"/>
              </a:rPr>
              <a:t>TI-LFA</a:t>
            </a:r>
            <a:r>
              <a:rPr lang="zh-CN" altLang="en-US" sz="1200" dirty="0">
                <a:latin typeface="Huawei Sans" panose="020C0503030203020204" pitchFamily="34" charset="0"/>
                <a:ea typeface="方正兰亭黑简体" panose="02000000000000000000" pitchFamily="2" charset="-122"/>
              </a:rPr>
              <a:t>严格显式路径一定是无环的。为了简化修复路径，选取</a:t>
            </a:r>
            <a:r>
              <a:rPr lang="en-US" altLang="zh-CN" sz="1200" dirty="0">
                <a:latin typeface="Huawei Sans" panose="020C0503030203020204" pitchFamily="34" charset="0"/>
                <a:ea typeface="方正兰亭黑简体" panose="02000000000000000000" pitchFamily="2" charset="-122"/>
              </a:rPr>
              <a:t>P</a:t>
            </a:r>
            <a:r>
              <a:rPr lang="zh-CN" altLang="en-US" sz="1200" dirty="0">
                <a:latin typeface="Huawei Sans" panose="020C0503030203020204" pitchFamily="34" charset="0"/>
                <a:ea typeface="方正兰亭黑简体" panose="02000000000000000000" pitchFamily="2" charset="-122"/>
              </a:rPr>
              <a:t>空间中离源节点最远的节点</a:t>
            </a:r>
            <a:r>
              <a:rPr lang="en-US" altLang="zh-CN" sz="1200" dirty="0">
                <a:latin typeface="Huawei Sans" panose="020C0503030203020204" pitchFamily="34" charset="0"/>
                <a:ea typeface="方正兰亭黑简体" panose="02000000000000000000" pitchFamily="2" charset="-122"/>
              </a:rPr>
              <a:t>P2</a:t>
            </a:r>
            <a:r>
              <a:rPr lang="zh-CN" altLang="en-US" sz="1200" dirty="0">
                <a:latin typeface="Huawei Sans" panose="020C0503030203020204" pitchFamily="34" charset="0"/>
                <a:ea typeface="方正兰亭黑简体" panose="02000000000000000000" pitchFamily="2" charset="-122"/>
              </a:rPr>
              <a:t>，以及</a:t>
            </a:r>
            <a:r>
              <a:rPr lang="en-US" altLang="zh-CN" sz="1200" dirty="0">
                <a:latin typeface="Huawei Sans" panose="020C0503030203020204" pitchFamily="34" charset="0"/>
                <a:ea typeface="方正兰亭黑简体" panose="02000000000000000000" pitchFamily="2" charset="-122"/>
              </a:rPr>
              <a:t>Q</a:t>
            </a:r>
            <a:r>
              <a:rPr lang="zh-CN" altLang="en-US" sz="1200" dirty="0">
                <a:latin typeface="Huawei Sans" panose="020C0503030203020204" pitchFamily="34" charset="0"/>
                <a:ea typeface="方正兰亭黑简体" panose="02000000000000000000" pitchFamily="2" charset="-122"/>
              </a:rPr>
              <a:t>空间中距离目的节点最远的节点</a:t>
            </a:r>
            <a:r>
              <a:rPr lang="en-US" altLang="zh-CN" sz="1200" dirty="0">
                <a:latin typeface="Huawei Sans" panose="020C0503030203020204" pitchFamily="34" charset="0"/>
                <a:ea typeface="方正兰亭黑简体" panose="02000000000000000000" pitchFamily="2" charset="-122"/>
              </a:rPr>
              <a:t>P3</a:t>
            </a:r>
            <a:r>
              <a:rPr lang="zh-CN" altLang="en-US" sz="1200" dirty="0">
                <a:latin typeface="Huawei Sans" panose="020C0503030203020204" pitchFamily="34" charset="0"/>
                <a:ea typeface="方正兰亭黑简体" panose="02000000000000000000" pitchFamily="2" charset="-122"/>
              </a:rPr>
              <a:t>，以及</a:t>
            </a:r>
            <a:r>
              <a:rPr lang="en-US" altLang="zh-CN" sz="1200" dirty="0">
                <a:latin typeface="Huawei Sans" panose="020C0503030203020204" pitchFamily="34" charset="0"/>
                <a:ea typeface="方正兰亭黑简体" panose="02000000000000000000" pitchFamily="2" charset="-122"/>
              </a:rPr>
              <a:t>PQ</a:t>
            </a:r>
            <a:r>
              <a:rPr lang="zh-CN" altLang="en-US" sz="1200" dirty="0">
                <a:latin typeface="Huawei Sans" panose="020C0503030203020204" pitchFamily="34" charset="0"/>
                <a:ea typeface="方正兰亭黑简体" panose="02000000000000000000" pitchFamily="2" charset="-122"/>
              </a:rPr>
              <a:t>之间的链路。</a:t>
            </a:r>
            <a:endParaRPr lang="en-US" altLang="zh-CN" sz="1200" dirty="0">
              <a:latin typeface="Huawei Sans" panose="020C0503030203020204" pitchFamily="34" charset="0"/>
              <a:ea typeface="方正兰亭黑简体" panose="02000000000000000000" pitchFamily="2" charset="-122"/>
            </a:endParaRPr>
          </a:p>
          <a:p>
            <a:pPr marL="688975" lvl="1" indent="-285750" defTabSz="913765" fontAlgn="base">
              <a:lnSpc>
                <a:spcPct val="140000"/>
              </a:lnSpc>
              <a:spcBef>
                <a:spcPts val="720"/>
              </a:spcBef>
              <a:buSzPct val="100000"/>
              <a:buFont typeface="+mj-lt"/>
              <a:buAutoNum type="arabicPeriod"/>
            </a:pPr>
            <a:r>
              <a:rPr lang="en-US" altLang="zh-CN" sz="1200" dirty="0">
                <a:latin typeface="Huawei Sans" panose="020C0503030203020204" pitchFamily="34" charset="0"/>
                <a:ea typeface="方正兰亭黑简体" panose="02000000000000000000" pitchFamily="2" charset="-122"/>
              </a:rPr>
              <a:t>P1</a:t>
            </a:r>
            <a:r>
              <a:rPr lang="zh-CN" altLang="en-US" sz="1200" dirty="0">
                <a:latin typeface="Huawei Sans" panose="020C0503030203020204" pitchFamily="34" charset="0"/>
                <a:ea typeface="方正兰亭黑简体" panose="02000000000000000000" pitchFamily="2" charset="-122"/>
              </a:rPr>
              <a:t>感知到</a:t>
            </a:r>
            <a:r>
              <a:rPr lang="en-US" altLang="zh-CN" sz="1200" dirty="0">
                <a:latin typeface="Huawei Sans" panose="020C0503030203020204" pitchFamily="34" charset="0"/>
                <a:ea typeface="方正兰亭黑简体" panose="02000000000000000000" pitchFamily="2" charset="-122"/>
              </a:rPr>
              <a:t>P1-&gt;PE2</a:t>
            </a:r>
            <a:r>
              <a:rPr lang="zh-CN" altLang="en-US" sz="1200" dirty="0">
                <a:latin typeface="Huawei Sans" panose="020C0503030203020204" pitchFamily="34" charset="0"/>
                <a:ea typeface="方正兰亭黑简体" panose="02000000000000000000" pitchFamily="2" charset="-122"/>
              </a:rPr>
              <a:t>接口状态为</a:t>
            </a:r>
            <a:r>
              <a:rPr lang="en-US" altLang="zh-CN" sz="1200" dirty="0">
                <a:latin typeface="Huawei Sans" panose="020C0503030203020204" pitchFamily="34" charset="0"/>
                <a:ea typeface="方正兰亭黑简体" panose="02000000000000000000" pitchFamily="2" charset="-122"/>
              </a:rPr>
              <a:t>Down</a:t>
            </a:r>
            <a:r>
              <a:rPr lang="zh-CN" altLang="en-US" sz="1200" dirty="0">
                <a:latin typeface="Huawei Sans" panose="020C0503030203020204" pitchFamily="34" charset="0"/>
                <a:ea typeface="方正兰亭黑简体" panose="02000000000000000000" pitchFamily="2" charset="-122"/>
              </a:rPr>
              <a:t>，使用备份表项转发，封装新的</a:t>
            </a:r>
            <a:r>
              <a:rPr lang="en-US" altLang="zh-CN" sz="1200" dirty="0">
                <a:latin typeface="Huawei Sans" panose="020C0503030203020204" pitchFamily="34" charset="0"/>
                <a:ea typeface="方正兰亭黑简体" panose="02000000000000000000" pitchFamily="2" charset="-122"/>
              </a:rPr>
              <a:t>SRH</a:t>
            </a:r>
            <a:r>
              <a:rPr lang="zh-CN" altLang="en-US" sz="1200" dirty="0">
                <a:latin typeface="Huawei Sans" panose="020C0503030203020204" pitchFamily="34" charset="0"/>
                <a:ea typeface="方正兰亭黑简体" panose="02000000000000000000" pitchFamily="2" charset="-122"/>
              </a:rPr>
              <a:t>。其中</a:t>
            </a:r>
            <a:r>
              <a:rPr lang="en-US" altLang="zh-CN" sz="1200" dirty="0">
                <a:latin typeface="Huawei Sans" panose="020C0503030203020204" pitchFamily="34" charset="0"/>
                <a:ea typeface="方正兰亭黑简体" panose="02000000000000000000" pitchFamily="2" charset="-122"/>
              </a:rPr>
              <a:t>Segment List</a:t>
            </a:r>
            <a:r>
              <a:rPr lang="zh-CN" altLang="en-US" sz="1200" dirty="0">
                <a:latin typeface="Huawei Sans" panose="020C0503030203020204" pitchFamily="34" charset="0"/>
                <a:ea typeface="方正兰亭黑简体" panose="02000000000000000000" pitchFamily="2" charset="-122"/>
              </a:rPr>
              <a:t>为</a:t>
            </a:r>
            <a:r>
              <a:rPr lang="en-US" altLang="zh-CN" sz="1200" dirty="0">
                <a:latin typeface="Huawei Sans" panose="020C0503030203020204" pitchFamily="34" charset="0"/>
                <a:ea typeface="方正兰亭黑简体" panose="02000000000000000000" pitchFamily="2" charset="-122"/>
              </a:rPr>
              <a:t>&lt;FC03::C4</a:t>
            </a:r>
            <a:r>
              <a:rPr lang="zh-CN" altLang="en-US" sz="1200" dirty="0">
                <a:latin typeface="Huawei Sans" panose="020C0503030203020204" pitchFamily="34" charset="0"/>
                <a:ea typeface="方正兰亭黑简体" panose="02000000000000000000" pitchFamily="2" charset="-122"/>
              </a:rPr>
              <a:t>，</a:t>
            </a:r>
            <a:r>
              <a:rPr lang="en-US" altLang="zh-CN" sz="1200" dirty="0">
                <a:latin typeface="Huawei Sans" panose="020C0503030203020204" pitchFamily="34" charset="0"/>
                <a:ea typeface="方正兰亭黑简体" panose="02000000000000000000" pitchFamily="2" charset="-122"/>
              </a:rPr>
              <a:t>FC06::6&gt;</a:t>
            </a:r>
            <a:r>
              <a:rPr lang="zh-CN" altLang="en-US" sz="1200" dirty="0">
                <a:latin typeface="Huawei Sans" panose="020C0503030203020204" pitchFamily="34" charset="0"/>
                <a:ea typeface="方正兰亭黑简体" panose="02000000000000000000" pitchFamily="2" charset="-122"/>
              </a:rPr>
              <a:t>，并修改</a:t>
            </a:r>
            <a:r>
              <a:rPr lang="en-US" altLang="zh-CN" sz="1200" dirty="0">
                <a:latin typeface="Huawei Sans" panose="020C0503030203020204" pitchFamily="34" charset="0"/>
                <a:ea typeface="方正兰亭黑简体" panose="02000000000000000000" pitchFamily="2" charset="-122"/>
              </a:rPr>
              <a:t>IPv6</a:t>
            </a:r>
            <a:r>
              <a:rPr lang="zh-CN" altLang="en-US" sz="1200" dirty="0">
                <a:latin typeface="Huawei Sans" panose="020C0503030203020204" pitchFamily="34" charset="0"/>
                <a:ea typeface="方正兰亭黑简体" panose="02000000000000000000" pitchFamily="2" charset="-122"/>
              </a:rPr>
              <a:t>目的地址为</a:t>
            </a:r>
            <a:r>
              <a:rPr lang="en-US" altLang="zh-CN" sz="1200" dirty="0">
                <a:latin typeface="Huawei Sans" panose="020C0503030203020204" pitchFamily="34" charset="0"/>
                <a:ea typeface="方正兰亭黑简体" panose="02000000000000000000" pitchFamily="2" charset="-122"/>
              </a:rPr>
              <a:t>FC03::C4</a:t>
            </a:r>
            <a:r>
              <a:rPr lang="zh-CN" altLang="en-US" sz="1200" dirty="0">
                <a:latin typeface="Huawei Sans" panose="020C0503030203020204" pitchFamily="34" charset="0"/>
                <a:ea typeface="方正兰亭黑简体" panose="02000000000000000000" pitchFamily="2" charset="-122"/>
              </a:rPr>
              <a:t>，之后将报文转发到备份出接口为</a:t>
            </a:r>
            <a:r>
              <a:rPr lang="en-US" altLang="zh-CN" sz="1200" dirty="0">
                <a:latin typeface="Huawei Sans" panose="020C0503030203020204" pitchFamily="34" charset="0"/>
                <a:ea typeface="方正兰亭黑简体" panose="02000000000000000000" pitchFamily="2" charset="-122"/>
              </a:rPr>
              <a:t>B-&gt;C</a:t>
            </a:r>
            <a:r>
              <a:rPr lang="zh-CN" altLang="en-US" sz="1200" dirty="0">
                <a:latin typeface="Huawei Sans" panose="020C0503030203020204" pitchFamily="34" charset="0"/>
                <a:ea typeface="方正兰亭黑简体" panose="02000000000000000000" pitchFamily="2" charset="-122"/>
              </a:rPr>
              <a:t>。</a:t>
            </a:r>
            <a:endParaRPr lang="en-US" altLang="zh-CN" sz="1200" dirty="0">
              <a:latin typeface="Huawei Sans" panose="020C0503030203020204" pitchFamily="34" charset="0"/>
              <a:ea typeface="方正兰亭黑简体" panose="02000000000000000000" pitchFamily="2" charset="-122"/>
            </a:endParaRPr>
          </a:p>
        </p:txBody>
      </p:sp>
      <p:sp>
        <p:nvSpPr>
          <p:cNvPr id="8" name="TextBox 16"/>
          <p:cNvSpPr txBox="1"/>
          <p:nvPr/>
        </p:nvSpPr>
        <p:spPr bwMode="gray">
          <a:xfrm>
            <a:off x="2501758" y="3000739"/>
            <a:ext cx="364984"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P1</a:t>
            </a:r>
            <a:endParaRPr lang="zh-CN" altLang="en-US" sz="1200" dirty="0">
              <a:solidFill>
                <a:srgbClr val="000000"/>
              </a:solidFill>
              <a:cs typeface="+mn-ea"/>
              <a:sym typeface="+mn-lt"/>
            </a:endParaRPr>
          </a:p>
        </p:txBody>
      </p:sp>
      <p:cxnSp>
        <p:nvCxnSpPr>
          <p:cNvPr id="10" name="直接连接符 22"/>
          <p:cNvCxnSpPr>
            <a:stCxn id="91" idx="3"/>
            <a:endCxn id="101" idx="1"/>
          </p:cNvCxnSpPr>
          <p:nvPr/>
        </p:nvCxnSpPr>
        <p:spPr bwMode="gray">
          <a:xfrm flipV="1">
            <a:off x="2781865" y="2838725"/>
            <a:ext cx="1184174" cy="6270"/>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cxnSp>
        <p:nvCxnSpPr>
          <p:cNvPr id="11" name="直接连接符 22"/>
          <p:cNvCxnSpPr>
            <a:stCxn id="91" idx="2"/>
            <a:endCxn id="97" idx="0"/>
          </p:cNvCxnSpPr>
          <p:nvPr/>
        </p:nvCxnSpPr>
        <p:spPr bwMode="gray">
          <a:xfrm>
            <a:off x="2547706" y="3036520"/>
            <a:ext cx="0" cy="1122381"/>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cxnSp>
        <p:nvCxnSpPr>
          <p:cNvPr id="12" name="直接连接符 22"/>
          <p:cNvCxnSpPr>
            <a:stCxn id="97" idx="3"/>
            <a:endCxn id="105" idx="1"/>
          </p:cNvCxnSpPr>
          <p:nvPr/>
        </p:nvCxnSpPr>
        <p:spPr bwMode="gray">
          <a:xfrm>
            <a:off x="2781865" y="4350427"/>
            <a:ext cx="1189223" cy="6269"/>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cxnSp>
        <p:nvCxnSpPr>
          <p:cNvPr id="13" name="直接连接符 19"/>
          <p:cNvCxnSpPr>
            <a:stCxn id="91" idx="0"/>
            <a:endCxn id="89" idx="2"/>
          </p:cNvCxnSpPr>
          <p:nvPr/>
        </p:nvCxnSpPr>
        <p:spPr bwMode="gray">
          <a:xfrm flipV="1">
            <a:off x="2547706" y="2319314"/>
            <a:ext cx="0" cy="334155"/>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cxnSp>
        <p:nvCxnSpPr>
          <p:cNvPr id="19" name="直接连接符 50"/>
          <p:cNvCxnSpPr>
            <a:stCxn id="101" idx="0"/>
            <a:endCxn id="99" idx="2"/>
          </p:cNvCxnSpPr>
          <p:nvPr/>
        </p:nvCxnSpPr>
        <p:spPr bwMode="gray">
          <a:xfrm flipV="1">
            <a:off x="4200198" y="2325599"/>
            <a:ext cx="5049" cy="321600"/>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sp>
        <p:nvSpPr>
          <p:cNvPr id="20" name="Freeform 34"/>
          <p:cNvSpPr/>
          <p:nvPr/>
        </p:nvSpPr>
        <p:spPr bwMode="gray">
          <a:xfrm>
            <a:off x="2352017" y="2272714"/>
            <a:ext cx="74930" cy="389034"/>
          </a:xfrm>
          <a:custGeom>
            <a:avLst/>
            <a:gdLst>
              <a:gd name="connsiteX0" fmla="*/ 454855 w 482990"/>
              <a:gd name="connsiteY0" fmla="*/ 0 h 2180492"/>
              <a:gd name="connsiteX1" fmla="*/ 4689 w 482990"/>
              <a:gd name="connsiteY1" fmla="*/ 1069144 h 2180492"/>
              <a:gd name="connsiteX2" fmla="*/ 482990 w 482990"/>
              <a:gd name="connsiteY2" fmla="*/ 2180492 h 2180492"/>
              <a:gd name="connsiteX0-1" fmla="*/ 249982 w 278117"/>
              <a:gd name="connsiteY0-2" fmla="*/ 0 h 2180492"/>
              <a:gd name="connsiteX1-3" fmla="*/ 471 w 278117"/>
              <a:gd name="connsiteY1-4" fmla="*/ 1124005 h 2180492"/>
              <a:gd name="connsiteX2-5" fmla="*/ 278117 w 278117"/>
              <a:gd name="connsiteY2-6" fmla="*/ 2180492 h 2180492"/>
            </a:gdLst>
            <a:ahLst/>
            <a:cxnLst>
              <a:cxn ang="0">
                <a:pos x="connsiteX0-1" y="connsiteY0-2"/>
              </a:cxn>
              <a:cxn ang="0">
                <a:pos x="connsiteX1-3" y="connsiteY1-4"/>
              </a:cxn>
              <a:cxn ang="0">
                <a:pos x="connsiteX2-5" y="connsiteY2-6"/>
              </a:cxn>
            </a:cxnLst>
            <a:rect l="l" t="t" r="r" b="b"/>
            <a:pathLst>
              <a:path w="278117" h="2180492">
                <a:moveTo>
                  <a:pt x="249982" y="0"/>
                </a:moveTo>
                <a:cubicBezTo>
                  <a:pt x="22554" y="352864"/>
                  <a:pt x="-4218" y="760590"/>
                  <a:pt x="471" y="1124005"/>
                </a:cubicBezTo>
                <a:cubicBezTo>
                  <a:pt x="5160" y="1487420"/>
                  <a:pt x="41311" y="1806525"/>
                  <a:pt x="278117" y="2180492"/>
                </a:cubicBezTo>
              </a:path>
            </a:pathLst>
          </a:custGeom>
          <a:noFill/>
          <a:ln w="28575" cap="flat" cmpd="sng" algn="ctr">
            <a:solidFill>
              <a:schemeClr val="accent6"/>
            </a:solidFill>
            <a:prstDash val="solid"/>
            <a:round/>
            <a:headEnd type="none" w="med" len="med"/>
            <a:tailEnd type="triangle" w="med" len="med"/>
          </a:ln>
          <a:effectLst/>
        </p:spPr>
        <p:txBody>
          <a:bodyPr vert="horz" wrap="square" lIns="91238" tIns="45619" rIns="91238" bIns="45619" numCol="1" rtlCol="0" anchor="t" anchorCtr="0" compatLnSpc="1"/>
          <a:lstStyle/>
          <a:p>
            <a:pPr>
              <a:buClr>
                <a:srgbClr val="CC9900"/>
              </a:buClr>
              <a:buFont typeface="Wingdings" panose="05000000000000000000" pitchFamily="2" charset="2"/>
              <a:buChar char="n"/>
            </a:pPr>
            <a:endParaRPr lang="en-US" sz="4800" b="1" dirty="0">
              <a:cs typeface="+mn-ea"/>
              <a:sym typeface="+mn-lt"/>
            </a:endParaRPr>
          </a:p>
        </p:txBody>
      </p:sp>
      <p:sp>
        <p:nvSpPr>
          <p:cNvPr id="21" name="Freeform 34"/>
          <p:cNvSpPr/>
          <p:nvPr/>
        </p:nvSpPr>
        <p:spPr bwMode="gray">
          <a:xfrm>
            <a:off x="2242183" y="2968571"/>
            <a:ext cx="164442" cy="1190330"/>
          </a:xfrm>
          <a:custGeom>
            <a:avLst/>
            <a:gdLst>
              <a:gd name="connsiteX0" fmla="*/ 454855 w 482990"/>
              <a:gd name="connsiteY0" fmla="*/ 0 h 2180492"/>
              <a:gd name="connsiteX1" fmla="*/ 4689 w 482990"/>
              <a:gd name="connsiteY1" fmla="*/ 1069144 h 2180492"/>
              <a:gd name="connsiteX2" fmla="*/ 482990 w 482990"/>
              <a:gd name="connsiteY2" fmla="*/ 2180492 h 2180492"/>
            </a:gdLst>
            <a:ahLst/>
            <a:cxnLst>
              <a:cxn ang="0">
                <a:pos x="connsiteX0" y="connsiteY0"/>
              </a:cxn>
              <a:cxn ang="0">
                <a:pos x="connsiteX1" y="connsiteY1"/>
              </a:cxn>
              <a:cxn ang="0">
                <a:pos x="connsiteX2" y="connsiteY2"/>
              </a:cxn>
            </a:cxnLst>
            <a:rect l="l" t="t" r="r" b="b"/>
            <a:pathLst>
              <a:path w="482990" h="2180492">
                <a:moveTo>
                  <a:pt x="454855" y="0"/>
                </a:moveTo>
                <a:cubicBezTo>
                  <a:pt x="227427" y="352864"/>
                  <a:pt x="0" y="705729"/>
                  <a:pt x="4689" y="1069144"/>
                </a:cubicBezTo>
                <a:cubicBezTo>
                  <a:pt x="9378" y="1432559"/>
                  <a:pt x="246184" y="1806525"/>
                  <a:pt x="482990" y="2180492"/>
                </a:cubicBezTo>
              </a:path>
            </a:pathLst>
          </a:custGeom>
          <a:noFill/>
          <a:ln w="28575" cap="flat" cmpd="sng" algn="ctr">
            <a:solidFill>
              <a:schemeClr val="accent6"/>
            </a:solidFill>
            <a:prstDash val="solid"/>
            <a:round/>
            <a:headEnd type="none" w="med" len="med"/>
            <a:tailEnd type="triangle" w="med" len="med"/>
          </a:ln>
          <a:effectLst/>
        </p:spPr>
        <p:txBody>
          <a:bodyPr vert="horz" wrap="square" lIns="91238" tIns="45619" rIns="91238" bIns="45619" numCol="1" rtlCol="0" anchor="t" anchorCtr="0" compatLnSpc="1"/>
          <a:lstStyle/>
          <a:p>
            <a:pPr>
              <a:buClr>
                <a:srgbClr val="CC9900"/>
              </a:buClr>
              <a:buFont typeface="Wingdings" panose="05000000000000000000" pitchFamily="2" charset="2"/>
              <a:buChar char="n"/>
            </a:pPr>
            <a:endParaRPr lang="en-US" sz="4800" b="1" dirty="0">
              <a:cs typeface="+mn-ea"/>
              <a:sym typeface="+mn-lt"/>
            </a:endParaRPr>
          </a:p>
        </p:txBody>
      </p:sp>
      <p:sp>
        <p:nvSpPr>
          <p:cNvPr id="29" name="Freeform 34"/>
          <p:cNvSpPr/>
          <p:nvPr/>
        </p:nvSpPr>
        <p:spPr bwMode="gray">
          <a:xfrm rot="10800000">
            <a:off x="4468864" y="2117784"/>
            <a:ext cx="96047" cy="566014"/>
          </a:xfrm>
          <a:custGeom>
            <a:avLst/>
            <a:gdLst>
              <a:gd name="connsiteX0" fmla="*/ 454855 w 482990"/>
              <a:gd name="connsiteY0" fmla="*/ 0 h 2180492"/>
              <a:gd name="connsiteX1" fmla="*/ 4689 w 482990"/>
              <a:gd name="connsiteY1" fmla="*/ 1069144 h 2180492"/>
              <a:gd name="connsiteX2" fmla="*/ 482990 w 482990"/>
              <a:gd name="connsiteY2" fmla="*/ 2180492 h 2180492"/>
            </a:gdLst>
            <a:ahLst/>
            <a:cxnLst>
              <a:cxn ang="0">
                <a:pos x="connsiteX0" y="connsiteY0"/>
              </a:cxn>
              <a:cxn ang="0">
                <a:pos x="connsiteX1" y="connsiteY1"/>
              </a:cxn>
              <a:cxn ang="0">
                <a:pos x="connsiteX2" y="connsiteY2"/>
              </a:cxn>
            </a:cxnLst>
            <a:rect l="l" t="t" r="r" b="b"/>
            <a:pathLst>
              <a:path w="482990" h="2180492">
                <a:moveTo>
                  <a:pt x="454855" y="0"/>
                </a:moveTo>
                <a:cubicBezTo>
                  <a:pt x="227427" y="352864"/>
                  <a:pt x="0" y="705729"/>
                  <a:pt x="4689" y="1069144"/>
                </a:cubicBezTo>
                <a:cubicBezTo>
                  <a:pt x="9378" y="1432559"/>
                  <a:pt x="246184" y="1806525"/>
                  <a:pt x="482990" y="2180492"/>
                </a:cubicBezTo>
              </a:path>
            </a:pathLst>
          </a:custGeom>
          <a:noFill/>
          <a:ln w="28575" cap="flat" cmpd="sng" algn="ctr">
            <a:solidFill>
              <a:schemeClr val="accent6"/>
            </a:solidFill>
            <a:prstDash val="solid"/>
            <a:round/>
            <a:headEnd type="none" w="med" len="med"/>
            <a:tailEnd type="triangle" w="med" len="med"/>
          </a:ln>
          <a:effectLst/>
        </p:spPr>
        <p:txBody>
          <a:bodyPr vert="horz" wrap="square" lIns="91238" tIns="45619" rIns="91238" bIns="45619" numCol="1" rtlCol="0" anchor="t" anchorCtr="0" compatLnSpc="1"/>
          <a:lstStyle/>
          <a:p>
            <a:pPr>
              <a:buClr>
                <a:srgbClr val="CC9900"/>
              </a:buClr>
              <a:buFont typeface="Wingdings" panose="05000000000000000000" pitchFamily="2" charset="2"/>
              <a:buChar char="n"/>
            </a:pPr>
            <a:endParaRPr lang="en-US" sz="4800" b="1" dirty="0">
              <a:cs typeface="+mn-ea"/>
              <a:sym typeface="+mn-lt"/>
            </a:endParaRPr>
          </a:p>
        </p:txBody>
      </p:sp>
      <p:sp>
        <p:nvSpPr>
          <p:cNvPr id="30" name="Freeform 34"/>
          <p:cNvSpPr/>
          <p:nvPr/>
        </p:nvSpPr>
        <p:spPr bwMode="gray">
          <a:xfrm rot="10800000">
            <a:off x="4470813" y="2914335"/>
            <a:ext cx="144398" cy="1415667"/>
          </a:xfrm>
          <a:custGeom>
            <a:avLst/>
            <a:gdLst>
              <a:gd name="connsiteX0" fmla="*/ 454855 w 482990"/>
              <a:gd name="connsiteY0" fmla="*/ 0 h 2180492"/>
              <a:gd name="connsiteX1" fmla="*/ 4689 w 482990"/>
              <a:gd name="connsiteY1" fmla="*/ 1069144 h 2180492"/>
              <a:gd name="connsiteX2" fmla="*/ 482990 w 482990"/>
              <a:gd name="connsiteY2" fmla="*/ 2180492 h 2180492"/>
            </a:gdLst>
            <a:ahLst/>
            <a:cxnLst>
              <a:cxn ang="0">
                <a:pos x="connsiteX0" y="connsiteY0"/>
              </a:cxn>
              <a:cxn ang="0">
                <a:pos x="connsiteX1" y="connsiteY1"/>
              </a:cxn>
              <a:cxn ang="0">
                <a:pos x="connsiteX2" y="connsiteY2"/>
              </a:cxn>
            </a:cxnLst>
            <a:rect l="l" t="t" r="r" b="b"/>
            <a:pathLst>
              <a:path w="482990" h="2180492">
                <a:moveTo>
                  <a:pt x="454855" y="0"/>
                </a:moveTo>
                <a:cubicBezTo>
                  <a:pt x="227427" y="352864"/>
                  <a:pt x="0" y="705729"/>
                  <a:pt x="4689" y="1069144"/>
                </a:cubicBezTo>
                <a:cubicBezTo>
                  <a:pt x="9378" y="1432559"/>
                  <a:pt x="246184" y="1806525"/>
                  <a:pt x="482990" y="2180492"/>
                </a:cubicBezTo>
              </a:path>
            </a:pathLst>
          </a:custGeom>
          <a:noFill/>
          <a:ln w="28575" cap="flat" cmpd="sng" algn="ctr">
            <a:solidFill>
              <a:schemeClr val="accent6"/>
            </a:solidFill>
            <a:prstDash val="solid"/>
            <a:round/>
            <a:headEnd type="none" w="med" len="med"/>
            <a:tailEnd type="triangle" w="med" len="med"/>
          </a:ln>
          <a:effectLst/>
        </p:spPr>
        <p:txBody>
          <a:bodyPr vert="horz" wrap="square" lIns="91238" tIns="45619" rIns="91238" bIns="45619" numCol="1" rtlCol="0" anchor="t" anchorCtr="0" compatLnSpc="1"/>
          <a:lstStyle/>
          <a:p>
            <a:pPr>
              <a:buClr>
                <a:srgbClr val="CC9900"/>
              </a:buClr>
              <a:buFont typeface="Wingdings" panose="05000000000000000000" pitchFamily="2" charset="2"/>
              <a:buChar char="n"/>
            </a:pPr>
            <a:endParaRPr lang="en-US" sz="4800" b="1" dirty="0">
              <a:cs typeface="+mn-ea"/>
              <a:sym typeface="+mn-lt"/>
            </a:endParaRPr>
          </a:p>
        </p:txBody>
      </p:sp>
      <p:sp>
        <p:nvSpPr>
          <p:cNvPr id="31" name="TextBox 16"/>
          <p:cNvSpPr txBox="1"/>
          <p:nvPr/>
        </p:nvSpPr>
        <p:spPr bwMode="gray">
          <a:xfrm>
            <a:off x="2313903" y="1705773"/>
            <a:ext cx="477846"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PE1</a:t>
            </a:r>
            <a:endParaRPr lang="zh-CN" altLang="en-US" sz="1200" dirty="0">
              <a:solidFill>
                <a:srgbClr val="000000"/>
              </a:solidFill>
              <a:cs typeface="+mn-ea"/>
              <a:sym typeface="+mn-lt"/>
            </a:endParaRPr>
          </a:p>
        </p:txBody>
      </p:sp>
      <p:sp>
        <p:nvSpPr>
          <p:cNvPr id="32" name="TextBox 16"/>
          <p:cNvSpPr txBox="1"/>
          <p:nvPr/>
        </p:nvSpPr>
        <p:spPr bwMode="gray">
          <a:xfrm>
            <a:off x="3966039" y="1712179"/>
            <a:ext cx="495582"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PE2</a:t>
            </a:r>
            <a:endParaRPr lang="zh-CN" altLang="en-US" sz="1200" dirty="0">
              <a:solidFill>
                <a:srgbClr val="000000"/>
              </a:solidFill>
              <a:cs typeface="+mn-ea"/>
              <a:sym typeface="+mn-lt"/>
            </a:endParaRPr>
          </a:p>
        </p:txBody>
      </p:sp>
      <p:sp>
        <p:nvSpPr>
          <p:cNvPr id="33" name="Freeform 34"/>
          <p:cNvSpPr/>
          <p:nvPr/>
        </p:nvSpPr>
        <p:spPr bwMode="gray">
          <a:xfrm rot="16200000" flipH="1">
            <a:off x="3383322" y="3669693"/>
            <a:ext cx="52717" cy="1194033"/>
          </a:xfrm>
          <a:custGeom>
            <a:avLst/>
            <a:gdLst>
              <a:gd name="connsiteX0" fmla="*/ 454855 w 482990"/>
              <a:gd name="connsiteY0" fmla="*/ 0 h 2180492"/>
              <a:gd name="connsiteX1" fmla="*/ 4689 w 482990"/>
              <a:gd name="connsiteY1" fmla="*/ 1069144 h 2180492"/>
              <a:gd name="connsiteX2" fmla="*/ 482990 w 482990"/>
              <a:gd name="connsiteY2" fmla="*/ 2180492 h 2180492"/>
            </a:gdLst>
            <a:ahLst/>
            <a:cxnLst>
              <a:cxn ang="0">
                <a:pos x="connsiteX0" y="connsiteY0"/>
              </a:cxn>
              <a:cxn ang="0">
                <a:pos x="connsiteX1" y="connsiteY1"/>
              </a:cxn>
              <a:cxn ang="0">
                <a:pos x="connsiteX2" y="connsiteY2"/>
              </a:cxn>
            </a:cxnLst>
            <a:rect l="l" t="t" r="r" b="b"/>
            <a:pathLst>
              <a:path w="482990" h="2180492">
                <a:moveTo>
                  <a:pt x="454855" y="0"/>
                </a:moveTo>
                <a:cubicBezTo>
                  <a:pt x="227427" y="352864"/>
                  <a:pt x="0" y="705729"/>
                  <a:pt x="4689" y="1069144"/>
                </a:cubicBezTo>
                <a:cubicBezTo>
                  <a:pt x="9378" y="1432559"/>
                  <a:pt x="246184" y="1806525"/>
                  <a:pt x="482990" y="2180492"/>
                </a:cubicBezTo>
              </a:path>
            </a:pathLst>
          </a:custGeom>
          <a:noFill/>
          <a:ln w="28575" cap="flat" cmpd="sng" algn="ctr">
            <a:solidFill>
              <a:schemeClr val="accent6"/>
            </a:solidFill>
            <a:prstDash val="solid"/>
            <a:round/>
            <a:headEnd type="none" w="med" len="med"/>
            <a:tailEnd type="triangle" w="med" len="med"/>
          </a:ln>
          <a:effectLst/>
        </p:spPr>
        <p:txBody>
          <a:bodyPr vert="horz" wrap="square" lIns="91238" tIns="45619" rIns="91238" bIns="45619" numCol="1" rtlCol="0" anchor="t" anchorCtr="0" compatLnSpc="1"/>
          <a:lstStyle/>
          <a:p>
            <a:pPr>
              <a:buClr>
                <a:srgbClr val="CC9900"/>
              </a:buClr>
              <a:buFont typeface="Wingdings" panose="05000000000000000000" pitchFamily="2" charset="2"/>
              <a:buChar char="n"/>
            </a:pPr>
            <a:endParaRPr lang="en-US" sz="4800" b="1" dirty="0">
              <a:cs typeface="+mn-ea"/>
              <a:sym typeface="+mn-lt"/>
            </a:endParaRPr>
          </a:p>
        </p:txBody>
      </p:sp>
      <p:sp>
        <p:nvSpPr>
          <p:cNvPr id="34" name="Text Box 15"/>
          <p:cNvSpPr txBox="1">
            <a:spLocks noChangeArrowheads="1"/>
          </p:cNvSpPr>
          <p:nvPr/>
        </p:nvSpPr>
        <p:spPr bwMode="gray">
          <a:xfrm>
            <a:off x="3883852" y="4548221"/>
            <a:ext cx="612043" cy="267590"/>
          </a:xfrm>
          <a:prstGeom prst="rect">
            <a:avLst/>
          </a:prstGeom>
          <a:noFill/>
          <a:ln w="3175" cap="rnd" algn="ctr">
            <a:noFill/>
            <a:prstDash val="sysDot"/>
            <a:miter lim="800000"/>
          </a:ln>
        </p:spPr>
        <p:txBody>
          <a:bodyPr wrap="square" lIns="82124" tIns="41061" rIns="82124" bIns="41061">
            <a:spAutoFit/>
          </a:bodyPr>
          <a:lstStyle/>
          <a:p>
            <a:pPr algn="ctr" defTabSz="610870">
              <a:spcBef>
                <a:spcPct val="50000"/>
              </a:spcBef>
            </a:pPr>
            <a:r>
              <a:rPr lang="en-GB" sz="1200" dirty="0">
                <a:solidFill>
                  <a:srgbClr val="000000"/>
                </a:solidFill>
                <a:cs typeface="+mn-ea"/>
                <a:sym typeface="+mn-lt"/>
              </a:rPr>
              <a:t>Q</a:t>
            </a:r>
            <a:r>
              <a:rPr lang="zh-CN" altLang="en-US" sz="1200" dirty="0">
                <a:solidFill>
                  <a:srgbClr val="000000"/>
                </a:solidFill>
                <a:cs typeface="+mn-ea"/>
                <a:sym typeface="+mn-lt"/>
              </a:rPr>
              <a:t>空间</a:t>
            </a:r>
            <a:endParaRPr lang="en-US" sz="1200" dirty="0">
              <a:solidFill>
                <a:srgbClr val="000000"/>
              </a:solidFill>
              <a:cs typeface="+mn-ea"/>
              <a:sym typeface="+mn-lt"/>
            </a:endParaRPr>
          </a:p>
        </p:txBody>
      </p:sp>
      <p:sp>
        <p:nvSpPr>
          <p:cNvPr id="35" name="Text Box 15"/>
          <p:cNvSpPr txBox="1">
            <a:spLocks noChangeArrowheads="1"/>
          </p:cNvSpPr>
          <p:nvPr/>
        </p:nvSpPr>
        <p:spPr bwMode="gray">
          <a:xfrm>
            <a:off x="2245834" y="4559250"/>
            <a:ext cx="620908" cy="267590"/>
          </a:xfrm>
          <a:prstGeom prst="rect">
            <a:avLst/>
          </a:prstGeom>
          <a:noFill/>
          <a:ln w="3175" cap="rnd" algn="ctr">
            <a:noFill/>
            <a:prstDash val="sysDot"/>
            <a:miter lim="800000"/>
          </a:ln>
        </p:spPr>
        <p:txBody>
          <a:bodyPr wrap="square" lIns="82124" tIns="41061" rIns="82124" bIns="41061">
            <a:spAutoFit/>
          </a:bodyPr>
          <a:lstStyle/>
          <a:p>
            <a:pPr algn="ctr" defTabSz="610870">
              <a:spcBef>
                <a:spcPct val="50000"/>
              </a:spcBef>
            </a:pPr>
            <a:r>
              <a:rPr lang="en-GB" sz="1200" dirty="0">
                <a:solidFill>
                  <a:srgbClr val="000000"/>
                </a:solidFill>
                <a:cs typeface="+mn-ea"/>
                <a:sym typeface="+mn-lt"/>
              </a:rPr>
              <a:t>P</a:t>
            </a:r>
            <a:r>
              <a:rPr lang="zh-CN" altLang="en-US" sz="1200" dirty="0">
                <a:solidFill>
                  <a:srgbClr val="000000"/>
                </a:solidFill>
                <a:cs typeface="+mn-ea"/>
                <a:sym typeface="+mn-lt"/>
              </a:rPr>
              <a:t>空间</a:t>
            </a:r>
            <a:endParaRPr lang="en-US" sz="1200" dirty="0">
              <a:solidFill>
                <a:srgbClr val="000000"/>
              </a:solidFill>
              <a:cs typeface="+mn-ea"/>
              <a:sym typeface="+mn-lt"/>
            </a:endParaRPr>
          </a:p>
        </p:txBody>
      </p:sp>
      <p:sp>
        <p:nvSpPr>
          <p:cNvPr id="36" name="TextBox 33"/>
          <p:cNvSpPr txBox="1"/>
          <p:nvPr/>
        </p:nvSpPr>
        <p:spPr bwMode="gray">
          <a:xfrm>
            <a:off x="2781865" y="4363926"/>
            <a:ext cx="938595" cy="476413"/>
          </a:xfrm>
          <a:prstGeom prst="rect">
            <a:avLst/>
          </a:prstGeom>
          <a:noFill/>
        </p:spPr>
        <p:txBody>
          <a:bodyPr wrap="square" rtlCol="0">
            <a:spAutoFit/>
          </a:bodyPr>
          <a:lstStyle/>
          <a:p>
            <a:r>
              <a:rPr lang="en-US" altLang="zh-CN" sz="1200" dirty="0" err="1">
                <a:solidFill>
                  <a:srgbClr val="C7000B"/>
                </a:solidFill>
                <a:cs typeface="+mn-ea"/>
                <a:sym typeface="+mn-lt"/>
              </a:rPr>
              <a:t>End.X</a:t>
            </a:r>
            <a:r>
              <a:rPr lang="en-US" altLang="zh-CN" sz="1200" dirty="0">
                <a:solidFill>
                  <a:srgbClr val="C7000B"/>
                </a:solidFill>
                <a:cs typeface="+mn-ea"/>
                <a:sym typeface="+mn-lt"/>
              </a:rPr>
              <a:t> </a:t>
            </a:r>
            <a:r>
              <a:rPr lang="en-US" altLang="zh-CN" sz="1200" b="1" dirty="0">
                <a:solidFill>
                  <a:srgbClr val="C7000B"/>
                </a:solidFill>
                <a:cs typeface="+mn-ea"/>
                <a:sym typeface="+mn-lt"/>
              </a:rPr>
              <a:t>FC03::C4</a:t>
            </a:r>
            <a:endParaRPr lang="zh-CN" altLang="en-US" sz="1200" b="1" dirty="0">
              <a:solidFill>
                <a:srgbClr val="C7000B"/>
              </a:solidFill>
              <a:cs typeface="+mn-ea"/>
              <a:sym typeface="+mn-lt"/>
            </a:endParaRPr>
          </a:p>
        </p:txBody>
      </p:sp>
      <p:sp>
        <p:nvSpPr>
          <p:cNvPr id="37" name="Freeform 26"/>
          <p:cNvSpPr/>
          <p:nvPr/>
        </p:nvSpPr>
        <p:spPr bwMode="gray">
          <a:xfrm>
            <a:off x="2598877" y="2242423"/>
            <a:ext cx="1564799" cy="489810"/>
          </a:xfrm>
          <a:custGeom>
            <a:avLst/>
            <a:gdLst>
              <a:gd name="connsiteX0" fmla="*/ 69850 w 1222375"/>
              <a:gd name="connsiteY0" fmla="*/ 0 h 1012825"/>
              <a:gd name="connsiteX1" fmla="*/ 165100 w 1222375"/>
              <a:gd name="connsiteY1" fmla="*/ 819150 h 1012825"/>
              <a:gd name="connsiteX2" fmla="*/ 1060450 w 1222375"/>
              <a:gd name="connsiteY2" fmla="*/ 895350 h 1012825"/>
              <a:gd name="connsiteX3" fmla="*/ 1136650 w 1222375"/>
              <a:gd name="connsiteY3" fmla="*/ 114300 h 1012825"/>
            </a:gdLst>
            <a:ahLst/>
            <a:cxnLst>
              <a:cxn ang="0">
                <a:pos x="connsiteX0" y="connsiteY0"/>
              </a:cxn>
              <a:cxn ang="0">
                <a:pos x="connsiteX1" y="connsiteY1"/>
              </a:cxn>
              <a:cxn ang="0">
                <a:pos x="connsiteX2" y="connsiteY2"/>
              </a:cxn>
              <a:cxn ang="0">
                <a:pos x="connsiteX3" y="connsiteY3"/>
              </a:cxn>
            </a:cxnLst>
            <a:rect l="l" t="t" r="r" b="b"/>
            <a:pathLst>
              <a:path w="1222375" h="1012825">
                <a:moveTo>
                  <a:pt x="69850" y="0"/>
                </a:moveTo>
                <a:cubicBezTo>
                  <a:pt x="34925" y="334962"/>
                  <a:pt x="0" y="669925"/>
                  <a:pt x="165100" y="819150"/>
                </a:cubicBezTo>
                <a:cubicBezTo>
                  <a:pt x="330200" y="968375"/>
                  <a:pt x="898525" y="1012825"/>
                  <a:pt x="1060450" y="895350"/>
                </a:cubicBezTo>
                <a:cubicBezTo>
                  <a:pt x="1222375" y="777875"/>
                  <a:pt x="1179512" y="446087"/>
                  <a:pt x="1136650" y="114300"/>
                </a:cubicBezTo>
              </a:path>
            </a:pathLst>
          </a:custGeom>
          <a:noFill/>
          <a:ln w="28575" cap="flat" cmpd="sng" algn="ctr">
            <a:solidFill>
              <a:srgbClr val="EC7061"/>
            </a:solidFill>
            <a:prstDash val="solid"/>
            <a:round/>
            <a:headEnd type="none" w="med" len="med"/>
            <a:tailEnd type="triangle" w="med" len="med"/>
          </a:ln>
          <a:effectLst/>
        </p:spPr>
        <p:txBody>
          <a:bodyPr vert="horz" wrap="square" lIns="91440" tIns="45720" rIns="91440" bIns="45720" numCol="1" rtlCol="0" anchor="t" anchorCtr="0" compatLnSpc="1"/>
          <a:lstStyle/>
          <a:p>
            <a:pPr>
              <a:buClr>
                <a:srgbClr val="CC9900"/>
              </a:buClr>
              <a:buFont typeface="Wingdings" panose="05000000000000000000" pitchFamily="2" charset="2"/>
              <a:buChar char="n"/>
            </a:pPr>
            <a:endParaRPr lang="en-US" sz="3600" b="1" dirty="0">
              <a:cs typeface="+mn-ea"/>
              <a:sym typeface="+mn-lt"/>
            </a:endParaRPr>
          </a:p>
        </p:txBody>
      </p:sp>
      <p:cxnSp>
        <p:nvCxnSpPr>
          <p:cNvPr id="43" name="直接连接符 22"/>
          <p:cNvCxnSpPr>
            <a:stCxn id="101" idx="2"/>
            <a:endCxn id="105" idx="0"/>
          </p:cNvCxnSpPr>
          <p:nvPr/>
        </p:nvCxnSpPr>
        <p:spPr bwMode="gray">
          <a:xfrm>
            <a:off x="4200198" y="3030250"/>
            <a:ext cx="5049" cy="1134920"/>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sp>
        <p:nvSpPr>
          <p:cNvPr id="44" name="TextBox 24"/>
          <p:cNvSpPr txBox="1"/>
          <p:nvPr/>
        </p:nvSpPr>
        <p:spPr bwMode="gray">
          <a:xfrm>
            <a:off x="2694787" y="1810207"/>
            <a:ext cx="708848" cy="276999"/>
          </a:xfrm>
          <a:prstGeom prst="rect">
            <a:avLst/>
          </a:prstGeom>
          <a:noFill/>
        </p:spPr>
        <p:txBody>
          <a:bodyPr wrap="none" rtlCol="0">
            <a:spAutoFit/>
          </a:bodyPr>
          <a:lstStyle/>
          <a:p>
            <a:pPr>
              <a:buClr>
                <a:srgbClr val="CC9900"/>
              </a:buClr>
              <a:buFont typeface="Wingdings" panose="05000000000000000000" pitchFamily="2" charset="2"/>
              <a:buNone/>
            </a:pPr>
            <a:r>
              <a:rPr lang="en-GB" altLang="zh-CN" sz="1200" b="1" dirty="0">
                <a:cs typeface="+mn-ea"/>
                <a:sym typeface="+mn-lt"/>
              </a:rPr>
              <a:t>FC01</a:t>
            </a:r>
            <a:r>
              <a:rPr lang="en-US" altLang="zh-CN" sz="1200" b="1" dirty="0">
                <a:cs typeface="+mn-ea"/>
                <a:sym typeface="+mn-lt"/>
              </a:rPr>
              <a:t>::1</a:t>
            </a:r>
            <a:endParaRPr lang="zh-CN" altLang="en-US" sz="1200" b="1" dirty="0">
              <a:cs typeface="+mn-ea"/>
              <a:sym typeface="+mn-lt"/>
            </a:endParaRPr>
          </a:p>
        </p:txBody>
      </p:sp>
      <p:sp>
        <p:nvSpPr>
          <p:cNvPr id="45" name="TextBox 24"/>
          <p:cNvSpPr txBox="1"/>
          <p:nvPr/>
        </p:nvSpPr>
        <p:spPr bwMode="gray">
          <a:xfrm>
            <a:off x="2717648" y="2892626"/>
            <a:ext cx="708848" cy="276999"/>
          </a:xfrm>
          <a:prstGeom prst="rect">
            <a:avLst/>
          </a:prstGeom>
          <a:noFill/>
        </p:spPr>
        <p:txBody>
          <a:bodyPr wrap="none" rtlCol="0">
            <a:spAutoFit/>
          </a:bodyPr>
          <a:lstStyle/>
          <a:p>
            <a:pPr>
              <a:buClr>
                <a:srgbClr val="CC9900"/>
              </a:buClr>
              <a:buFont typeface="Wingdings" panose="05000000000000000000" pitchFamily="2" charset="2"/>
              <a:buNone/>
            </a:pPr>
            <a:r>
              <a:rPr lang="en-GB" altLang="zh-CN" sz="1200" b="1" dirty="0">
                <a:cs typeface="+mn-ea"/>
                <a:sym typeface="+mn-lt"/>
              </a:rPr>
              <a:t>FC02</a:t>
            </a:r>
            <a:r>
              <a:rPr lang="en-US" altLang="zh-CN" sz="1200" b="1" dirty="0">
                <a:cs typeface="+mn-ea"/>
                <a:sym typeface="+mn-lt"/>
              </a:rPr>
              <a:t>::2</a:t>
            </a:r>
            <a:endParaRPr lang="zh-CN" altLang="en-US" sz="1200" b="1" dirty="0">
              <a:cs typeface="+mn-ea"/>
              <a:sym typeface="+mn-lt"/>
            </a:endParaRPr>
          </a:p>
        </p:txBody>
      </p:sp>
      <p:sp>
        <p:nvSpPr>
          <p:cNvPr id="46" name="TextBox 24"/>
          <p:cNvSpPr txBox="1"/>
          <p:nvPr/>
        </p:nvSpPr>
        <p:spPr bwMode="gray">
          <a:xfrm>
            <a:off x="2731225" y="3958176"/>
            <a:ext cx="708848" cy="276999"/>
          </a:xfrm>
          <a:prstGeom prst="rect">
            <a:avLst/>
          </a:prstGeom>
          <a:noFill/>
        </p:spPr>
        <p:txBody>
          <a:bodyPr wrap="none" rtlCol="0">
            <a:spAutoFit/>
          </a:bodyPr>
          <a:lstStyle/>
          <a:p>
            <a:pPr>
              <a:buClr>
                <a:srgbClr val="CC9900"/>
              </a:buClr>
              <a:buFont typeface="Wingdings" panose="05000000000000000000" pitchFamily="2" charset="2"/>
              <a:buNone/>
            </a:pPr>
            <a:r>
              <a:rPr lang="en-GB" altLang="zh-CN" sz="1200" b="1" dirty="0">
                <a:cs typeface="+mn-ea"/>
                <a:sym typeface="+mn-lt"/>
              </a:rPr>
              <a:t>FC03</a:t>
            </a:r>
            <a:r>
              <a:rPr lang="en-US" altLang="zh-CN" sz="1200" b="1" dirty="0">
                <a:cs typeface="+mn-ea"/>
                <a:sym typeface="+mn-lt"/>
              </a:rPr>
              <a:t>::3</a:t>
            </a:r>
            <a:endParaRPr lang="zh-CN" altLang="en-US" sz="1200" b="1" dirty="0">
              <a:cs typeface="+mn-ea"/>
              <a:sym typeface="+mn-lt"/>
            </a:endParaRPr>
          </a:p>
        </p:txBody>
      </p:sp>
      <p:sp>
        <p:nvSpPr>
          <p:cNvPr id="47" name="TextBox 24"/>
          <p:cNvSpPr txBox="1"/>
          <p:nvPr/>
        </p:nvSpPr>
        <p:spPr bwMode="gray">
          <a:xfrm>
            <a:off x="3328742" y="3962639"/>
            <a:ext cx="708848" cy="276999"/>
          </a:xfrm>
          <a:prstGeom prst="rect">
            <a:avLst/>
          </a:prstGeom>
          <a:noFill/>
        </p:spPr>
        <p:txBody>
          <a:bodyPr wrap="none" rtlCol="0">
            <a:spAutoFit/>
          </a:bodyPr>
          <a:lstStyle/>
          <a:p>
            <a:pPr>
              <a:buClr>
                <a:srgbClr val="CC9900"/>
              </a:buClr>
              <a:buFont typeface="Wingdings" panose="05000000000000000000" pitchFamily="2" charset="2"/>
              <a:buNone/>
            </a:pPr>
            <a:r>
              <a:rPr lang="en-GB" altLang="zh-CN" sz="1200" b="1" dirty="0">
                <a:cs typeface="+mn-ea"/>
                <a:sym typeface="+mn-lt"/>
              </a:rPr>
              <a:t>FC04</a:t>
            </a:r>
            <a:r>
              <a:rPr lang="en-US" altLang="zh-CN" sz="1200" b="1" dirty="0">
                <a:cs typeface="+mn-ea"/>
                <a:sym typeface="+mn-lt"/>
              </a:rPr>
              <a:t>::4</a:t>
            </a:r>
            <a:endParaRPr lang="zh-CN" altLang="en-US" sz="1200" b="1" dirty="0">
              <a:cs typeface="+mn-ea"/>
              <a:sym typeface="+mn-lt"/>
            </a:endParaRPr>
          </a:p>
        </p:txBody>
      </p:sp>
      <p:sp>
        <p:nvSpPr>
          <p:cNvPr id="48" name="TextBox 24"/>
          <p:cNvSpPr txBox="1"/>
          <p:nvPr/>
        </p:nvSpPr>
        <p:spPr bwMode="gray">
          <a:xfrm>
            <a:off x="3307832" y="2887450"/>
            <a:ext cx="708848" cy="276999"/>
          </a:xfrm>
          <a:prstGeom prst="rect">
            <a:avLst/>
          </a:prstGeom>
          <a:noFill/>
        </p:spPr>
        <p:txBody>
          <a:bodyPr wrap="none" rtlCol="0">
            <a:spAutoFit/>
          </a:bodyPr>
          <a:lstStyle/>
          <a:p>
            <a:pPr>
              <a:buClr>
                <a:srgbClr val="CC9900"/>
              </a:buClr>
              <a:buFont typeface="Wingdings" panose="05000000000000000000" pitchFamily="2" charset="2"/>
              <a:buNone/>
            </a:pPr>
            <a:r>
              <a:rPr lang="en-GB" altLang="zh-CN" sz="1200" b="1" dirty="0">
                <a:cs typeface="+mn-ea"/>
                <a:sym typeface="+mn-lt"/>
              </a:rPr>
              <a:t>FC05</a:t>
            </a:r>
            <a:r>
              <a:rPr lang="en-US" altLang="zh-CN" sz="1200" b="1" dirty="0">
                <a:cs typeface="+mn-ea"/>
                <a:sym typeface="+mn-lt"/>
              </a:rPr>
              <a:t>::5</a:t>
            </a:r>
            <a:endParaRPr lang="zh-CN" altLang="en-US" sz="1200" b="1" dirty="0">
              <a:cs typeface="+mn-ea"/>
              <a:sym typeface="+mn-lt"/>
            </a:endParaRPr>
          </a:p>
        </p:txBody>
      </p:sp>
      <p:sp>
        <p:nvSpPr>
          <p:cNvPr id="49" name="TextBox 24"/>
          <p:cNvSpPr txBox="1"/>
          <p:nvPr/>
        </p:nvSpPr>
        <p:spPr bwMode="gray">
          <a:xfrm>
            <a:off x="3338871" y="1818824"/>
            <a:ext cx="708848" cy="276999"/>
          </a:xfrm>
          <a:prstGeom prst="rect">
            <a:avLst/>
          </a:prstGeom>
          <a:noFill/>
        </p:spPr>
        <p:txBody>
          <a:bodyPr wrap="none" rtlCol="0">
            <a:spAutoFit/>
          </a:bodyPr>
          <a:lstStyle/>
          <a:p>
            <a:pPr>
              <a:buClr>
                <a:srgbClr val="CC9900"/>
              </a:buClr>
              <a:buFont typeface="Wingdings" panose="05000000000000000000" pitchFamily="2" charset="2"/>
              <a:buNone/>
            </a:pPr>
            <a:r>
              <a:rPr lang="en-GB" altLang="zh-CN" sz="1200" b="1" dirty="0">
                <a:cs typeface="+mn-ea"/>
                <a:sym typeface="+mn-lt"/>
              </a:rPr>
              <a:t>FC06</a:t>
            </a:r>
            <a:r>
              <a:rPr lang="en-US" altLang="zh-CN" sz="1200" b="1" dirty="0">
                <a:cs typeface="+mn-ea"/>
                <a:sym typeface="+mn-lt"/>
              </a:rPr>
              <a:t>::6</a:t>
            </a:r>
            <a:endParaRPr lang="zh-CN" altLang="en-US" sz="1200" b="1" dirty="0">
              <a:cs typeface="+mn-ea"/>
              <a:sym typeface="+mn-lt"/>
            </a:endParaRPr>
          </a:p>
        </p:txBody>
      </p:sp>
      <p:pic>
        <p:nvPicPr>
          <p:cNvPr id="89"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2313547" y="1936263"/>
            <a:ext cx="468318" cy="383051"/>
          </a:xfrm>
          <a:prstGeom prst="rect">
            <a:avLst/>
          </a:prstGeom>
        </p:spPr>
      </p:pic>
      <p:pic>
        <p:nvPicPr>
          <p:cNvPr id="91"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2313547" y="2653469"/>
            <a:ext cx="468318" cy="383051"/>
          </a:xfrm>
          <a:prstGeom prst="rect">
            <a:avLst/>
          </a:prstGeom>
        </p:spPr>
      </p:pic>
      <p:pic>
        <p:nvPicPr>
          <p:cNvPr id="97"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2313547" y="4158901"/>
            <a:ext cx="468318" cy="383051"/>
          </a:xfrm>
          <a:prstGeom prst="rect">
            <a:avLst/>
          </a:prstGeom>
        </p:spPr>
      </p:pic>
      <p:pic>
        <p:nvPicPr>
          <p:cNvPr id="99"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3971088" y="1942548"/>
            <a:ext cx="468318" cy="383051"/>
          </a:xfrm>
          <a:prstGeom prst="rect">
            <a:avLst/>
          </a:prstGeom>
        </p:spPr>
      </p:pic>
      <p:pic>
        <p:nvPicPr>
          <p:cNvPr id="101"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3966039" y="2647199"/>
            <a:ext cx="468318" cy="383051"/>
          </a:xfrm>
          <a:prstGeom prst="rect">
            <a:avLst/>
          </a:prstGeom>
        </p:spPr>
      </p:pic>
      <p:pic>
        <p:nvPicPr>
          <p:cNvPr id="105"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3971088" y="4165170"/>
            <a:ext cx="468318" cy="383051"/>
          </a:xfrm>
          <a:prstGeom prst="rect">
            <a:avLst/>
          </a:prstGeom>
        </p:spPr>
      </p:pic>
      <p:sp>
        <p:nvSpPr>
          <p:cNvPr id="108" name="TextBox 16"/>
          <p:cNvSpPr txBox="1"/>
          <p:nvPr/>
        </p:nvSpPr>
        <p:spPr bwMode="gray">
          <a:xfrm>
            <a:off x="2510107" y="3922376"/>
            <a:ext cx="364984"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P2</a:t>
            </a:r>
            <a:endParaRPr lang="zh-CN" altLang="en-US" sz="1200" dirty="0">
              <a:solidFill>
                <a:srgbClr val="000000"/>
              </a:solidFill>
              <a:cs typeface="+mn-ea"/>
              <a:sym typeface="+mn-lt"/>
            </a:endParaRPr>
          </a:p>
        </p:txBody>
      </p:sp>
      <p:sp>
        <p:nvSpPr>
          <p:cNvPr id="109" name="TextBox 16"/>
          <p:cNvSpPr txBox="1"/>
          <p:nvPr/>
        </p:nvSpPr>
        <p:spPr bwMode="gray">
          <a:xfrm>
            <a:off x="3881157" y="3922376"/>
            <a:ext cx="364984"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P3</a:t>
            </a:r>
            <a:endParaRPr lang="zh-CN" altLang="en-US" sz="1200" dirty="0">
              <a:solidFill>
                <a:srgbClr val="000000"/>
              </a:solidFill>
              <a:cs typeface="+mn-ea"/>
              <a:sym typeface="+mn-lt"/>
            </a:endParaRPr>
          </a:p>
        </p:txBody>
      </p:sp>
      <p:sp>
        <p:nvSpPr>
          <p:cNvPr id="110" name="TextBox 16"/>
          <p:cNvSpPr txBox="1"/>
          <p:nvPr/>
        </p:nvSpPr>
        <p:spPr bwMode="gray">
          <a:xfrm>
            <a:off x="3896778" y="3000055"/>
            <a:ext cx="364984"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P4</a:t>
            </a:r>
            <a:endParaRPr lang="zh-CN" altLang="en-US" sz="1200" dirty="0">
              <a:solidFill>
                <a:srgbClr val="000000"/>
              </a:solidFill>
              <a:cs typeface="+mn-ea"/>
              <a:sym typeface="+mn-lt"/>
            </a:endParaRPr>
          </a:p>
        </p:txBody>
      </p:sp>
      <p:sp>
        <p:nvSpPr>
          <p:cNvPr id="112" name="Plus Sign 75"/>
          <p:cNvSpPr/>
          <p:nvPr/>
        </p:nvSpPr>
        <p:spPr bwMode="gray">
          <a:xfrm rot="2700000">
            <a:off x="3219990" y="2707537"/>
            <a:ext cx="298938" cy="298938"/>
          </a:xfrm>
          <a:prstGeom prst="mathPlus">
            <a:avLst/>
          </a:prstGeom>
          <a:solidFill>
            <a:srgbClr val="E28189"/>
          </a:solidFill>
          <a:ln>
            <a:solidFill>
              <a:srgbClr val="E2818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Oval 41"/>
          <p:cNvSpPr>
            <a:spLocks noChangeAspect="1"/>
          </p:cNvSpPr>
          <p:nvPr/>
        </p:nvSpPr>
        <p:spPr bwMode="gray">
          <a:xfrm>
            <a:off x="2692599" y="4275358"/>
            <a:ext cx="159261" cy="159261"/>
          </a:xfrm>
          <a:prstGeom prst="ellipse">
            <a:avLst/>
          </a:prstGeom>
          <a:solidFill>
            <a:srgbClr val="FFC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latin typeface="Huawei Sans" panose="020C0503030203020204" pitchFamily="34" charset="0"/>
              <a:ea typeface="方正兰亭黑简体" panose="02000000000000000000" pitchFamily="2" charset="-122"/>
            </a:endParaRPr>
          </a:p>
        </p:txBody>
      </p:sp>
      <p:graphicFrame>
        <p:nvGraphicFramePr>
          <p:cNvPr id="56" name="Table 55"/>
          <p:cNvGraphicFramePr>
            <a:graphicFrameLocks noGrp="1"/>
          </p:cNvGraphicFramePr>
          <p:nvPr/>
        </p:nvGraphicFramePr>
        <p:xfrm>
          <a:off x="610669" y="3712103"/>
          <a:ext cx="1420143" cy="1828800"/>
        </p:xfrm>
        <a:graphic>
          <a:graphicData uri="http://schemas.openxmlformats.org/drawingml/2006/table">
            <a:tbl>
              <a:tblPr firstRow="1" bandRow="1">
                <a:tableStyleId>{72833802-FEF1-4C79-8D5D-14CF1EAF98D9}</a:tableStyleId>
              </a:tblPr>
              <a:tblGrid>
                <a:gridCol w="1420143"/>
              </a:tblGrid>
              <a:tr h="370840">
                <a:tc>
                  <a:txBody>
                    <a:bodyPr/>
                    <a:lstStyle/>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DIPv6</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FC03::C4</a:t>
                      </a:r>
                      <a:endPar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SIPv6</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FC01::1</a:t>
                      </a:r>
                      <a:endPar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6C4D2"/>
                    </a:solidFill>
                  </a:tcPr>
                </a:tc>
              </a:tr>
              <a:tr h="386362">
                <a:tc>
                  <a:txBody>
                    <a:bodyPr/>
                    <a:lstStyle/>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SRH</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SL=</a:t>
                      </a: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0</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FC03::C4</a:t>
                      </a:r>
                      <a:endParaRPr lang="zh-CN" altLang="en-US"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EEEC1"/>
                    </a:solidFill>
                  </a:tcPr>
                </a:tc>
              </a:tr>
              <a:tr h="386362">
                <a:tc>
                  <a:txBody>
                    <a:bodyPr/>
                    <a:lstStyle/>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SRH</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SL=</a:t>
                      </a: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1</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0" algn="ctr" defTabSz="913765" rtl="0" eaLnBrk="1" latinLnBrk="0" hangingPunct="1"/>
                      <a:r>
                        <a:rPr lang="en-US" altLang="zh-CN"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FC06::6</a:t>
                      </a:r>
                      <a:endParaRPr lang="en-US" altLang="zh-CN"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p>
                      <a:pPr marL="0" algn="ctr" defTabSz="913765" rtl="0" eaLnBrk="1" latinLnBrk="0" hangingPunct="1"/>
                      <a:r>
                        <a:rPr lang="en-US" altLang="zh-CN" sz="1200" b="1" kern="1200" dirty="0">
                          <a:solidFill>
                            <a:srgbClr val="C7000B"/>
                          </a:solidFill>
                          <a:latin typeface="Huawei Sans" panose="020C0503030203020204" pitchFamily="34" charset="0"/>
                          <a:ea typeface="方正兰亭黑简体" panose="02000000000000000000" pitchFamily="2" charset="-122"/>
                          <a:cs typeface="+mn-cs"/>
                          <a:sym typeface="Huawei Sans" panose="020C0503030203020204" pitchFamily="34" charset="0"/>
                        </a:rPr>
                        <a:t>FC05::5</a:t>
                      </a:r>
                      <a:endParaRPr lang="en-US" altLang="zh-CN" sz="1200" b="1" kern="1200" dirty="0">
                        <a:solidFill>
                          <a:srgbClr val="C7000B"/>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EEEC1"/>
                    </a:solidFill>
                  </a:tcPr>
                </a:tc>
              </a:tr>
              <a:tr h="0">
                <a:tc>
                  <a:txBody>
                    <a:bodyPr/>
                    <a:lstStyle/>
                    <a:p>
                      <a:pPr algn="ctr"/>
                      <a:r>
                        <a:rPr lang="en-US" altLang="zh-CN" sz="1200" dirty="0">
                          <a:solidFill>
                            <a:schemeClr val="bg1"/>
                          </a:solidFill>
                        </a:rPr>
                        <a:t>Payload</a:t>
                      </a:r>
                      <a:endParaRPr lang="zh-CN" altLang="en-US" sz="1200"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r>
            </a:tbl>
          </a:graphicData>
        </a:graphic>
      </p:graphicFrame>
      <p:graphicFrame>
        <p:nvGraphicFramePr>
          <p:cNvPr id="64" name="Table 63"/>
          <p:cNvGraphicFramePr>
            <a:graphicFrameLocks noGrp="1"/>
          </p:cNvGraphicFramePr>
          <p:nvPr/>
        </p:nvGraphicFramePr>
        <p:xfrm>
          <a:off x="633550" y="1880515"/>
          <a:ext cx="1420143" cy="1371600"/>
        </p:xfrm>
        <a:graphic>
          <a:graphicData uri="http://schemas.openxmlformats.org/drawingml/2006/table">
            <a:tbl>
              <a:tblPr firstRow="1" bandRow="1">
                <a:tableStyleId>{72833802-FEF1-4C79-8D5D-14CF1EAF98D9}</a:tableStyleId>
              </a:tblPr>
              <a:tblGrid>
                <a:gridCol w="1420143"/>
              </a:tblGrid>
              <a:tr h="370840">
                <a:tc>
                  <a:txBody>
                    <a:bodyPr/>
                    <a:lstStyle/>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DIPv6</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FC05::5</a:t>
                      </a:r>
                      <a:endPar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SIPv6</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FC01::1</a:t>
                      </a:r>
                      <a:endPar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6C4D2"/>
                    </a:solidFill>
                  </a:tcPr>
                </a:tc>
              </a:tr>
              <a:tr h="386362">
                <a:tc>
                  <a:txBody>
                    <a:bodyPr/>
                    <a:lstStyle/>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SRH</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SL=</a:t>
                      </a: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1</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0" algn="ctr" defTabSz="913765" rtl="0" eaLnBrk="1" latinLnBrk="0" hangingPunct="1"/>
                      <a:r>
                        <a:rPr lang="en-US" altLang="zh-CN"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FC06::6</a:t>
                      </a:r>
                      <a:endParaRPr lang="en-US" altLang="zh-CN"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p>
                      <a:pPr marL="0" algn="ctr" defTabSz="913765" rtl="0" eaLnBrk="1" latinLnBrk="0" hangingPunct="1"/>
                      <a:r>
                        <a:rPr lang="en-US" altLang="zh-CN" sz="1200" b="1" kern="1200" dirty="0">
                          <a:solidFill>
                            <a:srgbClr val="C7000B"/>
                          </a:solidFill>
                          <a:latin typeface="Huawei Sans" panose="020C0503030203020204" pitchFamily="34" charset="0"/>
                          <a:ea typeface="方正兰亭黑简体" panose="02000000000000000000" pitchFamily="2" charset="-122"/>
                          <a:cs typeface="+mn-cs"/>
                          <a:sym typeface="Huawei Sans" panose="020C0503030203020204" pitchFamily="34" charset="0"/>
                        </a:rPr>
                        <a:t>FC05::5</a:t>
                      </a:r>
                      <a:endParaRPr lang="en-US" altLang="zh-CN" sz="1200" b="1" kern="1200" dirty="0">
                        <a:solidFill>
                          <a:srgbClr val="C7000B"/>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EEEC1"/>
                    </a:solidFill>
                  </a:tcPr>
                </a:tc>
              </a:tr>
              <a:tr h="0">
                <a:tc>
                  <a:txBody>
                    <a:bodyPr/>
                    <a:lstStyle/>
                    <a:p>
                      <a:pPr algn="ctr"/>
                      <a:r>
                        <a:rPr lang="en-US" altLang="zh-CN" sz="1200" dirty="0">
                          <a:solidFill>
                            <a:schemeClr val="bg1"/>
                          </a:solidFill>
                        </a:rPr>
                        <a:t>Payload</a:t>
                      </a:r>
                      <a:endParaRPr lang="zh-CN" altLang="en-US" sz="1200"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r>
            </a:tbl>
          </a:graphicData>
        </a:graphic>
      </p:graphicFrame>
      <p:graphicFrame>
        <p:nvGraphicFramePr>
          <p:cNvPr id="65" name="Table 64"/>
          <p:cNvGraphicFramePr>
            <a:graphicFrameLocks noGrp="1"/>
          </p:cNvGraphicFramePr>
          <p:nvPr/>
        </p:nvGraphicFramePr>
        <p:xfrm>
          <a:off x="2658891" y="4802165"/>
          <a:ext cx="1420143" cy="1371600"/>
        </p:xfrm>
        <a:graphic>
          <a:graphicData uri="http://schemas.openxmlformats.org/drawingml/2006/table">
            <a:tbl>
              <a:tblPr firstRow="1" bandRow="1">
                <a:tableStyleId>{72833802-FEF1-4C79-8D5D-14CF1EAF98D9}</a:tableStyleId>
              </a:tblPr>
              <a:tblGrid>
                <a:gridCol w="1420143"/>
              </a:tblGrid>
              <a:tr h="203073">
                <a:tc>
                  <a:txBody>
                    <a:bodyPr/>
                    <a:lstStyle/>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DIPv6</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FC05::5</a:t>
                      </a:r>
                      <a:endPar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SIPv6</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FC01::1</a:t>
                      </a:r>
                      <a:endPar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6C4D2"/>
                    </a:solidFill>
                  </a:tcPr>
                </a:tc>
              </a:tr>
              <a:tr h="284302">
                <a:tc>
                  <a:txBody>
                    <a:bodyPr/>
                    <a:lstStyle/>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SRH</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SL=</a:t>
                      </a: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1</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0" algn="ctr" defTabSz="913765" rtl="0" eaLnBrk="1" latinLnBrk="0" hangingPunct="1"/>
                      <a:r>
                        <a:rPr lang="en-US" altLang="zh-CN"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FC06::6</a:t>
                      </a:r>
                      <a:endParaRPr lang="en-US" altLang="zh-CN"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p>
                      <a:pPr marL="0" algn="ctr" defTabSz="913765" rtl="0" eaLnBrk="1" latinLnBrk="0" hangingPunct="1"/>
                      <a:r>
                        <a:rPr lang="en-US" altLang="zh-CN" sz="1200" b="1" kern="1200" dirty="0">
                          <a:solidFill>
                            <a:srgbClr val="C7000B"/>
                          </a:solidFill>
                          <a:latin typeface="Huawei Sans" panose="020C0503030203020204" pitchFamily="34" charset="0"/>
                          <a:ea typeface="方正兰亭黑简体" panose="02000000000000000000" pitchFamily="2" charset="-122"/>
                          <a:cs typeface="+mn-cs"/>
                          <a:sym typeface="Huawei Sans" panose="020C0503030203020204" pitchFamily="34" charset="0"/>
                        </a:rPr>
                        <a:t>FC05::5</a:t>
                      </a:r>
                      <a:endParaRPr lang="en-US" altLang="zh-CN" sz="1200" b="1" kern="1200" dirty="0">
                        <a:solidFill>
                          <a:srgbClr val="C7000B"/>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EEEC1"/>
                    </a:solidFill>
                  </a:tcPr>
                </a:tc>
              </a:tr>
              <a:tr h="121844">
                <a:tc>
                  <a:txBody>
                    <a:bodyPr/>
                    <a:lstStyle/>
                    <a:p>
                      <a:pPr algn="ctr"/>
                      <a:r>
                        <a:rPr lang="en-US" altLang="zh-CN" sz="1200" dirty="0">
                          <a:solidFill>
                            <a:schemeClr val="bg1"/>
                          </a:solidFill>
                        </a:rPr>
                        <a:t>Payload</a:t>
                      </a:r>
                      <a:endParaRPr lang="zh-CN" altLang="en-US" sz="1200"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r>
            </a:tbl>
          </a:graphicData>
        </a:graphic>
      </p:graphicFrame>
      <p:graphicFrame>
        <p:nvGraphicFramePr>
          <p:cNvPr id="66" name="Table 65"/>
          <p:cNvGraphicFramePr>
            <a:graphicFrameLocks noGrp="1"/>
          </p:cNvGraphicFramePr>
          <p:nvPr/>
        </p:nvGraphicFramePr>
        <p:xfrm>
          <a:off x="4595112" y="3487652"/>
          <a:ext cx="1420143" cy="1371600"/>
        </p:xfrm>
        <a:graphic>
          <a:graphicData uri="http://schemas.openxmlformats.org/drawingml/2006/table">
            <a:tbl>
              <a:tblPr firstRow="1" bandRow="1">
                <a:tableStyleId>{72833802-FEF1-4C79-8D5D-14CF1EAF98D9}</a:tableStyleId>
              </a:tblPr>
              <a:tblGrid>
                <a:gridCol w="1420143"/>
              </a:tblGrid>
              <a:tr h="203073">
                <a:tc>
                  <a:txBody>
                    <a:bodyPr/>
                    <a:lstStyle/>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DIPv6</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FC05::5</a:t>
                      </a:r>
                      <a:endPar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SIPv6</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FC01::1</a:t>
                      </a:r>
                      <a:endPar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6C4D2"/>
                    </a:solidFill>
                  </a:tcPr>
                </a:tc>
              </a:tr>
              <a:tr h="284302">
                <a:tc>
                  <a:txBody>
                    <a:bodyPr/>
                    <a:lstStyle/>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SRH</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SL=</a:t>
                      </a: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1</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0" algn="ctr" defTabSz="913765" rtl="0" eaLnBrk="1" latinLnBrk="0" hangingPunct="1"/>
                      <a:r>
                        <a:rPr lang="en-US" altLang="zh-CN"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FC06::6</a:t>
                      </a:r>
                      <a:endParaRPr lang="en-US" altLang="zh-CN"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p>
                      <a:pPr marL="0" algn="ctr" defTabSz="913765" rtl="0" eaLnBrk="1" latinLnBrk="0" hangingPunct="1"/>
                      <a:r>
                        <a:rPr lang="en-US" altLang="zh-CN" sz="1200" b="1" kern="1200" dirty="0">
                          <a:solidFill>
                            <a:srgbClr val="C7000B"/>
                          </a:solidFill>
                          <a:latin typeface="Huawei Sans" panose="020C0503030203020204" pitchFamily="34" charset="0"/>
                          <a:ea typeface="方正兰亭黑简体" panose="02000000000000000000" pitchFamily="2" charset="-122"/>
                          <a:cs typeface="+mn-cs"/>
                          <a:sym typeface="Huawei Sans" panose="020C0503030203020204" pitchFamily="34" charset="0"/>
                        </a:rPr>
                        <a:t>FC05::5</a:t>
                      </a:r>
                      <a:endParaRPr lang="en-US" altLang="zh-CN" sz="1200" b="1" kern="1200" dirty="0">
                        <a:solidFill>
                          <a:srgbClr val="C7000B"/>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EEEC1"/>
                    </a:solidFill>
                  </a:tcPr>
                </a:tc>
              </a:tr>
              <a:tr h="121844">
                <a:tc>
                  <a:txBody>
                    <a:bodyPr/>
                    <a:lstStyle/>
                    <a:p>
                      <a:pPr algn="ctr"/>
                      <a:r>
                        <a:rPr lang="en-US" altLang="zh-CN" sz="1200" dirty="0">
                          <a:solidFill>
                            <a:schemeClr val="bg1"/>
                          </a:solidFill>
                        </a:rPr>
                        <a:t>Payload</a:t>
                      </a:r>
                      <a:endParaRPr lang="zh-CN" altLang="en-US" sz="1200"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r>
            </a:tbl>
          </a:graphicData>
        </a:graphic>
      </p:graphicFrame>
      <p:graphicFrame>
        <p:nvGraphicFramePr>
          <p:cNvPr id="67" name="Table 66"/>
          <p:cNvGraphicFramePr>
            <a:graphicFrameLocks noGrp="1"/>
          </p:cNvGraphicFramePr>
          <p:nvPr/>
        </p:nvGraphicFramePr>
        <p:xfrm>
          <a:off x="4598138" y="1847622"/>
          <a:ext cx="1420143" cy="1371600"/>
        </p:xfrm>
        <a:graphic>
          <a:graphicData uri="http://schemas.openxmlformats.org/drawingml/2006/table">
            <a:tbl>
              <a:tblPr firstRow="1" bandRow="1">
                <a:tableStyleId>{72833802-FEF1-4C79-8D5D-14CF1EAF98D9}</a:tableStyleId>
              </a:tblPr>
              <a:tblGrid>
                <a:gridCol w="1420143"/>
              </a:tblGrid>
              <a:tr h="203073">
                <a:tc>
                  <a:txBody>
                    <a:bodyPr/>
                    <a:lstStyle/>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DIPv6</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FC06::6</a:t>
                      </a:r>
                      <a:endPar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SIPv6</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FC01::1</a:t>
                      </a:r>
                      <a:endPar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6C4D2"/>
                    </a:solidFill>
                  </a:tcPr>
                </a:tc>
              </a:tr>
              <a:tr h="284302">
                <a:tc>
                  <a:txBody>
                    <a:bodyPr/>
                    <a:lstStyle/>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SRH</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SL=</a:t>
                      </a: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0</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0" algn="ctr" defTabSz="913765" rtl="0" eaLnBrk="1" latinLnBrk="0" hangingPunct="1"/>
                      <a:r>
                        <a:rPr lang="en-US" altLang="zh-CN" sz="1200" b="1" kern="1200" dirty="0">
                          <a:solidFill>
                            <a:srgbClr val="C7000B"/>
                          </a:solidFill>
                          <a:latin typeface="Huawei Sans" panose="020C0503030203020204" pitchFamily="34" charset="0"/>
                          <a:ea typeface="方正兰亭黑简体" panose="02000000000000000000" pitchFamily="2" charset="-122"/>
                          <a:cs typeface="+mn-cs"/>
                          <a:sym typeface="Huawei Sans" panose="020C0503030203020204" pitchFamily="34" charset="0"/>
                        </a:rPr>
                        <a:t>FC06::6</a:t>
                      </a:r>
                      <a:endParaRPr lang="en-US" altLang="zh-CN" sz="1200" b="1" kern="1200" dirty="0">
                        <a:solidFill>
                          <a:srgbClr val="C7000B"/>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p>
                      <a:pPr marL="0" algn="ctr" defTabSz="913765" rtl="0" eaLnBrk="1" latinLnBrk="0" hangingPunct="1"/>
                      <a:r>
                        <a:rPr lang="en-US" altLang="zh-CN"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FC05::5</a:t>
                      </a:r>
                      <a:endParaRPr lang="en-US" altLang="zh-CN"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EEEC1"/>
                    </a:solidFill>
                  </a:tcPr>
                </a:tc>
              </a:tr>
              <a:tr h="121844">
                <a:tc>
                  <a:txBody>
                    <a:bodyPr/>
                    <a:lstStyle/>
                    <a:p>
                      <a:pPr algn="ctr"/>
                      <a:r>
                        <a:rPr lang="en-US" altLang="zh-CN" sz="1200" dirty="0">
                          <a:solidFill>
                            <a:schemeClr val="bg1"/>
                          </a:solidFill>
                        </a:rPr>
                        <a:t>Payload</a:t>
                      </a:r>
                      <a:endParaRPr lang="zh-CN" altLang="en-US" sz="1200"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r>
            </a:tbl>
          </a:graphicData>
        </a:graphic>
      </p:graphicFrame>
      <p:sp>
        <p:nvSpPr>
          <p:cNvPr id="50" name="五边形 2"/>
          <p:cNvSpPr/>
          <p:nvPr/>
        </p:nvSpPr>
        <p:spPr bwMode="gray">
          <a:xfrm>
            <a:off x="9278937" y="110463"/>
            <a:ext cx="1166602"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本地保护技术</a:t>
            </a:r>
            <a:endPar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1" name="燕尾形 3"/>
          <p:cNvSpPr/>
          <p:nvPr/>
        </p:nvSpPr>
        <p:spPr bwMode="gray">
          <a:xfrm>
            <a:off x="10368978" y="110463"/>
            <a:ext cx="1380109"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端到端保护技术</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Tree>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gray"/>
        <p:txBody>
          <a:bodyPr/>
          <a:lstStyle/>
          <a:p>
            <a:r>
              <a:rPr lang="en-US" altLang="zh-CN" dirty="0"/>
              <a:t>TI-LFA FRR</a:t>
            </a:r>
            <a:r>
              <a:rPr lang="zh-CN" altLang="en-US" dirty="0"/>
              <a:t>的局限</a:t>
            </a:r>
            <a:endParaRPr lang="zh-CN" altLang="en-US" dirty="0"/>
          </a:p>
        </p:txBody>
      </p:sp>
      <p:sp>
        <p:nvSpPr>
          <p:cNvPr id="3" name="Text Placeholder 2"/>
          <p:cNvSpPr>
            <a:spLocks noGrp="1"/>
          </p:cNvSpPr>
          <p:nvPr>
            <p:ph type="body" sz="quarter" idx="10"/>
          </p:nvPr>
        </p:nvSpPr>
        <p:spPr bwMode="gray"/>
        <p:txBody>
          <a:bodyPr/>
          <a:lstStyle/>
          <a:p>
            <a:r>
              <a:rPr lang="zh-CN" altLang="en-US" sz="1600" dirty="0"/>
              <a:t>在</a:t>
            </a:r>
            <a:r>
              <a:rPr lang="en-US" altLang="zh-CN" sz="1600" dirty="0"/>
              <a:t>SRv6 Policy</a:t>
            </a:r>
            <a:r>
              <a:rPr lang="zh-CN" altLang="en-US" sz="1600" dirty="0"/>
              <a:t>中，经常要约束数据报文在网络中的转发路径，需要指定报文沿途经过的节点或链路。但如果某些必须经过的节点或链路出现故障后，</a:t>
            </a:r>
            <a:r>
              <a:rPr lang="en-US" altLang="zh-CN" sz="1600" dirty="0"/>
              <a:t>TI-LFA FRR</a:t>
            </a:r>
            <a:r>
              <a:rPr lang="zh-CN" altLang="en-US" sz="1600" dirty="0"/>
              <a:t>就无法达到保护的作用。</a:t>
            </a:r>
            <a:endParaRPr lang="zh-CN" altLang="en-US" sz="1600" dirty="0"/>
          </a:p>
        </p:txBody>
      </p:sp>
      <p:pic>
        <p:nvPicPr>
          <p:cNvPr id="4"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2892100" y="3282469"/>
            <a:ext cx="468318" cy="383051"/>
          </a:xfrm>
          <a:prstGeom prst="rect">
            <a:avLst/>
          </a:prstGeom>
        </p:spPr>
      </p:pic>
      <p:pic>
        <p:nvPicPr>
          <p:cNvPr id="5"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4894020" y="3282469"/>
            <a:ext cx="468318" cy="383051"/>
          </a:xfrm>
          <a:prstGeom prst="rect">
            <a:avLst/>
          </a:prstGeom>
        </p:spPr>
      </p:pic>
      <p:pic>
        <p:nvPicPr>
          <p:cNvPr id="6"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6895940" y="3282468"/>
            <a:ext cx="468318" cy="383051"/>
          </a:xfrm>
          <a:prstGeom prst="rect">
            <a:avLst/>
          </a:prstGeom>
        </p:spPr>
      </p:pic>
      <p:pic>
        <p:nvPicPr>
          <p:cNvPr id="7"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4894020" y="5020706"/>
            <a:ext cx="468318" cy="383051"/>
          </a:xfrm>
          <a:prstGeom prst="rect">
            <a:avLst/>
          </a:prstGeom>
        </p:spPr>
      </p:pic>
      <p:pic>
        <p:nvPicPr>
          <p:cNvPr id="8"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6895940" y="5020705"/>
            <a:ext cx="468318" cy="383051"/>
          </a:xfrm>
          <a:prstGeom prst="rect">
            <a:avLst/>
          </a:prstGeom>
        </p:spPr>
      </p:pic>
      <p:pic>
        <p:nvPicPr>
          <p:cNvPr id="9"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8897860" y="5020705"/>
            <a:ext cx="468318" cy="383051"/>
          </a:xfrm>
          <a:prstGeom prst="rect">
            <a:avLst/>
          </a:prstGeom>
        </p:spPr>
      </p:pic>
      <p:cxnSp>
        <p:nvCxnSpPr>
          <p:cNvPr id="10" name="直接连接符 19"/>
          <p:cNvCxnSpPr>
            <a:stCxn id="5" idx="1"/>
            <a:endCxn id="4" idx="3"/>
          </p:cNvCxnSpPr>
          <p:nvPr/>
        </p:nvCxnSpPr>
        <p:spPr bwMode="gray">
          <a:xfrm flipH="1">
            <a:off x="3360418" y="3473995"/>
            <a:ext cx="1533602" cy="0"/>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cxnSp>
        <p:nvCxnSpPr>
          <p:cNvPr id="13" name="直接连接符 19"/>
          <p:cNvCxnSpPr>
            <a:stCxn id="6" idx="1"/>
            <a:endCxn id="5" idx="3"/>
          </p:cNvCxnSpPr>
          <p:nvPr/>
        </p:nvCxnSpPr>
        <p:spPr bwMode="gray">
          <a:xfrm flipH="1">
            <a:off x="5362338" y="3473994"/>
            <a:ext cx="1533602" cy="1"/>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cxnSp>
        <p:nvCxnSpPr>
          <p:cNvPr id="16" name="直接连接符 19"/>
          <p:cNvCxnSpPr>
            <a:stCxn id="7" idx="0"/>
            <a:endCxn id="5" idx="2"/>
          </p:cNvCxnSpPr>
          <p:nvPr/>
        </p:nvCxnSpPr>
        <p:spPr bwMode="gray">
          <a:xfrm flipV="1">
            <a:off x="5128179" y="3665520"/>
            <a:ext cx="0" cy="1355186"/>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cxnSp>
        <p:nvCxnSpPr>
          <p:cNvPr id="19" name="直接连接符 19"/>
          <p:cNvCxnSpPr>
            <a:stCxn id="8" idx="0"/>
            <a:endCxn id="6" idx="2"/>
          </p:cNvCxnSpPr>
          <p:nvPr/>
        </p:nvCxnSpPr>
        <p:spPr bwMode="gray">
          <a:xfrm flipV="1">
            <a:off x="7130099" y="3665519"/>
            <a:ext cx="0" cy="1355186"/>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cxnSp>
        <p:nvCxnSpPr>
          <p:cNvPr id="22" name="直接连接符 19"/>
          <p:cNvCxnSpPr>
            <a:stCxn id="8" idx="1"/>
            <a:endCxn id="7" idx="3"/>
          </p:cNvCxnSpPr>
          <p:nvPr/>
        </p:nvCxnSpPr>
        <p:spPr bwMode="gray">
          <a:xfrm flipH="1">
            <a:off x="5362338" y="5212231"/>
            <a:ext cx="1533602" cy="1"/>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cxnSp>
        <p:nvCxnSpPr>
          <p:cNvPr id="25" name="直接连接符 19"/>
          <p:cNvCxnSpPr>
            <a:stCxn id="9" idx="1"/>
            <a:endCxn id="8" idx="3"/>
          </p:cNvCxnSpPr>
          <p:nvPr/>
        </p:nvCxnSpPr>
        <p:spPr bwMode="gray">
          <a:xfrm flipH="1">
            <a:off x="7364258" y="5212231"/>
            <a:ext cx="1533602" cy="0"/>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sp>
        <p:nvSpPr>
          <p:cNvPr id="28" name="TextBox 16"/>
          <p:cNvSpPr txBox="1"/>
          <p:nvPr/>
        </p:nvSpPr>
        <p:spPr bwMode="gray">
          <a:xfrm>
            <a:off x="2873877" y="3029669"/>
            <a:ext cx="477846"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PE1</a:t>
            </a:r>
            <a:endParaRPr lang="zh-CN" altLang="en-US" sz="1200" dirty="0">
              <a:solidFill>
                <a:srgbClr val="000000"/>
              </a:solidFill>
              <a:cs typeface="+mn-ea"/>
              <a:sym typeface="+mn-lt"/>
            </a:endParaRPr>
          </a:p>
        </p:txBody>
      </p:sp>
      <p:sp>
        <p:nvSpPr>
          <p:cNvPr id="29" name="TextBox 16"/>
          <p:cNvSpPr txBox="1"/>
          <p:nvPr/>
        </p:nvSpPr>
        <p:spPr bwMode="gray">
          <a:xfrm>
            <a:off x="4884492" y="3043569"/>
            <a:ext cx="477846"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P1</a:t>
            </a:r>
            <a:endParaRPr lang="zh-CN" altLang="en-US" sz="1200" dirty="0">
              <a:solidFill>
                <a:srgbClr val="000000"/>
              </a:solidFill>
              <a:cs typeface="+mn-ea"/>
              <a:sym typeface="+mn-lt"/>
            </a:endParaRPr>
          </a:p>
        </p:txBody>
      </p:sp>
      <p:sp>
        <p:nvSpPr>
          <p:cNvPr id="30" name="TextBox 16"/>
          <p:cNvSpPr txBox="1"/>
          <p:nvPr/>
        </p:nvSpPr>
        <p:spPr bwMode="gray">
          <a:xfrm>
            <a:off x="6898777" y="3029668"/>
            <a:ext cx="477846"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P2</a:t>
            </a:r>
            <a:endParaRPr lang="zh-CN" altLang="en-US" sz="1200" dirty="0">
              <a:solidFill>
                <a:srgbClr val="000000"/>
              </a:solidFill>
              <a:cs typeface="+mn-ea"/>
              <a:sym typeface="+mn-lt"/>
            </a:endParaRPr>
          </a:p>
        </p:txBody>
      </p:sp>
      <p:sp>
        <p:nvSpPr>
          <p:cNvPr id="31" name="TextBox 16"/>
          <p:cNvSpPr txBox="1"/>
          <p:nvPr/>
        </p:nvSpPr>
        <p:spPr bwMode="gray">
          <a:xfrm>
            <a:off x="4884492" y="5379557"/>
            <a:ext cx="477846"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P3</a:t>
            </a:r>
            <a:endParaRPr lang="zh-CN" altLang="en-US" sz="1200" dirty="0">
              <a:solidFill>
                <a:srgbClr val="000000"/>
              </a:solidFill>
              <a:cs typeface="+mn-ea"/>
              <a:sym typeface="+mn-lt"/>
            </a:endParaRPr>
          </a:p>
        </p:txBody>
      </p:sp>
      <p:sp>
        <p:nvSpPr>
          <p:cNvPr id="32" name="TextBox 16"/>
          <p:cNvSpPr txBox="1"/>
          <p:nvPr/>
        </p:nvSpPr>
        <p:spPr bwMode="gray">
          <a:xfrm>
            <a:off x="6902596" y="5379557"/>
            <a:ext cx="477846"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P4</a:t>
            </a:r>
            <a:endParaRPr lang="zh-CN" altLang="en-US" sz="1200" dirty="0">
              <a:solidFill>
                <a:srgbClr val="000000"/>
              </a:solidFill>
              <a:cs typeface="+mn-ea"/>
              <a:sym typeface="+mn-lt"/>
            </a:endParaRPr>
          </a:p>
        </p:txBody>
      </p:sp>
      <p:sp>
        <p:nvSpPr>
          <p:cNvPr id="33" name="TextBox 16"/>
          <p:cNvSpPr txBox="1"/>
          <p:nvPr/>
        </p:nvSpPr>
        <p:spPr bwMode="gray">
          <a:xfrm>
            <a:off x="8920700" y="5379557"/>
            <a:ext cx="477846"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PE2</a:t>
            </a:r>
            <a:endParaRPr lang="zh-CN" altLang="en-US" sz="1200" dirty="0">
              <a:solidFill>
                <a:srgbClr val="000000"/>
              </a:solidFill>
              <a:cs typeface="+mn-ea"/>
              <a:sym typeface="+mn-lt"/>
            </a:endParaRPr>
          </a:p>
        </p:txBody>
      </p:sp>
      <p:sp>
        <p:nvSpPr>
          <p:cNvPr id="34" name="TextBox 24"/>
          <p:cNvSpPr txBox="1"/>
          <p:nvPr/>
        </p:nvSpPr>
        <p:spPr bwMode="gray">
          <a:xfrm>
            <a:off x="2292799" y="3110925"/>
            <a:ext cx="708848" cy="276999"/>
          </a:xfrm>
          <a:prstGeom prst="rect">
            <a:avLst/>
          </a:prstGeom>
          <a:noFill/>
        </p:spPr>
        <p:txBody>
          <a:bodyPr wrap="none" rtlCol="0">
            <a:spAutoFit/>
          </a:bodyPr>
          <a:lstStyle/>
          <a:p>
            <a:pPr>
              <a:buClr>
                <a:srgbClr val="CC9900"/>
              </a:buClr>
              <a:buFont typeface="Wingdings" panose="05000000000000000000" pitchFamily="2" charset="2"/>
              <a:buNone/>
            </a:pPr>
            <a:r>
              <a:rPr lang="en-GB" altLang="zh-CN" sz="1200" b="1" dirty="0">
                <a:cs typeface="+mn-ea"/>
                <a:sym typeface="+mn-lt"/>
              </a:rPr>
              <a:t>FC01</a:t>
            </a:r>
            <a:r>
              <a:rPr lang="en-US" altLang="zh-CN" sz="1200" b="1" dirty="0">
                <a:cs typeface="+mn-ea"/>
                <a:sym typeface="+mn-lt"/>
              </a:rPr>
              <a:t>::1</a:t>
            </a:r>
            <a:endParaRPr lang="zh-CN" altLang="en-US" sz="1200" b="1" dirty="0">
              <a:cs typeface="+mn-ea"/>
              <a:sym typeface="+mn-lt"/>
            </a:endParaRPr>
          </a:p>
        </p:txBody>
      </p:sp>
      <p:sp>
        <p:nvSpPr>
          <p:cNvPr id="35" name="TextBox 24"/>
          <p:cNvSpPr txBox="1"/>
          <p:nvPr/>
        </p:nvSpPr>
        <p:spPr bwMode="gray">
          <a:xfrm>
            <a:off x="4305249" y="3110925"/>
            <a:ext cx="708848" cy="276999"/>
          </a:xfrm>
          <a:prstGeom prst="rect">
            <a:avLst/>
          </a:prstGeom>
          <a:noFill/>
        </p:spPr>
        <p:txBody>
          <a:bodyPr wrap="none" rtlCol="0">
            <a:spAutoFit/>
          </a:bodyPr>
          <a:lstStyle/>
          <a:p>
            <a:pPr>
              <a:buClr>
                <a:srgbClr val="CC9900"/>
              </a:buClr>
              <a:buFont typeface="Wingdings" panose="05000000000000000000" pitchFamily="2" charset="2"/>
              <a:buNone/>
            </a:pPr>
            <a:r>
              <a:rPr lang="en-GB" altLang="zh-CN" sz="1200" b="1" dirty="0">
                <a:cs typeface="+mn-ea"/>
                <a:sym typeface="+mn-lt"/>
              </a:rPr>
              <a:t>FC02</a:t>
            </a:r>
            <a:r>
              <a:rPr lang="en-US" altLang="zh-CN" sz="1200" b="1" dirty="0">
                <a:cs typeface="+mn-ea"/>
                <a:sym typeface="+mn-lt"/>
              </a:rPr>
              <a:t>::2</a:t>
            </a:r>
            <a:endParaRPr lang="zh-CN" altLang="en-US" sz="1200" b="1" dirty="0">
              <a:cs typeface="+mn-ea"/>
              <a:sym typeface="+mn-lt"/>
            </a:endParaRPr>
          </a:p>
        </p:txBody>
      </p:sp>
      <p:sp>
        <p:nvSpPr>
          <p:cNvPr id="37" name="TextBox 24"/>
          <p:cNvSpPr txBox="1"/>
          <p:nvPr/>
        </p:nvSpPr>
        <p:spPr bwMode="gray">
          <a:xfrm>
            <a:off x="6307169" y="3138500"/>
            <a:ext cx="708848" cy="276999"/>
          </a:xfrm>
          <a:prstGeom prst="rect">
            <a:avLst/>
          </a:prstGeom>
          <a:noFill/>
        </p:spPr>
        <p:txBody>
          <a:bodyPr wrap="none" rtlCol="0">
            <a:spAutoFit/>
          </a:bodyPr>
          <a:lstStyle/>
          <a:p>
            <a:pPr>
              <a:buClr>
                <a:srgbClr val="CC9900"/>
              </a:buClr>
              <a:buFont typeface="Wingdings" panose="05000000000000000000" pitchFamily="2" charset="2"/>
              <a:buNone/>
            </a:pPr>
            <a:r>
              <a:rPr lang="en-GB" altLang="zh-CN" sz="1200" b="1" dirty="0">
                <a:cs typeface="+mn-ea"/>
                <a:sym typeface="+mn-lt"/>
              </a:rPr>
              <a:t>FC03</a:t>
            </a:r>
            <a:r>
              <a:rPr lang="en-US" altLang="zh-CN" sz="1200" b="1" dirty="0">
                <a:cs typeface="+mn-ea"/>
                <a:sym typeface="+mn-lt"/>
              </a:rPr>
              <a:t>::3</a:t>
            </a:r>
            <a:endParaRPr lang="zh-CN" altLang="en-US" sz="1200" b="1" dirty="0">
              <a:cs typeface="+mn-ea"/>
              <a:sym typeface="+mn-lt"/>
            </a:endParaRPr>
          </a:p>
        </p:txBody>
      </p:sp>
      <p:sp>
        <p:nvSpPr>
          <p:cNvPr id="38" name="TextBox 24"/>
          <p:cNvSpPr txBox="1"/>
          <p:nvPr/>
        </p:nvSpPr>
        <p:spPr bwMode="gray">
          <a:xfrm>
            <a:off x="4447169" y="4793059"/>
            <a:ext cx="708848" cy="276999"/>
          </a:xfrm>
          <a:prstGeom prst="rect">
            <a:avLst/>
          </a:prstGeom>
          <a:noFill/>
        </p:spPr>
        <p:txBody>
          <a:bodyPr wrap="none" rtlCol="0">
            <a:spAutoFit/>
          </a:bodyPr>
          <a:lstStyle/>
          <a:p>
            <a:pPr>
              <a:buClr>
                <a:srgbClr val="CC9900"/>
              </a:buClr>
              <a:buFont typeface="Wingdings" panose="05000000000000000000" pitchFamily="2" charset="2"/>
              <a:buNone/>
            </a:pPr>
            <a:r>
              <a:rPr lang="en-GB" altLang="zh-CN" sz="1200" b="1" dirty="0">
                <a:cs typeface="+mn-ea"/>
                <a:sym typeface="+mn-lt"/>
              </a:rPr>
              <a:t>FC04</a:t>
            </a:r>
            <a:r>
              <a:rPr lang="en-US" altLang="zh-CN" sz="1200" b="1" dirty="0">
                <a:cs typeface="+mn-ea"/>
                <a:sym typeface="+mn-lt"/>
              </a:rPr>
              <a:t>::4</a:t>
            </a:r>
            <a:endParaRPr lang="zh-CN" altLang="en-US" sz="1200" b="1" dirty="0">
              <a:cs typeface="+mn-ea"/>
              <a:sym typeface="+mn-lt"/>
            </a:endParaRPr>
          </a:p>
        </p:txBody>
      </p:sp>
      <p:sp>
        <p:nvSpPr>
          <p:cNvPr id="39" name="TextBox 24"/>
          <p:cNvSpPr txBox="1"/>
          <p:nvPr/>
        </p:nvSpPr>
        <p:spPr bwMode="gray">
          <a:xfrm>
            <a:off x="6457676" y="4793059"/>
            <a:ext cx="708848" cy="276999"/>
          </a:xfrm>
          <a:prstGeom prst="rect">
            <a:avLst/>
          </a:prstGeom>
          <a:noFill/>
        </p:spPr>
        <p:txBody>
          <a:bodyPr wrap="none" rtlCol="0">
            <a:spAutoFit/>
          </a:bodyPr>
          <a:lstStyle/>
          <a:p>
            <a:pPr>
              <a:buClr>
                <a:srgbClr val="CC9900"/>
              </a:buClr>
              <a:buFont typeface="Wingdings" panose="05000000000000000000" pitchFamily="2" charset="2"/>
              <a:buNone/>
            </a:pPr>
            <a:r>
              <a:rPr lang="en-GB" altLang="zh-CN" sz="1200" b="1" dirty="0">
                <a:cs typeface="+mn-ea"/>
                <a:sym typeface="+mn-lt"/>
              </a:rPr>
              <a:t>FC05</a:t>
            </a:r>
            <a:r>
              <a:rPr lang="en-US" altLang="zh-CN" sz="1200" b="1" dirty="0">
                <a:cs typeface="+mn-ea"/>
                <a:sym typeface="+mn-lt"/>
              </a:rPr>
              <a:t>::5</a:t>
            </a:r>
            <a:endParaRPr lang="zh-CN" altLang="en-US" sz="1200" b="1" dirty="0">
              <a:cs typeface="+mn-ea"/>
              <a:sym typeface="+mn-lt"/>
            </a:endParaRPr>
          </a:p>
        </p:txBody>
      </p:sp>
      <p:sp>
        <p:nvSpPr>
          <p:cNvPr id="40" name="TextBox 24"/>
          <p:cNvSpPr txBox="1"/>
          <p:nvPr/>
        </p:nvSpPr>
        <p:spPr bwMode="gray">
          <a:xfrm>
            <a:off x="8329518" y="4797301"/>
            <a:ext cx="708848" cy="276999"/>
          </a:xfrm>
          <a:prstGeom prst="rect">
            <a:avLst/>
          </a:prstGeom>
          <a:noFill/>
        </p:spPr>
        <p:txBody>
          <a:bodyPr wrap="none" rtlCol="0">
            <a:spAutoFit/>
          </a:bodyPr>
          <a:lstStyle/>
          <a:p>
            <a:pPr>
              <a:buClr>
                <a:srgbClr val="CC9900"/>
              </a:buClr>
              <a:buFont typeface="Wingdings" panose="05000000000000000000" pitchFamily="2" charset="2"/>
              <a:buNone/>
            </a:pPr>
            <a:r>
              <a:rPr lang="en-GB" altLang="zh-CN" sz="1200" b="1" dirty="0">
                <a:cs typeface="+mn-ea"/>
                <a:sym typeface="+mn-lt"/>
              </a:rPr>
              <a:t>FC06</a:t>
            </a:r>
            <a:r>
              <a:rPr lang="en-US" altLang="zh-CN" sz="1200" b="1" dirty="0">
                <a:cs typeface="+mn-ea"/>
                <a:sym typeface="+mn-lt"/>
              </a:rPr>
              <a:t>::6</a:t>
            </a:r>
            <a:endParaRPr lang="zh-CN" altLang="en-US" sz="1200" b="1" dirty="0">
              <a:cs typeface="+mn-ea"/>
              <a:sym typeface="+mn-lt"/>
            </a:endParaRPr>
          </a:p>
        </p:txBody>
      </p:sp>
      <p:graphicFrame>
        <p:nvGraphicFramePr>
          <p:cNvPr id="41" name="Table 40"/>
          <p:cNvGraphicFramePr>
            <a:graphicFrameLocks noGrp="1"/>
          </p:cNvGraphicFramePr>
          <p:nvPr/>
        </p:nvGraphicFramePr>
        <p:xfrm>
          <a:off x="1508988" y="1780499"/>
          <a:ext cx="1420143" cy="1371600"/>
        </p:xfrm>
        <a:graphic>
          <a:graphicData uri="http://schemas.openxmlformats.org/drawingml/2006/table">
            <a:tbl>
              <a:tblPr firstRow="1" bandRow="1">
                <a:tableStyleId>{72833802-FEF1-4C79-8D5D-14CF1EAF98D9}</a:tableStyleId>
              </a:tblPr>
              <a:tblGrid>
                <a:gridCol w="1420143"/>
              </a:tblGrid>
              <a:tr h="370840">
                <a:tc>
                  <a:txBody>
                    <a:bodyPr/>
                    <a:lstStyle/>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DIPv6</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FC03::3</a:t>
                      </a:r>
                      <a:endPar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SIPv6</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FC01::1</a:t>
                      </a:r>
                      <a:endPar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6C4D2"/>
                    </a:solidFill>
                  </a:tcPr>
                </a:tc>
              </a:tr>
              <a:tr h="386362">
                <a:tc>
                  <a:txBody>
                    <a:bodyPr/>
                    <a:lstStyle/>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SRH</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SL=</a:t>
                      </a: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1</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FC06::6</a:t>
                      </a:r>
                      <a:endPar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FC03::3</a:t>
                      </a:r>
                      <a:endParaRPr lang="zh-CN" altLang="en-US"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EEEC1"/>
                    </a:solidFill>
                  </a:tcPr>
                </a:tc>
              </a:tr>
              <a:tr h="0">
                <a:tc>
                  <a:txBody>
                    <a:bodyPr/>
                    <a:lstStyle/>
                    <a:p>
                      <a:pPr algn="ctr"/>
                      <a:r>
                        <a:rPr lang="en-US" altLang="zh-CN" sz="1200" dirty="0">
                          <a:solidFill>
                            <a:schemeClr val="bg1"/>
                          </a:solidFill>
                        </a:rPr>
                        <a:t>Payload</a:t>
                      </a:r>
                      <a:endParaRPr lang="zh-CN" altLang="en-US" sz="1200"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r>
            </a:tbl>
          </a:graphicData>
        </a:graphic>
      </p:graphicFrame>
      <p:sp>
        <p:nvSpPr>
          <p:cNvPr id="42" name="Freeform 41"/>
          <p:cNvSpPr/>
          <p:nvPr/>
        </p:nvSpPr>
        <p:spPr bwMode="gray">
          <a:xfrm rot="10800000">
            <a:off x="3407637" y="3390730"/>
            <a:ext cx="5532804" cy="1749157"/>
          </a:xfrm>
          <a:custGeom>
            <a:avLst/>
            <a:gdLst>
              <a:gd name="connsiteX0" fmla="*/ 0 w 5615354"/>
              <a:gd name="connsiteY0" fmla="*/ 0 h 1535723"/>
              <a:gd name="connsiteX1" fmla="*/ 1547446 w 5615354"/>
              <a:gd name="connsiteY1" fmla="*/ 0 h 1535723"/>
              <a:gd name="connsiteX2" fmla="*/ 1547446 w 5615354"/>
              <a:gd name="connsiteY2" fmla="*/ 1535723 h 1535723"/>
              <a:gd name="connsiteX3" fmla="*/ 5615354 w 5615354"/>
              <a:gd name="connsiteY3" fmla="*/ 1535723 h 1535723"/>
              <a:gd name="connsiteX0-1" fmla="*/ 0 w 5710604"/>
              <a:gd name="connsiteY0-2" fmla="*/ 0 h 1535723"/>
              <a:gd name="connsiteX1-3" fmla="*/ 1642696 w 5710604"/>
              <a:gd name="connsiteY1-4" fmla="*/ 0 h 1535723"/>
              <a:gd name="connsiteX2-5" fmla="*/ 1642696 w 5710604"/>
              <a:gd name="connsiteY2-6" fmla="*/ 1535723 h 1535723"/>
              <a:gd name="connsiteX3-7" fmla="*/ 5710604 w 5710604"/>
              <a:gd name="connsiteY3-8" fmla="*/ 1535723 h 1535723"/>
              <a:gd name="connsiteX0-9" fmla="*/ 0 w 5532804"/>
              <a:gd name="connsiteY0-10" fmla="*/ 0 h 1535723"/>
              <a:gd name="connsiteX1-11" fmla="*/ 1642696 w 5532804"/>
              <a:gd name="connsiteY1-12" fmla="*/ 0 h 1535723"/>
              <a:gd name="connsiteX2-13" fmla="*/ 1642696 w 5532804"/>
              <a:gd name="connsiteY2-14" fmla="*/ 1535723 h 1535723"/>
              <a:gd name="connsiteX3-15" fmla="*/ 5532804 w 5532804"/>
              <a:gd name="connsiteY3-16" fmla="*/ 1530148 h 1535723"/>
            </a:gdLst>
            <a:ahLst/>
            <a:cxnLst>
              <a:cxn ang="0">
                <a:pos x="connsiteX0-1" y="connsiteY0-2"/>
              </a:cxn>
              <a:cxn ang="0">
                <a:pos x="connsiteX1-3" y="connsiteY1-4"/>
              </a:cxn>
              <a:cxn ang="0">
                <a:pos x="connsiteX2-5" y="connsiteY2-6"/>
              </a:cxn>
              <a:cxn ang="0">
                <a:pos x="connsiteX3-7" y="connsiteY3-8"/>
              </a:cxn>
            </a:cxnLst>
            <a:rect l="l" t="t" r="r" b="b"/>
            <a:pathLst>
              <a:path w="5532804" h="1535723">
                <a:moveTo>
                  <a:pt x="0" y="0"/>
                </a:moveTo>
                <a:lnTo>
                  <a:pt x="1642696" y="0"/>
                </a:lnTo>
                <a:lnTo>
                  <a:pt x="1642696" y="1535723"/>
                </a:lnTo>
                <a:lnTo>
                  <a:pt x="5532804" y="1530148"/>
                </a:lnTo>
              </a:path>
            </a:pathLst>
          </a:custGeom>
          <a:noFill/>
          <a:ln w="28575">
            <a:solidFill>
              <a:srgbClr val="E28189"/>
            </a:solidFill>
            <a:headEnd type="triangl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TextBox 16"/>
          <p:cNvSpPr txBox="1"/>
          <p:nvPr/>
        </p:nvSpPr>
        <p:spPr bwMode="gray">
          <a:xfrm>
            <a:off x="5724138" y="4938312"/>
            <a:ext cx="898481"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Cost</a:t>
            </a:r>
            <a:r>
              <a:rPr lang="zh-CN" altLang="en-US" sz="1200" dirty="0">
                <a:solidFill>
                  <a:srgbClr val="000000"/>
                </a:solidFill>
                <a:cs typeface="+mn-ea"/>
                <a:sym typeface="+mn-lt"/>
              </a:rPr>
              <a:t>：</a:t>
            </a:r>
            <a:r>
              <a:rPr lang="en-US" altLang="zh-CN" sz="1200" dirty="0">
                <a:solidFill>
                  <a:srgbClr val="000000"/>
                </a:solidFill>
                <a:cs typeface="+mn-ea"/>
                <a:sym typeface="+mn-lt"/>
              </a:rPr>
              <a:t>100</a:t>
            </a:r>
            <a:endParaRPr lang="zh-CN" altLang="en-US" sz="1200" dirty="0">
              <a:solidFill>
                <a:srgbClr val="000000"/>
              </a:solidFill>
              <a:cs typeface="+mn-ea"/>
              <a:sym typeface="+mn-lt"/>
            </a:endParaRPr>
          </a:p>
        </p:txBody>
      </p:sp>
      <p:sp>
        <p:nvSpPr>
          <p:cNvPr id="44" name="TextBox 16"/>
          <p:cNvSpPr txBox="1"/>
          <p:nvPr/>
        </p:nvSpPr>
        <p:spPr bwMode="gray">
          <a:xfrm>
            <a:off x="5704857" y="3472071"/>
            <a:ext cx="891073"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Cost</a:t>
            </a:r>
            <a:r>
              <a:rPr lang="zh-CN" altLang="en-US" sz="1200" dirty="0">
                <a:solidFill>
                  <a:srgbClr val="000000"/>
                </a:solidFill>
                <a:cs typeface="+mn-ea"/>
                <a:sym typeface="+mn-lt"/>
              </a:rPr>
              <a:t>：</a:t>
            </a:r>
            <a:r>
              <a:rPr lang="en-US" altLang="zh-CN" sz="1200" dirty="0">
                <a:solidFill>
                  <a:srgbClr val="000000"/>
                </a:solidFill>
                <a:cs typeface="+mn-ea"/>
                <a:sym typeface="+mn-lt"/>
              </a:rPr>
              <a:t>10</a:t>
            </a:r>
            <a:endParaRPr lang="zh-CN" altLang="en-US" sz="1200" dirty="0">
              <a:solidFill>
                <a:srgbClr val="000000"/>
              </a:solidFill>
              <a:cs typeface="+mn-ea"/>
              <a:sym typeface="+mn-lt"/>
            </a:endParaRPr>
          </a:p>
        </p:txBody>
      </p:sp>
      <p:sp>
        <p:nvSpPr>
          <p:cNvPr id="45" name="TextBox 16"/>
          <p:cNvSpPr txBox="1"/>
          <p:nvPr/>
        </p:nvSpPr>
        <p:spPr bwMode="gray">
          <a:xfrm>
            <a:off x="6261135" y="4202599"/>
            <a:ext cx="891073"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Cost</a:t>
            </a:r>
            <a:r>
              <a:rPr lang="zh-CN" altLang="en-US" sz="1200" dirty="0">
                <a:solidFill>
                  <a:srgbClr val="000000"/>
                </a:solidFill>
                <a:cs typeface="+mn-ea"/>
                <a:sym typeface="+mn-lt"/>
              </a:rPr>
              <a:t>：</a:t>
            </a:r>
            <a:r>
              <a:rPr lang="en-US" altLang="zh-CN" sz="1200" dirty="0">
                <a:solidFill>
                  <a:srgbClr val="000000"/>
                </a:solidFill>
                <a:cs typeface="+mn-ea"/>
                <a:sym typeface="+mn-lt"/>
              </a:rPr>
              <a:t>10</a:t>
            </a:r>
            <a:endParaRPr lang="zh-CN" altLang="en-US" sz="1200" dirty="0">
              <a:solidFill>
                <a:srgbClr val="000000"/>
              </a:solidFill>
              <a:cs typeface="+mn-ea"/>
              <a:sym typeface="+mn-lt"/>
            </a:endParaRPr>
          </a:p>
        </p:txBody>
      </p:sp>
      <p:sp>
        <p:nvSpPr>
          <p:cNvPr id="46" name="TextBox 16"/>
          <p:cNvSpPr txBox="1"/>
          <p:nvPr/>
        </p:nvSpPr>
        <p:spPr bwMode="gray">
          <a:xfrm>
            <a:off x="5020676" y="4204613"/>
            <a:ext cx="891073"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Cost</a:t>
            </a:r>
            <a:r>
              <a:rPr lang="zh-CN" altLang="en-US" sz="1200" dirty="0">
                <a:solidFill>
                  <a:srgbClr val="000000"/>
                </a:solidFill>
                <a:cs typeface="+mn-ea"/>
                <a:sym typeface="+mn-lt"/>
              </a:rPr>
              <a:t>：</a:t>
            </a:r>
            <a:r>
              <a:rPr lang="en-US" altLang="zh-CN" sz="1200" dirty="0">
                <a:solidFill>
                  <a:srgbClr val="000000"/>
                </a:solidFill>
                <a:cs typeface="+mn-ea"/>
                <a:sym typeface="+mn-lt"/>
              </a:rPr>
              <a:t>10</a:t>
            </a:r>
            <a:endParaRPr lang="zh-CN" altLang="en-US" sz="1200" dirty="0">
              <a:solidFill>
                <a:srgbClr val="000000"/>
              </a:solidFill>
              <a:cs typeface="+mn-ea"/>
              <a:sym typeface="+mn-lt"/>
            </a:endParaRPr>
          </a:p>
        </p:txBody>
      </p:sp>
      <p:sp>
        <p:nvSpPr>
          <p:cNvPr id="47" name="Plus Sign 75"/>
          <p:cNvSpPr/>
          <p:nvPr/>
        </p:nvSpPr>
        <p:spPr bwMode="gray">
          <a:xfrm rot="2700000">
            <a:off x="6876766" y="3382121"/>
            <a:ext cx="298938" cy="298938"/>
          </a:xfrm>
          <a:prstGeom prst="mathPlus">
            <a:avLst/>
          </a:prstGeom>
          <a:solidFill>
            <a:srgbClr val="E28189"/>
          </a:solidFill>
          <a:ln>
            <a:solidFill>
              <a:srgbClr val="E2818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ular Callout 26"/>
          <p:cNvSpPr/>
          <p:nvPr/>
        </p:nvSpPr>
        <p:spPr bwMode="gray">
          <a:xfrm>
            <a:off x="3751951" y="2335635"/>
            <a:ext cx="1714261" cy="635915"/>
          </a:xfrm>
          <a:prstGeom prst="wedgeRectCallout">
            <a:avLst>
              <a:gd name="adj1" fmla="val 19332"/>
              <a:gd name="adj2" fmla="val 77993"/>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P1</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通过</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TI-LFA</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计算得出，去往</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P3</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的备份路径为</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P1-&gt;P2-&gt;P4-&gt;P3</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9" name="Freeform 48"/>
          <p:cNvSpPr/>
          <p:nvPr/>
        </p:nvSpPr>
        <p:spPr bwMode="gray">
          <a:xfrm rot="16200000" flipH="1">
            <a:off x="5260274" y="3432446"/>
            <a:ext cx="1821898" cy="1905000"/>
          </a:xfrm>
          <a:custGeom>
            <a:avLst/>
            <a:gdLst>
              <a:gd name="connsiteX0" fmla="*/ 0 w 2105025"/>
              <a:gd name="connsiteY0" fmla="*/ 0 h 1905000"/>
              <a:gd name="connsiteX1" fmla="*/ 2105025 w 2105025"/>
              <a:gd name="connsiteY1" fmla="*/ 0 h 1905000"/>
              <a:gd name="connsiteX2" fmla="*/ 2105025 w 2105025"/>
              <a:gd name="connsiteY2" fmla="*/ 1905000 h 1905000"/>
              <a:gd name="connsiteX3" fmla="*/ 257175 w 2105025"/>
              <a:gd name="connsiteY3" fmla="*/ 1905000 h 1905000"/>
            </a:gdLst>
            <a:ahLst/>
            <a:cxnLst>
              <a:cxn ang="0">
                <a:pos x="connsiteX0" y="connsiteY0"/>
              </a:cxn>
              <a:cxn ang="0">
                <a:pos x="connsiteX1" y="connsiteY1"/>
              </a:cxn>
              <a:cxn ang="0">
                <a:pos x="connsiteX2" y="connsiteY2"/>
              </a:cxn>
              <a:cxn ang="0">
                <a:pos x="connsiteX3" y="connsiteY3"/>
              </a:cxn>
            </a:cxnLst>
            <a:rect l="l" t="t" r="r" b="b"/>
            <a:pathLst>
              <a:path w="2105025" h="1905000">
                <a:moveTo>
                  <a:pt x="0" y="0"/>
                </a:moveTo>
                <a:lnTo>
                  <a:pt x="2105025" y="0"/>
                </a:lnTo>
                <a:lnTo>
                  <a:pt x="2105025" y="1905000"/>
                </a:lnTo>
                <a:lnTo>
                  <a:pt x="257175" y="1905000"/>
                </a:lnTo>
              </a:path>
            </a:pathLst>
          </a:custGeom>
          <a:noFill/>
          <a:ln w="28575">
            <a:solidFill>
              <a:srgbClr val="56C4D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50" name="Table 49"/>
          <p:cNvGraphicFramePr>
            <a:graphicFrameLocks noGrp="1"/>
          </p:cNvGraphicFramePr>
          <p:nvPr/>
        </p:nvGraphicFramePr>
        <p:xfrm>
          <a:off x="2942193" y="3815783"/>
          <a:ext cx="1420143" cy="2011680"/>
        </p:xfrm>
        <a:graphic>
          <a:graphicData uri="http://schemas.openxmlformats.org/drawingml/2006/table">
            <a:tbl>
              <a:tblPr firstRow="1" bandRow="1">
                <a:tableStyleId>{72833802-FEF1-4C79-8D5D-14CF1EAF98D9}</a:tableStyleId>
              </a:tblPr>
              <a:tblGrid>
                <a:gridCol w="1420143"/>
              </a:tblGrid>
              <a:tr h="370840">
                <a:tc>
                  <a:txBody>
                    <a:bodyPr/>
                    <a:lstStyle/>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DIPv6</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FC04::C4</a:t>
                      </a:r>
                      <a:endPar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SIPv6</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FC0::1</a:t>
                      </a:r>
                      <a:endPar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6C4D2"/>
                    </a:solidFill>
                  </a:tcPr>
                </a:tc>
              </a:tr>
              <a:tr h="386362">
                <a:tc>
                  <a:txBody>
                    <a:bodyPr/>
                    <a:lstStyle/>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SRH</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SL=</a:t>
                      </a: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1</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FC03::3</a:t>
                      </a:r>
                      <a:endPar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FC04::C4</a:t>
                      </a:r>
                      <a:endParaRPr lang="zh-CN" altLang="en-US"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EEEC1"/>
                    </a:solidFill>
                  </a:tcPr>
                </a:tc>
              </a:tr>
              <a:tr h="386362">
                <a:tc>
                  <a:txBody>
                    <a:bodyPr/>
                    <a:lstStyle/>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SRH</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SL=</a:t>
                      </a: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1</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FC06::6</a:t>
                      </a:r>
                      <a:endPar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FC03::3</a:t>
                      </a:r>
                      <a:endParaRPr lang="zh-CN" altLang="en-US"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EEEC1"/>
                    </a:solidFill>
                  </a:tcPr>
                </a:tc>
              </a:tr>
              <a:tr h="0">
                <a:tc>
                  <a:txBody>
                    <a:bodyPr/>
                    <a:lstStyle/>
                    <a:p>
                      <a:pPr algn="ctr"/>
                      <a:r>
                        <a:rPr lang="en-US" altLang="zh-CN" sz="1200" dirty="0">
                          <a:solidFill>
                            <a:schemeClr val="bg1"/>
                          </a:solidFill>
                        </a:rPr>
                        <a:t>Payload</a:t>
                      </a:r>
                      <a:endParaRPr lang="zh-CN" altLang="en-US" sz="1200"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r>
            </a:tbl>
          </a:graphicData>
        </a:graphic>
      </p:graphicFrame>
      <p:sp>
        <p:nvSpPr>
          <p:cNvPr id="51" name="TextBox 33"/>
          <p:cNvSpPr txBox="1"/>
          <p:nvPr/>
        </p:nvSpPr>
        <p:spPr bwMode="gray">
          <a:xfrm>
            <a:off x="5305661" y="5306258"/>
            <a:ext cx="938595" cy="476413"/>
          </a:xfrm>
          <a:prstGeom prst="rect">
            <a:avLst/>
          </a:prstGeom>
          <a:noFill/>
        </p:spPr>
        <p:txBody>
          <a:bodyPr wrap="square" rtlCol="0">
            <a:spAutoFit/>
          </a:bodyPr>
          <a:lstStyle/>
          <a:p>
            <a:r>
              <a:rPr lang="en-US" altLang="zh-CN" sz="1200" dirty="0" err="1">
                <a:solidFill>
                  <a:srgbClr val="C7000B"/>
                </a:solidFill>
                <a:cs typeface="+mn-ea"/>
                <a:sym typeface="+mn-lt"/>
              </a:rPr>
              <a:t>End.X</a:t>
            </a:r>
            <a:r>
              <a:rPr lang="en-US" altLang="zh-CN" sz="1200" dirty="0">
                <a:solidFill>
                  <a:srgbClr val="C7000B"/>
                </a:solidFill>
                <a:cs typeface="+mn-ea"/>
                <a:sym typeface="+mn-lt"/>
              </a:rPr>
              <a:t> </a:t>
            </a:r>
            <a:r>
              <a:rPr lang="en-US" altLang="zh-CN" sz="1200" b="1" dirty="0">
                <a:solidFill>
                  <a:srgbClr val="C7000B"/>
                </a:solidFill>
                <a:cs typeface="+mn-ea"/>
                <a:sym typeface="+mn-lt"/>
              </a:rPr>
              <a:t>FC04::C4</a:t>
            </a:r>
            <a:endParaRPr lang="zh-CN" altLang="en-US" sz="1200" b="1" dirty="0">
              <a:solidFill>
                <a:srgbClr val="C7000B"/>
              </a:solidFill>
              <a:cs typeface="+mn-ea"/>
              <a:sym typeface="+mn-lt"/>
            </a:endParaRPr>
          </a:p>
        </p:txBody>
      </p:sp>
      <p:sp>
        <p:nvSpPr>
          <p:cNvPr id="52" name="Rectangular Callout 26"/>
          <p:cNvSpPr/>
          <p:nvPr/>
        </p:nvSpPr>
        <p:spPr bwMode="gray">
          <a:xfrm>
            <a:off x="6067149" y="2474509"/>
            <a:ext cx="1188888" cy="513128"/>
          </a:xfrm>
          <a:prstGeom prst="wedgeRectCallout">
            <a:avLst>
              <a:gd name="adj1" fmla="val 24914"/>
              <a:gd name="adj2" fmla="val 81664"/>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P2</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故障导致数据无法转发</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cxnSp>
        <p:nvCxnSpPr>
          <p:cNvPr id="54" name="Straight Arrow Connector 53"/>
          <p:cNvCxnSpPr/>
          <p:nvPr/>
        </p:nvCxnSpPr>
        <p:spPr bwMode="gray">
          <a:xfrm>
            <a:off x="9848850" y="5095531"/>
            <a:ext cx="666750" cy="0"/>
          </a:xfrm>
          <a:prstGeom prst="straightConnector1">
            <a:avLst/>
          </a:prstGeom>
          <a:noFill/>
          <a:ln w="28575">
            <a:solidFill>
              <a:srgbClr val="56C4D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55" name="Straight Arrow Connector 54"/>
          <p:cNvCxnSpPr/>
          <p:nvPr/>
        </p:nvCxnSpPr>
        <p:spPr bwMode="gray">
          <a:xfrm>
            <a:off x="9848850" y="5428906"/>
            <a:ext cx="666750" cy="0"/>
          </a:xfrm>
          <a:prstGeom prst="straightConnector1">
            <a:avLst/>
          </a:prstGeom>
          <a:noFill/>
          <a:ln w="28575">
            <a:solidFill>
              <a:srgbClr val="E28189"/>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sp>
        <p:nvSpPr>
          <p:cNvPr id="56" name="TextBox 16"/>
          <p:cNvSpPr txBox="1"/>
          <p:nvPr/>
        </p:nvSpPr>
        <p:spPr bwMode="gray">
          <a:xfrm>
            <a:off x="10483572" y="4957031"/>
            <a:ext cx="815211" cy="276999"/>
          </a:xfrm>
          <a:prstGeom prst="rect">
            <a:avLst/>
          </a:prstGeom>
          <a:noFill/>
        </p:spPr>
        <p:txBody>
          <a:bodyPr wrap="square" rtlCol="0">
            <a:spAutoFit/>
          </a:bodyPr>
          <a:lstStyle/>
          <a:p>
            <a:pPr algn="ctr">
              <a:buClr>
                <a:srgbClr val="CC9900"/>
              </a:buClr>
              <a:buFont typeface="Wingdings" panose="05000000000000000000" pitchFamily="2" charset="2"/>
              <a:buNone/>
            </a:pPr>
            <a:r>
              <a:rPr lang="zh-CN" altLang="en-US" sz="1200" dirty="0">
                <a:solidFill>
                  <a:srgbClr val="000000"/>
                </a:solidFill>
                <a:cs typeface="+mn-ea"/>
                <a:sym typeface="+mn-lt"/>
              </a:rPr>
              <a:t>备份路径</a:t>
            </a:r>
            <a:endParaRPr lang="zh-CN" altLang="en-US" sz="1200" dirty="0">
              <a:solidFill>
                <a:srgbClr val="000000"/>
              </a:solidFill>
              <a:cs typeface="+mn-ea"/>
              <a:sym typeface="+mn-lt"/>
            </a:endParaRPr>
          </a:p>
        </p:txBody>
      </p:sp>
      <p:sp>
        <p:nvSpPr>
          <p:cNvPr id="57" name="TextBox 16"/>
          <p:cNvSpPr txBox="1"/>
          <p:nvPr/>
        </p:nvSpPr>
        <p:spPr bwMode="gray">
          <a:xfrm>
            <a:off x="10483573" y="5290406"/>
            <a:ext cx="660678" cy="276999"/>
          </a:xfrm>
          <a:prstGeom prst="rect">
            <a:avLst/>
          </a:prstGeom>
          <a:noFill/>
        </p:spPr>
        <p:txBody>
          <a:bodyPr wrap="square" rtlCol="0">
            <a:spAutoFit/>
          </a:bodyPr>
          <a:lstStyle/>
          <a:p>
            <a:pPr algn="ctr">
              <a:buClr>
                <a:srgbClr val="CC9900"/>
              </a:buClr>
              <a:buFont typeface="Wingdings" panose="05000000000000000000" pitchFamily="2" charset="2"/>
              <a:buNone/>
            </a:pPr>
            <a:r>
              <a:rPr lang="zh-CN" altLang="en-US" sz="1200" dirty="0">
                <a:solidFill>
                  <a:srgbClr val="000000"/>
                </a:solidFill>
                <a:cs typeface="+mn-ea"/>
                <a:sym typeface="+mn-lt"/>
              </a:rPr>
              <a:t>主路径</a:t>
            </a:r>
            <a:endParaRPr lang="zh-CN" altLang="en-US" sz="1200" dirty="0">
              <a:solidFill>
                <a:srgbClr val="000000"/>
              </a:solidFill>
              <a:cs typeface="+mn-ea"/>
              <a:sym typeface="+mn-lt"/>
            </a:endParaRPr>
          </a:p>
        </p:txBody>
      </p:sp>
      <p:sp>
        <p:nvSpPr>
          <p:cNvPr id="53" name="五边形 2"/>
          <p:cNvSpPr/>
          <p:nvPr/>
        </p:nvSpPr>
        <p:spPr bwMode="gray">
          <a:xfrm>
            <a:off x="9278937" y="110463"/>
            <a:ext cx="1166602"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本地保护技术</a:t>
            </a:r>
            <a:endPar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8" name="燕尾形 3"/>
          <p:cNvSpPr/>
          <p:nvPr/>
        </p:nvSpPr>
        <p:spPr bwMode="gray">
          <a:xfrm>
            <a:off x="10368978" y="110463"/>
            <a:ext cx="1380109"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端到端保护技术</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gray"/>
        <p:txBody>
          <a:bodyPr/>
          <a:lstStyle/>
          <a:p>
            <a:r>
              <a:rPr lang="en-US" altLang="zh-CN" dirty="0"/>
              <a:t>Midpoint</a:t>
            </a:r>
            <a:r>
              <a:rPr lang="zh-CN" altLang="en-US" dirty="0"/>
              <a:t>保护概述</a:t>
            </a:r>
            <a:endParaRPr lang="zh-CN" altLang="en-US" dirty="0"/>
          </a:p>
        </p:txBody>
      </p:sp>
      <p:sp>
        <p:nvSpPr>
          <p:cNvPr id="3" name="Text Placeholder 2"/>
          <p:cNvSpPr>
            <a:spLocks noGrp="1"/>
          </p:cNvSpPr>
          <p:nvPr>
            <p:ph type="body" sz="quarter" idx="10"/>
          </p:nvPr>
        </p:nvSpPr>
        <p:spPr bwMode="gray"/>
        <p:txBody>
          <a:bodyPr/>
          <a:lstStyle/>
          <a:p>
            <a:r>
              <a:rPr lang="zh-CN" altLang="en-US" sz="1600" dirty="0"/>
              <a:t>为了解决</a:t>
            </a:r>
            <a:r>
              <a:rPr lang="en-US" altLang="zh-CN" sz="1600" dirty="0"/>
              <a:t>SRv6 Policy</a:t>
            </a:r>
            <a:r>
              <a:rPr lang="zh-CN" altLang="en-US" sz="1600" dirty="0"/>
              <a:t>场景由于严格节点约束导致的</a:t>
            </a:r>
            <a:r>
              <a:rPr lang="en-US" altLang="zh-CN" sz="1600" dirty="0"/>
              <a:t>TI-LFA FRR</a:t>
            </a:r>
            <a:r>
              <a:rPr lang="zh-CN" altLang="en-US" sz="1600" dirty="0"/>
              <a:t>保护失效问题，需要由中间节点（</a:t>
            </a:r>
            <a:r>
              <a:rPr lang="en-US" altLang="zh-CN" sz="1600" dirty="0"/>
              <a:t>Midpoint</a:t>
            </a:r>
            <a:r>
              <a:rPr lang="zh-CN" altLang="en-US" sz="1600" dirty="0"/>
              <a:t>）的上游节点代替它完成这个转发处理，这个上游节点称之为代理转发（</a:t>
            </a:r>
            <a:r>
              <a:rPr lang="en-US" altLang="zh-CN" sz="1600" dirty="0"/>
              <a:t>Proxy Forwarding</a:t>
            </a:r>
            <a:r>
              <a:rPr lang="zh-CN" altLang="en-US" sz="1600" dirty="0"/>
              <a:t>）节点。</a:t>
            </a:r>
            <a:endParaRPr lang="en-US" altLang="zh-CN" sz="1600" dirty="0"/>
          </a:p>
          <a:p>
            <a:r>
              <a:rPr lang="zh-CN" altLang="en-US" sz="1600" dirty="0"/>
              <a:t>代理转发节点感知到报文的下一跳接口故障，并且下一跳是报文目的地址，且</a:t>
            </a:r>
            <a:r>
              <a:rPr lang="en-US" altLang="zh-CN" sz="1600" dirty="0"/>
              <a:t>SL &gt; 0</a:t>
            </a:r>
            <a:r>
              <a:rPr lang="zh-CN" altLang="en-US" sz="1600" dirty="0"/>
              <a:t>时，代理转发节点代替中间节点执行</a:t>
            </a:r>
            <a:r>
              <a:rPr lang="en-US" altLang="zh-CN" sz="1600" dirty="0"/>
              <a:t>End</a:t>
            </a:r>
            <a:r>
              <a:rPr lang="zh-CN" altLang="en-US" sz="1600" dirty="0"/>
              <a:t>行为，将</a:t>
            </a:r>
            <a:r>
              <a:rPr lang="en-US" altLang="zh-CN" sz="1600" dirty="0"/>
              <a:t>SL</a:t>
            </a:r>
            <a:r>
              <a:rPr lang="zh-CN" altLang="en-US" sz="1600" dirty="0"/>
              <a:t>减</a:t>
            </a:r>
            <a:r>
              <a:rPr lang="en-US" altLang="zh-CN" sz="1600" dirty="0"/>
              <a:t>1</a:t>
            </a:r>
            <a:r>
              <a:rPr lang="zh-CN" altLang="en-US" sz="1600" dirty="0"/>
              <a:t>，并将下层要处理的</a:t>
            </a:r>
            <a:r>
              <a:rPr lang="en-US" altLang="zh-CN" sz="1600" dirty="0"/>
              <a:t>SID</a:t>
            </a:r>
            <a:r>
              <a:rPr lang="zh-CN" altLang="en-US" sz="1600" dirty="0"/>
              <a:t>更新到外层</a:t>
            </a:r>
            <a:r>
              <a:rPr lang="en-US" altLang="zh-CN" sz="1600" dirty="0"/>
              <a:t>IPv6</a:t>
            </a:r>
            <a:r>
              <a:rPr lang="zh-CN" altLang="en-US" sz="1600" dirty="0"/>
              <a:t>报文头，然后按照下层</a:t>
            </a:r>
            <a:r>
              <a:rPr lang="en-US" altLang="zh-CN" sz="1600" dirty="0"/>
              <a:t>SID</a:t>
            </a:r>
            <a:r>
              <a:rPr lang="zh-CN" altLang="en-US" sz="1600" dirty="0"/>
              <a:t>的指令进行转发，从而绕过故障节点，实现</a:t>
            </a:r>
            <a:r>
              <a:rPr lang="en-US" altLang="zh-CN" sz="1600" dirty="0"/>
              <a:t>SRv6</a:t>
            </a:r>
            <a:r>
              <a:rPr lang="zh-CN" altLang="en-US" sz="1600" dirty="0"/>
              <a:t>中间节点故障的保护。</a:t>
            </a:r>
            <a:endParaRPr lang="zh-CN" altLang="en-US" sz="1600" dirty="0"/>
          </a:p>
        </p:txBody>
      </p:sp>
      <p:graphicFrame>
        <p:nvGraphicFramePr>
          <p:cNvPr id="28" name="Table 27"/>
          <p:cNvGraphicFramePr>
            <a:graphicFrameLocks noGrp="1"/>
          </p:cNvGraphicFramePr>
          <p:nvPr/>
        </p:nvGraphicFramePr>
        <p:xfrm>
          <a:off x="2589306" y="3804660"/>
          <a:ext cx="1420143" cy="1371600"/>
        </p:xfrm>
        <a:graphic>
          <a:graphicData uri="http://schemas.openxmlformats.org/drawingml/2006/table">
            <a:tbl>
              <a:tblPr firstRow="1" bandRow="1">
                <a:tableStyleId>{72833802-FEF1-4C79-8D5D-14CF1EAF98D9}</a:tableStyleId>
              </a:tblPr>
              <a:tblGrid>
                <a:gridCol w="1420143"/>
              </a:tblGrid>
              <a:tr h="370840">
                <a:tc>
                  <a:txBody>
                    <a:bodyPr/>
                    <a:lstStyle/>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DIPv6</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FC03::3</a:t>
                      </a:r>
                      <a:endPar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SIPv6</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FC01::1</a:t>
                      </a:r>
                      <a:endPar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6C4D2"/>
                    </a:solidFill>
                  </a:tcPr>
                </a:tc>
              </a:tr>
              <a:tr h="386362">
                <a:tc>
                  <a:txBody>
                    <a:bodyPr/>
                    <a:lstStyle/>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SRH</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SL=</a:t>
                      </a: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1</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FC06::6</a:t>
                      </a:r>
                      <a:endPar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FC03::3</a:t>
                      </a:r>
                      <a:endParaRPr lang="zh-CN" altLang="en-US"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EEEC1"/>
                    </a:solidFill>
                  </a:tcPr>
                </a:tc>
              </a:tr>
              <a:tr h="0">
                <a:tc>
                  <a:txBody>
                    <a:bodyPr/>
                    <a:lstStyle/>
                    <a:p>
                      <a:pPr algn="ctr"/>
                      <a:r>
                        <a:rPr lang="en-US" altLang="zh-CN" sz="1200" dirty="0">
                          <a:solidFill>
                            <a:schemeClr val="bg1"/>
                          </a:solidFill>
                        </a:rPr>
                        <a:t>Payload</a:t>
                      </a:r>
                      <a:endParaRPr lang="zh-CN" altLang="en-US" sz="1200"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r>
            </a:tbl>
          </a:graphicData>
        </a:graphic>
      </p:graphicFrame>
      <p:sp>
        <p:nvSpPr>
          <p:cNvPr id="41" name="Rectangular Callout 26"/>
          <p:cNvSpPr/>
          <p:nvPr/>
        </p:nvSpPr>
        <p:spPr bwMode="gray">
          <a:xfrm>
            <a:off x="4019230" y="5275889"/>
            <a:ext cx="753284" cy="363686"/>
          </a:xfrm>
          <a:prstGeom prst="wedgeRectCallout">
            <a:avLst>
              <a:gd name="adj1" fmla="val 66773"/>
              <a:gd name="adj2" fmla="val -27350"/>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代理转发节点</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2" name="Rectangular Callout 26"/>
          <p:cNvSpPr/>
          <p:nvPr/>
        </p:nvSpPr>
        <p:spPr bwMode="gray">
          <a:xfrm>
            <a:off x="5717859" y="5556475"/>
            <a:ext cx="900180" cy="497870"/>
          </a:xfrm>
          <a:prstGeom prst="wedgeRectCallout">
            <a:avLst>
              <a:gd name="adj1" fmla="val -21515"/>
              <a:gd name="adj2" fmla="val -72240"/>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备份路径不经过</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P2</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cxnSp>
        <p:nvCxnSpPr>
          <p:cNvPr id="43" name="Straight Arrow Connector 42"/>
          <p:cNvCxnSpPr/>
          <p:nvPr/>
        </p:nvCxnSpPr>
        <p:spPr bwMode="gray">
          <a:xfrm>
            <a:off x="9848850" y="5095531"/>
            <a:ext cx="666750" cy="0"/>
          </a:xfrm>
          <a:prstGeom prst="straightConnector1">
            <a:avLst/>
          </a:prstGeom>
          <a:noFill/>
          <a:ln w="28575">
            <a:solidFill>
              <a:srgbClr val="56C4D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44" name="Straight Arrow Connector 43"/>
          <p:cNvCxnSpPr/>
          <p:nvPr/>
        </p:nvCxnSpPr>
        <p:spPr bwMode="gray">
          <a:xfrm>
            <a:off x="9848850" y="5428906"/>
            <a:ext cx="666750" cy="0"/>
          </a:xfrm>
          <a:prstGeom prst="straightConnector1">
            <a:avLst/>
          </a:prstGeom>
          <a:noFill/>
          <a:ln w="28575">
            <a:solidFill>
              <a:srgbClr val="E28189"/>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sp>
        <p:nvSpPr>
          <p:cNvPr id="45" name="TextBox 16"/>
          <p:cNvSpPr txBox="1"/>
          <p:nvPr/>
        </p:nvSpPr>
        <p:spPr bwMode="gray">
          <a:xfrm>
            <a:off x="10483572" y="4957031"/>
            <a:ext cx="815211" cy="276999"/>
          </a:xfrm>
          <a:prstGeom prst="rect">
            <a:avLst/>
          </a:prstGeom>
          <a:noFill/>
        </p:spPr>
        <p:txBody>
          <a:bodyPr wrap="square" rtlCol="0">
            <a:spAutoFit/>
          </a:bodyPr>
          <a:lstStyle/>
          <a:p>
            <a:pPr algn="ctr">
              <a:buClr>
                <a:srgbClr val="CC9900"/>
              </a:buClr>
              <a:buFont typeface="Wingdings" panose="05000000000000000000" pitchFamily="2" charset="2"/>
              <a:buNone/>
            </a:pPr>
            <a:r>
              <a:rPr lang="zh-CN" altLang="en-US" sz="1200" dirty="0">
                <a:solidFill>
                  <a:srgbClr val="000000"/>
                </a:solidFill>
                <a:cs typeface="+mn-ea"/>
                <a:sym typeface="+mn-lt"/>
              </a:rPr>
              <a:t>备份路径</a:t>
            </a:r>
            <a:endParaRPr lang="zh-CN" altLang="en-US" sz="1200" dirty="0">
              <a:solidFill>
                <a:srgbClr val="000000"/>
              </a:solidFill>
              <a:cs typeface="+mn-ea"/>
              <a:sym typeface="+mn-lt"/>
            </a:endParaRPr>
          </a:p>
        </p:txBody>
      </p:sp>
      <p:sp>
        <p:nvSpPr>
          <p:cNvPr id="46" name="TextBox 16"/>
          <p:cNvSpPr txBox="1"/>
          <p:nvPr/>
        </p:nvSpPr>
        <p:spPr bwMode="gray">
          <a:xfrm>
            <a:off x="10483573" y="5290406"/>
            <a:ext cx="660678" cy="276999"/>
          </a:xfrm>
          <a:prstGeom prst="rect">
            <a:avLst/>
          </a:prstGeom>
          <a:noFill/>
        </p:spPr>
        <p:txBody>
          <a:bodyPr wrap="square" rtlCol="0">
            <a:spAutoFit/>
          </a:bodyPr>
          <a:lstStyle/>
          <a:p>
            <a:pPr algn="ctr">
              <a:buClr>
                <a:srgbClr val="CC9900"/>
              </a:buClr>
              <a:buFont typeface="Wingdings" panose="05000000000000000000" pitchFamily="2" charset="2"/>
              <a:buNone/>
            </a:pPr>
            <a:r>
              <a:rPr lang="zh-CN" altLang="en-US" sz="1200" dirty="0">
                <a:solidFill>
                  <a:srgbClr val="000000"/>
                </a:solidFill>
                <a:cs typeface="+mn-ea"/>
                <a:sym typeface="+mn-lt"/>
              </a:rPr>
              <a:t>主路径</a:t>
            </a:r>
            <a:endParaRPr lang="zh-CN" altLang="en-US" sz="1200" dirty="0">
              <a:solidFill>
                <a:srgbClr val="000000"/>
              </a:solidFill>
              <a:cs typeface="+mn-ea"/>
              <a:sym typeface="+mn-lt"/>
            </a:endParaRPr>
          </a:p>
        </p:txBody>
      </p:sp>
      <p:sp>
        <p:nvSpPr>
          <p:cNvPr id="47" name="五边形 2"/>
          <p:cNvSpPr/>
          <p:nvPr/>
        </p:nvSpPr>
        <p:spPr bwMode="gray">
          <a:xfrm>
            <a:off x="9278937" y="110463"/>
            <a:ext cx="1166602"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本地保护技术</a:t>
            </a:r>
            <a:endPar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 name="燕尾形 3"/>
          <p:cNvSpPr/>
          <p:nvPr/>
        </p:nvSpPr>
        <p:spPr bwMode="gray">
          <a:xfrm>
            <a:off x="10368978" y="110463"/>
            <a:ext cx="1380109"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端到端保护技术</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49"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2914209" y="3360644"/>
            <a:ext cx="468318" cy="383051"/>
          </a:xfrm>
          <a:prstGeom prst="rect">
            <a:avLst/>
          </a:prstGeom>
        </p:spPr>
      </p:pic>
      <p:pic>
        <p:nvPicPr>
          <p:cNvPr id="50"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4916129" y="3360644"/>
            <a:ext cx="468318" cy="383051"/>
          </a:xfrm>
          <a:prstGeom prst="rect">
            <a:avLst/>
          </a:prstGeom>
        </p:spPr>
      </p:pic>
      <p:pic>
        <p:nvPicPr>
          <p:cNvPr id="51"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6918049" y="3360643"/>
            <a:ext cx="468318" cy="383051"/>
          </a:xfrm>
          <a:prstGeom prst="rect">
            <a:avLst/>
          </a:prstGeom>
        </p:spPr>
      </p:pic>
      <p:pic>
        <p:nvPicPr>
          <p:cNvPr id="52"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4916129" y="5098881"/>
            <a:ext cx="468318" cy="383051"/>
          </a:xfrm>
          <a:prstGeom prst="rect">
            <a:avLst/>
          </a:prstGeom>
        </p:spPr>
      </p:pic>
      <p:pic>
        <p:nvPicPr>
          <p:cNvPr id="53"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6918049" y="5098880"/>
            <a:ext cx="468318" cy="383051"/>
          </a:xfrm>
          <a:prstGeom prst="rect">
            <a:avLst/>
          </a:prstGeom>
        </p:spPr>
      </p:pic>
      <p:pic>
        <p:nvPicPr>
          <p:cNvPr id="54"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8919969" y="5098880"/>
            <a:ext cx="468318" cy="383051"/>
          </a:xfrm>
          <a:prstGeom prst="rect">
            <a:avLst/>
          </a:prstGeom>
        </p:spPr>
      </p:pic>
      <p:cxnSp>
        <p:nvCxnSpPr>
          <p:cNvPr id="55" name="直接连接符 19"/>
          <p:cNvCxnSpPr>
            <a:stCxn id="50" idx="1"/>
            <a:endCxn id="49" idx="3"/>
          </p:cNvCxnSpPr>
          <p:nvPr/>
        </p:nvCxnSpPr>
        <p:spPr bwMode="gray">
          <a:xfrm flipH="1">
            <a:off x="3382527" y="3552170"/>
            <a:ext cx="1533602" cy="0"/>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cxnSp>
        <p:nvCxnSpPr>
          <p:cNvPr id="56" name="直接连接符 19"/>
          <p:cNvCxnSpPr>
            <a:stCxn id="51" idx="1"/>
            <a:endCxn id="50" idx="3"/>
          </p:cNvCxnSpPr>
          <p:nvPr/>
        </p:nvCxnSpPr>
        <p:spPr bwMode="gray">
          <a:xfrm flipH="1">
            <a:off x="5384447" y="3552169"/>
            <a:ext cx="1533602" cy="1"/>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cxnSp>
        <p:nvCxnSpPr>
          <p:cNvPr id="57" name="直接连接符 19"/>
          <p:cNvCxnSpPr>
            <a:stCxn id="52" idx="0"/>
            <a:endCxn id="50" idx="2"/>
          </p:cNvCxnSpPr>
          <p:nvPr/>
        </p:nvCxnSpPr>
        <p:spPr bwMode="gray">
          <a:xfrm flipV="1">
            <a:off x="5150288" y="3743695"/>
            <a:ext cx="0" cy="1355186"/>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cxnSp>
        <p:nvCxnSpPr>
          <p:cNvPr id="58" name="直接连接符 19"/>
          <p:cNvCxnSpPr>
            <a:stCxn id="53" idx="0"/>
            <a:endCxn id="51" idx="2"/>
          </p:cNvCxnSpPr>
          <p:nvPr/>
        </p:nvCxnSpPr>
        <p:spPr bwMode="gray">
          <a:xfrm flipV="1">
            <a:off x="7152208" y="3743694"/>
            <a:ext cx="0" cy="1355186"/>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cxnSp>
        <p:nvCxnSpPr>
          <p:cNvPr id="59" name="直接连接符 19"/>
          <p:cNvCxnSpPr>
            <a:stCxn id="53" idx="1"/>
            <a:endCxn id="52" idx="3"/>
          </p:cNvCxnSpPr>
          <p:nvPr/>
        </p:nvCxnSpPr>
        <p:spPr bwMode="gray">
          <a:xfrm flipH="1">
            <a:off x="5384447" y="5290406"/>
            <a:ext cx="1533602" cy="1"/>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cxnSp>
        <p:nvCxnSpPr>
          <p:cNvPr id="60" name="直接连接符 19"/>
          <p:cNvCxnSpPr>
            <a:stCxn id="54" idx="1"/>
            <a:endCxn id="53" idx="3"/>
          </p:cNvCxnSpPr>
          <p:nvPr/>
        </p:nvCxnSpPr>
        <p:spPr bwMode="gray">
          <a:xfrm flipH="1">
            <a:off x="7386367" y="5290406"/>
            <a:ext cx="1533602" cy="0"/>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sp>
        <p:nvSpPr>
          <p:cNvPr id="61" name="TextBox 16"/>
          <p:cNvSpPr txBox="1"/>
          <p:nvPr/>
        </p:nvSpPr>
        <p:spPr bwMode="gray">
          <a:xfrm>
            <a:off x="2895986" y="3107844"/>
            <a:ext cx="477846"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PE1</a:t>
            </a:r>
            <a:endParaRPr lang="zh-CN" altLang="en-US" sz="1200" dirty="0">
              <a:solidFill>
                <a:srgbClr val="000000"/>
              </a:solidFill>
              <a:cs typeface="+mn-ea"/>
              <a:sym typeface="+mn-lt"/>
            </a:endParaRPr>
          </a:p>
        </p:txBody>
      </p:sp>
      <p:sp>
        <p:nvSpPr>
          <p:cNvPr id="62" name="TextBox 16"/>
          <p:cNvSpPr txBox="1"/>
          <p:nvPr/>
        </p:nvSpPr>
        <p:spPr bwMode="gray">
          <a:xfrm>
            <a:off x="4906601" y="3121744"/>
            <a:ext cx="477846"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P1</a:t>
            </a:r>
            <a:endParaRPr lang="zh-CN" altLang="en-US" sz="1200" dirty="0">
              <a:solidFill>
                <a:srgbClr val="000000"/>
              </a:solidFill>
              <a:cs typeface="+mn-ea"/>
              <a:sym typeface="+mn-lt"/>
            </a:endParaRPr>
          </a:p>
        </p:txBody>
      </p:sp>
      <p:sp>
        <p:nvSpPr>
          <p:cNvPr id="63" name="TextBox 16"/>
          <p:cNvSpPr txBox="1"/>
          <p:nvPr/>
        </p:nvSpPr>
        <p:spPr bwMode="gray">
          <a:xfrm>
            <a:off x="6920886" y="3107843"/>
            <a:ext cx="477846"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P2</a:t>
            </a:r>
            <a:endParaRPr lang="zh-CN" altLang="en-US" sz="1200" dirty="0">
              <a:solidFill>
                <a:srgbClr val="000000"/>
              </a:solidFill>
              <a:cs typeface="+mn-ea"/>
              <a:sym typeface="+mn-lt"/>
            </a:endParaRPr>
          </a:p>
        </p:txBody>
      </p:sp>
      <p:sp>
        <p:nvSpPr>
          <p:cNvPr id="64" name="TextBox 16"/>
          <p:cNvSpPr txBox="1"/>
          <p:nvPr/>
        </p:nvSpPr>
        <p:spPr bwMode="gray">
          <a:xfrm>
            <a:off x="4906601" y="5457732"/>
            <a:ext cx="477846"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P3</a:t>
            </a:r>
            <a:endParaRPr lang="zh-CN" altLang="en-US" sz="1200" dirty="0">
              <a:solidFill>
                <a:srgbClr val="000000"/>
              </a:solidFill>
              <a:cs typeface="+mn-ea"/>
              <a:sym typeface="+mn-lt"/>
            </a:endParaRPr>
          </a:p>
        </p:txBody>
      </p:sp>
      <p:sp>
        <p:nvSpPr>
          <p:cNvPr id="65" name="TextBox 16"/>
          <p:cNvSpPr txBox="1"/>
          <p:nvPr/>
        </p:nvSpPr>
        <p:spPr bwMode="gray">
          <a:xfrm>
            <a:off x="6924705" y="5457732"/>
            <a:ext cx="477846"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P4</a:t>
            </a:r>
            <a:endParaRPr lang="zh-CN" altLang="en-US" sz="1200" dirty="0">
              <a:solidFill>
                <a:srgbClr val="000000"/>
              </a:solidFill>
              <a:cs typeface="+mn-ea"/>
              <a:sym typeface="+mn-lt"/>
            </a:endParaRPr>
          </a:p>
        </p:txBody>
      </p:sp>
      <p:sp>
        <p:nvSpPr>
          <p:cNvPr id="66" name="TextBox 16"/>
          <p:cNvSpPr txBox="1"/>
          <p:nvPr/>
        </p:nvSpPr>
        <p:spPr bwMode="gray">
          <a:xfrm>
            <a:off x="8942809" y="5457732"/>
            <a:ext cx="477846"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PE2</a:t>
            </a:r>
            <a:endParaRPr lang="zh-CN" altLang="en-US" sz="1200" dirty="0">
              <a:solidFill>
                <a:srgbClr val="000000"/>
              </a:solidFill>
              <a:cs typeface="+mn-ea"/>
              <a:sym typeface="+mn-lt"/>
            </a:endParaRPr>
          </a:p>
        </p:txBody>
      </p:sp>
      <p:sp>
        <p:nvSpPr>
          <p:cNvPr id="67" name="TextBox 24"/>
          <p:cNvSpPr txBox="1"/>
          <p:nvPr/>
        </p:nvSpPr>
        <p:spPr bwMode="gray">
          <a:xfrm>
            <a:off x="2314908" y="3189100"/>
            <a:ext cx="708848" cy="276999"/>
          </a:xfrm>
          <a:prstGeom prst="rect">
            <a:avLst/>
          </a:prstGeom>
          <a:noFill/>
        </p:spPr>
        <p:txBody>
          <a:bodyPr wrap="none" rtlCol="0">
            <a:spAutoFit/>
          </a:bodyPr>
          <a:lstStyle/>
          <a:p>
            <a:pPr>
              <a:buClr>
                <a:srgbClr val="CC9900"/>
              </a:buClr>
              <a:buFont typeface="Wingdings" panose="05000000000000000000" pitchFamily="2" charset="2"/>
              <a:buNone/>
            </a:pPr>
            <a:r>
              <a:rPr lang="en-GB" altLang="zh-CN" sz="1200" b="1" dirty="0">
                <a:cs typeface="+mn-ea"/>
                <a:sym typeface="+mn-lt"/>
              </a:rPr>
              <a:t>FC01</a:t>
            </a:r>
            <a:r>
              <a:rPr lang="en-US" altLang="zh-CN" sz="1200" b="1" dirty="0">
                <a:cs typeface="+mn-ea"/>
                <a:sym typeface="+mn-lt"/>
              </a:rPr>
              <a:t>::1</a:t>
            </a:r>
            <a:endParaRPr lang="zh-CN" altLang="en-US" sz="1200" b="1" dirty="0">
              <a:cs typeface="+mn-ea"/>
              <a:sym typeface="+mn-lt"/>
            </a:endParaRPr>
          </a:p>
        </p:txBody>
      </p:sp>
      <p:sp>
        <p:nvSpPr>
          <p:cNvPr id="68" name="TextBox 24"/>
          <p:cNvSpPr txBox="1"/>
          <p:nvPr/>
        </p:nvSpPr>
        <p:spPr bwMode="gray">
          <a:xfrm>
            <a:off x="4327358" y="3189100"/>
            <a:ext cx="708848" cy="276999"/>
          </a:xfrm>
          <a:prstGeom prst="rect">
            <a:avLst/>
          </a:prstGeom>
          <a:noFill/>
        </p:spPr>
        <p:txBody>
          <a:bodyPr wrap="none" rtlCol="0">
            <a:spAutoFit/>
          </a:bodyPr>
          <a:lstStyle/>
          <a:p>
            <a:pPr>
              <a:buClr>
                <a:srgbClr val="CC9900"/>
              </a:buClr>
              <a:buFont typeface="Wingdings" panose="05000000000000000000" pitchFamily="2" charset="2"/>
              <a:buNone/>
            </a:pPr>
            <a:r>
              <a:rPr lang="en-GB" altLang="zh-CN" sz="1200" b="1" dirty="0">
                <a:cs typeface="+mn-ea"/>
                <a:sym typeface="+mn-lt"/>
              </a:rPr>
              <a:t>FC02</a:t>
            </a:r>
            <a:r>
              <a:rPr lang="en-US" altLang="zh-CN" sz="1200" b="1" dirty="0">
                <a:cs typeface="+mn-ea"/>
                <a:sym typeface="+mn-lt"/>
              </a:rPr>
              <a:t>::2</a:t>
            </a:r>
            <a:endParaRPr lang="zh-CN" altLang="en-US" sz="1200" b="1" dirty="0">
              <a:cs typeface="+mn-ea"/>
              <a:sym typeface="+mn-lt"/>
            </a:endParaRPr>
          </a:p>
        </p:txBody>
      </p:sp>
      <p:sp>
        <p:nvSpPr>
          <p:cNvPr id="69" name="TextBox 24"/>
          <p:cNvSpPr txBox="1"/>
          <p:nvPr/>
        </p:nvSpPr>
        <p:spPr bwMode="gray">
          <a:xfrm>
            <a:off x="6329278" y="3216675"/>
            <a:ext cx="708848" cy="276999"/>
          </a:xfrm>
          <a:prstGeom prst="rect">
            <a:avLst/>
          </a:prstGeom>
          <a:noFill/>
        </p:spPr>
        <p:txBody>
          <a:bodyPr wrap="none" rtlCol="0">
            <a:spAutoFit/>
          </a:bodyPr>
          <a:lstStyle/>
          <a:p>
            <a:pPr>
              <a:buClr>
                <a:srgbClr val="CC9900"/>
              </a:buClr>
              <a:buFont typeface="Wingdings" panose="05000000000000000000" pitchFamily="2" charset="2"/>
              <a:buNone/>
            </a:pPr>
            <a:r>
              <a:rPr lang="en-GB" altLang="zh-CN" sz="1200" b="1" dirty="0">
                <a:cs typeface="+mn-ea"/>
                <a:sym typeface="+mn-lt"/>
              </a:rPr>
              <a:t>FC03</a:t>
            </a:r>
            <a:r>
              <a:rPr lang="en-US" altLang="zh-CN" sz="1200" b="1" dirty="0">
                <a:cs typeface="+mn-ea"/>
                <a:sym typeface="+mn-lt"/>
              </a:rPr>
              <a:t>::3</a:t>
            </a:r>
            <a:endParaRPr lang="zh-CN" altLang="en-US" sz="1200" b="1" dirty="0">
              <a:cs typeface="+mn-ea"/>
              <a:sym typeface="+mn-lt"/>
            </a:endParaRPr>
          </a:p>
        </p:txBody>
      </p:sp>
      <p:sp>
        <p:nvSpPr>
          <p:cNvPr id="70" name="TextBox 24"/>
          <p:cNvSpPr txBox="1"/>
          <p:nvPr/>
        </p:nvSpPr>
        <p:spPr bwMode="gray">
          <a:xfrm>
            <a:off x="4469278" y="4871234"/>
            <a:ext cx="708848" cy="276999"/>
          </a:xfrm>
          <a:prstGeom prst="rect">
            <a:avLst/>
          </a:prstGeom>
          <a:noFill/>
        </p:spPr>
        <p:txBody>
          <a:bodyPr wrap="none" rtlCol="0">
            <a:spAutoFit/>
          </a:bodyPr>
          <a:lstStyle/>
          <a:p>
            <a:pPr>
              <a:buClr>
                <a:srgbClr val="CC9900"/>
              </a:buClr>
              <a:buFont typeface="Wingdings" panose="05000000000000000000" pitchFamily="2" charset="2"/>
              <a:buNone/>
            </a:pPr>
            <a:r>
              <a:rPr lang="en-GB" altLang="zh-CN" sz="1200" b="1" dirty="0">
                <a:cs typeface="+mn-ea"/>
                <a:sym typeface="+mn-lt"/>
              </a:rPr>
              <a:t>FC04</a:t>
            </a:r>
            <a:r>
              <a:rPr lang="en-US" altLang="zh-CN" sz="1200" b="1" dirty="0">
                <a:cs typeface="+mn-ea"/>
                <a:sym typeface="+mn-lt"/>
              </a:rPr>
              <a:t>::4</a:t>
            </a:r>
            <a:endParaRPr lang="zh-CN" altLang="en-US" sz="1200" b="1" dirty="0">
              <a:cs typeface="+mn-ea"/>
              <a:sym typeface="+mn-lt"/>
            </a:endParaRPr>
          </a:p>
        </p:txBody>
      </p:sp>
      <p:sp>
        <p:nvSpPr>
          <p:cNvPr id="71" name="TextBox 24"/>
          <p:cNvSpPr txBox="1"/>
          <p:nvPr/>
        </p:nvSpPr>
        <p:spPr bwMode="gray">
          <a:xfrm>
            <a:off x="6479785" y="4871234"/>
            <a:ext cx="708848" cy="276999"/>
          </a:xfrm>
          <a:prstGeom prst="rect">
            <a:avLst/>
          </a:prstGeom>
          <a:noFill/>
        </p:spPr>
        <p:txBody>
          <a:bodyPr wrap="none" rtlCol="0">
            <a:spAutoFit/>
          </a:bodyPr>
          <a:lstStyle/>
          <a:p>
            <a:pPr>
              <a:buClr>
                <a:srgbClr val="CC9900"/>
              </a:buClr>
              <a:buFont typeface="Wingdings" panose="05000000000000000000" pitchFamily="2" charset="2"/>
              <a:buNone/>
            </a:pPr>
            <a:r>
              <a:rPr lang="en-GB" altLang="zh-CN" sz="1200" b="1" dirty="0">
                <a:cs typeface="+mn-ea"/>
                <a:sym typeface="+mn-lt"/>
              </a:rPr>
              <a:t>FC05</a:t>
            </a:r>
            <a:r>
              <a:rPr lang="en-US" altLang="zh-CN" sz="1200" b="1" dirty="0">
                <a:cs typeface="+mn-ea"/>
                <a:sym typeface="+mn-lt"/>
              </a:rPr>
              <a:t>::5</a:t>
            </a:r>
            <a:endParaRPr lang="zh-CN" altLang="en-US" sz="1200" b="1" dirty="0">
              <a:cs typeface="+mn-ea"/>
              <a:sym typeface="+mn-lt"/>
            </a:endParaRPr>
          </a:p>
        </p:txBody>
      </p:sp>
      <p:sp>
        <p:nvSpPr>
          <p:cNvPr id="72" name="TextBox 24"/>
          <p:cNvSpPr txBox="1"/>
          <p:nvPr/>
        </p:nvSpPr>
        <p:spPr bwMode="gray">
          <a:xfrm>
            <a:off x="8351627" y="4875476"/>
            <a:ext cx="708848" cy="276999"/>
          </a:xfrm>
          <a:prstGeom prst="rect">
            <a:avLst/>
          </a:prstGeom>
          <a:noFill/>
        </p:spPr>
        <p:txBody>
          <a:bodyPr wrap="none" rtlCol="0">
            <a:spAutoFit/>
          </a:bodyPr>
          <a:lstStyle/>
          <a:p>
            <a:pPr>
              <a:buClr>
                <a:srgbClr val="CC9900"/>
              </a:buClr>
              <a:buFont typeface="Wingdings" panose="05000000000000000000" pitchFamily="2" charset="2"/>
              <a:buNone/>
            </a:pPr>
            <a:r>
              <a:rPr lang="en-GB" altLang="zh-CN" sz="1200" b="1" dirty="0">
                <a:cs typeface="+mn-ea"/>
                <a:sym typeface="+mn-lt"/>
              </a:rPr>
              <a:t>FC06</a:t>
            </a:r>
            <a:r>
              <a:rPr lang="en-US" altLang="zh-CN" sz="1200" b="1" dirty="0">
                <a:cs typeface="+mn-ea"/>
                <a:sym typeface="+mn-lt"/>
              </a:rPr>
              <a:t>::6</a:t>
            </a:r>
            <a:endParaRPr lang="zh-CN" altLang="en-US" sz="1200" b="1" dirty="0">
              <a:cs typeface="+mn-ea"/>
              <a:sym typeface="+mn-lt"/>
            </a:endParaRPr>
          </a:p>
        </p:txBody>
      </p:sp>
      <p:sp>
        <p:nvSpPr>
          <p:cNvPr id="73" name="Freeform 72"/>
          <p:cNvSpPr/>
          <p:nvPr/>
        </p:nvSpPr>
        <p:spPr bwMode="gray">
          <a:xfrm rot="10800000">
            <a:off x="3429746" y="3468905"/>
            <a:ext cx="5532804" cy="1749157"/>
          </a:xfrm>
          <a:custGeom>
            <a:avLst/>
            <a:gdLst>
              <a:gd name="connsiteX0" fmla="*/ 0 w 5615354"/>
              <a:gd name="connsiteY0" fmla="*/ 0 h 1535723"/>
              <a:gd name="connsiteX1" fmla="*/ 1547446 w 5615354"/>
              <a:gd name="connsiteY1" fmla="*/ 0 h 1535723"/>
              <a:gd name="connsiteX2" fmla="*/ 1547446 w 5615354"/>
              <a:gd name="connsiteY2" fmla="*/ 1535723 h 1535723"/>
              <a:gd name="connsiteX3" fmla="*/ 5615354 w 5615354"/>
              <a:gd name="connsiteY3" fmla="*/ 1535723 h 1535723"/>
              <a:gd name="connsiteX0-1" fmla="*/ 0 w 5710604"/>
              <a:gd name="connsiteY0-2" fmla="*/ 0 h 1535723"/>
              <a:gd name="connsiteX1-3" fmla="*/ 1642696 w 5710604"/>
              <a:gd name="connsiteY1-4" fmla="*/ 0 h 1535723"/>
              <a:gd name="connsiteX2-5" fmla="*/ 1642696 w 5710604"/>
              <a:gd name="connsiteY2-6" fmla="*/ 1535723 h 1535723"/>
              <a:gd name="connsiteX3-7" fmla="*/ 5710604 w 5710604"/>
              <a:gd name="connsiteY3-8" fmla="*/ 1535723 h 1535723"/>
              <a:gd name="connsiteX0-9" fmla="*/ 0 w 5532804"/>
              <a:gd name="connsiteY0-10" fmla="*/ 0 h 1535723"/>
              <a:gd name="connsiteX1-11" fmla="*/ 1642696 w 5532804"/>
              <a:gd name="connsiteY1-12" fmla="*/ 0 h 1535723"/>
              <a:gd name="connsiteX2-13" fmla="*/ 1642696 w 5532804"/>
              <a:gd name="connsiteY2-14" fmla="*/ 1535723 h 1535723"/>
              <a:gd name="connsiteX3-15" fmla="*/ 5532804 w 5532804"/>
              <a:gd name="connsiteY3-16" fmla="*/ 1530148 h 1535723"/>
            </a:gdLst>
            <a:ahLst/>
            <a:cxnLst>
              <a:cxn ang="0">
                <a:pos x="connsiteX0-1" y="connsiteY0-2"/>
              </a:cxn>
              <a:cxn ang="0">
                <a:pos x="connsiteX1-3" y="connsiteY1-4"/>
              </a:cxn>
              <a:cxn ang="0">
                <a:pos x="connsiteX2-5" y="connsiteY2-6"/>
              </a:cxn>
              <a:cxn ang="0">
                <a:pos x="connsiteX3-7" y="connsiteY3-8"/>
              </a:cxn>
            </a:cxnLst>
            <a:rect l="l" t="t" r="r" b="b"/>
            <a:pathLst>
              <a:path w="5532804" h="1535723">
                <a:moveTo>
                  <a:pt x="0" y="0"/>
                </a:moveTo>
                <a:lnTo>
                  <a:pt x="1642696" y="0"/>
                </a:lnTo>
                <a:lnTo>
                  <a:pt x="1642696" y="1535723"/>
                </a:lnTo>
                <a:lnTo>
                  <a:pt x="5532804" y="1530148"/>
                </a:lnTo>
              </a:path>
            </a:pathLst>
          </a:custGeom>
          <a:noFill/>
          <a:ln w="28575">
            <a:solidFill>
              <a:srgbClr val="E28189"/>
            </a:solidFill>
            <a:headEnd type="triangl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TextBox 16"/>
          <p:cNvSpPr txBox="1"/>
          <p:nvPr/>
        </p:nvSpPr>
        <p:spPr bwMode="gray">
          <a:xfrm>
            <a:off x="5746247" y="5016487"/>
            <a:ext cx="898481"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Cost</a:t>
            </a:r>
            <a:r>
              <a:rPr lang="zh-CN" altLang="en-US" sz="1200" dirty="0">
                <a:solidFill>
                  <a:srgbClr val="000000"/>
                </a:solidFill>
                <a:cs typeface="+mn-ea"/>
                <a:sym typeface="+mn-lt"/>
              </a:rPr>
              <a:t>：</a:t>
            </a:r>
            <a:r>
              <a:rPr lang="en-US" altLang="zh-CN" sz="1200" dirty="0">
                <a:solidFill>
                  <a:srgbClr val="000000"/>
                </a:solidFill>
                <a:cs typeface="+mn-ea"/>
                <a:sym typeface="+mn-lt"/>
              </a:rPr>
              <a:t>100</a:t>
            </a:r>
            <a:endParaRPr lang="zh-CN" altLang="en-US" sz="1200" dirty="0">
              <a:solidFill>
                <a:srgbClr val="000000"/>
              </a:solidFill>
              <a:cs typeface="+mn-ea"/>
              <a:sym typeface="+mn-lt"/>
            </a:endParaRPr>
          </a:p>
        </p:txBody>
      </p:sp>
      <p:sp>
        <p:nvSpPr>
          <p:cNvPr id="75" name="TextBox 16"/>
          <p:cNvSpPr txBox="1"/>
          <p:nvPr/>
        </p:nvSpPr>
        <p:spPr bwMode="gray">
          <a:xfrm>
            <a:off x="5726966" y="3550246"/>
            <a:ext cx="891073"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Cost</a:t>
            </a:r>
            <a:r>
              <a:rPr lang="zh-CN" altLang="en-US" sz="1200" dirty="0">
                <a:solidFill>
                  <a:srgbClr val="000000"/>
                </a:solidFill>
                <a:cs typeface="+mn-ea"/>
                <a:sym typeface="+mn-lt"/>
              </a:rPr>
              <a:t>：</a:t>
            </a:r>
            <a:r>
              <a:rPr lang="en-US" altLang="zh-CN" sz="1200" dirty="0">
                <a:solidFill>
                  <a:srgbClr val="000000"/>
                </a:solidFill>
                <a:cs typeface="+mn-ea"/>
                <a:sym typeface="+mn-lt"/>
              </a:rPr>
              <a:t>10</a:t>
            </a:r>
            <a:endParaRPr lang="zh-CN" altLang="en-US" sz="1200" dirty="0">
              <a:solidFill>
                <a:srgbClr val="000000"/>
              </a:solidFill>
              <a:cs typeface="+mn-ea"/>
              <a:sym typeface="+mn-lt"/>
            </a:endParaRPr>
          </a:p>
        </p:txBody>
      </p:sp>
      <p:sp>
        <p:nvSpPr>
          <p:cNvPr id="76" name="TextBox 16"/>
          <p:cNvSpPr txBox="1"/>
          <p:nvPr/>
        </p:nvSpPr>
        <p:spPr bwMode="gray">
          <a:xfrm>
            <a:off x="6283244" y="4280774"/>
            <a:ext cx="891073"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Cost</a:t>
            </a:r>
            <a:r>
              <a:rPr lang="zh-CN" altLang="en-US" sz="1200" dirty="0">
                <a:solidFill>
                  <a:srgbClr val="000000"/>
                </a:solidFill>
                <a:cs typeface="+mn-ea"/>
                <a:sym typeface="+mn-lt"/>
              </a:rPr>
              <a:t>：</a:t>
            </a:r>
            <a:r>
              <a:rPr lang="en-US" altLang="zh-CN" sz="1200" dirty="0">
                <a:solidFill>
                  <a:srgbClr val="000000"/>
                </a:solidFill>
                <a:cs typeface="+mn-ea"/>
                <a:sym typeface="+mn-lt"/>
              </a:rPr>
              <a:t>10</a:t>
            </a:r>
            <a:endParaRPr lang="zh-CN" altLang="en-US" sz="1200" dirty="0">
              <a:solidFill>
                <a:srgbClr val="000000"/>
              </a:solidFill>
              <a:cs typeface="+mn-ea"/>
              <a:sym typeface="+mn-lt"/>
            </a:endParaRPr>
          </a:p>
        </p:txBody>
      </p:sp>
      <p:sp>
        <p:nvSpPr>
          <p:cNvPr id="77" name="TextBox 16"/>
          <p:cNvSpPr txBox="1"/>
          <p:nvPr/>
        </p:nvSpPr>
        <p:spPr bwMode="gray">
          <a:xfrm>
            <a:off x="5042785" y="4282788"/>
            <a:ext cx="891073"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Cost</a:t>
            </a:r>
            <a:r>
              <a:rPr lang="zh-CN" altLang="en-US" sz="1200" dirty="0">
                <a:solidFill>
                  <a:srgbClr val="000000"/>
                </a:solidFill>
                <a:cs typeface="+mn-ea"/>
                <a:sym typeface="+mn-lt"/>
              </a:rPr>
              <a:t>：</a:t>
            </a:r>
            <a:r>
              <a:rPr lang="en-US" altLang="zh-CN" sz="1200" dirty="0">
                <a:solidFill>
                  <a:srgbClr val="000000"/>
                </a:solidFill>
                <a:cs typeface="+mn-ea"/>
                <a:sym typeface="+mn-lt"/>
              </a:rPr>
              <a:t>10</a:t>
            </a:r>
            <a:endParaRPr lang="zh-CN" altLang="en-US" sz="1200" dirty="0">
              <a:solidFill>
                <a:srgbClr val="000000"/>
              </a:solidFill>
              <a:cs typeface="+mn-ea"/>
              <a:sym typeface="+mn-lt"/>
            </a:endParaRPr>
          </a:p>
        </p:txBody>
      </p:sp>
      <p:sp>
        <p:nvSpPr>
          <p:cNvPr id="78" name="Plus Sign 75"/>
          <p:cNvSpPr/>
          <p:nvPr/>
        </p:nvSpPr>
        <p:spPr bwMode="gray">
          <a:xfrm rot="2700000">
            <a:off x="6898875" y="3460296"/>
            <a:ext cx="298938" cy="298938"/>
          </a:xfrm>
          <a:prstGeom prst="mathPlus">
            <a:avLst/>
          </a:prstGeom>
          <a:solidFill>
            <a:srgbClr val="E28189"/>
          </a:solidFill>
          <a:ln>
            <a:solidFill>
              <a:srgbClr val="E2818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Freeform 78"/>
          <p:cNvSpPr/>
          <p:nvPr/>
        </p:nvSpPr>
        <p:spPr bwMode="gray">
          <a:xfrm rot="16200000" flipH="1">
            <a:off x="6189586" y="2603418"/>
            <a:ext cx="1829236" cy="3726744"/>
          </a:xfrm>
          <a:custGeom>
            <a:avLst/>
            <a:gdLst>
              <a:gd name="connsiteX0" fmla="*/ 0 w 2105025"/>
              <a:gd name="connsiteY0" fmla="*/ 0 h 1905000"/>
              <a:gd name="connsiteX1" fmla="*/ 2105025 w 2105025"/>
              <a:gd name="connsiteY1" fmla="*/ 0 h 1905000"/>
              <a:gd name="connsiteX2" fmla="*/ 2105025 w 2105025"/>
              <a:gd name="connsiteY2" fmla="*/ 1905000 h 1905000"/>
              <a:gd name="connsiteX3" fmla="*/ 257175 w 2105025"/>
              <a:gd name="connsiteY3" fmla="*/ 1905000 h 1905000"/>
              <a:gd name="connsiteX0-1" fmla="*/ 0 w 2403339"/>
              <a:gd name="connsiteY0-2" fmla="*/ 0 h 3598333"/>
              <a:gd name="connsiteX1-3" fmla="*/ 2105025 w 2403339"/>
              <a:gd name="connsiteY1-4" fmla="*/ 0 h 3598333"/>
              <a:gd name="connsiteX2-5" fmla="*/ 2105025 w 2403339"/>
              <a:gd name="connsiteY2-6" fmla="*/ 1905000 h 3598333"/>
              <a:gd name="connsiteX3-7" fmla="*/ 2239743 w 2403339"/>
              <a:gd name="connsiteY3-8" fmla="*/ 3598333 h 3598333"/>
              <a:gd name="connsiteX0-9" fmla="*/ 0 w 2105025"/>
              <a:gd name="connsiteY0-10" fmla="*/ 0 h 1905000"/>
              <a:gd name="connsiteX1-11" fmla="*/ 2105025 w 2105025"/>
              <a:gd name="connsiteY1-12" fmla="*/ 0 h 1905000"/>
              <a:gd name="connsiteX2-13" fmla="*/ 2105025 w 2105025"/>
              <a:gd name="connsiteY2-14" fmla="*/ 1905000 h 1905000"/>
              <a:gd name="connsiteX0-15" fmla="*/ 0 w 2131112"/>
              <a:gd name="connsiteY0-16" fmla="*/ 0 h 3688644"/>
              <a:gd name="connsiteX1-17" fmla="*/ 2105025 w 2131112"/>
              <a:gd name="connsiteY1-18" fmla="*/ 0 h 3688644"/>
              <a:gd name="connsiteX2-19" fmla="*/ 2131112 w 2131112"/>
              <a:gd name="connsiteY2-20" fmla="*/ 3688644 h 3688644"/>
              <a:gd name="connsiteX0-21" fmla="*/ 0 w 2113504"/>
              <a:gd name="connsiteY0-22" fmla="*/ 0 h 3703884"/>
              <a:gd name="connsiteX1-23" fmla="*/ 2105025 w 2113504"/>
              <a:gd name="connsiteY1-24" fmla="*/ 0 h 3703884"/>
              <a:gd name="connsiteX2-25" fmla="*/ 2113504 w 2113504"/>
              <a:gd name="connsiteY2-26" fmla="*/ 3703884 h 3703884"/>
              <a:gd name="connsiteX0-27" fmla="*/ 0 w 2113504"/>
              <a:gd name="connsiteY0-28" fmla="*/ 0 h 3726744"/>
              <a:gd name="connsiteX1-29" fmla="*/ 2105025 w 2113504"/>
              <a:gd name="connsiteY1-30" fmla="*/ 0 h 3726744"/>
              <a:gd name="connsiteX2-31" fmla="*/ 2113504 w 2113504"/>
              <a:gd name="connsiteY2-32" fmla="*/ 3726744 h 3726744"/>
            </a:gdLst>
            <a:ahLst/>
            <a:cxnLst>
              <a:cxn ang="0">
                <a:pos x="connsiteX0-1" y="connsiteY0-2"/>
              </a:cxn>
              <a:cxn ang="0">
                <a:pos x="connsiteX1-3" y="connsiteY1-4"/>
              </a:cxn>
              <a:cxn ang="0">
                <a:pos x="connsiteX2-5" y="connsiteY2-6"/>
              </a:cxn>
            </a:cxnLst>
            <a:rect l="l" t="t" r="r" b="b"/>
            <a:pathLst>
              <a:path w="2113504" h="3726744">
                <a:moveTo>
                  <a:pt x="0" y="0"/>
                </a:moveTo>
                <a:lnTo>
                  <a:pt x="2105025" y="0"/>
                </a:lnTo>
                <a:cubicBezTo>
                  <a:pt x="2107851" y="1234628"/>
                  <a:pt x="2110678" y="2492116"/>
                  <a:pt x="2113504" y="3726744"/>
                </a:cubicBezTo>
              </a:path>
            </a:pathLst>
          </a:custGeom>
          <a:noFill/>
          <a:ln w="28575">
            <a:solidFill>
              <a:srgbClr val="56C4D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gray"/>
        <p:txBody>
          <a:bodyPr/>
          <a:lstStyle/>
          <a:p>
            <a:r>
              <a:rPr lang="en-US" altLang="zh-CN" dirty="0"/>
              <a:t>Midpoint</a:t>
            </a:r>
            <a:r>
              <a:rPr lang="zh-CN" altLang="en-US" dirty="0"/>
              <a:t>保护原理</a:t>
            </a:r>
            <a:endParaRPr lang="zh-CN" altLang="en-US" dirty="0"/>
          </a:p>
        </p:txBody>
      </p:sp>
      <p:sp>
        <p:nvSpPr>
          <p:cNvPr id="3" name="Text Placeholder 2"/>
          <p:cNvSpPr>
            <a:spLocks noGrp="1"/>
          </p:cNvSpPr>
          <p:nvPr>
            <p:ph type="body" sz="quarter" idx="10"/>
          </p:nvPr>
        </p:nvSpPr>
        <p:spPr bwMode="gray">
          <a:xfrm>
            <a:off x="6096000" y="1047750"/>
            <a:ext cx="5653087" cy="4879805"/>
          </a:xfrm>
        </p:spPr>
        <p:txBody>
          <a:bodyPr/>
          <a:lstStyle/>
          <a:p>
            <a:r>
              <a:rPr lang="en-US" altLang="zh-CN" sz="1400" dirty="0"/>
              <a:t>Midpoint</a:t>
            </a:r>
            <a:r>
              <a:rPr lang="zh-CN" altLang="en-US" sz="1400" dirty="0"/>
              <a:t>保护流程：</a:t>
            </a:r>
            <a:endParaRPr lang="zh-CN" altLang="en-US" sz="1400" dirty="0"/>
          </a:p>
          <a:p>
            <a:pPr lvl="1">
              <a:buSzPct val="100000"/>
              <a:buFont typeface="+mj-lt"/>
              <a:buAutoNum type="arabicPeriod"/>
            </a:pPr>
            <a:r>
              <a:rPr lang="zh-CN" altLang="en-US" sz="1200" dirty="0"/>
              <a:t>正常时，</a:t>
            </a:r>
            <a:r>
              <a:rPr lang="en-US" altLang="zh-CN" sz="1200" dirty="0"/>
              <a:t>P1</a:t>
            </a:r>
            <a:r>
              <a:rPr lang="zh-CN" altLang="en-US" sz="1200" dirty="0"/>
              <a:t>节点计算了到各个节点的</a:t>
            </a:r>
            <a:r>
              <a:rPr lang="en-US" altLang="zh-CN" sz="1200" dirty="0"/>
              <a:t>IGP</a:t>
            </a:r>
            <a:r>
              <a:rPr lang="zh-CN" altLang="en-US" sz="1200" dirty="0"/>
              <a:t>最短路径和</a:t>
            </a:r>
            <a:r>
              <a:rPr lang="en-US" altLang="zh-CN" sz="1200" dirty="0"/>
              <a:t>TI-LFA</a:t>
            </a:r>
            <a:r>
              <a:rPr lang="zh-CN" altLang="en-US" sz="1200" dirty="0"/>
              <a:t>备份路径，例如去</a:t>
            </a:r>
            <a:r>
              <a:rPr lang="en-US" altLang="zh-CN" sz="1200" dirty="0"/>
              <a:t>PE2</a:t>
            </a:r>
            <a:r>
              <a:rPr lang="zh-CN" altLang="en-US" sz="1200" dirty="0"/>
              <a:t>节点的最短路径和</a:t>
            </a:r>
            <a:r>
              <a:rPr lang="en-US" altLang="zh-CN" sz="1200" dirty="0"/>
              <a:t>TI-LFA</a:t>
            </a:r>
            <a:r>
              <a:rPr lang="zh-CN" altLang="en-US" sz="1200" dirty="0"/>
              <a:t>路径。</a:t>
            </a:r>
            <a:endParaRPr lang="zh-CN" altLang="en-US" sz="1200" dirty="0"/>
          </a:p>
          <a:p>
            <a:pPr lvl="1">
              <a:buSzPct val="100000"/>
              <a:buFont typeface="+mj-lt"/>
              <a:buAutoNum type="arabicPeriod"/>
            </a:pPr>
            <a:r>
              <a:rPr lang="zh-CN" altLang="en-US" sz="1200" dirty="0"/>
              <a:t>当节点</a:t>
            </a:r>
            <a:r>
              <a:rPr lang="en-US" altLang="zh-CN" sz="1200" dirty="0"/>
              <a:t>P1</a:t>
            </a:r>
            <a:r>
              <a:rPr lang="zh-CN" altLang="en-US" sz="1200" dirty="0"/>
              <a:t>配置了</a:t>
            </a:r>
            <a:r>
              <a:rPr lang="en-US" altLang="zh-CN" sz="1200" dirty="0"/>
              <a:t>Middle point TI-LFA</a:t>
            </a:r>
            <a:r>
              <a:rPr lang="zh-CN" altLang="en-US" sz="1200" dirty="0"/>
              <a:t>后，如果节点</a:t>
            </a:r>
            <a:r>
              <a:rPr lang="en-US" altLang="zh-CN" sz="1200" dirty="0"/>
              <a:t>P2</a:t>
            </a:r>
            <a:r>
              <a:rPr lang="zh-CN" altLang="en-US" sz="1200" dirty="0"/>
              <a:t>发生故障时，</a:t>
            </a:r>
            <a:r>
              <a:rPr lang="en-US" altLang="zh-CN" sz="1200" dirty="0"/>
              <a:t>P1</a:t>
            </a:r>
            <a:r>
              <a:rPr lang="zh-CN" altLang="en-US" sz="1200" dirty="0"/>
              <a:t>感知到</a:t>
            </a:r>
            <a:r>
              <a:rPr lang="en-US" altLang="zh-CN" sz="1200" dirty="0"/>
              <a:t>P2</a:t>
            </a:r>
            <a:r>
              <a:rPr lang="zh-CN" altLang="en-US" sz="1200" dirty="0"/>
              <a:t>的出接口故障，报文的目的地址</a:t>
            </a:r>
            <a:r>
              <a:rPr lang="en-US" altLang="zh-CN" sz="1200" dirty="0"/>
              <a:t>P2</a:t>
            </a:r>
            <a:r>
              <a:rPr lang="zh-CN" altLang="en-US" sz="1200" dirty="0"/>
              <a:t>为</a:t>
            </a:r>
            <a:r>
              <a:rPr lang="en-US" altLang="zh-CN" sz="1200" dirty="0"/>
              <a:t>P1</a:t>
            </a:r>
            <a:r>
              <a:rPr lang="zh-CN" altLang="en-US" sz="1200" dirty="0"/>
              <a:t>的直连邻居，且</a:t>
            </a:r>
            <a:r>
              <a:rPr lang="en-US" altLang="zh-CN" sz="1200" dirty="0"/>
              <a:t>SRH</a:t>
            </a:r>
            <a:r>
              <a:rPr lang="zh-CN" altLang="en-US" sz="1200" dirty="0"/>
              <a:t>的</a:t>
            </a:r>
            <a:r>
              <a:rPr lang="en-US" altLang="zh-CN" sz="1200" dirty="0"/>
              <a:t>SL&gt;0</a:t>
            </a:r>
            <a:r>
              <a:rPr lang="zh-CN" altLang="en-US" sz="1200" dirty="0"/>
              <a:t>，会触发</a:t>
            </a:r>
            <a:r>
              <a:rPr lang="en-US" altLang="zh-CN" sz="1200" dirty="0"/>
              <a:t>Middle point TI-LFA</a:t>
            </a:r>
            <a:r>
              <a:rPr lang="zh-CN" altLang="en-US" sz="1200" dirty="0"/>
              <a:t>动作。</a:t>
            </a:r>
            <a:endParaRPr lang="zh-CN" altLang="en-US" sz="1200" dirty="0"/>
          </a:p>
          <a:p>
            <a:pPr lvl="1">
              <a:buSzPct val="100000"/>
              <a:buFont typeface="+mj-lt"/>
              <a:buAutoNum type="arabicPeriod"/>
            </a:pPr>
            <a:r>
              <a:rPr lang="zh-CN" altLang="en-US" sz="1200" dirty="0"/>
              <a:t>节点</a:t>
            </a:r>
            <a:r>
              <a:rPr lang="en-US" altLang="zh-CN" sz="1200" dirty="0"/>
              <a:t>P1</a:t>
            </a:r>
            <a:r>
              <a:rPr lang="zh-CN" altLang="en-US" sz="1200" dirty="0"/>
              <a:t>执行代理转发，</a:t>
            </a:r>
            <a:r>
              <a:rPr lang="en-US" altLang="zh-CN" sz="1200" dirty="0"/>
              <a:t>SL</a:t>
            </a:r>
            <a:r>
              <a:rPr lang="zh-CN" altLang="en-US" sz="1200" dirty="0"/>
              <a:t>减一，将</a:t>
            </a:r>
            <a:r>
              <a:rPr lang="en-US" altLang="zh-CN" sz="1200" dirty="0"/>
              <a:t>Next SID FC06::6</a:t>
            </a:r>
            <a:r>
              <a:rPr lang="zh-CN" altLang="en-US" sz="1200" dirty="0"/>
              <a:t>拷贝到</a:t>
            </a:r>
            <a:r>
              <a:rPr lang="en-US" altLang="zh-CN" sz="1200" dirty="0"/>
              <a:t>IPv6</a:t>
            </a:r>
            <a:r>
              <a:rPr lang="zh-CN" altLang="en-US" sz="1200" dirty="0"/>
              <a:t>目的地址中，后根据目的地址</a:t>
            </a:r>
            <a:r>
              <a:rPr lang="en-US" altLang="zh-CN" sz="1200" dirty="0"/>
              <a:t>PE2</a:t>
            </a:r>
            <a:r>
              <a:rPr lang="zh-CN" altLang="en-US" sz="1200" dirty="0"/>
              <a:t>转发，流量可以经过</a:t>
            </a:r>
            <a:r>
              <a:rPr lang="en-US" altLang="zh-CN" sz="1200" dirty="0"/>
              <a:t>P1-&gt;P3-&gt;P4</a:t>
            </a:r>
            <a:r>
              <a:rPr lang="zh-CN" altLang="en-US" sz="1200" dirty="0"/>
              <a:t>顺利到达</a:t>
            </a:r>
            <a:r>
              <a:rPr lang="en-US" altLang="zh-CN" sz="1200" dirty="0"/>
              <a:t>PE2</a:t>
            </a:r>
            <a:r>
              <a:rPr lang="zh-CN" altLang="en-US" sz="1200" dirty="0"/>
              <a:t>。</a:t>
            </a:r>
            <a:endParaRPr lang="zh-CN" altLang="en-US" sz="1200" dirty="0"/>
          </a:p>
          <a:p>
            <a:pPr lvl="1">
              <a:buSzPct val="100000"/>
              <a:buFont typeface="+mj-lt"/>
              <a:buAutoNum type="arabicPeriod"/>
            </a:pPr>
            <a:r>
              <a:rPr lang="zh-CN" altLang="en-US" sz="1200" dirty="0"/>
              <a:t>节点</a:t>
            </a:r>
            <a:r>
              <a:rPr lang="en-US" altLang="zh-CN" sz="1200" dirty="0"/>
              <a:t>P1</a:t>
            </a:r>
            <a:r>
              <a:rPr lang="zh-CN" altLang="en-US" sz="1200" dirty="0"/>
              <a:t>进行代理转发后，如果发现到目的地址</a:t>
            </a:r>
            <a:r>
              <a:rPr lang="en-US" altLang="zh-CN" sz="1200" dirty="0"/>
              <a:t>PE2</a:t>
            </a:r>
            <a:r>
              <a:rPr lang="zh-CN" altLang="en-US" sz="1200" dirty="0"/>
              <a:t>的下一跳依然是</a:t>
            </a:r>
            <a:r>
              <a:rPr lang="en-US" altLang="zh-CN" sz="1200" dirty="0"/>
              <a:t>P2</a:t>
            </a:r>
            <a:r>
              <a:rPr lang="zh-CN" altLang="en-US" sz="1200" dirty="0"/>
              <a:t>，此时</a:t>
            </a:r>
            <a:r>
              <a:rPr lang="en-US" altLang="zh-CN" sz="1200" dirty="0"/>
              <a:t>P1</a:t>
            </a:r>
            <a:r>
              <a:rPr lang="zh-CN" altLang="en-US" sz="1200" dirty="0"/>
              <a:t>将流量转发到</a:t>
            </a:r>
            <a:r>
              <a:rPr lang="en-US" altLang="zh-CN" sz="1200" dirty="0"/>
              <a:t>TI-LFA</a:t>
            </a:r>
            <a:r>
              <a:rPr lang="zh-CN" altLang="en-US" sz="1200" dirty="0"/>
              <a:t>备份路径。也就是说</a:t>
            </a:r>
            <a:r>
              <a:rPr lang="en-US" altLang="zh-CN" sz="1200" dirty="0"/>
              <a:t>P1</a:t>
            </a:r>
            <a:r>
              <a:rPr lang="zh-CN" altLang="en-US" sz="1200" dirty="0"/>
              <a:t>在进行了</a:t>
            </a:r>
            <a:r>
              <a:rPr lang="en-US" altLang="zh-CN" sz="1200" dirty="0"/>
              <a:t>Middle point TI-LFA</a:t>
            </a:r>
            <a:r>
              <a:rPr lang="zh-CN" altLang="en-US" sz="1200" dirty="0"/>
              <a:t>之后，紧接着进行一次基础</a:t>
            </a:r>
            <a:r>
              <a:rPr lang="en-US" altLang="zh-CN" sz="1200" dirty="0"/>
              <a:t>TI-LFA</a:t>
            </a:r>
            <a:r>
              <a:rPr lang="zh-CN" altLang="en-US" sz="1200" dirty="0"/>
              <a:t>处理，从而实现流量切换到正确的备份路径。</a:t>
            </a:r>
            <a:endParaRPr lang="zh-CN" altLang="en-US" sz="1200" dirty="0"/>
          </a:p>
          <a:p>
            <a:pPr lvl="1">
              <a:buSzPct val="100000"/>
              <a:buFont typeface="+mj-lt"/>
              <a:buAutoNum type="arabicPeriod"/>
            </a:pPr>
            <a:r>
              <a:rPr lang="zh-CN" altLang="en-US" sz="1200" dirty="0"/>
              <a:t>节点</a:t>
            </a:r>
            <a:r>
              <a:rPr lang="en-US" altLang="zh-CN" sz="1200" dirty="0"/>
              <a:t>PE1</a:t>
            </a:r>
            <a:r>
              <a:rPr lang="zh-CN" altLang="en-US" sz="1200" dirty="0"/>
              <a:t>完成</a:t>
            </a:r>
            <a:r>
              <a:rPr lang="en-US" altLang="zh-CN" sz="1200" dirty="0"/>
              <a:t>IGP</a:t>
            </a:r>
            <a:r>
              <a:rPr lang="zh-CN" altLang="en-US" sz="1200" dirty="0"/>
              <a:t>收敛之后，删除到</a:t>
            </a:r>
            <a:r>
              <a:rPr lang="en-US" altLang="zh-CN" sz="1200" dirty="0"/>
              <a:t>P2</a:t>
            </a:r>
            <a:r>
              <a:rPr lang="zh-CN" altLang="en-US" sz="1200" dirty="0"/>
              <a:t>的</a:t>
            </a:r>
            <a:r>
              <a:rPr lang="en-US" altLang="zh-CN" sz="1200" dirty="0"/>
              <a:t>FIB</a:t>
            </a:r>
            <a:r>
              <a:rPr lang="zh-CN" altLang="en-US" sz="1200" dirty="0"/>
              <a:t>表项，而此时如果</a:t>
            </a:r>
            <a:r>
              <a:rPr lang="en-US" altLang="zh-CN" sz="1200" dirty="0" err="1"/>
              <a:t>iMaster</a:t>
            </a:r>
            <a:r>
              <a:rPr lang="en-US" altLang="zh-CN" sz="1200" dirty="0"/>
              <a:t> NCE-IP</a:t>
            </a:r>
            <a:r>
              <a:rPr lang="zh-CN" altLang="en-US" sz="1200" dirty="0"/>
              <a:t>还下发新的</a:t>
            </a:r>
            <a:r>
              <a:rPr lang="en-US" altLang="zh-CN" sz="1200" dirty="0"/>
              <a:t>Policy</a:t>
            </a:r>
            <a:r>
              <a:rPr lang="zh-CN" altLang="en-US" sz="1200" dirty="0"/>
              <a:t>的</a:t>
            </a:r>
            <a:r>
              <a:rPr lang="en-US" altLang="zh-CN" sz="1200" dirty="0"/>
              <a:t>Segment List</a:t>
            </a:r>
            <a:r>
              <a:rPr lang="zh-CN" altLang="en-US" sz="1200" dirty="0"/>
              <a:t>，节点</a:t>
            </a:r>
            <a:r>
              <a:rPr lang="en-US" altLang="zh-CN" sz="1200" dirty="0"/>
              <a:t>PE2</a:t>
            </a:r>
            <a:r>
              <a:rPr lang="zh-CN" altLang="en-US" sz="1200" dirty="0"/>
              <a:t>也会进行</a:t>
            </a:r>
            <a:r>
              <a:rPr lang="en-US" altLang="zh-CN" sz="1200" dirty="0"/>
              <a:t>Proxy Forwarding</a:t>
            </a:r>
            <a:r>
              <a:rPr lang="zh-CN" altLang="en-US" sz="1200" dirty="0"/>
              <a:t>处理，</a:t>
            </a:r>
            <a:r>
              <a:rPr lang="en-US" altLang="zh-CN" sz="1200" dirty="0"/>
              <a:t>SL</a:t>
            </a:r>
            <a:r>
              <a:rPr lang="zh-CN" altLang="en-US" sz="1200" dirty="0"/>
              <a:t>减一，将</a:t>
            </a:r>
            <a:r>
              <a:rPr lang="en-US" altLang="zh-CN" sz="1200" dirty="0"/>
              <a:t>Next SID FC06::6</a:t>
            </a:r>
            <a:r>
              <a:rPr lang="zh-CN" altLang="en-US" sz="1200" dirty="0"/>
              <a:t>作为</a:t>
            </a:r>
            <a:r>
              <a:rPr lang="en-US" altLang="zh-CN" sz="1200" dirty="0"/>
              <a:t>IPv6</a:t>
            </a:r>
            <a:r>
              <a:rPr lang="zh-CN" altLang="en-US" sz="1200" dirty="0"/>
              <a:t>目的地址，并沿途转发到</a:t>
            </a:r>
            <a:r>
              <a:rPr lang="en-US" altLang="zh-CN" sz="1200" dirty="0"/>
              <a:t>PE2</a:t>
            </a:r>
            <a:r>
              <a:rPr lang="zh-CN" altLang="en-US" sz="1200" dirty="0"/>
              <a:t>。</a:t>
            </a:r>
            <a:endParaRPr lang="zh-CN" altLang="en-US" sz="1200" dirty="0"/>
          </a:p>
        </p:txBody>
      </p:sp>
      <p:pic>
        <p:nvPicPr>
          <p:cNvPr id="4"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1490449" y="2265134"/>
            <a:ext cx="468318" cy="383051"/>
          </a:xfrm>
          <a:prstGeom prst="rect">
            <a:avLst/>
          </a:prstGeom>
        </p:spPr>
      </p:pic>
      <p:pic>
        <p:nvPicPr>
          <p:cNvPr id="5"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3492369" y="2265134"/>
            <a:ext cx="468318" cy="383051"/>
          </a:xfrm>
          <a:prstGeom prst="rect">
            <a:avLst/>
          </a:prstGeom>
        </p:spPr>
      </p:pic>
      <p:pic>
        <p:nvPicPr>
          <p:cNvPr id="6"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5494289" y="2265133"/>
            <a:ext cx="468318" cy="383051"/>
          </a:xfrm>
          <a:prstGeom prst="rect">
            <a:avLst/>
          </a:prstGeom>
        </p:spPr>
      </p:pic>
      <p:pic>
        <p:nvPicPr>
          <p:cNvPr id="7"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3492369" y="4003371"/>
            <a:ext cx="468318" cy="383051"/>
          </a:xfrm>
          <a:prstGeom prst="rect">
            <a:avLst/>
          </a:prstGeom>
        </p:spPr>
      </p:pic>
      <p:pic>
        <p:nvPicPr>
          <p:cNvPr id="8"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5494289" y="4003370"/>
            <a:ext cx="468318" cy="383051"/>
          </a:xfrm>
          <a:prstGeom prst="rect">
            <a:avLst/>
          </a:prstGeom>
        </p:spPr>
      </p:pic>
      <p:pic>
        <p:nvPicPr>
          <p:cNvPr id="9"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5493093" y="5297864"/>
            <a:ext cx="468318" cy="383051"/>
          </a:xfrm>
          <a:prstGeom prst="rect">
            <a:avLst/>
          </a:prstGeom>
        </p:spPr>
      </p:pic>
      <p:cxnSp>
        <p:nvCxnSpPr>
          <p:cNvPr id="10" name="直接连接符 19"/>
          <p:cNvCxnSpPr>
            <a:stCxn id="5" idx="1"/>
            <a:endCxn id="4" idx="3"/>
          </p:cNvCxnSpPr>
          <p:nvPr/>
        </p:nvCxnSpPr>
        <p:spPr bwMode="gray">
          <a:xfrm flipH="1">
            <a:off x="1958767" y="2456660"/>
            <a:ext cx="1533602" cy="0"/>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cxnSp>
        <p:nvCxnSpPr>
          <p:cNvPr id="11" name="直接连接符 19"/>
          <p:cNvCxnSpPr>
            <a:stCxn id="6" idx="1"/>
            <a:endCxn id="5" idx="3"/>
          </p:cNvCxnSpPr>
          <p:nvPr/>
        </p:nvCxnSpPr>
        <p:spPr bwMode="gray">
          <a:xfrm flipH="1">
            <a:off x="3960687" y="2456659"/>
            <a:ext cx="1533602" cy="1"/>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cxnSp>
        <p:nvCxnSpPr>
          <p:cNvPr id="12" name="直接连接符 19"/>
          <p:cNvCxnSpPr>
            <a:stCxn id="7" idx="0"/>
            <a:endCxn id="5" idx="2"/>
          </p:cNvCxnSpPr>
          <p:nvPr/>
        </p:nvCxnSpPr>
        <p:spPr bwMode="gray">
          <a:xfrm flipV="1">
            <a:off x="3726528" y="2648185"/>
            <a:ext cx="0" cy="1355186"/>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cxnSp>
        <p:nvCxnSpPr>
          <p:cNvPr id="13" name="直接连接符 19"/>
          <p:cNvCxnSpPr>
            <a:stCxn id="8" idx="0"/>
            <a:endCxn id="6" idx="2"/>
          </p:cNvCxnSpPr>
          <p:nvPr/>
        </p:nvCxnSpPr>
        <p:spPr bwMode="gray">
          <a:xfrm flipV="1">
            <a:off x="5728448" y="2648184"/>
            <a:ext cx="0" cy="1355186"/>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cxnSp>
        <p:nvCxnSpPr>
          <p:cNvPr id="14" name="直接连接符 19"/>
          <p:cNvCxnSpPr>
            <a:stCxn id="8" idx="1"/>
            <a:endCxn id="7" idx="3"/>
          </p:cNvCxnSpPr>
          <p:nvPr/>
        </p:nvCxnSpPr>
        <p:spPr bwMode="gray">
          <a:xfrm flipH="1">
            <a:off x="3960687" y="4194896"/>
            <a:ext cx="1533602" cy="1"/>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cxnSp>
        <p:nvCxnSpPr>
          <p:cNvPr id="15" name="直接连接符 19"/>
          <p:cNvCxnSpPr>
            <a:stCxn id="9" idx="0"/>
            <a:endCxn id="8" idx="2"/>
          </p:cNvCxnSpPr>
          <p:nvPr/>
        </p:nvCxnSpPr>
        <p:spPr bwMode="gray">
          <a:xfrm flipV="1">
            <a:off x="5727252" y="4386421"/>
            <a:ext cx="1196" cy="911443"/>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sp>
        <p:nvSpPr>
          <p:cNvPr id="16" name="TextBox 16"/>
          <p:cNvSpPr txBox="1"/>
          <p:nvPr/>
        </p:nvSpPr>
        <p:spPr bwMode="gray">
          <a:xfrm>
            <a:off x="1472226" y="2012334"/>
            <a:ext cx="477846"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PE1</a:t>
            </a:r>
            <a:endParaRPr lang="zh-CN" altLang="en-US" sz="1200" dirty="0">
              <a:solidFill>
                <a:srgbClr val="000000"/>
              </a:solidFill>
              <a:cs typeface="+mn-ea"/>
              <a:sym typeface="+mn-lt"/>
            </a:endParaRPr>
          </a:p>
        </p:txBody>
      </p:sp>
      <p:sp>
        <p:nvSpPr>
          <p:cNvPr id="17" name="TextBox 16"/>
          <p:cNvSpPr txBox="1"/>
          <p:nvPr/>
        </p:nvSpPr>
        <p:spPr bwMode="gray">
          <a:xfrm>
            <a:off x="3482841" y="2026234"/>
            <a:ext cx="477846"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P1</a:t>
            </a:r>
            <a:endParaRPr lang="zh-CN" altLang="en-US" sz="1200" dirty="0">
              <a:solidFill>
                <a:srgbClr val="000000"/>
              </a:solidFill>
              <a:cs typeface="+mn-ea"/>
              <a:sym typeface="+mn-lt"/>
            </a:endParaRPr>
          </a:p>
        </p:txBody>
      </p:sp>
      <p:sp>
        <p:nvSpPr>
          <p:cNvPr id="18" name="TextBox 16"/>
          <p:cNvSpPr txBox="1"/>
          <p:nvPr/>
        </p:nvSpPr>
        <p:spPr bwMode="gray">
          <a:xfrm>
            <a:off x="5497126" y="2012333"/>
            <a:ext cx="477846"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P2</a:t>
            </a:r>
            <a:endParaRPr lang="zh-CN" altLang="en-US" sz="1200" dirty="0">
              <a:solidFill>
                <a:srgbClr val="000000"/>
              </a:solidFill>
              <a:cs typeface="+mn-ea"/>
              <a:sym typeface="+mn-lt"/>
            </a:endParaRPr>
          </a:p>
        </p:txBody>
      </p:sp>
      <p:sp>
        <p:nvSpPr>
          <p:cNvPr id="19" name="TextBox 16"/>
          <p:cNvSpPr txBox="1"/>
          <p:nvPr/>
        </p:nvSpPr>
        <p:spPr bwMode="gray">
          <a:xfrm>
            <a:off x="3482841" y="4362222"/>
            <a:ext cx="477846"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P3</a:t>
            </a:r>
            <a:endParaRPr lang="zh-CN" altLang="en-US" sz="1200" dirty="0">
              <a:solidFill>
                <a:srgbClr val="000000"/>
              </a:solidFill>
              <a:cs typeface="+mn-ea"/>
              <a:sym typeface="+mn-lt"/>
            </a:endParaRPr>
          </a:p>
        </p:txBody>
      </p:sp>
      <p:sp>
        <p:nvSpPr>
          <p:cNvPr id="20" name="TextBox 16"/>
          <p:cNvSpPr txBox="1"/>
          <p:nvPr/>
        </p:nvSpPr>
        <p:spPr bwMode="gray">
          <a:xfrm>
            <a:off x="5673301" y="4345359"/>
            <a:ext cx="477846"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P4</a:t>
            </a:r>
            <a:endParaRPr lang="zh-CN" altLang="en-US" sz="1200" dirty="0">
              <a:solidFill>
                <a:srgbClr val="000000"/>
              </a:solidFill>
              <a:cs typeface="+mn-ea"/>
              <a:sym typeface="+mn-lt"/>
            </a:endParaRPr>
          </a:p>
        </p:txBody>
      </p:sp>
      <p:sp>
        <p:nvSpPr>
          <p:cNvPr id="21" name="TextBox 16"/>
          <p:cNvSpPr txBox="1"/>
          <p:nvPr/>
        </p:nvSpPr>
        <p:spPr bwMode="gray">
          <a:xfrm>
            <a:off x="5673301" y="5055796"/>
            <a:ext cx="477846"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PE2</a:t>
            </a:r>
            <a:endParaRPr lang="zh-CN" altLang="en-US" sz="1200" dirty="0">
              <a:solidFill>
                <a:srgbClr val="000000"/>
              </a:solidFill>
              <a:cs typeface="+mn-ea"/>
              <a:sym typeface="+mn-lt"/>
            </a:endParaRPr>
          </a:p>
        </p:txBody>
      </p:sp>
      <p:sp>
        <p:nvSpPr>
          <p:cNvPr id="22" name="TextBox 24"/>
          <p:cNvSpPr txBox="1"/>
          <p:nvPr/>
        </p:nvSpPr>
        <p:spPr bwMode="gray">
          <a:xfrm>
            <a:off x="891148" y="2093590"/>
            <a:ext cx="708848" cy="276999"/>
          </a:xfrm>
          <a:prstGeom prst="rect">
            <a:avLst/>
          </a:prstGeom>
          <a:noFill/>
        </p:spPr>
        <p:txBody>
          <a:bodyPr wrap="none" rtlCol="0">
            <a:spAutoFit/>
          </a:bodyPr>
          <a:lstStyle/>
          <a:p>
            <a:pPr>
              <a:buClr>
                <a:srgbClr val="CC9900"/>
              </a:buClr>
              <a:buFont typeface="Wingdings" panose="05000000000000000000" pitchFamily="2" charset="2"/>
              <a:buNone/>
            </a:pPr>
            <a:r>
              <a:rPr lang="en-GB" altLang="zh-CN" sz="1200" b="1" dirty="0">
                <a:cs typeface="+mn-ea"/>
                <a:sym typeface="+mn-lt"/>
              </a:rPr>
              <a:t>FC01</a:t>
            </a:r>
            <a:r>
              <a:rPr lang="en-US" altLang="zh-CN" sz="1200" b="1" dirty="0">
                <a:cs typeface="+mn-ea"/>
                <a:sym typeface="+mn-lt"/>
              </a:rPr>
              <a:t>::1</a:t>
            </a:r>
            <a:endParaRPr lang="zh-CN" altLang="en-US" sz="1200" b="1" dirty="0">
              <a:cs typeface="+mn-ea"/>
              <a:sym typeface="+mn-lt"/>
            </a:endParaRPr>
          </a:p>
        </p:txBody>
      </p:sp>
      <p:sp>
        <p:nvSpPr>
          <p:cNvPr id="23" name="TextBox 24"/>
          <p:cNvSpPr txBox="1"/>
          <p:nvPr/>
        </p:nvSpPr>
        <p:spPr bwMode="gray">
          <a:xfrm>
            <a:off x="3715584" y="2612870"/>
            <a:ext cx="708848" cy="276999"/>
          </a:xfrm>
          <a:prstGeom prst="rect">
            <a:avLst/>
          </a:prstGeom>
          <a:noFill/>
        </p:spPr>
        <p:txBody>
          <a:bodyPr wrap="none" rtlCol="0">
            <a:spAutoFit/>
          </a:bodyPr>
          <a:lstStyle/>
          <a:p>
            <a:pPr>
              <a:buClr>
                <a:srgbClr val="CC9900"/>
              </a:buClr>
              <a:buFont typeface="Wingdings" panose="05000000000000000000" pitchFamily="2" charset="2"/>
              <a:buNone/>
            </a:pPr>
            <a:r>
              <a:rPr lang="en-GB" altLang="zh-CN" sz="1200" b="1" dirty="0">
                <a:cs typeface="+mn-ea"/>
                <a:sym typeface="+mn-lt"/>
              </a:rPr>
              <a:t>FC02</a:t>
            </a:r>
            <a:r>
              <a:rPr lang="en-US" altLang="zh-CN" sz="1200" b="1" dirty="0">
                <a:cs typeface="+mn-ea"/>
                <a:sym typeface="+mn-lt"/>
              </a:rPr>
              <a:t>::2</a:t>
            </a:r>
            <a:endParaRPr lang="zh-CN" altLang="en-US" sz="1200" b="1" dirty="0">
              <a:cs typeface="+mn-ea"/>
              <a:sym typeface="+mn-lt"/>
            </a:endParaRPr>
          </a:p>
        </p:txBody>
      </p:sp>
      <p:sp>
        <p:nvSpPr>
          <p:cNvPr id="24" name="TextBox 24"/>
          <p:cNvSpPr txBox="1"/>
          <p:nvPr/>
        </p:nvSpPr>
        <p:spPr bwMode="gray">
          <a:xfrm>
            <a:off x="5048293" y="2612870"/>
            <a:ext cx="708848" cy="276999"/>
          </a:xfrm>
          <a:prstGeom prst="rect">
            <a:avLst/>
          </a:prstGeom>
          <a:noFill/>
        </p:spPr>
        <p:txBody>
          <a:bodyPr wrap="none" rtlCol="0">
            <a:spAutoFit/>
          </a:bodyPr>
          <a:lstStyle/>
          <a:p>
            <a:pPr>
              <a:buClr>
                <a:srgbClr val="CC9900"/>
              </a:buClr>
              <a:buFont typeface="Wingdings" panose="05000000000000000000" pitchFamily="2" charset="2"/>
              <a:buNone/>
            </a:pPr>
            <a:r>
              <a:rPr lang="en-GB" altLang="zh-CN" sz="1200" b="1" dirty="0">
                <a:cs typeface="+mn-ea"/>
                <a:sym typeface="+mn-lt"/>
              </a:rPr>
              <a:t>FC03</a:t>
            </a:r>
            <a:r>
              <a:rPr lang="en-US" altLang="zh-CN" sz="1200" b="1" dirty="0">
                <a:cs typeface="+mn-ea"/>
                <a:sym typeface="+mn-lt"/>
              </a:rPr>
              <a:t>::3</a:t>
            </a:r>
            <a:endParaRPr lang="zh-CN" altLang="en-US" sz="1200" b="1" dirty="0">
              <a:cs typeface="+mn-ea"/>
              <a:sym typeface="+mn-lt"/>
            </a:endParaRPr>
          </a:p>
        </p:txBody>
      </p:sp>
      <p:sp>
        <p:nvSpPr>
          <p:cNvPr id="25" name="TextBox 24"/>
          <p:cNvSpPr txBox="1"/>
          <p:nvPr/>
        </p:nvSpPr>
        <p:spPr bwMode="gray">
          <a:xfrm>
            <a:off x="3701733" y="3769109"/>
            <a:ext cx="708848" cy="276999"/>
          </a:xfrm>
          <a:prstGeom prst="rect">
            <a:avLst/>
          </a:prstGeom>
          <a:noFill/>
        </p:spPr>
        <p:txBody>
          <a:bodyPr wrap="none" rtlCol="0">
            <a:spAutoFit/>
          </a:bodyPr>
          <a:lstStyle/>
          <a:p>
            <a:pPr>
              <a:buClr>
                <a:srgbClr val="CC9900"/>
              </a:buClr>
              <a:buFont typeface="Wingdings" panose="05000000000000000000" pitchFamily="2" charset="2"/>
              <a:buNone/>
            </a:pPr>
            <a:r>
              <a:rPr lang="en-GB" altLang="zh-CN" sz="1200" b="1" dirty="0">
                <a:cs typeface="+mn-ea"/>
                <a:sym typeface="+mn-lt"/>
              </a:rPr>
              <a:t>FC04</a:t>
            </a:r>
            <a:r>
              <a:rPr lang="en-US" altLang="zh-CN" sz="1200" b="1" dirty="0">
                <a:cs typeface="+mn-ea"/>
                <a:sym typeface="+mn-lt"/>
              </a:rPr>
              <a:t>::4</a:t>
            </a:r>
            <a:endParaRPr lang="zh-CN" altLang="en-US" sz="1200" b="1" dirty="0">
              <a:cs typeface="+mn-ea"/>
              <a:sym typeface="+mn-lt"/>
            </a:endParaRPr>
          </a:p>
        </p:txBody>
      </p:sp>
      <p:sp>
        <p:nvSpPr>
          <p:cNvPr id="26" name="TextBox 24"/>
          <p:cNvSpPr txBox="1"/>
          <p:nvPr/>
        </p:nvSpPr>
        <p:spPr bwMode="gray">
          <a:xfrm>
            <a:off x="5044395" y="3767433"/>
            <a:ext cx="708848" cy="276999"/>
          </a:xfrm>
          <a:prstGeom prst="rect">
            <a:avLst/>
          </a:prstGeom>
          <a:noFill/>
        </p:spPr>
        <p:txBody>
          <a:bodyPr wrap="none" rtlCol="0">
            <a:spAutoFit/>
          </a:bodyPr>
          <a:lstStyle/>
          <a:p>
            <a:pPr>
              <a:buClr>
                <a:srgbClr val="CC9900"/>
              </a:buClr>
              <a:buFont typeface="Wingdings" panose="05000000000000000000" pitchFamily="2" charset="2"/>
              <a:buNone/>
            </a:pPr>
            <a:r>
              <a:rPr lang="en-GB" altLang="zh-CN" sz="1200" b="1" dirty="0">
                <a:cs typeface="+mn-ea"/>
                <a:sym typeface="+mn-lt"/>
              </a:rPr>
              <a:t>FC05</a:t>
            </a:r>
            <a:r>
              <a:rPr lang="en-US" altLang="zh-CN" sz="1200" b="1" dirty="0">
                <a:cs typeface="+mn-ea"/>
                <a:sym typeface="+mn-lt"/>
              </a:rPr>
              <a:t>::5</a:t>
            </a:r>
            <a:endParaRPr lang="zh-CN" altLang="en-US" sz="1200" b="1" dirty="0">
              <a:cs typeface="+mn-ea"/>
              <a:sym typeface="+mn-lt"/>
            </a:endParaRPr>
          </a:p>
        </p:txBody>
      </p:sp>
      <p:sp>
        <p:nvSpPr>
          <p:cNvPr id="27" name="TextBox 24"/>
          <p:cNvSpPr txBox="1"/>
          <p:nvPr/>
        </p:nvSpPr>
        <p:spPr bwMode="gray">
          <a:xfrm>
            <a:off x="5548584" y="5696038"/>
            <a:ext cx="708848" cy="276999"/>
          </a:xfrm>
          <a:prstGeom prst="rect">
            <a:avLst/>
          </a:prstGeom>
          <a:noFill/>
        </p:spPr>
        <p:txBody>
          <a:bodyPr wrap="none" rtlCol="0">
            <a:spAutoFit/>
          </a:bodyPr>
          <a:lstStyle/>
          <a:p>
            <a:pPr>
              <a:buClr>
                <a:srgbClr val="CC9900"/>
              </a:buClr>
              <a:buFont typeface="Wingdings" panose="05000000000000000000" pitchFamily="2" charset="2"/>
              <a:buNone/>
            </a:pPr>
            <a:r>
              <a:rPr lang="en-GB" altLang="zh-CN" sz="1200" b="1" dirty="0">
                <a:cs typeface="+mn-ea"/>
                <a:sym typeface="+mn-lt"/>
              </a:rPr>
              <a:t>FC06</a:t>
            </a:r>
            <a:r>
              <a:rPr lang="en-US" altLang="zh-CN" sz="1200" b="1" dirty="0">
                <a:cs typeface="+mn-ea"/>
                <a:sym typeface="+mn-lt"/>
              </a:rPr>
              <a:t>::6</a:t>
            </a:r>
            <a:endParaRPr lang="zh-CN" altLang="en-US" sz="1200" b="1" dirty="0">
              <a:cs typeface="+mn-ea"/>
              <a:sym typeface="+mn-lt"/>
            </a:endParaRPr>
          </a:p>
        </p:txBody>
      </p:sp>
      <p:graphicFrame>
        <p:nvGraphicFramePr>
          <p:cNvPr id="28" name="Table 27"/>
          <p:cNvGraphicFramePr>
            <a:graphicFrameLocks noGrp="1"/>
          </p:cNvGraphicFramePr>
          <p:nvPr/>
        </p:nvGraphicFramePr>
        <p:xfrm>
          <a:off x="2025512" y="973085"/>
          <a:ext cx="1420143" cy="1371600"/>
        </p:xfrm>
        <a:graphic>
          <a:graphicData uri="http://schemas.openxmlformats.org/drawingml/2006/table">
            <a:tbl>
              <a:tblPr firstRow="1" bandRow="1">
                <a:tableStyleId>{72833802-FEF1-4C79-8D5D-14CF1EAF98D9}</a:tableStyleId>
              </a:tblPr>
              <a:tblGrid>
                <a:gridCol w="1420143"/>
              </a:tblGrid>
              <a:tr h="370840">
                <a:tc>
                  <a:txBody>
                    <a:bodyPr/>
                    <a:lstStyle/>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DIPv6</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FC03::3</a:t>
                      </a:r>
                      <a:endPar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SIPv6</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FC01::1</a:t>
                      </a:r>
                      <a:endPar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6C4D2"/>
                    </a:solidFill>
                  </a:tcPr>
                </a:tc>
              </a:tr>
              <a:tr h="386362">
                <a:tc>
                  <a:txBody>
                    <a:bodyPr/>
                    <a:lstStyle/>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SRH</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SL=</a:t>
                      </a: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1</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FC06::6</a:t>
                      </a:r>
                      <a:endPar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FC03::3</a:t>
                      </a:r>
                      <a:endParaRPr lang="zh-CN" altLang="en-US"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EEEC1"/>
                    </a:solidFill>
                  </a:tcPr>
                </a:tc>
              </a:tr>
              <a:tr h="0">
                <a:tc>
                  <a:txBody>
                    <a:bodyPr/>
                    <a:lstStyle/>
                    <a:p>
                      <a:pPr algn="ctr"/>
                      <a:r>
                        <a:rPr lang="en-US" altLang="zh-CN" sz="1200" dirty="0">
                          <a:solidFill>
                            <a:schemeClr val="bg1"/>
                          </a:solidFill>
                        </a:rPr>
                        <a:t>Payload</a:t>
                      </a:r>
                      <a:endParaRPr lang="zh-CN" altLang="en-US" sz="1200"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r>
            </a:tbl>
          </a:graphicData>
        </a:graphic>
      </p:graphicFrame>
      <p:sp>
        <p:nvSpPr>
          <p:cNvPr id="34" name="Plus Sign 75"/>
          <p:cNvSpPr/>
          <p:nvPr/>
        </p:nvSpPr>
        <p:spPr bwMode="gray">
          <a:xfrm rot="2700000">
            <a:off x="5639018" y="2266434"/>
            <a:ext cx="298938" cy="298938"/>
          </a:xfrm>
          <a:prstGeom prst="mathPlus">
            <a:avLst/>
          </a:prstGeom>
          <a:solidFill>
            <a:srgbClr val="E28189"/>
          </a:solidFill>
          <a:ln>
            <a:solidFill>
              <a:srgbClr val="E2818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8" name="Straight Arrow Connector 37"/>
          <p:cNvCxnSpPr/>
          <p:nvPr/>
        </p:nvCxnSpPr>
        <p:spPr bwMode="gray">
          <a:xfrm>
            <a:off x="4277319" y="1390231"/>
            <a:ext cx="666750" cy="0"/>
          </a:xfrm>
          <a:prstGeom prst="straightConnector1">
            <a:avLst/>
          </a:prstGeom>
          <a:noFill/>
          <a:ln w="28575">
            <a:solidFill>
              <a:srgbClr val="56C4D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39" name="Straight Arrow Connector 38"/>
          <p:cNvCxnSpPr/>
          <p:nvPr/>
        </p:nvCxnSpPr>
        <p:spPr bwMode="gray">
          <a:xfrm>
            <a:off x="4277319" y="1723606"/>
            <a:ext cx="666750" cy="0"/>
          </a:xfrm>
          <a:prstGeom prst="straightConnector1">
            <a:avLst/>
          </a:prstGeom>
          <a:noFill/>
          <a:ln w="28575">
            <a:solidFill>
              <a:srgbClr val="E28189"/>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sp>
        <p:nvSpPr>
          <p:cNvPr id="40" name="TextBox 16"/>
          <p:cNvSpPr txBox="1"/>
          <p:nvPr/>
        </p:nvSpPr>
        <p:spPr bwMode="gray">
          <a:xfrm>
            <a:off x="4912041" y="1251731"/>
            <a:ext cx="815211" cy="276999"/>
          </a:xfrm>
          <a:prstGeom prst="rect">
            <a:avLst/>
          </a:prstGeom>
          <a:noFill/>
        </p:spPr>
        <p:txBody>
          <a:bodyPr wrap="square" rtlCol="0">
            <a:spAutoFit/>
          </a:bodyPr>
          <a:lstStyle/>
          <a:p>
            <a:pPr algn="ctr">
              <a:buClr>
                <a:srgbClr val="CC9900"/>
              </a:buClr>
              <a:buFont typeface="Wingdings" panose="05000000000000000000" pitchFamily="2" charset="2"/>
              <a:buNone/>
            </a:pPr>
            <a:r>
              <a:rPr lang="zh-CN" altLang="en-US" sz="1200" dirty="0">
                <a:solidFill>
                  <a:srgbClr val="000000"/>
                </a:solidFill>
                <a:cs typeface="+mn-ea"/>
                <a:sym typeface="+mn-lt"/>
              </a:rPr>
              <a:t>备份路径</a:t>
            </a:r>
            <a:endParaRPr lang="zh-CN" altLang="en-US" sz="1200" dirty="0">
              <a:solidFill>
                <a:srgbClr val="000000"/>
              </a:solidFill>
              <a:cs typeface="+mn-ea"/>
              <a:sym typeface="+mn-lt"/>
            </a:endParaRPr>
          </a:p>
        </p:txBody>
      </p:sp>
      <p:sp>
        <p:nvSpPr>
          <p:cNvPr id="41" name="TextBox 16"/>
          <p:cNvSpPr txBox="1"/>
          <p:nvPr/>
        </p:nvSpPr>
        <p:spPr bwMode="gray">
          <a:xfrm>
            <a:off x="4912042" y="1585106"/>
            <a:ext cx="660678" cy="276999"/>
          </a:xfrm>
          <a:prstGeom prst="rect">
            <a:avLst/>
          </a:prstGeom>
          <a:noFill/>
        </p:spPr>
        <p:txBody>
          <a:bodyPr wrap="square" rtlCol="0">
            <a:spAutoFit/>
          </a:bodyPr>
          <a:lstStyle/>
          <a:p>
            <a:pPr algn="ctr">
              <a:buClr>
                <a:srgbClr val="CC9900"/>
              </a:buClr>
              <a:buFont typeface="Wingdings" panose="05000000000000000000" pitchFamily="2" charset="2"/>
              <a:buNone/>
            </a:pPr>
            <a:r>
              <a:rPr lang="zh-CN" altLang="en-US" sz="1200" dirty="0">
                <a:solidFill>
                  <a:srgbClr val="000000"/>
                </a:solidFill>
                <a:cs typeface="+mn-ea"/>
                <a:sym typeface="+mn-lt"/>
              </a:rPr>
              <a:t>主路径</a:t>
            </a:r>
            <a:endParaRPr lang="zh-CN" altLang="en-US" sz="1200" dirty="0">
              <a:solidFill>
                <a:srgbClr val="000000"/>
              </a:solidFill>
              <a:cs typeface="+mn-ea"/>
              <a:sym typeface="+mn-lt"/>
            </a:endParaRPr>
          </a:p>
        </p:txBody>
      </p:sp>
      <p:graphicFrame>
        <p:nvGraphicFramePr>
          <p:cNvPr id="46" name="Table 45"/>
          <p:cNvGraphicFramePr>
            <a:graphicFrameLocks noGrp="1"/>
          </p:cNvGraphicFramePr>
          <p:nvPr/>
        </p:nvGraphicFramePr>
        <p:xfrm>
          <a:off x="2025511" y="2612168"/>
          <a:ext cx="1420143" cy="1371600"/>
        </p:xfrm>
        <a:graphic>
          <a:graphicData uri="http://schemas.openxmlformats.org/drawingml/2006/table">
            <a:tbl>
              <a:tblPr firstRow="1" bandRow="1">
                <a:tableStyleId>{72833802-FEF1-4C79-8D5D-14CF1EAF98D9}</a:tableStyleId>
              </a:tblPr>
              <a:tblGrid>
                <a:gridCol w="1420143"/>
              </a:tblGrid>
              <a:tr h="262766">
                <a:tc>
                  <a:txBody>
                    <a:bodyPr/>
                    <a:lstStyle/>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DIPv6</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FC06::6</a:t>
                      </a:r>
                      <a:endPar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SIPv6</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FC01::1</a:t>
                      </a:r>
                      <a:endPar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6C4D2"/>
                    </a:solidFill>
                  </a:tcPr>
                </a:tc>
              </a:tr>
              <a:tr h="367872">
                <a:tc>
                  <a:txBody>
                    <a:bodyPr/>
                    <a:lstStyle/>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SRH</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SL=</a:t>
                      </a: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0</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0" algn="ctr" defTabSz="913765" rtl="0" eaLnBrk="1" latinLnBrk="0" hangingPunct="1"/>
                      <a:r>
                        <a:rPr lang="en-US" altLang="zh-CN" sz="1200" b="1" kern="1200" dirty="0">
                          <a:solidFill>
                            <a:srgbClr val="C7000B"/>
                          </a:solidFill>
                          <a:latin typeface="Huawei Sans" panose="020C0503030203020204" pitchFamily="34" charset="0"/>
                          <a:ea typeface="方正兰亭黑简体" panose="02000000000000000000" pitchFamily="2" charset="-122"/>
                          <a:cs typeface="+mn-cs"/>
                          <a:sym typeface="Huawei Sans" panose="020C0503030203020204" pitchFamily="34" charset="0"/>
                        </a:rPr>
                        <a:t>FC06::6</a:t>
                      </a:r>
                      <a:endParaRPr lang="en-US" altLang="zh-CN" sz="1200" b="1" kern="1200" dirty="0">
                        <a:solidFill>
                          <a:srgbClr val="C7000B"/>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p>
                      <a:pPr marL="0" algn="ctr" defTabSz="913765" rtl="0" eaLnBrk="1" latinLnBrk="0" hangingPunct="1"/>
                      <a:r>
                        <a:rPr lang="en-US" altLang="zh-CN"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FC03::3</a:t>
                      </a:r>
                      <a:endParaRPr lang="zh-CN" altLang="en-US"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EEEC1"/>
                    </a:solidFill>
                  </a:tcPr>
                </a:tc>
              </a:tr>
              <a:tr h="157660">
                <a:tc>
                  <a:txBody>
                    <a:bodyPr/>
                    <a:lstStyle/>
                    <a:p>
                      <a:pPr algn="ctr"/>
                      <a:r>
                        <a:rPr lang="en-US" altLang="zh-CN" sz="1200" dirty="0">
                          <a:solidFill>
                            <a:schemeClr val="bg1"/>
                          </a:solidFill>
                        </a:rPr>
                        <a:t>Payload</a:t>
                      </a:r>
                      <a:endParaRPr lang="zh-CN" altLang="en-US" sz="1200"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r>
            </a:tbl>
          </a:graphicData>
        </a:graphic>
      </p:graphicFrame>
      <p:graphicFrame>
        <p:nvGraphicFramePr>
          <p:cNvPr id="47" name="Table 46"/>
          <p:cNvGraphicFramePr>
            <a:graphicFrameLocks noGrp="1"/>
          </p:cNvGraphicFramePr>
          <p:nvPr/>
        </p:nvGraphicFramePr>
        <p:xfrm>
          <a:off x="2014632" y="4168626"/>
          <a:ext cx="1420143" cy="2011680"/>
        </p:xfrm>
        <a:graphic>
          <a:graphicData uri="http://schemas.openxmlformats.org/drawingml/2006/table">
            <a:tbl>
              <a:tblPr firstRow="1" bandRow="1">
                <a:tableStyleId>{72833802-FEF1-4C79-8D5D-14CF1EAF98D9}</a:tableStyleId>
              </a:tblPr>
              <a:tblGrid>
                <a:gridCol w="1420143"/>
              </a:tblGrid>
              <a:tr h="370840">
                <a:tc>
                  <a:txBody>
                    <a:bodyPr/>
                    <a:lstStyle/>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DIPv6</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FC06::6</a:t>
                      </a:r>
                      <a:endPar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SIPv6</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FC01::1</a:t>
                      </a:r>
                      <a:endPar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6C4D2"/>
                    </a:solidFill>
                  </a:tcPr>
                </a:tc>
              </a:tr>
              <a:tr h="386362">
                <a:tc>
                  <a:txBody>
                    <a:bodyPr/>
                    <a:lstStyle/>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SRH</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SL=</a:t>
                      </a: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1</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0" algn="ctr" defTabSz="913765" rtl="0" eaLnBrk="1" latinLnBrk="0" hangingPunct="1"/>
                      <a:r>
                        <a:rPr lang="en-US" altLang="zh-CN"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FC06::6</a:t>
                      </a:r>
                      <a:endParaRPr lang="en-US" altLang="zh-CN"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p>
                      <a:pPr marL="0" algn="ctr" defTabSz="913765" rtl="0" eaLnBrk="1" latinLnBrk="0" hangingPunct="1"/>
                      <a:r>
                        <a:rPr lang="en-US" altLang="zh-CN" sz="1200" b="1" kern="1200" dirty="0">
                          <a:solidFill>
                            <a:srgbClr val="C7000B"/>
                          </a:solidFill>
                          <a:latin typeface="Huawei Sans" panose="020C0503030203020204" pitchFamily="34" charset="0"/>
                          <a:ea typeface="方正兰亭黑简体" panose="02000000000000000000" pitchFamily="2" charset="-122"/>
                          <a:cs typeface="+mn-cs"/>
                          <a:sym typeface="Huawei Sans" panose="020C0503030203020204" pitchFamily="34" charset="0"/>
                        </a:rPr>
                        <a:t>FC04::C4</a:t>
                      </a:r>
                      <a:endParaRPr lang="zh-CN" altLang="en-US" sz="1200" b="1" kern="1200" dirty="0">
                        <a:solidFill>
                          <a:srgbClr val="C7000B"/>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EEEC1"/>
                    </a:solidFill>
                  </a:tcPr>
                </a:tc>
              </a:tr>
              <a:tr h="386362">
                <a:tc>
                  <a:txBody>
                    <a:bodyPr/>
                    <a:lstStyle/>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SRH</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SL=</a:t>
                      </a: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0</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0" algn="ctr" defTabSz="913765" rtl="0" eaLnBrk="1" latinLnBrk="0" hangingPunct="1"/>
                      <a:r>
                        <a:rPr lang="en-US" altLang="zh-CN" sz="1200" b="1" kern="1200" dirty="0">
                          <a:solidFill>
                            <a:srgbClr val="C7000B"/>
                          </a:solidFill>
                          <a:latin typeface="Huawei Sans" panose="020C0503030203020204" pitchFamily="34" charset="0"/>
                          <a:ea typeface="方正兰亭黑简体" panose="02000000000000000000" pitchFamily="2" charset="-122"/>
                          <a:cs typeface="+mn-cs"/>
                          <a:sym typeface="Huawei Sans" panose="020C0503030203020204" pitchFamily="34" charset="0"/>
                        </a:rPr>
                        <a:t>FC06::6</a:t>
                      </a:r>
                      <a:endParaRPr lang="en-US" altLang="zh-CN" sz="1200" b="1" kern="1200" dirty="0">
                        <a:solidFill>
                          <a:srgbClr val="C7000B"/>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p>
                      <a:pPr marL="0" algn="ctr" defTabSz="913765" rtl="0" eaLnBrk="1" latinLnBrk="0" hangingPunct="1"/>
                      <a:r>
                        <a:rPr lang="en-US" altLang="zh-CN"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FC03::3</a:t>
                      </a:r>
                      <a:endParaRPr lang="zh-CN" altLang="en-US"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EEEC1"/>
                    </a:solidFill>
                  </a:tcPr>
                </a:tc>
              </a:tr>
              <a:tr h="0">
                <a:tc>
                  <a:txBody>
                    <a:bodyPr/>
                    <a:lstStyle/>
                    <a:p>
                      <a:pPr algn="ctr"/>
                      <a:r>
                        <a:rPr lang="en-US" altLang="zh-CN" sz="1200" dirty="0">
                          <a:solidFill>
                            <a:schemeClr val="bg1"/>
                          </a:solidFill>
                        </a:rPr>
                        <a:t>Payload</a:t>
                      </a:r>
                      <a:endParaRPr lang="zh-CN" altLang="en-US" sz="1200"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r>
            </a:tbl>
          </a:graphicData>
        </a:graphic>
      </p:graphicFrame>
      <p:graphicFrame>
        <p:nvGraphicFramePr>
          <p:cNvPr id="49" name="Table 48"/>
          <p:cNvGraphicFramePr>
            <a:graphicFrameLocks noGrp="1"/>
          </p:cNvGraphicFramePr>
          <p:nvPr/>
        </p:nvGraphicFramePr>
        <p:xfrm>
          <a:off x="4056267" y="4560238"/>
          <a:ext cx="1420143" cy="1371600"/>
        </p:xfrm>
        <a:graphic>
          <a:graphicData uri="http://schemas.openxmlformats.org/drawingml/2006/table">
            <a:tbl>
              <a:tblPr firstRow="1" bandRow="1">
                <a:tableStyleId>{72833802-FEF1-4C79-8D5D-14CF1EAF98D9}</a:tableStyleId>
              </a:tblPr>
              <a:tblGrid>
                <a:gridCol w="1420143"/>
              </a:tblGrid>
              <a:tr h="370840">
                <a:tc>
                  <a:txBody>
                    <a:bodyPr/>
                    <a:lstStyle/>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DIPv6</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FC06::6</a:t>
                      </a:r>
                      <a:endPar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SIPv6</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FC01::1</a:t>
                      </a:r>
                      <a:endPar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6C4D2"/>
                    </a:solidFill>
                  </a:tcPr>
                </a:tc>
              </a:tr>
              <a:tr h="386362">
                <a:tc>
                  <a:txBody>
                    <a:bodyPr/>
                    <a:lstStyle/>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SRH</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SL=</a:t>
                      </a: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0</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0" algn="ctr" defTabSz="913765" rtl="0" eaLnBrk="1" latinLnBrk="0" hangingPunct="1"/>
                      <a:r>
                        <a:rPr lang="en-US" altLang="zh-CN" sz="1200" b="1" kern="1200" dirty="0">
                          <a:solidFill>
                            <a:srgbClr val="C7000B"/>
                          </a:solidFill>
                          <a:latin typeface="Huawei Sans" panose="020C0503030203020204" pitchFamily="34" charset="0"/>
                          <a:ea typeface="方正兰亭黑简体" panose="02000000000000000000" pitchFamily="2" charset="-122"/>
                          <a:cs typeface="+mn-cs"/>
                          <a:sym typeface="Huawei Sans" panose="020C0503030203020204" pitchFamily="34" charset="0"/>
                        </a:rPr>
                        <a:t>FC06::6</a:t>
                      </a:r>
                      <a:endParaRPr lang="en-US" altLang="zh-CN" sz="1200" b="1" kern="1200" dirty="0">
                        <a:solidFill>
                          <a:srgbClr val="C7000B"/>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p>
                      <a:pPr marL="0" algn="ctr" defTabSz="913765" rtl="0" eaLnBrk="1" latinLnBrk="0" hangingPunct="1"/>
                      <a:r>
                        <a:rPr lang="en-US" altLang="zh-CN"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FC03::3</a:t>
                      </a:r>
                      <a:endParaRPr lang="zh-CN" altLang="en-US"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EEEC1"/>
                    </a:solidFill>
                  </a:tcPr>
                </a:tc>
              </a:tr>
              <a:tr h="0">
                <a:tc>
                  <a:txBody>
                    <a:bodyPr/>
                    <a:lstStyle/>
                    <a:p>
                      <a:pPr algn="ctr"/>
                      <a:r>
                        <a:rPr lang="en-US" altLang="zh-CN" sz="1200" dirty="0">
                          <a:solidFill>
                            <a:schemeClr val="bg1"/>
                          </a:solidFill>
                        </a:rPr>
                        <a:t>Payload</a:t>
                      </a:r>
                      <a:endParaRPr lang="zh-CN" altLang="en-US" sz="1200"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r>
            </a:tbl>
          </a:graphicData>
        </a:graphic>
      </p:graphicFrame>
      <p:sp>
        <p:nvSpPr>
          <p:cNvPr id="50" name="Freeform 49"/>
          <p:cNvSpPr/>
          <p:nvPr/>
        </p:nvSpPr>
        <p:spPr bwMode="gray">
          <a:xfrm>
            <a:off x="1899920" y="2370185"/>
            <a:ext cx="3857221" cy="3108960"/>
          </a:xfrm>
          <a:custGeom>
            <a:avLst/>
            <a:gdLst>
              <a:gd name="connsiteX0" fmla="*/ 0 w 3942080"/>
              <a:gd name="connsiteY0" fmla="*/ 0 h 3108960"/>
              <a:gd name="connsiteX1" fmla="*/ 3942080 w 3942080"/>
              <a:gd name="connsiteY1" fmla="*/ 0 h 3108960"/>
              <a:gd name="connsiteX2" fmla="*/ 3942080 w 3942080"/>
              <a:gd name="connsiteY2" fmla="*/ 3108960 h 3108960"/>
            </a:gdLst>
            <a:ahLst/>
            <a:cxnLst>
              <a:cxn ang="0">
                <a:pos x="connsiteX0" y="connsiteY0"/>
              </a:cxn>
              <a:cxn ang="0">
                <a:pos x="connsiteX1" y="connsiteY1"/>
              </a:cxn>
              <a:cxn ang="0">
                <a:pos x="connsiteX2" y="connsiteY2"/>
              </a:cxn>
            </a:cxnLst>
            <a:rect l="l" t="t" r="r" b="b"/>
            <a:pathLst>
              <a:path w="3942080" h="3108960">
                <a:moveTo>
                  <a:pt x="0" y="0"/>
                </a:moveTo>
                <a:lnTo>
                  <a:pt x="3942080" y="0"/>
                </a:lnTo>
                <a:lnTo>
                  <a:pt x="3942080" y="3108960"/>
                </a:lnTo>
              </a:path>
            </a:pathLst>
          </a:custGeom>
          <a:noFill/>
          <a:ln w="28575">
            <a:solidFill>
              <a:srgbClr val="E28189"/>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Freeform 50"/>
          <p:cNvSpPr/>
          <p:nvPr/>
        </p:nvSpPr>
        <p:spPr bwMode="gray">
          <a:xfrm>
            <a:off x="3637280" y="2471785"/>
            <a:ext cx="1971040" cy="3007360"/>
          </a:xfrm>
          <a:custGeom>
            <a:avLst/>
            <a:gdLst>
              <a:gd name="connsiteX0" fmla="*/ 0 w 1971040"/>
              <a:gd name="connsiteY0" fmla="*/ 0 h 2895600"/>
              <a:gd name="connsiteX1" fmla="*/ 0 w 1971040"/>
              <a:gd name="connsiteY1" fmla="*/ 1757680 h 2895600"/>
              <a:gd name="connsiteX2" fmla="*/ 1971040 w 1971040"/>
              <a:gd name="connsiteY2" fmla="*/ 1757680 h 2895600"/>
              <a:gd name="connsiteX3" fmla="*/ 1971040 w 1971040"/>
              <a:gd name="connsiteY3" fmla="*/ 2895600 h 2895600"/>
            </a:gdLst>
            <a:ahLst/>
            <a:cxnLst>
              <a:cxn ang="0">
                <a:pos x="connsiteX0" y="connsiteY0"/>
              </a:cxn>
              <a:cxn ang="0">
                <a:pos x="connsiteX1" y="connsiteY1"/>
              </a:cxn>
              <a:cxn ang="0">
                <a:pos x="connsiteX2" y="connsiteY2"/>
              </a:cxn>
              <a:cxn ang="0">
                <a:pos x="connsiteX3" y="connsiteY3"/>
              </a:cxn>
            </a:cxnLst>
            <a:rect l="l" t="t" r="r" b="b"/>
            <a:pathLst>
              <a:path w="1971040" h="2895600">
                <a:moveTo>
                  <a:pt x="0" y="0"/>
                </a:moveTo>
                <a:lnTo>
                  <a:pt x="0" y="1757680"/>
                </a:lnTo>
                <a:lnTo>
                  <a:pt x="1971040" y="1757680"/>
                </a:lnTo>
                <a:lnTo>
                  <a:pt x="1971040" y="2895600"/>
                </a:lnTo>
              </a:path>
            </a:pathLst>
          </a:custGeom>
          <a:noFill/>
          <a:ln w="28575">
            <a:solidFill>
              <a:srgbClr val="56C4D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Freeform 51"/>
          <p:cNvSpPr/>
          <p:nvPr/>
        </p:nvSpPr>
        <p:spPr bwMode="gray">
          <a:xfrm>
            <a:off x="1645920" y="3569065"/>
            <a:ext cx="314960" cy="1259840"/>
          </a:xfrm>
          <a:custGeom>
            <a:avLst/>
            <a:gdLst>
              <a:gd name="connsiteX0" fmla="*/ 467445 w 467445"/>
              <a:gd name="connsiteY0" fmla="*/ 0 h 660400"/>
              <a:gd name="connsiteX1" fmla="*/ 85 w 467445"/>
              <a:gd name="connsiteY1" fmla="*/ 325120 h 660400"/>
              <a:gd name="connsiteX2" fmla="*/ 436965 w 467445"/>
              <a:gd name="connsiteY2" fmla="*/ 660400 h 660400"/>
            </a:gdLst>
            <a:ahLst/>
            <a:cxnLst>
              <a:cxn ang="0">
                <a:pos x="connsiteX0" y="connsiteY0"/>
              </a:cxn>
              <a:cxn ang="0">
                <a:pos x="connsiteX1" y="connsiteY1"/>
              </a:cxn>
              <a:cxn ang="0">
                <a:pos x="connsiteX2" y="connsiteY2"/>
              </a:cxn>
            </a:cxnLst>
            <a:rect l="l" t="t" r="r" b="b"/>
            <a:pathLst>
              <a:path w="467445" h="660400">
                <a:moveTo>
                  <a:pt x="467445" y="0"/>
                </a:moveTo>
                <a:cubicBezTo>
                  <a:pt x="236305" y="107526"/>
                  <a:pt x="5165" y="215053"/>
                  <a:pt x="85" y="325120"/>
                </a:cubicBezTo>
                <a:cubicBezTo>
                  <a:pt x="-4995" y="435187"/>
                  <a:pt x="215985" y="547793"/>
                  <a:pt x="436965" y="660400"/>
                </a:cubicBezTo>
              </a:path>
            </a:pathLst>
          </a:custGeom>
          <a:noFill/>
          <a:ln w="28575">
            <a:solidFill>
              <a:schemeClr val="tx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Rectangular Callout 26"/>
          <p:cNvSpPr/>
          <p:nvPr/>
        </p:nvSpPr>
        <p:spPr bwMode="gray">
          <a:xfrm>
            <a:off x="692868" y="3769109"/>
            <a:ext cx="808129" cy="457166"/>
          </a:xfrm>
          <a:prstGeom prst="wedgeRectCallout">
            <a:avLst>
              <a:gd name="adj1" fmla="val 63925"/>
              <a:gd name="adj2" fmla="val 23866"/>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再进行一次</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TI-LFA</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2" name="五边形 2"/>
          <p:cNvSpPr/>
          <p:nvPr/>
        </p:nvSpPr>
        <p:spPr bwMode="gray">
          <a:xfrm>
            <a:off x="9278937" y="110463"/>
            <a:ext cx="1166602"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本地保护技术</a:t>
            </a:r>
            <a:endPar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燕尾形 3"/>
          <p:cNvSpPr/>
          <p:nvPr/>
        </p:nvSpPr>
        <p:spPr bwMode="gray">
          <a:xfrm>
            <a:off x="10368978" y="110463"/>
            <a:ext cx="1380109"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端到端保护技术</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gray"/>
        <p:txBody>
          <a:bodyPr/>
          <a:lstStyle/>
          <a:p>
            <a:r>
              <a:rPr lang="zh-CN" altLang="en-US" dirty="0"/>
              <a:t>微环介绍</a:t>
            </a:r>
            <a:endParaRPr lang="zh-CN" altLang="en-US" dirty="0"/>
          </a:p>
        </p:txBody>
      </p:sp>
      <p:sp>
        <p:nvSpPr>
          <p:cNvPr id="3" name="Text Placeholder 2"/>
          <p:cNvSpPr>
            <a:spLocks noGrp="1"/>
          </p:cNvSpPr>
          <p:nvPr>
            <p:ph type="body" sz="quarter" idx="10"/>
          </p:nvPr>
        </p:nvSpPr>
        <p:spPr bwMode="gray"/>
        <p:txBody>
          <a:bodyPr/>
          <a:lstStyle/>
          <a:p>
            <a:r>
              <a:rPr lang="en-US" altLang="zh-CN" sz="1600" dirty="0"/>
              <a:t>TI-LFA FRR</a:t>
            </a:r>
            <a:r>
              <a:rPr lang="zh-CN" altLang="en-US" sz="1600" dirty="0"/>
              <a:t>以及</a:t>
            </a:r>
            <a:r>
              <a:rPr lang="en-US" altLang="zh-CN" sz="1600" dirty="0"/>
              <a:t>Midpoint</a:t>
            </a:r>
            <a:r>
              <a:rPr lang="zh-CN" altLang="en-US" sz="1600" dirty="0"/>
              <a:t>保护能够在</a:t>
            </a:r>
            <a:r>
              <a:rPr lang="en-US" altLang="zh-CN" sz="1600" dirty="0"/>
              <a:t>IGP</a:t>
            </a:r>
            <a:r>
              <a:rPr lang="zh-CN" altLang="en-US" sz="1600" dirty="0"/>
              <a:t>收敛完成前，短暂的维持数据转发，但是当</a:t>
            </a:r>
            <a:r>
              <a:rPr lang="en-US" altLang="zh-CN" sz="1600" dirty="0"/>
              <a:t>IGP</a:t>
            </a:r>
            <a:r>
              <a:rPr lang="zh-CN" altLang="en-US" sz="1600" dirty="0"/>
              <a:t>收敛完成后转发便不再会基于</a:t>
            </a:r>
            <a:r>
              <a:rPr lang="en-US" altLang="zh-CN" sz="1600" dirty="0"/>
              <a:t>FRR</a:t>
            </a:r>
            <a:r>
              <a:rPr lang="zh-CN" altLang="en-US" sz="1600" dirty="0"/>
              <a:t>的方式（隧道方式）进行转发，而是基于</a:t>
            </a:r>
            <a:r>
              <a:rPr lang="en-US" altLang="zh-CN" sz="1600" dirty="0"/>
              <a:t>IGP</a:t>
            </a:r>
            <a:r>
              <a:rPr lang="zh-CN" altLang="en-US" sz="1600" dirty="0"/>
              <a:t>路由按照正常的方式转发数据。</a:t>
            </a:r>
            <a:endParaRPr lang="en-US" altLang="zh-CN" sz="1600" dirty="0"/>
          </a:p>
          <a:p>
            <a:r>
              <a:rPr lang="zh-CN" altLang="en-US" sz="1600" dirty="0"/>
              <a:t>但现网中设备的收敛速度有可能是不一样的，因此有可能产生短暂的环路，直到沿途的路由器都收敛完成此类环路才会消失，这种短暂的环路被称为微环。</a:t>
            </a:r>
            <a:endParaRPr lang="zh-CN" altLang="en-US" sz="1600" dirty="0"/>
          </a:p>
        </p:txBody>
      </p:sp>
      <p:pic>
        <p:nvPicPr>
          <p:cNvPr id="4"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711721" y="4318790"/>
            <a:ext cx="468318" cy="383051"/>
          </a:xfrm>
          <a:prstGeom prst="rect">
            <a:avLst/>
          </a:prstGeom>
        </p:spPr>
      </p:pic>
      <p:cxnSp>
        <p:nvCxnSpPr>
          <p:cNvPr id="5" name="直接连接符 19"/>
          <p:cNvCxnSpPr>
            <a:stCxn id="8" idx="1"/>
            <a:endCxn id="4" idx="3"/>
          </p:cNvCxnSpPr>
          <p:nvPr/>
        </p:nvCxnSpPr>
        <p:spPr bwMode="gray">
          <a:xfrm flipH="1">
            <a:off x="1180039" y="3693504"/>
            <a:ext cx="1340000" cy="816812"/>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pic>
        <p:nvPicPr>
          <p:cNvPr id="8"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2520039" y="3501978"/>
            <a:ext cx="468318" cy="383051"/>
          </a:xfrm>
          <a:prstGeom prst="rect">
            <a:avLst/>
          </a:prstGeom>
        </p:spPr>
      </p:pic>
      <p:pic>
        <p:nvPicPr>
          <p:cNvPr id="9"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2520039" y="4318790"/>
            <a:ext cx="468318" cy="383051"/>
          </a:xfrm>
          <a:prstGeom prst="rect">
            <a:avLst/>
          </a:prstGeom>
        </p:spPr>
      </p:pic>
      <p:pic>
        <p:nvPicPr>
          <p:cNvPr id="10"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2520039" y="5173615"/>
            <a:ext cx="468318" cy="383051"/>
          </a:xfrm>
          <a:prstGeom prst="rect">
            <a:avLst/>
          </a:prstGeom>
        </p:spPr>
      </p:pic>
      <p:cxnSp>
        <p:nvCxnSpPr>
          <p:cNvPr id="11" name="直接连接符 19"/>
          <p:cNvCxnSpPr>
            <a:stCxn id="9" idx="1"/>
            <a:endCxn id="4" idx="3"/>
          </p:cNvCxnSpPr>
          <p:nvPr/>
        </p:nvCxnSpPr>
        <p:spPr bwMode="gray">
          <a:xfrm flipH="1">
            <a:off x="1180039" y="4510316"/>
            <a:ext cx="1340000" cy="0"/>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cxnSp>
        <p:nvCxnSpPr>
          <p:cNvPr id="15" name="直接连接符 19"/>
          <p:cNvCxnSpPr>
            <a:stCxn id="10" idx="1"/>
            <a:endCxn id="4" idx="3"/>
          </p:cNvCxnSpPr>
          <p:nvPr/>
        </p:nvCxnSpPr>
        <p:spPr bwMode="gray">
          <a:xfrm flipH="1" flipV="1">
            <a:off x="1180039" y="4510316"/>
            <a:ext cx="1340000" cy="854825"/>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sp>
        <p:nvSpPr>
          <p:cNvPr id="20" name="TextBox 19"/>
          <p:cNvSpPr txBox="1"/>
          <p:nvPr/>
        </p:nvSpPr>
        <p:spPr bwMode="gray">
          <a:xfrm rot="19763779">
            <a:off x="1442094" y="3852341"/>
            <a:ext cx="723275" cy="307777"/>
          </a:xfrm>
          <a:prstGeom prst="rect">
            <a:avLst/>
          </a:prstGeom>
          <a:noFill/>
        </p:spPr>
        <p:txBody>
          <a:bodyPr wrap="none" rtlCol="0">
            <a:spAutoFit/>
          </a:bodyPr>
          <a:lstStyle/>
          <a:p>
            <a:r>
              <a:rPr lang="zh-CN" altLang="en-US" sz="1400" dirty="0"/>
              <a:t>主路径</a:t>
            </a:r>
            <a:endParaRPr lang="zh-CN" altLang="en-US" sz="1400" dirty="0"/>
          </a:p>
        </p:txBody>
      </p:sp>
      <p:sp>
        <p:nvSpPr>
          <p:cNvPr id="21" name="TextBox 20"/>
          <p:cNvSpPr txBox="1"/>
          <p:nvPr/>
        </p:nvSpPr>
        <p:spPr bwMode="gray">
          <a:xfrm>
            <a:off x="1469711" y="4248444"/>
            <a:ext cx="856325" cy="307777"/>
          </a:xfrm>
          <a:prstGeom prst="rect">
            <a:avLst/>
          </a:prstGeom>
          <a:noFill/>
        </p:spPr>
        <p:txBody>
          <a:bodyPr wrap="none" rtlCol="0">
            <a:spAutoFit/>
          </a:bodyPr>
          <a:lstStyle/>
          <a:p>
            <a:r>
              <a:rPr lang="en-US" altLang="zh-CN" sz="1400" dirty="0"/>
              <a:t>FRR</a:t>
            </a:r>
            <a:r>
              <a:rPr lang="zh-CN" altLang="en-US" sz="1400" dirty="0"/>
              <a:t>路径</a:t>
            </a:r>
            <a:endParaRPr lang="zh-CN" altLang="en-US" sz="1400" dirty="0"/>
          </a:p>
        </p:txBody>
      </p:sp>
      <p:sp>
        <p:nvSpPr>
          <p:cNvPr id="22" name="TextBox 21"/>
          <p:cNvSpPr txBox="1"/>
          <p:nvPr/>
        </p:nvSpPr>
        <p:spPr bwMode="gray">
          <a:xfrm rot="1971900">
            <a:off x="1162566" y="4931130"/>
            <a:ext cx="1261884" cy="307777"/>
          </a:xfrm>
          <a:prstGeom prst="rect">
            <a:avLst/>
          </a:prstGeom>
          <a:noFill/>
        </p:spPr>
        <p:txBody>
          <a:bodyPr wrap="none" rtlCol="0">
            <a:spAutoFit/>
          </a:bodyPr>
          <a:lstStyle/>
          <a:p>
            <a:r>
              <a:rPr lang="zh-CN" altLang="en-US" sz="1400" dirty="0"/>
              <a:t>收敛后主路径</a:t>
            </a:r>
            <a:endParaRPr lang="zh-CN" altLang="en-US" sz="1400" dirty="0"/>
          </a:p>
        </p:txBody>
      </p:sp>
      <p:sp>
        <p:nvSpPr>
          <p:cNvPr id="24" name="Freeform 23"/>
          <p:cNvSpPr/>
          <p:nvPr/>
        </p:nvSpPr>
        <p:spPr bwMode="gray">
          <a:xfrm>
            <a:off x="2130940" y="3929810"/>
            <a:ext cx="189695" cy="563880"/>
          </a:xfrm>
          <a:custGeom>
            <a:avLst/>
            <a:gdLst>
              <a:gd name="connsiteX0" fmla="*/ 0 w 189695"/>
              <a:gd name="connsiteY0" fmla="*/ 0 h 563880"/>
              <a:gd name="connsiteX1" fmla="*/ 167640 w 189695"/>
              <a:gd name="connsiteY1" fmla="*/ 259080 h 563880"/>
              <a:gd name="connsiteX2" fmla="*/ 182880 w 189695"/>
              <a:gd name="connsiteY2" fmla="*/ 563880 h 563880"/>
            </a:gdLst>
            <a:ahLst/>
            <a:cxnLst>
              <a:cxn ang="0">
                <a:pos x="connsiteX0" y="connsiteY0"/>
              </a:cxn>
              <a:cxn ang="0">
                <a:pos x="connsiteX1" y="connsiteY1"/>
              </a:cxn>
              <a:cxn ang="0">
                <a:pos x="connsiteX2" y="connsiteY2"/>
              </a:cxn>
            </a:cxnLst>
            <a:rect l="l" t="t" r="r" b="b"/>
            <a:pathLst>
              <a:path w="189695" h="563880">
                <a:moveTo>
                  <a:pt x="0" y="0"/>
                </a:moveTo>
                <a:cubicBezTo>
                  <a:pt x="68580" y="82550"/>
                  <a:pt x="137160" y="165100"/>
                  <a:pt x="167640" y="259080"/>
                </a:cubicBezTo>
                <a:cubicBezTo>
                  <a:pt x="198120" y="353060"/>
                  <a:pt x="190500" y="458470"/>
                  <a:pt x="182880" y="563880"/>
                </a:cubicBezTo>
              </a:path>
            </a:pathLst>
          </a:custGeom>
          <a:noFill/>
          <a:ln w="28575">
            <a:solidFill>
              <a:srgbClr val="E28189"/>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Freeform 24"/>
          <p:cNvSpPr/>
          <p:nvPr/>
        </p:nvSpPr>
        <p:spPr bwMode="gray">
          <a:xfrm rot="2925471">
            <a:off x="2165484" y="4533789"/>
            <a:ext cx="321103" cy="612408"/>
          </a:xfrm>
          <a:custGeom>
            <a:avLst/>
            <a:gdLst>
              <a:gd name="connsiteX0" fmla="*/ 0 w 189695"/>
              <a:gd name="connsiteY0" fmla="*/ 0 h 563880"/>
              <a:gd name="connsiteX1" fmla="*/ 167640 w 189695"/>
              <a:gd name="connsiteY1" fmla="*/ 259080 h 563880"/>
              <a:gd name="connsiteX2" fmla="*/ 182880 w 189695"/>
              <a:gd name="connsiteY2" fmla="*/ 563880 h 563880"/>
            </a:gdLst>
            <a:ahLst/>
            <a:cxnLst>
              <a:cxn ang="0">
                <a:pos x="connsiteX0" y="connsiteY0"/>
              </a:cxn>
              <a:cxn ang="0">
                <a:pos x="connsiteX1" y="connsiteY1"/>
              </a:cxn>
              <a:cxn ang="0">
                <a:pos x="connsiteX2" y="connsiteY2"/>
              </a:cxn>
            </a:cxnLst>
            <a:rect l="l" t="t" r="r" b="b"/>
            <a:pathLst>
              <a:path w="189695" h="563880">
                <a:moveTo>
                  <a:pt x="0" y="0"/>
                </a:moveTo>
                <a:cubicBezTo>
                  <a:pt x="68580" y="82550"/>
                  <a:pt x="137160" y="165100"/>
                  <a:pt x="167640" y="259080"/>
                </a:cubicBezTo>
                <a:cubicBezTo>
                  <a:pt x="198120" y="353060"/>
                  <a:pt x="190500" y="458470"/>
                  <a:pt x="182880" y="563880"/>
                </a:cubicBezTo>
              </a:path>
            </a:pathLst>
          </a:custGeom>
          <a:noFill/>
          <a:ln w="28575">
            <a:solidFill>
              <a:srgbClr val="56C4D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Rectangular Callout 26"/>
          <p:cNvSpPr/>
          <p:nvPr/>
        </p:nvSpPr>
        <p:spPr bwMode="gray">
          <a:xfrm>
            <a:off x="4567303" y="4843311"/>
            <a:ext cx="1161286" cy="551136"/>
          </a:xfrm>
          <a:prstGeom prst="wedgeRectCallout">
            <a:avLst>
              <a:gd name="adj1" fmla="val -62676"/>
              <a:gd name="adj2" fmla="val -25321"/>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IGP</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收敛后，数据沿收敛后主路径转发</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aphicFrame>
        <p:nvGraphicFramePr>
          <p:cNvPr id="28" name="Table 27"/>
          <p:cNvGraphicFramePr>
            <a:graphicFrameLocks noGrp="1"/>
          </p:cNvGraphicFramePr>
          <p:nvPr/>
        </p:nvGraphicFramePr>
        <p:xfrm>
          <a:off x="3213742" y="3716532"/>
          <a:ext cx="1022408" cy="1371600"/>
        </p:xfrm>
        <a:graphic>
          <a:graphicData uri="http://schemas.openxmlformats.org/drawingml/2006/table">
            <a:tbl>
              <a:tblPr firstRow="1" bandRow="1">
                <a:tableStyleId>{72833802-FEF1-4C79-8D5D-14CF1EAF98D9}</a:tableStyleId>
              </a:tblPr>
              <a:tblGrid>
                <a:gridCol w="1022408"/>
              </a:tblGrid>
              <a:tr h="370840">
                <a:tc>
                  <a:txBody>
                    <a:bodyPr/>
                    <a:lstStyle/>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DIPv6</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C</a:t>
                      </a:r>
                      <a:endPar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SIPv6</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a:t>
                      </a:r>
                      <a:endPar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6C4D2"/>
                    </a:solidFill>
                  </a:tcPr>
                </a:tc>
              </a:tr>
              <a:tr h="386362">
                <a:tc>
                  <a:txBody>
                    <a:bodyPr/>
                    <a:lstStyle/>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SRH</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SL=</a:t>
                      </a: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1</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0" algn="ctr" defTabSz="913765" rtl="0" eaLnBrk="1" latinLnBrk="0" hangingPunct="1"/>
                      <a:r>
                        <a:rPr lang="en-US" altLang="zh-CN"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D</a:t>
                      </a:r>
                      <a:endParaRPr lang="en-US" altLang="zh-CN"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p>
                      <a:pPr marL="0" algn="ctr" defTabSz="913765" rtl="0" eaLnBrk="1" latinLnBrk="0" hangingPunct="1"/>
                      <a:r>
                        <a:rPr lang="en-US" altLang="zh-CN" sz="1200" b="1" kern="1200" dirty="0">
                          <a:solidFill>
                            <a:srgbClr val="C7000B"/>
                          </a:solidFill>
                          <a:latin typeface="Huawei Sans" panose="020C0503030203020204" pitchFamily="34" charset="0"/>
                          <a:ea typeface="方正兰亭黑简体" panose="02000000000000000000" pitchFamily="2" charset="-122"/>
                          <a:cs typeface="+mn-cs"/>
                          <a:sym typeface="Huawei Sans" panose="020C0503030203020204" pitchFamily="34" charset="0"/>
                        </a:rPr>
                        <a:t>C</a:t>
                      </a:r>
                      <a:endParaRPr lang="en-US" altLang="zh-CN" sz="1200" b="1" kern="1200" dirty="0">
                        <a:solidFill>
                          <a:srgbClr val="C7000B"/>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EEEC1"/>
                    </a:solidFill>
                  </a:tcPr>
                </a:tc>
              </a:tr>
              <a:tr h="0">
                <a:tc>
                  <a:txBody>
                    <a:bodyPr/>
                    <a:lstStyle/>
                    <a:p>
                      <a:pPr algn="ctr"/>
                      <a:r>
                        <a:rPr lang="en-US" altLang="zh-CN" sz="1200" dirty="0">
                          <a:solidFill>
                            <a:schemeClr val="bg1"/>
                          </a:solidFill>
                        </a:rPr>
                        <a:t>Payload</a:t>
                      </a:r>
                      <a:endParaRPr lang="zh-CN" altLang="en-US" sz="1200"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r>
            </a:tbl>
          </a:graphicData>
        </a:graphic>
      </p:graphicFrame>
      <p:graphicFrame>
        <p:nvGraphicFramePr>
          <p:cNvPr id="29" name="Table 28"/>
          <p:cNvGraphicFramePr>
            <a:graphicFrameLocks noGrp="1"/>
          </p:cNvGraphicFramePr>
          <p:nvPr/>
        </p:nvGraphicFramePr>
        <p:xfrm>
          <a:off x="3213742" y="2870712"/>
          <a:ext cx="1022407" cy="731520"/>
        </p:xfrm>
        <a:graphic>
          <a:graphicData uri="http://schemas.openxmlformats.org/drawingml/2006/table">
            <a:tbl>
              <a:tblPr firstRow="1" bandRow="1">
                <a:tableStyleId>{72833802-FEF1-4C79-8D5D-14CF1EAF98D9}</a:tableStyleId>
              </a:tblPr>
              <a:tblGrid>
                <a:gridCol w="1022407"/>
              </a:tblGrid>
              <a:tr h="370840">
                <a:tc>
                  <a:txBody>
                    <a:bodyPr/>
                    <a:lstStyle/>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DIP</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a:t>
                      </a:r>
                      <a:endPar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SIP</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B</a:t>
                      </a:r>
                      <a:endPar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6C4D2"/>
                    </a:solidFill>
                  </a:tcPr>
                </a:tc>
              </a:tr>
              <a:tr h="0">
                <a:tc>
                  <a:txBody>
                    <a:bodyPr/>
                    <a:lstStyle/>
                    <a:p>
                      <a:pPr algn="ctr"/>
                      <a:r>
                        <a:rPr lang="en-US" altLang="zh-CN" sz="1200" dirty="0">
                          <a:solidFill>
                            <a:schemeClr val="bg1"/>
                          </a:solidFill>
                        </a:rPr>
                        <a:t>Payload</a:t>
                      </a:r>
                      <a:endParaRPr lang="zh-CN" altLang="en-US" sz="1200"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r>
            </a:tbl>
          </a:graphicData>
        </a:graphic>
      </p:graphicFrame>
      <p:graphicFrame>
        <p:nvGraphicFramePr>
          <p:cNvPr id="30" name="Table 29"/>
          <p:cNvGraphicFramePr>
            <a:graphicFrameLocks noGrp="1"/>
          </p:cNvGraphicFramePr>
          <p:nvPr/>
        </p:nvGraphicFramePr>
        <p:xfrm>
          <a:off x="3213742" y="5202699"/>
          <a:ext cx="1022407" cy="731520"/>
        </p:xfrm>
        <a:graphic>
          <a:graphicData uri="http://schemas.openxmlformats.org/drawingml/2006/table">
            <a:tbl>
              <a:tblPr firstRow="1" bandRow="1">
                <a:tableStyleId>{72833802-FEF1-4C79-8D5D-14CF1EAF98D9}</a:tableStyleId>
              </a:tblPr>
              <a:tblGrid>
                <a:gridCol w="1022407"/>
              </a:tblGrid>
              <a:tr h="370840">
                <a:tc>
                  <a:txBody>
                    <a:bodyPr/>
                    <a:lstStyle/>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DIP</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a:t>
                      </a:r>
                      <a:endPar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SIP</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B</a:t>
                      </a:r>
                      <a:endPar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6C4D2"/>
                    </a:solidFill>
                  </a:tcPr>
                </a:tc>
              </a:tr>
              <a:tr h="0">
                <a:tc>
                  <a:txBody>
                    <a:bodyPr/>
                    <a:lstStyle/>
                    <a:p>
                      <a:pPr algn="ctr"/>
                      <a:r>
                        <a:rPr lang="en-US" altLang="zh-CN" sz="1200" dirty="0">
                          <a:solidFill>
                            <a:schemeClr val="bg1"/>
                          </a:solidFill>
                        </a:rPr>
                        <a:t>Payload</a:t>
                      </a:r>
                      <a:endParaRPr lang="zh-CN" altLang="en-US" sz="1200"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r>
            </a:tbl>
          </a:graphicData>
        </a:graphic>
      </p:graphicFrame>
      <p:sp>
        <p:nvSpPr>
          <p:cNvPr id="31" name="Freeform 30"/>
          <p:cNvSpPr/>
          <p:nvPr/>
        </p:nvSpPr>
        <p:spPr bwMode="gray">
          <a:xfrm rot="1294434">
            <a:off x="4192807" y="3443649"/>
            <a:ext cx="189695" cy="563880"/>
          </a:xfrm>
          <a:custGeom>
            <a:avLst/>
            <a:gdLst>
              <a:gd name="connsiteX0" fmla="*/ 0 w 189695"/>
              <a:gd name="connsiteY0" fmla="*/ 0 h 563880"/>
              <a:gd name="connsiteX1" fmla="*/ 167640 w 189695"/>
              <a:gd name="connsiteY1" fmla="*/ 259080 h 563880"/>
              <a:gd name="connsiteX2" fmla="*/ 182880 w 189695"/>
              <a:gd name="connsiteY2" fmla="*/ 563880 h 563880"/>
            </a:gdLst>
            <a:ahLst/>
            <a:cxnLst>
              <a:cxn ang="0">
                <a:pos x="connsiteX0" y="connsiteY0"/>
              </a:cxn>
              <a:cxn ang="0">
                <a:pos x="connsiteX1" y="connsiteY1"/>
              </a:cxn>
              <a:cxn ang="0">
                <a:pos x="connsiteX2" y="connsiteY2"/>
              </a:cxn>
            </a:cxnLst>
            <a:rect l="l" t="t" r="r" b="b"/>
            <a:pathLst>
              <a:path w="189695" h="563880">
                <a:moveTo>
                  <a:pt x="0" y="0"/>
                </a:moveTo>
                <a:cubicBezTo>
                  <a:pt x="68580" y="82550"/>
                  <a:pt x="137160" y="165100"/>
                  <a:pt x="167640" y="259080"/>
                </a:cubicBezTo>
                <a:cubicBezTo>
                  <a:pt x="198120" y="353060"/>
                  <a:pt x="190500" y="458470"/>
                  <a:pt x="182880" y="563880"/>
                </a:cubicBezTo>
              </a:path>
            </a:pathLst>
          </a:custGeom>
          <a:noFill/>
          <a:ln w="28575">
            <a:solidFill>
              <a:srgbClr val="E28189"/>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Freeform 31"/>
          <p:cNvSpPr/>
          <p:nvPr/>
        </p:nvSpPr>
        <p:spPr bwMode="gray">
          <a:xfrm rot="1743281">
            <a:off x="4127102" y="4812675"/>
            <a:ext cx="321103" cy="612408"/>
          </a:xfrm>
          <a:custGeom>
            <a:avLst/>
            <a:gdLst>
              <a:gd name="connsiteX0" fmla="*/ 0 w 189695"/>
              <a:gd name="connsiteY0" fmla="*/ 0 h 563880"/>
              <a:gd name="connsiteX1" fmla="*/ 167640 w 189695"/>
              <a:gd name="connsiteY1" fmla="*/ 259080 h 563880"/>
              <a:gd name="connsiteX2" fmla="*/ 182880 w 189695"/>
              <a:gd name="connsiteY2" fmla="*/ 563880 h 563880"/>
            </a:gdLst>
            <a:ahLst/>
            <a:cxnLst>
              <a:cxn ang="0">
                <a:pos x="connsiteX0" y="connsiteY0"/>
              </a:cxn>
              <a:cxn ang="0">
                <a:pos x="connsiteX1" y="connsiteY1"/>
              </a:cxn>
              <a:cxn ang="0">
                <a:pos x="connsiteX2" y="connsiteY2"/>
              </a:cxn>
            </a:cxnLst>
            <a:rect l="l" t="t" r="r" b="b"/>
            <a:pathLst>
              <a:path w="189695" h="563880">
                <a:moveTo>
                  <a:pt x="0" y="0"/>
                </a:moveTo>
                <a:cubicBezTo>
                  <a:pt x="68580" y="82550"/>
                  <a:pt x="137160" y="165100"/>
                  <a:pt x="167640" y="259080"/>
                </a:cubicBezTo>
                <a:cubicBezTo>
                  <a:pt x="198120" y="353060"/>
                  <a:pt x="190500" y="458470"/>
                  <a:pt x="182880" y="563880"/>
                </a:cubicBezTo>
              </a:path>
            </a:pathLst>
          </a:custGeom>
          <a:noFill/>
          <a:ln w="28575">
            <a:solidFill>
              <a:srgbClr val="56C4D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Rectangular Callout 26"/>
          <p:cNvSpPr/>
          <p:nvPr/>
        </p:nvSpPr>
        <p:spPr bwMode="gray">
          <a:xfrm>
            <a:off x="4537024" y="3428525"/>
            <a:ext cx="1221844" cy="551136"/>
          </a:xfrm>
          <a:prstGeom prst="wedgeRectCallout">
            <a:avLst>
              <a:gd name="adj1" fmla="val -58739"/>
              <a:gd name="adj2" fmla="val -22556"/>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主路径故障，沿</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FRR</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路径转发</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cxnSp>
        <p:nvCxnSpPr>
          <p:cNvPr id="35" name="直接连接符 22"/>
          <p:cNvCxnSpPr>
            <a:stCxn id="41" idx="3"/>
            <a:endCxn id="44" idx="1"/>
          </p:cNvCxnSpPr>
          <p:nvPr/>
        </p:nvCxnSpPr>
        <p:spPr bwMode="gray">
          <a:xfrm flipV="1">
            <a:off x="8385740" y="3847170"/>
            <a:ext cx="1184174" cy="6270"/>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cxnSp>
        <p:nvCxnSpPr>
          <p:cNvPr id="36" name="直接连接符 22"/>
          <p:cNvCxnSpPr>
            <a:stCxn id="41" idx="2"/>
            <a:endCxn id="42" idx="0"/>
          </p:cNvCxnSpPr>
          <p:nvPr/>
        </p:nvCxnSpPr>
        <p:spPr bwMode="gray">
          <a:xfrm>
            <a:off x="8151581" y="4044965"/>
            <a:ext cx="0" cy="1122381"/>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cxnSp>
        <p:nvCxnSpPr>
          <p:cNvPr id="37" name="直接连接符 22"/>
          <p:cNvCxnSpPr>
            <a:stCxn id="42" idx="3"/>
            <a:endCxn id="45" idx="1"/>
          </p:cNvCxnSpPr>
          <p:nvPr/>
        </p:nvCxnSpPr>
        <p:spPr bwMode="gray">
          <a:xfrm>
            <a:off x="8385740" y="5358872"/>
            <a:ext cx="1189223" cy="6269"/>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cxnSp>
        <p:nvCxnSpPr>
          <p:cNvPr id="38" name="直接连接符 19"/>
          <p:cNvCxnSpPr>
            <a:stCxn id="41" idx="0"/>
            <a:endCxn id="40" idx="2"/>
          </p:cNvCxnSpPr>
          <p:nvPr/>
        </p:nvCxnSpPr>
        <p:spPr bwMode="gray">
          <a:xfrm flipV="1">
            <a:off x="8151581" y="3327759"/>
            <a:ext cx="0" cy="334155"/>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cxnSp>
        <p:nvCxnSpPr>
          <p:cNvPr id="39" name="直接连接符 22"/>
          <p:cNvCxnSpPr>
            <a:stCxn id="44" idx="2"/>
            <a:endCxn id="45" idx="0"/>
          </p:cNvCxnSpPr>
          <p:nvPr/>
        </p:nvCxnSpPr>
        <p:spPr bwMode="gray">
          <a:xfrm>
            <a:off x="9804073" y="4038695"/>
            <a:ext cx="5049" cy="1134920"/>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pic>
        <p:nvPicPr>
          <p:cNvPr id="40"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7917422" y="2944708"/>
            <a:ext cx="468318" cy="383051"/>
          </a:xfrm>
          <a:prstGeom prst="rect">
            <a:avLst/>
          </a:prstGeom>
        </p:spPr>
      </p:pic>
      <p:pic>
        <p:nvPicPr>
          <p:cNvPr id="41"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7917422" y="3661914"/>
            <a:ext cx="468318" cy="383051"/>
          </a:xfrm>
          <a:prstGeom prst="rect">
            <a:avLst/>
          </a:prstGeom>
        </p:spPr>
      </p:pic>
      <p:pic>
        <p:nvPicPr>
          <p:cNvPr id="42"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7917422" y="5167346"/>
            <a:ext cx="468318" cy="383051"/>
          </a:xfrm>
          <a:prstGeom prst="rect">
            <a:avLst/>
          </a:prstGeom>
        </p:spPr>
      </p:pic>
      <p:pic>
        <p:nvPicPr>
          <p:cNvPr id="43"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9574963" y="2950993"/>
            <a:ext cx="468318" cy="383051"/>
          </a:xfrm>
          <a:prstGeom prst="rect">
            <a:avLst/>
          </a:prstGeom>
        </p:spPr>
      </p:pic>
      <p:pic>
        <p:nvPicPr>
          <p:cNvPr id="44"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9569914" y="3655644"/>
            <a:ext cx="468318" cy="383051"/>
          </a:xfrm>
          <a:prstGeom prst="rect">
            <a:avLst/>
          </a:prstGeom>
        </p:spPr>
      </p:pic>
      <p:pic>
        <p:nvPicPr>
          <p:cNvPr id="45"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9574963" y="5173615"/>
            <a:ext cx="468318" cy="383051"/>
          </a:xfrm>
          <a:prstGeom prst="rect">
            <a:avLst/>
          </a:prstGeom>
        </p:spPr>
      </p:pic>
      <p:cxnSp>
        <p:nvCxnSpPr>
          <p:cNvPr id="46" name="直接连接符 22"/>
          <p:cNvCxnSpPr>
            <a:stCxn id="43" idx="2"/>
            <a:endCxn id="44" idx="0"/>
          </p:cNvCxnSpPr>
          <p:nvPr/>
        </p:nvCxnSpPr>
        <p:spPr bwMode="gray">
          <a:xfrm flipH="1">
            <a:off x="9804073" y="3334044"/>
            <a:ext cx="5049" cy="321600"/>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sp>
        <p:nvSpPr>
          <p:cNvPr id="49" name="TextBox 16"/>
          <p:cNvSpPr txBox="1"/>
          <p:nvPr/>
        </p:nvSpPr>
        <p:spPr bwMode="gray">
          <a:xfrm>
            <a:off x="7604105" y="3708669"/>
            <a:ext cx="364984"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P1</a:t>
            </a:r>
            <a:endParaRPr lang="zh-CN" altLang="en-US" sz="1200" dirty="0">
              <a:solidFill>
                <a:srgbClr val="000000"/>
              </a:solidFill>
              <a:cs typeface="+mn-ea"/>
              <a:sym typeface="+mn-lt"/>
            </a:endParaRPr>
          </a:p>
        </p:txBody>
      </p:sp>
      <p:sp>
        <p:nvSpPr>
          <p:cNvPr id="50" name="TextBox 16"/>
          <p:cNvSpPr txBox="1"/>
          <p:nvPr/>
        </p:nvSpPr>
        <p:spPr bwMode="gray">
          <a:xfrm>
            <a:off x="7929992" y="2717355"/>
            <a:ext cx="477846"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PE1</a:t>
            </a:r>
            <a:endParaRPr lang="zh-CN" altLang="en-US" sz="1200" dirty="0">
              <a:solidFill>
                <a:srgbClr val="000000"/>
              </a:solidFill>
              <a:cs typeface="+mn-ea"/>
              <a:sym typeface="+mn-lt"/>
            </a:endParaRPr>
          </a:p>
        </p:txBody>
      </p:sp>
      <p:sp>
        <p:nvSpPr>
          <p:cNvPr id="51" name="TextBox 16"/>
          <p:cNvSpPr txBox="1"/>
          <p:nvPr/>
        </p:nvSpPr>
        <p:spPr bwMode="gray">
          <a:xfrm>
            <a:off x="9582128" y="2723761"/>
            <a:ext cx="495582"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PE2</a:t>
            </a:r>
            <a:endParaRPr lang="zh-CN" altLang="en-US" sz="1200" dirty="0">
              <a:solidFill>
                <a:srgbClr val="000000"/>
              </a:solidFill>
              <a:cs typeface="+mn-ea"/>
              <a:sym typeface="+mn-lt"/>
            </a:endParaRPr>
          </a:p>
        </p:txBody>
      </p:sp>
      <p:sp>
        <p:nvSpPr>
          <p:cNvPr id="52" name="TextBox 16"/>
          <p:cNvSpPr txBox="1"/>
          <p:nvPr/>
        </p:nvSpPr>
        <p:spPr bwMode="gray">
          <a:xfrm>
            <a:off x="7604105" y="5229654"/>
            <a:ext cx="364984"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P2</a:t>
            </a:r>
            <a:endParaRPr lang="zh-CN" altLang="en-US" sz="1200" dirty="0">
              <a:solidFill>
                <a:srgbClr val="000000"/>
              </a:solidFill>
              <a:cs typeface="+mn-ea"/>
              <a:sym typeface="+mn-lt"/>
            </a:endParaRPr>
          </a:p>
        </p:txBody>
      </p:sp>
      <p:sp>
        <p:nvSpPr>
          <p:cNvPr id="53" name="TextBox 16"/>
          <p:cNvSpPr txBox="1"/>
          <p:nvPr/>
        </p:nvSpPr>
        <p:spPr bwMode="gray">
          <a:xfrm>
            <a:off x="9975430" y="5229653"/>
            <a:ext cx="364984"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P3</a:t>
            </a:r>
            <a:endParaRPr lang="zh-CN" altLang="en-US" sz="1200" dirty="0">
              <a:solidFill>
                <a:srgbClr val="000000"/>
              </a:solidFill>
              <a:cs typeface="+mn-ea"/>
              <a:sym typeface="+mn-lt"/>
            </a:endParaRPr>
          </a:p>
        </p:txBody>
      </p:sp>
      <p:sp>
        <p:nvSpPr>
          <p:cNvPr id="54" name="TextBox 16"/>
          <p:cNvSpPr txBox="1"/>
          <p:nvPr/>
        </p:nvSpPr>
        <p:spPr bwMode="gray">
          <a:xfrm>
            <a:off x="9986565" y="3716338"/>
            <a:ext cx="364984"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P4</a:t>
            </a:r>
            <a:endParaRPr lang="zh-CN" altLang="en-US" sz="1200" dirty="0">
              <a:solidFill>
                <a:srgbClr val="000000"/>
              </a:solidFill>
              <a:cs typeface="+mn-ea"/>
              <a:sym typeface="+mn-lt"/>
            </a:endParaRPr>
          </a:p>
        </p:txBody>
      </p:sp>
      <p:graphicFrame>
        <p:nvGraphicFramePr>
          <p:cNvPr id="55" name="Table 54"/>
          <p:cNvGraphicFramePr>
            <a:graphicFrameLocks noGrp="1"/>
          </p:cNvGraphicFramePr>
          <p:nvPr/>
        </p:nvGraphicFramePr>
        <p:xfrm>
          <a:off x="6855716" y="4248444"/>
          <a:ext cx="1022407" cy="731520"/>
        </p:xfrm>
        <a:graphic>
          <a:graphicData uri="http://schemas.openxmlformats.org/drawingml/2006/table">
            <a:tbl>
              <a:tblPr firstRow="1" bandRow="1">
                <a:tableStyleId>{72833802-FEF1-4C79-8D5D-14CF1EAF98D9}</a:tableStyleId>
              </a:tblPr>
              <a:tblGrid>
                <a:gridCol w="1022407"/>
              </a:tblGrid>
              <a:tr h="370840">
                <a:tc>
                  <a:txBody>
                    <a:bodyPr/>
                    <a:lstStyle/>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DIP</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PE2</a:t>
                      </a:r>
                      <a:endPar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SIP</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PE1</a:t>
                      </a:r>
                      <a:endPar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6C4D2"/>
                    </a:solidFill>
                  </a:tcPr>
                </a:tc>
              </a:tr>
              <a:tr h="0">
                <a:tc>
                  <a:txBody>
                    <a:bodyPr/>
                    <a:lstStyle/>
                    <a:p>
                      <a:pPr algn="ctr"/>
                      <a:r>
                        <a:rPr lang="en-US" altLang="zh-CN" sz="1200" dirty="0">
                          <a:solidFill>
                            <a:schemeClr val="bg1"/>
                          </a:solidFill>
                        </a:rPr>
                        <a:t>Payload</a:t>
                      </a:r>
                      <a:endParaRPr lang="zh-CN" altLang="en-US" sz="1200"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r>
            </a:tbl>
          </a:graphicData>
        </a:graphic>
      </p:graphicFrame>
      <p:cxnSp>
        <p:nvCxnSpPr>
          <p:cNvPr id="57" name="Straight Arrow Connector 56"/>
          <p:cNvCxnSpPr/>
          <p:nvPr/>
        </p:nvCxnSpPr>
        <p:spPr bwMode="gray">
          <a:xfrm>
            <a:off x="8037207" y="4101910"/>
            <a:ext cx="0" cy="1016969"/>
          </a:xfrm>
          <a:prstGeom prst="straightConnector1">
            <a:avLst/>
          </a:prstGeom>
          <a:noFill/>
          <a:ln w="28575">
            <a:solidFill>
              <a:srgbClr val="56C4D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sp>
        <p:nvSpPr>
          <p:cNvPr id="58" name="Plus Sign 75"/>
          <p:cNvSpPr/>
          <p:nvPr/>
        </p:nvSpPr>
        <p:spPr bwMode="gray">
          <a:xfrm rot="2700000">
            <a:off x="8792412" y="3697701"/>
            <a:ext cx="298938" cy="298938"/>
          </a:xfrm>
          <a:prstGeom prst="mathPlus">
            <a:avLst/>
          </a:prstGeom>
          <a:solidFill>
            <a:srgbClr val="E28189"/>
          </a:solidFill>
          <a:ln>
            <a:solidFill>
              <a:srgbClr val="E2818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9" name="Straight Arrow Connector 58"/>
          <p:cNvCxnSpPr/>
          <p:nvPr/>
        </p:nvCxnSpPr>
        <p:spPr bwMode="gray">
          <a:xfrm flipV="1">
            <a:off x="8317172" y="4114601"/>
            <a:ext cx="0" cy="983108"/>
          </a:xfrm>
          <a:prstGeom prst="straightConnector1">
            <a:avLst/>
          </a:prstGeom>
          <a:noFill/>
          <a:ln w="28575">
            <a:solidFill>
              <a:srgbClr val="56C4D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sp>
        <p:nvSpPr>
          <p:cNvPr id="61" name="TextBox 16"/>
          <p:cNvSpPr txBox="1"/>
          <p:nvPr/>
        </p:nvSpPr>
        <p:spPr bwMode="gray">
          <a:xfrm>
            <a:off x="8492138" y="5088132"/>
            <a:ext cx="1010966"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Cost</a:t>
            </a:r>
            <a:r>
              <a:rPr lang="zh-CN" altLang="en-US" sz="1200" dirty="0">
                <a:solidFill>
                  <a:srgbClr val="000000"/>
                </a:solidFill>
                <a:cs typeface="+mn-ea"/>
                <a:sym typeface="+mn-lt"/>
              </a:rPr>
              <a:t>：</a:t>
            </a:r>
            <a:r>
              <a:rPr lang="en-US" altLang="zh-CN" sz="1200" dirty="0">
                <a:solidFill>
                  <a:srgbClr val="000000"/>
                </a:solidFill>
                <a:cs typeface="+mn-ea"/>
                <a:sym typeface="+mn-lt"/>
              </a:rPr>
              <a:t>1000</a:t>
            </a:r>
            <a:endParaRPr lang="zh-CN" altLang="en-US" sz="1200" dirty="0">
              <a:solidFill>
                <a:srgbClr val="000000"/>
              </a:solidFill>
              <a:cs typeface="+mn-ea"/>
              <a:sym typeface="+mn-lt"/>
            </a:endParaRPr>
          </a:p>
        </p:txBody>
      </p:sp>
      <p:sp>
        <p:nvSpPr>
          <p:cNvPr id="62" name="Rectangular Callout 26"/>
          <p:cNvSpPr/>
          <p:nvPr/>
        </p:nvSpPr>
        <p:spPr bwMode="gray">
          <a:xfrm>
            <a:off x="6295878" y="3442201"/>
            <a:ext cx="1161286" cy="551136"/>
          </a:xfrm>
          <a:prstGeom prst="wedgeRectCallout">
            <a:avLst>
              <a:gd name="adj1" fmla="val 66097"/>
              <a:gd name="adj2" fmla="val 19613"/>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P1</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完成</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IGP</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收敛，不再基于</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FRR</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方式转发</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63" name="Rectangular Callout 26"/>
          <p:cNvSpPr/>
          <p:nvPr/>
        </p:nvSpPr>
        <p:spPr bwMode="gray">
          <a:xfrm>
            <a:off x="6195432" y="5202699"/>
            <a:ext cx="1287881" cy="551136"/>
          </a:xfrm>
          <a:prstGeom prst="wedgeRectCallout">
            <a:avLst>
              <a:gd name="adj1" fmla="val 64457"/>
              <a:gd name="adj2" fmla="val -21865"/>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P2</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未完成</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IGP</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收敛，基于原来的路由表转发</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64" name="Rectangular Callout 26"/>
          <p:cNvSpPr/>
          <p:nvPr/>
        </p:nvSpPr>
        <p:spPr bwMode="gray">
          <a:xfrm>
            <a:off x="8444346" y="4243808"/>
            <a:ext cx="1287881" cy="758830"/>
          </a:xfrm>
          <a:prstGeom prst="wedgeRectCallout">
            <a:avLst>
              <a:gd name="adj1" fmla="val -57575"/>
              <a:gd name="adj2" fmla="val -23593"/>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P1</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认为去往</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PE2</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应该发给</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P2</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P2</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认为去往</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PE2</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应该发给</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P1</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6" name="五边形 2"/>
          <p:cNvSpPr/>
          <p:nvPr/>
        </p:nvSpPr>
        <p:spPr bwMode="gray">
          <a:xfrm>
            <a:off x="9278937" y="110463"/>
            <a:ext cx="1166602"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本地保护技术</a:t>
            </a:r>
            <a:endPar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0" name="燕尾形 3"/>
          <p:cNvSpPr/>
          <p:nvPr/>
        </p:nvSpPr>
        <p:spPr bwMode="gray">
          <a:xfrm>
            <a:off x="10368978" y="110463"/>
            <a:ext cx="1380109"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端到端保护技术</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本地正切微环</a:t>
            </a:r>
            <a:endParaRPr lang="zh-CN" altLang="en-US" dirty="0"/>
          </a:p>
        </p:txBody>
      </p:sp>
      <p:sp>
        <p:nvSpPr>
          <p:cNvPr id="3" name="Text Placeholder 2"/>
          <p:cNvSpPr>
            <a:spLocks noGrp="1"/>
          </p:cNvSpPr>
          <p:nvPr>
            <p:ph type="body" sz="quarter" idx="10"/>
          </p:nvPr>
        </p:nvSpPr>
        <p:spPr>
          <a:xfrm>
            <a:off x="6096000" y="1047750"/>
            <a:ext cx="5653087" cy="4879805"/>
          </a:xfrm>
        </p:spPr>
        <p:txBody>
          <a:bodyPr/>
          <a:lstStyle/>
          <a:p>
            <a:r>
              <a:rPr lang="zh-CN" altLang="en-US" sz="1800" dirty="0"/>
              <a:t>本地正切防微环指的是紧邻故障点的节点收敛后引发的环路</a:t>
            </a:r>
            <a:endParaRPr lang="zh-CN" altLang="en-US" sz="1800" dirty="0"/>
          </a:p>
          <a:p>
            <a:pPr marL="860425" lvl="1" indent="-457200">
              <a:buSzPct val="100000"/>
              <a:buFont typeface="+mj-lt"/>
              <a:buAutoNum type="arabicPeriod"/>
            </a:pPr>
            <a:r>
              <a:rPr lang="en-US" altLang="zh-CN" sz="1600" dirty="0"/>
              <a:t>P1-&gt;P4</a:t>
            </a:r>
            <a:r>
              <a:rPr lang="zh-CN" altLang="en-US" sz="1600" dirty="0"/>
              <a:t>间的链路故障时，流量先按</a:t>
            </a:r>
            <a:r>
              <a:rPr lang="en-US" altLang="zh-CN" sz="1600" dirty="0"/>
              <a:t>TI-LFA</a:t>
            </a:r>
            <a:r>
              <a:rPr lang="zh-CN" altLang="en-US" sz="1600" dirty="0"/>
              <a:t>备份路径转发。</a:t>
            </a:r>
            <a:endParaRPr lang="zh-CN" altLang="en-US" sz="1600" dirty="0"/>
          </a:p>
          <a:p>
            <a:pPr marL="860425" lvl="1" indent="-457200">
              <a:buSzPct val="100000"/>
              <a:buFont typeface="+mj-lt"/>
              <a:buAutoNum type="arabicPeriod"/>
            </a:pPr>
            <a:r>
              <a:rPr lang="zh-CN" altLang="en-US" sz="1600" dirty="0"/>
              <a:t>当</a:t>
            </a:r>
            <a:r>
              <a:rPr lang="en-US" altLang="zh-CN" sz="1600" dirty="0"/>
              <a:t>P1</a:t>
            </a:r>
            <a:r>
              <a:rPr lang="zh-CN" altLang="en-US" sz="1600" dirty="0"/>
              <a:t>收敛后，将下一跳收敛到</a:t>
            </a:r>
            <a:r>
              <a:rPr lang="en-US" altLang="zh-CN" sz="1600" dirty="0"/>
              <a:t>P2 </a:t>
            </a:r>
            <a:r>
              <a:rPr lang="zh-CN" altLang="en-US" sz="1600" dirty="0"/>
              <a:t>，</a:t>
            </a:r>
            <a:r>
              <a:rPr lang="en-US" altLang="zh-CN" sz="1600" dirty="0"/>
              <a:t>P1</a:t>
            </a:r>
            <a:r>
              <a:rPr lang="zh-CN" altLang="en-US" sz="1600" dirty="0"/>
              <a:t>按照收敛后的路径把流量转发到</a:t>
            </a:r>
            <a:r>
              <a:rPr lang="en-US" altLang="zh-CN" sz="1600" dirty="0"/>
              <a:t>P2</a:t>
            </a:r>
            <a:r>
              <a:rPr lang="zh-CN" altLang="en-US" sz="1600" dirty="0"/>
              <a:t>。</a:t>
            </a:r>
            <a:endParaRPr lang="zh-CN" altLang="en-US" sz="1600" dirty="0"/>
          </a:p>
          <a:p>
            <a:pPr marL="860425" lvl="1" indent="-457200">
              <a:buSzPct val="100000"/>
              <a:buFont typeface="+mj-lt"/>
              <a:buAutoNum type="arabicPeriod"/>
            </a:pPr>
            <a:r>
              <a:rPr lang="zh-CN" altLang="en-US" sz="1600" dirty="0"/>
              <a:t>但网络中</a:t>
            </a:r>
            <a:r>
              <a:rPr lang="en-US" altLang="zh-CN" sz="1600" dirty="0"/>
              <a:t>P2</a:t>
            </a:r>
            <a:r>
              <a:rPr lang="zh-CN" altLang="en-US" sz="1600" dirty="0"/>
              <a:t>和其它结点还未收敛，</a:t>
            </a:r>
            <a:r>
              <a:rPr lang="en-US" altLang="zh-CN" sz="1600" dirty="0"/>
              <a:t>P2</a:t>
            </a:r>
            <a:r>
              <a:rPr lang="zh-CN" altLang="en-US" sz="1600" dirty="0"/>
              <a:t>到节点</a:t>
            </a:r>
            <a:r>
              <a:rPr lang="en-US" altLang="zh-CN" sz="1600" dirty="0"/>
              <a:t>PE2</a:t>
            </a:r>
            <a:r>
              <a:rPr lang="zh-CN" altLang="en-US" sz="1600" dirty="0"/>
              <a:t>的下一跳还是</a:t>
            </a:r>
            <a:r>
              <a:rPr lang="en-US" altLang="zh-CN" sz="1600" dirty="0"/>
              <a:t>P1</a:t>
            </a:r>
            <a:r>
              <a:rPr lang="zh-CN" altLang="en-US" sz="1600" dirty="0"/>
              <a:t>，这样就会在</a:t>
            </a:r>
            <a:r>
              <a:rPr lang="en-US" altLang="zh-CN" sz="1600" dirty="0"/>
              <a:t>P1</a:t>
            </a:r>
            <a:r>
              <a:rPr lang="zh-CN" altLang="en-US" sz="1600" dirty="0"/>
              <a:t>和</a:t>
            </a:r>
            <a:r>
              <a:rPr lang="en-US" altLang="zh-CN" sz="1600" dirty="0"/>
              <a:t>P2</a:t>
            </a:r>
            <a:r>
              <a:rPr lang="zh-CN" altLang="en-US" sz="1600" dirty="0"/>
              <a:t>间形成环路，直到</a:t>
            </a:r>
            <a:r>
              <a:rPr lang="en-US" altLang="zh-CN" sz="1600" dirty="0"/>
              <a:t>P2</a:t>
            </a:r>
            <a:r>
              <a:rPr lang="zh-CN" altLang="en-US" sz="1600" dirty="0"/>
              <a:t>收敛完成。</a:t>
            </a:r>
            <a:endParaRPr lang="zh-CN" altLang="en-US" sz="1600" dirty="0"/>
          </a:p>
        </p:txBody>
      </p:sp>
      <p:cxnSp>
        <p:nvCxnSpPr>
          <p:cNvPr id="4" name="直接连接符 22"/>
          <p:cNvCxnSpPr>
            <a:stCxn id="10" idx="3"/>
            <a:endCxn id="13" idx="1"/>
          </p:cNvCxnSpPr>
          <p:nvPr/>
        </p:nvCxnSpPr>
        <p:spPr bwMode="auto">
          <a:xfrm flipV="1">
            <a:off x="3234574" y="3145619"/>
            <a:ext cx="1184174" cy="6270"/>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cxnSp>
        <p:nvCxnSpPr>
          <p:cNvPr id="5" name="直接连接符 22"/>
          <p:cNvCxnSpPr>
            <a:stCxn id="10" idx="2"/>
            <a:endCxn id="11" idx="0"/>
          </p:cNvCxnSpPr>
          <p:nvPr/>
        </p:nvCxnSpPr>
        <p:spPr bwMode="auto">
          <a:xfrm>
            <a:off x="3000415" y="3343414"/>
            <a:ext cx="0" cy="1122381"/>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cxnSp>
        <p:nvCxnSpPr>
          <p:cNvPr id="6" name="直接连接符 22"/>
          <p:cNvCxnSpPr>
            <a:stCxn id="11" idx="3"/>
            <a:endCxn id="14" idx="1"/>
          </p:cNvCxnSpPr>
          <p:nvPr/>
        </p:nvCxnSpPr>
        <p:spPr bwMode="auto">
          <a:xfrm>
            <a:off x="3234574" y="4657321"/>
            <a:ext cx="1189223" cy="6269"/>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cxnSp>
        <p:nvCxnSpPr>
          <p:cNvPr id="7" name="直接连接符 19"/>
          <p:cNvCxnSpPr>
            <a:stCxn id="10" idx="0"/>
            <a:endCxn id="9" idx="2"/>
          </p:cNvCxnSpPr>
          <p:nvPr/>
        </p:nvCxnSpPr>
        <p:spPr bwMode="auto">
          <a:xfrm flipV="1">
            <a:off x="3000415" y="2626208"/>
            <a:ext cx="0" cy="334155"/>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cxnSp>
        <p:nvCxnSpPr>
          <p:cNvPr id="8" name="直接连接符 22"/>
          <p:cNvCxnSpPr>
            <a:stCxn id="13" idx="2"/>
            <a:endCxn id="14" idx="0"/>
          </p:cNvCxnSpPr>
          <p:nvPr/>
        </p:nvCxnSpPr>
        <p:spPr bwMode="auto">
          <a:xfrm>
            <a:off x="4652907" y="3337144"/>
            <a:ext cx="5049" cy="1134920"/>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pic>
        <p:nvPicPr>
          <p:cNvPr id="9"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2766256" y="2243157"/>
            <a:ext cx="468318" cy="383051"/>
          </a:xfrm>
          <a:prstGeom prst="rect">
            <a:avLst/>
          </a:prstGeom>
        </p:spPr>
      </p:pic>
      <p:pic>
        <p:nvPicPr>
          <p:cNvPr id="10"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2766256" y="2960363"/>
            <a:ext cx="468318" cy="383051"/>
          </a:xfrm>
          <a:prstGeom prst="rect">
            <a:avLst/>
          </a:prstGeom>
        </p:spPr>
      </p:pic>
      <p:pic>
        <p:nvPicPr>
          <p:cNvPr id="11"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2766256" y="4465795"/>
            <a:ext cx="468318" cy="383051"/>
          </a:xfrm>
          <a:prstGeom prst="rect">
            <a:avLst/>
          </a:prstGeom>
        </p:spPr>
      </p:pic>
      <p:pic>
        <p:nvPicPr>
          <p:cNvPr id="12"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4423797" y="2249442"/>
            <a:ext cx="468318" cy="383051"/>
          </a:xfrm>
          <a:prstGeom prst="rect">
            <a:avLst/>
          </a:prstGeom>
        </p:spPr>
      </p:pic>
      <p:pic>
        <p:nvPicPr>
          <p:cNvPr id="13"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4418748" y="2954093"/>
            <a:ext cx="468318" cy="383051"/>
          </a:xfrm>
          <a:prstGeom prst="rect">
            <a:avLst/>
          </a:prstGeom>
        </p:spPr>
      </p:pic>
      <p:pic>
        <p:nvPicPr>
          <p:cNvPr id="14"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4423797" y="4472064"/>
            <a:ext cx="468318" cy="383051"/>
          </a:xfrm>
          <a:prstGeom prst="rect">
            <a:avLst/>
          </a:prstGeom>
        </p:spPr>
      </p:pic>
      <p:cxnSp>
        <p:nvCxnSpPr>
          <p:cNvPr id="15" name="直接连接符 22"/>
          <p:cNvCxnSpPr>
            <a:stCxn id="12" idx="2"/>
            <a:endCxn id="13" idx="0"/>
          </p:cNvCxnSpPr>
          <p:nvPr/>
        </p:nvCxnSpPr>
        <p:spPr bwMode="auto">
          <a:xfrm flipH="1">
            <a:off x="4652907" y="2632493"/>
            <a:ext cx="5049" cy="321600"/>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sp>
        <p:nvSpPr>
          <p:cNvPr id="16" name="TextBox 16"/>
          <p:cNvSpPr txBox="1"/>
          <p:nvPr/>
        </p:nvSpPr>
        <p:spPr>
          <a:xfrm>
            <a:off x="2452939" y="3007118"/>
            <a:ext cx="364984"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P1</a:t>
            </a:r>
            <a:endParaRPr lang="zh-CN" altLang="en-US" sz="1200" dirty="0">
              <a:solidFill>
                <a:srgbClr val="000000"/>
              </a:solidFill>
              <a:cs typeface="+mn-ea"/>
              <a:sym typeface="+mn-lt"/>
            </a:endParaRPr>
          </a:p>
        </p:txBody>
      </p:sp>
      <p:sp>
        <p:nvSpPr>
          <p:cNvPr id="17" name="TextBox 16"/>
          <p:cNvSpPr txBox="1"/>
          <p:nvPr/>
        </p:nvSpPr>
        <p:spPr>
          <a:xfrm>
            <a:off x="2778826" y="2015804"/>
            <a:ext cx="477846"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PE1</a:t>
            </a:r>
            <a:endParaRPr lang="zh-CN" altLang="en-US" sz="1200" dirty="0">
              <a:solidFill>
                <a:srgbClr val="000000"/>
              </a:solidFill>
              <a:cs typeface="+mn-ea"/>
              <a:sym typeface="+mn-lt"/>
            </a:endParaRPr>
          </a:p>
        </p:txBody>
      </p:sp>
      <p:sp>
        <p:nvSpPr>
          <p:cNvPr id="18" name="TextBox 16"/>
          <p:cNvSpPr txBox="1"/>
          <p:nvPr/>
        </p:nvSpPr>
        <p:spPr>
          <a:xfrm>
            <a:off x="4430962" y="2022210"/>
            <a:ext cx="495582"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PE2</a:t>
            </a:r>
            <a:endParaRPr lang="zh-CN" altLang="en-US" sz="1200" dirty="0">
              <a:solidFill>
                <a:srgbClr val="000000"/>
              </a:solidFill>
              <a:cs typeface="+mn-ea"/>
              <a:sym typeface="+mn-lt"/>
            </a:endParaRPr>
          </a:p>
        </p:txBody>
      </p:sp>
      <p:sp>
        <p:nvSpPr>
          <p:cNvPr id="19" name="TextBox 16"/>
          <p:cNvSpPr txBox="1"/>
          <p:nvPr/>
        </p:nvSpPr>
        <p:spPr>
          <a:xfrm>
            <a:off x="2452939" y="4528103"/>
            <a:ext cx="364984"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P2</a:t>
            </a:r>
            <a:endParaRPr lang="zh-CN" altLang="en-US" sz="1200" dirty="0">
              <a:solidFill>
                <a:srgbClr val="000000"/>
              </a:solidFill>
              <a:cs typeface="+mn-ea"/>
              <a:sym typeface="+mn-lt"/>
            </a:endParaRPr>
          </a:p>
        </p:txBody>
      </p:sp>
      <p:sp>
        <p:nvSpPr>
          <p:cNvPr id="20" name="TextBox 16"/>
          <p:cNvSpPr txBox="1"/>
          <p:nvPr/>
        </p:nvSpPr>
        <p:spPr>
          <a:xfrm>
            <a:off x="4824264" y="4528102"/>
            <a:ext cx="364984"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P3</a:t>
            </a:r>
            <a:endParaRPr lang="zh-CN" altLang="en-US" sz="1200" dirty="0">
              <a:solidFill>
                <a:srgbClr val="000000"/>
              </a:solidFill>
              <a:cs typeface="+mn-ea"/>
              <a:sym typeface="+mn-lt"/>
            </a:endParaRPr>
          </a:p>
        </p:txBody>
      </p:sp>
      <p:sp>
        <p:nvSpPr>
          <p:cNvPr id="21" name="TextBox 16"/>
          <p:cNvSpPr txBox="1"/>
          <p:nvPr/>
        </p:nvSpPr>
        <p:spPr>
          <a:xfrm>
            <a:off x="4835399" y="3014787"/>
            <a:ext cx="364984"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P4</a:t>
            </a:r>
            <a:endParaRPr lang="zh-CN" altLang="en-US" sz="1200" dirty="0">
              <a:solidFill>
                <a:srgbClr val="000000"/>
              </a:solidFill>
              <a:cs typeface="+mn-ea"/>
              <a:sym typeface="+mn-lt"/>
            </a:endParaRPr>
          </a:p>
        </p:txBody>
      </p:sp>
      <p:graphicFrame>
        <p:nvGraphicFramePr>
          <p:cNvPr id="22" name="Table 21"/>
          <p:cNvGraphicFramePr>
            <a:graphicFrameLocks noGrp="1"/>
          </p:cNvGraphicFramePr>
          <p:nvPr/>
        </p:nvGraphicFramePr>
        <p:xfrm>
          <a:off x="1704550" y="3546893"/>
          <a:ext cx="1022407" cy="731520"/>
        </p:xfrm>
        <a:graphic>
          <a:graphicData uri="http://schemas.openxmlformats.org/drawingml/2006/table">
            <a:tbl>
              <a:tblPr firstRow="1" bandRow="1">
                <a:tableStyleId>{72833802-FEF1-4C79-8D5D-14CF1EAF98D9}</a:tableStyleId>
              </a:tblPr>
              <a:tblGrid>
                <a:gridCol w="1022407"/>
              </a:tblGrid>
              <a:tr h="370840">
                <a:tc>
                  <a:txBody>
                    <a:bodyPr/>
                    <a:lstStyle/>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DIP</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PE2</a:t>
                      </a:r>
                      <a:endPar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SIP</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PE1</a:t>
                      </a:r>
                      <a:endPar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6C4D2"/>
                    </a:solidFill>
                  </a:tcPr>
                </a:tc>
              </a:tr>
              <a:tr h="0">
                <a:tc>
                  <a:txBody>
                    <a:bodyPr/>
                    <a:lstStyle/>
                    <a:p>
                      <a:pPr algn="ctr"/>
                      <a:r>
                        <a:rPr lang="en-US" altLang="zh-CN" sz="1200" dirty="0">
                          <a:solidFill>
                            <a:schemeClr val="bg1"/>
                          </a:solidFill>
                        </a:rPr>
                        <a:t>Payload</a:t>
                      </a:r>
                      <a:endParaRPr lang="zh-CN" altLang="en-US" sz="1200"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r>
            </a:tbl>
          </a:graphicData>
        </a:graphic>
      </p:graphicFrame>
      <p:cxnSp>
        <p:nvCxnSpPr>
          <p:cNvPr id="23" name="Straight Arrow Connector 22"/>
          <p:cNvCxnSpPr/>
          <p:nvPr/>
        </p:nvCxnSpPr>
        <p:spPr>
          <a:xfrm>
            <a:off x="2886041" y="3400359"/>
            <a:ext cx="0" cy="1016969"/>
          </a:xfrm>
          <a:prstGeom prst="straightConnector1">
            <a:avLst/>
          </a:prstGeom>
          <a:noFill/>
          <a:ln w="28575">
            <a:solidFill>
              <a:srgbClr val="56C4D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sp>
        <p:nvSpPr>
          <p:cNvPr id="24" name="Plus Sign 75"/>
          <p:cNvSpPr/>
          <p:nvPr/>
        </p:nvSpPr>
        <p:spPr bwMode="gray">
          <a:xfrm rot="2700000">
            <a:off x="3641246" y="2996150"/>
            <a:ext cx="298938" cy="298938"/>
          </a:xfrm>
          <a:prstGeom prst="mathPlus">
            <a:avLst/>
          </a:prstGeom>
          <a:solidFill>
            <a:srgbClr val="E28189"/>
          </a:solidFill>
          <a:ln>
            <a:solidFill>
              <a:srgbClr val="E2818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5" name="Straight Arrow Connector 24"/>
          <p:cNvCxnSpPr/>
          <p:nvPr/>
        </p:nvCxnSpPr>
        <p:spPr>
          <a:xfrm flipV="1">
            <a:off x="3166006" y="3413050"/>
            <a:ext cx="0" cy="983108"/>
          </a:xfrm>
          <a:prstGeom prst="straightConnector1">
            <a:avLst/>
          </a:prstGeom>
          <a:noFill/>
          <a:ln w="28575">
            <a:solidFill>
              <a:srgbClr val="56C4D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sp>
        <p:nvSpPr>
          <p:cNvPr id="26" name="TextBox 16"/>
          <p:cNvSpPr txBox="1"/>
          <p:nvPr/>
        </p:nvSpPr>
        <p:spPr>
          <a:xfrm>
            <a:off x="3340972" y="4386581"/>
            <a:ext cx="1010966"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Cost</a:t>
            </a:r>
            <a:r>
              <a:rPr lang="zh-CN" altLang="en-US" sz="1200" dirty="0">
                <a:solidFill>
                  <a:srgbClr val="000000"/>
                </a:solidFill>
                <a:cs typeface="+mn-ea"/>
                <a:sym typeface="+mn-lt"/>
              </a:rPr>
              <a:t>：</a:t>
            </a:r>
            <a:r>
              <a:rPr lang="en-US" altLang="zh-CN" sz="1200" dirty="0">
                <a:solidFill>
                  <a:srgbClr val="000000"/>
                </a:solidFill>
                <a:cs typeface="+mn-ea"/>
                <a:sym typeface="+mn-lt"/>
              </a:rPr>
              <a:t>1000</a:t>
            </a:r>
            <a:endParaRPr lang="zh-CN" altLang="en-US" sz="1200" dirty="0">
              <a:solidFill>
                <a:srgbClr val="000000"/>
              </a:solidFill>
              <a:cs typeface="+mn-ea"/>
              <a:sym typeface="+mn-lt"/>
            </a:endParaRPr>
          </a:p>
        </p:txBody>
      </p:sp>
      <p:sp>
        <p:nvSpPr>
          <p:cNvPr id="27" name="Rectangular Callout 26"/>
          <p:cNvSpPr/>
          <p:nvPr/>
        </p:nvSpPr>
        <p:spPr bwMode="gray">
          <a:xfrm>
            <a:off x="1144712" y="2740650"/>
            <a:ext cx="1161286" cy="551136"/>
          </a:xfrm>
          <a:prstGeom prst="wedgeRectCallout">
            <a:avLst>
              <a:gd name="adj1" fmla="val 66097"/>
              <a:gd name="adj2" fmla="val 19613"/>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P1</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完成</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IGP</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收敛，不再基于</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FRR</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方式转发</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8" name="Rectangular Callout 26"/>
          <p:cNvSpPr/>
          <p:nvPr/>
        </p:nvSpPr>
        <p:spPr bwMode="gray">
          <a:xfrm>
            <a:off x="1044266" y="4501148"/>
            <a:ext cx="1287881" cy="551136"/>
          </a:xfrm>
          <a:prstGeom prst="wedgeRectCallout">
            <a:avLst>
              <a:gd name="adj1" fmla="val 64457"/>
              <a:gd name="adj2" fmla="val -21865"/>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P2</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未完成</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IGP</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收敛，基于原来的路由表转发</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9" name="Rectangular Callout 26"/>
          <p:cNvSpPr/>
          <p:nvPr/>
        </p:nvSpPr>
        <p:spPr bwMode="gray">
          <a:xfrm>
            <a:off x="3293180" y="3542257"/>
            <a:ext cx="1287881" cy="758830"/>
          </a:xfrm>
          <a:prstGeom prst="wedgeRectCallout">
            <a:avLst>
              <a:gd name="adj1" fmla="val -57575"/>
              <a:gd name="adj2" fmla="val -23593"/>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P1</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认为去往</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PE2</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应该发给</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P2</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P2</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认为去往</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PE2</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应该发给</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P1</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0" name="五边形 2"/>
          <p:cNvSpPr/>
          <p:nvPr/>
        </p:nvSpPr>
        <p:spPr bwMode="gray">
          <a:xfrm>
            <a:off x="9278937" y="110463"/>
            <a:ext cx="1166602"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本地保护技术</a:t>
            </a:r>
            <a:endPar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 name="燕尾形 3"/>
          <p:cNvSpPr/>
          <p:nvPr/>
        </p:nvSpPr>
        <p:spPr bwMode="gray">
          <a:xfrm>
            <a:off x="10368978" y="110463"/>
            <a:ext cx="1380109"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端到端保护技术</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gray"/>
        <p:txBody>
          <a:bodyPr/>
          <a:lstStyle/>
          <a:p>
            <a:r>
              <a:rPr lang="zh-CN" altLang="en-US" dirty="0"/>
              <a:t>本地正切防微环方案</a:t>
            </a:r>
            <a:endParaRPr lang="zh-CN" altLang="en-US" dirty="0"/>
          </a:p>
        </p:txBody>
      </p:sp>
      <p:sp>
        <p:nvSpPr>
          <p:cNvPr id="3" name="Text Placeholder 2"/>
          <p:cNvSpPr>
            <a:spLocks noGrp="1"/>
          </p:cNvSpPr>
          <p:nvPr>
            <p:ph type="body" sz="quarter" idx="10"/>
          </p:nvPr>
        </p:nvSpPr>
        <p:spPr bwMode="gray">
          <a:xfrm>
            <a:off x="6096000" y="1047750"/>
            <a:ext cx="5653087" cy="4879805"/>
          </a:xfrm>
        </p:spPr>
        <p:txBody>
          <a:bodyPr/>
          <a:lstStyle/>
          <a:p>
            <a:r>
              <a:rPr lang="zh-CN" altLang="en-US" sz="1800" dirty="0"/>
              <a:t>防微环的措施是该节点收敛后延迟一段时间再下发转发路径，避免故障点相邻节点在</a:t>
            </a:r>
            <a:r>
              <a:rPr lang="en-US" altLang="zh-CN" sz="1800" dirty="0"/>
              <a:t>IGP</a:t>
            </a:r>
            <a:r>
              <a:rPr lang="zh-CN" altLang="en-US" sz="1800" dirty="0"/>
              <a:t>收敛后引发环路，具体流程如下：</a:t>
            </a:r>
            <a:endParaRPr lang="zh-CN" altLang="en-US" sz="1800" dirty="0"/>
          </a:p>
          <a:p>
            <a:pPr marL="746125" lvl="1" indent="-342900">
              <a:buSzPct val="100000"/>
              <a:buFont typeface="+mj-lt"/>
              <a:buAutoNum type="arabicPeriod"/>
            </a:pPr>
            <a:r>
              <a:rPr lang="en-US" altLang="zh-CN" sz="1600" dirty="0"/>
              <a:t>P1</a:t>
            </a:r>
            <a:r>
              <a:rPr lang="zh-CN" altLang="en-US" sz="1600" dirty="0"/>
              <a:t>感知到</a:t>
            </a:r>
            <a:r>
              <a:rPr lang="en-US" altLang="zh-CN" sz="1600" dirty="0"/>
              <a:t>P4</a:t>
            </a:r>
            <a:r>
              <a:rPr lang="zh-CN" altLang="en-US" sz="1600" dirty="0"/>
              <a:t>的接口故障，进入</a:t>
            </a:r>
            <a:r>
              <a:rPr lang="en-US" altLang="zh-CN" sz="1600" dirty="0"/>
              <a:t>TI-LFA</a:t>
            </a:r>
            <a:r>
              <a:rPr lang="zh-CN" altLang="en-US" sz="1600" dirty="0"/>
              <a:t>流程，报文按照</a:t>
            </a:r>
            <a:r>
              <a:rPr lang="en-US" altLang="zh-CN" sz="1600" dirty="0"/>
              <a:t>TI-LFA</a:t>
            </a:r>
            <a:r>
              <a:rPr lang="zh-CN" altLang="en-US" sz="1600" dirty="0"/>
              <a:t>备份路径转发到</a:t>
            </a:r>
            <a:r>
              <a:rPr lang="en-US" altLang="zh-CN" sz="1600" dirty="0"/>
              <a:t>PE2</a:t>
            </a:r>
            <a:r>
              <a:rPr lang="zh-CN" altLang="en-US" sz="1600" dirty="0"/>
              <a:t>。</a:t>
            </a:r>
            <a:endParaRPr lang="zh-CN" altLang="en-US" sz="1600" dirty="0"/>
          </a:p>
          <a:p>
            <a:pPr marL="746125" lvl="1" indent="-342900">
              <a:buSzPct val="100000"/>
              <a:buFont typeface="+mj-lt"/>
              <a:buAutoNum type="arabicPeriod"/>
            </a:pPr>
            <a:r>
              <a:rPr lang="en-US" altLang="zh-CN" sz="1600" dirty="0"/>
              <a:t>P1</a:t>
            </a:r>
            <a:r>
              <a:rPr lang="zh-CN" altLang="en-US" sz="1600" dirty="0"/>
              <a:t>启动定时器，在定时器超时之前保持原转发表项，继续按照</a:t>
            </a:r>
            <a:r>
              <a:rPr lang="en-US" altLang="zh-CN" sz="1600" dirty="0"/>
              <a:t>TI-LFA</a:t>
            </a:r>
            <a:r>
              <a:rPr lang="zh-CN" altLang="en-US" sz="1600" dirty="0"/>
              <a:t>备份路径转发。</a:t>
            </a:r>
            <a:endParaRPr lang="zh-CN" altLang="en-US" sz="1600" dirty="0"/>
          </a:p>
          <a:p>
            <a:pPr marL="746125" lvl="1" indent="-342900">
              <a:buSzPct val="100000"/>
              <a:buFont typeface="+mj-lt"/>
              <a:buAutoNum type="arabicPeriod"/>
            </a:pPr>
            <a:r>
              <a:rPr lang="zh-CN" altLang="en-US" sz="1600" dirty="0"/>
              <a:t>定时器超时，网络中其他节点均完成收敛，</a:t>
            </a:r>
            <a:r>
              <a:rPr lang="en-US" altLang="zh-CN" sz="1600" dirty="0"/>
              <a:t>P1</a:t>
            </a:r>
            <a:r>
              <a:rPr lang="zh-CN" altLang="en-US" sz="1600" dirty="0"/>
              <a:t>进行收敛，按照新的路径正常转发。</a:t>
            </a:r>
            <a:endParaRPr lang="zh-CN" altLang="en-US" sz="1600" dirty="0"/>
          </a:p>
          <a:p>
            <a:r>
              <a:rPr lang="zh-CN" altLang="en-US" sz="1800" dirty="0"/>
              <a:t>由于</a:t>
            </a:r>
            <a:r>
              <a:rPr lang="en-US" altLang="zh-CN" sz="1800" dirty="0"/>
              <a:t>TI-LFA</a:t>
            </a:r>
            <a:r>
              <a:rPr lang="zh-CN" altLang="en-US" sz="1800" dirty="0"/>
              <a:t>一定是个无环路径，所以只需要维持一段时间继续走</a:t>
            </a:r>
            <a:r>
              <a:rPr lang="en-US" altLang="zh-CN" sz="1800" dirty="0"/>
              <a:t>TI-LFA</a:t>
            </a:r>
            <a:r>
              <a:rPr lang="zh-CN" altLang="en-US" sz="1800" dirty="0"/>
              <a:t>路径，待网络中其他结点完成收敛以后退出</a:t>
            </a:r>
            <a:r>
              <a:rPr lang="en-US" altLang="zh-CN" sz="1800" dirty="0"/>
              <a:t>TI-LFA</a:t>
            </a:r>
            <a:r>
              <a:rPr lang="zh-CN" altLang="en-US" sz="1800" dirty="0"/>
              <a:t>。</a:t>
            </a:r>
            <a:endParaRPr lang="zh-CN" altLang="en-US" sz="1800" dirty="0"/>
          </a:p>
        </p:txBody>
      </p:sp>
      <p:cxnSp>
        <p:nvCxnSpPr>
          <p:cNvPr id="4" name="直接连接符 22"/>
          <p:cNvCxnSpPr>
            <a:stCxn id="10" idx="3"/>
            <a:endCxn id="13" idx="1"/>
          </p:cNvCxnSpPr>
          <p:nvPr/>
        </p:nvCxnSpPr>
        <p:spPr bwMode="gray">
          <a:xfrm flipV="1">
            <a:off x="2646937" y="3145619"/>
            <a:ext cx="1458494" cy="6270"/>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cxnSp>
        <p:nvCxnSpPr>
          <p:cNvPr id="5" name="直接连接符 22"/>
          <p:cNvCxnSpPr>
            <a:stCxn id="10" idx="2"/>
            <a:endCxn id="11" idx="0"/>
          </p:cNvCxnSpPr>
          <p:nvPr/>
        </p:nvCxnSpPr>
        <p:spPr bwMode="gray">
          <a:xfrm>
            <a:off x="2412778" y="3343414"/>
            <a:ext cx="0" cy="1122381"/>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cxnSp>
        <p:nvCxnSpPr>
          <p:cNvPr id="6" name="直接连接符 22"/>
          <p:cNvCxnSpPr>
            <a:stCxn id="11" idx="3"/>
            <a:endCxn id="14" idx="1"/>
          </p:cNvCxnSpPr>
          <p:nvPr/>
        </p:nvCxnSpPr>
        <p:spPr bwMode="gray">
          <a:xfrm>
            <a:off x="2646937" y="4657321"/>
            <a:ext cx="1463543" cy="6269"/>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cxnSp>
        <p:nvCxnSpPr>
          <p:cNvPr id="7" name="直接连接符 19"/>
          <p:cNvCxnSpPr>
            <a:stCxn id="10" idx="0"/>
            <a:endCxn id="9" idx="2"/>
          </p:cNvCxnSpPr>
          <p:nvPr/>
        </p:nvCxnSpPr>
        <p:spPr bwMode="gray">
          <a:xfrm flipV="1">
            <a:off x="2412778" y="2146148"/>
            <a:ext cx="0" cy="814215"/>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cxnSp>
        <p:nvCxnSpPr>
          <p:cNvPr id="8" name="直接连接符 22"/>
          <p:cNvCxnSpPr>
            <a:stCxn id="13" idx="2"/>
            <a:endCxn id="14" idx="0"/>
          </p:cNvCxnSpPr>
          <p:nvPr/>
        </p:nvCxnSpPr>
        <p:spPr bwMode="gray">
          <a:xfrm>
            <a:off x="4339590" y="3337144"/>
            <a:ext cx="5049" cy="1134920"/>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pic>
        <p:nvPicPr>
          <p:cNvPr id="9"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2178619" y="1763097"/>
            <a:ext cx="468318" cy="383051"/>
          </a:xfrm>
          <a:prstGeom prst="rect">
            <a:avLst/>
          </a:prstGeom>
        </p:spPr>
      </p:pic>
      <p:pic>
        <p:nvPicPr>
          <p:cNvPr id="10"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2178619" y="2960363"/>
            <a:ext cx="468318" cy="383051"/>
          </a:xfrm>
          <a:prstGeom prst="rect">
            <a:avLst/>
          </a:prstGeom>
        </p:spPr>
      </p:pic>
      <p:pic>
        <p:nvPicPr>
          <p:cNvPr id="11"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2178619" y="4465795"/>
            <a:ext cx="468318" cy="383051"/>
          </a:xfrm>
          <a:prstGeom prst="rect">
            <a:avLst/>
          </a:prstGeom>
        </p:spPr>
      </p:pic>
      <p:pic>
        <p:nvPicPr>
          <p:cNvPr id="12"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4110480" y="1769382"/>
            <a:ext cx="468318" cy="383051"/>
          </a:xfrm>
          <a:prstGeom prst="rect">
            <a:avLst/>
          </a:prstGeom>
        </p:spPr>
      </p:pic>
      <p:pic>
        <p:nvPicPr>
          <p:cNvPr id="13"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4105431" y="2954093"/>
            <a:ext cx="468318" cy="383051"/>
          </a:xfrm>
          <a:prstGeom prst="rect">
            <a:avLst/>
          </a:prstGeom>
        </p:spPr>
      </p:pic>
      <p:pic>
        <p:nvPicPr>
          <p:cNvPr id="14"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4110480" y="4472064"/>
            <a:ext cx="468318" cy="383051"/>
          </a:xfrm>
          <a:prstGeom prst="rect">
            <a:avLst/>
          </a:prstGeom>
        </p:spPr>
      </p:pic>
      <p:cxnSp>
        <p:nvCxnSpPr>
          <p:cNvPr id="15" name="直接连接符 22"/>
          <p:cNvCxnSpPr>
            <a:stCxn id="12" idx="2"/>
            <a:endCxn id="13" idx="0"/>
          </p:cNvCxnSpPr>
          <p:nvPr/>
        </p:nvCxnSpPr>
        <p:spPr bwMode="gray">
          <a:xfrm flipH="1">
            <a:off x="4339590" y="2152433"/>
            <a:ext cx="5049" cy="801660"/>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sp>
        <p:nvSpPr>
          <p:cNvPr id="16" name="TextBox 16"/>
          <p:cNvSpPr txBox="1"/>
          <p:nvPr/>
        </p:nvSpPr>
        <p:spPr bwMode="gray">
          <a:xfrm>
            <a:off x="1904193" y="3020189"/>
            <a:ext cx="364984"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P1</a:t>
            </a:r>
            <a:endParaRPr lang="zh-CN" altLang="en-US" sz="1200" dirty="0">
              <a:solidFill>
                <a:srgbClr val="000000"/>
              </a:solidFill>
              <a:cs typeface="+mn-ea"/>
              <a:sym typeface="+mn-lt"/>
            </a:endParaRPr>
          </a:p>
        </p:txBody>
      </p:sp>
      <p:sp>
        <p:nvSpPr>
          <p:cNvPr id="17" name="TextBox 16"/>
          <p:cNvSpPr txBox="1"/>
          <p:nvPr/>
        </p:nvSpPr>
        <p:spPr bwMode="gray">
          <a:xfrm>
            <a:off x="2191189" y="1535744"/>
            <a:ext cx="477846"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PE1</a:t>
            </a:r>
            <a:endParaRPr lang="zh-CN" altLang="en-US" sz="1200" dirty="0">
              <a:solidFill>
                <a:srgbClr val="000000"/>
              </a:solidFill>
              <a:cs typeface="+mn-ea"/>
              <a:sym typeface="+mn-lt"/>
            </a:endParaRPr>
          </a:p>
        </p:txBody>
      </p:sp>
      <p:sp>
        <p:nvSpPr>
          <p:cNvPr id="18" name="TextBox 16"/>
          <p:cNvSpPr txBox="1"/>
          <p:nvPr/>
        </p:nvSpPr>
        <p:spPr bwMode="gray">
          <a:xfrm>
            <a:off x="4117645" y="1542150"/>
            <a:ext cx="495582"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PE2</a:t>
            </a:r>
            <a:endParaRPr lang="zh-CN" altLang="en-US" sz="1200" dirty="0">
              <a:solidFill>
                <a:srgbClr val="000000"/>
              </a:solidFill>
              <a:cs typeface="+mn-ea"/>
              <a:sym typeface="+mn-lt"/>
            </a:endParaRPr>
          </a:p>
        </p:txBody>
      </p:sp>
      <p:sp>
        <p:nvSpPr>
          <p:cNvPr id="19" name="TextBox 16"/>
          <p:cNvSpPr txBox="1"/>
          <p:nvPr/>
        </p:nvSpPr>
        <p:spPr bwMode="gray">
          <a:xfrm>
            <a:off x="1865302" y="4528103"/>
            <a:ext cx="364984"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P2</a:t>
            </a:r>
            <a:endParaRPr lang="zh-CN" altLang="en-US" sz="1200" dirty="0">
              <a:solidFill>
                <a:srgbClr val="000000"/>
              </a:solidFill>
              <a:cs typeface="+mn-ea"/>
              <a:sym typeface="+mn-lt"/>
            </a:endParaRPr>
          </a:p>
        </p:txBody>
      </p:sp>
      <p:sp>
        <p:nvSpPr>
          <p:cNvPr id="20" name="TextBox 16"/>
          <p:cNvSpPr txBox="1"/>
          <p:nvPr/>
        </p:nvSpPr>
        <p:spPr bwMode="gray">
          <a:xfrm>
            <a:off x="4510947" y="4528102"/>
            <a:ext cx="364984"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P3</a:t>
            </a:r>
            <a:endParaRPr lang="zh-CN" altLang="en-US" sz="1200" dirty="0">
              <a:solidFill>
                <a:srgbClr val="000000"/>
              </a:solidFill>
              <a:cs typeface="+mn-ea"/>
              <a:sym typeface="+mn-lt"/>
            </a:endParaRPr>
          </a:p>
        </p:txBody>
      </p:sp>
      <p:sp>
        <p:nvSpPr>
          <p:cNvPr id="21" name="TextBox 16"/>
          <p:cNvSpPr txBox="1"/>
          <p:nvPr/>
        </p:nvSpPr>
        <p:spPr bwMode="gray">
          <a:xfrm>
            <a:off x="4522082" y="3014787"/>
            <a:ext cx="364984"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P4</a:t>
            </a:r>
            <a:endParaRPr lang="zh-CN" altLang="en-US" sz="1200" dirty="0">
              <a:solidFill>
                <a:srgbClr val="000000"/>
              </a:solidFill>
              <a:cs typeface="+mn-ea"/>
              <a:sym typeface="+mn-lt"/>
            </a:endParaRPr>
          </a:p>
        </p:txBody>
      </p:sp>
      <p:graphicFrame>
        <p:nvGraphicFramePr>
          <p:cNvPr id="22" name="Table 21"/>
          <p:cNvGraphicFramePr>
            <a:graphicFrameLocks noGrp="1"/>
          </p:cNvGraphicFramePr>
          <p:nvPr/>
        </p:nvGraphicFramePr>
        <p:xfrm>
          <a:off x="563880" y="2132308"/>
          <a:ext cx="1334529" cy="731520"/>
        </p:xfrm>
        <a:graphic>
          <a:graphicData uri="http://schemas.openxmlformats.org/drawingml/2006/table">
            <a:tbl>
              <a:tblPr firstRow="1" bandRow="1">
                <a:tableStyleId>{72833802-FEF1-4C79-8D5D-14CF1EAF98D9}</a:tableStyleId>
              </a:tblPr>
              <a:tblGrid>
                <a:gridCol w="1334529"/>
              </a:tblGrid>
              <a:tr h="370840">
                <a:tc>
                  <a:txBody>
                    <a:bodyPr/>
                    <a:lstStyle/>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DIPv6</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FC06::6</a:t>
                      </a:r>
                      <a:endPar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SIPv6</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FC01::1</a:t>
                      </a:r>
                      <a:endPar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6C4D2"/>
                    </a:solidFill>
                  </a:tcPr>
                </a:tc>
              </a:tr>
              <a:tr h="0">
                <a:tc>
                  <a:txBody>
                    <a:bodyPr/>
                    <a:lstStyle/>
                    <a:p>
                      <a:pPr algn="ctr"/>
                      <a:r>
                        <a:rPr lang="en-US" altLang="zh-CN" sz="1200" dirty="0">
                          <a:solidFill>
                            <a:schemeClr val="bg1"/>
                          </a:solidFill>
                        </a:rPr>
                        <a:t>Payload</a:t>
                      </a:r>
                      <a:endParaRPr lang="zh-CN" altLang="en-US" sz="1200"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r>
            </a:tbl>
          </a:graphicData>
        </a:graphic>
      </p:graphicFrame>
      <p:sp>
        <p:nvSpPr>
          <p:cNvPr id="24" name="Plus Sign 75"/>
          <p:cNvSpPr/>
          <p:nvPr/>
        </p:nvSpPr>
        <p:spPr bwMode="gray">
          <a:xfrm rot="2700000">
            <a:off x="3230212" y="2996150"/>
            <a:ext cx="298938" cy="298938"/>
          </a:xfrm>
          <a:prstGeom prst="mathPlus">
            <a:avLst/>
          </a:prstGeom>
          <a:solidFill>
            <a:srgbClr val="E28189"/>
          </a:solidFill>
          <a:ln>
            <a:solidFill>
              <a:srgbClr val="E2818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0" name="Table 29"/>
          <p:cNvGraphicFramePr>
            <a:graphicFrameLocks noGrp="1"/>
          </p:cNvGraphicFramePr>
          <p:nvPr/>
        </p:nvGraphicFramePr>
        <p:xfrm>
          <a:off x="563880" y="3226846"/>
          <a:ext cx="1340313" cy="1371600"/>
        </p:xfrm>
        <a:graphic>
          <a:graphicData uri="http://schemas.openxmlformats.org/drawingml/2006/table">
            <a:tbl>
              <a:tblPr firstRow="1" bandRow="1">
                <a:tableStyleId>{72833802-FEF1-4C79-8D5D-14CF1EAF98D9}</a:tableStyleId>
              </a:tblPr>
              <a:tblGrid>
                <a:gridCol w="1340313"/>
              </a:tblGrid>
              <a:tr h="262766">
                <a:tc>
                  <a:txBody>
                    <a:bodyPr/>
                    <a:lstStyle/>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DIPv6</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FC03::C4</a:t>
                      </a:r>
                      <a:endPar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SIPv6</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FC01::1</a:t>
                      </a:r>
                      <a:endPar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6C4D2"/>
                    </a:solidFill>
                  </a:tcPr>
                </a:tc>
              </a:tr>
              <a:tr h="367872">
                <a:tc>
                  <a:txBody>
                    <a:bodyPr/>
                    <a:lstStyle/>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SRH</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SL=</a:t>
                      </a: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1</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0" algn="ctr" defTabSz="913765" rtl="0" eaLnBrk="1" latinLnBrk="0" hangingPunct="1"/>
                      <a:r>
                        <a:rPr lang="en-US" altLang="zh-CN"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FC06::6</a:t>
                      </a:r>
                      <a:endParaRPr lang="en-US" altLang="zh-CN"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p>
                      <a:pPr marL="0" algn="ctr" defTabSz="913765" rtl="0" eaLnBrk="1" latinLnBrk="0" hangingPunct="1"/>
                      <a:r>
                        <a:rPr lang="en-US" altLang="zh-CN" sz="1200" b="1" kern="1200" dirty="0">
                          <a:solidFill>
                            <a:srgbClr val="C7000B"/>
                          </a:solidFill>
                          <a:latin typeface="Huawei Sans" panose="020C0503030203020204" pitchFamily="34" charset="0"/>
                          <a:ea typeface="方正兰亭黑简体" panose="02000000000000000000" pitchFamily="2" charset="-122"/>
                          <a:cs typeface="+mn-cs"/>
                          <a:sym typeface="Huawei Sans" panose="020C0503030203020204" pitchFamily="34" charset="0"/>
                        </a:rPr>
                        <a:t>FC03::C4</a:t>
                      </a:r>
                      <a:endParaRPr lang="zh-CN" altLang="en-US" sz="1200" b="1" kern="1200" dirty="0">
                        <a:solidFill>
                          <a:srgbClr val="C7000B"/>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EEEC1"/>
                    </a:solidFill>
                  </a:tcPr>
                </a:tc>
              </a:tr>
              <a:tr h="157660">
                <a:tc>
                  <a:txBody>
                    <a:bodyPr/>
                    <a:lstStyle/>
                    <a:p>
                      <a:pPr algn="ctr"/>
                      <a:r>
                        <a:rPr lang="en-US" altLang="zh-CN" sz="1200" dirty="0">
                          <a:solidFill>
                            <a:schemeClr val="bg1"/>
                          </a:solidFill>
                        </a:rPr>
                        <a:t>Payload</a:t>
                      </a:r>
                      <a:endParaRPr lang="zh-CN" altLang="en-US" sz="1200"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r>
            </a:tbl>
          </a:graphicData>
        </a:graphic>
      </p:graphicFrame>
      <p:sp>
        <p:nvSpPr>
          <p:cNvPr id="31" name="TextBox 24"/>
          <p:cNvSpPr txBox="1"/>
          <p:nvPr/>
        </p:nvSpPr>
        <p:spPr bwMode="gray">
          <a:xfrm>
            <a:off x="2578369" y="1805272"/>
            <a:ext cx="708848" cy="276999"/>
          </a:xfrm>
          <a:prstGeom prst="rect">
            <a:avLst/>
          </a:prstGeom>
          <a:noFill/>
        </p:spPr>
        <p:txBody>
          <a:bodyPr wrap="none" rtlCol="0">
            <a:spAutoFit/>
          </a:bodyPr>
          <a:lstStyle/>
          <a:p>
            <a:pPr>
              <a:buClr>
                <a:srgbClr val="CC9900"/>
              </a:buClr>
              <a:buFont typeface="Wingdings" panose="05000000000000000000" pitchFamily="2" charset="2"/>
              <a:buNone/>
            </a:pPr>
            <a:r>
              <a:rPr lang="en-GB" altLang="zh-CN" sz="1200" b="1" dirty="0">
                <a:cs typeface="+mn-ea"/>
                <a:sym typeface="+mn-lt"/>
              </a:rPr>
              <a:t>FC01</a:t>
            </a:r>
            <a:r>
              <a:rPr lang="en-US" altLang="zh-CN" sz="1200" b="1" dirty="0">
                <a:cs typeface="+mn-ea"/>
                <a:sym typeface="+mn-lt"/>
              </a:rPr>
              <a:t>::1</a:t>
            </a:r>
            <a:endParaRPr lang="zh-CN" altLang="en-US" sz="1200" b="1" dirty="0">
              <a:cs typeface="+mn-ea"/>
              <a:sym typeface="+mn-lt"/>
            </a:endParaRPr>
          </a:p>
        </p:txBody>
      </p:sp>
      <p:sp>
        <p:nvSpPr>
          <p:cNvPr id="32" name="TextBox 24"/>
          <p:cNvSpPr txBox="1"/>
          <p:nvPr/>
        </p:nvSpPr>
        <p:spPr bwMode="gray">
          <a:xfrm>
            <a:off x="3455291" y="1812890"/>
            <a:ext cx="708848" cy="276999"/>
          </a:xfrm>
          <a:prstGeom prst="rect">
            <a:avLst/>
          </a:prstGeom>
          <a:noFill/>
        </p:spPr>
        <p:txBody>
          <a:bodyPr wrap="none" rtlCol="0">
            <a:spAutoFit/>
          </a:bodyPr>
          <a:lstStyle/>
          <a:p>
            <a:pPr>
              <a:buClr>
                <a:srgbClr val="CC9900"/>
              </a:buClr>
              <a:buFont typeface="Wingdings" panose="05000000000000000000" pitchFamily="2" charset="2"/>
              <a:buNone/>
            </a:pPr>
            <a:r>
              <a:rPr lang="en-GB" altLang="zh-CN" sz="1200" b="1" dirty="0">
                <a:cs typeface="+mn-ea"/>
                <a:sym typeface="+mn-lt"/>
              </a:rPr>
              <a:t>FC06</a:t>
            </a:r>
            <a:r>
              <a:rPr lang="en-US" altLang="zh-CN" sz="1200" b="1" dirty="0">
                <a:cs typeface="+mn-ea"/>
                <a:sym typeface="+mn-lt"/>
              </a:rPr>
              <a:t>::6</a:t>
            </a:r>
            <a:endParaRPr lang="zh-CN" altLang="en-US" sz="1200" b="1" dirty="0">
              <a:cs typeface="+mn-ea"/>
              <a:sym typeface="+mn-lt"/>
            </a:endParaRPr>
          </a:p>
        </p:txBody>
      </p:sp>
      <p:sp>
        <p:nvSpPr>
          <p:cNvPr id="33" name="TextBox 24"/>
          <p:cNvSpPr txBox="1"/>
          <p:nvPr/>
        </p:nvSpPr>
        <p:spPr bwMode="gray">
          <a:xfrm>
            <a:off x="2565795" y="2890726"/>
            <a:ext cx="708848" cy="276999"/>
          </a:xfrm>
          <a:prstGeom prst="rect">
            <a:avLst/>
          </a:prstGeom>
          <a:noFill/>
        </p:spPr>
        <p:txBody>
          <a:bodyPr wrap="none" rtlCol="0">
            <a:spAutoFit/>
          </a:bodyPr>
          <a:lstStyle/>
          <a:p>
            <a:pPr>
              <a:buClr>
                <a:srgbClr val="CC9900"/>
              </a:buClr>
              <a:buFont typeface="Wingdings" panose="05000000000000000000" pitchFamily="2" charset="2"/>
              <a:buNone/>
            </a:pPr>
            <a:r>
              <a:rPr lang="en-GB" altLang="zh-CN" sz="1200" b="1" dirty="0">
                <a:cs typeface="+mn-ea"/>
                <a:sym typeface="+mn-lt"/>
              </a:rPr>
              <a:t>FC02</a:t>
            </a:r>
            <a:r>
              <a:rPr lang="en-US" altLang="zh-CN" sz="1200" b="1" dirty="0">
                <a:cs typeface="+mn-ea"/>
                <a:sym typeface="+mn-lt"/>
              </a:rPr>
              <a:t>::2</a:t>
            </a:r>
            <a:endParaRPr lang="zh-CN" altLang="en-US" sz="1200" b="1" dirty="0">
              <a:cs typeface="+mn-ea"/>
              <a:sym typeface="+mn-lt"/>
            </a:endParaRPr>
          </a:p>
        </p:txBody>
      </p:sp>
      <p:sp>
        <p:nvSpPr>
          <p:cNvPr id="34" name="TextBox 24"/>
          <p:cNvSpPr txBox="1"/>
          <p:nvPr/>
        </p:nvSpPr>
        <p:spPr bwMode="gray">
          <a:xfrm>
            <a:off x="2568269" y="4313637"/>
            <a:ext cx="708848" cy="276999"/>
          </a:xfrm>
          <a:prstGeom prst="rect">
            <a:avLst/>
          </a:prstGeom>
          <a:noFill/>
        </p:spPr>
        <p:txBody>
          <a:bodyPr wrap="none" rtlCol="0">
            <a:spAutoFit/>
          </a:bodyPr>
          <a:lstStyle/>
          <a:p>
            <a:pPr>
              <a:buClr>
                <a:srgbClr val="CC9900"/>
              </a:buClr>
              <a:buFont typeface="Wingdings" panose="05000000000000000000" pitchFamily="2" charset="2"/>
              <a:buNone/>
            </a:pPr>
            <a:r>
              <a:rPr lang="en-GB" altLang="zh-CN" sz="1200" b="1" dirty="0">
                <a:cs typeface="+mn-ea"/>
                <a:sym typeface="+mn-lt"/>
              </a:rPr>
              <a:t>FC03</a:t>
            </a:r>
            <a:r>
              <a:rPr lang="en-US" altLang="zh-CN" sz="1200" b="1" dirty="0">
                <a:cs typeface="+mn-ea"/>
                <a:sym typeface="+mn-lt"/>
              </a:rPr>
              <a:t>::3</a:t>
            </a:r>
            <a:endParaRPr lang="zh-CN" altLang="en-US" sz="1200" b="1" dirty="0">
              <a:cs typeface="+mn-ea"/>
              <a:sym typeface="+mn-lt"/>
            </a:endParaRPr>
          </a:p>
        </p:txBody>
      </p:sp>
      <p:sp>
        <p:nvSpPr>
          <p:cNvPr id="35" name="TextBox 24"/>
          <p:cNvSpPr txBox="1"/>
          <p:nvPr/>
        </p:nvSpPr>
        <p:spPr bwMode="gray">
          <a:xfrm>
            <a:off x="3488215" y="4308754"/>
            <a:ext cx="708848" cy="276999"/>
          </a:xfrm>
          <a:prstGeom prst="rect">
            <a:avLst/>
          </a:prstGeom>
          <a:noFill/>
        </p:spPr>
        <p:txBody>
          <a:bodyPr wrap="none" rtlCol="0">
            <a:spAutoFit/>
          </a:bodyPr>
          <a:lstStyle/>
          <a:p>
            <a:pPr>
              <a:buClr>
                <a:srgbClr val="CC9900"/>
              </a:buClr>
              <a:buFont typeface="Wingdings" panose="05000000000000000000" pitchFamily="2" charset="2"/>
              <a:buNone/>
            </a:pPr>
            <a:r>
              <a:rPr lang="en-GB" altLang="zh-CN" sz="1200" b="1" dirty="0">
                <a:cs typeface="+mn-ea"/>
                <a:sym typeface="+mn-lt"/>
              </a:rPr>
              <a:t>FC04</a:t>
            </a:r>
            <a:r>
              <a:rPr lang="en-US" altLang="zh-CN" sz="1200" b="1" dirty="0">
                <a:cs typeface="+mn-ea"/>
                <a:sym typeface="+mn-lt"/>
              </a:rPr>
              <a:t>::4</a:t>
            </a:r>
            <a:endParaRPr lang="zh-CN" altLang="en-US" sz="1200" b="1" dirty="0">
              <a:cs typeface="+mn-ea"/>
              <a:sym typeface="+mn-lt"/>
            </a:endParaRPr>
          </a:p>
        </p:txBody>
      </p:sp>
      <p:sp>
        <p:nvSpPr>
          <p:cNvPr id="36" name="TextBox 24"/>
          <p:cNvSpPr txBox="1"/>
          <p:nvPr/>
        </p:nvSpPr>
        <p:spPr bwMode="gray">
          <a:xfrm>
            <a:off x="3494086" y="2890726"/>
            <a:ext cx="708848" cy="276999"/>
          </a:xfrm>
          <a:prstGeom prst="rect">
            <a:avLst/>
          </a:prstGeom>
          <a:noFill/>
        </p:spPr>
        <p:txBody>
          <a:bodyPr wrap="none" rtlCol="0">
            <a:spAutoFit/>
          </a:bodyPr>
          <a:lstStyle/>
          <a:p>
            <a:pPr>
              <a:buClr>
                <a:srgbClr val="CC9900"/>
              </a:buClr>
              <a:buFont typeface="Wingdings" panose="05000000000000000000" pitchFamily="2" charset="2"/>
              <a:buNone/>
            </a:pPr>
            <a:r>
              <a:rPr lang="en-GB" altLang="zh-CN" sz="1200" b="1" dirty="0">
                <a:cs typeface="+mn-ea"/>
                <a:sym typeface="+mn-lt"/>
              </a:rPr>
              <a:t>FC05</a:t>
            </a:r>
            <a:r>
              <a:rPr lang="en-US" altLang="zh-CN" sz="1200" b="1" dirty="0">
                <a:cs typeface="+mn-ea"/>
                <a:sym typeface="+mn-lt"/>
              </a:rPr>
              <a:t>::5</a:t>
            </a:r>
            <a:endParaRPr lang="zh-CN" altLang="en-US" sz="1200" b="1" dirty="0">
              <a:cs typeface="+mn-ea"/>
              <a:sym typeface="+mn-lt"/>
            </a:endParaRPr>
          </a:p>
        </p:txBody>
      </p:sp>
      <p:sp>
        <p:nvSpPr>
          <p:cNvPr id="37" name="TextBox 33"/>
          <p:cNvSpPr txBox="1"/>
          <p:nvPr/>
        </p:nvSpPr>
        <p:spPr bwMode="gray">
          <a:xfrm>
            <a:off x="2568269" y="4643662"/>
            <a:ext cx="938595" cy="476413"/>
          </a:xfrm>
          <a:prstGeom prst="rect">
            <a:avLst/>
          </a:prstGeom>
          <a:noFill/>
        </p:spPr>
        <p:txBody>
          <a:bodyPr wrap="square" rtlCol="0">
            <a:spAutoFit/>
          </a:bodyPr>
          <a:lstStyle/>
          <a:p>
            <a:r>
              <a:rPr lang="en-US" altLang="zh-CN" sz="1200" dirty="0" err="1">
                <a:solidFill>
                  <a:srgbClr val="C7000B"/>
                </a:solidFill>
                <a:cs typeface="+mn-ea"/>
                <a:sym typeface="+mn-lt"/>
              </a:rPr>
              <a:t>End.X</a:t>
            </a:r>
            <a:r>
              <a:rPr lang="en-US" altLang="zh-CN" sz="1200" dirty="0">
                <a:solidFill>
                  <a:srgbClr val="C7000B"/>
                </a:solidFill>
                <a:cs typeface="+mn-ea"/>
                <a:sym typeface="+mn-lt"/>
              </a:rPr>
              <a:t> </a:t>
            </a:r>
            <a:r>
              <a:rPr lang="en-US" altLang="zh-CN" sz="1200" b="1" dirty="0">
                <a:solidFill>
                  <a:srgbClr val="C7000B"/>
                </a:solidFill>
                <a:cs typeface="+mn-ea"/>
                <a:sym typeface="+mn-lt"/>
              </a:rPr>
              <a:t>FC03::C4</a:t>
            </a:r>
            <a:endParaRPr lang="zh-CN" altLang="en-US" sz="1200" b="1" dirty="0">
              <a:solidFill>
                <a:srgbClr val="C7000B"/>
              </a:solidFill>
              <a:cs typeface="+mn-ea"/>
              <a:sym typeface="+mn-lt"/>
            </a:endParaRPr>
          </a:p>
        </p:txBody>
      </p:sp>
      <p:graphicFrame>
        <p:nvGraphicFramePr>
          <p:cNvPr id="38" name="Table 37"/>
          <p:cNvGraphicFramePr>
            <a:graphicFrameLocks noGrp="1"/>
          </p:cNvGraphicFramePr>
          <p:nvPr/>
        </p:nvGraphicFramePr>
        <p:xfrm>
          <a:off x="2669035" y="5097909"/>
          <a:ext cx="1334529" cy="731520"/>
        </p:xfrm>
        <a:graphic>
          <a:graphicData uri="http://schemas.openxmlformats.org/drawingml/2006/table">
            <a:tbl>
              <a:tblPr firstRow="1" bandRow="1">
                <a:tableStyleId>{72833802-FEF1-4C79-8D5D-14CF1EAF98D9}</a:tableStyleId>
              </a:tblPr>
              <a:tblGrid>
                <a:gridCol w="1334529"/>
              </a:tblGrid>
              <a:tr h="370840">
                <a:tc>
                  <a:txBody>
                    <a:bodyPr/>
                    <a:lstStyle/>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DIPv6</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FC06::6</a:t>
                      </a:r>
                      <a:endPar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SIPv6</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FC01::1</a:t>
                      </a:r>
                      <a:endPar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6C4D2"/>
                    </a:solidFill>
                  </a:tcPr>
                </a:tc>
              </a:tr>
              <a:tr h="0">
                <a:tc>
                  <a:txBody>
                    <a:bodyPr/>
                    <a:lstStyle/>
                    <a:p>
                      <a:pPr algn="ctr"/>
                      <a:r>
                        <a:rPr lang="en-US" altLang="zh-CN" sz="1200" dirty="0">
                          <a:solidFill>
                            <a:schemeClr val="bg1"/>
                          </a:solidFill>
                        </a:rPr>
                        <a:t>Payload</a:t>
                      </a:r>
                      <a:endParaRPr lang="zh-CN" altLang="en-US" sz="1200"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r>
            </a:tbl>
          </a:graphicData>
        </a:graphic>
      </p:graphicFrame>
      <p:graphicFrame>
        <p:nvGraphicFramePr>
          <p:cNvPr id="39" name="Table 38"/>
          <p:cNvGraphicFramePr>
            <a:graphicFrameLocks noGrp="1"/>
          </p:cNvGraphicFramePr>
          <p:nvPr/>
        </p:nvGraphicFramePr>
        <p:xfrm>
          <a:off x="4667610" y="3487652"/>
          <a:ext cx="1334529" cy="731520"/>
        </p:xfrm>
        <a:graphic>
          <a:graphicData uri="http://schemas.openxmlformats.org/drawingml/2006/table">
            <a:tbl>
              <a:tblPr firstRow="1" bandRow="1">
                <a:tableStyleId>{72833802-FEF1-4C79-8D5D-14CF1EAF98D9}</a:tableStyleId>
              </a:tblPr>
              <a:tblGrid>
                <a:gridCol w="1334529"/>
              </a:tblGrid>
              <a:tr h="370840">
                <a:tc>
                  <a:txBody>
                    <a:bodyPr/>
                    <a:lstStyle/>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DIPv6</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FC06::6</a:t>
                      </a:r>
                      <a:endPar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SIPv6</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FC01::1</a:t>
                      </a:r>
                      <a:endPar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6C4D2"/>
                    </a:solidFill>
                  </a:tcPr>
                </a:tc>
              </a:tr>
              <a:tr h="0">
                <a:tc>
                  <a:txBody>
                    <a:bodyPr/>
                    <a:lstStyle/>
                    <a:p>
                      <a:pPr algn="ctr"/>
                      <a:r>
                        <a:rPr lang="en-US" altLang="zh-CN" sz="1200" dirty="0">
                          <a:solidFill>
                            <a:schemeClr val="bg1"/>
                          </a:solidFill>
                        </a:rPr>
                        <a:t>Payload</a:t>
                      </a:r>
                      <a:endParaRPr lang="zh-CN" altLang="en-US" sz="1200"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r>
            </a:tbl>
          </a:graphicData>
        </a:graphic>
      </p:graphicFrame>
      <p:graphicFrame>
        <p:nvGraphicFramePr>
          <p:cNvPr id="40" name="Table 39"/>
          <p:cNvGraphicFramePr>
            <a:graphicFrameLocks noGrp="1"/>
          </p:cNvGraphicFramePr>
          <p:nvPr/>
        </p:nvGraphicFramePr>
        <p:xfrm>
          <a:off x="4667610" y="2132308"/>
          <a:ext cx="1334529" cy="731520"/>
        </p:xfrm>
        <a:graphic>
          <a:graphicData uri="http://schemas.openxmlformats.org/drawingml/2006/table">
            <a:tbl>
              <a:tblPr firstRow="1" bandRow="1">
                <a:tableStyleId>{72833802-FEF1-4C79-8D5D-14CF1EAF98D9}</a:tableStyleId>
              </a:tblPr>
              <a:tblGrid>
                <a:gridCol w="1334529"/>
              </a:tblGrid>
              <a:tr h="370840">
                <a:tc>
                  <a:txBody>
                    <a:bodyPr/>
                    <a:lstStyle/>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DIPv6</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FC06::6</a:t>
                      </a:r>
                      <a:endPar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SIPv6</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FC01::1</a:t>
                      </a:r>
                      <a:endPar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6C4D2"/>
                    </a:solidFill>
                  </a:tcPr>
                </a:tc>
              </a:tr>
              <a:tr h="0">
                <a:tc>
                  <a:txBody>
                    <a:bodyPr/>
                    <a:lstStyle/>
                    <a:p>
                      <a:pPr algn="ctr"/>
                      <a:r>
                        <a:rPr lang="en-US" altLang="zh-CN" sz="1200" dirty="0">
                          <a:solidFill>
                            <a:schemeClr val="bg1"/>
                          </a:solidFill>
                        </a:rPr>
                        <a:t>Payload</a:t>
                      </a:r>
                      <a:endParaRPr lang="zh-CN" altLang="en-US" sz="1200"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r>
            </a:tbl>
          </a:graphicData>
        </a:graphic>
      </p:graphicFrame>
      <p:sp>
        <p:nvSpPr>
          <p:cNvPr id="41" name="Rectangular Callout 40"/>
          <p:cNvSpPr/>
          <p:nvPr/>
        </p:nvSpPr>
        <p:spPr bwMode="gray">
          <a:xfrm>
            <a:off x="2646937" y="3432809"/>
            <a:ext cx="1415471" cy="605002"/>
          </a:xfrm>
          <a:prstGeom prst="wedgeRectCallout">
            <a:avLst>
              <a:gd name="adj1" fmla="val -46415"/>
              <a:gd name="adj2" fmla="val -71071"/>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P1</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在定时器超时前继续按照</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TI-LFA</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备份路径转发。</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2" name="Freeform 41"/>
          <p:cNvSpPr/>
          <p:nvPr/>
        </p:nvSpPr>
        <p:spPr bwMode="gray">
          <a:xfrm>
            <a:off x="2486025" y="2000250"/>
            <a:ext cx="1743075" cy="2562225"/>
          </a:xfrm>
          <a:custGeom>
            <a:avLst/>
            <a:gdLst>
              <a:gd name="connsiteX0" fmla="*/ 0 w 1743075"/>
              <a:gd name="connsiteY0" fmla="*/ 0 h 2562225"/>
              <a:gd name="connsiteX1" fmla="*/ 0 w 1743075"/>
              <a:gd name="connsiteY1" fmla="*/ 2562225 h 2562225"/>
              <a:gd name="connsiteX2" fmla="*/ 1743075 w 1743075"/>
              <a:gd name="connsiteY2" fmla="*/ 2562225 h 2562225"/>
              <a:gd name="connsiteX3" fmla="*/ 1743075 w 1743075"/>
              <a:gd name="connsiteY3" fmla="*/ 38100 h 2562225"/>
            </a:gdLst>
            <a:ahLst/>
            <a:cxnLst>
              <a:cxn ang="0">
                <a:pos x="connsiteX0" y="connsiteY0"/>
              </a:cxn>
              <a:cxn ang="0">
                <a:pos x="connsiteX1" y="connsiteY1"/>
              </a:cxn>
              <a:cxn ang="0">
                <a:pos x="connsiteX2" y="connsiteY2"/>
              </a:cxn>
              <a:cxn ang="0">
                <a:pos x="connsiteX3" y="connsiteY3"/>
              </a:cxn>
            </a:cxnLst>
            <a:rect l="l" t="t" r="r" b="b"/>
            <a:pathLst>
              <a:path w="1743075" h="2562225">
                <a:moveTo>
                  <a:pt x="0" y="0"/>
                </a:moveTo>
                <a:lnTo>
                  <a:pt x="0" y="2562225"/>
                </a:lnTo>
                <a:lnTo>
                  <a:pt x="1743075" y="2562225"/>
                </a:lnTo>
                <a:lnTo>
                  <a:pt x="1743075" y="38100"/>
                </a:lnTo>
              </a:path>
            </a:pathLst>
          </a:custGeom>
          <a:noFill/>
          <a:ln w="28575">
            <a:solidFill>
              <a:srgbClr val="E28189"/>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五边形 2"/>
          <p:cNvSpPr/>
          <p:nvPr/>
        </p:nvSpPr>
        <p:spPr bwMode="gray">
          <a:xfrm>
            <a:off x="9278937" y="110463"/>
            <a:ext cx="1166602"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本地保护技术</a:t>
            </a:r>
            <a:endPar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燕尾形 3"/>
          <p:cNvSpPr/>
          <p:nvPr/>
        </p:nvSpPr>
        <p:spPr bwMode="gray">
          <a:xfrm>
            <a:off x="10368978" y="110463"/>
            <a:ext cx="1380109"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端到端保护技术</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gray"/>
        <p:txBody>
          <a:bodyPr/>
          <a:lstStyle/>
          <a:p>
            <a:r>
              <a:rPr lang="zh-CN" altLang="en-US" dirty="0"/>
              <a:t>远端正切微环</a:t>
            </a:r>
            <a:endParaRPr lang="zh-CN" altLang="en-US" dirty="0"/>
          </a:p>
        </p:txBody>
      </p:sp>
      <p:sp>
        <p:nvSpPr>
          <p:cNvPr id="3" name="Text Placeholder 2"/>
          <p:cNvSpPr>
            <a:spLocks noGrp="1"/>
          </p:cNvSpPr>
          <p:nvPr>
            <p:ph type="body" sz="quarter" idx="10"/>
          </p:nvPr>
        </p:nvSpPr>
        <p:spPr bwMode="gray">
          <a:xfrm>
            <a:off x="6096000" y="1047750"/>
            <a:ext cx="5653087" cy="4879805"/>
          </a:xfrm>
        </p:spPr>
        <p:txBody>
          <a:bodyPr/>
          <a:lstStyle/>
          <a:p>
            <a:r>
              <a:rPr lang="zh-CN" altLang="en-US" sz="1800" dirty="0"/>
              <a:t>故障发生在远端，节点之间也可能形成环路。</a:t>
            </a:r>
            <a:endParaRPr lang="en-US" altLang="zh-CN" sz="1800" dirty="0"/>
          </a:p>
          <a:p>
            <a:r>
              <a:rPr lang="zh-CN" altLang="en-US" sz="1800" dirty="0"/>
              <a:t>沿着报文转发路径，如果离故障点更近的节点先于离故障点远的节点收敛，就可能会导致环路：</a:t>
            </a:r>
            <a:endParaRPr lang="zh-CN" altLang="en-US" sz="1800" dirty="0"/>
          </a:p>
          <a:p>
            <a:pPr marL="860425" lvl="1" indent="-457200">
              <a:buSzPct val="100000"/>
              <a:buFont typeface="+mj-lt"/>
              <a:buAutoNum type="arabicPeriod"/>
            </a:pPr>
            <a:r>
              <a:rPr lang="en-US" altLang="zh-CN" sz="1600" dirty="0"/>
              <a:t>P3-&gt;P4</a:t>
            </a:r>
            <a:r>
              <a:rPr lang="zh-CN" altLang="en-US" sz="1600" dirty="0"/>
              <a:t>之间链路故障，假设</a:t>
            </a:r>
            <a:r>
              <a:rPr lang="en-US" altLang="zh-CN" sz="1600" dirty="0"/>
              <a:t>P3</a:t>
            </a:r>
            <a:r>
              <a:rPr lang="zh-CN" altLang="en-US" sz="1600" dirty="0"/>
              <a:t>执行本地正切防微环，延时收敛，流量沿着</a:t>
            </a:r>
            <a:r>
              <a:rPr lang="en-US" altLang="zh-CN" sz="1600" dirty="0"/>
              <a:t>TI-LFA</a:t>
            </a:r>
            <a:r>
              <a:rPr lang="zh-CN" altLang="en-US" sz="1600" dirty="0"/>
              <a:t>备份路径转发。但是只有</a:t>
            </a:r>
            <a:r>
              <a:rPr lang="en-US" altLang="zh-CN" sz="1600" dirty="0"/>
              <a:t>P3</a:t>
            </a:r>
            <a:r>
              <a:rPr lang="zh-CN" altLang="en-US" sz="1600" dirty="0"/>
              <a:t>进行延时收敛，而网络中的其他节点依然正常进行</a:t>
            </a:r>
            <a:r>
              <a:rPr lang="en-US" altLang="zh-CN" sz="1600" dirty="0"/>
              <a:t>IGP</a:t>
            </a:r>
            <a:r>
              <a:rPr lang="zh-CN" altLang="en-US" sz="1600" dirty="0"/>
              <a:t>收敛。</a:t>
            </a:r>
            <a:endParaRPr lang="zh-CN" altLang="en-US" sz="1600" dirty="0"/>
          </a:p>
          <a:p>
            <a:pPr marL="860425" lvl="1" indent="-457200">
              <a:buSzPct val="100000"/>
              <a:buFont typeface="+mj-lt"/>
              <a:buAutoNum type="arabicPeriod"/>
            </a:pPr>
            <a:r>
              <a:rPr lang="en-US" altLang="zh-CN" sz="1600" dirty="0"/>
              <a:t>P2</a:t>
            </a:r>
            <a:r>
              <a:rPr lang="zh-CN" altLang="en-US" sz="1600" dirty="0"/>
              <a:t>先收敛，计算到</a:t>
            </a:r>
            <a:r>
              <a:rPr lang="en-US" altLang="zh-CN" sz="1600" dirty="0"/>
              <a:t>PE2</a:t>
            </a:r>
            <a:r>
              <a:rPr lang="zh-CN" altLang="en-US" sz="1600" dirty="0"/>
              <a:t>的新路径为</a:t>
            </a:r>
            <a:r>
              <a:rPr lang="en-US" altLang="zh-CN" sz="1600" dirty="0"/>
              <a:t>P2-&gt;P1-&gt;P5-&gt;PE2</a:t>
            </a:r>
            <a:r>
              <a:rPr lang="zh-CN" altLang="en-US" sz="1600" dirty="0"/>
              <a:t>，则流量到达</a:t>
            </a:r>
            <a:r>
              <a:rPr lang="en-US" altLang="zh-CN" sz="1600" dirty="0"/>
              <a:t>P2</a:t>
            </a:r>
            <a:r>
              <a:rPr lang="zh-CN" altLang="en-US" sz="1600" dirty="0"/>
              <a:t>之后不会向</a:t>
            </a:r>
            <a:r>
              <a:rPr lang="en-US" altLang="zh-CN" sz="1600" dirty="0"/>
              <a:t>P3</a:t>
            </a:r>
            <a:r>
              <a:rPr lang="zh-CN" altLang="en-US" sz="1600" dirty="0"/>
              <a:t>转发而是回发到</a:t>
            </a:r>
            <a:r>
              <a:rPr lang="en-US" altLang="zh-CN" sz="1600" dirty="0"/>
              <a:t>P1</a:t>
            </a:r>
            <a:r>
              <a:rPr lang="zh-CN" altLang="en-US" sz="1600" dirty="0"/>
              <a:t>。</a:t>
            </a:r>
            <a:endParaRPr lang="zh-CN" altLang="en-US" sz="1600" dirty="0"/>
          </a:p>
          <a:p>
            <a:pPr marL="860425" lvl="1" indent="-457200">
              <a:buSzPct val="100000"/>
              <a:buFont typeface="+mj-lt"/>
              <a:buAutoNum type="arabicPeriod"/>
            </a:pPr>
            <a:r>
              <a:rPr lang="en-US" altLang="zh-CN" sz="1600" dirty="0"/>
              <a:t>P1</a:t>
            </a:r>
            <a:r>
              <a:rPr lang="zh-CN" altLang="en-US" sz="1600" dirty="0"/>
              <a:t>尚未收敛完成，依然沿着旧路径转发</a:t>
            </a:r>
            <a:r>
              <a:rPr lang="en-US" altLang="zh-CN" sz="1600" dirty="0"/>
              <a:t>P1-&gt;P2-&gt;P3-&gt;P4-&gt;P5-&gt;PE2</a:t>
            </a:r>
            <a:r>
              <a:rPr lang="zh-CN" altLang="en-US" sz="1600" dirty="0"/>
              <a:t>，流量又回发到</a:t>
            </a:r>
            <a:r>
              <a:rPr lang="en-US" altLang="zh-CN" sz="1600" dirty="0"/>
              <a:t>P2</a:t>
            </a:r>
            <a:r>
              <a:rPr lang="zh-CN" altLang="en-US" sz="1600" dirty="0"/>
              <a:t>，形成环路。</a:t>
            </a:r>
            <a:endParaRPr lang="zh-CN" altLang="en-US" sz="1600" dirty="0"/>
          </a:p>
          <a:p>
            <a:endParaRPr lang="zh-CN" altLang="en-US" dirty="0"/>
          </a:p>
        </p:txBody>
      </p:sp>
      <p:cxnSp>
        <p:nvCxnSpPr>
          <p:cNvPr id="4" name="直接连接符 22"/>
          <p:cNvCxnSpPr>
            <a:stCxn id="10" idx="3"/>
            <a:endCxn id="13" idx="1"/>
          </p:cNvCxnSpPr>
          <p:nvPr/>
        </p:nvCxnSpPr>
        <p:spPr bwMode="gray">
          <a:xfrm flipV="1">
            <a:off x="3234574" y="3003860"/>
            <a:ext cx="1184174" cy="6270"/>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cxnSp>
        <p:nvCxnSpPr>
          <p:cNvPr id="5" name="直接连接符 22"/>
          <p:cNvCxnSpPr>
            <a:stCxn id="10" idx="2"/>
            <a:endCxn id="30" idx="0"/>
          </p:cNvCxnSpPr>
          <p:nvPr/>
        </p:nvCxnSpPr>
        <p:spPr bwMode="gray">
          <a:xfrm flipH="1">
            <a:off x="2999084" y="3201655"/>
            <a:ext cx="1331" cy="785014"/>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cxnSp>
        <p:nvCxnSpPr>
          <p:cNvPr id="6" name="直接连接符 22"/>
          <p:cNvCxnSpPr>
            <a:stCxn id="11" idx="3"/>
            <a:endCxn id="14" idx="1"/>
          </p:cNvCxnSpPr>
          <p:nvPr/>
        </p:nvCxnSpPr>
        <p:spPr bwMode="gray">
          <a:xfrm>
            <a:off x="3234574" y="4858462"/>
            <a:ext cx="1189223" cy="6269"/>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cxnSp>
        <p:nvCxnSpPr>
          <p:cNvPr id="7" name="直接连接符 19"/>
          <p:cNvCxnSpPr>
            <a:stCxn id="10" idx="0"/>
            <a:endCxn id="9" idx="2"/>
          </p:cNvCxnSpPr>
          <p:nvPr/>
        </p:nvCxnSpPr>
        <p:spPr bwMode="gray">
          <a:xfrm flipV="1">
            <a:off x="3000415" y="2484449"/>
            <a:ext cx="0" cy="334155"/>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cxnSp>
        <p:nvCxnSpPr>
          <p:cNvPr id="8" name="直接连接符 22"/>
          <p:cNvCxnSpPr>
            <a:stCxn id="13" idx="2"/>
            <a:endCxn id="14" idx="0"/>
          </p:cNvCxnSpPr>
          <p:nvPr/>
        </p:nvCxnSpPr>
        <p:spPr bwMode="gray">
          <a:xfrm>
            <a:off x="4652907" y="3195385"/>
            <a:ext cx="5049" cy="1477820"/>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pic>
        <p:nvPicPr>
          <p:cNvPr id="9"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2766256" y="2101398"/>
            <a:ext cx="468318" cy="383051"/>
          </a:xfrm>
          <a:prstGeom prst="rect">
            <a:avLst/>
          </a:prstGeom>
        </p:spPr>
      </p:pic>
      <p:pic>
        <p:nvPicPr>
          <p:cNvPr id="10"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2766256" y="2818604"/>
            <a:ext cx="468318" cy="383051"/>
          </a:xfrm>
          <a:prstGeom prst="rect">
            <a:avLst/>
          </a:prstGeom>
        </p:spPr>
      </p:pic>
      <p:pic>
        <p:nvPicPr>
          <p:cNvPr id="11"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2766256" y="4666936"/>
            <a:ext cx="468318" cy="383051"/>
          </a:xfrm>
          <a:prstGeom prst="rect">
            <a:avLst/>
          </a:prstGeom>
        </p:spPr>
      </p:pic>
      <p:pic>
        <p:nvPicPr>
          <p:cNvPr id="12"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4423797" y="2107683"/>
            <a:ext cx="468318" cy="383051"/>
          </a:xfrm>
          <a:prstGeom prst="rect">
            <a:avLst/>
          </a:prstGeom>
        </p:spPr>
      </p:pic>
      <p:pic>
        <p:nvPicPr>
          <p:cNvPr id="13"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4418748" y="2812334"/>
            <a:ext cx="468318" cy="383051"/>
          </a:xfrm>
          <a:prstGeom prst="rect">
            <a:avLst/>
          </a:prstGeom>
        </p:spPr>
      </p:pic>
      <p:pic>
        <p:nvPicPr>
          <p:cNvPr id="14"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4423797" y="4673205"/>
            <a:ext cx="468318" cy="383051"/>
          </a:xfrm>
          <a:prstGeom prst="rect">
            <a:avLst/>
          </a:prstGeom>
        </p:spPr>
      </p:pic>
      <p:cxnSp>
        <p:nvCxnSpPr>
          <p:cNvPr id="15" name="直接连接符 22"/>
          <p:cNvCxnSpPr>
            <a:stCxn id="12" idx="2"/>
            <a:endCxn id="13" idx="0"/>
          </p:cNvCxnSpPr>
          <p:nvPr/>
        </p:nvCxnSpPr>
        <p:spPr bwMode="gray">
          <a:xfrm flipH="1">
            <a:off x="4652907" y="2490734"/>
            <a:ext cx="5049" cy="321600"/>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sp>
        <p:nvSpPr>
          <p:cNvPr id="16" name="TextBox 16"/>
          <p:cNvSpPr txBox="1"/>
          <p:nvPr/>
        </p:nvSpPr>
        <p:spPr bwMode="gray">
          <a:xfrm>
            <a:off x="2452939" y="2865359"/>
            <a:ext cx="364984"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P1</a:t>
            </a:r>
            <a:endParaRPr lang="zh-CN" altLang="en-US" sz="1200" dirty="0">
              <a:solidFill>
                <a:srgbClr val="000000"/>
              </a:solidFill>
              <a:cs typeface="+mn-ea"/>
              <a:sym typeface="+mn-lt"/>
            </a:endParaRPr>
          </a:p>
        </p:txBody>
      </p:sp>
      <p:sp>
        <p:nvSpPr>
          <p:cNvPr id="17" name="TextBox 16"/>
          <p:cNvSpPr txBox="1"/>
          <p:nvPr/>
        </p:nvSpPr>
        <p:spPr bwMode="gray">
          <a:xfrm>
            <a:off x="2778826" y="1874045"/>
            <a:ext cx="477846"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PE1</a:t>
            </a:r>
            <a:endParaRPr lang="zh-CN" altLang="en-US" sz="1200" dirty="0">
              <a:solidFill>
                <a:srgbClr val="000000"/>
              </a:solidFill>
              <a:cs typeface="+mn-ea"/>
              <a:sym typeface="+mn-lt"/>
            </a:endParaRPr>
          </a:p>
        </p:txBody>
      </p:sp>
      <p:sp>
        <p:nvSpPr>
          <p:cNvPr id="18" name="TextBox 16"/>
          <p:cNvSpPr txBox="1"/>
          <p:nvPr/>
        </p:nvSpPr>
        <p:spPr bwMode="gray">
          <a:xfrm>
            <a:off x="4430962" y="1880451"/>
            <a:ext cx="495582"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PE2</a:t>
            </a:r>
            <a:endParaRPr lang="zh-CN" altLang="en-US" sz="1200" dirty="0">
              <a:solidFill>
                <a:srgbClr val="000000"/>
              </a:solidFill>
              <a:cs typeface="+mn-ea"/>
              <a:sym typeface="+mn-lt"/>
            </a:endParaRPr>
          </a:p>
        </p:txBody>
      </p:sp>
      <p:sp>
        <p:nvSpPr>
          <p:cNvPr id="19" name="TextBox 16"/>
          <p:cNvSpPr txBox="1"/>
          <p:nvPr/>
        </p:nvSpPr>
        <p:spPr bwMode="gray">
          <a:xfrm>
            <a:off x="2464877" y="3901195"/>
            <a:ext cx="364984"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P2</a:t>
            </a:r>
            <a:endParaRPr lang="zh-CN" altLang="en-US" sz="1200" dirty="0">
              <a:solidFill>
                <a:srgbClr val="000000"/>
              </a:solidFill>
              <a:cs typeface="+mn-ea"/>
              <a:sym typeface="+mn-lt"/>
            </a:endParaRPr>
          </a:p>
        </p:txBody>
      </p:sp>
      <p:sp>
        <p:nvSpPr>
          <p:cNvPr id="20" name="TextBox 16"/>
          <p:cNvSpPr txBox="1"/>
          <p:nvPr/>
        </p:nvSpPr>
        <p:spPr bwMode="gray">
          <a:xfrm>
            <a:off x="4824264" y="4729243"/>
            <a:ext cx="364984"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P4</a:t>
            </a:r>
            <a:endParaRPr lang="zh-CN" altLang="en-US" sz="1200" dirty="0">
              <a:solidFill>
                <a:srgbClr val="000000"/>
              </a:solidFill>
              <a:cs typeface="+mn-ea"/>
              <a:sym typeface="+mn-lt"/>
            </a:endParaRPr>
          </a:p>
        </p:txBody>
      </p:sp>
      <p:sp>
        <p:nvSpPr>
          <p:cNvPr id="21" name="TextBox 16"/>
          <p:cNvSpPr txBox="1"/>
          <p:nvPr/>
        </p:nvSpPr>
        <p:spPr bwMode="gray">
          <a:xfrm>
            <a:off x="4835399" y="2873028"/>
            <a:ext cx="364984"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P5</a:t>
            </a:r>
            <a:endParaRPr lang="zh-CN" altLang="en-US" sz="1200" dirty="0">
              <a:solidFill>
                <a:srgbClr val="000000"/>
              </a:solidFill>
              <a:cs typeface="+mn-ea"/>
              <a:sym typeface="+mn-lt"/>
            </a:endParaRPr>
          </a:p>
        </p:txBody>
      </p:sp>
      <p:graphicFrame>
        <p:nvGraphicFramePr>
          <p:cNvPr id="22" name="Table 21"/>
          <p:cNvGraphicFramePr>
            <a:graphicFrameLocks noGrp="1"/>
          </p:cNvGraphicFramePr>
          <p:nvPr/>
        </p:nvGraphicFramePr>
        <p:xfrm>
          <a:off x="1543890" y="3211950"/>
          <a:ext cx="1022407" cy="731520"/>
        </p:xfrm>
        <a:graphic>
          <a:graphicData uri="http://schemas.openxmlformats.org/drawingml/2006/table">
            <a:tbl>
              <a:tblPr firstRow="1" bandRow="1">
                <a:tableStyleId>{72833802-FEF1-4C79-8D5D-14CF1EAF98D9}</a:tableStyleId>
              </a:tblPr>
              <a:tblGrid>
                <a:gridCol w="1022407"/>
              </a:tblGrid>
              <a:tr h="370840">
                <a:tc>
                  <a:txBody>
                    <a:bodyPr/>
                    <a:lstStyle/>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DIP</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PE2</a:t>
                      </a:r>
                      <a:endPar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SIP</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PE1</a:t>
                      </a:r>
                      <a:endPar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6C4D2"/>
                    </a:solidFill>
                  </a:tcPr>
                </a:tc>
              </a:tr>
              <a:tr h="0">
                <a:tc>
                  <a:txBody>
                    <a:bodyPr/>
                    <a:lstStyle/>
                    <a:p>
                      <a:pPr algn="ctr"/>
                      <a:r>
                        <a:rPr lang="en-US" altLang="zh-CN" sz="1200" dirty="0">
                          <a:solidFill>
                            <a:schemeClr val="bg1"/>
                          </a:solidFill>
                        </a:rPr>
                        <a:t>Payload</a:t>
                      </a:r>
                      <a:endParaRPr lang="zh-CN" altLang="en-US" sz="1200"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r>
            </a:tbl>
          </a:graphicData>
        </a:graphic>
      </p:graphicFrame>
      <p:sp>
        <p:nvSpPr>
          <p:cNvPr id="24" name="Plus Sign 75"/>
          <p:cNvSpPr/>
          <p:nvPr/>
        </p:nvSpPr>
        <p:spPr bwMode="gray">
          <a:xfrm rot="2700000">
            <a:off x="3677192" y="4708993"/>
            <a:ext cx="298938" cy="298938"/>
          </a:xfrm>
          <a:prstGeom prst="mathPlus">
            <a:avLst/>
          </a:prstGeom>
          <a:solidFill>
            <a:srgbClr val="E28189"/>
          </a:solidFill>
          <a:ln>
            <a:solidFill>
              <a:srgbClr val="E2818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ular Callout 26"/>
          <p:cNvSpPr/>
          <p:nvPr/>
        </p:nvSpPr>
        <p:spPr bwMode="gray">
          <a:xfrm>
            <a:off x="1204532" y="4060788"/>
            <a:ext cx="1265154" cy="551136"/>
          </a:xfrm>
          <a:prstGeom prst="wedgeRectCallout">
            <a:avLst>
              <a:gd name="adj1" fmla="val 69378"/>
              <a:gd name="adj2" fmla="val -21865"/>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P2</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完成</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IGP</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收敛，按照收敛后的路由表转发</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8" name="Rectangular Callout 26"/>
          <p:cNvSpPr/>
          <p:nvPr/>
        </p:nvSpPr>
        <p:spPr bwMode="gray">
          <a:xfrm>
            <a:off x="1204532" y="2466132"/>
            <a:ext cx="1287881" cy="551136"/>
          </a:xfrm>
          <a:prstGeom prst="wedgeRectCallout">
            <a:avLst>
              <a:gd name="adj1" fmla="val 62238"/>
              <a:gd name="adj2" fmla="val 14428"/>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P1</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未完成</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IGP</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收敛，基于原来的路由表转发</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pic>
        <p:nvPicPr>
          <p:cNvPr id="30"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2764925" y="3986669"/>
            <a:ext cx="468318" cy="383051"/>
          </a:xfrm>
          <a:prstGeom prst="rect">
            <a:avLst/>
          </a:prstGeom>
        </p:spPr>
      </p:pic>
      <p:cxnSp>
        <p:nvCxnSpPr>
          <p:cNvPr id="34" name="直接连接符 22"/>
          <p:cNvCxnSpPr>
            <a:stCxn id="11" idx="0"/>
            <a:endCxn id="30" idx="2"/>
          </p:cNvCxnSpPr>
          <p:nvPr/>
        </p:nvCxnSpPr>
        <p:spPr bwMode="gray">
          <a:xfrm flipH="1" flipV="1">
            <a:off x="2999084" y="4369720"/>
            <a:ext cx="1331" cy="297216"/>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sp>
        <p:nvSpPr>
          <p:cNvPr id="39" name="TextBox 16"/>
          <p:cNvSpPr txBox="1"/>
          <p:nvPr/>
        </p:nvSpPr>
        <p:spPr bwMode="gray">
          <a:xfrm>
            <a:off x="2464877" y="4729243"/>
            <a:ext cx="364984"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P3</a:t>
            </a:r>
            <a:endParaRPr lang="zh-CN" altLang="en-US" sz="1200" dirty="0">
              <a:solidFill>
                <a:srgbClr val="000000"/>
              </a:solidFill>
              <a:cs typeface="+mn-ea"/>
              <a:sym typeface="+mn-lt"/>
            </a:endParaRPr>
          </a:p>
        </p:txBody>
      </p:sp>
      <p:sp>
        <p:nvSpPr>
          <p:cNvPr id="43" name="TextBox 16"/>
          <p:cNvSpPr txBox="1"/>
          <p:nvPr/>
        </p:nvSpPr>
        <p:spPr bwMode="gray">
          <a:xfrm>
            <a:off x="3290703" y="3012824"/>
            <a:ext cx="1010966"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Cost</a:t>
            </a:r>
            <a:r>
              <a:rPr lang="zh-CN" altLang="en-US" sz="1200" dirty="0">
                <a:solidFill>
                  <a:srgbClr val="000000"/>
                </a:solidFill>
                <a:cs typeface="+mn-ea"/>
                <a:sym typeface="+mn-lt"/>
              </a:rPr>
              <a:t>：</a:t>
            </a:r>
            <a:r>
              <a:rPr lang="en-US" altLang="zh-CN" sz="1200" dirty="0">
                <a:solidFill>
                  <a:srgbClr val="000000"/>
                </a:solidFill>
                <a:cs typeface="+mn-ea"/>
                <a:sym typeface="+mn-lt"/>
              </a:rPr>
              <a:t>1000</a:t>
            </a:r>
            <a:endParaRPr lang="zh-CN" altLang="en-US" sz="1200" dirty="0">
              <a:solidFill>
                <a:srgbClr val="000000"/>
              </a:solidFill>
              <a:cs typeface="+mn-ea"/>
              <a:sym typeface="+mn-lt"/>
            </a:endParaRPr>
          </a:p>
        </p:txBody>
      </p:sp>
      <p:sp>
        <p:nvSpPr>
          <p:cNvPr id="31" name="五边形 2"/>
          <p:cNvSpPr/>
          <p:nvPr/>
        </p:nvSpPr>
        <p:spPr bwMode="gray">
          <a:xfrm>
            <a:off x="9278937" y="110463"/>
            <a:ext cx="1166602"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本地保护技术</a:t>
            </a:r>
            <a:endPar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燕尾形 3"/>
          <p:cNvSpPr/>
          <p:nvPr/>
        </p:nvSpPr>
        <p:spPr bwMode="gray">
          <a:xfrm>
            <a:off x="10368978" y="110463"/>
            <a:ext cx="1380109"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端到端保护技术</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gray"/>
        <p:txBody>
          <a:bodyPr/>
          <a:lstStyle/>
          <a:p>
            <a:r>
              <a:rPr lang="zh-CN" altLang="en-US" dirty="0"/>
              <a:t>远端正切防微环方案</a:t>
            </a:r>
            <a:endParaRPr lang="zh-CN" altLang="en-US" dirty="0"/>
          </a:p>
        </p:txBody>
      </p:sp>
      <p:sp>
        <p:nvSpPr>
          <p:cNvPr id="3" name="Text Placeholder 2"/>
          <p:cNvSpPr>
            <a:spLocks noGrp="1"/>
          </p:cNvSpPr>
          <p:nvPr>
            <p:ph type="body" sz="quarter" idx="10"/>
          </p:nvPr>
        </p:nvSpPr>
        <p:spPr bwMode="gray">
          <a:xfrm>
            <a:off x="455614" y="1047750"/>
            <a:ext cx="11293474" cy="4879805"/>
          </a:xfrm>
        </p:spPr>
        <p:txBody>
          <a:bodyPr/>
          <a:lstStyle/>
          <a:p>
            <a:r>
              <a:rPr lang="zh-CN" altLang="en-US" sz="1800" dirty="0"/>
              <a:t>网络节点只能针对本地直连的链路</a:t>
            </a:r>
            <a:r>
              <a:rPr lang="en-US" altLang="zh-CN" sz="1800" dirty="0"/>
              <a:t>/</a:t>
            </a:r>
            <a:r>
              <a:rPr lang="zh-CN" altLang="en-US" sz="1800" dirty="0"/>
              <a:t>节点故障预先计算无环备份路径，而无法针对网络中任何潜在的故障预先计算无环路径。所以要解决微环问题，需要在节点收敛之后计算无环路径。</a:t>
            </a:r>
            <a:endParaRPr lang="en-US" altLang="zh-CN" sz="1800" dirty="0"/>
          </a:p>
          <a:p>
            <a:r>
              <a:rPr lang="zh-CN" altLang="en-US" sz="1800" dirty="0"/>
              <a:t>如下图，</a:t>
            </a:r>
            <a:r>
              <a:rPr lang="en-US" altLang="zh-CN" sz="1800" dirty="0"/>
              <a:t>P2</a:t>
            </a:r>
            <a:r>
              <a:rPr lang="zh-CN" altLang="en-US" sz="1800" dirty="0"/>
              <a:t>收敛后的计算无环的</a:t>
            </a:r>
            <a:r>
              <a:rPr lang="en-US" altLang="zh-CN" sz="1800" dirty="0"/>
              <a:t>TI-LFA</a:t>
            </a:r>
            <a:r>
              <a:rPr lang="zh-CN" altLang="en-US" sz="1800" dirty="0"/>
              <a:t>路径，路径为</a:t>
            </a:r>
            <a:r>
              <a:rPr lang="en-US" altLang="zh-CN" sz="1800" dirty="0"/>
              <a:t>P2-&gt;P1-&gt;P5-&gt;PE2</a:t>
            </a:r>
            <a:r>
              <a:rPr lang="zh-CN" altLang="en-US" sz="1800" dirty="0"/>
              <a:t>。</a:t>
            </a:r>
            <a:r>
              <a:rPr lang="en-US" altLang="zh-CN" sz="1800" dirty="0"/>
              <a:t>P3</a:t>
            </a:r>
            <a:r>
              <a:rPr lang="zh-CN" altLang="en-US" sz="1800" dirty="0"/>
              <a:t>计算的防环路径可以是严格显式路径，也可以是松散路径。</a:t>
            </a:r>
            <a:endParaRPr lang="zh-CN" altLang="en-US" sz="1800" dirty="0"/>
          </a:p>
        </p:txBody>
      </p:sp>
      <p:cxnSp>
        <p:nvCxnSpPr>
          <p:cNvPr id="4" name="直接连接符 22"/>
          <p:cNvCxnSpPr>
            <a:stCxn id="10" idx="3"/>
            <a:endCxn id="13" idx="1"/>
          </p:cNvCxnSpPr>
          <p:nvPr/>
        </p:nvCxnSpPr>
        <p:spPr bwMode="gray">
          <a:xfrm flipV="1">
            <a:off x="3282512" y="3795718"/>
            <a:ext cx="1184174" cy="6270"/>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cxnSp>
        <p:nvCxnSpPr>
          <p:cNvPr id="5" name="直接连接符 22"/>
          <p:cNvCxnSpPr>
            <a:stCxn id="10" idx="2"/>
            <a:endCxn id="26" idx="0"/>
          </p:cNvCxnSpPr>
          <p:nvPr/>
        </p:nvCxnSpPr>
        <p:spPr bwMode="gray">
          <a:xfrm flipH="1">
            <a:off x="3047022" y="3993513"/>
            <a:ext cx="1331" cy="785014"/>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cxnSp>
        <p:nvCxnSpPr>
          <p:cNvPr id="6" name="直接连接符 22"/>
          <p:cNvCxnSpPr>
            <a:stCxn id="11" idx="3"/>
            <a:endCxn id="14" idx="1"/>
          </p:cNvCxnSpPr>
          <p:nvPr/>
        </p:nvCxnSpPr>
        <p:spPr bwMode="gray">
          <a:xfrm>
            <a:off x="3282512" y="5650320"/>
            <a:ext cx="1189223" cy="6269"/>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cxnSp>
        <p:nvCxnSpPr>
          <p:cNvPr id="7" name="直接连接符 19"/>
          <p:cNvCxnSpPr>
            <a:stCxn id="10" idx="0"/>
            <a:endCxn id="9" idx="2"/>
          </p:cNvCxnSpPr>
          <p:nvPr/>
        </p:nvCxnSpPr>
        <p:spPr bwMode="gray">
          <a:xfrm flipV="1">
            <a:off x="3048353" y="3276307"/>
            <a:ext cx="0" cy="334155"/>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cxnSp>
        <p:nvCxnSpPr>
          <p:cNvPr id="8" name="直接连接符 22"/>
          <p:cNvCxnSpPr>
            <a:stCxn id="13" idx="2"/>
            <a:endCxn id="14" idx="0"/>
          </p:cNvCxnSpPr>
          <p:nvPr/>
        </p:nvCxnSpPr>
        <p:spPr bwMode="gray">
          <a:xfrm>
            <a:off x="4700845" y="3987243"/>
            <a:ext cx="5049" cy="1477820"/>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pic>
        <p:nvPicPr>
          <p:cNvPr id="9"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2814194" y="2893256"/>
            <a:ext cx="468318" cy="383051"/>
          </a:xfrm>
          <a:prstGeom prst="rect">
            <a:avLst/>
          </a:prstGeom>
        </p:spPr>
      </p:pic>
      <p:pic>
        <p:nvPicPr>
          <p:cNvPr id="10"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2814194" y="3610462"/>
            <a:ext cx="468318" cy="383051"/>
          </a:xfrm>
          <a:prstGeom prst="rect">
            <a:avLst/>
          </a:prstGeom>
        </p:spPr>
      </p:pic>
      <p:pic>
        <p:nvPicPr>
          <p:cNvPr id="11"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2814194" y="5458794"/>
            <a:ext cx="468318" cy="383051"/>
          </a:xfrm>
          <a:prstGeom prst="rect">
            <a:avLst/>
          </a:prstGeom>
        </p:spPr>
      </p:pic>
      <p:pic>
        <p:nvPicPr>
          <p:cNvPr id="12"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4471735" y="2899541"/>
            <a:ext cx="468318" cy="383051"/>
          </a:xfrm>
          <a:prstGeom prst="rect">
            <a:avLst/>
          </a:prstGeom>
        </p:spPr>
      </p:pic>
      <p:pic>
        <p:nvPicPr>
          <p:cNvPr id="13"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4466686" y="3604192"/>
            <a:ext cx="468318" cy="383051"/>
          </a:xfrm>
          <a:prstGeom prst="rect">
            <a:avLst/>
          </a:prstGeom>
        </p:spPr>
      </p:pic>
      <p:pic>
        <p:nvPicPr>
          <p:cNvPr id="14"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4471735" y="5465063"/>
            <a:ext cx="468318" cy="383051"/>
          </a:xfrm>
          <a:prstGeom prst="rect">
            <a:avLst/>
          </a:prstGeom>
        </p:spPr>
      </p:pic>
      <p:cxnSp>
        <p:nvCxnSpPr>
          <p:cNvPr id="15" name="直接连接符 22"/>
          <p:cNvCxnSpPr>
            <a:stCxn id="12" idx="2"/>
            <a:endCxn id="13" idx="0"/>
          </p:cNvCxnSpPr>
          <p:nvPr/>
        </p:nvCxnSpPr>
        <p:spPr bwMode="gray">
          <a:xfrm flipH="1">
            <a:off x="4700845" y="3282592"/>
            <a:ext cx="5049" cy="321600"/>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sp>
        <p:nvSpPr>
          <p:cNvPr id="16" name="TextBox 16"/>
          <p:cNvSpPr txBox="1"/>
          <p:nvPr/>
        </p:nvSpPr>
        <p:spPr bwMode="gray">
          <a:xfrm>
            <a:off x="2500877" y="3657217"/>
            <a:ext cx="364984"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P1</a:t>
            </a:r>
            <a:endParaRPr lang="zh-CN" altLang="en-US" sz="1200" dirty="0">
              <a:solidFill>
                <a:srgbClr val="000000"/>
              </a:solidFill>
              <a:cs typeface="+mn-ea"/>
              <a:sym typeface="+mn-lt"/>
            </a:endParaRPr>
          </a:p>
        </p:txBody>
      </p:sp>
      <p:sp>
        <p:nvSpPr>
          <p:cNvPr id="17" name="TextBox 16"/>
          <p:cNvSpPr txBox="1"/>
          <p:nvPr/>
        </p:nvSpPr>
        <p:spPr bwMode="gray">
          <a:xfrm>
            <a:off x="2826764" y="2665903"/>
            <a:ext cx="477846"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PE1</a:t>
            </a:r>
            <a:endParaRPr lang="zh-CN" altLang="en-US" sz="1200" dirty="0">
              <a:solidFill>
                <a:srgbClr val="000000"/>
              </a:solidFill>
              <a:cs typeface="+mn-ea"/>
              <a:sym typeface="+mn-lt"/>
            </a:endParaRPr>
          </a:p>
        </p:txBody>
      </p:sp>
      <p:sp>
        <p:nvSpPr>
          <p:cNvPr id="18" name="TextBox 16"/>
          <p:cNvSpPr txBox="1"/>
          <p:nvPr/>
        </p:nvSpPr>
        <p:spPr bwMode="gray">
          <a:xfrm>
            <a:off x="4478900" y="2672309"/>
            <a:ext cx="495582"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PE2</a:t>
            </a:r>
            <a:endParaRPr lang="zh-CN" altLang="en-US" sz="1200" dirty="0">
              <a:solidFill>
                <a:srgbClr val="000000"/>
              </a:solidFill>
              <a:cs typeface="+mn-ea"/>
              <a:sym typeface="+mn-lt"/>
            </a:endParaRPr>
          </a:p>
        </p:txBody>
      </p:sp>
      <p:sp>
        <p:nvSpPr>
          <p:cNvPr id="19" name="TextBox 16"/>
          <p:cNvSpPr txBox="1"/>
          <p:nvPr/>
        </p:nvSpPr>
        <p:spPr bwMode="gray">
          <a:xfrm>
            <a:off x="2512815" y="4693053"/>
            <a:ext cx="364984"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P2</a:t>
            </a:r>
            <a:endParaRPr lang="zh-CN" altLang="en-US" sz="1200" dirty="0">
              <a:solidFill>
                <a:srgbClr val="000000"/>
              </a:solidFill>
              <a:cs typeface="+mn-ea"/>
              <a:sym typeface="+mn-lt"/>
            </a:endParaRPr>
          </a:p>
        </p:txBody>
      </p:sp>
      <p:sp>
        <p:nvSpPr>
          <p:cNvPr id="20" name="TextBox 16"/>
          <p:cNvSpPr txBox="1"/>
          <p:nvPr/>
        </p:nvSpPr>
        <p:spPr bwMode="gray">
          <a:xfrm>
            <a:off x="4872202" y="5521101"/>
            <a:ext cx="364984"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P4</a:t>
            </a:r>
            <a:endParaRPr lang="zh-CN" altLang="en-US" sz="1200" dirty="0">
              <a:solidFill>
                <a:srgbClr val="000000"/>
              </a:solidFill>
              <a:cs typeface="+mn-ea"/>
              <a:sym typeface="+mn-lt"/>
            </a:endParaRPr>
          </a:p>
        </p:txBody>
      </p:sp>
      <p:sp>
        <p:nvSpPr>
          <p:cNvPr id="21" name="TextBox 16"/>
          <p:cNvSpPr txBox="1"/>
          <p:nvPr/>
        </p:nvSpPr>
        <p:spPr bwMode="gray">
          <a:xfrm>
            <a:off x="4883337" y="3664886"/>
            <a:ext cx="364984"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P5</a:t>
            </a:r>
            <a:endParaRPr lang="zh-CN" altLang="en-US" sz="1200" dirty="0">
              <a:solidFill>
                <a:srgbClr val="000000"/>
              </a:solidFill>
              <a:cs typeface="+mn-ea"/>
              <a:sym typeface="+mn-lt"/>
            </a:endParaRPr>
          </a:p>
        </p:txBody>
      </p:sp>
      <p:sp>
        <p:nvSpPr>
          <p:cNvPr id="23" name="Plus Sign 75"/>
          <p:cNvSpPr/>
          <p:nvPr/>
        </p:nvSpPr>
        <p:spPr bwMode="gray">
          <a:xfrm rot="2700000">
            <a:off x="3725130" y="5500851"/>
            <a:ext cx="298938" cy="298938"/>
          </a:xfrm>
          <a:prstGeom prst="mathPlus">
            <a:avLst/>
          </a:prstGeom>
          <a:solidFill>
            <a:srgbClr val="E28189"/>
          </a:solidFill>
          <a:ln>
            <a:solidFill>
              <a:srgbClr val="E2818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2812863" y="4778527"/>
            <a:ext cx="468318" cy="383051"/>
          </a:xfrm>
          <a:prstGeom prst="rect">
            <a:avLst/>
          </a:prstGeom>
        </p:spPr>
      </p:pic>
      <p:cxnSp>
        <p:nvCxnSpPr>
          <p:cNvPr id="27" name="直接连接符 22"/>
          <p:cNvCxnSpPr>
            <a:stCxn id="11" idx="0"/>
            <a:endCxn id="26" idx="2"/>
          </p:cNvCxnSpPr>
          <p:nvPr/>
        </p:nvCxnSpPr>
        <p:spPr bwMode="gray">
          <a:xfrm flipH="1" flipV="1">
            <a:off x="3047022" y="5161578"/>
            <a:ext cx="1331" cy="297216"/>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sp>
        <p:nvSpPr>
          <p:cNvPr id="28" name="TextBox 16"/>
          <p:cNvSpPr txBox="1"/>
          <p:nvPr/>
        </p:nvSpPr>
        <p:spPr bwMode="gray">
          <a:xfrm>
            <a:off x="2512815" y="5521101"/>
            <a:ext cx="364984"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P3</a:t>
            </a:r>
            <a:endParaRPr lang="zh-CN" altLang="en-US" sz="1200" dirty="0">
              <a:solidFill>
                <a:srgbClr val="000000"/>
              </a:solidFill>
              <a:cs typeface="+mn-ea"/>
              <a:sym typeface="+mn-lt"/>
            </a:endParaRPr>
          </a:p>
        </p:txBody>
      </p:sp>
      <p:sp>
        <p:nvSpPr>
          <p:cNvPr id="30" name="TextBox 24"/>
          <p:cNvSpPr txBox="1"/>
          <p:nvPr/>
        </p:nvSpPr>
        <p:spPr bwMode="gray">
          <a:xfrm>
            <a:off x="3182907" y="2754756"/>
            <a:ext cx="708848" cy="276999"/>
          </a:xfrm>
          <a:prstGeom prst="rect">
            <a:avLst/>
          </a:prstGeom>
          <a:noFill/>
        </p:spPr>
        <p:txBody>
          <a:bodyPr wrap="none" rtlCol="0">
            <a:spAutoFit/>
          </a:bodyPr>
          <a:lstStyle/>
          <a:p>
            <a:pPr>
              <a:buClr>
                <a:srgbClr val="CC9900"/>
              </a:buClr>
              <a:buFont typeface="Wingdings" panose="05000000000000000000" pitchFamily="2" charset="2"/>
              <a:buNone/>
            </a:pPr>
            <a:r>
              <a:rPr lang="en-GB" altLang="zh-CN" sz="1200" b="1" dirty="0">
                <a:cs typeface="+mn-ea"/>
                <a:sym typeface="+mn-lt"/>
              </a:rPr>
              <a:t>FC01</a:t>
            </a:r>
            <a:r>
              <a:rPr lang="en-US" altLang="zh-CN" sz="1200" b="1" dirty="0">
                <a:cs typeface="+mn-ea"/>
                <a:sym typeface="+mn-lt"/>
              </a:rPr>
              <a:t>::1</a:t>
            </a:r>
            <a:endParaRPr lang="zh-CN" altLang="en-US" sz="1200" b="1" dirty="0">
              <a:cs typeface="+mn-ea"/>
              <a:sym typeface="+mn-lt"/>
            </a:endParaRPr>
          </a:p>
        </p:txBody>
      </p:sp>
      <p:sp>
        <p:nvSpPr>
          <p:cNvPr id="31" name="TextBox 24"/>
          <p:cNvSpPr txBox="1"/>
          <p:nvPr/>
        </p:nvSpPr>
        <p:spPr bwMode="gray">
          <a:xfrm>
            <a:off x="3042459" y="3365160"/>
            <a:ext cx="708848" cy="276999"/>
          </a:xfrm>
          <a:prstGeom prst="rect">
            <a:avLst/>
          </a:prstGeom>
          <a:noFill/>
        </p:spPr>
        <p:txBody>
          <a:bodyPr wrap="none" rtlCol="0">
            <a:spAutoFit/>
          </a:bodyPr>
          <a:lstStyle/>
          <a:p>
            <a:pPr>
              <a:buClr>
                <a:srgbClr val="CC9900"/>
              </a:buClr>
              <a:buFont typeface="Wingdings" panose="05000000000000000000" pitchFamily="2" charset="2"/>
              <a:buNone/>
            </a:pPr>
            <a:r>
              <a:rPr lang="en-GB" altLang="zh-CN" sz="1200" b="1" dirty="0">
                <a:cs typeface="+mn-ea"/>
                <a:sym typeface="+mn-lt"/>
              </a:rPr>
              <a:t>FC02</a:t>
            </a:r>
            <a:r>
              <a:rPr lang="en-US" altLang="zh-CN" sz="1200" b="1" dirty="0">
                <a:cs typeface="+mn-ea"/>
                <a:sym typeface="+mn-lt"/>
              </a:rPr>
              <a:t>::2</a:t>
            </a:r>
            <a:endParaRPr lang="zh-CN" altLang="en-US" sz="1200" b="1" dirty="0">
              <a:cs typeface="+mn-ea"/>
              <a:sym typeface="+mn-lt"/>
            </a:endParaRPr>
          </a:p>
        </p:txBody>
      </p:sp>
      <p:sp>
        <p:nvSpPr>
          <p:cNvPr id="32" name="TextBox 24"/>
          <p:cNvSpPr txBox="1"/>
          <p:nvPr/>
        </p:nvSpPr>
        <p:spPr bwMode="gray">
          <a:xfrm>
            <a:off x="3199662" y="4831552"/>
            <a:ext cx="708848" cy="276999"/>
          </a:xfrm>
          <a:prstGeom prst="rect">
            <a:avLst/>
          </a:prstGeom>
          <a:noFill/>
        </p:spPr>
        <p:txBody>
          <a:bodyPr wrap="none" rtlCol="0">
            <a:spAutoFit/>
          </a:bodyPr>
          <a:lstStyle/>
          <a:p>
            <a:pPr>
              <a:buClr>
                <a:srgbClr val="CC9900"/>
              </a:buClr>
              <a:buFont typeface="Wingdings" panose="05000000000000000000" pitchFamily="2" charset="2"/>
              <a:buNone/>
            </a:pPr>
            <a:r>
              <a:rPr lang="en-GB" altLang="zh-CN" sz="1200" b="1" dirty="0">
                <a:cs typeface="+mn-ea"/>
                <a:sym typeface="+mn-lt"/>
              </a:rPr>
              <a:t>FC03</a:t>
            </a:r>
            <a:r>
              <a:rPr lang="en-US" altLang="zh-CN" sz="1200" b="1" dirty="0">
                <a:cs typeface="+mn-ea"/>
                <a:sym typeface="+mn-lt"/>
              </a:rPr>
              <a:t>::3</a:t>
            </a:r>
            <a:endParaRPr lang="zh-CN" altLang="en-US" sz="1200" b="1" dirty="0">
              <a:cs typeface="+mn-ea"/>
              <a:sym typeface="+mn-lt"/>
            </a:endParaRPr>
          </a:p>
        </p:txBody>
      </p:sp>
      <p:sp>
        <p:nvSpPr>
          <p:cNvPr id="33" name="TextBox 24"/>
          <p:cNvSpPr txBox="1"/>
          <p:nvPr/>
        </p:nvSpPr>
        <p:spPr bwMode="gray">
          <a:xfrm>
            <a:off x="3195160" y="5326563"/>
            <a:ext cx="708848" cy="276999"/>
          </a:xfrm>
          <a:prstGeom prst="rect">
            <a:avLst/>
          </a:prstGeom>
          <a:noFill/>
        </p:spPr>
        <p:txBody>
          <a:bodyPr wrap="none" rtlCol="0">
            <a:spAutoFit/>
          </a:bodyPr>
          <a:lstStyle/>
          <a:p>
            <a:pPr>
              <a:buClr>
                <a:srgbClr val="CC9900"/>
              </a:buClr>
              <a:buFont typeface="Wingdings" panose="05000000000000000000" pitchFamily="2" charset="2"/>
              <a:buNone/>
            </a:pPr>
            <a:r>
              <a:rPr lang="en-GB" altLang="zh-CN" sz="1200" b="1" dirty="0">
                <a:cs typeface="+mn-ea"/>
                <a:sym typeface="+mn-lt"/>
              </a:rPr>
              <a:t>FC04</a:t>
            </a:r>
            <a:r>
              <a:rPr lang="en-US" altLang="zh-CN" sz="1200" b="1" dirty="0">
                <a:cs typeface="+mn-ea"/>
                <a:sym typeface="+mn-lt"/>
              </a:rPr>
              <a:t>::4</a:t>
            </a:r>
            <a:endParaRPr lang="zh-CN" altLang="en-US" sz="1200" b="1" dirty="0">
              <a:cs typeface="+mn-ea"/>
              <a:sym typeface="+mn-lt"/>
            </a:endParaRPr>
          </a:p>
        </p:txBody>
      </p:sp>
      <p:sp>
        <p:nvSpPr>
          <p:cNvPr id="34" name="TextBox 24"/>
          <p:cNvSpPr txBox="1"/>
          <p:nvPr/>
        </p:nvSpPr>
        <p:spPr bwMode="gray">
          <a:xfrm>
            <a:off x="3858534" y="5326563"/>
            <a:ext cx="708848" cy="276999"/>
          </a:xfrm>
          <a:prstGeom prst="rect">
            <a:avLst/>
          </a:prstGeom>
          <a:noFill/>
        </p:spPr>
        <p:txBody>
          <a:bodyPr wrap="none" rtlCol="0">
            <a:spAutoFit/>
          </a:bodyPr>
          <a:lstStyle/>
          <a:p>
            <a:pPr>
              <a:buClr>
                <a:srgbClr val="CC9900"/>
              </a:buClr>
              <a:buFont typeface="Wingdings" panose="05000000000000000000" pitchFamily="2" charset="2"/>
              <a:buNone/>
            </a:pPr>
            <a:r>
              <a:rPr lang="en-GB" altLang="zh-CN" sz="1200" b="1" dirty="0">
                <a:cs typeface="+mn-ea"/>
                <a:sym typeface="+mn-lt"/>
              </a:rPr>
              <a:t>FC05</a:t>
            </a:r>
            <a:r>
              <a:rPr lang="en-US" altLang="zh-CN" sz="1200" b="1" dirty="0">
                <a:cs typeface="+mn-ea"/>
                <a:sym typeface="+mn-lt"/>
              </a:rPr>
              <a:t>::5</a:t>
            </a:r>
            <a:endParaRPr lang="zh-CN" altLang="en-US" sz="1200" b="1" dirty="0">
              <a:cs typeface="+mn-ea"/>
              <a:sym typeface="+mn-lt"/>
            </a:endParaRPr>
          </a:p>
        </p:txBody>
      </p:sp>
      <p:sp>
        <p:nvSpPr>
          <p:cNvPr id="35" name="TextBox 24"/>
          <p:cNvSpPr txBox="1"/>
          <p:nvPr/>
        </p:nvSpPr>
        <p:spPr bwMode="gray">
          <a:xfrm>
            <a:off x="4028391" y="3365160"/>
            <a:ext cx="708848" cy="276999"/>
          </a:xfrm>
          <a:prstGeom prst="rect">
            <a:avLst/>
          </a:prstGeom>
          <a:noFill/>
        </p:spPr>
        <p:txBody>
          <a:bodyPr wrap="none" rtlCol="0">
            <a:spAutoFit/>
          </a:bodyPr>
          <a:lstStyle/>
          <a:p>
            <a:pPr>
              <a:buClr>
                <a:srgbClr val="CC9900"/>
              </a:buClr>
              <a:buFont typeface="Wingdings" panose="05000000000000000000" pitchFamily="2" charset="2"/>
              <a:buNone/>
            </a:pPr>
            <a:r>
              <a:rPr lang="en-GB" altLang="zh-CN" sz="1200" b="1" dirty="0">
                <a:cs typeface="+mn-ea"/>
                <a:sym typeface="+mn-lt"/>
              </a:rPr>
              <a:t>FC06</a:t>
            </a:r>
            <a:r>
              <a:rPr lang="en-US" altLang="zh-CN" sz="1200" b="1" dirty="0">
                <a:cs typeface="+mn-ea"/>
                <a:sym typeface="+mn-lt"/>
              </a:rPr>
              <a:t>::6</a:t>
            </a:r>
            <a:endParaRPr lang="zh-CN" altLang="en-US" sz="1200" b="1" dirty="0">
              <a:cs typeface="+mn-ea"/>
              <a:sym typeface="+mn-lt"/>
            </a:endParaRPr>
          </a:p>
        </p:txBody>
      </p:sp>
      <p:sp>
        <p:nvSpPr>
          <p:cNvPr id="36" name="TextBox 24"/>
          <p:cNvSpPr txBox="1"/>
          <p:nvPr/>
        </p:nvSpPr>
        <p:spPr bwMode="gray">
          <a:xfrm>
            <a:off x="3858534" y="2754756"/>
            <a:ext cx="708848" cy="276999"/>
          </a:xfrm>
          <a:prstGeom prst="rect">
            <a:avLst/>
          </a:prstGeom>
          <a:noFill/>
        </p:spPr>
        <p:txBody>
          <a:bodyPr wrap="none" rtlCol="0">
            <a:spAutoFit/>
          </a:bodyPr>
          <a:lstStyle/>
          <a:p>
            <a:pPr>
              <a:buClr>
                <a:srgbClr val="CC9900"/>
              </a:buClr>
              <a:buFont typeface="Wingdings" panose="05000000000000000000" pitchFamily="2" charset="2"/>
              <a:buNone/>
            </a:pPr>
            <a:r>
              <a:rPr lang="en-GB" altLang="zh-CN" sz="1200" b="1" dirty="0">
                <a:cs typeface="+mn-ea"/>
                <a:sym typeface="+mn-lt"/>
              </a:rPr>
              <a:t>FC07</a:t>
            </a:r>
            <a:r>
              <a:rPr lang="en-US" altLang="zh-CN" sz="1200" b="1" dirty="0">
                <a:cs typeface="+mn-ea"/>
                <a:sym typeface="+mn-lt"/>
              </a:rPr>
              <a:t>::7</a:t>
            </a:r>
            <a:endParaRPr lang="zh-CN" altLang="en-US" sz="1200" b="1" dirty="0">
              <a:cs typeface="+mn-ea"/>
              <a:sym typeface="+mn-lt"/>
            </a:endParaRPr>
          </a:p>
        </p:txBody>
      </p:sp>
      <p:graphicFrame>
        <p:nvGraphicFramePr>
          <p:cNvPr id="37" name="Table 36"/>
          <p:cNvGraphicFramePr>
            <a:graphicFrameLocks noGrp="1"/>
          </p:cNvGraphicFramePr>
          <p:nvPr/>
        </p:nvGraphicFramePr>
        <p:xfrm>
          <a:off x="1119212" y="2896616"/>
          <a:ext cx="1334529" cy="731520"/>
        </p:xfrm>
        <a:graphic>
          <a:graphicData uri="http://schemas.openxmlformats.org/drawingml/2006/table">
            <a:tbl>
              <a:tblPr firstRow="1" bandRow="1">
                <a:tableStyleId>{72833802-FEF1-4C79-8D5D-14CF1EAF98D9}</a:tableStyleId>
              </a:tblPr>
              <a:tblGrid>
                <a:gridCol w="1334529"/>
              </a:tblGrid>
              <a:tr h="370840">
                <a:tc>
                  <a:txBody>
                    <a:bodyPr/>
                    <a:lstStyle/>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DIPv6</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FC07::7</a:t>
                      </a:r>
                      <a:endPar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SIPv6</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FC01::1</a:t>
                      </a:r>
                      <a:endPar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6C4D2"/>
                    </a:solidFill>
                  </a:tcPr>
                </a:tc>
              </a:tr>
              <a:tr h="0">
                <a:tc>
                  <a:txBody>
                    <a:bodyPr/>
                    <a:lstStyle/>
                    <a:p>
                      <a:pPr algn="ctr"/>
                      <a:r>
                        <a:rPr lang="en-US" altLang="zh-CN" sz="1200" dirty="0">
                          <a:solidFill>
                            <a:schemeClr val="bg1"/>
                          </a:solidFill>
                        </a:rPr>
                        <a:t>Payload</a:t>
                      </a:r>
                      <a:endParaRPr lang="zh-CN" altLang="en-US" sz="1200"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r>
            </a:tbl>
          </a:graphicData>
        </a:graphic>
      </p:graphicFrame>
      <p:graphicFrame>
        <p:nvGraphicFramePr>
          <p:cNvPr id="38" name="Table 37"/>
          <p:cNvGraphicFramePr>
            <a:graphicFrameLocks noGrp="1"/>
          </p:cNvGraphicFramePr>
          <p:nvPr/>
        </p:nvGraphicFramePr>
        <p:xfrm>
          <a:off x="1125193" y="3977339"/>
          <a:ext cx="1340313" cy="1554480"/>
        </p:xfrm>
        <a:graphic>
          <a:graphicData uri="http://schemas.openxmlformats.org/drawingml/2006/table">
            <a:tbl>
              <a:tblPr firstRow="1" bandRow="1">
                <a:tableStyleId>{72833802-FEF1-4C79-8D5D-14CF1EAF98D9}</a:tableStyleId>
              </a:tblPr>
              <a:tblGrid>
                <a:gridCol w="1340313"/>
              </a:tblGrid>
              <a:tr h="262766">
                <a:tc>
                  <a:txBody>
                    <a:bodyPr/>
                    <a:lstStyle/>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DIPv6</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FC03::C4</a:t>
                      </a:r>
                      <a:endPar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SIPv6</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FC01::1</a:t>
                      </a:r>
                      <a:endPar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6C4D2"/>
                    </a:solidFill>
                  </a:tcPr>
                </a:tc>
              </a:tr>
              <a:tr h="367872">
                <a:tc>
                  <a:txBody>
                    <a:bodyPr/>
                    <a:lstStyle/>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SRH</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SL=</a:t>
                      </a: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2</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0" algn="ctr" defTabSz="913765" rtl="0" eaLnBrk="1" latinLnBrk="0" hangingPunct="1"/>
                      <a:r>
                        <a:rPr lang="en-US" altLang="zh-CN"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FC07::7</a:t>
                      </a:r>
                      <a:endParaRPr lang="en-US" altLang="zh-CN"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p>
                      <a:pPr marL="0" algn="ctr" defTabSz="913765" rtl="0" eaLnBrk="1" latinLnBrk="0" hangingPunct="1"/>
                      <a:r>
                        <a:rPr lang="en-US" altLang="zh-CN"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FC02::C4</a:t>
                      </a:r>
                      <a:endParaRPr lang="en-US" altLang="zh-CN"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p>
                      <a:pPr marL="0" algn="ctr" defTabSz="913765" rtl="0" eaLnBrk="1" latinLnBrk="0" hangingPunct="1"/>
                      <a:r>
                        <a:rPr lang="en-US" altLang="zh-CN" sz="1200" b="1" kern="1200" dirty="0">
                          <a:solidFill>
                            <a:srgbClr val="C7000B"/>
                          </a:solidFill>
                          <a:latin typeface="Huawei Sans" panose="020C0503030203020204" pitchFamily="34" charset="0"/>
                          <a:ea typeface="方正兰亭黑简体" panose="02000000000000000000" pitchFamily="2" charset="-122"/>
                          <a:cs typeface="+mn-cs"/>
                          <a:sym typeface="Huawei Sans" panose="020C0503030203020204" pitchFamily="34" charset="0"/>
                        </a:rPr>
                        <a:t>FC03::C4</a:t>
                      </a:r>
                      <a:endParaRPr lang="zh-CN" altLang="en-US" sz="1200" b="1" kern="1200" dirty="0">
                        <a:solidFill>
                          <a:srgbClr val="C7000B"/>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EEEC1"/>
                    </a:solidFill>
                  </a:tcPr>
                </a:tc>
              </a:tr>
              <a:tr h="157660">
                <a:tc>
                  <a:txBody>
                    <a:bodyPr/>
                    <a:lstStyle/>
                    <a:p>
                      <a:pPr algn="ctr"/>
                      <a:r>
                        <a:rPr lang="en-US" altLang="zh-CN" sz="1200" dirty="0">
                          <a:solidFill>
                            <a:schemeClr val="bg1"/>
                          </a:solidFill>
                        </a:rPr>
                        <a:t>Payload</a:t>
                      </a:r>
                      <a:endParaRPr lang="zh-CN" altLang="en-US" sz="1200"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r>
            </a:tbl>
          </a:graphicData>
        </a:graphic>
      </p:graphicFrame>
      <p:sp>
        <p:nvSpPr>
          <p:cNvPr id="39" name="Freeform 38"/>
          <p:cNvSpPr/>
          <p:nvPr/>
        </p:nvSpPr>
        <p:spPr bwMode="gray">
          <a:xfrm rot="19998445" flipH="1">
            <a:off x="2400880" y="3109675"/>
            <a:ext cx="768840" cy="1580380"/>
          </a:xfrm>
          <a:custGeom>
            <a:avLst/>
            <a:gdLst>
              <a:gd name="connsiteX0" fmla="*/ 0 w 189695"/>
              <a:gd name="connsiteY0" fmla="*/ 0 h 563880"/>
              <a:gd name="connsiteX1" fmla="*/ 167640 w 189695"/>
              <a:gd name="connsiteY1" fmla="*/ 259080 h 563880"/>
              <a:gd name="connsiteX2" fmla="*/ 182880 w 189695"/>
              <a:gd name="connsiteY2" fmla="*/ 563880 h 563880"/>
            </a:gdLst>
            <a:ahLst/>
            <a:cxnLst>
              <a:cxn ang="0">
                <a:pos x="connsiteX0" y="connsiteY0"/>
              </a:cxn>
              <a:cxn ang="0">
                <a:pos x="connsiteX1" y="connsiteY1"/>
              </a:cxn>
              <a:cxn ang="0">
                <a:pos x="connsiteX2" y="connsiteY2"/>
              </a:cxn>
            </a:cxnLst>
            <a:rect l="l" t="t" r="r" b="b"/>
            <a:pathLst>
              <a:path w="189695" h="563880">
                <a:moveTo>
                  <a:pt x="0" y="0"/>
                </a:moveTo>
                <a:cubicBezTo>
                  <a:pt x="68580" y="82550"/>
                  <a:pt x="137160" y="165100"/>
                  <a:pt x="167640" y="259080"/>
                </a:cubicBezTo>
                <a:cubicBezTo>
                  <a:pt x="198120" y="353060"/>
                  <a:pt x="190500" y="458470"/>
                  <a:pt x="182880" y="563880"/>
                </a:cubicBezTo>
              </a:path>
            </a:pathLst>
          </a:custGeom>
          <a:noFill/>
          <a:ln w="28575">
            <a:solidFill>
              <a:srgbClr val="56C4D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Freeform 39"/>
          <p:cNvSpPr/>
          <p:nvPr/>
        </p:nvSpPr>
        <p:spPr bwMode="gray">
          <a:xfrm rot="9332277" flipH="1">
            <a:off x="3118680" y="4022756"/>
            <a:ext cx="327663" cy="720255"/>
          </a:xfrm>
          <a:custGeom>
            <a:avLst/>
            <a:gdLst>
              <a:gd name="connsiteX0" fmla="*/ 0 w 189695"/>
              <a:gd name="connsiteY0" fmla="*/ 0 h 563880"/>
              <a:gd name="connsiteX1" fmla="*/ 167640 w 189695"/>
              <a:gd name="connsiteY1" fmla="*/ 259080 h 563880"/>
              <a:gd name="connsiteX2" fmla="*/ 182880 w 189695"/>
              <a:gd name="connsiteY2" fmla="*/ 563880 h 563880"/>
            </a:gdLst>
            <a:ahLst/>
            <a:cxnLst>
              <a:cxn ang="0">
                <a:pos x="connsiteX0" y="connsiteY0"/>
              </a:cxn>
              <a:cxn ang="0">
                <a:pos x="connsiteX1" y="connsiteY1"/>
              </a:cxn>
              <a:cxn ang="0">
                <a:pos x="connsiteX2" y="connsiteY2"/>
              </a:cxn>
            </a:cxnLst>
            <a:rect l="l" t="t" r="r" b="b"/>
            <a:pathLst>
              <a:path w="189695" h="563880">
                <a:moveTo>
                  <a:pt x="0" y="0"/>
                </a:moveTo>
                <a:cubicBezTo>
                  <a:pt x="68580" y="82550"/>
                  <a:pt x="137160" y="165100"/>
                  <a:pt x="167640" y="259080"/>
                </a:cubicBezTo>
                <a:cubicBezTo>
                  <a:pt x="198120" y="353060"/>
                  <a:pt x="190500" y="458470"/>
                  <a:pt x="182880" y="563880"/>
                </a:cubicBezTo>
              </a:path>
            </a:pathLst>
          </a:custGeom>
          <a:noFill/>
          <a:ln w="28575">
            <a:solidFill>
              <a:srgbClr val="E28189"/>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Freeform 40"/>
          <p:cNvSpPr/>
          <p:nvPr/>
        </p:nvSpPr>
        <p:spPr bwMode="gray">
          <a:xfrm rot="14875022" flipH="1">
            <a:off x="3656956" y="3437090"/>
            <a:ext cx="437635" cy="1065387"/>
          </a:xfrm>
          <a:custGeom>
            <a:avLst/>
            <a:gdLst>
              <a:gd name="connsiteX0" fmla="*/ 0 w 189695"/>
              <a:gd name="connsiteY0" fmla="*/ 0 h 563880"/>
              <a:gd name="connsiteX1" fmla="*/ 167640 w 189695"/>
              <a:gd name="connsiteY1" fmla="*/ 259080 h 563880"/>
              <a:gd name="connsiteX2" fmla="*/ 182880 w 189695"/>
              <a:gd name="connsiteY2" fmla="*/ 563880 h 563880"/>
            </a:gdLst>
            <a:ahLst/>
            <a:cxnLst>
              <a:cxn ang="0">
                <a:pos x="connsiteX0" y="connsiteY0"/>
              </a:cxn>
              <a:cxn ang="0">
                <a:pos x="connsiteX1" y="connsiteY1"/>
              </a:cxn>
              <a:cxn ang="0">
                <a:pos x="connsiteX2" y="connsiteY2"/>
              </a:cxn>
            </a:cxnLst>
            <a:rect l="l" t="t" r="r" b="b"/>
            <a:pathLst>
              <a:path w="189695" h="563880">
                <a:moveTo>
                  <a:pt x="0" y="0"/>
                </a:moveTo>
                <a:cubicBezTo>
                  <a:pt x="68580" y="82550"/>
                  <a:pt x="137160" y="165100"/>
                  <a:pt x="167640" y="259080"/>
                </a:cubicBezTo>
                <a:cubicBezTo>
                  <a:pt x="198120" y="353060"/>
                  <a:pt x="190500" y="458470"/>
                  <a:pt x="182880" y="563880"/>
                </a:cubicBezTo>
              </a:path>
            </a:pathLst>
          </a:custGeom>
          <a:noFill/>
          <a:ln w="28575">
            <a:solidFill>
              <a:srgbClr val="E28189"/>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Freeform 41"/>
          <p:cNvSpPr/>
          <p:nvPr/>
        </p:nvSpPr>
        <p:spPr bwMode="gray">
          <a:xfrm rot="9652180" flipH="1">
            <a:off x="4872425" y="3105005"/>
            <a:ext cx="197451" cy="548900"/>
          </a:xfrm>
          <a:custGeom>
            <a:avLst/>
            <a:gdLst>
              <a:gd name="connsiteX0" fmla="*/ 0 w 189695"/>
              <a:gd name="connsiteY0" fmla="*/ 0 h 563880"/>
              <a:gd name="connsiteX1" fmla="*/ 167640 w 189695"/>
              <a:gd name="connsiteY1" fmla="*/ 259080 h 563880"/>
              <a:gd name="connsiteX2" fmla="*/ 182880 w 189695"/>
              <a:gd name="connsiteY2" fmla="*/ 563880 h 563880"/>
            </a:gdLst>
            <a:ahLst/>
            <a:cxnLst>
              <a:cxn ang="0">
                <a:pos x="connsiteX0" y="connsiteY0"/>
              </a:cxn>
              <a:cxn ang="0">
                <a:pos x="connsiteX1" y="connsiteY1"/>
              </a:cxn>
              <a:cxn ang="0">
                <a:pos x="connsiteX2" y="connsiteY2"/>
              </a:cxn>
            </a:cxnLst>
            <a:rect l="l" t="t" r="r" b="b"/>
            <a:pathLst>
              <a:path w="189695" h="563880">
                <a:moveTo>
                  <a:pt x="0" y="0"/>
                </a:moveTo>
                <a:cubicBezTo>
                  <a:pt x="68580" y="82550"/>
                  <a:pt x="137160" y="165100"/>
                  <a:pt x="167640" y="259080"/>
                </a:cubicBezTo>
                <a:cubicBezTo>
                  <a:pt x="198120" y="353060"/>
                  <a:pt x="190500" y="458470"/>
                  <a:pt x="182880" y="563880"/>
                </a:cubicBezTo>
              </a:path>
            </a:pathLst>
          </a:custGeom>
          <a:noFill/>
          <a:ln w="28575">
            <a:solidFill>
              <a:srgbClr val="E28189"/>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TextBox 33"/>
          <p:cNvSpPr txBox="1"/>
          <p:nvPr/>
        </p:nvSpPr>
        <p:spPr bwMode="gray">
          <a:xfrm rot="16200000">
            <a:off x="2571219" y="4157079"/>
            <a:ext cx="938595" cy="476413"/>
          </a:xfrm>
          <a:prstGeom prst="rect">
            <a:avLst/>
          </a:prstGeom>
          <a:noFill/>
        </p:spPr>
        <p:txBody>
          <a:bodyPr wrap="square" rtlCol="0">
            <a:spAutoFit/>
          </a:bodyPr>
          <a:lstStyle/>
          <a:p>
            <a:r>
              <a:rPr lang="en-US" altLang="zh-CN" sz="1200" dirty="0" err="1">
                <a:solidFill>
                  <a:srgbClr val="C7000B"/>
                </a:solidFill>
                <a:cs typeface="+mn-ea"/>
                <a:sym typeface="+mn-lt"/>
              </a:rPr>
              <a:t>End.X</a:t>
            </a:r>
            <a:r>
              <a:rPr lang="en-US" altLang="zh-CN" sz="1200" dirty="0">
                <a:solidFill>
                  <a:srgbClr val="C7000B"/>
                </a:solidFill>
                <a:cs typeface="+mn-ea"/>
                <a:sym typeface="+mn-lt"/>
              </a:rPr>
              <a:t> </a:t>
            </a:r>
            <a:r>
              <a:rPr lang="en-US" altLang="zh-CN" sz="1200" b="1" dirty="0">
                <a:solidFill>
                  <a:srgbClr val="C7000B"/>
                </a:solidFill>
                <a:cs typeface="+mn-ea"/>
                <a:sym typeface="+mn-lt"/>
              </a:rPr>
              <a:t>FC03::C4</a:t>
            </a:r>
            <a:endParaRPr lang="zh-CN" altLang="en-US" sz="1200" b="1" dirty="0">
              <a:solidFill>
                <a:srgbClr val="C7000B"/>
              </a:solidFill>
              <a:cs typeface="+mn-ea"/>
              <a:sym typeface="+mn-lt"/>
            </a:endParaRPr>
          </a:p>
        </p:txBody>
      </p:sp>
      <p:sp>
        <p:nvSpPr>
          <p:cNvPr id="44" name="TextBox 33"/>
          <p:cNvSpPr txBox="1"/>
          <p:nvPr/>
        </p:nvSpPr>
        <p:spPr bwMode="gray">
          <a:xfrm>
            <a:off x="3199662" y="3586475"/>
            <a:ext cx="938595" cy="476413"/>
          </a:xfrm>
          <a:prstGeom prst="rect">
            <a:avLst/>
          </a:prstGeom>
          <a:noFill/>
        </p:spPr>
        <p:txBody>
          <a:bodyPr wrap="square" rtlCol="0">
            <a:spAutoFit/>
          </a:bodyPr>
          <a:lstStyle/>
          <a:p>
            <a:r>
              <a:rPr lang="en-US" altLang="zh-CN" sz="1200" dirty="0" err="1">
                <a:solidFill>
                  <a:srgbClr val="C7000B"/>
                </a:solidFill>
                <a:cs typeface="+mn-ea"/>
                <a:sym typeface="+mn-lt"/>
              </a:rPr>
              <a:t>End.X</a:t>
            </a:r>
            <a:r>
              <a:rPr lang="en-US" altLang="zh-CN" sz="1200" dirty="0">
                <a:solidFill>
                  <a:srgbClr val="C7000B"/>
                </a:solidFill>
                <a:cs typeface="+mn-ea"/>
                <a:sym typeface="+mn-lt"/>
              </a:rPr>
              <a:t> </a:t>
            </a:r>
            <a:r>
              <a:rPr lang="en-US" altLang="zh-CN" sz="1200" b="1" dirty="0">
                <a:solidFill>
                  <a:srgbClr val="C7000B"/>
                </a:solidFill>
                <a:cs typeface="+mn-ea"/>
                <a:sym typeface="+mn-lt"/>
              </a:rPr>
              <a:t>FC02::C4</a:t>
            </a:r>
            <a:endParaRPr lang="zh-CN" altLang="en-US" sz="1200" b="1" dirty="0">
              <a:solidFill>
                <a:srgbClr val="C7000B"/>
              </a:solidFill>
              <a:cs typeface="+mn-ea"/>
              <a:sym typeface="+mn-lt"/>
            </a:endParaRPr>
          </a:p>
        </p:txBody>
      </p:sp>
      <p:cxnSp>
        <p:nvCxnSpPr>
          <p:cNvPr id="46" name="Straight Arrow Connector 45"/>
          <p:cNvCxnSpPr/>
          <p:nvPr/>
        </p:nvCxnSpPr>
        <p:spPr bwMode="gray">
          <a:xfrm flipV="1">
            <a:off x="2394264" y="4086873"/>
            <a:ext cx="871606" cy="141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直接连接符 22"/>
          <p:cNvCxnSpPr>
            <a:stCxn id="55" idx="3"/>
            <a:endCxn id="58" idx="1"/>
          </p:cNvCxnSpPr>
          <p:nvPr/>
        </p:nvCxnSpPr>
        <p:spPr bwMode="gray">
          <a:xfrm flipV="1">
            <a:off x="8905450" y="3776819"/>
            <a:ext cx="1184174" cy="6270"/>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cxnSp>
        <p:nvCxnSpPr>
          <p:cNvPr id="50" name="直接连接符 22"/>
          <p:cNvCxnSpPr>
            <a:stCxn id="55" idx="2"/>
            <a:endCxn id="68" idx="0"/>
          </p:cNvCxnSpPr>
          <p:nvPr/>
        </p:nvCxnSpPr>
        <p:spPr bwMode="gray">
          <a:xfrm flipH="1">
            <a:off x="8669960" y="3974614"/>
            <a:ext cx="1331" cy="785014"/>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cxnSp>
        <p:nvCxnSpPr>
          <p:cNvPr id="51" name="直接连接符 22"/>
          <p:cNvCxnSpPr>
            <a:stCxn id="56" idx="3"/>
            <a:endCxn id="59" idx="1"/>
          </p:cNvCxnSpPr>
          <p:nvPr/>
        </p:nvCxnSpPr>
        <p:spPr bwMode="gray">
          <a:xfrm>
            <a:off x="8905450" y="5631421"/>
            <a:ext cx="1189223" cy="6269"/>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cxnSp>
        <p:nvCxnSpPr>
          <p:cNvPr id="52" name="直接连接符 19"/>
          <p:cNvCxnSpPr>
            <a:stCxn id="55" idx="0"/>
            <a:endCxn id="54" idx="2"/>
          </p:cNvCxnSpPr>
          <p:nvPr/>
        </p:nvCxnSpPr>
        <p:spPr bwMode="gray">
          <a:xfrm flipV="1">
            <a:off x="8671291" y="3257408"/>
            <a:ext cx="0" cy="334155"/>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cxnSp>
        <p:nvCxnSpPr>
          <p:cNvPr id="53" name="直接连接符 22"/>
          <p:cNvCxnSpPr>
            <a:stCxn id="58" idx="2"/>
            <a:endCxn id="59" idx="0"/>
          </p:cNvCxnSpPr>
          <p:nvPr/>
        </p:nvCxnSpPr>
        <p:spPr bwMode="gray">
          <a:xfrm>
            <a:off x="10323783" y="3968344"/>
            <a:ext cx="5049" cy="1477820"/>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pic>
        <p:nvPicPr>
          <p:cNvPr id="54"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8437132" y="2874357"/>
            <a:ext cx="468318" cy="383051"/>
          </a:xfrm>
          <a:prstGeom prst="rect">
            <a:avLst/>
          </a:prstGeom>
        </p:spPr>
      </p:pic>
      <p:pic>
        <p:nvPicPr>
          <p:cNvPr id="55"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8437132" y="3591563"/>
            <a:ext cx="468318" cy="383051"/>
          </a:xfrm>
          <a:prstGeom prst="rect">
            <a:avLst/>
          </a:prstGeom>
        </p:spPr>
      </p:pic>
      <p:pic>
        <p:nvPicPr>
          <p:cNvPr id="56"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8437132" y="5439895"/>
            <a:ext cx="468318" cy="383051"/>
          </a:xfrm>
          <a:prstGeom prst="rect">
            <a:avLst/>
          </a:prstGeom>
        </p:spPr>
      </p:pic>
      <p:pic>
        <p:nvPicPr>
          <p:cNvPr id="57"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10094673" y="2880642"/>
            <a:ext cx="468318" cy="383051"/>
          </a:xfrm>
          <a:prstGeom prst="rect">
            <a:avLst/>
          </a:prstGeom>
        </p:spPr>
      </p:pic>
      <p:pic>
        <p:nvPicPr>
          <p:cNvPr id="58"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10089624" y="3585293"/>
            <a:ext cx="468318" cy="383051"/>
          </a:xfrm>
          <a:prstGeom prst="rect">
            <a:avLst/>
          </a:prstGeom>
        </p:spPr>
      </p:pic>
      <p:pic>
        <p:nvPicPr>
          <p:cNvPr id="59"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10094673" y="5446164"/>
            <a:ext cx="468318" cy="383051"/>
          </a:xfrm>
          <a:prstGeom prst="rect">
            <a:avLst/>
          </a:prstGeom>
        </p:spPr>
      </p:pic>
      <p:cxnSp>
        <p:nvCxnSpPr>
          <p:cNvPr id="60" name="直接连接符 22"/>
          <p:cNvCxnSpPr>
            <a:stCxn id="57" idx="2"/>
            <a:endCxn id="58" idx="0"/>
          </p:cNvCxnSpPr>
          <p:nvPr/>
        </p:nvCxnSpPr>
        <p:spPr bwMode="gray">
          <a:xfrm flipH="1">
            <a:off x="10323783" y="3263693"/>
            <a:ext cx="5049" cy="321600"/>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sp>
        <p:nvSpPr>
          <p:cNvPr id="61" name="TextBox 16"/>
          <p:cNvSpPr txBox="1"/>
          <p:nvPr/>
        </p:nvSpPr>
        <p:spPr bwMode="gray">
          <a:xfrm>
            <a:off x="8123815" y="3638318"/>
            <a:ext cx="364984"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P1</a:t>
            </a:r>
            <a:endParaRPr lang="zh-CN" altLang="en-US" sz="1200" dirty="0">
              <a:solidFill>
                <a:srgbClr val="000000"/>
              </a:solidFill>
              <a:cs typeface="+mn-ea"/>
              <a:sym typeface="+mn-lt"/>
            </a:endParaRPr>
          </a:p>
        </p:txBody>
      </p:sp>
      <p:sp>
        <p:nvSpPr>
          <p:cNvPr id="62" name="TextBox 61"/>
          <p:cNvSpPr txBox="1"/>
          <p:nvPr/>
        </p:nvSpPr>
        <p:spPr bwMode="gray">
          <a:xfrm>
            <a:off x="8449702" y="2647004"/>
            <a:ext cx="477846"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PE1</a:t>
            </a:r>
            <a:endParaRPr lang="zh-CN" altLang="en-US" sz="1200" dirty="0">
              <a:solidFill>
                <a:srgbClr val="000000"/>
              </a:solidFill>
              <a:cs typeface="+mn-ea"/>
              <a:sym typeface="+mn-lt"/>
            </a:endParaRPr>
          </a:p>
        </p:txBody>
      </p:sp>
      <p:sp>
        <p:nvSpPr>
          <p:cNvPr id="63" name="TextBox 16"/>
          <p:cNvSpPr txBox="1"/>
          <p:nvPr/>
        </p:nvSpPr>
        <p:spPr bwMode="gray">
          <a:xfrm>
            <a:off x="10101838" y="2653410"/>
            <a:ext cx="495582"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PE2</a:t>
            </a:r>
            <a:endParaRPr lang="zh-CN" altLang="en-US" sz="1200" dirty="0">
              <a:solidFill>
                <a:srgbClr val="000000"/>
              </a:solidFill>
              <a:cs typeface="+mn-ea"/>
              <a:sym typeface="+mn-lt"/>
            </a:endParaRPr>
          </a:p>
        </p:txBody>
      </p:sp>
      <p:sp>
        <p:nvSpPr>
          <p:cNvPr id="64" name="TextBox 16"/>
          <p:cNvSpPr txBox="1"/>
          <p:nvPr/>
        </p:nvSpPr>
        <p:spPr bwMode="gray">
          <a:xfrm>
            <a:off x="8135753" y="4674154"/>
            <a:ext cx="364984"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P2</a:t>
            </a:r>
            <a:endParaRPr lang="zh-CN" altLang="en-US" sz="1200" dirty="0">
              <a:solidFill>
                <a:srgbClr val="000000"/>
              </a:solidFill>
              <a:cs typeface="+mn-ea"/>
              <a:sym typeface="+mn-lt"/>
            </a:endParaRPr>
          </a:p>
        </p:txBody>
      </p:sp>
      <p:sp>
        <p:nvSpPr>
          <p:cNvPr id="65" name="TextBox 16"/>
          <p:cNvSpPr txBox="1"/>
          <p:nvPr/>
        </p:nvSpPr>
        <p:spPr bwMode="gray">
          <a:xfrm>
            <a:off x="10495140" y="5502202"/>
            <a:ext cx="364984"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P4</a:t>
            </a:r>
            <a:endParaRPr lang="zh-CN" altLang="en-US" sz="1200" dirty="0">
              <a:solidFill>
                <a:srgbClr val="000000"/>
              </a:solidFill>
              <a:cs typeface="+mn-ea"/>
              <a:sym typeface="+mn-lt"/>
            </a:endParaRPr>
          </a:p>
        </p:txBody>
      </p:sp>
      <p:sp>
        <p:nvSpPr>
          <p:cNvPr id="66" name="TextBox 16"/>
          <p:cNvSpPr txBox="1"/>
          <p:nvPr/>
        </p:nvSpPr>
        <p:spPr bwMode="gray">
          <a:xfrm>
            <a:off x="10506275" y="3645987"/>
            <a:ext cx="364984"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P5</a:t>
            </a:r>
            <a:endParaRPr lang="zh-CN" altLang="en-US" sz="1200" dirty="0">
              <a:solidFill>
                <a:srgbClr val="000000"/>
              </a:solidFill>
              <a:cs typeface="+mn-ea"/>
              <a:sym typeface="+mn-lt"/>
            </a:endParaRPr>
          </a:p>
        </p:txBody>
      </p:sp>
      <p:sp>
        <p:nvSpPr>
          <p:cNvPr id="67" name="Plus Sign 75"/>
          <p:cNvSpPr/>
          <p:nvPr/>
        </p:nvSpPr>
        <p:spPr bwMode="gray">
          <a:xfrm rot="2700000">
            <a:off x="9348068" y="5481952"/>
            <a:ext cx="298938" cy="298938"/>
          </a:xfrm>
          <a:prstGeom prst="mathPlus">
            <a:avLst/>
          </a:prstGeom>
          <a:solidFill>
            <a:srgbClr val="E28189"/>
          </a:solidFill>
          <a:ln>
            <a:solidFill>
              <a:srgbClr val="E2818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8"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8435801" y="4759628"/>
            <a:ext cx="468318" cy="383051"/>
          </a:xfrm>
          <a:prstGeom prst="rect">
            <a:avLst/>
          </a:prstGeom>
        </p:spPr>
      </p:pic>
      <p:cxnSp>
        <p:nvCxnSpPr>
          <p:cNvPr id="69" name="直接连接符 22"/>
          <p:cNvCxnSpPr>
            <a:stCxn id="56" idx="0"/>
            <a:endCxn id="68" idx="2"/>
          </p:cNvCxnSpPr>
          <p:nvPr/>
        </p:nvCxnSpPr>
        <p:spPr bwMode="gray">
          <a:xfrm flipH="1" flipV="1">
            <a:off x="8669960" y="5142679"/>
            <a:ext cx="1331" cy="297216"/>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sp>
        <p:nvSpPr>
          <p:cNvPr id="70" name="TextBox 16"/>
          <p:cNvSpPr txBox="1"/>
          <p:nvPr/>
        </p:nvSpPr>
        <p:spPr bwMode="gray">
          <a:xfrm>
            <a:off x="8135753" y="5502202"/>
            <a:ext cx="364984"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P3</a:t>
            </a:r>
            <a:endParaRPr lang="zh-CN" altLang="en-US" sz="1200" dirty="0">
              <a:solidFill>
                <a:srgbClr val="000000"/>
              </a:solidFill>
              <a:cs typeface="+mn-ea"/>
              <a:sym typeface="+mn-lt"/>
            </a:endParaRPr>
          </a:p>
        </p:txBody>
      </p:sp>
      <p:sp>
        <p:nvSpPr>
          <p:cNvPr id="71" name="TextBox 24"/>
          <p:cNvSpPr txBox="1"/>
          <p:nvPr/>
        </p:nvSpPr>
        <p:spPr bwMode="gray">
          <a:xfrm>
            <a:off x="8805845" y="2735857"/>
            <a:ext cx="708848" cy="276999"/>
          </a:xfrm>
          <a:prstGeom prst="rect">
            <a:avLst/>
          </a:prstGeom>
          <a:noFill/>
        </p:spPr>
        <p:txBody>
          <a:bodyPr wrap="none" rtlCol="0">
            <a:spAutoFit/>
          </a:bodyPr>
          <a:lstStyle/>
          <a:p>
            <a:pPr>
              <a:buClr>
                <a:srgbClr val="CC9900"/>
              </a:buClr>
              <a:buFont typeface="Wingdings" panose="05000000000000000000" pitchFamily="2" charset="2"/>
              <a:buNone/>
            </a:pPr>
            <a:r>
              <a:rPr lang="en-GB" altLang="zh-CN" sz="1200" b="1" dirty="0">
                <a:cs typeface="+mn-ea"/>
                <a:sym typeface="+mn-lt"/>
              </a:rPr>
              <a:t>FC01</a:t>
            </a:r>
            <a:r>
              <a:rPr lang="en-US" altLang="zh-CN" sz="1200" b="1" dirty="0">
                <a:cs typeface="+mn-ea"/>
                <a:sym typeface="+mn-lt"/>
              </a:rPr>
              <a:t>::1</a:t>
            </a:r>
            <a:endParaRPr lang="zh-CN" altLang="en-US" sz="1200" b="1" dirty="0">
              <a:cs typeface="+mn-ea"/>
              <a:sym typeface="+mn-lt"/>
            </a:endParaRPr>
          </a:p>
        </p:txBody>
      </p:sp>
      <p:sp>
        <p:nvSpPr>
          <p:cNvPr id="72" name="TextBox 24"/>
          <p:cNvSpPr txBox="1"/>
          <p:nvPr/>
        </p:nvSpPr>
        <p:spPr bwMode="gray">
          <a:xfrm>
            <a:off x="8665397" y="3346261"/>
            <a:ext cx="708848" cy="276999"/>
          </a:xfrm>
          <a:prstGeom prst="rect">
            <a:avLst/>
          </a:prstGeom>
          <a:noFill/>
        </p:spPr>
        <p:txBody>
          <a:bodyPr wrap="none" rtlCol="0">
            <a:spAutoFit/>
          </a:bodyPr>
          <a:lstStyle/>
          <a:p>
            <a:pPr>
              <a:buClr>
                <a:srgbClr val="CC9900"/>
              </a:buClr>
              <a:buFont typeface="Wingdings" panose="05000000000000000000" pitchFamily="2" charset="2"/>
              <a:buNone/>
            </a:pPr>
            <a:r>
              <a:rPr lang="en-GB" altLang="zh-CN" sz="1200" b="1" dirty="0">
                <a:cs typeface="+mn-ea"/>
                <a:sym typeface="+mn-lt"/>
              </a:rPr>
              <a:t>FC02</a:t>
            </a:r>
            <a:r>
              <a:rPr lang="en-US" altLang="zh-CN" sz="1200" b="1" dirty="0">
                <a:cs typeface="+mn-ea"/>
                <a:sym typeface="+mn-lt"/>
              </a:rPr>
              <a:t>::2</a:t>
            </a:r>
            <a:endParaRPr lang="zh-CN" altLang="en-US" sz="1200" b="1" dirty="0">
              <a:cs typeface="+mn-ea"/>
              <a:sym typeface="+mn-lt"/>
            </a:endParaRPr>
          </a:p>
        </p:txBody>
      </p:sp>
      <p:sp>
        <p:nvSpPr>
          <p:cNvPr id="73" name="TextBox 24"/>
          <p:cNvSpPr txBox="1"/>
          <p:nvPr/>
        </p:nvSpPr>
        <p:spPr bwMode="gray">
          <a:xfrm>
            <a:off x="8822600" y="4812653"/>
            <a:ext cx="708848" cy="276999"/>
          </a:xfrm>
          <a:prstGeom prst="rect">
            <a:avLst/>
          </a:prstGeom>
          <a:noFill/>
        </p:spPr>
        <p:txBody>
          <a:bodyPr wrap="none" rtlCol="0">
            <a:spAutoFit/>
          </a:bodyPr>
          <a:lstStyle/>
          <a:p>
            <a:pPr>
              <a:buClr>
                <a:srgbClr val="CC9900"/>
              </a:buClr>
              <a:buFont typeface="Wingdings" panose="05000000000000000000" pitchFamily="2" charset="2"/>
              <a:buNone/>
            </a:pPr>
            <a:r>
              <a:rPr lang="en-GB" altLang="zh-CN" sz="1200" b="1" dirty="0">
                <a:cs typeface="+mn-ea"/>
                <a:sym typeface="+mn-lt"/>
              </a:rPr>
              <a:t>FC03</a:t>
            </a:r>
            <a:r>
              <a:rPr lang="en-US" altLang="zh-CN" sz="1200" b="1" dirty="0">
                <a:cs typeface="+mn-ea"/>
                <a:sym typeface="+mn-lt"/>
              </a:rPr>
              <a:t>::3</a:t>
            </a:r>
            <a:endParaRPr lang="zh-CN" altLang="en-US" sz="1200" b="1" dirty="0">
              <a:cs typeface="+mn-ea"/>
              <a:sym typeface="+mn-lt"/>
            </a:endParaRPr>
          </a:p>
        </p:txBody>
      </p:sp>
      <p:sp>
        <p:nvSpPr>
          <p:cNvPr id="74" name="TextBox 24"/>
          <p:cNvSpPr txBox="1"/>
          <p:nvPr/>
        </p:nvSpPr>
        <p:spPr bwMode="gray">
          <a:xfrm>
            <a:off x="8818098" y="5307664"/>
            <a:ext cx="708848" cy="276999"/>
          </a:xfrm>
          <a:prstGeom prst="rect">
            <a:avLst/>
          </a:prstGeom>
          <a:noFill/>
        </p:spPr>
        <p:txBody>
          <a:bodyPr wrap="none" rtlCol="0">
            <a:spAutoFit/>
          </a:bodyPr>
          <a:lstStyle/>
          <a:p>
            <a:pPr>
              <a:buClr>
                <a:srgbClr val="CC9900"/>
              </a:buClr>
              <a:buFont typeface="Wingdings" panose="05000000000000000000" pitchFamily="2" charset="2"/>
              <a:buNone/>
            </a:pPr>
            <a:r>
              <a:rPr lang="en-GB" altLang="zh-CN" sz="1200" b="1" dirty="0">
                <a:cs typeface="+mn-ea"/>
                <a:sym typeface="+mn-lt"/>
              </a:rPr>
              <a:t>FC04</a:t>
            </a:r>
            <a:r>
              <a:rPr lang="en-US" altLang="zh-CN" sz="1200" b="1" dirty="0">
                <a:cs typeface="+mn-ea"/>
                <a:sym typeface="+mn-lt"/>
              </a:rPr>
              <a:t>::4</a:t>
            </a:r>
            <a:endParaRPr lang="zh-CN" altLang="en-US" sz="1200" b="1" dirty="0">
              <a:cs typeface="+mn-ea"/>
              <a:sym typeface="+mn-lt"/>
            </a:endParaRPr>
          </a:p>
        </p:txBody>
      </p:sp>
      <p:sp>
        <p:nvSpPr>
          <p:cNvPr id="75" name="TextBox 24"/>
          <p:cNvSpPr txBox="1"/>
          <p:nvPr/>
        </p:nvSpPr>
        <p:spPr bwMode="gray">
          <a:xfrm>
            <a:off x="9481472" y="5307664"/>
            <a:ext cx="708848" cy="276999"/>
          </a:xfrm>
          <a:prstGeom prst="rect">
            <a:avLst/>
          </a:prstGeom>
          <a:noFill/>
        </p:spPr>
        <p:txBody>
          <a:bodyPr wrap="none" rtlCol="0">
            <a:spAutoFit/>
          </a:bodyPr>
          <a:lstStyle/>
          <a:p>
            <a:pPr>
              <a:buClr>
                <a:srgbClr val="CC9900"/>
              </a:buClr>
              <a:buFont typeface="Wingdings" panose="05000000000000000000" pitchFamily="2" charset="2"/>
              <a:buNone/>
            </a:pPr>
            <a:r>
              <a:rPr lang="en-GB" altLang="zh-CN" sz="1200" b="1" dirty="0">
                <a:cs typeface="+mn-ea"/>
                <a:sym typeface="+mn-lt"/>
              </a:rPr>
              <a:t>FC05</a:t>
            </a:r>
            <a:r>
              <a:rPr lang="en-US" altLang="zh-CN" sz="1200" b="1" dirty="0">
                <a:cs typeface="+mn-ea"/>
                <a:sym typeface="+mn-lt"/>
              </a:rPr>
              <a:t>::5</a:t>
            </a:r>
            <a:endParaRPr lang="zh-CN" altLang="en-US" sz="1200" b="1" dirty="0">
              <a:cs typeface="+mn-ea"/>
              <a:sym typeface="+mn-lt"/>
            </a:endParaRPr>
          </a:p>
        </p:txBody>
      </p:sp>
      <p:sp>
        <p:nvSpPr>
          <p:cNvPr id="76" name="TextBox 24"/>
          <p:cNvSpPr txBox="1"/>
          <p:nvPr/>
        </p:nvSpPr>
        <p:spPr bwMode="gray">
          <a:xfrm>
            <a:off x="9651329" y="3346261"/>
            <a:ext cx="708848" cy="276999"/>
          </a:xfrm>
          <a:prstGeom prst="rect">
            <a:avLst/>
          </a:prstGeom>
          <a:noFill/>
        </p:spPr>
        <p:txBody>
          <a:bodyPr wrap="none" rtlCol="0">
            <a:spAutoFit/>
          </a:bodyPr>
          <a:lstStyle/>
          <a:p>
            <a:pPr>
              <a:buClr>
                <a:srgbClr val="CC9900"/>
              </a:buClr>
              <a:buFont typeface="Wingdings" panose="05000000000000000000" pitchFamily="2" charset="2"/>
              <a:buNone/>
            </a:pPr>
            <a:r>
              <a:rPr lang="en-GB" altLang="zh-CN" sz="1200" b="1" dirty="0">
                <a:cs typeface="+mn-ea"/>
                <a:sym typeface="+mn-lt"/>
              </a:rPr>
              <a:t>FC06</a:t>
            </a:r>
            <a:r>
              <a:rPr lang="en-US" altLang="zh-CN" sz="1200" b="1" dirty="0">
                <a:cs typeface="+mn-ea"/>
                <a:sym typeface="+mn-lt"/>
              </a:rPr>
              <a:t>::6</a:t>
            </a:r>
            <a:endParaRPr lang="zh-CN" altLang="en-US" sz="1200" b="1" dirty="0">
              <a:cs typeface="+mn-ea"/>
              <a:sym typeface="+mn-lt"/>
            </a:endParaRPr>
          </a:p>
        </p:txBody>
      </p:sp>
      <p:sp>
        <p:nvSpPr>
          <p:cNvPr id="77" name="TextBox 24"/>
          <p:cNvSpPr txBox="1"/>
          <p:nvPr/>
        </p:nvSpPr>
        <p:spPr bwMode="gray">
          <a:xfrm>
            <a:off x="9481472" y="2735857"/>
            <a:ext cx="708848" cy="276999"/>
          </a:xfrm>
          <a:prstGeom prst="rect">
            <a:avLst/>
          </a:prstGeom>
          <a:noFill/>
        </p:spPr>
        <p:txBody>
          <a:bodyPr wrap="none" rtlCol="0">
            <a:spAutoFit/>
          </a:bodyPr>
          <a:lstStyle/>
          <a:p>
            <a:pPr>
              <a:buClr>
                <a:srgbClr val="CC9900"/>
              </a:buClr>
              <a:buFont typeface="Wingdings" panose="05000000000000000000" pitchFamily="2" charset="2"/>
              <a:buNone/>
            </a:pPr>
            <a:r>
              <a:rPr lang="en-GB" altLang="zh-CN" sz="1200" b="1" dirty="0">
                <a:cs typeface="+mn-ea"/>
                <a:sym typeface="+mn-lt"/>
              </a:rPr>
              <a:t>FC07</a:t>
            </a:r>
            <a:r>
              <a:rPr lang="en-US" altLang="zh-CN" sz="1200" b="1" dirty="0">
                <a:cs typeface="+mn-ea"/>
                <a:sym typeface="+mn-lt"/>
              </a:rPr>
              <a:t>::7</a:t>
            </a:r>
            <a:endParaRPr lang="zh-CN" altLang="en-US" sz="1200" b="1" dirty="0">
              <a:cs typeface="+mn-ea"/>
              <a:sym typeface="+mn-lt"/>
            </a:endParaRPr>
          </a:p>
        </p:txBody>
      </p:sp>
      <p:graphicFrame>
        <p:nvGraphicFramePr>
          <p:cNvPr id="78" name="Table 77"/>
          <p:cNvGraphicFramePr>
            <a:graphicFrameLocks noGrp="1"/>
          </p:cNvGraphicFramePr>
          <p:nvPr/>
        </p:nvGraphicFramePr>
        <p:xfrm>
          <a:off x="6742150" y="2877717"/>
          <a:ext cx="1334529" cy="731520"/>
        </p:xfrm>
        <a:graphic>
          <a:graphicData uri="http://schemas.openxmlformats.org/drawingml/2006/table">
            <a:tbl>
              <a:tblPr firstRow="1" bandRow="1">
                <a:tableStyleId>{72833802-FEF1-4C79-8D5D-14CF1EAF98D9}</a:tableStyleId>
              </a:tblPr>
              <a:tblGrid>
                <a:gridCol w="1334529"/>
              </a:tblGrid>
              <a:tr h="370840">
                <a:tc>
                  <a:txBody>
                    <a:bodyPr/>
                    <a:lstStyle/>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DIPv6</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FC07::7</a:t>
                      </a:r>
                      <a:endPar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SIPv6</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FC01::1</a:t>
                      </a:r>
                      <a:endPar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6C4D2"/>
                    </a:solidFill>
                  </a:tcPr>
                </a:tc>
              </a:tr>
              <a:tr h="0">
                <a:tc>
                  <a:txBody>
                    <a:bodyPr/>
                    <a:lstStyle/>
                    <a:p>
                      <a:pPr algn="ctr"/>
                      <a:r>
                        <a:rPr lang="en-US" altLang="zh-CN" sz="1200" dirty="0">
                          <a:solidFill>
                            <a:schemeClr val="bg1"/>
                          </a:solidFill>
                        </a:rPr>
                        <a:t>Payload</a:t>
                      </a:r>
                      <a:endParaRPr lang="zh-CN" altLang="en-US" sz="1200"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r>
            </a:tbl>
          </a:graphicData>
        </a:graphic>
      </p:graphicFrame>
      <p:graphicFrame>
        <p:nvGraphicFramePr>
          <p:cNvPr id="79" name="Table 78"/>
          <p:cNvGraphicFramePr>
            <a:graphicFrameLocks noGrp="1"/>
          </p:cNvGraphicFramePr>
          <p:nvPr/>
        </p:nvGraphicFramePr>
        <p:xfrm>
          <a:off x="6748131" y="3958440"/>
          <a:ext cx="1340313" cy="1371600"/>
        </p:xfrm>
        <a:graphic>
          <a:graphicData uri="http://schemas.openxmlformats.org/drawingml/2006/table">
            <a:tbl>
              <a:tblPr firstRow="1" bandRow="1">
                <a:tableStyleId>{72833802-FEF1-4C79-8D5D-14CF1EAF98D9}</a:tableStyleId>
              </a:tblPr>
              <a:tblGrid>
                <a:gridCol w="1340313"/>
              </a:tblGrid>
              <a:tr h="262766">
                <a:tc>
                  <a:txBody>
                    <a:bodyPr/>
                    <a:lstStyle/>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DIPv6</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FC03::C4</a:t>
                      </a:r>
                      <a:endPar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SIPv6</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FC01::1</a:t>
                      </a:r>
                      <a:endPar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6C4D2"/>
                    </a:solidFill>
                  </a:tcPr>
                </a:tc>
              </a:tr>
              <a:tr h="367872">
                <a:tc>
                  <a:txBody>
                    <a:bodyPr/>
                    <a:lstStyle/>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SRH</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SL=</a:t>
                      </a: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1</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0" algn="ctr" defTabSz="913765" rtl="0" eaLnBrk="1" latinLnBrk="0" hangingPunct="1"/>
                      <a:r>
                        <a:rPr lang="en-US" altLang="zh-CN"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FC07::7</a:t>
                      </a:r>
                      <a:endParaRPr lang="en-US" altLang="zh-CN"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p>
                      <a:pPr marL="0" algn="ctr" defTabSz="913765" rtl="0" eaLnBrk="1" latinLnBrk="0" hangingPunct="1"/>
                      <a:r>
                        <a:rPr lang="en-US" altLang="zh-CN" sz="1200" b="1" kern="1200" dirty="0">
                          <a:solidFill>
                            <a:srgbClr val="C7000B"/>
                          </a:solidFill>
                          <a:latin typeface="Huawei Sans" panose="020C0503030203020204" pitchFamily="34" charset="0"/>
                          <a:ea typeface="方正兰亭黑简体" panose="02000000000000000000" pitchFamily="2" charset="-122"/>
                          <a:cs typeface="+mn-cs"/>
                          <a:sym typeface="Huawei Sans" panose="020C0503030203020204" pitchFamily="34" charset="0"/>
                        </a:rPr>
                        <a:t>FC02::C4</a:t>
                      </a:r>
                      <a:endParaRPr lang="en-US" altLang="zh-CN" sz="1200" b="1" kern="1200" dirty="0">
                        <a:solidFill>
                          <a:srgbClr val="C7000B"/>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EEEC1"/>
                    </a:solidFill>
                  </a:tcPr>
                </a:tc>
              </a:tr>
              <a:tr h="157660">
                <a:tc>
                  <a:txBody>
                    <a:bodyPr/>
                    <a:lstStyle/>
                    <a:p>
                      <a:pPr algn="ctr"/>
                      <a:r>
                        <a:rPr lang="en-US" altLang="zh-CN" sz="1200" dirty="0">
                          <a:solidFill>
                            <a:schemeClr val="bg1"/>
                          </a:solidFill>
                        </a:rPr>
                        <a:t>Payload</a:t>
                      </a:r>
                      <a:endParaRPr lang="zh-CN" altLang="en-US" sz="1200"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r>
            </a:tbl>
          </a:graphicData>
        </a:graphic>
      </p:graphicFrame>
      <p:sp>
        <p:nvSpPr>
          <p:cNvPr id="80" name="Freeform 79"/>
          <p:cNvSpPr/>
          <p:nvPr/>
        </p:nvSpPr>
        <p:spPr bwMode="gray">
          <a:xfrm rot="19998445" flipH="1">
            <a:off x="8023818" y="3090776"/>
            <a:ext cx="768840" cy="1580380"/>
          </a:xfrm>
          <a:custGeom>
            <a:avLst/>
            <a:gdLst>
              <a:gd name="connsiteX0" fmla="*/ 0 w 189695"/>
              <a:gd name="connsiteY0" fmla="*/ 0 h 563880"/>
              <a:gd name="connsiteX1" fmla="*/ 167640 w 189695"/>
              <a:gd name="connsiteY1" fmla="*/ 259080 h 563880"/>
              <a:gd name="connsiteX2" fmla="*/ 182880 w 189695"/>
              <a:gd name="connsiteY2" fmla="*/ 563880 h 563880"/>
            </a:gdLst>
            <a:ahLst/>
            <a:cxnLst>
              <a:cxn ang="0">
                <a:pos x="connsiteX0" y="connsiteY0"/>
              </a:cxn>
              <a:cxn ang="0">
                <a:pos x="connsiteX1" y="connsiteY1"/>
              </a:cxn>
              <a:cxn ang="0">
                <a:pos x="connsiteX2" y="connsiteY2"/>
              </a:cxn>
            </a:cxnLst>
            <a:rect l="l" t="t" r="r" b="b"/>
            <a:pathLst>
              <a:path w="189695" h="563880">
                <a:moveTo>
                  <a:pt x="0" y="0"/>
                </a:moveTo>
                <a:cubicBezTo>
                  <a:pt x="68580" y="82550"/>
                  <a:pt x="137160" y="165100"/>
                  <a:pt x="167640" y="259080"/>
                </a:cubicBezTo>
                <a:cubicBezTo>
                  <a:pt x="198120" y="353060"/>
                  <a:pt x="190500" y="458470"/>
                  <a:pt x="182880" y="563880"/>
                </a:cubicBezTo>
              </a:path>
            </a:pathLst>
          </a:custGeom>
          <a:noFill/>
          <a:ln w="28575">
            <a:solidFill>
              <a:srgbClr val="56C4D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Freeform 80"/>
          <p:cNvSpPr/>
          <p:nvPr/>
        </p:nvSpPr>
        <p:spPr bwMode="gray">
          <a:xfrm rot="9332277" flipH="1">
            <a:off x="8741618" y="4003857"/>
            <a:ext cx="327663" cy="720255"/>
          </a:xfrm>
          <a:custGeom>
            <a:avLst/>
            <a:gdLst>
              <a:gd name="connsiteX0" fmla="*/ 0 w 189695"/>
              <a:gd name="connsiteY0" fmla="*/ 0 h 563880"/>
              <a:gd name="connsiteX1" fmla="*/ 167640 w 189695"/>
              <a:gd name="connsiteY1" fmla="*/ 259080 h 563880"/>
              <a:gd name="connsiteX2" fmla="*/ 182880 w 189695"/>
              <a:gd name="connsiteY2" fmla="*/ 563880 h 563880"/>
            </a:gdLst>
            <a:ahLst/>
            <a:cxnLst>
              <a:cxn ang="0">
                <a:pos x="connsiteX0" y="connsiteY0"/>
              </a:cxn>
              <a:cxn ang="0">
                <a:pos x="connsiteX1" y="connsiteY1"/>
              </a:cxn>
              <a:cxn ang="0">
                <a:pos x="connsiteX2" y="connsiteY2"/>
              </a:cxn>
            </a:cxnLst>
            <a:rect l="l" t="t" r="r" b="b"/>
            <a:pathLst>
              <a:path w="189695" h="563880">
                <a:moveTo>
                  <a:pt x="0" y="0"/>
                </a:moveTo>
                <a:cubicBezTo>
                  <a:pt x="68580" y="82550"/>
                  <a:pt x="137160" y="165100"/>
                  <a:pt x="167640" y="259080"/>
                </a:cubicBezTo>
                <a:cubicBezTo>
                  <a:pt x="198120" y="353060"/>
                  <a:pt x="190500" y="458470"/>
                  <a:pt x="182880" y="563880"/>
                </a:cubicBezTo>
              </a:path>
            </a:pathLst>
          </a:custGeom>
          <a:noFill/>
          <a:ln w="28575">
            <a:solidFill>
              <a:srgbClr val="E28189"/>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Freeform 81"/>
          <p:cNvSpPr/>
          <p:nvPr/>
        </p:nvSpPr>
        <p:spPr bwMode="gray">
          <a:xfrm rot="14875022" flipH="1">
            <a:off x="9279894" y="3418191"/>
            <a:ext cx="437635" cy="1065387"/>
          </a:xfrm>
          <a:custGeom>
            <a:avLst/>
            <a:gdLst>
              <a:gd name="connsiteX0" fmla="*/ 0 w 189695"/>
              <a:gd name="connsiteY0" fmla="*/ 0 h 563880"/>
              <a:gd name="connsiteX1" fmla="*/ 167640 w 189695"/>
              <a:gd name="connsiteY1" fmla="*/ 259080 h 563880"/>
              <a:gd name="connsiteX2" fmla="*/ 182880 w 189695"/>
              <a:gd name="connsiteY2" fmla="*/ 563880 h 563880"/>
            </a:gdLst>
            <a:ahLst/>
            <a:cxnLst>
              <a:cxn ang="0">
                <a:pos x="connsiteX0" y="connsiteY0"/>
              </a:cxn>
              <a:cxn ang="0">
                <a:pos x="connsiteX1" y="connsiteY1"/>
              </a:cxn>
              <a:cxn ang="0">
                <a:pos x="connsiteX2" y="connsiteY2"/>
              </a:cxn>
            </a:cxnLst>
            <a:rect l="l" t="t" r="r" b="b"/>
            <a:pathLst>
              <a:path w="189695" h="563880">
                <a:moveTo>
                  <a:pt x="0" y="0"/>
                </a:moveTo>
                <a:cubicBezTo>
                  <a:pt x="68580" y="82550"/>
                  <a:pt x="137160" y="165100"/>
                  <a:pt x="167640" y="259080"/>
                </a:cubicBezTo>
                <a:cubicBezTo>
                  <a:pt x="198120" y="353060"/>
                  <a:pt x="190500" y="458470"/>
                  <a:pt x="182880" y="563880"/>
                </a:cubicBezTo>
              </a:path>
            </a:pathLst>
          </a:custGeom>
          <a:noFill/>
          <a:ln w="28575">
            <a:solidFill>
              <a:srgbClr val="E28189"/>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Freeform 82"/>
          <p:cNvSpPr/>
          <p:nvPr/>
        </p:nvSpPr>
        <p:spPr bwMode="gray">
          <a:xfrm rot="9652180" flipH="1">
            <a:off x="10495363" y="3086106"/>
            <a:ext cx="197451" cy="548900"/>
          </a:xfrm>
          <a:custGeom>
            <a:avLst/>
            <a:gdLst>
              <a:gd name="connsiteX0" fmla="*/ 0 w 189695"/>
              <a:gd name="connsiteY0" fmla="*/ 0 h 563880"/>
              <a:gd name="connsiteX1" fmla="*/ 167640 w 189695"/>
              <a:gd name="connsiteY1" fmla="*/ 259080 h 563880"/>
              <a:gd name="connsiteX2" fmla="*/ 182880 w 189695"/>
              <a:gd name="connsiteY2" fmla="*/ 563880 h 563880"/>
            </a:gdLst>
            <a:ahLst/>
            <a:cxnLst>
              <a:cxn ang="0">
                <a:pos x="connsiteX0" y="connsiteY0"/>
              </a:cxn>
              <a:cxn ang="0">
                <a:pos x="connsiteX1" y="connsiteY1"/>
              </a:cxn>
              <a:cxn ang="0">
                <a:pos x="connsiteX2" y="connsiteY2"/>
              </a:cxn>
            </a:cxnLst>
            <a:rect l="l" t="t" r="r" b="b"/>
            <a:pathLst>
              <a:path w="189695" h="563880">
                <a:moveTo>
                  <a:pt x="0" y="0"/>
                </a:moveTo>
                <a:cubicBezTo>
                  <a:pt x="68580" y="82550"/>
                  <a:pt x="137160" y="165100"/>
                  <a:pt x="167640" y="259080"/>
                </a:cubicBezTo>
                <a:cubicBezTo>
                  <a:pt x="198120" y="353060"/>
                  <a:pt x="190500" y="458470"/>
                  <a:pt x="182880" y="563880"/>
                </a:cubicBezTo>
              </a:path>
            </a:pathLst>
          </a:custGeom>
          <a:noFill/>
          <a:ln w="28575">
            <a:solidFill>
              <a:srgbClr val="E28189"/>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5" name="TextBox 33"/>
          <p:cNvSpPr txBox="1"/>
          <p:nvPr/>
        </p:nvSpPr>
        <p:spPr bwMode="gray">
          <a:xfrm>
            <a:off x="8822600" y="3567576"/>
            <a:ext cx="938595" cy="476413"/>
          </a:xfrm>
          <a:prstGeom prst="rect">
            <a:avLst/>
          </a:prstGeom>
          <a:noFill/>
        </p:spPr>
        <p:txBody>
          <a:bodyPr wrap="square" rtlCol="0">
            <a:spAutoFit/>
          </a:bodyPr>
          <a:lstStyle/>
          <a:p>
            <a:r>
              <a:rPr lang="en-US" altLang="zh-CN" sz="1200" dirty="0" err="1">
                <a:solidFill>
                  <a:srgbClr val="C7000B"/>
                </a:solidFill>
                <a:cs typeface="+mn-ea"/>
                <a:sym typeface="+mn-lt"/>
              </a:rPr>
              <a:t>End.X</a:t>
            </a:r>
            <a:r>
              <a:rPr lang="en-US" altLang="zh-CN" sz="1200" dirty="0">
                <a:solidFill>
                  <a:srgbClr val="C7000B"/>
                </a:solidFill>
                <a:cs typeface="+mn-ea"/>
                <a:sym typeface="+mn-lt"/>
              </a:rPr>
              <a:t> </a:t>
            </a:r>
            <a:r>
              <a:rPr lang="en-US" altLang="zh-CN" sz="1200" b="1" dirty="0">
                <a:solidFill>
                  <a:srgbClr val="C7000B"/>
                </a:solidFill>
                <a:cs typeface="+mn-ea"/>
                <a:sym typeface="+mn-lt"/>
              </a:rPr>
              <a:t>FC02::C4</a:t>
            </a:r>
            <a:endParaRPr lang="zh-CN" altLang="en-US" sz="1200" b="1" dirty="0">
              <a:solidFill>
                <a:srgbClr val="C7000B"/>
              </a:solidFill>
              <a:cs typeface="+mn-ea"/>
              <a:sym typeface="+mn-lt"/>
            </a:endParaRPr>
          </a:p>
        </p:txBody>
      </p:sp>
      <p:cxnSp>
        <p:nvCxnSpPr>
          <p:cNvPr id="86" name="Straight Arrow Connector 85"/>
          <p:cNvCxnSpPr/>
          <p:nvPr/>
        </p:nvCxnSpPr>
        <p:spPr bwMode="gray">
          <a:xfrm flipV="1">
            <a:off x="8017202" y="4067974"/>
            <a:ext cx="871606" cy="141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7" name="TextBox 16"/>
          <p:cNvSpPr txBox="1"/>
          <p:nvPr/>
        </p:nvSpPr>
        <p:spPr bwMode="gray">
          <a:xfrm>
            <a:off x="3158739" y="5874319"/>
            <a:ext cx="1371976" cy="307777"/>
          </a:xfrm>
          <a:prstGeom prst="rect">
            <a:avLst/>
          </a:prstGeom>
          <a:noFill/>
        </p:spPr>
        <p:txBody>
          <a:bodyPr wrap="square" rtlCol="0">
            <a:spAutoFit/>
          </a:bodyPr>
          <a:lstStyle/>
          <a:p>
            <a:pPr algn="ctr">
              <a:buClr>
                <a:srgbClr val="CC9900"/>
              </a:buClr>
              <a:buFont typeface="Wingdings" panose="05000000000000000000" pitchFamily="2" charset="2"/>
              <a:buNone/>
            </a:pPr>
            <a:r>
              <a:rPr lang="zh-CN" altLang="en-US" sz="1400" dirty="0">
                <a:solidFill>
                  <a:srgbClr val="000000"/>
                </a:solidFill>
                <a:cs typeface="+mn-ea"/>
                <a:sym typeface="+mn-lt"/>
              </a:rPr>
              <a:t>严格显式路径</a:t>
            </a:r>
            <a:endParaRPr lang="zh-CN" altLang="en-US" sz="1400" dirty="0">
              <a:solidFill>
                <a:srgbClr val="000000"/>
              </a:solidFill>
              <a:cs typeface="+mn-ea"/>
              <a:sym typeface="+mn-lt"/>
            </a:endParaRPr>
          </a:p>
        </p:txBody>
      </p:sp>
      <p:sp>
        <p:nvSpPr>
          <p:cNvPr id="88" name="TextBox 16"/>
          <p:cNvSpPr txBox="1"/>
          <p:nvPr/>
        </p:nvSpPr>
        <p:spPr bwMode="gray">
          <a:xfrm>
            <a:off x="8805845" y="5874319"/>
            <a:ext cx="1371976" cy="307777"/>
          </a:xfrm>
          <a:prstGeom prst="rect">
            <a:avLst/>
          </a:prstGeom>
          <a:noFill/>
        </p:spPr>
        <p:txBody>
          <a:bodyPr wrap="square" rtlCol="0">
            <a:spAutoFit/>
          </a:bodyPr>
          <a:lstStyle/>
          <a:p>
            <a:pPr algn="ctr">
              <a:buClr>
                <a:srgbClr val="CC9900"/>
              </a:buClr>
              <a:buFont typeface="Wingdings" panose="05000000000000000000" pitchFamily="2" charset="2"/>
              <a:buNone/>
            </a:pPr>
            <a:r>
              <a:rPr lang="zh-CN" altLang="en-US" sz="1400" dirty="0">
                <a:solidFill>
                  <a:srgbClr val="000000"/>
                </a:solidFill>
                <a:cs typeface="+mn-ea"/>
                <a:sym typeface="+mn-lt"/>
              </a:rPr>
              <a:t>松散路径</a:t>
            </a:r>
            <a:endParaRPr lang="zh-CN" altLang="en-US" sz="1400" dirty="0">
              <a:solidFill>
                <a:srgbClr val="000000"/>
              </a:solidFill>
              <a:cs typeface="+mn-ea"/>
              <a:sym typeface="+mn-lt"/>
            </a:endParaRPr>
          </a:p>
        </p:txBody>
      </p:sp>
      <p:sp>
        <p:nvSpPr>
          <p:cNvPr id="84" name="五边形 2"/>
          <p:cNvSpPr/>
          <p:nvPr/>
        </p:nvSpPr>
        <p:spPr bwMode="gray">
          <a:xfrm>
            <a:off x="9278937" y="110463"/>
            <a:ext cx="1166602"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本地保护技术</a:t>
            </a:r>
            <a:endPar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9" name="燕尾形 3"/>
          <p:cNvSpPr/>
          <p:nvPr/>
        </p:nvSpPr>
        <p:spPr bwMode="gray">
          <a:xfrm>
            <a:off x="10368978" y="110463"/>
            <a:ext cx="1380109"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端到端保护技术</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gray"/>
        <p:txBody>
          <a:bodyPr/>
          <a:lstStyle/>
          <a:p>
            <a:r>
              <a:rPr lang="zh-CN" altLang="en-US" dirty="0"/>
              <a:t>回切微环</a:t>
            </a:r>
            <a:endParaRPr lang="zh-CN" altLang="en-US" dirty="0"/>
          </a:p>
        </p:txBody>
      </p:sp>
      <p:sp>
        <p:nvSpPr>
          <p:cNvPr id="3" name="Text Placeholder 2"/>
          <p:cNvSpPr>
            <a:spLocks noGrp="1"/>
          </p:cNvSpPr>
          <p:nvPr>
            <p:ph type="body" sz="quarter" idx="10"/>
          </p:nvPr>
        </p:nvSpPr>
        <p:spPr bwMode="gray">
          <a:xfrm>
            <a:off x="6096000" y="1047750"/>
            <a:ext cx="5653087" cy="4879805"/>
          </a:xfrm>
        </p:spPr>
        <p:txBody>
          <a:bodyPr/>
          <a:lstStyle/>
          <a:p>
            <a:r>
              <a:rPr lang="zh-CN" altLang="en-US" sz="1800" dirty="0"/>
              <a:t>分布式计算的收敛无序性同样影响着故障回切场景，导致存在微环：</a:t>
            </a:r>
            <a:endParaRPr lang="zh-CN" altLang="en-US" sz="1800" dirty="0"/>
          </a:p>
          <a:p>
            <a:pPr marL="746125" lvl="1" indent="-342900">
              <a:buSzPct val="100000"/>
              <a:buFont typeface="+mj-lt"/>
              <a:buAutoNum type="arabicPeriod"/>
            </a:pPr>
            <a:r>
              <a:rPr lang="en-US" altLang="zh-CN" sz="1600" dirty="0"/>
              <a:t>P1-&gt;P4</a:t>
            </a:r>
            <a:r>
              <a:rPr lang="zh-CN" altLang="en-US" sz="1600" dirty="0"/>
              <a:t>之间的链路故障，</a:t>
            </a:r>
            <a:r>
              <a:rPr lang="en-US" altLang="zh-CN" sz="1600" dirty="0"/>
              <a:t>PE1</a:t>
            </a:r>
            <a:r>
              <a:rPr lang="zh-CN" altLang="en-US" sz="1600" dirty="0"/>
              <a:t>到</a:t>
            </a:r>
            <a:r>
              <a:rPr lang="en-US" altLang="zh-CN" sz="1600" dirty="0"/>
              <a:t>PE2</a:t>
            </a:r>
            <a:r>
              <a:rPr lang="zh-CN" altLang="en-US" sz="1600" dirty="0"/>
              <a:t>的路径为</a:t>
            </a:r>
            <a:r>
              <a:rPr lang="en-US" altLang="zh-CN" sz="1600" dirty="0"/>
              <a:t>PE1-&gt;P1-&gt;P2-&gt;P3-&gt;P4-&gt;PE2</a:t>
            </a:r>
            <a:r>
              <a:rPr lang="zh-CN" altLang="en-US" sz="1600" dirty="0"/>
              <a:t>。</a:t>
            </a:r>
            <a:endParaRPr lang="zh-CN" altLang="en-US" sz="1600" dirty="0"/>
          </a:p>
          <a:p>
            <a:pPr marL="746125" lvl="1" indent="-342900">
              <a:buSzPct val="100000"/>
              <a:buFont typeface="+mj-lt"/>
              <a:buAutoNum type="arabicPeriod"/>
            </a:pPr>
            <a:r>
              <a:rPr lang="zh-CN" altLang="en-US" sz="1600" dirty="0"/>
              <a:t>当</a:t>
            </a:r>
            <a:r>
              <a:rPr lang="en-US" altLang="zh-CN" sz="1600" dirty="0"/>
              <a:t>P1-&gt;P4</a:t>
            </a:r>
            <a:r>
              <a:rPr lang="zh-CN" altLang="en-US" sz="1600" dirty="0"/>
              <a:t>之间的链路故障恢复，如果</a:t>
            </a:r>
            <a:r>
              <a:rPr lang="en-US" altLang="zh-CN" sz="1600" dirty="0"/>
              <a:t>P2</a:t>
            </a:r>
            <a:r>
              <a:rPr lang="zh-CN" altLang="en-US" sz="1600" dirty="0"/>
              <a:t>完成收敛，</a:t>
            </a:r>
            <a:r>
              <a:rPr lang="en-US" altLang="zh-CN" sz="1600" dirty="0"/>
              <a:t>P2</a:t>
            </a:r>
            <a:r>
              <a:rPr lang="zh-CN" altLang="en-US" sz="1600" dirty="0"/>
              <a:t>上到</a:t>
            </a:r>
            <a:r>
              <a:rPr lang="en-US" altLang="zh-CN" sz="1600" dirty="0"/>
              <a:t>PE2</a:t>
            </a:r>
            <a:r>
              <a:rPr lang="zh-CN" altLang="en-US" sz="1600" dirty="0"/>
              <a:t>的路径为</a:t>
            </a:r>
            <a:r>
              <a:rPr lang="en-US" altLang="zh-CN" sz="1600" dirty="0"/>
              <a:t>P2-&gt;P1-&gt;P4-&gt;PE2</a:t>
            </a:r>
            <a:r>
              <a:rPr lang="zh-CN" altLang="en-US" sz="1600" dirty="0"/>
              <a:t>，</a:t>
            </a:r>
            <a:r>
              <a:rPr lang="en-US" altLang="zh-CN" sz="1600" dirty="0"/>
              <a:t>P2</a:t>
            </a:r>
            <a:r>
              <a:rPr lang="zh-CN" altLang="en-US" sz="1600" dirty="0"/>
              <a:t>将流量转发到</a:t>
            </a:r>
            <a:r>
              <a:rPr lang="en-US" altLang="zh-CN" sz="1600" dirty="0"/>
              <a:t>P1</a:t>
            </a:r>
            <a:r>
              <a:rPr lang="zh-CN" altLang="en-US" sz="1600" dirty="0"/>
              <a:t>。</a:t>
            </a:r>
            <a:endParaRPr lang="zh-CN" altLang="en-US" sz="1600" dirty="0"/>
          </a:p>
          <a:p>
            <a:pPr marL="746125" lvl="1" indent="-342900">
              <a:buSzPct val="100000"/>
              <a:buFont typeface="+mj-lt"/>
              <a:buAutoNum type="arabicPeriod"/>
            </a:pPr>
            <a:r>
              <a:rPr lang="zh-CN" altLang="en-US" sz="1600" dirty="0"/>
              <a:t>而此时</a:t>
            </a:r>
            <a:r>
              <a:rPr lang="en-US" altLang="zh-CN" sz="1600" dirty="0"/>
              <a:t>P1</a:t>
            </a:r>
            <a:r>
              <a:rPr lang="zh-CN" altLang="en-US" sz="1600" dirty="0"/>
              <a:t>上可能由于存在大量业务，或者</a:t>
            </a:r>
            <a:r>
              <a:rPr lang="en-US" altLang="zh-CN" sz="1600" dirty="0"/>
              <a:t>CPU</a:t>
            </a:r>
            <a:r>
              <a:rPr lang="zh-CN" altLang="en-US" sz="1600" dirty="0"/>
              <a:t>利用率比较高等因素，导致尚未完成</a:t>
            </a:r>
            <a:r>
              <a:rPr lang="en-US" altLang="zh-CN" sz="1600" dirty="0"/>
              <a:t>IGP</a:t>
            </a:r>
            <a:r>
              <a:rPr lang="zh-CN" altLang="en-US" sz="1600" dirty="0"/>
              <a:t>收敛，依然使用旧路径讲流量继续回发到</a:t>
            </a:r>
            <a:r>
              <a:rPr lang="en-US" altLang="zh-CN" sz="1600" dirty="0"/>
              <a:t>P2</a:t>
            </a:r>
            <a:r>
              <a:rPr lang="zh-CN" altLang="en-US" sz="1600" dirty="0"/>
              <a:t>，从而形成环路。</a:t>
            </a:r>
            <a:endParaRPr lang="zh-CN" altLang="en-US" dirty="0"/>
          </a:p>
        </p:txBody>
      </p:sp>
      <p:cxnSp>
        <p:nvCxnSpPr>
          <p:cNvPr id="31" name="直接连接符 22"/>
          <p:cNvCxnSpPr>
            <a:stCxn id="38" idx="3"/>
            <a:endCxn id="42" idx="1"/>
          </p:cNvCxnSpPr>
          <p:nvPr/>
        </p:nvCxnSpPr>
        <p:spPr bwMode="gray">
          <a:xfrm flipV="1">
            <a:off x="3166006" y="3145619"/>
            <a:ext cx="1184174" cy="6270"/>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cxnSp>
        <p:nvCxnSpPr>
          <p:cNvPr id="32" name="直接连接符 22"/>
          <p:cNvCxnSpPr>
            <a:stCxn id="38" idx="2"/>
            <a:endCxn id="40" idx="0"/>
          </p:cNvCxnSpPr>
          <p:nvPr/>
        </p:nvCxnSpPr>
        <p:spPr bwMode="gray">
          <a:xfrm>
            <a:off x="2931847" y="3343414"/>
            <a:ext cx="0" cy="1122381"/>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cxnSp>
        <p:nvCxnSpPr>
          <p:cNvPr id="33" name="直接连接符 22"/>
          <p:cNvCxnSpPr>
            <a:stCxn id="40" idx="3"/>
            <a:endCxn id="44" idx="1"/>
          </p:cNvCxnSpPr>
          <p:nvPr/>
        </p:nvCxnSpPr>
        <p:spPr bwMode="gray">
          <a:xfrm>
            <a:off x="3166006" y="4657321"/>
            <a:ext cx="1189223" cy="6269"/>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cxnSp>
        <p:nvCxnSpPr>
          <p:cNvPr id="35" name="直接连接符 19"/>
          <p:cNvCxnSpPr>
            <a:stCxn id="38" idx="0"/>
            <a:endCxn id="37" idx="2"/>
          </p:cNvCxnSpPr>
          <p:nvPr/>
        </p:nvCxnSpPr>
        <p:spPr bwMode="gray">
          <a:xfrm flipV="1">
            <a:off x="2931847" y="2626208"/>
            <a:ext cx="0" cy="334155"/>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cxnSp>
        <p:nvCxnSpPr>
          <p:cNvPr id="36" name="直接连接符 22"/>
          <p:cNvCxnSpPr>
            <a:stCxn id="42" idx="2"/>
            <a:endCxn id="44" idx="0"/>
          </p:cNvCxnSpPr>
          <p:nvPr/>
        </p:nvCxnSpPr>
        <p:spPr bwMode="gray">
          <a:xfrm>
            <a:off x="4584339" y="3337144"/>
            <a:ext cx="5049" cy="1134920"/>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pic>
        <p:nvPicPr>
          <p:cNvPr id="37"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2697688" y="2243157"/>
            <a:ext cx="468318" cy="383051"/>
          </a:xfrm>
          <a:prstGeom prst="rect">
            <a:avLst/>
          </a:prstGeom>
        </p:spPr>
      </p:pic>
      <p:pic>
        <p:nvPicPr>
          <p:cNvPr id="38"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2697688" y="2960363"/>
            <a:ext cx="468318" cy="383051"/>
          </a:xfrm>
          <a:prstGeom prst="rect">
            <a:avLst/>
          </a:prstGeom>
        </p:spPr>
      </p:pic>
      <p:pic>
        <p:nvPicPr>
          <p:cNvPr id="40"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2697688" y="4465795"/>
            <a:ext cx="468318" cy="383051"/>
          </a:xfrm>
          <a:prstGeom prst="rect">
            <a:avLst/>
          </a:prstGeom>
        </p:spPr>
      </p:pic>
      <p:pic>
        <p:nvPicPr>
          <p:cNvPr id="41"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4355229" y="2249442"/>
            <a:ext cx="468318" cy="383051"/>
          </a:xfrm>
          <a:prstGeom prst="rect">
            <a:avLst/>
          </a:prstGeom>
        </p:spPr>
      </p:pic>
      <p:pic>
        <p:nvPicPr>
          <p:cNvPr id="42"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4350180" y="2954093"/>
            <a:ext cx="468318" cy="383051"/>
          </a:xfrm>
          <a:prstGeom prst="rect">
            <a:avLst/>
          </a:prstGeom>
        </p:spPr>
      </p:pic>
      <p:pic>
        <p:nvPicPr>
          <p:cNvPr id="44"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4355229" y="4472064"/>
            <a:ext cx="468318" cy="383051"/>
          </a:xfrm>
          <a:prstGeom prst="rect">
            <a:avLst/>
          </a:prstGeom>
        </p:spPr>
      </p:pic>
      <p:cxnSp>
        <p:nvCxnSpPr>
          <p:cNvPr id="45" name="直接连接符 22"/>
          <p:cNvCxnSpPr>
            <a:stCxn id="41" idx="2"/>
            <a:endCxn id="42" idx="0"/>
          </p:cNvCxnSpPr>
          <p:nvPr/>
        </p:nvCxnSpPr>
        <p:spPr bwMode="gray">
          <a:xfrm flipH="1">
            <a:off x="4584339" y="2632493"/>
            <a:ext cx="5049" cy="321600"/>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sp>
        <p:nvSpPr>
          <p:cNvPr id="46" name="TextBox 16"/>
          <p:cNvSpPr txBox="1"/>
          <p:nvPr/>
        </p:nvSpPr>
        <p:spPr bwMode="gray">
          <a:xfrm>
            <a:off x="2384371" y="3007118"/>
            <a:ext cx="364984"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P1</a:t>
            </a:r>
            <a:endParaRPr lang="zh-CN" altLang="en-US" sz="1200" dirty="0">
              <a:solidFill>
                <a:srgbClr val="000000"/>
              </a:solidFill>
              <a:cs typeface="+mn-ea"/>
              <a:sym typeface="+mn-lt"/>
            </a:endParaRPr>
          </a:p>
        </p:txBody>
      </p:sp>
      <p:sp>
        <p:nvSpPr>
          <p:cNvPr id="47" name="TextBox 46"/>
          <p:cNvSpPr txBox="1"/>
          <p:nvPr/>
        </p:nvSpPr>
        <p:spPr bwMode="gray">
          <a:xfrm>
            <a:off x="2710258" y="2015804"/>
            <a:ext cx="477846"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PE1</a:t>
            </a:r>
            <a:endParaRPr lang="zh-CN" altLang="en-US" sz="1200" dirty="0">
              <a:solidFill>
                <a:srgbClr val="000000"/>
              </a:solidFill>
              <a:cs typeface="+mn-ea"/>
              <a:sym typeface="+mn-lt"/>
            </a:endParaRPr>
          </a:p>
        </p:txBody>
      </p:sp>
      <p:sp>
        <p:nvSpPr>
          <p:cNvPr id="48" name="TextBox 16"/>
          <p:cNvSpPr txBox="1"/>
          <p:nvPr/>
        </p:nvSpPr>
        <p:spPr bwMode="gray">
          <a:xfrm>
            <a:off x="4362394" y="2022210"/>
            <a:ext cx="495582"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PE2</a:t>
            </a:r>
            <a:endParaRPr lang="zh-CN" altLang="en-US" sz="1200" dirty="0">
              <a:solidFill>
                <a:srgbClr val="000000"/>
              </a:solidFill>
              <a:cs typeface="+mn-ea"/>
              <a:sym typeface="+mn-lt"/>
            </a:endParaRPr>
          </a:p>
        </p:txBody>
      </p:sp>
      <p:sp>
        <p:nvSpPr>
          <p:cNvPr id="49" name="TextBox 16"/>
          <p:cNvSpPr txBox="1"/>
          <p:nvPr/>
        </p:nvSpPr>
        <p:spPr bwMode="gray">
          <a:xfrm>
            <a:off x="2384371" y="4528103"/>
            <a:ext cx="364984"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P2</a:t>
            </a:r>
            <a:endParaRPr lang="zh-CN" altLang="en-US" sz="1200" dirty="0">
              <a:solidFill>
                <a:srgbClr val="000000"/>
              </a:solidFill>
              <a:cs typeface="+mn-ea"/>
              <a:sym typeface="+mn-lt"/>
            </a:endParaRPr>
          </a:p>
        </p:txBody>
      </p:sp>
      <p:sp>
        <p:nvSpPr>
          <p:cNvPr id="50" name="TextBox 16"/>
          <p:cNvSpPr txBox="1"/>
          <p:nvPr/>
        </p:nvSpPr>
        <p:spPr bwMode="gray">
          <a:xfrm>
            <a:off x="4755696" y="4528102"/>
            <a:ext cx="364984"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P3</a:t>
            </a:r>
            <a:endParaRPr lang="zh-CN" altLang="en-US" sz="1200" dirty="0">
              <a:solidFill>
                <a:srgbClr val="000000"/>
              </a:solidFill>
              <a:cs typeface="+mn-ea"/>
              <a:sym typeface="+mn-lt"/>
            </a:endParaRPr>
          </a:p>
        </p:txBody>
      </p:sp>
      <p:sp>
        <p:nvSpPr>
          <p:cNvPr id="51" name="TextBox 16"/>
          <p:cNvSpPr txBox="1"/>
          <p:nvPr/>
        </p:nvSpPr>
        <p:spPr bwMode="gray">
          <a:xfrm>
            <a:off x="4766831" y="3014787"/>
            <a:ext cx="364984"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P4</a:t>
            </a:r>
            <a:endParaRPr lang="zh-CN" altLang="en-US" sz="1200" dirty="0">
              <a:solidFill>
                <a:srgbClr val="000000"/>
              </a:solidFill>
              <a:cs typeface="+mn-ea"/>
              <a:sym typeface="+mn-lt"/>
            </a:endParaRPr>
          </a:p>
        </p:txBody>
      </p:sp>
      <p:sp>
        <p:nvSpPr>
          <p:cNvPr id="56" name="TextBox 16"/>
          <p:cNvSpPr txBox="1"/>
          <p:nvPr/>
        </p:nvSpPr>
        <p:spPr bwMode="gray">
          <a:xfrm>
            <a:off x="3272404" y="4386581"/>
            <a:ext cx="1010966"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Cost</a:t>
            </a:r>
            <a:r>
              <a:rPr lang="zh-CN" altLang="en-US" sz="1200" dirty="0">
                <a:solidFill>
                  <a:srgbClr val="000000"/>
                </a:solidFill>
                <a:cs typeface="+mn-ea"/>
                <a:sym typeface="+mn-lt"/>
              </a:rPr>
              <a:t>：</a:t>
            </a:r>
            <a:r>
              <a:rPr lang="en-US" altLang="zh-CN" sz="1200" dirty="0">
                <a:solidFill>
                  <a:srgbClr val="000000"/>
                </a:solidFill>
                <a:cs typeface="+mn-ea"/>
                <a:sym typeface="+mn-lt"/>
              </a:rPr>
              <a:t>1000</a:t>
            </a:r>
            <a:endParaRPr lang="zh-CN" altLang="en-US" sz="1200" dirty="0">
              <a:solidFill>
                <a:srgbClr val="000000"/>
              </a:solidFill>
              <a:cs typeface="+mn-ea"/>
              <a:sym typeface="+mn-lt"/>
            </a:endParaRPr>
          </a:p>
        </p:txBody>
      </p:sp>
      <p:sp>
        <p:nvSpPr>
          <p:cNvPr id="57" name="Rectangular Callout 56"/>
          <p:cNvSpPr/>
          <p:nvPr/>
        </p:nvSpPr>
        <p:spPr bwMode="gray">
          <a:xfrm>
            <a:off x="3414969" y="2556646"/>
            <a:ext cx="711563" cy="375550"/>
          </a:xfrm>
          <a:prstGeom prst="wedgeRectCallout">
            <a:avLst>
              <a:gd name="adj1" fmla="val -11542"/>
              <a:gd name="adj2" fmla="val 70339"/>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故障链路恢复</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8" name="Rectangular Callout 26"/>
          <p:cNvSpPr/>
          <p:nvPr/>
        </p:nvSpPr>
        <p:spPr bwMode="gray">
          <a:xfrm>
            <a:off x="1111918" y="4501148"/>
            <a:ext cx="1151661" cy="551136"/>
          </a:xfrm>
          <a:prstGeom prst="wedgeRectCallout">
            <a:avLst>
              <a:gd name="adj1" fmla="val 64457"/>
              <a:gd name="adj2" fmla="val -21865"/>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P2</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完成收敛，认为去往</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PE2</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应该发给</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P1</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nvGrpSpPr>
          <p:cNvPr id="23" name="Group 22"/>
          <p:cNvGrpSpPr/>
          <p:nvPr/>
        </p:nvGrpSpPr>
        <p:grpSpPr bwMode="gray">
          <a:xfrm>
            <a:off x="3601191" y="3031926"/>
            <a:ext cx="261329" cy="239925"/>
            <a:chOff x="10252441" y="2822364"/>
            <a:chExt cx="261329" cy="239925"/>
          </a:xfrm>
        </p:grpSpPr>
        <p:sp>
          <p:nvSpPr>
            <p:cNvPr id="60" name="Block Arc 59"/>
            <p:cNvSpPr/>
            <p:nvPr/>
          </p:nvSpPr>
          <p:spPr bwMode="gray">
            <a:xfrm rot="4421949">
              <a:off x="10271563" y="2820083"/>
              <a:ext cx="239925" cy="244488"/>
            </a:xfrm>
            <a:prstGeom prst="blockArc">
              <a:avLst>
                <a:gd name="adj1" fmla="val 5499945"/>
                <a:gd name="adj2" fmla="val 1743281"/>
                <a:gd name="adj3" fmla="val 22920"/>
              </a:avLst>
            </a:prstGeom>
            <a:solidFill>
              <a:srgbClr val="EC7061"/>
            </a:solidFill>
            <a:ln>
              <a:solidFill>
                <a:srgbClr val="EC7061"/>
              </a:solidFill>
            </a:ln>
          </p:spPr>
          <p:txBody>
            <a:bodyPr wrap="square" rtlCol="0" anchor="ctr">
              <a:spAutoFit/>
            </a:bodyPr>
            <a:lstStyle/>
            <a:p>
              <a:pPr marL="342900" indent="-342900" algn="ctr" fontAlgn="auto">
                <a:buFont typeface="+mj-lt"/>
                <a:buAutoNum type="arabicPeriod"/>
              </a:pPr>
              <a:endParaRPr lang="zh-CN" altLang="en-US" sz="1800">
                <a:latin typeface="+mj-lt"/>
                <a:ea typeface="+mn-ea"/>
                <a:cs typeface="Courier New" panose="02070309020205020404" pitchFamily="49" charset="0"/>
              </a:endParaRPr>
            </a:p>
          </p:txBody>
        </p:sp>
        <p:sp>
          <p:nvSpPr>
            <p:cNvPr id="61" name="Right Arrow 13"/>
            <p:cNvSpPr/>
            <p:nvPr/>
          </p:nvSpPr>
          <p:spPr bwMode="gray">
            <a:xfrm rot="4421949">
              <a:off x="10274119" y="2914717"/>
              <a:ext cx="71994" cy="115349"/>
            </a:xfrm>
            <a:prstGeom prst="rightArrow">
              <a:avLst>
                <a:gd name="adj1" fmla="val 45250"/>
                <a:gd name="adj2" fmla="val 80445"/>
              </a:avLst>
            </a:prstGeom>
            <a:solidFill>
              <a:srgbClr val="EC7061"/>
            </a:solidFill>
            <a:ln>
              <a:solidFill>
                <a:srgbClr val="EC7061"/>
              </a:solidFill>
            </a:ln>
          </p:spPr>
          <p:txBody>
            <a:bodyPr wrap="square" rtlCol="0" anchor="ctr">
              <a:spAutoFit/>
            </a:bodyPr>
            <a:lstStyle/>
            <a:p>
              <a:pPr marL="342900" indent="-342900" algn="ctr" fontAlgn="auto">
                <a:buFont typeface="+mj-lt"/>
                <a:buAutoNum type="arabicPeriod"/>
              </a:pPr>
              <a:endParaRPr lang="zh-CN" altLang="en-US" sz="1800">
                <a:latin typeface="+mj-lt"/>
                <a:ea typeface="+mn-ea"/>
                <a:cs typeface="Courier New" panose="02070309020205020404" pitchFamily="49" charset="0"/>
              </a:endParaRPr>
            </a:p>
          </p:txBody>
        </p:sp>
      </p:grpSp>
      <p:sp>
        <p:nvSpPr>
          <p:cNvPr id="62" name="Rectangular Callout 26"/>
          <p:cNvSpPr/>
          <p:nvPr/>
        </p:nvSpPr>
        <p:spPr bwMode="gray">
          <a:xfrm>
            <a:off x="1101493" y="2906385"/>
            <a:ext cx="1151661" cy="551136"/>
          </a:xfrm>
          <a:prstGeom prst="wedgeRectCallout">
            <a:avLst>
              <a:gd name="adj1" fmla="val 64457"/>
              <a:gd name="adj2" fmla="val -21865"/>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P1</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未完成收敛，认为去往</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PE2</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应该发给</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P2</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63" name="Freeform 62"/>
          <p:cNvSpPr/>
          <p:nvPr/>
        </p:nvSpPr>
        <p:spPr bwMode="gray">
          <a:xfrm rot="19998445" flipH="1">
            <a:off x="2502182" y="2431623"/>
            <a:ext cx="298510" cy="646347"/>
          </a:xfrm>
          <a:custGeom>
            <a:avLst/>
            <a:gdLst>
              <a:gd name="connsiteX0" fmla="*/ 0 w 189695"/>
              <a:gd name="connsiteY0" fmla="*/ 0 h 563880"/>
              <a:gd name="connsiteX1" fmla="*/ 167640 w 189695"/>
              <a:gd name="connsiteY1" fmla="*/ 259080 h 563880"/>
              <a:gd name="connsiteX2" fmla="*/ 182880 w 189695"/>
              <a:gd name="connsiteY2" fmla="*/ 563880 h 563880"/>
            </a:gdLst>
            <a:ahLst/>
            <a:cxnLst>
              <a:cxn ang="0">
                <a:pos x="connsiteX0" y="connsiteY0"/>
              </a:cxn>
              <a:cxn ang="0">
                <a:pos x="connsiteX1" y="connsiteY1"/>
              </a:cxn>
              <a:cxn ang="0">
                <a:pos x="connsiteX2" y="connsiteY2"/>
              </a:cxn>
            </a:cxnLst>
            <a:rect l="l" t="t" r="r" b="b"/>
            <a:pathLst>
              <a:path w="189695" h="563880">
                <a:moveTo>
                  <a:pt x="0" y="0"/>
                </a:moveTo>
                <a:cubicBezTo>
                  <a:pt x="68580" y="82550"/>
                  <a:pt x="137160" y="165100"/>
                  <a:pt x="167640" y="259080"/>
                </a:cubicBezTo>
                <a:cubicBezTo>
                  <a:pt x="198120" y="353060"/>
                  <a:pt x="190500" y="458470"/>
                  <a:pt x="182880" y="563880"/>
                </a:cubicBezTo>
              </a:path>
            </a:pathLst>
          </a:custGeom>
          <a:noFill/>
          <a:ln w="28575">
            <a:solidFill>
              <a:srgbClr val="56C4D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Freeform 63"/>
          <p:cNvSpPr/>
          <p:nvPr/>
        </p:nvSpPr>
        <p:spPr bwMode="gray">
          <a:xfrm rot="19998445" flipH="1">
            <a:off x="2347955" y="3309619"/>
            <a:ext cx="636205" cy="1209987"/>
          </a:xfrm>
          <a:custGeom>
            <a:avLst/>
            <a:gdLst>
              <a:gd name="connsiteX0" fmla="*/ 0 w 189695"/>
              <a:gd name="connsiteY0" fmla="*/ 0 h 563880"/>
              <a:gd name="connsiteX1" fmla="*/ 167640 w 189695"/>
              <a:gd name="connsiteY1" fmla="*/ 259080 h 563880"/>
              <a:gd name="connsiteX2" fmla="*/ 182880 w 189695"/>
              <a:gd name="connsiteY2" fmla="*/ 563880 h 563880"/>
            </a:gdLst>
            <a:ahLst/>
            <a:cxnLst>
              <a:cxn ang="0">
                <a:pos x="connsiteX0" y="connsiteY0"/>
              </a:cxn>
              <a:cxn ang="0">
                <a:pos x="connsiteX1" y="connsiteY1"/>
              </a:cxn>
              <a:cxn ang="0">
                <a:pos x="connsiteX2" y="connsiteY2"/>
              </a:cxn>
            </a:cxnLst>
            <a:rect l="l" t="t" r="r" b="b"/>
            <a:pathLst>
              <a:path w="189695" h="563880">
                <a:moveTo>
                  <a:pt x="0" y="0"/>
                </a:moveTo>
                <a:cubicBezTo>
                  <a:pt x="68580" y="82550"/>
                  <a:pt x="137160" y="165100"/>
                  <a:pt x="167640" y="259080"/>
                </a:cubicBezTo>
                <a:cubicBezTo>
                  <a:pt x="198120" y="353060"/>
                  <a:pt x="190500" y="458470"/>
                  <a:pt x="182880" y="563880"/>
                </a:cubicBezTo>
              </a:path>
            </a:pathLst>
          </a:custGeom>
          <a:noFill/>
          <a:ln w="28575">
            <a:solidFill>
              <a:srgbClr val="56C4D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52" name="Table 51"/>
          <p:cNvGraphicFramePr>
            <a:graphicFrameLocks noGrp="1"/>
          </p:cNvGraphicFramePr>
          <p:nvPr/>
        </p:nvGraphicFramePr>
        <p:xfrm>
          <a:off x="1373047" y="3556063"/>
          <a:ext cx="1022407" cy="731520"/>
        </p:xfrm>
        <a:graphic>
          <a:graphicData uri="http://schemas.openxmlformats.org/drawingml/2006/table">
            <a:tbl>
              <a:tblPr firstRow="1" bandRow="1">
                <a:tableStyleId>{72833802-FEF1-4C79-8D5D-14CF1EAF98D9}</a:tableStyleId>
              </a:tblPr>
              <a:tblGrid>
                <a:gridCol w="1022407"/>
              </a:tblGrid>
              <a:tr h="370840">
                <a:tc>
                  <a:txBody>
                    <a:bodyPr/>
                    <a:lstStyle/>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DIP</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PE2</a:t>
                      </a:r>
                      <a:endPar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SIP</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PE1</a:t>
                      </a:r>
                      <a:endPar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6C4D2"/>
                    </a:solidFill>
                  </a:tcPr>
                </a:tc>
              </a:tr>
              <a:tr h="0">
                <a:tc>
                  <a:txBody>
                    <a:bodyPr/>
                    <a:lstStyle/>
                    <a:p>
                      <a:pPr algn="ctr"/>
                      <a:r>
                        <a:rPr lang="en-US" altLang="zh-CN" sz="1200" dirty="0">
                          <a:solidFill>
                            <a:schemeClr val="bg1"/>
                          </a:solidFill>
                        </a:rPr>
                        <a:t>Payload</a:t>
                      </a:r>
                      <a:endParaRPr lang="zh-CN" altLang="en-US" sz="1200"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r>
            </a:tbl>
          </a:graphicData>
        </a:graphic>
      </p:graphicFrame>
      <p:sp>
        <p:nvSpPr>
          <p:cNvPr id="65" name="Freeform 64"/>
          <p:cNvSpPr/>
          <p:nvPr/>
        </p:nvSpPr>
        <p:spPr bwMode="gray">
          <a:xfrm rot="9332277" flipH="1">
            <a:off x="2852116" y="3416455"/>
            <a:ext cx="414596" cy="979284"/>
          </a:xfrm>
          <a:custGeom>
            <a:avLst/>
            <a:gdLst>
              <a:gd name="connsiteX0" fmla="*/ 0 w 189695"/>
              <a:gd name="connsiteY0" fmla="*/ 0 h 563880"/>
              <a:gd name="connsiteX1" fmla="*/ 167640 w 189695"/>
              <a:gd name="connsiteY1" fmla="*/ 259080 h 563880"/>
              <a:gd name="connsiteX2" fmla="*/ 182880 w 189695"/>
              <a:gd name="connsiteY2" fmla="*/ 563880 h 563880"/>
            </a:gdLst>
            <a:ahLst/>
            <a:cxnLst>
              <a:cxn ang="0">
                <a:pos x="connsiteX0" y="connsiteY0"/>
              </a:cxn>
              <a:cxn ang="0">
                <a:pos x="connsiteX1" y="connsiteY1"/>
              </a:cxn>
              <a:cxn ang="0">
                <a:pos x="connsiteX2" y="connsiteY2"/>
              </a:cxn>
            </a:cxnLst>
            <a:rect l="l" t="t" r="r" b="b"/>
            <a:pathLst>
              <a:path w="189695" h="563880">
                <a:moveTo>
                  <a:pt x="0" y="0"/>
                </a:moveTo>
                <a:cubicBezTo>
                  <a:pt x="68580" y="82550"/>
                  <a:pt x="137160" y="165100"/>
                  <a:pt x="167640" y="259080"/>
                </a:cubicBezTo>
                <a:cubicBezTo>
                  <a:pt x="198120" y="353060"/>
                  <a:pt x="190500" y="458470"/>
                  <a:pt x="182880" y="563880"/>
                </a:cubicBezTo>
              </a:path>
            </a:pathLst>
          </a:custGeom>
          <a:noFill/>
          <a:ln w="28575">
            <a:solidFill>
              <a:srgbClr val="E28189"/>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Freeform 65"/>
          <p:cNvSpPr/>
          <p:nvPr/>
        </p:nvSpPr>
        <p:spPr bwMode="gray">
          <a:xfrm rot="9332277" flipV="1">
            <a:off x="2615544" y="3440497"/>
            <a:ext cx="414596" cy="979284"/>
          </a:xfrm>
          <a:custGeom>
            <a:avLst/>
            <a:gdLst>
              <a:gd name="connsiteX0" fmla="*/ 0 w 189695"/>
              <a:gd name="connsiteY0" fmla="*/ 0 h 563880"/>
              <a:gd name="connsiteX1" fmla="*/ 167640 w 189695"/>
              <a:gd name="connsiteY1" fmla="*/ 259080 h 563880"/>
              <a:gd name="connsiteX2" fmla="*/ 182880 w 189695"/>
              <a:gd name="connsiteY2" fmla="*/ 563880 h 563880"/>
            </a:gdLst>
            <a:ahLst/>
            <a:cxnLst>
              <a:cxn ang="0">
                <a:pos x="connsiteX0" y="connsiteY0"/>
              </a:cxn>
              <a:cxn ang="0">
                <a:pos x="connsiteX1" y="connsiteY1"/>
              </a:cxn>
              <a:cxn ang="0">
                <a:pos x="connsiteX2" y="connsiteY2"/>
              </a:cxn>
            </a:cxnLst>
            <a:rect l="l" t="t" r="r" b="b"/>
            <a:pathLst>
              <a:path w="189695" h="563880">
                <a:moveTo>
                  <a:pt x="0" y="0"/>
                </a:moveTo>
                <a:cubicBezTo>
                  <a:pt x="68580" y="82550"/>
                  <a:pt x="137160" y="165100"/>
                  <a:pt x="167640" y="259080"/>
                </a:cubicBezTo>
                <a:cubicBezTo>
                  <a:pt x="198120" y="353060"/>
                  <a:pt x="190500" y="458470"/>
                  <a:pt x="182880" y="563880"/>
                </a:cubicBezTo>
              </a:path>
            </a:pathLst>
          </a:custGeom>
          <a:noFill/>
          <a:ln w="28575">
            <a:solidFill>
              <a:srgbClr val="E28189"/>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Rectangular Callout 26"/>
          <p:cNvSpPr/>
          <p:nvPr/>
        </p:nvSpPr>
        <p:spPr bwMode="gray">
          <a:xfrm>
            <a:off x="3400266" y="3471412"/>
            <a:ext cx="947194" cy="490016"/>
          </a:xfrm>
          <a:prstGeom prst="wedgeRectCallout">
            <a:avLst>
              <a:gd name="adj1" fmla="val -66219"/>
              <a:gd name="adj2" fmla="val -21865"/>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P1</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与</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P2</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之间形成环路</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9" name="五边形 2"/>
          <p:cNvSpPr/>
          <p:nvPr/>
        </p:nvSpPr>
        <p:spPr bwMode="gray">
          <a:xfrm>
            <a:off x="9278937" y="110463"/>
            <a:ext cx="1166602"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本地保护技术</a:t>
            </a:r>
            <a:endPar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燕尾形 3"/>
          <p:cNvSpPr/>
          <p:nvPr/>
        </p:nvSpPr>
        <p:spPr bwMode="gray">
          <a:xfrm>
            <a:off x="10368978" y="110463"/>
            <a:ext cx="1380109"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端到端保护技术</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gray"/>
        <p:txBody>
          <a:bodyPr>
            <a:normAutofit/>
          </a:bodyPr>
          <a:lstStyle/>
          <a:p>
            <a:r>
              <a:rPr lang="zh-CN" altLang="en-US" dirty="0"/>
              <a:t>回切防微环方案</a:t>
            </a:r>
            <a:endParaRPr lang="zh-CN" altLang="en-US" dirty="0"/>
          </a:p>
        </p:txBody>
      </p:sp>
      <p:sp>
        <p:nvSpPr>
          <p:cNvPr id="3" name="Text Placeholder 2"/>
          <p:cNvSpPr>
            <a:spLocks noGrp="1"/>
          </p:cNvSpPr>
          <p:nvPr>
            <p:ph type="body" sz="quarter" idx="10"/>
          </p:nvPr>
        </p:nvSpPr>
        <p:spPr bwMode="gray"/>
        <p:txBody>
          <a:bodyPr/>
          <a:lstStyle/>
          <a:p>
            <a:r>
              <a:rPr lang="zh-CN" altLang="en-US" sz="1800" dirty="0"/>
              <a:t>回切防微环的方式与远端正切防微环类似</a:t>
            </a:r>
            <a:endParaRPr lang="en-US" altLang="zh-CN" sz="1800" dirty="0"/>
          </a:p>
          <a:p>
            <a:r>
              <a:rPr lang="zh-CN" altLang="en-US" sz="1800" dirty="0"/>
              <a:t>如下图所示，</a:t>
            </a:r>
            <a:r>
              <a:rPr lang="en-US" altLang="zh-CN" sz="1800" dirty="0"/>
              <a:t>P2</a:t>
            </a:r>
            <a:r>
              <a:rPr lang="zh-CN" altLang="en-US" sz="1800" dirty="0"/>
              <a:t>在收敛之后，在报文中封装新的</a:t>
            </a:r>
            <a:r>
              <a:rPr lang="en-US" altLang="zh-CN" sz="1800" dirty="0"/>
              <a:t>SRH</a:t>
            </a:r>
            <a:r>
              <a:rPr lang="zh-CN" altLang="en-US" sz="1800" dirty="0"/>
              <a:t>，约束流量按照收敛后路径转发，按照严格显式路径将流量转发到目的地址。当</a:t>
            </a:r>
            <a:r>
              <a:rPr lang="en-US" altLang="zh-CN" sz="1800" dirty="0"/>
              <a:t>P1</a:t>
            </a:r>
            <a:r>
              <a:rPr lang="zh-CN" altLang="en-US" sz="1800" dirty="0"/>
              <a:t>收敛后，流量在</a:t>
            </a:r>
            <a:r>
              <a:rPr lang="en-US" altLang="zh-CN" sz="1800" dirty="0"/>
              <a:t>P1</a:t>
            </a:r>
            <a:r>
              <a:rPr lang="zh-CN" altLang="en-US" sz="1800" dirty="0"/>
              <a:t>按照收敛后路径转发到</a:t>
            </a:r>
            <a:r>
              <a:rPr lang="en-US" altLang="zh-CN" sz="1800" dirty="0"/>
              <a:t>PE2</a:t>
            </a:r>
            <a:r>
              <a:rPr lang="zh-CN" altLang="en-US" sz="1800" dirty="0"/>
              <a:t>结点。</a:t>
            </a:r>
            <a:endParaRPr lang="zh-CN" altLang="en-US" sz="1800" dirty="0"/>
          </a:p>
          <a:p>
            <a:endParaRPr lang="zh-CN" altLang="en-US" dirty="0"/>
          </a:p>
        </p:txBody>
      </p:sp>
      <p:cxnSp>
        <p:nvCxnSpPr>
          <p:cNvPr id="4" name="直接连接符 22"/>
          <p:cNvCxnSpPr>
            <a:stCxn id="10" idx="3"/>
            <a:endCxn id="13" idx="1"/>
          </p:cNvCxnSpPr>
          <p:nvPr/>
        </p:nvCxnSpPr>
        <p:spPr bwMode="gray">
          <a:xfrm flipV="1">
            <a:off x="3289677" y="3670948"/>
            <a:ext cx="1555649" cy="6270"/>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cxnSp>
        <p:nvCxnSpPr>
          <p:cNvPr id="5" name="直接连接符 22"/>
          <p:cNvCxnSpPr>
            <a:stCxn id="10" idx="2"/>
            <a:endCxn id="11" idx="0"/>
          </p:cNvCxnSpPr>
          <p:nvPr/>
        </p:nvCxnSpPr>
        <p:spPr bwMode="gray">
          <a:xfrm>
            <a:off x="3055518" y="3868743"/>
            <a:ext cx="0" cy="1465281"/>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cxnSp>
        <p:nvCxnSpPr>
          <p:cNvPr id="6" name="直接连接符 22"/>
          <p:cNvCxnSpPr>
            <a:stCxn id="11" idx="3"/>
            <a:endCxn id="14" idx="1"/>
          </p:cNvCxnSpPr>
          <p:nvPr/>
        </p:nvCxnSpPr>
        <p:spPr bwMode="gray">
          <a:xfrm>
            <a:off x="3289677" y="5525550"/>
            <a:ext cx="1560698" cy="6269"/>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cxnSp>
        <p:nvCxnSpPr>
          <p:cNvPr id="7" name="直接连接符 19"/>
          <p:cNvCxnSpPr>
            <a:stCxn id="10" idx="0"/>
            <a:endCxn id="9" idx="2"/>
          </p:cNvCxnSpPr>
          <p:nvPr/>
        </p:nvCxnSpPr>
        <p:spPr bwMode="gray">
          <a:xfrm flipV="1">
            <a:off x="3055518" y="3151537"/>
            <a:ext cx="0" cy="334155"/>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cxnSp>
        <p:nvCxnSpPr>
          <p:cNvPr id="8" name="直接连接符 22"/>
          <p:cNvCxnSpPr>
            <a:stCxn id="13" idx="2"/>
            <a:endCxn id="14" idx="0"/>
          </p:cNvCxnSpPr>
          <p:nvPr/>
        </p:nvCxnSpPr>
        <p:spPr bwMode="gray">
          <a:xfrm>
            <a:off x="5079485" y="3862473"/>
            <a:ext cx="5049" cy="1477820"/>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pic>
        <p:nvPicPr>
          <p:cNvPr id="9"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2821359" y="2768486"/>
            <a:ext cx="468318" cy="383051"/>
          </a:xfrm>
          <a:prstGeom prst="rect">
            <a:avLst/>
          </a:prstGeom>
        </p:spPr>
      </p:pic>
      <p:pic>
        <p:nvPicPr>
          <p:cNvPr id="10"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2821359" y="3485692"/>
            <a:ext cx="468318" cy="383051"/>
          </a:xfrm>
          <a:prstGeom prst="rect">
            <a:avLst/>
          </a:prstGeom>
        </p:spPr>
      </p:pic>
      <p:pic>
        <p:nvPicPr>
          <p:cNvPr id="11"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2821359" y="5334024"/>
            <a:ext cx="468318" cy="383051"/>
          </a:xfrm>
          <a:prstGeom prst="rect">
            <a:avLst/>
          </a:prstGeom>
        </p:spPr>
      </p:pic>
      <p:pic>
        <p:nvPicPr>
          <p:cNvPr id="12"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4850375" y="2774771"/>
            <a:ext cx="468318" cy="383051"/>
          </a:xfrm>
          <a:prstGeom prst="rect">
            <a:avLst/>
          </a:prstGeom>
        </p:spPr>
      </p:pic>
      <p:pic>
        <p:nvPicPr>
          <p:cNvPr id="13"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4845326" y="3479422"/>
            <a:ext cx="468318" cy="383051"/>
          </a:xfrm>
          <a:prstGeom prst="rect">
            <a:avLst/>
          </a:prstGeom>
        </p:spPr>
      </p:pic>
      <p:pic>
        <p:nvPicPr>
          <p:cNvPr id="14"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4850375" y="5340293"/>
            <a:ext cx="468318" cy="383051"/>
          </a:xfrm>
          <a:prstGeom prst="rect">
            <a:avLst/>
          </a:prstGeom>
        </p:spPr>
      </p:pic>
      <p:cxnSp>
        <p:nvCxnSpPr>
          <p:cNvPr id="15" name="直接连接符 22"/>
          <p:cNvCxnSpPr>
            <a:stCxn id="12" idx="2"/>
            <a:endCxn id="13" idx="0"/>
          </p:cNvCxnSpPr>
          <p:nvPr/>
        </p:nvCxnSpPr>
        <p:spPr bwMode="gray">
          <a:xfrm flipH="1">
            <a:off x="5079485" y="3157822"/>
            <a:ext cx="5049" cy="321600"/>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sp>
        <p:nvSpPr>
          <p:cNvPr id="16" name="TextBox 16"/>
          <p:cNvSpPr txBox="1"/>
          <p:nvPr/>
        </p:nvSpPr>
        <p:spPr bwMode="gray">
          <a:xfrm>
            <a:off x="2508042" y="3532447"/>
            <a:ext cx="364984"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P1</a:t>
            </a:r>
            <a:endParaRPr lang="zh-CN" altLang="en-US" sz="1200" dirty="0">
              <a:solidFill>
                <a:srgbClr val="000000"/>
              </a:solidFill>
              <a:cs typeface="+mn-ea"/>
              <a:sym typeface="+mn-lt"/>
            </a:endParaRPr>
          </a:p>
        </p:txBody>
      </p:sp>
      <p:sp>
        <p:nvSpPr>
          <p:cNvPr id="17" name="TextBox 16"/>
          <p:cNvSpPr txBox="1"/>
          <p:nvPr/>
        </p:nvSpPr>
        <p:spPr bwMode="gray">
          <a:xfrm>
            <a:off x="2833929" y="2541133"/>
            <a:ext cx="477846"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PE1</a:t>
            </a:r>
            <a:endParaRPr lang="zh-CN" altLang="en-US" sz="1200" dirty="0">
              <a:solidFill>
                <a:srgbClr val="000000"/>
              </a:solidFill>
              <a:cs typeface="+mn-ea"/>
              <a:sym typeface="+mn-lt"/>
            </a:endParaRPr>
          </a:p>
        </p:txBody>
      </p:sp>
      <p:sp>
        <p:nvSpPr>
          <p:cNvPr id="18" name="TextBox 16"/>
          <p:cNvSpPr txBox="1"/>
          <p:nvPr/>
        </p:nvSpPr>
        <p:spPr bwMode="gray">
          <a:xfrm>
            <a:off x="4857540" y="2547539"/>
            <a:ext cx="495582"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PE2</a:t>
            </a:r>
            <a:endParaRPr lang="zh-CN" altLang="en-US" sz="1200" dirty="0">
              <a:solidFill>
                <a:srgbClr val="000000"/>
              </a:solidFill>
              <a:cs typeface="+mn-ea"/>
              <a:sym typeface="+mn-lt"/>
            </a:endParaRPr>
          </a:p>
        </p:txBody>
      </p:sp>
      <p:sp>
        <p:nvSpPr>
          <p:cNvPr id="20" name="TextBox 16"/>
          <p:cNvSpPr txBox="1"/>
          <p:nvPr/>
        </p:nvSpPr>
        <p:spPr bwMode="gray">
          <a:xfrm>
            <a:off x="5250842" y="5396331"/>
            <a:ext cx="364984"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P3</a:t>
            </a:r>
            <a:endParaRPr lang="zh-CN" altLang="en-US" sz="1200" dirty="0">
              <a:solidFill>
                <a:srgbClr val="000000"/>
              </a:solidFill>
              <a:cs typeface="+mn-ea"/>
              <a:sym typeface="+mn-lt"/>
            </a:endParaRPr>
          </a:p>
        </p:txBody>
      </p:sp>
      <p:sp>
        <p:nvSpPr>
          <p:cNvPr id="21" name="TextBox 16"/>
          <p:cNvSpPr txBox="1"/>
          <p:nvPr/>
        </p:nvSpPr>
        <p:spPr bwMode="gray">
          <a:xfrm>
            <a:off x="5261977" y="3540116"/>
            <a:ext cx="364984"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P4</a:t>
            </a:r>
            <a:endParaRPr lang="zh-CN" altLang="en-US" sz="1200" dirty="0">
              <a:solidFill>
                <a:srgbClr val="000000"/>
              </a:solidFill>
              <a:cs typeface="+mn-ea"/>
              <a:sym typeface="+mn-lt"/>
            </a:endParaRPr>
          </a:p>
        </p:txBody>
      </p:sp>
      <p:sp>
        <p:nvSpPr>
          <p:cNvPr id="25" name="TextBox 16"/>
          <p:cNvSpPr txBox="1"/>
          <p:nvPr/>
        </p:nvSpPr>
        <p:spPr bwMode="gray">
          <a:xfrm>
            <a:off x="2519980" y="5396331"/>
            <a:ext cx="364984"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P2</a:t>
            </a:r>
            <a:endParaRPr lang="zh-CN" altLang="en-US" sz="1200" dirty="0">
              <a:solidFill>
                <a:srgbClr val="000000"/>
              </a:solidFill>
              <a:cs typeface="+mn-ea"/>
              <a:sym typeface="+mn-lt"/>
            </a:endParaRPr>
          </a:p>
        </p:txBody>
      </p:sp>
      <p:sp>
        <p:nvSpPr>
          <p:cNvPr id="26" name="TextBox 24"/>
          <p:cNvSpPr txBox="1"/>
          <p:nvPr/>
        </p:nvSpPr>
        <p:spPr bwMode="gray">
          <a:xfrm>
            <a:off x="3190072" y="2629986"/>
            <a:ext cx="708848" cy="276999"/>
          </a:xfrm>
          <a:prstGeom prst="rect">
            <a:avLst/>
          </a:prstGeom>
          <a:noFill/>
        </p:spPr>
        <p:txBody>
          <a:bodyPr wrap="none" rtlCol="0">
            <a:spAutoFit/>
          </a:bodyPr>
          <a:lstStyle/>
          <a:p>
            <a:pPr>
              <a:buClr>
                <a:srgbClr val="CC9900"/>
              </a:buClr>
              <a:buFont typeface="Wingdings" panose="05000000000000000000" pitchFamily="2" charset="2"/>
              <a:buNone/>
            </a:pPr>
            <a:r>
              <a:rPr lang="en-GB" altLang="zh-CN" sz="1200" b="1" dirty="0">
                <a:cs typeface="+mn-ea"/>
                <a:sym typeface="+mn-lt"/>
              </a:rPr>
              <a:t>FC01</a:t>
            </a:r>
            <a:r>
              <a:rPr lang="en-US" altLang="zh-CN" sz="1200" b="1" dirty="0">
                <a:cs typeface="+mn-ea"/>
                <a:sym typeface="+mn-lt"/>
              </a:rPr>
              <a:t>::1</a:t>
            </a:r>
            <a:endParaRPr lang="zh-CN" altLang="en-US" sz="1200" b="1" dirty="0">
              <a:cs typeface="+mn-ea"/>
              <a:sym typeface="+mn-lt"/>
            </a:endParaRPr>
          </a:p>
        </p:txBody>
      </p:sp>
      <p:sp>
        <p:nvSpPr>
          <p:cNvPr id="27" name="TextBox 24"/>
          <p:cNvSpPr txBox="1"/>
          <p:nvPr/>
        </p:nvSpPr>
        <p:spPr bwMode="gray">
          <a:xfrm>
            <a:off x="3049624" y="3240390"/>
            <a:ext cx="708848" cy="276999"/>
          </a:xfrm>
          <a:prstGeom prst="rect">
            <a:avLst/>
          </a:prstGeom>
          <a:noFill/>
        </p:spPr>
        <p:txBody>
          <a:bodyPr wrap="none" rtlCol="0">
            <a:spAutoFit/>
          </a:bodyPr>
          <a:lstStyle/>
          <a:p>
            <a:pPr>
              <a:buClr>
                <a:srgbClr val="CC9900"/>
              </a:buClr>
              <a:buFont typeface="Wingdings" panose="05000000000000000000" pitchFamily="2" charset="2"/>
              <a:buNone/>
            </a:pPr>
            <a:r>
              <a:rPr lang="en-GB" altLang="zh-CN" sz="1200" b="1" dirty="0">
                <a:cs typeface="+mn-ea"/>
                <a:sym typeface="+mn-lt"/>
              </a:rPr>
              <a:t>FC02</a:t>
            </a:r>
            <a:r>
              <a:rPr lang="en-US" altLang="zh-CN" sz="1200" b="1" dirty="0">
                <a:cs typeface="+mn-ea"/>
                <a:sym typeface="+mn-lt"/>
              </a:rPr>
              <a:t>::2</a:t>
            </a:r>
            <a:endParaRPr lang="zh-CN" altLang="en-US" sz="1200" b="1" dirty="0">
              <a:cs typeface="+mn-ea"/>
              <a:sym typeface="+mn-lt"/>
            </a:endParaRPr>
          </a:p>
        </p:txBody>
      </p:sp>
      <p:sp>
        <p:nvSpPr>
          <p:cNvPr id="29" name="TextBox 24"/>
          <p:cNvSpPr txBox="1"/>
          <p:nvPr/>
        </p:nvSpPr>
        <p:spPr bwMode="gray">
          <a:xfrm>
            <a:off x="3202325" y="5201793"/>
            <a:ext cx="708848" cy="276999"/>
          </a:xfrm>
          <a:prstGeom prst="rect">
            <a:avLst/>
          </a:prstGeom>
          <a:noFill/>
        </p:spPr>
        <p:txBody>
          <a:bodyPr wrap="none" rtlCol="0">
            <a:spAutoFit/>
          </a:bodyPr>
          <a:lstStyle/>
          <a:p>
            <a:pPr>
              <a:buClr>
                <a:srgbClr val="CC9900"/>
              </a:buClr>
              <a:buFont typeface="Wingdings" panose="05000000000000000000" pitchFamily="2" charset="2"/>
              <a:buNone/>
            </a:pPr>
            <a:r>
              <a:rPr lang="en-GB" altLang="zh-CN" sz="1200" b="1" dirty="0">
                <a:cs typeface="+mn-ea"/>
                <a:sym typeface="+mn-lt"/>
              </a:rPr>
              <a:t>FC03</a:t>
            </a:r>
            <a:r>
              <a:rPr lang="en-US" altLang="zh-CN" sz="1200" b="1" dirty="0">
                <a:cs typeface="+mn-ea"/>
                <a:sym typeface="+mn-lt"/>
              </a:rPr>
              <a:t>::3</a:t>
            </a:r>
            <a:endParaRPr lang="zh-CN" altLang="en-US" sz="1200" b="1" dirty="0">
              <a:cs typeface="+mn-ea"/>
              <a:sym typeface="+mn-lt"/>
            </a:endParaRPr>
          </a:p>
        </p:txBody>
      </p:sp>
      <p:sp>
        <p:nvSpPr>
          <p:cNvPr id="30" name="TextBox 24"/>
          <p:cNvSpPr txBox="1"/>
          <p:nvPr/>
        </p:nvSpPr>
        <p:spPr bwMode="gray">
          <a:xfrm>
            <a:off x="4219948" y="5201793"/>
            <a:ext cx="708848" cy="276999"/>
          </a:xfrm>
          <a:prstGeom prst="rect">
            <a:avLst/>
          </a:prstGeom>
          <a:noFill/>
        </p:spPr>
        <p:txBody>
          <a:bodyPr wrap="none" rtlCol="0">
            <a:spAutoFit/>
          </a:bodyPr>
          <a:lstStyle/>
          <a:p>
            <a:pPr>
              <a:buClr>
                <a:srgbClr val="CC9900"/>
              </a:buClr>
              <a:buFont typeface="Wingdings" panose="05000000000000000000" pitchFamily="2" charset="2"/>
              <a:buNone/>
            </a:pPr>
            <a:r>
              <a:rPr lang="en-GB" altLang="zh-CN" sz="1200" b="1" dirty="0">
                <a:cs typeface="+mn-ea"/>
                <a:sym typeface="+mn-lt"/>
              </a:rPr>
              <a:t>FC04</a:t>
            </a:r>
            <a:r>
              <a:rPr lang="en-US" altLang="zh-CN" sz="1200" b="1" dirty="0">
                <a:cs typeface="+mn-ea"/>
                <a:sym typeface="+mn-lt"/>
              </a:rPr>
              <a:t>::4</a:t>
            </a:r>
            <a:endParaRPr lang="zh-CN" altLang="en-US" sz="1200" b="1" dirty="0">
              <a:cs typeface="+mn-ea"/>
              <a:sym typeface="+mn-lt"/>
            </a:endParaRPr>
          </a:p>
        </p:txBody>
      </p:sp>
      <p:sp>
        <p:nvSpPr>
          <p:cNvPr id="31" name="TextBox 24"/>
          <p:cNvSpPr txBox="1"/>
          <p:nvPr/>
        </p:nvSpPr>
        <p:spPr bwMode="gray">
          <a:xfrm>
            <a:off x="4407031" y="3240390"/>
            <a:ext cx="708848" cy="276999"/>
          </a:xfrm>
          <a:prstGeom prst="rect">
            <a:avLst/>
          </a:prstGeom>
          <a:noFill/>
        </p:spPr>
        <p:txBody>
          <a:bodyPr wrap="none" rtlCol="0">
            <a:spAutoFit/>
          </a:bodyPr>
          <a:lstStyle/>
          <a:p>
            <a:pPr>
              <a:buClr>
                <a:srgbClr val="CC9900"/>
              </a:buClr>
              <a:buFont typeface="Wingdings" panose="05000000000000000000" pitchFamily="2" charset="2"/>
              <a:buNone/>
            </a:pPr>
            <a:r>
              <a:rPr lang="en-GB" altLang="zh-CN" sz="1200" b="1" dirty="0">
                <a:cs typeface="+mn-ea"/>
                <a:sym typeface="+mn-lt"/>
              </a:rPr>
              <a:t>FC05</a:t>
            </a:r>
            <a:r>
              <a:rPr lang="en-US" altLang="zh-CN" sz="1200" b="1" dirty="0">
                <a:cs typeface="+mn-ea"/>
                <a:sym typeface="+mn-lt"/>
              </a:rPr>
              <a:t>::5</a:t>
            </a:r>
            <a:endParaRPr lang="zh-CN" altLang="en-US" sz="1200" b="1" dirty="0">
              <a:cs typeface="+mn-ea"/>
              <a:sym typeface="+mn-lt"/>
            </a:endParaRPr>
          </a:p>
        </p:txBody>
      </p:sp>
      <p:sp>
        <p:nvSpPr>
          <p:cNvPr id="32" name="TextBox 24"/>
          <p:cNvSpPr txBox="1"/>
          <p:nvPr/>
        </p:nvSpPr>
        <p:spPr bwMode="gray">
          <a:xfrm>
            <a:off x="4237174" y="2629986"/>
            <a:ext cx="708848" cy="276999"/>
          </a:xfrm>
          <a:prstGeom prst="rect">
            <a:avLst/>
          </a:prstGeom>
          <a:noFill/>
        </p:spPr>
        <p:txBody>
          <a:bodyPr wrap="none" rtlCol="0">
            <a:spAutoFit/>
          </a:bodyPr>
          <a:lstStyle/>
          <a:p>
            <a:pPr>
              <a:buClr>
                <a:srgbClr val="CC9900"/>
              </a:buClr>
              <a:buFont typeface="Wingdings" panose="05000000000000000000" pitchFamily="2" charset="2"/>
              <a:buNone/>
            </a:pPr>
            <a:r>
              <a:rPr lang="en-GB" altLang="zh-CN" sz="1200" b="1" dirty="0">
                <a:cs typeface="+mn-ea"/>
                <a:sym typeface="+mn-lt"/>
              </a:rPr>
              <a:t>FC06</a:t>
            </a:r>
            <a:r>
              <a:rPr lang="en-US" altLang="zh-CN" sz="1200" b="1" dirty="0">
                <a:cs typeface="+mn-ea"/>
                <a:sym typeface="+mn-lt"/>
              </a:rPr>
              <a:t>::6</a:t>
            </a:r>
            <a:endParaRPr lang="zh-CN" altLang="en-US" sz="1200" b="1" dirty="0">
              <a:cs typeface="+mn-ea"/>
              <a:sym typeface="+mn-lt"/>
            </a:endParaRPr>
          </a:p>
        </p:txBody>
      </p:sp>
      <p:graphicFrame>
        <p:nvGraphicFramePr>
          <p:cNvPr id="33" name="Table 32"/>
          <p:cNvGraphicFramePr>
            <a:graphicFrameLocks noGrp="1"/>
          </p:cNvGraphicFramePr>
          <p:nvPr/>
        </p:nvGraphicFramePr>
        <p:xfrm>
          <a:off x="1126377" y="2771846"/>
          <a:ext cx="1334529" cy="731520"/>
        </p:xfrm>
        <a:graphic>
          <a:graphicData uri="http://schemas.openxmlformats.org/drawingml/2006/table">
            <a:tbl>
              <a:tblPr firstRow="1" bandRow="1">
                <a:tableStyleId>{72833802-FEF1-4C79-8D5D-14CF1EAF98D9}</a:tableStyleId>
              </a:tblPr>
              <a:tblGrid>
                <a:gridCol w="1334529"/>
              </a:tblGrid>
              <a:tr h="370840">
                <a:tc>
                  <a:txBody>
                    <a:bodyPr/>
                    <a:lstStyle/>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DIPv6</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FC06::6</a:t>
                      </a:r>
                      <a:endPar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SIPv6</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FC01::1</a:t>
                      </a:r>
                      <a:endPar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6C4D2"/>
                    </a:solidFill>
                  </a:tcPr>
                </a:tc>
              </a:tr>
              <a:tr h="0">
                <a:tc>
                  <a:txBody>
                    <a:bodyPr/>
                    <a:lstStyle/>
                    <a:p>
                      <a:pPr algn="ctr"/>
                      <a:r>
                        <a:rPr lang="en-US" altLang="zh-CN" sz="1200" dirty="0">
                          <a:solidFill>
                            <a:schemeClr val="bg1"/>
                          </a:solidFill>
                        </a:rPr>
                        <a:t>Payload</a:t>
                      </a:r>
                      <a:endParaRPr lang="zh-CN" altLang="en-US" sz="1200"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r>
            </a:tbl>
          </a:graphicData>
        </a:graphic>
      </p:graphicFrame>
      <p:graphicFrame>
        <p:nvGraphicFramePr>
          <p:cNvPr id="34" name="Table 33"/>
          <p:cNvGraphicFramePr>
            <a:graphicFrameLocks noGrp="1"/>
          </p:cNvGraphicFramePr>
          <p:nvPr/>
        </p:nvGraphicFramePr>
        <p:xfrm>
          <a:off x="1009601" y="3878385"/>
          <a:ext cx="1340313" cy="1554480"/>
        </p:xfrm>
        <a:graphic>
          <a:graphicData uri="http://schemas.openxmlformats.org/drawingml/2006/table">
            <a:tbl>
              <a:tblPr firstRow="1" bandRow="1">
                <a:tableStyleId>{72833802-FEF1-4C79-8D5D-14CF1EAF98D9}</a:tableStyleId>
              </a:tblPr>
              <a:tblGrid>
                <a:gridCol w="1340313"/>
              </a:tblGrid>
              <a:tr h="262766">
                <a:tc>
                  <a:txBody>
                    <a:bodyPr/>
                    <a:lstStyle/>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DIPv6</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FC03::C4</a:t>
                      </a:r>
                      <a:endPar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SIPv6</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FC01::1</a:t>
                      </a:r>
                      <a:endPar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6C4D2"/>
                    </a:solidFill>
                  </a:tcPr>
                </a:tc>
              </a:tr>
              <a:tr h="367872">
                <a:tc>
                  <a:txBody>
                    <a:bodyPr/>
                    <a:lstStyle/>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SRH</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SL=</a:t>
                      </a: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2</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0" algn="ctr" defTabSz="913765" rtl="0" eaLnBrk="1" latinLnBrk="0" hangingPunct="1"/>
                      <a:r>
                        <a:rPr lang="en-US" altLang="zh-CN"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FC06::6</a:t>
                      </a:r>
                      <a:endParaRPr lang="en-US" altLang="zh-CN"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p>
                      <a:pPr marL="0" algn="ctr" defTabSz="913765" rtl="0" eaLnBrk="1" latinLnBrk="0" hangingPunct="1"/>
                      <a:r>
                        <a:rPr lang="en-US" altLang="zh-CN"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FC02::C4</a:t>
                      </a:r>
                      <a:endParaRPr lang="en-US" altLang="zh-CN"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p>
                      <a:pPr marL="0" algn="ctr" defTabSz="913765" rtl="0" eaLnBrk="1" latinLnBrk="0" hangingPunct="1"/>
                      <a:r>
                        <a:rPr lang="en-US" altLang="zh-CN" sz="1200" b="1" kern="1200" dirty="0">
                          <a:solidFill>
                            <a:srgbClr val="C7000B"/>
                          </a:solidFill>
                          <a:latin typeface="Huawei Sans" panose="020C0503030203020204" pitchFamily="34" charset="0"/>
                          <a:ea typeface="方正兰亭黑简体" panose="02000000000000000000" pitchFamily="2" charset="-122"/>
                          <a:cs typeface="+mn-cs"/>
                          <a:sym typeface="Huawei Sans" panose="020C0503030203020204" pitchFamily="34" charset="0"/>
                        </a:rPr>
                        <a:t>FC03::C4</a:t>
                      </a:r>
                      <a:endParaRPr lang="zh-CN" altLang="en-US" sz="1200" b="1" kern="1200" dirty="0">
                        <a:solidFill>
                          <a:srgbClr val="C7000B"/>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EEEC1"/>
                    </a:solidFill>
                  </a:tcPr>
                </a:tc>
              </a:tr>
              <a:tr h="157660">
                <a:tc>
                  <a:txBody>
                    <a:bodyPr/>
                    <a:lstStyle/>
                    <a:p>
                      <a:pPr algn="ctr"/>
                      <a:r>
                        <a:rPr lang="en-US" altLang="zh-CN" sz="1200" dirty="0">
                          <a:solidFill>
                            <a:schemeClr val="bg1"/>
                          </a:solidFill>
                        </a:rPr>
                        <a:t>Payload</a:t>
                      </a:r>
                      <a:endParaRPr lang="zh-CN" altLang="en-US" sz="1200"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r>
            </a:tbl>
          </a:graphicData>
        </a:graphic>
      </p:graphicFrame>
      <p:sp>
        <p:nvSpPr>
          <p:cNvPr id="35" name="Freeform 34"/>
          <p:cNvSpPr/>
          <p:nvPr/>
        </p:nvSpPr>
        <p:spPr bwMode="gray">
          <a:xfrm rot="20447093" flipH="1">
            <a:off x="2381012" y="3083287"/>
            <a:ext cx="802284" cy="2233853"/>
          </a:xfrm>
          <a:custGeom>
            <a:avLst/>
            <a:gdLst>
              <a:gd name="connsiteX0" fmla="*/ 0 w 189695"/>
              <a:gd name="connsiteY0" fmla="*/ 0 h 563880"/>
              <a:gd name="connsiteX1" fmla="*/ 167640 w 189695"/>
              <a:gd name="connsiteY1" fmla="*/ 259080 h 563880"/>
              <a:gd name="connsiteX2" fmla="*/ 182880 w 189695"/>
              <a:gd name="connsiteY2" fmla="*/ 563880 h 563880"/>
            </a:gdLst>
            <a:ahLst/>
            <a:cxnLst>
              <a:cxn ang="0">
                <a:pos x="connsiteX0" y="connsiteY0"/>
              </a:cxn>
              <a:cxn ang="0">
                <a:pos x="connsiteX1" y="connsiteY1"/>
              </a:cxn>
              <a:cxn ang="0">
                <a:pos x="connsiteX2" y="connsiteY2"/>
              </a:cxn>
            </a:cxnLst>
            <a:rect l="l" t="t" r="r" b="b"/>
            <a:pathLst>
              <a:path w="189695" h="563880">
                <a:moveTo>
                  <a:pt x="0" y="0"/>
                </a:moveTo>
                <a:cubicBezTo>
                  <a:pt x="68580" y="82550"/>
                  <a:pt x="137160" y="165100"/>
                  <a:pt x="167640" y="259080"/>
                </a:cubicBezTo>
                <a:cubicBezTo>
                  <a:pt x="198120" y="353060"/>
                  <a:pt x="190500" y="458470"/>
                  <a:pt x="182880" y="563880"/>
                </a:cubicBezTo>
              </a:path>
            </a:pathLst>
          </a:custGeom>
          <a:noFill/>
          <a:ln w="28575">
            <a:solidFill>
              <a:srgbClr val="56C4D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Freeform 35"/>
          <p:cNvSpPr/>
          <p:nvPr/>
        </p:nvSpPr>
        <p:spPr bwMode="gray">
          <a:xfrm rot="9332277" flipH="1">
            <a:off x="2900268" y="3919835"/>
            <a:ext cx="625056" cy="1345143"/>
          </a:xfrm>
          <a:custGeom>
            <a:avLst/>
            <a:gdLst>
              <a:gd name="connsiteX0" fmla="*/ 0 w 189695"/>
              <a:gd name="connsiteY0" fmla="*/ 0 h 563880"/>
              <a:gd name="connsiteX1" fmla="*/ 167640 w 189695"/>
              <a:gd name="connsiteY1" fmla="*/ 259080 h 563880"/>
              <a:gd name="connsiteX2" fmla="*/ 182880 w 189695"/>
              <a:gd name="connsiteY2" fmla="*/ 563880 h 563880"/>
            </a:gdLst>
            <a:ahLst/>
            <a:cxnLst>
              <a:cxn ang="0">
                <a:pos x="connsiteX0" y="connsiteY0"/>
              </a:cxn>
              <a:cxn ang="0">
                <a:pos x="connsiteX1" y="connsiteY1"/>
              </a:cxn>
              <a:cxn ang="0">
                <a:pos x="connsiteX2" y="connsiteY2"/>
              </a:cxn>
            </a:cxnLst>
            <a:rect l="l" t="t" r="r" b="b"/>
            <a:pathLst>
              <a:path w="189695" h="563880">
                <a:moveTo>
                  <a:pt x="0" y="0"/>
                </a:moveTo>
                <a:cubicBezTo>
                  <a:pt x="68580" y="82550"/>
                  <a:pt x="137160" y="165100"/>
                  <a:pt x="167640" y="259080"/>
                </a:cubicBezTo>
                <a:cubicBezTo>
                  <a:pt x="198120" y="353060"/>
                  <a:pt x="190500" y="458470"/>
                  <a:pt x="182880" y="563880"/>
                </a:cubicBezTo>
              </a:path>
            </a:pathLst>
          </a:custGeom>
          <a:noFill/>
          <a:ln w="28575">
            <a:solidFill>
              <a:srgbClr val="E28189"/>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Freeform 36"/>
          <p:cNvSpPr/>
          <p:nvPr/>
        </p:nvSpPr>
        <p:spPr bwMode="gray">
          <a:xfrm rot="14875022" flipH="1">
            <a:off x="3784779" y="3133158"/>
            <a:ext cx="587876" cy="1426988"/>
          </a:xfrm>
          <a:custGeom>
            <a:avLst/>
            <a:gdLst>
              <a:gd name="connsiteX0" fmla="*/ 0 w 189695"/>
              <a:gd name="connsiteY0" fmla="*/ 0 h 563880"/>
              <a:gd name="connsiteX1" fmla="*/ 167640 w 189695"/>
              <a:gd name="connsiteY1" fmla="*/ 259080 h 563880"/>
              <a:gd name="connsiteX2" fmla="*/ 182880 w 189695"/>
              <a:gd name="connsiteY2" fmla="*/ 563880 h 563880"/>
            </a:gdLst>
            <a:ahLst/>
            <a:cxnLst>
              <a:cxn ang="0">
                <a:pos x="connsiteX0" y="connsiteY0"/>
              </a:cxn>
              <a:cxn ang="0">
                <a:pos x="connsiteX1" y="connsiteY1"/>
              </a:cxn>
              <a:cxn ang="0">
                <a:pos x="connsiteX2" y="connsiteY2"/>
              </a:cxn>
            </a:cxnLst>
            <a:rect l="l" t="t" r="r" b="b"/>
            <a:pathLst>
              <a:path w="189695" h="563880">
                <a:moveTo>
                  <a:pt x="0" y="0"/>
                </a:moveTo>
                <a:cubicBezTo>
                  <a:pt x="68580" y="82550"/>
                  <a:pt x="137160" y="165100"/>
                  <a:pt x="167640" y="259080"/>
                </a:cubicBezTo>
                <a:cubicBezTo>
                  <a:pt x="198120" y="353060"/>
                  <a:pt x="190500" y="458470"/>
                  <a:pt x="182880" y="563880"/>
                </a:cubicBezTo>
              </a:path>
            </a:pathLst>
          </a:custGeom>
          <a:noFill/>
          <a:ln w="28575">
            <a:solidFill>
              <a:srgbClr val="E28189"/>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Freeform 37"/>
          <p:cNvSpPr/>
          <p:nvPr/>
        </p:nvSpPr>
        <p:spPr bwMode="gray">
          <a:xfrm rot="9652180" flipH="1">
            <a:off x="5251065" y="2980235"/>
            <a:ext cx="197451" cy="548900"/>
          </a:xfrm>
          <a:custGeom>
            <a:avLst/>
            <a:gdLst>
              <a:gd name="connsiteX0" fmla="*/ 0 w 189695"/>
              <a:gd name="connsiteY0" fmla="*/ 0 h 563880"/>
              <a:gd name="connsiteX1" fmla="*/ 167640 w 189695"/>
              <a:gd name="connsiteY1" fmla="*/ 259080 h 563880"/>
              <a:gd name="connsiteX2" fmla="*/ 182880 w 189695"/>
              <a:gd name="connsiteY2" fmla="*/ 563880 h 563880"/>
            </a:gdLst>
            <a:ahLst/>
            <a:cxnLst>
              <a:cxn ang="0">
                <a:pos x="connsiteX0" y="connsiteY0"/>
              </a:cxn>
              <a:cxn ang="0">
                <a:pos x="connsiteX1" y="connsiteY1"/>
              </a:cxn>
              <a:cxn ang="0">
                <a:pos x="connsiteX2" y="connsiteY2"/>
              </a:cxn>
            </a:cxnLst>
            <a:rect l="l" t="t" r="r" b="b"/>
            <a:pathLst>
              <a:path w="189695" h="563880">
                <a:moveTo>
                  <a:pt x="0" y="0"/>
                </a:moveTo>
                <a:cubicBezTo>
                  <a:pt x="68580" y="82550"/>
                  <a:pt x="137160" y="165100"/>
                  <a:pt x="167640" y="259080"/>
                </a:cubicBezTo>
                <a:cubicBezTo>
                  <a:pt x="198120" y="353060"/>
                  <a:pt x="190500" y="458470"/>
                  <a:pt x="182880" y="563880"/>
                </a:cubicBezTo>
              </a:path>
            </a:pathLst>
          </a:custGeom>
          <a:noFill/>
          <a:ln w="28575">
            <a:solidFill>
              <a:srgbClr val="E28189"/>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TextBox 33"/>
          <p:cNvSpPr txBox="1"/>
          <p:nvPr/>
        </p:nvSpPr>
        <p:spPr bwMode="gray">
          <a:xfrm rot="16200000">
            <a:off x="2584940" y="4665448"/>
            <a:ext cx="938595" cy="476413"/>
          </a:xfrm>
          <a:prstGeom prst="rect">
            <a:avLst/>
          </a:prstGeom>
          <a:noFill/>
        </p:spPr>
        <p:txBody>
          <a:bodyPr wrap="square" rtlCol="0">
            <a:spAutoFit/>
          </a:bodyPr>
          <a:lstStyle/>
          <a:p>
            <a:r>
              <a:rPr lang="en-US" altLang="zh-CN" sz="1200" dirty="0" err="1">
                <a:solidFill>
                  <a:srgbClr val="C7000B"/>
                </a:solidFill>
                <a:cs typeface="+mn-ea"/>
                <a:sym typeface="+mn-lt"/>
              </a:rPr>
              <a:t>End.X</a:t>
            </a:r>
            <a:r>
              <a:rPr lang="en-US" altLang="zh-CN" sz="1200" dirty="0">
                <a:solidFill>
                  <a:srgbClr val="C7000B"/>
                </a:solidFill>
                <a:cs typeface="+mn-ea"/>
                <a:sym typeface="+mn-lt"/>
              </a:rPr>
              <a:t> </a:t>
            </a:r>
            <a:r>
              <a:rPr lang="en-US" altLang="zh-CN" sz="1200" b="1" dirty="0">
                <a:solidFill>
                  <a:srgbClr val="C7000B"/>
                </a:solidFill>
                <a:cs typeface="+mn-ea"/>
                <a:sym typeface="+mn-lt"/>
              </a:rPr>
              <a:t>FC03::C4</a:t>
            </a:r>
            <a:endParaRPr lang="zh-CN" altLang="en-US" sz="1200" b="1" dirty="0">
              <a:solidFill>
                <a:srgbClr val="C7000B"/>
              </a:solidFill>
              <a:cs typeface="+mn-ea"/>
              <a:sym typeface="+mn-lt"/>
            </a:endParaRPr>
          </a:p>
        </p:txBody>
      </p:sp>
      <p:sp>
        <p:nvSpPr>
          <p:cNvPr id="40" name="TextBox 33"/>
          <p:cNvSpPr txBox="1"/>
          <p:nvPr/>
        </p:nvSpPr>
        <p:spPr bwMode="gray">
          <a:xfrm>
            <a:off x="3206827" y="3461705"/>
            <a:ext cx="938595" cy="476413"/>
          </a:xfrm>
          <a:prstGeom prst="rect">
            <a:avLst/>
          </a:prstGeom>
          <a:noFill/>
        </p:spPr>
        <p:txBody>
          <a:bodyPr wrap="square" rtlCol="0">
            <a:spAutoFit/>
          </a:bodyPr>
          <a:lstStyle/>
          <a:p>
            <a:r>
              <a:rPr lang="en-US" altLang="zh-CN" sz="1200" dirty="0" err="1">
                <a:solidFill>
                  <a:srgbClr val="C7000B"/>
                </a:solidFill>
                <a:cs typeface="+mn-ea"/>
                <a:sym typeface="+mn-lt"/>
              </a:rPr>
              <a:t>End.X</a:t>
            </a:r>
            <a:r>
              <a:rPr lang="en-US" altLang="zh-CN" sz="1200" dirty="0">
                <a:solidFill>
                  <a:srgbClr val="C7000B"/>
                </a:solidFill>
                <a:cs typeface="+mn-ea"/>
                <a:sym typeface="+mn-lt"/>
              </a:rPr>
              <a:t> </a:t>
            </a:r>
            <a:r>
              <a:rPr lang="en-US" altLang="zh-CN" sz="1200" b="1" dirty="0">
                <a:solidFill>
                  <a:srgbClr val="C7000B"/>
                </a:solidFill>
                <a:cs typeface="+mn-ea"/>
                <a:sym typeface="+mn-lt"/>
              </a:rPr>
              <a:t>FC02::C4</a:t>
            </a:r>
            <a:endParaRPr lang="zh-CN" altLang="en-US" sz="1200" b="1" dirty="0">
              <a:solidFill>
                <a:srgbClr val="C7000B"/>
              </a:solidFill>
              <a:cs typeface="+mn-ea"/>
              <a:sym typeface="+mn-lt"/>
            </a:endParaRPr>
          </a:p>
        </p:txBody>
      </p:sp>
      <p:cxnSp>
        <p:nvCxnSpPr>
          <p:cNvPr id="41" name="Straight Arrow Connector 40"/>
          <p:cNvCxnSpPr/>
          <p:nvPr/>
        </p:nvCxnSpPr>
        <p:spPr bwMode="gray">
          <a:xfrm flipV="1">
            <a:off x="2350643" y="4452307"/>
            <a:ext cx="995606" cy="13468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16"/>
          <p:cNvSpPr txBox="1"/>
          <p:nvPr/>
        </p:nvSpPr>
        <p:spPr bwMode="gray">
          <a:xfrm>
            <a:off x="3380946" y="5759746"/>
            <a:ext cx="1371976" cy="307777"/>
          </a:xfrm>
          <a:prstGeom prst="rect">
            <a:avLst/>
          </a:prstGeom>
          <a:noFill/>
        </p:spPr>
        <p:txBody>
          <a:bodyPr wrap="square" rtlCol="0">
            <a:spAutoFit/>
          </a:bodyPr>
          <a:lstStyle/>
          <a:p>
            <a:pPr algn="ctr">
              <a:buClr>
                <a:srgbClr val="CC9900"/>
              </a:buClr>
              <a:buFont typeface="Wingdings" panose="05000000000000000000" pitchFamily="2" charset="2"/>
              <a:buNone/>
            </a:pPr>
            <a:r>
              <a:rPr lang="zh-CN" altLang="en-US" sz="1400" dirty="0">
                <a:solidFill>
                  <a:srgbClr val="000000"/>
                </a:solidFill>
                <a:cs typeface="+mn-ea"/>
                <a:sym typeface="+mn-lt"/>
              </a:rPr>
              <a:t>严格显式路径</a:t>
            </a:r>
            <a:endParaRPr lang="zh-CN" altLang="en-US" sz="1400" dirty="0">
              <a:solidFill>
                <a:srgbClr val="000000"/>
              </a:solidFill>
              <a:cs typeface="+mn-ea"/>
              <a:sym typeface="+mn-lt"/>
            </a:endParaRPr>
          </a:p>
        </p:txBody>
      </p:sp>
      <p:cxnSp>
        <p:nvCxnSpPr>
          <p:cNvPr id="45" name="直接连接符 22"/>
          <p:cNvCxnSpPr>
            <a:stCxn id="51" idx="3"/>
            <a:endCxn id="54" idx="1"/>
          </p:cNvCxnSpPr>
          <p:nvPr/>
        </p:nvCxnSpPr>
        <p:spPr bwMode="gray">
          <a:xfrm flipV="1">
            <a:off x="8905291" y="3670948"/>
            <a:ext cx="1784249" cy="6270"/>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cxnSp>
        <p:nvCxnSpPr>
          <p:cNvPr id="46" name="直接连接符 22"/>
          <p:cNvCxnSpPr>
            <a:stCxn id="51" idx="2"/>
            <a:endCxn id="52" idx="0"/>
          </p:cNvCxnSpPr>
          <p:nvPr/>
        </p:nvCxnSpPr>
        <p:spPr bwMode="gray">
          <a:xfrm>
            <a:off x="8671132" y="3868743"/>
            <a:ext cx="0" cy="1465281"/>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cxnSp>
        <p:nvCxnSpPr>
          <p:cNvPr id="47" name="直接连接符 22"/>
          <p:cNvCxnSpPr>
            <a:stCxn id="52" idx="3"/>
            <a:endCxn id="55" idx="1"/>
          </p:cNvCxnSpPr>
          <p:nvPr/>
        </p:nvCxnSpPr>
        <p:spPr bwMode="gray">
          <a:xfrm>
            <a:off x="8905291" y="5525550"/>
            <a:ext cx="1789298" cy="6269"/>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cxnSp>
        <p:nvCxnSpPr>
          <p:cNvPr id="48" name="直接连接符 19"/>
          <p:cNvCxnSpPr>
            <a:stCxn id="51" idx="0"/>
            <a:endCxn id="50" idx="2"/>
          </p:cNvCxnSpPr>
          <p:nvPr/>
        </p:nvCxnSpPr>
        <p:spPr bwMode="gray">
          <a:xfrm flipV="1">
            <a:off x="8671132" y="3151537"/>
            <a:ext cx="0" cy="334155"/>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cxnSp>
        <p:nvCxnSpPr>
          <p:cNvPr id="49" name="直接连接符 22"/>
          <p:cNvCxnSpPr>
            <a:stCxn id="54" idx="2"/>
            <a:endCxn id="55" idx="0"/>
          </p:cNvCxnSpPr>
          <p:nvPr/>
        </p:nvCxnSpPr>
        <p:spPr bwMode="gray">
          <a:xfrm>
            <a:off x="10923699" y="3862473"/>
            <a:ext cx="5049" cy="1477820"/>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pic>
        <p:nvPicPr>
          <p:cNvPr id="50"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8436973" y="2768486"/>
            <a:ext cx="468318" cy="383051"/>
          </a:xfrm>
          <a:prstGeom prst="rect">
            <a:avLst/>
          </a:prstGeom>
        </p:spPr>
      </p:pic>
      <p:pic>
        <p:nvPicPr>
          <p:cNvPr id="51"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8436973" y="3485692"/>
            <a:ext cx="468318" cy="383051"/>
          </a:xfrm>
          <a:prstGeom prst="rect">
            <a:avLst/>
          </a:prstGeom>
        </p:spPr>
      </p:pic>
      <p:pic>
        <p:nvPicPr>
          <p:cNvPr id="52"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8436973" y="5334024"/>
            <a:ext cx="468318" cy="383051"/>
          </a:xfrm>
          <a:prstGeom prst="rect">
            <a:avLst/>
          </a:prstGeom>
        </p:spPr>
      </p:pic>
      <p:pic>
        <p:nvPicPr>
          <p:cNvPr id="53"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10694589" y="2774771"/>
            <a:ext cx="468318" cy="383051"/>
          </a:xfrm>
          <a:prstGeom prst="rect">
            <a:avLst/>
          </a:prstGeom>
        </p:spPr>
      </p:pic>
      <p:pic>
        <p:nvPicPr>
          <p:cNvPr id="54"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10689540" y="3479422"/>
            <a:ext cx="468318" cy="383051"/>
          </a:xfrm>
          <a:prstGeom prst="rect">
            <a:avLst/>
          </a:prstGeom>
        </p:spPr>
      </p:pic>
      <p:pic>
        <p:nvPicPr>
          <p:cNvPr id="55"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10694589" y="5340293"/>
            <a:ext cx="468318" cy="383051"/>
          </a:xfrm>
          <a:prstGeom prst="rect">
            <a:avLst/>
          </a:prstGeom>
        </p:spPr>
      </p:pic>
      <p:cxnSp>
        <p:nvCxnSpPr>
          <p:cNvPr id="56" name="直接连接符 22"/>
          <p:cNvCxnSpPr>
            <a:stCxn id="53" idx="2"/>
            <a:endCxn id="54" idx="0"/>
          </p:cNvCxnSpPr>
          <p:nvPr/>
        </p:nvCxnSpPr>
        <p:spPr bwMode="gray">
          <a:xfrm flipH="1">
            <a:off x="10923699" y="3157822"/>
            <a:ext cx="5049" cy="321600"/>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sp>
        <p:nvSpPr>
          <p:cNvPr id="57" name="TextBox 16"/>
          <p:cNvSpPr txBox="1"/>
          <p:nvPr/>
        </p:nvSpPr>
        <p:spPr bwMode="gray">
          <a:xfrm>
            <a:off x="8123656" y="3532447"/>
            <a:ext cx="364984"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P1</a:t>
            </a:r>
            <a:endParaRPr lang="zh-CN" altLang="en-US" sz="1200" dirty="0">
              <a:solidFill>
                <a:srgbClr val="000000"/>
              </a:solidFill>
              <a:cs typeface="+mn-ea"/>
              <a:sym typeface="+mn-lt"/>
            </a:endParaRPr>
          </a:p>
        </p:txBody>
      </p:sp>
      <p:sp>
        <p:nvSpPr>
          <p:cNvPr id="58" name="TextBox 57"/>
          <p:cNvSpPr txBox="1"/>
          <p:nvPr/>
        </p:nvSpPr>
        <p:spPr bwMode="gray">
          <a:xfrm>
            <a:off x="8449543" y="2541133"/>
            <a:ext cx="477846"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PE1</a:t>
            </a:r>
            <a:endParaRPr lang="zh-CN" altLang="en-US" sz="1200" dirty="0">
              <a:solidFill>
                <a:srgbClr val="000000"/>
              </a:solidFill>
              <a:cs typeface="+mn-ea"/>
              <a:sym typeface="+mn-lt"/>
            </a:endParaRPr>
          </a:p>
        </p:txBody>
      </p:sp>
      <p:sp>
        <p:nvSpPr>
          <p:cNvPr id="59" name="TextBox 16"/>
          <p:cNvSpPr txBox="1"/>
          <p:nvPr/>
        </p:nvSpPr>
        <p:spPr bwMode="gray">
          <a:xfrm>
            <a:off x="10701754" y="2547539"/>
            <a:ext cx="495582"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PE2</a:t>
            </a:r>
            <a:endParaRPr lang="zh-CN" altLang="en-US" sz="1200" dirty="0">
              <a:solidFill>
                <a:srgbClr val="000000"/>
              </a:solidFill>
              <a:cs typeface="+mn-ea"/>
              <a:sym typeface="+mn-lt"/>
            </a:endParaRPr>
          </a:p>
        </p:txBody>
      </p:sp>
      <p:sp>
        <p:nvSpPr>
          <p:cNvPr id="60" name="TextBox 16"/>
          <p:cNvSpPr txBox="1"/>
          <p:nvPr/>
        </p:nvSpPr>
        <p:spPr bwMode="gray">
          <a:xfrm>
            <a:off x="11095056" y="5396331"/>
            <a:ext cx="364984"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P3</a:t>
            </a:r>
            <a:endParaRPr lang="zh-CN" altLang="en-US" sz="1200" dirty="0">
              <a:solidFill>
                <a:srgbClr val="000000"/>
              </a:solidFill>
              <a:cs typeface="+mn-ea"/>
              <a:sym typeface="+mn-lt"/>
            </a:endParaRPr>
          </a:p>
        </p:txBody>
      </p:sp>
      <p:sp>
        <p:nvSpPr>
          <p:cNvPr id="61" name="TextBox 16"/>
          <p:cNvSpPr txBox="1"/>
          <p:nvPr/>
        </p:nvSpPr>
        <p:spPr bwMode="gray">
          <a:xfrm>
            <a:off x="11106191" y="3540116"/>
            <a:ext cx="364984"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P4</a:t>
            </a:r>
            <a:endParaRPr lang="zh-CN" altLang="en-US" sz="1200" dirty="0">
              <a:solidFill>
                <a:srgbClr val="000000"/>
              </a:solidFill>
              <a:cs typeface="+mn-ea"/>
              <a:sym typeface="+mn-lt"/>
            </a:endParaRPr>
          </a:p>
        </p:txBody>
      </p:sp>
      <p:sp>
        <p:nvSpPr>
          <p:cNvPr id="63" name="TextBox 16"/>
          <p:cNvSpPr txBox="1"/>
          <p:nvPr/>
        </p:nvSpPr>
        <p:spPr bwMode="gray">
          <a:xfrm>
            <a:off x="8135594" y="5396331"/>
            <a:ext cx="364984"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P2</a:t>
            </a:r>
            <a:endParaRPr lang="zh-CN" altLang="en-US" sz="1200" dirty="0">
              <a:solidFill>
                <a:srgbClr val="000000"/>
              </a:solidFill>
              <a:cs typeface="+mn-ea"/>
              <a:sym typeface="+mn-lt"/>
            </a:endParaRPr>
          </a:p>
        </p:txBody>
      </p:sp>
      <p:sp>
        <p:nvSpPr>
          <p:cNvPr id="64" name="TextBox 24"/>
          <p:cNvSpPr txBox="1"/>
          <p:nvPr/>
        </p:nvSpPr>
        <p:spPr bwMode="gray">
          <a:xfrm>
            <a:off x="8805686" y="2629986"/>
            <a:ext cx="708848" cy="276999"/>
          </a:xfrm>
          <a:prstGeom prst="rect">
            <a:avLst/>
          </a:prstGeom>
          <a:noFill/>
        </p:spPr>
        <p:txBody>
          <a:bodyPr wrap="none" rtlCol="0">
            <a:spAutoFit/>
          </a:bodyPr>
          <a:lstStyle/>
          <a:p>
            <a:pPr>
              <a:buClr>
                <a:srgbClr val="CC9900"/>
              </a:buClr>
              <a:buFont typeface="Wingdings" panose="05000000000000000000" pitchFamily="2" charset="2"/>
              <a:buNone/>
            </a:pPr>
            <a:r>
              <a:rPr lang="en-GB" altLang="zh-CN" sz="1200" b="1" dirty="0">
                <a:cs typeface="+mn-ea"/>
                <a:sym typeface="+mn-lt"/>
              </a:rPr>
              <a:t>FC01</a:t>
            </a:r>
            <a:r>
              <a:rPr lang="en-US" altLang="zh-CN" sz="1200" b="1" dirty="0">
                <a:cs typeface="+mn-ea"/>
                <a:sym typeface="+mn-lt"/>
              </a:rPr>
              <a:t>::1</a:t>
            </a:r>
            <a:endParaRPr lang="zh-CN" altLang="en-US" sz="1200" b="1" dirty="0">
              <a:cs typeface="+mn-ea"/>
              <a:sym typeface="+mn-lt"/>
            </a:endParaRPr>
          </a:p>
        </p:txBody>
      </p:sp>
      <p:sp>
        <p:nvSpPr>
          <p:cNvPr id="65" name="TextBox 24"/>
          <p:cNvSpPr txBox="1"/>
          <p:nvPr/>
        </p:nvSpPr>
        <p:spPr bwMode="gray">
          <a:xfrm>
            <a:off x="8665238" y="3240390"/>
            <a:ext cx="708848" cy="276999"/>
          </a:xfrm>
          <a:prstGeom prst="rect">
            <a:avLst/>
          </a:prstGeom>
          <a:noFill/>
        </p:spPr>
        <p:txBody>
          <a:bodyPr wrap="none" rtlCol="0">
            <a:spAutoFit/>
          </a:bodyPr>
          <a:lstStyle/>
          <a:p>
            <a:pPr>
              <a:buClr>
                <a:srgbClr val="CC9900"/>
              </a:buClr>
              <a:buFont typeface="Wingdings" panose="05000000000000000000" pitchFamily="2" charset="2"/>
              <a:buNone/>
            </a:pPr>
            <a:r>
              <a:rPr lang="en-GB" altLang="zh-CN" sz="1200" b="1" dirty="0">
                <a:cs typeface="+mn-ea"/>
                <a:sym typeface="+mn-lt"/>
              </a:rPr>
              <a:t>FC02</a:t>
            </a:r>
            <a:r>
              <a:rPr lang="en-US" altLang="zh-CN" sz="1200" b="1" dirty="0">
                <a:cs typeface="+mn-ea"/>
                <a:sym typeface="+mn-lt"/>
              </a:rPr>
              <a:t>::2</a:t>
            </a:r>
            <a:endParaRPr lang="zh-CN" altLang="en-US" sz="1200" b="1" dirty="0">
              <a:cs typeface="+mn-ea"/>
              <a:sym typeface="+mn-lt"/>
            </a:endParaRPr>
          </a:p>
        </p:txBody>
      </p:sp>
      <p:sp>
        <p:nvSpPr>
          <p:cNvPr id="66" name="TextBox 24"/>
          <p:cNvSpPr txBox="1"/>
          <p:nvPr/>
        </p:nvSpPr>
        <p:spPr bwMode="gray">
          <a:xfrm>
            <a:off x="8817939" y="5201793"/>
            <a:ext cx="708848" cy="276999"/>
          </a:xfrm>
          <a:prstGeom prst="rect">
            <a:avLst/>
          </a:prstGeom>
          <a:noFill/>
        </p:spPr>
        <p:txBody>
          <a:bodyPr wrap="none" rtlCol="0">
            <a:spAutoFit/>
          </a:bodyPr>
          <a:lstStyle/>
          <a:p>
            <a:pPr>
              <a:buClr>
                <a:srgbClr val="CC9900"/>
              </a:buClr>
              <a:buFont typeface="Wingdings" panose="05000000000000000000" pitchFamily="2" charset="2"/>
              <a:buNone/>
            </a:pPr>
            <a:r>
              <a:rPr lang="en-GB" altLang="zh-CN" sz="1200" b="1" dirty="0">
                <a:cs typeface="+mn-ea"/>
                <a:sym typeface="+mn-lt"/>
              </a:rPr>
              <a:t>FC03</a:t>
            </a:r>
            <a:r>
              <a:rPr lang="en-US" altLang="zh-CN" sz="1200" b="1" dirty="0">
                <a:cs typeface="+mn-ea"/>
                <a:sym typeface="+mn-lt"/>
              </a:rPr>
              <a:t>::3</a:t>
            </a:r>
            <a:endParaRPr lang="zh-CN" altLang="en-US" sz="1200" b="1" dirty="0">
              <a:cs typeface="+mn-ea"/>
              <a:sym typeface="+mn-lt"/>
            </a:endParaRPr>
          </a:p>
        </p:txBody>
      </p:sp>
      <p:sp>
        <p:nvSpPr>
          <p:cNvPr id="67" name="TextBox 24"/>
          <p:cNvSpPr txBox="1"/>
          <p:nvPr/>
        </p:nvSpPr>
        <p:spPr bwMode="gray">
          <a:xfrm>
            <a:off x="10081388" y="5201793"/>
            <a:ext cx="708848" cy="276999"/>
          </a:xfrm>
          <a:prstGeom prst="rect">
            <a:avLst/>
          </a:prstGeom>
          <a:noFill/>
        </p:spPr>
        <p:txBody>
          <a:bodyPr wrap="none" rtlCol="0">
            <a:spAutoFit/>
          </a:bodyPr>
          <a:lstStyle/>
          <a:p>
            <a:pPr>
              <a:buClr>
                <a:srgbClr val="CC9900"/>
              </a:buClr>
              <a:buFont typeface="Wingdings" panose="05000000000000000000" pitchFamily="2" charset="2"/>
              <a:buNone/>
            </a:pPr>
            <a:r>
              <a:rPr lang="en-GB" altLang="zh-CN" sz="1200" b="1" dirty="0">
                <a:cs typeface="+mn-ea"/>
                <a:sym typeface="+mn-lt"/>
              </a:rPr>
              <a:t>FC04</a:t>
            </a:r>
            <a:r>
              <a:rPr lang="en-US" altLang="zh-CN" sz="1200" b="1" dirty="0">
                <a:cs typeface="+mn-ea"/>
                <a:sym typeface="+mn-lt"/>
              </a:rPr>
              <a:t>::4</a:t>
            </a:r>
            <a:endParaRPr lang="zh-CN" altLang="en-US" sz="1200" b="1" dirty="0">
              <a:cs typeface="+mn-ea"/>
              <a:sym typeface="+mn-lt"/>
            </a:endParaRPr>
          </a:p>
        </p:txBody>
      </p:sp>
      <p:sp>
        <p:nvSpPr>
          <p:cNvPr id="68" name="TextBox 24"/>
          <p:cNvSpPr txBox="1"/>
          <p:nvPr/>
        </p:nvSpPr>
        <p:spPr bwMode="gray">
          <a:xfrm>
            <a:off x="10251245" y="3240390"/>
            <a:ext cx="708848" cy="276999"/>
          </a:xfrm>
          <a:prstGeom prst="rect">
            <a:avLst/>
          </a:prstGeom>
          <a:noFill/>
        </p:spPr>
        <p:txBody>
          <a:bodyPr wrap="none" rtlCol="0">
            <a:spAutoFit/>
          </a:bodyPr>
          <a:lstStyle/>
          <a:p>
            <a:pPr>
              <a:buClr>
                <a:srgbClr val="CC9900"/>
              </a:buClr>
              <a:buFont typeface="Wingdings" panose="05000000000000000000" pitchFamily="2" charset="2"/>
              <a:buNone/>
            </a:pPr>
            <a:r>
              <a:rPr lang="en-GB" altLang="zh-CN" sz="1200" b="1" dirty="0">
                <a:cs typeface="+mn-ea"/>
                <a:sym typeface="+mn-lt"/>
              </a:rPr>
              <a:t>FC05</a:t>
            </a:r>
            <a:r>
              <a:rPr lang="en-US" altLang="zh-CN" sz="1200" b="1" dirty="0">
                <a:cs typeface="+mn-ea"/>
                <a:sym typeface="+mn-lt"/>
              </a:rPr>
              <a:t>::5</a:t>
            </a:r>
            <a:endParaRPr lang="zh-CN" altLang="en-US" sz="1200" b="1" dirty="0">
              <a:cs typeface="+mn-ea"/>
              <a:sym typeface="+mn-lt"/>
            </a:endParaRPr>
          </a:p>
        </p:txBody>
      </p:sp>
      <p:sp>
        <p:nvSpPr>
          <p:cNvPr id="69" name="TextBox 24"/>
          <p:cNvSpPr txBox="1"/>
          <p:nvPr/>
        </p:nvSpPr>
        <p:spPr bwMode="gray">
          <a:xfrm>
            <a:off x="10081388" y="2629986"/>
            <a:ext cx="708848" cy="276999"/>
          </a:xfrm>
          <a:prstGeom prst="rect">
            <a:avLst/>
          </a:prstGeom>
          <a:noFill/>
        </p:spPr>
        <p:txBody>
          <a:bodyPr wrap="none" rtlCol="0">
            <a:spAutoFit/>
          </a:bodyPr>
          <a:lstStyle/>
          <a:p>
            <a:pPr>
              <a:buClr>
                <a:srgbClr val="CC9900"/>
              </a:buClr>
              <a:buFont typeface="Wingdings" panose="05000000000000000000" pitchFamily="2" charset="2"/>
              <a:buNone/>
            </a:pPr>
            <a:r>
              <a:rPr lang="en-GB" altLang="zh-CN" sz="1200" b="1" dirty="0">
                <a:cs typeface="+mn-ea"/>
                <a:sym typeface="+mn-lt"/>
              </a:rPr>
              <a:t>FC06</a:t>
            </a:r>
            <a:r>
              <a:rPr lang="en-US" altLang="zh-CN" sz="1200" b="1" dirty="0">
                <a:cs typeface="+mn-ea"/>
                <a:sym typeface="+mn-lt"/>
              </a:rPr>
              <a:t>::6</a:t>
            </a:r>
            <a:endParaRPr lang="zh-CN" altLang="en-US" sz="1200" b="1" dirty="0">
              <a:cs typeface="+mn-ea"/>
              <a:sym typeface="+mn-lt"/>
            </a:endParaRPr>
          </a:p>
        </p:txBody>
      </p:sp>
      <p:graphicFrame>
        <p:nvGraphicFramePr>
          <p:cNvPr id="70" name="Table 69"/>
          <p:cNvGraphicFramePr>
            <a:graphicFrameLocks noGrp="1"/>
          </p:cNvGraphicFramePr>
          <p:nvPr/>
        </p:nvGraphicFramePr>
        <p:xfrm>
          <a:off x="6741991" y="2771846"/>
          <a:ext cx="1334529" cy="731520"/>
        </p:xfrm>
        <a:graphic>
          <a:graphicData uri="http://schemas.openxmlformats.org/drawingml/2006/table">
            <a:tbl>
              <a:tblPr firstRow="1" bandRow="1">
                <a:tableStyleId>{72833802-FEF1-4C79-8D5D-14CF1EAF98D9}</a:tableStyleId>
              </a:tblPr>
              <a:tblGrid>
                <a:gridCol w="1334529"/>
              </a:tblGrid>
              <a:tr h="370840">
                <a:tc>
                  <a:txBody>
                    <a:bodyPr/>
                    <a:lstStyle/>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DIPv6</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FC06::6</a:t>
                      </a:r>
                      <a:endPar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SIPv6</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FC01::1</a:t>
                      </a:r>
                      <a:endPar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6C4D2"/>
                    </a:solidFill>
                  </a:tcPr>
                </a:tc>
              </a:tr>
              <a:tr h="0">
                <a:tc>
                  <a:txBody>
                    <a:bodyPr/>
                    <a:lstStyle/>
                    <a:p>
                      <a:pPr algn="ctr"/>
                      <a:r>
                        <a:rPr lang="en-US" altLang="zh-CN" sz="1200" dirty="0">
                          <a:solidFill>
                            <a:schemeClr val="bg1"/>
                          </a:solidFill>
                        </a:rPr>
                        <a:t>Payload</a:t>
                      </a:r>
                      <a:endParaRPr lang="zh-CN" altLang="en-US" sz="1200"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r>
            </a:tbl>
          </a:graphicData>
        </a:graphic>
      </p:graphicFrame>
      <p:graphicFrame>
        <p:nvGraphicFramePr>
          <p:cNvPr id="71" name="Table 70"/>
          <p:cNvGraphicFramePr>
            <a:graphicFrameLocks noGrp="1"/>
          </p:cNvGraphicFramePr>
          <p:nvPr/>
        </p:nvGraphicFramePr>
        <p:xfrm>
          <a:off x="6625215" y="3878385"/>
          <a:ext cx="1340313" cy="1371600"/>
        </p:xfrm>
        <a:graphic>
          <a:graphicData uri="http://schemas.openxmlformats.org/drawingml/2006/table">
            <a:tbl>
              <a:tblPr firstRow="1" bandRow="1">
                <a:tableStyleId>{72833802-FEF1-4C79-8D5D-14CF1EAF98D9}</a:tableStyleId>
              </a:tblPr>
              <a:tblGrid>
                <a:gridCol w="1340313"/>
              </a:tblGrid>
              <a:tr h="262766">
                <a:tc>
                  <a:txBody>
                    <a:bodyPr/>
                    <a:lstStyle/>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DIPv6</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FC03::C4</a:t>
                      </a:r>
                      <a:endPar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SIPv6</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FC01::1</a:t>
                      </a:r>
                      <a:endPar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6C4D2"/>
                    </a:solidFill>
                  </a:tcPr>
                </a:tc>
              </a:tr>
              <a:tr h="367872">
                <a:tc>
                  <a:txBody>
                    <a:bodyPr/>
                    <a:lstStyle/>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SRH</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SL=</a:t>
                      </a: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1</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0" algn="ctr" defTabSz="913765" rtl="0" eaLnBrk="1" latinLnBrk="0" hangingPunct="1"/>
                      <a:r>
                        <a:rPr lang="en-US" altLang="zh-CN"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FC06::6</a:t>
                      </a:r>
                      <a:endParaRPr lang="en-US" altLang="zh-CN"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p>
                      <a:pPr marL="0" algn="ctr" defTabSz="913765" rtl="0" eaLnBrk="1" latinLnBrk="0" hangingPunct="1"/>
                      <a:r>
                        <a:rPr lang="en-US" altLang="zh-CN" sz="1200" b="1" kern="1200" dirty="0">
                          <a:solidFill>
                            <a:srgbClr val="C7000B"/>
                          </a:solidFill>
                          <a:latin typeface="Huawei Sans" panose="020C0503030203020204" pitchFamily="34" charset="0"/>
                          <a:ea typeface="方正兰亭黑简体" panose="02000000000000000000" pitchFamily="2" charset="-122"/>
                          <a:cs typeface="+mn-cs"/>
                          <a:sym typeface="Huawei Sans" panose="020C0503030203020204" pitchFamily="34" charset="0"/>
                        </a:rPr>
                        <a:t>FC02::C4</a:t>
                      </a:r>
                      <a:endParaRPr lang="en-US" altLang="zh-CN" sz="1200" b="1" kern="1200" dirty="0">
                        <a:solidFill>
                          <a:srgbClr val="C7000B"/>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EEEC1"/>
                    </a:solidFill>
                  </a:tcPr>
                </a:tc>
              </a:tr>
              <a:tr h="157660">
                <a:tc>
                  <a:txBody>
                    <a:bodyPr/>
                    <a:lstStyle/>
                    <a:p>
                      <a:pPr algn="ctr"/>
                      <a:r>
                        <a:rPr lang="en-US" altLang="zh-CN" sz="1200" dirty="0">
                          <a:solidFill>
                            <a:schemeClr val="bg1"/>
                          </a:solidFill>
                        </a:rPr>
                        <a:t>Payload</a:t>
                      </a:r>
                      <a:endParaRPr lang="zh-CN" altLang="en-US" sz="1200"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r>
            </a:tbl>
          </a:graphicData>
        </a:graphic>
      </p:graphicFrame>
      <p:sp>
        <p:nvSpPr>
          <p:cNvPr id="72" name="Freeform 71"/>
          <p:cNvSpPr/>
          <p:nvPr/>
        </p:nvSpPr>
        <p:spPr bwMode="gray">
          <a:xfrm rot="20447093" flipH="1">
            <a:off x="7996626" y="3083287"/>
            <a:ext cx="802284" cy="2233853"/>
          </a:xfrm>
          <a:custGeom>
            <a:avLst/>
            <a:gdLst>
              <a:gd name="connsiteX0" fmla="*/ 0 w 189695"/>
              <a:gd name="connsiteY0" fmla="*/ 0 h 563880"/>
              <a:gd name="connsiteX1" fmla="*/ 167640 w 189695"/>
              <a:gd name="connsiteY1" fmla="*/ 259080 h 563880"/>
              <a:gd name="connsiteX2" fmla="*/ 182880 w 189695"/>
              <a:gd name="connsiteY2" fmla="*/ 563880 h 563880"/>
            </a:gdLst>
            <a:ahLst/>
            <a:cxnLst>
              <a:cxn ang="0">
                <a:pos x="connsiteX0" y="connsiteY0"/>
              </a:cxn>
              <a:cxn ang="0">
                <a:pos x="connsiteX1" y="connsiteY1"/>
              </a:cxn>
              <a:cxn ang="0">
                <a:pos x="connsiteX2" y="connsiteY2"/>
              </a:cxn>
            </a:cxnLst>
            <a:rect l="l" t="t" r="r" b="b"/>
            <a:pathLst>
              <a:path w="189695" h="563880">
                <a:moveTo>
                  <a:pt x="0" y="0"/>
                </a:moveTo>
                <a:cubicBezTo>
                  <a:pt x="68580" y="82550"/>
                  <a:pt x="137160" y="165100"/>
                  <a:pt x="167640" y="259080"/>
                </a:cubicBezTo>
                <a:cubicBezTo>
                  <a:pt x="198120" y="353060"/>
                  <a:pt x="190500" y="458470"/>
                  <a:pt x="182880" y="563880"/>
                </a:cubicBezTo>
              </a:path>
            </a:pathLst>
          </a:custGeom>
          <a:noFill/>
          <a:ln w="28575">
            <a:solidFill>
              <a:srgbClr val="56C4D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Freeform 72"/>
          <p:cNvSpPr/>
          <p:nvPr/>
        </p:nvSpPr>
        <p:spPr bwMode="gray">
          <a:xfrm rot="9332277" flipH="1">
            <a:off x="8515882" y="3919835"/>
            <a:ext cx="625056" cy="1345143"/>
          </a:xfrm>
          <a:custGeom>
            <a:avLst/>
            <a:gdLst>
              <a:gd name="connsiteX0" fmla="*/ 0 w 189695"/>
              <a:gd name="connsiteY0" fmla="*/ 0 h 563880"/>
              <a:gd name="connsiteX1" fmla="*/ 167640 w 189695"/>
              <a:gd name="connsiteY1" fmla="*/ 259080 h 563880"/>
              <a:gd name="connsiteX2" fmla="*/ 182880 w 189695"/>
              <a:gd name="connsiteY2" fmla="*/ 563880 h 563880"/>
            </a:gdLst>
            <a:ahLst/>
            <a:cxnLst>
              <a:cxn ang="0">
                <a:pos x="connsiteX0" y="connsiteY0"/>
              </a:cxn>
              <a:cxn ang="0">
                <a:pos x="connsiteX1" y="connsiteY1"/>
              </a:cxn>
              <a:cxn ang="0">
                <a:pos x="connsiteX2" y="connsiteY2"/>
              </a:cxn>
            </a:cxnLst>
            <a:rect l="l" t="t" r="r" b="b"/>
            <a:pathLst>
              <a:path w="189695" h="563880">
                <a:moveTo>
                  <a:pt x="0" y="0"/>
                </a:moveTo>
                <a:cubicBezTo>
                  <a:pt x="68580" y="82550"/>
                  <a:pt x="137160" y="165100"/>
                  <a:pt x="167640" y="259080"/>
                </a:cubicBezTo>
                <a:cubicBezTo>
                  <a:pt x="198120" y="353060"/>
                  <a:pt x="190500" y="458470"/>
                  <a:pt x="182880" y="563880"/>
                </a:cubicBezTo>
              </a:path>
            </a:pathLst>
          </a:custGeom>
          <a:noFill/>
          <a:ln w="28575">
            <a:solidFill>
              <a:srgbClr val="E28189"/>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Freeform 73"/>
          <p:cNvSpPr/>
          <p:nvPr/>
        </p:nvSpPr>
        <p:spPr bwMode="gray">
          <a:xfrm rot="14875022" flipH="1">
            <a:off x="9470147" y="3029582"/>
            <a:ext cx="671920" cy="1634139"/>
          </a:xfrm>
          <a:custGeom>
            <a:avLst/>
            <a:gdLst>
              <a:gd name="connsiteX0" fmla="*/ 0 w 189695"/>
              <a:gd name="connsiteY0" fmla="*/ 0 h 563880"/>
              <a:gd name="connsiteX1" fmla="*/ 167640 w 189695"/>
              <a:gd name="connsiteY1" fmla="*/ 259080 h 563880"/>
              <a:gd name="connsiteX2" fmla="*/ 182880 w 189695"/>
              <a:gd name="connsiteY2" fmla="*/ 563880 h 563880"/>
            </a:gdLst>
            <a:ahLst/>
            <a:cxnLst>
              <a:cxn ang="0">
                <a:pos x="connsiteX0" y="connsiteY0"/>
              </a:cxn>
              <a:cxn ang="0">
                <a:pos x="connsiteX1" y="connsiteY1"/>
              </a:cxn>
              <a:cxn ang="0">
                <a:pos x="connsiteX2" y="connsiteY2"/>
              </a:cxn>
            </a:cxnLst>
            <a:rect l="l" t="t" r="r" b="b"/>
            <a:pathLst>
              <a:path w="189695" h="563880">
                <a:moveTo>
                  <a:pt x="0" y="0"/>
                </a:moveTo>
                <a:cubicBezTo>
                  <a:pt x="68580" y="82550"/>
                  <a:pt x="137160" y="165100"/>
                  <a:pt x="167640" y="259080"/>
                </a:cubicBezTo>
                <a:cubicBezTo>
                  <a:pt x="198120" y="353060"/>
                  <a:pt x="190500" y="458470"/>
                  <a:pt x="182880" y="563880"/>
                </a:cubicBezTo>
              </a:path>
            </a:pathLst>
          </a:custGeom>
          <a:noFill/>
          <a:ln w="28575">
            <a:solidFill>
              <a:srgbClr val="E28189"/>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Freeform 74"/>
          <p:cNvSpPr/>
          <p:nvPr/>
        </p:nvSpPr>
        <p:spPr bwMode="gray">
          <a:xfrm rot="9652180" flipH="1">
            <a:off x="11095279" y="2980235"/>
            <a:ext cx="197451" cy="548900"/>
          </a:xfrm>
          <a:custGeom>
            <a:avLst/>
            <a:gdLst>
              <a:gd name="connsiteX0" fmla="*/ 0 w 189695"/>
              <a:gd name="connsiteY0" fmla="*/ 0 h 563880"/>
              <a:gd name="connsiteX1" fmla="*/ 167640 w 189695"/>
              <a:gd name="connsiteY1" fmla="*/ 259080 h 563880"/>
              <a:gd name="connsiteX2" fmla="*/ 182880 w 189695"/>
              <a:gd name="connsiteY2" fmla="*/ 563880 h 563880"/>
            </a:gdLst>
            <a:ahLst/>
            <a:cxnLst>
              <a:cxn ang="0">
                <a:pos x="connsiteX0" y="connsiteY0"/>
              </a:cxn>
              <a:cxn ang="0">
                <a:pos x="connsiteX1" y="connsiteY1"/>
              </a:cxn>
              <a:cxn ang="0">
                <a:pos x="connsiteX2" y="connsiteY2"/>
              </a:cxn>
            </a:cxnLst>
            <a:rect l="l" t="t" r="r" b="b"/>
            <a:pathLst>
              <a:path w="189695" h="563880">
                <a:moveTo>
                  <a:pt x="0" y="0"/>
                </a:moveTo>
                <a:cubicBezTo>
                  <a:pt x="68580" y="82550"/>
                  <a:pt x="137160" y="165100"/>
                  <a:pt x="167640" y="259080"/>
                </a:cubicBezTo>
                <a:cubicBezTo>
                  <a:pt x="198120" y="353060"/>
                  <a:pt x="190500" y="458470"/>
                  <a:pt x="182880" y="563880"/>
                </a:cubicBezTo>
              </a:path>
            </a:pathLst>
          </a:custGeom>
          <a:noFill/>
          <a:ln w="28575">
            <a:solidFill>
              <a:srgbClr val="E28189"/>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TextBox 33"/>
          <p:cNvSpPr txBox="1"/>
          <p:nvPr/>
        </p:nvSpPr>
        <p:spPr bwMode="gray">
          <a:xfrm>
            <a:off x="8822441" y="3461705"/>
            <a:ext cx="938595" cy="476413"/>
          </a:xfrm>
          <a:prstGeom prst="rect">
            <a:avLst/>
          </a:prstGeom>
          <a:noFill/>
        </p:spPr>
        <p:txBody>
          <a:bodyPr wrap="square" rtlCol="0">
            <a:spAutoFit/>
          </a:bodyPr>
          <a:lstStyle/>
          <a:p>
            <a:r>
              <a:rPr lang="en-US" altLang="zh-CN" sz="1200" dirty="0" err="1">
                <a:solidFill>
                  <a:srgbClr val="C7000B"/>
                </a:solidFill>
                <a:cs typeface="+mn-ea"/>
                <a:sym typeface="+mn-lt"/>
              </a:rPr>
              <a:t>End.X</a:t>
            </a:r>
            <a:r>
              <a:rPr lang="en-US" altLang="zh-CN" sz="1200" dirty="0">
                <a:solidFill>
                  <a:srgbClr val="C7000B"/>
                </a:solidFill>
                <a:cs typeface="+mn-ea"/>
                <a:sym typeface="+mn-lt"/>
              </a:rPr>
              <a:t> </a:t>
            </a:r>
            <a:r>
              <a:rPr lang="en-US" altLang="zh-CN" sz="1200" b="1" dirty="0">
                <a:solidFill>
                  <a:srgbClr val="C7000B"/>
                </a:solidFill>
                <a:cs typeface="+mn-ea"/>
                <a:sym typeface="+mn-lt"/>
              </a:rPr>
              <a:t>FC02::C4</a:t>
            </a:r>
            <a:endParaRPr lang="zh-CN" altLang="en-US" sz="1200" b="1" dirty="0">
              <a:solidFill>
                <a:srgbClr val="C7000B"/>
              </a:solidFill>
              <a:cs typeface="+mn-ea"/>
              <a:sym typeface="+mn-lt"/>
            </a:endParaRPr>
          </a:p>
        </p:txBody>
      </p:sp>
      <p:cxnSp>
        <p:nvCxnSpPr>
          <p:cNvPr id="78" name="Straight Arrow Connector 77"/>
          <p:cNvCxnSpPr/>
          <p:nvPr/>
        </p:nvCxnSpPr>
        <p:spPr bwMode="gray">
          <a:xfrm flipV="1">
            <a:off x="7966257" y="4452307"/>
            <a:ext cx="995606" cy="13468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9" name="TextBox 16"/>
          <p:cNvSpPr txBox="1"/>
          <p:nvPr/>
        </p:nvSpPr>
        <p:spPr bwMode="gray">
          <a:xfrm>
            <a:off x="9107222" y="5738919"/>
            <a:ext cx="1371976" cy="307777"/>
          </a:xfrm>
          <a:prstGeom prst="rect">
            <a:avLst/>
          </a:prstGeom>
          <a:noFill/>
        </p:spPr>
        <p:txBody>
          <a:bodyPr wrap="square" rtlCol="0">
            <a:spAutoFit/>
          </a:bodyPr>
          <a:lstStyle/>
          <a:p>
            <a:pPr algn="ctr">
              <a:buClr>
                <a:srgbClr val="CC9900"/>
              </a:buClr>
              <a:buFont typeface="Wingdings" panose="05000000000000000000" pitchFamily="2" charset="2"/>
              <a:buNone/>
            </a:pPr>
            <a:r>
              <a:rPr lang="zh-CN" altLang="en-US" sz="1400" dirty="0">
                <a:solidFill>
                  <a:srgbClr val="000000"/>
                </a:solidFill>
                <a:cs typeface="+mn-ea"/>
                <a:sym typeface="+mn-lt"/>
              </a:rPr>
              <a:t>松散路径</a:t>
            </a:r>
            <a:endParaRPr lang="zh-CN" altLang="en-US" sz="1400" dirty="0">
              <a:solidFill>
                <a:srgbClr val="000000"/>
              </a:solidFill>
              <a:cs typeface="+mn-ea"/>
              <a:sym typeface="+mn-lt"/>
            </a:endParaRPr>
          </a:p>
        </p:txBody>
      </p:sp>
      <p:sp>
        <p:nvSpPr>
          <p:cNvPr id="80" name="Rectangular Callout 79"/>
          <p:cNvSpPr/>
          <p:nvPr/>
        </p:nvSpPr>
        <p:spPr bwMode="gray">
          <a:xfrm>
            <a:off x="3698664" y="3046953"/>
            <a:ext cx="711563" cy="375550"/>
          </a:xfrm>
          <a:prstGeom prst="wedgeRectCallout">
            <a:avLst>
              <a:gd name="adj1" fmla="val -8865"/>
              <a:gd name="adj2" fmla="val 75412"/>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故障链路恢复</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nvGrpSpPr>
          <p:cNvPr id="81" name="Group 80"/>
          <p:cNvGrpSpPr/>
          <p:nvPr/>
        </p:nvGrpSpPr>
        <p:grpSpPr bwMode="gray">
          <a:xfrm>
            <a:off x="3943799" y="3522233"/>
            <a:ext cx="261329" cy="239925"/>
            <a:chOff x="10252441" y="2822364"/>
            <a:chExt cx="261329" cy="239925"/>
          </a:xfrm>
        </p:grpSpPr>
        <p:sp>
          <p:nvSpPr>
            <p:cNvPr id="82" name="Block Arc 81"/>
            <p:cNvSpPr/>
            <p:nvPr/>
          </p:nvSpPr>
          <p:spPr bwMode="gray">
            <a:xfrm rot="4421949">
              <a:off x="10271563" y="2820083"/>
              <a:ext cx="239925" cy="244488"/>
            </a:xfrm>
            <a:prstGeom prst="blockArc">
              <a:avLst>
                <a:gd name="adj1" fmla="val 5499945"/>
                <a:gd name="adj2" fmla="val 1743281"/>
                <a:gd name="adj3" fmla="val 22920"/>
              </a:avLst>
            </a:prstGeom>
            <a:solidFill>
              <a:srgbClr val="EC7061"/>
            </a:solidFill>
            <a:ln>
              <a:solidFill>
                <a:srgbClr val="EC7061"/>
              </a:solidFill>
            </a:ln>
          </p:spPr>
          <p:txBody>
            <a:bodyPr wrap="square" rtlCol="0" anchor="ctr">
              <a:spAutoFit/>
            </a:bodyPr>
            <a:lstStyle/>
            <a:p>
              <a:pPr marL="342900" indent="-342900" algn="ctr" fontAlgn="auto">
                <a:buFont typeface="+mj-lt"/>
                <a:buAutoNum type="arabicPeriod"/>
              </a:pPr>
              <a:endParaRPr lang="zh-CN" altLang="en-US" sz="1800">
                <a:latin typeface="+mj-lt"/>
                <a:ea typeface="+mn-ea"/>
                <a:cs typeface="Courier New" panose="02070309020205020404" pitchFamily="49" charset="0"/>
              </a:endParaRPr>
            </a:p>
          </p:txBody>
        </p:sp>
        <p:sp>
          <p:nvSpPr>
            <p:cNvPr id="83" name="Right Arrow 13"/>
            <p:cNvSpPr/>
            <p:nvPr/>
          </p:nvSpPr>
          <p:spPr bwMode="gray">
            <a:xfrm rot="4421949">
              <a:off x="10274119" y="2914717"/>
              <a:ext cx="71994" cy="115349"/>
            </a:xfrm>
            <a:prstGeom prst="rightArrow">
              <a:avLst>
                <a:gd name="adj1" fmla="val 45250"/>
                <a:gd name="adj2" fmla="val 80445"/>
              </a:avLst>
            </a:prstGeom>
            <a:solidFill>
              <a:srgbClr val="EC7061"/>
            </a:solidFill>
            <a:ln>
              <a:solidFill>
                <a:srgbClr val="EC7061"/>
              </a:solidFill>
            </a:ln>
          </p:spPr>
          <p:txBody>
            <a:bodyPr wrap="square" rtlCol="0" anchor="ctr">
              <a:spAutoFit/>
            </a:bodyPr>
            <a:lstStyle/>
            <a:p>
              <a:pPr marL="342900" indent="-342900" algn="ctr" fontAlgn="auto">
                <a:buFont typeface="+mj-lt"/>
                <a:buAutoNum type="arabicPeriod"/>
              </a:pPr>
              <a:endParaRPr lang="zh-CN" altLang="en-US" sz="1800">
                <a:latin typeface="+mj-lt"/>
                <a:ea typeface="+mn-ea"/>
                <a:cs typeface="Courier New" panose="02070309020205020404" pitchFamily="49" charset="0"/>
              </a:endParaRPr>
            </a:p>
          </p:txBody>
        </p:sp>
      </p:grpSp>
      <p:sp>
        <p:nvSpPr>
          <p:cNvPr id="84" name="Rectangular Callout 83"/>
          <p:cNvSpPr/>
          <p:nvPr/>
        </p:nvSpPr>
        <p:spPr bwMode="gray">
          <a:xfrm>
            <a:off x="9441931" y="3056200"/>
            <a:ext cx="711563" cy="375550"/>
          </a:xfrm>
          <a:prstGeom prst="wedgeRectCallout">
            <a:avLst>
              <a:gd name="adj1" fmla="val -8865"/>
              <a:gd name="adj2" fmla="val 75412"/>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故障链路恢复</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nvGrpSpPr>
          <p:cNvPr id="85" name="Group 84"/>
          <p:cNvGrpSpPr/>
          <p:nvPr/>
        </p:nvGrpSpPr>
        <p:grpSpPr bwMode="gray">
          <a:xfrm>
            <a:off x="9687066" y="3531480"/>
            <a:ext cx="261329" cy="239925"/>
            <a:chOff x="10252441" y="2822364"/>
            <a:chExt cx="261329" cy="239925"/>
          </a:xfrm>
        </p:grpSpPr>
        <p:sp>
          <p:nvSpPr>
            <p:cNvPr id="86" name="Block Arc 85"/>
            <p:cNvSpPr/>
            <p:nvPr/>
          </p:nvSpPr>
          <p:spPr bwMode="gray">
            <a:xfrm rot="4421949">
              <a:off x="10271563" y="2820083"/>
              <a:ext cx="239925" cy="244488"/>
            </a:xfrm>
            <a:prstGeom prst="blockArc">
              <a:avLst>
                <a:gd name="adj1" fmla="val 5499945"/>
                <a:gd name="adj2" fmla="val 1743281"/>
                <a:gd name="adj3" fmla="val 22920"/>
              </a:avLst>
            </a:prstGeom>
            <a:solidFill>
              <a:srgbClr val="EC7061"/>
            </a:solidFill>
            <a:ln>
              <a:solidFill>
                <a:srgbClr val="EC7061"/>
              </a:solidFill>
            </a:ln>
          </p:spPr>
          <p:txBody>
            <a:bodyPr wrap="square" rtlCol="0" anchor="ctr">
              <a:spAutoFit/>
            </a:bodyPr>
            <a:lstStyle/>
            <a:p>
              <a:pPr marL="342900" indent="-342900" algn="ctr" fontAlgn="auto">
                <a:buFont typeface="+mj-lt"/>
                <a:buAutoNum type="arabicPeriod"/>
              </a:pPr>
              <a:endParaRPr lang="zh-CN" altLang="en-US" sz="1800">
                <a:latin typeface="+mj-lt"/>
                <a:ea typeface="+mn-ea"/>
                <a:cs typeface="Courier New" panose="02070309020205020404" pitchFamily="49" charset="0"/>
              </a:endParaRPr>
            </a:p>
          </p:txBody>
        </p:sp>
        <p:sp>
          <p:nvSpPr>
            <p:cNvPr id="87" name="Right Arrow 13"/>
            <p:cNvSpPr/>
            <p:nvPr/>
          </p:nvSpPr>
          <p:spPr bwMode="gray">
            <a:xfrm rot="4421949">
              <a:off x="10274119" y="2914717"/>
              <a:ext cx="71994" cy="115349"/>
            </a:xfrm>
            <a:prstGeom prst="rightArrow">
              <a:avLst>
                <a:gd name="adj1" fmla="val 45250"/>
                <a:gd name="adj2" fmla="val 80445"/>
              </a:avLst>
            </a:prstGeom>
            <a:solidFill>
              <a:srgbClr val="EC7061"/>
            </a:solidFill>
            <a:ln>
              <a:solidFill>
                <a:srgbClr val="EC7061"/>
              </a:solidFill>
            </a:ln>
          </p:spPr>
          <p:txBody>
            <a:bodyPr wrap="square" rtlCol="0" anchor="ctr">
              <a:spAutoFit/>
            </a:bodyPr>
            <a:lstStyle/>
            <a:p>
              <a:pPr marL="342900" indent="-342900" algn="ctr" fontAlgn="auto">
                <a:buFont typeface="+mj-lt"/>
                <a:buAutoNum type="arabicPeriod"/>
              </a:pPr>
              <a:endParaRPr lang="zh-CN" altLang="en-US" sz="1800">
                <a:latin typeface="+mj-lt"/>
                <a:ea typeface="+mn-ea"/>
                <a:cs typeface="Courier New" panose="02070309020205020404" pitchFamily="49" charset="0"/>
              </a:endParaRPr>
            </a:p>
          </p:txBody>
        </p:sp>
      </p:grpSp>
      <p:sp>
        <p:nvSpPr>
          <p:cNvPr id="88" name="五边形 2"/>
          <p:cNvSpPr/>
          <p:nvPr/>
        </p:nvSpPr>
        <p:spPr bwMode="gray">
          <a:xfrm>
            <a:off x="9278937" y="110463"/>
            <a:ext cx="1166602"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本地保护技术</a:t>
            </a:r>
            <a:endPar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9" name="燕尾形 3"/>
          <p:cNvSpPr/>
          <p:nvPr/>
        </p:nvSpPr>
        <p:spPr bwMode="gray">
          <a:xfrm>
            <a:off x="10368978" y="110463"/>
            <a:ext cx="1380109"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端到端保护技术</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gray"/>
        <p:txBody>
          <a:bodyPr/>
          <a:lstStyle/>
          <a:p>
            <a:r>
              <a:rPr lang="en-US" altLang="zh-CN" dirty="0"/>
              <a:t>SRv6 Policy HSB</a:t>
            </a:r>
            <a:endParaRPr lang="zh-CN" altLang="en-US" dirty="0"/>
          </a:p>
        </p:txBody>
      </p:sp>
      <p:sp>
        <p:nvSpPr>
          <p:cNvPr id="3" name="Text Placeholder 2"/>
          <p:cNvSpPr>
            <a:spLocks noGrp="1"/>
          </p:cNvSpPr>
          <p:nvPr>
            <p:ph type="body" sz="quarter" idx="10"/>
          </p:nvPr>
        </p:nvSpPr>
        <p:spPr bwMode="gray"/>
        <p:txBody>
          <a:bodyPr/>
          <a:lstStyle/>
          <a:p>
            <a:r>
              <a:rPr lang="zh-CN" altLang="en-US" sz="1600" dirty="0"/>
              <a:t>通过在部署</a:t>
            </a:r>
            <a:r>
              <a:rPr lang="en-US" altLang="zh-CN" sz="1600" dirty="0"/>
              <a:t>SRv6 Policy</a:t>
            </a:r>
            <a:r>
              <a:rPr lang="zh-CN" altLang="en-US" sz="1600" dirty="0"/>
              <a:t>时配置两个优先级不同的</a:t>
            </a:r>
            <a:r>
              <a:rPr lang="en-US" altLang="zh-CN" sz="1600" dirty="0"/>
              <a:t>candidate-path</a:t>
            </a:r>
            <a:r>
              <a:rPr lang="zh-CN" altLang="en-US" sz="1600" dirty="0"/>
              <a:t>，可以实现端到端的</a:t>
            </a:r>
            <a:r>
              <a:rPr lang="en-US" altLang="zh-CN" sz="1600" dirty="0"/>
              <a:t>SRv6 Policy</a:t>
            </a:r>
            <a:r>
              <a:rPr lang="zh-CN" altLang="en-US" sz="1600" dirty="0"/>
              <a:t>隧道保护。其中</a:t>
            </a:r>
            <a:r>
              <a:rPr lang="en-US" altLang="zh-CN" sz="1600" dirty="0"/>
              <a:t>preference</a:t>
            </a:r>
            <a:r>
              <a:rPr lang="zh-CN" altLang="en-US" sz="1600" dirty="0"/>
              <a:t>高的为主路径，低的为备份路径，并为这两个路径启动</a:t>
            </a:r>
            <a:r>
              <a:rPr lang="en-US" altLang="zh-CN" sz="1600" dirty="0"/>
              <a:t>SBFD</a:t>
            </a:r>
            <a:r>
              <a:rPr lang="zh-CN" altLang="en-US" sz="1600" dirty="0"/>
              <a:t>检测。</a:t>
            </a:r>
            <a:endParaRPr lang="zh-CN" altLang="en-US" sz="1600" dirty="0"/>
          </a:p>
          <a:p>
            <a:r>
              <a:rPr lang="zh-CN" altLang="en-US" sz="1600" dirty="0"/>
              <a:t>当主路径的</a:t>
            </a:r>
            <a:r>
              <a:rPr lang="en-US" altLang="zh-CN" sz="1600" dirty="0"/>
              <a:t>SBFD</a:t>
            </a:r>
            <a:r>
              <a:rPr lang="zh-CN" altLang="en-US" sz="1600" dirty="0"/>
              <a:t>检测到故障时，主路径切换到备路径。</a:t>
            </a:r>
            <a:endParaRPr lang="en-US" altLang="zh-CN" sz="1600" dirty="0"/>
          </a:p>
          <a:p>
            <a:r>
              <a:rPr lang="zh-CN" altLang="en-US" sz="1600" dirty="0"/>
              <a:t>对于</a:t>
            </a:r>
            <a:r>
              <a:rPr lang="en-US" altLang="zh-CN" sz="1600" dirty="0"/>
              <a:t>SRv6</a:t>
            </a:r>
            <a:r>
              <a:rPr lang="zh-CN" altLang="en-US" sz="1600" dirty="0"/>
              <a:t>网络中如果有部分设备无法支持</a:t>
            </a:r>
            <a:r>
              <a:rPr lang="en-US" altLang="zh-CN" sz="1600" dirty="0"/>
              <a:t>SRv6</a:t>
            </a:r>
            <a:r>
              <a:rPr lang="zh-CN" altLang="en-US" sz="1600" dirty="0"/>
              <a:t>会导致无法使用本地保护，因此在这种场景下也可以使用</a:t>
            </a:r>
            <a:r>
              <a:rPr lang="en-US" altLang="zh-CN" sz="1600" dirty="0"/>
              <a:t>HSB</a:t>
            </a:r>
            <a:r>
              <a:rPr lang="zh-CN" altLang="en-US" sz="1600" dirty="0"/>
              <a:t>提供高可靠性。</a:t>
            </a:r>
            <a:endParaRPr lang="zh-CN" altLang="en-US" sz="1600" dirty="0"/>
          </a:p>
        </p:txBody>
      </p:sp>
      <p:pic>
        <p:nvPicPr>
          <p:cNvPr id="4"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3478587" y="4111895"/>
            <a:ext cx="468318" cy="383051"/>
          </a:xfrm>
          <a:prstGeom prst="rect">
            <a:avLst/>
          </a:prstGeom>
        </p:spPr>
      </p:pic>
      <p:pic>
        <p:nvPicPr>
          <p:cNvPr id="5"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3478587" y="5388245"/>
            <a:ext cx="468318" cy="383051"/>
          </a:xfrm>
          <a:prstGeom prst="rect">
            <a:avLst/>
          </a:prstGeom>
        </p:spPr>
      </p:pic>
      <p:pic>
        <p:nvPicPr>
          <p:cNvPr id="6" name="图片 18"/>
          <p:cNvPicPr/>
          <p:nvPr/>
        </p:nvPicPr>
        <p:blipFill>
          <a:blip r:embed="rId1"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5059737" y="4111895"/>
            <a:ext cx="468318" cy="383051"/>
          </a:xfrm>
          <a:prstGeom prst="rect">
            <a:avLst/>
          </a:prstGeom>
        </p:spPr>
      </p:pic>
      <p:pic>
        <p:nvPicPr>
          <p:cNvPr id="7"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5059737" y="5388245"/>
            <a:ext cx="468318" cy="383051"/>
          </a:xfrm>
          <a:prstGeom prst="rect">
            <a:avLst/>
          </a:prstGeom>
        </p:spPr>
      </p:pic>
      <p:pic>
        <p:nvPicPr>
          <p:cNvPr id="8" name="图片 18"/>
          <p:cNvPicPr/>
          <p:nvPr/>
        </p:nvPicPr>
        <p:blipFill>
          <a:blip r:embed="rId1"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6637335" y="4111895"/>
            <a:ext cx="468318" cy="383051"/>
          </a:xfrm>
          <a:prstGeom prst="rect">
            <a:avLst/>
          </a:prstGeom>
        </p:spPr>
      </p:pic>
      <p:pic>
        <p:nvPicPr>
          <p:cNvPr id="9" name="图片 18"/>
          <p:cNvPicPr/>
          <p:nvPr/>
        </p:nvPicPr>
        <p:blipFill>
          <a:blip r:embed="rId1"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6637335" y="5388245"/>
            <a:ext cx="468318" cy="383051"/>
          </a:xfrm>
          <a:prstGeom prst="rect">
            <a:avLst/>
          </a:prstGeom>
        </p:spPr>
      </p:pic>
      <p:pic>
        <p:nvPicPr>
          <p:cNvPr id="10"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8214933" y="4112262"/>
            <a:ext cx="468318" cy="383051"/>
          </a:xfrm>
          <a:prstGeom prst="rect">
            <a:avLst/>
          </a:prstGeom>
        </p:spPr>
      </p:pic>
      <p:pic>
        <p:nvPicPr>
          <p:cNvPr id="11"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8214933" y="5388612"/>
            <a:ext cx="468318" cy="383051"/>
          </a:xfrm>
          <a:prstGeom prst="rect">
            <a:avLst/>
          </a:prstGeom>
        </p:spPr>
      </p:pic>
      <p:pic>
        <p:nvPicPr>
          <p:cNvPr id="12"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2202237" y="4736710"/>
            <a:ext cx="468318" cy="383051"/>
          </a:xfrm>
          <a:prstGeom prst="rect">
            <a:avLst/>
          </a:prstGeom>
        </p:spPr>
      </p:pic>
      <p:pic>
        <p:nvPicPr>
          <p:cNvPr id="13"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9641262" y="4736709"/>
            <a:ext cx="468318" cy="383051"/>
          </a:xfrm>
          <a:prstGeom prst="rect">
            <a:avLst/>
          </a:prstGeom>
        </p:spPr>
      </p:pic>
      <p:cxnSp>
        <p:nvCxnSpPr>
          <p:cNvPr id="14" name="直接连接符 22"/>
          <p:cNvCxnSpPr>
            <a:stCxn id="12" idx="0"/>
            <a:endCxn id="4" idx="1"/>
          </p:cNvCxnSpPr>
          <p:nvPr/>
        </p:nvCxnSpPr>
        <p:spPr bwMode="gray">
          <a:xfrm flipV="1">
            <a:off x="2436396" y="4303421"/>
            <a:ext cx="1042191" cy="433289"/>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cxnSp>
        <p:nvCxnSpPr>
          <p:cNvPr id="17" name="直接连接符 22"/>
          <p:cNvCxnSpPr>
            <a:stCxn id="12" idx="2"/>
            <a:endCxn id="5" idx="1"/>
          </p:cNvCxnSpPr>
          <p:nvPr/>
        </p:nvCxnSpPr>
        <p:spPr bwMode="gray">
          <a:xfrm>
            <a:off x="2436396" y="5119761"/>
            <a:ext cx="1042191" cy="460010"/>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cxnSp>
        <p:nvCxnSpPr>
          <p:cNvPr id="22" name="直接连接符 22"/>
          <p:cNvCxnSpPr>
            <a:stCxn id="4" idx="2"/>
            <a:endCxn id="5" idx="0"/>
          </p:cNvCxnSpPr>
          <p:nvPr/>
        </p:nvCxnSpPr>
        <p:spPr bwMode="gray">
          <a:xfrm>
            <a:off x="3712746" y="4494946"/>
            <a:ext cx="0" cy="893299"/>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cxnSp>
        <p:nvCxnSpPr>
          <p:cNvPr id="25" name="直接连接符 22"/>
          <p:cNvCxnSpPr>
            <a:stCxn id="4" idx="3"/>
            <a:endCxn id="6" idx="1"/>
          </p:cNvCxnSpPr>
          <p:nvPr/>
        </p:nvCxnSpPr>
        <p:spPr bwMode="gray">
          <a:xfrm>
            <a:off x="3946905" y="4303421"/>
            <a:ext cx="1112832" cy="0"/>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cxnSp>
        <p:nvCxnSpPr>
          <p:cNvPr id="28" name="直接连接符 22"/>
          <p:cNvCxnSpPr>
            <a:stCxn id="5" idx="3"/>
            <a:endCxn id="7" idx="1"/>
          </p:cNvCxnSpPr>
          <p:nvPr/>
        </p:nvCxnSpPr>
        <p:spPr bwMode="gray">
          <a:xfrm>
            <a:off x="3946905" y="5579771"/>
            <a:ext cx="1112832" cy="0"/>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cxnSp>
        <p:nvCxnSpPr>
          <p:cNvPr id="31" name="直接连接符 22"/>
          <p:cNvCxnSpPr>
            <a:stCxn id="6" idx="3"/>
            <a:endCxn id="8" idx="1"/>
          </p:cNvCxnSpPr>
          <p:nvPr/>
        </p:nvCxnSpPr>
        <p:spPr bwMode="gray">
          <a:xfrm>
            <a:off x="5528055" y="4303421"/>
            <a:ext cx="1109280" cy="0"/>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cxnSp>
        <p:nvCxnSpPr>
          <p:cNvPr id="34" name="直接连接符 22"/>
          <p:cNvCxnSpPr>
            <a:stCxn id="7" idx="3"/>
            <a:endCxn id="9" idx="1"/>
          </p:cNvCxnSpPr>
          <p:nvPr/>
        </p:nvCxnSpPr>
        <p:spPr bwMode="gray">
          <a:xfrm>
            <a:off x="5528055" y="5579771"/>
            <a:ext cx="1109280" cy="0"/>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cxnSp>
        <p:nvCxnSpPr>
          <p:cNvPr id="37" name="直接连接符 22"/>
          <p:cNvCxnSpPr>
            <a:stCxn id="8" idx="3"/>
            <a:endCxn id="10" idx="1"/>
          </p:cNvCxnSpPr>
          <p:nvPr/>
        </p:nvCxnSpPr>
        <p:spPr bwMode="gray">
          <a:xfrm>
            <a:off x="7105653" y="4303421"/>
            <a:ext cx="1109280" cy="367"/>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cxnSp>
        <p:nvCxnSpPr>
          <p:cNvPr id="40" name="直接连接符 22"/>
          <p:cNvCxnSpPr>
            <a:stCxn id="9" idx="3"/>
            <a:endCxn id="11" idx="1"/>
          </p:cNvCxnSpPr>
          <p:nvPr/>
        </p:nvCxnSpPr>
        <p:spPr bwMode="gray">
          <a:xfrm>
            <a:off x="7105653" y="5579771"/>
            <a:ext cx="1109280" cy="367"/>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cxnSp>
        <p:nvCxnSpPr>
          <p:cNvPr id="45" name="直接连接符 22"/>
          <p:cNvCxnSpPr>
            <a:stCxn id="13" idx="0"/>
            <a:endCxn id="10" idx="3"/>
          </p:cNvCxnSpPr>
          <p:nvPr/>
        </p:nvCxnSpPr>
        <p:spPr bwMode="gray">
          <a:xfrm flipH="1" flipV="1">
            <a:off x="8683251" y="4303788"/>
            <a:ext cx="1192170" cy="432921"/>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cxnSp>
        <p:nvCxnSpPr>
          <p:cNvPr id="48" name="直接连接符 22"/>
          <p:cNvCxnSpPr>
            <a:stCxn id="13" idx="2"/>
            <a:endCxn id="11" idx="3"/>
          </p:cNvCxnSpPr>
          <p:nvPr/>
        </p:nvCxnSpPr>
        <p:spPr bwMode="gray">
          <a:xfrm flipH="1">
            <a:off x="8683251" y="5119760"/>
            <a:ext cx="1192170" cy="460378"/>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cxnSp>
        <p:nvCxnSpPr>
          <p:cNvPr id="51" name="直接连接符 22"/>
          <p:cNvCxnSpPr>
            <a:stCxn id="11" idx="0"/>
            <a:endCxn id="10" idx="2"/>
          </p:cNvCxnSpPr>
          <p:nvPr/>
        </p:nvCxnSpPr>
        <p:spPr bwMode="gray">
          <a:xfrm flipV="1">
            <a:off x="8449092" y="4495313"/>
            <a:ext cx="0" cy="893299"/>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cxnSp>
        <p:nvCxnSpPr>
          <p:cNvPr id="54" name="直接连接符 22"/>
          <p:cNvCxnSpPr>
            <a:stCxn id="9" idx="0"/>
            <a:endCxn id="8" idx="2"/>
          </p:cNvCxnSpPr>
          <p:nvPr/>
        </p:nvCxnSpPr>
        <p:spPr bwMode="gray">
          <a:xfrm flipV="1">
            <a:off x="6871494" y="4494946"/>
            <a:ext cx="0" cy="893299"/>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cxnSp>
        <p:nvCxnSpPr>
          <p:cNvPr id="57" name="直接连接符 22"/>
          <p:cNvCxnSpPr>
            <a:stCxn id="7" idx="0"/>
            <a:endCxn id="6" idx="2"/>
          </p:cNvCxnSpPr>
          <p:nvPr/>
        </p:nvCxnSpPr>
        <p:spPr bwMode="gray">
          <a:xfrm flipV="1">
            <a:off x="5293896" y="4494946"/>
            <a:ext cx="0" cy="893299"/>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sp>
        <p:nvSpPr>
          <p:cNvPr id="60" name="TextBox 59"/>
          <p:cNvSpPr txBox="1"/>
          <p:nvPr/>
        </p:nvSpPr>
        <p:spPr bwMode="gray">
          <a:xfrm>
            <a:off x="1729156" y="4789734"/>
            <a:ext cx="477846"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CE1</a:t>
            </a:r>
            <a:endParaRPr lang="zh-CN" altLang="en-US" sz="1200" dirty="0">
              <a:solidFill>
                <a:srgbClr val="000000"/>
              </a:solidFill>
              <a:cs typeface="+mn-ea"/>
              <a:sym typeface="+mn-lt"/>
            </a:endParaRPr>
          </a:p>
        </p:txBody>
      </p:sp>
      <p:sp>
        <p:nvSpPr>
          <p:cNvPr id="61" name="TextBox 60"/>
          <p:cNvSpPr txBox="1"/>
          <p:nvPr/>
        </p:nvSpPr>
        <p:spPr bwMode="gray">
          <a:xfrm>
            <a:off x="3478587" y="3844913"/>
            <a:ext cx="477846"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PE1</a:t>
            </a:r>
            <a:endParaRPr lang="zh-CN" altLang="en-US" sz="1200" dirty="0">
              <a:solidFill>
                <a:srgbClr val="000000"/>
              </a:solidFill>
              <a:cs typeface="+mn-ea"/>
              <a:sym typeface="+mn-lt"/>
            </a:endParaRPr>
          </a:p>
        </p:txBody>
      </p:sp>
      <p:sp>
        <p:nvSpPr>
          <p:cNvPr id="62" name="TextBox 61"/>
          <p:cNvSpPr txBox="1"/>
          <p:nvPr/>
        </p:nvSpPr>
        <p:spPr bwMode="gray">
          <a:xfrm>
            <a:off x="3478587" y="5773134"/>
            <a:ext cx="477846"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PE2</a:t>
            </a:r>
            <a:endParaRPr lang="zh-CN" altLang="en-US" sz="1200" dirty="0">
              <a:solidFill>
                <a:srgbClr val="000000"/>
              </a:solidFill>
              <a:cs typeface="+mn-ea"/>
              <a:sym typeface="+mn-lt"/>
            </a:endParaRPr>
          </a:p>
        </p:txBody>
      </p:sp>
      <p:sp>
        <p:nvSpPr>
          <p:cNvPr id="63" name="TextBox 62"/>
          <p:cNvSpPr txBox="1"/>
          <p:nvPr/>
        </p:nvSpPr>
        <p:spPr bwMode="gray">
          <a:xfrm>
            <a:off x="5048433" y="3843688"/>
            <a:ext cx="477846"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P1</a:t>
            </a:r>
            <a:endParaRPr lang="zh-CN" altLang="en-US" sz="1200" dirty="0">
              <a:solidFill>
                <a:srgbClr val="000000"/>
              </a:solidFill>
              <a:cs typeface="+mn-ea"/>
              <a:sym typeface="+mn-lt"/>
            </a:endParaRPr>
          </a:p>
        </p:txBody>
      </p:sp>
      <p:sp>
        <p:nvSpPr>
          <p:cNvPr id="64" name="TextBox 63"/>
          <p:cNvSpPr txBox="1"/>
          <p:nvPr/>
        </p:nvSpPr>
        <p:spPr bwMode="gray">
          <a:xfrm>
            <a:off x="5048433" y="5776970"/>
            <a:ext cx="477846"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P2</a:t>
            </a:r>
            <a:endParaRPr lang="zh-CN" altLang="en-US" sz="1200" dirty="0">
              <a:solidFill>
                <a:srgbClr val="000000"/>
              </a:solidFill>
              <a:cs typeface="+mn-ea"/>
              <a:sym typeface="+mn-lt"/>
            </a:endParaRPr>
          </a:p>
        </p:txBody>
      </p:sp>
      <p:sp>
        <p:nvSpPr>
          <p:cNvPr id="65" name="TextBox 64"/>
          <p:cNvSpPr txBox="1"/>
          <p:nvPr/>
        </p:nvSpPr>
        <p:spPr bwMode="gray">
          <a:xfrm>
            <a:off x="6610719" y="3838014"/>
            <a:ext cx="477846"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P3</a:t>
            </a:r>
            <a:endParaRPr lang="zh-CN" altLang="en-US" sz="1200" dirty="0">
              <a:solidFill>
                <a:srgbClr val="000000"/>
              </a:solidFill>
              <a:cs typeface="+mn-ea"/>
              <a:sym typeface="+mn-lt"/>
            </a:endParaRPr>
          </a:p>
        </p:txBody>
      </p:sp>
      <p:sp>
        <p:nvSpPr>
          <p:cNvPr id="66" name="TextBox 65"/>
          <p:cNvSpPr txBox="1"/>
          <p:nvPr/>
        </p:nvSpPr>
        <p:spPr bwMode="gray">
          <a:xfrm>
            <a:off x="6610719" y="5771296"/>
            <a:ext cx="477846"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P4</a:t>
            </a:r>
            <a:endParaRPr lang="zh-CN" altLang="en-US" sz="1200" dirty="0">
              <a:solidFill>
                <a:srgbClr val="000000"/>
              </a:solidFill>
              <a:cs typeface="+mn-ea"/>
              <a:sym typeface="+mn-lt"/>
            </a:endParaRPr>
          </a:p>
        </p:txBody>
      </p:sp>
      <p:sp>
        <p:nvSpPr>
          <p:cNvPr id="69" name="TextBox 68"/>
          <p:cNvSpPr txBox="1"/>
          <p:nvPr/>
        </p:nvSpPr>
        <p:spPr bwMode="gray">
          <a:xfrm>
            <a:off x="8203583" y="3834321"/>
            <a:ext cx="477846"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PE3</a:t>
            </a:r>
            <a:endParaRPr lang="zh-CN" altLang="en-US" sz="1200" dirty="0">
              <a:solidFill>
                <a:srgbClr val="000000"/>
              </a:solidFill>
              <a:cs typeface="+mn-ea"/>
              <a:sym typeface="+mn-lt"/>
            </a:endParaRPr>
          </a:p>
        </p:txBody>
      </p:sp>
      <p:sp>
        <p:nvSpPr>
          <p:cNvPr id="70" name="TextBox 69"/>
          <p:cNvSpPr txBox="1"/>
          <p:nvPr/>
        </p:nvSpPr>
        <p:spPr bwMode="gray">
          <a:xfrm>
            <a:off x="8203583" y="5762542"/>
            <a:ext cx="477846"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PE4</a:t>
            </a:r>
            <a:endParaRPr lang="zh-CN" altLang="en-US" sz="1200" dirty="0">
              <a:solidFill>
                <a:srgbClr val="000000"/>
              </a:solidFill>
              <a:cs typeface="+mn-ea"/>
              <a:sym typeface="+mn-lt"/>
            </a:endParaRPr>
          </a:p>
        </p:txBody>
      </p:sp>
      <p:sp>
        <p:nvSpPr>
          <p:cNvPr id="71" name="TextBox 70"/>
          <p:cNvSpPr txBox="1"/>
          <p:nvPr/>
        </p:nvSpPr>
        <p:spPr bwMode="gray">
          <a:xfrm>
            <a:off x="10109580" y="4789734"/>
            <a:ext cx="477846"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CE2</a:t>
            </a:r>
            <a:endParaRPr lang="zh-CN" altLang="en-US" sz="1200" dirty="0">
              <a:solidFill>
                <a:srgbClr val="000000"/>
              </a:solidFill>
              <a:cs typeface="+mn-ea"/>
              <a:sym typeface="+mn-lt"/>
            </a:endParaRPr>
          </a:p>
        </p:txBody>
      </p:sp>
      <p:sp>
        <p:nvSpPr>
          <p:cNvPr id="72" name="Freeform 71"/>
          <p:cNvSpPr/>
          <p:nvPr/>
        </p:nvSpPr>
        <p:spPr bwMode="gray">
          <a:xfrm>
            <a:off x="3427903" y="4212100"/>
            <a:ext cx="5355249" cy="45719"/>
          </a:xfrm>
          <a:custGeom>
            <a:avLst/>
            <a:gdLst>
              <a:gd name="connsiteX0" fmla="*/ 0 w 5238750"/>
              <a:gd name="connsiteY0" fmla="*/ 0 h 0"/>
              <a:gd name="connsiteX1" fmla="*/ 5238750 w 5238750"/>
              <a:gd name="connsiteY1" fmla="*/ 0 h 0"/>
            </a:gdLst>
            <a:ahLst/>
            <a:cxnLst>
              <a:cxn ang="0">
                <a:pos x="connsiteX0" y="connsiteY0"/>
              </a:cxn>
              <a:cxn ang="0">
                <a:pos x="connsiteX1" y="connsiteY1"/>
              </a:cxn>
            </a:cxnLst>
            <a:rect l="l" t="t" r="r" b="b"/>
            <a:pathLst>
              <a:path w="5238750">
                <a:moveTo>
                  <a:pt x="0" y="0"/>
                </a:moveTo>
                <a:lnTo>
                  <a:pt x="5238750" y="0"/>
                </a:lnTo>
              </a:path>
            </a:pathLst>
          </a:custGeom>
          <a:noFill/>
          <a:ln w="28575">
            <a:solidFill>
              <a:srgbClr val="56C4D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Freeform 72"/>
          <p:cNvSpPr/>
          <p:nvPr/>
        </p:nvSpPr>
        <p:spPr bwMode="gray">
          <a:xfrm>
            <a:off x="3790953" y="4345451"/>
            <a:ext cx="4953000" cy="1143000"/>
          </a:xfrm>
          <a:custGeom>
            <a:avLst/>
            <a:gdLst>
              <a:gd name="connsiteX0" fmla="*/ 0 w 4953000"/>
              <a:gd name="connsiteY0" fmla="*/ 0 h 1143000"/>
              <a:gd name="connsiteX1" fmla="*/ 0 w 4953000"/>
              <a:gd name="connsiteY1" fmla="*/ 1143000 h 1143000"/>
              <a:gd name="connsiteX2" fmla="*/ 4543425 w 4953000"/>
              <a:gd name="connsiteY2" fmla="*/ 1143000 h 1143000"/>
              <a:gd name="connsiteX3" fmla="*/ 4543425 w 4953000"/>
              <a:gd name="connsiteY3" fmla="*/ 19050 h 1143000"/>
              <a:gd name="connsiteX4" fmla="*/ 4953000 w 4953000"/>
              <a:gd name="connsiteY4" fmla="*/ 1905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53000" h="1143000">
                <a:moveTo>
                  <a:pt x="0" y="0"/>
                </a:moveTo>
                <a:lnTo>
                  <a:pt x="0" y="1143000"/>
                </a:lnTo>
                <a:lnTo>
                  <a:pt x="4543425" y="1143000"/>
                </a:lnTo>
                <a:lnTo>
                  <a:pt x="4543425" y="19050"/>
                </a:lnTo>
                <a:lnTo>
                  <a:pt x="4953000" y="19050"/>
                </a:lnTo>
              </a:path>
            </a:pathLst>
          </a:custGeom>
          <a:noFill/>
          <a:ln w="28575">
            <a:solidFill>
              <a:srgbClr val="E28189"/>
            </a:solidFill>
            <a:prstDash val="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5" name="Straight Arrow Connector 74"/>
          <p:cNvCxnSpPr/>
          <p:nvPr/>
        </p:nvCxnSpPr>
        <p:spPr bwMode="gray">
          <a:xfrm>
            <a:off x="10054625" y="5470011"/>
            <a:ext cx="666750" cy="0"/>
          </a:xfrm>
          <a:prstGeom prst="straightConnector1">
            <a:avLst/>
          </a:prstGeom>
          <a:noFill/>
          <a:ln w="28575">
            <a:solidFill>
              <a:srgbClr val="56C4D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76" name="Straight Arrow Connector 75"/>
          <p:cNvCxnSpPr/>
          <p:nvPr/>
        </p:nvCxnSpPr>
        <p:spPr bwMode="gray">
          <a:xfrm>
            <a:off x="10054625" y="5803386"/>
            <a:ext cx="666750" cy="0"/>
          </a:xfrm>
          <a:prstGeom prst="straightConnector1">
            <a:avLst/>
          </a:prstGeom>
          <a:noFill/>
          <a:ln w="28575">
            <a:solidFill>
              <a:srgbClr val="E28189"/>
            </a:solidFill>
            <a:prstDash val="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sp>
        <p:nvSpPr>
          <p:cNvPr id="77" name="TextBox 16"/>
          <p:cNvSpPr txBox="1"/>
          <p:nvPr/>
        </p:nvSpPr>
        <p:spPr bwMode="gray">
          <a:xfrm>
            <a:off x="10689347" y="5331511"/>
            <a:ext cx="815211" cy="276999"/>
          </a:xfrm>
          <a:prstGeom prst="rect">
            <a:avLst/>
          </a:prstGeom>
          <a:noFill/>
        </p:spPr>
        <p:txBody>
          <a:bodyPr wrap="square" rtlCol="0">
            <a:spAutoFit/>
          </a:bodyPr>
          <a:lstStyle/>
          <a:p>
            <a:pPr>
              <a:buClr>
                <a:srgbClr val="CC9900"/>
              </a:buClr>
              <a:buFont typeface="Wingdings" panose="05000000000000000000" pitchFamily="2" charset="2"/>
              <a:buNone/>
            </a:pPr>
            <a:r>
              <a:rPr lang="zh-CN" altLang="en-US" sz="1200" dirty="0">
                <a:solidFill>
                  <a:srgbClr val="000000"/>
                </a:solidFill>
                <a:cs typeface="+mn-ea"/>
                <a:sym typeface="+mn-lt"/>
              </a:rPr>
              <a:t>主路径</a:t>
            </a:r>
            <a:endParaRPr lang="zh-CN" altLang="en-US" sz="1200" dirty="0">
              <a:solidFill>
                <a:srgbClr val="000000"/>
              </a:solidFill>
              <a:cs typeface="+mn-ea"/>
              <a:sym typeface="+mn-lt"/>
            </a:endParaRPr>
          </a:p>
        </p:txBody>
      </p:sp>
      <p:sp>
        <p:nvSpPr>
          <p:cNvPr id="78" name="TextBox 16"/>
          <p:cNvSpPr txBox="1"/>
          <p:nvPr/>
        </p:nvSpPr>
        <p:spPr bwMode="gray">
          <a:xfrm>
            <a:off x="10689348" y="5664886"/>
            <a:ext cx="815210" cy="276999"/>
          </a:xfrm>
          <a:prstGeom prst="rect">
            <a:avLst/>
          </a:prstGeom>
          <a:noFill/>
        </p:spPr>
        <p:txBody>
          <a:bodyPr wrap="square" rtlCol="0">
            <a:spAutoFit/>
          </a:bodyPr>
          <a:lstStyle/>
          <a:p>
            <a:pPr algn="ctr">
              <a:buClr>
                <a:srgbClr val="CC9900"/>
              </a:buClr>
              <a:buFont typeface="Wingdings" panose="05000000000000000000" pitchFamily="2" charset="2"/>
              <a:buNone/>
            </a:pPr>
            <a:r>
              <a:rPr lang="zh-CN" altLang="en-US" sz="1200" dirty="0">
                <a:solidFill>
                  <a:srgbClr val="000000"/>
                </a:solidFill>
                <a:cs typeface="+mn-ea"/>
                <a:sym typeface="+mn-lt"/>
              </a:rPr>
              <a:t>备份路径</a:t>
            </a:r>
            <a:endParaRPr lang="zh-CN" altLang="en-US" sz="1200" dirty="0">
              <a:solidFill>
                <a:srgbClr val="000000"/>
              </a:solidFill>
              <a:cs typeface="+mn-ea"/>
              <a:sym typeface="+mn-lt"/>
            </a:endParaRPr>
          </a:p>
        </p:txBody>
      </p:sp>
      <p:sp>
        <p:nvSpPr>
          <p:cNvPr id="79" name="Rectangular Callout 78"/>
          <p:cNvSpPr/>
          <p:nvPr/>
        </p:nvSpPr>
        <p:spPr bwMode="gray">
          <a:xfrm>
            <a:off x="5708702" y="4494946"/>
            <a:ext cx="711563" cy="375550"/>
          </a:xfrm>
          <a:prstGeom prst="wedgeRectCallout">
            <a:avLst>
              <a:gd name="adj1" fmla="val -79811"/>
              <a:gd name="adj2" fmla="val -46329"/>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不支持</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SRv6</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0" name="文本框 5"/>
          <p:cNvSpPr txBox="1"/>
          <p:nvPr/>
        </p:nvSpPr>
        <p:spPr bwMode="gray">
          <a:xfrm>
            <a:off x="836258" y="2671091"/>
            <a:ext cx="3831529" cy="1200329"/>
          </a:xfrm>
          <a:prstGeom prst="rect">
            <a:avLst/>
          </a:prstGeom>
          <a:solidFill>
            <a:schemeClr val="bg1">
              <a:lumMod val="85000"/>
            </a:schemeClr>
          </a:solidFill>
        </p:spPr>
        <p:txBody>
          <a:bodyPr wrap="square">
            <a:spAutoFit/>
          </a:bodyPr>
          <a:lstStyle>
            <a:defPPr>
              <a:defRPr lang="en-US"/>
            </a:defPPr>
            <a:lvl1pPr>
              <a:defRPr sz="1400"/>
            </a:lvl1p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SRv6 policy PE1toPE3</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endpoint PE3 color 100</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candidate-path preference 200 // Primary</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segment-list &lt;PE1.End, PE3.End&gt;</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candidate-path preference 100 // Backup</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segment-list &lt;PE2.End, P2.End, PE4.End, PE3.End &gt;</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五边形 2"/>
          <p:cNvSpPr/>
          <p:nvPr/>
        </p:nvSpPr>
        <p:spPr bwMode="gray">
          <a:xfrm>
            <a:off x="9278937" y="110463"/>
            <a:ext cx="1166602"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本地保护技术</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燕尾形 3"/>
          <p:cNvSpPr/>
          <p:nvPr/>
        </p:nvSpPr>
        <p:spPr bwMode="gray">
          <a:xfrm>
            <a:off x="10368978" y="110463"/>
            <a:ext cx="1380109"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端到端保护技术</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gray"/>
        <p:txBody>
          <a:bodyPr/>
          <a:lstStyle/>
          <a:p>
            <a:r>
              <a:rPr lang="en-US" altLang="zh-CN" dirty="0"/>
              <a:t>SRv6 Policy ECMP</a:t>
            </a:r>
            <a:endParaRPr lang="zh-CN" altLang="en-US" dirty="0"/>
          </a:p>
        </p:txBody>
      </p:sp>
      <p:sp>
        <p:nvSpPr>
          <p:cNvPr id="3" name="Text Placeholder 2"/>
          <p:cNvSpPr>
            <a:spLocks noGrp="1"/>
          </p:cNvSpPr>
          <p:nvPr>
            <p:ph type="body" sz="quarter" idx="10"/>
          </p:nvPr>
        </p:nvSpPr>
        <p:spPr bwMode="gray"/>
        <p:txBody>
          <a:bodyPr/>
          <a:lstStyle/>
          <a:p>
            <a:r>
              <a:rPr lang="zh-CN" altLang="en-US" sz="1600" dirty="0"/>
              <a:t>在部署</a:t>
            </a:r>
            <a:r>
              <a:rPr lang="en-US" altLang="zh-CN" sz="1600" dirty="0"/>
              <a:t>SRv6 Policy</a:t>
            </a:r>
            <a:r>
              <a:rPr lang="zh-CN" altLang="en-US" sz="1600" dirty="0"/>
              <a:t>时可以在一个</a:t>
            </a:r>
            <a:r>
              <a:rPr lang="en-US" altLang="zh-CN" sz="1600" dirty="0"/>
              <a:t>candidate-path</a:t>
            </a:r>
            <a:r>
              <a:rPr lang="zh-CN" altLang="en-US" sz="1600" dirty="0"/>
              <a:t>中配置两个</a:t>
            </a:r>
            <a:r>
              <a:rPr lang="en-US" altLang="zh-CN" sz="1600" dirty="0"/>
              <a:t>Segment-list</a:t>
            </a:r>
            <a:r>
              <a:rPr lang="zh-CN" altLang="en-US" sz="1600" dirty="0"/>
              <a:t>，可以实现</a:t>
            </a:r>
            <a:r>
              <a:rPr lang="en-US" altLang="zh-CN" sz="1600" dirty="0"/>
              <a:t>SRv6 Policy</a:t>
            </a:r>
            <a:r>
              <a:rPr lang="zh-CN" altLang="en-US" sz="1600" dirty="0"/>
              <a:t>负载均衡。数据在两个路径之间负载均衡。</a:t>
            </a:r>
            <a:endParaRPr lang="en-US" altLang="zh-CN" sz="1600" dirty="0"/>
          </a:p>
          <a:p>
            <a:r>
              <a:rPr lang="zh-CN" altLang="en-US" sz="1600" dirty="0"/>
              <a:t>当其中一个路径失效时，数据依然可以在另一个路径上转发。</a:t>
            </a:r>
            <a:endParaRPr lang="zh-CN" altLang="en-US" sz="1600" dirty="0"/>
          </a:p>
          <a:p>
            <a:endParaRPr lang="zh-CN" altLang="en-US" sz="1600" dirty="0"/>
          </a:p>
        </p:txBody>
      </p:sp>
      <p:pic>
        <p:nvPicPr>
          <p:cNvPr id="4"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3478587" y="3885609"/>
            <a:ext cx="468318" cy="383051"/>
          </a:xfrm>
          <a:prstGeom prst="rect">
            <a:avLst/>
          </a:prstGeom>
        </p:spPr>
      </p:pic>
      <p:pic>
        <p:nvPicPr>
          <p:cNvPr id="5"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3478587" y="5161959"/>
            <a:ext cx="468318" cy="383051"/>
          </a:xfrm>
          <a:prstGeom prst="rect">
            <a:avLst/>
          </a:prstGeom>
        </p:spPr>
      </p:pic>
      <p:pic>
        <p:nvPicPr>
          <p:cNvPr id="6" name="图片 18"/>
          <p:cNvPicPr/>
          <p:nvPr/>
        </p:nvPicPr>
        <p:blipFill>
          <a:blip r:embed="rId1"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5059737" y="3885609"/>
            <a:ext cx="468318" cy="383051"/>
          </a:xfrm>
          <a:prstGeom prst="rect">
            <a:avLst/>
          </a:prstGeom>
        </p:spPr>
      </p:pic>
      <p:pic>
        <p:nvPicPr>
          <p:cNvPr id="7"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5059737" y="5161959"/>
            <a:ext cx="468318" cy="383051"/>
          </a:xfrm>
          <a:prstGeom prst="rect">
            <a:avLst/>
          </a:prstGeom>
        </p:spPr>
      </p:pic>
      <p:pic>
        <p:nvPicPr>
          <p:cNvPr id="8" name="图片 18"/>
          <p:cNvPicPr/>
          <p:nvPr/>
        </p:nvPicPr>
        <p:blipFill>
          <a:blip r:embed="rId1"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6637335" y="3885609"/>
            <a:ext cx="468318" cy="383051"/>
          </a:xfrm>
          <a:prstGeom prst="rect">
            <a:avLst/>
          </a:prstGeom>
        </p:spPr>
      </p:pic>
      <p:pic>
        <p:nvPicPr>
          <p:cNvPr id="9" name="图片 18"/>
          <p:cNvPicPr/>
          <p:nvPr/>
        </p:nvPicPr>
        <p:blipFill>
          <a:blip r:embed="rId1"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6637335" y="5161959"/>
            <a:ext cx="468318" cy="383051"/>
          </a:xfrm>
          <a:prstGeom prst="rect">
            <a:avLst/>
          </a:prstGeom>
        </p:spPr>
      </p:pic>
      <p:pic>
        <p:nvPicPr>
          <p:cNvPr id="10"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8214933" y="3885976"/>
            <a:ext cx="468318" cy="383051"/>
          </a:xfrm>
          <a:prstGeom prst="rect">
            <a:avLst/>
          </a:prstGeom>
        </p:spPr>
      </p:pic>
      <p:pic>
        <p:nvPicPr>
          <p:cNvPr id="11"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8214933" y="5162326"/>
            <a:ext cx="468318" cy="383051"/>
          </a:xfrm>
          <a:prstGeom prst="rect">
            <a:avLst/>
          </a:prstGeom>
        </p:spPr>
      </p:pic>
      <p:pic>
        <p:nvPicPr>
          <p:cNvPr id="12"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2202237" y="4510424"/>
            <a:ext cx="468318" cy="383051"/>
          </a:xfrm>
          <a:prstGeom prst="rect">
            <a:avLst/>
          </a:prstGeom>
        </p:spPr>
      </p:pic>
      <p:pic>
        <p:nvPicPr>
          <p:cNvPr id="13"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9641262" y="4510423"/>
            <a:ext cx="468318" cy="383051"/>
          </a:xfrm>
          <a:prstGeom prst="rect">
            <a:avLst/>
          </a:prstGeom>
        </p:spPr>
      </p:pic>
      <p:cxnSp>
        <p:nvCxnSpPr>
          <p:cNvPr id="14" name="直接连接符 22"/>
          <p:cNvCxnSpPr>
            <a:stCxn id="12" idx="0"/>
            <a:endCxn id="4" idx="1"/>
          </p:cNvCxnSpPr>
          <p:nvPr/>
        </p:nvCxnSpPr>
        <p:spPr bwMode="gray">
          <a:xfrm flipV="1">
            <a:off x="2436396" y="4077135"/>
            <a:ext cx="1042191" cy="433289"/>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cxnSp>
        <p:nvCxnSpPr>
          <p:cNvPr id="17" name="直接连接符 22"/>
          <p:cNvCxnSpPr>
            <a:stCxn id="12" idx="2"/>
            <a:endCxn id="5" idx="1"/>
          </p:cNvCxnSpPr>
          <p:nvPr/>
        </p:nvCxnSpPr>
        <p:spPr bwMode="gray">
          <a:xfrm>
            <a:off x="2436396" y="4893475"/>
            <a:ext cx="1042191" cy="460010"/>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cxnSp>
        <p:nvCxnSpPr>
          <p:cNvPr id="22" name="直接连接符 22"/>
          <p:cNvCxnSpPr>
            <a:stCxn id="4" idx="2"/>
            <a:endCxn id="5" idx="0"/>
          </p:cNvCxnSpPr>
          <p:nvPr/>
        </p:nvCxnSpPr>
        <p:spPr bwMode="gray">
          <a:xfrm>
            <a:off x="3712746" y="4268660"/>
            <a:ext cx="0" cy="893299"/>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cxnSp>
        <p:nvCxnSpPr>
          <p:cNvPr id="25" name="直接连接符 22"/>
          <p:cNvCxnSpPr>
            <a:stCxn id="4" idx="3"/>
            <a:endCxn id="6" idx="1"/>
          </p:cNvCxnSpPr>
          <p:nvPr/>
        </p:nvCxnSpPr>
        <p:spPr bwMode="gray">
          <a:xfrm>
            <a:off x="3946905" y="4077135"/>
            <a:ext cx="1112832" cy="0"/>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cxnSp>
        <p:nvCxnSpPr>
          <p:cNvPr id="28" name="直接连接符 22"/>
          <p:cNvCxnSpPr>
            <a:stCxn id="5" idx="3"/>
            <a:endCxn id="7" idx="1"/>
          </p:cNvCxnSpPr>
          <p:nvPr/>
        </p:nvCxnSpPr>
        <p:spPr bwMode="gray">
          <a:xfrm>
            <a:off x="3946905" y="5353485"/>
            <a:ext cx="1112832" cy="0"/>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cxnSp>
        <p:nvCxnSpPr>
          <p:cNvPr id="31" name="直接连接符 22"/>
          <p:cNvCxnSpPr>
            <a:stCxn id="6" idx="3"/>
            <a:endCxn id="8" idx="1"/>
          </p:cNvCxnSpPr>
          <p:nvPr/>
        </p:nvCxnSpPr>
        <p:spPr bwMode="gray">
          <a:xfrm>
            <a:off x="5528055" y="4077135"/>
            <a:ext cx="1109280" cy="0"/>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cxnSp>
        <p:nvCxnSpPr>
          <p:cNvPr id="34" name="直接连接符 22"/>
          <p:cNvCxnSpPr>
            <a:stCxn id="7" idx="3"/>
            <a:endCxn id="9" idx="1"/>
          </p:cNvCxnSpPr>
          <p:nvPr/>
        </p:nvCxnSpPr>
        <p:spPr bwMode="gray">
          <a:xfrm>
            <a:off x="5528055" y="5353485"/>
            <a:ext cx="1109280" cy="0"/>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cxnSp>
        <p:nvCxnSpPr>
          <p:cNvPr id="37" name="直接连接符 22"/>
          <p:cNvCxnSpPr>
            <a:stCxn id="8" idx="3"/>
            <a:endCxn id="10" idx="1"/>
          </p:cNvCxnSpPr>
          <p:nvPr/>
        </p:nvCxnSpPr>
        <p:spPr bwMode="gray">
          <a:xfrm>
            <a:off x="7105653" y="4077135"/>
            <a:ext cx="1109280" cy="367"/>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cxnSp>
        <p:nvCxnSpPr>
          <p:cNvPr id="40" name="直接连接符 22"/>
          <p:cNvCxnSpPr>
            <a:stCxn id="9" idx="3"/>
            <a:endCxn id="11" idx="1"/>
          </p:cNvCxnSpPr>
          <p:nvPr/>
        </p:nvCxnSpPr>
        <p:spPr bwMode="gray">
          <a:xfrm>
            <a:off x="7105653" y="5353485"/>
            <a:ext cx="1109280" cy="367"/>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cxnSp>
        <p:nvCxnSpPr>
          <p:cNvPr id="45" name="直接连接符 22"/>
          <p:cNvCxnSpPr>
            <a:stCxn id="13" idx="0"/>
            <a:endCxn id="10" idx="3"/>
          </p:cNvCxnSpPr>
          <p:nvPr/>
        </p:nvCxnSpPr>
        <p:spPr bwMode="gray">
          <a:xfrm flipH="1" flipV="1">
            <a:off x="8683251" y="4077502"/>
            <a:ext cx="1192170" cy="432921"/>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cxnSp>
        <p:nvCxnSpPr>
          <p:cNvPr id="48" name="直接连接符 22"/>
          <p:cNvCxnSpPr>
            <a:stCxn id="13" idx="2"/>
            <a:endCxn id="11" idx="3"/>
          </p:cNvCxnSpPr>
          <p:nvPr/>
        </p:nvCxnSpPr>
        <p:spPr bwMode="gray">
          <a:xfrm flipH="1">
            <a:off x="8683251" y="4893474"/>
            <a:ext cx="1192170" cy="460378"/>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cxnSp>
        <p:nvCxnSpPr>
          <p:cNvPr id="51" name="直接连接符 22"/>
          <p:cNvCxnSpPr>
            <a:stCxn id="11" idx="0"/>
            <a:endCxn id="10" idx="2"/>
          </p:cNvCxnSpPr>
          <p:nvPr/>
        </p:nvCxnSpPr>
        <p:spPr bwMode="gray">
          <a:xfrm flipV="1">
            <a:off x="8449092" y="4269027"/>
            <a:ext cx="0" cy="893299"/>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cxnSp>
        <p:nvCxnSpPr>
          <p:cNvPr id="54" name="直接连接符 22"/>
          <p:cNvCxnSpPr>
            <a:stCxn id="9" idx="0"/>
            <a:endCxn id="8" idx="2"/>
          </p:cNvCxnSpPr>
          <p:nvPr/>
        </p:nvCxnSpPr>
        <p:spPr bwMode="gray">
          <a:xfrm flipV="1">
            <a:off x="6871494" y="4268660"/>
            <a:ext cx="0" cy="893299"/>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cxnSp>
        <p:nvCxnSpPr>
          <p:cNvPr id="57" name="直接连接符 22"/>
          <p:cNvCxnSpPr>
            <a:stCxn id="7" idx="0"/>
            <a:endCxn id="6" idx="2"/>
          </p:cNvCxnSpPr>
          <p:nvPr/>
        </p:nvCxnSpPr>
        <p:spPr bwMode="gray">
          <a:xfrm flipV="1">
            <a:off x="5293896" y="4268660"/>
            <a:ext cx="0" cy="893299"/>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sp>
        <p:nvSpPr>
          <p:cNvPr id="60" name="TextBox 59"/>
          <p:cNvSpPr txBox="1"/>
          <p:nvPr/>
        </p:nvSpPr>
        <p:spPr bwMode="gray">
          <a:xfrm>
            <a:off x="1729156" y="4563448"/>
            <a:ext cx="477846"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CE1</a:t>
            </a:r>
            <a:endParaRPr lang="zh-CN" altLang="en-US" sz="1200" dirty="0">
              <a:solidFill>
                <a:srgbClr val="000000"/>
              </a:solidFill>
              <a:cs typeface="+mn-ea"/>
              <a:sym typeface="+mn-lt"/>
            </a:endParaRPr>
          </a:p>
        </p:txBody>
      </p:sp>
      <p:sp>
        <p:nvSpPr>
          <p:cNvPr id="61" name="TextBox 60"/>
          <p:cNvSpPr txBox="1"/>
          <p:nvPr/>
        </p:nvSpPr>
        <p:spPr bwMode="gray">
          <a:xfrm>
            <a:off x="3478587" y="3618627"/>
            <a:ext cx="477846"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PE1</a:t>
            </a:r>
            <a:endParaRPr lang="zh-CN" altLang="en-US" sz="1200" dirty="0">
              <a:solidFill>
                <a:srgbClr val="000000"/>
              </a:solidFill>
              <a:cs typeface="+mn-ea"/>
              <a:sym typeface="+mn-lt"/>
            </a:endParaRPr>
          </a:p>
        </p:txBody>
      </p:sp>
      <p:sp>
        <p:nvSpPr>
          <p:cNvPr id="62" name="TextBox 61"/>
          <p:cNvSpPr txBox="1"/>
          <p:nvPr/>
        </p:nvSpPr>
        <p:spPr bwMode="gray">
          <a:xfrm>
            <a:off x="3478587" y="5546848"/>
            <a:ext cx="477846"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PE2</a:t>
            </a:r>
            <a:endParaRPr lang="zh-CN" altLang="en-US" sz="1200" dirty="0">
              <a:solidFill>
                <a:srgbClr val="000000"/>
              </a:solidFill>
              <a:cs typeface="+mn-ea"/>
              <a:sym typeface="+mn-lt"/>
            </a:endParaRPr>
          </a:p>
        </p:txBody>
      </p:sp>
      <p:sp>
        <p:nvSpPr>
          <p:cNvPr id="63" name="TextBox 62"/>
          <p:cNvSpPr txBox="1"/>
          <p:nvPr/>
        </p:nvSpPr>
        <p:spPr bwMode="gray">
          <a:xfrm>
            <a:off x="5048433" y="3617402"/>
            <a:ext cx="477846"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P1</a:t>
            </a:r>
            <a:endParaRPr lang="zh-CN" altLang="en-US" sz="1200" dirty="0">
              <a:solidFill>
                <a:srgbClr val="000000"/>
              </a:solidFill>
              <a:cs typeface="+mn-ea"/>
              <a:sym typeface="+mn-lt"/>
            </a:endParaRPr>
          </a:p>
        </p:txBody>
      </p:sp>
      <p:sp>
        <p:nvSpPr>
          <p:cNvPr id="64" name="TextBox 63"/>
          <p:cNvSpPr txBox="1"/>
          <p:nvPr/>
        </p:nvSpPr>
        <p:spPr bwMode="gray">
          <a:xfrm>
            <a:off x="5048433" y="5550684"/>
            <a:ext cx="477846"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P2</a:t>
            </a:r>
            <a:endParaRPr lang="zh-CN" altLang="en-US" sz="1200" dirty="0">
              <a:solidFill>
                <a:srgbClr val="000000"/>
              </a:solidFill>
              <a:cs typeface="+mn-ea"/>
              <a:sym typeface="+mn-lt"/>
            </a:endParaRPr>
          </a:p>
        </p:txBody>
      </p:sp>
      <p:sp>
        <p:nvSpPr>
          <p:cNvPr id="65" name="TextBox 64"/>
          <p:cNvSpPr txBox="1"/>
          <p:nvPr/>
        </p:nvSpPr>
        <p:spPr bwMode="gray">
          <a:xfrm>
            <a:off x="6610719" y="3611728"/>
            <a:ext cx="477846"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P3</a:t>
            </a:r>
            <a:endParaRPr lang="zh-CN" altLang="en-US" sz="1200" dirty="0">
              <a:solidFill>
                <a:srgbClr val="000000"/>
              </a:solidFill>
              <a:cs typeface="+mn-ea"/>
              <a:sym typeface="+mn-lt"/>
            </a:endParaRPr>
          </a:p>
        </p:txBody>
      </p:sp>
      <p:sp>
        <p:nvSpPr>
          <p:cNvPr id="66" name="TextBox 65"/>
          <p:cNvSpPr txBox="1"/>
          <p:nvPr/>
        </p:nvSpPr>
        <p:spPr bwMode="gray">
          <a:xfrm>
            <a:off x="6610719" y="5545010"/>
            <a:ext cx="477846"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P4</a:t>
            </a:r>
            <a:endParaRPr lang="zh-CN" altLang="en-US" sz="1200" dirty="0">
              <a:solidFill>
                <a:srgbClr val="000000"/>
              </a:solidFill>
              <a:cs typeface="+mn-ea"/>
              <a:sym typeface="+mn-lt"/>
            </a:endParaRPr>
          </a:p>
        </p:txBody>
      </p:sp>
      <p:sp>
        <p:nvSpPr>
          <p:cNvPr id="69" name="TextBox 68"/>
          <p:cNvSpPr txBox="1"/>
          <p:nvPr/>
        </p:nvSpPr>
        <p:spPr bwMode="gray">
          <a:xfrm>
            <a:off x="8203583" y="3608035"/>
            <a:ext cx="477846"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PE3</a:t>
            </a:r>
            <a:endParaRPr lang="zh-CN" altLang="en-US" sz="1200" dirty="0">
              <a:solidFill>
                <a:srgbClr val="000000"/>
              </a:solidFill>
              <a:cs typeface="+mn-ea"/>
              <a:sym typeface="+mn-lt"/>
            </a:endParaRPr>
          </a:p>
        </p:txBody>
      </p:sp>
      <p:sp>
        <p:nvSpPr>
          <p:cNvPr id="70" name="TextBox 69"/>
          <p:cNvSpPr txBox="1"/>
          <p:nvPr/>
        </p:nvSpPr>
        <p:spPr bwMode="gray">
          <a:xfrm>
            <a:off x="8203583" y="5536256"/>
            <a:ext cx="477846"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PE4</a:t>
            </a:r>
            <a:endParaRPr lang="zh-CN" altLang="en-US" sz="1200" dirty="0">
              <a:solidFill>
                <a:srgbClr val="000000"/>
              </a:solidFill>
              <a:cs typeface="+mn-ea"/>
              <a:sym typeface="+mn-lt"/>
            </a:endParaRPr>
          </a:p>
        </p:txBody>
      </p:sp>
      <p:sp>
        <p:nvSpPr>
          <p:cNvPr id="71" name="TextBox 70"/>
          <p:cNvSpPr txBox="1"/>
          <p:nvPr/>
        </p:nvSpPr>
        <p:spPr bwMode="gray">
          <a:xfrm>
            <a:off x="10109580" y="4563448"/>
            <a:ext cx="477846"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CE2</a:t>
            </a:r>
            <a:endParaRPr lang="zh-CN" altLang="en-US" sz="1200" dirty="0">
              <a:solidFill>
                <a:srgbClr val="000000"/>
              </a:solidFill>
              <a:cs typeface="+mn-ea"/>
              <a:sym typeface="+mn-lt"/>
            </a:endParaRPr>
          </a:p>
        </p:txBody>
      </p:sp>
      <p:sp>
        <p:nvSpPr>
          <p:cNvPr id="72" name="Freeform 71"/>
          <p:cNvSpPr/>
          <p:nvPr/>
        </p:nvSpPr>
        <p:spPr bwMode="gray">
          <a:xfrm>
            <a:off x="3427903" y="3985814"/>
            <a:ext cx="5355249" cy="45719"/>
          </a:xfrm>
          <a:custGeom>
            <a:avLst/>
            <a:gdLst>
              <a:gd name="connsiteX0" fmla="*/ 0 w 5238750"/>
              <a:gd name="connsiteY0" fmla="*/ 0 h 0"/>
              <a:gd name="connsiteX1" fmla="*/ 5238750 w 5238750"/>
              <a:gd name="connsiteY1" fmla="*/ 0 h 0"/>
            </a:gdLst>
            <a:ahLst/>
            <a:cxnLst>
              <a:cxn ang="0">
                <a:pos x="connsiteX0" y="connsiteY0"/>
              </a:cxn>
              <a:cxn ang="0">
                <a:pos x="connsiteX1" y="connsiteY1"/>
              </a:cxn>
            </a:cxnLst>
            <a:rect l="l" t="t" r="r" b="b"/>
            <a:pathLst>
              <a:path w="5238750">
                <a:moveTo>
                  <a:pt x="0" y="0"/>
                </a:moveTo>
                <a:lnTo>
                  <a:pt x="5238750" y="0"/>
                </a:lnTo>
              </a:path>
            </a:pathLst>
          </a:custGeom>
          <a:noFill/>
          <a:ln w="28575">
            <a:solidFill>
              <a:srgbClr val="56C4D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Freeform 72"/>
          <p:cNvSpPr/>
          <p:nvPr/>
        </p:nvSpPr>
        <p:spPr bwMode="gray">
          <a:xfrm>
            <a:off x="3790953" y="4119165"/>
            <a:ext cx="4953000" cy="1143000"/>
          </a:xfrm>
          <a:custGeom>
            <a:avLst/>
            <a:gdLst>
              <a:gd name="connsiteX0" fmla="*/ 0 w 4953000"/>
              <a:gd name="connsiteY0" fmla="*/ 0 h 1143000"/>
              <a:gd name="connsiteX1" fmla="*/ 0 w 4953000"/>
              <a:gd name="connsiteY1" fmla="*/ 1143000 h 1143000"/>
              <a:gd name="connsiteX2" fmla="*/ 4543425 w 4953000"/>
              <a:gd name="connsiteY2" fmla="*/ 1143000 h 1143000"/>
              <a:gd name="connsiteX3" fmla="*/ 4543425 w 4953000"/>
              <a:gd name="connsiteY3" fmla="*/ 19050 h 1143000"/>
              <a:gd name="connsiteX4" fmla="*/ 4953000 w 4953000"/>
              <a:gd name="connsiteY4" fmla="*/ 1905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53000" h="1143000">
                <a:moveTo>
                  <a:pt x="0" y="0"/>
                </a:moveTo>
                <a:lnTo>
                  <a:pt x="0" y="1143000"/>
                </a:lnTo>
                <a:lnTo>
                  <a:pt x="4543425" y="1143000"/>
                </a:lnTo>
                <a:lnTo>
                  <a:pt x="4543425" y="19050"/>
                </a:lnTo>
                <a:lnTo>
                  <a:pt x="4953000" y="19050"/>
                </a:lnTo>
              </a:path>
            </a:pathLst>
          </a:custGeom>
          <a:noFill/>
          <a:ln w="28575">
            <a:solidFill>
              <a:srgbClr val="56C4D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5" name="Straight Arrow Connector 74"/>
          <p:cNvCxnSpPr/>
          <p:nvPr/>
        </p:nvCxnSpPr>
        <p:spPr bwMode="gray">
          <a:xfrm>
            <a:off x="9801587" y="5462970"/>
            <a:ext cx="666750" cy="0"/>
          </a:xfrm>
          <a:prstGeom prst="straightConnector1">
            <a:avLst/>
          </a:prstGeom>
          <a:noFill/>
          <a:ln w="28575">
            <a:solidFill>
              <a:srgbClr val="56C4D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sp>
        <p:nvSpPr>
          <p:cNvPr id="77" name="TextBox 16"/>
          <p:cNvSpPr txBox="1"/>
          <p:nvPr/>
        </p:nvSpPr>
        <p:spPr bwMode="gray">
          <a:xfrm>
            <a:off x="10436309" y="5324470"/>
            <a:ext cx="912103" cy="276999"/>
          </a:xfrm>
          <a:prstGeom prst="rect">
            <a:avLst/>
          </a:prstGeom>
          <a:noFill/>
        </p:spPr>
        <p:txBody>
          <a:bodyPr wrap="square" rtlCol="0">
            <a:spAutoFit/>
          </a:bodyPr>
          <a:lstStyle/>
          <a:p>
            <a:pPr>
              <a:buClr>
                <a:srgbClr val="CC9900"/>
              </a:buClr>
              <a:buFont typeface="Wingdings" panose="05000000000000000000" pitchFamily="2" charset="2"/>
              <a:buNone/>
            </a:pPr>
            <a:r>
              <a:rPr lang="en-US" altLang="zh-CN" sz="1200" dirty="0">
                <a:solidFill>
                  <a:srgbClr val="000000"/>
                </a:solidFill>
                <a:cs typeface="+mn-ea"/>
                <a:sym typeface="+mn-lt"/>
              </a:rPr>
              <a:t>ECMP</a:t>
            </a:r>
            <a:r>
              <a:rPr lang="zh-CN" altLang="en-US" sz="1200" dirty="0">
                <a:solidFill>
                  <a:srgbClr val="000000"/>
                </a:solidFill>
                <a:cs typeface="+mn-ea"/>
                <a:sym typeface="+mn-lt"/>
              </a:rPr>
              <a:t>路径</a:t>
            </a:r>
            <a:endParaRPr lang="zh-CN" altLang="en-US" sz="1200" dirty="0">
              <a:solidFill>
                <a:srgbClr val="000000"/>
              </a:solidFill>
              <a:cs typeface="+mn-ea"/>
              <a:sym typeface="+mn-lt"/>
            </a:endParaRPr>
          </a:p>
        </p:txBody>
      </p:sp>
      <p:sp>
        <p:nvSpPr>
          <p:cNvPr id="80" name="文本框 5"/>
          <p:cNvSpPr txBox="1"/>
          <p:nvPr/>
        </p:nvSpPr>
        <p:spPr bwMode="gray">
          <a:xfrm>
            <a:off x="836258" y="2588322"/>
            <a:ext cx="4457638" cy="1015663"/>
          </a:xfrm>
          <a:prstGeom prst="rect">
            <a:avLst/>
          </a:prstGeom>
          <a:solidFill>
            <a:schemeClr val="bg1">
              <a:lumMod val="85000"/>
            </a:schemeClr>
          </a:solidFill>
        </p:spPr>
        <p:txBody>
          <a:bodyPr wrap="square">
            <a:spAutoFit/>
          </a:bodyPr>
          <a:lstStyle>
            <a:defPPr>
              <a:defRPr lang="en-US"/>
            </a:defPPr>
            <a:lvl1pPr>
              <a:defRPr sz="1400"/>
            </a:lvl1p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SRv6 policy PE1toPE3</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endpoint PE3 color 100</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candidate-path preference 200</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segment-list &lt;PE1.End, PE3.End&gt; // ECMP</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segment-list &lt;PE2.End, P2.End, PE4.End , PE3.End &gt; // ECMP</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五边形 2"/>
          <p:cNvSpPr/>
          <p:nvPr/>
        </p:nvSpPr>
        <p:spPr bwMode="gray">
          <a:xfrm>
            <a:off x="9278937" y="110463"/>
            <a:ext cx="1166602"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本地保护技术</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燕尾形 3"/>
          <p:cNvSpPr/>
          <p:nvPr/>
        </p:nvSpPr>
        <p:spPr bwMode="gray">
          <a:xfrm>
            <a:off x="10368978" y="110463"/>
            <a:ext cx="1380109"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端到端保护技术</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gray"/>
        <p:txBody>
          <a:bodyPr/>
          <a:lstStyle/>
          <a:p>
            <a:r>
              <a:rPr lang="en-US" altLang="zh-CN" dirty="0"/>
              <a:t>SRv6 Policy</a:t>
            </a:r>
            <a:r>
              <a:rPr lang="zh-CN" altLang="en-US" dirty="0"/>
              <a:t>逃生路径</a:t>
            </a:r>
            <a:endParaRPr lang="zh-CN" altLang="en-US" dirty="0"/>
          </a:p>
        </p:txBody>
      </p:sp>
      <p:sp>
        <p:nvSpPr>
          <p:cNvPr id="3" name="Text Placeholder 2"/>
          <p:cNvSpPr>
            <a:spLocks noGrp="1"/>
          </p:cNvSpPr>
          <p:nvPr>
            <p:ph type="body" sz="quarter" idx="10"/>
          </p:nvPr>
        </p:nvSpPr>
        <p:spPr bwMode="gray"/>
        <p:txBody>
          <a:bodyPr/>
          <a:lstStyle/>
          <a:p>
            <a:r>
              <a:rPr lang="zh-CN" altLang="en-US" sz="1800" dirty="0"/>
              <a:t>当</a:t>
            </a:r>
            <a:r>
              <a:rPr lang="en-US" altLang="zh-CN" sz="1800" dirty="0"/>
              <a:t>PE1</a:t>
            </a:r>
            <a:r>
              <a:rPr lang="zh-CN" altLang="en-US" sz="1800" dirty="0"/>
              <a:t>通过</a:t>
            </a:r>
            <a:r>
              <a:rPr lang="en-US" altLang="zh-CN" sz="1800" dirty="0"/>
              <a:t>SBFD</a:t>
            </a:r>
            <a:r>
              <a:rPr lang="zh-CN" altLang="en-US" sz="1800" dirty="0"/>
              <a:t>感知到主路径和备份路径都失效的情况下，</a:t>
            </a:r>
            <a:r>
              <a:rPr lang="en-US" altLang="zh-CN" sz="1800" dirty="0"/>
              <a:t>PE1</a:t>
            </a:r>
            <a:r>
              <a:rPr lang="zh-CN" altLang="en-US" sz="1800" dirty="0"/>
              <a:t>会将流量承载与</a:t>
            </a:r>
            <a:r>
              <a:rPr lang="en-US" altLang="zh-CN" sz="1800" dirty="0"/>
              <a:t>SRv6 BE</a:t>
            </a:r>
            <a:r>
              <a:rPr lang="zh-CN" altLang="en-US" sz="1800" dirty="0"/>
              <a:t>隧道之上。</a:t>
            </a:r>
            <a:endParaRPr lang="en-US" altLang="zh-CN" sz="1800" dirty="0"/>
          </a:p>
          <a:p>
            <a:endParaRPr lang="zh-CN" altLang="en-US" sz="1800" dirty="0"/>
          </a:p>
        </p:txBody>
      </p:sp>
      <p:pic>
        <p:nvPicPr>
          <p:cNvPr id="4"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3476765" y="3067283"/>
            <a:ext cx="468318" cy="383051"/>
          </a:xfrm>
          <a:prstGeom prst="rect">
            <a:avLst/>
          </a:prstGeom>
        </p:spPr>
      </p:pic>
      <p:pic>
        <p:nvPicPr>
          <p:cNvPr id="5"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3476765" y="4343633"/>
            <a:ext cx="468318" cy="383051"/>
          </a:xfrm>
          <a:prstGeom prst="rect">
            <a:avLst/>
          </a:prstGeom>
        </p:spPr>
      </p:pic>
      <p:pic>
        <p:nvPicPr>
          <p:cNvPr id="6" name="图片 18"/>
          <p:cNvPicPr/>
          <p:nvPr/>
        </p:nvPicPr>
        <p:blipFill>
          <a:blip r:embed="rId1"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5057915" y="3067283"/>
            <a:ext cx="468318" cy="383051"/>
          </a:xfrm>
          <a:prstGeom prst="rect">
            <a:avLst/>
          </a:prstGeom>
        </p:spPr>
      </p:pic>
      <p:pic>
        <p:nvPicPr>
          <p:cNvPr id="7"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5057915" y="4343633"/>
            <a:ext cx="468318" cy="383051"/>
          </a:xfrm>
          <a:prstGeom prst="rect">
            <a:avLst/>
          </a:prstGeom>
        </p:spPr>
      </p:pic>
      <p:pic>
        <p:nvPicPr>
          <p:cNvPr id="8"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6635513" y="3067283"/>
            <a:ext cx="468318" cy="383051"/>
          </a:xfrm>
          <a:prstGeom prst="rect">
            <a:avLst/>
          </a:prstGeom>
        </p:spPr>
      </p:pic>
      <p:pic>
        <p:nvPicPr>
          <p:cNvPr id="9" name="图片 18"/>
          <p:cNvPicPr/>
          <p:nvPr/>
        </p:nvPicPr>
        <p:blipFill>
          <a:blip r:embed="rId1"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6635513" y="4343633"/>
            <a:ext cx="468318" cy="383051"/>
          </a:xfrm>
          <a:prstGeom prst="rect">
            <a:avLst/>
          </a:prstGeom>
        </p:spPr>
      </p:pic>
      <p:pic>
        <p:nvPicPr>
          <p:cNvPr id="10"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8213111" y="3067650"/>
            <a:ext cx="468318" cy="383051"/>
          </a:xfrm>
          <a:prstGeom prst="rect">
            <a:avLst/>
          </a:prstGeom>
        </p:spPr>
      </p:pic>
      <p:pic>
        <p:nvPicPr>
          <p:cNvPr id="11"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8213111" y="4344000"/>
            <a:ext cx="468318" cy="383051"/>
          </a:xfrm>
          <a:prstGeom prst="rect">
            <a:avLst/>
          </a:prstGeom>
        </p:spPr>
      </p:pic>
      <p:pic>
        <p:nvPicPr>
          <p:cNvPr id="12"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2200415" y="3692098"/>
            <a:ext cx="468318" cy="383051"/>
          </a:xfrm>
          <a:prstGeom prst="rect">
            <a:avLst/>
          </a:prstGeom>
        </p:spPr>
      </p:pic>
      <p:pic>
        <p:nvPicPr>
          <p:cNvPr id="13"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9639440" y="3692097"/>
            <a:ext cx="468318" cy="383051"/>
          </a:xfrm>
          <a:prstGeom prst="rect">
            <a:avLst/>
          </a:prstGeom>
        </p:spPr>
      </p:pic>
      <p:cxnSp>
        <p:nvCxnSpPr>
          <p:cNvPr id="14" name="直接连接符 22"/>
          <p:cNvCxnSpPr>
            <a:stCxn id="12" idx="0"/>
            <a:endCxn id="4" idx="1"/>
          </p:cNvCxnSpPr>
          <p:nvPr/>
        </p:nvCxnSpPr>
        <p:spPr bwMode="gray">
          <a:xfrm flipV="1">
            <a:off x="2434574" y="3258809"/>
            <a:ext cx="1042191" cy="433289"/>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cxnSp>
        <p:nvCxnSpPr>
          <p:cNvPr id="17" name="直接连接符 22"/>
          <p:cNvCxnSpPr>
            <a:stCxn id="12" idx="2"/>
            <a:endCxn id="5" idx="1"/>
          </p:cNvCxnSpPr>
          <p:nvPr/>
        </p:nvCxnSpPr>
        <p:spPr bwMode="gray">
          <a:xfrm>
            <a:off x="2434574" y="4075149"/>
            <a:ext cx="1042191" cy="460010"/>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cxnSp>
        <p:nvCxnSpPr>
          <p:cNvPr id="22" name="直接连接符 22"/>
          <p:cNvCxnSpPr>
            <a:stCxn id="4" idx="2"/>
            <a:endCxn id="5" idx="0"/>
          </p:cNvCxnSpPr>
          <p:nvPr/>
        </p:nvCxnSpPr>
        <p:spPr bwMode="gray">
          <a:xfrm>
            <a:off x="3710924" y="3450334"/>
            <a:ext cx="0" cy="893299"/>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cxnSp>
        <p:nvCxnSpPr>
          <p:cNvPr id="25" name="直接连接符 22"/>
          <p:cNvCxnSpPr>
            <a:stCxn id="4" idx="3"/>
            <a:endCxn id="6" idx="1"/>
          </p:cNvCxnSpPr>
          <p:nvPr/>
        </p:nvCxnSpPr>
        <p:spPr bwMode="gray">
          <a:xfrm>
            <a:off x="3945083" y="3258809"/>
            <a:ext cx="1112832" cy="0"/>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cxnSp>
        <p:nvCxnSpPr>
          <p:cNvPr id="28" name="直接连接符 22"/>
          <p:cNvCxnSpPr>
            <a:stCxn id="5" idx="3"/>
            <a:endCxn id="7" idx="1"/>
          </p:cNvCxnSpPr>
          <p:nvPr/>
        </p:nvCxnSpPr>
        <p:spPr bwMode="gray">
          <a:xfrm>
            <a:off x="3945083" y="4535159"/>
            <a:ext cx="1112832" cy="0"/>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cxnSp>
        <p:nvCxnSpPr>
          <p:cNvPr id="31" name="直接连接符 22"/>
          <p:cNvCxnSpPr>
            <a:stCxn id="6" idx="3"/>
            <a:endCxn id="8" idx="1"/>
          </p:cNvCxnSpPr>
          <p:nvPr/>
        </p:nvCxnSpPr>
        <p:spPr bwMode="gray">
          <a:xfrm>
            <a:off x="5526233" y="3258809"/>
            <a:ext cx="1109280" cy="0"/>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cxnSp>
        <p:nvCxnSpPr>
          <p:cNvPr id="34" name="直接连接符 22"/>
          <p:cNvCxnSpPr>
            <a:stCxn id="7" idx="3"/>
            <a:endCxn id="9" idx="1"/>
          </p:cNvCxnSpPr>
          <p:nvPr/>
        </p:nvCxnSpPr>
        <p:spPr bwMode="gray">
          <a:xfrm>
            <a:off x="5526233" y="4535159"/>
            <a:ext cx="1109280" cy="0"/>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cxnSp>
        <p:nvCxnSpPr>
          <p:cNvPr id="37" name="直接连接符 22"/>
          <p:cNvCxnSpPr>
            <a:stCxn id="8" idx="3"/>
            <a:endCxn id="10" idx="1"/>
          </p:cNvCxnSpPr>
          <p:nvPr/>
        </p:nvCxnSpPr>
        <p:spPr bwMode="gray">
          <a:xfrm>
            <a:off x="7103831" y="3258809"/>
            <a:ext cx="1109280" cy="367"/>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cxnSp>
        <p:nvCxnSpPr>
          <p:cNvPr id="40" name="直接连接符 22"/>
          <p:cNvCxnSpPr>
            <a:stCxn id="9" idx="3"/>
            <a:endCxn id="11" idx="1"/>
          </p:cNvCxnSpPr>
          <p:nvPr/>
        </p:nvCxnSpPr>
        <p:spPr bwMode="gray">
          <a:xfrm>
            <a:off x="7103831" y="4535159"/>
            <a:ext cx="1109280" cy="367"/>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cxnSp>
        <p:nvCxnSpPr>
          <p:cNvPr id="45" name="直接连接符 22"/>
          <p:cNvCxnSpPr>
            <a:stCxn id="13" idx="0"/>
            <a:endCxn id="10" idx="3"/>
          </p:cNvCxnSpPr>
          <p:nvPr/>
        </p:nvCxnSpPr>
        <p:spPr bwMode="gray">
          <a:xfrm flipH="1" flipV="1">
            <a:off x="8681429" y="3259176"/>
            <a:ext cx="1192170" cy="432921"/>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cxnSp>
        <p:nvCxnSpPr>
          <p:cNvPr id="48" name="直接连接符 22"/>
          <p:cNvCxnSpPr>
            <a:stCxn id="13" idx="2"/>
            <a:endCxn id="11" idx="3"/>
          </p:cNvCxnSpPr>
          <p:nvPr/>
        </p:nvCxnSpPr>
        <p:spPr bwMode="gray">
          <a:xfrm flipH="1">
            <a:off x="8681429" y="4075148"/>
            <a:ext cx="1192170" cy="460378"/>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cxnSp>
        <p:nvCxnSpPr>
          <p:cNvPr id="51" name="直接连接符 22"/>
          <p:cNvCxnSpPr>
            <a:stCxn id="11" idx="0"/>
            <a:endCxn id="10" idx="2"/>
          </p:cNvCxnSpPr>
          <p:nvPr/>
        </p:nvCxnSpPr>
        <p:spPr bwMode="gray">
          <a:xfrm flipV="1">
            <a:off x="8447270" y="3450701"/>
            <a:ext cx="0" cy="893299"/>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cxnSp>
        <p:nvCxnSpPr>
          <p:cNvPr id="54" name="直接连接符 22"/>
          <p:cNvCxnSpPr>
            <a:stCxn id="9" idx="0"/>
            <a:endCxn id="8" idx="2"/>
          </p:cNvCxnSpPr>
          <p:nvPr/>
        </p:nvCxnSpPr>
        <p:spPr bwMode="gray">
          <a:xfrm flipV="1">
            <a:off x="6869672" y="3450334"/>
            <a:ext cx="0" cy="893299"/>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cxnSp>
        <p:nvCxnSpPr>
          <p:cNvPr id="57" name="直接连接符 22"/>
          <p:cNvCxnSpPr>
            <a:stCxn id="7" idx="0"/>
            <a:endCxn id="6" idx="2"/>
          </p:cNvCxnSpPr>
          <p:nvPr/>
        </p:nvCxnSpPr>
        <p:spPr bwMode="gray">
          <a:xfrm flipV="1">
            <a:off x="5292074" y="3450334"/>
            <a:ext cx="0" cy="893299"/>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sp>
        <p:nvSpPr>
          <p:cNvPr id="60" name="TextBox 59"/>
          <p:cNvSpPr txBox="1"/>
          <p:nvPr/>
        </p:nvSpPr>
        <p:spPr bwMode="gray">
          <a:xfrm>
            <a:off x="1727334" y="3745122"/>
            <a:ext cx="477846"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CE1</a:t>
            </a:r>
            <a:endParaRPr lang="zh-CN" altLang="en-US" sz="1200" dirty="0">
              <a:solidFill>
                <a:srgbClr val="000000"/>
              </a:solidFill>
              <a:cs typeface="+mn-ea"/>
              <a:sym typeface="+mn-lt"/>
            </a:endParaRPr>
          </a:p>
        </p:txBody>
      </p:sp>
      <p:sp>
        <p:nvSpPr>
          <p:cNvPr id="61" name="TextBox 60"/>
          <p:cNvSpPr txBox="1"/>
          <p:nvPr/>
        </p:nvSpPr>
        <p:spPr bwMode="gray">
          <a:xfrm>
            <a:off x="3476765" y="2800301"/>
            <a:ext cx="477846"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PE1</a:t>
            </a:r>
            <a:endParaRPr lang="zh-CN" altLang="en-US" sz="1200" dirty="0">
              <a:solidFill>
                <a:srgbClr val="000000"/>
              </a:solidFill>
              <a:cs typeface="+mn-ea"/>
              <a:sym typeface="+mn-lt"/>
            </a:endParaRPr>
          </a:p>
        </p:txBody>
      </p:sp>
      <p:sp>
        <p:nvSpPr>
          <p:cNvPr id="62" name="TextBox 61"/>
          <p:cNvSpPr txBox="1"/>
          <p:nvPr/>
        </p:nvSpPr>
        <p:spPr bwMode="gray">
          <a:xfrm>
            <a:off x="3476765" y="4728522"/>
            <a:ext cx="477846"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PE2</a:t>
            </a:r>
            <a:endParaRPr lang="zh-CN" altLang="en-US" sz="1200" dirty="0">
              <a:solidFill>
                <a:srgbClr val="000000"/>
              </a:solidFill>
              <a:cs typeface="+mn-ea"/>
              <a:sym typeface="+mn-lt"/>
            </a:endParaRPr>
          </a:p>
        </p:txBody>
      </p:sp>
      <p:sp>
        <p:nvSpPr>
          <p:cNvPr id="63" name="TextBox 62"/>
          <p:cNvSpPr txBox="1"/>
          <p:nvPr/>
        </p:nvSpPr>
        <p:spPr bwMode="gray">
          <a:xfrm>
            <a:off x="5046611" y="2799076"/>
            <a:ext cx="477846"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P1</a:t>
            </a:r>
            <a:endParaRPr lang="zh-CN" altLang="en-US" sz="1200" dirty="0">
              <a:solidFill>
                <a:srgbClr val="000000"/>
              </a:solidFill>
              <a:cs typeface="+mn-ea"/>
              <a:sym typeface="+mn-lt"/>
            </a:endParaRPr>
          </a:p>
        </p:txBody>
      </p:sp>
      <p:sp>
        <p:nvSpPr>
          <p:cNvPr id="64" name="TextBox 63"/>
          <p:cNvSpPr txBox="1"/>
          <p:nvPr/>
        </p:nvSpPr>
        <p:spPr bwMode="gray">
          <a:xfrm>
            <a:off x="5046611" y="4732358"/>
            <a:ext cx="477846"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P2</a:t>
            </a:r>
            <a:endParaRPr lang="zh-CN" altLang="en-US" sz="1200" dirty="0">
              <a:solidFill>
                <a:srgbClr val="000000"/>
              </a:solidFill>
              <a:cs typeface="+mn-ea"/>
              <a:sym typeface="+mn-lt"/>
            </a:endParaRPr>
          </a:p>
        </p:txBody>
      </p:sp>
      <p:sp>
        <p:nvSpPr>
          <p:cNvPr id="65" name="TextBox 64"/>
          <p:cNvSpPr txBox="1"/>
          <p:nvPr/>
        </p:nvSpPr>
        <p:spPr bwMode="gray">
          <a:xfrm>
            <a:off x="6608897" y="2793402"/>
            <a:ext cx="477846"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P3</a:t>
            </a:r>
            <a:endParaRPr lang="zh-CN" altLang="en-US" sz="1200" dirty="0">
              <a:solidFill>
                <a:srgbClr val="000000"/>
              </a:solidFill>
              <a:cs typeface="+mn-ea"/>
              <a:sym typeface="+mn-lt"/>
            </a:endParaRPr>
          </a:p>
        </p:txBody>
      </p:sp>
      <p:sp>
        <p:nvSpPr>
          <p:cNvPr id="66" name="TextBox 65"/>
          <p:cNvSpPr txBox="1"/>
          <p:nvPr/>
        </p:nvSpPr>
        <p:spPr bwMode="gray">
          <a:xfrm>
            <a:off x="6608897" y="4726684"/>
            <a:ext cx="477846"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P4</a:t>
            </a:r>
            <a:endParaRPr lang="zh-CN" altLang="en-US" sz="1200" dirty="0">
              <a:solidFill>
                <a:srgbClr val="000000"/>
              </a:solidFill>
              <a:cs typeface="+mn-ea"/>
              <a:sym typeface="+mn-lt"/>
            </a:endParaRPr>
          </a:p>
        </p:txBody>
      </p:sp>
      <p:sp>
        <p:nvSpPr>
          <p:cNvPr id="69" name="TextBox 68"/>
          <p:cNvSpPr txBox="1"/>
          <p:nvPr/>
        </p:nvSpPr>
        <p:spPr bwMode="gray">
          <a:xfrm>
            <a:off x="8201761" y="2789709"/>
            <a:ext cx="477846"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PE3</a:t>
            </a:r>
            <a:endParaRPr lang="zh-CN" altLang="en-US" sz="1200" dirty="0">
              <a:solidFill>
                <a:srgbClr val="000000"/>
              </a:solidFill>
              <a:cs typeface="+mn-ea"/>
              <a:sym typeface="+mn-lt"/>
            </a:endParaRPr>
          </a:p>
        </p:txBody>
      </p:sp>
      <p:sp>
        <p:nvSpPr>
          <p:cNvPr id="70" name="TextBox 69"/>
          <p:cNvSpPr txBox="1"/>
          <p:nvPr/>
        </p:nvSpPr>
        <p:spPr bwMode="gray">
          <a:xfrm>
            <a:off x="8201761" y="4717930"/>
            <a:ext cx="477846"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PE4</a:t>
            </a:r>
            <a:endParaRPr lang="zh-CN" altLang="en-US" sz="1200" dirty="0">
              <a:solidFill>
                <a:srgbClr val="000000"/>
              </a:solidFill>
              <a:cs typeface="+mn-ea"/>
              <a:sym typeface="+mn-lt"/>
            </a:endParaRPr>
          </a:p>
        </p:txBody>
      </p:sp>
      <p:sp>
        <p:nvSpPr>
          <p:cNvPr id="71" name="TextBox 70"/>
          <p:cNvSpPr txBox="1"/>
          <p:nvPr/>
        </p:nvSpPr>
        <p:spPr bwMode="gray">
          <a:xfrm>
            <a:off x="10107758" y="3745122"/>
            <a:ext cx="477846"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CE2</a:t>
            </a:r>
            <a:endParaRPr lang="zh-CN" altLang="en-US" sz="1200" dirty="0">
              <a:solidFill>
                <a:srgbClr val="000000"/>
              </a:solidFill>
              <a:cs typeface="+mn-ea"/>
              <a:sym typeface="+mn-lt"/>
            </a:endParaRPr>
          </a:p>
        </p:txBody>
      </p:sp>
      <p:sp>
        <p:nvSpPr>
          <p:cNvPr id="72" name="Freeform 71"/>
          <p:cNvSpPr/>
          <p:nvPr/>
        </p:nvSpPr>
        <p:spPr bwMode="gray">
          <a:xfrm>
            <a:off x="3426081" y="3167488"/>
            <a:ext cx="5355249" cy="45719"/>
          </a:xfrm>
          <a:custGeom>
            <a:avLst/>
            <a:gdLst>
              <a:gd name="connsiteX0" fmla="*/ 0 w 5238750"/>
              <a:gd name="connsiteY0" fmla="*/ 0 h 0"/>
              <a:gd name="connsiteX1" fmla="*/ 5238750 w 5238750"/>
              <a:gd name="connsiteY1" fmla="*/ 0 h 0"/>
            </a:gdLst>
            <a:ahLst/>
            <a:cxnLst>
              <a:cxn ang="0">
                <a:pos x="connsiteX0" y="connsiteY0"/>
              </a:cxn>
              <a:cxn ang="0">
                <a:pos x="connsiteX1" y="connsiteY1"/>
              </a:cxn>
            </a:cxnLst>
            <a:rect l="l" t="t" r="r" b="b"/>
            <a:pathLst>
              <a:path w="5238750">
                <a:moveTo>
                  <a:pt x="0" y="0"/>
                </a:moveTo>
                <a:lnTo>
                  <a:pt x="5238750" y="0"/>
                </a:lnTo>
              </a:path>
            </a:pathLst>
          </a:custGeom>
          <a:noFill/>
          <a:ln w="28575">
            <a:solidFill>
              <a:srgbClr val="56C4D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Freeform 19"/>
          <p:cNvSpPr/>
          <p:nvPr/>
        </p:nvSpPr>
        <p:spPr bwMode="gray">
          <a:xfrm>
            <a:off x="3798653" y="3298788"/>
            <a:ext cx="4982677" cy="1123950"/>
          </a:xfrm>
          <a:custGeom>
            <a:avLst/>
            <a:gdLst>
              <a:gd name="connsiteX0" fmla="*/ 0 w 4943475"/>
              <a:gd name="connsiteY0" fmla="*/ 0 h 1123950"/>
              <a:gd name="connsiteX1" fmla="*/ 0 w 4943475"/>
              <a:gd name="connsiteY1" fmla="*/ 1123950 h 1123950"/>
              <a:gd name="connsiteX2" fmla="*/ 2981325 w 4943475"/>
              <a:gd name="connsiteY2" fmla="*/ 1123950 h 1123950"/>
              <a:gd name="connsiteX3" fmla="*/ 2981325 w 4943475"/>
              <a:gd name="connsiteY3" fmla="*/ 47625 h 1123950"/>
              <a:gd name="connsiteX4" fmla="*/ 4943475 w 4943475"/>
              <a:gd name="connsiteY4" fmla="*/ 47625 h 11239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43475" h="1123950">
                <a:moveTo>
                  <a:pt x="0" y="0"/>
                </a:moveTo>
                <a:lnTo>
                  <a:pt x="0" y="1123950"/>
                </a:lnTo>
                <a:lnTo>
                  <a:pt x="2981325" y="1123950"/>
                </a:lnTo>
                <a:lnTo>
                  <a:pt x="2981325" y="47625"/>
                </a:lnTo>
                <a:lnTo>
                  <a:pt x="4943475" y="47625"/>
                </a:lnTo>
              </a:path>
            </a:pathLst>
          </a:custGeom>
          <a:noFill/>
          <a:ln w="28575">
            <a:solidFill>
              <a:srgbClr val="E28189"/>
            </a:solidFill>
            <a:prstDash val="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5" name="Straight Arrow Connector 54"/>
          <p:cNvCxnSpPr/>
          <p:nvPr/>
        </p:nvCxnSpPr>
        <p:spPr bwMode="gray">
          <a:xfrm>
            <a:off x="10057509" y="4688439"/>
            <a:ext cx="666750" cy="0"/>
          </a:xfrm>
          <a:prstGeom prst="straightConnector1">
            <a:avLst/>
          </a:prstGeom>
          <a:noFill/>
          <a:ln w="28575">
            <a:solidFill>
              <a:srgbClr val="56C4D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56" name="Straight Arrow Connector 55"/>
          <p:cNvCxnSpPr/>
          <p:nvPr/>
        </p:nvCxnSpPr>
        <p:spPr bwMode="gray">
          <a:xfrm>
            <a:off x="10057509" y="5021814"/>
            <a:ext cx="666750" cy="0"/>
          </a:xfrm>
          <a:prstGeom prst="straightConnector1">
            <a:avLst/>
          </a:prstGeom>
          <a:noFill/>
          <a:ln w="28575">
            <a:solidFill>
              <a:srgbClr val="E28189"/>
            </a:solidFill>
            <a:prstDash val="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sp>
        <p:nvSpPr>
          <p:cNvPr id="58" name="TextBox 16"/>
          <p:cNvSpPr txBox="1"/>
          <p:nvPr/>
        </p:nvSpPr>
        <p:spPr bwMode="gray">
          <a:xfrm>
            <a:off x="10692231" y="4549939"/>
            <a:ext cx="815211" cy="276999"/>
          </a:xfrm>
          <a:prstGeom prst="rect">
            <a:avLst/>
          </a:prstGeom>
          <a:noFill/>
        </p:spPr>
        <p:txBody>
          <a:bodyPr wrap="square" rtlCol="0">
            <a:spAutoFit/>
          </a:bodyPr>
          <a:lstStyle/>
          <a:p>
            <a:pPr>
              <a:buClr>
                <a:srgbClr val="CC9900"/>
              </a:buClr>
              <a:buFont typeface="Wingdings" panose="05000000000000000000" pitchFamily="2" charset="2"/>
              <a:buNone/>
            </a:pPr>
            <a:r>
              <a:rPr lang="zh-CN" altLang="en-US" sz="1200" dirty="0">
                <a:solidFill>
                  <a:srgbClr val="000000"/>
                </a:solidFill>
                <a:cs typeface="+mn-ea"/>
                <a:sym typeface="+mn-lt"/>
              </a:rPr>
              <a:t>主路径</a:t>
            </a:r>
            <a:endParaRPr lang="zh-CN" altLang="en-US" sz="1200" dirty="0">
              <a:solidFill>
                <a:srgbClr val="000000"/>
              </a:solidFill>
              <a:cs typeface="+mn-ea"/>
              <a:sym typeface="+mn-lt"/>
            </a:endParaRPr>
          </a:p>
        </p:txBody>
      </p:sp>
      <p:sp>
        <p:nvSpPr>
          <p:cNvPr id="59" name="TextBox 16"/>
          <p:cNvSpPr txBox="1"/>
          <p:nvPr/>
        </p:nvSpPr>
        <p:spPr bwMode="gray">
          <a:xfrm>
            <a:off x="10692232" y="4883314"/>
            <a:ext cx="815210" cy="276999"/>
          </a:xfrm>
          <a:prstGeom prst="rect">
            <a:avLst/>
          </a:prstGeom>
          <a:noFill/>
        </p:spPr>
        <p:txBody>
          <a:bodyPr wrap="square" rtlCol="0">
            <a:spAutoFit/>
          </a:bodyPr>
          <a:lstStyle/>
          <a:p>
            <a:pPr algn="ctr">
              <a:buClr>
                <a:srgbClr val="CC9900"/>
              </a:buClr>
              <a:buFont typeface="Wingdings" panose="05000000000000000000" pitchFamily="2" charset="2"/>
              <a:buNone/>
            </a:pPr>
            <a:r>
              <a:rPr lang="zh-CN" altLang="en-US" sz="1200" dirty="0">
                <a:solidFill>
                  <a:srgbClr val="000000"/>
                </a:solidFill>
                <a:cs typeface="+mn-ea"/>
                <a:sym typeface="+mn-lt"/>
              </a:rPr>
              <a:t>备份路径</a:t>
            </a:r>
            <a:endParaRPr lang="zh-CN" altLang="en-US" sz="1200" dirty="0">
              <a:solidFill>
                <a:srgbClr val="000000"/>
              </a:solidFill>
              <a:cs typeface="+mn-ea"/>
              <a:sym typeface="+mn-lt"/>
            </a:endParaRPr>
          </a:p>
        </p:txBody>
      </p:sp>
      <p:sp>
        <p:nvSpPr>
          <p:cNvPr id="67" name="Plus Sign 75"/>
          <p:cNvSpPr/>
          <p:nvPr/>
        </p:nvSpPr>
        <p:spPr bwMode="gray">
          <a:xfrm rot="2700000">
            <a:off x="5967244" y="3045233"/>
            <a:ext cx="298938" cy="298938"/>
          </a:xfrm>
          <a:prstGeom prst="mathPlus">
            <a:avLst/>
          </a:prstGeom>
          <a:solidFill>
            <a:srgbClr val="E28189"/>
          </a:solidFill>
          <a:ln>
            <a:solidFill>
              <a:srgbClr val="E2818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Plus Sign 75"/>
          <p:cNvSpPr/>
          <p:nvPr/>
        </p:nvSpPr>
        <p:spPr bwMode="gray">
          <a:xfrm rot="2700000">
            <a:off x="6702219" y="3807034"/>
            <a:ext cx="298938" cy="298938"/>
          </a:xfrm>
          <a:prstGeom prst="mathPlus">
            <a:avLst/>
          </a:prstGeom>
          <a:solidFill>
            <a:srgbClr val="E28189"/>
          </a:solidFill>
          <a:ln>
            <a:solidFill>
              <a:srgbClr val="E2818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ular Callout 73"/>
          <p:cNvSpPr/>
          <p:nvPr/>
        </p:nvSpPr>
        <p:spPr bwMode="gray">
          <a:xfrm>
            <a:off x="5706880" y="3508071"/>
            <a:ext cx="711563" cy="375550"/>
          </a:xfrm>
          <a:prstGeom prst="wedgeRectCallout">
            <a:avLst>
              <a:gd name="adj1" fmla="val 8537"/>
              <a:gd name="adj2" fmla="val -99591"/>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主路径失效</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76" name="Rectangular Callout 75"/>
          <p:cNvSpPr/>
          <p:nvPr/>
        </p:nvSpPr>
        <p:spPr bwMode="gray">
          <a:xfrm>
            <a:off x="7155940" y="3709208"/>
            <a:ext cx="711563" cy="375550"/>
          </a:xfrm>
          <a:prstGeom prst="wedgeRectCallout">
            <a:avLst>
              <a:gd name="adj1" fmla="val -75795"/>
              <a:gd name="adj2" fmla="val 19614"/>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备份路径失效</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1" name="Freeform 20"/>
          <p:cNvSpPr/>
          <p:nvPr/>
        </p:nvSpPr>
        <p:spPr bwMode="auto">
          <a:xfrm>
            <a:off x="3608153" y="3289263"/>
            <a:ext cx="5172075" cy="1323975"/>
          </a:xfrm>
          <a:custGeom>
            <a:avLst/>
            <a:gdLst>
              <a:gd name="connsiteX0" fmla="*/ 0 w 5172075"/>
              <a:gd name="connsiteY0" fmla="*/ 0 h 1323975"/>
              <a:gd name="connsiteX1" fmla="*/ 0 w 5172075"/>
              <a:gd name="connsiteY1" fmla="*/ 1323975 h 1323975"/>
              <a:gd name="connsiteX2" fmla="*/ 4943475 w 5172075"/>
              <a:gd name="connsiteY2" fmla="*/ 1323975 h 1323975"/>
              <a:gd name="connsiteX3" fmla="*/ 4943475 w 5172075"/>
              <a:gd name="connsiteY3" fmla="*/ 152400 h 1323975"/>
              <a:gd name="connsiteX4" fmla="*/ 5172075 w 5172075"/>
              <a:gd name="connsiteY4" fmla="*/ 152400 h 13239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72075" h="1323975">
                <a:moveTo>
                  <a:pt x="0" y="0"/>
                </a:moveTo>
                <a:lnTo>
                  <a:pt x="0" y="1323975"/>
                </a:lnTo>
                <a:lnTo>
                  <a:pt x="4943475" y="1323975"/>
                </a:lnTo>
                <a:lnTo>
                  <a:pt x="4943475" y="152400"/>
                </a:lnTo>
                <a:lnTo>
                  <a:pt x="5172075" y="152400"/>
                </a:lnTo>
              </a:path>
            </a:pathLst>
          </a:custGeom>
          <a:noFill/>
          <a:ln w="28575">
            <a:solidFill>
              <a:srgbClr val="F28944"/>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8" name="Straight Arrow Connector 77"/>
          <p:cNvCxnSpPr/>
          <p:nvPr/>
        </p:nvCxnSpPr>
        <p:spPr bwMode="auto">
          <a:xfrm>
            <a:off x="10057509" y="5362834"/>
            <a:ext cx="666750" cy="0"/>
          </a:xfrm>
          <a:prstGeom prst="straightConnector1">
            <a:avLst/>
          </a:prstGeom>
          <a:noFill/>
          <a:ln w="28575">
            <a:solidFill>
              <a:srgbClr val="F28944"/>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sp>
        <p:nvSpPr>
          <p:cNvPr id="79" name="TextBox 16"/>
          <p:cNvSpPr txBox="1"/>
          <p:nvPr/>
        </p:nvSpPr>
        <p:spPr bwMode="gray">
          <a:xfrm>
            <a:off x="10692232" y="5224334"/>
            <a:ext cx="815210" cy="276999"/>
          </a:xfrm>
          <a:prstGeom prst="rect">
            <a:avLst/>
          </a:prstGeom>
          <a:noFill/>
        </p:spPr>
        <p:txBody>
          <a:bodyPr wrap="square" rtlCol="0">
            <a:spAutoFit/>
          </a:bodyPr>
          <a:lstStyle/>
          <a:p>
            <a:pPr algn="ctr">
              <a:buClr>
                <a:srgbClr val="CC9900"/>
              </a:buClr>
              <a:buFont typeface="Wingdings" panose="05000000000000000000" pitchFamily="2" charset="2"/>
              <a:buNone/>
            </a:pPr>
            <a:r>
              <a:rPr lang="zh-CN" altLang="en-US" sz="1200" dirty="0">
                <a:solidFill>
                  <a:srgbClr val="000000"/>
                </a:solidFill>
                <a:cs typeface="+mn-ea"/>
                <a:sym typeface="+mn-lt"/>
              </a:rPr>
              <a:t>逃生路径</a:t>
            </a:r>
            <a:endParaRPr lang="zh-CN" altLang="en-US" sz="1200" dirty="0">
              <a:solidFill>
                <a:srgbClr val="000000"/>
              </a:solidFill>
              <a:cs typeface="+mn-ea"/>
              <a:sym typeface="+mn-lt"/>
            </a:endParaRPr>
          </a:p>
        </p:txBody>
      </p:sp>
      <p:sp>
        <p:nvSpPr>
          <p:cNvPr id="81" name="Rectangular Callout 80"/>
          <p:cNvSpPr/>
          <p:nvPr/>
        </p:nvSpPr>
        <p:spPr bwMode="gray">
          <a:xfrm>
            <a:off x="7018708" y="4778512"/>
            <a:ext cx="1160035" cy="450341"/>
          </a:xfrm>
          <a:prstGeom prst="wedgeRectCallout">
            <a:avLst>
              <a:gd name="adj1" fmla="val -23590"/>
              <a:gd name="adj2" fmla="val -81837"/>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流量使用</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SRv6 BE</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承载流量</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2" name="五边形 2"/>
          <p:cNvSpPr/>
          <p:nvPr/>
        </p:nvSpPr>
        <p:spPr bwMode="gray">
          <a:xfrm>
            <a:off x="9278937" y="110463"/>
            <a:ext cx="1166602"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本地保护技术</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3" name="燕尾形 3"/>
          <p:cNvSpPr/>
          <p:nvPr/>
        </p:nvSpPr>
        <p:spPr bwMode="gray">
          <a:xfrm>
            <a:off x="10368978" y="110463"/>
            <a:ext cx="1380109"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端到端保护技术</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3" name="文本框 5"/>
          <p:cNvSpPr txBox="1"/>
          <p:nvPr/>
        </p:nvSpPr>
        <p:spPr bwMode="gray">
          <a:xfrm>
            <a:off x="903896" y="2182765"/>
            <a:ext cx="3972809" cy="646331"/>
          </a:xfrm>
          <a:prstGeom prst="rect">
            <a:avLst/>
          </a:prstGeom>
          <a:solidFill>
            <a:schemeClr val="bg1">
              <a:lumMod val="85000"/>
            </a:schemeClr>
          </a:solidFill>
        </p:spPr>
        <p:txBody>
          <a:bodyPr wrap="square">
            <a:spAutoFit/>
          </a:bodyPr>
          <a:lstStyle>
            <a:defPPr>
              <a:defRPr lang="en-US"/>
            </a:defPPr>
            <a:lvl1pPr>
              <a:defRPr sz="1400"/>
            </a:lvl1p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BGP 100</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ipv6-family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vpn</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-instance vpn1</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segment-routing ipv6 traffic-engineer </a:t>
            </a: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best-effort</a:t>
            </a:r>
            <a:endPar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en-US" altLang="zh-CN" sz="2200" dirty="0">
                <a:solidFill>
                  <a:schemeClr val="bg1">
                    <a:lumMod val="50000"/>
                  </a:schemeClr>
                </a:solidFill>
                <a:sym typeface="Huawei Sans" panose="020C0503030203020204" pitchFamily="34" charset="0"/>
              </a:rPr>
              <a:t>SRv6</a:t>
            </a:r>
            <a:r>
              <a:rPr lang="zh-CN" altLang="en-US" sz="2200" dirty="0">
                <a:solidFill>
                  <a:schemeClr val="bg1">
                    <a:lumMod val="50000"/>
                  </a:schemeClr>
                </a:solidFill>
                <a:sym typeface="Huawei Sans" panose="020C0503030203020204" pitchFamily="34" charset="0"/>
              </a:rPr>
              <a:t>概述</a:t>
            </a:r>
            <a:endParaRPr lang="zh-CN" altLang="en-US" sz="2200" dirty="0">
              <a:solidFill>
                <a:schemeClr val="bg1">
                  <a:lumMod val="50000"/>
                </a:schemeClr>
              </a:solidFill>
              <a:sym typeface="Huawei Sans" panose="020C0503030203020204" pitchFamily="34" charset="0"/>
            </a:endParaRPr>
          </a:p>
          <a:p>
            <a:r>
              <a:rPr lang="en-US" altLang="zh-CN" sz="2200" dirty="0">
                <a:solidFill>
                  <a:schemeClr val="bg1">
                    <a:lumMod val="50000"/>
                  </a:schemeClr>
                </a:solidFill>
                <a:sym typeface="Huawei Sans" panose="020C0503030203020204" pitchFamily="34" charset="0"/>
              </a:rPr>
              <a:t>SRv6</a:t>
            </a:r>
            <a:r>
              <a:rPr lang="zh-CN" altLang="en-US" sz="2200" dirty="0">
                <a:solidFill>
                  <a:schemeClr val="bg1">
                    <a:lumMod val="50000"/>
                  </a:schemeClr>
                </a:solidFill>
                <a:sym typeface="Huawei Sans" panose="020C0503030203020204" pitchFamily="34" charset="0"/>
              </a:rPr>
              <a:t>原理</a:t>
            </a:r>
            <a:endParaRPr lang="zh-CN" altLang="en-US" sz="2200" dirty="0">
              <a:solidFill>
                <a:schemeClr val="bg1">
                  <a:lumMod val="50000"/>
                </a:schemeClr>
              </a:solidFill>
              <a:sym typeface="Huawei Sans" panose="020C0503030203020204" pitchFamily="34" charset="0"/>
            </a:endParaRPr>
          </a:p>
          <a:p>
            <a:r>
              <a:rPr lang="en-US" altLang="zh-CN" sz="2200" b="1" dirty="0">
                <a:sym typeface="Huawei Sans" panose="020C0503030203020204" pitchFamily="34" charset="0"/>
              </a:rPr>
              <a:t>SRv6</a:t>
            </a:r>
            <a:r>
              <a:rPr lang="zh-CN" altLang="en-US" sz="2200" b="1" dirty="0">
                <a:sym typeface="Huawei Sans" panose="020C0503030203020204" pitchFamily="34" charset="0"/>
              </a:rPr>
              <a:t>高可靠性</a:t>
            </a:r>
            <a:endParaRPr lang="en-US" altLang="zh-CN" sz="2200" b="1" dirty="0">
              <a:sym typeface="Huawei Sans" panose="020C0503030203020204" pitchFamily="34" charset="0"/>
            </a:endParaRPr>
          </a:p>
          <a:p>
            <a:pPr lvl="1"/>
            <a:r>
              <a:rPr lang="en-US" altLang="zh-CN" sz="2000" dirty="0">
                <a:solidFill>
                  <a:schemeClr val="bg1">
                    <a:lumMod val="50000"/>
                  </a:schemeClr>
                </a:solidFill>
                <a:sym typeface="Huawei Sans" panose="020C0503030203020204" pitchFamily="34" charset="0"/>
              </a:rPr>
              <a:t>SRv6</a:t>
            </a:r>
            <a:r>
              <a:rPr lang="zh-CN" altLang="en-US" sz="2000" dirty="0">
                <a:solidFill>
                  <a:schemeClr val="bg1">
                    <a:lumMod val="50000"/>
                  </a:schemeClr>
                </a:solidFill>
                <a:sym typeface="Huawei Sans" panose="020C0503030203020204" pitchFamily="34" charset="0"/>
              </a:rPr>
              <a:t>高可靠性概述</a:t>
            </a:r>
            <a:endParaRPr lang="en-US" altLang="zh-CN" sz="2000" dirty="0">
              <a:solidFill>
                <a:schemeClr val="bg1">
                  <a:lumMod val="50000"/>
                </a:schemeClr>
              </a:solidFill>
              <a:sym typeface="Huawei Sans" panose="020C0503030203020204" pitchFamily="34" charset="0"/>
            </a:endParaRPr>
          </a:p>
          <a:p>
            <a:pPr lvl="1"/>
            <a:r>
              <a:rPr lang="en-US" altLang="zh-CN" sz="2000" dirty="0">
                <a:solidFill>
                  <a:schemeClr val="bg1">
                    <a:lumMod val="50000"/>
                  </a:schemeClr>
                </a:solidFill>
                <a:sym typeface="Huawei Sans" panose="020C0503030203020204" pitchFamily="34" charset="0"/>
              </a:rPr>
              <a:t>SRv6</a:t>
            </a:r>
            <a:r>
              <a:rPr lang="zh-CN" altLang="en-US" sz="2000" dirty="0">
                <a:solidFill>
                  <a:schemeClr val="bg1">
                    <a:lumMod val="50000"/>
                  </a:schemeClr>
                </a:solidFill>
                <a:sym typeface="Huawei Sans" panose="020C0503030203020204" pitchFamily="34" charset="0"/>
              </a:rPr>
              <a:t>隧道状态检测与隧道保护</a:t>
            </a:r>
            <a:endParaRPr lang="en-US" altLang="zh-CN" sz="2000" dirty="0">
              <a:solidFill>
                <a:schemeClr val="bg1">
                  <a:lumMod val="50000"/>
                </a:schemeClr>
              </a:solidFill>
              <a:sym typeface="Huawei Sans" panose="020C0503030203020204" pitchFamily="34" charset="0"/>
            </a:endParaRPr>
          </a:p>
          <a:p>
            <a:pPr lvl="1">
              <a:buSzPct val="60000"/>
              <a:buFont typeface="Wingdings" panose="05000000000000000000" pitchFamily="2" charset="2"/>
              <a:buChar char="n"/>
            </a:pPr>
            <a:r>
              <a:rPr lang="en-US" altLang="zh-CN" sz="2000" dirty="0">
                <a:sym typeface="Huawei Sans" panose="020C0503030203020204" pitchFamily="34" charset="0"/>
              </a:rPr>
              <a:t>SRv6</a:t>
            </a:r>
            <a:r>
              <a:rPr lang="zh-CN" altLang="en-US" sz="2000" dirty="0">
                <a:sym typeface="Huawei Sans" panose="020C0503030203020204" pitchFamily="34" charset="0"/>
              </a:rPr>
              <a:t>尾节点保护与接入保护</a:t>
            </a:r>
            <a:endParaRPr lang="en-US" altLang="zh-CN" sz="2000" dirty="0">
              <a:sym typeface="Huawei Sans" panose="020C0503030203020204" pitchFamily="34" charset="0"/>
            </a:endParaRPr>
          </a:p>
          <a:p>
            <a:r>
              <a:rPr lang="en-US" altLang="zh-CN" sz="2200" dirty="0">
                <a:solidFill>
                  <a:schemeClr val="bg1">
                    <a:lumMod val="50000"/>
                  </a:schemeClr>
                </a:solidFill>
                <a:sym typeface="Huawei Sans" panose="020C0503030203020204" pitchFamily="34" charset="0"/>
              </a:rPr>
              <a:t>SRv6</a:t>
            </a:r>
            <a:r>
              <a:rPr lang="zh-CN" altLang="en-US" sz="2200" dirty="0">
                <a:solidFill>
                  <a:schemeClr val="bg1">
                    <a:lumMod val="50000"/>
                  </a:schemeClr>
                </a:solidFill>
                <a:sym typeface="Huawei Sans" panose="020C0503030203020204" pitchFamily="34" charset="0"/>
              </a:rPr>
              <a:t>基础配置</a:t>
            </a:r>
            <a:endParaRPr lang="en-US" altLang="zh-CN" sz="2200" dirty="0">
              <a:solidFill>
                <a:schemeClr val="bg1">
                  <a:lumMod val="50000"/>
                </a:schemeClr>
              </a:solidFill>
              <a:sym typeface="Huawei Sans" panose="020C0503030203020204" pitchFamily="34" charset="0"/>
            </a:endParaRPr>
          </a:p>
          <a:p>
            <a:r>
              <a:rPr lang="zh-CN" altLang="en-US" sz="2200" dirty="0">
                <a:solidFill>
                  <a:schemeClr val="bg1">
                    <a:lumMod val="50000"/>
                  </a:schemeClr>
                </a:solidFill>
                <a:sym typeface="Huawei Sans" panose="020C0503030203020204" pitchFamily="34" charset="0"/>
              </a:rPr>
              <a:t>基于</a:t>
            </a:r>
            <a:r>
              <a:rPr lang="en-US" altLang="zh-CN" sz="2200" dirty="0" err="1">
                <a:solidFill>
                  <a:schemeClr val="bg1">
                    <a:lumMod val="50000"/>
                  </a:schemeClr>
                </a:solidFill>
                <a:sym typeface="Huawei Sans" panose="020C0503030203020204" pitchFamily="34" charset="0"/>
              </a:rPr>
              <a:t>iMaster</a:t>
            </a:r>
            <a:r>
              <a:rPr lang="en-US" altLang="zh-CN" sz="2200" dirty="0">
                <a:solidFill>
                  <a:schemeClr val="bg1">
                    <a:lumMod val="50000"/>
                  </a:schemeClr>
                </a:solidFill>
                <a:sym typeface="Huawei Sans" panose="020C0503030203020204" pitchFamily="34" charset="0"/>
              </a:rPr>
              <a:t> NCE-IP</a:t>
            </a:r>
            <a:r>
              <a:rPr lang="zh-CN" altLang="en-US" sz="2200" dirty="0">
                <a:solidFill>
                  <a:schemeClr val="bg1">
                    <a:lumMod val="50000"/>
                  </a:schemeClr>
                </a:solidFill>
                <a:sym typeface="Huawei Sans" panose="020C0503030203020204" pitchFamily="34" charset="0"/>
              </a:rPr>
              <a:t>部署</a:t>
            </a:r>
            <a:r>
              <a:rPr lang="en-US" altLang="zh-CN" sz="2200" dirty="0">
                <a:solidFill>
                  <a:schemeClr val="bg1">
                    <a:lumMod val="50000"/>
                  </a:schemeClr>
                </a:solidFill>
                <a:sym typeface="Huawei Sans" panose="020C0503030203020204" pitchFamily="34" charset="0"/>
              </a:rPr>
              <a:t>SRv6</a:t>
            </a:r>
            <a:endParaRPr lang="zh-CN" altLang="en-US" sz="2200" dirty="0">
              <a:solidFill>
                <a:schemeClr val="bg1">
                  <a:lumMod val="50000"/>
                </a:schemeClr>
              </a:solidFill>
              <a:sym typeface="Huawei Sans" panose="020C0503030203020204" pitchFamily="34" charset="0"/>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bwMode="gray"/>
        <p:txBody>
          <a:bodyPr/>
          <a:lstStyle/>
          <a:p>
            <a:r>
              <a:rPr lang="en-US" altLang="zh-CN" dirty="0"/>
              <a:t>SRv6</a:t>
            </a:r>
            <a:r>
              <a:rPr lang="zh-CN" altLang="en-US" dirty="0"/>
              <a:t>尾节点保护概述</a:t>
            </a:r>
            <a:endParaRPr lang="zh-CN" altLang="en-US" dirty="0"/>
          </a:p>
        </p:txBody>
      </p:sp>
      <p:sp>
        <p:nvSpPr>
          <p:cNvPr id="4" name="Text Placeholder 3"/>
          <p:cNvSpPr>
            <a:spLocks noGrp="1"/>
          </p:cNvSpPr>
          <p:nvPr>
            <p:ph type="body" sz="quarter" idx="10"/>
          </p:nvPr>
        </p:nvSpPr>
        <p:spPr bwMode="gray"/>
        <p:txBody>
          <a:bodyPr/>
          <a:lstStyle/>
          <a:p>
            <a:r>
              <a:rPr lang="zh-CN" altLang="en-US" sz="1600" dirty="0"/>
              <a:t>对于同一个源端节点，</a:t>
            </a:r>
            <a:r>
              <a:rPr lang="en-US" altLang="zh-CN" sz="1600" dirty="0"/>
              <a:t>SRv6 Policy</a:t>
            </a:r>
            <a:r>
              <a:rPr lang="zh-CN" altLang="en-US" sz="1600" dirty="0"/>
              <a:t>是基于</a:t>
            </a:r>
            <a:r>
              <a:rPr lang="en-US" altLang="zh-CN" sz="1600" dirty="0"/>
              <a:t>&lt;Color</a:t>
            </a:r>
            <a:r>
              <a:rPr lang="zh-CN" altLang="en-US" sz="1600" dirty="0"/>
              <a:t>，</a:t>
            </a:r>
            <a:r>
              <a:rPr lang="en-US" altLang="zh-CN" sz="1600" dirty="0"/>
              <a:t>Endpoint&gt;</a:t>
            </a:r>
            <a:r>
              <a:rPr lang="zh-CN" altLang="en-US" sz="1600" dirty="0"/>
              <a:t>确定隧道的，当</a:t>
            </a:r>
            <a:r>
              <a:rPr lang="en-US" altLang="zh-CN" sz="1600" dirty="0"/>
              <a:t>Endpoint</a:t>
            </a:r>
            <a:r>
              <a:rPr lang="zh-CN" altLang="en-US" sz="1600" dirty="0"/>
              <a:t>即尾节点出现故障时隧道就无法将数据发送目标网段。</a:t>
            </a:r>
            <a:endParaRPr lang="en-US" altLang="zh-CN" sz="1600" dirty="0"/>
          </a:p>
          <a:p>
            <a:r>
              <a:rPr lang="zh-CN" altLang="en-US" sz="1600" dirty="0"/>
              <a:t>由此可见，</a:t>
            </a:r>
            <a:r>
              <a:rPr lang="en-US" altLang="zh-CN" sz="1600" dirty="0"/>
              <a:t>SRv6</a:t>
            </a:r>
            <a:r>
              <a:rPr lang="zh-CN" altLang="en-US" sz="1600" dirty="0"/>
              <a:t>隧道常用的局部保护和端到端保护只能保护隧道的源端</a:t>
            </a:r>
            <a:r>
              <a:rPr lang="en-US" altLang="zh-CN" sz="1600" dirty="0"/>
              <a:t>PE</a:t>
            </a:r>
            <a:r>
              <a:rPr lang="zh-CN" altLang="en-US" sz="1600" dirty="0"/>
              <a:t>与中间的</a:t>
            </a:r>
            <a:r>
              <a:rPr lang="en-US" altLang="zh-CN" sz="1600" dirty="0"/>
              <a:t>P</a:t>
            </a:r>
            <a:r>
              <a:rPr lang="zh-CN" altLang="en-US" sz="1600" dirty="0"/>
              <a:t>设备，不能保护</a:t>
            </a:r>
            <a:r>
              <a:rPr lang="en-US" altLang="zh-CN" sz="1600" dirty="0"/>
              <a:t>SRv6</a:t>
            </a:r>
            <a:r>
              <a:rPr lang="zh-CN" altLang="en-US" sz="1600" dirty="0"/>
              <a:t>尾节点。</a:t>
            </a:r>
            <a:endParaRPr lang="en-US" altLang="zh-CN" sz="1600" dirty="0"/>
          </a:p>
          <a:p>
            <a:r>
              <a:rPr lang="zh-CN" altLang="en-US" sz="1600" dirty="0"/>
              <a:t>当尾节点出现故障时，主要通过</a:t>
            </a:r>
            <a:r>
              <a:rPr lang="en-US" altLang="zh-CN" sz="1600" dirty="0"/>
              <a:t>VPN FRR</a:t>
            </a:r>
            <a:r>
              <a:rPr lang="zh-CN" altLang="en-US" sz="1600" dirty="0"/>
              <a:t>技术修复，除此之外也可以通过</a:t>
            </a:r>
            <a:r>
              <a:rPr lang="en-US" altLang="zh-CN" sz="1600" dirty="0" err="1"/>
              <a:t>Anycast</a:t>
            </a:r>
            <a:r>
              <a:rPr lang="en-US" altLang="zh-CN" sz="1600" dirty="0"/>
              <a:t> FRR</a:t>
            </a:r>
            <a:r>
              <a:rPr lang="zh-CN" altLang="en-US" sz="1600" dirty="0"/>
              <a:t>与镜像保护技术修复。</a:t>
            </a:r>
            <a:endParaRPr lang="en-US" altLang="zh-CN" sz="1600" dirty="0"/>
          </a:p>
        </p:txBody>
      </p:sp>
      <p:pic>
        <p:nvPicPr>
          <p:cNvPr id="5"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3450149" y="3857394"/>
            <a:ext cx="468318" cy="383051"/>
          </a:xfrm>
          <a:prstGeom prst="rect">
            <a:avLst/>
          </a:prstGeom>
        </p:spPr>
      </p:pic>
      <p:pic>
        <p:nvPicPr>
          <p:cNvPr id="6"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3450149" y="5133744"/>
            <a:ext cx="468318" cy="383051"/>
          </a:xfrm>
          <a:prstGeom prst="rect">
            <a:avLst/>
          </a:prstGeom>
        </p:spPr>
      </p:pic>
      <p:pic>
        <p:nvPicPr>
          <p:cNvPr id="7"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5031299" y="3857394"/>
            <a:ext cx="468318" cy="383051"/>
          </a:xfrm>
          <a:prstGeom prst="rect">
            <a:avLst/>
          </a:prstGeom>
        </p:spPr>
      </p:pic>
      <p:pic>
        <p:nvPicPr>
          <p:cNvPr id="8"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5031299" y="5133744"/>
            <a:ext cx="468318" cy="383051"/>
          </a:xfrm>
          <a:prstGeom prst="rect">
            <a:avLst/>
          </a:prstGeom>
        </p:spPr>
      </p:pic>
      <p:pic>
        <p:nvPicPr>
          <p:cNvPr id="9"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6608897" y="3857394"/>
            <a:ext cx="468318" cy="383051"/>
          </a:xfrm>
          <a:prstGeom prst="rect">
            <a:avLst/>
          </a:prstGeom>
        </p:spPr>
      </p:pic>
      <p:pic>
        <p:nvPicPr>
          <p:cNvPr id="10"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6608897" y="5133744"/>
            <a:ext cx="468318" cy="383051"/>
          </a:xfrm>
          <a:prstGeom prst="rect">
            <a:avLst/>
          </a:prstGeom>
        </p:spPr>
      </p:pic>
      <p:pic>
        <p:nvPicPr>
          <p:cNvPr id="11"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8186495" y="3857761"/>
            <a:ext cx="468318" cy="383051"/>
          </a:xfrm>
          <a:prstGeom prst="rect">
            <a:avLst/>
          </a:prstGeom>
        </p:spPr>
      </p:pic>
      <p:pic>
        <p:nvPicPr>
          <p:cNvPr id="12"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8186495" y="5134111"/>
            <a:ext cx="468318" cy="383051"/>
          </a:xfrm>
          <a:prstGeom prst="rect">
            <a:avLst/>
          </a:prstGeom>
        </p:spPr>
      </p:pic>
      <p:pic>
        <p:nvPicPr>
          <p:cNvPr id="13"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2173799" y="4482209"/>
            <a:ext cx="468318" cy="383051"/>
          </a:xfrm>
          <a:prstGeom prst="rect">
            <a:avLst/>
          </a:prstGeom>
        </p:spPr>
      </p:pic>
      <p:pic>
        <p:nvPicPr>
          <p:cNvPr id="14"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9612824" y="4482208"/>
            <a:ext cx="468318" cy="383051"/>
          </a:xfrm>
          <a:prstGeom prst="rect">
            <a:avLst/>
          </a:prstGeom>
        </p:spPr>
      </p:pic>
      <p:cxnSp>
        <p:nvCxnSpPr>
          <p:cNvPr id="15" name="直接连接符 22"/>
          <p:cNvCxnSpPr>
            <a:stCxn id="13" idx="0"/>
            <a:endCxn id="5" idx="1"/>
          </p:cNvCxnSpPr>
          <p:nvPr/>
        </p:nvCxnSpPr>
        <p:spPr bwMode="gray">
          <a:xfrm flipV="1">
            <a:off x="2407958" y="4048920"/>
            <a:ext cx="1042191" cy="433289"/>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cxnSp>
        <p:nvCxnSpPr>
          <p:cNvPr id="16" name="直接连接符 22"/>
          <p:cNvCxnSpPr>
            <a:stCxn id="13" idx="2"/>
            <a:endCxn id="6" idx="1"/>
          </p:cNvCxnSpPr>
          <p:nvPr/>
        </p:nvCxnSpPr>
        <p:spPr bwMode="gray">
          <a:xfrm>
            <a:off x="2407958" y="4865260"/>
            <a:ext cx="1042191" cy="460010"/>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cxnSp>
        <p:nvCxnSpPr>
          <p:cNvPr id="17" name="直接连接符 22"/>
          <p:cNvCxnSpPr>
            <a:stCxn id="5" idx="2"/>
            <a:endCxn id="6" idx="0"/>
          </p:cNvCxnSpPr>
          <p:nvPr/>
        </p:nvCxnSpPr>
        <p:spPr bwMode="gray">
          <a:xfrm>
            <a:off x="3684308" y="4240445"/>
            <a:ext cx="0" cy="893299"/>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cxnSp>
        <p:nvCxnSpPr>
          <p:cNvPr id="18" name="直接连接符 22"/>
          <p:cNvCxnSpPr>
            <a:stCxn id="5" idx="3"/>
            <a:endCxn id="7" idx="1"/>
          </p:cNvCxnSpPr>
          <p:nvPr/>
        </p:nvCxnSpPr>
        <p:spPr bwMode="gray">
          <a:xfrm>
            <a:off x="3918467" y="4048920"/>
            <a:ext cx="1112832" cy="0"/>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cxnSp>
        <p:nvCxnSpPr>
          <p:cNvPr id="19" name="直接连接符 22"/>
          <p:cNvCxnSpPr>
            <a:stCxn id="6" idx="3"/>
            <a:endCxn id="8" idx="1"/>
          </p:cNvCxnSpPr>
          <p:nvPr/>
        </p:nvCxnSpPr>
        <p:spPr bwMode="gray">
          <a:xfrm>
            <a:off x="3918467" y="5325270"/>
            <a:ext cx="1112832" cy="0"/>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cxnSp>
        <p:nvCxnSpPr>
          <p:cNvPr id="20" name="直接连接符 22"/>
          <p:cNvCxnSpPr>
            <a:stCxn id="7" idx="3"/>
            <a:endCxn id="9" idx="1"/>
          </p:cNvCxnSpPr>
          <p:nvPr/>
        </p:nvCxnSpPr>
        <p:spPr bwMode="gray">
          <a:xfrm>
            <a:off x="5499617" y="4048920"/>
            <a:ext cx="1109280" cy="0"/>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cxnSp>
        <p:nvCxnSpPr>
          <p:cNvPr id="21" name="直接连接符 22"/>
          <p:cNvCxnSpPr>
            <a:stCxn id="8" idx="3"/>
            <a:endCxn id="10" idx="1"/>
          </p:cNvCxnSpPr>
          <p:nvPr/>
        </p:nvCxnSpPr>
        <p:spPr bwMode="gray">
          <a:xfrm>
            <a:off x="5499617" y="5325270"/>
            <a:ext cx="1109280" cy="0"/>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cxnSp>
        <p:nvCxnSpPr>
          <p:cNvPr id="22" name="直接连接符 22"/>
          <p:cNvCxnSpPr>
            <a:stCxn id="9" idx="3"/>
            <a:endCxn id="11" idx="1"/>
          </p:cNvCxnSpPr>
          <p:nvPr/>
        </p:nvCxnSpPr>
        <p:spPr bwMode="gray">
          <a:xfrm>
            <a:off x="7077215" y="4048920"/>
            <a:ext cx="1109280" cy="367"/>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cxnSp>
        <p:nvCxnSpPr>
          <p:cNvPr id="23" name="直接连接符 22"/>
          <p:cNvCxnSpPr>
            <a:stCxn id="10" idx="3"/>
            <a:endCxn id="12" idx="1"/>
          </p:cNvCxnSpPr>
          <p:nvPr/>
        </p:nvCxnSpPr>
        <p:spPr bwMode="gray">
          <a:xfrm>
            <a:off x="7077215" y="5325270"/>
            <a:ext cx="1109280" cy="367"/>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cxnSp>
        <p:nvCxnSpPr>
          <p:cNvPr id="24" name="直接连接符 22"/>
          <p:cNvCxnSpPr>
            <a:stCxn id="14" idx="0"/>
            <a:endCxn id="11" idx="3"/>
          </p:cNvCxnSpPr>
          <p:nvPr/>
        </p:nvCxnSpPr>
        <p:spPr bwMode="gray">
          <a:xfrm flipH="1" flipV="1">
            <a:off x="8654813" y="4049287"/>
            <a:ext cx="1192170" cy="432921"/>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cxnSp>
        <p:nvCxnSpPr>
          <p:cNvPr id="25" name="直接连接符 22"/>
          <p:cNvCxnSpPr>
            <a:stCxn id="14" idx="2"/>
            <a:endCxn id="12" idx="3"/>
          </p:cNvCxnSpPr>
          <p:nvPr/>
        </p:nvCxnSpPr>
        <p:spPr bwMode="gray">
          <a:xfrm flipH="1">
            <a:off x="8654813" y="4865259"/>
            <a:ext cx="1192170" cy="460378"/>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cxnSp>
        <p:nvCxnSpPr>
          <p:cNvPr id="26" name="直接连接符 22"/>
          <p:cNvCxnSpPr>
            <a:stCxn id="12" idx="0"/>
            <a:endCxn id="11" idx="2"/>
          </p:cNvCxnSpPr>
          <p:nvPr/>
        </p:nvCxnSpPr>
        <p:spPr bwMode="gray">
          <a:xfrm flipV="1">
            <a:off x="8420654" y="4240812"/>
            <a:ext cx="0" cy="893299"/>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cxnSp>
        <p:nvCxnSpPr>
          <p:cNvPr id="27" name="直接连接符 22"/>
          <p:cNvCxnSpPr>
            <a:stCxn id="10" idx="0"/>
            <a:endCxn id="9" idx="2"/>
          </p:cNvCxnSpPr>
          <p:nvPr/>
        </p:nvCxnSpPr>
        <p:spPr bwMode="gray">
          <a:xfrm flipV="1">
            <a:off x="6843056" y="4240445"/>
            <a:ext cx="0" cy="893299"/>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cxnSp>
        <p:nvCxnSpPr>
          <p:cNvPr id="28" name="直接连接符 22"/>
          <p:cNvCxnSpPr>
            <a:stCxn id="8" idx="0"/>
            <a:endCxn id="7" idx="2"/>
          </p:cNvCxnSpPr>
          <p:nvPr/>
        </p:nvCxnSpPr>
        <p:spPr bwMode="gray">
          <a:xfrm flipV="1">
            <a:off x="5265458" y="4240445"/>
            <a:ext cx="0" cy="893299"/>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sp>
        <p:nvSpPr>
          <p:cNvPr id="29" name="TextBox 28"/>
          <p:cNvSpPr txBox="1"/>
          <p:nvPr/>
        </p:nvSpPr>
        <p:spPr bwMode="gray">
          <a:xfrm>
            <a:off x="1700718" y="4535233"/>
            <a:ext cx="477846"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CE1</a:t>
            </a:r>
            <a:endParaRPr lang="zh-CN" altLang="en-US" sz="1200" dirty="0">
              <a:solidFill>
                <a:srgbClr val="000000"/>
              </a:solidFill>
              <a:cs typeface="+mn-ea"/>
              <a:sym typeface="+mn-lt"/>
            </a:endParaRPr>
          </a:p>
        </p:txBody>
      </p:sp>
      <p:sp>
        <p:nvSpPr>
          <p:cNvPr id="30" name="TextBox 29"/>
          <p:cNvSpPr txBox="1"/>
          <p:nvPr/>
        </p:nvSpPr>
        <p:spPr bwMode="gray">
          <a:xfrm>
            <a:off x="3450149" y="3590412"/>
            <a:ext cx="477846"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PE1</a:t>
            </a:r>
            <a:endParaRPr lang="zh-CN" altLang="en-US" sz="1200" dirty="0">
              <a:solidFill>
                <a:srgbClr val="000000"/>
              </a:solidFill>
              <a:cs typeface="+mn-ea"/>
              <a:sym typeface="+mn-lt"/>
            </a:endParaRPr>
          </a:p>
        </p:txBody>
      </p:sp>
      <p:sp>
        <p:nvSpPr>
          <p:cNvPr id="31" name="TextBox 30"/>
          <p:cNvSpPr txBox="1"/>
          <p:nvPr/>
        </p:nvSpPr>
        <p:spPr bwMode="gray">
          <a:xfrm>
            <a:off x="3450149" y="5518633"/>
            <a:ext cx="477846"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PE2</a:t>
            </a:r>
            <a:endParaRPr lang="zh-CN" altLang="en-US" sz="1200" dirty="0">
              <a:solidFill>
                <a:srgbClr val="000000"/>
              </a:solidFill>
              <a:cs typeface="+mn-ea"/>
              <a:sym typeface="+mn-lt"/>
            </a:endParaRPr>
          </a:p>
        </p:txBody>
      </p:sp>
      <p:sp>
        <p:nvSpPr>
          <p:cNvPr id="32" name="TextBox 31"/>
          <p:cNvSpPr txBox="1"/>
          <p:nvPr/>
        </p:nvSpPr>
        <p:spPr bwMode="gray">
          <a:xfrm>
            <a:off x="5019995" y="3589187"/>
            <a:ext cx="477846"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P1</a:t>
            </a:r>
            <a:endParaRPr lang="zh-CN" altLang="en-US" sz="1200" dirty="0">
              <a:solidFill>
                <a:srgbClr val="000000"/>
              </a:solidFill>
              <a:cs typeface="+mn-ea"/>
              <a:sym typeface="+mn-lt"/>
            </a:endParaRPr>
          </a:p>
        </p:txBody>
      </p:sp>
      <p:sp>
        <p:nvSpPr>
          <p:cNvPr id="33" name="TextBox 32"/>
          <p:cNvSpPr txBox="1"/>
          <p:nvPr/>
        </p:nvSpPr>
        <p:spPr bwMode="gray">
          <a:xfrm>
            <a:off x="5019995" y="5522469"/>
            <a:ext cx="477846"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P2</a:t>
            </a:r>
            <a:endParaRPr lang="zh-CN" altLang="en-US" sz="1200" dirty="0">
              <a:solidFill>
                <a:srgbClr val="000000"/>
              </a:solidFill>
              <a:cs typeface="+mn-ea"/>
              <a:sym typeface="+mn-lt"/>
            </a:endParaRPr>
          </a:p>
        </p:txBody>
      </p:sp>
      <p:sp>
        <p:nvSpPr>
          <p:cNvPr id="34" name="TextBox 33"/>
          <p:cNvSpPr txBox="1"/>
          <p:nvPr/>
        </p:nvSpPr>
        <p:spPr bwMode="gray">
          <a:xfrm>
            <a:off x="6582281" y="3583513"/>
            <a:ext cx="477846"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P3</a:t>
            </a:r>
            <a:endParaRPr lang="zh-CN" altLang="en-US" sz="1200" dirty="0">
              <a:solidFill>
                <a:srgbClr val="000000"/>
              </a:solidFill>
              <a:cs typeface="+mn-ea"/>
              <a:sym typeface="+mn-lt"/>
            </a:endParaRPr>
          </a:p>
        </p:txBody>
      </p:sp>
      <p:sp>
        <p:nvSpPr>
          <p:cNvPr id="35" name="TextBox 34"/>
          <p:cNvSpPr txBox="1"/>
          <p:nvPr/>
        </p:nvSpPr>
        <p:spPr bwMode="gray">
          <a:xfrm>
            <a:off x="6582281" y="5516795"/>
            <a:ext cx="477846"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P4</a:t>
            </a:r>
            <a:endParaRPr lang="zh-CN" altLang="en-US" sz="1200" dirty="0">
              <a:solidFill>
                <a:srgbClr val="000000"/>
              </a:solidFill>
              <a:cs typeface="+mn-ea"/>
              <a:sym typeface="+mn-lt"/>
            </a:endParaRPr>
          </a:p>
        </p:txBody>
      </p:sp>
      <p:sp>
        <p:nvSpPr>
          <p:cNvPr id="36" name="TextBox 35"/>
          <p:cNvSpPr txBox="1"/>
          <p:nvPr/>
        </p:nvSpPr>
        <p:spPr bwMode="gray">
          <a:xfrm>
            <a:off x="8175145" y="3579820"/>
            <a:ext cx="477846"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PE3</a:t>
            </a:r>
            <a:endParaRPr lang="zh-CN" altLang="en-US" sz="1200" dirty="0">
              <a:solidFill>
                <a:srgbClr val="000000"/>
              </a:solidFill>
              <a:cs typeface="+mn-ea"/>
              <a:sym typeface="+mn-lt"/>
            </a:endParaRPr>
          </a:p>
        </p:txBody>
      </p:sp>
      <p:sp>
        <p:nvSpPr>
          <p:cNvPr id="37" name="TextBox 36"/>
          <p:cNvSpPr txBox="1"/>
          <p:nvPr/>
        </p:nvSpPr>
        <p:spPr bwMode="gray">
          <a:xfrm>
            <a:off x="8175145" y="5508041"/>
            <a:ext cx="477846"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PE4</a:t>
            </a:r>
            <a:endParaRPr lang="zh-CN" altLang="en-US" sz="1200" dirty="0">
              <a:solidFill>
                <a:srgbClr val="000000"/>
              </a:solidFill>
              <a:cs typeface="+mn-ea"/>
              <a:sym typeface="+mn-lt"/>
            </a:endParaRPr>
          </a:p>
        </p:txBody>
      </p:sp>
      <p:sp>
        <p:nvSpPr>
          <p:cNvPr id="38" name="TextBox 37"/>
          <p:cNvSpPr txBox="1"/>
          <p:nvPr/>
        </p:nvSpPr>
        <p:spPr bwMode="gray">
          <a:xfrm>
            <a:off x="10081142" y="4535233"/>
            <a:ext cx="477846"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CE2</a:t>
            </a:r>
            <a:endParaRPr lang="zh-CN" altLang="en-US" sz="1200" dirty="0">
              <a:solidFill>
                <a:srgbClr val="000000"/>
              </a:solidFill>
              <a:cs typeface="+mn-ea"/>
              <a:sym typeface="+mn-lt"/>
            </a:endParaRPr>
          </a:p>
        </p:txBody>
      </p:sp>
      <p:sp>
        <p:nvSpPr>
          <p:cNvPr id="39" name="Freeform 38"/>
          <p:cNvSpPr/>
          <p:nvPr/>
        </p:nvSpPr>
        <p:spPr bwMode="gray">
          <a:xfrm>
            <a:off x="3399465" y="3957599"/>
            <a:ext cx="5355249" cy="45719"/>
          </a:xfrm>
          <a:custGeom>
            <a:avLst/>
            <a:gdLst>
              <a:gd name="connsiteX0" fmla="*/ 0 w 5238750"/>
              <a:gd name="connsiteY0" fmla="*/ 0 h 0"/>
              <a:gd name="connsiteX1" fmla="*/ 5238750 w 5238750"/>
              <a:gd name="connsiteY1" fmla="*/ 0 h 0"/>
            </a:gdLst>
            <a:ahLst/>
            <a:cxnLst>
              <a:cxn ang="0">
                <a:pos x="connsiteX0" y="connsiteY0"/>
              </a:cxn>
              <a:cxn ang="0">
                <a:pos x="connsiteX1" y="connsiteY1"/>
              </a:cxn>
            </a:cxnLst>
            <a:rect l="l" t="t" r="r" b="b"/>
            <a:pathLst>
              <a:path w="5238750">
                <a:moveTo>
                  <a:pt x="0" y="0"/>
                </a:moveTo>
                <a:lnTo>
                  <a:pt x="5238750" y="0"/>
                </a:lnTo>
              </a:path>
            </a:pathLst>
          </a:custGeom>
          <a:noFill/>
          <a:ln w="28575">
            <a:solidFill>
              <a:srgbClr val="56C4D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Plus Sign 75"/>
          <p:cNvSpPr/>
          <p:nvPr/>
        </p:nvSpPr>
        <p:spPr bwMode="gray">
          <a:xfrm rot="2700000">
            <a:off x="5910682" y="3961949"/>
            <a:ext cx="298938" cy="298938"/>
          </a:xfrm>
          <a:prstGeom prst="mathPlus">
            <a:avLst/>
          </a:prstGeom>
          <a:solidFill>
            <a:srgbClr val="E28189"/>
          </a:solidFill>
          <a:ln>
            <a:solidFill>
              <a:srgbClr val="E2818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Freeform 44"/>
          <p:cNvSpPr/>
          <p:nvPr/>
        </p:nvSpPr>
        <p:spPr bwMode="gray">
          <a:xfrm>
            <a:off x="3581537" y="3957600"/>
            <a:ext cx="5172075" cy="1445750"/>
          </a:xfrm>
          <a:custGeom>
            <a:avLst/>
            <a:gdLst>
              <a:gd name="connsiteX0" fmla="*/ 0 w 5172075"/>
              <a:gd name="connsiteY0" fmla="*/ 0 h 1323975"/>
              <a:gd name="connsiteX1" fmla="*/ 0 w 5172075"/>
              <a:gd name="connsiteY1" fmla="*/ 1323975 h 1323975"/>
              <a:gd name="connsiteX2" fmla="*/ 4943475 w 5172075"/>
              <a:gd name="connsiteY2" fmla="*/ 1323975 h 1323975"/>
              <a:gd name="connsiteX3" fmla="*/ 4943475 w 5172075"/>
              <a:gd name="connsiteY3" fmla="*/ 152400 h 1323975"/>
              <a:gd name="connsiteX4" fmla="*/ 5172075 w 5172075"/>
              <a:gd name="connsiteY4" fmla="*/ 152400 h 13239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72075" h="1323975">
                <a:moveTo>
                  <a:pt x="0" y="0"/>
                </a:moveTo>
                <a:lnTo>
                  <a:pt x="0" y="1323975"/>
                </a:lnTo>
                <a:lnTo>
                  <a:pt x="4943475" y="1323975"/>
                </a:lnTo>
                <a:lnTo>
                  <a:pt x="4943475" y="152400"/>
                </a:lnTo>
                <a:lnTo>
                  <a:pt x="5172075" y="152400"/>
                </a:lnTo>
              </a:path>
            </a:pathLst>
          </a:custGeom>
          <a:noFill/>
          <a:ln w="28575">
            <a:solidFill>
              <a:srgbClr val="E28189"/>
            </a:solidFill>
            <a:prstDash val="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Freeform 59"/>
          <p:cNvSpPr/>
          <p:nvPr/>
        </p:nvSpPr>
        <p:spPr bwMode="gray">
          <a:xfrm>
            <a:off x="5329084" y="3950701"/>
            <a:ext cx="1406013" cy="1249972"/>
          </a:xfrm>
          <a:custGeom>
            <a:avLst/>
            <a:gdLst>
              <a:gd name="connsiteX0" fmla="*/ 0 w 1406013"/>
              <a:gd name="connsiteY0" fmla="*/ 0 h 1111045"/>
              <a:gd name="connsiteX1" fmla="*/ 0 w 1406013"/>
              <a:gd name="connsiteY1" fmla="*/ 1111045 h 1111045"/>
              <a:gd name="connsiteX2" fmla="*/ 1406013 w 1406013"/>
              <a:gd name="connsiteY2" fmla="*/ 1111045 h 1111045"/>
              <a:gd name="connsiteX3" fmla="*/ 1406013 w 1406013"/>
              <a:gd name="connsiteY3" fmla="*/ 19665 h 1111045"/>
            </a:gdLst>
            <a:ahLst/>
            <a:cxnLst>
              <a:cxn ang="0">
                <a:pos x="connsiteX0" y="connsiteY0"/>
              </a:cxn>
              <a:cxn ang="0">
                <a:pos x="connsiteX1" y="connsiteY1"/>
              </a:cxn>
              <a:cxn ang="0">
                <a:pos x="connsiteX2" y="connsiteY2"/>
              </a:cxn>
              <a:cxn ang="0">
                <a:pos x="connsiteX3" y="connsiteY3"/>
              </a:cxn>
            </a:cxnLst>
            <a:rect l="l" t="t" r="r" b="b"/>
            <a:pathLst>
              <a:path w="1406013" h="1111045">
                <a:moveTo>
                  <a:pt x="0" y="0"/>
                </a:moveTo>
                <a:lnTo>
                  <a:pt x="0" y="1111045"/>
                </a:lnTo>
                <a:lnTo>
                  <a:pt x="1406013" y="1111045"/>
                </a:lnTo>
                <a:lnTo>
                  <a:pt x="1406013" y="19665"/>
                </a:lnTo>
              </a:path>
            </a:pathLst>
          </a:custGeom>
          <a:noFill/>
          <a:ln w="28575">
            <a:solidFill>
              <a:srgbClr val="56C4D2"/>
            </a:solidFill>
            <a:prstDash val="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Rectangular Callout 60"/>
          <p:cNvSpPr/>
          <p:nvPr/>
        </p:nvSpPr>
        <p:spPr bwMode="gray">
          <a:xfrm>
            <a:off x="6962954" y="4337532"/>
            <a:ext cx="711563" cy="375550"/>
          </a:xfrm>
          <a:prstGeom prst="wedgeRectCallout">
            <a:avLst>
              <a:gd name="adj1" fmla="val -75795"/>
              <a:gd name="adj2" fmla="val 19614"/>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局部保护路径</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62" name="Rectangular Callout 61"/>
          <p:cNvSpPr/>
          <p:nvPr/>
        </p:nvSpPr>
        <p:spPr bwMode="gray">
          <a:xfrm>
            <a:off x="5594555" y="5577034"/>
            <a:ext cx="838315" cy="444868"/>
          </a:xfrm>
          <a:prstGeom prst="wedgeRectCallout">
            <a:avLst>
              <a:gd name="adj1" fmla="val -20524"/>
              <a:gd name="adj2" fmla="val -79874"/>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端到端保护路径</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63" name="Rectangular Callout 62"/>
          <p:cNvSpPr/>
          <p:nvPr/>
        </p:nvSpPr>
        <p:spPr bwMode="gray">
          <a:xfrm>
            <a:off x="5101641" y="2974591"/>
            <a:ext cx="1581881" cy="614596"/>
          </a:xfrm>
          <a:prstGeom prst="wedgeRectCallout">
            <a:avLst>
              <a:gd name="adj1" fmla="val 11794"/>
              <a:gd name="adj2" fmla="val 115269"/>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中间链路或节点出现故障可通过局部保护和端到端保护修复</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cxnSp>
        <p:nvCxnSpPr>
          <p:cNvPr id="64" name="Straight Arrow Connector 63"/>
          <p:cNvCxnSpPr/>
          <p:nvPr/>
        </p:nvCxnSpPr>
        <p:spPr bwMode="gray">
          <a:xfrm>
            <a:off x="9705775" y="5149762"/>
            <a:ext cx="666750" cy="0"/>
          </a:xfrm>
          <a:prstGeom prst="straightConnector1">
            <a:avLst/>
          </a:prstGeom>
          <a:noFill/>
          <a:ln w="28575">
            <a:solidFill>
              <a:srgbClr val="56C4D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65" name="Straight Arrow Connector 64"/>
          <p:cNvCxnSpPr/>
          <p:nvPr/>
        </p:nvCxnSpPr>
        <p:spPr bwMode="gray">
          <a:xfrm>
            <a:off x="9705775" y="5483137"/>
            <a:ext cx="666750" cy="0"/>
          </a:xfrm>
          <a:prstGeom prst="straightConnector1">
            <a:avLst/>
          </a:prstGeom>
          <a:noFill/>
          <a:ln w="28575">
            <a:solidFill>
              <a:srgbClr val="56C4D2"/>
            </a:solidFill>
            <a:prstDash val="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sp>
        <p:nvSpPr>
          <p:cNvPr id="66" name="TextBox 16"/>
          <p:cNvSpPr txBox="1"/>
          <p:nvPr/>
        </p:nvSpPr>
        <p:spPr bwMode="gray">
          <a:xfrm>
            <a:off x="10372525" y="5011262"/>
            <a:ext cx="815211" cy="276999"/>
          </a:xfrm>
          <a:prstGeom prst="rect">
            <a:avLst/>
          </a:prstGeom>
          <a:noFill/>
        </p:spPr>
        <p:txBody>
          <a:bodyPr wrap="square" rtlCol="0">
            <a:spAutoFit/>
          </a:bodyPr>
          <a:lstStyle/>
          <a:p>
            <a:pPr>
              <a:buClr>
                <a:srgbClr val="CC9900"/>
              </a:buClr>
              <a:buFont typeface="Wingdings" panose="05000000000000000000" pitchFamily="2" charset="2"/>
              <a:buNone/>
            </a:pPr>
            <a:r>
              <a:rPr lang="zh-CN" altLang="en-US" sz="1200" dirty="0">
                <a:solidFill>
                  <a:srgbClr val="000000"/>
                </a:solidFill>
                <a:cs typeface="+mn-ea"/>
                <a:sym typeface="+mn-lt"/>
              </a:rPr>
              <a:t>主路径</a:t>
            </a:r>
            <a:endParaRPr lang="zh-CN" altLang="en-US" sz="1200" dirty="0">
              <a:solidFill>
                <a:srgbClr val="000000"/>
              </a:solidFill>
              <a:cs typeface="+mn-ea"/>
              <a:sym typeface="+mn-lt"/>
            </a:endParaRPr>
          </a:p>
        </p:txBody>
      </p:sp>
      <p:sp>
        <p:nvSpPr>
          <p:cNvPr id="67" name="TextBox 16"/>
          <p:cNvSpPr txBox="1"/>
          <p:nvPr/>
        </p:nvSpPr>
        <p:spPr bwMode="gray">
          <a:xfrm>
            <a:off x="10340497" y="5344637"/>
            <a:ext cx="1126839" cy="276999"/>
          </a:xfrm>
          <a:prstGeom prst="rect">
            <a:avLst/>
          </a:prstGeom>
          <a:noFill/>
        </p:spPr>
        <p:txBody>
          <a:bodyPr wrap="square" rtlCol="0">
            <a:spAutoFit/>
          </a:bodyPr>
          <a:lstStyle/>
          <a:p>
            <a:pPr algn="ctr">
              <a:buClr>
                <a:srgbClr val="CC9900"/>
              </a:buClr>
              <a:buFont typeface="Wingdings" panose="05000000000000000000" pitchFamily="2" charset="2"/>
              <a:buNone/>
            </a:pPr>
            <a:r>
              <a:rPr lang="zh-CN" altLang="en-US" sz="1200" dirty="0">
                <a:solidFill>
                  <a:srgbClr val="000000"/>
                </a:solidFill>
                <a:cs typeface="+mn-ea"/>
                <a:sym typeface="+mn-lt"/>
              </a:rPr>
              <a:t>局部保护路径</a:t>
            </a:r>
            <a:endParaRPr lang="zh-CN" altLang="en-US" sz="1200" dirty="0">
              <a:solidFill>
                <a:srgbClr val="000000"/>
              </a:solidFill>
              <a:cs typeface="+mn-ea"/>
              <a:sym typeface="+mn-lt"/>
            </a:endParaRPr>
          </a:p>
        </p:txBody>
      </p:sp>
      <p:sp>
        <p:nvSpPr>
          <p:cNvPr id="69" name="TextBox 16"/>
          <p:cNvSpPr txBox="1"/>
          <p:nvPr/>
        </p:nvSpPr>
        <p:spPr bwMode="gray">
          <a:xfrm>
            <a:off x="10340497" y="5667861"/>
            <a:ext cx="1313652" cy="276999"/>
          </a:xfrm>
          <a:prstGeom prst="rect">
            <a:avLst/>
          </a:prstGeom>
          <a:noFill/>
        </p:spPr>
        <p:txBody>
          <a:bodyPr wrap="square" rtlCol="0">
            <a:spAutoFit/>
          </a:bodyPr>
          <a:lstStyle/>
          <a:p>
            <a:pPr algn="ctr">
              <a:buClr>
                <a:srgbClr val="CC9900"/>
              </a:buClr>
              <a:buFont typeface="Wingdings" panose="05000000000000000000" pitchFamily="2" charset="2"/>
              <a:buNone/>
            </a:pPr>
            <a:r>
              <a:rPr lang="zh-CN" altLang="en-US" sz="1200" dirty="0">
                <a:solidFill>
                  <a:srgbClr val="000000"/>
                </a:solidFill>
                <a:cs typeface="+mn-ea"/>
                <a:sym typeface="+mn-lt"/>
              </a:rPr>
              <a:t>端到端保护路径</a:t>
            </a:r>
            <a:endParaRPr lang="zh-CN" altLang="en-US" sz="1200" dirty="0">
              <a:solidFill>
                <a:srgbClr val="000000"/>
              </a:solidFill>
              <a:cs typeface="+mn-ea"/>
              <a:sym typeface="+mn-lt"/>
            </a:endParaRPr>
          </a:p>
        </p:txBody>
      </p:sp>
      <p:cxnSp>
        <p:nvCxnSpPr>
          <p:cNvPr id="70" name="Straight Arrow Connector 69"/>
          <p:cNvCxnSpPr/>
          <p:nvPr/>
        </p:nvCxnSpPr>
        <p:spPr bwMode="gray">
          <a:xfrm>
            <a:off x="9705775" y="5792853"/>
            <a:ext cx="666750" cy="0"/>
          </a:xfrm>
          <a:prstGeom prst="straightConnector1">
            <a:avLst/>
          </a:prstGeom>
          <a:noFill/>
          <a:ln w="28575">
            <a:solidFill>
              <a:srgbClr val="E28189"/>
            </a:solidFill>
            <a:prstDash val="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sp>
        <p:nvSpPr>
          <p:cNvPr id="71" name="Plus Sign 75"/>
          <p:cNvSpPr/>
          <p:nvPr/>
        </p:nvSpPr>
        <p:spPr bwMode="gray">
          <a:xfrm rot="2700000">
            <a:off x="8501439" y="3677357"/>
            <a:ext cx="298938" cy="298938"/>
          </a:xfrm>
          <a:prstGeom prst="mathPlus">
            <a:avLst/>
          </a:prstGeom>
          <a:solidFill>
            <a:srgbClr val="E28189"/>
          </a:solidFill>
          <a:ln>
            <a:solidFill>
              <a:srgbClr val="E2818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Rectangular Callout 71"/>
          <p:cNvSpPr/>
          <p:nvPr/>
        </p:nvSpPr>
        <p:spPr bwMode="gray">
          <a:xfrm>
            <a:off x="8933842" y="3348628"/>
            <a:ext cx="1412634" cy="602073"/>
          </a:xfrm>
          <a:prstGeom prst="wedgeRectCallout">
            <a:avLst>
              <a:gd name="adj1" fmla="val -62504"/>
              <a:gd name="adj2" fmla="val 32990"/>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尾节点现故障无法通过局部保护或端到端保护修复</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gray"/>
        <p:txBody>
          <a:bodyPr/>
          <a:lstStyle/>
          <a:p>
            <a:r>
              <a:rPr lang="en-US" altLang="zh-CN" dirty="0"/>
              <a:t>VPN FRR</a:t>
            </a:r>
            <a:r>
              <a:rPr lang="zh-CN" altLang="en-US" dirty="0"/>
              <a:t>介绍</a:t>
            </a:r>
            <a:endParaRPr lang="zh-CN" altLang="en-US" dirty="0"/>
          </a:p>
        </p:txBody>
      </p:sp>
      <p:sp>
        <p:nvSpPr>
          <p:cNvPr id="3" name="Text Placeholder 2"/>
          <p:cNvSpPr>
            <a:spLocks noGrp="1"/>
          </p:cNvSpPr>
          <p:nvPr>
            <p:ph type="body" sz="quarter" idx="10"/>
          </p:nvPr>
        </p:nvSpPr>
        <p:spPr bwMode="gray"/>
        <p:txBody>
          <a:bodyPr/>
          <a:lstStyle/>
          <a:p>
            <a:r>
              <a:rPr lang="en-US" altLang="zh-CN" sz="1800" dirty="0"/>
              <a:t>VPN FRR</a:t>
            </a:r>
            <a:r>
              <a:rPr lang="zh-CN" altLang="en-US" sz="1800" dirty="0"/>
              <a:t>通过直接形成</a:t>
            </a:r>
            <a:r>
              <a:rPr lang="en-US" altLang="zh-CN" sz="1800" dirty="0"/>
              <a:t>VPN</a:t>
            </a:r>
            <a:r>
              <a:rPr lang="zh-CN" altLang="en-US" sz="1800" dirty="0"/>
              <a:t>备份路由解决了尾节点故障的问题。</a:t>
            </a:r>
            <a:r>
              <a:rPr lang="en-US" altLang="zh-CN" sz="1800" dirty="0"/>
              <a:t>VPN FRR</a:t>
            </a:r>
            <a:r>
              <a:rPr lang="zh-CN" altLang="en-US" sz="1800" dirty="0"/>
              <a:t>原理如下：</a:t>
            </a:r>
            <a:endParaRPr lang="en-US" altLang="zh-CN" sz="1800" dirty="0"/>
          </a:p>
          <a:p>
            <a:pPr lvl="1"/>
            <a:r>
              <a:rPr lang="zh-CN" altLang="en-US" sz="1600" dirty="0"/>
              <a:t>源端</a:t>
            </a:r>
            <a:r>
              <a:rPr lang="en-US" altLang="zh-CN" sz="1600" dirty="0"/>
              <a:t>PE</a:t>
            </a:r>
            <a:r>
              <a:rPr lang="zh-CN" altLang="en-US" sz="1600" dirty="0"/>
              <a:t>基于学习到的两条不同下一跳</a:t>
            </a:r>
            <a:r>
              <a:rPr lang="en-US" altLang="zh-CN" sz="1600" dirty="0"/>
              <a:t>PE</a:t>
            </a:r>
            <a:r>
              <a:rPr lang="zh-CN" altLang="en-US" sz="1600" dirty="0"/>
              <a:t>的私网路由，预先计算出主备路由并下发</a:t>
            </a:r>
            <a:r>
              <a:rPr lang="en-US" altLang="zh-CN" sz="1600" dirty="0"/>
              <a:t>FIB</a:t>
            </a:r>
            <a:r>
              <a:rPr lang="zh-CN" altLang="en-US" sz="1600" dirty="0"/>
              <a:t>，结合</a:t>
            </a:r>
            <a:r>
              <a:rPr lang="en-US" altLang="zh-CN" sz="1600" dirty="0"/>
              <a:t>BFD</a:t>
            </a:r>
            <a:r>
              <a:rPr lang="zh-CN" altLang="en-US" sz="1600" dirty="0"/>
              <a:t>快速探测远端</a:t>
            </a:r>
            <a:r>
              <a:rPr lang="en-US" altLang="zh-CN" sz="1600" dirty="0"/>
              <a:t>PE</a:t>
            </a:r>
            <a:r>
              <a:rPr lang="zh-CN" altLang="en-US" sz="1600" dirty="0"/>
              <a:t>故障，在感知到远端故障后且</a:t>
            </a:r>
            <a:r>
              <a:rPr lang="en-US" altLang="zh-CN" sz="1600" dirty="0"/>
              <a:t>VPN</a:t>
            </a:r>
            <a:r>
              <a:rPr lang="zh-CN" altLang="en-US" sz="1600" dirty="0"/>
              <a:t>路由收敛前，先将</a:t>
            </a:r>
            <a:r>
              <a:rPr lang="en-US" altLang="zh-CN" sz="1600" dirty="0"/>
              <a:t>VPN</a:t>
            </a:r>
            <a:r>
              <a:rPr lang="zh-CN" altLang="en-US" sz="1600" dirty="0"/>
              <a:t>流量切换到备份路径上。</a:t>
            </a:r>
            <a:endParaRPr lang="zh-CN" altLang="en-US" sz="1600" dirty="0"/>
          </a:p>
        </p:txBody>
      </p:sp>
      <p:pic>
        <p:nvPicPr>
          <p:cNvPr id="4"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4350442" y="4047307"/>
            <a:ext cx="468318" cy="383051"/>
          </a:xfrm>
          <a:prstGeom prst="rect">
            <a:avLst/>
          </a:prstGeom>
        </p:spPr>
      </p:pic>
      <p:pic>
        <p:nvPicPr>
          <p:cNvPr id="6"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5857161" y="3428922"/>
            <a:ext cx="468318" cy="383051"/>
          </a:xfrm>
          <a:prstGeom prst="rect">
            <a:avLst/>
          </a:prstGeom>
        </p:spPr>
      </p:pic>
      <p:pic>
        <p:nvPicPr>
          <p:cNvPr id="7"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5857161" y="4705272"/>
            <a:ext cx="468318" cy="383051"/>
          </a:xfrm>
          <a:prstGeom prst="rect">
            <a:avLst/>
          </a:prstGeom>
        </p:spPr>
      </p:pic>
      <p:pic>
        <p:nvPicPr>
          <p:cNvPr id="8"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7444344" y="3432624"/>
            <a:ext cx="468318" cy="383051"/>
          </a:xfrm>
          <a:prstGeom prst="rect">
            <a:avLst/>
          </a:prstGeom>
        </p:spPr>
      </p:pic>
      <p:pic>
        <p:nvPicPr>
          <p:cNvPr id="9"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7445725" y="4705639"/>
            <a:ext cx="468318" cy="383051"/>
          </a:xfrm>
          <a:prstGeom prst="rect">
            <a:avLst/>
          </a:prstGeom>
        </p:spPr>
      </p:pic>
      <p:pic>
        <p:nvPicPr>
          <p:cNvPr id="10"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3045470" y="4047307"/>
            <a:ext cx="468318" cy="383051"/>
          </a:xfrm>
          <a:prstGeom prst="rect">
            <a:avLst/>
          </a:prstGeom>
        </p:spPr>
      </p:pic>
      <p:cxnSp>
        <p:nvCxnSpPr>
          <p:cNvPr id="12" name="直接连接符 22"/>
          <p:cNvCxnSpPr>
            <a:stCxn id="10" idx="3"/>
            <a:endCxn id="4" idx="1"/>
          </p:cNvCxnSpPr>
          <p:nvPr/>
        </p:nvCxnSpPr>
        <p:spPr bwMode="gray">
          <a:xfrm>
            <a:off x="3513788" y="4238833"/>
            <a:ext cx="836654" cy="0"/>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cxnSp>
        <p:nvCxnSpPr>
          <p:cNvPr id="15" name="直接连接符 22"/>
          <p:cNvCxnSpPr>
            <a:stCxn id="4" idx="0"/>
            <a:endCxn id="6" idx="1"/>
          </p:cNvCxnSpPr>
          <p:nvPr/>
        </p:nvCxnSpPr>
        <p:spPr bwMode="gray">
          <a:xfrm flipV="1">
            <a:off x="4584601" y="3620448"/>
            <a:ext cx="1272560" cy="426859"/>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cxnSp>
        <p:nvCxnSpPr>
          <p:cNvPr id="17" name="直接连接符 22"/>
          <p:cNvCxnSpPr>
            <a:stCxn id="6" idx="3"/>
            <a:endCxn id="8" idx="1"/>
          </p:cNvCxnSpPr>
          <p:nvPr/>
        </p:nvCxnSpPr>
        <p:spPr bwMode="gray">
          <a:xfrm>
            <a:off x="6325479" y="3620448"/>
            <a:ext cx="1118865" cy="3702"/>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cxnSp>
        <p:nvCxnSpPr>
          <p:cNvPr id="18" name="直接连接符 22"/>
          <p:cNvCxnSpPr>
            <a:stCxn id="7" idx="3"/>
            <a:endCxn id="9" idx="1"/>
          </p:cNvCxnSpPr>
          <p:nvPr/>
        </p:nvCxnSpPr>
        <p:spPr bwMode="gray">
          <a:xfrm>
            <a:off x="6325479" y="4896798"/>
            <a:ext cx="1120246" cy="367"/>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cxnSp>
        <p:nvCxnSpPr>
          <p:cNvPr id="19" name="直接连接符 22"/>
          <p:cNvCxnSpPr>
            <a:stCxn id="11" idx="0"/>
            <a:endCxn id="8" idx="3"/>
          </p:cNvCxnSpPr>
          <p:nvPr/>
        </p:nvCxnSpPr>
        <p:spPr bwMode="gray">
          <a:xfrm flipH="1" flipV="1">
            <a:off x="7912662" y="3624150"/>
            <a:ext cx="564393" cy="431749"/>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cxnSp>
        <p:nvCxnSpPr>
          <p:cNvPr id="20" name="直接连接符 22"/>
          <p:cNvCxnSpPr>
            <a:stCxn id="11" idx="2"/>
            <a:endCxn id="9" idx="3"/>
          </p:cNvCxnSpPr>
          <p:nvPr/>
        </p:nvCxnSpPr>
        <p:spPr bwMode="gray">
          <a:xfrm flipH="1">
            <a:off x="7914043" y="4438950"/>
            <a:ext cx="563012" cy="458215"/>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cxnSp>
        <p:nvCxnSpPr>
          <p:cNvPr id="21" name="直接连接符 22"/>
          <p:cNvCxnSpPr>
            <a:stCxn id="9" idx="0"/>
            <a:endCxn id="8" idx="2"/>
          </p:cNvCxnSpPr>
          <p:nvPr/>
        </p:nvCxnSpPr>
        <p:spPr bwMode="gray">
          <a:xfrm flipH="1" flipV="1">
            <a:off x="7678503" y="3815675"/>
            <a:ext cx="1381" cy="889964"/>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cxnSp>
        <p:nvCxnSpPr>
          <p:cNvPr id="22" name="直接连接符 22"/>
          <p:cNvCxnSpPr>
            <a:stCxn id="7" idx="0"/>
            <a:endCxn id="6" idx="2"/>
          </p:cNvCxnSpPr>
          <p:nvPr/>
        </p:nvCxnSpPr>
        <p:spPr bwMode="gray">
          <a:xfrm flipV="1">
            <a:off x="6091320" y="3811973"/>
            <a:ext cx="0" cy="893299"/>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sp>
        <p:nvSpPr>
          <p:cNvPr id="23" name="TextBox 22"/>
          <p:cNvSpPr txBox="1"/>
          <p:nvPr/>
        </p:nvSpPr>
        <p:spPr bwMode="gray">
          <a:xfrm>
            <a:off x="3040706" y="4386579"/>
            <a:ext cx="477846"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CE1</a:t>
            </a:r>
            <a:endParaRPr lang="zh-CN" altLang="en-US" sz="1200" dirty="0">
              <a:solidFill>
                <a:srgbClr val="000000"/>
              </a:solidFill>
              <a:cs typeface="+mn-ea"/>
              <a:sym typeface="+mn-lt"/>
            </a:endParaRPr>
          </a:p>
        </p:txBody>
      </p:sp>
      <p:sp>
        <p:nvSpPr>
          <p:cNvPr id="24" name="TextBox 23"/>
          <p:cNvSpPr txBox="1"/>
          <p:nvPr/>
        </p:nvSpPr>
        <p:spPr bwMode="gray">
          <a:xfrm>
            <a:off x="4752933" y="4100278"/>
            <a:ext cx="477846"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PE1</a:t>
            </a:r>
            <a:endParaRPr lang="zh-CN" altLang="en-US" sz="1200" dirty="0">
              <a:solidFill>
                <a:srgbClr val="000000"/>
              </a:solidFill>
              <a:cs typeface="+mn-ea"/>
              <a:sym typeface="+mn-lt"/>
            </a:endParaRPr>
          </a:p>
        </p:txBody>
      </p:sp>
      <p:sp>
        <p:nvSpPr>
          <p:cNvPr id="26" name="TextBox 25"/>
          <p:cNvSpPr txBox="1"/>
          <p:nvPr/>
        </p:nvSpPr>
        <p:spPr bwMode="gray">
          <a:xfrm>
            <a:off x="5725790" y="3770308"/>
            <a:ext cx="477846"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P1</a:t>
            </a:r>
            <a:endParaRPr lang="zh-CN" altLang="en-US" sz="1200" dirty="0">
              <a:solidFill>
                <a:srgbClr val="000000"/>
              </a:solidFill>
              <a:cs typeface="+mn-ea"/>
              <a:sym typeface="+mn-lt"/>
            </a:endParaRPr>
          </a:p>
        </p:txBody>
      </p:sp>
      <p:sp>
        <p:nvSpPr>
          <p:cNvPr id="27" name="TextBox 26"/>
          <p:cNvSpPr txBox="1"/>
          <p:nvPr/>
        </p:nvSpPr>
        <p:spPr bwMode="gray">
          <a:xfrm>
            <a:off x="5721898" y="4485243"/>
            <a:ext cx="477846"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P2</a:t>
            </a:r>
            <a:endParaRPr lang="zh-CN" altLang="en-US" sz="1200" dirty="0">
              <a:solidFill>
                <a:srgbClr val="000000"/>
              </a:solidFill>
              <a:cs typeface="+mn-ea"/>
              <a:sym typeface="+mn-lt"/>
            </a:endParaRPr>
          </a:p>
        </p:txBody>
      </p:sp>
      <p:sp>
        <p:nvSpPr>
          <p:cNvPr id="28" name="TextBox 27"/>
          <p:cNvSpPr txBox="1"/>
          <p:nvPr/>
        </p:nvSpPr>
        <p:spPr bwMode="gray">
          <a:xfrm>
            <a:off x="7256858" y="4487205"/>
            <a:ext cx="477846"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PE3</a:t>
            </a:r>
            <a:endParaRPr lang="zh-CN" altLang="en-US" sz="1200" dirty="0">
              <a:solidFill>
                <a:srgbClr val="000000"/>
              </a:solidFill>
              <a:cs typeface="+mn-ea"/>
              <a:sym typeface="+mn-lt"/>
            </a:endParaRPr>
          </a:p>
        </p:txBody>
      </p:sp>
      <p:sp>
        <p:nvSpPr>
          <p:cNvPr id="29" name="TextBox 28"/>
          <p:cNvSpPr txBox="1"/>
          <p:nvPr/>
        </p:nvSpPr>
        <p:spPr bwMode="gray">
          <a:xfrm>
            <a:off x="8341982" y="4396030"/>
            <a:ext cx="477846"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CE2</a:t>
            </a:r>
            <a:endParaRPr lang="zh-CN" altLang="en-US" sz="1200" dirty="0">
              <a:solidFill>
                <a:srgbClr val="000000"/>
              </a:solidFill>
              <a:cs typeface="+mn-ea"/>
              <a:sym typeface="+mn-lt"/>
            </a:endParaRPr>
          </a:p>
        </p:txBody>
      </p:sp>
      <p:sp>
        <p:nvSpPr>
          <p:cNvPr id="30" name="TextBox 29"/>
          <p:cNvSpPr txBox="1"/>
          <p:nvPr/>
        </p:nvSpPr>
        <p:spPr bwMode="gray">
          <a:xfrm>
            <a:off x="7256858" y="3760692"/>
            <a:ext cx="477846"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PE2</a:t>
            </a:r>
            <a:endParaRPr lang="zh-CN" altLang="en-US" sz="1200" dirty="0">
              <a:solidFill>
                <a:srgbClr val="000000"/>
              </a:solidFill>
              <a:cs typeface="+mn-ea"/>
              <a:sym typeface="+mn-lt"/>
            </a:endParaRPr>
          </a:p>
        </p:txBody>
      </p:sp>
      <p:sp>
        <p:nvSpPr>
          <p:cNvPr id="40" name="Freeform 39"/>
          <p:cNvSpPr/>
          <p:nvPr/>
        </p:nvSpPr>
        <p:spPr bwMode="gray">
          <a:xfrm rot="20993364">
            <a:off x="4464563" y="3232570"/>
            <a:ext cx="3095320" cy="442092"/>
          </a:xfrm>
          <a:custGeom>
            <a:avLst/>
            <a:gdLst>
              <a:gd name="connsiteX0" fmla="*/ 3883510 w 3883510"/>
              <a:gd name="connsiteY0" fmla="*/ 1409282 h 1441555"/>
              <a:gd name="connsiteX1" fmla="*/ 1979407 w 3883510"/>
              <a:gd name="connsiteY1" fmla="*/ 30 h 1441555"/>
              <a:gd name="connsiteX2" fmla="*/ 0 w 3883510"/>
              <a:gd name="connsiteY2" fmla="*/ 1441555 h 1441555"/>
            </a:gdLst>
            <a:ahLst/>
            <a:cxnLst>
              <a:cxn ang="0">
                <a:pos x="connsiteX0" y="connsiteY0"/>
              </a:cxn>
              <a:cxn ang="0">
                <a:pos x="connsiteX1" y="connsiteY1"/>
              </a:cxn>
              <a:cxn ang="0">
                <a:pos x="connsiteX2" y="connsiteY2"/>
              </a:cxn>
            </a:cxnLst>
            <a:rect l="l" t="t" r="r" b="b"/>
            <a:pathLst>
              <a:path w="3883510" h="1441555">
                <a:moveTo>
                  <a:pt x="3883510" y="1409282"/>
                </a:moveTo>
                <a:cubicBezTo>
                  <a:pt x="3255084" y="701966"/>
                  <a:pt x="2626659" y="-5349"/>
                  <a:pt x="1979407" y="30"/>
                </a:cubicBezTo>
                <a:cubicBezTo>
                  <a:pt x="1332155" y="5409"/>
                  <a:pt x="666077" y="723482"/>
                  <a:pt x="0" y="1441555"/>
                </a:cubicBezTo>
              </a:path>
            </a:pathLst>
          </a:custGeom>
          <a:noFill/>
          <a:ln w="19050">
            <a:solidFill>
              <a:schemeClr val="bg1">
                <a:lumMod val="50000"/>
              </a:schemeClr>
            </a:solidFill>
            <a:prstDash val="dash"/>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17"/>
          <p:cNvGrpSpPr/>
          <p:nvPr/>
        </p:nvGrpSpPr>
        <p:grpSpPr bwMode="gray">
          <a:xfrm>
            <a:off x="5521797" y="2631753"/>
            <a:ext cx="1204420" cy="743484"/>
            <a:chOff x="756083" y="2270097"/>
            <a:chExt cx="1204420" cy="475627"/>
          </a:xfrm>
        </p:grpSpPr>
        <p:sp>
          <p:nvSpPr>
            <p:cNvPr id="42" name="矩形: 圆角 52"/>
            <p:cNvSpPr/>
            <p:nvPr/>
          </p:nvSpPr>
          <p:spPr bwMode="gray">
            <a:xfrm>
              <a:off x="756083" y="2270097"/>
              <a:ext cx="1204420" cy="475627"/>
            </a:xfrm>
            <a:prstGeom prst="roundRect">
              <a:avLst>
                <a:gd name="adj" fmla="val 3125"/>
              </a:avLst>
            </a:prstGeom>
            <a:solidFill>
              <a:schemeClr val="bg1"/>
            </a:solidFill>
            <a:ln w="190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ltLang="zh-CN" sz="12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BGP</a:t>
              </a:r>
              <a:r>
                <a:rPr lang="zh-CN" altLang="en-US" sz="12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路由</a:t>
              </a:r>
              <a:endParaRPr lang="zh-CN" altLang="en-US" sz="12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TextBox 120"/>
            <p:cNvSpPr txBox="1"/>
            <p:nvPr/>
          </p:nvSpPr>
          <p:spPr bwMode="gray">
            <a:xfrm>
              <a:off x="791532" y="2417231"/>
              <a:ext cx="1126359" cy="301052"/>
            </a:xfrm>
            <a:prstGeom prst="roundRect">
              <a:avLst>
                <a:gd name="adj" fmla="val 3880"/>
              </a:avLst>
            </a:prstGeom>
            <a:noFill/>
            <a:ln w="12700">
              <a:solidFill>
                <a:srgbClr val="56C4D2"/>
              </a:solidFill>
            </a:ln>
          </p:spPr>
          <p:txBody>
            <a:bodyPr wrap="square" rtlCol="0" anchor="ctr">
              <a:spAutoFit/>
            </a:bodyPr>
            <a:lstStyle/>
            <a:p>
              <a:r>
                <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Prefix  NHP </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Net2   PE2</a:t>
              </a:r>
              <a:endPar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44" name="Freeform 159"/>
          <p:cNvSpPr/>
          <p:nvPr/>
        </p:nvSpPr>
        <p:spPr bwMode="gray">
          <a:xfrm flipH="1">
            <a:off x="8580905" y="3917439"/>
            <a:ext cx="973564" cy="50891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Net2</a:t>
            </a:r>
            <a:endParaRPr lang="en-US"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1"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8242896" y="4055899"/>
            <a:ext cx="468318" cy="383051"/>
          </a:xfrm>
          <a:prstGeom prst="rect">
            <a:avLst/>
          </a:prstGeom>
        </p:spPr>
      </p:pic>
      <p:cxnSp>
        <p:nvCxnSpPr>
          <p:cNvPr id="53" name="直接连接符 22"/>
          <p:cNvCxnSpPr>
            <a:stCxn id="4" idx="2"/>
            <a:endCxn id="7" idx="1"/>
          </p:cNvCxnSpPr>
          <p:nvPr/>
        </p:nvCxnSpPr>
        <p:spPr bwMode="gray">
          <a:xfrm>
            <a:off x="4584601" y="4430358"/>
            <a:ext cx="1272560" cy="466440"/>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sp>
        <p:nvSpPr>
          <p:cNvPr id="58" name="Freeform 57"/>
          <p:cNvSpPr/>
          <p:nvPr/>
        </p:nvSpPr>
        <p:spPr bwMode="gray">
          <a:xfrm>
            <a:off x="4421257" y="3518593"/>
            <a:ext cx="3405500" cy="525780"/>
          </a:xfrm>
          <a:custGeom>
            <a:avLst/>
            <a:gdLst>
              <a:gd name="connsiteX0" fmla="*/ 0 w 3299460"/>
              <a:gd name="connsiteY0" fmla="*/ 525780 h 525780"/>
              <a:gd name="connsiteX1" fmla="*/ 1539240 w 3299460"/>
              <a:gd name="connsiteY1" fmla="*/ 0 h 525780"/>
              <a:gd name="connsiteX2" fmla="*/ 3299460 w 3299460"/>
              <a:gd name="connsiteY2" fmla="*/ 0 h 525780"/>
            </a:gdLst>
            <a:ahLst/>
            <a:cxnLst>
              <a:cxn ang="0">
                <a:pos x="connsiteX0" y="connsiteY0"/>
              </a:cxn>
              <a:cxn ang="0">
                <a:pos x="connsiteX1" y="connsiteY1"/>
              </a:cxn>
              <a:cxn ang="0">
                <a:pos x="connsiteX2" y="connsiteY2"/>
              </a:cxn>
            </a:cxnLst>
            <a:rect l="l" t="t" r="r" b="b"/>
            <a:pathLst>
              <a:path w="3299460" h="525780">
                <a:moveTo>
                  <a:pt x="0" y="525780"/>
                </a:moveTo>
                <a:lnTo>
                  <a:pt x="1539240" y="0"/>
                </a:lnTo>
                <a:lnTo>
                  <a:pt x="3299460" y="0"/>
                </a:lnTo>
              </a:path>
            </a:pathLst>
          </a:custGeom>
          <a:noFill/>
          <a:ln w="28575">
            <a:solidFill>
              <a:srgbClr val="56C4D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Freeform 58"/>
          <p:cNvSpPr/>
          <p:nvPr/>
        </p:nvSpPr>
        <p:spPr bwMode="gray">
          <a:xfrm flipV="1">
            <a:off x="4421256" y="4426349"/>
            <a:ext cx="3389185" cy="578908"/>
          </a:xfrm>
          <a:custGeom>
            <a:avLst/>
            <a:gdLst>
              <a:gd name="connsiteX0" fmla="*/ 0 w 3299460"/>
              <a:gd name="connsiteY0" fmla="*/ 525780 h 525780"/>
              <a:gd name="connsiteX1" fmla="*/ 1539240 w 3299460"/>
              <a:gd name="connsiteY1" fmla="*/ 0 h 525780"/>
              <a:gd name="connsiteX2" fmla="*/ 3299460 w 3299460"/>
              <a:gd name="connsiteY2" fmla="*/ 0 h 525780"/>
            </a:gdLst>
            <a:ahLst/>
            <a:cxnLst>
              <a:cxn ang="0">
                <a:pos x="connsiteX0" y="connsiteY0"/>
              </a:cxn>
              <a:cxn ang="0">
                <a:pos x="connsiteX1" y="connsiteY1"/>
              </a:cxn>
              <a:cxn ang="0">
                <a:pos x="connsiteX2" y="connsiteY2"/>
              </a:cxn>
            </a:cxnLst>
            <a:rect l="l" t="t" r="r" b="b"/>
            <a:pathLst>
              <a:path w="3299460" h="525780">
                <a:moveTo>
                  <a:pt x="0" y="525780"/>
                </a:moveTo>
                <a:lnTo>
                  <a:pt x="1539240" y="0"/>
                </a:lnTo>
                <a:lnTo>
                  <a:pt x="3299460" y="0"/>
                </a:lnTo>
              </a:path>
            </a:pathLst>
          </a:custGeom>
          <a:noFill/>
          <a:ln w="28575">
            <a:solidFill>
              <a:srgbClr val="E28189"/>
            </a:solidFill>
            <a:prstDash val="solid"/>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Freeform 59"/>
          <p:cNvSpPr/>
          <p:nvPr/>
        </p:nvSpPr>
        <p:spPr bwMode="gray">
          <a:xfrm rot="606636" flipV="1">
            <a:off x="4436027" y="4817262"/>
            <a:ext cx="3095320" cy="442092"/>
          </a:xfrm>
          <a:custGeom>
            <a:avLst/>
            <a:gdLst>
              <a:gd name="connsiteX0" fmla="*/ 3883510 w 3883510"/>
              <a:gd name="connsiteY0" fmla="*/ 1409282 h 1441555"/>
              <a:gd name="connsiteX1" fmla="*/ 1979407 w 3883510"/>
              <a:gd name="connsiteY1" fmla="*/ 30 h 1441555"/>
              <a:gd name="connsiteX2" fmla="*/ 0 w 3883510"/>
              <a:gd name="connsiteY2" fmla="*/ 1441555 h 1441555"/>
            </a:gdLst>
            <a:ahLst/>
            <a:cxnLst>
              <a:cxn ang="0">
                <a:pos x="connsiteX0" y="connsiteY0"/>
              </a:cxn>
              <a:cxn ang="0">
                <a:pos x="connsiteX1" y="connsiteY1"/>
              </a:cxn>
              <a:cxn ang="0">
                <a:pos x="connsiteX2" y="connsiteY2"/>
              </a:cxn>
            </a:cxnLst>
            <a:rect l="l" t="t" r="r" b="b"/>
            <a:pathLst>
              <a:path w="3883510" h="1441555">
                <a:moveTo>
                  <a:pt x="3883510" y="1409282"/>
                </a:moveTo>
                <a:cubicBezTo>
                  <a:pt x="3255084" y="701966"/>
                  <a:pt x="2626659" y="-5349"/>
                  <a:pt x="1979407" y="30"/>
                </a:cubicBezTo>
                <a:cubicBezTo>
                  <a:pt x="1332155" y="5409"/>
                  <a:pt x="666077" y="723482"/>
                  <a:pt x="0" y="1441555"/>
                </a:cubicBezTo>
              </a:path>
            </a:pathLst>
          </a:custGeom>
          <a:noFill/>
          <a:ln w="19050">
            <a:solidFill>
              <a:schemeClr val="bg1">
                <a:lumMod val="50000"/>
              </a:schemeClr>
            </a:solidFill>
            <a:prstDash val="dash"/>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1" name="组合 17"/>
          <p:cNvGrpSpPr/>
          <p:nvPr/>
        </p:nvGrpSpPr>
        <p:grpSpPr bwMode="gray">
          <a:xfrm>
            <a:off x="5521797" y="5195615"/>
            <a:ext cx="1204420" cy="743484"/>
            <a:chOff x="756083" y="2270097"/>
            <a:chExt cx="1204420" cy="475627"/>
          </a:xfrm>
        </p:grpSpPr>
        <p:sp>
          <p:nvSpPr>
            <p:cNvPr id="62" name="矩形: 圆角 52"/>
            <p:cNvSpPr/>
            <p:nvPr/>
          </p:nvSpPr>
          <p:spPr bwMode="gray">
            <a:xfrm>
              <a:off x="756083" y="2270097"/>
              <a:ext cx="1204420" cy="475627"/>
            </a:xfrm>
            <a:prstGeom prst="roundRect">
              <a:avLst>
                <a:gd name="adj" fmla="val 3125"/>
              </a:avLst>
            </a:prstGeom>
            <a:solidFill>
              <a:schemeClr val="bg1"/>
            </a:solidFill>
            <a:ln w="190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ltLang="zh-CN" sz="12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BGP</a:t>
              </a:r>
              <a:r>
                <a:rPr lang="zh-CN" altLang="en-US" sz="12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路由</a:t>
              </a:r>
              <a:endParaRPr lang="zh-CN" altLang="en-US" sz="12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3" name="TextBox 120"/>
            <p:cNvSpPr txBox="1"/>
            <p:nvPr/>
          </p:nvSpPr>
          <p:spPr bwMode="gray">
            <a:xfrm>
              <a:off x="791532" y="2417231"/>
              <a:ext cx="1126359" cy="301052"/>
            </a:xfrm>
            <a:prstGeom prst="roundRect">
              <a:avLst>
                <a:gd name="adj" fmla="val 3880"/>
              </a:avLst>
            </a:prstGeom>
            <a:noFill/>
            <a:ln w="12700">
              <a:solidFill>
                <a:srgbClr val="56C4D2"/>
              </a:solidFill>
            </a:ln>
          </p:spPr>
          <p:txBody>
            <a:bodyPr wrap="square" rtlCol="0" anchor="ctr">
              <a:spAutoFit/>
            </a:bodyPr>
            <a:lstStyle/>
            <a:p>
              <a:r>
                <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Prefix  NHP </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Net2   PE3</a:t>
              </a:r>
              <a:endPar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64" name="组合 17"/>
          <p:cNvGrpSpPr/>
          <p:nvPr/>
        </p:nvGrpSpPr>
        <p:grpSpPr bwMode="gray">
          <a:xfrm>
            <a:off x="2807687" y="3001375"/>
            <a:ext cx="1653301" cy="950169"/>
            <a:chOff x="756082" y="2199988"/>
            <a:chExt cx="1653301" cy="607849"/>
          </a:xfrm>
        </p:grpSpPr>
        <p:sp>
          <p:nvSpPr>
            <p:cNvPr id="65" name="矩形: 圆角 52"/>
            <p:cNvSpPr/>
            <p:nvPr/>
          </p:nvSpPr>
          <p:spPr bwMode="gray">
            <a:xfrm>
              <a:off x="756082" y="2199988"/>
              <a:ext cx="1653301" cy="607849"/>
            </a:xfrm>
            <a:prstGeom prst="roundRect">
              <a:avLst>
                <a:gd name="adj" fmla="val 3125"/>
              </a:avLst>
            </a:prstGeom>
            <a:solidFill>
              <a:schemeClr val="bg1"/>
            </a:solidFill>
            <a:ln w="190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ltLang="zh-CN" sz="12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PE1 BGP</a:t>
              </a:r>
              <a:r>
                <a:rPr lang="zh-CN" altLang="en-US" sz="12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路由</a:t>
              </a:r>
              <a:endParaRPr lang="zh-CN" altLang="en-US" sz="12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6" name="TextBox 120"/>
            <p:cNvSpPr txBox="1"/>
            <p:nvPr/>
          </p:nvSpPr>
          <p:spPr bwMode="gray">
            <a:xfrm>
              <a:off x="791532" y="2357021"/>
              <a:ext cx="1575185" cy="421473"/>
            </a:xfrm>
            <a:prstGeom prst="roundRect">
              <a:avLst>
                <a:gd name="adj" fmla="val 3880"/>
              </a:avLst>
            </a:prstGeom>
            <a:noFill/>
            <a:ln w="12700">
              <a:solidFill>
                <a:srgbClr val="56C4D2"/>
              </a:solidFill>
            </a:ln>
          </p:spPr>
          <p:txBody>
            <a:bodyPr wrap="square" rtlCol="0" anchor="ctr">
              <a:spAutoFit/>
            </a:bodyPr>
            <a:lstStyle/>
            <a:p>
              <a:r>
                <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Prefix     NHP </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Net2      PE2</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Backup  PE3</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cxnSp>
        <p:nvCxnSpPr>
          <p:cNvPr id="67" name="Straight Arrow Connector 66"/>
          <p:cNvCxnSpPr/>
          <p:nvPr/>
        </p:nvCxnSpPr>
        <p:spPr bwMode="gray">
          <a:xfrm>
            <a:off x="9036426" y="5340000"/>
            <a:ext cx="666750" cy="0"/>
          </a:xfrm>
          <a:prstGeom prst="straightConnector1">
            <a:avLst/>
          </a:prstGeom>
          <a:noFill/>
          <a:ln w="28575">
            <a:solidFill>
              <a:srgbClr val="56C4D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sp>
        <p:nvSpPr>
          <p:cNvPr id="68" name="TextBox 16"/>
          <p:cNvSpPr txBox="1"/>
          <p:nvPr/>
        </p:nvSpPr>
        <p:spPr bwMode="gray">
          <a:xfrm>
            <a:off x="9703176" y="5201500"/>
            <a:ext cx="815211" cy="276999"/>
          </a:xfrm>
          <a:prstGeom prst="rect">
            <a:avLst/>
          </a:prstGeom>
          <a:noFill/>
        </p:spPr>
        <p:txBody>
          <a:bodyPr wrap="square" rtlCol="0">
            <a:spAutoFit/>
          </a:bodyPr>
          <a:lstStyle/>
          <a:p>
            <a:pPr>
              <a:buClr>
                <a:srgbClr val="CC9900"/>
              </a:buClr>
              <a:buFont typeface="Wingdings" panose="05000000000000000000" pitchFamily="2" charset="2"/>
              <a:buNone/>
            </a:pPr>
            <a:r>
              <a:rPr lang="zh-CN" altLang="en-US" sz="1200" dirty="0">
                <a:solidFill>
                  <a:srgbClr val="000000"/>
                </a:solidFill>
                <a:cs typeface="+mn-ea"/>
                <a:sym typeface="+mn-lt"/>
              </a:rPr>
              <a:t>主路径</a:t>
            </a:r>
            <a:endParaRPr lang="zh-CN" altLang="en-US" sz="1200" dirty="0">
              <a:solidFill>
                <a:srgbClr val="000000"/>
              </a:solidFill>
              <a:cs typeface="+mn-ea"/>
              <a:sym typeface="+mn-lt"/>
            </a:endParaRPr>
          </a:p>
        </p:txBody>
      </p:sp>
      <p:sp>
        <p:nvSpPr>
          <p:cNvPr id="69" name="TextBox 16"/>
          <p:cNvSpPr txBox="1"/>
          <p:nvPr/>
        </p:nvSpPr>
        <p:spPr bwMode="gray">
          <a:xfrm>
            <a:off x="9671148" y="5534875"/>
            <a:ext cx="847239" cy="276999"/>
          </a:xfrm>
          <a:prstGeom prst="rect">
            <a:avLst/>
          </a:prstGeom>
          <a:noFill/>
        </p:spPr>
        <p:txBody>
          <a:bodyPr wrap="square" rtlCol="0">
            <a:spAutoFit/>
          </a:bodyPr>
          <a:lstStyle/>
          <a:p>
            <a:pPr algn="ctr">
              <a:buClr>
                <a:srgbClr val="CC9900"/>
              </a:buClr>
              <a:buFont typeface="Wingdings" panose="05000000000000000000" pitchFamily="2" charset="2"/>
              <a:buNone/>
            </a:pPr>
            <a:r>
              <a:rPr lang="zh-CN" altLang="en-US" sz="1200" dirty="0">
                <a:solidFill>
                  <a:srgbClr val="000000"/>
                </a:solidFill>
                <a:cs typeface="+mn-ea"/>
                <a:sym typeface="+mn-lt"/>
              </a:rPr>
              <a:t>备份路径</a:t>
            </a:r>
            <a:endParaRPr lang="zh-CN" altLang="en-US" sz="1200" dirty="0">
              <a:solidFill>
                <a:srgbClr val="000000"/>
              </a:solidFill>
              <a:cs typeface="+mn-ea"/>
              <a:sym typeface="+mn-lt"/>
            </a:endParaRPr>
          </a:p>
        </p:txBody>
      </p:sp>
      <p:cxnSp>
        <p:nvCxnSpPr>
          <p:cNvPr id="70" name="Straight Arrow Connector 69"/>
          <p:cNvCxnSpPr/>
          <p:nvPr/>
        </p:nvCxnSpPr>
        <p:spPr bwMode="gray">
          <a:xfrm>
            <a:off x="9036426" y="5673374"/>
            <a:ext cx="666750" cy="0"/>
          </a:xfrm>
          <a:prstGeom prst="straightConnector1">
            <a:avLst/>
          </a:prstGeom>
          <a:noFill/>
          <a:ln w="28575">
            <a:solidFill>
              <a:srgbClr val="E28189"/>
            </a:solidFill>
            <a:prstDash val="solid"/>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bwMode="gray"/>
        <p:txBody>
          <a:bodyPr/>
          <a:lstStyle/>
          <a:p>
            <a:r>
              <a:rPr lang="en-US" altLang="zh-CN" sz="1800" dirty="0" err="1"/>
              <a:t>Anycast</a:t>
            </a:r>
            <a:r>
              <a:rPr lang="en-US" altLang="zh-CN" sz="1800" dirty="0"/>
              <a:t> FRR</a:t>
            </a:r>
            <a:r>
              <a:rPr lang="zh-CN" altLang="en-US" sz="1800" dirty="0"/>
              <a:t>通过在</a:t>
            </a:r>
            <a:r>
              <a:rPr lang="en-US" altLang="zh-CN" sz="1800" dirty="0"/>
              <a:t>CE</a:t>
            </a:r>
            <a:r>
              <a:rPr lang="zh-CN" altLang="en-US" sz="1800" dirty="0"/>
              <a:t>双归的</a:t>
            </a:r>
            <a:r>
              <a:rPr lang="en-US" altLang="zh-CN" sz="1800" dirty="0"/>
              <a:t>PE</a:t>
            </a:r>
            <a:r>
              <a:rPr lang="zh-CN" altLang="en-US" sz="1800" dirty="0"/>
              <a:t>上部署相同的</a:t>
            </a:r>
            <a:r>
              <a:rPr lang="en-US" altLang="zh-CN" sz="1800" dirty="0"/>
              <a:t>Locator</a:t>
            </a:r>
            <a:r>
              <a:rPr lang="zh-CN" altLang="en-US" sz="1800" dirty="0"/>
              <a:t>和</a:t>
            </a:r>
            <a:r>
              <a:rPr lang="en-US" altLang="zh-CN" sz="1800" dirty="0"/>
              <a:t>VPN SID</a:t>
            </a:r>
            <a:r>
              <a:rPr lang="zh-CN" altLang="en-US" sz="1800" dirty="0"/>
              <a:t>来实现</a:t>
            </a:r>
            <a:r>
              <a:rPr lang="en-US" altLang="zh-CN" sz="1800" dirty="0"/>
              <a:t>SRv6</a:t>
            </a:r>
            <a:r>
              <a:rPr lang="zh-CN" altLang="en-US" sz="1800" dirty="0"/>
              <a:t>尾节点保护。</a:t>
            </a:r>
            <a:endParaRPr lang="en-US" altLang="zh-CN" sz="1800" dirty="0"/>
          </a:p>
          <a:p>
            <a:endParaRPr lang="en-US" altLang="zh-CN" sz="1800" dirty="0"/>
          </a:p>
          <a:p>
            <a:endParaRPr lang="en-US" altLang="zh-CN" sz="1800" dirty="0"/>
          </a:p>
          <a:p>
            <a:endParaRPr lang="en-US" altLang="zh-CN" sz="1800" dirty="0"/>
          </a:p>
          <a:p>
            <a:endParaRPr lang="en-US" altLang="zh-CN" sz="1800" dirty="0"/>
          </a:p>
          <a:p>
            <a:endParaRPr lang="en-US" altLang="zh-CN" sz="1800" dirty="0"/>
          </a:p>
          <a:p>
            <a:endParaRPr lang="en-US" altLang="zh-CN" sz="1800" dirty="0"/>
          </a:p>
          <a:p>
            <a:endParaRPr lang="en-US" altLang="zh-CN" sz="1800" dirty="0"/>
          </a:p>
          <a:p>
            <a:endParaRPr lang="en-US" altLang="zh-CN" sz="1800" dirty="0"/>
          </a:p>
          <a:p>
            <a:endParaRPr lang="en-US" altLang="zh-CN" sz="1800" dirty="0"/>
          </a:p>
        </p:txBody>
      </p:sp>
      <p:sp>
        <p:nvSpPr>
          <p:cNvPr id="2" name="Title 1"/>
          <p:cNvSpPr>
            <a:spLocks noGrp="1"/>
          </p:cNvSpPr>
          <p:nvPr>
            <p:ph type="title"/>
          </p:nvPr>
        </p:nvSpPr>
        <p:spPr bwMode="gray"/>
        <p:txBody>
          <a:bodyPr/>
          <a:lstStyle/>
          <a:p>
            <a:r>
              <a:rPr lang="en-US" altLang="zh-CN" dirty="0" err="1"/>
              <a:t>Anycast</a:t>
            </a:r>
            <a:r>
              <a:rPr lang="en-US" altLang="zh-CN" dirty="0"/>
              <a:t> FRR</a:t>
            </a:r>
            <a:r>
              <a:rPr lang="zh-CN" altLang="en-US" dirty="0"/>
              <a:t>介绍</a:t>
            </a:r>
            <a:endParaRPr lang="zh-CN" altLang="en-US" dirty="0"/>
          </a:p>
        </p:txBody>
      </p:sp>
      <p:pic>
        <p:nvPicPr>
          <p:cNvPr id="4"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4291598" y="2618348"/>
            <a:ext cx="468318" cy="383051"/>
          </a:xfrm>
          <a:prstGeom prst="rect">
            <a:avLst/>
          </a:prstGeom>
        </p:spPr>
      </p:pic>
      <p:pic>
        <p:nvPicPr>
          <p:cNvPr id="5"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4291598" y="3894698"/>
            <a:ext cx="468318" cy="383051"/>
          </a:xfrm>
          <a:prstGeom prst="rect">
            <a:avLst/>
          </a:prstGeom>
        </p:spPr>
      </p:pic>
      <p:pic>
        <p:nvPicPr>
          <p:cNvPr id="6"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5872748" y="2618348"/>
            <a:ext cx="468318" cy="383051"/>
          </a:xfrm>
          <a:prstGeom prst="rect">
            <a:avLst/>
          </a:prstGeom>
        </p:spPr>
      </p:pic>
      <p:pic>
        <p:nvPicPr>
          <p:cNvPr id="7"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5872748" y="3894698"/>
            <a:ext cx="468318" cy="383051"/>
          </a:xfrm>
          <a:prstGeom prst="rect">
            <a:avLst/>
          </a:prstGeom>
        </p:spPr>
      </p:pic>
      <p:pic>
        <p:nvPicPr>
          <p:cNvPr id="10"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7459931" y="2622050"/>
            <a:ext cx="468318" cy="383051"/>
          </a:xfrm>
          <a:prstGeom prst="rect">
            <a:avLst/>
          </a:prstGeom>
        </p:spPr>
      </p:pic>
      <p:pic>
        <p:nvPicPr>
          <p:cNvPr id="11"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7461312" y="3895065"/>
            <a:ext cx="468318" cy="383051"/>
          </a:xfrm>
          <a:prstGeom prst="rect">
            <a:avLst/>
          </a:prstGeom>
        </p:spPr>
      </p:pic>
      <p:pic>
        <p:nvPicPr>
          <p:cNvPr id="12"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3015248" y="3243163"/>
            <a:ext cx="468318" cy="383051"/>
          </a:xfrm>
          <a:prstGeom prst="rect">
            <a:avLst/>
          </a:prstGeom>
        </p:spPr>
      </p:pic>
      <p:pic>
        <p:nvPicPr>
          <p:cNvPr id="13"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8649008" y="3245325"/>
            <a:ext cx="468318" cy="383051"/>
          </a:xfrm>
          <a:prstGeom prst="rect">
            <a:avLst/>
          </a:prstGeom>
        </p:spPr>
      </p:pic>
      <p:cxnSp>
        <p:nvCxnSpPr>
          <p:cNvPr id="14" name="直接连接符 22"/>
          <p:cNvCxnSpPr>
            <a:stCxn id="12" idx="0"/>
            <a:endCxn id="4" idx="1"/>
          </p:cNvCxnSpPr>
          <p:nvPr/>
        </p:nvCxnSpPr>
        <p:spPr bwMode="gray">
          <a:xfrm flipV="1">
            <a:off x="3249407" y="2809874"/>
            <a:ext cx="1042191" cy="433289"/>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cxnSp>
        <p:nvCxnSpPr>
          <p:cNvPr id="15" name="直接连接符 22"/>
          <p:cNvCxnSpPr>
            <a:stCxn id="12" idx="2"/>
            <a:endCxn id="5" idx="1"/>
          </p:cNvCxnSpPr>
          <p:nvPr/>
        </p:nvCxnSpPr>
        <p:spPr bwMode="gray">
          <a:xfrm>
            <a:off x="3249407" y="3626214"/>
            <a:ext cx="1042191" cy="460010"/>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cxnSp>
        <p:nvCxnSpPr>
          <p:cNvPr id="16" name="直接连接符 22"/>
          <p:cNvCxnSpPr>
            <a:stCxn id="4" idx="2"/>
            <a:endCxn id="5" idx="0"/>
          </p:cNvCxnSpPr>
          <p:nvPr/>
        </p:nvCxnSpPr>
        <p:spPr bwMode="gray">
          <a:xfrm>
            <a:off x="4525757" y="3001399"/>
            <a:ext cx="0" cy="893299"/>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cxnSp>
        <p:nvCxnSpPr>
          <p:cNvPr id="17" name="直接连接符 22"/>
          <p:cNvCxnSpPr>
            <a:stCxn id="4" idx="3"/>
            <a:endCxn id="6" idx="1"/>
          </p:cNvCxnSpPr>
          <p:nvPr/>
        </p:nvCxnSpPr>
        <p:spPr bwMode="gray">
          <a:xfrm>
            <a:off x="4759916" y="2809874"/>
            <a:ext cx="1112832" cy="0"/>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cxnSp>
        <p:nvCxnSpPr>
          <p:cNvPr id="18" name="直接连接符 22"/>
          <p:cNvCxnSpPr>
            <a:stCxn id="5" idx="3"/>
            <a:endCxn id="7" idx="1"/>
          </p:cNvCxnSpPr>
          <p:nvPr/>
        </p:nvCxnSpPr>
        <p:spPr bwMode="gray">
          <a:xfrm>
            <a:off x="4759916" y="4086224"/>
            <a:ext cx="1112832" cy="0"/>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cxnSp>
        <p:nvCxnSpPr>
          <p:cNvPr id="19" name="直接连接符 22"/>
          <p:cNvCxnSpPr>
            <a:stCxn id="6" idx="3"/>
            <a:endCxn id="10" idx="1"/>
          </p:cNvCxnSpPr>
          <p:nvPr/>
        </p:nvCxnSpPr>
        <p:spPr bwMode="gray">
          <a:xfrm>
            <a:off x="6341066" y="2809874"/>
            <a:ext cx="1118865" cy="3702"/>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cxnSp>
        <p:nvCxnSpPr>
          <p:cNvPr id="20" name="直接连接符 22"/>
          <p:cNvCxnSpPr>
            <a:stCxn id="7" idx="3"/>
            <a:endCxn id="11" idx="1"/>
          </p:cNvCxnSpPr>
          <p:nvPr/>
        </p:nvCxnSpPr>
        <p:spPr bwMode="gray">
          <a:xfrm>
            <a:off x="6341066" y="4086224"/>
            <a:ext cx="1120246" cy="367"/>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cxnSp>
        <p:nvCxnSpPr>
          <p:cNvPr id="23" name="直接连接符 22"/>
          <p:cNvCxnSpPr>
            <a:stCxn id="13" idx="0"/>
            <a:endCxn id="10" idx="3"/>
          </p:cNvCxnSpPr>
          <p:nvPr/>
        </p:nvCxnSpPr>
        <p:spPr bwMode="gray">
          <a:xfrm flipH="1" flipV="1">
            <a:off x="7928249" y="2813576"/>
            <a:ext cx="954918" cy="431749"/>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cxnSp>
        <p:nvCxnSpPr>
          <p:cNvPr id="24" name="直接连接符 22"/>
          <p:cNvCxnSpPr>
            <a:stCxn id="13" idx="2"/>
            <a:endCxn id="11" idx="3"/>
          </p:cNvCxnSpPr>
          <p:nvPr/>
        </p:nvCxnSpPr>
        <p:spPr bwMode="gray">
          <a:xfrm flipH="1">
            <a:off x="7929630" y="3628376"/>
            <a:ext cx="953537" cy="458215"/>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cxnSp>
        <p:nvCxnSpPr>
          <p:cNvPr id="25" name="直接连接符 22"/>
          <p:cNvCxnSpPr>
            <a:stCxn id="11" idx="0"/>
            <a:endCxn id="10" idx="2"/>
          </p:cNvCxnSpPr>
          <p:nvPr/>
        </p:nvCxnSpPr>
        <p:spPr bwMode="gray">
          <a:xfrm flipH="1" flipV="1">
            <a:off x="7694090" y="3005101"/>
            <a:ext cx="1381" cy="889964"/>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cxnSp>
        <p:nvCxnSpPr>
          <p:cNvPr id="27" name="直接连接符 22"/>
          <p:cNvCxnSpPr>
            <a:stCxn id="7" idx="0"/>
            <a:endCxn id="6" idx="2"/>
          </p:cNvCxnSpPr>
          <p:nvPr/>
        </p:nvCxnSpPr>
        <p:spPr bwMode="gray">
          <a:xfrm flipV="1">
            <a:off x="6106907" y="3001399"/>
            <a:ext cx="0" cy="893299"/>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sp>
        <p:nvSpPr>
          <p:cNvPr id="28" name="TextBox 27"/>
          <p:cNvSpPr txBox="1"/>
          <p:nvPr/>
        </p:nvSpPr>
        <p:spPr bwMode="gray">
          <a:xfrm>
            <a:off x="2578428" y="3296187"/>
            <a:ext cx="477846"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CE1</a:t>
            </a:r>
            <a:endParaRPr lang="zh-CN" altLang="en-US" sz="1200" dirty="0">
              <a:solidFill>
                <a:srgbClr val="000000"/>
              </a:solidFill>
              <a:cs typeface="+mn-ea"/>
              <a:sym typeface="+mn-lt"/>
            </a:endParaRPr>
          </a:p>
        </p:txBody>
      </p:sp>
      <p:sp>
        <p:nvSpPr>
          <p:cNvPr id="29" name="TextBox 28"/>
          <p:cNvSpPr txBox="1"/>
          <p:nvPr/>
        </p:nvSpPr>
        <p:spPr bwMode="gray">
          <a:xfrm>
            <a:off x="4291598" y="2351366"/>
            <a:ext cx="477846"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PE1</a:t>
            </a:r>
            <a:endParaRPr lang="zh-CN" altLang="en-US" sz="1200" dirty="0">
              <a:solidFill>
                <a:srgbClr val="000000"/>
              </a:solidFill>
              <a:cs typeface="+mn-ea"/>
              <a:sym typeface="+mn-lt"/>
            </a:endParaRPr>
          </a:p>
        </p:txBody>
      </p:sp>
      <p:sp>
        <p:nvSpPr>
          <p:cNvPr id="30" name="TextBox 29"/>
          <p:cNvSpPr txBox="1"/>
          <p:nvPr/>
        </p:nvSpPr>
        <p:spPr bwMode="gray">
          <a:xfrm>
            <a:off x="4291598" y="4279587"/>
            <a:ext cx="477846"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PE2</a:t>
            </a:r>
            <a:endParaRPr lang="zh-CN" altLang="en-US" sz="1200" dirty="0">
              <a:solidFill>
                <a:srgbClr val="000000"/>
              </a:solidFill>
              <a:cs typeface="+mn-ea"/>
              <a:sym typeface="+mn-lt"/>
            </a:endParaRPr>
          </a:p>
        </p:txBody>
      </p:sp>
      <p:sp>
        <p:nvSpPr>
          <p:cNvPr id="31" name="TextBox 30"/>
          <p:cNvSpPr txBox="1"/>
          <p:nvPr/>
        </p:nvSpPr>
        <p:spPr bwMode="gray">
          <a:xfrm>
            <a:off x="5861444" y="2350141"/>
            <a:ext cx="477846"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P1</a:t>
            </a:r>
            <a:endParaRPr lang="zh-CN" altLang="en-US" sz="1200" dirty="0">
              <a:solidFill>
                <a:srgbClr val="000000"/>
              </a:solidFill>
              <a:cs typeface="+mn-ea"/>
              <a:sym typeface="+mn-lt"/>
            </a:endParaRPr>
          </a:p>
        </p:txBody>
      </p:sp>
      <p:sp>
        <p:nvSpPr>
          <p:cNvPr id="32" name="TextBox 31"/>
          <p:cNvSpPr txBox="1"/>
          <p:nvPr/>
        </p:nvSpPr>
        <p:spPr bwMode="gray">
          <a:xfrm>
            <a:off x="5871000" y="4283975"/>
            <a:ext cx="477846"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P2</a:t>
            </a:r>
            <a:endParaRPr lang="zh-CN" altLang="en-US" sz="1200" dirty="0">
              <a:solidFill>
                <a:srgbClr val="000000"/>
              </a:solidFill>
              <a:cs typeface="+mn-ea"/>
              <a:sym typeface="+mn-lt"/>
            </a:endParaRPr>
          </a:p>
        </p:txBody>
      </p:sp>
      <p:sp>
        <p:nvSpPr>
          <p:cNvPr id="35" name="TextBox 34"/>
          <p:cNvSpPr txBox="1"/>
          <p:nvPr/>
        </p:nvSpPr>
        <p:spPr bwMode="gray">
          <a:xfrm>
            <a:off x="7450403" y="2145096"/>
            <a:ext cx="477846"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PE3</a:t>
            </a:r>
            <a:endParaRPr lang="zh-CN" altLang="en-US" sz="1200" dirty="0">
              <a:solidFill>
                <a:srgbClr val="000000"/>
              </a:solidFill>
              <a:cs typeface="+mn-ea"/>
              <a:sym typeface="+mn-lt"/>
            </a:endParaRPr>
          </a:p>
        </p:txBody>
      </p:sp>
      <p:sp>
        <p:nvSpPr>
          <p:cNvPr id="36" name="TextBox 35"/>
          <p:cNvSpPr txBox="1"/>
          <p:nvPr/>
        </p:nvSpPr>
        <p:spPr bwMode="gray">
          <a:xfrm>
            <a:off x="7450402" y="4494154"/>
            <a:ext cx="477846"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PE4</a:t>
            </a:r>
            <a:endParaRPr lang="zh-CN" altLang="en-US" sz="1200" dirty="0">
              <a:solidFill>
                <a:srgbClr val="000000"/>
              </a:solidFill>
              <a:cs typeface="+mn-ea"/>
              <a:sym typeface="+mn-lt"/>
            </a:endParaRPr>
          </a:p>
        </p:txBody>
      </p:sp>
      <p:sp>
        <p:nvSpPr>
          <p:cNvPr id="37" name="TextBox 36"/>
          <p:cNvSpPr txBox="1"/>
          <p:nvPr/>
        </p:nvSpPr>
        <p:spPr bwMode="gray">
          <a:xfrm>
            <a:off x="9058327" y="3298350"/>
            <a:ext cx="477846"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CE2</a:t>
            </a:r>
            <a:endParaRPr lang="zh-CN" altLang="en-US" sz="1200" dirty="0">
              <a:solidFill>
                <a:srgbClr val="000000"/>
              </a:solidFill>
              <a:cs typeface="+mn-ea"/>
              <a:sym typeface="+mn-lt"/>
            </a:endParaRPr>
          </a:p>
        </p:txBody>
      </p:sp>
      <p:cxnSp>
        <p:nvCxnSpPr>
          <p:cNvPr id="44" name="Straight Arrow Connector 43"/>
          <p:cNvCxnSpPr/>
          <p:nvPr/>
        </p:nvCxnSpPr>
        <p:spPr bwMode="gray">
          <a:xfrm>
            <a:off x="8984166" y="5545254"/>
            <a:ext cx="666750" cy="0"/>
          </a:xfrm>
          <a:prstGeom prst="straightConnector1">
            <a:avLst/>
          </a:prstGeom>
          <a:noFill/>
          <a:ln w="28575">
            <a:solidFill>
              <a:srgbClr val="56C4D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sp>
        <p:nvSpPr>
          <p:cNvPr id="46" name="TextBox 16"/>
          <p:cNvSpPr txBox="1"/>
          <p:nvPr/>
        </p:nvSpPr>
        <p:spPr bwMode="gray">
          <a:xfrm>
            <a:off x="9650916" y="5406754"/>
            <a:ext cx="815211" cy="276999"/>
          </a:xfrm>
          <a:prstGeom prst="rect">
            <a:avLst/>
          </a:prstGeom>
          <a:noFill/>
        </p:spPr>
        <p:txBody>
          <a:bodyPr wrap="square" rtlCol="0">
            <a:spAutoFit/>
          </a:bodyPr>
          <a:lstStyle/>
          <a:p>
            <a:pPr>
              <a:buClr>
                <a:srgbClr val="CC9900"/>
              </a:buClr>
              <a:buFont typeface="Wingdings" panose="05000000000000000000" pitchFamily="2" charset="2"/>
              <a:buNone/>
            </a:pPr>
            <a:r>
              <a:rPr lang="zh-CN" altLang="en-US" sz="1200" dirty="0">
                <a:solidFill>
                  <a:srgbClr val="000000"/>
                </a:solidFill>
                <a:cs typeface="+mn-ea"/>
                <a:sym typeface="+mn-lt"/>
              </a:rPr>
              <a:t>主路径</a:t>
            </a:r>
            <a:endParaRPr lang="zh-CN" altLang="en-US" sz="1200" dirty="0">
              <a:solidFill>
                <a:srgbClr val="000000"/>
              </a:solidFill>
              <a:cs typeface="+mn-ea"/>
              <a:sym typeface="+mn-lt"/>
            </a:endParaRPr>
          </a:p>
        </p:txBody>
      </p:sp>
      <p:sp>
        <p:nvSpPr>
          <p:cNvPr id="47" name="TextBox 16"/>
          <p:cNvSpPr txBox="1"/>
          <p:nvPr/>
        </p:nvSpPr>
        <p:spPr bwMode="gray">
          <a:xfrm>
            <a:off x="9618888" y="5740129"/>
            <a:ext cx="1126839" cy="276999"/>
          </a:xfrm>
          <a:prstGeom prst="rect">
            <a:avLst/>
          </a:prstGeom>
          <a:noFill/>
        </p:spPr>
        <p:txBody>
          <a:bodyPr wrap="square" rtlCol="0">
            <a:spAutoFit/>
          </a:bodyPr>
          <a:lstStyle/>
          <a:p>
            <a:pPr algn="ctr">
              <a:buClr>
                <a:srgbClr val="CC9900"/>
              </a:buClr>
              <a:buFont typeface="Wingdings" panose="05000000000000000000" pitchFamily="2" charset="2"/>
              <a:buNone/>
            </a:pPr>
            <a:r>
              <a:rPr lang="zh-CN" altLang="en-US" sz="1200" dirty="0">
                <a:solidFill>
                  <a:srgbClr val="000000"/>
                </a:solidFill>
                <a:cs typeface="+mn-ea"/>
                <a:sym typeface="+mn-lt"/>
              </a:rPr>
              <a:t>局部保护路径</a:t>
            </a:r>
            <a:endParaRPr lang="zh-CN" altLang="en-US" sz="1200" dirty="0">
              <a:solidFill>
                <a:srgbClr val="000000"/>
              </a:solidFill>
              <a:cs typeface="+mn-ea"/>
              <a:sym typeface="+mn-lt"/>
            </a:endParaRPr>
          </a:p>
        </p:txBody>
      </p:sp>
      <p:cxnSp>
        <p:nvCxnSpPr>
          <p:cNvPr id="49" name="Straight Arrow Connector 48"/>
          <p:cNvCxnSpPr/>
          <p:nvPr/>
        </p:nvCxnSpPr>
        <p:spPr bwMode="gray">
          <a:xfrm>
            <a:off x="8984166" y="5878628"/>
            <a:ext cx="666750" cy="0"/>
          </a:xfrm>
          <a:prstGeom prst="straightConnector1">
            <a:avLst/>
          </a:prstGeom>
          <a:noFill/>
          <a:ln w="28575">
            <a:solidFill>
              <a:srgbClr val="E28189"/>
            </a:solidFill>
            <a:prstDash val="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sp>
        <p:nvSpPr>
          <p:cNvPr id="51" name="Rectangular Callout 50"/>
          <p:cNvSpPr/>
          <p:nvPr/>
        </p:nvSpPr>
        <p:spPr bwMode="gray">
          <a:xfrm>
            <a:off x="5737985" y="1689795"/>
            <a:ext cx="1602518" cy="554150"/>
          </a:xfrm>
          <a:prstGeom prst="wedgeRectCallout">
            <a:avLst>
              <a:gd name="adj1" fmla="val -23972"/>
              <a:gd name="adj2" fmla="val 76816"/>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P1</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部署</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TI-LFA</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，事先计算去往</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FC05:: /96</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的备份路径</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62" name="圆角矩形 59"/>
          <p:cNvSpPr/>
          <p:nvPr/>
        </p:nvSpPr>
        <p:spPr bwMode="gray">
          <a:xfrm>
            <a:off x="7230603" y="2374962"/>
            <a:ext cx="917445" cy="221690"/>
          </a:xfrm>
          <a:prstGeom prst="roundRect">
            <a:avLst>
              <a:gd name="adj" fmla="val 13019"/>
            </a:avLst>
          </a:prstGeom>
          <a:solidFill>
            <a:srgbClr val="D3394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FC05:: /96</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3" name="圆角矩形 59"/>
          <p:cNvSpPr/>
          <p:nvPr/>
        </p:nvSpPr>
        <p:spPr bwMode="gray">
          <a:xfrm>
            <a:off x="7230602" y="4289419"/>
            <a:ext cx="917445" cy="221690"/>
          </a:xfrm>
          <a:prstGeom prst="roundRect">
            <a:avLst>
              <a:gd name="adj" fmla="val 13019"/>
            </a:avLst>
          </a:prstGeom>
          <a:solidFill>
            <a:srgbClr val="D3394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FC05:: /96</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4" name="矩形 142"/>
          <p:cNvSpPr/>
          <p:nvPr/>
        </p:nvSpPr>
        <p:spPr bwMode="gray">
          <a:xfrm rot="1396246">
            <a:off x="7854346" y="2786333"/>
            <a:ext cx="885548" cy="364164"/>
          </a:xfrm>
          <a:prstGeom prst="roundRect">
            <a:avLst>
              <a:gd name="adj" fmla="val 11436"/>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ysClr val="windowText" lastClr="000000"/>
                </a:solidFill>
                <a:latin typeface="Huawei Sans" panose="020C0503030203020204" pitchFamily="34" charset="0"/>
                <a:ea typeface="方正兰亭黑简体" panose="02000000000000000000" pitchFamily="2" charset="-122"/>
                <a:sym typeface="Huawei Sans" panose="020C0503030203020204" pitchFamily="34" charset="0"/>
              </a:rPr>
              <a:t>End.DT4</a:t>
            </a:r>
            <a:endParaRPr lang="en-US" altLang="zh-CN" sz="1200" dirty="0">
              <a:solidFill>
                <a:sysClr val="windowText" lastClr="000000"/>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dirty="0">
                <a:solidFill>
                  <a:sysClr val="windowText" lastClr="000000"/>
                </a:solidFill>
                <a:latin typeface="Huawei Sans" panose="020C0503030203020204" pitchFamily="34" charset="0"/>
                <a:ea typeface="方正兰亭黑简体" panose="02000000000000000000" pitchFamily="2" charset="-122"/>
                <a:sym typeface="Huawei Sans" panose="020C0503030203020204" pitchFamily="34" charset="0"/>
              </a:rPr>
              <a:t>FC05::100</a:t>
            </a:r>
            <a:endParaRPr lang="zh-CN" altLang="en-US" sz="1200" dirty="0">
              <a:solidFill>
                <a:sysClr val="windowText" lastClr="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5" name="矩形 142"/>
          <p:cNvSpPr/>
          <p:nvPr/>
        </p:nvSpPr>
        <p:spPr bwMode="gray">
          <a:xfrm rot="20029008">
            <a:off x="7828174" y="3741511"/>
            <a:ext cx="885548" cy="364164"/>
          </a:xfrm>
          <a:prstGeom prst="roundRect">
            <a:avLst>
              <a:gd name="adj" fmla="val 11436"/>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ysClr val="windowText" lastClr="000000"/>
                </a:solidFill>
                <a:latin typeface="Huawei Sans" panose="020C0503030203020204" pitchFamily="34" charset="0"/>
                <a:ea typeface="方正兰亭黑简体" panose="02000000000000000000" pitchFamily="2" charset="-122"/>
                <a:sym typeface="Huawei Sans" panose="020C0503030203020204" pitchFamily="34" charset="0"/>
              </a:rPr>
              <a:t>End.DT4</a:t>
            </a:r>
            <a:endParaRPr lang="en-US" altLang="zh-CN" sz="1200" dirty="0">
              <a:solidFill>
                <a:sysClr val="windowText" lastClr="000000"/>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dirty="0">
                <a:solidFill>
                  <a:sysClr val="windowText" lastClr="000000"/>
                </a:solidFill>
                <a:latin typeface="Huawei Sans" panose="020C0503030203020204" pitchFamily="34" charset="0"/>
                <a:ea typeface="方正兰亭黑简体" panose="02000000000000000000" pitchFamily="2" charset="-122"/>
                <a:sym typeface="Huawei Sans" panose="020C0503030203020204" pitchFamily="34" charset="0"/>
              </a:rPr>
              <a:t>FC05::100</a:t>
            </a:r>
            <a:endParaRPr lang="zh-CN" altLang="en-US" sz="1200" dirty="0">
              <a:solidFill>
                <a:sysClr val="windowText" lastClr="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67" name="Straight Arrow Connector 66"/>
          <p:cNvCxnSpPr/>
          <p:nvPr/>
        </p:nvCxnSpPr>
        <p:spPr bwMode="gray">
          <a:xfrm>
            <a:off x="4327574" y="2712567"/>
            <a:ext cx="3564697" cy="0"/>
          </a:xfrm>
          <a:prstGeom prst="straightConnector1">
            <a:avLst/>
          </a:prstGeom>
          <a:noFill/>
          <a:ln w="28575">
            <a:solidFill>
              <a:srgbClr val="56C4D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sp>
        <p:nvSpPr>
          <p:cNvPr id="69" name="Plus Sign 75"/>
          <p:cNvSpPr/>
          <p:nvPr/>
        </p:nvSpPr>
        <p:spPr bwMode="gray">
          <a:xfrm rot="2700000">
            <a:off x="7364141" y="2829787"/>
            <a:ext cx="298938" cy="298938"/>
          </a:xfrm>
          <a:prstGeom prst="mathPlus">
            <a:avLst/>
          </a:prstGeom>
          <a:solidFill>
            <a:srgbClr val="E28189"/>
          </a:solidFill>
          <a:ln>
            <a:solidFill>
              <a:srgbClr val="E2818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Freeform 69"/>
          <p:cNvSpPr/>
          <p:nvPr/>
        </p:nvSpPr>
        <p:spPr bwMode="gray">
          <a:xfrm>
            <a:off x="6181725" y="2826439"/>
            <a:ext cx="1710546" cy="1200150"/>
          </a:xfrm>
          <a:custGeom>
            <a:avLst/>
            <a:gdLst>
              <a:gd name="connsiteX0" fmla="*/ 0 w 1600200"/>
              <a:gd name="connsiteY0" fmla="*/ 0 h 1200150"/>
              <a:gd name="connsiteX1" fmla="*/ 0 w 1600200"/>
              <a:gd name="connsiteY1" fmla="*/ 1200150 h 1200150"/>
              <a:gd name="connsiteX2" fmla="*/ 1600200 w 1600200"/>
              <a:gd name="connsiteY2" fmla="*/ 1200150 h 1200150"/>
            </a:gdLst>
            <a:ahLst/>
            <a:cxnLst>
              <a:cxn ang="0">
                <a:pos x="connsiteX0" y="connsiteY0"/>
              </a:cxn>
              <a:cxn ang="0">
                <a:pos x="connsiteX1" y="connsiteY1"/>
              </a:cxn>
              <a:cxn ang="0">
                <a:pos x="connsiteX2" y="connsiteY2"/>
              </a:cxn>
            </a:cxnLst>
            <a:rect l="l" t="t" r="r" b="b"/>
            <a:pathLst>
              <a:path w="1600200" h="1200150">
                <a:moveTo>
                  <a:pt x="0" y="0"/>
                </a:moveTo>
                <a:lnTo>
                  <a:pt x="0" y="1200150"/>
                </a:lnTo>
                <a:lnTo>
                  <a:pt x="1600200" y="1200150"/>
                </a:lnTo>
              </a:path>
            </a:pathLst>
          </a:custGeom>
          <a:noFill/>
          <a:ln w="28575">
            <a:solidFill>
              <a:srgbClr val="E28189"/>
            </a:solidFill>
            <a:prstDash val="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71" name="Table 70"/>
          <p:cNvGraphicFramePr>
            <a:graphicFrameLocks noGrp="1"/>
          </p:cNvGraphicFramePr>
          <p:nvPr/>
        </p:nvGraphicFramePr>
        <p:xfrm>
          <a:off x="4123186" y="1629834"/>
          <a:ext cx="1446971" cy="731520"/>
        </p:xfrm>
        <a:graphic>
          <a:graphicData uri="http://schemas.openxmlformats.org/drawingml/2006/table">
            <a:tbl>
              <a:tblPr firstRow="1" bandRow="1">
                <a:tableStyleId>{72833802-FEF1-4C79-8D5D-14CF1EAF98D9}</a:tableStyleId>
              </a:tblPr>
              <a:tblGrid>
                <a:gridCol w="1446971"/>
              </a:tblGrid>
              <a:tr h="370840">
                <a:tc>
                  <a:txBody>
                    <a:bodyPr/>
                    <a:lstStyle/>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DIPv6</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FC05::100</a:t>
                      </a:r>
                      <a:endPar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SIPv6</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FC01::1</a:t>
                      </a:r>
                      <a:endPar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6C4D2"/>
                    </a:solidFill>
                  </a:tcPr>
                </a:tc>
              </a:tr>
              <a:tr h="0">
                <a:tc>
                  <a:txBody>
                    <a:bodyPr/>
                    <a:lstStyle/>
                    <a:p>
                      <a:pPr algn="ctr"/>
                      <a:r>
                        <a:rPr lang="en-US" altLang="zh-CN" sz="1200" dirty="0">
                          <a:solidFill>
                            <a:schemeClr val="bg1"/>
                          </a:solidFill>
                        </a:rPr>
                        <a:t>Payload</a:t>
                      </a:r>
                      <a:endParaRPr lang="zh-CN" altLang="en-US" sz="1200"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r>
            </a:tbl>
          </a:graphicData>
        </a:graphic>
      </p:graphicFrame>
      <p:sp>
        <p:nvSpPr>
          <p:cNvPr id="72" name="圆角矩形 59"/>
          <p:cNvSpPr/>
          <p:nvPr/>
        </p:nvSpPr>
        <p:spPr bwMode="gray">
          <a:xfrm>
            <a:off x="6264260" y="4109351"/>
            <a:ext cx="917445" cy="361676"/>
          </a:xfrm>
          <a:prstGeom prst="roundRect">
            <a:avLst>
              <a:gd name="adj" fmla="val 13019"/>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200" dirty="0" err="1">
                <a:solidFill>
                  <a:sysClr val="windowText" lastClr="000000"/>
                </a:solidFill>
                <a:latin typeface="Huawei Sans" panose="020C0503030203020204" pitchFamily="34" charset="0"/>
                <a:ea typeface="方正兰亭黑简体" panose="02000000000000000000" pitchFamily="2" charset="-122"/>
                <a:sym typeface="Huawei Sans" panose="020C0503030203020204" pitchFamily="34" charset="0"/>
              </a:rPr>
              <a:t>End.X</a:t>
            </a:r>
            <a:endParaRPr lang="en-US" altLang="zh-CN" sz="1200" dirty="0">
              <a:solidFill>
                <a:sysClr val="windowText" lastClr="000000"/>
              </a:solidFill>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solidFill>
                  <a:sysClr val="windowText" lastClr="000000"/>
                </a:solidFill>
                <a:latin typeface="Huawei Sans" panose="020C0503030203020204" pitchFamily="34" charset="0"/>
                <a:ea typeface="方正兰亭黑简体" panose="02000000000000000000" pitchFamily="2" charset="-122"/>
                <a:sym typeface="Huawei Sans" panose="020C0503030203020204" pitchFamily="34" charset="0"/>
              </a:rPr>
              <a:t>FC04::C4</a:t>
            </a:r>
            <a:endParaRPr lang="zh-CN" altLang="en-US" sz="1200" dirty="0">
              <a:solidFill>
                <a:sysClr val="windowText" lastClr="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graphicFrame>
        <p:nvGraphicFramePr>
          <p:cNvPr id="74" name="Table 73"/>
          <p:cNvGraphicFramePr>
            <a:graphicFrameLocks noGrp="1"/>
          </p:cNvGraphicFramePr>
          <p:nvPr/>
        </p:nvGraphicFramePr>
        <p:xfrm>
          <a:off x="2112422" y="3699756"/>
          <a:ext cx="1210049" cy="457200"/>
        </p:xfrm>
        <a:graphic>
          <a:graphicData uri="http://schemas.openxmlformats.org/drawingml/2006/table">
            <a:tbl>
              <a:tblPr firstRow="1" bandRow="1">
                <a:tableStyleId>{72833802-FEF1-4C79-8D5D-14CF1EAF98D9}</a:tableStyleId>
              </a:tblPr>
              <a:tblGrid>
                <a:gridCol w="1210049"/>
              </a:tblGrid>
              <a:tr h="0">
                <a:tc>
                  <a:txBody>
                    <a:bodyPr/>
                    <a:lstStyle/>
                    <a:p>
                      <a:pPr algn="ctr"/>
                      <a:r>
                        <a:rPr lang="en-US" altLang="zh-CN" sz="1200" b="0" dirty="0">
                          <a:solidFill>
                            <a:schemeClr val="bg1"/>
                          </a:solidFill>
                        </a:rPr>
                        <a:t>Payload</a:t>
                      </a:r>
                      <a:r>
                        <a:rPr lang="zh-CN" altLang="en-US" sz="1200" b="0" dirty="0">
                          <a:solidFill>
                            <a:schemeClr val="bg1"/>
                          </a:solidFill>
                        </a:rPr>
                        <a:t>：</a:t>
                      </a:r>
                      <a:endParaRPr lang="en-US" altLang="zh-CN" sz="1200" b="0" dirty="0">
                        <a:solidFill>
                          <a:schemeClr val="bg1"/>
                        </a:solidFill>
                      </a:endParaRPr>
                    </a:p>
                    <a:p>
                      <a:pPr algn="ctr"/>
                      <a:r>
                        <a:rPr lang="en-US" altLang="zh-CN" sz="1200" b="0" dirty="0">
                          <a:solidFill>
                            <a:schemeClr val="bg1"/>
                          </a:solidFill>
                        </a:rPr>
                        <a:t>CE1-&gt;CE2</a:t>
                      </a:r>
                      <a:endParaRPr lang="zh-CN" altLang="en-US" sz="1200" b="0"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r>
            </a:tbl>
          </a:graphicData>
        </a:graphic>
      </p:graphicFrame>
      <p:sp>
        <p:nvSpPr>
          <p:cNvPr id="75" name="圆角矩形 59"/>
          <p:cNvSpPr/>
          <p:nvPr/>
        </p:nvSpPr>
        <p:spPr bwMode="gray">
          <a:xfrm>
            <a:off x="3336168" y="2546184"/>
            <a:ext cx="917445" cy="221690"/>
          </a:xfrm>
          <a:prstGeom prst="roundRect">
            <a:avLst>
              <a:gd name="adj" fmla="val 13019"/>
            </a:avLst>
          </a:prstGeom>
          <a:solidFill>
            <a:srgbClr val="D3394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FC01:: /96</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aphicFrame>
        <p:nvGraphicFramePr>
          <p:cNvPr id="77" name="Table 76"/>
          <p:cNvGraphicFramePr>
            <a:graphicFrameLocks noGrp="1"/>
          </p:cNvGraphicFramePr>
          <p:nvPr/>
        </p:nvGraphicFramePr>
        <p:xfrm>
          <a:off x="6005771" y="4603039"/>
          <a:ext cx="1340313" cy="1371600"/>
        </p:xfrm>
        <a:graphic>
          <a:graphicData uri="http://schemas.openxmlformats.org/drawingml/2006/table">
            <a:tbl>
              <a:tblPr firstRow="1" bandRow="1">
                <a:tableStyleId>{72833802-FEF1-4C79-8D5D-14CF1EAF98D9}</a:tableStyleId>
              </a:tblPr>
              <a:tblGrid>
                <a:gridCol w="1340313"/>
              </a:tblGrid>
              <a:tr h="262766">
                <a:tc>
                  <a:txBody>
                    <a:bodyPr/>
                    <a:lstStyle/>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DIPv6</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FC04::C4</a:t>
                      </a:r>
                      <a:endPar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SIPv6</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FC01::1</a:t>
                      </a:r>
                      <a:endPar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6C4D2"/>
                    </a:solidFill>
                  </a:tcPr>
                </a:tc>
              </a:tr>
              <a:tr h="367872">
                <a:tc>
                  <a:txBody>
                    <a:bodyPr/>
                    <a:lstStyle/>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SRH</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SL=</a:t>
                      </a: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1</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0" algn="ctr" defTabSz="913765" rtl="0" eaLnBrk="1" latinLnBrk="0" hangingPunct="1"/>
                      <a:r>
                        <a:rPr lang="en-US" altLang="zh-CN"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FC05::100</a:t>
                      </a:r>
                      <a:endParaRPr lang="en-US" altLang="zh-CN"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p>
                      <a:pPr marL="0" algn="ctr" defTabSz="913765" rtl="0" eaLnBrk="1" latinLnBrk="0" hangingPunct="1"/>
                      <a:r>
                        <a:rPr lang="en-US" altLang="zh-CN" sz="1200" b="1" kern="1200" dirty="0">
                          <a:solidFill>
                            <a:srgbClr val="C7000B"/>
                          </a:solidFill>
                          <a:latin typeface="Huawei Sans" panose="020C0503030203020204" pitchFamily="34" charset="0"/>
                          <a:ea typeface="方正兰亭黑简体" panose="02000000000000000000" pitchFamily="2" charset="-122"/>
                          <a:cs typeface="+mn-cs"/>
                          <a:sym typeface="Huawei Sans" panose="020C0503030203020204" pitchFamily="34" charset="0"/>
                        </a:rPr>
                        <a:t>FC04::C4</a:t>
                      </a:r>
                      <a:endParaRPr lang="en-US" altLang="zh-CN" sz="1200" b="1" kern="1200" dirty="0">
                        <a:solidFill>
                          <a:srgbClr val="C7000B"/>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EEEC1"/>
                    </a:solidFill>
                  </a:tcPr>
                </a:tc>
              </a:tr>
              <a:tr h="157660">
                <a:tc>
                  <a:txBody>
                    <a:bodyPr/>
                    <a:lstStyle/>
                    <a:p>
                      <a:pPr algn="ctr"/>
                      <a:r>
                        <a:rPr lang="en-US" altLang="zh-CN" sz="1200" dirty="0">
                          <a:solidFill>
                            <a:schemeClr val="bg1"/>
                          </a:solidFill>
                        </a:rPr>
                        <a:t>Payload</a:t>
                      </a:r>
                      <a:endParaRPr lang="zh-CN" altLang="en-US" sz="1200"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r>
            </a:tbl>
          </a:graphicData>
        </a:graphic>
      </p:graphicFrame>
      <p:graphicFrame>
        <p:nvGraphicFramePr>
          <p:cNvPr id="78" name="Table 77"/>
          <p:cNvGraphicFramePr>
            <a:graphicFrameLocks noGrp="1"/>
          </p:cNvGraphicFramePr>
          <p:nvPr/>
        </p:nvGraphicFramePr>
        <p:xfrm>
          <a:off x="8892684" y="3699756"/>
          <a:ext cx="1210049" cy="457200"/>
        </p:xfrm>
        <a:graphic>
          <a:graphicData uri="http://schemas.openxmlformats.org/drawingml/2006/table">
            <a:tbl>
              <a:tblPr firstRow="1" bandRow="1">
                <a:tableStyleId>{72833802-FEF1-4C79-8D5D-14CF1EAF98D9}</a:tableStyleId>
              </a:tblPr>
              <a:tblGrid>
                <a:gridCol w="1210049"/>
              </a:tblGrid>
              <a:tr h="0">
                <a:tc>
                  <a:txBody>
                    <a:bodyPr/>
                    <a:lstStyle/>
                    <a:p>
                      <a:pPr algn="ctr"/>
                      <a:r>
                        <a:rPr lang="en-US" altLang="zh-CN" sz="1200" b="0" dirty="0">
                          <a:solidFill>
                            <a:schemeClr val="bg1"/>
                          </a:solidFill>
                        </a:rPr>
                        <a:t>Payload</a:t>
                      </a:r>
                      <a:r>
                        <a:rPr lang="zh-CN" altLang="en-US" sz="1200" b="0" dirty="0">
                          <a:solidFill>
                            <a:schemeClr val="bg1"/>
                          </a:solidFill>
                        </a:rPr>
                        <a:t>：</a:t>
                      </a:r>
                      <a:endParaRPr lang="en-US" altLang="zh-CN" sz="1200" b="0" dirty="0">
                        <a:solidFill>
                          <a:schemeClr val="bg1"/>
                        </a:solidFill>
                      </a:endParaRPr>
                    </a:p>
                    <a:p>
                      <a:pPr algn="ctr"/>
                      <a:r>
                        <a:rPr lang="en-US" altLang="zh-CN" sz="1200" b="0" dirty="0">
                          <a:solidFill>
                            <a:schemeClr val="bg1"/>
                          </a:solidFill>
                        </a:rPr>
                        <a:t>CE1-&gt;CE2</a:t>
                      </a:r>
                      <a:endParaRPr lang="zh-CN" altLang="en-US" sz="1200" b="0"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r>
            </a:tbl>
          </a:graphicData>
        </a:graphic>
      </p:graphicFrame>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gray"/>
        <p:txBody>
          <a:bodyPr/>
          <a:lstStyle/>
          <a:p>
            <a:r>
              <a:rPr lang="en-US" altLang="zh-CN" dirty="0"/>
              <a:t>SRv6</a:t>
            </a:r>
            <a:r>
              <a:rPr lang="zh-CN" altLang="en-US" dirty="0"/>
              <a:t>接入保护介绍</a:t>
            </a:r>
            <a:endParaRPr lang="zh-CN" altLang="en-US" dirty="0"/>
          </a:p>
        </p:txBody>
      </p:sp>
      <p:sp>
        <p:nvSpPr>
          <p:cNvPr id="3" name="Text Placeholder 2"/>
          <p:cNvSpPr>
            <a:spLocks noGrp="1"/>
          </p:cNvSpPr>
          <p:nvPr>
            <p:ph type="body" sz="quarter" idx="10"/>
          </p:nvPr>
        </p:nvSpPr>
        <p:spPr bwMode="gray"/>
        <p:txBody>
          <a:bodyPr/>
          <a:lstStyle/>
          <a:p>
            <a:r>
              <a:rPr lang="zh-CN" altLang="en-US" sz="1800" dirty="0"/>
              <a:t>当</a:t>
            </a:r>
            <a:r>
              <a:rPr lang="en-US" altLang="zh-CN" sz="1800" dirty="0"/>
              <a:t>CE</a:t>
            </a:r>
            <a:r>
              <a:rPr lang="zh-CN" altLang="en-US" sz="1800" dirty="0"/>
              <a:t>双归</a:t>
            </a:r>
            <a:r>
              <a:rPr lang="en-US" altLang="zh-CN" sz="1800" dirty="0"/>
              <a:t>PE</a:t>
            </a:r>
            <a:r>
              <a:rPr lang="zh-CN" altLang="en-US" sz="1800" dirty="0"/>
              <a:t>时，如果尾节点</a:t>
            </a:r>
            <a:r>
              <a:rPr lang="en-US" altLang="zh-CN" sz="1800" dirty="0"/>
              <a:t>PE</a:t>
            </a:r>
            <a:r>
              <a:rPr lang="zh-CN" altLang="en-US" sz="1800" dirty="0"/>
              <a:t>到</a:t>
            </a:r>
            <a:r>
              <a:rPr lang="en-US" altLang="zh-CN" sz="1800" dirty="0"/>
              <a:t>CE</a:t>
            </a:r>
            <a:r>
              <a:rPr lang="zh-CN" altLang="en-US" sz="1800" dirty="0"/>
              <a:t>的链路发生故障，则有可能导致流量丢失，此时可以使用</a:t>
            </a:r>
            <a:r>
              <a:rPr lang="en-US" altLang="zh-CN" sz="1800" dirty="0"/>
              <a:t>Mixed FRR</a:t>
            </a:r>
            <a:r>
              <a:rPr lang="zh-CN" altLang="en-US" sz="1800" dirty="0"/>
              <a:t>技术解决。</a:t>
            </a:r>
            <a:endParaRPr lang="en-US" altLang="zh-CN" sz="1800" dirty="0"/>
          </a:p>
          <a:p>
            <a:endParaRPr lang="en-US" altLang="zh-CN" sz="1800" dirty="0"/>
          </a:p>
          <a:p>
            <a:endParaRPr lang="en-US" altLang="zh-CN" sz="1800" dirty="0"/>
          </a:p>
          <a:p>
            <a:endParaRPr lang="en-US" altLang="zh-CN" sz="1800" dirty="0"/>
          </a:p>
          <a:p>
            <a:endParaRPr lang="en-US" altLang="zh-CN" sz="1800" dirty="0"/>
          </a:p>
          <a:p>
            <a:endParaRPr lang="en-US" altLang="zh-CN" sz="1800" dirty="0"/>
          </a:p>
          <a:p>
            <a:endParaRPr lang="en-US" altLang="zh-CN" sz="1800" dirty="0"/>
          </a:p>
          <a:p>
            <a:r>
              <a:rPr lang="en-US" altLang="zh-CN" sz="1800" dirty="0"/>
              <a:t>PE2</a:t>
            </a:r>
            <a:r>
              <a:rPr lang="zh-CN" altLang="en-US" sz="1800" dirty="0"/>
              <a:t>从</a:t>
            </a:r>
            <a:r>
              <a:rPr lang="en-US" altLang="zh-CN" sz="1800" dirty="0"/>
              <a:t>CE2</a:t>
            </a:r>
            <a:r>
              <a:rPr lang="zh-CN" altLang="en-US" sz="1800" dirty="0"/>
              <a:t>收到一份私网路由，同时从</a:t>
            </a:r>
            <a:r>
              <a:rPr lang="en-US" altLang="zh-CN" sz="1800" dirty="0"/>
              <a:t>PE3</a:t>
            </a:r>
            <a:r>
              <a:rPr lang="zh-CN" altLang="en-US" sz="1800" dirty="0"/>
              <a:t>收到一份私网路由，二者形成</a:t>
            </a:r>
            <a:r>
              <a:rPr lang="en-US" altLang="zh-CN" sz="1800" dirty="0"/>
              <a:t>FRR</a:t>
            </a:r>
            <a:r>
              <a:rPr lang="zh-CN" altLang="en-US" sz="1800" dirty="0"/>
              <a:t>保护。当</a:t>
            </a:r>
            <a:r>
              <a:rPr lang="en-US" altLang="zh-CN" sz="1800" dirty="0"/>
              <a:t>PE2-&gt;CE2</a:t>
            </a:r>
            <a:r>
              <a:rPr lang="zh-CN" altLang="en-US" sz="1800" dirty="0"/>
              <a:t>链路故障时，</a:t>
            </a:r>
            <a:r>
              <a:rPr lang="en-US" altLang="zh-CN" sz="1800" dirty="0"/>
              <a:t>PE2</a:t>
            </a:r>
            <a:r>
              <a:rPr lang="zh-CN" altLang="en-US" sz="1800" dirty="0"/>
              <a:t>检测故障，将所有相关流量导入备份路径</a:t>
            </a:r>
            <a:r>
              <a:rPr lang="en-US" altLang="zh-CN" sz="1800" dirty="0"/>
              <a:t>PE3</a:t>
            </a:r>
            <a:r>
              <a:rPr lang="zh-CN" altLang="en-US" sz="1800" dirty="0"/>
              <a:t>上，这种情况下，主路径下一跳是接入接口，备路径是</a:t>
            </a:r>
            <a:r>
              <a:rPr lang="en-US" altLang="zh-CN" sz="1800" dirty="0"/>
              <a:t>SRv6</a:t>
            </a:r>
            <a:r>
              <a:rPr lang="zh-CN" altLang="en-US" sz="1800" dirty="0"/>
              <a:t>隧道，形成混合</a:t>
            </a:r>
            <a:r>
              <a:rPr lang="en-US" altLang="zh-CN" sz="1800" dirty="0"/>
              <a:t>FRR</a:t>
            </a:r>
            <a:r>
              <a:rPr lang="zh-CN" altLang="en-US" sz="1800" dirty="0"/>
              <a:t>保护。</a:t>
            </a:r>
            <a:endParaRPr lang="zh-CN" altLang="en-US" sz="1800" dirty="0"/>
          </a:p>
        </p:txBody>
      </p:sp>
      <p:pic>
        <p:nvPicPr>
          <p:cNvPr id="4"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3489901" y="3461767"/>
            <a:ext cx="468318" cy="383051"/>
          </a:xfrm>
          <a:prstGeom prst="rect">
            <a:avLst/>
          </a:prstGeom>
        </p:spPr>
      </p:pic>
      <p:pic>
        <p:nvPicPr>
          <p:cNvPr id="5"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4996620" y="2843382"/>
            <a:ext cx="468318" cy="383051"/>
          </a:xfrm>
          <a:prstGeom prst="rect">
            <a:avLst/>
          </a:prstGeom>
        </p:spPr>
      </p:pic>
      <p:pic>
        <p:nvPicPr>
          <p:cNvPr id="6"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4996620" y="4119732"/>
            <a:ext cx="468318" cy="383051"/>
          </a:xfrm>
          <a:prstGeom prst="rect">
            <a:avLst/>
          </a:prstGeom>
        </p:spPr>
      </p:pic>
      <p:pic>
        <p:nvPicPr>
          <p:cNvPr id="7"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6583803" y="2847084"/>
            <a:ext cx="468318" cy="383051"/>
          </a:xfrm>
          <a:prstGeom prst="rect">
            <a:avLst/>
          </a:prstGeom>
        </p:spPr>
      </p:pic>
      <p:pic>
        <p:nvPicPr>
          <p:cNvPr id="8"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6585184" y="4120099"/>
            <a:ext cx="468318" cy="383051"/>
          </a:xfrm>
          <a:prstGeom prst="rect">
            <a:avLst/>
          </a:prstGeom>
        </p:spPr>
      </p:pic>
      <p:pic>
        <p:nvPicPr>
          <p:cNvPr id="9"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2184929" y="3461767"/>
            <a:ext cx="468318" cy="383051"/>
          </a:xfrm>
          <a:prstGeom prst="rect">
            <a:avLst/>
          </a:prstGeom>
        </p:spPr>
      </p:pic>
      <p:cxnSp>
        <p:nvCxnSpPr>
          <p:cNvPr id="10" name="直接连接符 22"/>
          <p:cNvCxnSpPr>
            <a:stCxn id="9" idx="3"/>
            <a:endCxn id="4" idx="1"/>
          </p:cNvCxnSpPr>
          <p:nvPr/>
        </p:nvCxnSpPr>
        <p:spPr bwMode="gray">
          <a:xfrm>
            <a:off x="2653247" y="3653293"/>
            <a:ext cx="836654" cy="0"/>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cxnSp>
        <p:nvCxnSpPr>
          <p:cNvPr id="11" name="直接连接符 22"/>
          <p:cNvCxnSpPr>
            <a:stCxn id="4" idx="0"/>
            <a:endCxn id="5" idx="1"/>
          </p:cNvCxnSpPr>
          <p:nvPr/>
        </p:nvCxnSpPr>
        <p:spPr bwMode="gray">
          <a:xfrm flipV="1">
            <a:off x="3724060" y="3034908"/>
            <a:ext cx="1272560" cy="426859"/>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cxnSp>
        <p:nvCxnSpPr>
          <p:cNvPr id="12" name="直接连接符 22"/>
          <p:cNvCxnSpPr>
            <a:stCxn id="5" idx="3"/>
            <a:endCxn id="7" idx="1"/>
          </p:cNvCxnSpPr>
          <p:nvPr/>
        </p:nvCxnSpPr>
        <p:spPr bwMode="gray">
          <a:xfrm>
            <a:off x="5464938" y="3034908"/>
            <a:ext cx="1118865" cy="3702"/>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cxnSp>
        <p:nvCxnSpPr>
          <p:cNvPr id="13" name="直接连接符 22"/>
          <p:cNvCxnSpPr>
            <a:stCxn id="6" idx="3"/>
            <a:endCxn id="8" idx="1"/>
          </p:cNvCxnSpPr>
          <p:nvPr/>
        </p:nvCxnSpPr>
        <p:spPr bwMode="gray">
          <a:xfrm>
            <a:off x="5464938" y="4311258"/>
            <a:ext cx="1120246" cy="367"/>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cxnSp>
        <p:nvCxnSpPr>
          <p:cNvPr id="14" name="直接连接符 22"/>
          <p:cNvCxnSpPr>
            <a:stCxn id="30" idx="0"/>
            <a:endCxn id="7" idx="3"/>
          </p:cNvCxnSpPr>
          <p:nvPr/>
        </p:nvCxnSpPr>
        <p:spPr bwMode="gray">
          <a:xfrm flipH="1" flipV="1">
            <a:off x="7052121" y="3038610"/>
            <a:ext cx="869193" cy="431749"/>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cxnSp>
        <p:nvCxnSpPr>
          <p:cNvPr id="15" name="直接连接符 22"/>
          <p:cNvCxnSpPr>
            <a:stCxn id="30" idx="2"/>
            <a:endCxn id="8" idx="3"/>
          </p:cNvCxnSpPr>
          <p:nvPr/>
        </p:nvCxnSpPr>
        <p:spPr bwMode="gray">
          <a:xfrm flipH="1">
            <a:off x="7053502" y="3853410"/>
            <a:ext cx="867812" cy="458215"/>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cxnSp>
        <p:nvCxnSpPr>
          <p:cNvPr id="16" name="直接连接符 22"/>
          <p:cNvCxnSpPr>
            <a:stCxn id="8" idx="0"/>
            <a:endCxn id="7" idx="2"/>
          </p:cNvCxnSpPr>
          <p:nvPr/>
        </p:nvCxnSpPr>
        <p:spPr bwMode="gray">
          <a:xfrm flipH="1" flipV="1">
            <a:off x="6817962" y="3230135"/>
            <a:ext cx="1381" cy="889964"/>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cxnSp>
        <p:nvCxnSpPr>
          <p:cNvPr id="17" name="直接连接符 22"/>
          <p:cNvCxnSpPr>
            <a:stCxn id="6" idx="0"/>
            <a:endCxn id="5" idx="2"/>
          </p:cNvCxnSpPr>
          <p:nvPr/>
        </p:nvCxnSpPr>
        <p:spPr bwMode="gray">
          <a:xfrm flipV="1">
            <a:off x="5230779" y="3226433"/>
            <a:ext cx="0" cy="893299"/>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sp>
        <p:nvSpPr>
          <p:cNvPr id="18" name="TextBox 17"/>
          <p:cNvSpPr txBox="1"/>
          <p:nvPr/>
        </p:nvSpPr>
        <p:spPr bwMode="gray">
          <a:xfrm>
            <a:off x="1779434" y="3514737"/>
            <a:ext cx="477846"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CE1</a:t>
            </a:r>
            <a:endParaRPr lang="zh-CN" altLang="en-US" sz="1200" dirty="0">
              <a:solidFill>
                <a:srgbClr val="000000"/>
              </a:solidFill>
              <a:cs typeface="+mn-ea"/>
              <a:sym typeface="+mn-lt"/>
            </a:endParaRPr>
          </a:p>
        </p:txBody>
      </p:sp>
      <p:sp>
        <p:nvSpPr>
          <p:cNvPr id="19" name="TextBox 18"/>
          <p:cNvSpPr txBox="1"/>
          <p:nvPr/>
        </p:nvSpPr>
        <p:spPr bwMode="gray">
          <a:xfrm>
            <a:off x="3892392" y="3514738"/>
            <a:ext cx="477846"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PE1</a:t>
            </a:r>
            <a:endParaRPr lang="zh-CN" altLang="en-US" sz="1200" dirty="0">
              <a:solidFill>
                <a:srgbClr val="000000"/>
              </a:solidFill>
              <a:cs typeface="+mn-ea"/>
              <a:sym typeface="+mn-lt"/>
            </a:endParaRPr>
          </a:p>
        </p:txBody>
      </p:sp>
      <p:sp>
        <p:nvSpPr>
          <p:cNvPr id="20" name="TextBox 19"/>
          <p:cNvSpPr txBox="1"/>
          <p:nvPr/>
        </p:nvSpPr>
        <p:spPr bwMode="gray">
          <a:xfrm>
            <a:off x="4865249" y="3184768"/>
            <a:ext cx="477846"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P1</a:t>
            </a:r>
            <a:endParaRPr lang="zh-CN" altLang="en-US" sz="1200" dirty="0">
              <a:solidFill>
                <a:srgbClr val="000000"/>
              </a:solidFill>
              <a:cs typeface="+mn-ea"/>
              <a:sym typeface="+mn-lt"/>
            </a:endParaRPr>
          </a:p>
        </p:txBody>
      </p:sp>
      <p:sp>
        <p:nvSpPr>
          <p:cNvPr id="21" name="TextBox 20"/>
          <p:cNvSpPr txBox="1"/>
          <p:nvPr/>
        </p:nvSpPr>
        <p:spPr bwMode="gray">
          <a:xfrm>
            <a:off x="4861357" y="3899703"/>
            <a:ext cx="477846"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P2</a:t>
            </a:r>
            <a:endParaRPr lang="zh-CN" altLang="en-US" sz="1200" dirty="0">
              <a:solidFill>
                <a:srgbClr val="000000"/>
              </a:solidFill>
              <a:cs typeface="+mn-ea"/>
              <a:sym typeface="+mn-lt"/>
            </a:endParaRPr>
          </a:p>
        </p:txBody>
      </p:sp>
      <p:sp>
        <p:nvSpPr>
          <p:cNvPr id="22" name="TextBox 21"/>
          <p:cNvSpPr txBox="1"/>
          <p:nvPr/>
        </p:nvSpPr>
        <p:spPr bwMode="gray">
          <a:xfrm>
            <a:off x="6396317" y="3901665"/>
            <a:ext cx="477846"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PE3</a:t>
            </a:r>
            <a:endParaRPr lang="zh-CN" altLang="en-US" sz="1200" dirty="0">
              <a:solidFill>
                <a:srgbClr val="000000"/>
              </a:solidFill>
              <a:cs typeface="+mn-ea"/>
              <a:sym typeface="+mn-lt"/>
            </a:endParaRPr>
          </a:p>
        </p:txBody>
      </p:sp>
      <p:sp>
        <p:nvSpPr>
          <p:cNvPr id="23" name="TextBox 22"/>
          <p:cNvSpPr txBox="1"/>
          <p:nvPr/>
        </p:nvSpPr>
        <p:spPr bwMode="gray">
          <a:xfrm>
            <a:off x="7786241" y="3810490"/>
            <a:ext cx="477846"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CE2</a:t>
            </a:r>
            <a:endParaRPr lang="zh-CN" altLang="en-US" sz="1200" dirty="0">
              <a:solidFill>
                <a:srgbClr val="000000"/>
              </a:solidFill>
              <a:cs typeface="+mn-ea"/>
              <a:sym typeface="+mn-lt"/>
            </a:endParaRPr>
          </a:p>
        </p:txBody>
      </p:sp>
      <p:sp>
        <p:nvSpPr>
          <p:cNvPr id="24" name="TextBox 23"/>
          <p:cNvSpPr txBox="1"/>
          <p:nvPr/>
        </p:nvSpPr>
        <p:spPr bwMode="gray">
          <a:xfrm>
            <a:off x="6396317" y="3175152"/>
            <a:ext cx="477846" cy="276999"/>
          </a:xfrm>
          <a:prstGeom prst="rect">
            <a:avLst/>
          </a:prstGeom>
          <a:noFill/>
        </p:spPr>
        <p:txBody>
          <a:bodyPr wrap="square" rtlCol="0">
            <a:spAutoFit/>
          </a:bodyPr>
          <a:lstStyle/>
          <a:p>
            <a:pPr algn="ctr">
              <a:buClr>
                <a:srgbClr val="CC9900"/>
              </a:buClr>
              <a:buFont typeface="Wingdings" panose="05000000000000000000" pitchFamily="2" charset="2"/>
              <a:buNone/>
            </a:pPr>
            <a:r>
              <a:rPr lang="en-US" altLang="zh-CN" sz="1200" dirty="0">
                <a:solidFill>
                  <a:srgbClr val="000000"/>
                </a:solidFill>
                <a:cs typeface="+mn-ea"/>
                <a:sym typeface="+mn-lt"/>
              </a:rPr>
              <a:t>PE2</a:t>
            </a:r>
            <a:endParaRPr lang="zh-CN" altLang="en-US" sz="1200" dirty="0">
              <a:solidFill>
                <a:srgbClr val="000000"/>
              </a:solidFill>
              <a:cs typeface="+mn-ea"/>
              <a:sym typeface="+mn-lt"/>
            </a:endParaRPr>
          </a:p>
        </p:txBody>
      </p:sp>
      <p:sp>
        <p:nvSpPr>
          <p:cNvPr id="29" name="Freeform 159"/>
          <p:cNvSpPr/>
          <p:nvPr/>
        </p:nvSpPr>
        <p:spPr bwMode="gray">
          <a:xfrm flipH="1">
            <a:off x="8025164" y="3331899"/>
            <a:ext cx="973564" cy="50891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Net2</a:t>
            </a:r>
            <a:endParaRPr lang="en-US"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30" name="图片 18"/>
          <p:cNvPicPr/>
          <p:nvPr/>
        </p:nvPicPr>
        <p:blipFill>
          <a:blip r:embed="rId1" cstate="print">
            <a:extLst>
              <a:ext uri="{28A0092B-C50C-407E-A947-70E740481C1C}">
                <a14:useLocalDpi xmlns:a14="http://schemas.microsoft.com/office/drawing/2010/main" val="0"/>
              </a:ext>
            </a:extLst>
          </a:blip>
          <a:stretch>
            <a:fillRect/>
          </a:stretch>
        </p:blipFill>
        <p:spPr bwMode="gray">
          <a:xfrm>
            <a:off x="7687155" y="3470359"/>
            <a:ext cx="468318" cy="383051"/>
          </a:xfrm>
          <a:prstGeom prst="rect">
            <a:avLst/>
          </a:prstGeom>
        </p:spPr>
      </p:pic>
      <p:cxnSp>
        <p:nvCxnSpPr>
          <p:cNvPr id="31" name="直接连接符 22"/>
          <p:cNvCxnSpPr>
            <a:stCxn id="4" idx="2"/>
            <a:endCxn id="6" idx="1"/>
          </p:cNvCxnSpPr>
          <p:nvPr/>
        </p:nvCxnSpPr>
        <p:spPr bwMode="gray">
          <a:xfrm>
            <a:off x="3724060" y="3844818"/>
            <a:ext cx="1272560" cy="466440"/>
          </a:xfrm>
          <a:prstGeom prst="line">
            <a:avLst/>
          </a:prstGeom>
          <a:noFill/>
          <a:ln w="19050" algn="ctr">
            <a:solidFill>
              <a:schemeClr val="bg1">
                <a:lumMod val="50000"/>
              </a:schemeClr>
            </a:solidFill>
            <a:round/>
          </a:ln>
          <a:extLst>
            <a:ext uri="{909E8E84-426E-40DD-AFC4-6F175D3DCCD1}">
              <a14:hiddenFill xmlns:a14="http://schemas.microsoft.com/office/drawing/2010/main">
                <a:noFill/>
              </a14:hiddenFill>
            </a:ext>
          </a:extLst>
        </p:spPr>
      </p:cxnSp>
      <p:sp>
        <p:nvSpPr>
          <p:cNvPr id="50" name="Freeform 49"/>
          <p:cNvSpPr/>
          <p:nvPr/>
        </p:nvSpPr>
        <p:spPr bwMode="gray">
          <a:xfrm flipV="1">
            <a:off x="6317360" y="3150725"/>
            <a:ext cx="232318" cy="1048418"/>
          </a:xfrm>
          <a:custGeom>
            <a:avLst/>
            <a:gdLst>
              <a:gd name="connsiteX0" fmla="*/ 342900 w 342900"/>
              <a:gd name="connsiteY0" fmla="*/ 0 h 790575"/>
              <a:gd name="connsiteX1" fmla="*/ 0 w 342900"/>
              <a:gd name="connsiteY1" fmla="*/ 428625 h 790575"/>
              <a:gd name="connsiteX2" fmla="*/ 342900 w 342900"/>
              <a:gd name="connsiteY2" fmla="*/ 790575 h 790575"/>
            </a:gdLst>
            <a:ahLst/>
            <a:cxnLst>
              <a:cxn ang="0">
                <a:pos x="connsiteX0" y="connsiteY0"/>
              </a:cxn>
              <a:cxn ang="0">
                <a:pos x="connsiteX1" y="connsiteY1"/>
              </a:cxn>
              <a:cxn ang="0">
                <a:pos x="connsiteX2" y="connsiteY2"/>
              </a:cxn>
            </a:cxnLst>
            <a:rect l="l" t="t" r="r" b="b"/>
            <a:pathLst>
              <a:path w="342900" h="790575">
                <a:moveTo>
                  <a:pt x="342900" y="0"/>
                </a:moveTo>
                <a:cubicBezTo>
                  <a:pt x="171450" y="148431"/>
                  <a:pt x="0" y="296863"/>
                  <a:pt x="0" y="428625"/>
                </a:cubicBezTo>
                <a:cubicBezTo>
                  <a:pt x="0" y="560387"/>
                  <a:pt x="171450" y="675481"/>
                  <a:pt x="342900" y="790575"/>
                </a:cubicBezTo>
              </a:path>
            </a:pathLst>
          </a:custGeom>
          <a:noFill/>
          <a:ln w="28575">
            <a:solidFill>
              <a:schemeClr val="bg1">
                <a:lumMod val="50000"/>
              </a:schemeClr>
            </a:solidFill>
            <a:prstDash val="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Rectangular Callout 50"/>
          <p:cNvSpPr/>
          <p:nvPr/>
        </p:nvSpPr>
        <p:spPr bwMode="gray">
          <a:xfrm>
            <a:off x="5078128" y="3388783"/>
            <a:ext cx="1066501" cy="494009"/>
          </a:xfrm>
          <a:prstGeom prst="wedgeRectCallout">
            <a:avLst>
              <a:gd name="adj1" fmla="val 62526"/>
              <a:gd name="adj2" fmla="val -25076"/>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PE3</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传递</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VPN</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路由给</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PE2</a:t>
            </a:r>
            <a:endPar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2" name="Freeform 51"/>
          <p:cNvSpPr/>
          <p:nvPr/>
        </p:nvSpPr>
        <p:spPr bwMode="gray">
          <a:xfrm rot="14884938" flipV="1">
            <a:off x="7473061" y="3795191"/>
            <a:ext cx="232318" cy="1048418"/>
          </a:xfrm>
          <a:custGeom>
            <a:avLst/>
            <a:gdLst>
              <a:gd name="connsiteX0" fmla="*/ 342900 w 342900"/>
              <a:gd name="connsiteY0" fmla="*/ 0 h 790575"/>
              <a:gd name="connsiteX1" fmla="*/ 0 w 342900"/>
              <a:gd name="connsiteY1" fmla="*/ 428625 h 790575"/>
              <a:gd name="connsiteX2" fmla="*/ 342900 w 342900"/>
              <a:gd name="connsiteY2" fmla="*/ 790575 h 790575"/>
            </a:gdLst>
            <a:ahLst/>
            <a:cxnLst>
              <a:cxn ang="0">
                <a:pos x="connsiteX0" y="connsiteY0"/>
              </a:cxn>
              <a:cxn ang="0">
                <a:pos x="connsiteX1" y="connsiteY1"/>
              </a:cxn>
              <a:cxn ang="0">
                <a:pos x="connsiteX2" y="connsiteY2"/>
              </a:cxn>
            </a:cxnLst>
            <a:rect l="l" t="t" r="r" b="b"/>
            <a:pathLst>
              <a:path w="342900" h="790575">
                <a:moveTo>
                  <a:pt x="342900" y="0"/>
                </a:moveTo>
                <a:cubicBezTo>
                  <a:pt x="171450" y="148431"/>
                  <a:pt x="0" y="296863"/>
                  <a:pt x="0" y="428625"/>
                </a:cubicBezTo>
                <a:cubicBezTo>
                  <a:pt x="0" y="560387"/>
                  <a:pt x="171450" y="675481"/>
                  <a:pt x="342900" y="790575"/>
                </a:cubicBezTo>
              </a:path>
            </a:pathLst>
          </a:custGeom>
          <a:noFill/>
          <a:ln w="28575">
            <a:solidFill>
              <a:schemeClr val="bg1">
                <a:lumMod val="50000"/>
              </a:schemeClr>
            </a:solidFill>
            <a:prstDash val="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Freeform 52"/>
          <p:cNvSpPr/>
          <p:nvPr/>
        </p:nvSpPr>
        <p:spPr bwMode="gray">
          <a:xfrm rot="6940476">
            <a:off x="7492867" y="2605749"/>
            <a:ext cx="232318" cy="1048418"/>
          </a:xfrm>
          <a:custGeom>
            <a:avLst/>
            <a:gdLst>
              <a:gd name="connsiteX0" fmla="*/ 342900 w 342900"/>
              <a:gd name="connsiteY0" fmla="*/ 0 h 790575"/>
              <a:gd name="connsiteX1" fmla="*/ 0 w 342900"/>
              <a:gd name="connsiteY1" fmla="*/ 428625 h 790575"/>
              <a:gd name="connsiteX2" fmla="*/ 342900 w 342900"/>
              <a:gd name="connsiteY2" fmla="*/ 790575 h 790575"/>
            </a:gdLst>
            <a:ahLst/>
            <a:cxnLst>
              <a:cxn ang="0">
                <a:pos x="connsiteX0" y="connsiteY0"/>
              </a:cxn>
              <a:cxn ang="0">
                <a:pos x="connsiteX1" y="connsiteY1"/>
              </a:cxn>
              <a:cxn ang="0">
                <a:pos x="connsiteX2" y="connsiteY2"/>
              </a:cxn>
            </a:cxnLst>
            <a:rect l="l" t="t" r="r" b="b"/>
            <a:pathLst>
              <a:path w="342900" h="790575">
                <a:moveTo>
                  <a:pt x="342900" y="0"/>
                </a:moveTo>
                <a:cubicBezTo>
                  <a:pt x="171450" y="148431"/>
                  <a:pt x="0" y="296863"/>
                  <a:pt x="0" y="428625"/>
                </a:cubicBezTo>
                <a:cubicBezTo>
                  <a:pt x="0" y="560387"/>
                  <a:pt x="171450" y="675481"/>
                  <a:pt x="342900" y="790575"/>
                </a:cubicBezTo>
              </a:path>
            </a:pathLst>
          </a:custGeom>
          <a:noFill/>
          <a:ln w="28575">
            <a:solidFill>
              <a:schemeClr val="bg1">
                <a:lumMod val="50000"/>
              </a:schemeClr>
            </a:solidFill>
            <a:prstDash val="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Rectangular Callout 53"/>
          <p:cNvSpPr/>
          <p:nvPr/>
        </p:nvSpPr>
        <p:spPr bwMode="gray">
          <a:xfrm>
            <a:off x="7996612" y="4250043"/>
            <a:ext cx="1302986" cy="421480"/>
          </a:xfrm>
          <a:prstGeom prst="wedgeRectCallout">
            <a:avLst>
              <a:gd name="adj1" fmla="val -66081"/>
              <a:gd name="adj2" fmla="val -26361"/>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CE2</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传递普通 路由给</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PE2</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与</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PE3</a:t>
            </a:r>
            <a:endPar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nvGrpSpPr>
          <p:cNvPr id="55" name="组合 17"/>
          <p:cNvGrpSpPr/>
          <p:nvPr/>
        </p:nvGrpSpPr>
        <p:grpSpPr bwMode="gray">
          <a:xfrm>
            <a:off x="5808590" y="1802290"/>
            <a:ext cx="2544836" cy="950169"/>
            <a:chOff x="756083" y="2199988"/>
            <a:chExt cx="2544836" cy="607849"/>
          </a:xfrm>
        </p:grpSpPr>
        <p:sp>
          <p:nvSpPr>
            <p:cNvPr id="56" name="矩形: 圆角 52"/>
            <p:cNvSpPr/>
            <p:nvPr/>
          </p:nvSpPr>
          <p:spPr bwMode="gray">
            <a:xfrm>
              <a:off x="756083" y="2199988"/>
              <a:ext cx="2544836" cy="607849"/>
            </a:xfrm>
            <a:prstGeom prst="roundRect">
              <a:avLst>
                <a:gd name="adj" fmla="val 3125"/>
              </a:avLst>
            </a:prstGeom>
            <a:solidFill>
              <a:schemeClr val="bg1"/>
            </a:solidFill>
            <a:ln w="190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ltLang="zh-CN" sz="12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PE2 BGP</a:t>
              </a:r>
              <a:r>
                <a:rPr lang="zh-CN" altLang="en-US" sz="12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路由</a:t>
              </a:r>
              <a:endParaRPr lang="zh-CN" altLang="en-US" sz="12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7" name="TextBox 120"/>
            <p:cNvSpPr txBox="1"/>
            <p:nvPr/>
          </p:nvSpPr>
          <p:spPr bwMode="gray">
            <a:xfrm>
              <a:off x="791532" y="2357021"/>
              <a:ext cx="2420048" cy="421473"/>
            </a:xfrm>
            <a:prstGeom prst="roundRect">
              <a:avLst>
                <a:gd name="adj" fmla="val 3880"/>
              </a:avLst>
            </a:prstGeom>
            <a:noFill/>
            <a:ln w="12700">
              <a:solidFill>
                <a:srgbClr val="56C4D2"/>
              </a:solidFill>
            </a:ln>
          </p:spPr>
          <p:txBody>
            <a:bodyPr wrap="square" rtlCol="0" anchor="ctr">
              <a:spAutoFit/>
            </a:bodyPr>
            <a:lstStyle/>
            <a:p>
              <a:r>
                <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Prefix   NHP    Out-</a:t>
              </a:r>
              <a:r>
                <a:rPr lang="en-US" altLang="zh-CN" sz="1200" dirty="0" err="1">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Int</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 </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Net2     CE2     PE2-&gt;CE2</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接口</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Backup PE3      SRv6 Tunnel</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58" name="Rectangular Callout 57"/>
          <p:cNvSpPr/>
          <p:nvPr/>
        </p:nvSpPr>
        <p:spPr bwMode="gray">
          <a:xfrm>
            <a:off x="8244811" y="2410389"/>
            <a:ext cx="1729922" cy="592403"/>
          </a:xfrm>
          <a:prstGeom prst="wedgeRectCallout">
            <a:avLst>
              <a:gd name="adj1" fmla="val -66081"/>
              <a:gd name="adj2" fmla="val -26361"/>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当</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PE2</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到</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CE2</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的路径故障时，转发路径变为</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PE2-&gt;PE3-&gt;CE2</a:t>
            </a:r>
            <a:endPar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60" name="Freeform 59"/>
          <p:cNvSpPr/>
          <p:nvPr/>
        </p:nvSpPr>
        <p:spPr bwMode="gray">
          <a:xfrm>
            <a:off x="3653189" y="2914650"/>
            <a:ext cx="4371975" cy="552450"/>
          </a:xfrm>
          <a:custGeom>
            <a:avLst/>
            <a:gdLst>
              <a:gd name="connsiteX0" fmla="*/ 0 w 4371975"/>
              <a:gd name="connsiteY0" fmla="*/ 523875 h 552450"/>
              <a:gd name="connsiteX1" fmla="*/ 1562100 w 4371975"/>
              <a:gd name="connsiteY1" fmla="*/ 0 h 552450"/>
              <a:gd name="connsiteX2" fmla="*/ 3238500 w 4371975"/>
              <a:gd name="connsiteY2" fmla="*/ 0 h 552450"/>
              <a:gd name="connsiteX3" fmla="*/ 4371975 w 4371975"/>
              <a:gd name="connsiteY3" fmla="*/ 552450 h 552450"/>
            </a:gdLst>
            <a:ahLst/>
            <a:cxnLst>
              <a:cxn ang="0">
                <a:pos x="connsiteX0" y="connsiteY0"/>
              </a:cxn>
              <a:cxn ang="0">
                <a:pos x="connsiteX1" y="connsiteY1"/>
              </a:cxn>
              <a:cxn ang="0">
                <a:pos x="connsiteX2" y="connsiteY2"/>
              </a:cxn>
              <a:cxn ang="0">
                <a:pos x="connsiteX3" y="connsiteY3"/>
              </a:cxn>
            </a:cxnLst>
            <a:rect l="l" t="t" r="r" b="b"/>
            <a:pathLst>
              <a:path w="4371975" h="552450">
                <a:moveTo>
                  <a:pt x="0" y="523875"/>
                </a:moveTo>
                <a:lnTo>
                  <a:pt x="1562100" y="0"/>
                </a:lnTo>
                <a:lnTo>
                  <a:pt x="3238500" y="0"/>
                </a:lnTo>
                <a:lnTo>
                  <a:pt x="4371975" y="552450"/>
                </a:lnTo>
              </a:path>
            </a:pathLst>
          </a:custGeom>
          <a:noFill/>
          <a:ln w="28575">
            <a:solidFill>
              <a:srgbClr val="56C4D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1" name="Straight Arrow Connector 60"/>
          <p:cNvCxnSpPr/>
          <p:nvPr/>
        </p:nvCxnSpPr>
        <p:spPr bwMode="gray">
          <a:xfrm>
            <a:off x="9846526" y="4289462"/>
            <a:ext cx="666750" cy="0"/>
          </a:xfrm>
          <a:prstGeom prst="straightConnector1">
            <a:avLst/>
          </a:prstGeom>
          <a:noFill/>
          <a:ln w="28575">
            <a:solidFill>
              <a:srgbClr val="56C4D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sp>
        <p:nvSpPr>
          <p:cNvPr id="62" name="TextBox 16"/>
          <p:cNvSpPr txBox="1"/>
          <p:nvPr/>
        </p:nvSpPr>
        <p:spPr bwMode="gray">
          <a:xfrm>
            <a:off x="10513276" y="4150962"/>
            <a:ext cx="815211" cy="276999"/>
          </a:xfrm>
          <a:prstGeom prst="rect">
            <a:avLst/>
          </a:prstGeom>
          <a:noFill/>
        </p:spPr>
        <p:txBody>
          <a:bodyPr wrap="square" rtlCol="0">
            <a:spAutoFit/>
          </a:bodyPr>
          <a:lstStyle/>
          <a:p>
            <a:pPr>
              <a:buClr>
                <a:srgbClr val="CC9900"/>
              </a:buClr>
              <a:buFont typeface="Wingdings" panose="05000000000000000000" pitchFamily="2" charset="2"/>
              <a:buNone/>
            </a:pPr>
            <a:r>
              <a:rPr lang="zh-CN" altLang="en-US" sz="1200" dirty="0">
                <a:solidFill>
                  <a:srgbClr val="000000"/>
                </a:solidFill>
                <a:cs typeface="+mn-ea"/>
                <a:sym typeface="+mn-lt"/>
              </a:rPr>
              <a:t>主路径</a:t>
            </a:r>
            <a:endParaRPr lang="zh-CN" altLang="en-US" sz="1200" dirty="0">
              <a:solidFill>
                <a:srgbClr val="000000"/>
              </a:solidFill>
              <a:cs typeface="+mn-ea"/>
              <a:sym typeface="+mn-lt"/>
            </a:endParaRPr>
          </a:p>
        </p:txBody>
      </p:sp>
      <p:sp>
        <p:nvSpPr>
          <p:cNvPr id="63" name="TextBox 16"/>
          <p:cNvSpPr txBox="1"/>
          <p:nvPr/>
        </p:nvSpPr>
        <p:spPr bwMode="gray">
          <a:xfrm>
            <a:off x="10481248" y="4484337"/>
            <a:ext cx="847239" cy="276999"/>
          </a:xfrm>
          <a:prstGeom prst="rect">
            <a:avLst/>
          </a:prstGeom>
          <a:noFill/>
        </p:spPr>
        <p:txBody>
          <a:bodyPr wrap="square" rtlCol="0">
            <a:spAutoFit/>
          </a:bodyPr>
          <a:lstStyle/>
          <a:p>
            <a:pPr algn="ctr">
              <a:buClr>
                <a:srgbClr val="CC9900"/>
              </a:buClr>
              <a:buFont typeface="Wingdings" panose="05000000000000000000" pitchFamily="2" charset="2"/>
              <a:buNone/>
            </a:pPr>
            <a:r>
              <a:rPr lang="zh-CN" altLang="en-US" sz="1200" dirty="0">
                <a:solidFill>
                  <a:srgbClr val="000000"/>
                </a:solidFill>
                <a:cs typeface="+mn-ea"/>
                <a:sym typeface="+mn-lt"/>
              </a:rPr>
              <a:t>备份路径</a:t>
            </a:r>
            <a:endParaRPr lang="zh-CN" altLang="en-US" sz="1200" dirty="0">
              <a:solidFill>
                <a:srgbClr val="000000"/>
              </a:solidFill>
              <a:cs typeface="+mn-ea"/>
              <a:sym typeface="+mn-lt"/>
            </a:endParaRPr>
          </a:p>
        </p:txBody>
      </p:sp>
      <p:cxnSp>
        <p:nvCxnSpPr>
          <p:cNvPr id="64" name="Straight Arrow Connector 63"/>
          <p:cNvCxnSpPr/>
          <p:nvPr/>
        </p:nvCxnSpPr>
        <p:spPr bwMode="gray">
          <a:xfrm>
            <a:off x="9846526" y="4622836"/>
            <a:ext cx="666750" cy="0"/>
          </a:xfrm>
          <a:prstGeom prst="straightConnector1">
            <a:avLst/>
          </a:prstGeom>
          <a:noFill/>
          <a:ln w="28575">
            <a:solidFill>
              <a:srgbClr val="E28189"/>
            </a:solidFill>
            <a:prstDash val="solid"/>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sp>
        <p:nvSpPr>
          <p:cNvPr id="65" name="Freeform 64"/>
          <p:cNvSpPr/>
          <p:nvPr/>
        </p:nvSpPr>
        <p:spPr bwMode="gray">
          <a:xfrm>
            <a:off x="6905625" y="3086100"/>
            <a:ext cx="981075" cy="1123950"/>
          </a:xfrm>
          <a:custGeom>
            <a:avLst/>
            <a:gdLst>
              <a:gd name="connsiteX0" fmla="*/ 0 w 981075"/>
              <a:gd name="connsiteY0" fmla="*/ 0 h 1123950"/>
              <a:gd name="connsiteX1" fmla="*/ 0 w 981075"/>
              <a:gd name="connsiteY1" fmla="*/ 1123950 h 1123950"/>
              <a:gd name="connsiteX2" fmla="*/ 981075 w 981075"/>
              <a:gd name="connsiteY2" fmla="*/ 666750 h 1123950"/>
            </a:gdLst>
            <a:ahLst/>
            <a:cxnLst>
              <a:cxn ang="0">
                <a:pos x="connsiteX0" y="connsiteY0"/>
              </a:cxn>
              <a:cxn ang="0">
                <a:pos x="connsiteX1" y="connsiteY1"/>
              </a:cxn>
              <a:cxn ang="0">
                <a:pos x="connsiteX2" y="connsiteY2"/>
              </a:cxn>
            </a:cxnLst>
            <a:rect l="l" t="t" r="r" b="b"/>
            <a:pathLst>
              <a:path w="981075" h="1123950">
                <a:moveTo>
                  <a:pt x="0" y="0"/>
                </a:moveTo>
                <a:lnTo>
                  <a:pt x="0" y="1123950"/>
                </a:lnTo>
                <a:lnTo>
                  <a:pt x="981075" y="666750"/>
                </a:lnTo>
              </a:path>
            </a:pathLst>
          </a:custGeom>
          <a:noFill/>
          <a:ln w="28575">
            <a:solidFill>
              <a:srgbClr val="E28189"/>
            </a:solidFill>
            <a:prstDash val="solid"/>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en-US" altLang="zh-CN" sz="2200" dirty="0">
                <a:solidFill>
                  <a:schemeClr val="bg1">
                    <a:lumMod val="50000"/>
                  </a:schemeClr>
                </a:solidFill>
                <a:sym typeface="Huawei Sans" panose="020C0503030203020204" pitchFamily="34" charset="0"/>
              </a:rPr>
              <a:t>SRv6</a:t>
            </a:r>
            <a:r>
              <a:rPr lang="zh-CN" altLang="en-US" sz="2200" dirty="0">
                <a:solidFill>
                  <a:schemeClr val="bg1">
                    <a:lumMod val="50000"/>
                  </a:schemeClr>
                </a:solidFill>
                <a:sym typeface="Huawei Sans" panose="020C0503030203020204" pitchFamily="34" charset="0"/>
              </a:rPr>
              <a:t>概述</a:t>
            </a:r>
            <a:endParaRPr lang="zh-CN" altLang="en-US" sz="2200" dirty="0">
              <a:solidFill>
                <a:schemeClr val="bg1">
                  <a:lumMod val="50000"/>
                </a:schemeClr>
              </a:solidFill>
              <a:sym typeface="Huawei Sans" panose="020C0503030203020204" pitchFamily="34" charset="0"/>
            </a:endParaRPr>
          </a:p>
          <a:p>
            <a:r>
              <a:rPr lang="en-US" altLang="zh-CN" sz="2200" dirty="0">
                <a:solidFill>
                  <a:schemeClr val="bg1">
                    <a:lumMod val="50000"/>
                  </a:schemeClr>
                </a:solidFill>
                <a:sym typeface="Huawei Sans" panose="020C0503030203020204" pitchFamily="34" charset="0"/>
              </a:rPr>
              <a:t>SRv6</a:t>
            </a:r>
            <a:r>
              <a:rPr lang="zh-CN" altLang="en-US" sz="2200" dirty="0">
                <a:solidFill>
                  <a:schemeClr val="bg1">
                    <a:lumMod val="50000"/>
                  </a:schemeClr>
                </a:solidFill>
                <a:sym typeface="Huawei Sans" panose="020C0503030203020204" pitchFamily="34" charset="0"/>
              </a:rPr>
              <a:t>原理</a:t>
            </a:r>
            <a:endParaRPr lang="zh-CN" altLang="en-US" sz="2200" dirty="0">
              <a:solidFill>
                <a:schemeClr val="bg1">
                  <a:lumMod val="50000"/>
                </a:schemeClr>
              </a:solidFill>
              <a:sym typeface="Huawei Sans" panose="020C0503030203020204" pitchFamily="34" charset="0"/>
            </a:endParaRPr>
          </a:p>
          <a:p>
            <a:r>
              <a:rPr lang="en-US" altLang="zh-CN" sz="2200" dirty="0">
                <a:solidFill>
                  <a:schemeClr val="bg1">
                    <a:lumMod val="50000"/>
                  </a:schemeClr>
                </a:solidFill>
                <a:sym typeface="Huawei Sans" panose="020C0503030203020204" pitchFamily="34" charset="0"/>
              </a:rPr>
              <a:t>SRv6</a:t>
            </a:r>
            <a:r>
              <a:rPr lang="zh-CN" altLang="en-US" sz="2200" dirty="0">
                <a:solidFill>
                  <a:schemeClr val="bg1">
                    <a:lumMod val="50000"/>
                  </a:schemeClr>
                </a:solidFill>
                <a:sym typeface="Huawei Sans" panose="020C0503030203020204" pitchFamily="34" charset="0"/>
              </a:rPr>
              <a:t>高可靠性</a:t>
            </a:r>
            <a:endParaRPr lang="en-US" altLang="zh-CN" sz="2200" dirty="0">
              <a:solidFill>
                <a:schemeClr val="bg1">
                  <a:lumMod val="50000"/>
                </a:schemeClr>
              </a:solidFill>
              <a:sym typeface="Huawei Sans" panose="020C0503030203020204" pitchFamily="34" charset="0"/>
            </a:endParaRPr>
          </a:p>
          <a:p>
            <a:r>
              <a:rPr lang="en-US" altLang="zh-CN" sz="2200" b="1" dirty="0">
                <a:sym typeface="Huawei Sans" panose="020C0503030203020204" pitchFamily="34" charset="0"/>
              </a:rPr>
              <a:t>SRv6</a:t>
            </a:r>
            <a:r>
              <a:rPr lang="zh-CN" altLang="en-US" sz="2200" b="1" dirty="0">
                <a:sym typeface="Huawei Sans" panose="020C0503030203020204" pitchFamily="34" charset="0"/>
              </a:rPr>
              <a:t>基础配置</a:t>
            </a:r>
            <a:endParaRPr lang="en-US" altLang="zh-CN" sz="2200" b="1" dirty="0">
              <a:sym typeface="Huawei Sans" panose="020C0503030203020204" pitchFamily="34" charset="0"/>
            </a:endParaRPr>
          </a:p>
          <a:p>
            <a:pPr lvl="1">
              <a:buSzPct val="60000"/>
              <a:buFont typeface="Wingdings" panose="05000000000000000000" pitchFamily="2" charset="2"/>
              <a:buChar char="n"/>
            </a:pPr>
            <a:r>
              <a:rPr lang="en-US" altLang="zh-CN" dirty="0">
                <a:sym typeface="Huawei Sans" panose="020C0503030203020204" pitchFamily="34" charset="0"/>
              </a:rPr>
              <a:t>SRv6 BE</a:t>
            </a:r>
            <a:endParaRPr lang="en-US" altLang="zh-CN" dirty="0">
              <a:sym typeface="Huawei Sans" panose="020C0503030203020204" pitchFamily="34" charset="0"/>
            </a:endParaRPr>
          </a:p>
          <a:p>
            <a:pPr lvl="1"/>
            <a:r>
              <a:rPr lang="en-US" altLang="zh-CN" dirty="0">
                <a:solidFill>
                  <a:schemeClr val="bg1">
                    <a:lumMod val="50000"/>
                  </a:schemeClr>
                </a:solidFill>
                <a:sym typeface="Huawei Sans" panose="020C0503030203020204" pitchFamily="34" charset="0"/>
              </a:rPr>
              <a:t>SRv6 Policy</a:t>
            </a:r>
            <a:endParaRPr lang="en-US" altLang="zh-CN" dirty="0">
              <a:solidFill>
                <a:schemeClr val="bg1">
                  <a:lumMod val="50000"/>
                </a:schemeClr>
              </a:solidFill>
              <a:sym typeface="Huawei Sans" panose="020C0503030203020204" pitchFamily="34" charset="0"/>
            </a:endParaRPr>
          </a:p>
          <a:p>
            <a:r>
              <a:rPr lang="zh-CN" altLang="en-US" sz="2200" dirty="0">
                <a:solidFill>
                  <a:schemeClr val="bg1">
                    <a:lumMod val="50000"/>
                  </a:schemeClr>
                </a:solidFill>
                <a:sym typeface="Huawei Sans" panose="020C0503030203020204" pitchFamily="34" charset="0"/>
              </a:rPr>
              <a:t>基于</a:t>
            </a:r>
            <a:r>
              <a:rPr lang="en-US" altLang="zh-CN" sz="2200" dirty="0" err="1">
                <a:solidFill>
                  <a:schemeClr val="bg1">
                    <a:lumMod val="50000"/>
                  </a:schemeClr>
                </a:solidFill>
                <a:sym typeface="Huawei Sans" panose="020C0503030203020204" pitchFamily="34" charset="0"/>
              </a:rPr>
              <a:t>iMaster</a:t>
            </a:r>
            <a:r>
              <a:rPr lang="en-US" altLang="zh-CN" sz="2200" dirty="0">
                <a:solidFill>
                  <a:schemeClr val="bg1">
                    <a:lumMod val="50000"/>
                  </a:schemeClr>
                </a:solidFill>
                <a:sym typeface="Huawei Sans" panose="020C0503030203020204" pitchFamily="34" charset="0"/>
              </a:rPr>
              <a:t> NCE-IP</a:t>
            </a:r>
            <a:r>
              <a:rPr lang="zh-CN" altLang="en-US" sz="2200" dirty="0">
                <a:solidFill>
                  <a:schemeClr val="bg1">
                    <a:lumMod val="50000"/>
                  </a:schemeClr>
                </a:solidFill>
                <a:sym typeface="Huawei Sans" panose="020C0503030203020204" pitchFamily="34" charset="0"/>
              </a:rPr>
              <a:t>部署</a:t>
            </a:r>
            <a:r>
              <a:rPr lang="en-US" altLang="zh-CN" sz="2200" dirty="0">
                <a:solidFill>
                  <a:schemeClr val="bg1">
                    <a:lumMod val="50000"/>
                  </a:schemeClr>
                </a:solidFill>
                <a:sym typeface="Huawei Sans" panose="020C0503030203020204" pitchFamily="34" charset="0"/>
              </a:rPr>
              <a:t>SRv6</a:t>
            </a:r>
            <a:endParaRPr lang="zh-CN" altLang="en-US" sz="2200" dirty="0">
              <a:solidFill>
                <a:schemeClr val="bg1">
                  <a:lumMod val="50000"/>
                </a:schemeClr>
              </a:solidFill>
              <a:sym typeface="Huawei Sans" panose="020C0503030203020204" pitchFamily="34" charset="0"/>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bwMode="gray"/>
        <p:txBody>
          <a:bodyPr>
            <a:noAutofit/>
          </a:bodyPr>
          <a:lstStyle/>
          <a:p>
            <a:r>
              <a:rPr lang="en-US" altLang="zh-CN" dirty="0">
                <a:sym typeface="Huawei Sans" panose="020C0503030203020204" pitchFamily="34" charset="0"/>
              </a:rPr>
              <a:t>L3VPNv4 over SRv6 BE (1)</a:t>
            </a:r>
            <a:br>
              <a:rPr lang="en-US" altLang="zh-CN" dirty="0">
                <a:sym typeface="Huawei Sans" panose="020C0503030203020204" pitchFamily="34" charset="0"/>
              </a:rPr>
            </a:br>
            <a:endParaRPr lang="zh-CN" altLang="en-US" dirty="0">
              <a:sym typeface="Huawei Sans" panose="020C0503030203020204" pitchFamily="34" charset="0"/>
            </a:endParaRPr>
          </a:p>
        </p:txBody>
      </p:sp>
      <p:sp>
        <p:nvSpPr>
          <p:cNvPr id="5" name="矩形 4"/>
          <p:cNvSpPr/>
          <p:nvPr/>
        </p:nvSpPr>
        <p:spPr bwMode="gray">
          <a:xfrm>
            <a:off x="4190770" y="2950258"/>
            <a:ext cx="1826072" cy="780536"/>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矩形 5"/>
          <p:cNvSpPr/>
          <p:nvPr/>
        </p:nvSpPr>
        <p:spPr bwMode="gray">
          <a:xfrm>
            <a:off x="522292" y="2950258"/>
            <a:ext cx="1826072" cy="780536"/>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矩形 6"/>
          <p:cNvSpPr/>
          <p:nvPr/>
        </p:nvSpPr>
        <p:spPr bwMode="gray">
          <a:xfrm>
            <a:off x="522292" y="1487150"/>
            <a:ext cx="5494550" cy="1238390"/>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 name="标题 1"/>
          <p:cNvSpPr txBox="1"/>
          <p:nvPr/>
        </p:nvSpPr>
        <p:spPr bwMode="gray">
          <a:xfrm>
            <a:off x="452438" y="447468"/>
            <a:ext cx="11296649" cy="497095"/>
          </a:xfrm>
          <a:prstGeom prst="rect">
            <a:avLst/>
          </a:prstGeom>
        </p:spPr>
        <p:txBody>
          <a:bodyPr lIns="0" tIns="0" rIns="0" bIns="0" anchor="t">
            <a:normAutofit/>
          </a:bodyPr>
          <a:lstStyle>
            <a:lvl1pPr algn="l" defTabSz="913765" rtl="0" eaLnBrk="1" fontAlgn="base" latinLnBrk="0" hangingPunct="1">
              <a:lnSpc>
                <a:spcPct val="90000"/>
              </a:lnSpc>
              <a:spcBef>
                <a:spcPct val="0"/>
              </a:spcBef>
              <a:buNone/>
              <a:defRPr lang="zh-CN" altLang="en-US" sz="3200" kern="1200" baseline="0" dirty="0">
                <a:solidFill>
                  <a:schemeClr val="tx1"/>
                </a:solidFill>
                <a:latin typeface="Huawei Sans" panose="020C0503030203020204" pitchFamily="34" charset="0"/>
                <a:ea typeface="方正兰亭黑简体" panose="02000000000000000000" pitchFamily="2" charset="-122"/>
                <a:cs typeface="+mn-cs"/>
              </a:defRPr>
            </a:lvl1pPr>
          </a:lstStyle>
          <a:p>
            <a:endParaRPr lang="en-US" dirty="0">
              <a:sym typeface="Huawei Sans" panose="020C0503030203020204" pitchFamily="34" charset="0"/>
            </a:endParaRPr>
          </a:p>
        </p:txBody>
      </p:sp>
      <p:sp>
        <p:nvSpPr>
          <p:cNvPr id="9" name="矩形 8"/>
          <p:cNvSpPr/>
          <p:nvPr/>
        </p:nvSpPr>
        <p:spPr bwMode="gray">
          <a:xfrm>
            <a:off x="6286842" y="2628360"/>
            <a:ext cx="5136046" cy="2246769"/>
          </a:xfrm>
          <a:prstGeom prst="rect">
            <a:avLst/>
          </a:prstGeom>
          <a:ln>
            <a:noFill/>
          </a:ln>
        </p:spPr>
        <p:txBody>
          <a:bodyPr wrap="square">
            <a:spAutoFit/>
          </a:bodyPr>
          <a:lstStyle/>
          <a:p>
            <a:pPr>
              <a:lnSpc>
                <a:spcPts val="2400"/>
              </a:lnSpc>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配置思路：</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176530" indent="-176530">
              <a:lnSpc>
                <a:spcPts val="2400"/>
              </a:lnSpc>
              <a:buFont typeface="+mj-lt"/>
              <a:buAutoNum type="arabicPeriod"/>
            </a:pPr>
            <a:r>
              <a:rPr lang="zh-CN" altLang="zh-CN" sz="1400" dirty="0">
                <a:latin typeface="Huawei Sans" panose="020C0503030203020204" pitchFamily="34" charset="0"/>
                <a:ea typeface="方正兰亭黑简体" panose="02000000000000000000" pitchFamily="2" charset="-122"/>
                <a:sym typeface="Huawei Sans" panose="020C0503030203020204" pitchFamily="34" charset="0"/>
              </a:rPr>
              <a:t>完成设备接口</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IPv6</a:t>
            </a:r>
            <a:r>
              <a:rPr lang="zh-CN" altLang="zh-CN" sz="1400" dirty="0">
                <a:latin typeface="Huawei Sans" panose="020C0503030203020204" pitchFamily="34" charset="0"/>
                <a:ea typeface="方正兰亭黑简体" panose="02000000000000000000" pitchFamily="2" charset="-122"/>
                <a:sym typeface="Huawei Sans" panose="020C0503030203020204" pitchFamily="34" charset="0"/>
              </a:rPr>
              <a:t>地址及</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IS-IS</a:t>
            </a:r>
            <a:r>
              <a:rPr lang="zh-CN" altLang="zh-CN" sz="1400" dirty="0">
                <a:latin typeface="Huawei Sans" panose="020C0503030203020204" pitchFamily="34" charset="0"/>
                <a:ea typeface="方正兰亭黑简体" panose="02000000000000000000" pitchFamily="2" charset="-122"/>
                <a:sym typeface="Huawei Sans" panose="020C0503030203020204" pitchFamily="34" charset="0"/>
              </a:rPr>
              <a:t>配置</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（略）。</a:t>
            </a:r>
            <a:endParaRPr lang="zh-CN"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176530" indent="-176530">
              <a:lnSpc>
                <a:spcPts val="2400"/>
              </a:lnSpc>
              <a:buFont typeface="+mj-lt"/>
              <a:buAutoNum type="arabicPeriod"/>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在</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PE1</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与</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PE2</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之间建立</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MP-BGP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对等体关系。</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176530" indent="-176530">
              <a:lnSpc>
                <a:spcPts val="2400"/>
              </a:lnSpc>
              <a:buFont typeface="+mj-lt"/>
              <a:buAutoNum type="arabicPeriod"/>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骨干网上使能</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Segment Routing</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，建立</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SRv6 BE</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路径。</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176530" indent="-176530">
              <a:lnSpc>
                <a:spcPts val="2400"/>
              </a:lnSpc>
              <a:buFont typeface="+mj-lt"/>
              <a:buAutoNum type="arabicPeriod"/>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PE</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上配置使能</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IPv4</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地址族</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VPN</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实例。</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176530" indent="-176530">
              <a:lnSpc>
                <a:spcPts val="2400"/>
              </a:lnSpc>
              <a:buFont typeface="+mj-lt"/>
              <a:buAutoNum type="arabicPeriod"/>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PE</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之间配置</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MP-IBGP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交换路由信息。</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176530" indent="-176530">
              <a:lnSpc>
                <a:spcPts val="2400"/>
              </a:lnSpc>
              <a:buFont typeface="+mj-lt"/>
              <a:buAutoNum type="arabicPeriod"/>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结果验证。</a:t>
            </a:r>
            <a:endParaRPr lang="zh-CN"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0" name="直接连接符 9"/>
          <p:cNvCxnSpPr>
            <a:stCxn id="12" idx="3"/>
            <a:endCxn id="16" idx="1"/>
          </p:cNvCxnSpPr>
          <p:nvPr/>
        </p:nvCxnSpPr>
        <p:spPr bwMode="gray">
          <a:xfrm>
            <a:off x="1267619" y="2489567"/>
            <a:ext cx="398533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矩形 10"/>
          <p:cNvSpPr/>
          <p:nvPr/>
        </p:nvSpPr>
        <p:spPr bwMode="gray">
          <a:xfrm>
            <a:off x="748992" y="1996788"/>
            <a:ext cx="497252"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PE1</a:t>
            </a:r>
            <a:endParaRPr lang="zh-CN" altLang="en-US" sz="1400" b="1" dirty="0">
              <a:solidFill>
                <a:srgbClr val="FF3300"/>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2" name="图片 11"/>
          <p:cNvPicPr/>
          <p:nvPr/>
        </p:nvPicPr>
        <p:blipFill>
          <a:blip r:embed="rId1" cstate="print">
            <a:extLst>
              <a:ext uri="{28A0092B-C50C-407E-A947-70E740481C1C}">
                <a14:useLocalDpi xmlns:a14="http://schemas.microsoft.com/office/drawing/2010/main" val="0"/>
              </a:ext>
            </a:extLst>
          </a:blip>
          <a:stretch>
            <a:fillRect/>
          </a:stretch>
        </p:blipFill>
        <p:spPr bwMode="gray">
          <a:xfrm>
            <a:off x="727619" y="2268167"/>
            <a:ext cx="540000" cy="442800"/>
          </a:xfrm>
          <a:prstGeom prst="rect">
            <a:avLst/>
          </a:prstGeom>
        </p:spPr>
      </p:pic>
      <p:sp>
        <p:nvSpPr>
          <p:cNvPr id="13" name="矩形 12"/>
          <p:cNvSpPr/>
          <p:nvPr/>
        </p:nvSpPr>
        <p:spPr bwMode="gray">
          <a:xfrm>
            <a:off x="3109044" y="1996788"/>
            <a:ext cx="292068"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P</a:t>
            </a:r>
            <a:endParaRPr lang="zh-CN" altLang="en-US" sz="1400" b="1" dirty="0">
              <a:solidFill>
                <a:srgbClr val="FF3300"/>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4" name="图片 13"/>
          <p:cNvPicPr/>
          <p:nvPr/>
        </p:nvPicPr>
        <p:blipFill>
          <a:blip r:embed="rId1" cstate="print">
            <a:extLst>
              <a:ext uri="{28A0092B-C50C-407E-A947-70E740481C1C}">
                <a14:useLocalDpi xmlns:a14="http://schemas.microsoft.com/office/drawing/2010/main" val="0"/>
              </a:ext>
            </a:extLst>
          </a:blip>
          <a:stretch>
            <a:fillRect/>
          </a:stretch>
        </p:blipFill>
        <p:spPr bwMode="gray">
          <a:xfrm>
            <a:off x="2991152" y="2268167"/>
            <a:ext cx="540000" cy="442800"/>
          </a:xfrm>
          <a:prstGeom prst="rect">
            <a:avLst/>
          </a:prstGeom>
        </p:spPr>
      </p:pic>
      <p:sp>
        <p:nvSpPr>
          <p:cNvPr id="15" name="矩形 14"/>
          <p:cNvSpPr/>
          <p:nvPr/>
        </p:nvSpPr>
        <p:spPr bwMode="gray">
          <a:xfrm>
            <a:off x="5283807" y="1996788"/>
            <a:ext cx="497252"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PE2</a:t>
            </a:r>
            <a:endParaRPr lang="zh-CN" altLang="en-US" sz="1400" b="1" dirty="0">
              <a:solidFill>
                <a:srgbClr val="FF3300"/>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6" name="图片 15"/>
          <p:cNvPicPr/>
          <p:nvPr/>
        </p:nvPicPr>
        <p:blipFill>
          <a:blip r:embed="rId1" cstate="print">
            <a:extLst>
              <a:ext uri="{28A0092B-C50C-407E-A947-70E740481C1C}">
                <a14:useLocalDpi xmlns:a14="http://schemas.microsoft.com/office/drawing/2010/main" val="0"/>
              </a:ext>
            </a:extLst>
          </a:blip>
          <a:stretch>
            <a:fillRect/>
          </a:stretch>
        </p:blipFill>
        <p:spPr bwMode="gray">
          <a:xfrm>
            <a:off x="5252957" y="2268167"/>
            <a:ext cx="540000" cy="442800"/>
          </a:xfrm>
          <a:prstGeom prst="rect">
            <a:avLst/>
          </a:prstGeom>
        </p:spPr>
      </p:pic>
      <p:sp>
        <p:nvSpPr>
          <p:cNvPr id="17" name="矩形 16"/>
          <p:cNvSpPr/>
          <p:nvPr/>
        </p:nvSpPr>
        <p:spPr bwMode="gray">
          <a:xfrm>
            <a:off x="1401461" y="2245468"/>
            <a:ext cx="1455848" cy="276999"/>
          </a:xfrm>
          <a:prstGeom prst="rect">
            <a:avLst/>
          </a:prstGeom>
        </p:spPr>
        <p:txBody>
          <a:bodyPr wrap="none">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2001:DB88:12::/96</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 name="矩形 17"/>
          <p:cNvSpPr/>
          <p:nvPr/>
        </p:nvSpPr>
        <p:spPr bwMode="gray">
          <a:xfrm>
            <a:off x="437904" y="1564429"/>
            <a:ext cx="1455848" cy="461665"/>
          </a:xfrm>
          <a:prstGeom prst="rect">
            <a:avLst/>
          </a:prstGeom>
        </p:spPr>
        <p:txBody>
          <a:bodyPr wrap="none">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Loopback0</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2001:DB8:1::1/128</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文本框 22"/>
          <p:cNvSpPr txBox="1"/>
          <p:nvPr/>
        </p:nvSpPr>
        <p:spPr bwMode="gray">
          <a:xfrm>
            <a:off x="4251736" y="3039452"/>
            <a:ext cx="987770" cy="461665"/>
          </a:xfrm>
          <a:prstGeom prst="rect">
            <a:avLst/>
          </a:prstGeom>
          <a:noFill/>
          <a:ln>
            <a:noFill/>
          </a:ln>
        </p:spPr>
        <p:txBody>
          <a:bodyPr wrap="non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Loopback1 </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10.1.5.5/32</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矩形 23"/>
          <p:cNvSpPr/>
          <p:nvPr/>
        </p:nvSpPr>
        <p:spPr bwMode="gray">
          <a:xfrm>
            <a:off x="575271" y="3815029"/>
            <a:ext cx="5136046" cy="1477328"/>
          </a:xfrm>
          <a:prstGeom prst="rect">
            <a:avLst/>
          </a:prstGeom>
          <a:ln>
            <a:noFill/>
          </a:ln>
        </p:spPr>
        <p:txBody>
          <a:bodyPr wrap="square">
            <a:spAutoFit/>
          </a:bodyPr>
          <a:lstStyle/>
          <a:p>
            <a:pPr>
              <a:lnSpc>
                <a:spcPts val="2400"/>
              </a:lnSpc>
              <a:spcAft>
                <a:spcPts val="600"/>
              </a:spcAft>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组网需求：</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176530" indent="-176530">
              <a:lnSpc>
                <a:spcPts val="2400"/>
              </a:lnSpc>
              <a:spcAft>
                <a:spcPts val="600"/>
              </a:spcAft>
              <a:buFont typeface="+mj-lt"/>
              <a:buAutoNum type="arabicPeriod"/>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PE1</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和</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PE2</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设备各有一个</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CE</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属于</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VPN</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实例</a:t>
            </a:r>
            <a:r>
              <a:rPr lang="en-US" altLang="zh-CN" sz="1400" dirty="0" err="1">
                <a:latin typeface="Huawei Sans" panose="020C0503030203020204" pitchFamily="34" charset="0"/>
                <a:ea typeface="方正兰亭黑简体" panose="02000000000000000000" pitchFamily="2" charset="-122"/>
                <a:sym typeface="Huawei Sans" panose="020C0503030203020204" pitchFamily="34" charset="0"/>
              </a:rPr>
              <a:t>vpna</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176530" indent="-176530">
              <a:lnSpc>
                <a:spcPts val="2400"/>
              </a:lnSpc>
              <a:spcAft>
                <a:spcPts val="600"/>
              </a:spcAft>
              <a:buFont typeface="+mj-lt"/>
              <a:buAutoNum type="arabicPeriod"/>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在骨干网络中部署</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L3VPN</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迭代</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SRv6 BE</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路径，使得</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CE1</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和</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CE2</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的</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loopback1</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接口可以相互通信。</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矩形 24"/>
          <p:cNvSpPr/>
          <p:nvPr/>
        </p:nvSpPr>
        <p:spPr bwMode="gray">
          <a:xfrm>
            <a:off x="1199332" y="2266253"/>
            <a:ext cx="306494" cy="276999"/>
          </a:xfrm>
          <a:prstGeom prst="rect">
            <a:avLst/>
          </a:prstGeom>
        </p:spPr>
        <p:txBody>
          <a:bodyPr wrap="none">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:1</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矩形 25"/>
          <p:cNvSpPr/>
          <p:nvPr/>
        </p:nvSpPr>
        <p:spPr bwMode="gray">
          <a:xfrm>
            <a:off x="2764735" y="2266253"/>
            <a:ext cx="306494" cy="276999"/>
          </a:xfrm>
          <a:prstGeom prst="rect">
            <a:avLst/>
          </a:prstGeom>
        </p:spPr>
        <p:txBody>
          <a:bodyPr wrap="none">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 name="矩形 26"/>
          <p:cNvSpPr/>
          <p:nvPr/>
        </p:nvSpPr>
        <p:spPr bwMode="gray">
          <a:xfrm>
            <a:off x="3447434" y="2266253"/>
            <a:ext cx="306494" cy="276999"/>
          </a:xfrm>
          <a:prstGeom prst="rect">
            <a:avLst/>
          </a:prstGeom>
        </p:spPr>
        <p:txBody>
          <a:bodyPr wrap="none">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矩形 27"/>
          <p:cNvSpPr/>
          <p:nvPr/>
        </p:nvSpPr>
        <p:spPr bwMode="gray">
          <a:xfrm>
            <a:off x="5024712" y="2266253"/>
            <a:ext cx="306494" cy="276999"/>
          </a:xfrm>
          <a:prstGeom prst="rect">
            <a:avLst/>
          </a:prstGeom>
        </p:spPr>
        <p:txBody>
          <a:bodyPr wrap="none">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:3</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9" name="图片 28"/>
          <p:cNvPicPr/>
          <p:nvPr/>
        </p:nvPicPr>
        <p:blipFill>
          <a:blip r:embed="rId1" cstate="print">
            <a:extLst>
              <a:ext uri="{28A0092B-C50C-407E-A947-70E740481C1C}">
                <a14:useLocalDpi xmlns:a14="http://schemas.microsoft.com/office/drawing/2010/main" val="0"/>
              </a:ext>
            </a:extLst>
          </a:blip>
          <a:stretch>
            <a:fillRect/>
          </a:stretch>
        </p:blipFill>
        <p:spPr bwMode="gray">
          <a:xfrm>
            <a:off x="727619" y="3010900"/>
            <a:ext cx="540000" cy="442800"/>
          </a:xfrm>
          <a:prstGeom prst="rect">
            <a:avLst/>
          </a:prstGeom>
        </p:spPr>
      </p:pic>
      <p:pic>
        <p:nvPicPr>
          <p:cNvPr id="30" name="图片 29"/>
          <p:cNvPicPr/>
          <p:nvPr/>
        </p:nvPicPr>
        <p:blipFill>
          <a:blip r:embed="rId1" cstate="print">
            <a:extLst>
              <a:ext uri="{28A0092B-C50C-407E-A947-70E740481C1C}">
                <a14:useLocalDpi xmlns:a14="http://schemas.microsoft.com/office/drawing/2010/main" val="0"/>
              </a:ext>
            </a:extLst>
          </a:blip>
          <a:stretch>
            <a:fillRect/>
          </a:stretch>
        </p:blipFill>
        <p:spPr bwMode="gray">
          <a:xfrm>
            <a:off x="5252957" y="3010900"/>
            <a:ext cx="540000" cy="442800"/>
          </a:xfrm>
          <a:prstGeom prst="rect">
            <a:avLst/>
          </a:prstGeom>
        </p:spPr>
      </p:pic>
      <p:cxnSp>
        <p:nvCxnSpPr>
          <p:cNvPr id="31" name="直接连接符 30"/>
          <p:cNvCxnSpPr>
            <a:stCxn id="12" idx="2"/>
            <a:endCxn id="29" idx="0"/>
          </p:cNvCxnSpPr>
          <p:nvPr/>
        </p:nvCxnSpPr>
        <p:spPr bwMode="gray">
          <a:xfrm>
            <a:off x="997619" y="2710967"/>
            <a:ext cx="0" cy="29993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a:stCxn id="16" idx="2"/>
            <a:endCxn id="30" idx="0"/>
          </p:cNvCxnSpPr>
          <p:nvPr/>
        </p:nvCxnSpPr>
        <p:spPr bwMode="gray">
          <a:xfrm>
            <a:off x="5522957" y="2710967"/>
            <a:ext cx="0" cy="29993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3" name="矩形 32"/>
          <p:cNvSpPr/>
          <p:nvPr/>
        </p:nvSpPr>
        <p:spPr bwMode="gray">
          <a:xfrm>
            <a:off x="746588" y="3442542"/>
            <a:ext cx="502061"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CE1</a:t>
            </a:r>
            <a:endParaRPr lang="zh-CN" altLang="en-US" sz="1400" b="1" dirty="0">
              <a:solidFill>
                <a:srgbClr val="FF33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矩形 33"/>
          <p:cNvSpPr/>
          <p:nvPr/>
        </p:nvSpPr>
        <p:spPr bwMode="gray">
          <a:xfrm>
            <a:off x="5281403" y="3453700"/>
            <a:ext cx="502061"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CE2</a:t>
            </a:r>
            <a:endParaRPr lang="zh-CN" altLang="en-US" sz="1400" b="1" dirty="0">
              <a:solidFill>
                <a:srgbClr val="FF33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文本框 34"/>
          <p:cNvSpPr txBox="1"/>
          <p:nvPr/>
        </p:nvSpPr>
        <p:spPr bwMode="gray">
          <a:xfrm>
            <a:off x="1290546" y="3039452"/>
            <a:ext cx="987770" cy="461665"/>
          </a:xfrm>
          <a:prstGeom prst="rect">
            <a:avLst/>
          </a:prstGeom>
          <a:noFill/>
          <a:ln>
            <a:noFill/>
          </a:ln>
        </p:spPr>
        <p:txBody>
          <a:bodyPr wrap="non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Loopback1 </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10.1.4.4/32</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 name="文本框 36"/>
          <p:cNvSpPr txBox="1"/>
          <p:nvPr/>
        </p:nvSpPr>
        <p:spPr bwMode="gray">
          <a:xfrm>
            <a:off x="1576705" y="3492845"/>
            <a:ext cx="848309" cy="276999"/>
          </a:xfrm>
          <a:prstGeom prst="rect">
            <a:avLst/>
          </a:prstGeom>
          <a:noFill/>
        </p:spPr>
        <p:txBody>
          <a:bodyPr wrap="none" rtlCol="0">
            <a:spAutoFit/>
          </a:bodyPr>
          <a:lstStyle/>
          <a:p>
            <a:r>
              <a:rPr lang="en-US" altLang="zh-CN" sz="12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AS 65000</a:t>
            </a:r>
            <a:endParaRPr lang="en-US" altLang="zh-CN" sz="12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文本框 37"/>
          <p:cNvSpPr txBox="1"/>
          <p:nvPr/>
        </p:nvSpPr>
        <p:spPr bwMode="gray">
          <a:xfrm>
            <a:off x="4190770" y="3492845"/>
            <a:ext cx="848309" cy="276999"/>
          </a:xfrm>
          <a:prstGeom prst="rect">
            <a:avLst/>
          </a:prstGeom>
          <a:noFill/>
        </p:spPr>
        <p:txBody>
          <a:bodyPr wrap="none" rtlCol="0">
            <a:spAutoFit/>
          </a:bodyPr>
          <a:lstStyle/>
          <a:p>
            <a:r>
              <a:rPr lang="en-US" altLang="zh-CN" sz="12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AS 65001</a:t>
            </a:r>
            <a:endParaRPr lang="en-US" altLang="zh-CN" sz="12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文本框 38"/>
          <p:cNvSpPr txBox="1"/>
          <p:nvPr/>
        </p:nvSpPr>
        <p:spPr bwMode="gray">
          <a:xfrm>
            <a:off x="542427" y="1427904"/>
            <a:ext cx="675185" cy="276999"/>
          </a:xfrm>
          <a:prstGeom prst="rect">
            <a:avLst/>
          </a:prstGeom>
          <a:noFill/>
        </p:spPr>
        <p:txBody>
          <a:bodyPr wrap="none" rtlCol="0">
            <a:spAutoFit/>
          </a:bodyPr>
          <a:lstStyle/>
          <a:p>
            <a:r>
              <a:rPr lang="en-US" altLang="zh-CN" sz="12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AS 100</a:t>
            </a:r>
            <a:endParaRPr lang="en-US" altLang="zh-CN" sz="12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矩形 39"/>
          <p:cNvSpPr/>
          <p:nvPr/>
        </p:nvSpPr>
        <p:spPr bwMode="gray">
          <a:xfrm>
            <a:off x="942842" y="2695509"/>
            <a:ext cx="1186543" cy="307777"/>
          </a:xfrm>
          <a:prstGeom prst="rect">
            <a:avLst/>
          </a:prstGeom>
        </p:spPr>
        <p:txBody>
          <a:bodyPr wrap="none">
            <a:spAutoFit/>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10.0.14.0/24</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矩形 40"/>
          <p:cNvSpPr/>
          <p:nvPr/>
        </p:nvSpPr>
        <p:spPr bwMode="gray">
          <a:xfrm>
            <a:off x="4397520" y="2695509"/>
            <a:ext cx="1186543" cy="307777"/>
          </a:xfrm>
          <a:prstGeom prst="rect">
            <a:avLst/>
          </a:prstGeom>
        </p:spPr>
        <p:txBody>
          <a:bodyPr wrap="none">
            <a:spAutoFit/>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10.0.35.0/24</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矩形 41"/>
          <p:cNvSpPr/>
          <p:nvPr/>
        </p:nvSpPr>
        <p:spPr bwMode="gray">
          <a:xfrm>
            <a:off x="2556409" y="1564429"/>
            <a:ext cx="1455848" cy="461665"/>
          </a:xfrm>
          <a:prstGeom prst="rect">
            <a:avLst/>
          </a:prstGeom>
        </p:spPr>
        <p:txBody>
          <a:bodyPr wrap="none">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Loopback0</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2001:DB8:2::2/128</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矩形 42"/>
          <p:cNvSpPr/>
          <p:nvPr/>
        </p:nvSpPr>
        <p:spPr bwMode="gray">
          <a:xfrm>
            <a:off x="4630687" y="1564429"/>
            <a:ext cx="1455848" cy="461665"/>
          </a:xfrm>
          <a:prstGeom prst="rect">
            <a:avLst/>
          </a:prstGeom>
        </p:spPr>
        <p:txBody>
          <a:bodyPr wrap="none">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Loopback0</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2001:DB8:3::3/128</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矩形 43"/>
          <p:cNvSpPr/>
          <p:nvPr/>
        </p:nvSpPr>
        <p:spPr bwMode="gray">
          <a:xfrm>
            <a:off x="3694397" y="2245468"/>
            <a:ext cx="1455848" cy="276999"/>
          </a:xfrm>
          <a:prstGeom prst="rect">
            <a:avLst/>
          </a:prstGeom>
        </p:spPr>
        <p:txBody>
          <a:bodyPr wrap="none">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2001:DB88:23::/96</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bwMode="gray"/>
        <p:txBody>
          <a:bodyPr>
            <a:noAutofit/>
          </a:bodyPr>
          <a:lstStyle/>
          <a:p>
            <a:r>
              <a:rPr lang="en-US" altLang="zh-CN" dirty="0">
                <a:sym typeface="Huawei Sans" panose="020C0503030203020204" pitchFamily="34" charset="0"/>
              </a:rPr>
              <a:t>L3VPNv4 over SRv6 BE (2)</a:t>
            </a:r>
            <a:br>
              <a:rPr lang="en-US" altLang="zh-CN" dirty="0">
                <a:sym typeface="Huawei Sans" panose="020C0503030203020204" pitchFamily="34" charset="0"/>
              </a:rPr>
            </a:br>
            <a:endParaRPr lang="zh-CN" altLang="en-US" dirty="0">
              <a:sym typeface="Huawei Sans" panose="020C0503030203020204" pitchFamily="34" charset="0"/>
            </a:endParaRPr>
          </a:p>
        </p:txBody>
      </p:sp>
      <p:sp>
        <p:nvSpPr>
          <p:cNvPr id="5" name="矩形 4"/>
          <p:cNvSpPr/>
          <p:nvPr/>
        </p:nvSpPr>
        <p:spPr bwMode="gray">
          <a:xfrm>
            <a:off x="4190770" y="2950258"/>
            <a:ext cx="1826072" cy="780536"/>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矩形 5"/>
          <p:cNvSpPr/>
          <p:nvPr/>
        </p:nvSpPr>
        <p:spPr bwMode="gray">
          <a:xfrm>
            <a:off x="522292" y="2950258"/>
            <a:ext cx="1826072" cy="780536"/>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矩形 6"/>
          <p:cNvSpPr/>
          <p:nvPr/>
        </p:nvSpPr>
        <p:spPr bwMode="gray">
          <a:xfrm>
            <a:off x="522292" y="1487150"/>
            <a:ext cx="5494550" cy="1238390"/>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 name="标题 1"/>
          <p:cNvSpPr txBox="1"/>
          <p:nvPr/>
        </p:nvSpPr>
        <p:spPr bwMode="gray">
          <a:xfrm>
            <a:off x="452438" y="447468"/>
            <a:ext cx="11296649" cy="497095"/>
          </a:xfrm>
          <a:prstGeom prst="rect">
            <a:avLst/>
          </a:prstGeom>
        </p:spPr>
        <p:txBody>
          <a:bodyPr lIns="0" tIns="0" rIns="0" bIns="0" anchor="t">
            <a:normAutofit/>
          </a:bodyPr>
          <a:lstStyle>
            <a:lvl1pPr algn="l" defTabSz="913765" rtl="0" eaLnBrk="1" fontAlgn="base" latinLnBrk="0" hangingPunct="1">
              <a:lnSpc>
                <a:spcPct val="90000"/>
              </a:lnSpc>
              <a:spcBef>
                <a:spcPct val="0"/>
              </a:spcBef>
              <a:buNone/>
              <a:defRPr lang="zh-CN" altLang="en-US" sz="3200" kern="1200" baseline="0" dirty="0">
                <a:solidFill>
                  <a:schemeClr val="tx1"/>
                </a:solidFill>
                <a:latin typeface="Huawei Sans" panose="020C0503030203020204" pitchFamily="34" charset="0"/>
                <a:ea typeface="方正兰亭黑简体" panose="02000000000000000000" pitchFamily="2" charset="-122"/>
                <a:cs typeface="+mn-cs"/>
              </a:defRPr>
            </a:lvl1pPr>
          </a:lstStyle>
          <a:p>
            <a:endParaRPr lang="en-US" dirty="0">
              <a:sym typeface="Huawei Sans" panose="020C0503030203020204" pitchFamily="34" charset="0"/>
            </a:endParaRPr>
          </a:p>
        </p:txBody>
      </p:sp>
      <p:cxnSp>
        <p:nvCxnSpPr>
          <p:cNvPr id="10" name="直接连接符 9"/>
          <p:cNvCxnSpPr>
            <a:stCxn id="12" idx="3"/>
            <a:endCxn id="16" idx="1"/>
          </p:cNvCxnSpPr>
          <p:nvPr/>
        </p:nvCxnSpPr>
        <p:spPr bwMode="gray">
          <a:xfrm>
            <a:off x="1267619" y="2489567"/>
            <a:ext cx="398533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矩形 10"/>
          <p:cNvSpPr/>
          <p:nvPr/>
        </p:nvSpPr>
        <p:spPr bwMode="gray">
          <a:xfrm>
            <a:off x="748992" y="1996788"/>
            <a:ext cx="497252"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PE1</a:t>
            </a:r>
            <a:endParaRPr lang="zh-CN" altLang="en-US" sz="1400" b="1" dirty="0">
              <a:solidFill>
                <a:srgbClr val="FF3300"/>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2" name="图片 11"/>
          <p:cNvPicPr/>
          <p:nvPr/>
        </p:nvPicPr>
        <p:blipFill>
          <a:blip r:embed="rId1" cstate="print">
            <a:extLst>
              <a:ext uri="{28A0092B-C50C-407E-A947-70E740481C1C}">
                <a14:useLocalDpi xmlns:a14="http://schemas.microsoft.com/office/drawing/2010/main" val="0"/>
              </a:ext>
            </a:extLst>
          </a:blip>
          <a:stretch>
            <a:fillRect/>
          </a:stretch>
        </p:blipFill>
        <p:spPr bwMode="gray">
          <a:xfrm>
            <a:off x="727619" y="2268167"/>
            <a:ext cx="540000" cy="442800"/>
          </a:xfrm>
          <a:prstGeom prst="rect">
            <a:avLst/>
          </a:prstGeom>
        </p:spPr>
      </p:pic>
      <p:sp>
        <p:nvSpPr>
          <p:cNvPr id="13" name="矩形 12"/>
          <p:cNvSpPr/>
          <p:nvPr/>
        </p:nvSpPr>
        <p:spPr bwMode="gray">
          <a:xfrm>
            <a:off x="3138299" y="1996788"/>
            <a:ext cx="292068" cy="307777"/>
          </a:xfrm>
          <a:prstGeom prst="rect">
            <a:avLst/>
          </a:prstGeom>
        </p:spPr>
        <p:txBody>
          <a:bodyPr wrap="none">
            <a:spAutoFit/>
          </a:bodyPr>
          <a:lstStyle/>
          <a:p>
            <a:pPr algn="ctr"/>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P</a:t>
            </a:r>
            <a:endParaRPr lang="zh-CN" altLang="en-US" sz="1400" b="1">
              <a:solidFill>
                <a:srgbClr val="FF3300"/>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4" name="图片 13"/>
          <p:cNvPicPr/>
          <p:nvPr/>
        </p:nvPicPr>
        <p:blipFill>
          <a:blip r:embed="rId1" cstate="print">
            <a:extLst>
              <a:ext uri="{28A0092B-C50C-407E-A947-70E740481C1C}">
                <a14:useLocalDpi xmlns:a14="http://schemas.microsoft.com/office/drawing/2010/main" val="0"/>
              </a:ext>
            </a:extLst>
          </a:blip>
          <a:stretch>
            <a:fillRect/>
          </a:stretch>
        </p:blipFill>
        <p:spPr bwMode="gray">
          <a:xfrm>
            <a:off x="2991152" y="2268167"/>
            <a:ext cx="540000" cy="442800"/>
          </a:xfrm>
          <a:prstGeom prst="rect">
            <a:avLst/>
          </a:prstGeom>
        </p:spPr>
      </p:pic>
      <p:sp>
        <p:nvSpPr>
          <p:cNvPr id="15" name="矩形 14"/>
          <p:cNvSpPr/>
          <p:nvPr/>
        </p:nvSpPr>
        <p:spPr bwMode="gray">
          <a:xfrm>
            <a:off x="5283807" y="1996788"/>
            <a:ext cx="497252"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PE2</a:t>
            </a:r>
            <a:endParaRPr lang="zh-CN" altLang="en-US" sz="1400" b="1" dirty="0">
              <a:solidFill>
                <a:srgbClr val="FF3300"/>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6" name="图片 15"/>
          <p:cNvPicPr/>
          <p:nvPr/>
        </p:nvPicPr>
        <p:blipFill>
          <a:blip r:embed="rId1" cstate="print">
            <a:extLst>
              <a:ext uri="{28A0092B-C50C-407E-A947-70E740481C1C}">
                <a14:useLocalDpi xmlns:a14="http://schemas.microsoft.com/office/drawing/2010/main" val="0"/>
              </a:ext>
            </a:extLst>
          </a:blip>
          <a:stretch>
            <a:fillRect/>
          </a:stretch>
        </p:blipFill>
        <p:spPr bwMode="gray">
          <a:xfrm>
            <a:off x="5252957" y="2268167"/>
            <a:ext cx="540000" cy="442800"/>
          </a:xfrm>
          <a:prstGeom prst="rect">
            <a:avLst/>
          </a:prstGeom>
        </p:spPr>
      </p:pic>
      <p:sp>
        <p:nvSpPr>
          <p:cNvPr id="17" name="矩形 16"/>
          <p:cNvSpPr/>
          <p:nvPr/>
        </p:nvSpPr>
        <p:spPr bwMode="gray">
          <a:xfrm>
            <a:off x="1401461" y="2245468"/>
            <a:ext cx="1455848" cy="276999"/>
          </a:xfrm>
          <a:prstGeom prst="rect">
            <a:avLst/>
          </a:prstGeom>
        </p:spPr>
        <p:txBody>
          <a:bodyPr wrap="none">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2001:DB88:12::/96</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 name="矩形 17"/>
          <p:cNvSpPr/>
          <p:nvPr/>
        </p:nvSpPr>
        <p:spPr bwMode="gray">
          <a:xfrm>
            <a:off x="437904" y="1564429"/>
            <a:ext cx="1455848" cy="461665"/>
          </a:xfrm>
          <a:prstGeom prst="rect">
            <a:avLst/>
          </a:prstGeom>
        </p:spPr>
        <p:txBody>
          <a:bodyPr wrap="none">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Loopback0</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2001:DB8:1::1/128</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文本框 22"/>
          <p:cNvSpPr txBox="1"/>
          <p:nvPr/>
        </p:nvSpPr>
        <p:spPr bwMode="gray">
          <a:xfrm>
            <a:off x="4251736" y="3039452"/>
            <a:ext cx="987770" cy="461665"/>
          </a:xfrm>
          <a:prstGeom prst="rect">
            <a:avLst/>
          </a:prstGeom>
          <a:noFill/>
          <a:ln>
            <a:noFill/>
          </a:ln>
        </p:spPr>
        <p:txBody>
          <a:bodyPr wrap="non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Loopback1 </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10.1.5.5/32</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矩形 24"/>
          <p:cNvSpPr/>
          <p:nvPr/>
        </p:nvSpPr>
        <p:spPr bwMode="gray">
          <a:xfrm>
            <a:off x="1199332" y="2266253"/>
            <a:ext cx="306494" cy="276999"/>
          </a:xfrm>
          <a:prstGeom prst="rect">
            <a:avLst/>
          </a:prstGeom>
        </p:spPr>
        <p:txBody>
          <a:bodyPr wrap="none">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:1</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矩形 25"/>
          <p:cNvSpPr/>
          <p:nvPr/>
        </p:nvSpPr>
        <p:spPr bwMode="gray">
          <a:xfrm>
            <a:off x="2764735" y="2266253"/>
            <a:ext cx="306494" cy="276999"/>
          </a:xfrm>
          <a:prstGeom prst="rect">
            <a:avLst/>
          </a:prstGeom>
        </p:spPr>
        <p:txBody>
          <a:bodyPr wrap="none">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 name="矩形 26"/>
          <p:cNvSpPr/>
          <p:nvPr/>
        </p:nvSpPr>
        <p:spPr bwMode="gray">
          <a:xfrm>
            <a:off x="3447434" y="2266253"/>
            <a:ext cx="306494" cy="276999"/>
          </a:xfrm>
          <a:prstGeom prst="rect">
            <a:avLst/>
          </a:prstGeom>
        </p:spPr>
        <p:txBody>
          <a:bodyPr wrap="none">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矩形 27"/>
          <p:cNvSpPr/>
          <p:nvPr/>
        </p:nvSpPr>
        <p:spPr bwMode="gray">
          <a:xfrm>
            <a:off x="5024712" y="2266253"/>
            <a:ext cx="306494" cy="276999"/>
          </a:xfrm>
          <a:prstGeom prst="rect">
            <a:avLst/>
          </a:prstGeom>
        </p:spPr>
        <p:txBody>
          <a:bodyPr wrap="none">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:3</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9" name="图片 28"/>
          <p:cNvPicPr/>
          <p:nvPr/>
        </p:nvPicPr>
        <p:blipFill>
          <a:blip r:embed="rId1" cstate="print">
            <a:extLst>
              <a:ext uri="{28A0092B-C50C-407E-A947-70E740481C1C}">
                <a14:useLocalDpi xmlns:a14="http://schemas.microsoft.com/office/drawing/2010/main" val="0"/>
              </a:ext>
            </a:extLst>
          </a:blip>
          <a:stretch>
            <a:fillRect/>
          </a:stretch>
        </p:blipFill>
        <p:spPr bwMode="gray">
          <a:xfrm>
            <a:off x="727619" y="3010900"/>
            <a:ext cx="540000" cy="442800"/>
          </a:xfrm>
          <a:prstGeom prst="rect">
            <a:avLst/>
          </a:prstGeom>
        </p:spPr>
      </p:pic>
      <p:pic>
        <p:nvPicPr>
          <p:cNvPr id="30" name="图片 29"/>
          <p:cNvPicPr/>
          <p:nvPr/>
        </p:nvPicPr>
        <p:blipFill>
          <a:blip r:embed="rId1" cstate="print">
            <a:extLst>
              <a:ext uri="{28A0092B-C50C-407E-A947-70E740481C1C}">
                <a14:useLocalDpi xmlns:a14="http://schemas.microsoft.com/office/drawing/2010/main" val="0"/>
              </a:ext>
            </a:extLst>
          </a:blip>
          <a:stretch>
            <a:fillRect/>
          </a:stretch>
        </p:blipFill>
        <p:spPr bwMode="gray">
          <a:xfrm>
            <a:off x="5252957" y="3010900"/>
            <a:ext cx="540000" cy="442800"/>
          </a:xfrm>
          <a:prstGeom prst="rect">
            <a:avLst/>
          </a:prstGeom>
        </p:spPr>
      </p:pic>
      <p:cxnSp>
        <p:nvCxnSpPr>
          <p:cNvPr id="31" name="直接连接符 30"/>
          <p:cNvCxnSpPr>
            <a:stCxn id="12" idx="2"/>
            <a:endCxn id="29" idx="0"/>
          </p:cNvCxnSpPr>
          <p:nvPr/>
        </p:nvCxnSpPr>
        <p:spPr bwMode="gray">
          <a:xfrm>
            <a:off x="997619" y="2710967"/>
            <a:ext cx="0" cy="29993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a:stCxn id="16" idx="2"/>
            <a:endCxn id="30" idx="0"/>
          </p:cNvCxnSpPr>
          <p:nvPr/>
        </p:nvCxnSpPr>
        <p:spPr bwMode="gray">
          <a:xfrm>
            <a:off x="5522957" y="2710967"/>
            <a:ext cx="0" cy="29993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3" name="矩形 32"/>
          <p:cNvSpPr/>
          <p:nvPr/>
        </p:nvSpPr>
        <p:spPr bwMode="gray">
          <a:xfrm>
            <a:off x="746588" y="3501117"/>
            <a:ext cx="502061"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CE1</a:t>
            </a:r>
            <a:endParaRPr lang="zh-CN" altLang="en-US" sz="1400" b="1" dirty="0">
              <a:solidFill>
                <a:srgbClr val="FF33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矩形 33"/>
          <p:cNvSpPr/>
          <p:nvPr/>
        </p:nvSpPr>
        <p:spPr bwMode="gray">
          <a:xfrm>
            <a:off x="5281403" y="3501117"/>
            <a:ext cx="502061"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CE2</a:t>
            </a:r>
            <a:endParaRPr lang="zh-CN" altLang="en-US" sz="1400" b="1" dirty="0">
              <a:solidFill>
                <a:srgbClr val="FF33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文本框 34"/>
          <p:cNvSpPr txBox="1"/>
          <p:nvPr/>
        </p:nvSpPr>
        <p:spPr bwMode="gray">
          <a:xfrm>
            <a:off x="1290546" y="3039452"/>
            <a:ext cx="987770" cy="461665"/>
          </a:xfrm>
          <a:prstGeom prst="rect">
            <a:avLst/>
          </a:prstGeom>
          <a:noFill/>
          <a:ln>
            <a:noFill/>
          </a:ln>
        </p:spPr>
        <p:txBody>
          <a:bodyPr wrap="non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Loopback1 </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10.1.4.4/32</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 name="文本框 36"/>
          <p:cNvSpPr txBox="1"/>
          <p:nvPr/>
        </p:nvSpPr>
        <p:spPr bwMode="gray">
          <a:xfrm>
            <a:off x="1576705" y="3492845"/>
            <a:ext cx="848309" cy="276999"/>
          </a:xfrm>
          <a:prstGeom prst="rect">
            <a:avLst/>
          </a:prstGeom>
          <a:noFill/>
        </p:spPr>
        <p:txBody>
          <a:bodyPr wrap="none" rtlCol="0">
            <a:spAutoFit/>
          </a:bodyPr>
          <a:lstStyle/>
          <a:p>
            <a:r>
              <a:rPr lang="en-US" altLang="zh-CN" sz="12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AS 65000</a:t>
            </a:r>
            <a:endParaRPr lang="en-US" altLang="zh-CN" sz="12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文本框 37"/>
          <p:cNvSpPr txBox="1"/>
          <p:nvPr/>
        </p:nvSpPr>
        <p:spPr bwMode="gray">
          <a:xfrm>
            <a:off x="4190770" y="3492845"/>
            <a:ext cx="848309" cy="276999"/>
          </a:xfrm>
          <a:prstGeom prst="rect">
            <a:avLst/>
          </a:prstGeom>
          <a:noFill/>
        </p:spPr>
        <p:txBody>
          <a:bodyPr wrap="none" rtlCol="0">
            <a:spAutoFit/>
          </a:bodyPr>
          <a:lstStyle/>
          <a:p>
            <a:r>
              <a:rPr lang="en-US" altLang="zh-CN" sz="12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AS 65001</a:t>
            </a:r>
            <a:endParaRPr lang="en-US" altLang="zh-CN" sz="12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文本框 38"/>
          <p:cNvSpPr txBox="1"/>
          <p:nvPr/>
        </p:nvSpPr>
        <p:spPr bwMode="gray">
          <a:xfrm>
            <a:off x="542427" y="1427904"/>
            <a:ext cx="675185" cy="276999"/>
          </a:xfrm>
          <a:prstGeom prst="rect">
            <a:avLst/>
          </a:prstGeom>
          <a:noFill/>
        </p:spPr>
        <p:txBody>
          <a:bodyPr wrap="none" rtlCol="0">
            <a:spAutoFit/>
          </a:bodyPr>
          <a:lstStyle/>
          <a:p>
            <a:r>
              <a:rPr lang="en-US" altLang="zh-CN" sz="12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AS 100</a:t>
            </a:r>
            <a:endParaRPr lang="en-US" altLang="zh-CN" sz="12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矩形 39"/>
          <p:cNvSpPr/>
          <p:nvPr/>
        </p:nvSpPr>
        <p:spPr bwMode="gray">
          <a:xfrm>
            <a:off x="942842" y="2695509"/>
            <a:ext cx="1186543" cy="307777"/>
          </a:xfrm>
          <a:prstGeom prst="rect">
            <a:avLst/>
          </a:prstGeom>
        </p:spPr>
        <p:txBody>
          <a:bodyPr wrap="none">
            <a:spAutoFit/>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10.0.14.0/24</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矩形 40"/>
          <p:cNvSpPr/>
          <p:nvPr/>
        </p:nvSpPr>
        <p:spPr bwMode="gray">
          <a:xfrm>
            <a:off x="4397520" y="2695509"/>
            <a:ext cx="1186543" cy="307777"/>
          </a:xfrm>
          <a:prstGeom prst="rect">
            <a:avLst/>
          </a:prstGeom>
        </p:spPr>
        <p:txBody>
          <a:bodyPr wrap="none">
            <a:spAutoFit/>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10.0.35.0/24</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矩形 41"/>
          <p:cNvSpPr/>
          <p:nvPr/>
        </p:nvSpPr>
        <p:spPr bwMode="gray">
          <a:xfrm>
            <a:off x="2556409" y="1564429"/>
            <a:ext cx="1455848" cy="461665"/>
          </a:xfrm>
          <a:prstGeom prst="rect">
            <a:avLst/>
          </a:prstGeom>
        </p:spPr>
        <p:txBody>
          <a:bodyPr wrap="none">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Loopback0</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2001:DB8:2::2/128</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矩形 42"/>
          <p:cNvSpPr/>
          <p:nvPr/>
        </p:nvSpPr>
        <p:spPr bwMode="gray">
          <a:xfrm>
            <a:off x="4630687" y="1564429"/>
            <a:ext cx="1455848" cy="461665"/>
          </a:xfrm>
          <a:prstGeom prst="rect">
            <a:avLst/>
          </a:prstGeom>
        </p:spPr>
        <p:txBody>
          <a:bodyPr wrap="none">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Loopback0</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2001:DB8:3::3/128</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矩形 43"/>
          <p:cNvSpPr/>
          <p:nvPr/>
        </p:nvSpPr>
        <p:spPr bwMode="gray">
          <a:xfrm>
            <a:off x="3694397" y="2245468"/>
            <a:ext cx="1455848" cy="276999"/>
          </a:xfrm>
          <a:prstGeom prst="rect">
            <a:avLst/>
          </a:prstGeom>
        </p:spPr>
        <p:txBody>
          <a:bodyPr wrap="none">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2001:DB88:23::/96</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文本框 44"/>
          <p:cNvSpPr txBox="1"/>
          <p:nvPr/>
        </p:nvSpPr>
        <p:spPr bwMode="gray">
          <a:xfrm>
            <a:off x="6191389" y="1479036"/>
            <a:ext cx="4647426" cy="307777"/>
          </a:xfrm>
          <a:prstGeom prst="rect">
            <a:avLst/>
          </a:prstGeom>
          <a:noFill/>
        </p:spPr>
        <p:txBody>
          <a:bodyPr wrap="none" rtlCol="0">
            <a:spAutoFit/>
          </a:bodyPr>
          <a:lstStyle/>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在</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PE</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之间建立</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MP-IBGP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对等体关系，以</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PE1</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的配置为例。</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文本框 45"/>
          <p:cNvSpPr txBox="1"/>
          <p:nvPr/>
        </p:nvSpPr>
        <p:spPr bwMode="gray">
          <a:xfrm>
            <a:off x="6278213" y="1793013"/>
            <a:ext cx="5195653" cy="1569660"/>
          </a:xfrm>
          <a:prstGeom prst="rect">
            <a:avLst/>
          </a:prstGeom>
          <a:solidFill>
            <a:schemeClr val="bg1">
              <a:lumMod val="85000"/>
            </a:schemeClr>
          </a:solidFill>
          <a:ln>
            <a:noFill/>
          </a:ln>
        </p:spPr>
        <p:txBody>
          <a:bodyPr wrap="squar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[~PE1]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bgp</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100</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[~PE1-bgp] peer 2001:DB8:3::3 as-number 100</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[*PE1-bgp] peer 2001:DB8:3::3 connect-interface loopback 0</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[*PE1-bgp] ipv4-family vpnv4</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[*PE1-bgp-af-vpnv4] peer 2001:DB8:3::3 enable</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[*PE1-bgp-af-vpnv4] commit</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[~PE1-bgp-af-vpnv4] quit</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[~PE1-bgp] quit</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 name="矩形 47"/>
          <p:cNvSpPr/>
          <p:nvPr/>
        </p:nvSpPr>
        <p:spPr bwMode="gray">
          <a:xfrm>
            <a:off x="522292" y="3756914"/>
            <a:ext cx="5136046" cy="2246769"/>
          </a:xfrm>
          <a:prstGeom prst="rect">
            <a:avLst/>
          </a:prstGeom>
          <a:ln>
            <a:noFill/>
          </a:ln>
        </p:spPr>
        <p:txBody>
          <a:bodyPr wrap="square">
            <a:spAutoFit/>
          </a:bodyPr>
          <a:lstStyle/>
          <a:p>
            <a:pPr>
              <a:lnSpc>
                <a:spcPts val="2400"/>
              </a:lnSpc>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配置思路：</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176530" indent="-176530">
              <a:lnSpc>
                <a:spcPts val="2400"/>
              </a:lnSpc>
              <a:buFont typeface="+mj-lt"/>
              <a:buAutoNum type="arabicPeriod"/>
            </a:pPr>
            <a:r>
              <a:rPr lang="zh-CN"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完成设备接口</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IPv6</a:t>
            </a:r>
            <a:r>
              <a:rPr lang="zh-CN"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地址及</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IS-IS</a:t>
            </a:r>
            <a:r>
              <a:rPr lang="zh-CN"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配置</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（略）。</a:t>
            </a:r>
            <a:endParaRPr lang="zh-CN"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marL="176530" indent="-176530">
              <a:lnSpc>
                <a:spcPts val="2400"/>
              </a:lnSpc>
              <a:buFont typeface="+mj-lt"/>
              <a:buAutoNum type="arabicPeriod"/>
            </a:pP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在</a:t>
            </a: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PE1</a:t>
            </a: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与</a:t>
            </a: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PE2</a:t>
            </a: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之间建立</a:t>
            </a: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MP-BGP</a:t>
            </a: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对等体关系。</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a:p>
            <a:pPr marL="176530" indent="-176530">
              <a:lnSpc>
                <a:spcPts val="2400"/>
              </a:lnSpc>
              <a:buFont typeface="+mj-lt"/>
              <a:buAutoNum type="arabicPeriod"/>
            </a:pP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骨干网上使能</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Segment Routing</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，建立</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SRv6 BE</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路径。</a:t>
            </a:r>
            <a:endPar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marL="176530" indent="-176530">
              <a:lnSpc>
                <a:spcPts val="2400"/>
              </a:lnSpc>
              <a:buFont typeface="+mj-lt"/>
              <a:buAutoNum type="arabicPeriod"/>
            </a:pP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PE</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上配置使能</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IPv4</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地址族</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VPN</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实例。</a:t>
            </a:r>
            <a:endPar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marL="176530" indent="-176530">
              <a:lnSpc>
                <a:spcPts val="2400"/>
              </a:lnSpc>
              <a:buFont typeface="+mj-lt"/>
              <a:buAutoNum type="arabicPeriod"/>
            </a:pP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PE</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之间配置</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MP-IBGP</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交换路由信息。</a:t>
            </a:r>
            <a:endPar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marL="176530" indent="-176530">
              <a:lnSpc>
                <a:spcPts val="2400"/>
              </a:lnSpc>
              <a:buFont typeface="+mj-lt"/>
              <a:buAutoNum type="arabicPeriod"/>
            </a:pP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结果验证。</a:t>
            </a:r>
            <a:endParaRPr lang="zh-CN"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文本框 48"/>
          <p:cNvSpPr txBox="1"/>
          <p:nvPr/>
        </p:nvSpPr>
        <p:spPr bwMode="gray">
          <a:xfrm>
            <a:off x="6191389" y="3477455"/>
            <a:ext cx="2465740" cy="307777"/>
          </a:xfrm>
          <a:prstGeom prst="rect">
            <a:avLst/>
          </a:prstGeom>
          <a:noFill/>
        </p:spPr>
        <p:txBody>
          <a:bodyPr wrap="none" rtlCol="0">
            <a:spAutoFit/>
          </a:bodyPr>
          <a:lstStyle/>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在</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PE1</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查看</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VPNv4</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邻居关系。</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0" name="文本框 49"/>
          <p:cNvSpPr txBox="1"/>
          <p:nvPr/>
        </p:nvSpPr>
        <p:spPr bwMode="gray">
          <a:xfrm>
            <a:off x="6278213" y="3769844"/>
            <a:ext cx="5195653" cy="1569660"/>
          </a:xfrm>
          <a:prstGeom prst="rect">
            <a:avLst/>
          </a:prstGeom>
          <a:solidFill>
            <a:schemeClr val="bg1">
              <a:lumMod val="85000"/>
            </a:schemeClr>
          </a:solidFill>
          <a:ln>
            <a:noFill/>
          </a:ln>
        </p:spPr>
        <p:txBody>
          <a:bodyPr wrap="squar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&lt;PE1&gt;display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bgp</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vpnv4 all peer</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BGP local router ID : 10.0.1.1</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Local AS number : 100</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Total number of peers : 1                 Peers in established state : 1</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Peer                V       AS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MsgRcvd</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MsgSent</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Up/Down       State  </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2001:DB8:3::3   4       100        3        4              00:00:04  Established        </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bwMode="gray"/>
        <p:txBody>
          <a:bodyPr>
            <a:noAutofit/>
          </a:bodyPr>
          <a:lstStyle/>
          <a:p>
            <a:r>
              <a:rPr lang="en-US" altLang="zh-CN" dirty="0">
                <a:sym typeface="Huawei Sans" panose="020C0503030203020204" pitchFamily="34" charset="0"/>
              </a:rPr>
              <a:t>L3VPNv4 over SRv6 BE (3)</a:t>
            </a:r>
            <a:br>
              <a:rPr lang="en-US" altLang="zh-CN" dirty="0">
                <a:sym typeface="Huawei Sans" panose="020C0503030203020204" pitchFamily="34" charset="0"/>
              </a:rPr>
            </a:br>
            <a:endParaRPr lang="zh-CN" altLang="en-US" dirty="0">
              <a:sym typeface="Huawei Sans" panose="020C0503030203020204" pitchFamily="34" charset="0"/>
            </a:endParaRPr>
          </a:p>
        </p:txBody>
      </p:sp>
      <p:sp>
        <p:nvSpPr>
          <p:cNvPr id="5" name="矩形 4"/>
          <p:cNvSpPr/>
          <p:nvPr/>
        </p:nvSpPr>
        <p:spPr bwMode="gray">
          <a:xfrm>
            <a:off x="4190770" y="2950258"/>
            <a:ext cx="1826072" cy="780536"/>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矩形 5"/>
          <p:cNvSpPr/>
          <p:nvPr/>
        </p:nvSpPr>
        <p:spPr bwMode="gray">
          <a:xfrm>
            <a:off x="522292" y="2950258"/>
            <a:ext cx="1826072" cy="780536"/>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矩形 6"/>
          <p:cNvSpPr/>
          <p:nvPr/>
        </p:nvSpPr>
        <p:spPr bwMode="gray">
          <a:xfrm>
            <a:off x="522292" y="1487150"/>
            <a:ext cx="5494550" cy="1238390"/>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 name="标题 1"/>
          <p:cNvSpPr txBox="1"/>
          <p:nvPr/>
        </p:nvSpPr>
        <p:spPr bwMode="gray">
          <a:xfrm>
            <a:off x="452438" y="447468"/>
            <a:ext cx="11296649" cy="497095"/>
          </a:xfrm>
          <a:prstGeom prst="rect">
            <a:avLst/>
          </a:prstGeom>
        </p:spPr>
        <p:txBody>
          <a:bodyPr lIns="0" tIns="0" rIns="0" bIns="0" anchor="t">
            <a:normAutofit/>
          </a:bodyPr>
          <a:lstStyle>
            <a:lvl1pPr algn="l" defTabSz="913765" rtl="0" eaLnBrk="1" fontAlgn="base" latinLnBrk="0" hangingPunct="1">
              <a:lnSpc>
                <a:spcPct val="90000"/>
              </a:lnSpc>
              <a:spcBef>
                <a:spcPct val="0"/>
              </a:spcBef>
              <a:buNone/>
              <a:defRPr lang="zh-CN" altLang="en-US" sz="3200" kern="1200" baseline="0" dirty="0">
                <a:solidFill>
                  <a:schemeClr val="tx1"/>
                </a:solidFill>
                <a:latin typeface="Huawei Sans" panose="020C0503030203020204" pitchFamily="34" charset="0"/>
                <a:ea typeface="方正兰亭黑简体" panose="02000000000000000000" pitchFamily="2" charset="-122"/>
                <a:cs typeface="+mn-cs"/>
              </a:defRPr>
            </a:lvl1pPr>
          </a:lstStyle>
          <a:p>
            <a:endParaRPr lang="en-US" dirty="0">
              <a:sym typeface="Huawei Sans" panose="020C0503030203020204" pitchFamily="34" charset="0"/>
            </a:endParaRPr>
          </a:p>
        </p:txBody>
      </p:sp>
      <p:cxnSp>
        <p:nvCxnSpPr>
          <p:cNvPr id="10" name="直接连接符 9"/>
          <p:cNvCxnSpPr>
            <a:stCxn id="12" idx="3"/>
            <a:endCxn id="16" idx="1"/>
          </p:cNvCxnSpPr>
          <p:nvPr/>
        </p:nvCxnSpPr>
        <p:spPr bwMode="gray">
          <a:xfrm>
            <a:off x="1267619" y="2489567"/>
            <a:ext cx="398533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矩形 10"/>
          <p:cNvSpPr/>
          <p:nvPr/>
        </p:nvSpPr>
        <p:spPr bwMode="gray">
          <a:xfrm>
            <a:off x="748992" y="1996788"/>
            <a:ext cx="497252"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PE1</a:t>
            </a:r>
            <a:endParaRPr lang="zh-CN" altLang="en-US" sz="1400" b="1" dirty="0">
              <a:solidFill>
                <a:srgbClr val="FF3300"/>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2" name="图片 11"/>
          <p:cNvPicPr/>
          <p:nvPr/>
        </p:nvPicPr>
        <p:blipFill>
          <a:blip r:embed="rId1" cstate="print">
            <a:extLst>
              <a:ext uri="{28A0092B-C50C-407E-A947-70E740481C1C}">
                <a14:useLocalDpi xmlns:a14="http://schemas.microsoft.com/office/drawing/2010/main" val="0"/>
              </a:ext>
            </a:extLst>
          </a:blip>
          <a:stretch>
            <a:fillRect/>
          </a:stretch>
        </p:blipFill>
        <p:spPr bwMode="gray">
          <a:xfrm>
            <a:off x="727619" y="2268167"/>
            <a:ext cx="540000" cy="442800"/>
          </a:xfrm>
          <a:prstGeom prst="rect">
            <a:avLst/>
          </a:prstGeom>
        </p:spPr>
      </p:pic>
      <p:sp>
        <p:nvSpPr>
          <p:cNvPr id="13" name="矩形 12"/>
          <p:cNvSpPr/>
          <p:nvPr/>
        </p:nvSpPr>
        <p:spPr bwMode="gray">
          <a:xfrm>
            <a:off x="3138299" y="1996788"/>
            <a:ext cx="292068" cy="307777"/>
          </a:xfrm>
          <a:prstGeom prst="rect">
            <a:avLst/>
          </a:prstGeom>
        </p:spPr>
        <p:txBody>
          <a:bodyPr wrap="none">
            <a:spAutoFit/>
          </a:bodyPr>
          <a:lstStyle/>
          <a:p>
            <a:pPr algn="ctr"/>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P</a:t>
            </a:r>
            <a:endParaRPr lang="zh-CN" altLang="en-US" sz="1400" b="1">
              <a:solidFill>
                <a:srgbClr val="FF3300"/>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4" name="图片 13"/>
          <p:cNvPicPr/>
          <p:nvPr/>
        </p:nvPicPr>
        <p:blipFill>
          <a:blip r:embed="rId1" cstate="print">
            <a:extLst>
              <a:ext uri="{28A0092B-C50C-407E-A947-70E740481C1C}">
                <a14:useLocalDpi xmlns:a14="http://schemas.microsoft.com/office/drawing/2010/main" val="0"/>
              </a:ext>
            </a:extLst>
          </a:blip>
          <a:stretch>
            <a:fillRect/>
          </a:stretch>
        </p:blipFill>
        <p:spPr bwMode="gray">
          <a:xfrm>
            <a:off x="2991152" y="2268167"/>
            <a:ext cx="540000" cy="442800"/>
          </a:xfrm>
          <a:prstGeom prst="rect">
            <a:avLst/>
          </a:prstGeom>
        </p:spPr>
      </p:pic>
      <p:sp>
        <p:nvSpPr>
          <p:cNvPr id="15" name="矩形 14"/>
          <p:cNvSpPr/>
          <p:nvPr/>
        </p:nvSpPr>
        <p:spPr bwMode="gray">
          <a:xfrm>
            <a:off x="5283807" y="1996788"/>
            <a:ext cx="497252"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PE2</a:t>
            </a:r>
            <a:endParaRPr lang="zh-CN" altLang="en-US" sz="1400" b="1" dirty="0">
              <a:solidFill>
                <a:srgbClr val="FF3300"/>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6" name="图片 15"/>
          <p:cNvPicPr/>
          <p:nvPr/>
        </p:nvPicPr>
        <p:blipFill>
          <a:blip r:embed="rId1" cstate="print">
            <a:extLst>
              <a:ext uri="{28A0092B-C50C-407E-A947-70E740481C1C}">
                <a14:useLocalDpi xmlns:a14="http://schemas.microsoft.com/office/drawing/2010/main" val="0"/>
              </a:ext>
            </a:extLst>
          </a:blip>
          <a:stretch>
            <a:fillRect/>
          </a:stretch>
        </p:blipFill>
        <p:spPr bwMode="gray">
          <a:xfrm>
            <a:off x="5252957" y="2268167"/>
            <a:ext cx="540000" cy="442800"/>
          </a:xfrm>
          <a:prstGeom prst="rect">
            <a:avLst/>
          </a:prstGeom>
        </p:spPr>
      </p:pic>
      <p:sp>
        <p:nvSpPr>
          <p:cNvPr id="17" name="矩形 16"/>
          <p:cNvSpPr/>
          <p:nvPr/>
        </p:nvSpPr>
        <p:spPr bwMode="gray">
          <a:xfrm>
            <a:off x="1401461" y="2245468"/>
            <a:ext cx="1455848" cy="276999"/>
          </a:xfrm>
          <a:prstGeom prst="rect">
            <a:avLst/>
          </a:prstGeom>
        </p:spPr>
        <p:txBody>
          <a:bodyPr wrap="none">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2001:DB88:12::/96</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 name="矩形 17"/>
          <p:cNvSpPr/>
          <p:nvPr/>
        </p:nvSpPr>
        <p:spPr bwMode="gray">
          <a:xfrm>
            <a:off x="437904" y="1564429"/>
            <a:ext cx="1455848" cy="461665"/>
          </a:xfrm>
          <a:prstGeom prst="rect">
            <a:avLst/>
          </a:prstGeom>
        </p:spPr>
        <p:txBody>
          <a:bodyPr wrap="none">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Loopback0</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2001:DB8:1::1/128</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文本框 22"/>
          <p:cNvSpPr txBox="1"/>
          <p:nvPr/>
        </p:nvSpPr>
        <p:spPr bwMode="gray">
          <a:xfrm>
            <a:off x="4251736" y="3039452"/>
            <a:ext cx="987770" cy="461665"/>
          </a:xfrm>
          <a:prstGeom prst="rect">
            <a:avLst/>
          </a:prstGeom>
          <a:noFill/>
          <a:ln>
            <a:noFill/>
          </a:ln>
        </p:spPr>
        <p:txBody>
          <a:bodyPr wrap="non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Loopback1 </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10.1.5.5/32</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矩形 24"/>
          <p:cNvSpPr/>
          <p:nvPr/>
        </p:nvSpPr>
        <p:spPr bwMode="gray">
          <a:xfrm>
            <a:off x="1199332" y="2266253"/>
            <a:ext cx="306494" cy="276999"/>
          </a:xfrm>
          <a:prstGeom prst="rect">
            <a:avLst/>
          </a:prstGeom>
        </p:spPr>
        <p:txBody>
          <a:bodyPr wrap="none">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:1</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矩形 25"/>
          <p:cNvSpPr/>
          <p:nvPr/>
        </p:nvSpPr>
        <p:spPr bwMode="gray">
          <a:xfrm>
            <a:off x="2764735" y="2266253"/>
            <a:ext cx="306494" cy="276999"/>
          </a:xfrm>
          <a:prstGeom prst="rect">
            <a:avLst/>
          </a:prstGeom>
        </p:spPr>
        <p:txBody>
          <a:bodyPr wrap="none">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 name="矩形 26"/>
          <p:cNvSpPr/>
          <p:nvPr/>
        </p:nvSpPr>
        <p:spPr bwMode="gray">
          <a:xfrm>
            <a:off x="3447434" y="2266253"/>
            <a:ext cx="306494" cy="276999"/>
          </a:xfrm>
          <a:prstGeom prst="rect">
            <a:avLst/>
          </a:prstGeom>
        </p:spPr>
        <p:txBody>
          <a:bodyPr wrap="none">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矩形 27"/>
          <p:cNvSpPr/>
          <p:nvPr/>
        </p:nvSpPr>
        <p:spPr bwMode="gray">
          <a:xfrm>
            <a:off x="5024712" y="2266253"/>
            <a:ext cx="306494" cy="276999"/>
          </a:xfrm>
          <a:prstGeom prst="rect">
            <a:avLst/>
          </a:prstGeom>
        </p:spPr>
        <p:txBody>
          <a:bodyPr wrap="none">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:3</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9" name="图片 28"/>
          <p:cNvPicPr/>
          <p:nvPr/>
        </p:nvPicPr>
        <p:blipFill>
          <a:blip r:embed="rId1" cstate="print">
            <a:extLst>
              <a:ext uri="{28A0092B-C50C-407E-A947-70E740481C1C}">
                <a14:useLocalDpi xmlns:a14="http://schemas.microsoft.com/office/drawing/2010/main" val="0"/>
              </a:ext>
            </a:extLst>
          </a:blip>
          <a:stretch>
            <a:fillRect/>
          </a:stretch>
        </p:blipFill>
        <p:spPr bwMode="gray">
          <a:xfrm>
            <a:off x="727619" y="3010900"/>
            <a:ext cx="540000" cy="442800"/>
          </a:xfrm>
          <a:prstGeom prst="rect">
            <a:avLst/>
          </a:prstGeom>
        </p:spPr>
      </p:pic>
      <p:pic>
        <p:nvPicPr>
          <p:cNvPr id="30" name="图片 29"/>
          <p:cNvPicPr/>
          <p:nvPr/>
        </p:nvPicPr>
        <p:blipFill>
          <a:blip r:embed="rId1" cstate="print">
            <a:extLst>
              <a:ext uri="{28A0092B-C50C-407E-A947-70E740481C1C}">
                <a14:useLocalDpi xmlns:a14="http://schemas.microsoft.com/office/drawing/2010/main" val="0"/>
              </a:ext>
            </a:extLst>
          </a:blip>
          <a:stretch>
            <a:fillRect/>
          </a:stretch>
        </p:blipFill>
        <p:spPr bwMode="gray">
          <a:xfrm>
            <a:off x="5252957" y="3010900"/>
            <a:ext cx="540000" cy="442800"/>
          </a:xfrm>
          <a:prstGeom prst="rect">
            <a:avLst/>
          </a:prstGeom>
        </p:spPr>
      </p:pic>
      <p:cxnSp>
        <p:nvCxnSpPr>
          <p:cNvPr id="31" name="直接连接符 30"/>
          <p:cNvCxnSpPr>
            <a:stCxn id="12" idx="2"/>
            <a:endCxn id="29" idx="0"/>
          </p:cNvCxnSpPr>
          <p:nvPr/>
        </p:nvCxnSpPr>
        <p:spPr bwMode="gray">
          <a:xfrm>
            <a:off x="997619" y="2710967"/>
            <a:ext cx="0" cy="29993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a:stCxn id="16" idx="2"/>
            <a:endCxn id="30" idx="0"/>
          </p:cNvCxnSpPr>
          <p:nvPr/>
        </p:nvCxnSpPr>
        <p:spPr bwMode="gray">
          <a:xfrm>
            <a:off x="5522957" y="2710967"/>
            <a:ext cx="0" cy="29993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3" name="矩形 32"/>
          <p:cNvSpPr/>
          <p:nvPr/>
        </p:nvSpPr>
        <p:spPr bwMode="gray">
          <a:xfrm>
            <a:off x="746588" y="3501117"/>
            <a:ext cx="502061"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CE1</a:t>
            </a:r>
            <a:endParaRPr lang="zh-CN" altLang="en-US" sz="1400" b="1" dirty="0">
              <a:solidFill>
                <a:srgbClr val="FF33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矩形 33"/>
          <p:cNvSpPr/>
          <p:nvPr/>
        </p:nvSpPr>
        <p:spPr bwMode="gray">
          <a:xfrm>
            <a:off x="5281403" y="3501117"/>
            <a:ext cx="502061"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CE2</a:t>
            </a:r>
            <a:endParaRPr lang="zh-CN" altLang="en-US" sz="1400" b="1" dirty="0">
              <a:solidFill>
                <a:srgbClr val="FF33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文本框 34"/>
          <p:cNvSpPr txBox="1"/>
          <p:nvPr/>
        </p:nvSpPr>
        <p:spPr bwMode="gray">
          <a:xfrm>
            <a:off x="1290546" y="3039452"/>
            <a:ext cx="987770" cy="461665"/>
          </a:xfrm>
          <a:prstGeom prst="rect">
            <a:avLst/>
          </a:prstGeom>
          <a:noFill/>
          <a:ln>
            <a:noFill/>
          </a:ln>
        </p:spPr>
        <p:txBody>
          <a:bodyPr wrap="non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Loopback1 </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10.1.4.4/32</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 name="文本框 36"/>
          <p:cNvSpPr txBox="1"/>
          <p:nvPr/>
        </p:nvSpPr>
        <p:spPr bwMode="gray">
          <a:xfrm>
            <a:off x="1576705" y="3492845"/>
            <a:ext cx="848309" cy="276999"/>
          </a:xfrm>
          <a:prstGeom prst="rect">
            <a:avLst/>
          </a:prstGeom>
          <a:noFill/>
        </p:spPr>
        <p:txBody>
          <a:bodyPr wrap="none" rtlCol="0">
            <a:spAutoFit/>
          </a:bodyPr>
          <a:lstStyle/>
          <a:p>
            <a:r>
              <a:rPr lang="en-US" altLang="zh-CN" sz="12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AS 65000</a:t>
            </a:r>
            <a:endParaRPr lang="en-US" altLang="zh-CN" sz="12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文本框 37"/>
          <p:cNvSpPr txBox="1"/>
          <p:nvPr/>
        </p:nvSpPr>
        <p:spPr bwMode="gray">
          <a:xfrm>
            <a:off x="4190770" y="3492845"/>
            <a:ext cx="848309" cy="276999"/>
          </a:xfrm>
          <a:prstGeom prst="rect">
            <a:avLst/>
          </a:prstGeom>
          <a:noFill/>
        </p:spPr>
        <p:txBody>
          <a:bodyPr wrap="none" rtlCol="0">
            <a:spAutoFit/>
          </a:bodyPr>
          <a:lstStyle/>
          <a:p>
            <a:r>
              <a:rPr lang="en-US" altLang="zh-CN" sz="12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AS 65001</a:t>
            </a:r>
            <a:endParaRPr lang="en-US" altLang="zh-CN" sz="12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文本框 38"/>
          <p:cNvSpPr txBox="1"/>
          <p:nvPr/>
        </p:nvSpPr>
        <p:spPr bwMode="gray">
          <a:xfrm>
            <a:off x="542427" y="1427904"/>
            <a:ext cx="675185" cy="276999"/>
          </a:xfrm>
          <a:prstGeom prst="rect">
            <a:avLst/>
          </a:prstGeom>
          <a:noFill/>
        </p:spPr>
        <p:txBody>
          <a:bodyPr wrap="none" rtlCol="0">
            <a:spAutoFit/>
          </a:bodyPr>
          <a:lstStyle/>
          <a:p>
            <a:r>
              <a:rPr lang="en-US" altLang="zh-CN" sz="12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AS 100</a:t>
            </a:r>
            <a:endParaRPr lang="en-US" altLang="zh-CN" sz="12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矩形 39"/>
          <p:cNvSpPr/>
          <p:nvPr/>
        </p:nvSpPr>
        <p:spPr bwMode="gray">
          <a:xfrm>
            <a:off x="942842" y="2695509"/>
            <a:ext cx="1186543" cy="307777"/>
          </a:xfrm>
          <a:prstGeom prst="rect">
            <a:avLst/>
          </a:prstGeom>
        </p:spPr>
        <p:txBody>
          <a:bodyPr wrap="none">
            <a:spAutoFit/>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10.0.14.0/24</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矩形 40"/>
          <p:cNvSpPr/>
          <p:nvPr/>
        </p:nvSpPr>
        <p:spPr bwMode="gray">
          <a:xfrm>
            <a:off x="4397520" y="2695509"/>
            <a:ext cx="1186543" cy="307777"/>
          </a:xfrm>
          <a:prstGeom prst="rect">
            <a:avLst/>
          </a:prstGeom>
        </p:spPr>
        <p:txBody>
          <a:bodyPr wrap="none">
            <a:spAutoFit/>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10.0.35.0/24</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矩形 41"/>
          <p:cNvSpPr/>
          <p:nvPr/>
        </p:nvSpPr>
        <p:spPr bwMode="gray">
          <a:xfrm>
            <a:off x="2556409" y="1564429"/>
            <a:ext cx="1455848" cy="461665"/>
          </a:xfrm>
          <a:prstGeom prst="rect">
            <a:avLst/>
          </a:prstGeom>
        </p:spPr>
        <p:txBody>
          <a:bodyPr wrap="none">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Loopback0</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2001:DB8:2::2/128</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矩形 42"/>
          <p:cNvSpPr/>
          <p:nvPr/>
        </p:nvSpPr>
        <p:spPr bwMode="gray">
          <a:xfrm>
            <a:off x="4630687" y="1564429"/>
            <a:ext cx="1455848" cy="461665"/>
          </a:xfrm>
          <a:prstGeom prst="rect">
            <a:avLst/>
          </a:prstGeom>
        </p:spPr>
        <p:txBody>
          <a:bodyPr wrap="none">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Loopback0</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2001:DB8:3::3/128</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矩形 43"/>
          <p:cNvSpPr/>
          <p:nvPr/>
        </p:nvSpPr>
        <p:spPr bwMode="gray">
          <a:xfrm>
            <a:off x="3694397" y="2245468"/>
            <a:ext cx="1455848" cy="276999"/>
          </a:xfrm>
          <a:prstGeom prst="rect">
            <a:avLst/>
          </a:prstGeom>
        </p:spPr>
        <p:txBody>
          <a:bodyPr wrap="none">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2001:DB88:23::/96</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矩形 44"/>
          <p:cNvSpPr/>
          <p:nvPr/>
        </p:nvSpPr>
        <p:spPr bwMode="gray">
          <a:xfrm>
            <a:off x="522292" y="3756914"/>
            <a:ext cx="5136046" cy="2246769"/>
          </a:xfrm>
          <a:prstGeom prst="rect">
            <a:avLst/>
          </a:prstGeom>
          <a:ln>
            <a:noFill/>
          </a:ln>
        </p:spPr>
        <p:txBody>
          <a:bodyPr wrap="square">
            <a:spAutoFit/>
          </a:bodyPr>
          <a:lstStyle/>
          <a:p>
            <a:pPr>
              <a:lnSpc>
                <a:spcPts val="2400"/>
              </a:lnSpc>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配置思路：</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176530" indent="-176530">
              <a:lnSpc>
                <a:spcPts val="2400"/>
              </a:lnSpc>
              <a:buFont typeface="+mj-lt"/>
              <a:buAutoNum type="arabicPeriod"/>
            </a:pPr>
            <a:r>
              <a:rPr lang="zh-CN"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完成设备接口</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IPv6</a:t>
            </a:r>
            <a:r>
              <a:rPr lang="zh-CN"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地址及</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IS-IS</a:t>
            </a:r>
            <a:r>
              <a:rPr lang="zh-CN"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配置</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（略）。</a:t>
            </a:r>
            <a:endParaRPr lang="zh-CN"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marL="176530" indent="-176530">
              <a:lnSpc>
                <a:spcPts val="2400"/>
              </a:lnSpc>
              <a:buFont typeface="+mj-lt"/>
              <a:buAutoNum type="arabicPeriod"/>
            </a:pP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在</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PE1</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与</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PE2</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之间建立</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MP-BGP</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对等体关系。</a:t>
            </a:r>
            <a:endPar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marL="176530" indent="-176530">
              <a:lnSpc>
                <a:spcPts val="2400"/>
              </a:lnSpc>
              <a:buFont typeface="+mj-lt"/>
              <a:buAutoNum type="arabicPeriod"/>
            </a:pP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骨干网上使能</a:t>
            </a: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Segment Routing</a:t>
            </a: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，建立</a:t>
            </a: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SRv6 BE</a:t>
            </a: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路径。</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a:p>
            <a:pPr marL="176530" indent="-176530">
              <a:lnSpc>
                <a:spcPts val="2400"/>
              </a:lnSpc>
              <a:buFont typeface="+mj-lt"/>
              <a:buAutoNum type="arabicPeriod"/>
            </a:pP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PE</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上配置使能</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IPv4</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地址族</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VPN</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实例。</a:t>
            </a:r>
            <a:endPar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marL="176530" indent="-176530">
              <a:lnSpc>
                <a:spcPts val="2400"/>
              </a:lnSpc>
              <a:buFont typeface="+mj-lt"/>
              <a:buAutoNum type="arabicPeriod"/>
            </a:pP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PE</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之间配置</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MP-IBGP</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交换路由信息。</a:t>
            </a:r>
            <a:endPar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marL="176530" indent="-176530">
              <a:lnSpc>
                <a:spcPts val="2400"/>
              </a:lnSpc>
              <a:buFont typeface="+mj-lt"/>
              <a:buAutoNum type="arabicPeriod"/>
            </a:pP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结果验证。</a:t>
            </a:r>
            <a:endParaRPr lang="zh-CN"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文本框 45"/>
          <p:cNvSpPr txBox="1"/>
          <p:nvPr/>
        </p:nvSpPr>
        <p:spPr bwMode="gray">
          <a:xfrm>
            <a:off x="6191389" y="1479036"/>
            <a:ext cx="5336717" cy="307777"/>
          </a:xfrm>
          <a:prstGeom prst="rect">
            <a:avLst/>
          </a:prstGeom>
          <a:noFill/>
        </p:spPr>
        <p:txBody>
          <a:bodyPr wrap="none" rtlCol="0">
            <a:spAutoFit/>
          </a:bodyPr>
          <a:lstStyle/>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在</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PE</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之间建立</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SRv6 BE</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路径，</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PE1</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配置如下（</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PE2</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略，</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不需要）。</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文本框 46"/>
          <p:cNvSpPr txBox="1"/>
          <p:nvPr/>
        </p:nvSpPr>
        <p:spPr bwMode="gray">
          <a:xfrm>
            <a:off x="6278213" y="1793013"/>
            <a:ext cx="5195653" cy="3046988"/>
          </a:xfrm>
          <a:prstGeom prst="rect">
            <a:avLst/>
          </a:prstGeom>
          <a:solidFill>
            <a:schemeClr val="bg1">
              <a:lumMod val="85000"/>
            </a:schemeClr>
          </a:solidFill>
          <a:ln>
            <a:noFill/>
          </a:ln>
        </p:spPr>
        <p:txBody>
          <a:bodyPr wrap="squar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[~PE1] segment-routing ipv6</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[*PE1-segment-routing-ipv6] encapsulation source-address 2001:DB8:1::1</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[*PE1-segment-routing-ipv6] locator as100 ipv6-prefix 2001:DB8:100:: 64 static 32</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[*PE1-segment-routing-ipv6-locator] quit</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[*PE1-segment-routing-ipv6] quit</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[*PE1]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bgp</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100</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[*PE1-bgp] ipv4-family vpnv4</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[*PE1-bgp-af-vpnv4] peer 2001:DB8:3::3 prefix-</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sid</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[*PE1-bgp-af-vpnv4] quit</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[~PE1-bgp] quit</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[~PE1]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isis</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1</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[~PE1-isis-1] segment-routing ipv6 locator as100</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[*PE1-isis-1] commit</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[~PE1-isis-1] quit</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Tree>
  </p:cSld>
  <p:clrMapOvr>
    <a:masterClrMapping/>
  </p:clrMapOvr>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bwMode="gray"/>
        <p:txBody>
          <a:bodyPr>
            <a:noAutofit/>
          </a:bodyPr>
          <a:lstStyle/>
          <a:p>
            <a:r>
              <a:rPr lang="en-US" altLang="zh-CN" dirty="0">
                <a:sym typeface="Huawei Sans" panose="020C0503030203020204" pitchFamily="34" charset="0"/>
              </a:rPr>
              <a:t>L3VPNv4 over SRv6 BE (4)</a:t>
            </a:r>
            <a:br>
              <a:rPr lang="en-US" altLang="zh-CN" dirty="0">
                <a:sym typeface="Huawei Sans" panose="020C0503030203020204" pitchFamily="34" charset="0"/>
              </a:rPr>
            </a:br>
            <a:endParaRPr lang="zh-CN" altLang="en-US" dirty="0">
              <a:sym typeface="Huawei Sans" panose="020C0503030203020204" pitchFamily="34" charset="0"/>
            </a:endParaRPr>
          </a:p>
        </p:txBody>
      </p:sp>
      <p:sp>
        <p:nvSpPr>
          <p:cNvPr id="5" name="矩形 4"/>
          <p:cNvSpPr/>
          <p:nvPr/>
        </p:nvSpPr>
        <p:spPr bwMode="gray">
          <a:xfrm>
            <a:off x="4190770" y="2950258"/>
            <a:ext cx="1826072" cy="780536"/>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矩形 5"/>
          <p:cNvSpPr/>
          <p:nvPr/>
        </p:nvSpPr>
        <p:spPr bwMode="gray">
          <a:xfrm>
            <a:off x="522292" y="2950258"/>
            <a:ext cx="1826072" cy="780536"/>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矩形 6"/>
          <p:cNvSpPr/>
          <p:nvPr/>
        </p:nvSpPr>
        <p:spPr bwMode="gray">
          <a:xfrm>
            <a:off x="522292" y="1487150"/>
            <a:ext cx="5494550" cy="1238390"/>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 name="标题 1"/>
          <p:cNvSpPr txBox="1"/>
          <p:nvPr/>
        </p:nvSpPr>
        <p:spPr bwMode="gray">
          <a:xfrm>
            <a:off x="452438" y="447468"/>
            <a:ext cx="11296649" cy="497095"/>
          </a:xfrm>
          <a:prstGeom prst="rect">
            <a:avLst/>
          </a:prstGeom>
        </p:spPr>
        <p:txBody>
          <a:bodyPr lIns="0" tIns="0" rIns="0" bIns="0" anchor="t">
            <a:normAutofit/>
          </a:bodyPr>
          <a:lstStyle>
            <a:lvl1pPr algn="l" defTabSz="913765" rtl="0" eaLnBrk="1" fontAlgn="base" latinLnBrk="0" hangingPunct="1">
              <a:lnSpc>
                <a:spcPct val="90000"/>
              </a:lnSpc>
              <a:spcBef>
                <a:spcPct val="0"/>
              </a:spcBef>
              <a:buNone/>
              <a:defRPr lang="zh-CN" altLang="en-US" sz="3200" kern="1200" baseline="0" dirty="0">
                <a:solidFill>
                  <a:schemeClr val="tx1"/>
                </a:solidFill>
                <a:latin typeface="Huawei Sans" panose="020C0503030203020204" pitchFamily="34" charset="0"/>
                <a:ea typeface="方正兰亭黑简体" panose="02000000000000000000" pitchFamily="2" charset="-122"/>
                <a:cs typeface="+mn-cs"/>
              </a:defRPr>
            </a:lvl1pPr>
          </a:lstStyle>
          <a:p>
            <a:endParaRPr lang="en-US" dirty="0">
              <a:sym typeface="Huawei Sans" panose="020C0503030203020204" pitchFamily="34" charset="0"/>
            </a:endParaRPr>
          </a:p>
        </p:txBody>
      </p:sp>
      <p:cxnSp>
        <p:nvCxnSpPr>
          <p:cNvPr id="10" name="直接连接符 9"/>
          <p:cNvCxnSpPr>
            <a:stCxn id="12" idx="3"/>
            <a:endCxn id="16" idx="1"/>
          </p:cNvCxnSpPr>
          <p:nvPr/>
        </p:nvCxnSpPr>
        <p:spPr bwMode="gray">
          <a:xfrm>
            <a:off x="1267619" y="2489567"/>
            <a:ext cx="398533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矩形 10"/>
          <p:cNvSpPr/>
          <p:nvPr/>
        </p:nvSpPr>
        <p:spPr bwMode="gray">
          <a:xfrm>
            <a:off x="748992" y="1996788"/>
            <a:ext cx="497252"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PE1</a:t>
            </a:r>
            <a:endParaRPr lang="zh-CN" altLang="en-US" sz="1400" b="1" dirty="0">
              <a:solidFill>
                <a:srgbClr val="FF3300"/>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2" name="图片 11"/>
          <p:cNvPicPr/>
          <p:nvPr/>
        </p:nvPicPr>
        <p:blipFill>
          <a:blip r:embed="rId1" cstate="print">
            <a:extLst>
              <a:ext uri="{28A0092B-C50C-407E-A947-70E740481C1C}">
                <a14:useLocalDpi xmlns:a14="http://schemas.microsoft.com/office/drawing/2010/main" val="0"/>
              </a:ext>
            </a:extLst>
          </a:blip>
          <a:stretch>
            <a:fillRect/>
          </a:stretch>
        </p:blipFill>
        <p:spPr bwMode="gray">
          <a:xfrm>
            <a:off x="727619" y="2268167"/>
            <a:ext cx="540000" cy="442800"/>
          </a:xfrm>
          <a:prstGeom prst="rect">
            <a:avLst/>
          </a:prstGeom>
        </p:spPr>
      </p:pic>
      <p:sp>
        <p:nvSpPr>
          <p:cNvPr id="13" name="矩形 12"/>
          <p:cNvSpPr/>
          <p:nvPr/>
        </p:nvSpPr>
        <p:spPr bwMode="gray">
          <a:xfrm>
            <a:off x="3138299" y="1996788"/>
            <a:ext cx="292068" cy="307777"/>
          </a:xfrm>
          <a:prstGeom prst="rect">
            <a:avLst/>
          </a:prstGeom>
        </p:spPr>
        <p:txBody>
          <a:bodyPr wrap="none">
            <a:spAutoFit/>
          </a:bodyPr>
          <a:lstStyle/>
          <a:p>
            <a:pPr algn="ctr"/>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P</a:t>
            </a:r>
            <a:endParaRPr lang="zh-CN" altLang="en-US" sz="1400" b="1">
              <a:solidFill>
                <a:srgbClr val="FF3300"/>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4" name="图片 13"/>
          <p:cNvPicPr/>
          <p:nvPr/>
        </p:nvPicPr>
        <p:blipFill>
          <a:blip r:embed="rId1" cstate="print">
            <a:extLst>
              <a:ext uri="{28A0092B-C50C-407E-A947-70E740481C1C}">
                <a14:useLocalDpi xmlns:a14="http://schemas.microsoft.com/office/drawing/2010/main" val="0"/>
              </a:ext>
            </a:extLst>
          </a:blip>
          <a:stretch>
            <a:fillRect/>
          </a:stretch>
        </p:blipFill>
        <p:spPr bwMode="gray">
          <a:xfrm>
            <a:off x="2991152" y="2268167"/>
            <a:ext cx="540000" cy="442800"/>
          </a:xfrm>
          <a:prstGeom prst="rect">
            <a:avLst/>
          </a:prstGeom>
        </p:spPr>
      </p:pic>
      <p:sp>
        <p:nvSpPr>
          <p:cNvPr id="15" name="矩形 14"/>
          <p:cNvSpPr/>
          <p:nvPr/>
        </p:nvSpPr>
        <p:spPr bwMode="gray">
          <a:xfrm>
            <a:off x="5283807" y="1996788"/>
            <a:ext cx="497252"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PE2</a:t>
            </a:r>
            <a:endParaRPr lang="zh-CN" altLang="en-US" sz="1400" b="1" dirty="0">
              <a:solidFill>
                <a:srgbClr val="FF3300"/>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6" name="图片 15"/>
          <p:cNvPicPr/>
          <p:nvPr/>
        </p:nvPicPr>
        <p:blipFill>
          <a:blip r:embed="rId1" cstate="print">
            <a:extLst>
              <a:ext uri="{28A0092B-C50C-407E-A947-70E740481C1C}">
                <a14:useLocalDpi xmlns:a14="http://schemas.microsoft.com/office/drawing/2010/main" val="0"/>
              </a:ext>
            </a:extLst>
          </a:blip>
          <a:stretch>
            <a:fillRect/>
          </a:stretch>
        </p:blipFill>
        <p:spPr bwMode="gray">
          <a:xfrm>
            <a:off x="5252957" y="2268167"/>
            <a:ext cx="540000" cy="442800"/>
          </a:xfrm>
          <a:prstGeom prst="rect">
            <a:avLst/>
          </a:prstGeom>
        </p:spPr>
      </p:pic>
      <p:sp>
        <p:nvSpPr>
          <p:cNvPr id="17" name="矩形 16"/>
          <p:cNvSpPr/>
          <p:nvPr/>
        </p:nvSpPr>
        <p:spPr bwMode="gray">
          <a:xfrm>
            <a:off x="1401461" y="2245468"/>
            <a:ext cx="1455848" cy="276999"/>
          </a:xfrm>
          <a:prstGeom prst="rect">
            <a:avLst/>
          </a:prstGeom>
        </p:spPr>
        <p:txBody>
          <a:bodyPr wrap="none">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2001:DB88:12::/96</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 name="矩形 17"/>
          <p:cNvSpPr/>
          <p:nvPr/>
        </p:nvSpPr>
        <p:spPr bwMode="gray">
          <a:xfrm>
            <a:off x="437904" y="1564429"/>
            <a:ext cx="1455848" cy="461665"/>
          </a:xfrm>
          <a:prstGeom prst="rect">
            <a:avLst/>
          </a:prstGeom>
        </p:spPr>
        <p:txBody>
          <a:bodyPr wrap="none">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Loopback0</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2001:DB8:1::1/128</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文本框 22"/>
          <p:cNvSpPr txBox="1"/>
          <p:nvPr/>
        </p:nvSpPr>
        <p:spPr bwMode="gray">
          <a:xfrm>
            <a:off x="4251736" y="3039452"/>
            <a:ext cx="987770" cy="461665"/>
          </a:xfrm>
          <a:prstGeom prst="rect">
            <a:avLst/>
          </a:prstGeom>
          <a:noFill/>
          <a:ln>
            <a:noFill/>
          </a:ln>
        </p:spPr>
        <p:txBody>
          <a:bodyPr wrap="non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Loopback1 </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10.1.5.5/32</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矩形 24"/>
          <p:cNvSpPr/>
          <p:nvPr/>
        </p:nvSpPr>
        <p:spPr bwMode="gray">
          <a:xfrm>
            <a:off x="1199332" y="2266253"/>
            <a:ext cx="306494" cy="276999"/>
          </a:xfrm>
          <a:prstGeom prst="rect">
            <a:avLst/>
          </a:prstGeom>
        </p:spPr>
        <p:txBody>
          <a:bodyPr wrap="none">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:1</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矩形 25"/>
          <p:cNvSpPr/>
          <p:nvPr/>
        </p:nvSpPr>
        <p:spPr bwMode="gray">
          <a:xfrm>
            <a:off x="2764735" y="2266253"/>
            <a:ext cx="306494" cy="276999"/>
          </a:xfrm>
          <a:prstGeom prst="rect">
            <a:avLst/>
          </a:prstGeom>
        </p:spPr>
        <p:txBody>
          <a:bodyPr wrap="none">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 name="矩形 26"/>
          <p:cNvSpPr/>
          <p:nvPr/>
        </p:nvSpPr>
        <p:spPr bwMode="gray">
          <a:xfrm>
            <a:off x="3447434" y="2266253"/>
            <a:ext cx="306494" cy="276999"/>
          </a:xfrm>
          <a:prstGeom prst="rect">
            <a:avLst/>
          </a:prstGeom>
        </p:spPr>
        <p:txBody>
          <a:bodyPr wrap="none">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矩形 27"/>
          <p:cNvSpPr/>
          <p:nvPr/>
        </p:nvSpPr>
        <p:spPr bwMode="gray">
          <a:xfrm>
            <a:off x="5024712" y="2266253"/>
            <a:ext cx="306494" cy="276999"/>
          </a:xfrm>
          <a:prstGeom prst="rect">
            <a:avLst/>
          </a:prstGeom>
        </p:spPr>
        <p:txBody>
          <a:bodyPr wrap="none">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:3</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9" name="图片 28"/>
          <p:cNvPicPr/>
          <p:nvPr/>
        </p:nvPicPr>
        <p:blipFill>
          <a:blip r:embed="rId1" cstate="print">
            <a:extLst>
              <a:ext uri="{28A0092B-C50C-407E-A947-70E740481C1C}">
                <a14:useLocalDpi xmlns:a14="http://schemas.microsoft.com/office/drawing/2010/main" val="0"/>
              </a:ext>
            </a:extLst>
          </a:blip>
          <a:stretch>
            <a:fillRect/>
          </a:stretch>
        </p:blipFill>
        <p:spPr bwMode="gray">
          <a:xfrm>
            <a:off x="727619" y="3010900"/>
            <a:ext cx="540000" cy="442800"/>
          </a:xfrm>
          <a:prstGeom prst="rect">
            <a:avLst/>
          </a:prstGeom>
        </p:spPr>
      </p:pic>
      <p:pic>
        <p:nvPicPr>
          <p:cNvPr id="30" name="图片 29"/>
          <p:cNvPicPr/>
          <p:nvPr/>
        </p:nvPicPr>
        <p:blipFill>
          <a:blip r:embed="rId1" cstate="print">
            <a:extLst>
              <a:ext uri="{28A0092B-C50C-407E-A947-70E740481C1C}">
                <a14:useLocalDpi xmlns:a14="http://schemas.microsoft.com/office/drawing/2010/main" val="0"/>
              </a:ext>
            </a:extLst>
          </a:blip>
          <a:stretch>
            <a:fillRect/>
          </a:stretch>
        </p:blipFill>
        <p:spPr bwMode="gray">
          <a:xfrm>
            <a:off x="5252957" y="3010900"/>
            <a:ext cx="540000" cy="442800"/>
          </a:xfrm>
          <a:prstGeom prst="rect">
            <a:avLst/>
          </a:prstGeom>
        </p:spPr>
      </p:pic>
      <p:cxnSp>
        <p:nvCxnSpPr>
          <p:cNvPr id="31" name="直接连接符 30"/>
          <p:cNvCxnSpPr>
            <a:stCxn id="12" idx="2"/>
            <a:endCxn id="29" idx="0"/>
          </p:cNvCxnSpPr>
          <p:nvPr/>
        </p:nvCxnSpPr>
        <p:spPr bwMode="gray">
          <a:xfrm>
            <a:off x="997619" y="2710967"/>
            <a:ext cx="0" cy="29993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a:stCxn id="16" idx="2"/>
            <a:endCxn id="30" idx="0"/>
          </p:cNvCxnSpPr>
          <p:nvPr/>
        </p:nvCxnSpPr>
        <p:spPr bwMode="gray">
          <a:xfrm>
            <a:off x="5522957" y="2710967"/>
            <a:ext cx="0" cy="29993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3" name="矩形 32"/>
          <p:cNvSpPr/>
          <p:nvPr/>
        </p:nvSpPr>
        <p:spPr bwMode="gray">
          <a:xfrm>
            <a:off x="746588" y="3501117"/>
            <a:ext cx="502061"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CE1</a:t>
            </a:r>
            <a:endParaRPr lang="zh-CN" altLang="en-US" sz="1400" b="1" dirty="0">
              <a:solidFill>
                <a:srgbClr val="FF33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矩形 33"/>
          <p:cNvSpPr/>
          <p:nvPr/>
        </p:nvSpPr>
        <p:spPr bwMode="gray">
          <a:xfrm>
            <a:off x="5281403" y="3501117"/>
            <a:ext cx="502061"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CE2</a:t>
            </a:r>
            <a:endParaRPr lang="zh-CN" altLang="en-US" sz="1400" b="1" dirty="0">
              <a:solidFill>
                <a:srgbClr val="FF33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文本框 34"/>
          <p:cNvSpPr txBox="1"/>
          <p:nvPr/>
        </p:nvSpPr>
        <p:spPr bwMode="gray">
          <a:xfrm>
            <a:off x="1290546" y="3039452"/>
            <a:ext cx="987770" cy="461665"/>
          </a:xfrm>
          <a:prstGeom prst="rect">
            <a:avLst/>
          </a:prstGeom>
          <a:noFill/>
          <a:ln>
            <a:noFill/>
          </a:ln>
        </p:spPr>
        <p:txBody>
          <a:bodyPr wrap="non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Loopback1 </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10.1.4.4/32</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 name="文本框 36"/>
          <p:cNvSpPr txBox="1"/>
          <p:nvPr/>
        </p:nvSpPr>
        <p:spPr bwMode="gray">
          <a:xfrm>
            <a:off x="1576705" y="3492845"/>
            <a:ext cx="848309" cy="276999"/>
          </a:xfrm>
          <a:prstGeom prst="rect">
            <a:avLst/>
          </a:prstGeom>
          <a:noFill/>
        </p:spPr>
        <p:txBody>
          <a:bodyPr wrap="none" rtlCol="0">
            <a:spAutoFit/>
          </a:bodyPr>
          <a:lstStyle/>
          <a:p>
            <a:r>
              <a:rPr lang="en-US" altLang="zh-CN" sz="12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AS 65000</a:t>
            </a:r>
            <a:endParaRPr lang="en-US" altLang="zh-CN" sz="12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文本框 37"/>
          <p:cNvSpPr txBox="1"/>
          <p:nvPr/>
        </p:nvSpPr>
        <p:spPr bwMode="gray">
          <a:xfrm>
            <a:off x="4190770" y="3492845"/>
            <a:ext cx="848309" cy="276999"/>
          </a:xfrm>
          <a:prstGeom prst="rect">
            <a:avLst/>
          </a:prstGeom>
          <a:noFill/>
        </p:spPr>
        <p:txBody>
          <a:bodyPr wrap="none" rtlCol="0">
            <a:spAutoFit/>
          </a:bodyPr>
          <a:lstStyle/>
          <a:p>
            <a:r>
              <a:rPr lang="en-US" altLang="zh-CN" sz="12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AS 65001</a:t>
            </a:r>
            <a:endParaRPr lang="en-US" altLang="zh-CN" sz="12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文本框 38"/>
          <p:cNvSpPr txBox="1"/>
          <p:nvPr/>
        </p:nvSpPr>
        <p:spPr bwMode="gray">
          <a:xfrm>
            <a:off x="542427" y="1427904"/>
            <a:ext cx="675185" cy="276999"/>
          </a:xfrm>
          <a:prstGeom prst="rect">
            <a:avLst/>
          </a:prstGeom>
          <a:noFill/>
        </p:spPr>
        <p:txBody>
          <a:bodyPr wrap="none" rtlCol="0">
            <a:spAutoFit/>
          </a:bodyPr>
          <a:lstStyle/>
          <a:p>
            <a:r>
              <a:rPr lang="en-US" altLang="zh-CN" sz="12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AS 100</a:t>
            </a:r>
            <a:endParaRPr lang="en-US" altLang="zh-CN" sz="12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矩形 39"/>
          <p:cNvSpPr/>
          <p:nvPr/>
        </p:nvSpPr>
        <p:spPr bwMode="gray">
          <a:xfrm>
            <a:off x="942842" y="2695509"/>
            <a:ext cx="1186543" cy="307777"/>
          </a:xfrm>
          <a:prstGeom prst="rect">
            <a:avLst/>
          </a:prstGeom>
        </p:spPr>
        <p:txBody>
          <a:bodyPr wrap="none">
            <a:spAutoFit/>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10.0.14.0/24</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矩形 40"/>
          <p:cNvSpPr/>
          <p:nvPr/>
        </p:nvSpPr>
        <p:spPr bwMode="gray">
          <a:xfrm>
            <a:off x="4397520" y="2695509"/>
            <a:ext cx="1186543" cy="307777"/>
          </a:xfrm>
          <a:prstGeom prst="rect">
            <a:avLst/>
          </a:prstGeom>
        </p:spPr>
        <p:txBody>
          <a:bodyPr wrap="none">
            <a:spAutoFit/>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10.0.35.0/24</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矩形 41"/>
          <p:cNvSpPr/>
          <p:nvPr/>
        </p:nvSpPr>
        <p:spPr bwMode="gray">
          <a:xfrm>
            <a:off x="2556409" y="1564429"/>
            <a:ext cx="1455848" cy="461665"/>
          </a:xfrm>
          <a:prstGeom prst="rect">
            <a:avLst/>
          </a:prstGeom>
        </p:spPr>
        <p:txBody>
          <a:bodyPr wrap="none">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Loopback0</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2001:DB8:2::2/128</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矩形 42"/>
          <p:cNvSpPr/>
          <p:nvPr/>
        </p:nvSpPr>
        <p:spPr bwMode="gray">
          <a:xfrm>
            <a:off x="4630687" y="1564429"/>
            <a:ext cx="1455848" cy="461665"/>
          </a:xfrm>
          <a:prstGeom prst="rect">
            <a:avLst/>
          </a:prstGeom>
        </p:spPr>
        <p:txBody>
          <a:bodyPr wrap="none">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Loopback0</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2001:DB8:3::3/128</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矩形 43"/>
          <p:cNvSpPr/>
          <p:nvPr/>
        </p:nvSpPr>
        <p:spPr bwMode="gray">
          <a:xfrm>
            <a:off x="3694397" y="2245468"/>
            <a:ext cx="1455848" cy="276999"/>
          </a:xfrm>
          <a:prstGeom prst="rect">
            <a:avLst/>
          </a:prstGeom>
        </p:spPr>
        <p:txBody>
          <a:bodyPr wrap="none">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2001:DB88:23::/96</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矩形 44"/>
          <p:cNvSpPr/>
          <p:nvPr/>
        </p:nvSpPr>
        <p:spPr bwMode="gray">
          <a:xfrm>
            <a:off x="522292" y="3756914"/>
            <a:ext cx="5136046" cy="2246769"/>
          </a:xfrm>
          <a:prstGeom prst="rect">
            <a:avLst/>
          </a:prstGeom>
          <a:ln>
            <a:noFill/>
          </a:ln>
        </p:spPr>
        <p:txBody>
          <a:bodyPr wrap="square">
            <a:spAutoFit/>
          </a:bodyPr>
          <a:lstStyle/>
          <a:p>
            <a:pPr>
              <a:lnSpc>
                <a:spcPts val="2400"/>
              </a:lnSpc>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配置思路：</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176530" indent="-176530">
              <a:lnSpc>
                <a:spcPts val="2400"/>
              </a:lnSpc>
              <a:buFont typeface="+mj-lt"/>
              <a:buAutoNum type="arabicPeriod"/>
            </a:pPr>
            <a:r>
              <a:rPr lang="zh-CN"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完成设备接口</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IPv6</a:t>
            </a:r>
            <a:r>
              <a:rPr lang="zh-CN"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地址及</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IS-IS</a:t>
            </a:r>
            <a:r>
              <a:rPr lang="zh-CN"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配置</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（略）。</a:t>
            </a:r>
            <a:endParaRPr lang="zh-CN"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marL="176530" indent="-176530">
              <a:lnSpc>
                <a:spcPts val="2400"/>
              </a:lnSpc>
              <a:buFont typeface="+mj-lt"/>
              <a:buAutoNum type="arabicPeriod"/>
            </a:pP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在</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PE1</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与</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PE2</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之间建立</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MP-BGP</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对等体关系。</a:t>
            </a:r>
            <a:endPar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marL="176530" indent="-176530">
              <a:lnSpc>
                <a:spcPts val="2400"/>
              </a:lnSpc>
              <a:buFont typeface="+mj-lt"/>
              <a:buAutoNum type="arabicPeriod"/>
            </a:pP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骨干网上使能</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Segment Routing</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，建立</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SRv6 BE</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路径。</a:t>
            </a:r>
            <a:endPar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marL="176530" indent="-176530">
              <a:lnSpc>
                <a:spcPts val="2400"/>
              </a:lnSpc>
              <a:buFont typeface="+mj-lt"/>
              <a:buAutoNum type="arabicPeriod"/>
            </a:pP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PE</a:t>
            </a: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上配置使能</a:t>
            </a: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IPv4</a:t>
            </a: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地址族</a:t>
            </a: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VPN</a:t>
            </a: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实例。</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a:p>
            <a:pPr marL="176530" indent="-176530">
              <a:lnSpc>
                <a:spcPts val="2400"/>
              </a:lnSpc>
              <a:buFont typeface="+mj-lt"/>
              <a:buAutoNum type="arabicPeriod"/>
            </a:pP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PE</a:t>
            </a: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之间配置</a:t>
            </a: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MP-IBGP</a:t>
            </a: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交换路由信息。</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a:p>
            <a:pPr marL="176530" indent="-176530">
              <a:lnSpc>
                <a:spcPts val="2400"/>
              </a:lnSpc>
              <a:buFont typeface="+mj-lt"/>
              <a:buAutoNum type="arabicPeriod"/>
            </a:pP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结果验证。</a:t>
            </a:r>
            <a:endParaRPr lang="zh-CN"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文本框 45"/>
          <p:cNvSpPr txBox="1"/>
          <p:nvPr/>
        </p:nvSpPr>
        <p:spPr bwMode="gray">
          <a:xfrm>
            <a:off x="6191389" y="1479036"/>
            <a:ext cx="5096267" cy="307777"/>
          </a:xfrm>
          <a:prstGeom prst="rect">
            <a:avLst/>
          </a:prstGeom>
          <a:noFill/>
        </p:spPr>
        <p:txBody>
          <a:bodyPr wrap="none" rtlCol="0">
            <a:spAutoFit/>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PE</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上配置使能</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IPv4</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地址族</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VPN</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实例，</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PE1</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配置如下（</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PE2</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略）。</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文本框 46"/>
          <p:cNvSpPr txBox="1"/>
          <p:nvPr/>
        </p:nvSpPr>
        <p:spPr bwMode="gray">
          <a:xfrm>
            <a:off x="6278213" y="1793013"/>
            <a:ext cx="5195653" cy="2677656"/>
          </a:xfrm>
          <a:prstGeom prst="rect">
            <a:avLst/>
          </a:prstGeom>
          <a:solidFill>
            <a:schemeClr val="bg1">
              <a:lumMod val="85000"/>
            </a:schemeClr>
          </a:solidFill>
          <a:ln>
            <a:noFill/>
          </a:ln>
        </p:spPr>
        <p:txBody>
          <a:bodyPr wrap="squar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[~PE1]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ip</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vpn</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-instance vpna</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[*PE1-vpn-instance-vpna] ipv4-family</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[*PE1-vpn-instance-vpna-af-ipv4] route-distinguisher 100:1</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[*PE1-vpn-instance-vpna-af-ipv4]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vpn</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-target 111:1 both</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[*PE1-vpn-instance-vpna-af-ipv4] quit</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[*PE1-vpn-instance-vpna] quit</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[~PE1]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bgp</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100</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[*PE1-bgp] ipv4-family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vpn</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-instance vpna</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[*PE1-bgp-vpna] peer 10.0.14.4 as-number 65000</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[*PE1-bgp-vpna] segment-routing ipv6 best-effort</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[*PE1-bgp-vpna] segment-routing ipv6 locator as100</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[*PE1-bgp-vpna] commit</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[~PE1-bgp-vpna] quit</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[~PE1-bgp] quit</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bwMode="gray"/>
        <p:txBody>
          <a:bodyPr>
            <a:noAutofit/>
          </a:bodyPr>
          <a:lstStyle/>
          <a:p>
            <a:r>
              <a:rPr lang="en-US" altLang="zh-CN" dirty="0">
                <a:sym typeface="Huawei Sans" panose="020C0503030203020204" pitchFamily="34" charset="0"/>
              </a:rPr>
              <a:t>L3VPNv4 over SRv6 BE (5)</a:t>
            </a:r>
            <a:br>
              <a:rPr lang="en-US" altLang="zh-CN" dirty="0">
                <a:sym typeface="Huawei Sans" panose="020C0503030203020204" pitchFamily="34" charset="0"/>
              </a:rPr>
            </a:br>
            <a:endParaRPr lang="zh-CN" altLang="en-US" dirty="0">
              <a:sym typeface="Huawei Sans" panose="020C0503030203020204" pitchFamily="34" charset="0"/>
            </a:endParaRPr>
          </a:p>
        </p:txBody>
      </p:sp>
      <p:sp>
        <p:nvSpPr>
          <p:cNvPr id="5" name="矩形 4"/>
          <p:cNvSpPr/>
          <p:nvPr/>
        </p:nvSpPr>
        <p:spPr bwMode="gray">
          <a:xfrm>
            <a:off x="4190770" y="2950258"/>
            <a:ext cx="1826072" cy="780536"/>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矩形 5"/>
          <p:cNvSpPr/>
          <p:nvPr/>
        </p:nvSpPr>
        <p:spPr bwMode="gray">
          <a:xfrm>
            <a:off x="522292" y="2950258"/>
            <a:ext cx="1826072" cy="780536"/>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矩形 6"/>
          <p:cNvSpPr/>
          <p:nvPr/>
        </p:nvSpPr>
        <p:spPr bwMode="gray">
          <a:xfrm>
            <a:off x="522292" y="1487150"/>
            <a:ext cx="5494550" cy="1238390"/>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 name="标题 1"/>
          <p:cNvSpPr txBox="1"/>
          <p:nvPr/>
        </p:nvSpPr>
        <p:spPr bwMode="gray">
          <a:xfrm>
            <a:off x="452438" y="447468"/>
            <a:ext cx="11296649" cy="497095"/>
          </a:xfrm>
          <a:prstGeom prst="rect">
            <a:avLst/>
          </a:prstGeom>
        </p:spPr>
        <p:txBody>
          <a:bodyPr lIns="0" tIns="0" rIns="0" bIns="0" anchor="t">
            <a:normAutofit/>
          </a:bodyPr>
          <a:lstStyle>
            <a:lvl1pPr algn="l" defTabSz="913765" rtl="0" eaLnBrk="1" fontAlgn="base" latinLnBrk="0" hangingPunct="1">
              <a:lnSpc>
                <a:spcPct val="90000"/>
              </a:lnSpc>
              <a:spcBef>
                <a:spcPct val="0"/>
              </a:spcBef>
              <a:buNone/>
              <a:defRPr lang="zh-CN" altLang="en-US" sz="3200" kern="1200" baseline="0" dirty="0">
                <a:solidFill>
                  <a:schemeClr val="tx1"/>
                </a:solidFill>
                <a:latin typeface="Huawei Sans" panose="020C0503030203020204" pitchFamily="34" charset="0"/>
                <a:ea typeface="方正兰亭黑简体" panose="02000000000000000000" pitchFamily="2" charset="-122"/>
                <a:cs typeface="+mn-cs"/>
              </a:defRPr>
            </a:lvl1pPr>
          </a:lstStyle>
          <a:p>
            <a:endParaRPr lang="en-US" dirty="0">
              <a:sym typeface="Huawei Sans" panose="020C0503030203020204" pitchFamily="34" charset="0"/>
            </a:endParaRPr>
          </a:p>
        </p:txBody>
      </p:sp>
      <p:cxnSp>
        <p:nvCxnSpPr>
          <p:cNvPr id="10" name="直接连接符 9"/>
          <p:cNvCxnSpPr>
            <a:stCxn id="12" idx="3"/>
            <a:endCxn id="16" idx="1"/>
          </p:cNvCxnSpPr>
          <p:nvPr/>
        </p:nvCxnSpPr>
        <p:spPr bwMode="gray">
          <a:xfrm>
            <a:off x="1267619" y="2489567"/>
            <a:ext cx="398533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矩形 10"/>
          <p:cNvSpPr/>
          <p:nvPr/>
        </p:nvSpPr>
        <p:spPr bwMode="gray">
          <a:xfrm>
            <a:off x="748992" y="1996788"/>
            <a:ext cx="497252"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PE1</a:t>
            </a:r>
            <a:endParaRPr lang="zh-CN" altLang="en-US" sz="1400" b="1" dirty="0">
              <a:solidFill>
                <a:srgbClr val="FF3300"/>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2" name="图片 11"/>
          <p:cNvPicPr/>
          <p:nvPr/>
        </p:nvPicPr>
        <p:blipFill>
          <a:blip r:embed="rId1" cstate="print">
            <a:extLst>
              <a:ext uri="{28A0092B-C50C-407E-A947-70E740481C1C}">
                <a14:useLocalDpi xmlns:a14="http://schemas.microsoft.com/office/drawing/2010/main" val="0"/>
              </a:ext>
            </a:extLst>
          </a:blip>
          <a:stretch>
            <a:fillRect/>
          </a:stretch>
        </p:blipFill>
        <p:spPr bwMode="gray">
          <a:xfrm>
            <a:off x="727619" y="2268167"/>
            <a:ext cx="540000" cy="442800"/>
          </a:xfrm>
          <a:prstGeom prst="rect">
            <a:avLst/>
          </a:prstGeom>
        </p:spPr>
      </p:pic>
      <p:sp>
        <p:nvSpPr>
          <p:cNvPr id="13" name="矩形 12"/>
          <p:cNvSpPr/>
          <p:nvPr/>
        </p:nvSpPr>
        <p:spPr bwMode="gray">
          <a:xfrm>
            <a:off x="3138299" y="1996788"/>
            <a:ext cx="292068" cy="307777"/>
          </a:xfrm>
          <a:prstGeom prst="rect">
            <a:avLst/>
          </a:prstGeom>
        </p:spPr>
        <p:txBody>
          <a:bodyPr wrap="none">
            <a:spAutoFit/>
          </a:bodyPr>
          <a:lstStyle/>
          <a:p>
            <a:pPr algn="ctr"/>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P</a:t>
            </a:r>
            <a:endParaRPr lang="zh-CN" altLang="en-US" sz="1400" b="1">
              <a:solidFill>
                <a:srgbClr val="FF3300"/>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4" name="图片 13"/>
          <p:cNvPicPr/>
          <p:nvPr/>
        </p:nvPicPr>
        <p:blipFill>
          <a:blip r:embed="rId1" cstate="print">
            <a:extLst>
              <a:ext uri="{28A0092B-C50C-407E-A947-70E740481C1C}">
                <a14:useLocalDpi xmlns:a14="http://schemas.microsoft.com/office/drawing/2010/main" val="0"/>
              </a:ext>
            </a:extLst>
          </a:blip>
          <a:stretch>
            <a:fillRect/>
          </a:stretch>
        </p:blipFill>
        <p:spPr bwMode="gray">
          <a:xfrm>
            <a:off x="2991152" y="2268167"/>
            <a:ext cx="540000" cy="442800"/>
          </a:xfrm>
          <a:prstGeom prst="rect">
            <a:avLst/>
          </a:prstGeom>
        </p:spPr>
      </p:pic>
      <p:sp>
        <p:nvSpPr>
          <p:cNvPr id="15" name="矩形 14"/>
          <p:cNvSpPr/>
          <p:nvPr/>
        </p:nvSpPr>
        <p:spPr bwMode="gray">
          <a:xfrm>
            <a:off x="5283807" y="1996788"/>
            <a:ext cx="497252"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PE2</a:t>
            </a:r>
            <a:endParaRPr lang="zh-CN" altLang="en-US" sz="1400" b="1" dirty="0">
              <a:solidFill>
                <a:srgbClr val="FF3300"/>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6" name="图片 15"/>
          <p:cNvPicPr/>
          <p:nvPr/>
        </p:nvPicPr>
        <p:blipFill>
          <a:blip r:embed="rId1" cstate="print">
            <a:extLst>
              <a:ext uri="{28A0092B-C50C-407E-A947-70E740481C1C}">
                <a14:useLocalDpi xmlns:a14="http://schemas.microsoft.com/office/drawing/2010/main" val="0"/>
              </a:ext>
            </a:extLst>
          </a:blip>
          <a:stretch>
            <a:fillRect/>
          </a:stretch>
        </p:blipFill>
        <p:spPr bwMode="gray">
          <a:xfrm>
            <a:off x="5252957" y="2268167"/>
            <a:ext cx="540000" cy="442800"/>
          </a:xfrm>
          <a:prstGeom prst="rect">
            <a:avLst/>
          </a:prstGeom>
        </p:spPr>
      </p:pic>
      <p:sp>
        <p:nvSpPr>
          <p:cNvPr id="17" name="矩形 16"/>
          <p:cNvSpPr/>
          <p:nvPr/>
        </p:nvSpPr>
        <p:spPr bwMode="gray">
          <a:xfrm>
            <a:off x="1401461" y="2245468"/>
            <a:ext cx="1455848" cy="276999"/>
          </a:xfrm>
          <a:prstGeom prst="rect">
            <a:avLst/>
          </a:prstGeom>
        </p:spPr>
        <p:txBody>
          <a:bodyPr wrap="none">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2001:DB88:12::/96</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 name="矩形 17"/>
          <p:cNvSpPr/>
          <p:nvPr/>
        </p:nvSpPr>
        <p:spPr bwMode="gray">
          <a:xfrm>
            <a:off x="437904" y="1564429"/>
            <a:ext cx="1455848" cy="461665"/>
          </a:xfrm>
          <a:prstGeom prst="rect">
            <a:avLst/>
          </a:prstGeom>
        </p:spPr>
        <p:txBody>
          <a:bodyPr wrap="none">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Loopback0</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2001:DB8:1::1/128</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文本框 22"/>
          <p:cNvSpPr txBox="1"/>
          <p:nvPr/>
        </p:nvSpPr>
        <p:spPr bwMode="gray">
          <a:xfrm>
            <a:off x="4251736" y="3039452"/>
            <a:ext cx="987770" cy="461665"/>
          </a:xfrm>
          <a:prstGeom prst="rect">
            <a:avLst/>
          </a:prstGeom>
          <a:noFill/>
          <a:ln>
            <a:noFill/>
          </a:ln>
        </p:spPr>
        <p:txBody>
          <a:bodyPr wrap="non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Loopback1 </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10.1.5.5/32</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矩形 24"/>
          <p:cNvSpPr/>
          <p:nvPr/>
        </p:nvSpPr>
        <p:spPr bwMode="gray">
          <a:xfrm>
            <a:off x="1199332" y="2266253"/>
            <a:ext cx="306494" cy="276999"/>
          </a:xfrm>
          <a:prstGeom prst="rect">
            <a:avLst/>
          </a:prstGeom>
        </p:spPr>
        <p:txBody>
          <a:bodyPr wrap="none">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:1</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矩形 25"/>
          <p:cNvSpPr/>
          <p:nvPr/>
        </p:nvSpPr>
        <p:spPr bwMode="gray">
          <a:xfrm>
            <a:off x="2764735" y="2266253"/>
            <a:ext cx="306494" cy="276999"/>
          </a:xfrm>
          <a:prstGeom prst="rect">
            <a:avLst/>
          </a:prstGeom>
        </p:spPr>
        <p:txBody>
          <a:bodyPr wrap="none">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 name="矩形 26"/>
          <p:cNvSpPr/>
          <p:nvPr/>
        </p:nvSpPr>
        <p:spPr bwMode="gray">
          <a:xfrm>
            <a:off x="3447434" y="2266253"/>
            <a:ext cx="306494" cy="276999"/>
          </a:xfrm>
          <a:prstGeom prst="rect">
            <a:avLst/>
          </a:prstGeom>
        </p:spPr>
        <p:txBody>
          <a:bodyPr wrap="none">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矩形 27"/>
          <p:cNvSpPr/>
          <p:nvPr/>
        </p:nvSpPr>
        <p:spPr bwMode="gray">
          <a:xfrm>
            <a:off x="5024712" y="2266253"/>
            <a:ext cx="306494" cy="276999"/>
          </a:xfrm>
          <a:prstGeom prst="rect">
            <a:avLst/>
          </a:prstGeom>
        </p:spPr>
        <p:txBody>
          <a:bodyPr wrap="none">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:3</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9" name="图片 28"/>
          <p:cNvPicPr/>
          <p:nvPr/>
        </p:nvPicPr>
        <p:blipFill>
          <a:blip r:embed="rId1" cstate="print">
            <a:extLst>
              <a:ext uri="{28A0092B-C50C-407E-A947-70E740481C1C}">
                <a14:useLocalDpi xmlns:a14="http://schemas.microsoft.com/office/drawing/2010/main" val="0"/>
              </a:ext>
            </a:extLst>
          </a:blip>
          <a:stretch>
            <a:fillRect/>
          </a:stretch>
        </p:blipFill>
        <p:spPr bwMode="gray">
          <a:xfrm>
            <a:off x="727619" y="3010900"/>
            <a:ext cx="540000" cy="442800"/>
          </a:xfrm>
          <a:prstGeom prst="rect">
            <a:avLst/>
          </a:prstGeom>
        </p:spPr>
      </p:pic>
      <p:pic>
        <p:nvPicPr>
          <p:cNvPr id="30" name="图片 29"/>
          <p:cNvPicPr/>
          <p:nvPr/>
        </p:nvPicPr>
        <p:blipFill>
          <a:blip r:embed="rId1" cstate="print">
            <a:extLst>
              <a:ext uri="{28A0092B-C50C-407E-A947-70E740481C1C}">
                <a14:useLocalDpi xmlns:a14="http://schemas.microsoft.com/office/drawing/2010/main" val="0"/>
              </a:ext>
            </a:extLst>
          </a:blip>
          <a:stretch>
            <a:fillRect/>
          </a:stretch>
        </p:blipFill>
        <p:spPr bwMode="gray">
          <a:xfrm>
            <a:off x="5252957" y="3010900"/>
            <a:ext cx="540000" cy="442800"/>
          </a:xfrm>
          <a:prstGeom prst="rect">
            <a:avLst/>
          </a:prstGeom>
        </p:spPr>
      </p:pic>
      <p:cxnSp>
        <p:nvCxnSpPr>
          <p:cNvPr id="31" name="直接连接符 30"/>
          <p:cNvCxnSpPr>
            <a:stCxn id="12" idx="2"/>
            <a:endCxn id="29" idx="0"/>
          </p:cNvCxnSpPr>
          <p:nvPr/>
        </p:nvCxnSpPr>
        <p:spPr bwMode="gray">
          <a:xfrm>
            <a:off x="997619" y="2710967"/>
            <a:ext cx="0" cy="29993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a:stCxn id="16" idx="2"/>
            <a:endCxn id="30" idx="0"/>
          </p:cNvCxnSpPr>
          <p:nvPr/>
        </p:nvCxnSpPr>
        <p:spPr bwMode="gray">
          <a:xfrm>
            <a:off x="5522957" y="2710967"/>
            <a:ext cx="0" cy="29993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3" name="矩形 32"/>
          <p:cNvSpPr/>
          <p:nvPr/>
        </p:nvSpPr>
        <p:spPr bwMode="gray">
          <a:xfrm>
            <a:off x="746588" y="3501117"/>
            <a:ext cx="502061"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CE1</a:t>
            </a:r>
            <a:endParaRPr lang="zh-CN" altLang="en-US" sz="1400" b="1" dirty="0">
              <a:solidFill>
                <a:srgbClr val="FF33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矩形 33"/>
          <p:cNvSpPr/>
          <p:nvPr/>
        </p:nvSpPr>
        <p:spPr bwMode="gray">
          <a:xfrm>
            <a:off x="5281403" y="3501117"/>
            <a:ext cx="502061"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CE2</a:t>
            </a:r>
            <a:endParaRPr lang="zh-CN" altLang="en-US" sz="1400" b="1" dirty="0">
              <a:solidFill>
                <a:srgbClr val="FF33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文本框 34"/>
          <p:cNvSpPr txBox="1"/>
          <p:nvPr/>
        </p:nvSpPr>
        <p:spPr bwMode="gray">
          <a:xfrm>
            <a:off x="1290546" y="3039452"/>
            <a:ext cx="987770" cy="461665"/>
          </a:xfrm>
          <a:prstGeom prst="rect">
            <a:avLst/>
          </a:prstGeom>
          <a:noFill/>
          <a:ln>
            <a:noFill/>
          </a:ln>
        </p:spPr>
        <p:txBody>
          <a:bodyPr wrap="non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Loopback1 </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10.1.4.4/32</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 name="文本框 36"/>
          <p:cNvSpPr txBox="1"/>
          <p:nvPr/>
        </p:nvSpPr>
        <p:spPr bwMode="gray">
          <a:xfrm>
            <a:off x="1576705" y="3492845"/>
            <a:ext cx="848309" cy="276999"/>
          </a:xfrm>
          <a:prstGeom prst="rect">
            <a:avLst/>
          </a:prstGeom>
          <a:noFill/>
        </p:spPr>
        <p:txBody>
          <a:bodyPr wrap="none" rtlCol="0">
            <a:spAutoFit/>
          </a:bodyPr>
          <a:lstStyle/>
          <a:p>
            <a:r>
              <a:rPr lang="en-US" altLang="zh-CN" sz="12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AS 65000</a:t>
            </a:r>
            <a:endParaRPr lang="en-US" altLang="zh-CN" sz="12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文本框 37"/>
          <p:cNvSpPr txBox="1"/>
          <p:nvPr/>
        </p:nvSpPr>
        <p:spPr bwMode="gray">
          <a:xfrm>
            <a:off x="4190770" y="3492845"/>
            <a:ext cx="848309" cy="276999"/>
          </a:xfrm>
          <a:prstGeom prst="rect">
            <a:avLst/>
          </a:prstGeom>
          <a:noFill/>
        </p:spPr>
        <p:txBody>
          <a:bodyPr wrap="none" rtlCol="0">
            <a:spAutoFit/>
          </a:bodyPr>
          <a:lstStyle/>
          <a:p>
            <a:r>
              <a:rPr lang="en-US" altLang="zh-CN" sz="12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AS 65001</a:t>
            </a:r>
            <a:endParaRPr lang="en-US" altLang="zh-CN" sz="12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文本框 38"/>
          <p:cNvSpPr txBox="1"/>
          <p:nvPr/>
        </p:nvSpPr>
        <p:spPr bwMode="gray">
          <a:xfrm>
            <a:off x="542427" y="1427904"/>
            <a:ext cx="675185" cy="276999"/>
          </a:xfrm>
          <a:prstGeom prst="rect">
            <a:avLst/>
          </a:prstGeom>
          <a:noFill/>
        </p:spPr>
        <p:txBody>
          <a:bodyPr wrap="none" rtlCol="0">
            <a:spAutoFit/>
          </a:bodyPr>
          <a:lstStyle/>
          <a:p>
            <a:r>
              <a:rPr lang="en-US" altLang="zh-CN" sz="12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AS 100</a:t>
            </a:r>
            <a:endParaRPr lang="en-US" altLang="zh-CN" sz="12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矩形 39"/>
          <p:cNvSpPr/>
          <p:nvPr/>
        </p:nvSpPr>
        <p:spPr bwMode="gray">
          <a:xfrm>
            <a:off x="942842" y="2695509"/>
            <a:ext cx="1186543" cy="307777"/>
          </a:xfrm>
          <a:prstGeom prst="rect">
            <a:avLst/>
          </a:prstGeom>
        </p:spPr>
        <p:txBody>
          <a:bodyPr wrap="none">
            <a:spAutoFit/>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10.0.14.0/24</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矩形 40"/>
          <p:cNvSpPr/>
          <p:nvPr/>
        </p:nvSpPr>
        <p:spPr bwMode="gray">
          <a:xfrm>
            <a:off x="4397520" y="2695509"/>
            <a:ext cx="1186543" cy="307777"/>
          </a:xfrm>
          <a:prstGeom prst="rect">
            <a:avLst/>
          </a:prstGeom>
        </p:spPr>
        <p:txBody>
          <a:bodyPr wrap="none">
            <a:spAutoFit/>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10.0.35.0/24</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矩形 41"/>
          <p:cNvSpPr/>
          <p:nvPr/>
        </p:nvSpPr>
        <p:spPr bwMode="gray">
          <a:xfrm>
            <a:off x="2556409" y="1564429"/>
            <a:ext cx="1455848" cy="461665"/>
          </a:xfrm>
          <a:prstGeom prst="rect">
            <a:avLst/>
          </a:prstGeom>
        </p:spPr>
        <p:txBody>
          <a:bodyPr wrap="none">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Loopback0</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2001:DB8:2::2/128</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矩形 42"/>
          <p:cNvSpPr/>
          <p:nvPr/>
        </p:nvSpPr>
        <p:spPr bwMode="gray">
          <a:xfrm>
            <a:off x="4630687" y="1564429"/>
            <a:ext cx="1455848" cy="461665"/>
          </a:xfrm>
          <a:prstGeom prst="rect">
            <a:avLst/>
          </a:prstGeom>
        </p:spPr>
        <p:txBody>
          <a:bodyPr wrap="none">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Loopback0</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2001:DB8:3::3/128</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矩形 43"/>
          <p:cNvSpPr/>
          <p:nvPr/>
        </p:nvSpPr>
        <p:spPr bwMode="gray">
          <a:xfrm>
            <a:off x="3694397" y="2245468"/>
            <a:ext cx="1455848" cy="276999"/>
          </a:xfrm>
          <a:prstGeom prst="rect">
            <a:avLst/>
          </a:prstGeom>
        </p:spPr>
        <p:txBody>
          <a:bodyPr wrap="none">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2001:DB88:23::/96</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文本框 44"/>
          <p:cNvSpPr txBox="1"/>
          <p:nvPr/>
        </p:nvSpPr>
        <p:spPr bwMode="gray">
          <a:xfrm>
            <a:off x="6225255" y="1514182"/>
            <a:ext cx="4307589" cy="307777"/>
          </a:xfrm>
          <a:prstGeom prst="rect">
            <a:avLst/>
          </a:prstGeom>
          <a:noFill/>
        </p:spPr>
        <p:txBody>
          <a:bodyPr wrap="none" rtlCol="0">
            <a:spAutoFit/>
          </a:bodyPr>
          <a:lstStyle/>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在</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PE2</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设备查看</a:t>
            </a:r>
            <a:r>
              <a:rPr lang="en-US" altLang="zh-CN" sz="1400" dirty="0"/>
              <a:t>SRv6</a:t>
            </a:r>
            <a:r>
              <a:rPr lang="zh-CN" altLang="en-US" sz="1400" dirty="0"/>
              <a:t>所有类型</a:t>
            </a:r>
            <a:r>
              <a:rPr lang="en-US" altLang="zh-CN" sz="1400" dirty="0"/>
              <a:t>SID</a:t>
            </a:r>
            <a:r>
              <a:rPr lang="zh-CN" altLang="en-US" sz="1400" dirty="0"/>
              <a:t>的本地</a:t>
            </a:r>
            <a:r>
              <a:rPr lang="en-US" altLang="zh-CN" sz="1400" dirty="0"/>
              <a:t>SID</a:t>
            </a:r>
            <a:r>
              <a:rPr lang="zh-CN" altLang="en-US" sz="1400" dirty="0"/>
              <a:t>表信息。</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矩形 46"/>
          <p:cNvSpPr/>
          <p:nvPr/>
        </p:nvSpPr>
        <p:spPr bwMode="gray">
          <a:xfrm>
            <a:off x="522292" y="3756914"/>
            <a:ext cx="5136046" cy="2246769"/>
          </a:xfrm>
          <a:prstGeom prst="rect">
            <a:avLst/>
          </a:prstGeom>
          <a:ln>
            <a:noFill/>
          </a:ln>
        </p:spPr>
        <p:txBody>
          <a:bodyPr wrap="square">
            <a:spAutoFit/>
          </a:bodyPr>
          <a:lstStyle/>
          <a:p>
            <a:pPr>
              <a:lnSpc>
                <a:spcPts val="2400"/>
              </a:lnSpc>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配置思路：</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176530" indent="-176530">
              <a:lnSpc>
                <a:spcPts val="2400"/>
              </a:lnSpc>
              <a:buFont typeface="+mj-lt"/>
              <a:buAutoNum type="arabicPeriod"/>
            </a:pPr>
            <a:r>
              <a:rPr lang="zh-CN"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完成设备接口</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IPv6</a:t>
            </a:r>
            <a:r>
              <a:rPr lang="zh-CN"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地址及</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IS-IS</a:t>
            </a:r>
            <a:r>
              <a:rPr lang="zh-CN"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配置</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（略）。</a:t>
            </a:r>
            <a:endParaRPr lang="zh-CN"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marL="176530" indent="-176530">
              <a:lnSpc>
                <a:spcPts val="2400"/>
              </a:lnSpc>
              <a:buFont typeface="+mj-lt"/>
              <a:buAutoNum type="arabicPeriod"/>
            </a:pP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在</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PE1</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与</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PE2</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之间建立</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MP-BGP</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对等体关系。</a:t>
            </a:r>
            <a:endPar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marL="176530" indent="-176530">
              <a:lnSpc>
                <a:spcPts val="2400"/>
              </a:lnSpc>
              <a:buFont typeface="+mj-lt"/>
              <a:buAutoNum type="arabicPeriod"/>
            </a:pP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骨干网上使能</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Segment Routing</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，建立</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SRv6 BE</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路径。</a:t>
            </a:r>
            <a:endPar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marL="176530" indent="-176530">
              <a:lnSpc>
                <a:spcPts val="2400"/>
              </a:lnSpc>
              <a:buFont typeface="+mj-lt"/>
              <a:buAutoNum type="arabicPeriod"/>
            </a:pP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PE</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上配置使能</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IPv4</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地址族</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VPN</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实例。</a:t>
            </a:r>
            <a:endPar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marL="176530" indent="-176530">
              <a:lnSpc>
                <a:spcPts val="2400"/>
              </a:lnSpc>
              <a:buFont typeface="+mj-lt"/>
              <a:buAutoNum type="arabicPeriod"/>
            </a:pP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PE</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之间配置</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MP-IBGP</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交换路由信息。</a:t>
            </a:r>
            <a:endPar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marL="176530" indent="-176530">
              <a:lnSpc>
                <a:spcPts val="2400"/>
              </a:lnSpc>
              <a:buFont typeface="+mj-lt"/>
              <a:buAutoNum type="arabicPeriod"/>
            </a:pP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结果验证。</a:t>
            </a:r>
            <a:endParaRPr lang="zh-CN"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 name="文本框 47"/>
          <p:cNvSpPr txBox="1"/>
          <p:nvPr/>
        </p:nvSpPr>
        <p:spPr bwMode="gray">
          <a:xfrm>
            <a:off x="6278213" y="1793013"/>
            <a:ext cx="5195653" cy="3416320"/>
          </a:xfrm>
          <a:prstGeom prst="rect">
            <a:avLst/>
          </a:prstGeom>
          <a:solidFill>
            <a:schemeClr val="bg1">
              <a:lumMod val="85000"/>
            </a:schemeClr>
          </a:solidFill>
          <a:ln>
            <a:noFill/>
          </a:ln>
        </p:spPr>
        <p:txBody>
          <a:bodyPr wrap="squar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&lt;PE2&gt;display segment-routing ipv6 local-</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sid</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forwarding</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My Local-SID Forwarding Table</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SID        : 2001:DB8:300::1:0:0/128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FuncType</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 End</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LocatorName</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as100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LocatorID</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2</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SID        : 2001:DB8:300::1:0:1/128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FuncType</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 End</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LocatorName</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as100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LocatorID</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2</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SID        : 2001:DB8:300::1:0:2/128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FuncType</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End.X</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LocatorName</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as100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LocatorID</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2</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SID        : 2001:DB8:300::1:0:3/128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FuncType</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End.X</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LocatorName</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as100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LocatorID</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2</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SID        : 2001:DB8:300::1:0:20/128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FuncType</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 End.DT4</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LocatorName</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as100</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0" name="文本框 49"/>
          <p:cNvSpPr txBox="1"/>
          <p:nvPr/>
        </p:nvSpPr>
        <p:spPr bwMode="gray">
          <a:xfrm>
            <a:off x="6335282" y="5384112"/>
            <a:ext cx="5138584" cy="307777"/>
          </a:xfrm>
          <a:prstGeom prst="rect">
            <a:avLst/>
          </a:prstGeom>
          <a:solidFill>
            <a:srgbClr val="BEE9EE"/>
          </a:solidFill>
          <a:ln>
            <a:solidFill>
              <a:srgbClr val="94DAE2"/>
            </a:solidFill>
          </a:ln>
        </p:spPr>
        <p:txBody>
          <a:bodyPr wrap="square" rtlCol="0">
            <a:spAutoFit/>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PE2</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本地生成的</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End.DT4</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类型的</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SID</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PE2</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将该</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SID</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发布给</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PE1</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2" name="矩形 51"/>
          <p:cNvSpPr/>
          <p:nvPr/>
        </p:nvSpPr>
        <p:spPr bwMode="gray">
          <a:xfrm>
            <a:off x="6339543" y="4746530"/>
            <a:ext cx="4887257" cy="206034"/>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53" name="肘形连接符 52"/>
          <p:cNvCxnSpPr>
            <a:stCxn id="52" idx="1"/>
            <a:endCxn id="50" idx="1"/>
          </p:cNvCxnSpPr>
          <p:nvPr/>
        </p:nvCxnSpPr>
        <p:spPr bwMode="gray">
          <a:xfrm rot="10800000" flipV="1">
            <a:off x="6335283" y="4849547"/>
            <a:ext cx="4261" cy="688454"/>
          </a:xfrm>
          <a:prstGeom prst="bentConnector3">
            <a:avLst>
              <a:gd name="adj1" fmla="val 5464938"/>
            </a:avLst>
          </a:prstGeom>
          <a:ln w="19050">
            <a:solidFill>
              <a:srgbClr val="56C4D2"/>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bwMode="gray"/>
        <p:txBody>
          <a:bodyPr>
            <a:noAutofit/>
          </a:bodyPr>
          <a:lstStyle/>
          <a:p>
            <a:r>
              <a:rPr lang="en-US" altLang="zh-CN" dirty="0">
                <a:sym typeface="Huawei Sans" panose="020C0503030203020204" pitchFamily="34" charset="0"/>
              </a:rPr>
              <a:t>L3VPNv4 over SRv6 BE (6)</a:t>
            </a:r>
            <a:br>
              <a:rPr lang="en-US" altLang="zh-CN" dirty="0">
                <a:sym typeface="Huawei Sans" panose="020C0503030203020204" pitchFamily="34" charset="0"/>
              </a:rPr>
            </a:br>
            <a:endParaRPr lang="zh-CN" altLang="en-US" dirty="0">
              <a:sym typeface="Huawei Sans" panose="020C0503030203020204" pitchFamily="34" charset="0"/>
            </a:endParaRPr>
          </a:p>
        </p:txBody>
      </p:sp>
      <p:sp>
        <p:nvSpPr>
          <p:cNvPr id="5" name="矩形 4"/>
          <p:cNvSpPr/>
          <p:nvPr/>
        </p:nvSpPr>
        <p:spPr bwMode="gray">
          <a:xfrm>
            <a:off x="4190770" y="2950258"/>
            <a:ext cx="1826072" cy="780536"/>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矩形 5"/>
          <p:cNvSpPr/>
          <p:nvPr/>
        </p:nvSpPr>
        <p:spPr bwMode="gray">
          <a:xfrm>
            <a:off x="522292" y="2950258"/>
            <a:ext cx="1826072" cy="780536"/>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矩形 6"/>
          <p:cNvSpPr/>
          <p:nvPr/>
        </p:nvSpPr>
        <p:spPr bwMode="gray">
          <a:xfrm>
            <a:off x="522292" y="1487150"/>
            <a:ext cx="5494550" cy="1238390"/>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 name="标题 1"/>
          <p:cNvSpPr txBox="1"/>
          <p:nvPr/>
        </p:nvSpPr>
        <p:spPr bwMode="gray">
          <a:xfrm>
            <a:off x="452438" y="447468"/>
            <a:ext cx="11296649" cy="497095"/>
          </a:xfrm>
          <a:prstGeom prst="rect">
            <a:avLst/>
          </a:prstGeom>
        </p:spPr>
        <p:txBody>
          <a:bodyPr lIns="0" tIns="0" rIns="0" bIns="0" anchor="t">
            <a:normAutofit/>
          </a:bodyPr>
          <a:lstStyle>
            <a:lvl1pPr algn="l" defTabSz="913765" rtl="0" eaLnBrk="1" fontAlgn="base" latinLnBrk="0" hangingPunct="1">
              <a:lnSpc>
                <a:spcPct val="90000"/>
              </a:lnSpc>
              <a:spcBef>
                <a:spcPct val="0"/>
              </a:spcBef>
              <a:buNone/>
              <a:defRPr lang="zh-CN" altLang="en-US" sz="3200" kern="1200" baseline="0" dirty="0">
                <a:solidFill>
                  <a:schemeClr val="tx1"/>
                </a:solidFill>
                <a:latin typeface="Huawei Sans" panose="020C0503030203020204" pitchFamily="34" charset="0"/>
                <a:ea typeface="方正兰亭黑简体" panose="02000000000000000000" pitchFamily="2" charset="-122"/>
                <a:cs typeface="+mn-cs"/>
              </a:defRPr>
            </a:lvl1pPr>
          </a:lstStyle>
          <a:p>
            <a:endParaRPr lang="en-US" dirty="0">
              <a:sym typeface="Huawei Sans" panose="020C0503030203020204" pitchFamily="34" charset="0"/>
            </a:endParaRPr>
          </a:p>
        </p:txBody>
      </p:sp>
      <p:cxnSp>
        <p:nvCxnSpPr>
          <p:cNvPr id="10" name="直接连接符 9"/>
          <p:cNvCxnSpPr>
            <a:stCxn id="12" idx="3"/>
            <a:endCxn id="16" idx="1"/>
          </p:cNvCxnSpPr>
          <p:nvPr/>
        </p:nvCxnSpPr>
        <p:spPr bwMode="gray">
          <a:xfrm>
            <a:off x="1267619" y="2489567"/>
            <a:ext cx="398533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矩形 10"/>
          <p:cNvSpPr/>
          <p:nvPr/>
        </p:nvSpPr>
        <p:spPr bwMode="gray">
          <a:xfrm>
            <a:off x="748992" y="1996788"/>
            <a:ext cx="497252"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PE1</a:t>
            </a:r>
            <a:endParaRPr lang="zh-CN" altLang="en-US" sz="1400" b="1" dirty="0">
              <a:solidFill>
                <a:srgbClr val="FF3300"/>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2" name="图片 11"/>
          <p:cNvPicPr/>
          <p:nvPr/>
        </p:nvPicPr>
        <p:blipFill>
          <a:blip r:embed="rId1" cstate="print">
            <a:extLst>
              <a:ext uri="{28A0092B-C50C-407E-A947-70E740481C1C}">
                <a14:useLocalDpi xmlns:a14="http://schemas.microsoft.com/office/drawing/2010/main" val="0"/>
              </a:ext>
            </a:extLst>
          </a:blip>
          <a:stretch>
            <a:fillRect/>
          </a:stretch>
        </p:blipFill>
        <p:spPr bwMode="gray">
          <a:xfrm>
            <a:off x="727619" y="2268167"/>
            <a:ext cx="540000" cy="442800"/>
          </a:xfrm>
          <a:prstGeom prst="rect">
            <a:avLst/>
          </a:prstGeom>
        </p:spPr>
      </p:pic>
      <p:sp>
        <p:nvSpPr>
          <p:cNvPr id="13" name="矩形 12"/>
          <p:cNvSpPr/>
          <p:nvPr/>
        </p:nvSpPr>
        <p:spPr bwMode="gray">
          <a:xfrm>
            <a:off x="3138299" y="1996788"/>
            <a:ext cx="292068" cy="307777"/>
          </a:xfrm>
          <a:prstGeom prst="rect">
            <a:avLst/>
          </a:prstGeom>
        </p:spPr>
        <p:txBody>
          <a:bodyPr wrap="none">
            <a:spAutoFit/>
          </a:bodyPr>
          <a:lstStyle/>
          <a:p>
            <a:pPr algn="ctr"/>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P</a:t>
            </a:r>
            <a:endParaRPr lang="zh-CN" altLang="en-US" sz="1400" b="1">
              <a:solidFill>
                <a:srgbClr val="FF3300"/>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4" name="图片 13"/>
          <p:cNvPicPr/>
          <p:nvPr/>
        </p:nvPicPr>
        <p:blipFill>
          <a:blip r:embed="rId1" cstate="print">
            <a:extLst>
              <a:ext uri="{28A0092B-C50C-407E-A947-70E740481C1C}">
                <a14:useLocalDpi xmlns:a14="http://schemas.microsoft.com/office/drawing/2010/main" val="0"/>
              </a:ext>
            </a:extLst>
          </a:blip>
          <a:stretch>
            <a:fillRect/>
          </a:stretch>
        </p:blipFill>
        <p:spPr bwMode="gray">
          <a:xfrm>
            <a:off x="2991152" y="2268167"/>
            <a:ext cx="540000" cy="442800"/>
          </a:xfrm>
          <a:prstGeom prst="rect">
            <a:avLst/>
          </a:prstGeom>
        </p:spPr>
      </p:pic>
      <p:sp>
        <p:nvSpPr>
          <p:cNvPr id="15" name="矩形 14"/>
          <p:cNvSpPr/>
          <p:nvPr/>
        </p:nvSpPr>
        <p:spPr bwMode="gray">
          <a:xfrm>
            <a:off x="5283807" y="1996788"/>
            <a:ext cx="497252"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PE2</a:t>
            </a:r>
            <a:endParaRPr lang="zh-CN" altLang="en-US" sz="1400" b="1" dirty="0">
              <a:solidFill>
                <a:srgbClr val="FF3300"/>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6" name="图片 15"/>
          <p:cNvPicPr/>
          <p:nvPr/>
        </p:nvPicPr>
        <p:blipFill>
          <a:blip r:embed="rId1" cstate="print">
            <a:extLst>
              <a:ext uri="{28A0092B-C50C-407E-A947-70E740481C1C}">
                <a14:useLocalDpi xmlns:a14="http://schemas.microsoft.com/office/drawing/2010/main" val="0"/>
              </a:ext>
            </a:extLst>
          </a:blip>
          <a:stretch>
            <a:fillRect/>
          </a:stretch>
        </p:blipFill>
        <p:spPr bwMode="gray">
          <a:xfrm>
            <a:off x="5252957" y="2268167"/>
            <a:ext cx="540000" cy="442800"/>
          </a:xfrm>
          <a:prstGeom prst="rect">
            <a:avLst/>
          </a:prstGeom>
        </p:spPr>
      </p:pic>
      <p:sp>
        <p:nvSpPr>
          <p:cNvPr id="17" name="矩形 16"/>
          <p:cNvSpPr/>
          <p:nvPr/>
        </p:nvSpPr>
        <p:spPr bwMode="gray">
          <a:xfrm>
            <a:off x="1401461" y="2245468"/>
            <a:ext cx="1455848" cy="276999"/>
          </a:xfrm>
          <a:prstGeom prst="rect">
            <a:avLst/>
          </a:prstGeom>
        </p:spPr>
        <p:txBody>
          <a:bodyPr wrap="none">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2001:DB88:12::/96</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 name="矩形 17"/>
          <p:cNvSpPr/>
          <p:nvPr/>
        </p:nvSpPr>
        <p:spPr bwMode="gray">
          <a:xfrm>
            <a:off x="437904" y="1564429"/>
            <a:ext cx="1455848" cy="461665"/>
          </a:xfrm>
          <a:prstGeom prst="rect">
            <a:avLst/>
          </a:prstGeom>
        </p:spPr>
        <p:txBody>
          <a:bodyPr wrap="none">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Loopback0</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2001:DB8:1::1/128</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文本框 22"/>
          <p:cNvSpPr txBox="1"/>
          <p:nvPr/>
        </p:nvSpPr>
        <p:spPr bwMode="gray">
          <a:xfrm>
            <a:off x="4251736" y="3039452"/>
            <a:ext cx="987770" cy="461665"/>
          </a:xfrm>
          <a:prstGeom prst="rect">
            <a:avLst/>
          </a:prstGeom>
          <a:noFill/>
          <a:ln>
            <a:noFill/>
          </a:ln>
        </p:spPr>
        <p:txBody>
          <a:bodyPr wrap="non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Loopback1 </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10.1.5.5/32</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矩形 24"/>
          <p:cNvSpPr/>
          <p:nvPr/>
        </p:nvSpPr>
        <p:spPr bwMode="gray">
          <a:xfrm>
            <a:off x="1199332" y="2266253"/>
            <a:ext cx="306494" cy="276999"/>
          </a:xfrm>
          <a:prstGeom prst="rect">
            <a:avLst/>
          </a:prstGeom>
        </p:spPr>
        <p:txBody>
          <a:bodyPr wrap="none">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:1</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矩形 25"/>
          <p:cNvSpPr/>
          <p:nvPr/>
        </p:nvSpPr>
        <p:spPr bwMode="gray">
          <a:xfrm>
            <a:off x="2764735" y="2266253"/>
            <a:ext cx="306494" cy="276999"/>
          </a:xfrm>
          <a:prstGeom prst="rect">
            <a:avLst/>
          </a:prstGeom>
        </p:spPr>
        <p:txBody>
          <a:bodyPr wrap="none">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 name="矩形 26"/>
          <p:cNvSpPr/>
          <p:nvPr/>
        </p:nvSpPr>
        <p:spPr bwMode="gray">
          <a:xfrm>
            <a:off x="3447434" y="2266253"/>
            <a:ext cx="306494" cy="276999"/>
          </a:xfrm>
          <a:prstGeom prst="rect">
            <a:avLst/>
          </a:prstGeom>
        </p:spPr>
        <p:txBody>
          <a:bodyPr wrap="none">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矩形 27"/>
          <p:cNvSpPr/>
          <p:nvPr/>
        </p:nvSpPr>
        <p:spPr bwMode="gray">
          <a:xfrm>
            <a:off x="5024712" y="2266253"/>
            <a:ext cx="306494" cy="276999"/>
          </a:xfrm>
          <a:prstGeom prst="rect">
            <a:avLst/>
          </a:prstGeom>
        </p:spPr>
        <p:txBody>
          <a:bodyPr wrap="none">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:3</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9" name="图片 28"/>
          <p:cNvPicPr/>
          <p:nvPr/>
        </p:nvPicPr>
        <p:blipFill>
          <a:blip r:embed="rId1" cstate="print">
            <a:extLst>
              <a:ext uri="{28A0092B-C50C-407E-A947-70E740481C1C}">
                <a14:useLocalDpi xmlns:a14="http://schemas.microsoft.com/office/drawing/2010/main" val="0"/>
              </a:ext>
            </a:extLst>
          </a:blip>
          <a:stretch>
            <a:fillRect/>
          </a:stretch>
        </p:blipFill>
        <p:spPr bwMode="gray">
          <a:xfrm>
            <a:off x="727619" y="3010900"/>
            <a:ext cx="540000" cy="442800"/>
          </a:xfrm>
          <a:prstGeom prst="rect">
            <a:avLst/>
          </a:prstGeom>
        </p:spPr>
      </p:pic>
      <p:pic>
        <p:nvPicPr>
          <p:cNvPr id="30" name="图片 29"/>
          <p:cNvPicPr/>
          <p:nvPr/>
        </p:nvPicPr>
        <p:blipFill>
          <a:blip r:embed="rId1" cstate="print">
            <a:extLst>
              <a:ext uri="{28A0092B-C50C-407E-A947-70E740481C1C}">
                <a14:useLocalDpi xmlns:a14="http://schemas.microsoft.com/office/drawing/2010/main" val="0"/>
              </a:ext>
            </a:extLst>
          </a:blip>
          <a:stretch>
            <a:fillRect/>
          </a:stretch>
        </p:blipFill>
        <p:spPr bwMode="gray">
          <a:xfrm>
            <a:off x="5252957" y="3010900"/>
            <a:ext cx="540000" cy="442800"/>
          </a:xfrm>
          <a:prstGeom prst="rect">
            <a:avLst/>
          </a:prstGeom>
        </p:spPr>
      </p:pic>
      <p:cxnSp>
        <p:nvCxnSpPr>
          <p:cNvPr id="31" name="直接连接符 30"/>
          <p:cNvCxnSpPr>
            <a:stCxn id="12" idx="2"/>
            <a:endCxn id="29" idx="0"/>
          </p:cNvCxnSpPr>
          <p:nvPr/>
        </p:nvCxnSpPr>
        <p:spPr bwMode="gray">
          <a:xfrm>
            <a:off x="997619" y="2710967"/>
            <a:ext cx="0" cy="29993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a:stCxn id="16" idx="2"/>
            <a:endCxn id="30" idx="0"/>
          </p:cNvCxnSpPr>
          <p:nvPr/>
        </p:nvCxnSpPr>
        <p:spPr bwMode="gray">
          <a:xfrm>
            <a:off x="5522957" y="2710967"/>
            <a:ext cx="0" cy="29993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3" name="矩形 32"/>
          <p:cNvSpPr/>
          <p:nvPr/>
        </p:nvSpPr>
        <p:spPr bwMode="gray">
          <a:xfrm>
            <a:off x="746588" y="3501117"/>
            <a:ext cx="502061"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CE1</a:t>
            </a:r>
            <a:endParaRPr lang="zh-CN" altLang="en-US" sz="1400" b="1" dirty="0">
              <a:solidFill>
                <a:srgbClr val="FF33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矩形 33"/>
          <p:cNvSpPr/>
          <p:nvPr/>
        </p:nvSpPr>
        <p:spPr bwMode="gray">
          <a:xfrm>
            <a:off x="5281403" y="3501117"/>
            <a:ext cx="502061"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CE2</a:t>
            </a:r>
            <a:endParaRPr lang="zh-CN" altLang="en-US" sz="1400" b="1" dirty="0">
              <a:solidFill>
                <a:srgbClr val="FF33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文本框 34"/>
          <p:cNvSpPr txBox="1"/>
          <p:nvPr/>
        </p:nvSpPr>
        <p:spPr bwMode="gray">
          <a:xfrm>
            <a:off x="1290546" y="3039452"/>
            <a:ext cx="987770" cy="461665"/>
          </a:xfrm>
          <a:prstGeom prst="rect">
            <a:avLst/>
          </a:prstGeom>
          <a:noFill/>
          <a:ln>
            <a:noFill/>
          </a:ln>
        </p:spPr>
        <p:txBody>
          <a:bodyPr wrap="non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Loopback1 </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10.1.4.4/32</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 name="文本框 36"/>
          <p:cNvSpPr txBox="1"/>
          <p:nvPr/>
        </p:nvSpPr>
        <p:spPr bwMode="gray">
          <a:xfrm>
            <a:off x="1576705" y="3492845"/>
            <a:ext cx="848309" cy="276999"/>
          </a:xfrm>
          <a:prstGeom prst="rect">
            <a:avLst/>
          </a:prstGeom>
          <a:noFill/>
        </p:spPr>
        <p:txBody>
          <a:bodyPr wrap="none" rtlCol="0">
            <a:spAutoFit/>
          </a:bodyPr>
          <a:lstStyle/>
          <a:p>
            <a:r>
              <a:rPr lang="en-US" altLang="zh-CN" sz="12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AS 65000</a:t>
            </a:r>
            <a:endParaRPr lang="en-US" altLang="zh-CN" sz="12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文本框 37"/>
          <p:cNvSpPr txBox="1"/>
          <p:nvPr/>
        </p:nvSpPr>
        <p:spPr bwMode="gray">
          <a:xfrm>
            <a:off x="4190770" y="3492845"/>
            <a:ext cx="848309" cy="276999"/>
          </a:xfrm>
          <a:prstGeom prst="rect">
            <a:avLst/>
          </a:prstGeom>
          <a:noFill/>
        </p:spPr>
        <p:txBody>
          <a:bodyPr wrap="none" rtlCol="0">
            <a:spAutoFit/>
          </a:bodyPr>
          <a:lstStyle/>
          <a:p>
            <a:r>
              <a:rPr lang="en-US" altLang="zh-CN" sz="12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AS 65001</a:t>
            </a:r>
            <a:endParaRPr lang="en-US" altLang="zh-CN" sz="12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文本框 38"/>
          <p:cNvSpPr txBox="1"/>
          <p:nvPr/>
        </p:nvSpPr>
        <p:spPr bwMode="gray">
          <a:xfrm>
            <a:off x="542427" y="1427904"/>
            <a:ext cx="675185" cy="276999"/>
          </a:xfrm>
          <a:prstGeom prst="rect">
            <a:avLst/>
          </a:prstGeom>
          <a:noFill/>
        </p:spPr>
        <p:txBody>
          <a:bodyPr wrap="none" rtlCol="0">
            <a:spAutoFit/>
          </a:bodyPr>
          <a:lstStyle/>
          <a:p>
            <a:r>
              <a:rPr lang="en-US" altLang="zh-CN" sz="12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AS 100</a:t>
            </a:r>
            <a:endParaRPr lang="en-US" altLang="zh-CN" sz="12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矩形 39"/>
          <p:cNvSpPr/>
          <p:nvPr/>
        </p:nvSpPr>
        <p:spPr bwMode="gray">
          <a:xfrm>
            <a:off x="942842" y="2695509"/>
            <a:ext cx="1186543" cy="307777"/>
          </a:xfrm>
          <a:prstGeom prst="rect">
            <a:avLst/>
          </a:prstGeom>
        </p:spPr>
        <p:txBody>
          <a:bodyPr wrap="none">
            <a:spAutoFit/>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10.0.14.0/24</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矩形 40"/>
          <p:cNvSpPr/>
          <p:nvPr/>
        </p:nvSpPr>
        <p:spPr bwMode="gray">
          <a:xfrm>
            <a:off x="4397520" y="2695509"/>
            <a:ext cx="1186543" cy="307777"/>
          </a:xfrm>
          <a:prstGeom prst="rect">
            <a:avLst/>
          </a:prstGeom>
        </p:spPr>
        <p:txBody>
          <a:bodyPr wrap="none">
            <a:spAutoFit/>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10.0.35.0/24</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矩形 41"/>
          <p:cNvSpPr/>
          <p:nvPr/>
        </p:nvSpPr>
        <p:spPr bwMode="gray">
          <a:xfrm>
            <a:off x="2556409" y="1564429"/>
            <a:ext cx="1455848" cy="461665"/>
          </a:xfrm>
          <a:prstGeom prst="rect">
            <a:avLst/>
          </a:prstGeom>
        </p:spPr>
        <p:txBody>
          <a:bodyPr wrap="none">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Loopback0</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2001:DB8:2::2/128</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矩形 42"/>
          <p:cNvSpPr/>
          <p:nvPr/>
        </p:nvSpPr>
        <p:spPr bwMode="gray">
          <a:xfrm>
            <a:off x="4630687" y="1564429"/>
            <a:ext cx="1455848" cy="461665"/>
          </a:xfrm>
          <a:prstGeom prst="rect">
            <a:avLst/>
          </a:prstGeom>
        </p:spPr>
        <p:txBody>
          <a:bodyPr wrap="none">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Loopback0</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2001:DB8:3::3/128</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矩形 43"/>
          <p:cNvSpPr/>
          <p:nvPr/>
        </p:nvSpPr>
        <p:spPr bwMode="gray">
          <a:xfrm>
            <a:off x="3694397" y="2245468"/>
            <a:ext cx="1455848" cy="276999"/>
          </a:xfrm>
          <a:prstGeom prst="rect">
            <a:avLst/>
          </a:prstGeom>
        </p:spPr>
        <p:txBody>
          <a:bodyPr wrap="none">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2001:DB88:23::/96</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文本框 44"/>
          <p:cNvSpPr txBox="1"/>
          <p:nvPr/>
        </p:nvSpPr>
        <p:spPr bwMode="gray">
          <a:xfrm>
            <a:off x="6225255" y="1514182"/>
            <a:ext cx="3183885" cy="307777"/>
          </a:xfrm>
          <a:prstGeom prst="rect">
            <a:avLst/>
          </a:prstGeom>
          <a:noFill/>
        </p:spPr>
        <p:txBody>
          <a:bodyPr wrap="none" rtlCol="0">
            <a:spAutoFit/>
          </a:bodyPr>
          <a:lstStyle/>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在</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PE1</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设备上查看</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VPNv4</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的路由信息。</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矩形 46"/>
          <p:cNvSpPr/>
          <p:nvPr/>
        </p:nvSpPr>
        <p:spPr bwMode="gray">
          <a:xfrm>
            <a:off x="522292" y="3756914"/>
            <a:ext cx="5136046" cy="2246769"/>
          </a:xfrm>
          <a:prstGeom prst="rect">
            <a:avLst/>
          </a:prstGeom>
          <a:ln>
            <a:noFill/>
          </a:ln>
        </p:spPr>
        <p:txBody>
          <a:bodyPr wrap="square">
            <a:spAutoFit/>
          </a:bodyPr>
          <a:lstStyle/>
          <a:p>
            <a:pPr>
              <a:lnSpc>
                <a:spcPts val="2400"/>
              </a:lnSpc>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配置思路：</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176530" indent="-176530">
              <a:lnSpc>
                <a:spcPts val="2400"/>
              </a:lnSpc>
              <a:buFont typeface="+mj-lt"/>
              <a:buAutoNum type="arabicPeriod"/>
            </a:pPr>
            <a:r>
              <a:rPr lang="zh-CN"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完成设备接口</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IPv6</a:t>
            </a:r>
            <a:r>
              <a:rPr lang="zh-CN"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地址及</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IS-IS</a:t>
            </a:r>
            <a:r>
              <a:rPr lang="zh-CN"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配置</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（略）。</a:t>
            </a:r>
            <a:endParaRPr lang="zh-CN"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marL="176530" indent="-176530">
              <a:lnSpc>
                <a:spcPts val="2400"/>
              </a:lnSpc>
              <a:buFont typeface="+mj-lt"/>
              <a:buAutoNum type="arabicPeriod"/>
            </a:pP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在</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PE1</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与</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PE2</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之间建立</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MP-BGP</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对等体关系。</a:t>
            </a:r>
            <a:endPar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marL="176530" indent="-176530">
              <a:lnSpc>
                <a:spcPts val="2400"/>
              </a:lnSpc>
              <a:buFont typeface="+mj-lt"/>
              <a:buAutoNum type="arabicPeriod"/>
            </a:pP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骨干网上使能</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Segment Routing</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，建立</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SRv6 BE</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路径。</a:t>
            </a:r>
            <a:endPar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marL="176530" indent="-176530">
              <a:lnSpc>
                <a:spcPts val="2400"/>
              </a:lnSpc>
              <a:buFont typeface="+mj-lt"/>
              <a:buAutoNum type="arabicPeriod"/>
            </a:pP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PE</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上配置使能</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IPv4</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地址族</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VPN</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实例。</a:t>
            </a:r>
            <a:endPar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marL="176530" indent="-176530">
              <a:lnSpc>
                <a:spcPts val="2400"/>
              </a:lnSpc>
              <a:buFont typeface="+mj-lt"/>
              <a:buAutoNum type="arabicPeriod"/>
            </a:pP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PE</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之间配置</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MP-IBGP</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交换路由信息。</a:t>
            </a:r>
            <a:endPar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marL="176530" indent="-176530">
              <a:lnSpc>
                <a:spcPts val="2400"/>
              </a:lnSpc>
              <a:buFont typeface="+mj-lt"/>
              <a:buAutoNum type="arabicPeriod"/>
            </a:pP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结果验证。</a:t>
            </a:r>
            <a:endParaRPr lang="zh-CN"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 name="文本框 47"/>
          <p:cNvSpPr txBox="1"/>
          <p:nvPr/>
        </p:nvSpPr>
        <p:spPr bwMode="gray">
          <a:xfrm>
            <a:off x="6278213" y="1793013"/>
            <a:ext cx="5195653" cy="3416320"/>
          </a:xfrm>
          <a:prstGeom prst="rect">
            <a:avLst/>
          </a:prstGeom>
          <a:solidFill>
            <a:schemeClr val="bg1">
              <a:lumMod val="85000"/>
            </a:schemeClr>
          </a:solidFill>
          <a:ln>
            <a:noFill/>
          </a:ln>
        </p:spPr>
        <p:txBody>
          <a:bodyPr wrap="squar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&lt;PE1&gt;display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bgp</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vpnv4 al routing-table 10.1.5.5</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BGP local router ID : 10.0.1.1</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Local AS number : 100</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Total routes of Route Distinguisher(100:1): 1</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BGP routing table entry information of 10.1.5.5/32:</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Label information (Received/Applied): 3/NULL</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From: 2001:DB8:3::3 (10.0.3.3)</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Route Duration: 0d00h15m54s</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Relay IP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Nexthop</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FE80::DE99:14FF:FE7A:C301</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Relay IP Out-Interface: GigabitEthernet0/3/0.12</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Relay Tunnel Out-Interface:</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Original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nexthop</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2001:DB8:3::3</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Qos</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information : 0x0</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Ext-Community: RT &lt;111 : 1&gt;</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Prefix-</a:t>
            </a:r>
            <a:r>
              <a:rPr lang="en-US" altLang="zh-CN" sz="1200" b="1" dirty="0" err="1">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sid</a:t>
            </a: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 2001:DB8:300::1:0:20</a:t>
            </a:r>
            <a:endPar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AS-path Nil, origin incomplete, MED 0,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localpref</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100,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pref-val</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0, valid, internal, best, select, pre 255, IGP cost 20</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Not advertised to any peer yet</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矩形 48"/>
          <p:cNvSpPr/>
          <p:nvPr/>
        </p:nvSpPr>
        <p:spPr bwMode="gray">
          <a:xfrm>
            <a:off x="6364943" y="2936435"/>
            <a:ext cx="2245657" cy="206034"/>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0" name="文本框 49"/>
          <p:cNvSpPr txBox="1"/>
          <p:nvPr/>
        </p:nvSpPr>
        <p:spPr bwMode="gray">
          <a:xfrm>
            <a:off x="6335282" y="5384112"/>
            <a:ext cx="5243160" cy="307777"/>
          </a:xfrm>
          <a:prstGeom prst="rect">
            <a:avLst/>
          </a:prstGeom>
          <a:solidFill>
            <a:srgbClr val="BEE9EE"/>
          </a:solidFill>
          <a:ln>
            <a:solidFill>
              <a:srgbClr val="94DAE2"/>
            </a:solidFill>
          </a:ln>
        </p:spPr>
        <p:txBody>
          <a:bodyPr wrap="square" rtlCol="0">
            <a:spAutoFit/>
          </a:bodyPr>
          <a:lstStyle/>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对等体的</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IPv6</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地址；</a:t>
            </a:r>
            <a:r>
              <a:rPr lang="en-US" altLang="zh-CN" sz="14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10.1.5.5</a:t>
            </a:r>
            <a:r>
              <a:rPr lang="zh-CN" altLang="en-US" sz="14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对应的</a:t>
            </a:r>
            <a:r>
              <a:rPr lang="en-US" altLang="zh-CN" sz="14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SID</a:t>
            </a:r>
            <a:r>
              <a:rPr lang="zh-CN" altLang="en-US" sz="14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，和</a:t>
            </a:r>
            <a:r>
              <a:rPr lang="en-US" altLang="zh-CN" sz="14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PE2</a:t>
            </a:r>
            <a:r>
              <a:rPr lang="zh-CN" altLang="en-US" sz="14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本地分配的相同。</a:t>
            </a:r>
            <a:endParaRPr lang="zh-CN" altLang="en-US" sz="14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51" name="肘形连接符 50"/>
          <p:cNvCxnSpPr>
            <a:stCxn id="49" idx="1"/>
            <a:endCxn id="50" idx="1"/>
          </p:cNvCxnSpPr>
          <p:nvPr/>
        </p:nvCxnSpPr>
        <p:spPr bwMode="gray">
          <a:xfrm rot="10800000" flipV="1">
            <a:off x="6335283" y="3039451"/>
            <a:ext cx="29661" cy="2498549"/>
          </a:xfrm>
          <a:prstGeom prst="bentConnector3">
            <a:avLst>
              <a:gd name="adj1" fmla="val 870709"/>
            </a:avLst>
          </a:prstGeom>
          <a:ln w="19050">
            <a:solidFill>
              <a:srgbClr val="56C4D2"/>
            </a:solidFill>
            <a:tailEnd type="triangle"/>
          </a:ln>
        </p:spPr>
        <p:style>
          <a:lnRef idx="1">
            <a:schemeClr val="accent1"/>
          </a:lnRef>
          <a:fillRef idx="0">
            <a:schemeClr val="accent1"/>
          </a:fillRef>
          <a:effectRef idx="0">
            <a:schemeClr val="accent1"/>
          </a:effectRef>
          <a:fontRef idx="minor">
            <a:schemeClr val="tx1"/>
          </a:fontRef>
        </p:style>
      </p:cxnSp>
      <p:sp>
        <p:nvSpPr>
          <p:cNvPr id="52" name="矩形 51"/>
          <p:cNvSpPr/>
          <p:nvPr/>
        </p:nvSpPr>
        <p:spPr bwMode="gray">
          <a:xfrm>
            <a:off x="6364943" y="4378230"/>
            <a:ext cx="2398057" cy="206034"/>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53" name="肘形连接符 52"/>
          <p:cNvCxnSpPr>
            <a:stCxn id="52" idx="1"/>
            <a:endCxn id="50" idx="1"/>
          </p:cNvCxnSpPr>
          <p:nvPr/>
        </p:nvCxnSpPr>
        <p:spPr bwMode="gray">
          <a:xfrm rot="10800000" flipV="1">
            <a:off x="6335283" y="4481247"/>
            <a:ext cx="29661" cy="1056754"/>
          </a:xfrm>
          <a:prstGeom prst="bentConnector3">
            <a:avLst>
              <a:gd name="adj1" fmla="val 870709"/>
            </a:avLst>
          </a:prstGeom>
          <a:ln w="19050">
            <a:solidFill>
              <a:srgbClr val="56C4D2"/>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bwMode="gray"/>
        <p:txBody>
          <a:bodyPr>
            <a:noAutofit/>
          </a:bodyPr>
          <a:lstStyle/>
          <a:p>
            <a:r>
              <a:rPr lang="en-US" altLang="zh-CN" dirty="0">
                <a:sym typeface="Huawei Sans" panose="020C0503030203020204" pitchFamily="34" charset="0"/>
              </a:rPr>
              <a:t>L3VPNv4 over SRv6 BE (7)</a:t>
            </a:r>
            <a:br>
              <a:rPr lang="en-US" altLang="zh-CN" dirty="0">
                <a:sym typeface="Huawei Sans" panose="020C0503030203020204" pitchFamily="34" charset="0"/>
              </a:rPr>
            </a:br>
            <a:endParaRPr lang="zh-CN" altLang="en-US" dirty="0">
              <a:sym typeface="Huawei Sans" panose="020C0503030203020204" pitchFamily="34" charset="0"/>
            </a:endParaRPr>
          </a:p>
        </p:txBody>
      </p:sp>
      <p:sp>
        <p:nvSpPr>
          <p:cNvPr id="5" name="矩形 4"/>
          <p:cNvSpPr/>
          <p:nvPr/>
        </p:nvSpPr>
        <p:spPr bwMode="gray">
          <a:xfrm>
            <a:off x="4190770" y="2950258"/>
            <a:ext cx="1826072" cy="780536"/>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矩形 5"/>
          <p:cNvSpPr/>
          <p:nvPr/>
        </p:nvSpPr>
        <p:spPr bwMode="gray">
          <a:xfrm>
            <a:off x="522292" y="2950258"/>
            <a:ext cx="1826072" cy="780536"/>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矩形 6"/>
          <p:cNvSpPr/>
          <p:nvPr/>
        </p:nvSpPr>
        <p:spPr bwMode="gray">
          <a:xfrm>
            <a:off x="522292" y="1487150"/>
            <a:ext cx="5494550" cy="1238390"/>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 name="标题 1"/>
          <p:cNvSpPr txBox="1"/>
          <p:nvPr/>
        </p:nvSpPr>
        <p:spPr bwMode="gray">
          <a:xfrm>
            <a:off x="452438" y="447468"/>
            <a:ext cx="11296649" cy="497095"/>
          </a:xfrm>
          <a:prstGeom prst="rect">
            <a:avLst/>
          </a:prstGeom>
        </p:spPr>
        <p:txBody>
          <a:bodyPr lIns="0" tIns="0" rIns="0" bIns="0" anchor="t">
            <a:normAutofit/>
          </a:bodyPr>
          <a:lstStyle>
            <a:lvl1pPr algn="l" defTabSz="913765" rtl="0" eaLnBrk="1" fontAlgn="base" latinLnBrk="0" hangingPunct="1">
              <a:lnSpc>
                <a:spcPct val="90000"/>
              </a:lnSpc>
              <a:spcBef>
                <a:spcPct val="0"/>
              </a:spcBef>
              <a:buNone/>
              <a:defRPr lang="zh-CN" altLang="en-US" sz="3200" kern="1200" baseline="0" dirty="0">
                <a:solidFill>
                  <a:schemeClr val="tx1"/>
                </a:solidFill>
                <a:latin typeface="Huawei Sans" panose="020C0503030203020204" pitchFamily="34" charset="0"/>
                <a:ea typeface="方正兰亭黑简体" panose="02000000000000000000" pitchFamily="2" charset="-122"/>
                <a:cs typeface="+mn-cs"/>
              </a:defRPr>
            </a:lvl1pPr>
          </a:lstStyle>
          <a:p>
            <a:endParaRPr lang="en-US" dirty="0">
              <a:sym typeface="Huawei Sans" panose="020C0503030203020204" pitchFamily="34" charset="0"/>
            </a:endParaRPr>
          </a:p>
        </p:txBody>
      </p:sp>
      <p:cxnSp>
        <p:nvCxnSpPr>
          <p:cNvPr id="10" name="直接连接符 9"/>
          <p:cNvCxnSpPr>
            <a:stCxn id="12" idx="3"/>
            <a:endCxn id="16" idx="1"/>
          </p:cNvCxnSpPr>
          <p:nvPr/>
        </p:nvCxnSpPr>
        <p:spPr bwMode="gray">
          <a:xfrm>
            <a:off x="1267619" y="2489567"/>
            <a:ext cx="398533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矩形 10"/>
          <p:cNvSpPr/>
          <p:nvPr/>
        </p:nvSpPr>
        <p:spPr bwMode="gray">
          <a:xfrm>
            <a:off x="748992" y="1996788"/>
            <a:ext cx="497252"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PE1</a:t>
            </a:r>
            <a:endParaRPr lang="zh-CN" altLang="en-US" sz="1400" b="1" dirty="0">
              <a:solidFill>
                <a:srgbClr val="FF3300"/>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2" name="图片 11"/>
          <p:cNvPicPr/>
          <p:nvPr/>
        </p:nvPicPr>
        <p:blipFill>
          <a:blip r:embed="rId1" cstate="print">
            <a:extLst>
              <a:ext uri="{28A0092B-C50C-407E-A947-70E740481C1C}">
                <a14:useLocalDpi xmlns:a14="http://schemas.microsoft.com/office/drawing/2010/main" val="0"/>
              </a:ext>
            </a:extLst>
          </a:blip>
          <a:stretch>
            <a:fillRect/>
          </a:stretch>
        </p:blipFill>
        <p:spPr bwMode="gray">
          <a:xfrm>
            <a:off x="727619" y="2268167"/>
            <a:ext cx="540000" cy="442800"/>
          </a:xfrm>
          <a:prstGeom prst="rect">
            <a:avLst/>
          </a:prstGeom>
        </p:spPr>
      </p:pic>
      <p:sp>
        <p:nvSpPr>
          <p:cNvPr id="13" name="矩形 12"/>
          <p:cNvSpPr/>
          <p:nvPr/>
        </p:nvSpPr>
        <p:spPr bwMode="gray">
          <a:xfrm>
            <a:off x="3138299" y="1996788"/>
            <a:ext cx="292068" cy="307777"/>
          </a:xfrm>
          <a:prstGeom prst="rect">
            <a:avLst/>
          </a:prstGeom>
        </p:spPr>
        <p:txBody>
          <a:bodyPr wrap="none">
            <a:spAutoFit/>
          </a:bodyPr>
          <a:lstStyle/>
          <a:p>
            <a:pPr algn="ctr"/>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P</a:t>
            </a:r>
            <a:endParaRPr lang="zh-CN" altLang="en-US" sz="1400" b="1">
              <a:solidFill>
                <a:srgbClr val="FF3300"/>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4" name="图片 13"/>
          <p:cNvPicPr/>
          <p:nvPr/>
        </p:nvPicPr>
        <p:blipFill>
          <a:blip r:embed="rId1" cstate="print">
            <a:extLst>
              <a:ext uri="{28A0092B-C50C-407E-A947-70E740481C1C}">
                <a14:useLocalDpi xmlns:a14="http://schemas.microsoft.com/office/drawing/2010/main" val="0"/>
              </a:ext>
            </a:extLst>
          </a:blip>
          <a:stretch>
            <a:fillRect/>
          </a:stretch>
        </p:blipFill>
        <p:spPr bwMode="gray">
          <a:xfrm>
            <a:off x="2991152" y="2268167"/>
            <a:ext cx="540000" cy="442800"/>
          </a:xfrm>
          <a:prstGeom prst="rect">
            <a:avLst/>
          </a:prstGeom>
        </p:spPr>
      </p:pic>
      <p:sp>
        <p:nvSpPr>
          <p:cNvPr id="15" name="矩形 14"/>
          <p:cNvSpPr/>
          <p:nvPr/>
        </p:nvSpPr>
        <p:spPr bwMode="gray">
          <a:xfrm>
            <a:off x="5283807" y="1996788"/>
            <a:ext cx="497252"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PE2</a:t>
            </a:r>
            <a:endParaRPr lang="zh-CN" altLang="en-US" sz="1400" b="1" dirty="0">
              <a:solidFill>
                <a:srgbClr val="FF3300"/>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6" name="图片 15"/>
          <p:cNvPicPr/>
          <p:nvPr/>
        </p:nvPicPr>
        <p:blipFill>
          <a:blip r:embed="rId1" cstate="print">
            <a:extLst>
              <a:ext uri="{28A0092B-C50C-407E-A947-70E740481C1C}">
                <a14:useLocalDpi xmlns:a14="http://schemas.microsoft.com/office/drawing/2010/main" val="0"/>
              </a:ext>
            </a:extLst>
          </a:blip>
          <a:stretch>
            <a:fillRect/>
          </a:stretch>
        </p:blipFill>
        <p:spPr bwMode="gray">
          <a:xfrm>
            <a:off x="5252957" y="2268167"/>
            <a:ext cx="540000" cy="442800"/>
          </a:xfrm>
          <a:prstGeom prst="rect">
            <a:avLst/>
          </a:prstGeom>
        </p:spPr>
      </p:pic>
      <p:sp>
        <p:nvSpPr>
          <p:cNvPr id="17" name="矩形 16"/>
          <p:cNvSpPr/>
          <p:nvPr/>
        </p:nvSpPr>
        <p:spPr bwMode="gray">
          <a:xfrm>
            <a:off x="1401461" y="2245468"/>
            <a:ext cx="1455848" cy="276999"/>
          </a:xfrm>
          <a:prstGeom prst="rect">
            <a:avLst/>
          </a:prstGeom>
        </p:spPr>
        <p:txBody>
          <a:bodyPr wrap="none">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2001:DB88:12::/96</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 name="矩形 17"/>
          <p:cNvSpPr/>
          <p:nvPr/>
        </p:nvSpPr>
        <p:spPr bwMode="gray">
          <a:xfrm>
            <a:off x="437904" y="1564429"/>
            <a:ext cx="1455848" cy="461665"/>
          </a:xfrm>
          <a:prstGeom prst="rect">
            <a:avLst/>
          </a:prstGeom>
        </p:spPr>
        <p:txBody>
          <a:bodyPr wrap="none">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Loopback0</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2001:DB8:1::1/128</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文本框 22"/>
          <p:cNvSpPr txBox="1"/>
          <p:nvPr/>
        </p:nvSpPr>
        <p:spPr bwMode="gray">
          <a:xfrm>
            <a:off x="4251736" y="3039452"/>
            <a:ext cx="987770" cy="461665"/>
          </a:xfrm>
          <a:prstGeom prst="rect">
            <a:avLst/>
          </a:prstGeom>
          <a:noFill/>
          <a:ln>
            <a:noFill/>
          </a:ln>
        </p:spPr>
        <p:txBody>
          <a:bodyPr wrap="non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Loopback1 </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10.1.5.5/32</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矩形 24"/>
          <p:cNvSpPr/>
          <p:nvPr/>
        </p:nvSpPr>
        <p:spPr bwMode="gray">
          <a:xfrm>
            <a:off x="1199332" y="2266253"/>
            <a:ext cx="306494" cy="276999"/>
          </a:xfrm>
          <a:prstGeom prst="rect">
            <a:avLst/>
          </a:prstGeom>
        </p:spPr>
        <p:txBody>
          <a:bodyPr wrap="none">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:1</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矩形 25"/>
          <p:cNvSpPr/>
          <p:nvPr/>
        </p:nvSpPr>
        <p:spPr bwMode="gray">
          <a:xfrm>
            <a:off x="2764735" y="2266253"/>
            <a:ext cx="306494" cy="276999"/>
          </a:xfrm>
          <a:prstGeom prst="rect">
            <a:avLst/>
          </a:prstGeom>
        </p:spPr>
        <p:txBody>
          <a:bodyPr wrap="none">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 name="矩形 26"/>
          <p:cNvSpPr/>
          <p:nvPr/>
        </p:nvSpPr>
        <p:spPr bwMode="gray">
          <a:xfrm>
            <a:off x="3447434" y="2266253"/>
            <a:ext cx="306494" cy="276999"/>
          </a:xfrm>
          <a:prstGeom prst="rect">
            <a:avLst/>
          </a:prstGeom>
        </p:spPr>
        <p:txBody>
          <a:bodyPr wrap="none">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矩形 27"/>
          <p:cNvSpPr/>
          <p:nvPr/>
        </p:nvSpPr>
        <p:spPr bwMode="gray">
          <a:xfrm>
            <a:off x="5024712" y="2266253"/>
            <a:ext cx="306494" cy="276999"/>
          </a:xfrm>
          <a:prstGeom prst="rect">
            <a:avLst/>
          </a:prstGeom>
        </p:spPr>
        <p:txBody>
          <a:bodyPr wrap="none">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:3</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9" name="图片 28"/>
          <p:cNvPicPr/>
          <p:nvPr/>
        </p:nvPicPr>
        <p:blipFill>
          <a:blip r:embed="rId1" cstate="print">
            <a:extLst>
              <a:ext uri="{28A0092B-C50C-407E-A947-70E740481C1C}">
                <a14:useLocalDpi xmlns:a14="http://schemas.microsoft.com/office/drawing/2010/main" val="0"/>
              </a:ext>
            </a:extLst>
          </a:blip>
          <a:stretch>
            <a:fillRect/>
          </a:stretch>
        </p:blipFill>
        <p:spPr bwMode="gray">
          <a:xfrm>
            <a:off x="727619" y="3010900"/>
            <a:ext cx="540000" cy="442800"/>
          </a:xfrm>
          <a:prstGeom prst="rect">
            <a:avLst/>
          </a:prstGeom>
        </p:spPr>
      </p:pic>
      <p:pic>
        <p:nvPicPr>
          <p:cNvPr id="30" name="图片 29"/>
          <p:cNvPicPr/>
          <p:nvPr/>
        </p:nvPicPr>
        <p:blipFill>
          <a:blip r:embed="rId1" cstate="print">
            <a:extLst>
              <a:ext uri="{28A0092B-C50C-407E-A947-70E740481C1C}">
                <a14:useLocalDpi xmlns:a14="http://schemas.microsoft.com/office/drawing/2010/main" val="0"/>
              </a:ext>
            </a:extLst>
          </a:blip>
          <a:stretch>
            <a:fillRect/>
          </a:stretch>
        </p:blipFill>
        <p:spPr bwMode="gray">
          <a:xfrm>
            <a:off x="5252957" y="3010900"/>
            <a:ext cx="540000" cy="442800"/>
          </a:xfrm>
          <a:prstGeom prst="rect">
            <a:avLst/>
          </a:prstGeom>
        </p:spPr>
      </p:pic>
      <p:cxnSp>
        <p:nvCxnSpPr>
          <p:cNvPr id="31" name="直接连接符 30"/>
          <p:cNvCxnSpPr>
            <a:stCxn id="12" idx="2"/>
            <a:endCxn id="29" idx="0"/>
          </p:cNvCxnSpPr>
          <p:nvPr/>
        </p:nvCxnSpPr>
        <p:spPr bwMode="gray">
          <a:xfrm>
            <a:off x="997619" y="2710967"/>
            <a:ext cx="0" cy="29993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a:stCxn id="16" idx="2"/>
            <a:endCxn id="30" idx="0"/>
          </p:cNvCxnSpPr>
          <p:nvPr/>
        </p:nvCxnSpPr>
        <p:spPr bwMode="gray">
          <a:xfrm>
            <a:off x="5522957" y="2710967"/>
            <a:ext cx="0" cy="29993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3" name="矩形 32"/>
          <p:cNvSpPr/>
          <p:nvPr/>
        </p:nvSpPr>
        <p:spPr bwMode="gray">
          <a:xfrm>
            <a:off x="746588" y="3501117"/>
            <a:ext cx="502061"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CE1</a:t>
            </a:r>
            <a:endParaRPr lang="zh-CN" altLang="en-US" sz="1400" b="1" dirty="0">
              <a:solidFill>
                <a:srgbClr val="FF33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矩形 33"/>
          <p:cNvSpPr/>
          <p:nvPr/>
        </p:nvSpPr>
        <p:spPr bwMode="gray">
          <a:xfrm>
            <a:off x="5281403" y="3501117"/>
            <a:ext cx="502061"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CE2</a:t>
            </a:r>
            <a:endParaRPr lang="zh-CN" altLang="en-US" sz="1400" b="1" dirty="0">
              <a:solidFill>
                <a:srgbClr val="FF33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文本框 34"/>
          <p:cNvSpPr txBox="1"/>
          <p:nvPr/>
        </p:nvSpPr>
        <p:spPr bwMode="gray">
          <a:xfrm>
            <a:off x="1290546" y="3039452"/>
            <a:ext cx="987770" cy="461665"/>
          </a:xfrm>
          <a:prstGeom prst="rect">
            <a:avLst/>
          </a:prstGeom>
          <a:noFill/>
          <a:ln>
            <a:noFill/>
          </a:ln>
        </p:spPr>
        <p:txBody>
          <a:bodyPr wrap="non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Loopback1 </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10.1.4.4/32</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 name="文本框 36"/>
          <p:cNvSpPr txBox="1"/>
          <p:nvPr/>
        </p:nvSpPr>
        <p:spPr bwMode="gray">
          <a:xfrm>
            <a:off x="1576705" y="3492845"/>
            <a:ext cx="848309" cy="276999"/>
          </a:xfrm>
          <a:prstGeom prst="rect">
            <a:avLst/>
          </a:prstGeom>
          <a:noFill/>
        </p:spPr>
        <p:txBody>
          <a:bodyPr wrap="none" rtlCol="0">
            <a:spAutoFit/>
          </a:bodyPr>
          <a:lstStyle/>
          <a:p>
            <a:r>
              <a:rPr lang="en-US" altLang="zh-CN" sz="12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AS 65000</a:t>
            </a:r>
            <a:endParaRPr lang="en-US" altLang="zh-CN" sz="12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文本框 37"/>
          <p:cNvSpPr txBox="1"/>
          <p:nvPr/>
        </p:nvSpPr>
        <p:spPr bwMode="gray">
          <a:xfrm>
            <a:off x="4190770" y="3492845"/>
            <a:ext cx="848309" cy="276999"/>
          </a:xfrm>
          <a:prstGeom prst="rect">
            <a:avLst/>
          </a:prstGeom>
          <a:noFill/>
        </p:spPr>
        <p:txBody>
          <a:bodyPr wrap="none" rtlCol="0">
            <a:spAutoFit/>
          </a:bodyPr>
          <a:lstStyle/>
          <a:p>
            <a:r>
              <a:rPr lang="en-US" altLang="zh-CN" sz="12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AS 65001</a:t>
            </a:r>
            <a:endParaRPr lang="en-US" altLang="zh-CN" sz="12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文本框 38"/>
          <p:cNvSpPr txBox="1"/>
          <p:nvPr/>
        </p:nvSpPr>
        <p:spPr bwMode="gray">
          <a:xfrm>
            <a:off x="542427" y="1427904"/>
            <a:ext cx="675185" cy="276999"/>
          </a:xfrm>
          <a:prstGeom prst="rect">
            <a:avLst/>
          </a:prstGeom>
          <a:noFill/>
        </p:spPr>
        <p:txBody>
          <a:bodyPr wrap="none" rtlCol="0">
            <a:spAutoFit/>
          </a:bodyPr>
          <a:lstStyle/>
          <a:p>
            <a:r>
              <a:rPr lang="en-US" altLang="zh-CN" sz="12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AS 100</a:t>
            </a:r>
            <a:endParaRPr lang="en-US" altLang="zh-CN" sz="12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矩形 39"/>
          <p:cNvSpPr/>
          <p:nvPr/>
        </p:nvSpPr>
        <p:spPr bwMode="gray">
          <a:xfrm>
            <a:off x="942842" y="2695509"/>
            <a:ext cx="1186543" cy="307777"/>
          </a:xfrm>
          <a:prstGeom prst="rect">
            <a:avLst/>
          </a:prstGeom>
        </p:spPr>
        <p:txBody>
          <a:bodyPr wrap="none">
            <a:spAutoFit/>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10.0.14.0/24</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矩形 40"/>
          <p:cNvSpPr/>
          <p:nvPr/>
        </p:nvSpPr>
        <p:spPr bwMode="gray">
          <a:xfrm>
            <a:off x="4397520" y="2695509"/>
            <a:ext cx="1186543" cy="307777"/>
          </a:xfrm>
          <a:prstGeom prst="rect">
            <a:avLst/>
          </a:prstGeom>
        </p:spPr>
        <p:txBody>
          <a:bodyPr wrap="none">
            <a:spAutoFit/>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10.0.35.0/24</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矩形 41"/>
          <p:cNvSpPr/>
          <p:nvPr/>
        </p:nvSpPr>
        <p:spPr bwMode="gray">
          <a:xfrm>
            <a:off x="2556409" y="1564429"/>
            <a:ext cx="1455848" cy="461665"/>
          </a:xfrm>
          <a:prstGeom prst="rect">
            <a:avLst/>
          </a:prstGeom>
        </p:spPr>
        <p:txBody>
          <a:bodyPr wrap="none">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Loopback0</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2001:DB8:2::2/128</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矩形 42"/>
          <p:cNvSpPr/>
          <p:nvPr/>
        </p:nvSpPr>
        <p:spPr bwMode="gray">
          <a:xfrm>
            <a:off x="4630687" y="1564429"/>
            <a:ext cx="1455848" cy="461665"/>
          </a:xfrm>
          <a:prstGeom prst="rect">
            <a:avLst/>
          </a:prstGeom>
        </p:spPr>
        <p:txBody>
          <a:bodyPr wrap="none">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Loopback0</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2001:DB8:3::3/128</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矩形 43"/>
          <p:cNvSpPr/>
          <p:nvPr/>
        </p:nvSpPr>
        <p:spPr bwMode="gray">
          <a:xfrm>
            <a:off x="3694397" y="2245468"/>
            <a:ext cx="1455848" cy="276999"/>
          </a:xfrm>
          <a:prstGeom prst="rect">
            <a:avLst/>
          </a:prstGeom>
        </p:spPr>
        <p:txBody>
          <a:bodyPr wrap="none">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2001:DB88:23::/96</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文本框 45"/>
          <p:cNvSpPr txBox="1"/>
          <p:nvPr/>
        </p:nvSpPr>
        <p:spPr bwMode="gray">
          <a:xfrm>
            <a:off x="6278213" y="1793013"/>
            <a:ext cx="5195653" cy="3231654"/>
          </a:xfrm>
          <a:prstGeom prst="rect">
            <a:avLst/>
          </a:prstGeom>
          <a:solidFill>
            <a:schemeClr val="bg1">
              <a:lumMod val="85000"/>
            </a:schemeClr>
          </a:solidFill>
          <a:ln>
            <a:noFill/>
          </a:ln>
        </p:spPr>
        <p:txBody>
          <a:bodyPr wrap="squar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&lt;PE1&gt; display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ip</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routing-table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vpn</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-instance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vpna</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10.1.5.5 verbose</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Route Flags: R - relay, D - download to fib, T - to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vpn</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-instance, B - black hole route</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Routing Table :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vpna</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Summary Count : 1</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Destination: 10.1.5.5/32</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Protocol: IBGP               Process ID: 0</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Preference: 255                      Cost: 0</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NextHop</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2001:DB8:300::1:0:20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Neighbour</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2001:DB8:3::3</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State: Active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Adv</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Relied         Age: 00h17m40s</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Tag: 0                    Priority: low</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Label: 3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QoSInfo</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0x0</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IndirectID</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0x1000177            Instance:</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RelayNextHop</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2001:DB8:300::1:0:20 Interface: SRv6 BE</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TunnelID</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0x0                     Flags: RD</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文本框 46"/>
          <p:cNvSpPr txBox="1"/>
          <p:nvPr/>
        </p:nvSpPr>
        <p:spPr bwMode="gray">
          <a:xfrm>
            <a:off x="6225255" y="1514182"/>
            <a:ext cx="3034805" cy="307777"/>
          </a:xfrm>
          <a:prstGeom prst="rect">
            <a:avLst/>
          </a:prstGeom>
          <a:noFill/>
        </p:spPr>
        <p:txBody>
          <a:bodyPr wrap="none" rtlCol="0">
            <a:spAutoFit/>
          </a:bodyPr>
          <a:lstStyle/>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在</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PE1</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设备上查看</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vpna</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的路由信息。</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 name="矩形 47"/>
          <p:cNvSpPr/>
          <p:nvPr/>
        </p:nvSpPr>
        <p:spPr bwMode="gray">
          <a:xfrm>
            <a:off x="6420261" y="3655244"/>
            <a:ext cx="2452970" cy="205200"/>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0" name="文本框 49"/>
          <p:cNvSpPr txBox="1"/>
          <p:nvPr/>
        </p:nvSpPr>
        <p:spPr bwMode="gray">
          <a:xfrm>
            <a:off x="6326854" y="5487129"/>
            <a:ext cx="5014246" cy="307777"/>
          </a:xfrm>
          <a:prstGeom prst="rect">
            <a:avLst/>
          </a:prstGeom>
          <a:solidFill>
            <a:srgbClr val="BEE9EE"/>
          </a:solidFill>
          <a:ln>
            <a:solidFill>
              <a:srgbClr val="94DAE2"/>
            </a:solidFill>
          </a:ln>
        </p:spPr>
        <p:txBody>
          <a:bodyPr wrap="square" rtlCol="0">
            <a:spAutoFit/>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PE1</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转发目的地址是</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10.1.5.5</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的数据报时，直接使用该</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IPv6</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地址。</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51" name="肘形连接符 50"/>
          <p:cNvCxnSpPr>
            <a:stCxn id="48" idx="1"/>
            <a:endCxn id="50" idx="1"/>
          </p:cNvCxnSpPr>
          <p:nvPr/>
        </p:nvCxnSpPr>
        <p:spPr bwMode="gray">
          <a:xfrm rot="10800000" flipV="1">
            <a:off x="6326855" y="3757844"/>
            <a:ext cx="93407" cy="1883174"/>
          </a:xfrm>
          <a:prstGeom prst="bentConnector3">
            <a:avLst>
              <a:gd name="adj1" fmla="val 344735"/>
            </a:avLst>
          </a:prstGeom>
          <a:ln w="19050">
            <a:solidFill>
              <a:srgbClr val="56C4D2"/>
            </a:solidFill>
            <a:tailEnd type="triangle"/>
          </a:ln>
        </p:spPr>
        <p:style>
          <a:lnRef idx="1">
            <a:schemeClr val="accent1"/>
          </a:lnRef>
          <a:fillRef idx="0">
            <a:schemeClr val="accent1"/>
          </a:fillRef>
          <a:effectRef idx="0">
            <a:schemeClr val="accent1"/>
          </a:effectRef>
          <a:fontRef idx="minor">
            <a:schemeClr val="tx1"/>
          </a:fontRef>
        </p:style>
      </p:cxnSp>
      <p:sp>
        <p:nvSpPr>
          <p:cNvPr id="53" name="矩形 52"/>
          <p:cNvSpPr/>
          <p:nvPr/>
        </p:nvSpPr>
        <p:spPr bwMode="gray">
          <a:xfrm>
            <a:off x="522292" y="3756914"/>
            <a:ext cx="5136046" cy="2246769"/>
          </a:xfrm>
          <a:prstGeom prst="rect">
            <a:avLst/>
          </a:prstGeom>
          <a:ln>
            <a:noFill/>
          </a:ln>
        </p:spPr>
        <p:txBody>
          <a:bodyPr wrap="square">
            <a:spAutoFit/>
          </a:bodyPr>
          <a:lstStyle/>
          <a:p>
            <a:pPr>
              <a:lnSpc>
                <a:spcPts val="2400"/>
              </a:lnSpc>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配置思路：</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176530" indent="-176530">
              <a:lnSpc>
                <a:spcPts val="2400"/>
              </a:lnSpc>
              <a:buFont typeface="+mj-lt"/>
              <a:buAutoNum type="arabicPeriod"/>
            </a:pPr>
            <a:r>
              <a:rPr lang="zh-CN"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完成设备接口</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IPv6</a:t>
            </a:r>
            <a:r>
              <a:rPr lang="zh-CN"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地址及</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IS-IS</a:t>
            </a:r>
            <a:r>
              <a:rPr lang="zh-CN"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配置</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（略）。</a:t>
            </a:r>
            <a:endParaRPr lang="zh-CN"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marL="176530" indent="-176530">
              <a:lnSpc>
                <a:spcPts val="2400"/>
              </a:lnSpc>
              <a:buFont typeface="+mj-lt"/>
              <a:buAutoNum type="arabicPeriod"/>
            </a:pP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在</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PE1</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与</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PE2</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之间建立</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MP-BGP</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对等体关系。</a:t>
            </a:r>
            <a:endPar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marL="176530" indent="-176530">
              <a:lnSpc>
                <a:spcPts val="2400"/>
              </a:lnSpc>
              <a:buFont typeface="+mj-lt"/>
              <a:buAutoNum type="arabicPeriod"/>
            </a:pP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骨干网上使能</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Segment Routing</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，建立</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SRv6 BE</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路径。</a:t>
            </a:r>
            <a:endPar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marL="176530" indent="-176530">
              <a:lnSpc>
                <a:spcPts val="2400"/>
              </a:lnSpc>
              <a:buFont typeface="+mj-lt"/>
              <a:buAutoNum type="arabicPeriod"/>
            </a:pP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PE</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上配置使能</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IPv4</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地址族</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VPN</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实例。</a:t>
            </a:r>
            <a:endPar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marL="176530" indent="-176530">
              <a:lnSpc>
                <a:spcPts val="2400"/>
              </a:lnSpc>
              <a:buFont typeface="+mj-lt"/>
              <a:buAutoNum type="arabicPeriod"/>
            </a:pP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PE</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之间配置</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MP-IBGP</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交换路由信息。</a:t>
            </a:r>
            <a:endPar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marL="176530" indent="-176530">
              <a:lnSpc>
                <a:spcPts val="2400"/>
              </a:lnSpc>
              <a:buFont typeface="+mj-lt"/>
              <a:buAutoNum type="arabicPeriod"/>
            </a:pP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结果验证。</a:t>
            </a:r>
            <a:endParaRPr lang="zh-CN"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矩形 44"/>
          <p:cNvSpPr/>
          <p:nvPr/>
        </p:nvSpPr>
        <p:spPr bwMode="gray">
          <a:xfrm>
            <a:off x="8989621" y="4565605"/>
            <a:ext cx="1425038" cy="205200"/>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文本框 48"/>
          <p:cNvSpPr txBox="1"/>
          <p:nvPr/>
        </p:nvSpPr>
        <p:spPr bwMode="gray">
          <a:xfrm>
            <a:off x="8526485" y="5127267"/>
            <a:ext cx="2125848" cy="307777"/>
          </a:xfrm>
          <a:prstGeom prst="rect">
            <a:avLst/>
          </a:prstGeom>
          <a:solidFill>
            <a:srgbClr val="BEE9EE"/>
          </a:solidFill>
          <a:ln>
            <a:solidFill>
              <a:srgbClr val="94DAE2"/>
            </a:solidFill>
          </a:ln>
        </p:spPr>
        <p:txBody>
          <a:bodyPr wrap="square" rtlCol="0">
            <a:spAutoFit/>
          </a:bodyPr>
          <a:lstStyle/>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接口类型为：</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SRv6 BE</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52" name="肘形连接符 51"/>
          <p:cNvCxnSpPr>
            <a:stCxn id="45" idx="3"/>
            <a:endCxn id="49" idx="3"/>
          </p:cNvCxnSpPr>
          <p:nvPr/>
        </p:nvCxnSpPr>
        <p:spPr bwMode="gray">
          <a:xfrm>
            <a:off x="10414659" y="4668205"/>
            <a:ext cx="237674" cy="612951"/>
          </a:xfrm>
          <a:prstGeom prst="bentConnector3">
            <a:avLst>
              <a:gd name="adj1" fmla="val 196182"/>
            </a:avLst>
          </a:prstGeom>
          <a:ln w="19050">
            <a:solidFill>
              <a:srgbClr val="56C4D2"/>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bwMode="gray"/>
        <p:txBody>
          <a:bodyPr>
            <a:noAutofit/>
          </a:bodyPr>
          <a:lstStyle/>
          <a:p>
            <a:r>
              <a:rPr lang="en-US" altLang="zh-CN" dirty="0">
                <a:sym typeface="Huawei Sans" panose="020C0503030203020204" pitchFamily="34" charset="0"/>
              </a:rPr>
              <a:t>L3VPNv4 over SRv6 BE (8)</a:t>
            </a:r>
            <a:br>
              <a:rPr lang="en-US" altLang="zh-CN" dirty="0">
                <a:sym typeface="Huawei Sans" panose="020C0503030203020204" pitchFamily="34" charset="0"/>
              </a:rPr>
            </a:br>
            <a:endParaRPr lang="zh-CN" altLang="en-US" dirty="0">
              <a:sym typeface="Huawei Sans" panose="020C0503030203020204" pitchFamily="34" charset="0"/>
            </a:endParaRPr>
          </a:p>
        </p:txBody>
      </p:sp>
      <p:sp>
        <p:nvSpPr>
          <p:cNvPr id="5" name="矩形 4"/>
          <p:cNvSpPr/>
          <p:nvPr/>
        </p:nvSpPr>
        <p:spPr bwMode="gray">
          <a:xfrm>
            <a:off x="4190770" y="2950258"/>
            <a:ext cx="1826072" cy="780536"/>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矩形 5"/>
          <p:cNvSpPr/>
          <p:nvPr/>
        </p:nvSpPr>
        <p:spPr bwMode="gray">
          <a:xfrm>
            <a:off x="522292" y="2950258"/>
            <a:ext cx="1826072" cy="780536"/>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矩形 6"/>
          <p:cNvSpPr/>
          <p:nvPr/>
        </p:nvSpPr>
        <p:spPr bwMode="gray">
          <a:xfrm>
            <a:off x="522292" y="1487150"/>
            <a:ext cx="5494550" cy="1238390"/>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 name="标题 1"/>
          <p:cNvSpPr txBox="1"/>
          <p:nvPr/>
        </p:nvSpPr>
        <p:spPr bwMode="gray">
          <a:xfrm>
            <a:off x="452438" y="447468"/>
            <a:ext cx="11296649" cy="497095"/>
          </a:xfrm>
          <a:prstGeom prst="rect">
            <a:avLst/>
          </a:prstGeom>
        </p:spPr>
        <p:txBody>
          <a:bodyPr lIns="0" tIns="0" rIns="0" bIns="0" anchor="t">
            <a:normAutofit/>
          </a:bodyPr>
          <a:lstStyle>
            <a:lvl1pPr algn="l" defTabSz="913765" rtl="0" eaLnBrk="1" fontAlgn="base" latinLnBrk="0" hangingPunct="1">
              <a:lnSpc>
                <a:spcPct val="90000"/>
              </a:lnSpc>
              <a:spcBef>
                <a:spcPct val="0"/>
              </a:spcBef>
              <a:buNone/>
              <a:defRPr lang="zh-CN" altLang="en-US" sz="3200" kern="1200" baseline="0" dirty="0">
                <a:solidFill>
                  <a:schemeClr val="tx1"/>
                </a:solidFill>
                <a:latin typeface="Huawei Sans" panose="020C0503030203020204" pitchFamily="34" charset="0"/>
                <a:ea typeface="方正兰亭黑简体" panose="02000000000000000000" pitchFamily="2" charset="-122"/>
                <a:cs typeface="+mn-cs"/>
              </a:defRPr>
            </a:lvl1pPr>
          </a:lstStyle>
          <a:p>
            <a:endParaRPr lang="en-US" dirty="0">
              <a:sym typeface="Huawei Sans" panose="020C0503030203020204" pitchFamily="34" charset="0"/>
            </a:endParaRPr>
          </a:p>
        </p:txBody>
      </p:sp>
      <p:cxnSp>
        <p:nvCxnSpPr>
          <p:cNvPr id="10" name="直接连接符 9"/>
          <p:cNvCxnSpPr>
            <a:stCxn id="12" idx="3"/>
            <a:endCxn id="16" idx="1"/>
          </p:cNvCxnSpPr>
          <p:nvPr/>
        </p:nvCxnSpPr>
        <p:spPr bwMode="gray">
          <a:xfrm>
            <a:off x="1267619" y="2489567"/>
            <a:ext cx="398533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矩形 10"/>
          <p:cNvSpPr/>
          <p:nvPr/>
        </p:nvSpPr>
        <p:spPr bwMode="gray">
          <a:xfrm>
            <a:off x="748992" y="1996788"/>
            <a:ext cx="497252"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PE1</a:t>
            </a:r>
            <a:endParaRPr lang="zh-CN" altLang="en-US" sz="1400" b="1" dirty="0">
              <a:solidFill>
                <a:srgbClr val="FF3300"/>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2" name="图片 11"/>
          <p:cNvPicPr/>
          <p:nvPr/>
        </p:nvPicPr>
        <p:blipFill>
          <a:blip r:embed="rId1" cstate="print">
            <a:extLst>
              <a:ext uri="{28A0092B-C50C-407E-A947-70E740481C1C}">
                <a14:useLocalDpi xmlns:a14="http://schemas.microsoft.com/office/drawing/2010/main" val="0"/>
              </a:ext>
            </a:extLst>
          </a:blip>
          <a:stretch>
            <a:fillRect/>
          </a:stretch>
        </p:blipFill>
        <p:spPr bwMode="gray">
          <a:xfrm>
            <a:off x="727619" y="2268167"/>
            <a:ext cx="540000" cy="442800"/>
          </a:xfrm>
          <a:prstGeom prst="rect">
            <a:avLst/>
          </a:prstGeom>
        </p:spPr>
      </p:pic>
      <p:sp>
        <p:nvSpPr>
          <p:cNvPr id="13" name="矩形 12"/>
          <p:cNvSpPr/>
          <p:nvPr/>
        </p:nvSpPr>
        <p:spPr bwMode="gray">
          <a:xfrm>
            <a:off x="3138299" y="1996788"/>
            <a:ext cx="292068" cy="307777"/>
          </a:xfrm>
          <a:prstGeom prst="rect">
            <a:avLst/>
          </a:prstGeom>
        </p:spPr>
        <p:txBody>
          <a:bodyPr wrap="none">
            <a:spAutoFit/>
          </a:bodyPr>
          <a:lstStyle/>
          <a:p>
            <a:pPr algn="ctr"/>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P</a:t>
            </a:r>
            <a:endParaRPr lang="zh-CN" altLang="en-US" sz="1400" b="1">
              <a:solidFill>
                <a:srgbClr val="FF3300"/>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4" name="图片 13"/>
          <p:cNvPicPr/>
          <p:nvPr/>
        </p:nvPicPr>
        <p:blipFill>
          <a:blip r:embed="rId1" cstate="print">
            <a:extLst>
              <a:ext uri="{28A0092B-C50C-407E-A947-70E740481C1C}">
                <a14:useLocalDpi xmlns:a14="http://schemas.microsoft.com/office/drawing/2010/main" val="0"/>
              </a:ext>
            </a:extLst>
          </a:blip>
          <a:stretch>
            <a:fillRect/>
          </a:stretch>
        </p:blipFill>
        <p:spPr bwMode="gray">
          <a:xfrm>
            <a:off x="2991152" y="2268167"/>
            <a:ext cx="540000" cy="442800"/>
          </a:xfrm>
          <a:prstGeom prst="rect">
            <a:avLst/>
          </a:prstGeom>
        </p:spPr>
      </p:pic>
      <p:sp>
        <p:nvSpPr>
          <p:cNvPr id="15" name="矩形 14"/>
          <p:cNvSpPr/>
          <p:nvPr/>
        </p:nvSpPr>
        <p:spPr bwMode="gray">
          <a:xfrm>
            <a:off x="5283807" y="1996788"/>
            <a:ext cx="497252"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PE2</a:t>
            </a:r>
            <a:endParaRPr lang="zh-CN" altLang="en-US" sz="1400" b="1" dirty="0">
              <a:solidFill>
                <a:srgbClr val="FF3300"/>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6" name="图片 15"/>
          <p:cNvPicPr/>
          <p:nvPr/>
        </p:nvPicPr>
        <p:blipFill>
          <a:blip r:embed="rId1" cstate="print">
            <a:extLst>
              <a:ext uri="{28A0092B-C50C-407E-A947-70E740481C1C}">
                <a14:useLocalDpi xmlns:a14="http://schemas.microsoft.com/office/drawing/2010/main" val="0"/>
              </a:ext>
            </a:extLst>
          </a:blip>
          <a:stretch>
            <a:fillRect/>
          </a:stretch>
        </p:blipFill>
        <p:spPr bwMode="gray">
          <a:xfrm>
            <a:off x="5252957" y="2268167"/>
            <a:ext cx="540000" cy="442800"/>
          </a:xfrm>
          <a:prstGeom prst="rect">
            <a:avLst/>
          </a:prstGeom>
        </p:spPr>
      </p:pic>
      <p:sp>
        <p:nvSpPr>
          <p:cNvPr id="17" name="矩形 16"/>
          <p:cNvSpPr/>
          <p:nvPr/>
        </p:nvSpPr>
        <p:spPr bwMode="gray">
          <a:xfrm>
            <a:off x="1401461" y="2245468"/>
            <a:ext cx="1455848" cy="276999"/>
          </a:xfrm>
          <a:prstGeom prst="rect">
            <a:avLst/>
          </a:prstGeom>
        </p:spPr>
        <p:txBody>
          <a:bodyPr wrap="none">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2001:DB88:12::/96</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 name="矩形 17"/>
          <p:cNvSpPr/>
          <p:nvPr/>
        </p:nvSpPr>
        <p:spPr bwMode="gray">
          <a:xfrm>
            <a:off x="437904" y="1564429"/>
            <a:ext cx="1455848" cy="461665"/>
          </a:xfrm>
          <a:prstGeom prst="rect">
            <a:avLst/>
          </a:prstGeom>
        </p:spPr>
        <p:txBody>
          <a:bodyPr wrap="none">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Loopback0</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2001:DB8:1::1/128</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文本框 22"/>
          <p:cNvSpPr txBox="1"/>
          <p:nvPr/>
        </p:nvSpPr>
        <p:spPr bwMode="gray">
          <a:xfrm>
            <a:off x="4251736" y="3039452"/>
            <a:ext cx="987770" cy="461665"/>
          </a:xfrm>
          <a:prstGeom prst="rect">
            <a:avLst/>
          </a:prstGeom>
          <a:noFill/>
          <a:ln>
            <a:noFill/>
          </a:ln>
        </p:spPr>
        <p:txBody>
          <a:bodyPr wrap="non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Loopback1 </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10.1.5.5/32</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矩形 24"/>
          <p:cNvSpPr/>
          <p:nvPr/>
        </p:nvSpPr>
        <p:spPr bwMode="gray">
          <a:xfrm>
            <a:off x="1199332" y="2266253"/>
            <a:ext cx="306494" cy="276999"/>
          </a:xfrm>
          <a:prstGeom prst="rect">
            <a:avLst/>
          </a:prstGeom>
        </p:spPr>
        <p:txBody>
          <a:bodyPr wrap="none">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:1</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矩形 25"/>
          <p:cNvSpPr/>
          <p:nvPr/>
        </p:nvSpPr>
        <p:spPr bwMode="gray">
          <a:xfrm>
            <a:off x="2764735" y="2266253"/>
            <a:ext cx="306494" cy="276999"/>
          </a:xfrm>
          <a:prstGeom prst="rect">
            <a:avLst/>
          </a:prstGeom>
        </p:spPr>
        <p:txBody>
          <a:bodyPr wrap="none">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 name="矩形 26"/>
          <p:cNvSpPr/>
          <p:nvPr/>
        </p:nvSpPr>
        <p:spPr bwMode="gray">
          <a:xfrm>
            <a:off x="3447434" y="2266253"/>
            <a:ext cx="306494" cy="276999"/>
          </a:xfrm>
          <a:prstGeom prst="rect">
            <a:avLst/>
          </a:prstGeom>
        </p:spPr>
        <p:txBody>
          <a:bodyPr wrap="none">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矩形 27"/>
          <p:cNvSpPr/>
          <p:nvPr/>
        </p:nvSpPr>
        <p:spPr bwMode="gray">
          <a:xfrm>
            <a:off x="5024712" y="2266253"/>
            <a:ext cx="306494" cy="276999"/>
          </a:xfrm>
          <a:prstGeom prst="rect">
            <a:avLst/>
          </a:prstGeom>
        </p:spPr>
        <p:txBody>
          <a:bodyPr wrap="none">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:3</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9" name="图片 28"/>
          <p:cNvPicPr/>
          <p:nvPr/>
        </p:nvPicPr>
        <p:blipFill>
          <a:blip r:embed="rId1" cstate="print">
            <a:extLst>
              <a:ext uri="{28A0092B-C50C-407E-A947-70E740481C1C}">
                <a14:useLocalDpi xmlns:a14="http://schemas.microsoft.com/office/drawing/2010/main" val="0"/>
              </a:ext>
            </a:extLst>
          </a:blip>
          <a:stretch>
            <a:fillRect/>
          </a:stretch>
        </p:blipFill>
        <p:spPr bwMode="gray">
          <a:xfrm>
            <a:off x="727619" y="3010900"/>
            <a:ext cx="540000" cy="442800"/>
          </a:xfrm>
          <a:prstGeom prst="rect">
            <a:avLst/>
          </a:prstGeom>
        </p:spPr>
      </p:pic>
      <p:pic>
        <p:nvPicPr>
          <p:cNvPr id="30" name="图片 29"/>
          <p:cNvPicPr/>
          <p:nvPr/>
        </p:nvPicPr>
        <p:blipFill>
          <a:blip r:embed="rId1" cstate="print">
            <a:extLst>
              <a:ext uri="{28A0092B-C50C-407E-A947-70E740481C1C}">
                <a14:useLocalDpi xmlns:a14="http://schemas.microsoft.com/office/drawing/2010/main" val="0"/>
              </a:ext>
            </a:extLst>
          </a:blip>
          <a:stretch>
            <a:fillRect/>
          </a:stretch>
        </p:blipFill>
        <p:spPr bwMode="gray">
          <a:xfrm>
            <a:off x="5252957" y="3010900"/>
            <a:ext cx="540000" cy="442800"/>
          </a:xfrm>
          <a:prstGeom prst="rect">
            <a:avLst/>
          </a:prstGeom>
        </p:spPr>
      </p:pic>
      <p:cxnSp>
        <p:nvCxnSpPr>
          <p:cNvPr id="31" name="直接连接符 30"/>
          <p:cNvCxnSpPr>
            <a:stCxn id="12" idx="2"/>
            <a:endCxn id="29" idx="0"/>
          </p:cNvCxnSpPr>
          <p:nvPr/>
        </p:nvCxnSpPr>
        <p:spPr bwMode="gray">
          <a:xfrm>
            <a:off x="997619" y="2710967"/>
            <a:ext cx="0" cy="29993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a:stCxn id="16" idx="2"/>
            <a:endCxn id="30" idx="0"/>
          </p:cNvCxnSpPr>
          <p:nvPr/>
        </p:nvCxnSpPr>
        <p:spPr bwMode="gray">
          <a:xfrm>
            <a:off x="5522957" y="2710967"/>
            <a:ext cx="0" cy="29993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3" name="矩形 32"/>
          <p:cNvSpPr/>
          <p:nvPr/>
        </p:nvSpPr>
        <p:spPr bwMode="gray">
          <a:xfrm>
            <a:off x="746588" y="3501117"/>
            <a:ext cx="502061"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CE1</a:t>
            </a:r>
            <a:endParaRPr lang="zh-CN" altLang="en-US" sz="1400" b="1" dirty="0">
              <a:solidFill>
                <a:srgbClr val="FF33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矩形 33"/>
          <p:cNvSpPr/>
          <p:nvPr/>
        </p:nvSpPr>
        <p:spPr bwMode="gray">
          <a:xfrm>
            <a:off x="5281403" y="3501117"/>
            <a:ext cx="502061"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CE2</a:t>
            </a:r>
            <a:endParaRPr lang="zh-CN" altLang="en-US" sz="1400" b="1" dirty="0">
              <a:solidFill>
                <a:srgbClr val="FF33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文本框 34"/>
          <p:cNvSpPr txBox="1"/>
          <p:nvPr/>
        </p:nvSpPr>
        <p:spPr bwMode="gray">
          <a:xfrm>
            <a:off x="1290546" y="3039452"/>
            <a:ext cx="987770" cy="461665"/>
          </a:xfrm>
          <a:prstGeom prst="rect">
            <a:avLst/>
          </a:prstGeom>
          <a:noFill/>
          <a:ln>
            <a:noFill/>
          </a:ln>
        </p:spPr>
        <p:txBody>
          <a:bodyPr wrap="non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Loopback1 </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10.1.4.4/32</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 name="文本框 36"/>
          <p:cNvSpPr txBox="1"/>
          <p:nvPr/>
        </p:nvSpPr>
        <p:spPr bwMode="gray">
          <a:xfrm>
            <a:off x="1576705" y="3492845"/>
            <a:ext cx="848309" cy="276999"/>
          </a:xfrm>
          <a:prstGeom prst="rect">
            <a:avLst/>
          </a:prstGeom>
          <a:noFill/>
        </p:spPr>
        <p:txBody>
          <a:bodyPr wrap="none" rtlCol="0">
            <a:spAutoFit/>
          </a:bodyPr>
          <a:lstStyle/>
          <a:p>
            <a:r>
              <a:rPr lang="en-US" altLang="zh-CN" sz="12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AS 65000</a:t>
            </a:r>
            <a:endParaRPr lang="en-US" altLang="zh-CN" sz="12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文本框 37"/>
          <p:cNvSpPr txBox="1"/>
          <p:nvPr/>
        </p:nvSpPr>
        <p:spPr bwMode="gray">
          <a:xfrm>
            <a:off x="4190770" y="3492845"/>
            <a:ext cx="848309" cy="276999"/>
          </a:xfrm>
          <a:prstGeom prst="rect">
            <a:avLst/>
          </a:prstGeom>
          <a:noFill/>
        </p:spPr>
        <p:txBody>
          <a:bodyPr wrap="none" rtlCol="0">
            <a:spAutoFit/>
          </a:bodyPr>
          <a:lstStyle/>
          <a:p>
            <a:r>
              <a:rPr lang="en-US" altLang="zh-CN" sz="12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AS 65001</a:t>
            </a:r>
            <a:endParaRPr lang="en-US" altLang="zh-CN" sz="12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文本框 38"/>
          <p:cNvSpPr txBox="1"/>
          <p:nvPr/>
        </p:nvSpPr>
        <p:spPr bwMode="gray">
          <a:xfrm>
            <a:off x="542427" y="1427904"/>
            <a:ext cx="675185" cy="276999"/>
          </a:xfrm>
          <a:prstGeom prst="rect">
            <a:avLst/>
          </a:prstGeom>
          <a:noFill/>
        </p:spPr>
        <p:txBody>
          <a:bodyPr wrap="none" rtlCol="0">
            <a:spAutoFit/>
          </a:bodyPr>
          <a:lstStyle/>
          <a:p>
            <a:r>
              <a:rPr lang="en-US" altLang="zh-CN" sz="12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AS 100</a:t>
            </a:r>
            <a:endParaRPr lang="en-US" altLang="zh-CN" sz="12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矩形 39"/>
          <p:cNvSpPr/>
          <p:nvPr/>
        </p:nvSpPr>
        <p:spPr bwMode="gray">
          <a:xfrm>
            <a:off x="942842" y="2695509"/>
            <a:ext cx="1186543" cy="307777"/>
          </a:xfrm>
          <a:prstGeom prst="rect">
            <a:avLst/>
          </a:prstGeom>
        </p:spPr>
        <p:txBody>
          <a:bodyPr wrap="none">
            <a:spAutoFit/>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10.0.14.0/24</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矩形 40"/>
          <p:cNvSpPr/>
          <p:nvPr/>
        </p:nvSpPr>
        <p:spPr bwMode="gray">
          <a:xfrm>
            <a:off x="4397520" y="2695509"/>
            <a:ext cx="1186543" cy="307777"/>
          </a:xfrm>
          <a:prstGeom prst="rect">
            <a:avLst/>
          </a:prstGeom>
        </p:spPr>
        <p:txBody>
          <a:bodyPr wrap="none">
            <a:spAutoFit/>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10.0.35.0/24</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矩形 41"/>
          <p:cNvSpPr/>
          <p:nvPr/>
        </p:nvSpPr>
        <p:spPr bwMode="gray">
          <a:xfrm>
            <a:off x="2556409" y="1564429"/>
            <a:ext cx="1455848" cy="461665"/>
          </a:xfrm>
          <a:prstGeom prst="rect">
            <a:avLst/>
          </a:prstGeom>
        </p:spPr>
        <p:txBody>
          <a:bodyPr wrap="none">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Loopback0</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2001:DB8:2::2/128</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矩形 42"/>
          <p:cNvSpPr/>
          <p:nvPr/>
        </p:nvSpPr>
        <p:spPr bwMode="gray">
          <a:xfrm>
            <a:off x="4630687" y="1564429"/>
            <a:ext cx="1455848" cy="461665"/>
          </a:xfrm>
          <a:prstGeom prst="rect">
            <a:avLst/>
          </a:prstGeom>
        </p:spPr>
        <p:txBody>
          <a:bodyPr wrap="none">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Loopback0</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2001:DB8:3::3/128</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矩形 43"/>
          <p:cNvSpPr/>
          <p:nvPr/>
        </p:nvSpPr>
        <p:spPr bwMode="gray">
          <a:xfrm>
            <a:off x="3694397" y="2245468"/>
            <a:ext cx="1455848" cy="276999"/>
          </a:xfrm>
          <a:prstGeom prst="rect">
            <a:avLst/>
          </a:prstGeom>
        </p:spPr>
        <p:txBody>
          <a:bodyPr wrap="none">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2001:DB88:23::/96</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7" name="文本框 56"/>
          <p:cNvSpPr txBox="1"/>
          <p:nvPr/>
        </p:nvSpPr>
        <p:spPr bwMode="gray">
          <a:xfrm>
            <a:off x="6278213" y="1932128"/>
            <a:ext cx="5195653" cy="1384995"/>
          </a:xfrm>
          <a:prstGeom prst="rect">
            <a:avLst/>
          </a:prstGeom>
          <a:solidFill>
            <a:schemeClr val="bg1">
              <a:lumMod val="85000"/>
            </a:schemeClr>
          </a:solidFill>
          <a:ln>
            <a:noFill/>
          </a:ln>
        </p:spPr>
        <p:txBody>
          <a:bodyPr wrap="squar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&lt;CE1&gt;ping -a 10.1.4.4 10.1.5.5</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PING 10.1.5.5: 56  data bytes, press CTRL_C to break</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Reply from 10.1.5.5: bytes=56 Sequence=1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ttl</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=254 time=1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ms</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Reply from 10.1.5.5: bytes=56 Sequence=2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ttl</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=254 time=1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ms</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Reply from 10.1.5.5: bytes=56 Sequence=3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ttl</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=254 time=1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ms</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Reply from 10.1.5.5: bytes=56 Sequence=4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ttl</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=254 time=1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ms</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Reply from 10.1.5.5: bytes=56 Sequence=5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ttl</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=254 time=1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ms</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8" name="文本框 57"/>
          <p:cNvSpPr txBox="1"/>
          <p:nvPr/>
        </p:nvSpPr>
        <p:spPr bwMode="gray">
          <a:xfrm>
            <a:off x="6225255" y="1653297"/>
            <a:ext cx="1749197" cy="307777"/>
          </a:xfrm>
          <a:prstGeom prst="rect">
            <a:avLst/>
          </a:prstGeom>
          <a:noFill/>
        </p:spPr>
        <p:txBody>
          <a:bodyPr wrap="none" rtlCol="0">
            <a:spAutoFit/>
          </a:bodyPr>
          <a:lstStyle/>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在</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CE1</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上验证结果。</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9" name="矩形 58"/>
          <p:cNvSpPr/>
          <p:nvPr/>
        </p:nvSpPr>
        <p:spPr bwMode="gray">
          <a:xfrm>
            <a:off x="522292" y="3756914"/>
            <a:ext cx="5136046" cy="2246769"/>
          </a:xfrm>
          <a:prstGeom prst="rect">
            <a:avLst/>
          </a:prstGeom>
          <a:ln>
            <a:noFill/>
          </a:ln>
        </p:spPr>
        <p:txBody>
          <a:bodyPr wrap="square">
            <a:spAutoFit/>
          </a:bodyPr>
          <a:lstStyle/>
          <a:p>
            <a:pPr>
              <a:lnSpc>
                <a:spcPts val="2400"/>
              </a:lnSpc>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配置思路：</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176530" indent="-176530">
              <a:lnSpc>
                <a:spcPts val="2400"/>
              </a:lnSpc>
              <a:buFont typeface="+mj-lt"/>
              <a:buAutoNum type="arabicPeriod"/>
            </a:pPr>
            <a:r>
              <a:rPr lang="zh-CN"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完成设备接口</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IPv6</a:t>
            </a:r>
            <a:r>
              <a:rPr lang="zh-CN"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地址及</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IS-IS</a:t>
            </a:r>
            <a:r>
              <a:rPr lang="zh-CN"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配置</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（略）。</a:t>
            </a:r>
            <a:endParaRPr lang="zh-CN"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marL="176530" indent="-176530">
              <a:lnSpc>
                <a:spcPts val="2400"/>
              </a:lnSpc>
              <a:buFont typeface="+mj-lt"/>
              <a:buAutoNum type="arabicPeriod"/>
            </a:pP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在</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PE1</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与</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PE2</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之间建立</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MP-BGP</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对等体关系。</a:t>
            </a:r>
            <a:endPar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marL="176530" indent="-176530">
              <a:lnSpc>
                <a:spcPts val="2400"/>
              </a:lnSpc>
              <a:buFont typeface="+mj-lt"/>
              <a:buAutoNum type="arabicPeriod"/>
            </a:pP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骨干网上使能</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Segment Routing</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，建立</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SRv6 BE</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路径。</a:t>
            </a:r>
            <a:endPar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marL="176530" indent="-176530">
              <a:lnSpc>
                <a:spcPts val="2400"/>
              </a:lnSpc>
              <a:buFont typeface="+mj-lt"/>
              <a:buAutoNum type="arabicPeriod"/>
            </a:pP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PE</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上配置使能</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IPv4</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地址族</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VPN</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实例。</a:t>
            </a:r>
            <a:endPar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marL="176530" indent="-176530">
              <a:lnSpc>
                <a:spcPts val="2400"/>
              </a:lnSpc>
              <a:buFont typeface="+mj-lt"/>
              <a:buAutoNum type="arabicPeriod"/>
            </a:pP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PE</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之间配置</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MP-IBGP</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交换路由信息。</a:t>
            </a:r>
            <a:endPar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marL="176530" indent="-176530">
              <a:lnSpc>
                <a:spcPts val="2400"/>
              </a:lnSpc>
              <a:buFont typeface="+mj-lt"/>
              <a:buAutoNum type="arabicPeriod"/>
            </a:pP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结果验证。</a:t>
            </a:r>
            <a:endParaRPr lang="zh-CN"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en-US" altLang="zh-CN" sz="2200" dirty="0">
                <a:solidFill>
                  <a:schemeClr val="bg1">
                    <a:lumMod val="50000"/>
                  </a:schemeClr>
                </a:solidFill>
                <a:sym typeface="Huawei Sans" panose="020C0503030203020204" pitchFamily="34" charset="0"/>
              </a:rPr>
              <a:t>SRv6</a:t>
            </a:r>
            <a:r>
              <a:rPr lang="zh-CN" altLang="en-US" sz="2200" dirty="0">
                <a:solidFill>
                  <a:schemeClr val="bg1">
                    <a:lumMod val="50000"/>
                  </a:schemeClr>
                </a:solidFill>
                <a:sym typeface="Huawei Sans" panose="020C0503030203020204" pitchFamily="34" charset="0"/>
              </a:rPr>
              <a:t>概述</a:t>
            </a:r>
            <a:endParaRPr lang="zh-CN" altLang="en-US" sz="2200" dirty="0">
              <a:solidFill>
                <a:schemeClr val="bg1">
                  <a:lumMod val="50000"/>
                </a:schemeClr>
              </a:solidFill>
              <a:sym typeface="Huawei Sans" panose="020C0503030203020204" pitchFamily="34" charset="0"/>
            </a:endParaRPr>
          </a:p>
          <a:p>
            <a:r>
              <a:rPr lang="en-US" altLang="zh-CN" sz="2200" dirty="0">
                <a:solidFill>
                  <a:schemeClr val="bg1">
                    <a:lumMod val="50000"/>
                  </a:schemeClr>
                </a:solidFill>
                <a:sym typeface="Huawei Sans" panose="020C0503030203020204" pitchFamily="34" charset="0"/>
              </a:rPr>
              <a:t>SRv6</a:t>
            </a:r>
            <a:r>
              <a:rPr lang="zh-CN" altLang="en-US" sz="2200" dirty="0">
                <a:solidFill>
                  <a:schemeClr val="bg1">
                    <a:lumMod val="50000"/>
                  </a:schemeClr>
                </a:solidFill>
                <a:sym typeface="Huawei Sans" panose="020C0503030203020204" pitchFamily="34" charset="0"/>
              </a:rPr>
              <a:t>原理</a:t>
            </a:r>
            <a:endParaRPr lang="zh-CN" altLang="en-US" sz="2200" dirty="0">
              <a:solidFill>
                <a:schemeClr val="bg1">
                  <a:lumMod val="50000"/>
                </a:schemeClr>
              </a:solidFill>
              <a:sym typeface="Huawei Sans" panose="020C0503030203020204" pitchFamily="34" charset="0"/>
            </a:endParaRPr>
          </a:p>
          <a:p>
            <a:r>
              <a:rPr lang="en-US" altLang="zh-CN" sz="2200" dirty="0">
                <a:solidFill>
                  <a:schemeClr val="bg1">
                    <a:lumMod val="50000"/>
                  </a:schemeClr>
                </a:solidFill>
                <a:sym typeface="Huawei Sans" panose="020C0503030203020204" pitchFamily="34" charset="0"/>
              </a:rPr>
              <a:t>SRv6</a:t>
            </a:r>
            <a:r>
              <a:rPr lang="zh-CN" altLang="en-US" sz="2200" dirty="0">
                <a:solidFill>
                  <a:schemeClr val="bg1">
                    <a:lumMod val="50000"/>
                  </a:schemeClr>
                </a:solidFill>
                <a:sym typeface="Huawei Sans" panose="020C0503030203020204" pitchFamily="34" charset="0"/>
              </a:rPr>
              <a:t>高可靠性</a:t>
            </a:r>
            <a:endParaRPr lang="en-US" altLang="zh-CN" sz="2200" dirty="0">
              <a:solidFill>
                <a:schemeClr val="bg1">
                  <a:lumMod val="50000"/>
                </a:schemeClr>
              </a:solidFill>
              <a:sym typeface="Huawei Sans" panose="020C0503030203020204" pitchFamily="34" charset="0"/>
            </a:endParaRPr>
          </a:p>
          <a:p>
            <a:r>
              <a:rPr lang="en-US" altLang="zh-CN" sz="2200" b="1" dirty="0">
                <a:sym typeface="Huawei Sans" panose="020C0503030203020204" pitchFamily="34" charset="0"/>
              </a:rPr>
              <a:t>SRv6</a:t>
            </a:r>
            <a:r>
              <a:rPr lang="zh-CN" altLang="en-US" sz="2200" b="1" dirty="0">
                <a:sym typeface="Huawei Sans" panose="020C0503030203020204" pitchFamily="34" charset="0"/>
              </a:rPr>
              <a:t>基础配置</a:t>
            </a:r>
            <a:endParaRPr lang="en-US" altLang="zh-CN" sz="2200" b="1" dirty="0">
              <a:sym typeface="Huawei Sans" panose="020C0503030203020204" pitchFamily="34" charset="0"/>
            </a:endParaRPr>
          </a:p>
          <a:p>
            <a:pPr lvl="1"/>
            <a:r>
              <a:rPr lang="en-US" altLang="zh-CN" dirty="0">
                <a:solidFill>
                  <a:schemeClr val="bg1">
                    <a:lumMod val="50000"/>
                  </a:schemeClr>
                </a:solidFill>
                <a:sym typeface="Huawei Sans" panose="020C0503030203020204" pitchFamily="34" charset="0"/>
              </a:rPr>
              <a:t>SRv6 BE</a:t>
            </a:r>
            <a:endParaRPr lang="en-US" altLang="zh-CN" dirty="0">
              <a:solidFill>
                <a:schemeClr val="bg1">
                  <a:lumMod val="50000"/>
                </a:schemeClr>
              </a:solidFill>
              <a:sym typeface="Huawei Sans" panose="020C0503030203020204" pitchFamily="34" charset="0"/>
            </a:endParaRPr>
          </a:p>
          <a:p>
            <a:pPr lvl="1">
              <a:buSzPct val="60000"/>
              <a:buFont typeface="Wingdings" panose="05000000000000000000" pitchFamily="2" charset="2"/>
              <a:buChar char="n"/>
            </a:pPr>
            <a:r>
              <a:rPr lang="en-US" altLang="zh-CN" dirty="0">
                <a:sym typeface="Huawei Sans" panose="020C0503030203020204" pitchFamily="34" charset="0"/>
              </a:rPr>
              <a:t>SRv6 Policy</a:t>
            </a:r>
            <a:endParaRPr lang="en-US" altLang="zh-CN" dirty="0">
              <a:sym typeface="Huawei Sans" panose="020C0503030203020204" pitchFamily="34" charset="0"/>
            </a:endParaRPr>
          </a:p>
          <a:p>
            <a:r>
              <a:rPr lang="zh-CN" altLang="en-US" sz="2200" dirty="0">
                <a:solidFill>
                  <a:schemeClr val="bg1">
                    <a:lumMod val="50000"/>
                  </a:schemeClr>
                </a:solidFill>
                <a:sym typeface="Huawei Sans" panose="020C0503030203020204" pitchFamily="34" charset="0"/>
              </a:rPr>
              <a:t>基于</a:t>
            </a:r>
            <a:r>
              <a:rPr lang="en-US" altLang="zh-CN" sz="2200" dirty="0" err="1">
                <a:solidFill>
                  <a:schemeClr val="bg1">
                    <a:lumMod val="50000"/>
                  </a:schemeClr>
                </a:solidFill>
                <a:sym typeface="Huawei Sans" panose="020C0503030203020204" pitchFamily="34" charset="0"/>
              </a:rPr>
              <a:t>iMaster</a:t>
            </a:r>
            <a:r>
              <a:rPr lang="en-US" altLang="zh-CN" sz="2200" dirty="0">
                <a:solidFill>
                  <a:schemeClr val="bg1">
                    <a:lumMod val="50000"/>
                  </a:schemeClr>
                </a:solidFill>
                <a:sym typeface="Huawei Sans" panose="020C0503030203020204" pitchFamily="34" charset="0"/>
              </a:rPr>
              <a:t> NCE-IP</a:t>
            </a:r>
            <a:r>
              <a:rPr lang="zh-CN" altLang="en-US" sz="2200" dirty="0">
                <a:solidFill>
                  <a:schemeClr val="bg1">
                    <a:lumMod val="50000"/>
                  </a:schemeClr>
                </a:solidFill>
                <a:sym typeface="Huawei Sans" panose="020C0503030203020204" pitchFamily="34" charset="0"/>
              </a:rPr>
              <a:t>部署</a:t>
            </a:r>
            <a:r>
              <a:rPr lang="en-US" altLang="zh-CN" sz="2200" dirty="0">
                <a:solidFill>
                  <a:schemeClr val="bg1">
                    <a:lumMod val="50000"/>
                  </a:schemeClr>
                </a:solidFill>
                <a:sym typeface="Huawei Sans" panose="020C0503030203020204" pitchFamily="34" charset="0"/>
              </a:rPr>
              <a:t>SRv6</a:t>
            </a:r>
            <a:endParaRPr lang="zh-CN" altLang="en-US" sz="2200" dirty="0">
              <a:solidFill>
                <a:schemeClr val="bg1">
                  <a:lumMod val="50000"/>
                </a:schemeClr>
              </a:solidFill>
              <a:sym typeface="Huawei Sans" panose="020C0503030203020204" pitchFamily="34" charset="0"/>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bwMode="gray"/>
        <p:txBody>
          <a:bodyPr>
            <a:noAutofit/>
          </a:bodyPr>
          <a:lstStyle/>
          <a:p>
            <a:r>
              <a:rPr lang="en-US" altLang="zh-CN" dirty="0">
                <a:sym typeface="Huawei Sans" panose="020C0503030203020204" pitchFamily="34" charset="0"/>
              </a:rPr>
              <a:t>L3VPNv4 over SRv6 Policy (1)</a:t>
            </a:r>
            <a:br>
              <a:rPr lang="en-US" altLang="zh-CN" dirty="0">
                <a:sym typeface="Huawei Sans" panose="020C0503030203020204" pitchFamily="34" charset="0"/>
              </a:rPr>
            </a:br>
            <a:endParaRPr lang="zh-CN" altLang="en-US" dirty="0">
              <a:sym typeface="Huawei Sans" panose="020C0503030203020204" pitchFamily="34" charset="0"/>
            </a:endParaRPr>
          </a:p>
        </p:txBody>
      </p:sp>
      <p:sp>
        <p:nvSpPr>
          <p:cNvPr id="43" name="矩形 42"/>
          <p:cNvSpPr/>
          <p:nvPr/>
        </p:nvSpPr>
        <p:spPr bwMode="gray">
          <a:xfrm>
            <a:off x="4190770" y="2950258"/>
            <a:ext cx="1826072" cy="780536"/>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矩形 43"/>
          <p:cNvSpPr/>
          <p:nvPr/>
        </p:nvSpPr>
        <p:spPr bwMode="gray">
          <a:xfrm>
            <a:off x="522292" y="2950258"/>
            <a:ext cx="1826072" cy="780536"/>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矩形 44"/>
          <p:cNvSpPr/>
          <p:nvPr/>
        </p:nvSpPr>
        <p:spPr bwMode="gray">
          <a:xfrm>
            <a:off x="522292" y="1487150"/>
            <a:ext cx="5494550" cy="1238390"/>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标题 1"/>
          <p:cNvSpPr txBox="1"/>
          <p:nvPr/>
        </p:nvSpPr>
        <p:spPr bwMode="gray">
          <a:xfrm>
            <a:off x="452438" y="447468"/>
            <a:ext cx="11296649" cy="497095"/>
          </a:xfrm>
          <a:prstGeom prst="rect">
            <a:avLst/>
          </a:prstGeom>
        </p:spPr>
        <p:txBody>
          <a:bodyPr lIns="0" tIns="0" rIns="0" bIns="0" anchor="t">
            <a:normAutofit/>
          </a:bodyPr>
          <a:lstStyle>
            <a:lvl1pPr algn="l" defTabSz="913765" rtl="0" eaLnBrk="1" fontAlgn="base" latinLnBrk="0" hangingPunct="1">
              <a:lnSpc>
                <a:spcPct val="90000"/>
              </a:lnSpc>
              <a:spcBef>
                <a:spcPct val="0"/>
              </a:spcBef>
              <a:buNone/>
              <a:defRPr lang="zh-CN" altLang="en-US" sz="3200" kern="1200" baseline="0" dirty="0">
                <a:solidFill>
                  <a:schemeClr val="tx1"/>
                </a:solidFill>
                <a:latin typeface="Huawei Sans" panose="020C0503030203020204" pitchFamily="34" charset="0"/>
                <a:ea typeface="方正兰亭黑简体" panose="02000000000000000000" pitchFamily="2" charset="-122"/>
                <a:cs typeface="+mn-cs"/>
              </a:defRPr>
            </a:lvl1pPr>
          </a:lstStyle>
          <a:p>
            <a:endParaRPr lang="en-US" dirty="0">
              <a:sym typeface="Huawei Sans" panose="020C0503030203020204" pitchFamily="34" charset="0"/>
            </a:endParaRPr>
          </a:p>
        </p:txBody>
      </p:sp>
      <p:cxnSp>
        <p:nvCxnSpPr>
          <p:cNvPr id="48" name="直接连接符 47"/>
          <p:cNvCxnSpPr>
            <a:stCxn id="50" idx="3"/>
            <a:endCxn id="54" idx="1"/>
          </p:cNvCxnSpPr>
          <p:nvPr/>
        </p:nvCxnSpPr>
        <p:spPr bwMode="gray">
          <a:xfrm>
            <a:off x="1267619" y="2489567"/>
            <a:ext cx="398533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9" name="矩形 48"/>
          <p:cNvSpPr/>
          <p:nvPr/>
        </p:nvSpPr>
        <p:spPr bwMode="gray">
          <a:xfrm>
            <a:off x="748992" y="1996788"/>
            <a:ext cx="497252"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PE1</a:t>
            </a:r>
            <a:endParaRPr lang="zh-CN" altLang="en-US" sz="1400" b="1" dirty="0">
              <a:solidFill>
                <a:srgbClr val="FF3300"/>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50" name="图片 49"/>
          <p:cNvPicPr/>
          <p:nvPr/>
        </p:nvPicPr>
        <p:blipFill>
          <a:blip r:embed="rId1" cstate="print">
            <a:extLst>
              <a:ext uri="{28A0092B-C50C-407E-A947-70E740481C1C}">
                <a14:useLocalDpi xmlns:a14="http://schemas.microsoft.com/office/drawing/2010/main" val="0"/>
              </a:ext>
            </a:extLst>
          </a:blip>
          <a:stretch>
            <a:fillRect/>
          </a:stretch>
        </p:blipFill>
        <p:spPr bwMode="gray">
          <a:xfrm>
            <a:off x="727619" y="2268167"/>
            <a:ext cx="540000" cy="442800"/>
          </a:xfrm>
          <a:prstGeom prst="rect">
            <a:avLst/>
          </a:prstGeom>
        </p:spPr>
      </p:pic>
      <p:sp>
        <p:nvSpPr>
          <p:cNvPr id="51" name="矩形 50"/>
          <p:cNvSpPr/>
          <p:nvPr/>
        </p:nvSpPr>
        <p:spPr bwMode="gray">
          <a:xfrm>
            <a:off x="3138299" y="1996788"/>
            <a:ext cx="292068" cy="307777"/>
          </a:xfrm>
          <a:prstGeom prst="rect">
            <a:avLst/>
          </a:prstGeom>
        </p:spPr>
        <p:txBody>
          <a:bodyPr wrap="none">
            <a:spAutoFit/>
          </a:bodyPr>
          <a:lstStyle/>
          <a:p>
            <a:pPr algn="ctr"/>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P</a:t>
            </a:r>
            <a:endParaRPr lang="zh-CN" altLang="en-US" sz="1400" b="1">
              <a:solidFill>
                <a:srgbClr val="FF3300"/>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52" name="图片 51"/>
          <p:cNvPicPr/>
          <p:nvPr/>
        </p:nvPicPr>
        <p:blipFill>
          <a:blip r:embed="rId1" cstate="print">
            <a:extLst>
              <a:ext uri="{28A0092B-C50C-407E-A947-70E740481C1C}">
                <a14:useLocalDpi xmlns:a14="http://schemas.microsoft.com/office/drawing/2010/main" val="0"/>
              </a:ext>
            </a:extLst>
          </a:blip>
          <a:stretch>
            <a:fillRect/>
          </a:stretch>
        </p:blipFill>
        <p:spPr bwMode="gray">
          <a:xfrm>
            <a:off x="2991152" y="2268167"/>
            <a:ext cx="540000" cy="442800"/>
          </a:xfrm>
          <a:prstGeom prst="rect">
            <a:avLst/>
          </a:prstGeom>
        </p:spPr>
      </p:pic>
      <p:sp>
        <p:nvSpPr>
          <p:cNvPr id="53" name="矩形 52"/>
          <p:cNvSpPr/>
          <p:nvPr/>
        </p:nvSpPr>
        <p:spPr bwMode="gray">
          <a:xfrm>
            <a:off x="5283807" y="1996788"/>
            <a:ext cx="497252"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PE2</a:t>
            </a:r>
            <a:endParaRPr lang="zh-CN" altLang="en-US" sz="1400" b="1" dirty="0">
              <a:solidFill>
                <a:srgbClr val="FF3300"/>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54" name="图片 53"/>
          <p:cNvPicPr/>
          <p:nvPr/>
        </p:nvPicPr>
        <p:blipFill>
          <a:blip r:embed="rId1" cstate="print">
            <a:extLst>
              <a:ext uri="{28A0092B-C50C-407E-A947-70E740481C1C}">
                <a14:useLocalDpi xmlns:a14="http://schemas.microsoft.com/office/drawing/2010/main" val="0"/>
              </a:ext>
            </a:extLst>
          </a:blip>
          <a:stretch>
            <a:fillRect/>
          </a:stretch>
        </p:blipFill>
        <p:spPr bwMode="gray">
          <a:xfrm>
            <a:off x="5252957" y="2268167"/>
            <a:ext cx="540000" cy="442800"/>
          </a:xfrm>
          <a:prstGeom prst="rect">
            <a:avLst/>
          </a:prstGeom>
        </p:spPr>
      </p:pic>
      <p:sp>
        <p:nvSpPr>
          <p:cNvPr id="55" name="矩形 54"/>
          <p:cNvSpPr/>
          <p:nvPr/>
        </p:nvSpPr>
        <p:spPr bwMode="gray">
          <a:xfrm>
            <a:off x="1401461" y="2245468"/>
            <a:ext cx="1455848" cy="276999"/>
          </a:xfrm>
          <a:prstGeom prst="rect">
            <a:avLst/>
          </a:prstGeom>
        </p:spPr>
        <p:txBody>
          <a:bodyPr wrap="none">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2001:DB88:12::/96</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6" name="矩形 55"/>
          <p:cNvSpPr/>
          <p:nvPr/>
        </p:nvSpPr>
        <p:spPr bwMode="gray">
          <a:xfrm>
            <a:off x="437904" y="1564429"/>
            <a:ext cx="1455848" cy="461665"/>
          </a:xfrm>
          <a:prstGeom prst="rect">
            <a:avLst/>
          </a:prstGeom>
        </p:spPr>
        <p:txBody>
          <a:bodyPr wrap="none">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Loopback0</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2001:DB8:1::1/128</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7" name="文本框 56"/>
          <p:cNvSpPr txBox="1"/>
          <p:nvPr/>
        </p:nvSpPr>
        <p:spPr bwMode="gray">
          <a:xfrm>
            <a:off x="4251736" y="3039452"/>
            <a:ext cx="987770" cy="461665"/>
          </a:xfrm>
          <a:prstGeom prst="rect">
            <a:avLst/>
          </a:prstGeom>
          <a:noFill/>
          <a:ln>
            <a:noFill/>
          </a:ln>
        </p:spPr>
        <p:txBody>
          <a:bodyPr wrap="non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Loopback1 </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10.1.5.5/32</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8" name="矩形 57"/>
          <p:cNvSpPr/>
          <p:nvPr/>
        </p:nvSpPr>
        <p:spPr bwMode="gray">
          <a:xfrm>
            <a:off x="575271" y="3815029"/>
            <a:ext cx="5136046" cy="1477328"/>
          </a:xfrm>
          <a:prstGeom prst="rect">
            <a:avLst/>
          </a:prstGeom>
          <a:ln>
            <a:noFill/>
          </a:ln>
        </p:spPr>
        <p:txBody>
          <a:bodyPr wrap="square">
            <a:spAutoFit/>
          </a:bodyPr>
          <a:lstStyle/>
          <a:p>
            <a:pPr>
              <a:lnSpc>
                <a:spcPts val="2400"/>
              </a:lnSpc>
              <a:spcAft>
                <a:spcPts val="600"/>
              </a:spcAft>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组网需求：</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176530" indent="-176530">
              <a:lnSpc>
                <a:spcPts val="2400"/>
              </a:lnSpc>
              <a:spcAft>
                <a:spcPts val="600"/>
              </a:spcAft>
              <a:buFont typeface="+mj-lt"/>
              <a:buAutoNum type="arabicPeriod"/>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PE1</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和</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PE2</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设备各有一个</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CE</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属于</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VPN</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实例</a:t>
            </a:r>
            <a:r>
              <a:rPr lang="en-US" altLang="zh-CN" sz="1400" dirty="0" err="1">
                <a:latin typeface="Huawei Sans" panose="020C0503030203020204" pitchFamily="34" charset="0"/>
                <a:ea typeface="方正兰亭黑简体" panose="02000000000000000000" pitchFamily="2" charset="-122"/>
                <a:sym typeface="Huawei Sans" panose="020C0503030203020204" pitchFamily="34" charset="0"/>
              </a:rPr>
              <a:t>vpna</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176530" indent="-176530">
              <a:lnSpc>
                <a:spcPts val="2400"/>
              </a:lnSpc>
              <a:spcAft>
                <a:spcPts val="600"/>
              </a:spcAft>
              <a:buFont typeface="+mj-lt"/>
              <a:buAutoNum type="arabicPeriod"/>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在骨干网络中部署</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L3VPN</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迭代</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SRv6 Policy</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，使得</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CE1</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和</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CE2</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的</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loopback1</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接口可以相互通信。</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9" name="矩形 58"/>
          <p:cNvSpPr/>
          <p:nvPr/>
        </p:nvSpPr>
        <p:spPr bwMode="gray">
          <a:xfrm>
            <a:off x="1199332" y="2266253"/>
            <a:ext cx="306494" cy="276999"/>
          </a:xfrm>
          <a:prstGeom prst="rect">
            <a:avLst/>
          </a:prstGeom>
        </p:spPr>
        <p:txBody>
          <a:bodyPr wrap="none">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:1</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0" name="矩形 59"/>
          <p:cNvSpPr/>
          <p:nvPr/>
        </p:nvSpPr>
        <p:spPr bwMode="gray">
          <a:xfrm>
            <a:off x="2764735" y="2266253"/>
            <a:ext cx="306494" cy="276999"/>
          </a:xfrm>
          <a:prstGeom prst="rect">
            <a:avLst/>
          </a:prstGeom>
        </p:spPr>
        <p:txBody>
          <a:bodyPr wrap="none">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1" name="矩形 60"/>
          <p:cNvSpPr/>
          <p:nvPr/>
        </p:nvSpPr>
        <p:spPr bwMode="gray">
          <a:xfrm>
            <a:off x="3447434" y="2266253"/>
            <a:ext cx="306494" cy="276999"/>
          </a:xfrm>
          <a:prstGeom prst="rect">
            <a:avLst/>
          </a:prstGeom>
        </p:spPr>
        <p:txBody>
          <a:bodyPr wrap="none">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2" name="矩形 61"/>
          <p:cNvSpPr/>
          <p:nvPr/>
        </p:nvSpPr>
        <p:spPr bwMode="gray">
          <a:xfrm>
            <a:off x="5024712" y="2266253"/>
            <a:ext cx="306494" cy="276999"/>
          </a:xfrm>
          <a:prstGeom prst="rect">
            <a:avLst/>
          </a:prstGeom>
        </p:spPr>
        <p:txBody>
          <a:bodyPr wrap="none">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:3</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63" name="图片 62"/>
          <p:cNvPicPr/>
          <p:nvPr/>
        </p:nvPicPr>
        <p:blipFill>
          <a:blip r:embed="rId1" cstate="print">
            <a:extLst>
              <a:ext uri="{28A0092B-C50C-407E-A947-70E740481C1C}">
                <a14:useLocalDpi xmlns:a14="http://schemas.microsoft.com/office/drawing/2010/main" val="0"/>
              </a:ext>
            </a:extLst>
          </a:blip>
          <a:stretch>
            <a:fillRect/>
          </a:stretch>
        </p:blipFill>
        <p:spPr bwMode="gray">
          <a:xfrm>
            <a:off x="727619" y="3010900"/>
            <a:ext cx="540000" cy="442800"/>
          </a:xfrm>
          <a:prstGeom prst="rect">
            <a:avLst/>
          </a:prstGeom>
        </p:spPr>
      </p:pic>
      <p:pic>
        <p:nvPicPr>
          <p:cNvPr id="64" name="图片 63"/>
          <p:cNvPicPr/>
          <p:nvPr/>
        </p:nvPicPr>
        <p:blipFill>
          <a:blip r:embed="rId1" cstate="print">
            <a:extLst>
              <a:ext uri="{28A0092B-C50C-407E-A947-70E740481C1C}">
                <a14:useLocalDpi xmlns:a14="http://schemas.microsoft.com/office/drawing/2010/main" val="0"/>
              </a:ext>
            </a:extLst>
          </a:blip>
          <a:stretch>
            <a:fillRect/>
          </a:stretch>
        </p:blipFill>
        <p:spPr bwMode="gray">
          <a:xfrm>
            <a:off x="5252957" y="3010900"/>
            <a:ext cx="540000" cy="442800"/>
          </a:xfrm>
          <a:prstGeom prst="rect">
            <a:avLst/>
          </a:prstGeom>
        </p:spPr>
      </p:pic>
      <p:cxnSp>
        <p:nvCxnSpPr>
          <p:cNvPr id="65" name="直接连接符 64"/>
          <p:cNvCxnSpPr>
            <a:stCxn id="50" idx="2"/>
            <a:endCxn id="63" idx="0"/>
          </p:cNvCxnSpPr>
          <p:nvPr/>
        </p:nvCxnSpPr>
        <p:spPr bwMode="gray">
          <a:xfrm>
            <a:off x="997619" y="2710967"/>
            <a:ext cx="0" cy="29993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直接连接符 65"/>
          <p:cNvCxnSpPr>
            <a:stCxn id="54" idx="2"/>
            <a:endCxn id="64" idx="0"/>
          </p:cNvCxnSpPr>
          <p:nvPr/>
        </p:nvCxnSpPr>
        <p:spPr bwMode="gray">
          <a:xfrm>
            <a:off x="5522957" y="2710967"/>
            <a:ext cx="0" cy="29993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7" name="矩形 66"/>
          <p:cNvSpPr/>
          <p:nvPr/>
        </p:nvSpPr>
        <p:spPr bwMode="gray">
          <a:xfrm>
            <a:off x="746588" y="3501117"/>
            <a:ext cx="502061"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CE1</a:t>
            </a:r>
            <a:endParaRPr lang="zh-CN" altLang="en-US" sz="1400" b="1" dirty="0">
              <a:solidFill>
                <a:srgbClr val="FF33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8" name="矩形 67"/>
          <p:cNvSpPr/>
          <p:nvPr/>
        </p:nvSpPr>
        <p:spPr bwMode="gray">
          <a:xfrm>
            <a:off x="5281403" y="3501117"/>
            <a:ext cx="502061"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CE2</a:t>
            </a:r>
            <a:endParaRPr lang="zh-CN" altLang="en-US" sz="1400" b="1" dirty="0">
              <a:solidFill>
                <a:srgbClr val="FF33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9" name="文本框 68"/>
          <p:cNvSpPr txBox="1"/>
          <p:nvPr/>
        </p:nvSpPr>
        <p:spPr bwMode="gray">
          <a:xfrm>
            <a:off x="1290546" y="3039452"/>
            <a:ext cx="987770" cy="461665"/>
          </a:xfrm>
          <a:prstGeom prst="rect">
            <a:avLst/>
          </a:prstGeom>
          <a:noFill/>
          <a:ln>
            <a:noFill/>
          </a:ln>
        </p:spPr>
        <p:txBody>
          <a:bodyPr wrap="non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Loopback1 </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10.1.4.4/32</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0" name="文本框 69"/>
          <p:cNvSpPr txBox="1"/>
          <p:nvPr/>
        </p:nvSpPr>
        <p:spPr bwMode="gray">
          <a:xfrm>
            <a:off x="1576705" y="3492845"/>
            <a:ext cx="848309" cy="276999"/>
          </a:xfrm>
          <a:prstGeom prst="rect">
            <a:avLst/>
          </a:prstGeom>
          <a:noFill/>
        </p:spPr>
        <p:txBody>
          <a:bodyPr wrap="none" rtlCol="0">
            <a:spAutoFit/>
          </a:bodyPr>
          <a:lstStyle/>
          <a:p>
            <a:r>
              <a:rPr lang="en-US" altLang="zh-CN" sz="12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AS 65000</a:t>
            </a:r>
            <a:endParaRPr lang="en-US" altLang="zh-CN" sz="12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1" name="文本框 70"/>
          <p:cNvSpPr txBox="1"/>
          <p:nvPr/>
        </p:nvSpPr>
        <p:spPr bwMode="gray">
          <a:xfrm>
            <a:off x="4190770" y="3492845"/>
            <a:ext cx="848309" cy="276999"/>
          </a:xfrm>
          <a:prstGeom prst="rect">
            <a:avLst/>
          </a:prstGeom>
          <a:noFill/>
        </p:spPr>
        <p:txBody>
          <a:bodyPr wrap="none" rtlCol="0">
            <a:spAutoFit/>
          </a:bodyPr>
          <a:lstStyle/>
          <a:p>
            <a:r>
              <a:rPr lang="en-US" altLang="zh-CN" sz="12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AS 65001</a:t>
            </a:r>
            <a:endParaRPr lang="en-US" altLang="zh-CN" sz="12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2" name="文本框 71"/>
          <p:cNvSpPr txBox="1"/>
          <p:nvPr/>
        </p:nvSpPr>
        <p:spPr bwMode="gray">
          <a:xfrm>
            <a:off x="542427" y="1427904"/>
            <a:ext cx="675185" cy="276999"/>
          </a:xfrm>
          <a:prstGeom prst="rect">
            <a:avLst/>
          </a:prstGeom>
          <a:noFill/>
        </p:spPr>
        <p:txBody>
          <a:bodyPr wrap="none" rtlCol="0">
            <a:spAutoFit/>
          </a:bodyPr>
          <a:lstStyle/>
          <a:p>
            <a:r>
              <a:rPr lang="en-US" altLang="zh-CN" sz="12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AS 100</a:t>
            </a:r>
            <a:endParaRPr lang="en-US" altLang="zh-CN" sz="12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3" name="矩形 72"/>
          <p:cNvSpPr/>
          <p:nvPr/>
        </p:nvSpPr>
        <p:spPr bwMode="gray">
          <a:xfrm>
            <a:off x="942842" y="2695509"/>
            <a:ext cx="1186543" cy="307777"/>
          </a:xfrm>
          <a:prstGeom prst="rect">
            <a:avLst/>
          </a:prstGeom>
        </p:spPr>
        <p:txBody>
          <a:bodyPr wrap="none">
            <a:spAutoFit/>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10.0.14.0/24</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4" name="矩形 73"/>
          <p:cNvSpPr/>
          <p:nvPr/>
        </p:nvSpPr>
        <p:spPr bwMode="gray">
          <a:xfrm>
            <a:off x="4397520" y="2695509"/>
            <a:ext cx="1186543" cy="307777"/>
          </a:xfrm>
          <a:prstGeom prst="rect">
            <a:avLst/>
          </a:prstGeom>
        </p:spPr>
        <p:txBody>
          <a:bodyPr wrap="none">
            <a:spAutoFit/>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10.0.35.0/24</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5" name="矩形 74"/>
          <p:cNvSpPr/>
          <p:nvPr/>
        </p:nvSpPr>
        <p:spPr bwMode="gray">
          <a:xfrm>
            <a:off x="2556409" y="1564429"/>
            <a:ext cx="1455848" cy="461665"/>
          </a:xfrm>
          <a:prstGeom prst="rect">
            <a:avLst/>
          </a:prstGeom>
        </p:spPr>
        <p:txBody>
          <a:bodyPr wrap="none">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Loopback0</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2001:DB8:2::2/128</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6" name="矩形 75"/>
          <p:cNvSpPr/>
          <p:nvPr/>
        </p:nvSpPr>
        <p:spPr bwMode="gray">
          <a:xfrm>
            <a:off x="4630687" y="1564429"/>
            <a:ext cx="1455848" cy="461665"/>
          </a:xfrm>
          <a:prstGeom prst="rect">
            <a:avLst/>
          </a:prstGeom>
        </p:spPr>
        <p:txBody>
          <a:bodyPr wrap="none">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Loopback0</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2001:DB8:3::3/128</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7" name="矩形 76"/>
          <p:cNvSpPr/>
          <p:nvPr/>
        </p:nvSpPr>
        <p:spPr bwMode="gray">
          <a:xfrm>
            <a:off x="3694397" y="2245468"/>
            <a:ext cx="1455848" cy="276999"/>
          </a:xfrm>
          <a:prstGeom prst="rect">
            <a:avLst/>
          </a:prstGeom>
        </p:spPr>
        <p:txBody>
          <a:bodyPr wrap="none">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2001:DB88:23::/96</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矩形 37"/>
          <p:cNvSpPr/>
          <p:nvPr/>
        </p:nvSpPr>
        <p:spPr bwMode="gray">
          <a:xfrm>
            <a:off x="6241138" y="2404752"/>
            <a:ext cx="5136046" cy="2554545"/>
          </a:xfrm>
          <a:prstGeom prst="rect">
            <a:avLst/>
          </a:prstGeom>
          <a:ln>
            <a:noFill/>
          </a:ln>
        </p:spPr>
        <p:txBody>
          <a:bodyPr wrap="square">
            <a:spAutoFit/>
          </a:bodyPr>
          <a:lstStyle/>
          <a:p>
            <a:pPr>
              <a:lnSpc>
                <a:spcPts val="2400"/>
              </a:lnSpc>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配置思路：</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176530" indent="-176530">
              <a:lnSpc>
                <a:spcPts val="2400"/>
              </a:lnSpc>
              <a:buFont typeface="+mj-lt"/>
              <a:buAutoNum type="arabicPeriod"/>
            </a:pPr>
            <a:r>
              <a:rPr lang="zh-CN" altLang="zh-CN" sz="1400" dirty="0">
                <a:latin typeface="Huawei Sans" panose="020C0503030203020204" pitchFamily="34" charset="0"/>
                <a:ea typeface="方正兰亭黑简体" panose="02000000000000000000" pitchFamily="2" charset="-122"/>
                <a:sym typeface="Huawei Sans" panose="020C0503030203020204" pitchFamily="34" charset="0"/>
              </a:rPr>
              <a:t>完成设备接口</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IPv6</a:t>
            </a:r>
            <a:r>
              <a:rPr lang="zh-CN" altLang="zh-CN" sz="1400" dirty="0">
                <a:latin typeface="Huawei Sans" panose="020C0503030203020204" pitchFamily="34" charset="0"/>
                <a:ea typeface="方正兰亭黑简体" panose="02000000000000000000" pitchFamily="2" charset="-122"/>
                <a:sym typeface="Huawei Sans" panose="020C0503030203020204" pitchFamily="34" charset="0"/>
              </a:rPr>
              <a:t>地址及</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IS-IS</a:t>
            </a:r>
            <a:r>
              <a:rPr lang="zh-CN" altLang="zh-CN" sz="1400" dirty="0">
                <a:latin typeface="Huawei Sans" panose="020C0503030203020204" pitchFamily="34" charset="0"/>
                <a:ea typeface="方正兰亭黑简体" panose="02000000000000000000" pitchFamily="2" charset="-122"/>
                <a:sym typeface="Huawei Sans" panose="020C0503030203020204" pitchFamily="34" charset="0"/>
              </a:rPr>
              <a:t>配置</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（略）。</a:t>
            </a:r>
            <a:endParaRPr lang="zh-CN"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176530" indent="-176530">
              <a:lnSpc>
                <a:spcPts val="2400"/>
              </a:lnSpc>
              <a:buFont typeface="+mj-lt"/>
              <a:buAutoNum type="arabicPeriod"/>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在</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PE1</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与</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PE2</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之间建立</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MP-BGP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对等体关系。</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176530" indent="-176530">
              <a:lnSpc>
                <a:spcPts val="2400"/>
              </a:lnSpc>
              <a:buFont typeface="+mj-lt"/>
              <a:buAutoNum type="arabicPeriod"/>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骨干网上使能</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Segment Routing</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，建立</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SRv6 Policy</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路径。</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176530" indent="-176530">
              <a:lnSpc>
                <a:spcPts val="2400"/>
              </a:lnSpc>
              <a:buFont typeface="+mj-lt"/>
              <a:buAutoNum type="arabicPeriod"/>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PE</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上配置使能</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IPv4</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地址族</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VPN</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实例，</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PE</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之间配置</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MP-IBGP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交换路由信息。</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176530" indent="-176530">
              <a:lnSpc>
                <a:spcPts val="2400"/>
              </a:lnSpc>
              <a:buFont typeface="+mj-lt"/>
              <a:buAutoNum type="arabicPeriod"/>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配置隧道策略，引入私网流量。</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176530" indent="-176530">
              <a:lnSpc>
                <a:spcPts val="2400"/>
              </a:lnSpc>
              <a:buFont typeface="+mj-lt"/>
              <a:buAutoNum type="arabicPeriod"/>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结果验证。</a:t>
            </a:r>
            <a:endParaRPr lang="zh-CN"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bwMode="gray"/>
        <p:txBody>
          <a:bodyPr>
            <a:noAutofit/>
          </a:bodyPr>
          <a:lstStyle/>
          <a:p>
            <a:r>
              <a:rPr lang="en-US" altLang="zh-CN" dirty="0">
                <a:sym typeface="Huawei Sans" panose="020C0503030203020204" pitchFamily="34" charset="0"/>
              </a:rPr>
              <a:t>L3VPNv4 over SRv6 Policy (2)</a:t>
            </a:r>
            <a:br>
              <a:rPr lang="en-US" altLang="zh-CN" dirty="0">
                <a:sym typeface="Huawei Sans" panose="020C0503030203020204" pitchFamily="34" charset="0"/>
              </a:rPr>
            </a:br>
            <a:endParaRPr lang="zh-CN" altLang="en-US" dirty="0">
              <a:sym typeface="Huawei Sans" panose="020C0503030203020204" pitchFamily="34" charset="0"/>
            </a:endParaRPr>
          </a:p>
        </p:txBody>
      </p:sp>
      <p:sp>
        <p:nvSpPr>
          <p:cNvPr id="5" name="矩形 4"/>
          <p:cNvSpPr/>
          <p:nvPr/>
        </p:nvSpPr>
        <p:spPr bwMode="gray">
          <a:xfrm>
            <a:off x="4190770" y="2950258"/>
            <a:ext cx="1826072" cy="780536"/>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矩形 5"/>
          <p:cNvSpPr/>
          <p:nvPr/>
        </p:nvSpPr>
        <p:spPr bwMode="gray">
          <a:xfrm>
            <a:off x="522292" y="2950258"/>
            <a:ext cx="1826072" cy="780536"/>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矩形 6"/>
          <p:cNvSpPr/>
          <p:nvPr/>
        </p:nvSpPr>
        <p:spPr bwMode="gray">
          <a:xfrm>
            <a:off x="522292" y="1487150"/>
            <a:ext cx="5494550" cy="1238390"/>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 name="标题 1"/>
          <p:cNvSpPr txBox="1"/>
          <p:nvPr/>
        </p:nvSpPr>
        <p:spPr bwMode="gray">
          <a:xfrm>
            <a:off x="452438" y="447468"/>
            <a:ext cx="11296649" cy="497095"/>
          </a:xfrm>
          <a:prstGeom prst="rect">
            <a:avLst/>
          </a:prstGeom>
        </p:spPr>
        <p:txBody>
          <a:bodyPr lIns="0" tIns="0" rIns="0" bIns="0" anchor="t">
            <a:normAutofit/>
          </a:bodyPr>
          <a:lstStyle>
            <a:lvl1pPr algn="l" defTabSz="913765" rtl="0" eaLnBrk="1" fontAlgn="base" latinLnBrk="0" hangingPunct="1">
              <a:lnSpc>
                <a:spcPct val="90000"/>
              </a:lnSpc>
              <a:spcBef>
                <a:spcPct val="0"/>
              </a:spcBef>
              <a:buNone/>
              <a:defRPr lang="zh-CN" altLang="en-US" sz="3200" kern="1200" baseline="0" dirty="0">
                <a:solidFill>
                  <a:schemeClr val="tx1"/>
                </a:solidFill>
                <a:latin typeface="Huawei Sans" panose="020C0503030203020204" pitchFamily="34" charset="0"/>
                <a:ea typeface="方正兰亭黑简体" panose="02000000000000000000" pitchFamily="2" charset="-122"/>
                <a:cs typeface="+mn-cs"/>
              </a:defRPr>
            </a:lvl1pPr>
          </a:lstStyle>
          <a:p>
            <a:endParaRPr lang="en-US" dirty="0">
              <a:sym typeface="Huawei Sans" panose="020C0503030203020204" pitchFamily="34" charset="0"/>
            </a:endParaRPr>
          </a:p>
        </p:txBody>
      </p:sp>
      <p:cxnSp>
        <p:nvCxnSpPr>
          <p:cNvPr id="10" name="直接连接符 9"/>
          <p:cNvCxnSpPr>
            <a:stCxn id="12" idx="3"/>
            <a:endCxn id="16" idx="1"/>
          </p:cNvCxnSpPr>
          <p:nvPr/>
        </p:nvCxnSpPr>
        <p:spPr bwMode="gray">
          <a:xfrm>
            <a:off x="1267619" y="2489567"/>
            <a:ext cx="398533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矩形 10"/>
          <p:cNvSpPr/>
          <p:nvPr/>
        </p:nvSpPr>
        <p:spPr bwMode="gray">
          <a:xfrm>
            <a:off x="748992" y="1996788"/>
            <a:ext cx="497252"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PE1</a:t>
            </a:r>
            <a:endParaRPr lang="zh-CN" altLang="en-US" sz="1400" b="1" dirty="0">
              <a:solidFill>
                <a:srgbClr val="FF3300"/>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2" name="图片 11"/>
          <p:cNvPicPr/>
          <p:nvPr/>
        </p:nvPicPr>
        <p:blipFill>
          <a:blip r:embed="rId1" cstate="print">
            <a:extLst>
              <a:ext uri="{28A0092B-C50C-407E-A947-70E740481C1C}">
                <a14:useLocalDpi xmlns:a14="http://schemas.microsoft.com/office/drawing/2010/main" val="0"/>
              </a:ext>
            </a:extLst>
          </a:blip>
          <a:stretch>
            <a:fillRect/>
          </a:stretch>
        </p:blipFill>
        <p:spPr bwMode="gray">
          <a:xfrm>
            <a:off x="727619" y="2268167"/>
            <a:ext cx="540000" cy="442800"/>
          </a:xfrm>
          <a:prstGeom prst="rect">
            <a:avLst/>
          </a:prstGeom>
        </p:spPr>
      </p:pic>
      <p:sp>
        <p:nvSpPr>
          <p:cNvPr id="13" name="矩形 12"/>
          <p:cNvSpPr/>
          <p:nvPr/>
        </p:nvSpPr>
        <p:spPr bwMode="gray">
          <a:xfrm>
            <a:off x="3138299" y="1996788"/>
            <a:ext cx="292068" cy="307777"/>
          </a:xfrm>
          <a:prstGeom prst="rect">
            <a:avLst/>
          </a:prstGeom>
        </p:spPr>
        <p:txBody>
          <a:bodyPr wrap="none">
            <a:spAutoFit/>
          </a:bodyPr>
          <a:lstStyle/>
          <a:p>
            <a:pPr algn="ctr"/>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P</a:t>
            </a:r>
            <a:endParaRPr lang="zh-CN" altLang="en-US" sz="1400" b="1">
              <a:solidFill>
                <a:srgbClr val="FF3300"/>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4" name="图片 13"/>
          <p:cNvPicPr/>
          <p:nvPr/>
        </p:nvPicPr>
        <p:blipFill>
          <a:blip r:embed="rId1" cstate="print">
            <a:extLst>
              <a:ext uri="{28A0092B-C50C-407E-A947-70E740481C1C}">
                <a14:useLocalDpi xmlns:a14="http://schemas.microsoft.com/office/drawing/2010/main" val="0"/>
              </a:ext>
            </a:extLst>
          </a:blip>
          <a:stretch>
            <a:fillRect/>
          </a:stretch>
        </p:blipFill>
        <p:spPr bwMode="gray">
          <a:xfrm>
            <a:off x="2991152" y="2268167"/>
            <a:ext cx="540000" cy="442800"/>
          </a:xfrm>
          <a:prstGeom prst="rect">
            <a:avLst/>
          </a:prstGeom>
        </p:spPr>
      </p:pic>
      <p:sp>
        <p:nvSpPr>
          <p:cNvPr id="15" name="矩形 14"/>
          <p:cNvSpPr/>
          <p:nvPr/>
        </p:nvSpPr>
        <p:spPr bwMode="gray">
          <a:xfrm>
            <a:off x="5283807" y="1996788"/>
            <a:ext cx="497252"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PE2</a:t>
            </a:r>
            <a:endParaRPr lang="zh-CN" altLang="en-US" sz="1400" b="1" dirty="0">
              <a:solidFill>
                <a:srgbClr val="FF3300"/>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6" name="图片 15"/>
          <p:cNvPicPr/>
          <p:nvPr/>
        </p:nvPicPr>
        <p:blipFill>
          <a:blip r:embed="rId1" cstate="print">
            <a:extLst>
              <a:ext uri="{28A0092B-C50C-407E-A947-70E740481C1C}">
                <a14:useLocalDpi xmlns:a14="http://schemas.microsoft.com/office/drawing/2010/main" val="0"/>
              </a:ext>
            </a:extLst>
          </a:blip>
          <a:stretch>
            <a:fillRect/>
          </a:stretch>
        </p:blipFill>
        <p:spPr bwMode="gray">
          <a:xfrm>
            <a:off x="5252957" y="2268167"/>
            <a:ext cx="540000" cy="442800"/>
          </a:xfrm>
          <a:prstGeom prst="rect">
            <a:avLst/>
          </a:prstGeom>
        </p:spPr>
      </p:pic>
      <p:sp>
        <p:nvSpPr>
          <p:cNvPr id="17" name="矩形 16"/>
          <p:cNvSpPr/>
          <p:nvPr/>
        </p:nvSpPr>
        <p:spPr bwMode="gray">
          <a:xfrm>
            <a:off x="1401461" y="2245468"/>
            <a:ext cx="1455848" cy="276999"/>
          </a:xfrm>
          <a:prstGeom prst="rect">
            <a:avLst/>
          </a:prstGeom>
        </p:spPr>
        <p:txBody>
          <a:bodyPr wrap="none">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2001:DB88:12::/96</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 name="矩形 17"/>
          <p:cNvSpPr/>
          <p:nvPr/>
        </p:nvSpPr>
        <p:spPr bwMode="gray">
          <a:xfrm>
            <a:off x="431928" y="1564429"/>
            <a:ext cx="1612942" cy="461665"/>
          </a:xfrm>
          <a:prstGeom prst="rect">
            <a:avLst/>
          </a:prstGeom>
        </p:spPr>
        <p:txBody>
          <a:bodyPr wrap="none">
            <a:spAutoFit/>
          </a:bodyPr>
          <a:lstStyle/>
          <a:p>
            <a:pPr algn="ctr"/>
            <a:r>
              <a:rPr lang="en-US" altLang="zh-CN"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END</a:t>
            </a:r>
            <a:endParaRPr lang="en-US" altLang="zh-CN"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2001:DB8:1000::111</a:t>
            </a:r>
            <a:endParaRPr lang="zh-CN" altLang="en-US"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文本框 22"/>
          <p:cNvSpPr txBox="1"/>
          <p:nvPr/>
        </p:nvSpPr>
        <p:spPr bwMode="gray">
          <a:xfrm>
            <a:off x="4251736" y="3039452"/>
            <a:ext cx="987770" cy="461665"/>
          </a:xfrm>
          <a:prstGeom prst="rect">
            <a:avLst/>
          </a:prstGeom>
          <a:noFill/>
          <a:ln>
            <a:noFill/>
          </a:ln>
        </p:spPr>
        <p:txBody>
          <a:bodyPr wrap="non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Loopback1 </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10.1.5.5/32</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矩形 24"/>
          <p:cNvSpPr/>
          <p:nvPr/>
        </p:nvSpPr>
        <p:spPr bwMode="gray">
          <a:xfrm>
            <a:off x="1199332" y="2266253"/>
            <a:ext cx="306494" cy="276999"/>
          </a:xfrm>
          <a:prstGeom prst="rect">
            <a:avLst/>
          </a:prstGeom>
        </p:spPr>
        <p:txBody>
          <a:bodyPr wrap="none">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:1</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矩形 25"/>
          <p:cNvSpPr/>
          <p:nvPr/>
        </p:nvSpPr>
        <p:spPr bwMode="gray">
          <a:xfrm>
            <a:off x="2764735" y="2266253"/>
            <a:ext cx="306494" cy="276999"/>
          </a:xfrm>
          <a:prstGeom prst="rect">
            <a:avLst/>
          </a:prstGeom>
        </p:spPr>
        <p:txBody>
          <a:bodyPr wrap="none">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 name="矩形 26"/>
          <p:cNvSpPr/>
          <p:nvPr/>
        </p:nvSpPr>
        <p:spPr bwMode="gray">
          <a:xfrm>
            <a:off x="3447434" y="2266253"/>
            <a:ext cx="306494" cy="276999"/>
          </a:xfrm>
          <a:prstGeom prst="rect">
            <a:avLst/>
          </a:prstGeom>
        </p:spPr>
        <p:txBody>
          <a:bodyPr wrap="none">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矩形 27"/>
          <p:cNvSpPr/>
          <p:nvPr/>
        </p:nvSpPr>
        <p:spPr bwMode="gray">
          <a:xfrm>
            <a:off x="5024712" y="2266253"/>
            <a:ext cx="306494" cy="276999"/>
          </a:xfrm>
          <a:prstGeom prst="rect">
            <a:avLst/>
          </a:prstGeom>
        </p:spPr>
        <p:txBody>
          <a:bodyPr wrap="none">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:3</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9" name="图片 28"/>
          <p:cNvPicPr/>
          <p:nvPr/>
        </p:nvPicPr>
        <p:blipFill>
          <a:blip r:embed="rId1" cstate="print">
            <a:extLst>
              <a:ext uri="{28A0092B-C50C-407E-A947-70E740481C1C}">
                <a14:useLocalDpi xmlns:a14="http://schemas.microsoft.com/office/drawing/2010/main" val="0"/>
              </a:ext>
            </a:extLst>
          </a:blip>
          <a:stretch>
            <a:fillRect/>
          </a:stretch>
        </p:blipFill>
        <p:spPr bwMode="gray">
          <a:xfrm>
            <a:off x="727619" y="3010900"/>
            <a:ext cx="540000" cy="442800"/>
          </a:xfrm>
          <a:prstGeom prst="rect">
            <a:avLst/>
          </a:prstGeom>
        </p:spPr>
      </p:pic>
      <p:pic>
        <p:nvPicPr>
          <p:cNvPr id="30" name="图片 29"/>
          <p:cNvPicPr/>
          <p:nvPr/>
        </p:nvPicPr>
        <p:blipFill>
          <a:blip r:embed="rId1" cstate="print">
            <a:extLst>
              <a:ext uri="{28A0092B-C50C-407E-A947-70E740481C1C}">
                <a14:useLocalDpi xmlns:a14="http://schemas.microsoft.com/office/drawing/2010/main" val="0"/>
              </a:ext>
            </a:extLst>
          </a:blip>
          <a:stretch>
            <a:fillRect/>
          </a:stretch>
        </p:blipFill>
        <p:spPr bwMode="gray">
          <a:xfrm>
            <a:off x="5252957" y="3010900"/>
            <a:ext cx="540000" cy="442800"/>
          </a:xfrm>
          <a:prstGeom prst="rect">
            <a:avLst/>
          </a:prstGeom>
        </p:spPr>
      </p:pic>
      <p:cxnSp>
        <p:nvCxnSpPr>
          <p:cNvPr id="31" name="直接连接符 30"/>
          <p:cNvCxnSpPr>
            <a:stCxn id="12" idx="2"/>
            <a:endCxn id="29" idx="0"/>
          </p:cNvCxnSpPr>
          <p:nvPr/>
        </p:nvCxnSpPr>
        <p:spPr bwMode="gray">
          <a:xfrm>
            <a:off x="997619" y="2710967"/>
            <a:ext cx="0" cy="29993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a:stCxn id="16" idx="2"/>
            <a:endCxn id="30" idx="0"/>
          </p:cNvCxnSpPr>
          <p:nvPr/>
        </p:nvCxnSpPr>
        <p:spPr bwMode="gray">
          <a:xfrm>
            <a:off x="5522957" y="2710967"/>
            <a:ext cx="0" cy="29993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3" name="矩形 32"/>
          <p:cNvSpPr/>
          <p:nvPr/>
        </p:nvSpPr>
        <p:spPr bwMode="gray">
          <a:xfrm>
            <a:off x="746588" y="3501117"/>
            <a:ext cx="502061"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CE1</a:t>
            </a:r>
            <a:endParaRPr lang="zh-CN" altLang="en-US" sz="1400" b="1" dirty="0">
              <a:solidFill>
                <a:srgbClr val="FF33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矩形 33"/>
          <p:cNvSpPr/>
          <p:nvPr/>
        </p:nvSpPr>
        <p:spPr bwMode="gray">
          <a:xfrm>
            <a:off x="5281403" y="3501117"/>
            <a:ext cx="502061"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CE2</a:t>
            </a:r>
            <a:endParaRPr lang="zh-CN" altLang="en-US" sz="1400" b="1" dirty="0">
              <a:solidFill>
                <a:srgbClr val="FF33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文本框 34"/>
          <p:cNvSpPr txBox="1"/>
          <p:nvPr/>
        </p:nvSpPr>
        <p:spPr bwMode="gray">
          <a:xfrm>
            <a:off x="1290546" y="3039452"/>
            <a:ext cx="987770" cy="461665"/>
          </a:xfrm>
          <a:prstGeom prst="rect">
            <a:avLst/>
          </a:prstGeom>
          <a:noFill/>
          <a:ln>
            <a:noFill/>
          </a:ln>
        </p:spPr>
        <p:txBody>
          <a:bodyPr wrap="non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Loopback1 </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10.1.4.4/32</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 name="文本框 36"/>
          <p:cNvSpPr txBox="1"/>
          <p:nvPr/>
        </p:nvSpPr>
        <p:spPr bwMode="gray">
          <a:xfrm>
            <a:off x="1576705" y="3492845"/>
            <a:ext cx="848309" cy="276999"/>
          </a:xfrm>
          <a:prstGeom prst="rect">
            <a:avLst/>
          </a:prstGeom>
          <a:noFill/>
        </p:spPr>
        <p:txBody>
          <a:bodyPr wrap="none" rtlCol="0">
            <a:spAutoFit/>
          </a:bodyPr>
          <a:lstStyle/>
          <a:p>
            <a:r>
              <a:rPr lang="en-US" altLang="zh-CN" sz="12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AS 65000</a:t>
            </a:r>
            <a:endParaRPr lang="en-US" altLang="zh-CN" sz="12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文本框 37"/>
          <p:cNvSpPr txBox="1"/>
          <p:nvPr/>
        </p:nvSpPr>
        <p:spPr bwMode="gray">
          <a:xfrm>
            <a:off x="4190770" y="3492845"/>
            <a:ext cx="848309" cy="276999"/>
          </a:xfrm>
          <a:prstGeom prst="rect">
            <a:avLst/>
          </a:prstGeom>
          <a:noFill/>
        </p:spPr>
        <p:txBody>
          <a:bodyPr wrap="none" rtlCol="0">
            <a:spAutoFit/>
          </a:bodyPr>
          <a:lstStyle/>
          <a:p>
            <a:r>
              <a:rPr lang="en-US" altLang="zh-CN" sz="12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AS 65001</a:t>
            </a:r>
            <a:endParaRPr lang="en-US" altLang="zh-CN" sz="12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文本框 38"/>
          <p:cNvSpPr txBox="1"/>
          <p:nvPr/>
        </p:nvSpPr>
        <p:spPr bwMode="gray">
          <a:xfrm>
            <a:off x="542427" y="1427904"/>
            <a:ext cx="675185" cy="276999"/>
          </a:xfrm>
          <a:prstGeom prst="rect">
            <a:avLst/>
          </a:prstGeom>
          <a:noFill/>
        </p:spPr>
        <p:txBody>
          <a:bodyPr wrap="none" rtlCol="0">
            <a:spAutoFit/>
          </a:bodyPr>
          <a:lstStyle/>
          <a:p>
            <a:r>
              <a:rPr lang="en-US" altLang="zh-CN" sz="12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AS 100</a:t>
            </a:r>
            <a:endParaRPr lang="en-US" altLang="zh-CN" sz="12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矩形 39"/>
          <p:cNvSpPr/>
          <p:nvPr/>
        </p:nvSpPr>
        <p:spPr bwMode="gray">
          <a:xfrm>
            <a:off x="942842" y="2695509"/>
            <a:ext cx="1186543" cy="307777"/>
          </a:xfrm>
          <a:prstGeom prst="rect">
            <a:avLst/>
          </a:prstGeom>
        </p:spPr>
        <p:txBody>
          <a:bodyPr wrap="none">
            <a:spAutoFit/>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10.0.14.0/24</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矩形 40"/>
          <p:cNvSpPr/>
          <p:nvPr/>
        </p:nvSpPr>
        <p:spPr bwMode="gray">
          <a:xfrm>
            <a:off x="4397520" y="2695509"/>
            <a:ext cx="1186543" cy="307777"/>
          </a:xfrm>
          <a:prstGeom prst="rect">
            <a:avLst/>
          </a:prstGeom>
        </p:spPr>
        <p:txBody>
          <a:bodyPr wrap="none">
            <a:spAutoFit/>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10.0.35.0/24</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矩形 41"/>
          <p:cNvSpPr/>
          <p:nvPr/>
        </p:nvSpPr>
        <p:spPr bwMode="gray">
          <a:xfrm>
            <a:off x="2477863" y="1564429"/>
            <a:ext cx="1612942" cy="461665"/>
          </a:xfrm>
          <a:prstGeom prst="rect">
            <a:avLst/>
          </a:prstGeom>
        </p:spPr>
        <p:txBody>
          <a:bodyPr wrap="none">
            <a:spAutoFit/>
          </a:bodyPr>
          <a:lstStyle/>
          <a:p>
            <a:pPr algn="ctr"/>
            <a:r>
              <a:rPr lang="en-US" altLang="zh-CN"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END</a:t>
            </a:r>
            <a:endParaRPr lang="en-US" altLang="zh-CN"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2001:DB8:2000::222</a:t>
            </a:r>
            <a:endParaRPr lang="zh-CN" altLang="en-US"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矩形 42"/>
          <p:cNvSpPr/>
          <p:nvPr/>
        </p:nvSpPr>
        <p:spPr bwMode="gray">
          <a:xfrm>
            <a:off x="4494085" y="1564429"/>
            <a:ext cx="1612942" cy="461665"/>
          </a:xfrm>
          <a:prstGeom prst="rect">
            <a:avLst/>
          </a:prstGeom>
        </p:spPr>
        <p:txBody>
          <a:bodyPr wrap="none">
            <a:spAutoFit/>
          </a:bodyPr>
          <a:lstStyle/>
          <a:p>
            <a:pPr algn="ctr"/>
            <a:r>
              <a:rPr lang="en-US" altLang="zh-CN"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END</a:t>
            </a:r>
            <a:endParaRPr lang="en-US" altLang="zh-CN"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2001:DB8:3000::333</a:t>
            </a:r>
            <a:endParaRPr lang="zh-CN" altLang="en-US"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矩形 43"/>
          <p:cNvSpPr/>
          <p:nvPr/>
        </p:nvSpPr>
        <p:spPr bwMode="gray">
          <a:xfrm>
            <a:off x="3694397" y="2245468"/>
            <a:ext cx="1455848" cy="276999"/>
          </a:xfrm>
          <a:prstGeom prst="rect">
            <a:avLst/>
          </a:prstGeom>
        </p:spPr>
        <p:txBody>
          <a:bodyPr wrap="none">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2001:DB88:23::/96</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文本框 44"/>
          <p:cNvSpPr txBox="1"/>
          <p:nvPr/>
        </p:nvSpPr>
        <p:spPr bwMode="gray">
          <a:xfrm>
            <a:off x="6191389" y="1479036"/>
            <a:ext cx="3089307" cy="307777"/>
          </a:xfrm>
          <a:prstGeom prst="rect">
            <a:avLst/>
          </a:prstGeom>
          <a:noFill/>
        </p:spPr>
        <p:txBody>
          <a:bodyPr wrap="none" rtlCol="0">
            <a:spAutoFit/>
          </a:bodyPr>
          <a:lstStyle/>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在</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PE</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之间建立</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MP-IBGP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对等体关系。</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文本框 45"/>
          <p:cNvSpPr txBox="1"/>
          <p:nvPr/>
        </p:nvSpPr>
        <p:spPr bwMode="gray">
          <a:xfrm>
            <a:off x="6278213" y="1793013"/>
            <a:ext cx="5195653" cy="1569660"/>
          </a:xfrm>
          <a:prstGeom prst="rect">
            <a:avLst/>
          </a:prstGeom>
          <a:solidFill>
            <a:schemeClr val="bg1">
              <a:lumMod val="85000"/>
            </a:schemeClr>
          </a:solidFill>
          <a:ln>
            <a:noFill/>
          </a:ln>
        </p:spPr>
        <p:txBody>
          <a:bodyPr wrap="squar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[~PE1]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bgp</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100</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[~PE1-bgp] peer 2001:DB8:3::3 as-number 100</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[*PE1-bgp] peer 2001:DB8:3::3 connect-interface loopback 0</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[*PE1-bgp] ipv4-family vpnv4</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[*PE1-bgp-af-vpnv4] peer 2001:DB8:3::3 enable</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[*PE1-bgp-af-vpnv4] commit</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[~PE1-bgp-af-vpnv4] quit</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[~PE1-bgp] quit</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文本框 48"/>
          <p:cNvSpPr txBox="1"/>
          <p:nvPr/>
        </p:nvSpPr>
        <p:spPr bwMode="gray">
          <a:xfrm>
            <a:off x="6191389" y="3477455"/>
            <a:ext cx="2465740" cy="307777"/>
          </a:xfrm>
          <a:prstGeom prst="rect">
            <a:avLst/>
          </a:prstGeom>
          <a:noFill/>
        </p:spPr>
        <p:txBody>
          <a:bodyPr wrap="none" rtlCol="0">
            <a:spAutoFit/>
          </a:bodyPr>
          <a:lstStyle/>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在</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PE1</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查看</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VPNv4</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邻居关系。</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0" name="文本框 49"/>
          <p:cNvSpPr txBox="1"/>
          <p:nvPr/>
        </p:nvSpPr>
        <p:spPr bwMode="gray">
          <a:xfrm>
            <a:off x="6278213" y="3769844"/>
            <a:ext cx="5195653" cy="1569660"/>
          </a:xfrm>
          <a:prstGeom prst="rect">
            <a:avLst/>
          </a:prstGeom>
          <a:solidFill>
            <a:schemeClr val="bg1">
              <a:lumMod val="85000"/>
            </a:schemeClr>
          </a:solidFill>
          <a:ln>
            <a:noFill/>
          </a:ln>
        </p:spPr>
        <p:txBody>
          <a:bodyPr wrap="squar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&lt;PE1&gt;display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bgp</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vpnv4 all peer</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BGP local router ID : 10.0.1.1</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Local AS number : 100</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Total number of peers : 1                 Peers in established state : 1</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Peer                V       AS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MsgRcvd</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MsgSent</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Up/Down       State  </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2001:DB8:3::3   4       100        3        4              00:00:04  Established        </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矩形 46"/>
          <p:cNvSpPr/>
          <p:nvPr/>
        </p:nvSpPr>
        <p:spPr bwMode="gray">
          <a:xfrm>
            <a:off x="522292" y="3766960"/>
            <a:ext cx="5136046" cy="2554545"/>
          </a:xfrm>
          <a:prstGeom prst="rect">
            <a:avLst/>
          </a:prstGeom>
          <a:ln>
            <a:noFill/>
          </a:ln>
        </p:spPr>
        <p:txBody>
          <a:bodyPr wrap="square">
            <a:spAutoFit/>
          </a:bodyPr>
          <a:lstStyle/>
          <a:p>
            <a:pPr>
              <a:lnSpc>
                <a:spcPts val="2400"/>
              </a:lnSpc>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配置思路：</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176530" indent="-176530">
              <a:lnSpc>
                <a:spcPts val="2400"/>
              </a:lnSpc>
              <a:buFont typeface="+mj-lt"/>
              <a:buAutoNum type="arabicPeriod"/>
            </a:pPr>
            <a:r>
              <a:rPr lang="zh-CN"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完成设备接口</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IPv6</a:t>
            </a:r>
            <a:r>
              <a:rPr lang="zh-CN"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地址及</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IS-IS</a:t>
            </a:r>
            <a:r>
              <a:rPr lang="zh-CN"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配置</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（略）。</a:t>
            </a:r>
            <a:endParaRPr lang="zh-CN"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marL="176530" indent="-176530">
              <a:lnSpc>
                <a:spcPts val="2400"/>
              </a:lnSpc>
              <a:buFont typeface="+mj-lt"/>
              <a:buAutoNum type="arabicPeriod"/>
            </a:pP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在</a:t>
            </a: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PE1</a:t>
            </a: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与</a:t>
            </a: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PE2</a:t>
            </a: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之间建立</a:t>
            </a: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MP-BGP</a:t>
            </a: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对等体关系。</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a:p>
            <a:pPr marL="176530" indent="-176530">
              <a:lnSpc>
                <a:spcPts val="2400"/>
              </a:lnSpc>
              <a:buFont typeface="+mj-lt"/>
              <a:buAutoNum type="arabicPeriod"/>
            </a:pP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骨干网上使能</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Segment Routing</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，建立</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SRv6 Policy</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路径。</a:t>
            </a:r>
            <a:endPar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marL="176530" indent="-176530">
              <a:lnSpc>
                <a:spcPts val="2400"/>
              </a:lnSpc>
              <a:buFont typeface="+mj-lt"/>
              <a:buAutoNum type="arabicPeriod"/>
            </a:pP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PE</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上配置使能</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IPv4</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地址族</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VPN</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实例，</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PE</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之间配置</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MP-IBGP</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交换路由信息。</a:t>
            </a:r>
            <a:endPar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marL="176530" indent="-176530">
              <a:lnSpc>
                <a:spcPts val="2400"/>
              </a:lnSpc>
              <a:buFont typeface="+mj-lt"/>
              <a:buAutoNum type="arabicPeriod"/>
            </a:pP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配置隧道策略，引入私网流量。</a:t>
            </a:r>
            <a:endPar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marL="176530" indent="-176530">
              <a:lnSpc>
                <a:spcPts val="2400"/>
              </a:lnSpc>
              <a:buFont typeface="+mj-lt"/>
              <a:buAutoNum type="arabicPeriod"/>
            </a:pP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结果验证。</a:t>
            </a:r>
            <a:endParaRPr lang="zh-CN"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bwMode="gray"/>
        <p:txBody>
          <a:bodyPr>
            <a:noAutofit/>
          </a:bodyPr>
          <a:lstStyle/>
          <a:p>
            <a:r>
              <a:rPr lang="en-US" altLang="zh-CN" dirty="0">
                <a:sym typeface="Huawei Sans" panose="020C0503030203020204" pitchFamily="34" charset="0"/>
              </a:rPr>
              <a:t>L3VPNv4 over SRv6 Policy (3)</a:t>
            </a:r>
            <a:br>
              <a:rPr lang="en-US" altLang="zh-CN" dirty="0">
                <a:sym typeface="Huawei Sans" panose="020C0503030203020204" pitchFamily="34" charset="0"/>
              </a:rPr>
            </a:br>
            <a:endParaRPr lang="zh-CN" altLang="en-US" dirty="0">
              <a:sym typeface="Huawei Sans" panose="020C0503030203020204" pitchFamily="34" charset="0"/>
            </a:endParaRPr>
          </a:p>
        </p:txBody>
      </p:sp>
      <p:sp>
        <p:nvSpPr>
          <p:cNvPr id="8" name="标题 1"/>
          <p:cNvSpPr txBox="1"/>
          <p:nvPr/>
        </p:nvSpPr>
        <p:spPr bwMode="gray">
          <a:xfrm>
            <a:off x="452438" y="447468"/>
            <a:ext cx="11296649" cy="497095"/>
          </a:xfrm>
          <a:prstGeom prst="rect">
            <a:avLst/>
          </a:prstGeom>
        </p:spPr>
        <p:txBody>
          <a:bodyPr lIns="0" tIns="0" rIns="0" bIns="0" anchor="t">
            <a:normAutofit/>
          </a:bodyPr>
          <a:lstStyle>
            <a:lvl1pPr algn="l" defTabSz="913765" rtl="0" eaLnBrk="1" fontAlgn="base" latinLnBrk="0" hangingPunct="1">
              <a:lnSpc>
                <a:spcPct val="90000"/>
              </a:lnSpc>
              <a:spcBef>
                <a:spcPct val="0"/>
              </a:spcBef>
              <a:buNone/>
              <a:defRPr lang="zh-CN" altLang="en-US" sz="3200" kern="1200" baseline="0" dirty="0">
                <a:solidFill>
                  <a:schemeClr val="tx1"/>
                </a:solidFill>
                <a:latin typeface="Huawei Sans" panose="020C0503030203020204" pitchFamily="34" charset="0"/>
                <a:ea typeface="方正兰亭黑简体" panose="02000000000000000000" pitchFamily="2" charset="-122"/>
                <a:cs typeface="+mn-cs"/>
              </a:defRPr>
            </a:lvl1pPr>
          </a:lstStyle>
          <a:p>
            <a:endParaRPr lang="en-US" dirty="0">
              <a:sym typeface="Huawei Sans" panose="020C0503030203020204" pitchFamily="34" charset="0"/>
            </a:endParaRPr>
          </a:p>
        </p:txBody>
      </p:sp>
      <p:sp>
        <p:nvSpPr>
          <p:cNvPr id="46" name="文本框 45"/>
          <p:cNvSpPr txBox="1"/>
          <p:nvPr/>
        </p:nvSpPr>
        <p:spPr bwMode="gray">
          <a:xfrm>
            <a:off x="6191389" y="1479036"/>
            <a:ext cx="3661580" cy="307777"/>
          </a:xfrm>
          <a:prstGeom prst="rect">
            <a:avLst/>
          </a:prstGeom>
          <a:noFill/>
        </p:spPr>
        <p:txBody>
          <a:bodyPr wrap="none" rtlCol="0">
            <a:spAutoFit/>
          </a:bodyPr>
          <a:lstStyle/>
          <a:p>
            <a:r>
              <a:rPr lang="zh-CN" altLang="en-US" sz="1400" dirty="0"/>
              <a:t>配置</a:t>
            </a:r>
            <a:r>
              <a:rPr lang="en-US" altLang="zh-CN" sz="1400" dirty="0"/>
              <a:t>SRv6 SID</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PE1</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配置如下（</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P/PE2</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略）。</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文本框 46"/>
          <p:cNvSpPr txBox="1"/>
          <p:nvPr/>
        </p:nvSpPr>
        <p:spPr bwMode="gray">
          <a:xfrm>
            <a:off x="6278213" y="1793013"/>
            <a:ext cx="5195653" cy="3231654"/>
          </a:xfrm>
          <a:prstGeom prst="rect">
            <a:avLst/>
          </a:prstGeom>
          <a:solidFill>
            <a:schemeClr val="bg1">
              <a:lumMod val="85000"/>
            </a:schemeClr>
          </a:solidFill>
          <a:ln>
            <a:noFill/>
          </a:ln>
        </p:spPr>
        <p:txBody>
          <a:bodyPr wrap="squar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[~PE1] segment-routing ipv6</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[*PE1-segment-routing-ipv6] encapsulation source-address 2001:DB8:1::1</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[*PE1-segment-routing-ipv6] locator as1000 ipv6-prefix 2001:DB8:1000:: 64 static 32</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[*PE1-segment-routing-ipv6-locator] opcode ::111 end</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[*PE1-segment-routing-ipv6-locator] quit</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[*PE1-segment-routing-ipv6] quit</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[*PE1]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bgp</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100</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[*PE1-bgp] ipv4-family vpnv4</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[*PE1-bgp-af-vpnv4] peer 2001:DB8:3::3 prefix-</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sid</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[*PE1-bgp-af-vpnv4] quit</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[~PE1-bgp] quit</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[~PE1]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isis</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1</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[~PE1-isis-1] segment-routing ipv6 locator as1000 auto-</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sid</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-disable </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[*PE1-isis-1] commit</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[~PE1-isis-1] quit</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矩形 44"/>
          <p:cNvSpPr/>
          <p:nvPr/>
        </p:nvSpPr>
        <p:spPr bwMode="gray">
          <a:xfrm>
            <a:off x="522292" y="3766960"/>
            <a:ext cx="5136046" cy="2554545"/>
          </a:xfrm>
          <a:prstGeom prst="rect">
            <a:avLst/>
          </a:prstGeom>
          <a:ln>
            <a:noFill/>
          </a:ln>
        </p:spPr>
        <p:txBody>
          <a:bodyPr wrap="square">
            <a:spAutoFit/>
          </a:bodyPr>
          <a:lstStyle/>
          <a:p>
            <a:pPr>
              <a:lnSpc>
                <a:spcPts val="2400"/>
              </a:lnSpc>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配置思路：</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176530" indent="-176530">
              <a:lnSpc>
                <a:spcPts val="2400"/>
              </a:lnSpc>
              <a:buFont typeface="+mj-lt"/>
              <a:buAutoNum type="arabicPeriod"/>
            </a:pPr>
            <a:r>
              <a:rPr lang="zh-CN"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完成设备接口</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IPv6</a:t>
            </a:r>
            <a:r>
              <a:rPr lang="zh-CN"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地址及</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IS-IS</a:t>
            </a:r>
            <a:r>
              <a:rPr lang="zh-CN"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配置</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（略）。</a:t>
            </a:r>
            <a:endParaRPr lang="zh-CN"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marL="176530" indent="-176530">
              <a:lnSpc>
                <a:spcPts val="2400"/>
              </a:lnSpc>
              <a:buFont typeface="+mj-lt"/>
              <a:buAutoNum type="arabicPeriod"/>
            </a:pP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在</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PE1</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与</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PE2</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之间建立</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MP-BGP</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对等体关系。</a:t>
            </a:r>
            <a:endPar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marL="176530" indent="-176530">
              <a:lnSpc>
                <a:spcPts val="2400"/>
              </a:lnSpc>
              <a:buFont typeface="+mj-lt"/>
              <a:buAutoNum type="arabicPeriod"/>
            </a:pP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骨干网上使能</a:t>
            </a: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Segment Routing</a:t>
            </a: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，建立</a:t>
            </a: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SRv6 Policy</a:t>
            </a: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路径。</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a:p>
            <a:pPr marL="176530" indent="-176530">
              <a:lnSpc>
                <a:spcPts val="2400"/>
              </a:lnSpc>
              <a:buFont typeface="+mj-lt"/>
              <a:buAutoNum type="arabicPeriod"/>
            </a:pP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PE</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上配置使能</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IPv4</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地址族</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VPN</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实例，</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PE</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之间配置</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MP-IBGP</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交换路由信息。</a:t>
            </a:r>
            <a:endPar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marL="176530" indent="-176530">
              <a:lnSpc>
                <a:spcPts val="2400"/>
              </a:lnSpc>
              <a:buFont typeface="+mj-lt"/>
              <a:buAutoNum type="arabicPeriod"/>
            </a:pP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配置隧道策略，引入私网流量。</a:t>
            </a:r>
            <a:endPar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marL="176530" indent="-176530">
              <a:lnSpc>
                <a:spcPts val="2400"/>
              </a:lnSpc>
              <a:buFont typeface="+mj-lt"/>
              <a:buAutoNum type="arabicPeriod"/>
            </a:pP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结果验证。</a:t>
            </a:r>
            <a:endParaRPr lang="zh-CN"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 name="矩形 47"/>
          <p:cNvSpPr/>
          <p:nvPr/>
        </p:nvSpPr>
        <p:spPr bwMode="gray">
          <a:xfrm>
            <a:off x="4190770" y="2950258"/>
            <a:ext cx="1826072" cy="780536"/>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矩形 48"/>
          <p:cNvSpPr/>
          <p:nvPr/>
        </p:nvSpPr>
        <p:spPr bwMode="gray">
          <a:xfrm>
            <a:off x="522292" y="2950258"/>
            <a:ext cx="1826072" cy="780536"/>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0" name="矩形 49"/>
          <p:cNvSpPr/>
          <p:nvPr/>
        </p:nvSpPr>
        <p:spPr bwMode="gray">
          <a:xfrm>
            <a:off x="522292" y="1487150"/>
            <a:ext cx="5494550" cy="1238390"/>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51" name="直接连接符 50"/>
          <p:cNvCxnSpPr>
            <a:stCxn id="53" idx="3"/>
            <a:endCxn id="57" idx="1"/>
          </p:cNvCxnSpPr>
          <p:nvPr/>
        </p:nvCxnSpPr>
        <p:spPr bwMode="gray">
          <a:xfrm>
            <a:off x="1267619" y="2489567"/>
            <a:ext cx="398533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52" name="矩形 51"/>
          <p:cNvSpPr/>
          <p:nvPr/>
        </p:nvSpPr>
        <p:spPr bwMode="gray">
          <a:xfrm>
            <a:off x="748992" y="1996788"/>
            <a:ext cx="497252"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PE1</a:t>
            </a:r>
            <a:endParaRPr lang="zh-CN" altLang="en-US" sz="1400" b="1" dirty="0">
              <a:solidFill>
                <a:srgbClr val="FF3300"/>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53" name="图片 52"/>
          <p:cNvPicPr/>
          <p:nvPr/>
        </p:nvPicPr>
        <p:blipFill>
          <a:blip r:embed="rId1" cstate="print">
            <a:extLst>
              <a:ext uri="{28A0092B-C50C-407E-A947-70E740481C1C}">
                <a14:useLocalDpi xmlns:a14="http://schemas.microsoft.com/office/drawing/2010/main" val="0"/>
              </a:ext>
            </a:extLst>
          </a:blip>
          <a:stretch>
            <a:fillRect/>
          </a:stretch>
        </p:blipFill>
        <p:spPr bwMode="gray">
          <a:xfrm>
            <a:off x="727619" y="2268167"/>
            <a:ext cx="540000" cy="442800"/>
          </a:xfrm>
          <a:prstGeom prst="rect">
            <a:avLst/>
          </a:prstGeom>
        </p:spPr>
      </p:pic>
      <p:sp>
        <p:nvSpPr>
          <p:cNvPr id="54" name="矩形 53"/>
          <p:cNvSpPr/>
          <p:nvPr/>
        </p:nvSpPr>
        <p:spPr bwMode="gray">
          <a:xfrm>
            <a:off x="3138299" y="1996788"/>
            <a:ext cx="292068" cy="307777"/>
          </a:xfrm>
          <a:prstGeom prst="rect">
            <a:avLst/>
          </a:prstGeom>
        </p:spPr>
        <p:txBody>
          <a:bodyPr wrap="none">
            <a:spAutoFit/>
          </a:bodyPr>
          <a:lstStyle/>
          <a:p>
            <a:pPr algn="ctr"/>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P</a:t>
            </a:r>
            <a:endParaRPr lang="zh-CN" altLang="en-US" sz="1400" b="1">
              <a:solidFill>
                <a:srgbClr val="FF3300"/>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55" name="图片 54"/>
          <p:cNvPicPr/>
          <p:nvPr/>
        </p:nvPicPr>
        <p:blipFill>
          <a:blip r:embed="rId1" cstate="print">
            <a:extLst>
              <a:ext uri="{28A0092B-C50C-407E-A947-70E740481C1C}">
                <a14:useLocalDpi xmlns:a14="http://schemas.microsoft.com/office/drawing/2010/main" val="0"/>
              </a:ext>
            </a:extLst>
          </a:blip>
          <a:stretch>
            <a:fillRect/>
          </a:stretch>
        </p:blipFill>
        <p:spPr bwMode="gray">
          <a:xfrm>
            <a:off x="2991152" y="2268167"/>
            <a:ext cx="540000" cy="442800"/>
          </a:xfrm>
          <a:prstGeom prst="rect">
            <a:avLst/>
          </a:prstGeom>
        </p:spPr>
      </p:pic>
      <p:sp>
        <p:nvSpPr>
          <p:cNvPr id="56" name="矩形 55"/>
          <p:cNvSpPr/>
          <p:nvPr/>
        </p:nvSpPr>
        <p:spPr bwMode="gray">
          <a:xfrm>
            <a:off x="5283807" y="1996788"/>
            <a:ext cx="497252"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PE2</a:t>
            </a:r>
            <a:endParaRPr lang="zh-CN" altLang="en-US" sz="1400" b="1" dirty="0">
              <a:solidFill>
                <a:srgbClr val="FF3300"/>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57" name="图片 56"/>
          <p:cNvPicPr/>
          <p:nvPr/>
        </p:nvPicPr>
        <p:blipFill>
          <a:blip r:embed="rId1" cstate="print">
            <a:extLst>
              <a:ext uri="{28A0092B-C50C-407E-A947-70E740481C1C}">
                <a14:useLocalDpi xmlns:a14="http://schemas.microsoft.com/office/drawing/2010/main" val="0"/>
              </a:ext>
            </a:extLst>
          </a:blip>
          <a:stretch>
            <a:fillRect/>
          </a:stretch>
        </p:blipFill>
        <p:spPr bwMode="gray">
          <a:xfrm>
            <a:off x="5252957" y="2268167"/>
            <a:ext cx="540000" cy="442800"/>
          </a:xfrm>
          <a:prstGeom prst="rect">
            <a:avLst/>
          </a:prstGeom>
        </p:spPr>
      </p:pic>
      <p:sp>
        <p:nvSpPr>
          <p:cNvPr id="58" name="矩形 57"/>
          <p:cNvSpPr/>
          <p:nvPr/>
        </p:nvSpPr>
        <p:spPr bwMode="gray">
          <a:xfrm>
            <a:off x="1401461" y="2245468"/>
            <a:ext cx="1455848" cy="276999"/>
          </a:xfrm>
          <a:prstGeom prst="rect">
            <a:avLst/>
          </a:prstGeom>
        </p:spPr>
        <p:txBody>
          <a:bodyPr wrap="none">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2001:DB88:12::/96</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9" name="矩形 58"/>
          <p:cNvSpPr/>
          <p:nvPr/>
        </p:nvSpPr>
        <p:spPr bwMode="gray">
          <a:xfrm>
            <a:off x="431928" y="1564429"/>
            <a:ext cx="1612942" cy="461665"/>
          </a:xfrm>
          <a:prstGeom prst="rect">
            <a:avLst/>
          </a:prstGeom>
          <a:ln>
            <a:noFill/>
          </a:ln>
        </p:spPr>
        <p:txBody>
          <a:bodyPr wrap="none">
            <a:spAutoFit/>
          </a:bodyPr>
          <a:lstStyle/>
          <a:p>
            <a:pPr algn="ctr"/>
            <a:r>
              <a:rPr lang="en-US" altLang="zh-CN"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END</a:t>
            </a:r>
            <a:endParaRPr lang="en-US" altLang="zh-CN"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2001:DB8:1000::111</a:t>
            </a:r>
            <a:endParaRPr lang="zh-CN" altLang="en-US"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0" name="文本框 59"/>
          <p:cNvSpPr txBox="1"/>
          <p:nvPr/>
        </p:nvSpPr>
        <p:spPr bwMode="gray">
          <a:xfrm>
            <a:off x="4251736" y="3039452"/>
            <a:ext cx="987770" cy="461665"/>
          </a:xfrm>
          <a:prstGeom prst="rect">
            <a:avLst/>
          </a:prstGeom>
          <a:noFill/>
          <a:ln>
            <a:noFill/>
          </a:ln>
        </p:spPr>
        <p:txBody>
          <a:bodyPr wrap="non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Loopback1 </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10.1.5.5/32</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1" name="矩形 60"/>
          <p:cNvSpPr/>
          <p:nvPr/>
        </p:nvSpPr>
        <p:spPr bwMode="gray">
          <a:xfrm>
            <a:off x="1199332" y="2266253"/>
            <a:ext cx="306494" cy="276999"/>
          </a:xfrm>
          <a:prstGeom prst="rect">
            <a:avLst/>
          </a:prstGeom>
        </p:spPr>
        <p:txBody>
          <a:bodyPr wrap="none">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:1</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2" name="矩形 61"/>
          <p:cNvSpPr/>
          <p:nvPr/>
        </p:nvSpPr>
        <p:spPr bwMode="gray">
          <a:xfrm>
            <a:off x="2764735" y="2266253"/>
            <a:ext cx="306494" cy="276999"/>
          </a:xfrm>
          <a:prstGeom prst="rect">
            <a:avLst/>
          </a:prstGeom>
        </p:spPr>
        <p:txBody>
          <a:bodyPr wrap="none">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3" name="矩形 62"/>
          <p:cNvSpPr/>
          <p:nvPr/>
        </p:nvSpPr>
        <p:spPr bwMode="gray">
          <a:xfrm>
            <a:off x="3447434" y="2266253"/>
            <a:ext cx="306494" cy="276999"/>
          </a:xfrm>
          <a:prstGeom prst="rect">
            <a:avLst/>
          </a:prstGeom>
        </p:spPr>
        <p:txBody>
          <a:bodyPr wrap="none">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4" name="矩形 63"/>
          <p:cNvSpPr/>
          <p:nvPr/>
        </p:nvSpPr>
        <p:spPr bwMode="gray">
          <a:xfrm>
            <a:off x="5024712" y="2266253"/>
            <a:ext cx="306494" cy="276999"/>
          </a:xfrm>
          <a:prstGeom prst="rect">
            <a:avLst/>
          </a:prstGeom>
        </p:spPr>
        <p:txBody>
          <a:bodyPr wrap="none">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:3</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65" name="图片 64"/>
          <p:cNvPicPr/>
          <p:nvPr/>
        </p:nvPicPr>
        <p:blipFill>
          <a:blip r:embed="rId1" cstate="print">
            <a:extLst>
              <a:ext uri="{28A0092B-C50C-407E-A947-70E740481C1C}">
                <a14:useLocalDpi xmlns:a14="http://schemas.microsoft.com/office/drawing/2010/main" val="0"/>
              </a:ext>
            </a:extLst>
          </a:blip>
          <a:stretch>
            <a:fillRect/>
          </a:stretch>
        </p:blipFill>
        <p:spPr bwMode="gray">
          <a:xfrm>
            <a:off x="727619" y="3010900"/>
            <a:ext cx="540000" cy="442800"/>
          </a:xfrm>
          <a:prstGeom prst="rect">
            <a:avLst/>
          </a:prstGeom>
        </p:spPr>
      </p:pic>
      <p:pic>
        <p:nvPicPr>
          <p:cNvPr id="66" name="图片 65"/>
          <p:cNvPicPr/>
          <p:nvPr/>
        </p:nvPicPr>
        <p:blipFill>
          <a:blip r:embed="rId1" cstate="print">
            <a:extLst>
              <a:ext uri="{28A0092B-C50C-407E-A947-70E740481C1C}">
                <a14:useLocalDpi xmlns:a14="http://schemas.microsoft.com/office/drawing/2010/main" val="0"/>
              </a:ext>
            </a:extLst>
          </a:blip>
          <a:stretch>
            <a:fillRect/>
          </a:stretch>
        </p:blipFill>
        <p:spPr bwMode="gray">
          <a:xfrm>
            <a:off x="5252957" y="3010900"/>
            <a:ext cx="540000" cy="442800"/>
          </a:xfrm>
          <a:prstGeom prst="rect">
            <a:avLst/>
          </a:prstGeom>
        </p:spPr>
      </p:pic>
      <p:cxnSp>
        <p:nvCxnSpPr>
          <p:cNvPr id="67" name="直接连接符 66"/>
          <p:cNvCxnSpPr>
            <a:stCxn id="53" idx="2"/>
            <a:endCxn id="65" idx="0"/>
          </p:cNvCxnSpPr>
          <p:nvPr/>
        </p:nvCxnSpPr>
        <p:spPr bwMode="gray">
          <a:xfrm>
            <a:off x="997619" y="2710967"/>
            <a:ext cx="0" cy="29993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直接连接符 67"/>
          <p:cNvCxnSpPr>
            <a:stCxn id="57" idx="2"/>
            <a:endCxn id="66" idx="0"/>
          </p:cNvCxnSpPr>
          <p:nvPr/>
        </p:nvCxnSpPr>
        <p:spPr bwMode="gray">
          <a:xfrm>
            <a:off x="5522957" y="2710967"/>
            <a:ext cx="0" cy="29993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9" name="矩形 68"/>
          <p:cNvSpPr/>
          <p:nvPr/>
        </p:nvSpPr>
        <p:spPr bwMode="gray">
          <a:xfrm>
            <a:off x="746588" y="3501117"/>
            <a:ext cx="502061"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CE1</a:t>
            </a:r>
            <a:endParaRPr lang="zh-CN" altLang="en-US" sz="1400" b="1" dirty="0">
              <a:solidFill>
                <a:srgbClr val="FF33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0" name="矩形 69"/>
          <p:cNvSpPr/>
          <p:nvPr/>
        </p:nvSpPr>
        <p:spPr bwMode="gray">
          <a:xfrm>
            <a:off x="5281403" y="3501117"/>
            <a:ext cx="502061"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CE2</a:t>
            </a:r>
            <a:endParaRPr lang="zh-CN" altLang="en-US" sz="1400" b="1" dirty="0">
              <a:solidFill>
                <a:srgbClr val="FF33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1" name="文本框 70"/>
          <p:cNvSpPr txBox="1"/>
          <p:nvPr/>
        </p:nvSpPr>
        <p:spPr bwMode="gray">
          <a:xfrm>
            <a:off x="1290546" y="3039452"/>
            <a:ext cx="987770" cy="461665"/>
          </a:xfrm>
          <a:prstGeom prst="rect">
            <a:avLst/>
          </a:prstGeom>
          <a:noFill/>
          <a:ln>
            <a:noFill/>
          </a:ln>
        </p:spPr>
        <p:txBody>
          <a:bodyPr wrap="non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Loopback1 </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10.1.4.4/32</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2" name="文本框 71"/>
          <p:cNvSpPr txBox="1"/>
          <p:nvPr/>
        </p:nvSpPr>
        <p:spPr bwMode="gray">
          <a:xfrm>
            <a:off x="1576705" y="3492845"/>
            <a:ext cx="848309" cy="276999"/>
          </a:xfrm>
          <a:prstGeom prst="rect">
            <a:avLst/>
          </a:prstGeom>
          <a:noFill/>
        </p:spPr>
        <p:txBody>
          <a:bodyPr wrap="none" rtlCol="0">
            <a:spAutoFit/>
          </a:bodyPr>
          <a:lstStyle/>
          <a:p>
            <a:r>
              <a:rPr lang="en-US" altLang="zh-CN" sz="12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AS 65000</a:t>
            </a:r>
            <a:endParaRPr lang="en-US" altLang="zh-CN" sz="12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3" name="文本框 72"/>
          <p:cNvSpPr txBox="1"/>
          <p:nvPr/>
        </p:nvSpPr>
        <p:spPr bwMode="gray">
          <a:xfrm>
            <a:off x="4190770" y="3492845"/>
            <a:ext cx="848309" cy="276999"/>
          </a:xfrm>
          <a:prstGeom prst="rect">
            <a:avLst/>
          </a:prstGeom>
          <a:noFill/>
        </p:spPr>
        <p:txBody>
          <a:bodyPr wrap="none" rtlCol="0">
            <a:spAutoFit/>
          </a:bodyPr>
          <a:lstStyle/>
          <a:p>
            <a:r>
              <a:rPr lang="en-US" altLang="zh-CN" sz="12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AS 65001</a:t>
            </a:r>
            <a:endParaRPr lang="en-US" altLang="zh-CN" sz="12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4" name="文本框 73"/>
          <p:cNvSpPr txBox="1"/>
          <p:nvPr/>
        </p:nvSpPr>
        <p:spPr bwMode="gray">
          <a:xfrm>
            <a:off x="542427" y="1427904"/>
            <a:ext cx="675185" cy="276999"/>
          </a:xfrm>
          <a:prstGeom prst="rect">
            <a:avLst/>
          </a:prstGeom>
          <a:noFill/>
        </p:spPr>
        <p:txBody>
          <a:bodyPr wrap="none" rtlCol="0">
            <a:spAutoFit/>
          </a:bodyPr>
          <a:lstStyle/>
          <a:p>
            <a:r>
              <a:rPr lang="en-US" altLang="zh-CN" sz="12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AS 100</a:t>
            </a:r>
            <a:endParaRPr lang="en-US" altLang="zh-CN" sz="12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5" name="矩形 74"/>
          <p:cNvSpPr/>
          <p:nvPr/>
        </p:nvSpPr>
        <p:spPr bwMode="gray">
          <a:xfrm>
            <a:off x="942842" y="2695509"/>
            <a:ext cx="1186543" cy="307777"/>
          </a:xfrm>
          <a:prstGeom prst="rect">
            <a:avLst/>
          </a:prstGeom>
        </p:spPr>
        <p:txBody>
          <a:bodyPr wrap="none">
            <a:spAutoFit/>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10.0.14.0/24</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6" name="矩形 75"/>
          <p:cNvSpPr/>
          <p:nvPr/>
        </p:nvSpPr>
        <p:spPr bwMode="gray">
          <a:xfrm>
            <a:off x="4397520" y="2695509"/>
            <a:ext cx="1186543" cy="307777"/>
          </a:xfrm>
          <a:prstGeom prst="rect">
            <a:avLst/>
          </a:prstGeom>
        </p:spPr>
        <p:txBody>
          <a:bodyPr wrap="none">
            <a:spAutoFit/>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10.0.35.0/24</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7" name="矩形 76"/>
          <p:cNvSpPr/>
          <p:nvPr/>
        </p:nvSpPr>
        <p:spPr bwMode="gray">
          <a:xfrm>
            <a:off x="2477863" y="1564429"/>
            <a:ext cx="1612942" cy="461665"/>
          </a:xfrm>
          <a:prstGeom prst="rect">
            <a:avLst/>
          </a:prstGeom>
        </p:spPr>
        <p:txBody>
          <a:bodyPr wrap="none">
            <a:spAutoFit/>
          </a:bodyPr>
          <a:lstStyle/>
          <a:p>
            <a:pPr algn="ctr"/>
            <a:r>
              <a:rPr lang="en-US" altLang="zh-CN"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END</a:t>
            </a:r>
            <a:endParaRPr lang="en-US" altLang="zh-CN"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2001:DB8:2000::222</a:t>
            </a:r>
            <a:endParaRPr lang="zh-CN" altLang="en-US"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8" name="矩形 77"/>
          <p:cNvSpPr/>
          <p:nvPr/>
        </p:nvSpPr>
        <p:spPr bwMode="gray">
          <a:xfrm>
            <a:off x="4494085" y="1564429"/>
            <a:ext cx="1612942" cy="461665"/>
          </a:xfrm>
          <a:prstGeom prst="rect">
            <a:avLst/>
          </a:prstGeom>
        </p:spPr>
        <p:txBody>
          <a:bodyPr wrap="none">
            <a:spAutoFit/>
          </a:bodyPr>
          <a:lstStyle/>
          <a:p>
            <a:pPr algn="ctr"/>
            <a:r>
              <a:rPr lang="en-US" altLang="zh-CN"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END</a:t>
            </a:r>
            <a:endParaRPr lang="en-US" altLang="zh-CN"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2001:DB8:3000::333</a:t>
            </a:r>
            <a:endParaRPr lang="zh-CN" altLang="en-US"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9" name="矩形 78"/>
          <p:cNvSpPr/>
          <p:nvPr/>
        </p:nvSpPr>
        <p:spPr bwMode="gray">
          <a:xfrm>
            <a:off x="3694397" y="2245468"/>
            <a:ext cx="1455848" cy="276999"/>
          </a:xfrm>
          <a:prstGeom prst="rect">
            <a:avLst/>
          </a:prstGeom>
        </p:spPr>
        <p:txBody>
          <a:bodyPr wrap="none">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2001:DB88:23::/96</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0" name="文本框 79"/>
          <p:cNvSpPr txBox="1"/>
          <p:nvPr/>
        </p:nvSpPr>
        <p:spPr bwMode="gray">
          <a:xfrm>
            <a:off x="6372630" y="5143197"/>
            <a:ext cx="3095219" cy="307777"/>
          </a:xfrm>
          <a:prstGeom prst="rect">
            <a:avLst/>
          </a:prstGeom>
          <a:solidFill>
            <a:srgbClr val="BEE9EE"/>
          </a:solidFill>
          <a:ln>
            <a:solidFill>
              <a:srgbClr val="94DAE2"/>
            </a:solidFill>
          </a:ln>
        </p:spPr>
        <p:txBody>
          <a:bodyPr wrap="square" rtlCol="0">
            <a:spAutoFit/>
          </a:bodyPr>
          <a:lstStyle/>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手工配置</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END</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类型的</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SRv6 SID</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1" name="矩形 80"/>
          <p:cNvSpPr/>
          <p:nvPr/>
        </p:nvSpPr>
        <p:spPr bwMode="gray">
          <a:xfrm>
            <a:off x="6348214" y="2337944"/>
            <a:ext cx="5125652" cy="612314"/>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82" name="肘形连接符 81"/>
          <p:cNvCxnSpPr>
            <a:stCxn id="81" idx="1"/>
            <a:endCxn id="80" idx="1"/>
          </p:cNvCxnSpPr>
          <p:nvPr/>
        </p:nvCxnSpPr>
        <p:spPr bwMode="gray">
          <a:xfrm rot="10800000" flipH="1" flipV="1">
            <a:off x="6348214" y="2644100"/>
            <a:ext cx="24416" cy="2652985"/>
          </a:xfrm>
          <a:prstGeom prst="bentConnector3">
            <a:avLst>
              <a:gd name="adj1" fmla="val -936271"/>
            </a:avLst>
          </a:prstGeom>
          <a:ln w="19050">
            <a:solidFill>
              <a:srgbClr val="56C4D2"/>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bwMode="gray"/>
        <p:txBody>
          <a:bodyPr>
            <a:noAutofit/>
          </a:bodyPr>
          <a:lstStyle/>
          <a:p>
            <a:r>
              <a:rPr lang="en-US" altLang="zh-CN" dirty="0">
                <a:sym typeface="Huawei Sans" panose="020C0503030203020204" pitchFamily="34" charset="0"/>
              </a:rPr>
              <a:t>L3VPNv4 over SRv6 Policy (4)</a:t>
            </a:r>
            <a:br>
              <a:rPr lang="en-US" altLang="zh-CN" dirty="0">
                <a:sym typeface="Huawei Sans" panose="020C0503030203020204" pitchFamily="34" charset="0"/>
              </a:rPr>
            </a:br>
            <a:endParaRPr lang="zh-CN" altLang="en-US" dirty="0">
              <a:sym typeface="Huawei Sans" panose="020C0503030203020204" pitchFamily="34" charset="0"/>
            </a:endParaRPr>
          </a:p>
        </p:txBody>
      </p:sp>
      <p:sp>
        <p:nvSpPr>
          <p:cNvPr id="8" name="标题 1"/>
          <p:cNvSpPr txBox="1"/>
          <p:nvPr/>
        </p:nvSpPr>
        <p:spPr bwMode="gray">
          <a:xfrm>
            <a:off x="452438" y="447468"/>
            <a:ext cx="11296649" cy="497095"/>
          </a:xfrm>
          <a:prstGeom prst="rect">
            <a:avLst/>
          </a:prstGeom>
        </p:spPr>
        <p:txBody>
          <a:bodyPr lIns="0" tIns="0" rIns="0" bIns="0" anchor="t">
            <a:normAutofit/>
          </a:bodyPr>
          <a:lstStyle>
            <a:lvl1pPr algn="l" defTabSz="913765" rtl="0" eaLnBrk="1" fontAlgn="base" latinLnBrk="0" hangingPunct="1">
              <a:lnSpc>
                <a:spcPct val="90000"/>
              </a:lnSpc>
              <a:spcBef>
                <a:spcPct val="0"/>
              </a:spcBef>
              <a:buNone/>
              <a:defRPr lang="zh-CN" altLang="en-US" sz="3200" kern="1200" baseline="0" dirty="0">
                <a:solidFill>
                  <a:schemeClr val="tx1"/>
                </a:solidFill>
                <a:latin typeface="Huawei Sans" panose="020C0503030203020204" pitchFamily="34" charset="0"/>
                <a:ea typeface="方正兰亭黑简体" panose="02000000000000000000" pitchFamily="2" charset="-122"/>
                <a:cs typeface="+mn-cs"/>
              </a:defRPr>
            </a:lvl1pPr>
          </a:lstStyle>
          <a:p>
            <a:endParaRPr lang="en-US" dirty="0">
              <a:sym typeface="Huawei Sans" panose="020C0503030203020204" pitchFamily="34" charset="0"/>
            </a:endParaRPr>
          </a:p>
        </p:txBody>
      </p:sp>
      <p:sp>
        <p:nvSpPr>
          <p:cNvPr id="46" name="文本框 45"/>
          <p:cNvSpPr txBox="1"/>
          <p:nvPr/>
        </p:nvSpPr>
        <p:spPr bwMode="gray">
          <a:xfrm>
            <a:off x="6191389" y="1479036"/>
            <a:ext cx="3685624" cy="307777"/>
          </a:xfrm>
          <a:prstGeom prst="rect">
            <a:avLst/>
          </a:prstGeom>
          <a:noFill/>
        </p:spPr>
        <p:txBody>
          <a:bodyPr wrap="none" rtlCol="0">
            <a:spAutoFit/>
          </a:bodyPr>
          <a:lstStyle/>
          <a:p>
            <a:r>
              <a:rPr lang="zh-CN" altLang="en-US" sz="1400" dirty="0"/>
              <a:t>配置</a:t>
            </a:r>
            <a:r>
              <a:rPr lang="en-US" altLang="zh-CN" sz="1400" dirty="0"/>
              <a:t>SRv6 Policy</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PE1</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配置如下（</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PE2</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略）。</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文本框 46"/>
          <p:cNvSpPr txBox="1"/>
          <p:nvPr/>
        </p:nvSpPr>
        <p:spPr bwMode="gray">
          <a:xfrm>
            <a:off x="6278213" y="1729513"/>
            <a:ext cx="5195653" cy="3785652"/>
          </a:xfrm>
          <a:prstGeom prst="rect">
            <a:avLst/>
          </a:prstGeom>
          <a:solidFill>
            <a:schemeClr val="bg1">
              <a:lumMod val="85000"/>
            </a:schemeClr>
          </a:solidFill>
          <a:ln>
            <a:noFill/>
          </a:ln>
        </p:spPr>
        <p:txBody>
          <a:bodyPr wrap="squar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[~PE1] segment-routing ipv6 </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[~PE1-segment-routing-ipv6] segment-list list1 </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[*PE1-segment-routing-ipv6-segment-list-list1] index 5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sid</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ipv6 2001:DB8:2000::222</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[*PE1-segment-routing-ipv6-segment-list-list1] index 10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sid</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ipv6 2001:DB8:3000::333</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[*PE1-segment-routing-ipv6-segment-list-list1] commit</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[~PE1-segment-routing-ipv6-segment-list-list1] quit</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[~PE1-segment-routing-ipv6] srv6-te-policy locator as1000 </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[*PE1-segment-routing-ipv6] srv6-te policy policy1 endpoint 2001:DB8:3::3 color 101</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[*PE1-segment-routing-ipv6-policy-policy1] binding-</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sid</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2001:DB8:1000::100</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[*PE1-segment-routing-ipv6-policy-policy1] candidate-path preference 100</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[*PE1-segment-routing-ipv6-policy-policy1-path] segment-list list1 </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[*PE1-segment-routing-ipv6-policy-policy1-path] commit</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[~PE1-segment-routing-ipv6-policy-policy1-path] quit</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[~PE1-segment-routing-ipv6-policy-policy1] quit</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[~PE1-segment-routing-ipv6] quit</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矩形 44"/>
          <p:cNvSpPr/>
          <p:nvPr/>
        </p:nvSpPr>
        <p:spPr bwMode="gray">
          <a:xfrm>
            <a:off x="522292" y="3766960"/>
            <a:ext cx="5136046" cy="2554545"/>
          </a:xfrm>
          <a:prstGeom prst="rect">
            <a:avLst/>
          </a:prstGeom>
          <a:ln>
            <a:noFill/>
          </a:ln>
        </p:spPr>
        <p:txBody>
          <a:bodyPr wrap="square">
            <a:spAutoFit/>
          </a:bodyPr>
          <a:lstStyle/>
          <a:p>
            <a:pPr>
              <a:lnSpc>
                <a:spcPts val="2400"/>
              </a:lnSpc>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配置思路：</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176530" indent="-176530">
              <a:lnSpc>
                <a:spcPts val="2400"/>
              </a:lnSpc>
              <a:buFont typeface="+mj-lt"/>
              <a:buAutoNum type="arabicPeriod"/>
            </a:pPr>
            <a:r>
              <a:rPr lang="zh-CN"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完成设备接口</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IPv6</a:t>
            </a:r>
            <a:r>
              <a:rPr lang="zh-CN"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地址及</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IS-IS</a:t>
            </a:r>
            <a:r>
              <a:rPr lang="zh-CN"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配置</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（略）。</a:t>
            </a:r>
            <a:endParaRPr lang="zh-CN"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marL="176530" indent="-176530">
              <a:lnSpc>
                <a:spcPts val="2400"/>
              </a:lnSpc>
              <a:buFont typeface="+mj-lt"/>
              <a:buAutoNum type="arabicPeriod"/>
            </a:pP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在</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PE1</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与</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PE2</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之间建立</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MP-BGP</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对等体关系。</a:t>
            </a:r>
            <a:endPar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marL="176530" indent="-176530">
              <a:lnSpc>
                <a:spcPts val="2400"/>
              </a:lnSpc>
              <a:buFont typeface="+mj-lt"/>
              <a:buAutoNum type="arabicPeriod"/>
            </a:pP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骨干网上使能</a:t>
            </a: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Segment Routing</a:t>
            </a: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，建立</a:t>
            </a: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SRv6 Policy</a:t>
            </a: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路径。</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a:p>
            <a:pPr marL="176530" indent="-176530">
              <a:lnSpc>
                <a:spcPts val="2400"/>
              </a:lnSpc>
              <a:buFont typeface="+mj-lt"/>
              <a:buAutoNum type="arabicPeriod"/>
            </a:pP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PE</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上配置使能</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IPv4</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地址族</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VPN</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实例，</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PE</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之间配置</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MP-IBGP</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交换路由信息。</a:t>
            </a:r>
            <a:endPar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marL="176530" indent="-176530">
              <a:lnSpc>
                <a:spcPts val="2400"/>
              </a:lnSpc>
              <a:buFont typeface="+mj-lt"/>
              <a:buAutoNum type="arabicPeriod"/>
            </a:pP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配置隧道策略，引入私网流量。</a:t>
            </a:r>
            <a:endPar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marL="176530" indent="-176530">
              <a:lnSpc>
                <a:spcPts val="2400"/>
              </a:lnSpc>
              <a:buFont typeface="+mj-lt"/>
              <a:buAutoNum type="arabicPeriod"/>
            </a:pP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结果验证。</a:t>
            </a:r>
            <a:endParaRPr lang="zh-CN"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 name="矩形 47"/>
          <p:cNvSpPr/>
          <p:nvPr/>
        </p:nvSpPr>
        <p:spPr bwMode="gray">
          <a:xfrm>
            <a:off x="4190770" y="2950258"/>
            <a:ext cx="1826072" cy="780536"/>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矩形 48"/>
          <p:cNvSpPr/>
          <p:nvPr/>
        </p:nvSpPr>
        <p:spPr bwMode="gray">
          <a:xfrm>
            <a:off x="522292" y="2950258"/>
            <a:ext cx="1826072" cy="780536"/>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0" name="矩形 49"/>
          <p:cNvSpPr/>
          <p:nvPr/>
        </p:nvSpPr>
        <p:spPr bwMode="gray">
          <a:xfrm>
            <a:off x="522292" y="1487150"/>
            <a:ext cx="5494550" cy="1238390"/>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51" name="直接连接符 50"/>
          <p:cNvCxnSpPr>
            <a:stCxn id="53" idx="3"/>
            <a:endCxn id="57" idx="1"/>
          </p:cNvCxnSpPr>
          <p:nvPr/>
        </p:nvCxnSpPr>
        <p:spPr bwMode="gray">
          <a:xfrm>
            <a:off x="1267619" y="2489567"/>
            <a:ext cx="398533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52" name="矩形 51"/>
          <p:cNvSpPr/>
          <p:nvPr/>
        </p:nvSpPr>
        <p:spPr bwMode="gray">
          <a:xfrm>
            <a:off x="748992" y="1996788"/>
            <a:ext cx="497252"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PE1</a:t>
            </a:r>
            <a:endParaRPr lang="zh-CN" altLang="en-US" sz="1400" b="1" dirty="0">
              <a:solidFill>
                <a:srgbClr val="FF3300"/>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53" name="图片 52"/>
          <p:cNvPicPr/>
          <p:nvPr/>
        </p:nvPicPr>
        <p:blipFill>
          <a:blip r:embed="rId1" cstate="print">
            <a:extLst>
              <a:ext uri="{28A0092B-C50C-407E-A947-70E740481C1C}">
                <a14:useLocalDpi xmlns:a14="http://schemas.microsoft.com/office/drawing/2010/main" val="0"/>
              </a:ext>
            </a:extLst>
          </a:blip>
          <a:stretch>
            <a:fillRect/>
          </a:stretch>
        </p:blipFill>
        <p:spPr bwMode="gray">
          <a:xfrm>
            <a:off x="727619" y="2268167"/>
            <a:ext cx="540000" cy="442800"/>
          </a:xfrm>
          <a:prstGeom prst="rect">
            <a:avLst/>
          </a:prstGeom>
        </p:spPr>
      </p:pic>
      <p:sp>
        <p:nvSpPr>
          <p:cNvPr id="54" name="矩形 53"/>
          <p:cNvSpPr/>
          <p:nvPr/>
        </p:nvSpPr>
        <p:spPr bwMode="gray">
          <a:xfrm>
            <a:off x="3138299" y="1996788"/>
            <a:ext cx="292068" cy="307777"/>
          </a:xfrm>
          <a:prstGeom prst="rect">
            <a:avLst/>
          </a:prstGeom>
        </p:spPr>
        <p:txBody>
          <a:bodyPr wrap="none">
            <a:spAutoFit/>
          </a:bodyPr>
          <a:lstStyle/>
          <a:p>
            <a:pPr algn="ctr"/>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P</a:t>
            </a:r>
            <a:endParaRPr lang="zh-CN" altLang="en-US" sz="1400" b="1">
              <a:solidFill>
                <a:srgbClr val="FF3300"/>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55" name="图片 54"/>
          <p:cNvPicPr/>
          <p:nvPr/>
        </p:nvPicPr>
        <p:blipFill>
          <a:blip r:embed="rId1" cstate="print">
            <a:extLst>
              <a:ext uri="{28A0092B-C50C-407E-A947-70E740481C1C}">
                <a14:useLocalDpi xmlns:a14="http://schemas.microsoft.com/office/drawing/2010/main" val="0"/>
              </a:ext>
            </a:extLst>
          </a:blip>
          <a:stretch>
            <a:fillRect/>
          </a:stretch>
        </p:blipFill>
        <p:spPr bwMode="gray">
          <a:xfrm>
            <a:off x="2991152" y="2268167"/>
            <a:ext cx="540000" cy="442800"/>
          </a:xfrm>
          <a:prstGeom prst="rect">
            <a:avLst/>
          </a:prstGeom>
        </p:spPr>
      </p:pic>
      <p:sp>
        <p:nvSpPr>
          <p:cNvPr id="56" name="矩形 55"/>
          <p:cNvSpPr/>
          <p:nvPr/>
        </p:nvSpPr>
        <p:spPr bwMode="gray">
          <a:xfrm>
            <a:off x="5283807" y="1996788"/>
            <a:ext cx="497252"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PE2</a:t>
            </a:r>
            <a:endParaRPr lang="zh-CN" altLang="en-US" sz="1400" b="1" dirty="0">
              <a:solidFill>
                <a:srgbClr val="FF3300"/>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57" name="图片 56"/>
          <p:cNvPicPr/>
          <p:nvPr/>
        </p:nvPicPr>
        <p:blipFill>
          <a:blip r:embed="rId1" cstate="print">
            <a:extLst>
              <a:ext uri="{28A0092B-C50C-407E-A947-70E740481C1C}">
                <a14:useLocalDpi xmlns:a14="http://schemas.microsoft.com/office/drawing/2010/main" val="0"/>
              </a:ext>
            </a:extLst>
          </a:blip>
          <a:stretch>
            <a:fillRect/>
          </a:stretch>
        </p:blipFill>
        <p:spPr bwMode="gray">
          <a:xfrm>
            <a:off x="5252957" y="2268167"/>
            <a:ext cx="540000" cy="442800"/>
          </a:xfrm>
          <a:prstGeom prst="rect">
            <a:avLst/>
          </a:prstGeom>
        </p:spPr>
      </p:pic>
      <p:sp>
        <p:nvSpPr>
          <p:cNvPr id="58" name="矩形 57"/>
          <p:cNvSpPr/>
          <p:nvPr/>
        </p:nvSpPr>
        <p:spPr bwMode="gray">
          <a:xfrm>
            <a:off x="1401461" y="2245468"/>
            <a:ext cx="1455848" cy="276999"/>
          </a:xfrm>
          <a:prstGeom prst="rect">
            <a:avLst/>
          </a:prstGeom>
        </p:spPr>
        <p:txBody>
          <a:bodyPr wrap="none">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2001:DB88:12::/96</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9" name="矩形 58"/>
          <p:cNvSpPr/>
          <p:nvPr/>
        </p:nvSpPr>
        <p:spPr bwMode="gray">
          <a:xfrm>
            <a:off x="431928" y="1564429"/>
            <a:ext cx="1612942" cy="461665"/>
          </a:xfrm>
          <a:prstGeom prst="rect">
            <a:avLst/>
          </a:prstGeom>
        </p:spPr>
        <p:txBody>
          <a:bodyPr wrap="none">
            <a:spAutoFit/>
          </a:bodyPr>
          <a:lstStyle/>
          <a:p>
            <a:pPr algn="ctr"/>
            <a:r>
              <a:rPr lang="en-US" altLang="zh-CN"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END</a:t>
            </a:r>
            <a:endParaRPr lang="en-US" altLang="zh-CN"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2001:DB8:1000::111</a:t>
            </a:r>
            <a:endParaRPr lang="zh-CN" altLang="en-US"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0" name="文本框 59"/>
          <p:cNvSpPr txBox="1"/>
          <p:nvPr/>
        </p:nvSpPr>
        <p:spPr bwMode="gray">
          <a:xfrm>
            <a:off x="4251736" y="3039452"/>
            <a:ext cx="987770" cy="461665"/>
          </a:xfrm>
          <a:prstGeom prst="rect">
            <a:avLst/>
          </a:prstGeom>
          <a:noFill/>
          <a:ln>
            <a:noFill/>
          </a:ln>
        </p:spPr>
        <p:txBody>
          <a:bodyPr wrap="non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Loopback1 </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10.1.5.5/32</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1" name="矩形 60"/>
          <p:cNvSpPr/>
          <p:nvPr/>
        </p:nvSpPr>
        <p:spPr bwMode="gray">
          <a:xfrm>
            <a:off x="1199332" y="2266253"/>
            <a:ext cx="306494" cy="276999"/>
          </a:xfrm>
          <a:prstGeom prst="rect">
            <a:avLst/>
          </a:prstGeom>
        </p:spPr>
        <p:txBody>
          <a:bodyPr wrap="none">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:1</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2" name="矩形 61"/>
          <p:cNvSpPr/>
          <p:nvPr/>
        </p:nvSpPr>
        <p:spPr bwMode="gray">
          <a:xfrm>
            <a:off x="2764735" y="2266253"/>
            <a:ext cx="306494" cy="276999"/>
          </a:xfrm>
          <a:prstGeom prst="rect">
            <a:avLst/>
          </a:prstGeom>
        </p:spPr>
        <p:txBody>
          <a:bodyPr wrap="none">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3" name="矩形 62"/>
          <p:cNvSpPr/>
          <p:nvPr/>
        </p:nvSpPr>
        <p:spPr bwMode="gray">
          <a:xfrm>
            <a:off x="3447434" y="2266253"/>
            <a:ext cx="306494" cy="276999"/>
          </a:xfrm>
          <a:prstGeom prst="rect">
            <a:avLst/>
          </a:prstGeom>
        </p:spPr>
        <p:txBody>
          <a:bodyPr wrap="none">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4" name="矩形 63"/>
          <p:cNvSpPr/>
          <p:nvPr/>
        </p:nvSpPr>
        <p:spPr bwMode="gray">
          <a:xfrm>
            <a:off x="5024712" y="2266253"/>
            <a:ext cx="306494" cy="276999"/>
          </a:xfrm>
          <a:prstGeom prst="rect">
            <a:avLst/>
          </a:prstGeom>
        </p:spPr>
        <p:txBody>
          <a:bodyPr wrap="none">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:3</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65" name="图片 64"/>
          <p:cNvPicPr/>
          <p:nvPr/>
        </p:nvPicPr>
        <p:blipFill>
          <a:blip r:embed="rId1" cstate="print">
            <a:extLst>
              <a:ext uri="{28A0092B-C50C-407E-A947-70E740481C1C}">
                <a14:useLocalDpi xmlns:a14="http://schemas.microsoft.com/office/drawing/2010/main" val="0"/>
              </a:ext>
            </a:extLst>
          </a:blip>
          <a:stretch>
            <a:fillRect/>
          </a:stretch>
        </p:blipFill>
        <p:spPr bwMode="gray">
          <a:xfrm>
            <a:off x="727619" y="3010900"/>
            <a:ext cx="540000" cy="442800"/>
          </a:xfrm>
          <a:prstGeom prst="rect">
            <a:avLst/>
          </a:prstGeom>
        </p:spPr>
      </p:pic>
      <p:pic>
        <p:nvPicPr>
          <p:cNvPr id="66" name="图片 65"/>
          <p:cNvPicPr/>
          <p:nvPr/>
        </p:nvPicPr>
        <p:blipFill>
          <a:blip r:embed="rId1" cstate="print">
            <a:extLst>
              <a:ext uri="{28A0092B-C50C-407E-A947-70E740481C1C}">
                <a14:useLocalDpi xmlns:a14="http://schemas.microsoft.com/office/drawing/2010/main" val="0"/>
              </a:ext>
            </a:extLst>
          </a:blip>
          <a:stretch>
            <a:fillRect/>
          </a:stretch>
        </p:blipFill>
        <p:spPr bwMode="gray">
          <a:xfrm>
            <a:off x="5252957" y="3010900"/>
            <a:ext cx="540000" cy="442800"/>
          </a:xfrm>
          <a:prstGeom prst="rect">
            <a:avLst/>
          </a:prstGeom>
        </p:spPr>
      </p:pic>
      <p:cxnSp>
        <p:nvCxnSpPr>
          <p:cNvPr id="67" name="直接连接符 66"/>
          <p:cNvCxnSpPr>
            <a:stCxn id="53" idx="2"/>
            <a:endCxn id="65" idx="0"/>
          </p:cNvCxnSpPr>
          <p:nvPr/>
        </p:nvCxnSpPr>
        <p:spPr bwMode="gray">
          <a:xfrm>
            <a:off x="997619" y="2710967"/>
            <a:ext cx="0" cy="29993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直接连接符 67"/>
          <p:cNvCxnSpPr>
            <a:stCxn id="57" idx="2"/>
            <a:endCxn id="66" idx="0"/>
          </p:cNvCxnSpPr>
          <p:nvPr/>
        </p:nvCxnSpPr>
        <p:spPr bwMode="gray">
          <a:xfrm>
            <a:off x="5522957" y="2710967"/>
            <a:ext cx="0" cy="29993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9" name="矩形 68"/>
          <p:cNvSpPr/>
          <p:nvPr/>
        </p:nvSpPr>
        <p:spPr bwMode="gray">
          <a:xfrm>
            <a:off x="746588" y="3501117"/>
            <a:ext cx="502061"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CE1</a:t>
            </a:r>
            <a:endParaRPr lang="zh-CN" altLang="en-US" sz="1400" b="1" dirty="0">
              <a:solidFill>
                <a:srgbClr val="FF33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0" name="矩形 69"/>
          <p:cNvSpPr/>
          <p:nvPr/>
        </p:nvSpPr>
        <p:spPr bwMode="gray">
          <a:xfrm>
            <a:off x="5281403" y="3501117"/>
            <a:ext cx="502061"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CE2</a:t>
            </a:r>
            <a:endParaRPr lang="zh-CN" altLang="en-US" sz="1400" b="1" dirty="0">
              <a:solidFill>
                <a:srgbClr val="FF33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1" name="文本框 70"/>
          <p:cNvSpPr txBox="1"/>
          <p:nvPr/>
        </p:nvSpPr>
        <p:spPr bwMode="gray">
          <a:xfrm>
            <a:off x="1290546" y="3039452"/>
            <a:ext cx="987770" cy="461665"/>
          </a:xfrm>
          <a:prstGeom prst="rect">
            <a:avLst/>
          </a:prstGeom>
          <a:noFill/>
          <a:ln>
            <a:noFill/>
          </a:ln>
        </p:spPr>
        <p:txBody>
          <a:bodyPr wrap="non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Loopback1 </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10.1.4.4/32</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2" name="文本框 71"/>
          <p:cNvSpPr txBox="1"/>
          <p:nvPr/>
        </p:nvSpPr>
        <p:spPr bwMode="gray">
          <a:xfrm>
            <a:off x="1576705" y="3492845"/>
            <a:ext cx="848309" cy="276999"/>
          </a:xfrm>
          <a:prstGeom prst="rect">
            <a:avLst/>
          </a:prstGeom>
          <a:noFill/>
        </p:spPr>
        <p:txBody>
          <a:bodyPr wrap="none" rtlCol="0">
            <a:spAutoFit/>
          </a:bodyPr>
          <a:lstStyle/>
          <a:p>
            <a:r>
              <a:rPr lang="en-US" altLang="zh-CN" sz="12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AS 65000</a:t>
            </a:r>
            <a:endParaRPr lang="en-US" altLang="zh-CN" sz="12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3" name="文本框 72"/>
          <p:cNvSpPr txBox="1"/>
          <p:nvPr/>
        </p:nvSpPr>
        <p:spPr bwMode="gray">
          <a:xfrm>
            <a:off x="4190770" y="3492845"/>
            <a:ext cx="848309" cy="276999"/>
          </a:xfrm>
          <a:prstGeom prst="rect">
            <a:avLst/>
          </a:prstGeom>
          <a:noFill/>
        </p:spPr>
        <p:txBody>
          <a:bodyPr wrap="none" rtlCol="0">
            <a:spAutoFit/>
          </a:bodyPr>
          <a:lstStyle/>
          <a:p>
            <a:r>
              <a:rPr lang="en-US" altLang="zh-CN" sz="12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AS 65001</a:t>
            </a:r>
            <a:endParaRPr lang="en-US" altLang="zh-CN" sz="12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4" name="文本框 73"/>
          <p:cNvSpPr txBox="1"/>
          <p:nvPr/>
        </p:nvSpPr>
        <p:spPr bwMode="gray">
          <a:xfrm>
            <a:off x="542427" y="1427904"/>
            <a:ext cx="675185" cy="276999"/>
          </a:xfrm>
          <a:prstGeom prst="rect">
            <a:avLst/>
          </a:prstGeom>
          <a:noFill/>
        </p:spPr>
        <p:txBody>
          <a:bodyPr wrap="none" rtlCol="0">
            <a:spAutoFit/>
          </a:bodyPr>
          <a:lstStyle/>
          <a:p>
            <a:r>
              <a:rPr lang="en-US" altLang="zh-CN" sz="12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AS 100</a:t>
            </a:r>
            <a:endParaRPr lang="en-US" altLang="zh-CN" sz="12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5" name="矩形 74"/>
          <p:cNvSpPr/>
          <p:nvPr/>
        </p:nvSpPr>
        <p:spPr bwMode="gray">
          <a:xfrm>
            <a:off x="942842" y="2695509"/>
            <a:ext cx="1186543" cy="307777"/>
          </a:xfrm>
          <a:prstGeom prst="rect">
            <a:avLst/>
          </a:prstGeom>
        </p:spPr>
        <p:txBody>
          <a:bodyPr wrap="none">
            <a:spAutoFit/>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10.0.14.0/24</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6" name="矩形 75"/>
          <p:cNvSpPr/>
          <p:nvPr/>
        </p:nvSpPr>
        <p:spPr bwMode="gray">
          <a:xfrm>
            <a:off x="4397520" y="2695509"/>
            <a:ext cx="1186543" cy="307777"/>
          </a:xfrm>
          <a:prstGeom prst="rect">
            <a:avLst/>
          </a:prstGeom>
        </p:spPr>
        <p:txBody>
          <a:bodyPr wrap="none">
            <a:spAutoFit/>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10.0.35.0/24</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7" name="矩形 76"/>
          <p:cNvSpPr/>
          <p:nvPr/>
        </p:nvSpPr>
        <p:spPr bwMode="gray">
          <a:xfrm>
            <a:off x="2477863" y="1564429"/>
            <a:ext cx="1612942" cy="461665"/>
          </a:xfrm>
          <a:prstGeom prst="rect">
            <a:avLst/>
          </a:prstGeom>
        </p:spPr>
        <p:txBody>
          <a:bodyPr wrap="none">
            <a:spAutoFit/>
          </a:bodyPr>
          <a:lstStyle/>
          <a:p>
            <a:pPr algn="ctr"/>
            <a:r>
              <a:rPr lang="en-US" altLang="zh-CN"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END</a:t>
            </a:r>
            <a:endParaRPr lang="en-US" altLang="zh-CN"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2001:DB8:2000::222</a:t>
            </a:r>
            <a:endParaRPr lang="zh-CN" altLang="en-US"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8" name="矩形 77"/>
          <p:cNvSpPr/>
          <p:nvPr/>
        </p:nvSpPr>
        <p:spPr bwMode="gray">
          <a:xfrm>
            <a:off x="4494085" y="1564429"/>
            <a:ext cx="1612942" cy="461665"/>
          </a:xfrm>
          <a:prstGeom prst="rect">
            <a:avLst/>
          </a:prstGeom>
        </p:spPr>
        <p:txBody>
          <a:bodyPr wrap="none">
            <a:spAutoFit/>
          </a:bodyPr>
          <a:lstStyle/>
          <a:p>
            <a:pPr algn="ctr"/>
            <a:r>
              <a:rPr lang="en-US" altLang="zh-CN"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END</a:t>
            </a:r>
            <a:endParaRPr lang="en-US" altLang="zh-CN"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2001:DB8:3000::333</a:t>
            </a:r>
            <a:endParaRPr lang="zh-CN" altLang="en-US"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9" name="矩形 78"/>
          <p:cNvSpPr/>
          <p:nvPr/>
        </p:nvSpPr>
        <p:spPr bwMode="gray">
          <a:xfrm>
            <a:off x="3694397" y="2245468"/>
            <a:ext cx="1455848" cy="276999"/>
          </a:xfrm>
          <a:prstGeom prst="rect">
            <a:avLst/>
          </a:prstGeom>
        </p:spPr>
        <p:txBody>
          <a:bodyPr wrap="none">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2001:DB88:23::/96</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0" name="文本框 79"/>
          <p:cNvSpPr txBox="1"/>
          <p:nvPr/>
        </p:nvSpPr>
        <p:spPr bwMode="gray">
          <a:xfrm>
            <a:off x="6372630" y="5549597"/>
            <a:ext cx="3850870" cy="307777"/>
          </a:xfrm>
          <a:prstGeom prst="rect">
            <a:avLst/>
          </a:prstGeom>
          <a:solidFill>
            <a:srgbClr val="BEE9EE"/>
          </a:solidFill>
          <a:ln>
            <a:solidFill>
              <a:srgbClr val="94DAE2"/>
            </a:solidFill>
          </a:ln>
        </p:spPr>
        <p:txBody>
          <a:bodyPr wrap="square" rtlCol="0">
            <a:spAutoFit/>
          </a:bodyPr>
          <a:lstStyle/>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按先后顺序指定</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PE2</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的</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END</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类型的</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SRv6 SID</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1" name="矩形 80"/>
          <p:cNvSpPr/>
          <p:nvPr/>
        </p:nvSpPr>
        <p:spPr bwMode="gray">
          <a:xfrm>
            <a:off x="6329164" y="2143868"/>
            <a:ext cx="4669036" cy="720000"/>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82" name="肘形连接符 81"/>
          <p:cNvCxnSpPr>
            <a:stCxn id="81" idx="1"/>
            <a:endCxn id="80" idx="1"/>
          </p:cNvCxnSpPr>
          <p:nvPr/>
        </p:nvCxnSpPr>
        <p:spPr bwMode="gray">
          <a:xfrm rot="10800000" flipH="1" flipV="1">
            <a:off x="6329164" y="2503868"/>
            <a:ext cx="43466" cy="3199618"/>
          </a:xfrm>
          <a:prstGeom prst="bentConnector3">
            <a:avLst>
              <a:gd name="adj1" fmla="val -525928"/>
            </a:avLst>
          </a:prstGeom>
          <a:ln w="19050">
            <a:solidFill>
              <a:srgbClr val="56C4D2"/>
            </a:solidFill>
            <a:tailEnd type="triangle"/>
          </a:ln>
        </p:spPr>
        <p:style>
          <a:lnRef idx="1">
            <a:schemeClr val="accent1"/>
          </a:lnRef>
          <a:fillRef idx="0">
            <a:schemeClr val="accent1"/>
          </a:fillRef>
          <a:effectRef idx="0">
            <a:schemeClr val="accent1"/>
          </a:effectRef>
          <a:fontRef idx="minor">
            <a:schemeClr val="tx1"/>
          </a:fontRef>
        </p:style>
      </p:cxnSp>
      <p:sp>
        <p:nvSpPr>
          <p:cNvPr id="83" name="文本框 82"/>
          <p:cNvSpPr txBox="1"/>
          <p:nvPr/>
        </p:nvSpPr>
        <p:spPr bwMode="gray">
          <a:xfrm>
            <a:off x="7797512" y="5879412"/>
            <a:ext cx="3292571" cy="307777"/>
          </a:xfrm>
          <a:prstGeom prst="rect">
            <a:avLst/>
          </a:prstGeom>
          <a:solidFill>
            <a:srgbClr val="BEE9EE"/>
          </a:solidFill>
          <a:ln>
            <a:solidFill>
              <a:srgbClr val="94DAE2"/>
            </a:solidFill>
          </a:ln>
        </p:spPr>
        <p:txBody>
          <a:bodyPr wrap="square" rtlCol="0">
            <a:spAutoFit/>
          </a:bodyPr>
          <a:lstStyle/>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指定隧道</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Color</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和</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Endpoint</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4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4" name="矩形 83"/>
          <p:cNvSpPr/>
          <p:nvPr/>
        </p:nvSpPr>
        <p:spPr bwMode="gray">
          <a:xfrm flipV="1">
            <a:off x="6329164" y="3388844"/>
            <a:ext cx="4453138" cy="393700"/>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85" name="肘形连接符 84"/>
          <p:cNvCxnSpPr>
            <a:stCxn id="84" idx="3"/>
            <a:endCxn id="83" idx="3"/>
          </p:cNvCxnSpPr>
          <p:nvPr/>
        </p:nvCxnSpPr>
        <p:spPr bwMode="gray">
          <a:xfrm>
            <a:off x="10782302" y="3585694"/>
            <a:ext cx="307781" cy="2447607"/>
          </a:xfrm>
          <a:prstGeom prst="bentConnector3">
            <a:avLst>
              <a:gd name="adj1" fmla="val 174274"/>
            </a:avLst>
          </a:prstGeom>
          <a:ln w="19050">
            <a:solidFill>
              <a:srgbClr val="56C4D2"/>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Tree>
  </p:cSld>
  <p:clrMapOvr>
    <a:masterClrMapping/>
  </p:clrMapOvr>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bwMode="gray"/>
        <p:txBody>
          <a:bodyPr>
            <a:noAutofit/>
          </a:bodyPr>
          <a:lstStyle/>
          <a:p>
            <a:r>
              <a:rPr lang="en-US" altLang="zh-CN" dirty="0">
                <a:sym typeface="Huawei Sans" panose="020C0503030203020204" pitchFamily="34" charset="0"/>
              </a:rPr>
              <a:t>L3VPNv4 over SRv6 Policy (5)</a:t>
            </a:r>
            <a:br>
              <a:rPr lang="en-US" altLang="zh-CN" dirty="0">
                <a:sym typeface="Huawei Sans" panose="020C0503030203020204" pitchFamily="34" charset="0"/>
              </a:rPr>
            </a:br>
            <a:endParaRPr lang="zh-CN" altLang="en-US" dirty="0">
              <a:sym typeface="Huawei Sans" panose="020C0503030203020204" pitchFamily="34" charset="0"/>
            </a:endParaRPr>
          </a:p>
        </p:txBody>
      </p:sp>
      <p:sp>
        <p:nvSpPr>
          <p:cNvPr id="8" name="标题 1"/>
          <p:cNvSpPr txBox="1"/>
          <p:nvPr/>
        </p:nvSpPr>
        <p:spPr bwMode="gray">
          <a:xfrm>
            <a:off x="452438" y="447468"/>
            <a:ext cx="11296649" cy="497095"/>
          </a:xfrm>
          <a:prstGeom prst="rect">
            <a:avLst/>
          </a:prstGeom>
        </p:spPr>
        <p:txBody>
          <a:bodyPr lIns="0" tIns="0" rIns="0" bIns="0" anchor="t">
            <a:normAutofit/>
          </a:bodyPr>
          <a:lstStyle>
            <a:lvl1pPr algn="l" defTabSz="913765" rtl="0" eaLnBrk="1" fontAlgn="base" latinLnBrk="0" hangingPunct="1">
              <a:lnSpc>
                <a:spcPct val="90000"/>
              </a:lnSpc>
              <a:spcBef>
                <a:spcPct val="0"/>
              </a:spcBef>
              <a:buNone/>
              <a:defRPr lang="zh-CN" altLang="en-US" sz="3200" kern="1200" baseline="0" dirty="0">
                <a:solidFill>
                  <a:schemeClr val="tx1"/>
                </a:solidFill>
                <a:latin typeface="Huawei Sans" panose="020C0503030203020204" pitchFamily="34" charset="0"/>
                <a:ea typeface="方正兰亭黑简体" panose="02000000000000000000" pitchFamily="2" charset="-122"/>
                <a:cs typeface="+mn-cs"/>
              </a:defRPr>
            </a:lvl1pPr>
          </a:lstStyle>
          <a:p>
            <a:endParaRPr lang="en-US" dirty="0">
              <a:sym typeface="Huawei Sans" panose="020C0503030203020204" pitchFamily="34" charset="0"/>
            </a:endParaRPr>
          </a:p>
        </p:txBody>
      </p:sp>
      <p:sp>
        <p:nvSpPr>
          <p:cNvPr id="46" name="文本框 45"/>
          <p:cNvSpPr txBox="1"/>
          <p:nvPr/>
        </p:nvSpPr>
        <p:spPr bwMode="gray">
          <a:xfrm>
            <a:off x="6191389" y="1479036"/>
            <a:ext cx="5096267" cy="307777"/>
          </a:xfrm>
          <a:prstGeom prst="rect">
            <a:avLst/>
          </a:prstGeom>
          <a:noFill/>
        </p:spPr>
        <p:txBody>
          <a:bodyPr wrap="none" rtlCol="0">
            <a:spAutoFit/>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PE</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上配置使能</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IPv4</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地址族</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VPN</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实例，</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PE1</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配置如下（</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PE2</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略）。</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文本框 46"/>
          <p:cNvSpPr txBox="1"/>
          <p:nvPr/>
        </p:nvSpPr>
        <p:spPr bwMode="gray">
          <a:xfrm>
            <a:off x="6278213" y="1793013"/>
            <a:ext cx="5195653" cy="2308324"/>
          </a:xfrm>
          <a:prstGeom prst="rect">
            <a:avLst/>
          </a:prstGeom>
          <a:solidFill>
            <a:schemeClr val="bg1">
              <a:lumMod val="85000"/>
            </a:schemeClr>
          </a:solidFill>
          <a:ln>
            <a:noFill/>
          </a:ln>
        </p:spPr>
        <p:txBody>
          <a:bodyPr wrap="squar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[~PE1]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ip</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vpn</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-instance vpna</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[*PE1-vpn-instance-vpna] ipv4-family</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[*PE1-vpn-instance-vpna-af-ipv4] route-distinguisher 100:1</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[*PE1-vpn-instance-vpna-af-ipv4]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vpn</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-target 111:1 both</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[*PE1-vpn-instance-vpna-af-ipv4] quit</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[*PE1-vpn-instance-vpna] quit</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[*PE1-bgp] ipv4-family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vpn</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-instance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vpna</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[*PE1-bgp-vpna] segment-routing ipv6 traffic-engineer best-effort</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[*PE1-bgp-vpna] segment-routing ipv6 locator as1000</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[*PE1-bgp-vpna] commit</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[~PE1-bgp-vpna] quit</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[~PE1-bgp] quit</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 name="矩形 47"/>
          <p:cNvSpPr/>
          <p:nvPr/>
        </p:nvSpPr>
        <p:spPr bwMode="gray">
          <a:xfrm>
            <a:off x="522292" y="3766960"/>
            <a:ext cx="5136046" cy="2554545"/>
          </a:xfrm>
          <a:prstGeom prst="rect">
            <a:avLst/>
          </a:prstGeom>
          <a:ln>
            <a:noFill/>
          </a:ln>
        </p:spPr>
        <p:txBody>
          <a:bodyPr wrap="square">
            <a:spAutoFit/>
          </a:bodyPr>
          <a:lstStyle/>
          <a:p>
            <a:pPr>
              <a:lnSpc>
                <a:spcPts val="2400"/>
              </a:lnSpc>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配置思路：</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176530" indent="-176530">
              <a:lnSpc>
                <a:spcPts val="2400"/>
              </a:lnSpc>
              <a:buFont typeface="+mj-lt"/>
              <a:buAutoNum type="arabicPeriod"/>
            </a:pPr>
            <a:r>
              <a:rPr lang="zh-CN"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完成设备接口</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IPv6</a:t>
            </a:r>
            <a:r>
              <a:rPr lang="zh-CN"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地址及</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IS-IS</a:t>
            </a:r>
            <a:r>
              <a:rPr lang="zh-CN"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配置</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（略）。</a:t>
            </a:r>
            <a:endParaRPr lang="zh-CN"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marL="176530" indent="-176530">
              <a:lnSpc>
                <a:spcPts val="2400"/>
              </a:lnSpc>
              <a:buFont typeface="+mj-lt"/>
              <a:buAutoNum type="arabicPeriod"/>
            </a:pP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在</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PE1</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与</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PE2</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之间建立</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MP-BGP</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对等体关系。</a:t>
            </a:r>
            <a:endPar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marL="176530" indent="-176530">
              <a:lnSpc>
                <a:spcPts val="2400"/>
              </a:lnSpc>
              <a:buFont typeface="+mj-lt"/>
              <a:buAutoNum type="arabicPeriod"/>
            </a:pP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骨干网上使能</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Segment Routing</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，建立</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SRv6 Policy</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路径。</a:t>
            </a:r>
            <a:endPar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marL="176530" indent="-176530">
              <a:lnSpc>
                <a:spcPts val="2400"/>
              </a:lnSpc>
              <a:buFont typeface="+mj-lt"/>
              <a:buAutoNum type="arabicPeriod"/>
            </a:pP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PE</a:t>
            </a: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上配置使能</a:t>
            </a: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IPv4</a:t>
            </a: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地址族</a:t>
            </a: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VPN</a:t>
            </a: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实例，</a:t>
            </a: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PE</a:t>
            </a: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之间配置</a:t>
            </a: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MP-IBGP</a:t>
            </a: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交换路由信息。</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a:p>
            <a:pPr marL="176530" indent="-176530">
              <a:lnSpc>
                <a:spcPts val="2400"/>
              </a:lnSpc>
              <a:buFont typeface="+mj-lt"/>
              <a:buAutoNum type="arabicPeriod"/>
            </a:pP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配置隧道策略，引入私网流量。</a:t>
            </a:r>
            <a:endPar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marL="176530" indent="-176530">
              <a:lnSpc>
                <a:spcPts val="2400"/>
              </a:lnSpc>
              <a:buFont typeface="+mj-lt"/>
              <a:buAutoNum type="arabicPeriod"/>
            </a:pP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结果验证。</a:t>
            </a:r>
            <a:endParaRPr lang="zh-CN"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1" name="矩形 80"/>
          <p:cNvSpPr/>
          <p:nvPr/>
        </p:nvSpPr>
        <p:spPr bwMode="gray">
          <a:xfrm>
            <a:off x="4190770" y="2950258"/>
            <a:ext cx="1826072" cy="780536"/>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2" name="矩形 81"/>
          <p:cNvSpPr/>
          <p:nvPr/>
        </p:nvSpPr>
        <p:spPr bwMode="gray">
          <a:xfrm>
            <a:off x="522292" y="2950258"/>
            <a:ext cx="1826072" cy="780536"/>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3" name="矩形 82"/>
          <p:cNvSpPr/>
          <p:nvPr/>
        </p:nvSpPr>
        <p:spPr bwMode="gray">
          <a:xfrm>
            <a:off x="522292" y="1487150"/>
            <a:ext cx="5494550" cy="1238390"/>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84" name="直接连接符 83"/>
          <p:cNvCxnSpPr>
            <a:stCxn id="86" idx="3"/>
            <a:endCxn id="90" idx="1"/>
          </p:cNvCxnSpPr>
          <p:nvPr/>
        </p:nvCxnSpPr>
        <p:spPr bwMode="gray">
          <a:xfrm>
            <a:off x="1267619" y="2489567"/>
            <a:ext cx="398533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85" name="矩形 84"/>
          <p:cNvSpPr/>
          <p:nvPr/>
        </p:nvSpPr>
        <p:spPr bwMode="gray">
          <a:xfrm>
            <a:off x="748992" y="1996788"/>
            <a:ext cx="497252"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PE1</a:t>
            </a:r>
            <a:endParaRPr lang="zh-CN" altLang="en-US" sz="1400" b="1" dirty="0">
              <a:solidFill>
                <a:srgbClr val="FF3300"/>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86" name="图片 85"/>
          <p:cNvPicPr/>
          <p:nvPr/>
        </p:nvPicPr>
        <p:blipFill>
          <a:blip r:embed="rId1" cstate="print">
            <a:extLst>
              <a:ext uri="{28A0092B-C50C-407E-A947-70E740481C1C}">
                <a14:useLocalDpi xmlns:a14="http://schemas.microsoft.com/office/drawing/2010/main" val="0"/>
              </a:ext>
            </a:extLst>
          </a:blip>
          <a:stretch>
            <a:fillRect/>
          </a:stretch>
        </p:blipFill>
        <p:spPr bwMode="gray">
          <a:xfrm>
            <a:off x="727619" y="2268167"/>
            <a:ext cx="540000" cy="442800"/>
          </a:xfrm>
          <a:prstGeom prst="rect">
            <a:avLst/>
          </a:prstGeom>
        </p:spPr>
      </p:pic>
      <p:sp>
        <p:nvSpPr>
          <p:cNvPr id="87" name="矩形 86"/>
          <p:cNvSpPr/>
          <p:nvPr/>
        </p:nvSpPr>
        <p:spPr bwMode="gray">
          <a:xfrm>
            <a:off x="3138299" y="1996788"/>
            <a:ext cx="292068" cy="307777"/>
          </a:xfrm>
          <a:prstGeom prst="rect">
            <a:avLst/>
          </a:prstGeom>
        </p:spPr>
        <p:txBody>
          <a:bodyPr wrap="none">
            <a:spAutoFit/>
          </a:bodyPr>
          <a:lstStyle/>
          <a:p>
            <a:pPr algn="ctr"/>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P</a:t>
            </a:r>
            <a:endParaRPr lang="zh-CN" altLang="en-US" sz="1400" b="1">
              <a:solidFill>
                <a:srgbClr val="FF3300"/>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88" name="图片 87"/>
          <p:cNvPicPr/>
          <p:nvPr/>
        </p:nvPicPr>
        <p:blipFill>
          <a:blip r:embed="rId1" cstate="print">
            <a:extLst>
              <a:ext uri="{28A0092B-C50C-407E-A947-70E740481C1C}">
                <a14:useLocalDpi xmlns:a14="http://schemas.microsoft.com/office/drawing/2010/main" val="0"/>
              </a:ext>
            </a:extLst>
          </a:blip>
          <a:stretch>
            <a:fillRect/>
          </a:stretch>
        </p:blipFill>
        <p:spPr bwMode="gray">
          <a:xfrm>
            <a:off x="2991152" y="2268167"/>
            <a:ext cx="540000" cy="442800"/>
          </a:xfrm>
          <a:prstGeom prst="rect">
            <a:avLst/>
          </a:prstGeom>
        </p:spPr>
      </p:pic>
      <p:sp>
        <p:nvSpPr>
          <p:cNvPr id="89" name="矩形 88"/>
          <p:cNvSpPr/>
          <p:nvPr/>
        </p:nvSpPr>
        <p:spPr bwMode="gray">
          <a:xfrm>
            <a:off x="5283807" y="1996788"/>
            <a:ext cx="497252"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PE2</a:t>
            </a:r>
            <a:endParaRPr lang="zh-CN" altLang="en-US" sz="1400" b="1" dirty="0">
              <a:solidFill>
                <a:srgbClr val="FF3300"/>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90" name="图片 89"/>
          <p:cNvPicPr/>
          <p:nvPr/>
        </p:nvPicPr>
        <p:blipFill>
          <a:blip r:embed="rId1" cstate="print">
            <a:extLst>
              <a:ext uri="{28A0092B-C50C-407E-A947-70E740481C1C}">
                <a14:useLocalDpi xmlns:a14="http://schemas.microsoft.com/office/drawing/2010/main" val="0"/>
              </a:ext>
            </a:extLst>
          </a:blip>
          <a:stretch>
            <a:fillRect/>
          </a:stretch>
        </p:blipFill>
        <p:spPr bwMode="gray">
          <a:xfrm>
            <a:off x="5252957" y="2268167"/>
            <a:ext cx="540000" cy="442800"/>
          </a:xfrm>
          <a:prstGeom prst="rect">
            <a:avLst/>
          </a:prstGeom>
        </p:spPr>
      </p:pic>
      <p:sp>
        <p:nvSpPr>
          <p:cNvPr id="91" name="矩形 90"/>
          <p:cNvSpPr/>
          <p:nvPr/>
        </p:nvSpPr>
        <p:spPr bwMode="gray">
          <a:xfrm>
            <a:off x="1401461" y="2245468"/>
            <a:ext cx="1455848" cy="276999"/>
          </a:xfrm>
          <a:prstGeom prst="rect">
            <a:avLst/>
          </a:prstGeom>
        </p:spPr>
        <p:txBody>
          <a:bodyPr wrap="none">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2001:DB88:12::/96</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2" name="矩形 91"/>
          <p:cNvSpPr/>
          <p:nvPr/>
        </p:nvSpPr>
        <p:spPr bwMode="gray">
          <a:xfrm>
            <a:off x="431928" y="1564429"/>
            <a:ext cx="1612942" cy="461665"/>
          </a:xfrm>
          <a:prstGeom prst="rect">
            <a:avLst/>
          </a:prstGeom>
        </p:spPr>
        <p:txBody>
          <a:bodyPr wrap="none">
            <a:spAutoFit/>
          </a:bodyPr>
          <a:lstStyle/>
          <a:p>
            <a:pPr algn="ctr"/>
            <a:r>
              <a:rPr lang="en-US" altLang="zh-CN"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END</a:t>
            </a:r>
            <a:endParaRPr lang="en-US" altLang="zh-CN"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2001:DB8:1000::111</a:t>
            </a:r>
            <a:endParaRPr lang="zh-CN" altLang="en-US"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3" name="文本框 92"/>
          <p:cNvSpPr txBox="1"/>
          <p:nvPr/>
        </p:nvSpPr>
        <p:spPr bwMode="gray">
          <a:xfrm>
            <a:off x="4251736" y="3039452"/>
            <a:ext cx="987770" cy="461665"/>
          </a:xfrm>
          <a:prstGeom prst="rect">
            <a:avLst/>
          </a:prstGeom>
          <a:noFill/>
          <a:ln>
            <a:noFill/>
          </a:ln>
        </p:spPr>
        <p:txBody>
          <a:bodyPr wrap="non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Loopback1 </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10.1.5.5/32</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4" name="矩形 93"/>
          <p:cNvSpPr/>
          <p:nvPr/>
        </p:nvSpPr>
        <p:spPr bwMode="gray">
          <a:xfrm>
            <a:off x="1199332" y="2266253"/>
            <a:ext cx="306494" cy="276999"/>
          </a:xfrm>
          <a:prstGeom prst="rect">
            <a:avLst/>
          </a:prstGeom>
        </p:spPr>
        <p:txBody>
          <a:bodyPr wrap="none">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:1</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5" name="矩形 94"/>
          <p:cNvSpPr/>
          <p:nvPr/>
        </p:nvSpPr>
        <p:spPr bwMode="gray">
          <a:xfrm>
            <a:off x="2764735" y="2266253"/>
            <a:ext cx="306494" cy="276999"/>
          </a:xfrm>
          <a:prstGeom prst="rect">
            <a:avLst/>
          </a:prstGeom>
        </p:spPr>
        <p:txBody>
          <a:bodyPr wrap="none">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6" name="矩形 95"/>
          <p:cNvSpPr/>
          <p:nvPr/>
        </p:nvSpPr>
        <p:spPr bwMode="gray">
          <a:xfrm>
            <a:off x="3447434" y="2266253"/>
            <a:ext cx="306494" cy="276999"/>
          </a:xfrm>
          <a:prstGeom prst="rect">
            <a:avLst/>
          </a:prstGeom>
        </p:spPr>
        <p:txBody>
          <a:bodyPr wrap="none">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7" name="矩形 96"/>
          <p:cNvSpPr/>
          <p:nvPr/>
        </p:nvSpPr>
        <p:spPr bwMode="gray">
          <a:xfrm>
            <a:off x="5024712" y="2266253"/>
            <a:ext cx="306494" cy="276999"/>
          </a:xfrm>
          <a:prstGeom prst="rect">
            <a:avLst/>
          </a:prstGeom>
        </p:spPr>
        <p:txBody>
          <a:bodyPr wrap="none">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:3</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98" name="图片 97"/>
          <p:cNvPicPr/>
          <p:nvPr/>
        </p:nvPicPr>
        <p:blipFill>
          <a:blip r:embed="rId1" cstate="print">
            <a:extLst>
              <a:ext uri="{28A0092B-C50C-407E-A947-70E740481C1C}">
                <a14:useLocalDpi xmlns:a14="http://schemas.microsoft.com/office/drawing/2010/main" val="0"/>
              </a:ext>
            </a:extLst>
          </a:blip>
          <a:stretch>
            <a:fillRect/>
          </a:stretch>
        </p:blipFill>
        <p:spPr bwMode="gray">
          <a:xfrm>
            <a:off x="727619" y="3010900"/>
            <a:ext cx="540000" cy="442800"/>
          </a:xfrm>
          <a:prstGeom prst="rect">
            <a:avLst/>
          </a:prstGeom>
        </p:spPr>
      </p:pic>
      <p:pic>
        <p:nvPicPr>
          <p:cNvPr id="99" name="图片 98"/>
          <p:cNvPicPr/>
          <p:nvPr/>
        </p:nvPicPr>
        <p:blipFill>
          <a:blip r:embed="rId1" cstate="print">
            <a:extLst>
              <a:ext uri="{28A0092B-C50C-407E-A947-70E740481C1C}">
                <a14:useLocalDpi xmlns:a14="http://schemas.microsoft.com/office/drawing/2010/main" val="0"/>
              </a:ext>
            </a:extLst>
          </a:blip>
          <a:stretch>
            <a:fillRect/>
          </a:stretch>
        </p:blipFill>
        <p:spPr bwMode="gray">
          <a:xfrm>
            <a:off x="5252957" y="3010900"/>
            <a:ext cx="540000" cy="442800"/>
          </a:xfrm>
          <a:prstGeom prst="rect">
            <a:avLst/>
          </a:prstGeom>
        </p:spPr>
      </p:pic>
      <p:cxnSp>
        <p:nvCxnSpPr>
          <p:cNvPr id="100" name="直接连接符 99"/>
          <p:cNvCxnSpPr>
            <a:stCxn id="86" idx="2"/>
            <a:endCxn id="98" idx="0"/>
          </p:cNvCxnSpPr>
          <p:nvPr/>
        </p:nvCxnSpPr>
        <p:spPr bwMode="gray">
          <a:xfrm>
            <a:off x="997619" y="2710967"/>
            <a:ext cx="0" cy="29993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1" name="直接连接符 100"/>
          <p:cNvCxnSpPr>
            <a:stCxn id="90" idx="2"/>
            <a:endCxn id="99" idx="0"/>
          </p:cNvCxnSpPr>
          <p:nvPr/>
        </p:nvCxnSpPr>
        <p:spPr bwMode="gray">
          <a:xfrm>
            <a:off x="5522957" y="2710967"/>
            <a:ext cx="0" cy="29993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2" name="矩形 101"/>
          <p:cNvSpPr/>
          <p:nvPr/>
        </p:nvSpPr>
        <p:spPr bwMode="gray">
          <a:xfrm>
            <a:off x="746588" y="3501117"/>
            <a:ext cx="502061"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CE1</a:t>
            </a:r>
            <a:endParaRPr lang="zh-CN" altLang="en-US" sz="1400" b="1" dirty="0">
              <a:solidFill>
                <a:srgbClr val="FF33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3" name="矩形 102"/>
          <p:cNvSpPr/>
          <p:nvPr/>
        </p:nvSpPr>
        <p:spPr bwMode="gray">
          <a:xfrm>
            <a:off x="5281403" y="3501117"/>
            <a:ext cx="502061"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CE2</a:t>
            </a:r>
            <a:endParaRPr lang="zh-CN" altLang="en-US" sz="1400" b="1" dirty="0">
              <a:solidFill>
                <a:srgbClr val="FF33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4" name="文本框 103"/>
          <p:cNvSpPr txBox="1"/>
          <p:nvPr/>
        </p:nvSpPr>
        <p:spPr bwMode="gray">
          <a:xfrm>
            <a:off x="1290546" y="3039452"/>
            <a:ext cx="987770" cy="461665"/>
          </a:xfrm>
          <a:prstGeom prst="rect">
            <a:avLst/>
          </a:prstGeom>
          <a:noFill/>
          <a:ln>
            <a:noFill/>
          </a:ln>
        </p:spPr>
        <p:txBody>
          <a:bodyPr wrap="non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Loopback1 </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10.1.4.4/32</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5" name="文本框 104"/>
          <p:cNvSpPr txBox="1"/>
          <p:nvPr/>
        </p:nvSpPr>
        <p:spPr bwMode="gray">
          <a:xfrm>
            <a:off x="1576705" y="3492845"/>
            <a:ext cx="848309" cy="276999"/>
          </a:xfrm>
          <a:prstGeom prst="rect">
            <a:avLst/>
          </a:prstGeom>
          <a:noFill/>
        </p:spPr>
        <p:txBody>
          <a:bodyPr wrap="none" rtlCol="0">
            <a:spAutoFit/>
          </a:bodyPr>
          <a:lstStyle/>
          <a:p>
            <a:r>
              <a:rPr lang="en-US" altLang="zh-CN" sz="12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AS 65000</a:t>
            </a:r>
            <a:endParaRPr lang="en-US" altLang="zh-CN" sz="12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6" name="文本框 105"/>
          <p:cNvSpPr txBox="1"/>
          <p:nvPr/>
        </p:nvSpPr>
        <p:spPr bwMode="gray">
          <a:xfrm>
            <a:off x="4190770" y="3492845"/>
            <a:ext cx="848309" cy="276999"/>
          </a:xfrm>
          <a:prstGeom prst="rect">
            <a:avLst/>
          </a:prstGeom>
          <a:noFill/>
        </p:spPr>
        <p:txBody>
          <a:bodyPr wrap="none" rtlCol="0">
            <a:spAutoFit/>
          </a:bodyPr>
          <a:lstStyle/>
          <a:p>
            <a:r>
              <a:rPr lang="en-US" altLang="zh-CN" sz="12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AS 65001</a:t>
            </a:r>
            <a:endParaRPr lang="en-US" altLang="zh-CN" sz="12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7" name="文本框 106"/>
          <p:cNvSpPr txBox="1"/>
          <p:nvPr/>
        </p:nvSpPr>
        <p:spPr bwMode="gray">
          <a:xfrm>
            <a:off x="542427" y="1427904"/>
            <a:ext cx="675185" cy="276999"/>
          </a:xfrm>
          <a:prstGeom prst="rect">
            <a:avLst/>
          </a:prstGeom>
          <a:noFill/>
        </p:spPr>
        <p:txBody>
          <a:bodyPr wrap="none" rtlCol="0">
            <a:spAutoFit/>
          </a:bodyPr>
          <a:lstStyle/>
          <a:p>
            <a:r>
              <a:rPr lang="en-US" altLang="zh-CN" sz="12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AS 100</a:t>
            </a:r>
            <a:endParaRPr lang="en-US" altLang="zh-CN" sz="12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8" name="矩形 107"/>
          <p:cNvSpPr/>
          <p:nvPr/>
        </p:nvSpPr>
        <p:spPr bwMode="gray">
          <a:xfrm>
            <a:off x="942842" y="2695509"/>
            <a:ext cx="1186543" cy="307777"/>
          </a:xfrm>
          <a:prstGeom prst="rect">
            <a:avLst/>
          </a:prstGeom>
        </p:spPr>
        <p:txBody>
          <a:bodyPr wrap="none">
            <a:spAutoFit/>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10.0.14.0/24</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9" name="矩形 108"/>
          <p:cNvSpPr/>
          <p:nvPr/>
        </p:nvSpPr>
        <p:spPr bwMode="gray">
          <a:xfrm>
            <a:off x="4397520" y="2695509"/>
            <a:ext cx="1186543" cy="307777"/>
          </a:xfrm>
          <a:prstGeom prst="rect">
            <a:avLst/>
          </a:prstGeom>
        </p:spPr>
        <p:txBody>
          <a:bodyPr wrap="none">
            <a:spAutoFit/>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10.0.35.0/24</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0" name="矩形 109"/>
          <p:cNvSpPr/>
          <p:nvPr/>
        </p:nvSpPr>
        <p:spPr bwMode="gray">
          <a:xfrm>
            <a:off x="2477863" y="1564429"/>
            <a:ext cx="1612942" cy="461665"/>
          </a:xfrm>
          <a:prstGeom prst="rect">
            <a:avLst/>
          </a:prstGeom>
        </p:spPr>
        <p:txBody>
          <a:bodyPr wrap="none">
            <a:spAutoFit/>
          </a:bodyPr>
          <a:lstStyle/>
          <a:p>
            <a:pPr algn="ctr"/>
            <a:r>
              <a:rPr lang="en-US" altLang="zh-CN"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END</a:t>
            </a:r>
            <a:endParaRPr lang="en-US" altLang="zh-CN"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2001:DB8:2000::222</a:t>
            </a:r>
            <a:endParaRPr lang="zh-CN" altLang="en-US"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1" name="矩形 110"/>
          <p:cNvSpPr/>
          <p:nvPr/>
        </p:nvSpPr>
        <p:spPr bwMode="gray">
          <a:xfrm>
            <a:off x="4494085" y="1564429"/>
            <a:ext cx="1612942" cy="461665"/>
          </a:xfrm>
          <a:prstGeom prst="rect">
            <a:avLst/>
          </a:prstGeom>
        </p:spPr>
        <p:txBody>
          <a:bodyPr wrap="none">
            <a:spAutoFit/>
          </a:bodyPr>
          <a:lstStyle/>
          <a:p>
            <a:pPr algn="ctr"/>
            <a:r>
              <a:rPr lang="en-US" altLang="zh-CN"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END</a:t>
            </a:r>
            <a:endParaRPr lang="en-US" altLang="zh-CN"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2001:DB8:3000::333</a:t>
            </a:r>
            <a:endParaRPr lang="zh-CN" altLang="en-US"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2" name="矩形 111"/>
          <p:cNvSpPr/>
          <p:nvPr/>
        </p:nvSpPr>
        <p:spPr bwMode="gray">
          <a:xfrm>
            <a:off x="3694397" y="2245468"/>
            <a:ext cx="1455848" cy="276999"/>
          </a:xfrm>
          <a:prstGeom prst="rect">
            <a:avLst/>
          </a:prstGeom>
        </p:spPr>
        <p:txBody>
          <a:bodyPr wrap="none">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2001:DB88:23::/96</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bwMode="gray"/>
        <p:txBody>
          <a:bodyPr>
            <a:noAutofit/>
          </a:bodyPr>
          <a:lstStyle/>
          <a:p>
            <a:r>
              <a:rPr lang="en-US" altLang="zh-CN" dirty="0">
                <a:sym typeface="Huawei Sans" panose="020C0503030203020204" pitchFamily="34" charset="0"/>
              </a:rPr>
              <a:t>L3VPNv4 over SRv6 Policy (6)</a:t>
            </a:r>
            <a:br>
              <a:rPr lang="en-US" altLang="zh-CN" dirty="0">
                <a:sym typeface="Huawei Sans" panose="020C0503030203020204" pitchFamily="34" charset="0"/>
              </a:rPr>
            </a:br>
            <a:endParaRPr lang="zh-CN" altLang="en-US" dirty="0">
              <a:sym typeface="Huawei Sans" panose="020C0503030203020204" pitchFamily="34" charset="0"/>
            </a:endParaRPr>
          </a:p>
        </p:txBody>
      </p:sp>
      <p:sp>
        <p:nvSpPr>
          <p:cNvPr id="8" name="标题 1"/>
          <p:cNvSpPr txBox="1"/>
          <p:nvPr/>
        </p:nvSpPr>
        <p:spPr bwMode="gray">
          <a:xfrm>
            <a:off x="452438" y="447468"/>
            <a:ext cx="11296649" cy="497095"/>
          </a:xfrm>
          <a:prstGeom prst="rect">
            <a:avLst/>
          </a:prstGeom>
        </p:spPr>
        <p:txBody>
          <a:bodyPr lIns="0" tIns="0" rIns="0" bIns="0" anchor="t">
            <a:normAutofit/>
          </a:bodyPr>
          <a:lstStyle>
            <a:lvl1pPr algn="l" defTabSz="913765" rtl="0" eaLnBrk="1" fontAlgn="base" latinLnBrk="0" hangingPunct="1">
              <a:lnSpc>
                <a:spcPct val="90000"/>
              </a:lnSpc>
              <a:spcBef>
                <a:spcPct val="0"/>
              </a:spcBef>
              <a:buNone/>
              <a:defRPr lang="zh-CN" altLang="en-US" sz="3200" kern="1200" baseline="0" dirty="0">
                <a:solidFill>
                  <a:schemeClr val="tx1"/>
                </a:solidFill>
                <a:latin typeface="Huawei Sans" panose="020C0503030203020204" pitchFamily="34" charset="0"/>
                <a:ea typeface="方正兰亭黑简体" panose="02000000000000000000" pitchFamily="2" charset="-122"/>
                <a:cs typeface="+mn-cs"/>
              </a:defRPr>
            </a:lvl1pPr>
          </a:lstStyle>
          <a:p>
            <a:endParaRPr lang="en-US" dirty="0">
              <a:sym typeface="Huawei Sans" panose="020C0503030203020204" pitchFamily="34" charset="0"/>
            </a:endParaRPr>
          </a:p>
        </p:txBody>
      </p:sp>
      <p:sp>
        <p:nvSpPr>
          <p:cNvPr id="46" name="文本框 45"/>
          <p:cNvSpPr txBox="1"/>
          <p:nvPr/>
        </p:nvSpPr>
        <p:spPr bwMode="gray">
          <a:xfrm>
            <a:off x="6191389" y="1479036"/>
            <a:ext cx="4737194" cy="307777"/>
          </a:xfrm>
          <a:prstGeom prst="rect">
            <a:avLst/>
          </a:prstGeom>
          <a:noFill/>
        </p:spPr>
        <p:txBody>
          <a:bodyPr wrap="none" rtlCol="0">
            <a:spAutoFit/>
          </a:bodyPr>
          <a:lstStyle/>
          <a:p>
            <a:r>
              <a:rPr lang="zh-CN" altLang="en-US" sz="1400" dirty="0"/>
              <a:t>配置隧道策略，引入私网流量</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PE1</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配置如下（</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PE2</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略）。</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文本框 46"/>
          <p:cNvSpPr txBox="1"/>
          <p:nvPr/>
        </p:nvSpPr>
        <p:spPr bwMode="gray">
          <a:xfrm>
            <a:off x="6278213" y="1793013"/>
            <a:ext cx="5195653" cy="3416320"/>
          </a:xfrm>
          <a:prstGeom prst="rect">
            <a:avLst/>
          </a:prstGeom>
          <a:solidFill>
            <a:schemeClr val="bg1">
              <a:lumMod val="85000"/>
            </a:schemeClr>
          </a:solidFill>
          <a:ln>
            <a:noFill/>
          </a:ln>
        </p:spPr>
        <p:txBody>
          <a:bodyPr wrap="squar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[~PE1] route-policy p1 permit node 10</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[*PE1-route-policy] apply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extcommunity</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color 0:101</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[*PE1-route-policy] quit</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[*PE1]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bgp</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100</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[*PE1-bgp] ipv4-family vpnv4</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[*PE1-bgp-af-vpnv4] peer 2001:DB8:3::3 route-policy p1 import </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[*PE1-bgp-af-vpnv4] quit</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[*PE1-bgp] quit</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[*PE1] tunnel-policy p1</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[*PE1-tunnel-policy-p1] tunnel select-</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seq</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ipv6 srv6-te-policy load-balance-number 1</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[*PE1-tunnel-policy-p1] quit</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[*PE1]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ip</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vpn</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-instance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vpna</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[*PE1-vpn-instance-vpna] ipv4-family</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[*PE1-vpn-instance-vpna-af-ipv4]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tnl</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-policy p1</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[*PE1-vpn-instance-vpna-af-ipv4] commit</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[~PE1-vpn-instance-vpna-af-ipv4] quit</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[~PE1-vpn-instance-vpna] quit</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矩形 44"/>
          <p:cNvSpPr/>
          <p:nvPr/>
        </p:nvSpPr>
        <p:spPr bwMode="gray">
          <a:xfrm>
            <a:off x="522292" y="3766960"/>
            <a:ext cx="5136046" cy="2554545"/>
          </a:xfrm>
          <a:prstGeom prst="rect">
            <a:avLst/>
          </a:prstGeom>
          <a:ln>
            <a:noFill/>
          </a:ln>
        </p:spPr>
        <p:txBody>
          <a:bodyPr wrap="square">
            <a:spAutoFit/>
          </a:bodyPr>
          <a:lstStyle/>
          <a:p>
            <a:pPr>
              <a:lnSpc>
                <a:spcPts val="2400"/>
              </a:lnSpc>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配置思路：</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176530" indent="-176530">
              <a:lnSpc>
                <a:spcPts val="2400"/>
              </a:lnSpc>
              <a:buFont typeface="+mj-lt"/>
              <a:buAutoNum type="arabicPeriod"/>
            </a:pPr>
            <a:r>
              <a:rPr lang="zh-CN"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完成设备接口</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IPv6</a:t>
            </a:r>
            <a:r>
              <a:rPr lang="zh-CN"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地址及</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IS-IS</a:t>
            </a:r>
            <a:r>
              <a:rPr lang="zh-CN"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配置</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（略）。</a:t>
            </a:r>
            <a:endParaRPr lang="zh-CN"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marL="176530" indent="-176530">
              <a:lnSpc>
                <a:spcPts val="2400"/>
              </a:lnSpc>
              <a:buFont typeface="+mj-lt"/>
              <a:buAutoNum type="arabicPeriod"/>
            </a:pP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在</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PE1</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与</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PE2</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之间建立</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MP-BGP</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对等体关系。</a:t>
            </a:r>
            <a:endPar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marL="176530" indent="-176530">
              <a:lnSpc>
                <a:spcPts val="2400"/>
              </a:lnSpc>
              <a:buFont typeface="+mj-lt"/>
              <a:buAutoNum type="arabicPeriod"/>
            </a:pP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骨干网上使能</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Segment Routing</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，建立</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SRv6 Policy</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路径。</a:t>
            </a:r>
            <a:endPar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marL="176530" indent="-176530">
              <a:lnSpc>
                <a:spcPts val="2400"/>
              </a:lnSpc>
              <a:buFont typeface="+mj-lt"/>
              <a:buAutoNum type="arabicPeriod"/>
            </a:pP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PE</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上配置使能</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IPv4</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地址族</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VPN</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实例，</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PE</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之间配置</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MP-IBGP</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交换路由信息。</a:t>
            </a:r>
            <a:endPar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marL="176530" indent="-176530">
              <a:lnSpc>
                <a:spcPts val="2400"/>
              </a:lnSpc>
              <a:buFont typeface="+mj-lt"/>
              <a:buAutoNum type="arabicPeriod"/>
            </a:pP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配置隧道策略，引入私网流量。</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a:p>
            <a:pPr marL="176530" indent="-176530">
              <a:lnSpc>
                <a:spcPts val="2400"/>
              </a:lnSpc>
              <a:buFont typeface="+mj-lt"/>
              <a:buAutoNum type="arabicPeriod"/>
            </a:pP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结果验证。</a:t>
            </a:r>
            <a:endParaRPr lang="zh-CN"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 name="矩形 47"/>
          <p:cNvSpPr/>
          <p:nvPr/>
        </p:nvSpPr>
        <p:spPr bwMode="gray">
          <a:xfrm>
            <a:off x="4190770" y="2950258"/>
            <a:ext cx="1826072" cy="780536"/>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矩形 48"/>
          <p:cNvSpPr/>
          <p:nvPr/>
        </p:nvSpPr>
        <p:spPr bwMode="gray">
          <a:xfrm>
            <a:off x="522292" y="2950258"/>
            <a:ext cx="1826072" cy="780536"/>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0" name="矩形 49"/>
          <p:cNvSpPr/>
          <p:nvPr/>
        </p:nvSpPr>
        <p:spPr bwMode="gray">
          <a:xfrm>
            <a:off x="522292" y="1487150"/>
            <a:ext cx="5494550" cy="1238390"/>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51" name="直接连接符 50"/>
          <p:cNvCxnSpPr>
            <a:stCxn id="53" idx="3"/>
            <a:endCxn id="57" idx="1"/>
          </p:cNvCxnSpPr>
          <p:nvPr/>
        </p:nvCxnSpPr>
        <p:spPr bwMode="gray">
          <a:xfrm>
            <a:off x="1267619" y="2489567"/>
            <a:ext cx="398533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52" name="矩形 51"/>
          <p:cNvSpPr/>
          <p:nvPr/>
        </p:nvSpPr>
        <p:spPr bwMode="gray">
          <a:xfrm>
            <a:off x="748992" y="1996788"/>
            <a:ext cx="497252"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PE1</a:t>
            </a:r>
            <a:endParaRPr lang="zh-CN" altLang="en-US" sz="1400" b="1" dirty="0">
              <a:solidFill>
                <a:srgbClr val="FF3300"/>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53" name="图片 52"/>
          <p:cNvPicPr/>
          <p:nvPr/>
        </p:nvPicPr>
        <p:blipFill>
          <a:blip r:embed="rId1" cstate="print">
            <a:extLst>
              <a:ext uri="{28A0092B-C50C-407E-A947-70E740481C1C}">
                <a14:useLocalDpi xmlns:a14="http://schemas.microsoft.com/office/drawing/2010/main" val="0"/>
              </a:ext>
            </a:extLst>
          </a:blip>
          <a:stretch>
            <a:fillRect/>
          </a:stretch>
        </p:blipFill>
        <p:spPr bwMode="gray">
          <a:xfrm>
            <a:off x="727619" y="2268167"/>
            <a:ext cx="540000" cy="442800"/>
          </a:xfrm>
          <a:prstGeom prst="rect">
            <a:avLst/>
          </a:prstGeom>
        </p:spPr>
      </p:pic>
      <p:sp>
        <p:nvSpPr>
          <p:cNvPr id="54" name="矩形 53"/>
          <p:cNvSpPr/>
          <p:nvPr/>
        </p:nvSpPr>
        <p:spPr bwMode="gray">
          <a:xfrm>
            <a:off x="3138299" y="1996788"/>
            <a:ext cx="292068" cy="307777"/>
          </a:xfrm>
          <a:prstGeom prst="rect">
            <a:avLst/>
          </a:prstGeom>
        </p:spPr>
        <p:txBody>
          <a:bodyPr wrap="none">
            <a:spAutoFit/>
          </a:bodyPr>
          <a:lstStyle/>
          <a:p>
            <a:pPr algn="ctr"/>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P</a:t>
            </a:r>
            <a:endParaRPr lang="zh-CN" altLang="en-US" sz="1400" b="1">
              <a:solidFill>
                <a:srgbClr val="FF3300"/>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55" name="图片 54"/>
          <p:cNvPicPr/>
          <p:nvPr/>
        </p:nvPicPr>
        <p:blipFill>
          <a:blip r:embed="rId1" cstate="print">
            <a:extLst>
              <a:ext uri="{28A0092B-C50C-407E-A947-70E740481C1C}">
                <a14:useLocalDpi xmlns:a14="http://schemas.microsoft.com/office/drawing/2010/main" val="0"/>
              </a:ext>
            </a:extLst>
          </a:blip>
          <a:stretch>
            <a:fillRect/>
          </a:stretch>
        </p:blipFill>
        <p:spPr bwMode="gray">
          <a:xfrm>
            <a:off x="2991152" y="2268167"/>
            <a:ext cx="540000" cy="442800"/>
          </a:xfrm>
          <a:prstGeom prst="rect">
            <a:avLst/>
          </a:prstGeom>
        </p:spPr>
      </p:pic>
      <p:sp>
        <p:nvSpPr>
          <p:cNvPr id="56" name="矩形 55"/>
          <p:cNvSpPr/>
          <p:nvPr/>
        </p:nvSpPr>
        <p:spPr bwMode="gray">
          <a:xfrm>
            <a:off x="5283807" y="1996788"/>
            <a:ext cx="497252"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PE2</a:t>
            </a:r>
            <a:endParaRPr lang="zh-CN" altLang="en-US" sz="1400" b="1" dirty="0">
              <a:solidFill>
                <a:srgbClr val="FF3300"/>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57" name="图片 56"/>
          <p:cNvPicPr/>
          <p:nvPr/>
        </p:nvPicPr>
        <p:blipFill>
          <a:blip r:embed="rId1" cstate="print">
            <a:extLst>
              <a:ext uri="{28A0092B-C50C-407E-A947-70E740481C1C}">
                <a14:useLocalDpi xmlns:a14="http://schemas.microsoft.com/office/drawing/2010/main" val="0"/>
              </a:ext>
            </a:extLst>
          </a:blip>
          <a:stretch>
            <a:fillRect/>
          </a:stretch>
        </p:blipFill>
        <p:spPr bwMode="gray">
          <a:xfrm>
            <a:off x="5252957" y="2268167"/>
            <a:ext cx="540000" cy="442800"/>
          </a:xfrm>
          <a:prstGeom prst="rect">
            <a:avLst/>
          </a:prstGeom>
        </p:spPr>
      </p:pic>
      <p:sp>
        <p:nvSpPr>
          <p:cNvPr id="58" name="矩形 57"/>
          <p:cNvSpPr/>
          <p:nvPr/>
        </p:nvSpPr>
        <p:spPr bwMode="gray">
          <a:xfrm>
            <a:off x="1401461" y="2245468"/>
            <a:ext cx="1455848" cy="276999"/>
          </a:xfrm>
          <a:prstGeom prst="rect">
            <a:avLst/>
          </a:prstGeom>
        </p:spPr>
        <p:txBody>
          <a:bodyPr wrap="none">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2001:DB88:12::/96</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9" name="矩形 58"/>
          <p:cNvSpPr/>
          <p:nvPr/>
        </p:nvSpPr>
        <p:spPr bwMode="gray">
          <a:xfrm>
            <a:off x="431928" y="1564429"/>
            <a:ext cx="1612942" cy="461665"/>
          </a:xfrm>
          <a:prstGeom prst="rect">
            <a:avLst/>
          </a:prstGeom>
        </p:spPr>
        <p:txBody>
          <a:bodyPr wrap="none">
            <a:spAutoFit/>
          </a:bodyPr>
          <a:lstStyle/>
          <a:p>
            <a:pPr algn="ctr"/>
            <a:r>
              <a:rPr lang="en-US" altLang="zh-CN"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END</a:t>
            </a:r>
            <a:endParaRPr lang="en-US" altLang="zh-CN"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2001:DB8:1000::111</a:t>
            </a:r>
            <a:endParaRPr lang="zh-CN" altLang="en-US"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0" name="文本框 59"/>
          <p:cNvSpPr txBox="1"/>
          <p:nvPr/>
        </p:nvSpPr>
        <p:spPr bwMode="gray">
          <a:xfrm>
            <a:off x="4251736" y="3039452"/>
            <a:ext cx="987770" cy="461665"/>
          </a:xfrm>
          <a:prstGeom prst="rect">
            <a:avLst/>
          </a:prstGeom>
          <a:noFill/>
          <a:ln>
            <a:noFill/>
          </a:ln>
        </p:spPr>
        <p:txBody>
          <a:bodyPr wrap="non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Loopback1 </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10.1.5.5/32</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1" name="矩形 60"/>
          <p:cNvSpPr/>
          <p:nvPr/>
        </p:nvSpPr>
        <p:spPr bwMode="gray">
          <a:xfrm>
            <a:off x="1199332" y="2266253"/>
            <a:ext cx="306494" cy="276999"/>
          </a:xfrm>
          <a:prstGeom prst="rect">
            <a:avLst/>
          </a:prstGeom>
        </p:spPr>
        <p:txBody>
          <a:bodyPr wrap="none">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:1</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2" name="矩形 61"/>
          <p:cNvSpPr/>
          <p:nvPr/>
        </p:nvSpPr>
        <p:spPr bwMode="gray">
          <a:xfrm>
            <a:off x="2764735" y="2266253"/>
            <a:ext cx="306494" cy="276999"/>
          </a:xfrm>
          <a:prstGeom prst="rect">
            <a:avLst/>
          </a:prstGeom>
        </p:spPr>
        <p:txBody>
          <a:bodyPr wrap="none">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3" name="矩形 62"/>
          <p:cNvSpPr/>
          <p:nvPr/>
        </p:nvSpPr>
        <p:spPr bwMode="gray">
          <a:xfrm>
            <a:off x="3447434" y="2266253"/>
            <a:ext cx="306494" cy="276999"/>
          </a:xfrm>
          <a:prstGeom prst="rect">
            <a:avLst/>
          </a:prstGeom>
        </p:spPr>
        <p:txBody>
          <a:bodyPr wrap="none">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4" name="矩形 63"/>
          <p:cNvSpPr/>
          <p:nvPr/>
        </p:nvSpPr>
        <p:spPr bwMode="gray">
          <a:xfrm>
            <a:off x="5024712" y="2266253"/>
            <a:ext cx="306494" cy="276999"/>
          </a:xfrm>
          <a:prstGeom prst="rect">
            <a:avLst/>
          </a:prstGeom>
        </p:spPr>
        <p:txBody>
          <a:bodyPr wrap="none">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:3</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65" name="图片 64"/>
          <p:cNvPicPr/>
          <p:nvPr/>
        </p:nvPicPr>
        <p:blipFill>
          <a:blip r:embed="rId1" cstate="print">
            <a:extLst>
              <a:ext uri="{28A0092B-C50C-407E-A947-70E740481C1C}">
                <a14:useLocalDpi xmlns:a14="http://schemas.microsoft.com/office/drawing/2010/main" val="0"/>
              </a:ext>
            </a:extLst>
          </a:blip>
          <a:stretch>
            <a:fillRect/>
          </a:stretch>
        </p:blipFill>
        <p:spPr bwMode="gray">
          <a:xfrm>
            <a:off x="727619" y="3010900"/>
            <a:ext cx="540000" cy="442800"/>
          </a:xfrm>
          <a:prstGeom prst="rect">
            <a:avLst/>
          </a:prstGeom>
        </p:spPr>
      </p:pic>
      <p:pic>
        <p:nvPicPr>
          <p:cNvPr id="66" name="图片 65"/>
          <p:cNvPicPr/>
          <p:nvPr/>
        </p:nvPicPr>
        <p:blipFill>
          <a:blip r:embed="rId1" cstate="print">
            <a:extLst>
              <a:ext uri="{28A0092B-C50C-407E-A947-70E740481C1C}">
                <a14:useLocalDpi xmlns:a14="http://schemas.microsoft.com/office/drawing/2010/main" val="0"/>
              </a:ext>
            </a:extLst>
          </a:blip>
          <a:stretch>
            <a:fillRect/>
          </a:stretch>
        </p:blipFill>
        <p:spPr bwMode="gray">
          <a:xfrm>
            <a:off x="5252957" y="3010900"/>
            <a:ext cx="540000" cy="442800"/>
          </a:xfrm>
          <a:prstGeom prst="rect">
            <a:avLst/>
          </a:prstGeom>
        </p:spPr>
      </p:pic>
      <p:cxnSp>
        <p:nvCxnSpPr>
          <p:cNvPr id="67" name="直接连接符 66"/>
          <p:cNvCxnSpPr>
            <a:stCxn id="53" idx="2"/>
            <a:endCxn id="65" idx="0"/>
          </p:cNvCxnSpPr>
          <p:nvPr/>
        </p:nvCxnSpPr>
        <p:spPr bwMode="gray">
          <a:xfrm>
            <a:off x="997619" y="2710967"/>
            <a:ext cx="0" cy="29993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直接连接符 67"/>
          <p:cNvCxnSpPr>
            <a:stCxn id="57" idx="2"/>
            <a:endCxn id="66" idx="0"/>
          </p:cNvCxnSpPr>
          <p:nvPr/>
        </p:nvCxnSpPr>
        <p:spPr bwMode="gray">
          <a:xfrm>
            <a:off x="5522957" y="2710967"/>
            <a:ext cx="0" cy="29993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9" name="矩形 68"/>
          <p:cNvSpPr/>
          <p:nvPr/>
        </p:nvSpPr>
        <p:spPr bwMode="gray">
          <a:xfrm>
            <a:off x="746588" y="3501117"/>
            <a:ext cx="502061"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CE1</a:t>
            </a:r>
            <a:endParaRPr lang="zh-CN" altLang="en-US" sz="1400" b="1" dirty="0">
              <a:solidFill>
                <a:srgbClr val="FF33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0" name="矩形 69"/>
          <p:cNvSpPr/>
          <p:nvPr/>
        </p:nvSpPr>
        <p:spPr bwMode="gray">
          <a:xfrm>
            <a:off x="5281403" y="3501117"/>
            <a:ext cx="502061"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CE2</a:t>
            </a:r>
            <a:endParaRPr lang="zh-CN" altLang="en-US" sz="1400" b="1" dirty="0">
              <a:solidFill>
                <a:srgbClr val="FF33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1" name="文本框 70"/>
          <p:cNvSpPr txBox="1"/>
          <p:nvPr/>
        </p:nvSpPr>
        <p:spPr bwMode="gray">
          <a:xfrm>
            <a:off x="1290546" y="3039452"/>
            <a:ext cx="987770" cy="461665"/>
          </a:xfrm>
          <a:prstGeom prst="rect">
            <a:avLst/>
          </a:prstGeom>
          <a:noFill/>
          <a:ln>
            <a:noFill/>
          </a:ln>
        </p:spPr>
        <p:txBody>
          <a:bodyPr wrap="non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Loopback1 </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10.1.4.4/32</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2" name="文本框 71"/>
          <p:cNvSpPr txBox="1"/>
          <p:nvPr/>
        </p:nvSpPr>
        <p:spPr bwMode="gray">
          <a:xfrm>
            <a:off x="1576705" y="3492845"/>
            <a:ext cx="848309" cy="276999"/>
          </a:xfrm>
          <a:prstGeom prst="rect">
            <a:avLst/>
          </a:prstGeom>
          <a:noFill/>
        </p:spPr>
        <p:txBody>
          <a:bodyPr wrap="none" rtlCol="0">
            <a:spAutoFit/>
          </a:bodyPr>
          <a:lstStyle/>
          <a:p>
            <a:r>
              <a:rPr lang="en-US" altLang="zh-CN" sz="12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AS 65000</a:t>
            </a:r>
            <a:endParaRPr lang="en-US" altLang="zh-CN" sz="12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3" name="文本框 72"/>
          <p:cNvSpPr txBox="1"/>
          <p:nvPr/>
        </p:nvSpPr>
        <p:spPr bwMode="gray">
          <a:xfrm>
            <a:off x="4190770" y="3492845"/>
            <a:ext cx="848309" cy="276999"/>
          </a:xfrm>
          <a:prstGeom prst="rect">
            <a:avLst/>
          </a:prstGeom>
          <a:noFill/>
        </p:spPr>
        <p:txBody>
          <a:bodyPr wrap="none" rtlCol="0">
            <a:spAutoFit/>
          </a:bodyPr>
          <a:lstStyle/>
          <a:p>
            <a:r>
              <a:rPr lang="en-US" altLang="zh-CN" sz="12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AS 65001</a:t>
            </a:r>
            <a:endParaRPr lang="en-US" altLang="zh-CN" sz="12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4" name="文本框 73"/>
          <p:cNvSpPr txBox="1"/>
          <p:nvPr/>
        </p:nvSpPr>
        <p:spPr bwMode="gray">
          <a:xfrm>
            <a:off x="542427" y="1427904"/>
            <a:ext cx="675185" cy="276999"/>
          </a:xfrm>
          <a:prstGeom prst="rect">
            <a:avLst/>
          </a:prstGeom>
          <a:noFill/>
        </p:spPr>
        <p:txBody>
          <a:bodyPr wrap="none" rtlCol="0">
            <a:spAutoFit/>
          </a:bodyPr>
          <a:lstStyle/>
          <a:p>
            <a:r>
              <a:rPr lang="en-US" altLang="zh-CN" sz="12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AS 100</a:t>
            </a:r>
            <a:endParaRPr lang="en-US" altLang="zh-CN" sz="12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5" name="矩形 74"/>
          <p:cNvSpPr/>
          <p:nvPr/>
        </p:nvSpPr>
        <p:spPr bwMode="gray">
          <a:xfrm>
            <a:off x="942842" y="2695509"/>
            <a:ext cx="1186543" cy="307777"/>
          </a:xfrm>
          <a:prstGeom prst="rect">
            <a:avLst/>
          </a:prstGeom>
        </p:spPr>
        <p:txBody>
          <a:bodyPr wrap="none">
            <a:spAutoFit/>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10.0.14.0/24</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6" name="矩形 75"/>
          <p:cNvSpPr/>
          <p:nvPr/>
        </p:nvSpPr>
        <p:spPr bwMode="gray">
          <a:xfrm>
            <a:off x="4397520" y="2695509"/>
            <a:ext cx="1186543" cy="307777"/>
          </a:xfrm>
          <a:prstGeom prst="rect">
            <a:avLst/>
          </a:prstGeom>
        </p:spPr>
        <p:txBody>
          <a:bodyPr wrap="none">
            <a:spAutoFit/>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10.0.35.0/24</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7" name="矩形 76"/>
          <p:cNvSpPr/>
          <p:nvPr/>
        </p:nvSpPr>
        <p:spPr bwMode="gray">
          <a:xfrm>
            <a:off x="2477863" y="1564429"/>
            <a:ext cx="1612942" cy="461665"/>
          </a:xfrm>
          <a:prstGeom prst="rect">
            <a:avLst/>
          </a:prstGeom>
        </p:spPr>
        <p:txBody>
          <a:bodyPr wrap="none">
            <a:spAutoFit/>
          </a:bodyPr>
          <a:lstStyle/>
          <a:p>
            <a:pPr algn="ctr"/>
            <a:r>
              <a:rPr lang="en-US" altLang="zh-CN"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END</a:t>
            </a:r>
            <a:endParaRPr lang="en-US" altLang="zh-CN"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2001:DB8:2000::222</a:t>
            </a:r>
            <a:endParaRPr lang="zh-CN" altLang="en-US"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8" name="矩形 77"/>
          <p:cNvSpPr/>
          <p:nvPr/>
        </p:nvSpPr>
        <p:spPr bwMode="gray">
          <a:xfrm>
            <a:off x="4494085" y="1564429"/>
            <a:ext cx="1612942" cy="461665"/>
          </a:xfrm>
          <a:prstGeom prst="rect">
            <a:avLst/>
          </a:prstGeom>
        </p:spPr>
        <p:txBody>
          <a:bodyPr wrap="none">
            <a:spAutoFit/>
          </a:bodyPr>
          <a:lstStyle/>
          <a:p>
            <a:pPr algn="ctr"/>
            <a:r>
              <a:rPr lang="en-US" altLang="zh-CN"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END</a:t>
            </a:r>
            <a:endParaRPr lang="en-US" altLang="zh-CN"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2001:DB8:3000::333</a:t>
            </a:r>
            <a:endParaRPr lang="zh-CN" altLang="en-US"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9" name="矩形 78"/>
          <p:cNvSpPr/>
          <p:nvPr/>
        </p:nvSpPr>
        <p:spPr bwMode="gray">
          <a:xfrm>
            <a:off x="3694397" y="2245468"/>
            <a:ext cx="1455848" cy="276999"/>
          </a:xfrm>
          <a:prstGeom prst="rect">
            <a:avLst/>
          </a:prstGeom>
        </p:spPr>
        <p:txBody>
          <a:bodyPr wrap="none">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2001:DB88:23::/96</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bwMode="gray"/>
        <p:txBody>
          <a:bodyPr>
            <a:noAutofit/>
          </a:bodyPr>
          <a:lstStyle/>
          <a:p>
            <a:r>
              <a:rPr lang="en-US" altLang="zh-CN" dirty="0">
                <a:sym typeface="Huawei Sans" panose="020C0503030203020204" pitchFamily="34" charset="0"/>
              </a:rPr>
              <a:t>L3VPNv4 over SRv6 Policy (7)</a:t>
            </a:r>
            <a:br>
              <a:rPr lang="en-US" altLang="zh-CN" dirty="0">
                <a:sym typeface="Huawei Sans" panose="020C0503030203020204" pitchFamily="34" charset="0"/>
              </a:rPr>
            </a:br>
            <a:endParaRPr lang="zh-CN" altLang="en-US" dirty="0">
              <a:sym typeface="Huawei Sans" panose="020C0503030203020204" pitchFamily="34" charset="0"/>
            </a:endParaRPr>
          </a:p>
        </p:txBody>
      </p:sp>
      <p:sp>
        <p:nvSpPr>
          <p:cNvPr id="8" name="标题 1"/>
          <p:cNvSpPr txBox="1"/>
          <p:nvPr/>
        </p:nvSpPr>
        <p:spPr bwMode="gray">
          <a:xfrm>
            <a:off x="452438" y="447468"/>
            <a:ext cx="11296649" cy="497095"/>
          </a:xfrm>
          <a:prstGeom prst="rect">
            <a:avLst/>
          </a:prstGeom>
        </p:spPr>
        <p:txBody>
          <a:bodyPr lIns="0" tIns="0" rIns="0" bIns="0" anchor="t">
            <a:normAutofit/>
          </a:bodyPr>
          <a:lstStyle>
            <a:lvl1pPr algn="l" defTabSz="913765" rtl="0" eaLnBrk="1" fontAlgn="base" latinLnBrk="0" hangingPunct="1">
              <a:lnSpc>
                <a:spcPct val="90000"/>
              </a:lnSpc>
              <a:spcBef>
                <a:spcPct val="0"/>
              </a:spcBef>
              <a:buNone/>
              <a:defRPr lang="zh-CN" altLang="en-US" sz="3200" kern="1200" baseline="0" dirty="0">
                <a:solidFill>
                  <a:schemeClr val="tx1"/>
                </a:solidFill>
                <a:latin typeface="Huawei Sans" panose="020C0503030203020204" pitchFamily="34" charset="0"/>
                <a:ea typeface="方正兰亭黑简体" panose="02000000000000000000" pitchFamily="2" charset="-122"/>
                <a:cs typeface="+mn-cs"/>
              </a:defRPr>
            </a:lvl1pPr>
          </a:lstStyle>
          <a:p>
            <a:endParaRPr lang="en-US" dirty="0">
              <a:sym typeface="Huawei Sans" panose="020C0503030203020204" pitchFamily="34" charset="0"/>
            </a:endParaRPr>
          </a:p>
        </p:txBody>
      </p:sp>
      <p:sp>
        <p:nvSpPr>
          <p:cNvPr id="45" name="文本框 44"/>
          <p:cNvSpPr txBox="1"/>
          <p:nvPr/>
        </p:nvSpPr>
        <p:spPr bwMode="gray">
          <a:xfrm>
            <a:off x="6225255" y="1514182"/>
            <a:ext cx="2486578" cy="307777"/>
          </a:xfrm>
          <a:prstGeom prst="rect">
            <a:avLst/>
          </a:prstGeom>
          <a:noFill/>
        </p:spPr>
        <p:txBody>
          <a:bodyPr wrap="none" rtlCol="0">
            <a:spAutoFit/>
          </a:bodyPr>
          <a:lstStyle/>
          <a:p>
            <a:r>
              <a:rPr lang="zh-CN" altLang="en-US" sz="1400" dirty="0"/>
              <a:t>在</a:t>
            </a:r>
            <a:r>
              <a:rPr lang="en-US" altLang="zh-CN" sz="1400"/>
              <a:t>PE1</a:t>
            </a:r>
            <a:r>
              <a:rPr lang="zh-CN" altLang="pl-PL" sz="1400" dirty="0"/>
              <a:t>查看</a:t>
            </a:r>
            <a:r>
              <a:rPr lang="pl-PL" altLang="zh-CN" sz="1400" dirty="0"/>
              <a:t>SRv6 Policy</a:t>
            </a:r>
            <a:r>
              <a:rPr lang="zh-CN" altLang="pl-PL" sz="1400" dirty="0"/>
              <a:t>信息</a:t>
            </a:r>
            <a:r>
              <a:rPr lang="zh-CN" altLang="en-US" sz="1400" dirty="0"/>
              <a:t>。</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 name="文本框 47"/>
          <p:cNvSpPr txBox="1"/>
          <p:nvPr/>
        </p:nvSpPr>
        <p:spPr bwMode="gray">
          <a:xfrm>
            <a:off x="6278213" y="1793013"/>
            <a:ext cx="5195653" cy="3970318"/>
          </a:xfrm>
          <a:prstGeom prst="rect">
            <a:avLst/>
          </a:prstGeom>
          <a:solidFill>
            <a:schemeClr val="bg1">
              <a:lumMod val="85000"/>
            </a:schemeClr>
          </a:solidFill>
          <a:ln>
            <a:noFill/>
          </a:ln>
        </p:spPr>
        <p:txBody>
          <a:bodyPr wrap="squar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&lt;PE1&gt;display srv6-te policy</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PolicyName</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 policy1</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Color                   : 101              Endpoint             : 2001:DB8:3::3</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TunnelId</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 1               Binding SID          : 2001:DB8:1000::100</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TunnelType</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 SRv6-TE Policy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DelayTimerRemain</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 </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Policy State            : Up                             </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Admin State             : UP                             Traffic Statistics   : Disable</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Candidate-path Count    : 1</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Candidate-path Preference : 100</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Path State             : Active                         Path Type            : Primary</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Protocol-Origin        : Configuration(30)     Originator           : 0, 0.0.0.0</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Discriminator          : 100                  Binding SID  : 2001:DB8:1000::100</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GroupId</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 1                              Policy Name          : policy1</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DelayTimerRemain</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 -                              Segment-List Count   : 1</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Segment-List          : list1</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Segment-List ID      : 1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XcIndex</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 1</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List State           : Up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DelayTimerRemain</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 -</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Weight               : 1                              BFD State            : -</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SID :</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2001:DB8:2000::222</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2001:DB8:3000::333</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0" name="文本框 49"/>
          <p:cNvSpPr txBox="1"/>
          <p:nvPr/>
        </p:nvSpPr>
        <p:spPr bwMode="gray">
          <a:xfrm>
            <a:off x="6372631" y="5848047"/>
            <a:ext cx="2279000" cy="307777"/>
          </a:xfrm>
          <a:prstGeom prst="rect">
            <a:avLst/>
          </a:prstGeom>
          <a:solidFill>
            <a:srgbClr val="BEE9EE"/>
          </a:solidFill>
          <a:ln>
            <a:solidFill>
              <a:srgbClr val="94DAE2"/>
            </a:solidFill>
          </a:ln>
        </p:spPr>
        <p:txBody>
          <a:bodyPr wrap="square" rtlCol="0">
            <a:spAutoFit/>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SRv6 Policy</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对应的</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Color</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2" name="矩形 51"/>
          <p:cNvSpPr/>
          <p:nvPr/>
        </p:nvSpPr>
        <p:spPr bwMode="gray">
          <a:xfrm>
            <a:off x="6348214" y="2185544"/>
            <a:ext cx="1853251" cy="206034"/>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53" name="肘形连接符 52"/>
          <p:cNvCxnSpPr>
            <a:stCxn id="52" idx="1"/>
            <a:endCxn id="50" idx="1"/>
          </p:cNvCxnSpPr>
          <p:nvPr/>
        </p:nvCxnSpPr>
        <p:spPr bwMode="gray">
          <a:xfrm rot="10800000" flipH="1" flipV="1">
            <a:off x="6348213" y="2288560"/>
            <a:ext cx="24417" cy="3713375"/>
          </a:xfrm>
          <a:prstGeom prst="bentConnector3">
            <a:avLst>
              <a:gd name="adj1" fmla="val -936233"/>
            </a:avLst>
          </a:prstGeom>
          <a:ln w="19050">
            <a:solidFill>
              <a:srgbClr val="56C4D2"/>
            </a:solidFill>
            <a:tailEnd type="triangle"/>
          </a:ln>
        </p:spPr>
        <p:style>
          <a:lnRef idx="1">
            <a:schemeClr val="accent1"/>
          </a:lnRef>
          <a:fillRef idx="0">
            <a:schemeClr val="accent1"/>
          </a:fillRef>
          <a:effectRef idx="0">
            <a:schemeClr val="accent1"/>
          </a:effectRef>
          <a:fontRef idx="minor">
            <a:schemeClr val="tx1"/>
          </a:fontRef>
        </p:style>
      </p:cxnSp>
      <p:sp>
        <p:nvSpPr>
          <p:cNvPr id="46" name="矩形 45"/>
          <p:cNvSpPr/>
          <p:nvPr/>
        </p:nvSpPr>
        <p:spPr bwMode="gray">
          <a:xfrm>
            <a:off x="522292" y="3766960"/>
            <a:ext cx="5136046" cy="2554545"/>
          </a:xfrm>
          <a:prstGeom prst="rect">
            <a:avLst/>
          </a:prstGeom>
          <a:ln>
            <a:noFill/>
          </a:ln>
        </p:spPr>
        <p:txBody>
          <a:bodyPr wrap="square">
            <a:spAutoFit/>
          </a:bodyPr>
          <a:lstStyle/>
          <a:p>
            <a:pPr>
              <a:lnSpc>
                <a:spcPts val="2400"/>
              </a:lnSpc>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配置思路：</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176530" indent="-176530">
              <a:lnSpc>
                <a:spcPts val="2400"/>
              </a:lnSpc>
              <a:buFont typeface="+mj-lt"/>
              <a:buAutoNum type="arabicPeriod"/>
            </a:pPr>
            <a:r>
              <a:rPr lang="zh-CN"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完成设备接口</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IPv6</a:t>
            </a:r>
            <a:r>
              <a:rPr lang="zh-CN"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地址及</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IS-IS</a:t>
            </a:r>
            <a:r>
              <a:rPr lang="zh-CN"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配置</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（略）。</a:t>
            </a:r>
            <a:endParaRPr lang="zh-CN"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marL="176530" indent="-176530">
              <a:lnSpc>
                <a:spcPts val="2400"/>
              </a:lnSpc>
              <a:buFont typeface="+mj-lt"/>
              <a:buAutoNum type="arabicPeriod"/>
            </a:pP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在</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PE1</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与</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PE2</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之间建立</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MP-BGP</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对等体关系。</a:t>
            </a:r>
            <a:endPar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marL="176530" indent="-176530">
              <a:lnSpc>
                <a:spcPts val="2400"/>
              </a:lnSpc>
              <a:buFont typeface="+mj-lt"/>
              <a:buAutoNum type="arabicPeriod"/>
            </a:pP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骨干网上使能</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Segment Routing</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，建立</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SRv6 Policy</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路径。</a:t>
            </a:r>
            <a:endPar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marL="176530" indent="-176530">
              <a:lnSpc>
                <a:spcPts val="2400"/>
              </a:lnSpc>
              <a:buFont typeface="+mj-lt"/>
              <a:buAutoNum type="arabicPeriod"/>
            </a:pP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PE</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上配置使能</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IPv4</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地址族</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VPN</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实例，</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PE</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之间配置</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MP-IBGP</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交换路由信息。</a:t>
            </a:r>
            <a:endPar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marL="176530" indent="-176530">
              <a:lnSpc>
                <a:spcPts val="2400"/>
              </a:lnSpc>
              <a:buFont typeface="+mj-lt"/>
              <a:buAutoNum type="arabicPeriod"/>
            </a:pP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配置隧道策略，引入私网流量。</a:t>
            </a:r>
            <a:endPar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marL="176530" indent="-176530">
              <a:lnSpc>
                <a:spcPts val="2400"/>
              </a:lnSpc>
              <a:buFont typeface="+mj-lt"/>
              <a:buAutoNum type="arabicPeriod"/>
            </a:pP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结果验证。</a:t>
            </a:r>
            <a:endParaRPr lang="zh-CN"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矩形 46"/>
          <p:cNvSpPr/>
          <p:nvPr/>
        </p:nvSpPr>
        <p:spPr bwMode="gray">
          <a:xfrm>
            <a:off x="4190770" y="2950258"/>
            <a:ext cx="1826072" cy="780536"/>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矩形 48"/>
          <p:cNvSpPr/>
          <p:nvPr/>
        </p:nvSpPr>
        <p:spPr bwMode="gray">
          <a:xfrm>
            <a:off x="522292" y="2950258"/>
            <a:ext cx="1826072" cy="780536"/>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1" name="矩形 50"/>
          <p:cNvSpPr/>
          <p:nvPr/>
        </p:nvSpPr>
        <p:spPr bwMode="gray">
          <a:xfrm>
            <a:off x="522292" y="1487150"/>
            <a:ext cx="5494550" cy="1238390"/>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54" name="直接连接符 53"/>
          <p:cNvCxnSpPr>
            <a:stCxn id="56" idx="3"/>
            <a:endCxn id="60" idx="1"/>
          </p:cNvCxnSpPr>
          <p:nvPr/>
        </p:nvCxnSpPr>
        <p:spPr bwMode="gray">
          <a:xfrm>
            <a:off x="1267619" y="2489567"/>
            <a:ext cx="398533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55" name="矩形 54"/>
          <p:cNvSpPr/>
          <p:nvPr/>
        </p:nvSpPr>
        <p:spPr bwMode="gray">
          <a:xfrm>
            <a:off x="748992" y="1996788"/>
            <a:ext cx="497252"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PE1</a:t>
            </a:r>
            <a:endParaRPr lang="zh-CN" altLang="en-US" sz="1400" b="1" dirty="0">
              <a:solidFill>
                <a:srgbClr val="FF3300"/>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56" name="图片 55"/>
          <p:cNvPicPr/>
          <p:nvPr/>
        </p:nvPicPr>
        <p:blipFill>
          <a:blip r:embed="rId1" cstate="print">
            <a:extLst>
              <a:ext uri="{28A0092B-C50C-407E-A947-70E740481C1C}">
                <a14:useLocalDpi xmlns:a14="http://schemas.microsoft.com/office/drawing/2010/main" val="0"/>
              </a:ext>
            </a:extLst>
          </a:blip>
          <a:stretch>
            <a:fillRect/>
          </a:stretch>
        </p:blipFill>
        <p:spPr bwMode="gray">
          <a:xfrm>
            <a:off x="727619" y="2268167"/>
            <a:ext cx="540000" cy="442800"/>
          </a:xfrm>
          <a:prstGeom prst="rect">
            <a:avLst/>
          </a:prstGeom>
        </p:spPr>
      </p:pic>
      <p:sp>
        <p:nvSpPr>
          <p:cNvPr id="57" name="矩形 56"/>
          <p:cNvSpPr/>
          <p:nvPr/>
        </p:nvSpPr>
        <p:spPr bwMode="gray">
          <a:xfrm>
            <a:off x="3138299" y="1996788"/>
            <a:ext cx="292068" cy="307777"/>
          </a:xfrm>
          <a:prstGeom prst="rect">
            <a:avLst/>
          </a:prstGeom>
        </p:spPr>
        <p:txBody>
          <a:bodyPr wrap="none">
            <a:spAutoFit/>
          </a:bodyPr>
          <a:lstStyle/>
          <a:p>
            <a:pPr algn="ctr"/>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P</a:t>
            </a:r>
            <a:endParaRPr lang="zh-CN" altLang="en-US" sz="1400" b="1">
              <a:solidFill>
                <a:srgbClr val="FF3300"/>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58" name="图片 57"/>
          <p:cNvPicPr/>
          <p:nvPr/>
        </p:nvPicPr>
        <p:blipFill>
          <a:blip r:embed="rId1" cstate="print">
            <a:extLst>
              <a:ext uri="{28A0092B-C50C-407E-A947-70E740481C1C}">
                <a14:useLocalDpi xmlns:a14="http://schemas.microsoft.com/office/drawing/2010/main" val="0"/>
              </a:ext>
            </a:extLst>
          </a:blip>
          <a:stretch>
            <a:fillRect/>
          </a:stretch>
        </p:blipFill>
        <p:spPr bwMode="gray">
          <a:xfrm>
            <a:off x="2991152" y="2268167"/>
            <a:ext cx="540000" cy="442800"/>
          </a:xfrm>
          <a:prstGeom prst="rect">
            <a:avLst/>
          </a:prstGeom>
        </p:spPr>
      </p:pic>
      <p:sp>
        <p:nvSpPr>
          <p:cNvPr id="59" name="矩形 58"/>
          <p:cNvSpPr/>
          <p:nvPr/>
        </p:nvSpPr>
        <p:spPr bwMode="gray">
          <a:xfrm>
            <a:off x="5283807" y="1996788"/>
            <a:ext cx="497252"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PE2</a:t>
            </a:r>
            <a:endParaRPr lang="zh-CN" altLang="en-US" sz="1400" b="1" dirty="0">
              <a:solidFill>
                <a:srgbClr val="FF3300"/>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60" name="图片 59"/>
          <p:cNvPicPr/>
          <p:nvPr/>
        </p:nvPicPr>
        <p:blipFill>
          <a:blip r:embed="rId1" cstate="print">
            <a:extLst>
              <a:ext uri="{28A0092B-C50C-407E-A947-70E740481C1C}">
                <a14:useLocalDpi xmlns:a14="http://schemas.microsoft.com/office/drawing/2010/main" val="0"/>
              </a:ext>
            </a:extLst>
          </a:blip>
          <a:stretch>
            <a:fillRect/>
          </a:stretch>
        </p:blipFill>
        <p:spPr bwMode="gray">
          <a:xfrm>
            <a:off x="5252957" y="2268167"/>
            <a:ext cx="540000" cy="442800"/>
          </a:xfrm>
          <a:prstGeom prst="rect">
            <a:avLst/>
          </a:prstGeom>
        </p:spPr>
      </p:pic>
      <p:sp>
        <p:nvSpPr>
          <p:cNvPr id="61" name="矩形 60"/>
          <p:cNvSpPr/>
          <p:nvPr/>
        </p:nvSpPr>
        <p:spPr bwMode="gray">
          <a:xfrm>
            <a:off x="1401461" y="2245468"/>
            <a:ext cx="1455848" cy="276999"/>
          </a:xfrm>
          <a:prstGeom prst="rect">
            <a:avLst/>
          </a:prstGeom>
        </p:spPr>
        <p:txBody>
          <a:bodyPr wrap="none">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2001:DB88:12::/96</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2" name="矩形 61"/>
          <p:cNvSpPr/>
          <p:nvPr/>
        </p:nvSpPr>
        <p:spPr bwMode="gray">
          <a:xfrm>
            <a:off x="431928" y="1564429"/>
            <a:ext cx="1612942" cy="461665"/>
          </a:xfrm>
          <a:prstGeom prst="rect">
            <a:avLst/>
          </a:prstGeom>
        </p:spPr>
        <p:txBody>
          <a:bodyPr wrap="none">
            <a:spAutoFit/>
          </a:bodyPr>
          <a:lstStyle/>
          <a:p>
            <a:pPr algn="ctr"/>
            <a:r>
              <a:rPr lang="en-US" altLang="zh-CN"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END</a:t>
            </a:r>
            <a:endParaRPr lang="en-US" altLang="zh-CN"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2001:DB8:1000::111</a:t>
            </a:r>
            <a:endParaRPr lang="zh-CN" altLang="en-US"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3" name="文本框 62"/>
          <p:cNvSpPr txBox="1"/>
          <p:nvPr/>
        </p:nvSpPr>
        <p:spPr bwMode="gray">
          <a:xfrm>
            <a:off x="4251736" y="3039452"/>
            <a:ext cx="987770" cy="461665"/>
          </a:xfrm>
          <a:prstGeom prst="rect">
            <a:avLst/>
          </a:prstGeom>
          <a:noFill/>
          <a:ln>
            <a:noFill/>
          </a:ln>
        </p:spPr>
        <p:txBody>
          <a:bodyPr wrap="non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Loopback1 </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10.1.5.5/32</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4" name="矩形 63"/>
          <p:cNvSpPr/>
          <p:nvPr/>
        </p:nvSpPr>
        <p:spPr bwMode="gray">
          <a:xfrm>
            <a:off x="1199332" y="2266253"/>
            <a:ext cx="306494" cy="276999"/>
          </a:xfrm>
          <a:prstGeom prst="rect">
            <a:avLst/>
          </a:prstGeom>
        </p:spPr>
        <p:txBody>
          <a:bodyPr wrap="none">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:1</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5" name="矩形 64"/>
          <p:cNvSpPr/>
          <p:nvPr/>
        </p:nvSpPr>
        <p:spPr bwMode="gray">
          <a:xfrm>
            <a:off x="2764735" y="2266253"/>
            <a:ext cx="306494" cy="276999"/>
          </a:xfrm>
          <a:prstGeom prst="rect">
            <a:avLst/>
          </a:prstGeom>
        </p:spPr>
        <p:txBody>
          <a:bodyPr wrap="none">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6" name="矩形 65"/>
          <p:cNvSpPr/>
          <p:nvPr/>
        </p:nvSpPr>
        <p:spPr bwMode="gray">
          <a:xfrm>
            <a:off x="3447434" y="2266253"/>
            <a:ext cx="306494" cy="276999"/>
          </a:xfrm>
          <a:prstGeom prst="rect">
            <a:avLst/>
          </a:prstGeom>
        </p:spPr>
        <p:txBody>
          <a:bodyPr wrap="none">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7" name="矩形 66"/>
          <p:cNvSpPr/>
          <p:nvPr/>
        </p:nvSpPr>
        <p:spPr bwMode="gray">
          <a:xfrm>
            <a:off x="5024712" y="2266253"/>
            <a:ext cx="306494" cy="276999"/>
          </a:xfrm>
          <a:prstGeom prst="rect">
            <a:avLst/>
          </a:prstGeom>
        </p:spPr>
        <p:txBody>
          <a:bodyPr wrap="none">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:3</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68" name="图片 67"/>
          <p:cNvPicPr/>
          <p:nvPr/>
        </p:nvPicPr>
        <p:blipFill>
          <a:blip r:embed="rId1" cstate="print">
            <a:extLst>
              <a:ext uri="{28A0092B-C50C-407E-A947-70E740481C1C}">
                <a14:useLocalDpi xmlns:a14="http://schemas.microsoft.com/office/drawing/2010/main" val="0"/>
              </a:ext>
            </a:extLst>
          </a:blip>
          <a:stretch>
            <a:fillRect/>
          </a:stretch>
        </p:blipFill>
        <p:spPr bwMode="gray">
          <a:xfrm>
            <a:off x="727619" y="3010900"/>
            <a:ext cx="540000" cy="442800"/>
          </a:xfrm>
          <a:prstGeom prst="rect">
            <a:avLst/>
          </a:prstGeom>
        </p:spPr>
      </p:pic>
      <p:pic>
        <p:nvPicPr>
          <p:cNvPr id="69" name="图片 68"/>
          <p:cNvPicPr/>
          <p:nvPr/>
        </p:nvPicPr>
        <p:blipFill>
          <a:blip r:embed="rId1" cstate="print">
            <a:extLst>
              <a:ext uri="{28A0092B-C50C-407E-A947-70E740481C1C}">
                <a14:useLocalDpi xmlns:a14="http://schemas.microsoft.com/office/drawing/2010/main" val="0"/>
              </a:ext>
            </a:extLst>
          </a:blip>
          <a:stretch>
            <a:fillRect/>
          </a:stretch>
        </p:blipFill>
        <p:spPr bwMode="gray">
          <a:xfrm>
            <a:off x="5252957" y="3010900"/>
            <a:ext cx="540000" cy="442800"/>
          </a:xfrm>
          <a:prstGeom prst="rect">
            <a:avLst/>
          </a:prstGeom>
        </p:spPr>
      </p:pic>
      <p:cxnSp>
        <p:nvCxnSpPr>
          <p:cNvPr id="70" name="直接连接符 69"/>
          <p:cNvCxnSpPr>
            <a:stCxn id="56" idx="2"/>
            <a:endCxn id="68" idx="0"/>
          </p:cNvCxnSpPr>
          <p:nvPr/>
        </p:nvCxnSpPr>
        <p:spPr bwMode="gray">
          <a:xfrm>
            <a:off x="997619" y="2710967"/>
            <a:ext cx="0" cy="29993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 name="直接连接符 70"/>
          <p:cNvCxnSpPr>
            <a:stCxn id="60" idx="2"/>
            <a:endCxn id="69" idx="0"/>
          </p:cNvCxnSpPr>
          <p:nvPr/>
        </p:nvCxnSpPr>
        <p:spPr bwMode="gray">
          <a:xfrm>
            <a:off x="5522957" y="2710967"/>
            <a:ext cx="0" cy="29993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2" name="矩形 71"/>
          <p:cNvSpPr/>
          <p:nvPr/>
        </p:nvSpPr>
        <p:spPr bwMode="gray">
          <a:xfrm>
            <a:off x="746588" y="3501117"/>
            <a:ext cx="502061"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CE1</a:t>
            </a:r>
            <a:endParaRPr lang="zh-CN" altLang="en-US" sz="1400" b="1" dirty="0">
              <a:solidFill>
                <a:srgbClr val="FF33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3" name="矩形 72"/>
          <p:cNvSpPr/>
          <p:nvPr/>
        </p:nvSpPr>
        <p:spPr bwMode="gray">
          <a:xfrm>
            <a:off x="5281403" y="3501117"/>
            <a:ext cx="502061"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CE2</a:t>
            </a:r>
            <a:endParaRPr lang="zh-CN" altLang="en-US" sz="1400" b="1" dirty="0">
              <a:solidFill>
                <a:srgbClr val="FF33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4" name="文本框 73"/>
          <p:cNvSpPr txBox="1"/>
          <p:nvPr/>
        </p:nvSpPr>
        <p:spPr bwMode="gray">
          <a:xfrm>
            <a:off x="1290546" y="3039452"/>
            <a:ext cx="987770" cy="461665"/>
          </a:xfrm>
          <a:prstGeom prst="rect">
            <a:avLst/>
          </a:prstGeom>
          <a:noFill/>
          <a:ln>
            <a:noFill/>
          </a:ln>
        </p:spPr>
        <p:txBody>
          <a:bodyPr wrap="non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Loopback1 </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10.1.4.4/32</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5" name="文本框 74"/>
          <p:cNvSpPr txBox="1"/>
          <p:nvPr/>
        </p:nvSpPr>
        <p:spPr bwMode="gray">
          <a:xfrm>
            <a:off x="1576705" y="3492845"/>
            <a:ext cx="848309" cy="276999"/>
          </a:xfrm>
          <a:prstGeom prst="rect">
            <a:avLst/>
          </a:prstGeom>
          <a:noFill/>
        </p:spPr>
        <p:txBody>
          <a:bodyPr wrap="none" rtlCol="0">
            <a:spAutoFit/>
          </a:bodyPr>
          <a:lstStyle/>
          <a:p>
            <a:r>
              <a:rPr lang="en-US" altLang="zh-CN" sz="12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AS 65000</a:t>
            </a:r>
            <a:endParaRPr lang="en-US" altLang="zh-CN" sz="12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6" name="文本框 75"/>
          <p:cNvSpPr txBox="1"/>
          <p:nvPr/>
        </p:nvSpPr>
        <p:spPr bwMode="gray">
          <a:xfrm>
            <a:off x="4190770" y="3492845"/>
            <a:ext cx="848309" cy="276999"/>
          </a:xfrm>
          <a:prstGeom prst="rect">
            <a:avLst/>
          </a:prstGeom>
          <a:noFill/>
        </p:spPr>
        <p:txBody>
          <a:bodyPr wrap="none" rtlCol="0">
            <a:spAutoFit/>
          </a:bodyPr>
          <a:lstStyle/>
          <a:p>
            <a:r>
              <a:rPr lang="en-US" altLang="zh-CN" sz="12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AS 65001</a:t>
            </a:r>
            <a:endParaRPr lang="en-US" altLang="zh-CN" sz="12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7" name="文本框 76"/>
          <p:cNvSpPr txBox="1"/>
          <p:nvPr/>
        </p:nvSpPr>
        <p:spPr bwMode="gray">
          <a:xfrm>
            <a:off x="542427" y="1427904"/>
            <a:ext cx="675185" cy="276999"/>
          </a:xfrm>
          <a:prstGeom prst="rect">
            <a:avLst/>
          </a:prstGeom>
          <a:noFill/>
        </p:spPr>
        <p:txBody>
          <a:bodyPr wrap="none" rtlCol="0">
            <a:spAutoFit/>
          </a:bodyPr>
          <a:lstStyle/>
          <a:p>
            <a:r>
              <a:rPr lang="en-US" altLang="zh-CN" sz="12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AS 100</a:t>
            </a:r>
            <a:endParaRPr lang="en-US" altLang="zh-CN" sz="12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8" name="矩形 77"/>
          <p:cNvSpPr/>
          <p:nvPr/>
        </p:nvSpPr>
        <p:spPr bwMode="gray">
          <a:xfrm>
            <a:off x="942842" y="2695509"/>
            <a:ext cx="1186543" cy="307777"/>
          </a:xfrm>
          <a:prstGeom prst="rect">
            <a:avLst/>
          </a:prstGeom>
        </p:spPr>
        <p:txBody>
          <a:bodyPr wrap="none">
            <a:spAutoFit/>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10.0.14.0/24</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9" name="矩形 78"/>
          <p:cNvSpPr/>
          <p:nvPr/>
        </p:nvSpPr>
        <p:spPr bwMode="gray">
          <a:xfrm>
            <a:off x="4397520" y="2695509"/>
            <a:ext cx="1186543" cy="307777"/>
          </a:xfrm>
          <a:prstGeom prst="rect">
            <a:avLst/>
          </a:prstGeom>
        </p:spPr>
        <p:txBody>
          <a:bodyPr wrap="none">
            <a:spAutoFit/>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10.0.35.0/24</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0" name="矩形 79"/>
          <p:cNvSpPr/>
          <p:nvPr/>
        </p:nvSpPr>
        <p:spPr bwMode="gray">
          <a:xfrm>
            <a:off x="2477863" y="1564429"/>
            <a:ext cx="1612942" cy="461665"/>
          </a:xfrm>
          <a:prstGeom prst="rect">
            <a:avLst/>
          </a:prstGeom>
        </p:spPr>
        <p:txBody>
          <a:bodyPr wrap="none">
            <a:spAutoFit/>
          </a:bodyPr>
          <a:lstStyle/>
          <a:p>
            <a:pPr algn="ctr"/>
            <a:r>
              <a:rPr lang="en-US" altLang="zh-CN"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END</a:t>
            </a:r>
            <a:endParaRPr lang="en-US" altLang="zh-CN"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2001:DB8:2000::222</a:t>
            </a:r>
            <a:endParaRPr lang="zh-CN" altLang="en-US"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1" name="矩形 80"/>
          <p:cNvSpPr/>
          <p:nvPr/>
        </p:nvSpPr>
        <p:spPr bwMode="gray">
          <a:xfrm>
            <a:off x="4494085" y="1564429"/>
            <a:ext cx="1612942" cy="461665"/>
          </a:xfrm>
          <a:prstGeom prst="rect">
            <a:avLst/>
          </a:prstGeom>
        </p:spPr>
        <p:txBody>
          <a:bodyPr wrap="none">
            <a:spAutoFit/>
          </a:bodyPr>
          <a:lstStyle/>
          <a:p>
            <a:pPr algn="ctr"/>
            <a:r>
              <a:rPr lang="en-US" altLang="zh-CN"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END</a:t>
            </a:r>
            <a:endParaRPr lang="en-US" altLang="zh-CN"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2001:DB8:3000::333</a:t>
            </a:r>
            <a:endParaRPr lang="zh-CN" altLang="en-US"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2" name="矩形 81"/>
          <p:cNvSpPr/>
          <p:nvPr/>
        </p:nvSpPr>
        <p:spPr bwMode="gray">
          <a:xfrm>
            <a:off x="3694397" y="2245468"/>
            <a:ext cx="1455848" cy="276999"/>
          </a:xfrm>
          <a:prstGeom prst="rect">
            <a:avLst/>
          </a:prstGeom>
        </p:spPr>
        <p:txBody>
          <a:bodyPr wrap="none">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2001:DB88:23::/96</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bwMode="gray"/>
        <p:txBody>
          <a:bodyPr>
            <a:noAutofit/>
          </a:bodyPr>
          <a:lstStyle/>
          <a:p>
            <a:r>
              <a:rPr lang="en-US" altLang="zh-CN" dirty="0">
                <a:sym typeface="Huawei Sans" panose="020C0503030203020204" pitchFamily="34" charset="0"/>
              </a:rPr>
              <a:t>L3VPNv4 over SRv6 Policy (8)</a:t>
            </a:r>
            <a:br>
              <a:rPr lang="en-US" altLang="zh-CN" dirty="0">
                <a:sym typeface="Huawei Sans" panose="020C0503030203020204" pitchFamily="34" charset="0"/>
              </a:rPr>
            </a:br>
            <a:endParaRPr lang="zh-CN" altLang="en-US" dirty="0">
              <a:sym typeface="Huawei Sans" panose="020C0503030203020204" pitchFamily="34" charset="0"/>
            </a:endParaRPr>
          </a:p>
        </p:txBody>
      </p:sp>
      <p:sp>
        <p:nvSpPr>
          <p:cNvPr id="8" name="标题 1"/>
          <p:cNvSpPr txBox="1"/>
          <p:nvPr/>
        </p:nvSpPr>
        <p:spPr bwMode="gray">
          <a:xfrm>
            <a:off x="452438" y="447468"/>
            <a:ext cx="11296649" cy="497095"/>
          </a:xfrm>
          <a:prstGeom prst="rect">
            <a:avLst/>
          </a:prstGeom>
        </p:spPr>
        <p:txBody>
          <a:bodyPr lIns="0" tIns="0" rIns="0" bIns="0" anchor="t">
            <a:normAutofit/>
          </a:bodyPr>
          <a:lstStyle>
            <a:lvl1pPr algn="l" defTabSz="913765" rtl="0" eaLnBrk="1" fontAlgn="base" latinLnBrk="0" hangingPunct="1">
              <a:lnSpc>
                <a:spcPct val="90000"/>
              </a:lnSpc>
              <a:spcBef>
                <a:spcPct val="0"/>
              </a:spcBef>
              <a:buNone/>
              <a:defRPr lang="zh-CN" altLang="en-US" sz="3200" kern="1200" baseline="0" dirty="0">
                <a:solidFill>
                  <a:schemeClr val="tx1"/>
                </a:solidFill>
                <a:latin typeface="Huawei Sans" panose="020C0503030203020204" pitchFamily="34" charset="0"/>
                <a:ea typeface="方正兰亭黑简体" panose="02000000000000000000" pitchFamily="2" charset="-122"/>
                <a:cs typeface="+mn-cs"/>
              </a:defRPr>
            </a:lvl1pPr>
          </a:lstStyle>
          <a:p>
            <a:endParaRPr lang="en-US" dirty="0">
              <a:sym typeface="Huawei Sans" panose="020C0503030203020204" pitchFamily="34" charset="0"/>
            </a:endParaRPr>
          </a:p>
        </p:txBody>
      </p:sp>
      <p:sp>
        <p:nvSpPr>
          <p:cNvPr id="45" name="文本框 44"/>
          <p:cNvSpPr txBox="1"/>
          <p:nvPr/>
        </p:nvSpPr>
        <p:spPr bwMode="gray">
          <a:xfrm>
            <a:off x="6225255" y="1514182"/>
            <a:ext cx="3183885" cy="307777"/>
          </a:xfrm>
          <a:prstGeom prst="rect">
            <a:avLst/>
          </a:prstGeom>
          <a:noFill/>
        </p:spPr>
        <p:txBody>
          <a:bodyPr wrap="none" rtlCol="0">
            <a:spAutoFit/>
          </a:bodyPr>
          <a:lstStyle/>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在</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PE1</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设备上查看</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VPNv4</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的路由信息。</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 name="文本框 47"/>
          <p:cNvSpPr txBox="1"/>
          <p:nvPr/>
        </p:nvSpPr>
        <p:spPr bwMode="gray">
          <a:xfrm>
            <a:off x="6278213" y="1793013"/>
            <a:ext cx="5195653" cy="3416320"/>
          </a:xfrm>
          <a:prstGeom prst="rect">
            <a:avLst/>
          </a:prstGeom>
          <a:solidFill>
            <a:schemeClr val="bg1">
              <a:lumMod val="85000"/>
            </a:schemeClr>
          </a:solidFill>
          <a:ln>
            <a:noFill/>
          </a:ln>
        </p:spPr>
        <p:txBody>
          <a:bodyPr wrap="squar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&lt;PE1&gt; display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bgp</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vpnv4 all routing-table 10.1.5.5</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BGP local router ID : 10.0.1.1</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Local AS number : 100</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Total routes of Route Distinguisher(100:1): 1</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BGP routing table entry information of 10.1.5.5/32:</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Label information (Received/Applied): 3/NULL</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From: 2001:DB8:3::3 (10.0.13.3)</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Route Duration: 0d00h03m30s</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Relay IP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Nexthop</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FE80::DE99:14FF:FE7A:C301</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Relay IP Out-Interface: GigabitEthernet0/3/0.12</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Relay Tunnel Out-Interface:</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Original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nexthop</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2001:DB8:3::3</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Qos</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information : 0x0</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Ext-Community: RT &lt;111 : 1&gt;, Color &lt;0 : 101&gt;</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Prefix-</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sid</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2001:DB8:3000::1:0:1E</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AS-path 65000, origin incomplete, MED 0,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localpref</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100,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pref-val</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0, valid, internal, best, select, pre 255, IGP cost 20</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Not advertised to any peer yet</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0" name="文本框 49"/>
          <p:cNvSpPr txBox="1"/>
          <p:nvPr/>
        </p:nvSpPr>
        <p:spPr bwMode="gray">
          <a:xfrm>
            <a:off x="7666886" y="5384112"/>
            <a:ext cx="3292571" cy="307777"/>
          </a:xfrm>
          <a:prstGeom prst="rect">
            <a:avLst/>
          </a:prstGeom>
          <a:solidFill>
            <a:srgbClr val="BEE9EE"/>
          </a:solidFill>
          <a:ln>
            <a:solidFill>
              <a:srgbClr val="94DAE2"/>
            </a:solidFill>
          </a:ln>
        </p:spPr>
        <p:txBody>
          <a:bodyPr wrap="square" rtlCol="0">
            <a:spAutoFit/>
          </a:bodyPr>
          <a:lstStyle/>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根据</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Color</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属性迭代对应的</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SRv6 Policy</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4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2" name="矩形 51"/>
          <p:cNvSpPr/>
          <p:nvPr/>
        </p:nvSpPr>
        <p:spPr bwMode="gray">
          <a:xfrm>
            <a:off x="8475096" y="4172196"/>
            <a:ext cx="1259747" cy="206034"/>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53" name="肘形连接符 52"/>
          <p:cNvCxnSpPr>
            <a:stCxn id="52" idx="3"/>
            <a:endCxn id="50" idx="3"/>
          </p:cNvCxnSpPr>
          <p:nvPr/>
        </p:nvCxnSpPr>
        <p:spPr bwMode="gray">
          <a:xfrm>
            <a:off x="9734843" y="4275213"/>
            <a:ext cx="1224614" cy="1262788"/>
          </a:xfrm>
          <a:prstGeom prst="bentConnector3">
            <a:avLst>
              <a:gd name="adj1" fmla="val 118667"/>
            </a:avLst>
          </a:prstGeom>
          <a:ln w="19050">
            <a:solidFill>
              <a:srgbClr val="56C4D2"/>
            </a:solidFill>
            <a:tailEnd type="triangle"/>
          </a:ln>
        </p:spPr>
        <p:style>
          <a:lnRef idx="1">
            <a:schemeClr val="accent1"/>
          </a:lnRef>
          <a:fillRef idx="0">
            <a:schemeClr val="accent1"/>
          </a:fillRef>
          <a:effectRef idx="0">
            <a:schemeClr val="accent1"/>
          </a:effectRef>
          <a:fontRef idx="minor">
            <a:schemeClr val="tx1"/>
          </a:fontRef>
        </p:style>
      </p:cxnSp>
      <p:sp>
        <p:nvSpPr>
          <p:cNvPr id="54" name="矩形 53"/>
          <p:cNvSpPr/>
          <p:nvPr/>
        </p:nvSpPr>
        <p:spPr bwMode="gray">
          <a:xfrm>
            <a:off x="522292" y="3766960"/>
            <a:ext cx="5136046" cy="2554545"/>
          </a:xfrm>
          <a:prstGeom prst="rect">
            <a:avLst/>
          </a:prstGeom>
          <a:ln>
            <a:noFill/>
          </a:ln>
        </p:spPr>
        <p:txBody>
          <a:bodyPr wrap="square">
            <a:spAutoFit/>
          </a:bodyPr>
          <a:lstStyle/>
          <a:p>
            <a:pPr>
              <a:lnSpc>
                <a:spcPts val="2400"/>
              </a:lnSpc>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配置思路：</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176530" indent="-176530">
              <a:lnSpc>
                <a:spcPts val="2400"/>
              </a:lnSpc>
              <a:buFont typeface="+mj-lt"/>
              <a:buAutoNum type="arabicPeriod"/>
            </a:pPr>
            <a:r>
              <a:rPr lang="zh-CN"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完成设备接口</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IPv6</a:t>
            </a:r>
            <a:r>
              <a:rPr lang="zh-CN"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地址及</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IS-IS</a:t>
            </a:r>
            <a:r>
              <a:rPr lang="zh-CN"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配置</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（略）。</a:t>
            </a:r>
            <a:endParaRPr lang="zh-CN"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marL="176530" indent="-176530">
              <a:lnSpc>
                <a:spcPts val="2400"/>
              </a:lnSpc>
              <a:buFont typeface="+mj-lt"/>
              <a:buAutoNum type="arabicPeriod"/>
            </a:pP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在</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PE1</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与</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PE2</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之间建立</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MP-BGP</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对等体关系。</a:t>
            </a:r>
            <a:endPar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marL="176530" indent="-176530">
              <a:lnSpc>
                <a:spcPts val="2400"/>
              </a:lnSpc>
              <a:buFont typeface="+mj-lt"/>
              <a:buAutoNum type="arabicPeriod"/>
            </a:pP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骨干网上使能</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Segment Routing</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，建立</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SRv6 Policy</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路径。</a:t>
            </a:r>
            <a:endPar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marL="176530" indent="-176530">
              <a:lnSpc>
                <a:spcPts val="2400"/>
              </a:lnSpc>
              <a:buFont typeface="+mj-lt"/>
              <a:buAutoNum type="arabicPeriod"/>
            </a:pP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PE</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上配置使能</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IPv4</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地址族</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VPN</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实例，</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PE</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之间配置</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MP-IBGP</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交换路由信息。</a:t>
            </a:r>
            <a:endPar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marL="176530" indent="-176530">
              <a:lnSpc>
                <a:spcPts val="2400"/>
              </a:lnSpc>
              <a:buFont typeface="+mj-lt"/>
              <a:buAutoNum type="arabicPeriod"/>
            </a:pP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配置隧道策略，引入私网流量。</a:t>
            </a:r>
            <a:endPar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marL="176530" indent="-176530">
              <a:lnSpc>
                <a:spcPts val="2400"/>
              </a:lnSpc>
              <a:buFont typeface="+mj-lt"/>
              <a:buAutoNum type="arabicPeriod"/>
            </a:pP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结果验证。</a:t>
            </a:r>
            <a:endParaRPr lang="zh-CN"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7" name="矩形 86"/>
          <p:cNvSpPr/>
          <p:nvPr/>
        </p:nvSpPr>
        <p:spPr bwMode="gray">
          <a:xfrm>
            <a:off x="4190770" y="2950258"/>
            <a:ext cx="1826072" cy="780536"/>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8" name="矩形 87"/>
          <p:cNvSpPr/>
          <p:nvPr/>
        </p:nvSpPr>
        <p:spPr bwMode="gray">
          <a:xfrm>
            <a:off x="522292" y="2950258"/>
            <a:ext cx="1826072" cy="780536"/>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9" name="矩形 88"/>
          <p:cNvSpPr/>
          <p:nvPr/>
        </p:nvSpPr>
        <p:spPr bwMode="gray">
          <a:xfrm>
            <a:off x="522292" y="1487150"/>
            <a:ext cx="5494550" cy="1238390"/>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90" name="直接连接符 89"/>
          <p:cNvCxnSpPr>
            <a:stCxn id="92" idx="3"/>
            <a:endCxn id="96" idx="1"/>
          </p:cNvCxnSpPr>
          <p:nvPr/>
        </p:nvCxnSpPr>
        <p:spPr bwMode="gray">
          <a:xfrm>
            <a:off x="1267619" y="2489567"/>
            <a:ext cx="398533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91" name="矩形 90"/>
          <p:cNvSpPr/>
          <p:nvPr/>
        </p:nvSpPr>
        <p:spPr bwMode="gray">
          <a:xfrm>
            <a:off x="748992" y="1996788"/>
            <a:ext cx="497252"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PE1</a:t>
            </a:r>
            <a:endParaRPr lang="zh-CN" altLang="en-US" sz="1400" b="1" dirty="0">
              <a:solidFill>
                <a:srgbClr val="FF3300"/>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92" name="图片 91"/>
          <p:cNvPicPr/>
          <p:nvPr/>
        </p:nvPicPr>
        <p:blipFill>
          <a:blip r:embed="rId1" cstate="print">
            <a:extLst>
              <a:ext uri="{28A0092B-C50C-407E-A947-70E740481C1C}">
                <a14:useLocalDpi xmlns:a14="http://schemas.microsoft.com/office/drawing/2010/main" val="0"/>
              </a:ext>
            </a:extLst>
          </a:blip>
          <a:stretch>
            <a:fillRect/>
          </a:stretch>
        </p:blipFill>
        <p:spPr bwMode="gray">
          <a:xfrm>
            <a:off x="727619" y="2268167"/>
            <a:ext cx="540000" cy="442800"/>
          </a:xfrm>
          <a:prstGeom prst="rect">
            <a:avLst/>
          </a:prstGeom>
        </p:spPr>
      </p:pic>
      <p:sp>
        <p:nvSpPr>
          <p:cNvPr id="93" name="矩形 92"/>
          <p:cNvSpPr/>
          <p:nvPr/>
        </p:nvSpPr>
        <p:spPr bwMode="gray">
          <a:xfrm>
            <a:off x="3138299" y="1996788"/>
            <a:ext cx="292068" cy="307777"/>
          </a:xfrm>
          <a:prstGeom prst="rect">
            <a:avLst/>
          </a:prstGeom>
        </p:spPr>
        <p:txBody>
          <a:bodyPr wrap="none">
            <a:spAutoFit/>
          </a:bodyPr>
          <a:lstStyle/>
          <a:p>
            <a:pPr algn="ctr"/>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P</a:t>
            </a:r>
            <a:endParaRPr lang="zh-CN" altLang="en-US" sz="1400" b="1">
              <a:solidFill>
                <a:srgbClr val="FF3300"/>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94" name="图片 93"/>
          <p:cNvPicPr/>
          <p:nvPr/>
        </p:nvPicPr>
        <p:blipFill>
          <a:blip r:embed="rId1" cstate="print">
            <a:extLst>
              <a:ext uri="{28A0092B-C50C-407E-A947-70E740481C1C}">
                <a14:useLocalDpi xmlns:a14="http://schemas.microsoft.com/office/drawing/2010/main" val="0"/>
              </a:ext>
            </a:extLst>
          </a:blip>
          <a:stretch>
            <a:fillRect/>
          </a:stretch>
        </p:blipFill>
        <p:spPr bwMode="gray">
          <a:xfrm>
            <a:off x="2991152" y="2268167"/>
            <a:ext cx="540000" cy="442800"/>
          </a:xfrm>
          <a:prstGeom prst="rect">
            <a:avLst/>
          </a:prstGeom>
        </p:spPr>
      </p:pic>
      <p:sp>
        <p:nvSpPr>
          <p:cNvPr id="95" name="矩形 94"/>
          <p:cNvSpPr/>
          <p:nvPr/>
        </p:nvSpPr>
        <p:spPr bwMode="gray">
          <a:xfrm>
            <a:off x="5283807" y="1996788"/>
            <a:ext cx="497252"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PE2</a:t>
            </a:r>
            <a:endParaRPr lang="zh-CN" altLang="en-US" sz="1400" b="1" dirty="0">
              <a:solidFill>
                <a:srgbClr val="FF3300"/>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96" name="图片 95"/>
          <p:cNvPicPr/>
          <p:nvPr/>
        </p:nvPicPr>
        <p:blipFill>
          <a:blip r:embed="rId1" cstate="print">
            <a:extLst>
              <a:ext uri="{28A0092B-C50C-407E-A947-70E740481C1C}">
                <a14:useLocalDpi xmlns:a14="http://schemas.microsoft.com/office/drawing/2010/main" val="0"/>
              </a:ext>
            </a:extLst>
          </a:blip>
          <a:stretch>
            <a:fillRect/>
          </a:stretch>
        </p:blipFill>
        <p:spPr bwMode="gray">
          <a:xfrm>
            <a:off x="5252957" y="2268167"/>
            <a:ext cx="540000" cy="442800"/>
          </a:xfrm>
          <a:prstGeom prst="rect">
            <a:avLst/>
          </a:prstGeom>
        </p:spPr>
      </p:pic>
      <p:sp>
        <p:nvSpPr>
          <p:cNvPr id="97" name="矩形 96"/>
          <p:cNvSpPr/>
          <p:nvPr/>
        </p:nvSpPr>
        <p:spPr bwMode="gray">
          <a:xfrm>
            <a:off x="1401461" y="2245468"/>
            <a:ext cx="1455848" cy="276999"/>
          </a:xfrm>
          <a:prstGeom prst="rect">
            <a:avLst/>
          </a:prstGeom>
        </p:spPr>
        <p:txBody>
          <a:bodyPr wrap="none">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2001:DB88:12::/96</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8" name="矩形 97"/>
          <p:cNvSpPr/>
          <p:nvPr/>
        </p:nvSpPr>
        <p:spPr bwMode="gray">
          <a:xfrm>
            <a:off x="431928" y="1564429"/>
            <a:ext cx="1612942" cy="461665"/>
          </a:xfrm>
          <a:prstGeom prst="rect">
            <a:avLst/>
          </a:prstGeom>
        </p:spPr>
        <p:txBody>
          <a:bodyPr wrap="none">
            <a:spAutoFit/>
          </a:bodyPr>
          <a:lstStyle/>
          <a:p>
            <a:pPr algn="ctr"/>
            <a:r>
              <a:rPr lang="en-US" altLang="zh-CN"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END</a:t>
            </a:r>
            <a:endParaRPr lang="en-US" altLang="zh-CN"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2001:DB8:1000::111</a:t>
            </a:r>
            <a:endParaRPr lang="zh-CN" altLang="en-US"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9" name="文本框 98"/>
          <p:cNvSpPr txBox="1"/>
          <p:nvPr/>
        </p:nvSpPr>
        <p:spPr bwMode="gray">
          <a:xfrm>
            <a:off x="4251736" y="3039452"/>
            <a:ext cx="987770" cy="461665"/>
          </a:xfrm>
          <a:prstGeom prst="rect">
            <a:avLst/>
          </a:prstGeom>
          <a:noFill/>
          <a:ln>
            <a:noFill/>
          </a:ln>
        </p:spPr>
        <p:txBody>
          <a:bodyPr wrap="non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Loopback1 </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10.1.5.5/32</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0" name="矩形 99"/>
          <p:cNvSpPr/>
          <p:nvPr/>
        </p:nvSpPr>
        <p:spPr bwMode="gray">
          <a:xfrm>
            <a:off x="1199332" y="2266253"/>
            <a:ext cx="306494" cy="276999"/>
          </a:xfrm>
          <a:prstGeom prst="rect">
            <a:avLst/>
          </a:prstGeom>
        </p:spPr>
        <p:txBody>
          <a:bodyPr wrap="none">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:1</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1" name="矩形 100"/>
          <p:cNvSpPr/>
          <p:nvPr/>
        </p:nvSpPr>
        <p:spPr bwMode="gray">
          <a:xfrm>
            <a:off x="2764735" y="2266253"/>
            <a:ext cx="306494" cy="276999"/>
          </a:xfrm>
          <a:prstGeom prst="rect">
            <a:avLst/>
          </a:prstGeom>
        </p:spPr>
        <p:txBody>
          <a:bodyPr wrap="none">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2" name="矩形 101"/>
          <p:cNvSpPr/>
          <p:nvPr/>
        </p:nvSpPr>
        <p:spPr bwMode="gray">
          <a:xfrm>
            <a:off x="3447434" y="2266253"/>
            <a:ext cx="306494" cy="276999"/>
          </a:xfrm>
          <a:prstGeom prst="rect">
            <a:avLst/>
          </a:prstGeom>
        </p:spPr>
        <p:txBody>
          <a:bodyPr wrap="none">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3" name="矩形 102"/>
          <p:cNvSpPr/>
          <p:nvPr/>
        </p:nvSpPr>
        <p:spPr bwMode="gray">
          <a:xfrm>
            <a:off x="5024712" y="2266253"/>
            <a:ext cx="306494" cy="276999"/>
          </a:xfrm>
          <a:prstGeom prst="rect">
            <a:avLst/>
          </a:prstGeom>
        </p:spPr>
        <p:txBody>
          <a:bodyPr wrap="none">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:3</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04" name="图片 103"/>
          <p:cNvPicPr/>
          <p:nvPr/>
        </p:nvPicPr>
        <p:blipFill>
          <a:blip r:embed="rId1" cstate="print">
            <a:extLst>
              <a:ext uri="{28A0092B-C50C-407E-A947-70E740481C1C}">
                <a14:useLocalDpi xmlns:a14="http://schemas.microsoft.com/office/drawing/2010/main" val="0"/>
              </a:ext>
            </a:extLst>
          </a:blip>
          <a:stretch>
            <a:fillRect/>
          </a:stretch>
        </p:blipFill>
        <p:spPr bwMode="gray">
          <a:xfrm>
            <a:off x="727619" y="3010900"/>
            <a:ext cx="540000" cy="442800"/>
          </a:xfrm>
          <a:prstGeom prst="rect">
            <a:avLst/>
          </a:prstGeom>
        </p:spPr>
      </p:pic>
      <p:pic>
        <p:nvPicPr>
          <p:cNvPr id="105" name="图片 104"/>
          <p:cNvPicPr/>
          <p:nvPr/>
        </p:nvPicPr>
        <p:blipFill>
          <a:blip r:embed="rId1" cstate="print">
            <a:extLst>
              <a:ext uri="{28A0092B-C50C-407E-A947-70E740481C1C}">
                <a14:useLocalDpi xmlns:a14="http://schemas.microsoft.com/office/drawing/2010/main" val="0"/>
              </a:ext>
            </a:extLst>
          </a:blip>
          <a:stretch>
            <a:fillRect/>
          </a:stretch>
        </p:blipFill>
        <p:spPr bwMode="gray">
          <a:xfrm>
            <a:off x="5252957" y="3010900"/>
            <a:ext cx="540000" cy="442800"/>
          </a:xfrm>
          <a:prstGeom prst="rect">
            <a:avLst/>
          </a:prstGeom>
        </p:spPr>
      </p:pic>
      <p:cxnSp>
        <p:nvCxnSpPr>
          <p:cNvPr id="106" name="直接连接符 105"/>
          <p:cNvCxnSpPr>
            <a:stCxn id="92" idx="2"/>
            <a:endCxn id="104" idx="0"/>
          </p:cNvCxnSpPr>
          <p:nvPr/>
        </p:nvCxnSpPr>
        <p:spPr bwMode="gray">
          <a:xfrm>
            <a:off x="997619" y="2710967"/>
            <a:ext cx="0" cy="29993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7" name="直接连接符 106"/>
          <p:cNvCxnSpPr>
            <a:stCxn id="96" idx="2"/>
            <a:endCxn id="105" idx="0"/>
          </p:cNvCxnSpPr>
          <p:nvPr/>
        </p:nvCxnSpPr>
        <p:spPr bwMode="gray">
          <a:xfrm>
            <a:off x="5522957" y="2710967"/>
            <a:ext cx="0" cy="29993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8" name="矩形 107"/>
          <p:cNvSpPr/>
          <p:nvPr/>
        </p:nvSpPr>
        <p:spPr bwMode="gray">
          <a:xfrm>
            <a:off x="746588" y="3501117"/>
            <a:ext cx="502061"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CE1</a:t>
            </a:r>
            <a:endParaRPr lang="zh-CN" altLang="en-US" sz="1400" b="1" dirty="0">
              <a:solidFill>
                <a:srgbClr val="FF33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9" name="矩形 108"/>
          <p:cNvSpPr/>
          <p:nvPr/>
        </p:nvSpPr>
        <p:spPr bwMode="gray">
          <a:xfrm>
            <a:off x="5281403" y="3501117"/>
            <a:ext cx="502061"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CE2</a:t>
            </a:r>
            <a:endParaRPr lang="zh-CN" altLang="en-US" sz="1400" b="1" dirty="0">
              <a:solidFill>
                <a:srgbClr val="FF33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0" name="文本框 109"/>
          <p:cNvSpPr txBox="1"/>
          <p:nvPr/>
        </p:nvSpPr>
        <p:spPr bwMode="gray">
          <a:xfrm>
            <a:off x="1290546" y="3039452"/>
            <a:ext cx="987770" cy="461665"/>
          </a:xfrm>
          <a:prstGeom prst="rect">
            <a:avLst/>
          </a:prstGeom>
          <a:noFill/>
          <a:ln>
            <a:noFill/>
          </a:ln>
        </p:spPr>
        <p:txBody>
          <a:bodyPr wrap="non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Loopback1 </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10.1.4.4/32</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1" name="文本框 110"/>
          <p:cNvSpPr txBox="1"/>
          <p:nvPr/>
        </p:nvSpPr>
        <p:spPr bwMode="gray">
          <a:xfrm>
            <a:off x="1576705" y="3492845"/>
            <a:ext cx="848309" cy="276999"/>
          </a:xfrm>
          <a:prstGeom prst="rect">
            <a:avLst/>
          </a:prstGeom>
          <a:noFill/>
        </p:spPr>
        <p:txBody>
          <a:bodyPr wrap="none" rtlCol="0">
            <a:spAutoFit/>
          </a:bodyPr>
          <a:lstStyle/>
          <a:p>
            <a:r>
              <a:rPr lang="en-US" altLang="zh-CN" sz="12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AS 65000</a:t>
            </a:r>
            <a:endParaRPr lang="en-US" altLang="zh-CN" sz="12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2" name="文本框 111"/>
          <p:cNvSpPr txBox="1"/>
          <p:nvPr/>
        </p:nvSpPr>
        <p:spPr bwMode="gray">
          <a:xfrm>
            <a:off x="4190770" y="3492845"/>
            <a:ext cx="848309" cy="276999"/>
          </a:xfrm>
          <a:prstGeom prst="rect">
            <a:avLst/>
          </a:prstGeom>
          <a:noFill/>
        </p:spPr>
        <p:txBody>
          <a:bodyPr wrap="none" rtlCol="0">
            <a:spAutoFit/>
          </a:bodyPr>
          <a:lstStyle/>
          <a:p>
            <a:r>
              <a:rPr lang="en-US" altLang="zh-CN" sz="12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AS 65001</a:t>
            </a:r>
            <a:endParaRPr lang="en-US" altLang="zh-CN" sz="12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3" name="文本框 112"/>
          <p:cNvSpPr txBox="1"/>
          <p:nvPr/>
        </p:nvSpPr>
        <p:spPr bwMode="gray">
          <a:xfrm>
            <a:off x="542427" y="1427904"/>
            <a:ext cx="675185" cy="276999"/>
          </a:xfrm>
          <a:prstGeom prst="rect">
            <a:avLst/>
          </a:prstGeom>
          <a:noFill/>
        </p:spPr>
        <p:txBody>
          <a:bodyPr wrap="none" rtlCol="0">
            <a:spAutoFit/>
          </a:bodyPr>
          <a:lstStyle/>
          <a:p>
            <a:r>
              <a:rPr lang="en-US" altLang="zh-CN" sz="12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AS 100</a:t>
            </a:r>
            <a:endParaRPr lang="en-US" altLang="zh-CN" sz="12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4" name="矩形 113"/>
          <p:cNvSpPr/>
          <p:nvPr/>
        </p:nvSpPr>
        <p:spPr bwMode="gray">
          <a:xfrm>
            <a:off x="942842" y="2695509"/>
            <a:ext cx="1186543" cy="307777"/>
          </a:xfrm>
          <a:prstGeom prst="rect">
            <a:avLst/>
          </a:prstGeom>
        </p:spPr>
        <p:txBody>
          <a:bodyPr wrap="none">
            <a:spAutoFit/>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10.0.14.0/24</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5" name="矩形 114"/>
          <p:cNvSpPr/>
          <p:nvPr/>
        </p:nvSpPr>
        <p:spPr bwMode="gray">
          <a:xfrm>
            <a:off x="4397520" y="2695509"/>
            <a:ext cx="1186543" cy="307777"/>
          </a:xfrm>
          <a:prstGeom prst="rect">
            <a:avLst/>
          </a:prstGeom>
        </p:spPr>
        <p:txBody>
          <a:bodyPr wrap="none">
            <a:spAutoFit/>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10.0.35.0/24</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6" name="矩形 115"/>
          <p:cNvSpPr/>
          <p:nvPr/>
        </p:nvSpPr>
        <p:spPr bwMode="gray">
          <a:xfrm>
            <a:off x="2477863" y="1564429"/>
            <a:ext cx="1612942" cy="461665"/>
          </a:xfrm>
          <a:prstGeom prst="rect">
            <a:avLst/>
          </a:prstGeom>
        </p:spPr>
        <p:txBody>
          <a:bodyPr wrap="none">
            <a:spAutoFit/>
          </a:bodyPr>
          <a:lstStyle/>
          <a:p>
            <a:pPr algn="ctr"/>
            <a:r>
              <a:rPr lang="en-US" altLang="zh-CN"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END</a:t>
            </a:r>
            <a:endParaRPr lang="en-US" altLang="zh-CN"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2001:DB8:2000::222</a:t>
            </a:r>
            <a:endParaRPr lang="zh-CN" altLang="en-US"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7" name="矩形 116"/>
          <p:cNvSpPr/>
          <p:nvPr/>
        </p:nvSpPr>
        <p:spPr bwMode="gray">
          <a:xfrm>
            <a:off x="4494085" y="1564429"/>
            <a:ext cx="1612942" cy="461665"/>
          </a:xfrm>
          <a:prstGeom prst="rect">
            <a:avLst/>
          </a:prstGeom>
        </p:spPr>
        <p:txBody>
          <a:bodyPr wrap="none">
            <a:spAutoFit/>
          </a:bodyPr>
          <a:lstStyle/>
          <a:p>
            <a:pPr algn="ctr"/>
            <a:r>
              <a:rPr lang="en-US" altLang="zh-CN"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END</a:t>
            </a:r>
            <a:endParaRPr lang="en-US" altLang="zh-CN"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2001:DB8:3000::333</a:t>
            </a:r>
            <a:endParaRPr lang="zh-CN" altLang="en-US"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8" name="矩形 117"/>
          <p:cNvSpPr/>
          <p:nvPr/>
        </p:nvSpPr>
        <p:spPr bwMode="gray">
          <a:xfrm>
            <a:off x="3694397" y="2245468"/>
            <a:ext cx="1455848" cy="276999"/>
          </a:xfrm>
          <a:prstGeom prst="rect">
            <a:avLst/>
          </a:prstGeom>
        </p:spPr>
        <p:txBody>
          <a:bodyPr wrap="none">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2001:DB88:23::/96</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bwMode="gray"/>
        <p:txBody>
          <a:bodyPr>
            <a:noAutofit/>
          </a:bodyPr>
          <a:lstStyle/>
          <a:p>
            <a:r>
              <a:rPr lang="en-US" altLang="zh-CN" dirty="0">
                <a:sym typeface="Huawei Sans" panose="020C0503030203020204" pitchFamily="34" charset="0"/>
              </a:rPr>
              <a:t>L3VPNv4 over SRv6 Policy (9)</a:t>
            </a:r>
            <a:br>
              <a:rPr lang="en-US" altLang="zh-CN" dirty="0">
                <a:sym typeface="Huawei Sans" panose="020C0503030203020204" pitchFamily="34" charset="0"/>
              </a:rPr>
            </a:br>
            <a:endParaRPr lang="zh-CN" altLang="en-US" dirty="0">
              <a:sym typeface="Huawei Sans" panose="020C0503030203020204" pitchFamily="34" charset="0"/>
            </a:endParaRPr>
          </a:p>
        </p:txBody>
      </p:sp>
      <p:sp>
        <p:nvSpPr>
          <p:cNvPr id="8" name="标题 1"/>
          <p:cNvSpPr txBox="1"/>
          <p:nvPr/>
        </p:nvSpPr>
        <p:spPr bwMode="gray">
          <a:xfrm>
            <a:off x="452438" y="447468"/>
            <a:ext cx="11296649" cy="497095"/>
          </a:xfrm>
          <a:prstGeom prst="rect">
            <a:avLst/>
          </a:prstGeom>
        </p:spPr>
        <p:txBody>
          <a:bodyPr lIns="0" tIns="0" rIns="0" bIns="0" anchor="t">
            <a:normAutofit/>
          </a:bodyPr>
          <a:lstStyle>
            <a:lvl1pPr algn="l" defTabSz="913765" rtl="0" eaLnBrk="1" fontAlgn="base" latinLnBrk="0" hangingPunct="1">
              <a:lnSpc>
                <a:spcPct val="90000"/>
              </a:lnSpc>
              <a:spcBef>
                <a:spcPct val="0"/>
              </a:spcBef>
              <a:buNone/>
              <a:defRPr lang="zh-CN" altLang="en-US" sz="3200" kern="1200" baseline="0" dirty="0">
                <a:solidFill>
                  <a:schemeClr val="tx1"/>
                </a:solidFill>
                <a:latin typeface="Huawei Sans" panose="020C0503030203020204" pitchFamily="34" charset="0"/>
                <a:ea typeface="方正兰亭黑简体" panose="02000000000000000000" pitchFamily="2" charset="-122"/>
                <a:cs typeface="+mn-cs"/>
              </a:defRPr>
            </a:lvl1pPr>
          </a:lstStyle>
          <a:p>
            <a:endParaRPr lang="en-US" dirty="0">
              <a:sym typeface="Huawei Sans" panose="020C0503030203020204" pitchFamily="34" charset="0"/>
            </a:endParaRPr>
          </a:p>
        </p:txBody>
      </p:sp>
      <p:sp>
        <p:nvSpPr>
          <p:cNvPr id="57" name="文本框 56"/>
          <p:cNvSpPr txBox="1"/>
          <p:nvPr/>
        </p:nvSpPr>
        <p:spPr bwMode="gray">
          <a:xfrm>
            <a:off x="6278213" y="4816007"/>
            <a:ext cx="5195653" cy="1384995"/>
          </a:xfrm>
          <a:prstGeom prst="rect">
            <a:avLst/>
          </a:prstGeom>
          <a:solidFill>
            <a:schemeClr val="bg1">
              <a:lumMod val="85000"/>
            </a:schemeClr>
          </a:solidFill>
          <a:ln>
            <a:noFill/>
          </a:ln>
        </p:spPr>
        <p:txBody>
          <a:bodyPr wrap="squar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&lt;CE1&gt;ping -a 10.1.4.4 10.1.5.5</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PING 10.1.5.5: 56  data bytes, press CTRL_C to break</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Reply from 10.1.5.5: bytes=56 Sequence=1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ttl</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=254 time=1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ms</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Reply from 10.1.5.5: bytes=56 Sequence=2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ttl</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=254 time=1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ms</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Reply from 10.1.5.5: bytes=56 Sequence=3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ttl</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=254 time=1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ms</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Reply from 10.1.5.5: bytes=56 Sequence=4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ttl</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=254 time=1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ms</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Reply from 10.1.5.5: bytes=56 Sequence=5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ttl</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=254 time=1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ms</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8" name="文本框 57"/>
          <p:cNvSpPr txBox="1"/>
          <p:nvPr/>
        </p:nvSpPr>
        <p:spPr bwMode="gray">
          <a:xfrm>
            <a:off x="6225255" y="4494975"/>
            <a:ext cx="1749197" cy="307777"/>
          </a:xfrm>
          <a:prstGeom prst="rect">
            <a:avLst/>
          </a:prstGeom>
          <a:noFill/>
        </p:spPr>
        <p:txBody>
          <a:bodyPr wrap="none" rtlCol="0">
            <a:spAutoFit/>
          </a:bodyPr>
          <a:lstStyle/>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在</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CE1</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上验证结果。</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文本框 44"/>
          <p:cNvSpPr txBox="1"/>
          <p:nvPr/>
        </p:nvSpPr>
        <p:spPr bwMode="gray">
          <a:xfrm>
            <a:off x="6225255" y="1514182"/>
            <a:ext cx="2675732" cy="307777"/>
          </a:xfrm>
          <a:prstGeom prst="rect">
            <a:avLst/>
          </a:prstGeom>
          <a:noFill/>
        </p:spPr>
        <p:txBody>
          <a:bodyPr wrap="none" rtlCol="0">
            <a:spAutoFit/>
          </a:bodyPr>
          <a:lstStyle/>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在</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PE1</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设备上</a:t>
            </a:r>
            <a:r>
              <a:rPr lang="en-US" altLang="zh-CN" sz="1400" dirty="0" err="1">
                <a:latin typeface="Huawei Sans" panose="020C0503030203020204" pitchFamily="34" charset="0"/>
                <a:ea typeface="方正兰亭黑简体" panose="02000000000000000000" pitchFamily="2" charset="-122"/>
                <a:sym typeface="Huawei Sans" panose="020C0503030203020204" pitchFamily="34" charset="0"/>
              </a:rPr>
              <a:t>vpna</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的路由信息。</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文本框 45"/>
          <p:cNvSpPr txBox="1"/>
          <p:nvPr/>
        </p:nvSpPr>
        <p:spPr bwMode="gray">
          <a:xfrm>
            <a:off x="6278213" y="1793013"/>
            <a:ext cx="5195653" cy="2492990"/>
          </a:xfrm>
          <a:prstGeom prst="rect">
            <a:avLst/>
          </a:prstGeom>
          <a:solidFill>
            <a:schemeClr val="bg1">
              <a:lumMod val="85000"/>
            </a:schemeClr>
          </a:solidFill>
          <a:ln>
            <a:noFill/>
          </a:ln>
        </p:spPr>
        <p:txBody>
          <a:bodyPr wrap="squar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&lt;PE1&gt;display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ip</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routing-table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vpn</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-instance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vpna</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10.1.5.5 verbose</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Routing Table :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vpna</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Summary Count : 1</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Destination: 10.1.5.5/32</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Protocol: IBGP               Process ID: 0</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Preference: 255                      Cost: 0</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NextHop</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2001:DB8:3::3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Neighbour</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2001:DB8:3::3</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State: Active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Adv</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Relied         Age: 00h08m38s</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Tag: 0                    Priority: low</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Label: 3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QoSInfo</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0x0</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IndirectID</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0x1000174            Instance:</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RelayNextHop</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                  Interface: policy1</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b="1" dirty="0" err="1">
                <a:latin typeface="Huawei Sans" panose="020C0503030203020204" pitchFamily="34" charset="0"/>
                <a:ea typeface="方正兰亭黑简体" panose="02000000000000000000" pitchFamily="2" charset="-122"/>
                <a:sym typeface="Huawei Sans" panose="020C0503030203020204" pitchFamily="34" charset="0"/>
              </a:rPr>
              <a:t>TunnelID</a:t>
            </a: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 0x000000003400000001    </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Flags: RD</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文本框 46"/>
          <p:cNvSpPr txBox="1"/>
          <p:nvPr/>
        </p:nvSpPr>
        <p:spPr bwMode="gray">
          <a:xfrm>
            <a:off x="8595360" y="4341086"/>
            <a:ext cx="2261770" cy="307777"/>
          </a:xfrm>
          <a:prstGeom prst="rect">
            <a:avLst/>
          </a:prstGeom>
          <a:solidFill>
            <a:srgbClr val="BEE9EE"/>
          </a:solidFill>
          <a:ln>
            <a:solidFill>
              <a:srgbClr val="94DAE2"/>
            </a:solidFill>
          </a:ln>
        </p:spPr>
        <p:txBody>
          <a:bodyPr wrap="square" rtlCol="0">
            <a:spAutoFit/>
          </a:bodyPr>
          <a:lstStyle/>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出接口为</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SRv6 Policy</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接口。</a:t>
            </a:r>
            <a:endParaRPr lang="zh-CN" altLang="en-US" sz="14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 name="矩形 47"/>
          <p:cNvSpPr/>
          <p:nvPr/>
        </p:nvSpPr>
        <p:spPr bwMode="gray">
          <a:xfrm>
            <a:off x="8358706" y="3818487"/>
            <a:ext cx="1259747" cy="206034"/>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49" name="肘形连接符 48"/>
          <p:cNvCxnSpPr>
            <a:stCxn id="48" idx="3"/>
            <a:endCxn id="47" idx="3"/>
          </p:cNvCxnSpPr>
          <p:nvPr/>
        </p:nvCxnSpPr>
        <p:spPr bwMode="gray">
          <a:xfrm>
            <a:off x="9618453" y="3921504"/>
            <a:ext cx="1238677" cy="573471"/>
          </a:xfrm>
          <a:prstGeom prst="bentConnector3">
            <a:avLst>
              <a:gd name="adj1" fmla="val 118455"/>
            </a:avLst>
          </a:prstGeom>
          <a:ln w="19050">
            <a:solidFill>
              <a:srgbClr val="56C4D2"/>
            </a:solidFill>
            <a:tailEnd type="triangle"/>
          </a:ln>
        </p:spPr>
        <p:style>
          <a:lnRef idx="1">
            <a:schemeClr val="accent1"/>
          </a:lnRef>
          <a:fillRef idx="0">
            <a:schemeClr val="accent1"/>
          </a:fillRef>
          <a:effectRef idx="0">
            <a:schemeClr val="accent1"/>
          </a:effectRef>
          <a:fontRef idx="minor">
            <a:schemeClr val="tx1"/>
          </a:fontRef>
        </p:style>
      </p:cxnSp>
      <p:sp>
        <p:nvSpPr>
          <p:cNvPr id="50" name="矩形 49"/>
          <p:cNvSpPr/>
          <p:nvPr/>
        </p:nvSpPr>
        <p:spPr bwMode="gray">
          <a:xfrm>
            <a:off x="522292" y="3766960"/>
            <a:ext cx="5136046" cy="2554545"/>
          </a:xfrm>
          <a:prstGeom prst="rect">
            <a:avLst/>
          </a:prstGeom>
          <a:ln>
            <a:noFill/>
          </a:ln>
        </p:spPr>
        <p:txBody>
          <a:bodyPr wrap="square">
            <a:spAutoFit/>
          </a:bodyPr>
          <a:lstStyle/>
          <a:p>
            <a:pPr>
              <a:lnSpc>
                <a:spcPts val="2400"/>
              </a:lnSpc>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配置思路：</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176530" indent="-176530">
              <a:lnSpc>
                <a:spcPts val="2400"/>
              </a:lnSpc>
              <a:buFont typeface="+mj-lt"/>
              <a:buAutoNum type="arabicPeriod"/>
            </a:pPr>
            <a:r>
              <a:rPr lang="zh-CN"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完成设备接口</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IPv6</a:t>
            </a:r>
            <a:r>
              <a:rPr lang="zh-CN"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地址及</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IS-IS</a:t>
            </a:r>
            <a:r>
              <a:rPr lang="zh-CN"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配置</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（略）。</a:t>
            </a:r>
            <a:endParaRPr lang="zh-CN"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marL="176530" indent="-176530">
              <a:lnSpc>
                <a:spcPts val="2400"/>
              </a:lnSpc>
              <a:buFont typeface="+mj-lt"/>
              <a:buAutoNum type="arabicPeriod"/>
            </a:pP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在</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PE1</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与</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PE2</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之间建立</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MP-BGP</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对等体关系。</a:t>
            </a:r>
            <a:endPar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marL="176530" indent="-176530">
              <a:lnSpc>
                <a:spcPts val="2400"/>
              </a:lnSpc>
              <a:buFont typeface="+mj-lt"/>
              <a:buAutoNum type="arabicPeriod"/>
            </a:pP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骨干网上使能</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Segment Routing</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，建立</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SRv6 Policy</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路径。</a:t>
            </a:r>
            <a:endPar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marL="176530" indent="-176530">
              <a:lnSpc>
                <a:spcPts val="2400"/>
              </a:lnSpc>
              <a:buFont typeface="+mj-lt"/>
              <a:buAutoNum type="arabicPeriod"/>
            </a:pP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PE</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上配置使能</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IPv4</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地址族</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VPN</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实例，</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PE</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之间配置</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MP-IBGP</a:t>
            </a: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交换路由信息。</a:t>
            </a:r>
            <a:endPar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marL="176530" indent="-176530">
              <a:lnSpc>
                <a:spcPts val="2400"/>
              </a:lnSpc>
              <a:buFont typeface="+mj-lt"/>
              <a:buAutoNum type="arabicPeriod"/>
            </a:pPr>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配置隧道策略，引入私网流量。</a:t>
            </a:r>
            <a:endPar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marL="176530" indent="-176530">
              <a:lnSpc>
                <a:spcPts val="2400"/>
              </a:lnSpc>
              <a:buFont typeface="+mj-lt"/>
              <a:buAutoNum type="arabicPeriod"/>
            </a:pP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结果验证。</a:t>
            </a:r>
            <a:endParaRPr lang="zh-CN"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1" name="矩形 50"/>
          <p:cNvSpPr/>
          <p:nvPr/>
        </p:nvSpPr>
        <p:spPr bwMode="gray">
          <a:xfrm>
            <a:off x="4190770" y="2950258"/>
            <a:ext cx="1826072" cy="780536"/>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2" name="矩形 51"/>
          <p:cNvSpPr/>
          <p:nvPr/>
        </p:nvSpPr>
        <p:spPr bwMode="gray">
          <a:xfrm>
            <a:off x="522292" y="2950258"/>
            <a:ext cx="1826072" cy="780536"/>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3" name="矩形 52"/>
          <p:cNvSpPr/>
          <p:nvPr/>
        </p:nvSpPr>
        <p:spPr bwMode="gray">
          <a:xfrm>
            <a:off x="522292" y="1487150"/>
            <a:ext cx="5494550" cy="1238390"/>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54" name="直接连接符 53"/>
          <p:cNvCxnSpPr>
            <a:stCxn id="56" idx="3"/>
            <a:endCxn id="63" idx="1"/>
          </p:cNvCxnSpPr>
          <p:nvPr/>
        </p:nvCxnSpPr>
        <p:spPr bwMode="gray">
          <a:xfrm>
            <a:off x="1267619" y="2489567"/>
            <a:ext cx="398533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55" name="矩形 54"/>
          <p:cNvSpPr/>
          <p:nvPr/>
        </p:nvSpPr>
        <p:spPr bwMode="gray">
          <a:xfrm>
            <a:off x="748992" y="1996788"/>
            <a:ext cx="497252"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PE1</a:t>
            </a:r>
            <a:endParaRPr lang="zh-CN" altLang="en-US" sz="1400" b="1" dirty="0">
              <a:solidFill>
                <a:srgbClr val="FF3300"/>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56" name="图片 55"/>
          <p:cNvPicPr/>
          <p:nvPr/>
        </p:nvPicPr>
        <p:blipFill>
          <a:blip r:embed="rId1" cstate="print">
            <a:extLst>
              <a:ext uri="{28A0092B-C50C-407E-A947-70E740481C1C}">
                <a14:useLocalDpi xmlns:a14="http://schemas.microsoft.com/office/drawing/2010/main" val="0"/>
              </a:ext>
            </a:extLst>
          </a:blip>
          <a:stretch>
            <a:fillRect/>
          </a:stretch>
        </p:blipFill>
        <p:spPr bwMode="gray">
          <a:xfrm>
            <a:off x="727619" y="2268167"/>
            <a:ext cx="540000" cy="442800"/>
          </a:xfrm>
          <a:prstGeom prst="rect">
            <a:avLst/>
          </a:prstGeom>
        </p:spPr>
      </p:pic>
      <p:sp>
        <p:nvSpPr>
          <p:cNvPr id="60" name="矩形 59"/>
          <p:cNvSpPr/>
          <p:nvPr/>
        </p:nvSpPr>
        <p:spPr bwMode="gray">
          <a:xfrm>
            <a:off x="3138299" y="1996788"/>
            <a:ext cx="292068" cy="307777"/>
          </a:xfrm>
          <a:prstGeom prst="rect">
            <a:avLst/>
          </a:prstGeom>
        </p:spPr>
        <p:txBody>
          <a:bodyPr wrap="none">
            <a:spAutoFit/>
          </a:bodyPr>
          <a:lstStyle/>
          <a:p>
            <a:pPr algn="ctr"/>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P</a:t>
            </a:r>
            <a:endParaRPr lang="zh-CN" altLang="en-US" sz="1400" b="1">
              <a:solidFill>
                <a:srgbClr val="FF3300"/>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61" name="图片 60"/>
          <p:cNvPicPr/>
          <p:nvPr/>
        </p:nvPicPr>
        <p:blipFill>
          <a:blip r:embed="rId1" cstate="print">
            <a:extLst>
              <a:ext uri="{28A0092B-C50C-407E-A947-70E740481C1C}">
                <a14:useLocalDpi xmlns:a14="http://schemas.microsoft.com/office/drawing/2010/main" val="0"/>
              </a:ext>
            </a:extLst>
          </a:blip>
          <a:stretch>
            <a:fillRect/>
          </a:stretch>
        </p:blipFill>
        <p:spPr bwMode="gray">
          <a:xfrm>
            <a:off x="2991152" y="2268167"/>
            <a:ext cx="540000" cy="442800"/>
          </a:xfrm>
          <a:prstGeom prst="rect">
            <a:avLst/>
          </a:prstGeom>
        </p:spPr>
      </p:pic>
      <p:sp>
        <p:nvSpPr>
          <p:cNvPr id="62" name="矩形 61"/>
          <p:cNvSpPr/>
          <p:nvPr/>
        </p:nvSpPr>
        <p:spPr bwMode="gray">
          <a:xfrm>
            <a:off x="5283807" y="1996788"/>
            <a:ext cx="497252"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PE2</a:t>
            </a:r>
            <a:endParaRPr lang="zh-CN" altLang="en-US" sz="1400" b="1" dirty="0">
              <a:solidFill>
                <a:srgbClr val="FF3300"/>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63" name="图片 62"/>
          <p:cNvPicPr/>
          <p:nvPr/>
        </p:nvPicPr>
        <p:blipFill>
          <a:blip r:embed="rId1" cstate="print">
            <a:extLst>
              <a:ext uri="{28A0092B-C50C-407E-A947-70E740481C1C}">
                <a14:useLocalDpi xmlns:a14="http://schemas.microsoft.com/office/drawing/2010/main" val="0"/>
              </a:ext>
            </a:extLst>
          </a:blip>
          <a:stretch>
            <a:fillRect/>
          </a:stretch>
        </p:blipFill>
        <p:spPr bwMode="gray">
          <a:xfrm>
            <a:off x="5252957" y="2268167"/>
            <a:ext cx="540000" cy="442800"/>
          </a:xfrm>
          <a:prstGeom prst="rect">
            <a:avLst/>
          </a:prstGeom>
        </p:spPr>
      </p:pic>
      <p:sp>
        <p:nvSpPr>
          <p:cNvPr id="64" name="矩形 63"/>
          <p:cNvSpPr/>
          <p:nvPr/>
        </p:nvSpPr>
        <p:spPr bwMode="gray">
          <a:xfrm>
            <a:off x="1401461" y="2245468"/>
            <a:ext cx="1455848" cy="276999"/>
          </a:xfrm>
          <a:prstGeom prst="rect">
            <a:avLst/>
          </a:prstGeom>
        </p:spPr>
        <p:txBody>
          <a:bodyPr wrap="none">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2001:DB88:12::/96</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5" name="矩形 64"/>
          <p:cNvSpPr/>
          <p:nvPr/>
        </p:nvSpPr>
        <p:spPr bwMode="gray">
          <a:xfrm>
            <a:off x="431928" y="1564429"/>
            <a:ext cx="1612942" cy="461665"/>
          </a:xfrm>
          <a:prstGeom prst="rect">
            <a:avLst/>
          </a:prstGeom>
        </p:spPr>
        <p:txBody>
          <a:bodyPr wrap="none">
            <a:spAutoFit/>
          </a:bodyPr>
          <a:lstStyle/>
          <a:p>
            <a:pPr algn="ctr"/>
            <a:r>
              <a:rPr lang="en-US" altLang="zh-CN"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END</a:t>
            </a:r>
            <a:endParaRPr lang="en-US" altLang="zh-CN"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2001:DB8:1000::111</a:t>
            </a:r>
            <a:endParaRPr lang="zh-CN" altLang="en-US"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6" name="文本框 65"/>
          <p:cNvSpPr txBox="1"/>
          <p:nvPr/>
        </p:nvSpPr>
        <p:spPr bwMode="gray">
          <a:xfrm>
            <a:off x="4251736" y="3039452"/>
            <a:ext cx="987770" cy="461665"/>
          </a:xfrm>
          <a:prstGeom prst="rect">
            <a:avLst/>
          </a:prstGeom>
          <a:noFill/>
          <a:ln>
            <a:noFill/>
          </a:ln>
        </p:spPr>
        <p:txBody>
          <a:bodyPr wrap="non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Loopback1 </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10.1.5.5/32</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7" name="矩形 66"/>
          <p:cNvSpPr/>
          <p:nvPr/>
        </p:nvSpPr>
        <p:spPr bwMode="gray">
          <a:xfrm>
            <a:off x="1199332" y="2266253"/>
            <a:ext cx="306494" cy="276999"/>
          </a:xfrm>
          <a:prstGeom prst="rect">
            <a:avLst/>
          </a:prstGeom>
        </p:spPr>
        <p:txBody>
          <a:bodyPr wrap="none">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:1</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8" name="矩形 67"/>
          <p:cNvSpPr/>
          <p:nvPr/>
        </p:nvSpPr>
        <p:spPr bwMode="gray">
          <a:xfrm>
            <a:off x="2764735" y="2266253"/>
            <a:ext cx="306494" cy="276999"/>
          </a:xfrm>
          <a:prstGeom prst="rect">
            <a:avLst/>
          </a:prstGeom>
        </p:spPr>
        <p:txBody>
          <a:bodyPr wrap="none">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9" name="矩形 68"/>
          <p:cNvSpPr/>
          <p:nvPr/>
        </p:nvSpPr>
        <p:spPr bwMode="gray">
          <a:xfrm>
            <a:off x="3447434" y="2266253"/>
            <a:ext cx="306494" cy="276999"/>
          </a:xfrm>
          <a:prstGeom prst="rect">
            <a:avLst/>
          </a:prstGeom>
        </p:spPr>
        <p:txBody>
          <a:bodyPr wrap="none">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0" name="矩形 69"/>
          <p:cNvSpPr/>
          <p:nvPr/>
        </p:nvSpPr>
        <p:spPr bwMode="gray">
          <a:xfrm>
            <a:off x="5024712" y="2266253"/>
            <a:ext cx="306494" cy="276999"/>
          </a:xfrm>
          <a:prstGeom prst="rect">
            <a:avLst/>
          </a:prstGeom>
        </p:spPr>
        <p:txBody>
          <a:bodyPr wrap="none">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:3</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71" name="图片 70"/>
          <p:cNvPicPr/>
          <p:nvPr/>
        </p:nvPicPr>
        <p:blipFill>
          <a:blip r:embed="rId1" cstate="print">
            <a:extLst>
              <a:ext uri="{28A0092B-C50C-407E-A947-70E740481C1C}">
                <a14:useLocalDpi xmlns:a14="http://schemas.microsoft.com/office/drawing/2010/main" val="0"/>
              </a:ext>
            </a:extLst>
          </a:blip>
          <a:stretch>
            <a:fillRect/>
          </a:stretch>
        </p:blipFill>
        <p:spPr bwMode="gray">
          <a:xfrm>
            <a:off x="727619" y="3010900"/>
            <a:ext cx="540000" cy="442800"/>
          </a:xfrm>
          <a:prstGeom prst="rect">
            <a:avLst/>
          </a:prstGeom>
        </p:spPr>
      </p:pic>
      <p:pic>
        <p:nvPicPr>
          <p:cNvPr id="72" name="图片 71"/>
          <p:cNvPicPr/>
          <p:nvPr/>
        </p:nvPicPr>
        <p:blipFill>
          <a:blip r:embed="rId1" cstate="print">
            <a:extLst>
              <a:ext uri="{28A0092B-C50C-407E-A947-70E740481C1C}">
                <a14:useLocalDpi xmlns:a14="http://schemas.microsoft.com/office/drawing/2010/main" val="0"/>
              </a:ext>
            </a:extLst>
          </a:blip>
          <a:stretch>
            <a:fillRect/>
          </a:stretch>
        </p:blipFill>
        <p:spPr bwMode="gray">
          <a:xfrm>
            <a:off x="5252957" y="3010900"/>
            <a:ext cx="540000" cy="442800"/>
          </a:xfrm>
          <a:prstGeom prst="rect">
            <a:avLst/>
          </a:prstGeom>
        </p:spPr>
      </p:pic>
      <p:cxnSp>
        <p:nvCxnSpPr>
          <p:cNvPr id="73" name="直接连接符 72"/>
          <p:cNvCxnSpPr>
            <a:stCxn id="56" idx="2"/>
            <a:endCxn id="71" idx="0"/>
          </p:cNvCxnSpPr>
          <p:nvPr/>
        </p:nvCxnSpPr>
        <p:spPr bwMode="gray">
          <a:xfrm>
            <a:off x="997619" y="2710967"/>
            <a:ext cx="0" cy="29993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直接连接符 73"/>
          <p:cNvCxnSpPr>
            <a:stCxn id="63" idx="2"/>
            <a:endCxn id="72" idx="0"/>
          </p:cNvCxnSpPr>
          <p:nvPr/>
        </p:nvCxnSpPr>
        <p:spPr bwMode="gray">
          <a:xfrm>
            <a:off x="5522957" y="2710967"/>
            <a:ext cx="0" cy="29993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5" name="矩形 74"/>
          <p:cNvSpPr/>
          <p:nvPr/>
        </p:nvSpPr>
        <p:spPr bwMode="gray">
          <a:xfrm>
            <a:off x="746588" y="3501117"/>
            <a:ext cx="502061"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CE1</a:t>
            </a:r>
            <a:endParaRPr lang="zh-CN" altLang="en-US" sz="1400" b="1" dirty="0">
              <a:solidFill>
                <a:srgbClr val="FF33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6" name="矩形 75"/>
          <p:cNvSpPr/>
          <p:nvPr/>
        </p:nvSpPr>
        <p:spPr bwMode="gray">
          <a:xfrm>
            <a:off x="5281403" y="3501117"/>
            <a:ext cx="502061"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CE2</a:t>
            </a:r>
            <a:endParaRPr lang="zh-CN" altLang="en-US" sz="1400" b="1" dirty="0">
              <a:solidFill>
                <a:srgbClr val="FF33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7" name="文本框 76"/>
          <p:cNvSpPr txBox="1"/>
          <p:nvPr/>
        </p:nvSpPr>
        <p:spPr bwMode="gray">
          <a:xfrm>
            <a:off x="1290546" y="3039452"/>
            <a:ext cx="987770" cy="461665"/>
          </a:xfrm>
          <a:prstGeom prst="rect">
            <a:avLst/>
          </a:prstGeom>
          <a:noFill/>
          <a:ln>
            <a:noFill/>
          </a:ln>
        </p:spPr>
        <p:txBody>
          <a:bodyPr wrap="non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Loopback1 </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10.1.4.4/32</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8" name="文本框 77"/>
          <p:cNvSpPr txBox="1"/>
          <p:nvPr/>
        </p:nvSpPr>
        <p:spPr bwMode="gray">
          <a:xfrm>
            <a:off x="1576705" y="3492845"/>
            <a:ext cx="848309" cy="276999"/>
          </a:xfrm>
          <a:prstGeom prst="rect">
            <a:avLst/>
          </a:prstGeom>
          <a:noFill/>
        </p:spPr>
        <p:txBody>
          <a:bodyPr wrap="none" rtlCol="0">
            <a:spAutoFit/>
          </a:bodyPr>
          <a:lstStyle/>
          <a:p>
            <a:r>
              <a:rPr lang="en-US" altLang="zh-CN" sz="12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AS 65000</a:t>
            </a:r>
            <a:endParaRPr lang="en-US" altLang="zh-CN" sz="12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9" name="文本框 78"/>
          <p:cNvSpPr txBox="1"/>
          <p:nvPr/>
        </p:nvSpPr>
        <p:spPr bwMode="gray">
          <a:xfrm>
            <a:off x="4190770" y="3492845"/>
            <a:ext cx="848309" cy="276999"/>
          </a:xfrm>
          <a:prstGeom prst="rect">
            <a:avLst/>
          </a:prstGeom>
          <a:noFill/>
        </p:spPr>
        <p:txBody>
          <a:bodyPr wrap="none" rtlCol="0">
            <a:spAutoFit/>
          </a:bodyPr>
          <a:lstStyle/>
          <a:p>
            <a:r>
              <a:rPr lang="en-US" altLang="zh-CN" sz="12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AS 65001</a:t>
            </a:r>
            <a:endParaRPr lang="en-US" altLang="zh-CN" sz="12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0" name="文本框 79"/>
          <p:cNvSpPr txBox="1"/>
          <p:nvPr/>
        </p:nvSpPr>
        <p:spPr bwMode="gray">
          <a:xfrm>
            <a:off x="542427" y="1427904"/>
            <a:ext cx="675185" cy="276999"/>
          </a:xfrm>
          <a:prstGeom prst="rect">
            <a:avLst/>
          </a:prstGeom>
          <a:noFill/>
        </p:spPr>
        <p:txBody>
          <a:bodyPr wrap="none" rtlCol="0">
            <a:spAutoFit/>
          </a:bodyPr>
          <a:lstStyle/>
          <a:p>
            <a:r>
              <a:rPr lang="en-US" altLang="zh-CN" sz="12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AS 100</a:t>
            </a:r>
            <a:endParaRPr lang="en-US" altLang="zh-CN" sz="12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1" name="矩形 80"/>
          <p:cNvSpPr/>
          <p:nvPr/>
        </p:nvSpPr>
        <p:spPr bwMode="gray">
          <a:xfrm>
            <a:off x="942842" y="2695509"/>
            <a:ext cx="1186543" cy="307777"/>
          </a:xfrm>
          <a:prstGeom prst="rect">
            <a:avLst/>
          </a:prstGeom>
        </p:spPr>
        <p:txBody>
          <a:bodyPr wrap="none">
            <a:spAutoFit/>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10.0.14.0/24</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2" name="矩形 81"/>
          <p:cNvSpPr/>
          <p:nvPr/>
        </p:nvSpPr>
        <p:spPr bwMode="gray">
          <a:xfrm>
            <a:off x="4397520" y="2695509"/>
            <a:ext cx="1186543" cy="307777"/>
          </a:xfrm>
          <a:prstGeom prst="rect">
            <a:avLst/>
          </a:prstGeom>
        </p:spPr>
        <p:txBody>
          <a:bodyPr wrap="none">
            <a:spAutoFit/>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10.0.35.0/24</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3" name="矩形 82"/>
          <p:cNvSpPr/>
          <p:nvPr/>
        </p:nvSpPr>
        <p:spPr bwMode="gray">
          <a:xfrm>
            <a:off x="2477863" y="1564429"/>
            <a:ext cx="1612942" cy="461665"/>
          </a:xfrm>
          <a:prstGeom prst="rect">
            <a:avLst/>
          </a:prstGeom>
        </p:spPr>
        <p:txBody>
          <a:bodyPr wrap="none">
            <a:spAutoFit/>
          </a:bodyPr>
          <a:lstStyle/>
          <a:p>
            <a:pPr algn="ctr"/>
            <a:r>
              <a:rPr lang="en-US" altLang="zh-CN"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END</a:t>
            </a:r>
            <a:endParaRPr lang="en-US" altLang="zh-CN"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2001:DB8:2000::222</a:t>
            </a:r>
            <a:endParaRPr lang="zh-CN" altLang="en-US"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4" name="矩形 83"/>
          <p:cNvSpPr/>
          <p:nvPr/>
        </p:nvSpPr>
        <p:spPr bwMode="gray">
          <a:xfrm>
            <a:off x="4494085" y="1564429"/>
            <a:ext cx="1612942" cy="461665"/>
          </a:xfrm>
          <a:prstGeom prst="rect">
            <a:avLst/>
          </a:prstGeom>
        </p:spPr>
        <p:txBody>
          <a:bodyPr wrap="none">
            <a:spAutoFit/>
          </a:bodyPr>
          <a:lstStyle/>
          <a:p>
            <a:pPr algn="ctr"/>
            <a:r>
              <a:rPr lang="en-US" altLang="zh-CN"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END</a:t>
            </a:r>
            <a:endParaRPr lang="en-US" altLang="zh-CN"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2001:DB8:3000::333</a:t>
            </a:r>
            <a:endParaRPr lang="zh-CN" altLang="en-US"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5" name="矩形 84"/>
          <p:cNvSpPr/>
          <p:nvPr/>
        </p:nvSpPr>
        <p:spPr bwMode="gray">
          <a:xfrm>
            <a:off x="3694397" y="2245468"/>
            <a:ext cx="1455848" cy="276999"/>
          </a:xfrm>
          <a:prstGeom prst="rect">
            <a:avLst/>
          </a:prstGeom>
        </p:spPr>
        <p:txBody>
          <a:bodyPr wrap="none">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2001:DB88:23::/96</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en-US" altLang="zh-CN" sz="2200" dirty="0">
                <a:solidFill>
                  <a:schemeClr val="bg1">
                    <a:lumMod val="50000"/>
                  </a:schemeClr>
                </a:solidFill>
                <a:sym typeface="Huawei Sans" panose="020C0503030203020204" pitchFamily="34" charset="0"/>
              </a:rPr>
              <a:t>SRv6</a:t>
            </a:r>
            <a:r>
              <a:rPr lang="zh-CN" altLang="en-US" sz="2200" dirty="0">
                <a:solidFill>
                  <a:schemeClr val="bg1">
                    <a:lumMod val="50000"/>
                  </a:schemeClr>
                </a:solidFill>
                <a:sym typeface="Huawei Sans" panose="020C0503030203020204" pitchFamily="34" charset="0"/>
              </a:rPr>
              <a:t>概述</a:t>
            </a:r>
            <a:endParaRPr lang="zh-CN" altLang="en-US" sz="2200" dirty="0">
              <a:solidFill>
                <a:schemeClr val="bg1">
                  <a:lumMod val="50000"/>
                </a:schemeClr>
              </a:solidFill>
              <a:sym typeface="Huawei Sans" panose="020C0503030203020204" pitchFamily="34" charset="0"/>
            </a:endParaRPr>
          </a:p>
          <a:p>
            <a:r>
              <a:rPr lang="en-US" altLang="zh-CN" sz="2200" dirty="0">
                <a:solidFill>
                  <a:schemeClr val="bg1">
                    <a:lumMod val="50000"/>
                  </a:schemeClr>
                </a:solidFill>
                <a:sym typeface="Huawei Sans" panose="020C0503030203020204" pitchFamily="34" charset="0"/>
              </a:rPr>
              <a:t>SRv6</a:t>
            </a:r>
            <a:r>
              <a:rPr lang="zh-CN" altLang="en-US" sz="2200" dirty="0">
                <a:solidFill>
                  <a:schemeClr val="bg1">
                    <a:lumMod val="50000"/>
                  </a:schemeClr>
                </a:solidFill>
                <a:sym typeface="Huawei Sans" panose="020C0503030203020204" pitchFamily="34" charset="0"/>
              </a:rPr>
              <a:t>原理</a:t>
            </a:r>
            <a:endParaRPr lang="zh-CN" altLang="en-US" sz="2200" dirty="0">
              <a:solidFill>
                <a:schemeClr val="bg1">
                  <a:lumMod val="50000"/>
                </a:schemeClr>
              </a:solidFill>
              <a:sym typeface="Huawei Sans" panose="020C0503030203020204" pitchFamily="34" charset="0"/>
            </a:endParaRPr>
          </a:p>
          <a:p>
            <a:r>
              <a:rPr lang="en-US" altLang="zh-CN" sz="2200" dirty="0">
                <a:solidFill>
                  <a:schemeClr val="bg1">
                    <a:lumMod val="50000"/>
                  </a:schemeClr>
                </a:solidFill>
                <a:sym typeface="Huawei Sans" panose="020C0503030203020204" pitchFamily="34" charset="0"/>
              </a:rPr>
              <a:t>SRv6</a:t>
            </a:r>
            <a:r>
              <a:rPr lang="zh-CN" altLang="en-US" sz="2200" dirty="0">
                <a:solidFill>
                  <a:schemeClr val="bg1">
                    <a:lumMod val="50000"/>
                  </a:schemeClr>
                </a:solidFill>
                <a:sym typeface="Huawei Sans" panose="020C0503030203020204" pitchFamily="34" charset="0"/>
              </a:rPr>
              <a:t>高可靠性</a:t>
            </a:r>
            <a:endParaRPr lang="en-US" altLang="zh-CN" sz="2200" dirty="0">
              <a:solidFill>
                <a:schemeClr val="bg1">
                  <a:lumMod val="50000"/>
                </a:schemeClr>
              </a:solidFill>
              <a:sym typeface="Huawei Sans" panose="020C0503030203020204" pitchFamily="34" charset="0"/>
            </a:endParaRPr>
          </a:p>
          <a:p>
            <a:r>
              <a:rPr lang="en-US" altLang="zh-CN" sz="2200" dirty="0">
                <a:solidFill>
                  <a:schemeClr val="bg1">
                    <a:lumMod val="50000"/>
                  </a:schemeClr>
                </a:solidFill>
                <a:sym typeface="Huawei Sans" panose="020C0503030203020204" pitchFamily="34" charset="0"/>
              </a:rPr>
              <a:t>SRv6</a:t>
            </a:r>
            <a:r>
              <a:rPr lang="zh-CN" altLang="en-US" sz="2200" dirty="0">
                <a:solidFill>
                  <a:schemeClr val="bg1">
                    <a:lumMod val="50000"/>
                  </a:schemeClr>
                </a:solidFill>
                <a:sym typeface="Huawei Sans" panose="020C0503030203020204" pitchFamily="34" charset="0"/>
              </a:rPr>
              <a:t>基础配置</a:t>
            </a:r>
            <a:endParaRPr lang="en-US" altLang="zh-CN" sz="2200" dirty="0">
              <a:solidFill>
                <a:schemeClr val="bg1">
                  <a:lumMod val="50000"/>
                </a:schemeClr>
              </a:solidFill>
              <a:sym typeface="Huawei Sans" panose="020C0503030203020204" pitchFamily="34" charset="0"/>
            </a:endParaRPr>
          </a:p>
          <a:p>
            <a:r>
              <a:rPr lang="zh-CN" altLang="en-US" sz="2200" b="1" dirty="0">
                <a:sym typeface="Huawei Sans" panose="020C0503030203020204" pitchFamily="34" charset="0"/>
              </a:rPr>
              <a:t>基于</a:t>
            </a:r>
            <a:r>
              <a:rPr lang="en-US" altLang="zh-CN" sz="2200" b="1" dirty="0" err="1">
                <a:sym typeface="Huawei Sans" panose="020C0503030203020204" pitchFamily="34" charset="0"/>
              </a:rPr>
              <a:t>iMaster</a:t>
            </a:r>
            <a:r>
              <a:rPr lang="en-US" altLang="zh-CN" sz="2200" b="1" dirty="0">
                <a:sym typeface="Huawei Sans" panose="020C0503030203020204" pitchFamily="34" charset="0"/>
              </a:rPr>
              <a:t> NCE-IP</a:t>
            </a:r>
            <a:r>
              <a:rPr lang="zh-CN" altLang="en-US" sz="2200" b="1" dirty="0">
                <a:sym typeface="Huawei Sans" panose="020C0503030203020204" pitchFamily="34" charset="0"/>
              </a:rPr>
              <a:t>部署</a:t>
            </a:r>
            <a:r>
              <a:rPr lang="en-US" altLang="zh-CN" sz="2200" b="1" dirty="0">
                <a:sym typeface="Huawei Sans" panose="020C0503030203020204" pitchFamily="34" charset="0"/>
              </a:rPr>
              <a:t>SRv6</a:t>
            </a:r>
            <a:endParaRPr lang="zh-CN" altLang="en-US" sz="2200" b="1" dirty="0">
              <a:sym typeface="Huawei Sans" panose="020C0503030203020204" pitchFamily="34" charset="0"/>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bwMode="gray"/>
        <p:txBody>
          <a:bodyPr/>
          <a:lstStyle/>
          <a:p>
            <a:r>
              <a:rPr lang="zh-CN" altLang="en-US" dirty="0"/>
              <a:t>基于</a:t>
            </a:r>
            <a:r>
              <a:rPr lang="en-US" altLang="zh-CN" dirty="0" err="1"/>
              <a:t>iMaster</a:t>
            </a:r>
            <a:r>
              <a:rPr lang="en-US" altLang="zh-CN" dirty="0"/>
              <a:t> NCE-IP</a:t>
            </a:r>
            <a:r>
              <a:rPr lang="zh-CN" altLang="en-US" dirty="0"/>
              <a:t>部署</a:t>
            </a:r>
            <a:r>
              <a:rPr lang="en-US" altLang="zh-CN" dirty="0"/>
              <a:t>SRv6</a:t>
            </a:r>
            <a:endParaRPr lang="zh-CN" altLang="en-US" dirty="0"/>
          </a:p>
        </p:txBody>
      </p:sp>
      <p:sp>
        <p:nvSpPr>
          <p:cNvPr id="4" name="Text Placeholder 3"/>
          <p:cNvSpPr>
            <a:spLocks noGrp="1"/>
          </p:cNvSpPr>
          <p:nvPr>
            <p:ph type="body" sz="quarter" idx="10"/>
          </p:nvPr>
        </p:nvSpPr>
        <p:spPr bwMode="gray"/>
        <p:txBody>
          <a:bodyPr/>
          <a:lstStyle/>
          <a:p>
            <a:r>
              <a:rPr lang="zh-CN" altLang="en-US" sz="1800" dirty="0"/>
              <a:t>现网中使用静态部署</a:t>
            </a:r>
            <a:r>
              <a:rPr lang="en-US" altLang="zh-CN" sz="1800" dirty="0"/>
              <a:t>SRv6</a:t>
            </a:r>
            <a:r>
              <a:rPr lang="zh-CN" altLang="en-US" sz="1800" dirty="0"/>
              <a:t>的方式会对网络运维带来较大挑战，比如：静态部署</a:t>
            </a:r>
            <a:r>
              <a:rPr lang="en-US" altLang="zh-CN" sz="1800" dirty="0"/>
              <a:t>SRv6</a:t>
            </a:r>
            <a:r>
              <a:rPr lang="zh-CN" altLang="en-US" sz="1800" dirty="0"/>
              <a:t>周期较长，无法根据全局规划路径，也无法根据网络质量调整现有</a:t>
            </a:r>
            <a:r>
              <a:rPr lang="en-US" altLang="zh-CN" sz="1800" dirty="0"/>
              <a:t>SRv6</a:t>
            </a:r>
            <a:r>
              <a:rPr lang="zh-CN" altLang="en-US" sz="1800" dirty="0"/>
              <a:t>的转发路径。</a:t>
            </a:r>
            <a:endParaRPr lang="en-US" altLang="zh-CN" sz="1800" dirty="0"/>
          </a:p>
          <a:p>
            <a:r>
              <a:rPr lang="zh-CN" altLang="en-US" sz="1800" dirty="0"/>
              <a:t>通过</a:t>
            </a:r>
            <a:r>
              <a:rPr lang="en-US" altLang="zh-CN" sz="1800" dirty="0" err="1"/>
              <a:t>iMaster</a:t>
            </a:r>
            <a:r>
              <a:rPr lang="en-US" altLang="zh-CN" sz="1800" dirty="0"/>
              <a:t> NCE-IP</a:t>
            </a:r>
            <a:r>
              <a:rPr lang="zh-CN" altLang="en-US" sz="1800" dirty="0"/>
              <a:t>部署</a:t>
            </a:r>
            <a:r>
              <a:rPr lang="en-US" altLang="zh-CN" sz="1800" dirty="0"/>
              <a:t>SRv6</a:t>
            </a:r>
            <a:r>
              <a:rPr lang="zh-CN" altLang="en-US" sz="1800" dirty="0"/>
              <a:t>能较好地规避静态部署</a:t>
            </a:r>
            <a:r>
              <a:rPr lang="en-US" altLang="zh-CN" sz="1800" dirty="0"/>
              <a:t>SRv6</a:t>
            </a:r>
            <a:r>
              <a:rPr lang="zh-CN" altLang="en-US" sz="1800" dirty="0"/>
              <a:t>面临的问题。</a:t>
            </a:r>
            <a:endParaRPr lang="en-US" altLang="zh-CN" sz="1800" dirty="0"/>
          </a:p>
          <a:p>
            <a:r>
              <a:rPr lang="en-US" altLang="zh-CN" sz="1800" dirty="0" err="1"/>
              <a:t>iMaster</a:t>
            </a:r>
            <a:r>
              <a:rPr lang="en-US" altLang="zh-CN" sz="1800" dirty="0"/>
              <a:t> NCE-IP</a:t>
            </a:r>
            <a:r>
              <a:rPr lang="zh-CN" altLang="en-US" sz="1800" dirty="0"/>
              <a:t>通过以下几种协议部署</a:t>
            </a:r>
            <a:r>
              <a:rPr lang="en-US" altLang="zh-CN" sz="1800" dirty="0"/>
              <a:t>SRv6</a:t>
            </a:r>
            <a:r>
              <a:rPr lang="zh-CN" altLang="en-US" sz="1800" dirty="0"/>
              <a:t>隧道以及相关</a:t>
            </a:r>
            <a:r>
              <a:rPr lang="en-US" altLang="zh-CN" sz="1800" dirty="0"/>
              <a:t>VPN</a:t>
            </a:r>
            <a:r>
              <a:rPr lang="zh-CN" altLang="en-US" sz="1800" dirty="0"/>
              <a:t>业务。</a:t>
            </a:r>
            <a:endParaRPr lang="en-US" altLang="zh-CN" sz="1800" dirty="0"/>
          </a:p>
          <a:p>
            <a:pPr lvl="1"/>
            <a:r>
              <a:rPr lang="en-US" altLang="zh-CN" sz="1600" dirty="0"/>
              <a:t>BGP-LS</a:t>
            </a:r>
            <a:endParaRPr lang="en-US" altLang="zh-CN" sz="1600" dirty="0"/>
          </a:p>
          <a:p>
            <a:pPr lvl="1"/>
            <a:r>
              <a:rPr lang="en-US" altLang="zh-CN" sz="1600" dirty="0"/>
              <a:t>BGP IPv6 SR Policy</a:t>
            </a:r>
            <a:endParaRPr lang="en-US" altLang="zh-CN" sz="1600" dirty="0"/>
          </a:p>
          <a:p>
            <a:pPr lvl="1"/>
            <a:r>
              <a:rPr lang="en-US" altLang="zh-CN" sz="1600" dirty="0"/>
              <a:t>NETCONF</a:t>
            </a:r>
            <a:endParaRPr lang="zh-CN" altLang="en-US" sz="1600" dirty="0"/>
          </a:p>
        </p:txBody>
      </p:sp>
      <p:cxnSp>
        <p:nvCxnSpPr>
          <p:cNvPr id="5" name="直接连接符 8"/>
          <p:cNvCxnSpPr>
            <a:stCxn id="12" idx="2"/>
            <a:endCxn id="10" idx="1"/>
          </p:cNvCxnSpPr>
          <p:nvPr/>
        </p:nvCxnSpPr>
        <p:spPr bwMode="gray">
          <a:xfrm>
            <a:off x="6977715" y="5160680"/>
            <a:ext cx="1743552" cy="613413"/>
          </a:xfrm>
          <a:prstGeom prst="line">
            <a:avLst/>
          </a:prstGeom>
          <a:ln w="19050">
            <a:solidFill>
              <a:srgbClr val="94DAE2"/>
            </a:solidFill>
            <a:prstDash val="solid"/>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 name="直接连接符 9"/>
          <p:cNvCxnSpPr>
            <a:stCxn id="12" idx="0"/>
            <a:endCxn id="9" idx="1"/>
          </p:cNvCxnSpPr>
          <p:nvPr/>
        </p:nvCxnSpPr>
        <p:spPr bwMode="gray">
          <a:xfrm flipV="1">
            <a:off x="6977715" y="4094308"/>
            <a:ext cx="1743552" cy="623572"/>
          </a:xfrm>
          <a:prstGeom prst="line">
            <a:avLst/>
          </a:prstGeom>
          <a:ln w="19050">
            <a:solidFill>
              <a:srgbClr val="94DAE2"/>
            </a:solidFill>
            <a:prstDash val="solid"/>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 name="直接连接符 10"/>
          <p:cNvCxnSpPr>
            <a:stCxn id="13" idx="0"/>
            <a:endCxn id="9" idx="3"/>
          </p:cNvCxnSpPr>
          <p:nvPr/>
        </p:nvCxnSpPr>
        <p:spPr bwMode="gray">
          <a:xfrm flipH="1" flipV="1">
            <a:off x="9261267" y="4094308"/>
            <a:ext cx="1660517" cy="624882"/>
          </a:xfrm>
          <a:prstGeom prst="line">
            <a:avLst/>
          </a:prstGeom>
          <a:ln w="19050">
            <a:solidFill>
              <a:srgbClr val="94DAE2"/>
            </a:solidFill>
            <a:prstDash val="solid"/>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 name="直接连接符 11"/>
          <p:cNvCxnSpPr>
            <a:stCxn id="14" idx="0"/>
            <a:endCxn id="10" idx="3"/>
          </p:cNvCxnSpPr>
          <p:nvPr/>
        </p:nvCxnSpPr>
        <p:spPr bwMode="gray">
          <a:xfrm flipH="1">
            <a:off x="9261267" y="5161990"/>
            <a:ext cx="1659109" cy="612103"/>
          </a:xfrm>
          <a:prstGeom prst="line">
            <a:avLst/>
          </a:prstGeom>
          <a:ln w="19050">
            <a:solidFill>
              <a:srgbClr val="94DAE2"/>
            </a:solidFill>
            <a:prstDash val="solid"/>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pic>
        <p:nvPicPr>
          <p:cNvPr id="9" name="图片 12"/>
          <p:cNvPicPr/>
          <p:nvPr/>
        </p:nvPicPr>
        <p:blipFill>
          <a:blip r:embed="rId1" cstate="print">
            <a:extLst>
              <a:ext uri="{28A0092B-C50C-407E-A947-70E740481C1C}">
                <a14:useLocalDpi xmlns:a14="http://schemas.microsoft.com/office/drawing/2010/main" val="0"/>
              </a:ext>
            </a:extLst>
          </a:blip>
          <a:stretch>
            <a:fillRect/>
          </a:stretch>
        </p:blipFill>
        <p:spPr bwMode="gray">
          <a:xfrm>
            <a:off x="8721267" y="3872908"/>
            <a:ext cx="540000" cy="442800"/>
          </a:xfrm>
          <a:prstGeom prst="rect">
            <a:avLst/>
          </a:prstGeom>
        </p:spPr>
      </p:pic>
      <p:pic>
        <p:nvPicPr>
          <p:cNvPr id="10" name="图片 13"/>
          <p:cNvPicPr/>
          <p:nvPr/>
        </p:nvPicPr>
        <p:blipFill>
          <a:blip r:embed="rId1" cstate="print">
            <a:extLst>
              <a:ext uri="{28A0092B-C50C-407E-A947-70E740481C1C}">
                <a14:useLocalDpi xmlns:a14="http://schemas.microsoft.com/office/drawing/2010/main" val="0"/>
              </a:ext>
            </a:extLst>
          </a:blip>
          <a:stretch>
            <a:fillRect/>
          </a:stretch>
        </p:blipFill>
        <p:spPr bwMode="gray">
          <a:xfrm>
            <a:off x="8721267" y="5552693"/>
            <a:ext cx="540000" cy="442800"/>
          </a:xfrm>
          <a:prstGeom prst="rect">
            <a:avLst/>
          </a:prstGeom>
        </p:spPr>
      </p:pic>
      <p:sp>
        <p:nvSpPr>
          <p:cNvPr id="11" name="文本框 14"/>
          <p:cNvSpPr txBox="1"/>
          <p:nvPr/>
        </p:nvSpPr>
        <p:spPr bwMode="gray">
          <a:xfrm>
            <a:off x="8787447" y="4314726"/>
            <a:ext cx="405880" cy="307777"/>
          </a:xfrm>
          <a:prstGeom prst="rect">
            <a:avLst/>
          </a:prstGeom>
          <a:noFill/>
        </p:spPr>
        <p:txBody>
          <a:bodyPr wrap="none" rtlCol="0">
            <a:spAutoFit/>
          </a:bodyPr>
          <a:lstStyle/>
          <a:p>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R2</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2" name="图片 16"/>
          <p:cNvPicPr/>
          <p:nvPr/>
        </p:nvPicPr>
        <p:blipFill>
          <a:blip r:embed="rId1" cstate="print">
            <a:extLst>
              <a:ext uri="{28A0092B-C50C-407E-A947-70E740481C1C}">
                <a14:useLocalDpi xmlns:a14="http://schemas.microsoft.com/office/drawing/2010/main" val="0"/>
              </a:ext>
            </a:extLst>
          </a:blip>
          <a:stretch>
            <a:fillRect/>
          </a:stretch>
        </p:blipFill>
        <p:spPr bwMode="gray">
          <a:xfrm>
            <a:off x="6707715" y="4717880"/>
            <a:ext cx="540000" cy="442800"/>
          </a:xfrm>
          <a:prstGeom prst="rect">
            <a:avLst/>
          </a:prstGeom>
        </p:spPr>
      </p:pic>
      <p:pic>
        <p:nvPicPr>
          <p:cNvPr id="13" name="图片 17"/>
          <p:cNvPicPr/>
          <p:nvPr/>
        </p:nvPicPr>
        <p:blipFill>
          <a:blip r:embed="rId1" cstate="print">
            <a:extLst>
              <a:ext uri="{28A0092B-C50C-407E-A947-70E740481C1C}">
                <a14:useLocalDpi xmlns:a14="http://schemas.microsoft.com/office/drawing/2010/main" val="0"/>
              </a:ext>
            </a:extLst>
          </a:blip>
          <a:stretch>
            <a:fillRect/>
          </a:stretch>
        </p:blipFill>
        <p:spPr bwMode="gray">
          <a:xfrm>
            <a:off x="10651784" y="4719190"/>
            <a:ext cx="540000" cy="442800"/>
          </a:xfrm>
          <a:prstGeom prst="rect">
            <a:avLst/>
          </a:prstGeom>
        </p:spPr>
      </p:pic>
      <p:sp>
        <p:nvSpPr>
          <p:cNvPr id="14" name="文本框 18"/>
          <p:cNvSpPr txBox="1"/>
          <p:nvPr/>
        </p:nvSpPr>
        <p:spPr bwMode="gray">
          <a:xfrm>
            <a:off x="10713428" y="5161990"/>
            <a:ext cx="413896" cy="307777"/>
          </a:xfrm>
          <a:prstGeom prst="rect">
            <a:avLst/>
          </a:prstGeom>
          <a:noFill/>
        </p:spPr>
        <p:txBody>
          <a:bodyPr wrap="none" rtlCol="0">
            <a:spAutoFit/>
          </a:bodyPr>
          <a:lstStyle/>
          <a:p>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R3</a:t>
            </a:r>
            <a:endParaRPr lang="zh-CN" altLang="en-US" sz="1400" b="1">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 name="文本框 19"/>
          <p:cNvSpPr txBox="1"/>
          <p:nvPr/>
        </p:nvSpPr>
        <p:spPr bwMode="gray">
          <a:xfrm>
            <a:off x="7773359" y="2599958"/>
            <a:ext cx="1487908" cy="307777"/>
          </a:xfrm>
          <a:prstGeom prst="rect">
            <a:avLst/>
          </a:prstGeom>
          <a:noFill/>
        </p:spPr>
        <p:txBody>
          <a:bodyPr wrap="none" rtlCol="0">
            <a:spAutoFit/>
          </a:bodyPr>
          <a:lstStyle/>
          <a:p>
            <a:r>
              <a:rPr lang="en-US" altLang="zh-CN" sz="1400" b="1" dirty="0" err="1">
                <a:latin typeface="Huawei Sans" panose="020C0503030203020204" pitchFamily="34" charset="0"/>
                <a:ea typeface="方正兰亭黑简体" panose="02000000000000000000" pitchFamily="2" charset="-122"/>
                <a:sym typeface="Huawei Sans" panose="020C0503030203020204" pitchFamily="34" charset="0"/>
              </a:rPr>
              <a:t>iMaster</a:t>
            </a: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 NCE-IP</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6" name="图片 20" descr="通用网管-蓝.png"/>
          <p:cNvPicPr>
            <a:picLocks noChangeAspect="1"/>
          </p:cNvPicPr>
          <p:nvPr/>
        </p:nvPicPr>
        <p:blipFill>
          <a:blip r:embed="rId2" cstate="print"/>
          <a:stretch>
            <a:fillRect/>
          </a:stretch>
        </p:blipFill>
        <p:spPr bwMode="gray">
          <a:xfrm>
            <a:off x="9207282" y="2535194"/>
            <a:ext cx="540000" cy="441818"/>
          </a:xfrm>
          <a:prstGeom prst="rect">
            <a:avLst/>
          </a:prstGeom>
        </p:spPr>
      </p:pic>
      <p:sp>
        <p:nvSpPr>
          <p:cNvPr id="17" name="文本框 22"/>
          <p:cNvSpPr txBox="1"/>
          <p:nvPr/>
        </p:nvSpPr>
        <p:spPr bwMode="gray">
          <a:xfrm>
            <a:off x="6743161" y="5161990"/>
            <a:ext cx="413896" cy="307777"/>
          </a:xfrm>
          <a:prstGeom prst="rect">
            <a:avLst/>
          </a:prstGeom>
          <a:noFill/>
        </p:spPr>
        <p:txBody>
          <a:bodyPr wrap="none" rtlCol="0">
            <a:spAutoFit/>
          </a:bodyPr>
          <a:lstStyle/>
          <a:p>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R1</a:t>
            </a:r>
            <a:endParaRPr lang="zh-CN" altLang="en-US" sz="1400" b="1">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 name="文本框 41"/>
          <p:cNvSpPr txBox="1"/>
          <p:nvPr/>
        </p:nvSpPr>
        <p:spPr bwMode="gray">
          <a:xfrm rot="1111387">
            <a:off x="7683218" y="5144981"/>
            <a:ext cx="466794" cy="307777"/>
          </a:xfrm>
          <a:prstGeom prst="rect">
            <a:avLst/>
          </a:prstGeom>
          <a:noFill/>
        </p:spPr>
        <p:txBody>
          <a:bodyPr wrap="none" rtlCol="0">
            <a:spAutoFit/>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IGP</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0" name="直接连接符 42"/>
          <p:cNvCxnSpPr>
            <a:stCxn id="12" idx="0"/>
            <a:endCxn id="16" idx="2"/>
          </p:cNvCxnSpPr>
          <p:nvPr/>
        </p:nvCxnSpPr>
        <p:spPr bwMode="gray">
          <a:xfrm flipV="1">
            <a:off x="6977715" y="2977012"/>
            <a:ext cx="2499567" cy="1740868"/>
          </a:xfrm>
          <a:prstGeom prst="line">
            <a:avLst/>
          </a:prstGeom>
          <a:ln w="19050">
            <a:solidFill>
              <a:srgbClr val="FCC800"/>
            </a:solidFill>
            <a:prstDash val="sysDash"/>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1" name="直接连接符 45"/>
          <p:cNvCxnSpPr>
            <a:stCxn id="9" idx="0"/>
            <a:endCxn id="16" idx="2"/>
          </p:cNvCxnSpPr>
          <p:nvPr/>
        </p:nvCxnSpPr>
        <p:spPr bwMode="gray">
          <a:xfrm flipV="1">
            <a:off x="8991267" y="2977012"/>
            <a:ext cx="486015" cy="895896"/>
          </a:xfrm>
          <a:prstGeom prst="line">
            <a:avLst/>
          </a:prstGeom>
          <a:ln w="19050">
            <a:solidFill>
              <a:srgbClr val="FCC800"/>
            </a:solidFill>
            <a:prstDash val="sysDash"/>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2" name="直接连接符 48"/>
          <p:cNvCxnSpPr>
            <a:stCxn id="13" idx="0"/>
            <a:endCxn id="16" idx="2"/>
          </p:cNvCxnSpPr>
          <p:nvPr/>
        </p:nvCxnSpPr>
        <p:spPr bwMode="gray">
          <a:xfrm flipH="1" flipV="1">
            <a:off x="9477282" y="2977012"/>
            <a:ext cx="1444502" cy="1742178"/>
          </a:xfrm>
          <a:prstGeom prst="line">
            <a:avLst/>
          </a:prstGeom>
          <a:ln w="19050">
            <a:solidFill>
              <a:srgbClr val="FCC800"/>
            </a:solidFill>
            <a:prstDash val="sysDash"/>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3" name="直接连接符 52"/>
          <p:cNvCxnSpPr>
            <a:stCxn id="10" idx="0"/>
            <a:endCxn id="16" idx="2"/>
          </p:cNvCxnSpPr>
          <p:nvPr/>
        </p:nvCxnSpPr>
        <p:spPr bwMode="gray">
          <a:xfrm flipV="1">
            <a:off x="8991267" y="2977012"/>
            <a:ext cx="486015" cy="2575681"/>
          </a:xfrm>
          <a:prstGeom prst="line">
            <a:avLst/>
          </a:prstGeom>
          <a:ln w="19050">
            <a:solidFill>
              <a:srgbClr val="FCC800"/>
            </a:solidFill>
            <a:prstDash val="sysDash"/>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6" name="文本框 15"/>
          <p:cNvSpPr txBox="1"/>
          <p:nvPr/>
        </p:nvSpPr>
        <p:spPr bwMode="gray">
          <a:xfrm>
            <a:off x="8784319" y="5213502"/>
            <a:ext cx="413896" cy="307777"/>
          </a:xfrm>
          <a:prstGeom prst="rect">
            <a:avLst/>
          </a:prstGeom>
          <a:noFill/>
        </p:spPr>
        <p:txBody>
          <a:bodyPr wrap="none" rtlCol="0">
            <a:spAutoFit/>
          </a:bodyPr>
          <a:lstStyle/>
          <a:p>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R4</a:t>
            </a:r>
            <a:endParaRPr lang="zh-CN" altLang="en-US" sz="1400" b="1">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Freeform 39"/>
          <p:cNvSpPr/>
          <p:nvPr/>
        </p:nvSpPr>
        <p:spPr bwMode="gray">
          <a:xfrm>
            <a:off x="5825807" y="4144008"/>
            <a:ext cx="5923280" cy="837223"/>
          </a:xfrm>
          <a:custGeom>
            <a:avLst/>
            <a:gdLst>
              <a:gd name="connsiteX0" fmla="*/ 0 w 5923280"/>
              <a:gd name="connsiteY0" fmla="*/ 822973 h 901913"/>
              <a:gd name="connsiteX1" fmla="*/ 1036320 w 5923280"/>
              <a:gd name="connsiteY1" fmla="*/ 751853 h 901913"/>
              <a:gd name="connsiteX2" fmla="*/ 3149600 w 5923280"/>
              <a:gd name="connsiteY2" fmla="*/ 13 h 901913"/>
              <a:gd name="connsiteX3" fmla="*/ 4988560 w 5923280"/>
              <a:gd name="connsiteY3" fmla="*/ 772173 h 901913"/>
              <a:gd name="connsiteX4" fmla="*/ 5923280 w 5923280"/>
              <a:gd name="connsiteY4" fmla="*/ 894093 h 9019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23280" h="901913">
                <a:moveTo>
                  <a:pt x="0" y="822973"/>
                </a:moveTo>
                <a:cubicBezTo>
                  <a:pt x="255693" y="855993"/>
                  <a:pt x="511387" y="889013"/>
                  <a:pt x="1036320" y="751853"/>
                </a:cubicBezTo>
                <a:cubicBezTo>
                  <a:pt x="1561253" y="614693"/>
                  <a:pt x="2490893" y="-3374"/>
                  <a:pt x="3149600" y="13"/>
                </a:cubicBezTo>
                <a:cubicBezTo>
                  <a:pt x="3808307" y="3400"/>
                  <a:pt x="4526280" y="623160"/>
                  <a:pt x="4988560" y="772173"/>
                </a:cubicBezTo>
                <a:cubicBezTo>
                  <a:pt x="5450840" y="921186"/>
                  <a:pt x="5687060" y="907639"/>
                  <a:pt x="5923280" y="894093"/>
                </a:cubicBezTo>
              </a:path>
            </a:pathLst>
          </a:custGeom>
          <a:noFill/>
          <a:ln w="38100">
            <a:solidFill>
              <a:srgbClr val="E28189"/>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文本框 41"/>
          <p:cNvSpPr txBox="1"/>
          <p:nvPr/>
        </p:nvSpPr>
        <p:spPr bwMode="gray">
          <a:xfrm rot="20423454">
            <a:off x="7237208" y="4444314"/>
            <a:ext cx="1523174" cy="307777"/>
          </a:xfrm>
          <a:prstGeom prst="rect">
            <a:avLst/>
          </a:prstGeom>
          <a:noFill/>
        </p:spPr>
        <p:txBody>
          <a:bodyPr wrap="none" rtlCol="0">
            <a:spAutoFit/>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SRv6 Policy</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隧道</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文本框 68"/>
          <p:cNvSpPr txBox="1"/>
          <p:nvPr/>
        </p:nvSpPr>
        <p:spPr bwMode="gray">
          <a:xfrm rot="19514971">
            <a:off x="6599534" y="3615258"/>
            <a:ext cx="2866490" cy="307777"/>
          </a:xfrm>
          <a:prstGeom prst="rect">
            <a:avLst/>
          </a:prstGeom>
          <a:noFill/>
        </p:spPr>
        <p:txBody>
          <a:bodyPr wrap="none" rtlCol="0">
            <a:spAutoFit/>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NETCONF/BGP-LS/BGP SR Policy</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gray"/>
        <p:txBody>
          <a:bodyPr/>
          <a:lstStyle/>
          <a:p>
            <a:r>
              <a:rPr lang="en-US" altLang="zh-CN" dirty="0"/>
              <a:t>SRv6 Policy</a:t>
            </a:r>
            <a:r>
              <a:rPr lang="zh-CN" altLang="en-US" dirty="0"/>
              <a:t>隧道发布流程</a:t>
            </a:r>
            <a:endParaRPr lang="zh-CN" altLang="en-US" dirty="0"/>
          </a:p>
        </p:txBody>
      </p:sp>
      <p:sp>
        <p:nvSpPr>
          <p:cNvPr id="3" name="Text Placeholder 2"/>
          <p:cNvSpPr>
            <a:spLocks noGrp="1"/>
          </p:cNvSpPr>
          <p:nvPr>
            <p:ph type="body" sz="quarter" idx="10"/>
          </p:nvPr>
        </p:nvSpPr>
        <p:spPr bwMode="gray">
          <a:xfrm>
            <a:off x="455613" y="1047750"/>
            <a:ext cx="5640388" cy="4879805"/>
          </a:xfrm>
        </p:spPr>
        <p:txBody>
          <a:bodyPr/>
          <a:lstStyle/>
          <a:p>
            <a:r>
              <a:rPr lang="zh-CN" altLang="en-US" sz="1800" dirty="0"/>
              <a:t>为方便配置，控制器提供以下功能：</a:t>
            </a:r>
            <a:endParaRPr lang="zh-CN" altLang="en-US" sz="1800" dirty="0"/>
          </a:p>
          <a:p>
            <a:pPr lvl="1"/>
            <a:r>
              <a:rPr lang="zh-CN" altLang="en-US" sz="1600" dirty="0"/>
              <a:t>创建双向隧道，即在创建源节点到宿节点的隧道时，直接创建宿节点到源节点的隧道。</a:t>
            </a:r>
            <a:endParaRPr lang="zh-CN" altLang="en-US" sz="1600" dirty="0"/>
          </a:p>
          <a:p>
            <a:pPr lvl="1"/>
            <a:r>
              <a:rPr lang="zh-CN" altLang="en-US" sz="1600" dirty="0"/>
              <a:t>支持创建隧道模板，</a:t>
            </a:r>
            <a:r>
              <a:rPr lang="en-US" altLang="zh-CN" sz="1600" dirty="0"/>
              <a:t>Color</a:t>
            </a:r>
            <a:r>
              <a:rPr lang="zh-CN" altLang="en-US" sz="1600" dirty="0"/>
              <a:t>模板，简化参数的重复配置。</a:t>
            </a:r>
            <a:endParaRPr lang="en-US" altLang="zh-CN" sz="1600" dirty="0"/>
          </a:p>
          <a:p>
            <a:r>
              <a:rPr lang="zh-CN" altLang="en-US" sz="1800" dirty="0"/>
              <a:t>在华为云广域网络解决方案中：</a:t>
            </a:r>
            <a:endParaRPr lang="zh-CN" altLang="en-US" sz="1800" dirty="0"/>
          </a:p>
          <a:p>
            <a:pPr lvl="1"/>
            <a:r>
              <a:rPr lang="en-US" altLang="zh-CN" sz="1600" dirty="0"/>
              <a:t>SRv6 Policy</a:t>
            </a:r>
            <a:r>
              <a:rPr lang="zh-CN" altLang="en-US" sz="1600" dirty="0"/>
              <a:t>：配置信息由</a:t>
            </a:r>
            <a:r>
              <a:rPr lang="en-US" altLang="zh-CN" sz="1600" dirty="0"/>
              <a:t>BGP IPv6 SR Policy</a:t>
            </a:r>
            <a:r>
              <a:rPr lang="zh-CN" altLang="en-US" sz="1600" dirty="0"/>
              <a:t>下发，隧道状态由</a:t>
            </a:r>
            <a:r>
              <a:rPr lang="en-US" altLang="zh-CN" sz="1600" dirty="0"/>
              <a:t>BGP-LS</a:t>
            </a:r>
            <a:r>
              <a:rPr lang="zh-CN" altLang="en-US" sz="1600" dirty="0"/>
              <a:t>上报。</a:t>
            </a:r>
            <a:endParaRPr lang="zh-CN" altLang="en-US" sz="1600" dirty="0"/>
          </a:p>
        </p:txBody>
      </p:sp>
      <p:sp>
        <p:nvSpPr>
          <p:cNvPr id="5" name="Oval 41"/>
          <p:cNvSpPr>
            <a:spLocks noChangeAspect="1"/>
          </p:cNvSpPr>
          <p:nvPr/>
        </p:nvSpPr>
        <p:spPr bwMode="gray">
          <a:xfrm>
            <a:off x="8191013" y="1382102"/>
            <a:ext cx="159261" cy="159261"/>
          </a:xfrm>
          <a:prstGeom prst="ellipse">
            <a:avLst/>
          </a:prstGeom>
          <a:solidFill>
            <a:srgbClr val="FFC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latin typeface="Huawei Sans" panose="020C0503030203020204" pitchFamily="34" charset="0"/>
              <a:ea typeface="方正兰亭黑简体" panose="02000000000000000000" pitchFamily="2" charset="-122"/>
            </a:endParaRPr>
          </a:p>
        </p:txBody>
      </p:sp>
      <p:sp>
        <p:nvSpPr>
          <p:cNvPr id="6" name="Oval 41"/>
          <p:cNvSpPr>
            <a:spLocks noChangeAspect="1"/>
          </p:cNvSpPr>
          <p:nvPr/>
        </p:nvSpPr>
        <p:spPr bwMode="gray">
          <a:xfrm>
            <a:off x="8917020" y="1375963"/>
            <a:ext cx="159261" cy="159261"/>
          </a:xfrm>
          <a:prstGeom prst="ellipse">
            <a:avLst/>
          </a:prstGeom>
          <a:solidFill>
            <a:srgbClr val="FFC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latin typeface="Huawei Sans" panose="020C0503030203020204" pitchFamily="34" charset="0"/>
              <a:ea typeface="方正兰亭黑简体" panose="02000000000000000000" pitchFamily="2" charset="-122"/>
            </a:endParaRPr>
          </a:p>
        </p:txBody>
      </p:sp>
      <p:sp>
        <p:nvSpPr>
          <p:cNvPr id="7" name="Oval 41"/>
          <p:cNvSpPr>
            <a:spLocks noChangeAspect="1"/>
          </p:cNvSpPr>
          <p:nvPr/>
        </p:nvSpPr>
        <p:spPr bwMode="gray">
          <a:xfrm>
            <a:off x="8917708" y="1801076"/>
            <a:ext cx="159261" cy="159261"/>
          </a:xfrm>
          <a:prstGeom prst="ellipse">
            <a:avLst/>
          </a:prstGeom>
          <a:solidFill>
            <a:srgbClr val="FFC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latin typeface="Huawei Sans" panose="020C0503030203020204" pitchFamily="34" charset="0"/>
              <a:ea typeface="方正兰亭黑简体" panose="02000000000000000000" pitchFamily="2" charset="-122"/>
            </a:endParaRPr>
          </a:p>
        </p:txBody>
      </p:sp>
      <p:sp>
        <p:nvSpPr>
          <p:cNvPr id="8" name="Oval 41"/>
          <p:cNvSpPr>
            <a:spLocks noChangeAspect="1"/>
          </p:cNvSpPr>
          <p:nvPr/>
        </p:nvSpPr>
        <p:spPr bwMode="gray">
          <a:xfrm>
            <a:off x="9655237" y="1807179"/>
            <a:ext cx="159261" cy="159261"/>
          </a:xfrm>
          <a:prstGeom prst="ellipse">
            <a:avLst/>
          </a:prstGeom>
          <a:solidFill>
            <a:srgbClr val="FFC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latin typeface="Huawei Sans" panose="020C0503030203020204" pitchFamily="34" charset="0"/>
              <a:ea typeface="方正兰亭黑简体" panose="02000000000000000000" pitchFamily="2" charset="-122"/>
            </a:endParaRPr>
          </a:p>
        </p:txBody>
      </p:sp>
      <p:pic>
        <p:nvPicPr>
          <p:cNvPr id="10" name="图片 31"/>
          <p:cNvPicPr>
            <a:picLocks noChangeAspect="1"/>
          </p:cNvPicPr>
          <p:nvPr/>
        </p:nvPicPr>
        <p:blipFill>
          <a:blip r:embed="rId1"/>
          <a:stretch>
            <a:fillRect/>
          </a:stretch>
        </p:blipFill>
        <p:spPr bwMode="gray">
          <a:xfrm>
            <a:off x="7201307" y="3506595"/>
            <a:ext cx="466668" cy="389308"/>
          </a:xfrm>
          <a:prstGeom prst="rect">
            <a:avLst/>
          </a:prstGeom>
        </p:spPr>
      </p:pic>
      <p:pic>
        <p:nvPicPr>
          <p:cNvPr id="11" name="图片 31"/>
          <p:cNvPicPr>
            <a:picLocks noChangeAspect="1"/>
          </p:cNvPicPr>
          <p:nvPr/>
        </p:nvPicPr>
        <p:blipFill>
          <a:blip r:embed="rId1"/>
          <a:stretch>
            <a:fillRect/>
          </a:stretch>
        </p:blipFill>
        <p:spPr bwMode="gray">
          <a:xfrm>
            <a:off x="7201307" y="4517833"/>
            <a:ext cx="466668" cy="389308"/>
          </a:xfrm>
          <a:prstGeom prst="rect">
            <a:avLst/>
          </a:prstGeom>
        </p:spPr>
      </p:pic>
      <p:pic>
        <p:nvPicPr>
          <p:cNvPr id="12" name="图片 31"/>
          <p:cNvPicPr>
            <a:picLocks noChangeAspect="1"/>
          </p:cNvPicPr>
          <p:nvPr/>
        </p:nvPicPr>
        <p:blipFill>
          <a:blip r:embed="rId1"/>
          <a:stretch>
            <a:fillRect/>
          </a:stretch>
        </p:blipFill>
        <p:spPr bwMode="gray">
          <a:xfrm>
            <a:off x="8744357" y="3502812"/>
            <a:ext cx="466668" cy="389308"/>
          </a:xfrm>
          <a:prstGeom prst="rect">
            <a:avLst/>
          </a:prstGeom>
        </p:spPr>
      </p:pic>
      <p:pic>
        <p:nvPicPr>
          <p:cNvPr id="13" name="图片 31"/>
          <p:cNvPicPr>
            <a:picLocks noChangeAspect="1"/>
          </p:cNvPicPr>
          <p:nvPr/>
        </p:nvPicPr>
        <p:blipFill>
          <a:blip r:embed="rId1"/>
          <a:stretch>
            <a:fillRect/>
          </a:stretch>
        </p:blipFill>
        <p:spPr bwMode="gray">
          <a:xfrm>
            <a:off x="8744357" y="4517833"/>
            <a:ext cx="466668" cy="389308"/>
          </a:xfrm>
          <a:prstGeom prst="rect">
            <a:avLst/>
          </a:prstGeom>
        </p:spPr>
      </p:pic>
      <p:pic>
        <p:nvPicPr>
          <p:cNvPr id="14" name="图片 31"/>
          <p:cNvPicPr>
            <a:picLocks noChangeAspect="1"/>
          </p:cNvPicPr>
          <p:nvPr/>
        </p:nvPicPr>
        <p:blipFill>
          <a:blip r:embed="rId1"/>
          <a:stretch>
            <a:fillRect/>
          </a:stretch>
        </p:blipFill>
        <p:spPr bwMode="gray">
          <a:xfrm>
            <a:off x="10287407" y="3506595"/>
            <a:ext cx="466668" cy="389308"/>
          </a:xfrm>
          <a:prstGeom prst="rect">
            <a:avLst/>
          </a:prstGeom>
        </p:spPr>
      </p:pic>
      <p:pic>
        <p:nvPicPr>
          <p:cNvPr id="15" name="图片 31"/>
          <p:cNvPicPr>
            <a:picLocks noChangeAspect="1"/>
          </p:cNvPicPr>
          <p:nvPr/>
        </p:nvPicPr>
        <p:blipFill>
          <a:blip r:embed="rId1"/>
          <a:stretch>
            <a:fillRect/>
          </a:stretch>
        </p:blipFill>
        <p:spPr bwMode="gray">
          <a:xfrm>
            <a:off x="10287407" y="4521616"/>
            <a:ext cx="466668" cy="389308"/>
          </a:xfrm>
          <a:prstGeom prst="rect">
            <a:avLst/>
          </a:prstGeom>
        </p:spPr>
      </p:pic>
      <p:cxnSp>
        <p:nvCxnSpPr>
          <p:cNvPr id="16" name="Straight Connector 15"/>
          <p:cNvCxnSpPr>
            <a:stCxn id="10" idx="3"/>
            <a:endCxn id="12" idx="1"/>
          </p:cNvCxnSpPr>
          <p:nvPr/>
        </p:nvCxnSpPr>
        <p:spPr bwMode="gray">
          <a:xfrm flipV="1">
            <a:off x="7667975" y="3697466"/>
            <a:ext cx="1076382" cy="3783"/>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a:stCxn id="11" idx="3"/>
            <a:endCxn id="13" idx="1"/>
          </p:cNvCxnSpPr>
          <p:nvPr/>
        </p:nvCxnSpPr>
        <p:spPr bwMode="gray">
          <a:xfrm>
            <a:off x="7667975" y="4712487"/>
            <a:ext cx="1076382"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stCxn id="10" idx="2"/>
            <a:endCxn id="11" idx="0"/>
          </p:cNvCxnSpPr>
          <p:nvPr/>
        </p:nvCxnSpPr>
        <p:spPr bwMode="gray">
          <a:xfrm>
            <a:off x="7434641" y="3895903"/>
            <a:ext cx="0" cy="62193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a:stCxn id="12" idx="2"/>
            <a:endCxn id="13" idx="0"/>
          </p:cNvCxnSpPr>
          <p:nvPr/>
        </p:nvCxnSpPr>
        <p:spPr bwMode="gray">
          <a:xfrm>
            <a:off x="8977691" y="3892120"/>
            <a:ext cx="0" cy="625713"/>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a:stCxn id="14" idx="2"/>
            <a:endCxn id="15" idx="0"/>
          </p:cNvCxnSpPr>
          <p:nvPr/>
        </p:nvCxnSpPr>
        <p:spPr bwMode="gray">
          <a:xfrm>
            <a:off x="10520741" y="3895903"/>
            <a:ext cx="0" cy="625713"/>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a:stCxn id="15" idx="1"/>
            <a:endCxn id="13" idx="3"/>
          </p:cNvCxnSpPr>
          <p:nvPr/>
        </p:nvCxnSpPr>
        <p:spPr bwMode="gray">
          <a:xfrm flipH="1" flipV="1">
            <a:off x="9211025" y="4712487"/>
            <a:ext cx="1076382" cy="3783"/>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a:stCxn id="14" idx="1"/>
            <a:endCxn id="12" idx="3"/>
          </p:cNvCxnSpPr>
          <p:nvPr/>
        </p:nvCxnSpPr>
        <p:spPr bwMode="gray">
          <a:xfrm flipH="1" flipV="1">
            <a:off x="9211025" y="3697466"/>
            <a:ext cx="1076382" cy="3783"/>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3" name="TextBox 271"/>
          <p:cNvSpPr txBox="1"/>
          <p:nvPr/>
        </p:nvSpPr>
        <p:spPr bwMode="gray">
          <a:xfrm>
            <a:off x="8988134" y="3285751"/>
            <a:ext cx="373820" cy="276999"/>
          </a:xfrm>
          <a:prstGeom prst="rect">
            <a:avLst/>
          </a:prstGeom>
          <a:noFill/>
        </p:spPr>
        <p:txBody>
          <a:bodyPr wrap="none" rtlCol="0">
            <a:spAutoFit/>
          </a:bodyPr>
          <a:lstStyle/>
          <a:p>
            <a:pPr>
              <a:buFont typeface="Wingdings" panose="05000000000000000000"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RR</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TextBox 271"/>
          <p:cNvSpPr txBox="1"/>
          <p:nvPr/>
        </p:nvSpPr>
        <p:spPr bwMode="gray">
          <a:xfrm>
            <a:off x="7052904" y="3285751"/>
            <a:ext cx="444352" cy="276999"/>
          </a:xfrm>
          <a:prstGeom prst="rect">
            <a:avLst/>
          </a:prstGeom>
          <a:noFill/>
        </p:spPr>
        <p:txBody>
          <a:bodyPr wrap="none" rtlCol="0">
            <a:spAutoFit/>
          </a:bodyPr>
          <a:lstStyle/>
          <a:p>
            <a:pPr>
              <a:buFont typeface="Wingdings" panose="05000000000000000000"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PE1</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TextBox 271"/>
          <p:cNvSpPr txBox="1"/>
          <p:nvPr/>
        </p:nvSpPr>
        <p:spPr bwMode="gray">
          <a:xfrm>
            <a:off x="7223623" y="4865968"/>
            <a:ext cx="444352" cy="276999"/>
          </a:xfrm>
          <a:prstGeom prst="rect">
            <a:avLst/>
          </a:prstGeom>
          <a:noFill/>
        </p:spPr>
        <p:txBody>
          <a:bodyPr wrap="none" rtlCol="0">
            <a:spAutoFit/>
          </a:bodyPr>
          <a:lstStyle/>
          <a:p>
            <a:pPr>
              <a:buFont typeface="Wingdings" panose="05000000000000000000"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PE2</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TextBox 271"/>
          <p:cNvSpPr txBox="1"/>
          <p:nvPr/>
        </p:nvSpPr>
        <p:spPr bwMode="gray">
          <a:xfrm>
            <a:off x="8797994" y="4865968"/>
            <a:ext cx="359394" cy="276999"/>
          </a:xfrm>
          <a:prstGeom prst="rect">
            <a:avLst/>
          </a:prstGeom>
          <a:noFill/>
        </p:spPr>
        <p:txBody>
          <a:bodyPr wrap="none" rtlCol="0">
            <a:spAutoFit/>
          </a:bodyPr>
          <a:lstStyle/>
          <a:p>
            <a:pPr>
              <a:buFont typeface="Wingdings" panose="05000000000000000000"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P1</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 name="TextBox 271"/>
          <p:cNvSpPr txBox="1"/>
          <p:nvPr/>
        </p:nvSpPr>
        <p:spPr bwMode="gray">
          <a:xfrm>
            <a:off x="10298565" y="4865968"/>
            <a:ext cx="444352" cy="276999"/>
          </a:xfrm>
          <a:prstGeom prst="rect">
            <a:avLst/>
          </a:prstGeom>
          <a:noFill/>
        </p:spPr>
        <p:txBody>
          <a:bodyPr wrap="none" rtlCol="0">
            <a:spAutoFit/>
          </a:bodyPr>
          <a:lstStyle/>
          <a:p>
            <a:pPr>
              <a:buFont typeface="Wingdings" panose="05000000000000000000"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PE4</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TextBox 271"/>
          <p:cNvSpPr txBox="1"/>
          <p:nvPr/>
        </p:nvSpPr>
        <p:spPr bwMode="gray">
          <a:xfrm>
            <a:off x="10467082" y="3289905"/>
            <a:ext cx="444352" cy="276999"/>
          </a:xfrm>
          <a:prstGeom prst="rect">
            <a:avLst/>
          </a:prstGeom>
          <a:noFill/>
        </p:spPr>
        <p:txBody>
          <a:bodyPr wrap="none" rtlCol="0">
            <a:spAutoFit/>
          </a:bodyPr>
          <a:lstStyle/>
          <a:p>
            <a:pPr>
              <a:buFont typeface="Wingdings" panose="05000000000000000000"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PE3</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9" name="图片 2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bwMode="gray">
          <a:xfrm>
            <a:off x="7999520" y="2114796"/>
            <a:ext cx="1977229" cy="364654"/>
          </a:xfrm>
          <a:prstGeom prst="rect">
            <a:avLst/>
          </a:prstGeom>
        </p:spPr>
      </p:pic>
      <p:sp>
        <p:nvSpPr>
          <p:cNvPr id="30" name="圆角矩形 75"/>
          <p:cNvSpPr/>
          <p:nvPr/>
        </p:nvSpPr>
        <p:spPr bwMode="gray">
          <a:xfrm>
            <a:off x="7917530" y="2088450"/>
            <a:ext cx="2115918" cy="403280"/>
          </a:xfrm>
          <a:prstGeom prst="roundRect">
            <a:avLst>
              <a:gd name="adj" fmla="val 2420"/>
            </a:avLst>
          </a:prstGeom>
          <a:noFill/>
          <a:ln w="19050" cap="flat" cmpd="sng" algn="ctr">
            <a:solidFill>
              <a:srgbClr val="30B5C5"/>
            </a:solidFill>
            <a:prstDash val="dash"/>
            <a:miter lim="800000"/>
          </a:ln>
          <a:effectLst/>
        </p:spPr>
        <p:txBody>
          <a:bodyPr wrap="square" lIns="108000" tIns="108000" rIns="108000" bIns="108000" rtlCol="0" anchor="ctr" anchorCtr="0">
            <a:noAutofit/>
          </a:bodyPr>
          <a:lstStyle/>
          <a:p>
            <a:pPr marL="0" marR="0" lvl="0" indent="0" algn="just" defTabSz="914400" eaLnBrk="1" fontAlgn="ctr" latinLnBrk="0" hangingPunct="1">
              <a:lnSpc>
                <a:spcPts val="1800"/>
              </a:lnSpc>
              <a:spcBef>
                <a:spcPts val="0"/>
              </a:spcBef>
              <a:spcAft>
                <a:spcPts val="300"/>
              </a:spcAft>
              <a:buClrTx/>
              <a:buSzTx/>
              <a:buFontTx/>
              <a:buNone/>
              <a:defRPr/>
            </a:pPr>
            <a:endParaRPr kumimoji="0" lang="en-US" altLang="zh-CN" sz="1400" b="0" i="0" u="none" strike="noStrike" kern="0" cap="none" spc="0" normalizeH="0" noProof="0" dirty="0">
              <a:ln>
                <a:noFill/>
              </a:ln>
              <a:solidFill>
                <a:prstClr val="black"/>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32" name="TextBox 271"/>
          <p:cNvSpPr txBox="1"/>
          <p:nvPr/>
        </p:nvSpPr>
        <p:spPr bwMode="gray">
          <a:xfrm rot="16200000">
            <a:off x="8507946" y="3010160"/>
            <a:ext cx="696024" cy="276999"/>
          </a:xfrm>
          <a:prstGeom prst="rect">
            <a:avLst/>
          </a:prstGeom>
          <a:noFill/>
        </p:spPr>
        <p:txBody>
          <a:bodyPr wrap="none" rtlCol="0">
            <a:spAutoFit/>
          </a:bodyPr>
          <a:lstStyle/>
          <a:p>
            <a:pPr>
              <a:buFont typeface="Wingdings" panose="05000000000000000000"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BGP-LS</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 name="TextBox 271"/>
          <p:cNvSpPr txBox="1"/>
          <p:nvPr/>
        </p:nvSpPr>
        <p:spPr bwMode="gray">
          <a:xfrm rot="19599356">
            <a:off x="7309366" y="2825760"/>
            <a:ext cx="1503938" cy="276999"/>
          </a:xfrm>
          <a:prstGeom prst="rect">
            <a:avLst/>
          </a:prstGeom>
          <a:noFill/>
        </p:spPr>
        <p:txBody>
          <a:bodyPr wrap="none" rtlCol="0">
            <a:spAutoFit/>
          </a:bodyPr>
          <a:lstStyle/>
          <a:p>
            <a:pPr>
              <a:buFont typeface="Wingdings" panose="05000000000000000000" pitchFamily="2" charset="2"/>
              <a:buNone/>
              <a:defRPr/>
            </a:pPr>
            <a:r>
              <a:rPr lang="en-US" altLang="zh-CN"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BGP IPv6 SR-Policy</a:t>
            </a:r>
            <a:endParaRPr lang="zh-CN" altLang="en-US" sz="1200"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34" name="图片 31"/>
          <p:cNvPicPr>
            <a:picLocks noChangeAspect="1"/>
          </p:cNvPicPr>
          <p:nvPr/>
        </p:nvPicPr>
        <p:blipFill>
          <a:blip r:embed="rId1"/>
          <a:stretch>
            <a:fillRect/>
          </a:stretch>
        </p:blipFill>
        <p:spPr bwMode="gray">
          <a:xfrm>
            <a:off x="6324443" y="3506595"/>
            <a:ext cx="466668" cy="389308"/>
          </a:xfrm>
          <a:prstGeom prst="rect">
            <a:avLst/>
          </a:prstGeom>
        </p:spPr>
      </p:pic>
      <p:pic>
        <p:nvPicPr>
          <p:cNvPr id="35" name="图片 31"/>
          <p:cNvPicPr>
            <a:picLocks noChangeAspect="1"/>
          </p:cNvPicPr>
          <p:nvPr/>
        </p:nvPicPr>
        <p:blipFill>
          <a:blip r:embed="rId1"/>
          <a:stretch>
            <a:fillRect/>
          </a:stretch>
        </p:blipFill>
        <p:spPr bwMode="gray">
          <a:xfrm>
            <a:off x="11141613" y="4521616"/>
            <a:ext cx="466668" cy="389308"/>
          </a:xfrm>
          <a:prstGeom prst="rect">
            <a:avLst/>
          </a:prstGeom>
        </p:spPr>
      </p:pic>
      <p:cxnSp>
        <p:nvCxnSpPr>
          <p:cNvPr id="36" name="Straight Connector 35"/>
          <p:cNvCxnSpPr>
            <a:stCxn id="34" idx="3"/>
            <a:endCxn id="10" idx="1"/>
          </p:cNvCxnSpPr>
          <p:nvPr/>
        </p:nvCxnSpPr>
        <p:spPr bwMode="gray">
          <a:xfrm>
            <a:off x="6791111" y="3701249"/>
            <a:ext cx="410196"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a:stCxn id="15" idx="3"/>
            <a:endCxn id="35" idx="1"/>
          </p:cNvCxnSpPr>
          <p:nvPr/>
        </p:nvCxnSpPr>
        <p:spPr bwMode="gray">
          <a:xfrm>
            <a:off x="10754075" y="4716270"/>
            <a:ext cx="387538"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bwMode="gray">
          <a:xfrm>
            <a:off x="7052904" y="3754704"/>
            <a:ext cx="1862172" cy="0"/>
          </a:xfrm>
          <a:prstGeom prst="line">
            <a:avLst/>
          </a:prstGeom>
          <a:ln w="38100">
            <a:solidFill>
              <a:srgbClr val="E28189"/>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bwMode="gray">
          <a:xfrm>
            <a:off x="8915076" y="3754704"/>
            <a:ext cx="0" cy="896850"/>
          </a:xfrm>
          <a:prstGeom prst="line">
            <a:avLst/>
          </a:prstGeom>
          <a:ln w="38100">
            <a:solidFill>
              <a:srgbClr val="E28189"/>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bwMode="gray">
          <a:xfrm>
            <a:off x="8915076" y="4651554"/>
            <a:ext cx="2005774" cy="0"/>
          </a:xfrm>
          <a:prstGeom prst="line">
            <a:avLst/>
          </a:prstGeom>
          <a:ln w="38100">
            <a:solidFill>
              <a:srgbClr val="E28189"/>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1" name="直接箭头连接符 84"/>
          <p:cNvCxnSpPr>
            <a:stCxn id="29" idx="2"/>
            <a:endCxn id="10" idx="0"/>
          </p:cNvCxnSpPr>
          <p:nvPr/>
        </p:nvCxnSpPr>
        <p:spPr bwMode="gray">
          <a:xfrm flipH="1">
            <a:off x="7434641" y="2479450"/>
            <a:ext cx="1553494" cy="1027145"/>
          </a:xfrm>
          <a:prstGeom prst="straightConnector1">
            <a:avLst/>
          </a:prstGeom>
          <a:ln w="19050" cap="flat" cmpd="sng" algn="ctr">
            <a:solidFill>
              <a:srgbClr val="FFC000"/>
            </a:solidFill>
            <a:prstDash val="sysDot"/>
            <a:round/>
            <a:headEnd type="triangle" w="med" len="med"/>
            <a:tailEnd type="triangl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42" name="直接箭头连接符 84"/>
          <p:cNvCxnSpPr>
            <a:stCxn id="30" idx="2"/>
            <a:endCxn id="14" idx="0"/>
          </p:cNvCxnSpPr>
          <p:nvPr/>
        </p:nvCxnSpPr>
        <p:spPr bwMode="gray">
          <a:xfrm>
            <a:off x="8975489" y="2491730"/>
            <a:ext cx="1545252" cy="1014865"/>
          </a:xfrm>
          <a:prstGeom prst="straightConnector1">
            <a:avLst/>
          </a:prstGeom>
          <a:ln w="19050" cap="flat" cmpd="sng" algn="ctr">
            <a:solidFill>
              <a:srgbClr val="FFC000"/>
            </a:solidFill>
            <a:prstDash val="sysDot"/>
            <a:round/>
            <a:headEnd type="triangle" w="med" len="med"/>
            <a:tailEnd type="triangl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43" name="直接箭头连接符 84"/>
          <p:cNvCxnSpPr>
            <a:stCxn id="30" idx="2"/>
            <a:endCxn id="11" idx="0"/>
          </p:cNvCxnSpPr>
          <p:nvPr/>
        </p:nvCxnSpPr>
        <p:spPr bwMode="gray">
          <a:xfrm flipH="1">
            <a:off x="7434641" y="2491730"/>
            <a:ext cx="1540848" cy="2026103"/>
          </a:xfrm>
          <a:prstGeom prst="straightConnector1">
            <a:avLst/>
          </a:prstGeom>
          <a:ln w="19050" cap="flat" cmpd="sng" algn="ctr">
            <a:solidFill>
              <a:srgbClr val="FFC000"/>
            </a:solidFill>
            <a:prstDash val="sysDot"/>
            <a:round/>
            <a:headEnd type="triangle" w="med" len="med"/>
            <a:tailEnd type="triangl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44" name="直接箭头连接符 84"/>
          <p:cNvCxnSpPr>
            <a:stCxn id="30" idx="2"/>
            <a:endCxn id="15" idx="0"/>
          </p:cNvCxnSpPr>
          <p:nvPr/>
        </p:nvCxnSpPr>
        <p:spPr bwMode="gray">
          <a:xfrm>
            <a:off x="8975489" y="2491730"/>
            <a:ext cx="1545252" cy="2029886"/>
          </a:xfrm>
          <a:prstGeom prst="straightConnector1">
            <a:avLst/>
          </a:prstGeom>
          <a:ln w="19050" cap="flat" cmpd="sng" algn="ctr">
            <a:solidFill>
              <a:srgbClr val="FFC000"/>
            </a:solidFill>
            <a:prstDash val="sysDot"/>
            <a:round/>
            <a:headEnd type="triangle" w="med" len="med"/>
            <a:tailEnd type="triangl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grpSp>
        <p:nvGrpSpPr>
          <p:cNvPr id="45" name="Group 44"/>
          <p:cNvGrpSpPr/>
          <p:nvPr/>
        </p:nvGrpSpPr>
        <p:grpSpPr bwMode="gray">
          <a:xfrm>
            <a:off x="8318541" y="1461733"/>
            <a:ext cx="1420399" cy="428943"/>
            <a:chOff x="4527430" y="4741950"/>
            <a:chExt cx="2969826" cy="896850"/>
          </a:xfrm>
        </p:grpSpPr>
        <p:cxnSp>
          <p:nvCxnSpPr>
            <p:cNvPr id="59" name="Straight Connector 58"/>
            <p:cNvCxnSpPr/>
            <p:nvPr/>
          </p:nvCxnSpPr>
          <p:spPr bwMode="gray">
            <a:xfrm>
              <a:off x="4527430" y="4741950"/>
              <a:ext cx="1417820" cy="0"/>
            </a:xfrm>
            <a:prstGeom prst="line">
              <a:avLst/>
            </a:prstGeom>
            <a:ln w="19050">
              <a:solidFill>
                <a:srgbClr val="56C4D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0" name="Straight Connector 59"/>
            <p:cNvCxnSpPr/>
            <p:nvPr/>
          </p:nvCxnSpPr>
          <p:spPr bwMode="gray">
            <a:xfrm>
              <a:off x="5945250" y="4741950"/>
              <a:ext cx="0" cy="896850"/>
            </a:xfrm>
            <a:prstGeom prst="line">
              <a:avLst/>
            </a:prstGeom>
            <a:ln w="19050">
              <a:solidFill>
                <a:srgbClr val="56C4D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1" name="Straight Connector 60"/>
            <p:cNvCxnSpPr/>
            <p:nvPr/>
          </p:nvCxnSpPr>
          <p:spPr bwMode="gray">
            <a:xfrm>
              <a:off x="5945250" y="5638800"/>
              <a:ext cx="1552006" cy="0"/>
            </a:xfrm>
            <a:prstGeom prst="line">
              <a:avLst/>
            </a:prstGeom>
            <a:ln w="19050">
              <a:solidFill>
                <a:srgbClr val="56C4D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46" name="圆角矩形 75"/>
          <p:cNvSpPr/>
          <p:nvPr/>
        </p:nvSpPr>
        <p:spPr bwMode="gray">
          <a:xfrm>
            <a:off x="7917530" y="1294429"/>
            <a:ext cx="2115918" cy="794020"/>
          </a:xfrm>
          <a:prstGeom prst="roundRect">
            <a:avLst>
              <a:gd name="adj" fmla="val 2420"/>
            </a:avLst>
          </a:prstGeom>
          <a:noFill/>
          <a:ln w="19050" cap="flat" cmpd="sng" algn="ctr">
            <a:solidFill>
              <a:srgbClr val="30B5C5"/>
            </a:solidFill>
            <a:prstDash val="dash"/>
            <a:miter lim="800000"/>
          </a:ln>
          <a:effectLst/>
        </p:spPr>
        <p:txBody>
          <a:bodyPr wrap="square" lIns="108000" tIns="108000" rIns="108000" bIns="108000" rtlCol="0" anchor="ctr" anchorCtr="0">
            <a:noAutofit/>
          </a:bodyPr>
          <a:lstStyle/>
          <a:p>
            <a:pPr marL="0" marR="0" lvl="0" indent="0" algn="just" defTabSz="914400" eaLnBrk="1" fontAlgn="ctr" latinLnBrk="0" hangingPunct="1">
              <a:lnSpc>
                <a:spcPts val="1800"/>
              </a:lnSpc>
              <a:spcBef>
                <a:spcPts val="0"/>
              </a:spcBef>
              <a:spcAft>
                <a:spcPts val="300"/>
              </a:spcAft>
              <a:buClrTx/>
              <a:buSzTx/>
              <a:buFontTx/>
              <a:buNone/>
              <a:defRPr/>
            </a:pPr>
            <a:endParaRPr kumimoji="0" lang="en-US" altLang="zh-CN" sz="1400" b="0" i="0" u="none" strike="noStrike" kern="0" cap="none" spc="0" normalizeH="0" noProof="0" dirty="0">
              <a:ln>
                <a:noFill/>
              </a:ln>
              <a:solidFill>
                <a:prstClr val="black"/>
              </a:solidFill>
              <a:effectLst/>
              <a:uLnTx/>
              <a:uFillTx/>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pic>
        <p:nvPicPr>
          <p:cNvPr id="47" name="图片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10911434" y="2103785"/>
            <a:ext cx="444352" cy="363854"/>
          </a:xfrm>
          <a:prstGeom prst="rect">
            <a:avLst/>
          </a:prstGeom>
        </p:spPr>
      </p:pic>
      <p:sp>
        <p:nvSpPr>
          <p:cNvPr id="48" name="文本框 24"/>
          <p:cNvSpPr txBox="1"/>
          <p:nvPr/>
        </p:nvSpPr>
        <p:spPr bwMode="gray">
          <a:xfrm>
            <a:off x="10640984" y="2445859"/>
            <a:ext cx="954107" cy="276999"/>
          </a:xfrm>
          <a:prstGeom prst="rect">
            <a:avLst/>
          </a:prstGeom>
          <a:noFill/>
        </p:spPr>
        <p:txBody>
          <a:bodyPr wrap="none" rtlCol="0">
            <a:spAutoFit/>
          </a:bodyPr>
          <a:lstStyle/>
          <a:p>
            <a:pPr algn="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网络管理员</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49" name="Straight Arrow Connector 48"/>
          <p:cNvCxnSpPr/>
          <p:nvPr/>
        </p:nvCxnSpPr>
        <p:spPr bwMode="gray">
          <a:xfrm flipH="1">
            <a:off x="10115438" y="2285712"/>
            <a:ext cx="728775" cy="0"/>
          </a:xfrm>
          <a:prstGeom prst="straightConnector1">
            <a:avLst/>
          </a:prstGeom>
          <a:ln w="2857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0" name="椭圆 15"/>
          <p:cNvSpPr>
            <a:spLocks noChangeAspect="1"/>
          </p:cNvSpPr>
          <p:nvPr/>
        </p:nvSpPr>
        <p:spPr bwMode="gray">
          <a:xfrm>
            <a:off x="10419667" y="1868148"/>
            <a:ext cx="190805" cy="190805"/>
          </a:xfrm>
          <a:prstGeom prst="ellipse">
            <a:avLst/>
          </a:prstGeom>
          <a:solidFill>
            <a:srgbClr val="FFC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5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5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1" name="文本框 24"/>
          <p:cNvSpPr txBox="1"/>
          <p:nvPr/>
        </p:nvSpPr>
        <p:spPr bwMode="gray">
          <a:xfrm>
            <a:off x="10120631" y="2023860"/>
            <a:ext cx="800219" cy="276999"/>
          </a:xfrm>
          <a:prstGeom prst="rect">
            <a:avLst/>
          </a:prstGeom>
          <a:noFill/>
        </p:spPr>
        <p:txBody>
          <a:bodyPr wrap="none" rtlCol="0">
            <a:spAutoFit/>
          </a:bodyPr>
          <a:lstStyle/>
          <a:p>
            <a:pPr algn="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输入需求</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2" name="Rectangular Callout 26"/>
          <p:cNvSpPr/>
          <p:nvPr/>
        </p:nvSpPr>
        <p:spPr bwMode="gray">
          <a:xfrm>
            <a:off x="6541569" y="1479196"/>
            <a:ext cx="971334" cy="388952"/>
          </a:xfrm>
          <a:prstGeom prst="wedgeRectCallout">
            <a:avLst>
              <a:gd name="adj1" fmla="val 50756"/>
              <a:gd name="adj2" fmla="val 80147"/>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300355">
              <a:spcBef>
                <a:spcPct val="50000"/>
              </a:spcBef>
            </a:pP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控制器自动规划路径</a:t>
            </a:r>
            <a:endPar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3" name="Freeform: Shape 31"/>
          <p:cNvSpPr/>
          <p:nvPr/>
        </p:nvSpPr>
        <p:spPr bwMode="gray">
          <a:xfrm>
            <a:off x="7578365" y="1822629"/>
            <a:ext cx="304812" cy="438150"/>
          </a:xfrm>
          <a:custGeom>
            <a:avLst/>
            <a:gdLst>
              <a:gd name="connsiteX0" fmla="*/ 304812 w 304812"/>
              <a:gd name="connsiteY0" fmla="*/ 438150 h 438150"/>
              <a:gd name="connsiteX1" fmla="*/ 12 w 304812"/>
              <a:gd name="connsiteY1" fmla="*/ 200025 h 438150"/>
              <a:gd name="connsiteX2" fmla="*/ 295287 w 304812"/>
              <a:gd name="connsiteY2" fmla="*/ 0 h 438150"/>
            </a:gdLst>
            <a:ahLst/>
            <a:cxnLst>
              <a:cxn ang="0">
                <a:pos x="connsiteX0" y="connsiteY0"/>
              </a:cxn>
              <a:cxn ang="0">
                <a:pos x="connsiteX1" y="connsiteY1"/>
              </a:cxn>
              <a:cxn ang="0">
                <a:pos x="connsiteX2" y="connsiteY2"/>
              </a:cxn>
            </a:cxnLst>
            <a:rect l="l" t="t" r="r" b="b"/>
            <a:pathLst>
              <a:path w="304812" h="438150">
                <a:moveTo>
                  <a:pt x="304812" y="438150"/>
                </a:moveTo>
                <a:cubicBezTo>
                  <a:pt x="153205" y="355600"/>
                  <a:pt x="1599" y="273050"/>
                  <a:pt x="12" y="200025"/>
                </a:cubicBezTo>
                <a:cubicBezTo>
                  <a:pt x="-1575" y="127000"/>
                  <a:pt x="146856" y="63500"/>
                  <a:pt x="295287" y="0"/>
                </a:cubicBezTo>
              </a:path>
            </a:pathLst>
          </a:custGeom>
          <a:noFill/>
          <a:ln w="28575">
            <a:solidFill>
              <a:schemeClr val="bg1">
                <a:lumMod val="50000"/>
              </a:schemeClr>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椭圆 15"/>
          <p:cNvSpPr>
            <a:spLocks noChangeAspect="1"/>
          </p:cNvSpPr>
          <p:nvPr/>
        </p:nvSpPr>
        <p:spPr bwMode="gray">
          <a:xfrm>
            <a:off x="6451982" y="1383793"/>
            <a:ext cx="190805" cy="190805"/>
          </a:xfrm>
          <a:prstGeom prst="ellipse">
            <a:avLst/>
          </a:prstGeom>
          <a:solidFill>
            <a:srgbClr val="FFC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5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3</a:t>
            </a:r>
            <a:endParaRPr lang="zh-CN" altLang="en-US" sz="15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5" name="Rectangular Callout 26"/>
          <p:cNvSpPr/>
          <p:nvPr/>
        </p:nvSpPr>
        <p:spPr bwMode="gray">
          <a:xfrm>
            <a:off x="9118449" y="2693863"/>
            <a:ext cx="823010" cy="401017"/>
          </a:xfrm>
          <a:prstGeom prst="wedgeRectCallout">
            <a:avLst>
              <a:gd name="adj1" fmla="val -67898"/>
              <a:gd name="adj2" fmla="val -22707"/>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300355">
              <a:spcBef>
                <a:spcPct val="50000"/>
              </a:spcBef>
            </a:pP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上报网络拓扑</a:t>
            </a:r>
            <a:endPar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6" name="椭圆 15"/>
          <p:cNvSpPr>
            <a:spLocks noChangeAspect="1"/>
          </p:cNvSpPr>
          <p:nvPr/>
        </p:nvSpPr>
        <p:spPr bwMode="gray">
          <a:xfrm>
            <a:off x="9857895" y="2598460"/>
            <a:ext cx="190805" cy="190805"/>
          </a:xfrm>
          <a:prstGeom prst="ellipse">
            <a:avLst/>
          </a:prstGeom>
          <a:solidFill>
            <a:srgbClr val="FFC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5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5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7" name="Rectangular Callout 26"/>
          <p:cNvSpPr/>
          <p:nvPr/>
        </p:nvSpPr>
        <p:spPr bwMode="gray">
          <a:xfrm>
            <a:off x="6778254" y="2861137"/>
            <a:ext cx="643742" cy="388952"/>
          </a:xfrm>
          <a:prstGeom prst="wedgeRectCallout">
            <a:avLst>
              <a:gd name="adj1" fmla="val 71187"/>
              <a:gd name="adj2" fmla="val 21373"/>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300355">
              <a:spcBef>
                <a:spcPct val="50000"/>
              </a:spcBef>
            </a:pP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部署转发路径</a:t>
            </a:r>
            <a:endPar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8" name="椭圆 15"/>
          <p:cNvSpPr>
            <a:spLocks noChangeAspect="1"/>
          </p:cNvSpPr>
          <p:nvPr/>
        </p:nvSpPr>
        <p:spPr bwMode="gray">
          <a:xfrm>
            <a:off x="6685482" y="2773454"/>
            <a:ext cx="190805" cy="190805"/>
          </a:xfrm>
          <a:prstGeom prst="ellipse">
            <a:avLst/>
          </a:prstGeom>
          <a:solidFill>
            <a:srgbClr val="FFC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5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4</a:t>
            </a:r>
            <a:endParaRPr lang="zh-CN" altLang="en-US" sz="15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31" name="直接箭头连接符 84"/>
          <p:cNvCxnSpPr>
            <a:stCxn id="12" idx="0"/>
            <a:endCxn id="30" idx="2"/>
          </p:cNvCxnSpPr>
          <p:nvPr/>
        </p:nvCxnSpPr>
        <p:spPr bwMode="gray">
          <a:xfrm flipH="1" flipV="1">
            <a:off x="8975489" y="2491730"/>
            <a:ext cx="2202" cy="1011082"/>
          </a:xfrm>
          <a:prstGeom prst="straightConnector1">
            <a:avLst/>
          </a:prstGeom>
          <a:ln w="19050" cap="flat" cmpd="sng" algn="ctr">
            <a:solidFill>
              <a:srgbClr val="56C4D2"/>
            </a:solidFill>
            <a:prstDash val="dash"/>
            <a:round/>
            <a:headEnd type="none" w="med" len="med"/>
            <a:tailEnd type="triangl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62" name="Straight Connector 61"/>
          <p:cNvCxnSpPr>
            <a:endCxn id="64" idx="1"/>
          </p:cNvCxnSpPr>
          <p:nvPr/>
        </p:nvCxnSpPr>
        <p:spPr bwMode="gray">
          <a:xfrm>
            <a:off x="9157388" y="5426359"/>
            <a:ext cx="577125" cy="0"/>
          </a:xfrm>
          <a:prstGeom prst="line">
            <a:avLst/>
          </a:prstGeom>
          <a:ln w="38100">
            <a:solidFill>
              <a:srgbClr val="E28189"/>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4" name="文本框 41"/>
          <p:cNvSpPr txBox="1"/>
          <p:nvPr/>
        </p:nvSpPr>
        <p:spPr bwMode="gray">
          <a:xfrm>
            <a:off x="9734513" y="5272470"/>
            <a:ext cx="1523174" cy="307777"/>
          </a:xfrm>
          <a:prstGeom prst="rect">
            <a:avLst/>
          </a:prstGeom>
          <a:noFill/>
        </p:spPr>
        <p:txBody>
          <a:bodyPr wrap="none" rtlCol="0">
            <a:spAutoFit/>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SRv6 Policy</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隧道</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65" name="直接箭头连接符 84"/>
          <p:cNvCxnSpPr/>
          <p:nvPr/>
        </p:nvCxnSpPr>
        <p:spPr bwMode="gray">
          <a:xfrm>
            <a:off x="7680569" y="3577228"/>
            <a:ext cx="1044738" cy="0"/>
          </a:xfrm>
          <a:prstGeom prst="straightConnector1">
            <a:avLst/>
          </a:prstGeom>
          <a:ln w="19050" cap="flat" cmpd="sng" algn="ctr">
            <a:solidFill>
              <a:srgbClr val="56C4D2"/>
            </a:solidFill>
            <a:prstDash val="dash"/>
            <a:round/>
            <a:headEnd type="none" w="med" len="med"/>
            <a:tailEnd type="triangl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66" name="直接箭头连接符 84"/>
          <p:cNvCxnSpPr/>
          <p:nvPr/>
        </p:nvCxnSpPr>
        <p:spPr bwMode="gray">
          <a:xfrm>
            <a:off x="9225746" y="3591307"/>
            <a:ext cx="1044738" cy="0"/>
          </a:xfrm>
          <a:prstGeom prst="straightConnector1">
            <a:avLst/>
          </a:prstGeom>
          <a:ln w="19050" cap="flat" cmpd="sng" algn="ctr">
            <a:solidFill>
              <a:srgbClr val="56C4D2"/>
            </a:solidFill>
            <a:prstDash val="dash"/>
            <a:round/>
            <a:headEnd type="none" w="med" len="med"/>
            <a:tailEnd type="triangl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67" name="直接箭头连接符 84"/>
          <p:cNvCxnSpPr/>
          <p:nvPr/>
        </p:nvCxnSpPr>
        <p:spPr bwMode="gray">
          <a:xfrm flipV="1">
            <a:off x="7680569" y="3906721"/>
            <a:ext cx="1092491" cy="648448"/>
          </a:xfrm>
          <a:prstGeom prst="straightConnector1">
            <a:avLst/>
          </a:prstGeom>
          <a:ln w="19050" cap="flat" cmpd="sng" algn="ctr">
            <a:solidFill>
              <a:srgbClr val="56C4D2"/>
            </a:solidFill>
            <a:prstDash val="dash"/>
            <a:round/>
            <a:headEnd type="none" w="med" len="med"/>
            <a:tailEnd type="triangl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69" name="直接箭头连接符 84"/>
          <p:cNvCxnSpPr/>
          <p:nvPr/>
        </p:nvCxnSpPr>
        <p:spPr bwMode="gray">
          <a:xfrm flipH="1" flipV="1">
            <a:off x="9143454" y="3889561"/>
            <a:ext cx="1125530" cy="676618"/>
          </a:xfrm>
          <a:prstGeom prst="straightConnector1">
            <a:avLst/>
          </a:prstGeom>
          <a:ln w="19050" cap="flat" cmpd="sng" algn="ctr">
            <a:solidFill>
              <a:srgbClr val="56C4D2"/>
            </a:solidFill>
            <a:prstDash val="dash"/>
            <a:round/>
            <a:headEnd type="none" w="med" len="med"/>
            <a:tailEnd type="triangl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75" name="直接箭头连接符 84"/>
          <p:cNvCxnSpPr>
            <a:endCxn id="81" idx="1"/>
          </p:cNvCxnSpPr>
          <p:nvPr/>
        </p:nvCxnSpPr>
        <p:spPr bwMode="gray">
          <a:xfrm>
            <a:off x="9167813" y="5680644"/>
            <a:ext cx="566700" cy="0"/>
          </a:xfrm>
          <a:prstGeom prst="straightConnector1">
            <a:avLst/>
          </a:prstGeom>
          <a:ln w="19050" cap="flat" cmpd="sng" algn="ctr">
            <a:solidFill>
              <a:srgbClr val="56C4D2"/>
            </a:solidFill>
            <a:prstDash val="dash"/>
            <a:round/>
            <a:headEnd type="none" w="med" len="med"/>
            <a:tailEnd type="triangl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78" name="直接箭头连接符 84"/>
          <p:cNvCxnSpPr/>
          <p:nvPr/>
        </p:nvCxnSpPr>
        <p:spPr bwMode="gray">
          <a:xfrm flipH="1">
            <a:off x="9157388" y="5945516"/>
            <a:ext cx="569985" cy="0"/>
          </a:xfrm>
          <a:prstGeom prst="straightConnector1">
            <a:avLst/>
          </a:prstGeom>
          <a:ln w="19050" cap="flat" cmpd="sng" algn="ctr">
            <a:solidFill>
              <a:srgbClr val="FFC000"/>
            </a:solidFill>
            <a:prstDash val="sysDot"/>
            <a:round/>
            <a:headEnd type="triangle" w="med" len="med"/>
            <a:tailEnd type="non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sp>
        <p:nvSpPr>
          <p:cNvPr id="81" name="文本框 41"/>
          <p:cNvSpPr txBox="1"/>
          <p:nvPr/>
        </p:nvSpPr>
        <p:spPr bwMode="gray">
          <a:xfrm>
            <a:off x="9734513" y="5526755"/>
            <a:ext cx="1140056" cy="307777"/>
          </a:xfrm>
          <a:prstGeom prst="rect">
            <a:avLst/>
          </a:prstGeom>
          <a:noFill/>
        </p:spPr>
        <p:txBody>
          <a:bodyPr wrap="none" rtlCol="0">
            <a:spAutoFit/>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BGP-LS</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邻居</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2" name="文本框 41"/>
          <p:cNvSpPr txBox="1"/>
          <p:nvPr/>
        </p:nvSpPr>
        <p:spPr bwMode="gray">
          <a:xfrm>
            <a:off x="9734513" y="5781040"/>
            <a:ext cx="1686680" cy="307777"/>
          </a:xfrm>
          <a:prstGeom prst="rect">
            <a:avLst/>
          </a:prstGeom>
          <a:noFill/>
        </p:spPr>
        <p:txBody>
          <a:bodyPr wrap="none" rtlCol="0">
            <a:spAutoFit/>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BGP SR-Policy</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邻居</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3" name="Rectangular Callout 26"/>
          <p:cNvSpPr/>
          <p:nvPr/>
        </p:nvSpPr>
        <p:spPr bwMode="gray">
          <a:xfrm>
            <a:off x="7722545" y="3836264"/>
            <a:ext cx="676993" cy="401017"/>
          </a:xfrm>
          <a:prstGeom prst="wedgeRectCallout">
            <a:avLst>
              <a:gd name="adj1" fmla="val 23815"/>
              <a:gd name="adj2" fmla="val -115603"/>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300355">
              <a:spcBef>
                <a:spcPct val="50000"/>
              </a:spcBef>
            </a:pP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上报隧道状态</a:t>
            </a:r>
            <a:endPar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4" name="椭圆 15"/>
          <p:cNvSpPr>
            <a:spLocks noChangeAspect="1"/>
          </p:cNvSpPr>
          <p:nvPr/>
        </p:nvSpPr>
        <p:spPr bwMode="gray">
          <a:xfrm>
            <a:off x="8294589" y="4139035"/>
            <a:ext cx="190805" cy="190805"/>
          </a:xfrm>
          <a:prstGeom prst="ellipse">
            <a:avLst/>
          </a:prstGeom>
          <a:solidFill>
            <a:srgbClr val="FFC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5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5</a:t>
            </a:r>
            <a:endParaRPr lang="zh-CN" altLang="en-US" sz="15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gray"/>
        <p:txBody>
          <a:bodyPr/>
          <a:lstStyle/>
          <a:p>
            <a:r>
              <a:rPr lang="en-US" altLang="zh-CN" dirty="0"/>
              <a:t>SRv6 Policy</a:t>
            </a:r>
            <a:r>
              <a:rPr lang="zh-CN" altLang="en-US" dirty="0"/>
              <a:t>隧道算路所需关键信息</a:t>
            </a:r>
            <a:endParaRPr lang="zh-CN" altLang="en-US" dirty="0"/>
          </a:p>
        </p:txBody>
      </p:sp>
      <p:sp>
        <p:nvSpPr>
          <p:cNvPr id="3" name="Text Placeholder 2"/>
          <p:cNvSpPr>
            <a:spLocks noGrp="1"/>
          </p:cNvSpPr>
          <p:nvPr>
            <p:ph type="body" sz="quarter" idx="10"/>
          </p:nvPr>
        </p:nvSpPr>
        <p:spPr bwMode="gray"/>
        <p:txBody>
          <a:bodyPr/>
          <a:lstStyle/>
          <a:p>
            <a:r>
              <a:rPr lang="en-US" altLang="zh-CN" sz="2000" dirty="0" err="1"/>
              <a:t>iMaster</a:t>
            </a:r>
            <a:r>
              <a:rPr lang="en-US" altLang="zh-CN" sz="2000" dirty="0"/>
              <a:t> NCE-IP</a:t>
            </a:r>
            <a:r>
              <a:rPr lang="zh-CN" altLang="en-US" sz="2000" dirty="0"/>
              <a:t>计算</a:t>
            </a:r>
            <a:r>
              <a:rPr lang="en-US" altLang="zh-CN" sz="2000" dirty="0"/>
              <a:t>SRv6</a:t>
            </a:r>
            <a:r>
              <a:rPr lang="zh-CN" altLang="en-US" sz="2000" dirty="0"/>
              <a:t>隧道路径需要通过</a:t>
            </a:r>
            <a:r>
              <a:rPr lang="en-US" altLang="zh-CN" sz="2000" dirty="0"/>
              <a:t>IGP</a:t>
            </a:r>
            <a:r>
              <a:rPr lang="zh-CN" altLang="en-US" sz="2000" dirty="0"/>
              <a:t>收集如下关键信息：</a:t>
            </a:r>
            <a:endParaRPr lang="zh-CN" altLang="en-US" sz="2000" dirty="0"/>
          </a:p>
          <a:p>
            <a:pPr lvl="1"/>
            <a:r>
              <a:rPr lang="en-US" altLang="zh-CN" sz="1800" dirty="0"/>
              <a:t>SID</a:t>
            </a:r>
            <a:r>
              <a:rPr lang="zh-CN" altLang="en-US" sz="1800" dirty="0"/>
              <a:t>：</a:t>
            </a:r>
            <a:r>
              <a:rPr lang="en-US" altLang="zh-CN" sz="1800" dirty="0"/>
              <a:t>END SID</a:t>
            </a:r>
            <a:r>
              <a:rPr lang="zh-CN" altLang="en-US" sz="1800" dirty="0"/>
              <a:t>、</a:t>
            </a:r>
            <a:r>
              <a:rPr lang="en-US" altLang="zh-CN" sz="1800" dirty="0"/>
              <a:t>END.X SID</a:t>
            </a:r>
            <a:r>
              <a:rPr lang="zh-CN" altLang="en-US" sz="1800" dirty="0"/>
              <a:t>。</a:t>
            </a:r>
            <a:endParaRPr lang="zh-CN" altLang="en-US" sz="1800" dirty="0"/>
          </a:p>
          <a:p>
            <a:pPr lvl="1"/>
            <a:r>
              <a:rPr lang="en-US" altLang="zh-CN" sz="1800" dirty="0"/>
              <a:t>Locator</a:t>
            </a:r>
            <a:r>
              <a:rPr lang="zh-CN" altLang="en-US" sz="1800" dirty="0"/>
              <a:t>：节点配置</a:t>
            </a:r>
            <a:r>
              <a:rPr lang="en-US" altLang="zh-CN" sz="1800" dirty="0"/>
              <a:t>Locator</a:t>
            </a:r>
            <a:r>
              <a:rPr lang="zh-CN" altLang="en-US" sz="1800" dirty="0"/>
              <a:t>之后，系统会生成一条</a:t>
            </a:r>
            <a:r>
              <a:rPr lang="en-US" altLang="zh-CN" sz="1800" dirty="0"/>
              <a:t>Locator</a:t>
            </a:r>
            <a:r>
              <a:rPr lang="zh-CN" altLang="en-US" sz="1800" dirty="0"/>
              <a:t>网段路由，并且通过</a:t>
            </a:r>
            <a:r>
              <a:rPr lang="en-US" altLang="zh-CN" sz="1800" dirty="0"/>
              <a:t>IGP</a:t>
            </a:r>
            <a:r>
              <a:rPr lang="zh-CN" altLang="en-US" sz="1800" dirty="0"/>
              <a:t>在</a:t>
            </a:r>
            <a:r>
              <a:rPr lang="en-US" altLang="zh-CN" sz="1800" dirty="0"/>
              <a:t>SR</a:t>
            </a:r>
            <a:r>
              <a:rPr lang="zh-CN" altLang="en-US" sz="1800" dirty="0"/>
              <a:t>域内扩散。网络内其他节点通过</a:t>
            </a:r>
            <a:r>
              <a:rPr lang="en-US" altLang="zh-CN" sz="1800" dirty="0"/>
              <a:t>Locator</a:t>
            </a:r>
            <a:r>
              <a:rPr lang="zh-CN" altLang="en-US" sz="1800" dirty="0"/>
              <a:t>网段路由就可以定位到本节点。</a:t>
            </a:r>
            <a:endParaRPr lang="zh-CN" altLang="en-US" sz="1800" dirty="0"/>
          </a:p>
          <a:p>
            <a:pPr lvl="1"/>
            <a:r>
              <a:rPr lang="zh-CN" altLang="en-US" sz="1800" dirty="0"/>
              <a:t>接口带宽信息：物理带宽、可预留带宽。</a:t>
            </a:r>
            <a:endParaRPr lang="zh-CN" altLang="en-US" sz="1800" dirty="0"/>
          </a:p>
          <a:p>
            <a:pPr lvl="1"/>
            <a:r>
              <a:rPr lang="zh-CN" altLang="en-US" sz="1800" dirty="0"/>
              <a:t>接口时延与丢包率信息。</a:t>
            </a:r>
            <a:endParaRPr lang="en-US" altLang="zh-CN" sz="1800" dirty="0"/>
          </a:p>
          <a:p>
            <a:pPr lvl="1"/>
            <a:r>
              <a:rPr lang="zh-CN" altLang="en-US" sz="1800" dirty="0"/>
              <a:t>网络拓扑信息。</a:t>
            </a:r>
            <a:endParaRPr lang="en-US" altLang="zh-CN" sz="1800" dirty="0"/>
          </a:p>
          <a:p>
            <a:r>
              <a:rPr lang="en-US" altLang="zh-CN" sz="2000" dirty="0"/>
              <a:t>BGP-LS</a:t>
            </a:r>
            <a:r>
              <a:rPr lang="zh-CN" altLang="en-US" sz="2000" dirty="0"/>
              <a:t>将</a:t>
            </a:r>
            <a:r>
              <a:rPr lang="en-US" altLang="zh-CN" sz="2000" dirty="0"/>
              <a:t>IGP</a:t>
            </a:r>
            <a:r>
              <a:rPr lang="zh-CN" altLang="en-US" sz="2000" dirty="0"/>
              <a:t>收集的信息发布给</a:t>
            </a:r>
            <a:r>
              <a:rPr lang="en-US" altLang="zh-CN" sz="2000" dirty="0" err="1"/>
              <a:t>iMaster</a:t>
            </a:r>
            <a:r>
              <a:rPr lang="en-US" altLang="zh-CN" sz="2000" dirty="0"/>
              <a:t> NCE-IP.</a:t>
            </a:r>
            <a:endParaRPr lang="zh-CN" altLang="en-US" sz="2000" dirty="0"/>
          </a:p>
        </p:txBody>
      </p:sp>
      <p:cxnSp>
        <p:nvCxnSpPr>
          <p:cNvPr id="4" name="直接连接符 8"/>
          <p:cNvCxnSpPr>
            <a:stCxn id="11" idx="2"/>
            <a:endCxn id="9" idx="1"/>
          </p:cNvCxnSpPr>
          <p:nvPr/>
        </p:nvCxnSpPr>
        <p:spPr bwMode="gray">
          <a:xfrm>
            <a:off x="6635830" y="5046070"/>
            <a:ext cx="1743552" cy="613413"/>
          </a:xfrm>
          <a:prstGeom prst="line">
            <a:avLst/>
          </a:prstGeom>
          <a:ln w="19050">
            <a:solidFill>
              <a:schemeClr val="bg1">
                <a:lumMod val="50000"/>
              </a:schemeClr>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 name="直接连接符 11"/>
          <p:cNvCxnSpPr>
            <a:stCxn id="13" idx="0"/>
            <a:endCxn id="9" idx="3"/>
          </p:cNvCxnSpPr>
          <p:nvPr/>
        </p:nvCxnSpPr>
        <p:spPr bwMode="gray">
          <a:xfrm flipH="1">
            <a:off x="8919382" y="5047380"/>
            <a:ext cx="1659109" cy="612103"/>
          </a:xfrm>
          <a:prstGeom prst="line">
            <a:avLst/>
          </a:prstGeom>
          <a:ln w="19050">
            <a:solidFill>
              <a:schemeClr val="bg1">
                <a:lumMod val="50000"/>
              </a:schemeClr>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9" name="图片 13"/>
          <p:cNvPicPr/>
          <p:nvPr/>
        </p:nvPicPr>
        <p:blipFill>
          <a:blip r:embed="rId1" cstate="print">
            <a:extLst>
              <a:ext uri="{28A0092B-C50C-407E-A947-70E740481C1C}">
                <a14:useLocalDpi xmlns:a14="http://schemas.microsoft.com/office/drawing/2010/main" val="0"/>
              </a:ext>
            </a:extLst>
          </a:blip>
          <a:stretch>
            <a:fillRect/>
          </a:stretch>
        </p:blipFill>
        <p:spPr bwMode="gray">
          <a:xfrm>
            <a:off x="8379382" y="5438083"/>
            <a:ext cx="540000" cy="442800"/>
          </a:xfrm>
          <a:prstGeom prst="rect">
            <a:avLst/>
          </a:prstGeom>
        </p:spPr>
      </p:pic>
      <p:pic>
        <p:nvPicPr>
          <p:cNvPr id="11" name="图片 16"/>
          <p:cNvPicPr/>
          <p:nvPr/>
        </p:nvPicPr>
        <p:blipFill>
          <a:blip r:embed="rId1" cstate="print">
            <a:extLst>
              <a:ext uri="{28A0092B-C50C-407E-A947-70E740481C1C}">
                <a14:useLocalDpi xmlns:a14="http://schemas.microsoft.com/office/drawing/2010/main" val="0"/>
              </a:ext>
            </a:extLst>
          </a:blip>
          <a:stretch>
            <a:fillRect/>
          </a:stretch>
        </p:blipFill>
        <p:spPr bwMode="gray">
          <a:xfrm>
            <a:off x="6365830" y="4603270"/>
            <a:ext cx="540000" cy="442800"/>
          </a:xfrm>
          <a:prstGeom prst="rect">
            <a:avLst/>
          </a:prstGeom>
        </p:spPr>
      </p:pic>
      <p:pic>
        <p:nvPicPr>
          <p:cNvPr id="12" name="图片 17"/>
          <p:cNvPicPr/>
          <p:nvPr/>
        </p:nvPicPr>
        <p:blipFill>
          <a:blip r:embed="rId1" cstate="print">
            <a:extLst>
              <a:ext uri="{28A0092B-C50C-407E-A947-70E740481C1C}">
                <a14:useLocalDpi xmlns:a14="http://schemas.microsoft.com/office/drawing/2010/main" val="0"/>
              </a:ext>
            </a:extLst>
          </a:blip>
          <a:stretch>
            <a:fillRect/>
          </a:stretch>
        </p:blipFill>
        <p:spPr bwMode="gray">
          <a:xfrm>
            <a:off x="10309899" y="4604580"/>
            <a:ext cx="540000" cy="442800"/>
          </a:xfrm>
          <a:prstGeom prst="rect">
            <a:avLst/>
          </a:prstGeom>
        </p:spPr>
      </p:pic>
      <p:sp>
        <p:nvSpPr>
          <p:cNvPr id="13" name="文本框 18"/>
          <p:cNvSpPr txBox="1"/>
          <p:nvPr/>
        </p:nvSpPr>
        <p:spPr bwMode="gray">
          <a:xfrm>
            <a:off x="10371543" y="5047380"/>
            <a:ext cx="413896" cy="307777"/>
          </a:xfrm>
          <a:prstGeom prst="rect">
            <a:avLst/>
          </a:prstGeom>
          <a:noFill/>
        </p:spPr>
        <p:txBody>
          <a:bodyPr wrap="none" rtlCol="0">
            <a:spAutoFit/>
          </a:bodyPr>
          <a:lstStyle/>
          <a:p>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R3</a:t>
            </a:r>
            <a:endParaRPr lang="zh-CN" altLang="en-US" sz="1400" b="1">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文本框 19"/>
          <p:cNvSpPr txBox="1"/>
          <p:nvPr/>
        </p:nvSpPr>
        <p:spPr bwMode="gray">
          <a:xfrm>
            <a:off x="7433567" y="2679461"/>
            <a:ext cx="1487908" cy="307777"/>
          </a:xfrm>
          <a:prstGeom prst="rect">
            <a:avLst/>
          </a:prstGeom>
          <a:noFill/>
        </p:spPr>
        <p:txBody>
          <a:bodyPr wrap="none" rtlCol="0">
            <a:spAutoFit/>
          </a:bodyPr>
          <a:lstStyle/>
          <a:p>
            <a:r>
              <a:rPr lang="en-US" altLang="zh-CN" sz="1400" b="1" dirty="0" err="1">
                <a:latin typeface="Huawei Sans" panose="020C0503030203020204" pitchFamily="34" charset="0"/>
                <a:ea typeface="方正兰亭黑简体" panose="02000000000000000000" pitchFamily="2" charset="-122"/>
                <a:sym typeface="Huawei Sans" panose="020C0503030203020204" pitchFamily="34" charset="0"/>
              </a:rPr>
              <a:t>iMaster</a:t>
            </a: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 NCE-IP</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5" name="图片 20" descr="通用网管-蓝.png"/>
          <p:cNvPicPr>
            <a:picLocks noChangeAspect="1"/>
          </p:cNvPicPr>
          <p:nvPr/>
        </p:nvPicPr>
        <p:blipFill>
          <a:blip r:embed="rId2" cstate="print"/>
          <a:stretch>
            <a:fillRect/>
          </a:stretch>
        </p:blipFill>
        <p:spPr bwMode="gray">
          <a:xfrm>
            <a:off x="8856330" y="2614697"/>
            <a:ext cx="540000" cy="441818"/>
          </a:xfrm>
          <a:prstGeom prst="rect">
            <a:avLst/>
          </a:prstGeom>
        </p:spPr>
      </p:pic>
      <p:sp>
        <p:nvSpPr>
          <p:cNvPr id="16" name="文本框 22"/>
          <p:cNvSpPr txBox="1"/>
          <p:nvPr/>
        </p:nvSpPr>
        <p:spPr bwMode="gray">
          <a:xfrm>
            <a:off x="6401276" y="5047380"/>
            <a:ext cx="413896" cy="307777"/>
          </a:xfrm>
          <a:prstGeom prst="rect">
            <a:avLst/>
          </a:prstGeom>
          <a:noFill/>
        </p:spPr>
        <p:txBody>
          <a:bodyPr wrap="none" rtlCol="0">
            <a:spAutoFit/>
          </a:bodyPr>
          <a:lstStyle/>
          <a:p>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R1</a:t>
            </a:r>
            <a:endParaRPr lang="zh-CN" altLang="en-US" sz="1400" b="1">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9" name="直接连接符 42"/>
          <p:cNvCxnSpPr>
            <a:stCxn id="11" idx="0"/>
            <a:endCxn id="15" idx="2"/>
          </p:cNvCxnSpPr>
          <p:nvPr/>
        </p:nvCxnSpPr>
        <p:spPr bwMode="gray">
          <a:xfrm flipV="1">
            <a:off x="6635830" y="3056515"/>
            <a:ext cx="2490500" cy="1546755"/>
          </a:xfrm>
          <a:prstGeom prst="line">
            <a:avLst/>
          </a:prstGeom>
          <a:ln w="19050">
            <a:solidFill>
              <a:srgbClr val="FCC800"/>
            </a:solidFill>
            <a:prstDash val="sys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1" name="直接连接符 48"/>
          <p:cNvCxnSpPr>
            <a:stCxn id="12" idx="0"/>
            <a:endCxn id="15" idx="2"/>
          </p:cNvCxnSpPr>
          <p:nvPr/>
        </p:nvCxnSpPr>
        <p:spPr bwMode="gray">
          <a:xfrm flipH="1" flipV="1">
            <a:off x="9126330" y="3056515"/>
            <a:ext cx="1453569" cy="1548065"/>
          </a:xfrm>
          <a:prstGeom prst="line">
            <a:avLst/>
          </a:prstGeom>
          <a:ln w="19050">
            <a:solidFill>
              <a:srgbClr val="FCC800"/>
            </a:solidFill>
            <a:prstDash val="sys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2" name="直接连接符 52"/>
          <p:cNvCxnSpPr>
            <a:stCxn id="9" idx="0"/>
            <a:endCxn id="15" idx="2"/>
          </p:cNvCxnSpPr>
          <p:nvPr/>
        </p:nvCxnSpPr>
        <p:spPr bwMode="gray">
          <a:xfrm flipV="1">
            <a:off x="8649382" y="3056515"/>
            <a:ext cx="476948" cy="2381568"/>
          </a:xfrm>
          <a:prstGeom prst="line">
            <a:avLst/>
          </a:prstGeom>
          <a:ln w="19050">
            <a:solidFill>
              <a:srgbClr val="FCC800"/>
            </a:solidFill>
            <a:prstDash val="sys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5" name="文本框 15"/>
          <p:cNvSpPr txBox="1"/>
          <p:nvPr/>
        </p:nvSpPr>
        <p:spPr bwMode="gray">
          <a:xfrm>
            <a:off x="8442434" y="5819316"/>
            <a:ext cx="405880" cy="307777"/>
          </a:xfrm>
          <a:prstGeom prst="rect">
            <a:avLst/>
          </a:prstGeom>
          <a:noFill/>
        </p:spPr>
        <p:txBody>
          <a:bodyPr wrap="none" rtlCol="0">
            <a:spAutoFit/>
          </a:bodyPr>
          <a:lstStyle/>
          <a:p>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R2</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9" name="直接连接符 8"/>
          <p:cNvCxnSpPr>
            <a:stCxn id="11" idx="3"/>
            <a:endCxn id="12" idx="1"/>
          </p:cNvCxnSpPr>
          <p:nvPr/>
        </p:nvCxnSpPr>
        <p:spPr bwMode="gray">
          <a:xfrm>
            <a:off x="6905830" y="4824670"/>
            <a:ext cx="3404069" cy="1310"/>
          </a:xfrm>
          <a:prstGeom prst="line">
            <a:avLst/>
          </a:prstGeom>
          <a:ln w="19050">
            <a:solidFill>
              <a:schemeClr val="bg1">
                <a:lumMod val="50000"/>
              </a:schemeClr>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5" name="文本框 68"/>
          <p:cNvSpPr txBox="1"/>
          <p:nvPr/>
        </p:nvSpPr>
        <p:spPr bwMode="gray">
          <a:xfrm rot="19501493">
            <a:off x="7260095" y="3563641"/>
            <a:ext cx="780983" cy="307777"/>
          </a:xfrm>
          <a:prstGeom prst="rect">
            <a:avLst/>
          </a:prstGeom>
          <a:noFill/>
        </p:spPr>
        <p:txBody>
          <a:bodyPr wrap="none" rtlCol="0">
            <a:spAutoFit/>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BGP-LS</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文本框 68"/>
          <p:cNvSpPr txBox="1"/>
          <p:nvPr/>
        </p:nvSpPr>
        <p:spPr bwMode="gray">
          <a:xfrm rot="2988471">
            <a:off x="9611493" y="3598337"/>
            <a:ext cx="780983" cy="307777"/>
          </a:xfrm>
          <a:prstGeom prst="rect">
            <a:avLst/>
          </a:prstGeom>
          <a:noFill/>
        </p:spPr>
        <p:txBody>
          <a:bodyPr wrap="none" rtlCol="0">
            <a:spAutoFit/>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BGP-LS</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文本框 68"/>
          <p:cNvSpPr txBox="1"/>
          <p:nvPr/>
        </p:nvSpPr>
        <p:spPr bwMode="gray">
          <a:xfrm rot="16883474">
            <a:off x="8384052" y="3912331"/>
            <a:ext cx="780983" cy="307777"/>
          </a:xfrm>
          <a:prstGeom prst="rect">
            <a:avLst/>
          </a:prstGeom>
          <a:noFill/>
        </p:spPr>
        <p:txBody>
          <a:bodyPr wrap="none" rtlCol="0">
            <a:spAutoFit/>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BGP-LS</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3" name="直接连接符 9"/>
          <p:cNvCxnSpPr/>
          <p:nvPr/>
        </p:nvCxnSpPr>
        <p:spPr bwMode="gray">
          <a:xfrm>
            <a:off x="6977715" y="4717880"/>
            <a:ext cx="3201265" cy="0"/>
          </a:xfrm>
          <a:prstGeom prst="line">
            <a:avLst/>
          </a:prstGeom>
          <a:ln w="19050">
            <a:solidFill>
              <a:srgbClr val="94DAE2"/>
            </a:solidFill>
            <a:prstDash val="solid"/>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4" name="直接连接符 9"/>
          <p:cNvCxnSpPr/>
          <p:nvPr/>
        </p:nvCxnSpPr>
        <p:spPr bwMode="gray">
          <a:xfrm>
            <a:off x="6946766" y="5047380"/>
            <a:ext cx="1384060" cy="499310"/>
          </a:xfrm>
          <a:prstGeom prst="line">
            <a:avLst/>
          </a:prstGeom>
          <a:ln w="19050">
            <a:solidFill>
              <a:srgbClr val="94DAE2"/>
            </a:solidFill>
            <a:prstDash val="solid"/>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6" name="直接连接符 9"/>
          <p:cNvCxnSpPr/>
          <p:nvPr/>
        </p:nvCxnSpPr>
        <p:spPr bwMode="gray">
          <a:xfrm flipV="1">
            <a:off x="8967938" y="5045088"/>
            <a:ext cx="1341961" cy="517193"/>
          </a:xfrm>
          <a:prstGeom prst="line">
            <a:avLst/>
          </a:prstGeom>
          <a:ln w="19050">
            <a:solidFill>
              <a:srgbClr val="94DAE2"/>
            </a:solidFill>
            <a:prstDash val="solid"/>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7" name="文本框 68"/>
          <p:cNvSpPr txBox="1"/>
          <p:nvPr/>
        </p:nvSpPr>
        <p:spPr bwMode="gray">
          <a:xfrm>
            <a:off x="7881080" y="4415688"/>
            <a:ext cx="466794" cy="307777"/>
          </a:xfrm>
          <a:prstGeom prst="rect">
            <a:avLst/>
          </a:prstGeom>
          <a:noFill/>
        </p:spPr>
        <p:txBody>
          <a:bodyPr wrap="none" rtlCol="0">
            <a:spAutoFit/>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IGP</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文本框 68"/>
          <p:cNvSpPr txBox="1"/>
          <p:nvPr/>
        </p:nvSpPr>
        <p:spPr bwMode="gray">
          <a:xfrm rot="1182062">
            <a:off x="7533315" y="5062357"/>
            <a:ext cx="466794" cy="307777"/>
          </a:xfrm>
          <a:prstGeom prst="rect">
            <a:avLst/>
          </a:prstGeom>
          <a:noFill/>
        </p:spPr>
        <p:txBody>
          <a:bodyPr wrap="none" rtlCol="0">
            <a:spAutoFit/>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IGP</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 name="文本框 68"/>
          <p:cNvSpPr txBox="1"/>
          <p:nvPr/>
        </p:nvSpPr>
        <p:spPr bwMode="gray">
          <a:xfrm rot="20363597">
            <a:off x="9277167" y="5070868"/>
            <a:ext cx="466794" cy="307777"/>
          </a:xfrm>
          <a:prstGeom prst="rect">
            <a:avLst/>
          </a:prstGeom>
          <a:noFill/>
        </p:spPr>
        <p:txBody>
          <a:bodyPr wrap="none" rtlCol="0">
            <a:spAutoFit/>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IGP</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gray"/>
        <p:txBody>
          <a:bodyPr/>
          <a:lstStyle/>
          <a:p>
            <a:r>
              <a:rPr lang="en-US" altLang="zh-CN" dirty="0"/>
              <a:t>IGP</a:t>
            </a:r>
            <a:r>
              <a:rPr lang="zh-CN" altLang="en-US" dirty="0"/>
              <a:t>基本配置</a:t>
            </a:r>
            <a:endParaRPr lang="zh-CN" altLang="en-US" dirty="0"/>
          </a:p>
        </p:txBody>
      </p:sp>
      <p:sp>
        <p:nvSpPr>
          <p:cNvPr id="3" name="Text Placeholder 2"/>
          <p:cNvSpPr>
            <a:spLocks noGrp="1"/>
          </p:cNvSpPr>
          <p:nvPr>
            <p:ph type="body" sz="quarter" idx="10"/>
          </p:nvPr>
        </p:nvSpPr>
        <p:spPr bwMode="gray"/>
        <p:txBody>
          <a:bodyPr/>
          <a:lstStyle/>
          <a:p>
            <a:r>
              <a:rPr lang="zh-CN" altLang="en-US" sz="1800" dirty="0"/>
              <a:t>在华为</a:t>
            </a:r>
            <a:r>
              <a:rPr lang="en-US" altLang="zh-CN" sz="1800" dirty="0"/>
              <a:t>SRv6</a:t>
            </a:r>
            <a:r>
              <a:rPr lang="zh-CN" altLang="en-US" sz="1800" dirty="0"/>
              <a:t>解决方案中，</a:t>
            </a:r>
            <a:r>
              <a:rPr lang="en-US" altLang="zh-CN" sz="1800" dirty="0"/>
              <a:t>IGP</a:t>
            </a:r>
            <a:r>
              <a:rPr lang="zh-CN" altLang="en-US" sz="1800" dirty="0"/>
              <a:t>推荐选用扩展</a:t>
            </a:r>
            <a:r>
              <a:rPr lang="en-US" altLang="zh-CN" sz="1800" dirty="0"/>
              <a:t>IS-IS</a:t>
            </a:r>
            <a:r>
              <a:rPr lang="zh-CN" altLang="en-US" sz="1800" dirty="0"/>
              <a:t>协议收集网络基本信息。</a:t>
            </a:r>
            <a:endParaRPr lang="en-US" altLang="zh-CN" sz="1800" dirty="0"/>
          </a:p>
          <a:p>
            <a:r>
              <a:rPr lang="en-US" altLang="zh-CN" sz="1800" dirty="0"/>
              <a:t>IGP</a:t>
            </a:r>
            <a:r>
              <a:rPr lang="zh-CN" altLang="en-US" sz="1800" dirty="0"/>
              <a:t>基本配置如下：</a:t>
            </a:r>
            <a:endParaRPr lang="en-US" altLang="zh-CN" sz="1800" dirty="0"/>
          </a:p>
          <a:p>
            <a:pPr lvl="1"/>
            <a:r>
              <a:rPr lang="en-US" altLang="zh-CN" sz="1600" dirty="0"/>
              <a:t>IS-IS</a:t>
            </a:r>
            <a:r>
              <a:rPr lang="zh-CN" altLang="en-US" sz="1600" dirty="0"/>
              <a:t>全局配置</a:t>
            </a:r>
            <a:endParaRPr lang="en-US" altLang="zh-CN" sz="1600" dirty="0"/>
          </a:p>
          <a:p>
            <a:pPr lvl="1"/>
            <a:endParaRPr lang="en-US" altLang="zh-CN" sz="1600" dirty="0"/>
          </a:p>
          <a:p>
            <a:pPr lvl="1"/>
            <a:endParaRPr lang="en-US" altLang="zh-CN" sz="1600" dirty="0"/>
          </a:p>
          <a:p>
            <a:pPr lvl="1"/>
            <a:endParaRPr lang="en-US" altLang="zh-CN" sz="1600" dirty="0"/>
          </a:p>
          <a:p>
            <a:pPr lvl="1"/>
            <a:endParaRPr lang="en-US" altLang="zh-CN" sz="1600" dirty="0"/>
          </a:p>
          <a:p>
            <a:pPr lvl="1"/>
            <a:endParaRPr lang="en-US" altLang="zh-CN" sz="1600" dirty="0"/>
          </a:p>
          <a:p>
            <a:pPr lvl="1"/>
            <a:r>
              <a:rPr lang="en-US" altLang="zh-CN" sz="1600" dirty="0"/>
              <a:t>IS-IS</a:t>
            </a:r>
            <a:r>
              <a:rPr lang="zh-CN" altLang="en-US" sz="1600" dirty="0"/>
              <a:t>接口配置</a:t>
            </a:r>
            <a:endParaRPr lang="en-US" altLang="zh-CN" sz="1600" dirty="0"/>
          </a:p>
        </p:txBody>
      </p:sp>
      <p:sp>
        <p:nvSpPr>
          <p:cNvPr id="4" name="文本框 45"/>
          <p:cNvSpPr txBox="1"/>
          <p:nvPr/>
        </p:nvSpPr>
        <p:spPr bwMode="gray">
          <a:xfrm>
            <a:off x="701378" y="2358948"/>
            <a:ext cx="10914517" cy="2308324"/>
          </a:xfrm>
          <a:prstGeom prst="rect">
            <a:avLst/>
          </a:prstGeom>
          <a:solidFill>
            <a:schemeClr val="bg1">
              <a:lumMod val="85000"/>
            </a:schemeClr>
          </a:solidFill>
          <a:ln>
            <a:noFill/>
          </a:ln>
        </p:spPr>
        <p:txBody>
          <a:bodyPr wrap="squar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[P1]</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isis</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1</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[P1-isis-1] is-level level-2</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[P1-isis-1] cost-style wide   //narrow</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模式不支持携带</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TE</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场景下所需的</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TE</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信息（带宽等），故需要配置为</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wide</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类型。</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[P1-isis-1] network-entity 49.0001.0010.0000.0005.00</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[P1-isis-1] is-name P1</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[P1-isis-1] ipv6 enable topology ipv6</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[P1-isis-1] ipv6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bgp</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-ls enable level-2   //</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将</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IS-IS</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收集到的拓扑信息通过</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BGP-LS</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发送到控制器，该功能只需要在</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RR</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上执行即可，即</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IGP</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域内其实只需要一台设备与控制器通过</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BGP-LS</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传递拓扑信息。</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[P1-isis-1] ipv6 advertise link attributes    //</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开启在</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LSP</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中携带链路属性相关</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TLV</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TLV</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信息包括接口</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IPv6</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地址和接口</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Index</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[P1-isis-1] ipv6 metric-delay advertisement enable level-1-2    //</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配置</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IPv6</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时延发布功能，由</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IS-IS</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协议收集和扩散域内</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IPv4</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链路时延信息，通过</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BGP-LS</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上报控制器，控制器使用时延计算</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P2P</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网络的最佳路径信息。	</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[P1-isis-1] ipv6 traffic-</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eng</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level-2    //</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使能</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IS-IS</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的</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TE</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特性，向</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TE</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模块发送链路带宽信息。</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文本框 45"/>
          <p:cNvSpPr txBox="1"/>
          <p:nvPr/>
        </p:nvSpPr>
        <p:spPr bwMode="gray">
          <a:xfrm>
            <a:off x="701377" y="4993808"/>
            <a:ext cx="10914518" cy="646331"/>
          </a:xfrm>
          <a:prstGeom prst="rect">
            <a:avLst/>
          </a:prstGeom>
          <a:solidFill>
            <a:schemeClr val="bg1">
              <a:lumMod val="85000"/>
            </a:schemeClr>
          </a:solidFill>
          <a:ln>
            <a:noFill/>
          </a:ln>
        </p:spPr>
        <p:txBody>
          <a:bodyPr wrap="square" rtlCol="0">
            <a:spAutoFit/>
          </a:bodyPr>
          <a:lstStyle/>
          <a:p>
            <a:r>
              <a:rPr lang="en-US" altLang="zh-CN" sz="1200" dirty="0"/>
              <a:t>[P1]interface GigabitEthernet0/3/0</a:t>
            </a:r>
            <a:endParaRPr lang="zh-CN" altLang="zh-CN" sz="1200" dirty="0"/>
          </a:p>
          <a:p>
            <a:r>
              <a:rPr lang="en-US" altLang="zh-CN" sz="1200" dirty="0"/>
              <a:t>[P1-GigabitEthernet0/3/0] </a:t>
            </a:r>
            <a:r>
              <a:rPr lang="en-US" altLang="zh-CN" sz="1200" dirty="0" err="1"/>
              <a:t>isis</a:t>
            </a:r>
            <a:r>
              <a:rPr lang="en-US" altLang="zh-CN" sz="1200" dirty="0"/>
              <a:t> ipv6 enable 1</a:t>
            </a:r>
            <a:endParaRPr lang="zh-CN" altLang="zh-CN" sz="1200" dirty="0"/>
          </a:p>
          <a:p>
            <a:r>
              <a:rPr lang="en-US" altLang="zh-CN" sz="1200" dirty="0"/>
              <a:t>[P1-GigabitEthernet0/3/0] </a:t>
            </a:r>
            <a:r>
              <a:rPr lang="en-US" altLang="zh-CN" sz="1200" dirty="0" err="1"/>
              <a:t>isis</a:t>
            </a:r>
            <a:r>
              <a:rPr lang="en-US" altLang="zh-CN" sz="1200" dirty="0"/>
              <a:t> circuit-type p2p    //IS-IS</a:t>
            </a:r>
            <a:r>
              <a:rPr lang="zh-CN" altLang="en-US" sz="1200" dirty="0"/>
              <a:t>的接口网络类型必须配置为</a:t>
            </a:r>
            <a:r>
              <a:rPr lang="en-US" altLang="zh-CN" sz="1200" dirty="0"/>
              <a:t>P2P</a:t>
            </a:r>
            <a:r>
              <a:rPr lang="zh-CN" altLang="en-US" sz="1200" dirty="0"/>
              <a:t>，否则控制器无法形成网络拓扑。</a:t>
            </a:r>
            <a:endParaRPr lang="zh-CN" altLang="zh-CN" sz="120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dirty="0">
                <a:sym typeface="Huawei Sans" panose="020C0503030203020204" pitchFamily="34" charset="0"/>
              </a:rPr>
              <a:t>BGP-LS</a:t>
            </a:r>
            <a:r>
              <a:rPr lang="zh-CN" altLang="en-US" dirty="0">
                <a:sym typeface="Huawei Sans" panose="020C0503030203020204" pitchFamily="34" charset="0"/>
              </a:rPr>
              <a:t>上报拓扑信息到控制器</a:t>
            </a:r>
            <a:endParaRPr lang="zh-CN" altLang="en-US" dirty="0">
              <a:sym typeface="Huawei Sans" panose="020C0503030203020204" pitchFamily="34" charset="0"/>
            </a:endParaRPr>
          </a:p>
        </p:txBody>
      </p:sp>
      <p:sp>
        <p:nvSpPr>
          <p:cNvPr id="3" name="文本占位符 2"/>
          <p:cNvSpPr>
            <a:spLocks noGrp="1"/>
          </p:cNvSpPr>
          <p:nvPr>
            <p:ph type="body" sz="quarter" idx="10"/>
          </p:nvPr>
        </p:nvSpPr>
        <p:spPr bwMode="gray"/>
        <p:txBody>
          <a:bodyPr/>
          <a:lstStyle/>
          <a:p>
            <a:r>
              <a:rPr lang="zh-CN" altLang="en-US" sz="1800" dirty="0">
                <a:sym typeface="Huawei Sans" panose="020C0503030203020204" pitchFamily="34" charset="0"/>
              </a:rPr>
              <a:t>每台路由器维护一个或多个链路状态数据库，该数据库包含了多种链路属性，例如：接口</a:t>
            </a:r>
            <a:r>
              <a:rPr lang="en-US" altLang="zh-CN" sz="1800" dirty="0">
                <a:sym typeface="Huawei Sans" panose="020C0503030203020204" pitchFamily="34" charset="0"/>
              </a:rPr>
              <a:t>IP</a:t>
            </a:r>
            <a:r>
              <a:rPr lang="zh-CN" altLang="en-US" sz="1800" dirty="0">
                <a:sym typeface="Huawei Sans" panose="020C0503030203020204" pitchFamily="34" charset="0"/>
              </a:rPr>
              <a:t>地址、链路度量值、</a:t>
            </a:r>
            <a:r>
              <a:rPr lang="en-US" altLang="zh-CN" sz="1800" dirty="0">
                <a:sym typeface="Huawei Sans" panose="020C0503030203020204" pitchFamily="34" charset="0"/>
              </a:rPr>
              <a:t>TE</a:t>
            </a:r>
            <a:r>
              <a:rPr lang="zh-CN" altLang="en-US" sz="1800" dirty="0">
                <a:sym typeface="Huawei Sans" panose="020C0503030203020204" pitchFamily="34" charset="0"/>
              </a:rPr>
              <a:t>度量值、链路带宽、可预留带宽等信息。路由器的</a:t>
            </a:r>
            <a:r>
              <a:rPr lang="en-US" altLang="zh-CN" sz="1800" dirty="0">
                <a:sym typeface="Huawei Sans" panose="020C0503030203020204" pitchFamily="34" charset="0"/>
              </a:rPr>
              <a:t>BGP</a:t>
            </a:r>
            <a:r>
              <a:rPr lang="zh-CN" altLang="en-US" sz="1800" dirty="0">
                <a:sym typeface="Huawei Sans" panose="020C0503030203020204" pitchFamily="34" charset="0"/>
              </a:rPr>
              <a:t>进程从这些链路状态数据库中获取信息，并通过扩展的</a:t>
            </a:r>
            <a:r>
              <a:rPr lang="en-US" altLang="zh-CN" sz="1800" dirty="0">
                <a:sym typeface="Huawei Sans" panose="020C0503030203020204" pitchFamily="34" charset="0"/>
              </a:rPr>
              <a:t>NLRI</a:t>
            </a:r>
            <a:r>
              <a:rPr lang="zh-CN" altLang="en-US" sz="1800" dirty="0">
                <a:sym typeface="Huawei Sans" panose="020C0503030203020204" pitchFamily="34" charset="0"/>
              </a:rPr>
              <a:t>属性携带这些信息。</a:t>
            </a:r>
            <a:endParaRPr lang="en-US" altLang="zh-CN" sz="1800" dirty="0">
              <a:sym typeface="Huawei Sans" panose="020C0503030203020204" pitchFamily="34" charset="0"/>
            </a:endParaRPr>
          </a:p>
          <a:p>
            <a:pPr lvl="1"/>
            <a:endParaRPr lang="zh-CN" altLang="en-US" sz="1600" dirty="0">
              <a:sym typeface="Huawei Sans" panose="020C0503030203020204" pitchFamily="34" charset="0"/>
            </a:endParaRPr>
          </a:p>
        </p:txBody>
      </p:sp>
      <p:sp>
        <p:nvSpPr>
          <p:cNvPr id="4" name="矩形 3"/>
          <p:cNvSpPr/>
          <p:nvPr/>
        </p:nvSpPr>
        <p:spPr bwMode="gray">
          <a:xfrm>
            <a:off x="1084941" y="2870307"/>
            <a:ext cx="1778000" cy="1978108"/>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文本框 4"/>
          <p:cNvSpPr txBox="1"/>
          <p:nvPr/>
        </p:nvSpPr>
        <p:spPr bwMode="gray">
          <a:xfrm>
            <a:off x="1449768" y="4471362"/>
            <a:ext cx="998991" cy="307777"/>
          </a:xfrm>
          <a:prstGeom prst="rect">
            <a:avLst/>
          </a:prstGeom>
          <a:solidFill>
            <a:srgbClr val="30B5C5"/>
          </a:solidFill>
        </p:spPr>
        <p:txBody>
          <a:bodyPr wrap="none" rtlCol="0">
            <a:spAutoFit/>
          </a:bodyPr>
          <a:lstStyle/>
          <a:p>
            <a:r>
              <a:rPr lang="en-US" altLang="zh-CN" sz="14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R2</a:t>
            </a:r>
            <a:r>
              <a:rPr lang="zh-CN" altLang="en-US" sz="14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的</a:t>
            </a:r>
            <a:r>
              <a:rPr lang="en-US" altLang="zh-CN" sz="14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LSDB</a:t>
            </a:r>
            <a:endParaRPr lang="zh-CN" altLang="en-US" sz="14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文本框 5"/>
          <p:cNvSpPr txBox="1"/>
          <p:nvPr/>
        </p:nvSpPr>
        <p:spPr bwMode="gray">
          <a:xfrm>
            <a:off x="1123556" y="3151236"/>
            <a:ext cx="1651414" cy="307777"/>
          </a:xfrm>
          <a:prstGeom prst="rect">
            <a:avLst/>
          </a:prstGeom>
          <a:noFill/>
        </p:spPr>
        <p:txBody>
          <a:bodyPr wrap="none" rtlCol="0">
            <a:spAutoFit/>
          </a:bodyPr>
          <a:lstStyle/>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R1</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的链路状态信息</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文本框 6"/>
          <p:cNvSpPr txBox="1"/>
          <p:nvPr/>
        </p:nvSpPr>
        <p:spPr bwMode="gray">
          <a:xfrm>
            <a:off x="1123556" y="3470741"/>
            <a:ext cx="1651414" cy="307777"/>
          </a:xfrm>
          <a:prstGeom prst="rect">
            <a:avLst/>
          </a:prstGeom>
          <a:noFill/>
        </p:spPr>
        <p:txBody>
          <a:bodyPr wrap="none" rtlCol="0">
            <a:spAutoFit/>
          </a:bodyPr>
          <a:lstStyle/>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R2</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的链路状态信息</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 name="文本框 7"/>
          <p:cNvSpPr txBox="1"/>
          <p:nvPr/>
        </p:nvSpPr>
        <p:spPr bwMode="gray">
          <a:xfrm>
            <a:off x="1123556" y="3790246"/>
            <a:ext cx="1651414" cy="307777"/>
          </a:xfrm>
          <a:prstGeom prst="rect">
            <a:avLst/>
          </a:prstGeom>
          <a:noFill/>
        </p:spPr>
        <p:txBody>
          <a:bodyPr wrap="none" rtlCol="0">
            <a:spAutoFit/>
          </a:bodyPr>
          <a:lstStyle/>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R3</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的链路状态信息</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 name="矩形 9"/>
          <p:cNvSpPr/>
          <p:nvPr/>
        </p:nvSpPr>
        <p:spPr bwMode="gray">
          <a:xfrm>
            <a:off x="4318000" y="2870307"/>
            <a:ext cx="1778000" cy="1978108"/>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 name="文本框 10"/>
          <p:cNvSpPr txBox="1"/>
          <p:nvPr/>
        </p:nvSpPr>
        <p:spPr bwMode="gray">
          <a:xfrm>
            <a:off x="4571818" y="4471362"/>
            <a:ext cx="1271502" cy="307777"/>
          </a:xfrm>
          <a:prstGeom prst="rect">
            <a:avLst/>
          </a:prstGeom>
          <a:solidFill>
            <a:srgbClr val="30B5C5"/>
          </a:solidFill>
        </p:spPr>
        <p:txBody>
          <a:bodyPr wrap="none" rtlCol="0">
            <a:spAutoFit/>
          </a:bodyPr>
          <a:lstStyle/>
          <a:p>
            <a:r>
              <a:rPr lang="en-US" altLang="zh-CN" sz="14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R2</a:t>
            </a:r>
            <a:r>
              <a:rPr lang="zh-CN" altLang="en-US" sz="14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的</a:t>
            </a:r>
            <a:r>
              <a:rPr lang="en-US" altLang="zh-CN" sz="14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BGP</a:t>
            </a:r>
            <a:r>
              <a:rPr lang="zh-CN" altLang="en-US" sz="14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进程</a:t>
            </a:r>
            <a:endParaRPr lang="zh-CN" altLang="en-US" sz="14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文本框 11"/>
          <p:cNvSpPr txBox="1"/>
          <p:nvPr/>
        </p:nvSpPr>
        <p:spPr bwMode="gray">
          <a:xfrm>
            <a:off x="4381862" y="3151236"/>
            <a:ext cx="1651414" cy="307777"/>
          </a:xfrm>
          <a:prstGeom prst="rect">
            <a:avLst/>
          </a:prstGeom>
          <a:noFill/>
        </p:spPr>
        <p:txBody>
          <a:bodyPr wrap="none" rtlCol="0">
            <a:spAutoFit/>
          </a:bodyPr>
          <a:lstStyle/>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R1</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的链路状态信息</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 name="文本框 12"/>
          <p:cNvSpPr txBox="1"/>
          <p:nvPr/>
        </p:nvSpPr>
        <p:spPr bwMode="gray">
          <a:xfrm>
            <a:off x="4381862" y="3470741"/>
            <a:ext cx="1651414" cy="307777"/>
          </a:xfrm>
          <a:prstGeom prst="rect">
            <a:avLst/>
          </a:prstGeom>
          <a:noFill/>
        </p:spPr>
        <p:txBody>
          <a:bodyPr wrap="none" rtlCol="0">
            <a:spAutoFit/>
          </a:bodyPr>
          <a:lstStyle/>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R2</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的链路状态信息</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文本框 13"/>
          <p:cNvSpPr txBox="1"/>
          <p:nvPr/>
        </p:nvSpPr>
        <p:spPr bwMode="gray">
          <a:xfrm>
            <a:off x="4381862" y="3790246"/>
            <a:ext cx="1651414" cy="307777"/>
          </a:xfrm>
          <a:prstGeom prst="rect">
            <a:avLst/>
          </a:prstGeom>
          <a:noFill/>
        </p:spPr>
        <p:txBody>
          <a:bodyPr wrap="none" rtlCol="0">
            <a:spAutoFit/>
          </a:bodyPr>
          <a:lstStyle/>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R3</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的链路状态信息</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 name="右箭头 15"/>
          <p:cNvSpPr/>
          <p:nvPr/>
        </p:nvSpPr>
        <p:spPr bwMode="gray">
          <a:xfrm>
            <a:off x="2939144" y="3494652"/>
            <a:ext cx="1391554" cy="729416"/>
          </a:xfrm>
          <a:prstGeom prst="rightArrow">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提取</a:t>
            </a: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 name="文本框 16"/>
          <p:cNvSpPr txBox="1"/>
          <p:nvPr/>
        </p:nvSpPr>
        <p:spPr bwMode="gray">
          <a:xfrm>
            <a:off x="7632233" y="3016052"/>
            <a:ext cx="1235996" cy="292750"/>
          </a:xfrm>
          <a:prstGeom prst="roundRect">
            <a:avLst/>
          </a:prstGeom>
          <a:solidFill>
            <a:srgbClr val="56C4D2"/>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defPPr>
              <a:defRPr lang="en-US"/>
            </a:defPPr>
            <a:lvl1pPr algn="ctr" fontAlgn="auto">
              <a:spcBef>
                <a:spcPts val="0"/>
              </a:spcBef>
              <a:spcAft>
                <a:spcPts val="0"/>
              </a:spcAft>
              <a:defRPr sz="1600" b="0">
                <a:solidFill>
                  <a:srgbClr val="0070C0"/>
                </a:solidFill>
                <a:latin typeface="+mj-lt"/>
              </a:defRPr>
            </a:lvl1pPr>
          </a:lstStyle>
          <a:p>
            <a:r>
              <a:rPr lang="en-US" altLang="zh-CN" sz="14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Node NLRI</a:t>
            </a:r>
            <a:endParaRPr lang="zh-CN" altLang="en-US" sz="14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 name="梯形 17"/>
          <p:cNvSpPr/>
          <p:nvPr/>
        </p:nvSpPr>
        <p:spPr bwMode="gray">
          <a:xfrm rot="16200000">
            <a:off x="5633982" y="3388730"/>
            <a:ext cx="1991754" cy="954903"/>
          </a:xfrm>
          <a:prstGeom prst="trapezoid">
            <a:avLst/>
          </a:prstGeom>
          <a:gradFill>
            <a:gsLst>
              <a:gs pos="0">
                <a:schemeClr val="accent1">
                  <a:lumMod val="5000"/>
                  <a:lumOff val="95000"/>
                </a:schemeClr>
              </a:gs>
              <a:gs pos="74000">
                <a:srgbClr val="94DAE2"/>
              </a:gs>
              <a:gs pos="83000">
                <a:srgbClr val="94DAE2"/>
              </a:gs>
              <a:gs pos="100000">
                <a:srgbClr val="94DAE2"/>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eaVert" wrap="square" lIns="91440" tIns="45720" rIns="91440" bIns="45720" numCol="1" spcCol="0" rtlCol="0" fromWordArt="0" anchor="ctr" anchorCtr="0" forceAA="0" compatLnSpc="1">
            <a:noAutofit/>
          </a:bodyPr>
          <a:lstStyle/>
          <a:p>
            <a:pPr algn="ct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NLRI</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 name="文本框 18"/>
          <p:cNvSpPr txBox="1"/>
          <p:nvPr/>
        </p:nvSpPr>
        <p:spPr bwMode="gray">
          <a:xfrm>
            <a:off x="7632233" y="3373527"/>
            <a:ext cx="1235996" cy="299224"/>
          </a:xfrm>
          <a:prstGeom prst="roundRect">
            <a:avLst/>
          </a:prstGeom>
          <a:solidFill>
            <a:srgbClr val="56C4D2"/>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defPPr>
              <a:defRPr lang="en-US"/>
            </a:defPPr>
            <a:lvl1pPr algn="ctr" fontAlgn="auto">
              <a:spcBef>
                <a:spcPts val="0"/>
              </a:spcBef>
              <a:spcAft>
                <a:spcPts val="0"/>
              </a:spcAft>
              <a:defRPr sz="1600" b="0">
                <a:solidFill>
                  <a:srgbClr val="0070C0"/>
                </a:solidFill>
                <a:latin typeface="+mj-lt"/>
              </a:defRPr>
            </a:lvl1pPr>
          </a:lstStyle>
          <a:p>
            <a:r>
              <a:rPr lang="en-US" altLang="zh-CN" sz="14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Link NLRI</a:t>
            </a:r>
            <a:endParaRPr lang="zh-CN" altLang="en-US" sz="14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文本框 19"/>
          <p:cNvSpPr txBox="1"/>
          <p:nvPr/>
        </p:nvSpPr>
        <p:spPr bwMode="gray">
          <a:xfrm>
            <a:off x="7175033" y="3737476"/>
            <a:ext cx="1961713" cy="449420"/>
          </a:xfrm>
          <a:prstGeom prst="roundRect">
            <a:avLst/>
          </a:prstGeom>
          <a:solidFill>
            <a:srgbClr val="56C4D2"/>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defPPr>
              <a:defRPr lang="en-US"/>
            </a:defPPr>
            <a:lvl1pPr algn="ctr" fontAlgn="auto">
              <a:spcBef>
                <a:spcPts val="0"/>
              </a:spcBef>
              <a:spcAft>
                <a:spcPts val="0"/>
              </a:spcAft>
              <a:defRPr sz="1600" b="0">
                <a:solidFill>
                  <a:srgbClr val="0070C0"/>
                </a:solidFill>
                <a:latin typeface="+mj-lt"/>
              </a:defRPr>
            </a:lvl1pPr>
          </a:lstStyle>
          <a:p>
            <a:r>
              <a:rPr lang="en-US" altLang="zh-CN" sz="14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Topology Prefix NLRI</a:t>
            </a:r>
            <a:endParaRPr lang="en-US" altLang="zh-CN" sz="14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4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(IPv4)</a:t>
            </a:r>
            <a:endParaRPr lang="zh-CN" altLang="en-US" sz="14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文本框 21"/>
          <p:cNvSpPr txBox="1"/>
          <p:nvPr/>
        </p:nvSpPr>
        <p:spPr bwMode="gray">
          <a:xfrm>
            <a:off x="7175033" y="4251620"/>
            <a:ext cx="1961713" cy="450000"/>
          </a:xfrm>
          <a:prstGeom prst="roundRect">
            <a:avLst/>
          </a:prstGeom>
          <a:solidFill>
            <a:srgbClr val="56C4D2"/>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defPPr>
              <a:defRPr lang="en-US"/>
            </a:defPPr>
            <a:lvl1pPr algn="ctr" fontAlgn="auto">
              <a:spcBef>
                <a:spcPts val="0"/>
              </a:spcBef>
              <a:spcAft>
                <a:spcPts val="0"/>
              </a:spcAft>
              <a:defRPr sz="1600" b="0">
                <a:solidFill>
                  <a:srgbClr val="0070C0"/>
                </a:solidFill>
                <a:latin typeface="+mj-lt"/>
              </a:defRPr>
            </a:lvl1pPr>
          </a:lstStyle>
          <a:p>
            <a:r>
              <a:rPr lang="en-US" altLang="zh-CN" sz="14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Topology Prefix NLRI</a:t>
            </a:r>
            <a:endParaRPr lang="en-US" altLang="zh-CN" sz="14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4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(IPv6)</a:t>
            </a:r>
            <a:endParaRPr lang="zh-CN" altLang="en-US" sz="14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矩形 22"/>
          <p:cNvSpPr/>
          <p:nvPr/>
        </p:nvSpPr>
        <p:spPr bwMode="gray">
          <a:xfrm>
            <a:off x="7098830" y="2870307"/>
            <a:ext cx="2393513" cy="1978108"/>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右箭头 23"/>
          <p:cNvSpPr/>
          <p:nvPr/>
        </p:nvSpPr>
        <p:spPr bwMode="gray">
          <a:xfrm>
            <a:off x="9501782" y="3494652"/>
            <a:ext cx="1011310" cy="729416"/>
          </a:xfrm>
          <a:prstGeom prst="rightArrow">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上报</a:t>
            </a: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文本框 24"/>
          <p:cNvSpPr txBox="1"/>
          <p:nvPr/>
        </p:nvSpPr>
        <p:spPr bwMode="gray">
          <a:xfrm>
            <a:off x="10513092" y="3662654"/>
            <a:ext cx="1069308" cy="393413"/>
          </a:xfrm>
          <a:prstGeom prst="roundRect">
            <a:avLst/>
          </a:prstGeom>
          <a:solidFill>
            <a:srgbClr val="56C4D2"/>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defPPr>
              <a:defRPr lang="en-US"/>
            </a:defPPr>
            <a:lvl1pPr algn="ctr" fontAlgn="auto">
              <a:spcBef>
                <a:spcPts val="0"/>
              </a:spcBef>
              <a:spcAft>
                <a:spcPts val="0"/>
              </a:spcAft>
              <a:defRPr sz="1600" b="0">
                <a:solidFill>
                  <a:srgbClr val="0070C0"/>
                </a:solidFill>
                <a:latin typeface="+mj-lt"/>
              </a:defRPr>
            </a:lvl1pPr>
          </a:lstStyle>
          <a:p>
            <a:r>
              <a:rPr lang="zh-CN" altLang="en-US"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控制器</a:t>
            </a:r>
            <a:endParaRPr lang="zh-CN" altLang="en-US"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7" name="直接箭头连接符 26"/>
          <p:cNvCxnSpPr/>
          <p:nvPr/>
        </p:nvCxnSpPr>
        <p:spPr bwMode="gray">
          <a:xfrm flipV="1">
            <a:off x="4900039" y="5387550"/>
            <a:ext cx="6125028" cy="14515"/>
          </a:xfrm>
          <a:prstGeom prst="straightConnector1">
            <a:avLst/>
          </a:prstGeom>
          <a:ln w="57150">
            <a:solidFill>
              <a:srgbClr val="BEE9EE"/>
            </a:solidFill>
            <a:tailEnd type="triangle"/>
          </a:ln>
        </p:spPr>
        <p:style>
          <a:lnRef idx="1">
            <a:schemeClr val="accent1"/>
          </a:lnRef>
          <a:fillRef idx="0">
            <a:schemeClr val="accent1"/>
          </a:fillRef>
          <a:effectRef idx="0">
            <a:schemeClr val="accent1"/>
          </a:effectRef>
          <a:fontRef idx="minor">
            <a:schemeClr val="tx1"/>
          </a:fontRef>
        </p:style>
      </p:cxnSp>
      <p:sp>
        <p:nvSpPr>
          <p:cNvPr id="28" name="文本框 27"/>
          <p:cNvSpPr txBox="1"/>
          <p:nvPr/>
        </p:nvSpPr>
        <p:spPr bwMode="gray">
          <a:xfrm>
            <a:off x="7463467" y="5510052"/>
            <a:ext cx="1664238" cy="307777"/>
          </a:xfrm>
          <a:prstGeom prst="rect">
            <a:avLst/>
          </a:prstGeom>
          <a:noFill/>
        </p:spPr>
        <p:txBody>
          <a:bodyPr wrap="none" rtlCol="0">
            <a:spAutoFit/>
          </a:bodyPr>
          <a:lstStyle/>
          <a:p>
            <a:pPr algn="ct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通告给</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BGP-LS</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邻居</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gray"/>
        <p:txBody>
          <a:bodyPr/>
          <a:lstStyle/>
          <a:p>
            <a:r>
              <a:rPr lang="en-US" altLang="zh-CN" dirty="0"/>
              <a:t>BGP-LS</a:t>
            </a:r>
            <a:r>
              <a:rPr lang="zh-CN" altLang="en-US" dirty="0"/>
              <a:t>部署方案</a:t>
            </a:r>
            <a:endParaRPr lang="zh-CN" altLang="en-US" dirty="0"/>
          </a:p>
        </p:txBody>
      </p:sp>
      <p:sp>
        <p:nvSpPr>
          <p:cNvPr id="3" name="Text Placeholder 2"/>
          <p:cNvSpPr>
            <a:spLocks noGrp="1"/>
          </p:cNvSpPr>
          <p:nvPr>
            <p:ph type="body" sz="quarter" idx="10"/>
          </p:nvPr>
        </p:nvSpPr>
        <p:spPr bwMode="gray"/>
        <p:txBody>
          <a:bodyPr/>
          <a:lstStyle/>
          <a:p>
            <a:r>
              <a:rPr lang="en-US" altLang="zh-CN" sz="1600" dirty="0"/>
              <a:t>BGP-LS</a:t>
            </a:r>
            <a:r>
              <a:rPr lang="zh-CN" altLang="en-US" sz="1600" dirty="0"/>
              <a:t>主要用于上传网络拓扑信息与隧道信息，因此</a:t>
            </a:r>
            <a:r>
              <a:rPr lang="en-US" altLang="zh-CN" sz="1600" dirty="0" err="1"/>
              <a:t>iMaster</a:t>
            </a:r>
            <a:r>
              <a:rPr lang="en-US" altLang="zh-CN" sz="1600" dirty="0"/>
              <a:t> NCE-IP</a:t>
            </a:r>
            <a:r>
              <a:rPr lang="zh-CN" altLang="en-US" sz="1600" dirty="0"/>
              <a:t>至少需要与两类设备建立</a:t>
            </a:r>
            <a:r>
              <a:rPr lang="en-US" altLang="zh-CN" sz="1600" dirty="0"/>
              <a:t>BGP-LS</a:t>
            </a:r>
            <a:r>
              <a:rPr lang="zh-CN" altLang="en-US" sz="1600" dirty="0"/>
              <a:t>邻居关系：</a:t>
            </a:r>
            <a:endParaRPr lang="en-US" altLang="zh-CN" sz="1600" dirty="0"/>
          </a:p>
          <a:p>
            <a:pPr lvl="1"/>
            <a:r>
              <a:rPr lang="zh-CN" altLang="en-US" sz="1400" dirty="0"/>
              <a:t>与</a:t>
            </a:r>
            <a:r>
              <a:rPr lang="en-US" altLang="zh-CN" sz="1400" dirty="0"/>
              <a:t>AS</a:t>
            </a:r>
            <a:r>
              <a:rPr lang="zh-CN" altLang="en-US" sz="1400" dirty="0"/>
              <a:t>内的某网络节点建立</a:t>
            </a:r>
            <a:r>
              <a:rPr lang="en-US" altLang="zh-CN" sz="1400" dirty="0"/>
              <a:t>BGP-LS</a:t>
            </a:r>
            <a:r>
              <a:rPr lang="zh-CN" altLang="en-US" sz="1400" dirty="0"/>
              <a:t>邻居关系：主要用于获取网络拓扑信息，一般使用</a:t>
            </a:r>
            <a:r>
              <a:rPr lang="en-US" altLang="zh-CN" sz="1400" dirty="0"/>
              <a:t>BGP RR</a:t>
            </a:r>
            <a:r>
              <a:rPr lang="zh-CN" altLang="en-US" sz="1400" dirty="0"/>
              <a:t>与控制器建立邻居关系。</a:t>
            </a:r>
            <a:endParaRPr lang="en-US" altLang="zh-CN" sz="1400" dirty="0"/>
          </a:p>
          <a:p>
            <a:pPr lvl="1"/>
            <a:r>
              <a:rPr lang="zh-CN" altLang="en-US" sz="1400" dirty="0"/>
              <a:t>与隧道源节点建立</a:t>
            </a:r>
            <a:r>
              <a:rPr lang="en-US" altLang="zh-CN" sz="1400" dirty="0"/>
              <a:t>BGP-LS</a:t>
            </a:r>
            <a:r>
              <a:rPr lang="zh-CN" altLang="en-US" sz="1400" dirty="0"/>
              <a:t>邻居关系：主要用于获取</a:t>
            </a:r>
            <a:r>
              <a:rPr lang="en-US" altLang="zh-CN" sz="1400" dirty="0"/>
              <a:t>SRv6 Policy</a:t>
            </a:r>
            <a:r>
              <a:rPr lang="zh-CN" altLang="en-US" sz="1400" dirty="0"/>
              <a:t>隧道状态。</a:t>
            </a:r>
            <a:endParaRPr lang="en-US" altLang="zh-CN" sz="1400" dirty="0"/>
          </a:p>
          <a:p>
            <a:r>
              <a:rPr lang="en-US" altLang="zh-CN" sz="1600" dirty="0"/>
              <a:t>BGP-LS</a:t>
            </a:r>
            <a:r>
              <a:rPr lang="zh-CN" altLang="en-US" sz="1600" dirty="0"/>
              <a:t>部署一般有两种方案：</a:t>
            </a:r>
            <a:endParaRPr lang="zh-CN" altLang="en-US" sz="1600" dirty="0"/>
          </a:p>
        </p:txBody>
      </p:sp>
      <p:pic>
        <p:nvPicPr>
          <p:cNvPr id="4" name="图片 13"/>
          <p:cNvPicPr/>
          <p:nvPr/>
        </p:nvPicPr>
        <p:blipFill>
          <a:blip r:embed="rId1" cstate="print">
            <a:extLst>
              <a:ext uri="{28A0092B-C50C-407E-A947-70E740481C1C}">
                <a14:useLocalDpi xmlns:a14="http://schemas.microsoft.com/office/drawing/2010/main" val="0"/>
              </a:ext>
            </a:extLst>
          </a:blip>
          <a:stretch>
            <a:fillRect/>
          </a:stretch>
        </p:blipFill>
        <p:spPr bwMode="gray">
          <a:xfrm>
            <a:off x="2989773" y="3994687"/>
            <a:ext cx="540000" cy="442800"/>
          </a:xfrm>
          <a:prstGeom prst="rect">
            <a:avLst/>
          </a:prstGeom>
        </p:spPr>
      </p:pic>
      <p:pic>
        <p:nvPicPr>
          <p:cNvPr id="5" name="图片 16"/>
          <p:cNvPicPr/>
          <p:nvPr/>
        </p:nvPicPr>
        <p:blipFill>
          <a:blip r:embed="rId1" cstate="print">
            <a:extLst>
              <a:ext uri="{28A0092B-C50C-407E-A947-70E740481C1C}">
                <a14:useLocalDpi xmlns:a14="http://schemas.microsoft.com/office/drawing/2010/main" val="0"/>
              </a:ext>
            </a:extLst>
          </a:blip>
          <a:stretch>
            <a:fillRect/>
          </a:stretch>
        </p:blipFill>
        <p:spPr bwMode="gray">
          <a:xfrm>
            <a:off x="925982" y="3994687"/>
            <a:ext cx="540000" cy="442800"/>
          </a:xfrm>
          <a:prstGeom prst="rect">
            <a:avLst/>
          </a:prstGeom>
        </p:spPr>
      </p:pic>
      <p:pic>
        <p:nvPicPr>
          <p:cNvPr id="6" name="图片 17"/>
          <p:cNvPicPr/>
          <p:nvPr/>
        </p:nvPicPr>
        <p:blipFill>
          <a:blip r:embed="rId1" cstate="print">
            <a:extLst>
              <a:ext uri="{28A0092B-C50C-407E-A947-70E740481C1C}">
                <a14:useLocalDpi xmlns:a14="http://schemas.microsoft.com/office/drawing/2010/main" val="0"/>
              </a:ext>
            </a:extLst>
          </a:blip>
          <a:stretch>
            <a:fillRect/>
          </a:stretch>
        </p:blipFill>
        <p:spPr bwMode="gray">
          <a:xfrm>
            <a:off x="5103807" y="3994687"/>
            <a:ext cx="540000" cy="442800"/>
          </a:xfrm>
          <a:prstGeom prst="rect">
            <a:avLst/>
          </a:prstGeom>
        </p:spPr>
      </p:pic>
      <p:pic>
        <p:nvPicPr>
          <p:cNvPr id="7" name="图片 20" descr="通用网管-蓝.png"/>
          <p:cNvPicPr>
            <a:picLocks noChangeAspect="1"/>
          </p:cNvPicPr>
          <p:nvPr/>
        </p:nvPicPr>
        <p:blipFill>
          <a:blip r:embed="rId2" cstate="print"/>
          <a:stretch>
            <a:fillRect/>
          </a:stretch>
        </p:blipFill>
        <p:spPr bwMode="gray">
          <a:xfrm>
            <a:off x="2989773" y="2657497"/>
            <a:ext cx="540000" cy="441818"/>
          </a:xfrm>
          <a:prstGeom prst="rect">
            <a:avLst/>
          </a:prstGeom>
        </p:spPr>
      </p:pic>
      <p:cxnSp>
        <p:nvCxnSpPr>
          <p:cNvPr id="8" name="直接连接符 8"/>
          <p:cNvCxnSpPr>
            <a:stCxn id="5" idx="3"/>
            <a:endCxn id="4" idx="1"/>
          </p:cNvCxnSpPr>
          <p:nvPr/>
        </p:nvCxnSpPr>
        <p:spPr bwMode="gray">
          <a:xfrm>
            <a:off x="1465982" y="4216087"/>
            <a:ext cx="1523791" cy="0"/>
          </a:xfrm>
          <a:prstGeom prst="line">
            <a:avLst/>
          </a:prstGeom>
          <a:ln w="19050">
            <a:solidFill>
              <a:schemeClr val="bg1">
                <a:lumMod val="50000"/>
              </a:schemeClr>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 name="直接连接符 8"/>
          <p:cNvCxnSpPr>
            <a:stCxn id="4" idx="3"/>
            <a:endCxn id="6" idx="1"/>
          </p:cNvCxnSpPr>
          <p:nvPr/>
        </p:nvCxnSpPr>
        <p:spPr bwMode="gray">
          <a:xfrm>
            <a:off x="3529773" y="4216087"/>
            <a:ext cx="1574034" cy="0"/>
          </a:xfrm>
          <a:prstGeom prst="line">
            <a:avLst/>
          </a:prstGeom>
          <a:ln w="19050">
            <a:solidFill>
              <a:schemeClr val="bg1">
                <a:lumMod val="50000"/>
              </a:schemeClr>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 name="直接连接符 8"/>
          <p:cNvCxnSpPr>
            <a:stCxn id="7" idx="2"/>
            <a:endCxn id="4" idx="0"/>
          </p:cNvCxnSpPr>
          <p:nvPr/>
        </p:nvCxnSpPr>
        <p:spPr bwMode="gray">
          <a:xfrm>
            <a:off x="3259773" y="3099315"/>
            <a:ext cx="0" cy="895372"/>
          </a:xfrm>
          <a:prstGeom prst="line">
            <a:avLst/>
          </a:prstGeom>
          <a:ln w="19050">
            <a:solidFill>
              <a:schemeClr val="bg1">
                <a:lumMod val="50000"/>
              </a:schemeClr>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4" name="Freeform 159"/>
          <p:cNvSpPr/>
          <p:nvPr/>
        </p:nvSpPr>
        <p:spPr bwMode="gray">
          <a:xfrm flipH="1">
            <a:off x="2871078" y="3292184"/>
            <a:ext cx="777390" cy="406364"/>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 name="Freeform 159"/>
          <p:cNvSpPr/>
          <p:nvPr/>
        </p:nvSpPr>
        <p:spPr bwMode="gray">
          <a:xfrm flipH="1">
            <a:off x="1810506" y="3982095"/>
            <a:ext cx="777390" cy="406364"/>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 name="Freeform 159"/>
          <p:cNvSpPr/>
          <p:nvPr/>
        </p:nvSpPr>
        <p:spPr bwMode="gray">
          <a:xfrm flipH="1">
            <a:off x="4050675" y="3982095"/>
            <a:ext cx="777390" cy="406364"/>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Freeform 22"/>
          <p:cNvSpPr/>
          <p:nvPr/>
        </p:nvSpPr>
        <p:spPr bwMode="gray">
          <a:xfrm>
            <a:off x="1202110" y="2854720"/>
            <a:ext cx="1763972" cy="1098926"/>
          </a:xfrm>
          <a:custGeom>
            <a:avLst/>
            <a:gdLst>
              <a:gd name="connsiteX0" fmla="*/ 0 w 1738365"/>
              <a:gd name="connsiteY0" fmla="*/ 1587640 h 1587640"/>
              <a:gd name="connsiteX1" fmla="*/ 622998 w 1738365"/>
              <a:gd name="connsiteY1" fmla="*/ 673240 h 1587640"/>
              <a:gd name="connsiteX2" fmla="*/ 1738365 w 1738365"/>
              <a:gd name="connsiteY2" fmla="*/ 0 h 1587640"/>
            </a:gdLst>
            <a:ahLst/>
            <a:cxnLst>
              <a:cxn ang="0">
                <a:pos x="connsiteX0" y="connsiteY0"/>
              </a:cxn>
              <a:cxn ang="0">
                <a:pos x="connsiteX1" y="connsiteY1"/>
              </a:cxn>
              <a:cxn ang="0">
                <a:pos x="connsiteX2" y="connsiteY2"/>
              </a:cxn>
            </a:cxnLst>
            <a:rect l="l" t="t" r="r" b="b"/>
            <a:pathLst>
              <a:path w="1738365" h="1587640">
                <a:moveTo>
                  <a:pt x="0" y="1587640"/>
                </a:moveTo>
                <a:cubicBezTo>
                  <a:pt x="166635" y="1262743"/>
                  <a:pt x="333271" y="937847"/>
                  <a:pt x="622998" y="673240"/>
                </a:cubicBezTo>
                <a:cubicBezTo>
                  <a:pt x="912726" y="408633"/>
                  <a:pt x="1325545" y="204316"/>
                  <a:pt x="1738365" y="0"/>
                </a:cubicBezTo>
              </a:path>
            </a:pathLst>
          </a:custGeom>
          <a:ln w="19050">
            <a:solidFill>
              <a:srgbClr val="FCC800"/>
            </a:solidFill>
            <a:prstDash val="sysDash"/>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4" name="Freeform 23"/>
          <p:cNvSpPr/>
          <p:nvPr/>
        </p:nvSpPr>
        <p:spPr bwMode="gray">
          <a:xfrm flipH="1">
            <a:off x="3529773" y="2838387"/>
            <a:ext cx="1787663" cy="1115260"/>
          </a:xfrm>
          <a:custGeom>
            <a:avLst/>
            <a:gdLst>
              <a:gd name="connsiteX0" fmla="*/ 0 w 1738365"/>
              <a:gd name="connsiteY0" fmla="*/ 1587640 h 1587640"/>
              <a:gd name="connsiteX1" fmla="*/ 622998 w 1738365"/>
              <a:gd name="connsiteY1" fmla="*/ 673240 h 1587640"/>
              <a:gd name="connsiteX2" fmla="*/ 1738365 w 1738365"/>
              <a:gd name="connsiteY2" fmla="*/ 0 h 1587640"/>
            </a:gdLst>
            <a:ahLst/>
            <a:cxnLst>
              <a:cxn ang="0">
                <a:pos x="connsiteX0" y="connsiteY0"/>
              </a:cxn>
              <a:cxn ang="0">
                <a:pos x="connsiteX1" y="connsiteY1"/>
              </a:cxn>
              <a:cxn ang="0">
                <a:pos x="connsiteX2" y="connsiteY2"/>
              </a:cxn>
            </a:cxnLst>
            <a:rect l="l" t="t" r="r" b="b"/>
            <a:pathLst>
              <a:path w="1738365" h="1587640">
                <a:moveTo>
                  <a:pt x="0" y="1587640"/>
                </a:moveTo>
                <a:cubicBezTo>
                  <a:pt x="166635" y="1262743"/>
                  <a:pt x="333271" y="937847"/>
                  <a:pt x="622998" y="673240"/>
                </a:cubicBezTo>
                <a:cubicBezTo>
                  <a:pt x="912726" y="408633"/>
                  <a:pt x="1325545" y="204316"/>
                  <a:pt x="1738365" y="0"/>
                </a:cubicBezTo>
              </a:path>
            </a:pathLst>
          </a:custGeom>
          <a:ln w="19050">
            <a:solidFill>
              <a:srgbClr val="FCC800"/>
            </a:solidFill>
            <a:prstDash val="sysDash"/>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6" name="Freeform 25"/>
          <p:cNvSpPr/>
          <p:nvPr/>
        </p:nvSpPr>
        <p:spPr bwMode="gray">
          <a:xfrm>
            <a:off x="3048079" y="3121699"/>
            <a:ext cx="147323" cy="861570"/>
          </a:xfrm>
          <a:custGeom>
            <a:avLst/>
            <a:gdLst>
              <a:gd name="connsiteX0" fmla="*/ 241889 w 241889"/>
              <a:gd name="connsiteY0" fmla="*/ 964642 h 964642"/>
              <a:gd name="connsiteX1" fmla="*/ 729 w 241889"/>
              <a:gd name="connsiteY1" fmla="*/ 502418 h 964642"/>
              <a:gd name="connsiteX2" fmla="*/ 181599 w 241889"/>
              <a:gd name="connsiteY2" fmla="*/ 0 h 964642"/>
            </a:gdLst>
            <a:ahLst/>
            <a:cxnLst>
              <a:cxn ang="0">
                <a:pos x="connsiteX0" y="connsiteY0"/>
              </a:cxn>
              <a:cxn ang="0">
                <a:pos x="connsiteX1" y="connsiteY1"/>
              </a:cxn>
              <a:cxn ang="0">
                <a:pos x="connsiteX2" y="connsiteY2"/>
              </a:cxn>
            </a:cxnLst>
            <a:rect l="l" t="t" r="r" b="b"/>
            <a:pathLst>
              <a:path w="241889" h="964642">
                <a:moveTo>
                  <a:pt x="241889" y="964642"/>
                </a:moveTo>
                <a:cubicBezTo>
                  <a:pt x="126333" y="813917"/>
                  <a:pt x="10777" y="663192"/>
                  <a:pt x="729" y="502418"/>
                </a:cubicBezTo>
                <a:cubicBezTo>
                  <a:pt x="-9319" y="341644"/>
                  <a:pt x="86140" y="170822"/>
                  <a:pt x="181599" y="0"/>
                </a:cubicBezTo>
              </a:path>
            </a:pathLst>
          </a:custGeom>
          <a:ln w="19050">
            <a:solidFill>
              <a:srgbClr val="FCC800"/>
            </a:solidFill>
            <a:prstDash val="sysDash"/>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solidFill>
                <a:schemeClr val="tx1"/>
              </a:solidFill>
            </a:endParaRPr>
          </a:p>
        </p:txBody>
      </p:sp>
      <p:sp>
        <p:nvSpPr>
          <p:cNvPr id="27" name="文本框 68"/>
          <p:cNvSpPr txBox="1"/>
          <p:nvPr/>
        </p:nvSpPr>
        <p:spPr bwMode="gray">
          <a:xfrm rot="20291769">
            <a:off x="2008229" y="2762264"/>
            <a:ext cx="780983" cy="307777"/>
          </a:xfrm>
          <a:prstGeom prst="rect">
            <a:avLst/>
          </a:prstGeom>
          <a:noFill/>
        </p:spPr>
        <p:txBody>
          <a:bodyPr wrap="none" rtlCol="0">
            <a:spAutoFit/>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BGP-LS</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文本框 22"/>
          <p:cNvSpPr txBox="1"/>
          <p:nvPr/>
        </p:nvSpPr>
        <p:spPr bwMode="gray">
          <a:xfrm>
            <a:off x="744753" y="3726498"/>
            <a:ext cx="497252" cy="307777"/>
          </a:xfrm>
          <a:prstGeom prst="rect">
            <a:avLst/>
          </a:prstGeom>
          <a:noFill/>
        </p:spPr>
        <p:txBody>
          <a:bodyPr wrap="none" rtlCol="0">
            <a:spAutoFit/>
          </a:bodyPr>
          <a:lstStyle/>
          <a:p>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PE1</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文本框 22"/>
          <p:cNvSpPr txBox="1"/>
          <p:nvPr/>
        </p:nvSpPr>
        <p:spPr bwMode="gray">
          <a:xfrm>
            <a:off x="3241115" y="3724991"/>
            <a:ext cx="396262" cy="307777"/>
          </a:xfrm>
          <a:prstGeom prst="rect">
            <a:avLst/>
          </a:prstGeom>
          <a:noFill/>
        </p:spPr>
        <p:txBody>
          <a:bodyPr wrap="none" rtlCol="0">
            <a:spAutoFit/>
          </a:bodyPr>
          <a:lstStyle/>
          <a:p>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P1</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 name="文本框 22"/>
          <p:cNvSpPr txBox="1"/>
          <p:nvPr/>
        </p:nvSpPr>
        <p:spPr bwMode="gray">
          <a:xfrm>
            <a:off x="5315411" y="3726498"/>
            <a:ext cx="497252" cy="307777"/>
          </a:xfrm>
          <a:prstGeom prst="rect">
            <a:avLst/>
          </a:prstGeom>
          <a:noFill/>
        </p:spPr>
        <p:txBody>
          <a:bodyPr wrap="none" rtlCol="0">
            <a:spAutoFit/>
          </a:bodyPr>
          <a:lstStyle/>
          <a:p>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PE2</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31" name="图片 16"/>
          <p:cNvPicPr/>
          <p:nvPr/>
        </p:nvPicPr>
        <p:blipFill>
          <a:blip r:embed="rId1" cstate="print">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925982" y="4613537"/>
            <a:ext cx="540000" cy="442800"/>
          </a:xfrm>
          <a:prstGeom prst="rect">
            <a:avLst/>
          </a:prstGeom>
        </p:spPr>
      </p:pic>
      <p:pic>
        <p:nvPicPr>
          <p:cNvPr id="32" name="图片 16"/>
          <p:cNvPicPr/>
          <p:nvPr/>
        </p:nvPicPr>
        <p:blipFill>
          <a:blip r:embed="rId1" cstate="print">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5103807" y="4613537"/>
            <a:ext cx="540000" cy="442800"/>
          </a:xfrm>
          <a:prstGeom prst="rect">
            <a:avLst/>
          </a:prstGeom>
        </p:spPr>
      </p:pic>
      <p:cxnSp>
        <p:nvCxnSpPr>
          <p:cNvPr id="33" name="直接连接符 8"/>
          <p:cNvCxnSpPr>
            <a:stCxn id="5" idx="2"/>
            <a:endCxn id="31" idx="0"/>
          </p:cNvCxnSpPr>
          <p:nvPr/>
        </p:nvCxnSpPr>
        <p:spPr bwMode="gray">
          <a:xfrm>
            <a:off x="1195982" y="4437487"/>
            <a:ext cx="0" cy="176050"/>
          </a:xfrm>
          <a:prstGeom prst="line">
            <a:avLst/>
          </a:prstGeom>
          <a:ln w="19050">
            <a:solidFill>
              <a:schemeClr val="bg1">
                <a:lumMod val="50000"/>
              </a:schemeClr>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 name="直接连接符 8"/>
          <p:cNvCxnSpPr>
            <a:stCxn id="6" idx="2"/>
            <a:endCxn id="32" idx="0"/>
          </p:cNvCxnSpPr>
          <p:nvPr/>
        </p:nvCxnSpPr>
        <p:spPr bwMode="gray">
          <a:xfrm>
            <a:off x="5373807" y="4437487"/>
            <a:ext cx="0" cy="176050"/>
          </a:xfrm>
          <a:prstGeom prst="line">
            <a:avLst/>
          </a:prstGeom>
          <a:ln w="19050">
            <a:solidFill>
              <a:schemeClr val="bg1">
                <a:lumMod val="50000"/>
              </a:schemeClr>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9" name="文本框 22"/>
          <p:cNvSpPr txBox="1"/>
          <p:nvPr/>
        </p:nvSpPr>
        <p:spPr bwMode="gray">
          <a:xfrm>
            <a:off x="1406797" y="4681048"/>
            <a:ext cx="502061" cy="307777"/>
          </a:xfrm>
          <a:prstGeom prst="rect">
            <a:avLst/>
          </a:prstGeom>
          <a:noFill/>
        </p:spPr>
        <p:txBody>
          <a:bodyPr wrap="none" rtlCol="0">
            <a:spAutoFit/>
          </a:bodyPr>
          <a:lstStyle/>
          <a:p>
            <a:r>
              <a:rPr lang="en-US" altLang="zh-CN" sz="14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CE1</a:t>
            </a:r>
            <a:endParaRPr lang="zh-CN" altLang="en-US" sz="14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文本框 22"/>
          <p:cNvSpPr txBox="1"/>
          <p:nvPr/>
        </p:nvSpPr>
        <p:spPr bwMode="gray">
          <a:xfrm>
            <a:off x="4667238" y="4709496"/>
            <a:ext cx="502061" cy="307777"/>
          </a:xfrm>
          <a:prstGeom prst="rect">
            <a:avLst/>
          </a:prstGeom>
          <a:noFill/>
        </p:spPr>
        <p:txBody>
          <a:bodyPr wrap="none" rtlCol="0">
            <a:spAutoFit/>
          </a:bodyPr>
          <a:lstStyle/>
          <a:p>
            <a:r>
              <a:rPr lang="en-US" altLang="zh-CN" sz="14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CE2</a:t>
            </a:r>
            <a:endParaRPr lang="zh-CN" altLang="en-US" sz="14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41" name="图片 13"/>
          <p:cNvPicPr/>
          <p:nvPr/>
        </p:nvPicPr>
        <p:blipFill>
          <a:blip r:embed="rId1" cstate="print">
            <a:extLst>
              <a:ext uri="{28A0092B-C50C-407E-A947-70E740481C1C}">
                <a14:useLocalDpi xmlns:a14="http://schemas.microsoft.com/office/drawing/2010/main" val="0"/>
              </a:ext>
            </a:extLst>
          </a:blip>
          <a:stretch>
            <a:fillRect/>
          </a:stretch>
        </p:blipFill>
        <p:spPr bwMode="gray">
          <a:xfrm>
            <a:off x="8508530" y="3986154"/>
            <a:ext cx="540000" cy="442800"/>
          </a:xfrm>
          <a:prstGeom prst="rect">
            <a:avLst/>
          </a:prstGeom>
        </p:spPr>
      </p:pic>
      <p:pic>
        <p:nvPicPr>
          <p:cNvPr id="42" name="图片 16"/>
          <p:cNvPicPr/>
          <p:nvPr/>
        </p:nvPicPr>
        <p:blipFill>
          <a:blip r:embed="rId1" cstate="print">
            <a:extLst>
              <a:ext uri="{28A0092B-C50C-407E-A947-70E740481C1C}">
                <a14:useLocalDpi xmlns:a14="http://schemas.microsoft.com/office/drawing/2010/main" val="0"/>
              </a:ext>
            </a:extLst>
          </a:blip>
          <a:stretch>
            <a:fillRect/>
          </a:stretch>
        </p:blipFill>
        <p:spPr bwMode="gray">
          <a:xfrm>
            <a:off x="6444739" y="3986154"/>
            <a:ext cx="540000" cy="442800"/>
          </a:xfrm>
          <a:prstGeom prst="rect">
            <a:avLst/>
          </a:prstGeom>
        </p:spPr>
      </p:pic>
      <p:pic>
        <p:nvPicPr>
          <p:cNvPr id="43" name="图片 17"/>
          <p:cNvPicPr/>
          <p:nvPr/>
        </p:nvPicPr>
        <p:blipFill>
          <a:blip r:embed="rId1" cstate="print">
            <a:extLst>
              <a:ext uri="{28A0092B-C50C-407E-A947-70E740481C1C}">
                <a14:useLocalDpi xmlns:a14="http://schemas.microsoft.com/office/drawing/2010/main" val="0"/>
              </a:ext>
            </a:extLst>
          </a:blip>
          <a:stretch>
            <a:fillRect/>
          </a:stretch>
        </p:blipFill>
        <p:spPr bwMode="gray">
          <a:xfrm>
            <a:off x="10622564" y="3986154"/>
            <a:ext cx="540000" cy="442800"/>
          </a:xfrm>
          <a:prstGeom prst="rect">
            <a:avLst/>
          </a:prstGeom>
        </p:spPr>
      </p:pic>
      <p:pic>
        <p:nvPicPr>
          <p:cNvPr id="44" name="图片 20" descr="通用网管-蓝.png"/>
          <p:cNvPicPr>
            <a:picLocks noChangeAspect="1"/>
          </p:cNvPicPr>
          <p:nvPr/>
        </p:nvPicPr>
        <p:blipFill>
          <a:blip r:embed="rId2" cstate="print"/>
          <a:stretch>
            <a:fillRect/>
          </a:stretch>
        </p:blipFill>
        <p:spPr bwMode="gray">
          <a:xfrm>
            <a:off x="8508530" y="2657497"/>
            <a:ext cx="540000" cy="441818"/>
          </a:xfrm>
          <a:prstGeom prst="rect">
            <a:avLst/>
          </a:prstGeom>
        </p:spPr>
      </p:pic>
      <p:cxnSp>
        <p:nvCxnSpPr>
          <p:cNvPr id="45" name="直接连接符 8"/>
          <p:cNvCxnSpPr>
            <a:stCxn id="42" idx="3"/>
            <a:endCxn id="41" idx="1"/>
          </p:cNvCxnSpPr>
          <p:nvPr/>
        </p:nvCxnSpPr>
        <p:spPr bwMode="gray">
          <a:xfrm>
            <a:off x="6984739" y="4207554"/>
            <a:ext cx="1523791" cy="0"/>
          </a:xfrm>
          <a:prstGeom prst="line">
            <a:avLst/>
          </a:prstGeom>
          <a:ln w="19050">
            <a:solidFill>
              <a:schemeClr val="bg1">
                <a:lumMod val="50000"/>
              </a:schemeClr>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6" name="直接连接符 8"/>
          <p:cNvCxnSpPr>
            <a:stCxn id="41" idx="3"/>
            <a:endCxn id="43" idx="1"/>
          </p:cNvCxnSpPr>
          <p:nvPr/>
        </p:nvCxnSpPr>
        <p:spPr bwMode="gray">
          <a:xfrm>
            <a:off x="9048530" y="4207554"/>
            <a:ext cx="1574034" cy="0"/>
          </a:xfrm>
          <a:prstGeom prst="line">
            <a:avLst/>
          </a:prstGeom>
          <a:ln w="19050">
            <a:solidFill>
              <a:schemeClr val="bg1">
                <a:lumMod val="50000"/>
              </a:schemeClr>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7" name="直接连接符 8"/>
          <p:cNvCxnSpPr>
            <a:stCxn id="44" idx="2"/>
            <a:endCxn id="41" idx="0"/>
          </p:cNvCxnSpPr>
          <p:nvPr/>
        </p:nvCxnSpPr>
        <p:spPr bwMode="gray">
          <a:xfrm>
            <a:off x="8778530" y="3099315"/>
            <a:ext cx="0" cy="886839"/>
          </a:xfrm>
          <a:prstGeom prst="line">
            <a:avLst/>
          </a:prstGeom>
          <a:ln w="19050">
            <a:solidFill>
              <a:schemeClr val="bg1">
                <a:lumMod val="50000"/>
              </a:schemeClr>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8" name="Freeform 159"/>
          <p:cNvSpPr/>
          <p:nvPr/>
        </p:nvSpPr>
        <p:spPr bwMode="gray">
          <a:xfrm flipH="1">
            <a:off x="8389835" y="3287710"/>
            <a:ext cx="777390" cy="406364"/>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Freeform 159"/>
          <p:cNvSpPr/>
          <p:nvPr/>
        </p:nvSpPr>
        <p:spPr bwMode="gray">
          <a:xfrm flipH="1">
            <a:off x="7329263" y="3973562"/>
            <a:ext cx="777390" cy="406364"/>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0" name="Freeform 159"/>
          <p:cNvSpPr/>
          <p:nvPr/>
        </p:nvSpPr>
        <p:spPr bwMode="gray">
          <a:xfrm flipH="1">
            <a:off x="9569432" y="3973562"/>
            <a:ext cx="777390" cy="406364"/>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1" name="Freeform 50"/>
          <p:cNvSpPr/>
          <p:nvPr/>
        </p:nvSpPr>
        <p:spPr bwMode="gray">
          <a:xfrm rot="2227946">
            <a:off x="7067464" y="3469621"/>
            <a:ext cx="1282925" cy="954850"/>
          </a:xfrm>
          <a:custGeom>
            <a:avLst/>
            <a:gdLst>
              <a:gd name="connsiteX0" fmla="*/ 0 w 1738365"/>
              <a:gd name="connsiteY0" fmla="*/ 1587640 h 1587640"/>
              <a:gd name="connsiteX1" fmla="*/ 622998 w 1738365"/>
              <a:gd name="connsiteY1" fmla="*/ 673240 h 1587640"/>
              <a:gd name="connsiteX2" fmla="*/ 1738365 w 1738365"/>
              <a:gd name="connsiteY2" fmla="*/ 0 h 1587640"/>
            </a:gdLst>
            <a:ahLst/>
            <a:cxnLst>
              <a:cxn ang="0">
                <a:pos x="connsiteX0" y="connsiteY0"/>
              </a:cxn>
              <a:cxn ang="0">
                <a:pos x="connsiteX1" y="connsiteY1"/>
              </a:cxn>
              <a:cxn ang="0">
                <a:pos x="connsiteX2" y="connsiteY2"/>
              </a:cxn>
            </a:cxnLst>
            <a:rect l="l" t="t" r="r" b="b"/>
            <a:pathLst>
              <a:path w="1738365" h="1587640">
                <a:moveTo>
                  <a:pt x="0" y="1587640"/>
                </a:moveTo>
                <a:cubicBezTo>
                  <a:pt x="166635" y="1262743"/>
                  <a:pt x="333271" y="937847"/>
                  <a:pt x="622998" y="673240"/>
                </a:cubicBezTo>
                <a:cubicBezTo>
                  <a:pt x="912726" y="408633"/>
                  <a:pt x="1325545" y="204316"/>
                  <a:pt x="1738365" y="0"/>
                </a:cubicBezTo>
              </a:path>
            </a:pathLst>
          </a:custGeom>
          <a:ln w="19050">
            <a:solidFill>
              <a:srgbClr val="FCC800"/>
            </a:solidFill>
            <a:prstDash val="sysDash"/>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2" name="Freeform 51"/>
          <p:cNvSpPr/>
          <p:nvPr/>
        </p:nvSpPr>
        <p:spPr bwMode="gray">
          <a:xfrm rot="18900000" flipH="1">
            <a:off x="9281291" y="3294043"/>
            <a:ext cx="1288023" cy="1306005"/>
          </a:xfrm>
          <a:custGeom>
            <a:avLst/>
            <a:gdLst>
              <a:gd name="connsiteX0" fmla="*/ 0 w 1738365"/>
              <a:gd name="connsiteY0" fmla="*/ 1587640 h 1587640"/>
              <a:gd name="connsiteX1" fmla="*/ 622998 w 1738365"/>
              <a:gd name="connsiteY1" fmla="*/ 673240 h 1587640"/>
              <a:gd name="connsiteX2" fmla="*/ 1738365 w 1738365"/>
              <a:gd name="connsiteY2" fmla="*/ 0 h 1587640"/>
            </a:gdLst>
            <a:ahLst/>
            <a:cxnLst>
              <a:cxn ang="0">
                <a:pos x="connsiteX0" y="connsiteY0"/>
              </a:cxn>
              <a:cxn ang="0">
                <a:pos x="connsiteX1" y="connsiteY1"/>
              </a:cxn>
              <a:cxn ang="0">
                <a:pos x="connsiteX2" y="connsiteY2"/>
              </a:cxn>
            </a:cxnLst>
            <a:rect l="l" t="t" r="r" b="b"/>
            <a:pathLst>
              <a:path w="1738365" h="1587640">
                <a:moveTo>
                  <a:pt x="0" y="1587640"/>
                </a:moveTo>
                <a:cubicBezTo>
                  <a:pt x="166635" y="1262743"/>
                  <a:pt x="333271" y="937847"/>
                  <a:pt x="622998" y="673240"/>
                </a:cubicBezTo>
                <a:cubicBezTo>
                  <a:pt x="912726" y="408633"/>
                  <a:pt x="1325545" y="204316"/>
                  <a:pt x="1738365" y="0"/>
                </a:cubicBezTo>
              </a:path>
            </a:pathLst>
          </a:custGeom>
          <a:ln w="19050">
            <a:solidFill>
              <a:srgbClr val="FCC800"/>
            </a:solidFill>
            <a:prstDash val="sysDash"/>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3" name="Freeform 52"/>
          <p:cNvSpPr/>
          <p:nvPr/>
        </p:nvSpPr>
        <p:spPr bwMode="gray">
          <a:xfrm>
            <a:off x="8566836" y="3121699"/>
            <a:ext cx="147323" cy="797528"/>
          </a:xfrm>
          <a:custGeom>
            <a:avLst/>
            <a:gdLst>
              <a:gd name="connsiteX0" fmla="*/ 241889 w 241889"/>
              <a:gd name="connsiteY0" fmla="*/ 964642 h 964642"/>
              <a:gd name="connsiteX1" fmla="*/ 729 w 241889"/>
              <a:gd name="connsiteY1" fmla="*/ 502418 h 964642"/>
              <a:gd name="connsiteX2" fmla="*/ 181599 w 241889"/>
              <a:gd name="connsiteY2" fmla="*/ 0 h 964642"/>
            </a:gdLst>
            <a:ahLst/>
            <a:cxnLst>
              <a:cxn ang="0">
                <a:pos x="connsiteX0" y="connsiteY0"/>
              </a:cxn>
              <a:cxn ang="0">
                <a:pos x="connsiteX1" y="connsiteY1"/>
              </a:cxn>
              <a:cxn ang="0">
                <a:pos x="connsiteX2" y="connsiteY2"/>
              </a:cxn>
            </a:cxnLst>
            <a:rect l="l" t="t" r="r" b="b"/>
            <a:pathLst>
              <a:path w="241889" h="964642">
                <a:moveTo>
                  <a:pt x="241889" y="964642"/>
                </a:moveTo>
                <a:cubicBezTo>
                  <a:pt x="126333" y="813917"/>
                  <a:pt x="10777" y="663192"/>
                  <a:pt x="729" y="502418"/>
                </a:cubicBezTo>
                <a:cubicBezTo>
                  <a:pt x="-9319" y="341644"/>
                  <a:pt x="86140" y="170822"/>
                  <a:pt x="181599" y="0"/>
                </a:cubicBezTo>
              </a:path>
            </a:pathLst>
          </a:custGeom>
          <a:ln w="19050">
            <a:solidFill>
              <a:srgbClr val="FCC800"/>
            </a:solidFill>
            <a:prstDash val="sysDash"/>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solidFill>
                <a:schemeClr val="tx1"/>
              </a:solidFill>
            </a:endParaRPr>
          </a:p>
        </p:txBody>
      </p:sp>
      <p:sp>
        <p:nvSpPr>
          <p:cNvPr id="54" name="文本框 68"/>
          <p:cNvSpPr txBox="1"/>
          <p:nvPr/>
        </p:nvSpPr>
        <p:spPr bwMode="gray">
          <a:xfrm>
            <a:off x="7205129" y="3484704"/>
            <a:ext cx="780983" cy="307777"/>
          </a:xfrm>
          <a:prstGeom prst="rect">
            <a:avLst/>
          </a:prstGeom>
          <a:noFill/>
        </p:spPr>
        <p:txBody>
          <a:bodyPr wrap="none" rtlCol="0">
            <a:spAutoFit/>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BGP-LS</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5" name="文本框 22"/>
          <p:cNvSpPr txBox="1"/>
          <p:nvPr/>
        </p:nvSpPr>
        <p:spPr bwMode="gray">
          <a:xfrm>
            <a:off x="6463796" y="3717965"/>
            <a:ext cx="497252" cy="307777"/>
          </a:xfrm>
          <a:prstGeom prst="rect">
            <a:avLst/>
          </a:prstGeom>
          <a:noFill/>
        </p:spPr>
        <p:txBody>
          <a:bodyPr wrap="none" rtlCol="0">
            <a:spAutoFit/>
          </a:bodyPr>
          <a:lstStyle/>
          <a:p>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PE1</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6" name="文本框 22"/>
          <p:cNvSpPr txBox="1"/>
          <p:nvPr/>
        </p:nvSpPr>
        <p:spPr bwMode="gray">
          <a:xfrm>
            <a:off x="8712276" y="3716458"/>
            <a:ext cx="418704" cy="307777"/>
          </a:xfrm>
          <a:prstGeom prst="rect">
            <a:avLst/>
          </a:prstGeom>
          <a:noFill/>
        </p:spPr>
        <p:txBody>
          <a:bodyPr wrap="none" rtlCol="0">
            <a:spAutoFit/>
          </a:bodyPr>
          <a:lstStyle/>
          <a:p>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RR</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7" name="文本框 22"/>
          <p:cNvSpPr txBox="1"/>
          <p:nvPr/>
        </p:nvSpPr>
        <p:spPr bwMode="gray">
          <a:xfrm>
            <a:off x="10801965" y="3717965"/>
            <a:ext cx="497252" cy="307777"/>
          </a:xfrm>
          <a:prstGeom prst="rect">
            <a:avLst/>
          </a:prstGeom>
          <a:noFill/>
        </p:spPr>
        <p:txBody>
          <a:bodyPr wrap="none" rtlCol="0">
            <a:spAutoFit/>
          </a:bodyPr>
          <a:lstStyle/>
          <a:p>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PE2</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58" name="图片 16"/>
          <p:cNvPicPr/>
          <p:nvPr/>
        </p:nvPicPr>
        <p:blipFill>
          <a:blip r:embed="rId1" cstate="print">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6444739" y="4605004"/>
            <a:ext cx="540000" cy="442800"/>
          </a:xfrm>
          <a:prstGeom prst="rect">
            <a:avLst/>
          </a:prstGeom>
        </p:spPr>
      </p:pic>
      <p:pic>
        <p:nvPicPr>
          <p:cNvPr id="59" name="图片 16"/>
          <p:cNvPicPr/>
          <p:nvPr/>
        </p:nvPicPr>
        <p:blipFill>
          <a:blip r:embed="rId1" cstate="print">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10622564" y="4605004"/>
            <a:ext cx="540000" cy="442800"/>
          </a:xfrm>
          <a:prstGeom prst="rect">
            <a:avLst/>
          </a:prstGeom>
        </p:spPr>
      </p:pic>
      <p:cxnSp>
        <p:nvCxnSpPr>
          <p:cNvPr id="60" name="直接连接符 8"/>
          <p:cNvCxnSpPr>
            <a:stCxn id="42" idx="2"/>
            <a:endCxn id="58" idx="0"/>
          </p:cNvCxnSpPr>
          <p:nvPr/>
        </p:nvCxnSpPr>
        <p:spPr bwMode="gray">
          <a:xfrm>
            <a:off x="6714739" y="4428954"/>
            <a:ext cx="0" cy="176050"/>
          </a:xfrm>
          <a:prstGeom prst="line">
            <a:avLst/>
          </a:prstGeom>
          <a:ln w="19050">
            <a:solidFill>
              <a:schemeClr val="bg1">
                <a:lumMod val="50000"/>
              </a:schemeClr>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1" name="直接连接符 8"/>
          <p:cNvCxnSpPr>
            <a:stCxn id="43" idx="2"/>
            <a:endCxn id="59" idx="0"/>
          </p:cNvCxnSpPr>
          <p:nvPr/>
        </p:nvCxnSpPr>
        <p:spPr bwMode="gray">
          <a:xfrm>
            <a:off x="10892564" y="4428954"/>
            <a:ext cx="0" cy="176050"/>
          </a:xfrm>
          <a:prstGeom prst="line">
            <a:avLst/>
          </a:prstGeom>
          <a:ln w="19050">
            <a:solidFill>
              <a:schemeClr val="bg1">
                <a:lumMod val="50000"/>
              </a:schemeClr>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62" name="文本框 22"/>
          <p:cNvSpPr txBox="1"/>
          <p:nvPr/>
        </p:nvSpPr>
        <p:spPr bwMode="gray">
          <a:xfrm>
            <a:off x="6923664" y="4681048"/>
            <a:ext cx="502061" cy="307777"/>
          </a:xfrm>
          <a:prstGeom prst="rect">
            <a:avLst/>
          </a:prstGeom>
          <a:noFill/>
        </p:spPr>
        <p:txBody>
          <a:bodyPr wrap="none" rtlCol="0">
            <a:spAutoFit/>
          </a:bodyPr>
          <a:lstStyle/>
          <a:p>
            <a:r>
              <a:rPr lang="en-US" altLang="zh-CN" sz="14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CE1</a:t>
            </a:r>
            <a:endParaRPr lang="zh-CN" altLang="en-US" sz="14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3" name="文本框 22"/>
          <p:cNvSpPr txBox="1"/>
          <p:nvPr/>
        </p:nvSpPr>
        <p:spPr bwMode="gray">
          <a:xfrm>
            <a:off x="10181578" y="4681048"/>
            <a:ext cx="502061" cy="307777"/>
          </a:xfrm>
          <a:prstGeom prst="rect">
            <a:avLst/>
          </a:prstGeom>
          <a:noFill/>
        </p:spPr>
        <p:txBody>
          <a:bodyPr wrap="none" rtlCol="0">
            <a:spAutoFit/>
          </a:bodyPr>
          <a:lstStyle/>
          <a:p>
            <a:r>
              <a:rPr lang="en-US" altLang="zh-CN" sz="14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CE2</a:t>
            </a:r>
            <a:endParaRPr lang="zh-CN" altLang="en-US" sz="14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4" name="文本框 22"/>
          <p:cNvSpPr txBox="1"/>
          <p:nvPr/>
        </p:nvSpPr>
        <p:spPr bwMode="gray">
          <a:xfrm>
            <a:off x="3454669" y="2550866"/>
            <a:ext cx="1487908" cy="307777"/>
          </a:xfrm>
          <a:prstGeom prst="rect">
            <a:avLst/>
          </a:prstGeom>
          <a:noFill/>
        </p:spPr>
        <p:txBody>
          <a:bodyPr wrap="none" rtlCol="0">
            <a:spAutoFit/>
          </a:bodyPr>
          <a:lstStyle/>
          <a:p>
            <a:r>
              <a:rPr lang="en-US" altLang="zh-CN" sz="1400" b="1" dirty="0" err="1">
                <a:latin typeface="Huawei Sans" panose="020C0503030203020204" pitchFamily="34" charset="0"/>
                <a:ea typeface="方正兰亭黑简体" panose="02000000000000000000" pitchFamily="2" charset="-122"/>
                <a:sym typeface="Huawei Sans" panose="020C0503030203020204" pitchFamily="34" charset="0"/>
              </a:rPr>
              <a:t>iMaster</a:t>
            </a: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 NCE-IP</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5" name="文本框 22"/>
          <p:cNvSpPr txBox="1"/>
          <p:nvPr/>
        </p:nvSpPr>
        <p:spPr bwMode="gray">
          <a:xfrm>
            <a:off x="9008175" y="2650436"/>
            <a:ext cx="1487908" cy="307777"/>
          </a:xfrm>
          <a:prstGeom prst="rect">
            <a:avLst/>
          </a:prstGeom>
          <a:noFill/>
        </p:spPr>
        <p:txBody>
          <a:bodyPr wrap="none" rtlCol="0">
            <a:spAutoFit/>
          </a:bodyPr>
          <a:lstStyle/>
          <a:p>
            <a:r>
              <a:rPr lang="en-US" altLang="zh-CN" sz="1400" b="1" dirty="0" err="1">
                <a:latin typeface="Huawei Sans" panose="020C0503030203020204" pitchFamily="34" charset="0"/>
                <a:ea typeface="方正兰亭黑简体" panose="02000000000000000000" pitchFamily="2" charset="-122"/>
                <a:sym typeface="Huawei Sans" panose="020C0503030203020204" pitchFamily="34" charset="0"/>
              </a:rPr>
              <a:t>iMaster</a:t>
            </a: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 NCE-IP</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7" name="TextBox 66"/>
          <p:cNvSpPr txBox="1"/>
          <p:nvPr/>
        </p:nvSpPr>
        <p:spPr bwMode="gray">
          <a:xfrm>
            <a:off x="610902" y="5123848"/>
            <a:ext cx="5322932" cy="393954"/>
          </a:xfrm>
          <a:prstGeom prst="rect">
            <a:avLst/>
          </a:prstGeom>
          <a:noFill/>
        </p:spPr>
        <p:txBody>
          <a:bodyPr wrap="none" rtlCol="0">
            <a:spAutoFit/>
          </a:bodyPr>
          <a:lstStyle/>
          <a:p>
            <a:pPr marL="302260" indent="-302260" algn="just" defTabSz="913765">
              <a:lnSpc>
                <a:spcPct val="140000"/>
              </a:lnSpc>
              <a:spcBef>
                <a:spcPts val="790"/>
              </a:spcBef>
              <a:buSzPct val="50000"/>
              <a:buFont typeface="Wingdings" panose="05000000000000000000" pitchFamily="2" charset="2"/>
              <a:buChar char="l"/>
            </a:pPr>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方案一：</a:t>
            </a:r>
            <a:r>
              <a:rPr lang="en-US" altLang="zh-CN" sz="1400" dirty="0" err="1">
                <a:latin typeface="Huawei Sans" panose="020C0503030203020204" pitchFamily="34" charset="0"/>
                <a:ea typeface="方正兰亭黑简体" panose="02000000000000000000" pitchFamily="2" charset="-122"/>
                <a:cs typeface="Huawei Sans" panose="020C0503030203020204" pitchFamily="34" charset="0"/>
              </a:rPr>
              <a:t>iMaster</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 NCE-IP</a:t>
            </a:r>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与所有</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PE</a:t>
            </a:r>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与</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P</a:t>
            </a:r>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设备建立</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BGP-LS</a:t>
            </a:r>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邻居。</a:t>
            </a:r>
            <a:endParaRPr lang="zh-CN" altLang="en-US" sz="14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68" name="TextBox 67"/>
          <p:cNvSpPr txBox="1"/>
          <p:nvPr/>
        </p:nvSpPr>
        <p:spPr bwMode="gray">
          <a:xfrm>
            <a:off x="6172614" y="5096863"/>
            <a:ext cx="5228302" cy="1099788"/>
          </a:xfrm>
          <a:prstGeom prst="rect">
            <a:avLst/>
          </a:prstGeom>
          <a:noFill/>
        </p:spPr>
        <p:txBody>
          <a:bodyPr wrap="square" rtlCol="0">
            <a:spAutoFit/>
          </a:bodyPr>
          <a:lstStyle/>
          <a:p>
            <a:pPr marL="302260" indent="-302260" algn="just" defTabSz="913765">
              <a:lnSpc>
                <a:spcPct val="140000"/>
              </a:lnSpc>
              <a:spcBef>
                <a:spcPts val="790"/>
              </a:spcBef>
              <a:buSzPct val="50000"/>
              <a:buFont typeface="Wingdings" panose="05000000000000000000" pitchFamily="2" charset="2"/>
              <a:buChar char="l"/>
            </a:pPr>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方案二：</a:t>
            </a:r>
            <a:r>
              <a:rPr lang="en-US" altLang="zh-CN" sz="1400" dirty="0" err="1">
                <a:latin typeface="Huawei Sans" panose="020C0503030203020204" pitchFamily="34" charset="0"/>
                <a:ea typeface="方正兰亭黑简体" panose="02000000000000000000" pitchFamily="2" charset="-122"/>
                <a:cs typeface="Huawei Sans" panose="020C0503030203020204" pitchFamily="34" charset="0"/>
              </a:rPr>
              <a:t>iMaster</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 NCE-IP</a:t>
            </a:r>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与</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RR</a:t>
            </a:r>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设备建立</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BGP-LS</a:t>
            </a:r>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邻居，其余设备与</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RR</a:t>
            </a:r>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建立</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BGP-LS</a:t>
            </a:r>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邻居。</a:t>
            </a:r>
            <a:endParaRPr lang="en-US" altLang="zh-CN" sz="1400" dirty="0">
              <a:latin typeface="Huawei Sans" panose="020C0503030203020204" pitchFamily="34" charset="0"/>
              <a:ea typeface="方正兰亭黑简体" panose="02000000000000000000" pitchFamily="2" charset="-122"/>
              <a:cs typeface="Huawei Sans" panose="020C0503030203020204" pitchFamily="34" charset="0"/>
            </a:endParaRPr>
          </a:p>
          <a:p>
            <a:pPr marL="302260" indent="-302260" algn="just" defTabSz="913765">
              <a:lnSpc>
                <a:spcPct val="140000"/>
              </a:lnSpc>
              <a:spcBef>
                <a:spcPts val="790"/>
              </a:spcBef>
              <a:buSzPct val="50000"/>
              <a:buFont typeface="Wingdings" panose="05000000000000000000" pitchFamily="2" charset="2"/>
              <a:buChar char="l"/>
            </a:pPr>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推荐使用方案二，减少</a:t>
            </a:r>
            <a:r>
              <a:rPr lang="en-US" altLang="zh-CN" sz="1400" dirty="0" err="1">
                <a:latin typeface="Huawei Sans" panose="020C0503030203020204" pitchFamily="34" charset="0"/>
                <a:ea typeface="方正兰亭黑简体" panose="02000000000000000000" pitchFamily="2" charset="-122"/>
                <a:cs typeface="Huawei Sans" panose="020C0503030203020204" pitchFamily="34" charset="0"/>
              </a:rPr>
              <a:t>iMaster</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 NCE-IP</a:t>
            </a:r>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维护的</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BGP</a:t>
            </a:r>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邻居数量。</a:t>
            </a:r>
            <a:endParaRPr lang="zh-CN" altLang="en-US" sz="1400" dirty="0">
              <a:latin typeface="Huawei Sans" panose="020C0503030203020204" pitchFamily="34" charset="0"/>
              <a:ea typeface="方正兰亭黑简体" panose="02000000000000000000" pitchFamily="2" charset="-122"/>
              <a:cs typeface="Huawei Sans" panose="020C0503030203020204" pitchFamily="34" charset="0"/>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gray"/>
        <p:txBody>
          <a:bodyPr/>
          <a:lstStyle/>
          <a:p>
            <a:r>
              <a:rPr lang="zh-CN" altLang="en-US" dirty="0"/>
              <a:t>建立</a:t>
            </a:r>
            <a:r>
              <a:rPr lang="en-US" altLang="zh-CN" dirty="0"/>
              <a:t>BGP-LS</a:t>
            </a:r>
            <a:r>
              <a:rPr lang="zh-CN" altLang="en-US" dirty="0"/>
              <a:t>邻居</a:t>
            </a:r>
            <a:endParaRPr lang="zh-CN" altLang="en-US" dirty="0"/>
          </a:p>
        </p:txBody>
      </p:sp>
      <p:pic>
        <p:nvPicPr>
          <p:cNvPr id="4" name="Picture 3"/>
          <p:cNvPicPr>
            <a:picLocks noChangeAspect="1"/>
          </p:cNvPicPr>
          <p:nvPr/>
        </p:nvPicPr>
        <p:blipFill>
          <a:blip r:embed="rId1"/>
          <a:stretch>
            <a:fillRect/>
          </a:stretch>
        </p:blipFill>
        <p:spPr bwMode="gray">
          <a:xfrm>
            <a:off x="487887" y="1095545"/>
            <a:ext cx="6993786" cy="2238377"/>
          </a:xfrm>
          <a:prstGeom prst="rect">
            <a:avLst/>
          </a:prstGeom>
          <a:ln w="12700">
            <a:solidFill>
              <a:schemeClr val="bg1">
                <a:lumMod val="85000"/>
              </a:schemeClr>
            </a:solidFill>
          </a:ln>
          <a:effectLst>
            <a:outerShdw blurRad="50800" dist="38100" dir="2700000" algn="tl" rotWithShape="0">
              <a:prstClr val="black">
                <a:alpha val="40000"/>
              </a:prstClr>
            </a:outerShdw>
          </a:effectLst>
        </p:spPr>
      </p:pic>
      <p:pic>
        <p:nvPicPr>
          <p:cNvPr id="5" name="Picture 4"/>
          <p:cNvPicPr>
            <a:picLocks noChangeAspect="1"/>
          </p:cNvPicPr>
          <p:nvPr/>
        </p:nvPicPr>
        <p:blipFill>
          <a:blip r:embed="rId2"/>
          <a:stretch>
            <a:fillRect/>
          </a:stretch>
        </p:blipFill>
        <p:spPr bwMode="gray">
          <a:xfrm>
            <a:off x="4493093" y="1151337"/>
            <a:ext cx="6993786" cy="2385794"/>
          </a:xfrm>
          <a:prstGeom prst="rect">
            <a:avLst/>
          </a:prstGeom>
          <a:ln w="12700">
            <a:solidFill>
              <a:schemeClr val="bg1">
                <a:lumMod val="85000"/>
              </a:schemeClr>
            </a:solidFill>
          </a:ln>
          <a:effectLst>
            <a:outerShdw blurRad="50800" dist="38100" dir="2700000" algn="tl" rotWithShape="0">
              <a:prstClr val="black">
                <a:alpha val="40000"/>
              </a:prstClr>
            </a:outerShdw>
          </a:effectLst>
        </p:spPr>
      </p:pic>
      <p:sp>
        <p:nvSpPr>
          <p:cNvPr id="6" name="文本框 46"/>
          <p:cNvSpPr txBox="1"/>
          <p:nvPr/>
        </p:nvSpPr>
        <p:spPr bwMode="gray">
          <a:xfrm>
            <a:off x="1577934" y="4880793"/>
            <a:ext cx="4100401" cy="1015663"/>
          </a:xfrm>
          <a:prstGeom prst="rect">
            <a:avLst/>
          </a:prstGeom>
          <a:solidFill>
            <a:schemeClr val="bg1">
              <a:lumMod val="85000"/>
            </a:schemeClr>
          </a:solidFill>
          <a:ln>
            <a:noFill/>
          </a:ln>
        </p:spPr>
        <p:txBody>
          <a:bodyPr wrap="squar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[P1]</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bgp</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65001</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[P1-bgp]peer 2000::102 as-number 65001</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[P1-bgp]peer 2000::102 connect-interface LoopBack0</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[P1-bgp]link-state-family unicast</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[P1-bgp-af-ls]peer 2000::102 enable</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9" name="直接连接符 42"/>
          <p:cNvCxnSpPr>
            <a:stCxn id="7" idx="1"/>
            <a:endCxn id="8" idx="3"/>
          </p:cNvCxnSpPr>
          <p:nvPr/>
        </p:nvCxnSpPr>
        <p:spPr bwMode="gray">
          <a:xfrm flipH="1" flipV="1">
            <a:off x="3640084" y="4182704"/>
            <a:ext cx="1498251" cy="491"/>
          </a:xfrm>
          <a:prstGeom prst="line">
            <a:avLst/>
          </a:prstGeom>
          <a:ln w="19050">
            <a:solidFill>
              <a:srgbClr val="FCC800"/>
            </a:solidFill>
            <a:prstDash val="sys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2" name="文本框 68"/>
          <p:cNvSpPr txBox="1"/>
          <p:nvPr/>
        </p:nvSpPr>
        <p:spPr bwMode="gray">
          <a:xfrm>
            <a:off x="4085048" y="3914600"/>
            <a:ext cx="780983" cy="307777"/>
          </a:xfrm>
          <a:prstGeom prst="rect">
            <a:avLst/>
          </a:prstGeom>
          <a:noFill/>
        </p:spPr>
        <p:txBody>
          <a:bodyPr wrap="none" rtlCol="0">
            <a:spAutoFit/>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BGP-LS</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4" name="Straight Connector 13"/>
          <p:cNvCxnSpPr/>
          <p:nvPr/>
        </p:nvCxnSpPr>
        <p:spPr bwMode="gray">
          <a:xfrm>
            <a:off x="487887" y="3333922"/>
            <a:ext cx="2682970" cy="658233"/>
          </a:xfrm>
          <a:prstGeom prst="line">
            <a:avLst/>
          </a:prstGeom>
          <a:ln w="12700">
            <a:solidFill>
              <a:schemeClr val="bg1">
                <a:lumMod val="5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bwMode="gray">
          <a:xfrm flipH="1">
            <a:off x="3536574" y="3541253"/>
            <a:ext cx="7950306" cy="450902"/>
          </a:xfrm>
          <a:prstGeom prst="line">
            <a:avLst/>
          </a:prstGeom>
          <a:ln w="12700">
            <a:solidFill>
              <a:schemeClr val="bg1">
                <a:lumMod val="5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bwMode="gray">
          <a:xfrm>
            <a:off x="5600700" y="4370908"/>
            <a:ext cx="77635" cy="509885"/>
          </a:xfrm>
          <a:prstGeom prst="line">
            <a:avLst/>
          </a:prstGeom>
          <a:ln w="12700">
            <a:solidFill>
              <a:schemeClr val="bg1">
                <a:lumMod val="5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bwMode="gray">
          <a:xfrm flipV="1">
            <a:off x="1577934" y="4365502"/>
            <a:ext cx="3642995" cy="514310"/>
          </a:xfrm>
          <a:prstGeom prst="line">
            <a:avLst/>
          </a:prstGeom>
          <a:ln w="12700">
            <a:solidFill>
              <a:schemeClr val="bg1">
                <a:lumMod val="50000"/>
              </a:schemeClr>
            </a:solidFill>
            <a:prstDash val="solid"/>
          </a:ln>
        </p:spPr>
        <p:style>
          <a:lnRef idx="1">
            <a:schemeClr val="accent1"/>
          </a:lnRef>
          <a:fillRef idx="0">
            <a:schemeClr val="accent1"/>
          </a:fillRef>
          <a:effectRef idx="0">
            <a:schemeClr val="accent1"/>
          </a:effectRef>
          <a:fontRef idx="minor">
            <a:schemeClr val="tx1"/>
          </a:fontRef>
        </p:style>
      </p:cxnSp>
      <p:sp>
        <p:nvSpPr>
          <p:cNvPr id="26" name="文本框 46"/>
          <p:cNvSpPr txBox="1"/>
          <p:nvPr/>
        </p:nvSpPr>
        <p:spPr bwMode="gray">
          <a:xfrm>
            <a:off x="5726019" y="4592267"/>
            <a:ext cx="6003404" cy="1569660"/>
          </a:xfrm>
          <a:prstGeom prst="rect">
            <a:avLst/>
          </a:prstGeom>
          <a:solidFill>
            <a:schemeClr val="bg1">
              <a:lumMod val="85000"/>
            </a:schemeClr>
          </a:solidFill>
          <a:ln>
            <a:noFill/>
          </a:ln>
        </p:spPr>
        <p:txBody>
          <a:bodyPr wrap="squar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[P1]display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bgp</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link-state unicast  peer</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BGP local router ID : 1.0.0.5</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Local AS number : 65001</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Total number of peers : 1                 Peers in established state : 1</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Peer               V          AS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MsgRcvd</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MsgSent</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OutQ</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Up/Down       State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PrefRcv</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2000::102         4       65001    72877    72106     0 1039h31m Established        0</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 name="文本框 68"/>
          <p:cNvSpPr txBox="1"/>
          <p:nvPr/>
        </p:nvSpPr>
        <p:spPr bwMode="gray">
          <a:xfrm>
            <a:off x="2125137" y="4027819"/>
            <a:ext cx="974947" cy="307777"/>
          </a:xfrm>
          <a:prstGeom prst="rect">
            <a:avLst/>
          </a:prstGeom>
          <a:noFill/>
        </p:spPr>
        <p:txBody>
          <a:bodyPr wrap="none" rtlCol="0">
            <a:spAutoFit/>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2000::102</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7" name="图片 16"/>
          <p:cNvPicPr/>
          <p:nvPr/>
        </p:nvPicPr>
        <p:blipFill>
          <a:blip r:embed="rId3" cstate="print">
            <a:extLst>
              <a:ext uri="{28A0092B-C50C-407E-A947-70E740481C1C}">
                <a14:useLocalDpi xmlns:a14="http://schemas.microsoft.com/office/drawing/2010/main" val="0"/>
              </a:ext>
            </a:extLst>
          </a:blip>
          <a:stretch>
            <a:fillRect/>
          </a:stretch>
        </p:blipFill>
        <p:spPr bwMode="gray">
          <a:xfrm>
            <a:off x="5138335" y="3961795"/>
            <a:ext cx="540000" cy="442800"/>
          </a:xfrm>
          <a:prstGeom prst="rect">
            <a:avLst/>
          </a:prstGeom>
        </p:spPr>
      </p:pic>
      <p:pic>
        <p:nvPicPr>
          <p:cNvPr id="8" name="图片 20" descr="通用网管-蓝.png"/>
          <p:cNvPicPr>
            <a:picLocks noChangeAspect="1"/>
          </p:cNvPicPr>
          <p:nvPr/>
        </p:nvPicPr>
        <p:blipFill>
          <a:blip r:embed="rId4" cstate="print"/>
          <a:stretch>
            <a:fillRect/>
          </a:stretch>
        </p:blipFill>
        <p:spPr bwMode="gray">
          <a:xfrm>
            <a:off x="3100084" y="3961795"/>
            <a:ext cx="540000" cy="441818"/>
          </a:xfrm>
          <a:prstGeom prst="rect">
            <a:avLst/>
          </a:prstGeom>
        </p:spPr>
      </p:pic>
      <p:sp>
        <p:nvSpPr>
          <p:cNvPr id="22" name="文本框 68"/>
          <p:cNvSpPr txBox="1"/>
          <p:nvPr/>
        </p:nvSpPr>
        <p:spPr bwMode="gray">
          <a:xfrm>
            <a:off x="5651923" y="4032975"/>
            <a:ext cx="774571" cy="307777"/>
          </a:xfrm>
          <a:prstGeom prst="rect">
            <a:avLst/>
          </a:prstGeom>
          <a:noFill/>
        </p:spPr>
        <p:txBody>
          <a:bodyPr wrap="none" rtlCol="0">
            <a:spAutoFit/>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FC01::5</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gray"/>
        <p:txBody>
          <a:bodyPr/>
          <a:lstStyle/>
          <a:p>
            <a:r>
              <a:rPr lang="zh-CN" altLang="en-US" dirty="0"/>
              <a:t>计算</a:t>
            </a:r>
            <a:r>
              <a:rPr lang="en-US" altLang="zh-CN" dirty="0"/>
              <a:t>SRv6 Policy</a:t>
            </a:r>
            <a:r>
              <a:rPr lang="zh-CN" altLang="en-US" dirty="0"/>
              <a:t>并部署</a:t>
            </a:r>
            <a:endParaRPr lang="zh-CN" altLang="en-US" dirty="0"/>
          </a:p>
        </p:txBody>
      </p:sp>
      <p:sp>
        <p:nvSpPr>
          <p:cNvPr id="3" name="Text Placeholder 2"/>
          <p:cNvSpPr>
            <a:spLocks noGrp="1"/>
          </p:cNvSpPr>
          <p:nvPr>
            <p:ph type="body" sz="quarter" idx="10"/>
          </p:nvPr>
        </p:nvSpPr>
        <p:spPr bwMode="gray">
          <a:xfrm>
            <a:off x="455613" y="1047750"/>
            <a:ext cx="11293474" cy="4879805"/>
          </a:xfrm>
        </p:spPr>
        <p:txBody>
          <a:bodyPr/>
          <a:lstStyle/>
          <a:p>
            <a:r>
              <a:rPr lang="en-US" altLang="zh-CN" sz="1600" dirty="0"/>
              <a:t>SRv6 Policy</a:t>
            </a:r>
            <a:r>
              <a:rPr lang="zh-CN" altLang="en-US" sz="1600" dirty="0"/>
              <a:t>路径计算算法，在满足约束的情况下，控制器可以提供的算路结果包括：</a:t>
            </a:r>
            <a:endParaRPr lang="zh-CN" altLang="en-US" sz="1600" dirty="0"/>
          </a:p>
          <a:p>
            <a:pPr lvl="1"/>
            <a:r>
              <a:rPr lang="zh-CN" altLang="en-US" sz="1400" dirty="0"/>
              <a:t>最小开销：满足约束的所有路径中，</a:t>
            </a:r>
            <a:r>
              <a:rPr lang="en-US" altLang="zh-CN" sz="1400" dirty="0"/>
              <a:t>cost</a:t>
            </a:r>
            <a:r>
              <a:rPr lang="zh-CN" altLang="en-US" sz="1400" dirty="0"/>
              <a:t>最小的路径。</a:t>
            </a:r>
            <a:endParaRPr lang="zh-CN" altLang="en-US" sz="1400" dirty="0"/>
          </a:p>
          <a:p>
            <a:pPr lvl="1"/>
            <a:r>
              <a:rPr lang="zh-CN" altLang="en-US" sz="1400" dirty="0"/>
              <a:t>最小时延：满足约束的所有路径中，时延最小的路径。</a:t>
            </a:r>
            <a:endParaRPr lang="zh-CN" altLang="en-US" sz="1400" dirty="0"/>
          </a:p>
          <a:p>
            <a:pPr lvl="1"/>
            <a:r>
              <a:rPr lang="zh-CN" altLang="en-US" sz="1400" dirty="0"/>
              <a:t>带宽均衡：满足约束，</a:t>
            </a:r>
            <a:r>
              <a:rPr lang="en-US" altLang="zh-CN" sz="1400" dirty="0"/>
              <a:t>cost</a:t>
            </a:r>
            <a:r>
              <a:rPr lang="zh-CN" altLang="en-US" sz="1400" dirty="0"/>
              <a:t>也相同的所有路径中，剩余带宽更多的路径。</a:t>
            </a:r>
            <a:endParaRPr lang="en-US" altLang="zh-CN" sz="1400" dirty="0"/>
          </a:p>
          <a:p>
            <a:r>
              <a:rPr lang="en-US" altLang="zh-CN" sz="1600" dirty="0"/>
              <a:t>SRv6 Policy</a:t>
            </a:r>
            <a:r>
              <a:rPr lang="zh-CN" altLang="en-US" sz="1600" dirty="0"/>
              <a:t>创建时需要指定每个隧道对应的</a:t>
            </a:r>
            <a:r>
              <a:rPr lang="en-US" altLang="zh-CN" sz="1600" dirty="0"/>
              <a:t>Color</a:t>
            </a:r>
            <a:r>
              <a:rPr lang="zh-CN" altLang="en-US" sz="1600" dirty="0"/>
              <a:t>。</a:t>
            </a:r>
            <a:endParaRPr lang="zh-CN" altLang="en-US" sz="1600" dirty="0"/>
          </a:p>
        </p:txBody>
      </p:sp>
      <p:pic>
        <p:nvPicPr>
          <p:cNvPr id="6" name="图片 4"/>
          <p:cNvPicPr/>
          <p:nvPr/>
        </p:nvPicPr>
        <p:blipFill>
          <a:blip r:embed="rId1"/>
          <a:stretch>
            <a:fillRect/>
          </a:stretch>
        </p:blipFill>
        <p:spPr bwMode="gray">
          <a:xfrm>
            <a:off x="44450" y="939800"/>
            <a:ext cx="9644312" cy="5267325"/>
          </a:xfrm>
          <a:prstGeom prst="rect">
            <a:avLst/>
          </a:prstGeom>
          <a:ln w="12700">
            <a:solidFill>
              <a:schemeClr val="bg1">
                <a:lumMod val="85000"/>
              </a:schemeClr>
            </a:solidFill>
          </a:ln>
        </p:spPr>
      </p:pic>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gray"/>
        <p:txBody>
          <a:bodyPr/>
          <a:lstStyle/>
          <a:p>
            <a:r>
              <a:rPr lang="en-US" altLang="zh-CN" dirty="0"/>
              <a:t>BGP IPv6 SR Policy</a:t>
            </a:r>
            <a:r>
              <a:rPr lang="zh-CN" altLang="en-US" dirty="0"/>
              <a:t>部署方案</a:t>
            </a:r>
            <a:endParaRPr lang="zh-CN" altLang="en-US" dirty="0"/>
          </a:p>
        </p:txBody>
      </p:sp>
      <p:sp>
        <p:nvSpPr>
          <p:cNvPr id="3" name="Text Placeholder 2"/>
          <p:cNvSpPr>
            <a:spLocks noGrp="1"/>
          </p:cNvSpPr>
          <p:nvPr>
            <p:ph type="body" sz="quarter" idx="10"/>
          </p:nvPr>
        </p:nvSpPr>
        <p:spPr bwMode="gray"/>
        <p:txBody>
          <a:bodyPr/>
          <a:lstStyle/>
          <a:p>
            <a:r>
              <a:rPr lang="en-US" altLang="zh-CN" sz="1600" dirty="0"/>
              <a:t>BGP IPv6 SR Policy</a:t>
            </a:r>
            <a:r>
              <a:rPr lang="zh-CN" altLang="en-US" sz="1600" dirty="0"/>
              <a:t>主要用于下发</a:t>
            </a:r>
            <a:r>
              <a:rPr lang="en-US" altLang="zh-CN" sz="1600" dirty="0"/>
              <a:t>SRv6</a:t>
            </a:r>
            <a:r>
              <a:rPr lang="zh-CN" altLang="en-US" sz="1600" dirty="0"/>
              <a:t> </a:t>
            </a:r>
            <a:r>
              <a:rPr lang="en-US" altLang="zh-CN" sz="1600" dirty="0"/>
              <a:t>Policy</a:t>
            </a:r>
            <a:r>
              <a:rPr lang="zh-CN" altLang="en-US" sz="1600" dirty="0"/>
              <a:t>信息，因此</a:t>
            </a:r>
            <a:r>
              <a:rPr lang="en-US" altLang="zh-CN" sz="1600" dirty="0" err="1"/>
              <a:t>iMaster</a:t>
            </a:r>
            <a:r>
              <a:rPr lang="en-US" altLang="zh-CN" sz="1600" dirty="0"/>
              <a:t> NCE-IP</a:t>
            </a:r>
            <a:r>
              <a:rPr lang="zh-CN" altLang="en-US" sz="1600" dirty="0"/>
              <a:t>至少需要隧道源节点建立</a:t>
            </a:r>
            <a:r>
              <a:rPr lang="en-US" altLang="zh-CN" sz="1600" dirty="0"/>
              <a:t>BGP IPv6 SR Policy</a:t>
            </a:r>
            <a:r>
              <a:rPr lang="zh-CN" altLang="en-US" sz="1600" dirty="0"/>
              <a:t>邻居关系：</a:t>
            </a:r>
            <a:endParaRPr lang="en-US" altLang="zh-CN" sz="1600" dirty="0"/>
          </a:p>
          <a:p>
            <a:r>
              <a:rPr lang="en-US" altLang="zh-CN" sz="1600" dirty="0"/>
              <a:t>BGP IPv6 SR Policy</a:t>
            </a:r>
            <a:r>
              <a:rPr lang="zh-CN" altLang="en-US" sz="1600" dirty="0"/>
              <a:t>部署一般有两种方案：</a:t>
            </a:r>
            <a:endParaRPr lang="zh-CN" altLang="en-US" sz="1600" dirty="0"/>
          </a:p>
        </p:txBody>
      </p:sp>
      <p:pic>
        <p:nvPicPr>
          <p:cNvPr id="4" name="图片 13"/>
          <p:cNvPicPr/>
          <p:nvPr/>
        </p:nvPicPr>
        <p:blipFill>
          <a:blip r:embed="rId1" cstate="print">
            <a:extLst>
              <a:ext uri="{28A0092B-C50C-407E-A947-70E740481C1C}">
                <a14:useLocalDpi xmlns:a14="http://schemas.microsoft.com/office/drawing/2010/main" val="0"/>
              </a:ext>
            </a:extLst>
          </a:blip>
          <a:stretch>
            <a:fillRect/>
          </a:stretch>
        </p:blipFill>
        <p:spPr bwMode="gray">
          <a:xfrm>
            <a:off x="2989773" y="3609934"/>
            <a:ext cx="540000" cy="442800"/>
          </a:xfrm>
          <a:prstGeom prst="rect">
            <a:avLst/>
          </a:prstGeom>
        </p:spPr>
      </p:pic>
      <p:pic>
        <p:nvPicPr>
          <p:cNvPr id="5" name="图片 16"/>
          <p:cNvPicPr/>
          <p:nvPr/>
        </p:nvPicPr>
        <p:blipFill>
          <a:blip r:embed="rId1" cstate="print">
            <a:extLst>
              <a:ext uri="{28A0092B-C50C-407E-A947-70E740481C1C}">
                <a14:useLocalDpi xmlns:a14="http://schemas.microsoft.com/office/drawing/2010/main" val="0"/>
              </a:ext>
            </a:extLst>
          </a:blip>
          <a:stretch>
            <a:fillRect/>
          </a:stretch>
        </p:blipFill>
        <p:spPr bwMode="gray">
          <a:xfrm>
            <a:off x="925982" y="3609934"/>
            <a:ext cx="540000" cy="442800"/>
          </a:xfrm>
          <a:prstGeom prst="rect">
            <a:avLst/>
          </a:prstGeom>
        </p:spPr>
      </p:pic>
      <p:pic>
        <p:nvPicPr>
          <p:cNvPr id="6" name="图片 17"/>
          <p:cNvPicPr/>
          <p:nvPr/>
        </p:nvPicPr>
        <p:blipFill>
          <a:blip r:embed="rId1" cstate="print">
            <a:extLst>
              <a:ext uri="{28A0092B-C50C-407E-A947-70E740481C1C}">
                <a14:useLocalDpi xmlns:a14="http://schemas.microsoft.com/office/drawing/2010/main" val="0"/>
              </a:ext>
            </a:extLst>
          </a:blip>
          <a:stretch>
            <a:fillRect/>
          </a:stretch>
        </p:blipFill>
        <p:spPr bwMode="gray">
          <a:xfrm>
            <a:off x="5103807" y="3609934"/>
            <a:ext cx="540000" cy="442800"/>
          </a:xfrm>
          <a:prstGeom prst="rect">
            <a:avLst/>
          </a:prstGeom>
        </p:spPr>
      </p:pic>
      <p:pic>
        <p:nvPicPr>
          <p:cNvPr id="7" name="图片 20" descr="通用网管-蓝.png"/>
          <p:cNvPicPr>
            <a:picLocks noChangeAspect="1"/>
          </p:cNvPicPr>
          <p:nvPr/>
        </p:nvPicPr>
        <p:blipFill>
          <a:blip r:embed="rId2" cstate="print"/>
          <a:stretch>
            <a:fillRect/>
          </a:stretch>
        </p:blipFill>
        <p:spPr bwMode="gray">
          <a:xfrm>
            <a:off x="2989773" y="2272744"/>
            <a:ext cx="540000" cy="441818"/>
          </a:xfrm>
          <a:prstGeom prst="rect">
            <a:avLst/>
          </a:prstGeom>
        </p:spPr>
      </p:pic>
      <p:cxnSp>
        <p:nvCxnSpPr>
          <p:cNvPr id="8" name="直接连接符 8"/>
          <p:cNvCxnSpPr>
            <a:stCxn id="5" idx="3"/>
            <a:endCxn id="4" idx="1"/>
          </p:cNvCxnSpPr>
          <p:nvPr/>
        </p:nvCxnSpPr>
        <p:spPr bwMode="gray">
          <a:xfrm>
            <a:off x="1465982" y="3831334"/>
            <a:ext cx="1523791" cy="0"/>
          </a:xfrm>
          <a:prstGeom prst="line">
            <a:avLst/>
          </a:prstGeom>
          <a:ln w="19050">
            <a:solidFill>
              <a:schemeClr val="bg1">
                <a:lumMod val="50000"/>
              </a:schemeClr>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 name="直接连接符 8"/>
          <p:cNvCxnSpPr>
            <a:stCxn id="4" idx="3"/>
            <a:endCxn id="6" idx="1"/>
          </p:cNvCxnSpPr>
          <p:nvPr/>
        </p:nvCxnSpPr>
        <p:spPr bwMode="gray">
          <a:xfrm>
            <a:off x="3529773" y="3831334"/>
            <a:ext cx="1574034" cy="0"/>
          </a:xfrm>
          <a:prstGeom prst="line">
            <a:avLst/>
          </a:prstGeom>
          <a:ln w="19050">
            <a:solidFill>
              <a:schemeClr val="bg1">
                <a:lumMod val="50000"/>
              </a:schemeClr>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 name="直接连接符 8"/>
          <p:cNvCxnSpPr>
            <a:stCxn id="7" idx="2"/>
            <a:endCxn id="4" idx="0"/>
          </p:cNvCxnSpPr>
          <p:nvPr/>
        </p:nvCxnSpPr>
        <p:spPr bwMode="gray">
          <a:xfrm>
            <a:off x="3259773" y="2714562"/>
            <a:ext cx="0" cy="895372"/>
          </a:xfrm>
          <a:prstGeom prst="line">
            <a:avLst/>
          </a:prstGeom>
          <a:ln w="19050">
            <a:solidFill>
              <a:schemeClr val="bg1">
                <a:lumMod val="50000"/>
              </a:schemeClr>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4" name="Freeform 159"/>
          <p:cNvSpPr/>
          <p:nvPr/>
        </p:nvSpPr>
        <p:spPr bwMode="gray">
          <a:xfrm flipH="1">
            <a:off x="2871078" y="2907431"/>
            <a:ext cx="777390" cy="406364"/>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 name="Freeform 159"/>
          <p:cNvSpPr/>
          <p:nvPr/>
        </p:nvSpPr>
        <p:spPr bwMode="gray">
          <a:xfrm flipH="1">
            <a:off x="1810506" y="3597342"/>
            <a:ext cx="777390" cy="406364"/>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 name="Freeform 159"/>
          <p:cNvSpPr/>
          <p:nvPr/>
        </p:nvSpPr>
        <p:spPr bwMode="gray">
          <a:xfrm flipH="1">
            <a:off x="4050675" y="3597342"/>
            <a:ext cx="777390" cy="406364"/>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Freeform 22"/>
          <p:cNvSpPr/>
          <p:nvPr/>
        </p:nvSpPr>
        <p:spPr bwMode="gray">
          <a:xfrm>
            <a:off x="1202110" y="2469967"/>
            <a:ext cx="1763972" cy="1098926"/>
          </a:xfrm>
          <a:custGeom>
            <a:avLst/>
            <a:gdLst>
              <a:gd name="connsiteX0" fmla="*/ 0 w 1738365"/>
              <a:gd name="connsiteY0" fmla="*/ 1587640 h 1587640"/>
              <a:gd name="connsiteX1" fmla="*/ 622998 w 1738365"/>
              <a:gd name="connsiteY1" fmla="*/ 673240 h 1587640"/>
              <a:gd name="connsiteX2" fmla="*/ 1738365 w 1738365"/>
              <a:gd name="connsiteY2" fmla="*/ 0 h 1587640"/>
            </a:gdLst>
            <a:ahLst/>
            <a:cxnLst>
              <a:cxn ang="0">
                <a:pos x="connsiteX0" y="connsiteY0"/>
              </a:cxn>
              <a:cxn ang="0">
                <a:pos x="connsiteX1" y="connsiteY1"/>
              </a:cxn>
              <a:cxn ang="0">
                <a:pos x="connsiteX2" y="connsiteY2"/>
              </a:cxn>
            </a:cxnLst>
            <a:rect l="l" t="t" r="r" b="b"/>
            <a:pathLst>
              <a:path w="1738365" h="1587640">
                <a:moveTo>
                  <a:pt x="0" y="1587640"/>
                </a:moveTo>
                <a:cubicBezTo>
                  <a:pt x="166635" y="1262743"/>
                  <a:pt x="333271" y="937847"/>
                  <a:pt x="622998" y="673240"/>
                </a:cubicBezTo>
                <a:cubicBezTo>
                  <a:pt x="912726" y="408633"/>
                  <a:pt x="1325545" y="204316"/>
                  <a:pt x="1738365" y="0"/>
                </a:cubicBezTo>
              </a:path>
            </a:pathLst>
          </a:custGeom>
          <a:ln w="19050">
            <a:solidFill>
              <a:srgbClr val="FCC800"/>
            </a:solidFill>
            <a:prstDash val="sysDash"/>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4" name="Freeform 23"/>
          <p:cNvSpPr/>
          <p:nvPr/>
        </p:nvSpPr>
        <p:spPr bwMode="gray">
          <a:xfrm flipH="1">
            <a:off x="3529773" y="2453634"/>
            <a:ext cx="1787663" cy="1115260"/>
          </a:xfrm>
          <a:custGeom>
            <a:avLst/>
            <a:gdLst>
              <a:gd name="connsiteX0" fmla="*/ 0 w 1738365"/>
              <a:gd name="connsiteY0" fmla="*/ 1587640 h 1587640"/>
              <a:gd name="connsiteX1" fmla="*/ 622998 w 1738365"/>
              <a:gd name="connsiteY1" fmla="*/ 673240 h 1587640"/>
              <a:gd name="connsiteX2" fmla="*/ 1738365 w 1738365"/>
              <a:gd name="connsiteY2" fmla="*/ 0 h 1587640"/>
            </a:gdLst>
            <a:ahLst/>
            <a:cxnLst>
              <a:cxn ang="0">
                <a:pos x="connsiteX0" y="connsiteY0"/>
              </a:cxn>
              <a:cxn ang="0">
                <a:pos x="connsiteX1" y="connsiteY1"/>
              </a:cxn>
              <a:cxn ang="0">
                <a:pos x="connsiteX2" y="connsiteY2"/>
              </a:cxn>
            </a:cxnLst>
            <a:rect l="l" t="t" r="r" b="b"/>
            <a:pathLst>
              <a:path w="1738365" h="1587640">
                <a:moveTo>
                  <a:pt x="0" y="1587640"/>
                </a:moveTo>
                <a:cubicBezTo>
                  <a:pt x="166635" y="1262743"/>
                  <a:pt x="333271" y="937847"/>
                  <a:pt x="622998" y="673240"/>
                </a:cubicBezTo>
                <a:cubicBezTo>
                  <a:pt x="912726" y="408633"/>
                  <a:pt x="1325545" y="204316"/>
                  <a:pt x="1738365" y="0"/>
                </a:cubicBezTo>
              </a:path>
            </a:pathLst>
          </a:custGeom>
          <a:ln w="19050">
            <a:solidFill>
              <a:srgbClr val="FCC800"/>
            </a:solidFill>
            <a:prstDash val="sysDash"/>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7" name="文本框 68"/>
          <p:cNvSpPr txBox="1"/>
          <p:nvPr/>
        </p:nvSpPr>
        <p:spPr bwMode="gray">
          <a:xfrm rot="20291769">
            <a:off x="1342385" y="2444670"/>
            <a:ext cx="1712328" cy="307777"/>
          </a:xfrm>
          <a:prstGeom prst="rect">
            <a:avLst/>
          </a:prstGeom>
          <a:noFill/>
        </p:spPr>
        <p:txBody>
          <a:bodyPr wrap="none" rtlCol="0">
            <a:spAutoFit/>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BGP IPv6 SR Policy</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文本框 22"/>
          <p:cNvSpPr txBox="1"/>
          <p:nvPr/>
        </p:nvSpPr>
        <p:spPr bwMode="gray">
          <a:xfrm>
            <a:off x="744753" y="3341745"/>
            <a:ext cx="497252" cy="307777"/>
          </a:xfrm>
          <a:prstGeom prst="rect">
            <a:avLst/>
          </a:prstGeom>
          <a:noFill/>
        </p:spPr>
        <p:txBody>
          <a:bodyPr wrap="none" rtlCol="0">
            <a:spAutoFit/>
          </a:bodyPr>
          <a:lstStyle/>
          <a:p>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PE1</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文本框 22"/>
          <p:cNvSpPr txBox="1"/>
          <p:nvPr/>
        </p:nvSpPr>
        <p:spPr bwMode="gray">
          <a:xfrm>
            <a:off x="3241115" y="3340238"/>
            <a:ext cx="396262" cy="307777"/>
          </a:xfrm>
          <a:prstGeom prst="rect">
            <a:avLst/>
          </a:prstGeom>
          <a:noFill/>
        </p:spPr>
        <p:txBody>
          <a:bodyPr wrap="none" rtlCol="0">
            <a:spAutoFit/>
          </a:bodyPr>
          <a:lstStyle/>
          <a:p>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P1</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 name="文本框 22"/>
          <p:cNvSpPr txBox="1"/>
          <p:nvPr/>
        </p:nvSpPr>
        <p:spPr bwMode="gray">
          <a:xfrm>
            <a:off x="5315411" y="3341745"/>
            <a:ext cx="497252" cy="307777"/>
          </a:xfrm>
          <a:prstGeom prst="rect">
            <a:avLst/>
          </a:prstGeom>
          <a:noFill/>
        </p:spPr>
        <p:txBody>
          <a:bodyPr wrap="none" rtlCol="0">
            <a:spAutoFit/>
          </a:bodyPr>
          <a:lstStyle/>
          <a:p>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PE2</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31" name="图片 16"/>
          <p:cNvPicPr/>
          <p:nvPr/>
        </p:nvPicPr>
        <p:blipFill>
          <a:blip r:embed="rId1" cstate="print">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925982" y="4228784"/>
            <a:ext cx="540000" cy="442800"/>
          </a:xfrm>
          <a:prstGeom prst="rect">
            <a:avLst/>
          </a:prstGeom>
        </p:spPr>
      </p:pic>
      <p:pic>
        <p:nvPicPr>
          <p:cNvPr id="32" name="图片 16"/>
          <p:cNvPicPr/>
          <p:nvPr/>
        </p:nvPicPr>
        <p:blipFill>
          <a:blip r:embed="rId1" cstate="print">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5103807" y="4228784"/>
            <a:ext cx="540000" cy="442800"/>
          </a:xfrm>
          <a:prstGeom prst="rect">
            <a:avLst/>
          </a:prstGeom>
        </p:spPr>
      </p:pic>
      <p:cxnSp>
        <p:nvCxnSpPr>
          <p:cNvPr id="33" name="直接连接符 8"/>
          <p:cNvCxnSpPr>
            <a:stCxn id="5" idx="2"/>
            <a:endCxn id="31" idx="0"/>
          </p:cNvCxnSpPr>
          <p:nvPr/>
        </p:nvCxnSpPr>
        <p:spPr bwMode="gray">
          <a:xfrm>
            <a:off x="1195982" y="4052734"/>
            <a:ext cx="0" cy="176050"/>
          </a:xfrm>
          <a:prstGeom prst="line">
            <a:avLst/>
          </a:prstGeom>
          <a:ln w="19050">
            <a:solidFill>
              <a:schemeClr val="bg1">
                <a:lumMod val="50000"/>
              </a:schemeClr>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 name="直接连接符 8"/>
          <p:cNvCxnSpPr>
            <a:stCxn id="6" idx="2"/>
            <a:endCxn id="32" idx="0"/>
          </p:cNvCxnSpPr>
          <p:nvPr/>
        </p:nvCxnSpPr>
        <p:spPr bwMode="gray">
          <a:xfrm>
            <a:off x="5373807" y="4052734"/>
            <a:ext cx="0" cy="176050"/>
          </a:xfrm>
          <a:prstGeom prst="line">
            <a:avLst/>
          </a:prstGeom>
          <a:ln w="19050">
            <a:solidFill>
              <a:schemeClr val="bg1">
                <a:lumMod val="50000"/>
              </a:schemeClr>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9" name="文本框 22"/>
          <p:cNvSpPr txBox="1"/>
          <p:nvPr/>
        </p:nvSpPr>
        <p:spPr bwMode="gray">
          <a:xfrm>
            <a:off x="1406797" y="4296295"/>
            <a:ext cx="502061" cy="307777"/>
          </a:xfrm>
          <a:prstGeom prst="rect">
            <a:avLst/>
          </a:prstGeom>
          <a:noFill/>
        </p:spPr>
        <p:txBody>
          <a:bodyPr wrap="none" rtlCol="0">
            <a:spAutoFit/>
          </a:bodyPr>
          <a:lstStyle/>
          <a:p>
            <a:r>
              <a:rPr lang="en-US" altLang="zh-CN" sz="14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CE1</a:t>
            </a:r>
            <a:endParaRPr lang="zh-CN" altLang="en-US" sz="14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文本框 22"/>
          <p:cNvSpPr txBox="1"/>
          <p:nvPr/>
        </p:nvSpPr>
        <p:spPr bwMode="gray">
          <a:xfrm>
            <a:off x="4667238" y="4324743"/>
            <a:ext cx="502061" cy="307777"/>
          </a:xfrm>
          <a:prstGeom prst="rect">
            <a:avLst/>
          </a:prstGeom>
          <a:noFill/>
        </p:spPr>
        <p:txBody>
          <a:bodyPr wrap="none" rtlCol="0">
            <a:spAutoFit/>
          </a:bodyPr>
          <a:lstStyle/>
          <a:p>
            <a:r>
              <a:rPr lang="en-US" altLang="zh-CN" sz="14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CE2</a:t>
            </a:r>
            <a:endParaRPr lang="zh-CN" altLang="en-US" sz="14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41" name="图片 13"/>
          <p:cNvPicPr/>
          <p:nvPr/>
        </p:nvPicPr>
        <p:blipFill>
          <a:blip r:embed="rId1" cstate="print">
            <a:extLst>
              <a:ext uri="{28A0092B-C50C-407E-A947-70E740481C1C}">
                <a14:useLocalDpi xmlns:a14="http://schemas.microsoft.com/office/drawing/2010/main" val="0"/>
              </a:ext>
            </a:extLst>
          </a:blip>
          <a:stretch>
            <a:fillRect/>
          </a:stretch>
        </p:blipFill>
        <p:spPr bwMode="gray">
          <a:xfrm>
            <a:off x="8508530" y="3601401"/>
            <a:ext cx="540000" cy="442800"/>
          </a:xfrm>
          <a:prstGeom prst="rect">
            <a:avLst/>
          </a:prstGeom>
        </p:spPr>
      </p:pic>
      <p:pic>
        <p:nvPicPr>
          <p:cNvPr id="42" name="图片 16"/>
          <p:cNvPicPr/>
          <p:nvPr/>
        </p:nvPicPr>
        <p:blipFill>
          <a:blip r:embed="rId1" cstate="print">
            <a:extLst>
              <a:ext uri="{28A0092B-C50C-407E-A947-70E740481C1C}">
                <a14:useLocalDpi xmlns:a14="http://schemas.microsoft.com/office/drawing/2010/main" val="0"/>
              </a:ext>
            </a:extLst>
          </a:blip>
          <a:stretch>
            <a:fillRect/>
          </a:stretch>
        </p:blipFill>
        <p:spPr bwMode="gray">
          <a:xfrm>
            <a:off x="6444739" y="3601401"/>
            <a:ext cx="540000" cy="442800"/>
          </a:xfrm>
          <a:prstGeom prst="rect">
            <a:avLst/>
          </a:prstGeom>
        </p:spPr>
      </p:pic>
      <p:pic>
        <p:nvPicPr>
          <p:cNvPr id="43" name="图片 17"/>
          <p:cNvPicPr/>
          <p:nvPr/>
        </p:nvPicPr>
        <p:blipFill>
          <a:blip r:embed="rId1" cstate="print">
            <a:extLst>
              <a:ext uri="{28A0092B-C50C-407E-A947-70E740481C1C}">
                <a14:useLocalDpi xmlns:a14="http://schemas.microsoft.com/office/drawing/2010/main" val="0"/>
              </a:ext>
            </a:extLst>
          </a:blip>
          <a:stretch>
            <a:fillRect/>
          </a:stretch>
        </p:blipFill>
        <p:spPr bwMode="gray">
          <a:xfrm>
            <a:off x="10622564" y="3601401"/>
            <a:ext cx="540000" cy="442800"/>
          </a:xfrm>
          <a:prstGeom prst="rect">
            <a:avLst/>
          </a:prstGeom>
        </p:spPr>
      </p:pic>
      <p:pic>
        <p:nvPicPr>
          <p:cNvPr id="44" name="图片 20" descr="通用网管-蓝.png"/>
          <p:cNvPicPr>
            <a:picLocks noChangeAspect="1"/>
          </p:cNvPicPr>
          <p:nvPr/>
        </p:nvPicPr>
        <p:blipFill>
          <a:blip r:embed="rId2" cstate="print"/>
          <a:stretch>
            <a:fillRect/>
          </a:stretch>
        </p:blipFill>
        <p:spPr bwMode="gray">
          <a:xfrm>
            <a:off x="8508530" y="2272744"/>
            <a:ext cx="540000" cy="441818"/>
          </a:xfrm>
          <a:prstGeom prst="rect">
            <a:avLst/>
          </a:prstGeom>
        </p:spPr>
      </p:pic>
      <p:cxnSp>
        <p:nvCxnSpPr>
          <p:cNvPr id="45" name="直接连接符 8"/>
          <p:cNvCxnSpPr>
            <a:stCxn id="42" idx="3"/>
            <a:endCxn id="41" idx="1"/>
          </p:cNvCxnSpPr>
          <p:nvPr/>
        </p:nvCxnSpPr>
        <p:spPr bwMode="gray">
          <a:xfrm>
            <a:off x="6984739" y="3822801"/>
            <a:ext cx="1523791" cy="0"/>
          </a:xfrm>
          <a:prstGeom prst="line">
            <a:avLst/>
          </a:prstGeom>
          <a:ln w="19050">
            <a:solidFill>
              <a:schemeClr val="bg1">
                <a:lumMod val="50000"/>
              </a:schemeClr>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6" name="直接连接符 8"/>
          <p:cNvCxnSpPr>
            <a:stCxn id="41" idx="3"/>
            <a:endCxn id="43" idx="1"/>
          </p:cNvCxnSpPr>
          <p:nvPr/>
        </p:nvCxnSpPr>
        <p:spPr bwMode="gray">
          <a:xfrm>
            <a:off x="9048530" y="3822801"/>
            <a:ext cx="1574034" cy="0"/>
          </a:xfrm>
          <a:prstGeom prst="line">
            <a:avLst/>
          </a:prstGeom>
          <a:ln w="19050">
            <a:solidFill>
              <a:schemeClr val="bg1">
                <a:lumMod val="50000"/>
              </a:schemeClr>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7" name="直接连接符 8"/>
          <p:cNvCxnSpPr>
            <a:stCxn id="44" idx="2"/>
            <a:endCxn id="41" idx="0"/>
          </p:cNvCxnSpPr>
          <p:nvPr/>
        </p:nvCxnSpPr>
        <p:spPr bwMode="gray">
          <a:xfrm>
            <a:off x="8778530" y="2714562"/>
            <a:ext cx="0" cy="886839"/>
          </a:xfrm>
          <a:prstGeom prst="line">
            <a:avLst/>
          </a:prstGeom>
          <a:ln w="19050">
            <a:solidFill>
              <a:schemeClr val="bg1">
                <a:lumMod val="50000"/>
              </a:schemeClr>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8" name="Freeform 159"/>
          <p:cNvSpPr/>
          <p:nvPr/>
        </p:nvSpPr>
        <p:spPr bwMode="gray">
          <a:xfrm flipH="1">
            <a:off x="8389835" y="2902957"/>
            <a:ext cx="777390" cy="406364"/>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Freeform 159"/>
          <p:cNvSpPr/>
          <p:nvPr/>
        </p:nvSpPr>
        <p:spPr bwMode="gray">
          <a:xfrm flipH="1">
            <a:off x="7329263" y="3588809"/>
            <a:ext cx="777390" cy="406364"/>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0" name="Freeform 159"/>
          <p:cNvSpPr/>
          <p:nvPr/>
        </p:nvSpPr>
        <p:spPr bwMode="gray">
          <a:xfrm flipH="1">
            <a:off x="9569432" y="3588809"/>
            <a:ext cx="777390" cy="406364"/>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1" name="Freeform 50"/>
          <p:cNvSpPr/>
          <p:nvPr/>
        </p:nvSpPr>
        <p:spPr bwMode="gray">
          <a:xfrm rot="2227946">
            <a:off x="7067464" y="3084868"/>
            <a:ext cx="1282925" cy="954850"/>
          </a:xfrm>
          <a:custGeom>
            <a:avLst/>
            <a:gdLst>
              <a:gd name="connsiteX0" fmla="*/ 0 w 1738365"/>
              <a:gd name="connsiteY0" fmla="*/ 1587640 h 1587640"/>
              <a:gd name="connsiteX1" fmla="*/ 622998 w 1738365"/>
              <a:gd name="connsiteY1" fmla="*/ 673240 h 1587640"/>
              <a:gd name="connsiteX2" fmla="*/ 1738365 w 1738365"/>
              <a:gd name="connsiteY2" fmla="*/ 0 h 1587640"/>
            </a:gdLst>
            <a:ahLst/>
            <a:cxnLst>
              <a:cxn ang="0">
                <a:pos x="connsiteX0" y="connsiteY0"/>
              </a:cxn>
              <a:cxn ang="0">
                <a:pos x="connsiteX1" y="connsiteY1"/>
              </a:cxn>
              <a:cxn ang="0">
                <a:pos x="connsiteX2" y="connsiteY2"/>
              </a:cxn>
            </a:cxnLst>
            <a:rect l="l" t="t" r="r" b="b"/>
            <a:pathLst>
              <a:path w="1738365" h="1587640">
                <a:moveTo>
                  <a:pt x="0" y="1587640"/>
                </a:moveTo>
                <a:cubicBezTo>
                  <a:pt x="166635" y="1262743"/>
                  <a:pt x="333271" y="937847"/>
                  <a:pt x="622998" y="673240"/>
                </a:cubicBezTo>
                <a:cubicBezTo>
                  <a:pt x="912726" y="408633"/>
                  <a:pt x="1325545" y="204316"/>
                  <a:pt x="1738365" y="0"/>
                </a:cubicBezTo>
              </a:path>
            </a:pathLst>
          </a:custGeom>
          <a:ln w="19050">
            <a:solidFill>
              <a:srgbClr val="FCC800"/>
            </a:solidFill>
            <a:prstDash val="sysDash"/>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2" name="Freeform 51"/>
          <p:cNvSpPr/>
          <p:nvPr/>
        </p:nvSpPr>
        <p:spPr bwMode="gray">
          <a:xfrm rot="18900000" flipH="1">
            <a:off x="9281291" y="2909290"/>
            <a:ext cx="1288023" cy="1306005"/>
          </a:xfrm>
          <a:custGeom>
            <a:avLst/>
            <a:gdLst>
              <a:gd name="connsiteX0" fmla="*/ 0 w 1738365"/>
              <a:gd name="connsiteY0" fmla="*/ 1587640 h 1587640"/>
              <a:gd name="connsiteX1" fmla="*/ 622998 w 1738365"/>
              <a:gd name="connsiteY1" fmla="*/ 673240 h 1587640"/>
              <a:gd name="connsiteX2" fmla="*/ 1738365 w 1738365"/>
              <a:gd name="connsiteY2" fmla="*/ 0 h 1587640"/>
            </a:gdLst>
            <a:ahLst/>
            <a:cxnLst>
              <a:cxn ang="0">
                <a:pos x="connsiteX0" y="connsiteY0"/>
              </a:cxn>
              <a:cxn ang="0">
                <a:pos x="connsiteX1" y="connsiteY1"/>
              </a:cxn>
              <a:cxn ang="0">
                <a:pos x="connsiteX2" y="connsiteY2"/>
              </a:cxn>
            </a:cxnLst>
            <a:rect l="l" t="t" r="r" b="b"/>
            <a:pathLst>
              <a:path w="1738365" h="1587640">
                <a:moveTo>
                  <a:pt x="0" y="1587640"/>
                </a:moveTo>
                <a:cubicBezTo>
                  <a:pt x="166635" y="1262743"/>
                  <a:pt x="333271" y="937847"/>
                  <a:pt x="622998" y="673240"/>
                </a:cubicBezTo>
                <a:cubicBezTo>
                  <a:pt x="912726" y="408633"/>
                  <a:pt x="1325545" y="204316"/>
                  <a:pt x="1738365" y="0"/>
                </a:cubicBezTo>
              </a:path>
            </a:pathLst>
          </a:custGeom>
          <a:ln w="19050">
            <a:solidFill>
              <a:srgbClr val="FCC800"/>
            </a:solidFill>
            <a:prstDash val="sysDash"/>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3" name="Freeform 52"/>
          <p:cNvSpPr/>
          <p:nvPr/>
        </p:nvSpPr>
        <p:spPr bwMode="gray">
          <a:xfrm>
            <a:off x="8566836" y="2736946"/>
            <a:ext cx="147323" cy="797528"/>
          </a:xfrm>
          <a:custGeom>
            <a:avLst/>
            <a:gdLst>
              <a:gd name="connsiteX0" fmla="*/ 241889 w 241889"/>
              <a:gd name="connsiteY0" fmla="*/ 964642 h 964642"/>
              <a:gd name="connsiteX1" fmla="*/ 729 w 241889"/>
              <a:gd name="connsiteY1" fmla="*/ 502418 h 964642"/>
              <a:gd name="connsiteX2" fmla="*/ 181599 w 241889"/>
              <a:gd name="connsiteY2" fmla="*/ 0 h 964642"/>
            </a:gdLst>
            <a:ahLst/>
            <a:cxnLst>
              <a:cxn ang="0">
                <a:pos x="connsiteX0" y="connsiteY0"/>
              </a:cxn>
              <a:cxn ang="0">
                <a:pos x="connsiteX1" y="connsiteY1"/>
              </a:cxn>
              <a:cxn ang="0">
                <a:pos x="connsiteX2" y="connsiteY2"/>
              </a:cxn>
            </a:cxnLst>
            <a:rect l="l" t="t" r="r" b="b"/>
            <a:pathLst>
              <a:path w="241889" h="964642">
                <a:moveTo>
                  <a:pt x="241889" y="964642"/>
                </a:moveTo>
                <a:cubicBezTo>
                  <a:pt x="126333" y="813917"/>
                  <a:pt x="10777" y="663192"/>
                  <a:pt x="729" y="502418"/>
                </a:cubicBezTo>
                <a:cubicBezTo>
                  <a:pt x="-9319" y="341644"/>
                  <a:pt x="86140" y="170822"/>
                  <a:pt x="181599" y="0"/>
                </a:cubicBezTo>
              </a:path>
            </a:pathLst>
          </a:custGeom>
          <a:ln w="19050">
            <a:solidFill>
              <a:srgbClr val="FCC800"/>
            </a:solidFill>
            <a:prstDash val="sysDash"/>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solidFill>
                <a:schemeClr val="tx1"/>
              </a:solidFill>
            </a:endParaRPr>
          </a:p>
        </p:txBody>
      </p:sp>
      <p:sp>
        <p:nvSpPr>
          <p:cNvPr id="54" name="文本框 68"/>
          <p:cNvSpPr txBox="1"/>
          <p:nvPr/>
        </p:nvSpPr>
        <p:spPr bwMode="gray">
          <a:xfrm>
            <a:off x="6708352" y="3099951"/>
            <a:ext cx="1712328" cy="307777"/>
          </a:xfrm>
          <a:prstGeom prst="rect">
            <a:avLst/>
          </a:prstGeom>
          <a:noFill/>
        </p:spPr>
        <p:txBody>
          <a:bodyPr wrap="none" rtlCol="0">
            <a:spAutoFit/>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BGP IPv6 SR Policy</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5" name="文本框 22"/>
          <p:cNvSpPr txBox="1"/>
          <p:nvPr/>
        </p:nvSpPr>
        <p:spPr bwMode="gray">
          <a:xfrm>
            <a:off x="6463796" y="3333212"/>
            <a:ext cx="497252" cy="307777"/>
          </a:xfrm>
          <a:prstGeom prst="rect">
            <a:avLst/>
          </a:prstGeom>
          <a:noFill/>
        </p:spPr>
        <p:txBody>
          <a:bodyPr wrap="none" rtlCol="0">
            <a:spAutoFit/>
          </a:bodyPr>
          <a:lstStyle/>
          <a:p>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PE1</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6" name="文本框 22"/>
          <p:cNvSpPr txBox="1"/>
          <p:nvPr/>
        </p:nvSpPr>
        <p:spPr bwMode="gray">
          <a:xfrm>
            <a:off x="8712276" y="3331705"/>
            <a:ext cx="418704" cy="307777"/>
          </a:xfrm>
          <a:prstGeom prst="rect">
            <a:avLst/>
          </a:prstGeom>
          <a:noFill/>
        </p:spPr>
        <p:txBody>
          <a:bodyPr wrap="none" rtlCol="0">
            <a:spAutoFit/>
          </a:bodyPr>
          <a:lstStyle/>
          <a:p>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RR</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7" name="文本框 22"/>
          <p:cNvSpPr txBox="1"/>
          <p:nvPr/>
        </p:nvSpPr>
        <p:spPr bwMode="gray">
          <a:xfrm>
            <a:off x="10801965" y="3333212"/>
            <a:ext cx="497252" cy="307777"/>
          </a:xfrm>
          <a:prstGeom prst="rect">
            <a:avLst/>
          </a:prstGeom>
          <a:noFill/>
        </p:spPr>
        <p:txBody>
          <a:bodyPr wrap="none" rtlCol="0">
            <a:spAutoFit/>
          </a:bodyPr>
          <a:lstStyle/>
          <a:p>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PE2</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58" name="图片 16"/>
          <p:cNvPicPr/>
          <p:nvPr/>
        </p:nvPicPr>
        <p:blipFill>
          <a:blip r:embed="rId1" cstate="print">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6444739" y="4220251"/>
            <a:ext cx="540000" cy="442800"/>
          </a:xfrm>
          <a:prstGeom prst="rect">
            <a:avLst/>
          </a:prstGeom>
        </p:spPr>
      </p:pic>
      <p:pic>
        <p:nvPicPr>
          <p:cNvPr id="59" name="图片 16"/>
          <p:cNvPicPr/>
          <p:nvPr/>
        </p:nvPicPr>
        <p:blipFill>
          <a:blip r:embed="rId1" cstate="print">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10622564" y="4220251"/>
            <a:ext cx="540000" cy="442800"/>
          </a:xfrm>
          <a:prstGeom prst="rect">
            <a:avLst/>
          </a:prstGeom>
        </p:spPr>
      </p:pic>
      <p:cxnSp>
        <p:nvCxnSpPr>
          <p:cNvPr id="60" name="直接连接符 8"/>
          <p:cNvCxnSpPr>
            <a:stCxn id="42" idx="2"/>
            <a:endCxn id="58" idx="0"/>
          </p:cNvCxnSpPr>
          <p:nvPr/>
        </p:nvCxnSpPr>
        <p:spPr bwMode="gray">
          <a:xfrm>
            <a:off x="6714739" y="4044201"/>
            <a:ext cx="0" cy="176050"/>
          </a:xfrm>
          <a:prstGeom prst="line">
            <a:avLst/>
          </a:prstGeom>
          <a:ln w="19050">
            <a:solidFill>
              <a:schemeClr val="bg1">
                <a:lumMod val="50000"/>
              </a:schemeClr>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1" name="直接连接符 8"/>
          <p:cNvCxnSpPr>
            <a:stCxn id="43" idx="2"/>
            <a:endCxn id="59" idx="0"/>
          </p:cNvCxnSpPr>
          <p:nvPr/>
        </p:nvCxnSpPr>
        <p:spPr bwMode="gray">
          <a:xfrm>
            <a:off x="10892564" y="4044201"/>
            <a:ext cx="0" cy="176050"/>
          </a:xfrm>
          <a:prstGeom prst="line">
            <a:avLst/>
          </a:prstGeom>
          <a:ln w="19050">
            <a:solidFill>
              <a:schemeClr val="bg1">
                <a:lumMod val="50000"/>
              </a:schemeClr>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62" name="文本框 22"/>
          <p:cNvSpPr txBox="1"/>
          <p:nvPr/>
        </p:nvSpPr>
        <p:spPr bwMode="gray">
          <a:xfrm>
            <a:off x="6923664" y="4296295"/>
            <a:ext cx="502061" cy="307777"/>
          </a:xfrm>
          <a:prstGeom prst="rect">
            <a:avLst/>
          </a:prstGeom>
          <a:noFill/>
        </p:spPr>
        <p:txBody>
          <a:bodyPr wrap="none" rtlCol="0">
            <a:spAutoFit/>
          </a:bodyPr>
          <a:lstStyle/>
          <a:p>
            <a:r>
              <a:rPr lang="en-US" altLang="zh-CN" sz="14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CE1</a:t>
            </a:r>
            <a:endParaRPr lang="zh-CN" altLang="en-US" sz="14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3" name="文本框 22"/>
          <p:cNvSpPr txBox="1"/>
          <p:nvPr/>
        </p:nvSpPr>
        <p:spPr bwMode="gray">
          <a:xfrm>
            <a:off x="10181578" y="4296295"/>
            <a:ext cx="502061" cy="307777"/>
          </a:xfrm>
          <a:prstGeom prst="rect">
            <a:avLst/>
          </a:prstGeom>
          <a:noFill/>
        </p:spPr>
        <p:txBody>
          <a:bodyPr wrap="none" rtlCol="0">
            <a:spAutoFit/>
          </a:bodyPr>
          <a:lstStyle/>
          <a:p>
            <a:r>
              <a:rPr lang="en-US" altLang="zh-CN" sz="14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CE2</a:t>
            </a:r>
            <a:endParaRPr lang="zh-CN" altLang="en-US" sz="14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4" name="文本框 22"/>
          <p:cNvSpPr txBox="1"/>
          <p:nvPr/>
        </p:nvSpPr>
        <p:spPr bwMode="gray">
          <a:xfrm>
            <a:off x="3454669" y="2166113"/>
            <a:ext cx="1487908" cy="307777"/>
          </a:xfrm>
          <a:prstGeom prst="rect">
            <a:avLst/>
          </a:prstGeom>
          <a:noFill/>
        </p:spPr>
        <p:txBody>
          <a:bodyPr wrap="none" rtlCol="0">
            <a:spAutoFit/>
          </a:bodyPr>
          <a:lstStyle/>
          <a:p>
            <a:r>
              <a:rPr lang="en-US" altLang="zh-CN" sz="1400" b="1" dirty="0" err="1">
                <a:latin typeface="Huawei Sans" panose="020C0503030203020204" pitchFamily="34" charset="0"/>
                <a:ea typeface="方正兰亭黑简体" panose="02000000000000000000" pitchFamily="2" charset="-122"/>
                <a:sym typeface="Huawei Sans" panose="020C0503030203020204" pitchFamily="34" charset="0"/>
              </a:rPr>
              <a:t>iMaster</a:t>
            </a: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 NCE-IP</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5" name="文本框 22"/>
          <p:cNvSpPr txBox="1"/>
          <p:nvPr/>
        </p:nvSpPr>
        <p:spPr bwMode="gray">
          <a:xfrm>
            <a:off x="9008175" y="2265683"/>
            <a:ext cx="1487908" cy="307777"/>
          </a:xfrm>
          <a:prstGeom prst="rect">
            <a:avLst/>
          </a:prstGeom>
          <a:noFill/>
        </p:spPr>
        <p:txBody>
          <a:bodyPr wrap="none" rtlCol="0">
            <a:spAutoFit/>
          </a:bodyPr>
          <a:lstStyle/>
          <a:p>
            <a:r>
              <a:rPr lang="en-US" altLang="zh-CN" sz="1400" b="1" dirty="0" err="1">
                <a:latin typeface="Huawei Sans" panose="020C0503030203020204" pitchFamily="34" charset="0"/>
                <a:ea typeface="方正兰亭黑简体" panose="02000000000000000000" pitchFamily="2" charset="-122"/>
                <a:sym typeface="Huawei Sans" panose="020C0503030203020204" pitchFamily="34" charset="0"/>
              </a:rPr>
              <a:t>iMaster</a:t>
            </a: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 NCE-IP</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7" name="TextBox 66"/>
          <p:cNvSpPr txBox="1"/>
          <p:nvPr/>
        </p:nvSpPr>
        <p:spPr bwMode="gray">
          <a:xfrm>
            <a:off x="925982" y="4739095"/>
            <a:ext cx="4717826" cy="695575"/>
          </a:xfrm>
          <a:prstGeom prst="rect">
            <a:avLst/>
          </a:prstGeom>
          <a:noFill/>
        </p:spPr>
        <p:txBody>
          <a:bodyPr wrap="square" rtlCol="0">
            <a:spAutoFit/>
          </a:bodyPr>
          <a:lstStyle/>
          <a:p>
            <a:pPr marL="302260" indent="-302260" algn="just" defTabSz="913765">
              <a:lnSpc>
                <a:spcPct val="140000"/>
              </a:lnSpc>
              <a:spcBef>
                <a:spcPts val="790"/>
              </a:spcBef>
              <a:buSzPct val="50000"/>
              <a:buFont typeface="Wingdings" panose="05000000000000000000" pitchFamily="2" charset="2"/>
              <a:buChar char="l"/>
            </a:pPr>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方案一：</a:t>
            </a:r>
            <a:r>
              <a:rPr lang="en-US" altLang="zh-CN" sz="1400" dirty="0" err="1">
                <a:latin typeface="Huawei Sans" panose="020C0503030203020204" pitchFamily="34" charset="0"/>
                <a:ea typeface="方正兰亭黑简体" panose="02000000000000000000" pitchFamily="2" charset="-122"/>
                <a:cs typeface="Huawei Sans" panose="020C0503030203020204" pitchFamily="34" charset="0"/>
              </a:rPr>
              <a:t>iMaster</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 NCE-IP</a:t>
            </a:r>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与所有</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PE</a:t>
            </a:r>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设备建立</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BGP IPv6 SR Policy</a:t>
            </a:r>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邻居。</a:t>
            </a:r>
            <a:endParaRPr lang="zh-CN" altLang="en-US" sz="14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68" name="TextBox 67"/>
          <p:cNvSpPr txBox="1"/>
          <p:nvPr/>
        </p:nvSpPr>
        <p:spPr bwMode="gray">
          <a:xfrm>
            <a:off x="6172614" y="4712110"/>
            <a:ext cx="5228302" cy="1099788"/>
          </a:xfrm>
          <a:prstGeom prst="rect">
            <a:avLst/>
          </a:prstGeom>
          <a:noFill/>
        </p:spPr>
        <p:txBody>
          <a:bodyPr wrap="square" rtlCol="0">
            <a:spAutoFit/>
          </a:bodyPr>
          <a:lstStyle/>
          <a:p>
            <a:pPr marL="302260" indent="-302260" algn="just" defTabSz="913765">
              <a:lnSpc>
                <a:spcPct val="140000"/>
              </a:lnSpc>
              <a:spcBef>
                <a:spcPts val="790"/>
              </a:spcBef>
              <a:buSzPct val="50000"/>
              <a:buFont typeface="Wingdings" panose="05000000000000000000" pitchFamily="2" charset="2"/>
              <a:buChar char="l"/>
            </a:pPr>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方案二：</a:t>
            </a:r>
            <a:r>
              <a:rPr lang="en-US" altLang="zh-CN" sz="1400" dirty="0" err="1">
                <a:latin typeface="Huawei Sans" panose="020C0503030203020204" pitchFamily="34" charset="0"/>
                <a:ea typeface="方正兰亭黑简体" panose="02000000000000000000" pitchFamily="2" charset="-122"/>
                <a:cs typeface="Huawei Sans" panose="020C0503030203020204" pitchFamily="34" charset="0"/>
              </a:rPr>
              <a:t>iMaster</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 NCE-IP</a:t>
            </a:r>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与</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RR</a:t>
            </a:r>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设备建立</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BGP IPv6 SR Policy</a:t>
            </a:r>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邻居，其余设备与</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RR</a:t>
            </a:r>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建立</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BGP IPv6 SR Policy</a:t>
            </a:r>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邻居。</a:t>
            </a:r>
            <a:endParaRPr lang="en-US" altLang="zh-CN" sz="1400" dirty="0">
              <a:latin typeface="Huawei Sans" panose="020C0503030203020204" pitchFamily="34" charset="0"/>
              <a:ea typeface="方正兰亭黑简体" panose="02000000000000000000" pitchFamily="2" charset="-122"/>
              <a:cs typeface="Huawei Sans" panose="020C0503030203020204" pitchFamily="34" charset="0"/>
            </a:endParaRPr>
          </a:p>
          <a:p>
            <a:pPr marL="302260" indent="-302260" algn="just" defTabSz="913765">
              <a:lnSpc>
                <a:spcPct val="140000"/>
              </a:lnSpc>
              <a:spcBef>
                <a:spcPts val="790"/>
              </a:spcBef>
              <a:buSzPct val="50000"/>
              <a:buFont typeface="Wingdings" panose="05000000000000000000" pitchFamily="2" charset="2"/>
              <a:buChar char="l"/>
            </a:pPr>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推荐使用方案二，减少</a:t>
            </a:r>
            <a:r>
              <a:rPr lang="en-US" altLang="zh-CN" sz="1400" dirty="0" err="1">
                <a:latin typeface="Huawei Sans" panose="020C0503030203020204" pitchFamily="34" charset="0"/>
                <a:ea typeface="方正兰亭黑简体" panose="02000000000000000000" pitchFamily="2" charset="-122"/>
                <a:cs typeface="Huawei Sans" panose="020C0503030203020204" pitchFamily="34" charset="0"/>
              </a:rPr>
              <a:t>iMaster</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 NCE-IP</a:t>
            </a:r>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维护的</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BGP</a:t>
            </a:r>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邻居数量。</a:t>
            </a:r>
            <a:endParaRPr lang="zh-CN" altLang="en-US" sz="1400" dirty="0">
              <a:latin typeface="Huawei Sans" panose="020C0503030203020204" pitchFamily="34" charset="0"/>
              <a:ea typeface="方正兰亭黑简体" panose="02000000000000000000" pitchFamily="2" charset="-122"/>
              <a:cs typeface="Huawei Sans" panose="020C0503030203020204" pitchFamily="34" charset="0"/>
            </a:endParaRP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gray"/>
        <p:txBody>
          <a:bodyPr/>
          <a:lstStyle/>
          <a:p>
            <a:r>
              <a:rPr lang="zh-CN" altLang="en-US" dirty="0"/>
              <a:t>建立</a:t>
            </a:r>
            <a:r>
              <a:rPr lang="en-US" altLang="zh-CN" dirty="0"/>
              <a:t>BGP IPv6 SR Policy</a:t>
            </a:r>
            <a:r>
              <a:rPr lang="zh-CN" altLang="en-US" dirty="0"/>
              <a:t>邻居</a:t>
            </a:r>
            <a:endParaRPr lang="zh-CN" altLang="en-US" dirty="0"/>
          </a:p>
        </p:txBody>
      </p:sp>
      <p:pic>
        <p:nvPicPr>
          <p:cNvPr id="4" name="Picture 3"/>
          <p:cNvPicPr>
            <a:picLocks noChangeAspect="1"/>
          </p:cNvPicPr>
          <p:nvPr/>
        </p:nvPicPr>
        <p:blipFill>
          <a:blip r:embed="rId1"/>
          <a:stretch>
            <a:fillRect/>
          </a:stretch>
        </p:blipFill>
        <p:spPr bwMode="gray">
          <a:xfrm>
            <a:off x="487887" y="1095545"/>
            <a:ext cx="6993786" cy="2238377"/>
          </a:xfrm>
          <a:prstGeom prst="rect">
            <a:avLst/>
          </a:prstGeom>
          <a:ln>
            <a:solidFill>
              <a:schemeClr val="bg1">
                <a:lumMod val="85000"/>
              </a:schemeClr>
            </a:solidFill>
          </a:ln>
          <a:effectLst>
            <a:outerShdw blurRad="50800" dist="38100" dir="2700000" algn="tl" rotWithShape="0">
              <a:prstClr val="black">
                <a:alpha val="40000"/>
              </a:prstClr>
            </a:outerShdw>
          </a:effectLst>
        </p:spPr>
      </p:pic>
      <p:sp>
        <p:nvSpPr>
          <p:cNvPr id="6" name="文本框 46"/>
          <p:cNvSpPr txBox="1"/>
          <p:nvPr/>
        </p:nvSpPr>
        <p:spPr bwMode="gray">
          <a:xfrm>
            <a:off x="1577934" y="4880793"/>
            <a:ext cx="4100401" cy="1015663"/>
          </a:xfrm>
          <a:prstGeom prst="rect">
            <a:avLst/>
          </a:prstGeom>
          <a:solidFill>
            <a:schemeClr val="bg1">
              <a:lumMod val="85000"/>
            </a:schemeClr>
          </a:solidFill>
          <a:ln>
            <a:noFill/>
          </a:ln>
        </p:spPr>
        <p:txBody>
          <a:bodyPr wrap="squar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[P1]</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bgp</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65001</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[P1-bgp]peer 2000::102 as-number 65001</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[P1-bgp]peer 2000::102 connect-interface LoopBack0</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[P1-bgp]ipv6-family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sr</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-policy</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[P1-bgp-af-ls]peer 2000::102 enable</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9" name="直接连接符 42"/>
          <p:cNvCxnSpPr>
            <a:stCxn id="7" idx="1"/>
            <a:endCxn id="8" idx="3"/>
          </p:cNvCxnSpPr>
          <p:nvPr/>
        </p:nvCxnSpPr>
        <p:spPr bwMode="gray">
          <a:xfrm flipH="1" flipV="1">
            <a:off x="3640084" y="4182704"/>
            <a:ext cx="1498251" cy="491"/>
          </a:xfrm>
          <a:prstGeom prst="line">
            <a:avLst/>
          </a:prstGeom>
          <a:ln w="19050">
            <a:solidFill>
              <a:srgbClr val="FCC800"/>
            </a:solidFill>
            <a:prstDash val="sysDash"/>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2" name="文本框 68"/>
          <p:cNvSpPr txBox="1"/>
          <p:nvPr/>
        </p:nvSpPr>
        <p:spPr bwMode="gray">
          <a:xfrm>
            <a:off x="3955047" y="3921585"/>
            <a:ext cx="921753" cy="523220"/>
          </a:xfrm>
          <a:prstGeom prst="rect">
            <a:avLst/>
          </a:prstGeom>
          <a:noFill/>
        </p:spPr>
        <p:txBody>
          <a:bodyPr wrap="square" rtlCol="0">
            <a:spAutoFit/>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BGP IPv6 SR Policy</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4" name="Straight Connector 13"/>
          <p:cNvCxnSpPr/>
          <p:nvPr/>
        </p:nvCxnSpPr>
        <p:spPr bwMode="gray">
          <a:xfrm>
            <a:off x="487887" y="3333922"/>
            <a:ext cx="2682970" cy="658233"/>
          </a:xfrm>
          <a:prstGeom prst="line">
            <a:avLst/>
          </a:prstGeom>
          <a:ln w="12700">
            <a:solidFill>
              <a:schemeClr val="bg1">
                <a:lumMod val="5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bwMode="gray">
          <a:xfrm flipH="1">
            <a:off x="3536574" y="3541253"/>
            <a:ext cx="7950306" cy="450902"/>
          </a:xfrm>
          <a:prstGeom prst="line">
            <a:avLst/>
          </a:prstGeom>
          <a:ln w="12700">
            <a:solidFill>
              <a:schemeClr val="bg1">
                <a:lumMod val="5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bwMode="gray">
          <a:xfrm>
            <a:off x="5600700" y="4370908"/>
            <a:ext cx="77635" cy="509885"/>
          </a:xfrm>
          <a:prstGeom prst="line">
            <a:avLst/>
          </a:prstGeom>
          <a:ln w="12700">
            <a:solidFill>
              <a:schemeClr val="bg1">
                <a:lumMod val="5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bwMode="gray">
          <a:xfrm flipV="1">
            <a:off x="1577934" y="4365502"/>
            <a:ext cx="3642995" cy="514310"/>
          </a:xfrm>
          <a:prstGeom prst="line">
            <a:avLst/>
          </a:prstGeom>
          <a:ln w="12700">
            <a:solidFill>
              <a:schemeClr val="bg1">
                <a:lumMod val="50000"/>
              </a:schemeClr>
            </a:solidFill>
            <a:prstDash val="solid"/>
          </a:ln>
        </p:spPr>
        <p:style>
          <a:lnRef idx="1">
            <a:schemeClr val="accent1"/>
          </a:lnRef>
          <a:fillRef idx="0">
            <a:schemeClr val="accent1"/>
          </a:fillRef>
          <a:effectRef idx="0">
            <a:schemeClr val="accent1"/>
          </a:effectRef>
          <a:fontRef idx="minor">
            <a:schemeClr val="tx1"/>
          </a:fontRef>
        </p:style>
      </p:cxnSp>
      <p:sp>
        <p:nvSpPr>
          <p:cNvPr id="26" name="文本框 46"/>
          <p:cNvSpPr txBox="1"/>
          <p:nvPr/>
        </p:nvSpPr>
        <p:spPr bwMode="gray">
          <a:xfrm>
            <a:off x="5726019" y="4592267"/>
            <a:ext cx="6003404" cy="1569660"/>
          </a:xfrm>
          <a:prstGeom prst="rect">
            <a:avLst/>
          </a:prstGeom>
          <a:solidFill>
            <a:schemeClr val="bg1">
              <a:lumMod val="85000"/>
            </a:schemeClr>
          </a:solidFill>
          <a:ln>
            <a:noFill/>
          </a:ln>
        </p:spPr>
        <p:txBody>
          <a:bodyPr wrap="squar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[~P1]display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bgp</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sr</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-policy ipv6 peer</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BGP local router ID : 1.0.0.5</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Local AS number : 65001</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Total number of peers : 7                 Peers in established state : 5</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Peer            V       AS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MsgRcvd</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MsgSent</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OutQ</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Up/Down       State  </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PrefRcv</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2000::102     4     65001    11286    11195     0    0160h44m Established        2</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 name="文本框 68"/>
          <p:cNvSpPr txBox="1"/>
          <p:nvPr/>
        </p:nvSpPr>
        <p:spPr bwMode="gray">
          <a:xfrm>
            <a:off x="2125137" y="4027819"/>
            <a:ext cx="974947" cy="307777"/>
          </a:xfrm>
          <a:prstGeom prst="rect">
            <a:avLst/>
          </a:prstGeom>
          <a:noFill/>
        </p:spPr>
        <p:txBody>
          <a:bodyPr wrap="none" rtlCol="0">
            <a:spAutoFit/>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2000::102</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7" name="图片 16"/>
          <p:cNvPicPr/>
          <p:nvPr/>
        </p:nvPicPr>
        <p:blipFill>
          <a:blip r:embed="rId2" cstate="print">
            <a:extLst>
              <a:ext uri="{28A0092B-C50C-407E-A947-70E740481C1C}">
                <a14:useLocalDpi xmlns:a14="http://schemas.microsoft.com/office/drawing/2010/main" val="0"/>
              </a:ext>
            </a:extLst>
          </a:blip>
          <a:stretch>
            <a:fillRect/>
          </a:stretch>
        </p:blipFill>
        <p:spPr bwMode="gray">
          <a:xfrm>
            <a:off x="5138335" y="3961795"/>
            <a:ext cx="540000" cy="442800"/>
          </a:xfrm>
          <a:prstGeom prst="rect">
            <a:avLst/>
          </a:prstGeom>
        </p:spPr>
      </p:pic>
      <p:pic>
        <p:nvPicPr>
          <p:cNvPr id="8" name="图片 20" descr="通用网管-蓝.png"/>
          <p:cNvPicPr>
            <a:picLocks noChangeAspect="1"/>
          </p:cNvPicPr>
          <p:nvPr/>
        </p:nvPicPr>
        <p:blipFill>
          <a:blip r:embed="rId3" cstate="print"/>
          <a:stretch>
            <a:fillRect/>
          </a:stretch>
        </p:blipFill>
        <p:spPr bwMode="gray">
          <a:xfrm>
            <a:off x="3100084" y="3961795"/>
            <a:ext cx="540000" cy="441818"/>
          </a:xfrm>
          <a:prstGeom prst="rect">
            <a:avLst/>
          </a:prstGeom>
        </p:spPr>
      </p:pic>
      <p:sp>
        <p:nvSpPr>
          <p:cNvPr id="22" name="文本框 68"/>
          <p:cNvSpPr txBox="1"/>
          <p:nvPr/>
        </p:nvSpPr>
        <p:spPr bwMode="gray">
          <a:xfrm>
            <a:off x="5651923" y="4032975"/>
            <a:ext cx="774571" cy="307777"/>
          </a:xfrm>
          <a:prstGeom prst="rect">
            <a:avLst/>
          </a:prstGeom>
          <a:noFill/>
        </p:spPr>
        <p:txBody>
          <a:bodyPr wrap="none" rtlCol="0">
            <a:spAutoFit/>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FC01::5</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3" name="Picture 2"/>
          <p:cNvPicPr>
            <a:picLocks noChangeAspect="1"/>
          </p:cNvPicPr>
          <p:nvPr/>
        </p:nvPicPr>
        <p:blipFill>
          <a:blip r:embed="rId4"/>
          <a:stretch>
            <a:fillRect/>
          </a:stretch>
        </p:blipFill>
        <p:spPr bwMode="gray">
          <a:xfrm>
            <a:off x="4488880" y="1316080"/>
            <a:ext cx="6998000" cy="2217416"/>
          </a:xfrm>
          <a:prstGeom prst="rect">
            <a:avLst/>
          </a:prstGeom>
          <a:ln>
            <a:solidFill>
              <a:schemeClr val="bg1">
                <a:lumMod val="85000"/>
              </a:schemeClr>
            </a:solidFill>
          </a:ln>
          <a:effectLst>
            <a:outerShdw blurRad="50800" dist="38100" dir="2700000" algn="tl" rotWithShape="0">
              <a:prstClr val="black">
                <a:alpha val="40000"/>
              </a:prstClr>
            </a:outerShdw>
          </a:effectLst>
        </p:spPr>
      </p:pic>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gray"/>
        <p:txBody>
          <a:bodyPr/>
          <a:lstStyle/>
          <a:p>
            <a:r>
              <a:rPr lang="zh-CN" altLang="en-US" dirty="0"/>
              <a:t>通过</a:t>
            </a:r>
            <a:r>
              <a:rPr lang="en-US" altLang="zh-CN" dirty="0"/>
              <a:t>SRv6 Policy Group</a:t>
            </a:r>
            <a:r>
              <a:rPr lang="zh-CN" altLang="en-US" dirty="0"/>
              <a:t>创建隧道</a:t>
            </a:r>
            <a:endParaRPr lang="zh-CN" altLang="en-US" dirty="0"/>
          </a:p>
        </p:txBody>
      </p:sp>
      <p:sp>
        <p:nvSpPr>
          <p:cNvPr id="3" name="Text Placeholder 2"/>
          <p:cNvSpPr>
            <a:spLocks noGrp="1"/>
          </p:cNvSpPr>
          <p:nvPr>
            <p:ph type="body" sz="quarter" idx="10"/>
          </p:nvPr>
        </p:nvSpPr>
        <p:spPr bwMode="gray">
          <a:xfrm>
            <a:off x="455612" y="1047750"/>
            <a:ext cx="11293475" cy="4879805"/>
          </a:xfrm>
        </p:spPr>
        <p:txBody>
          <a:bodyPr/>
          <a:lstStyle/>
          <a:p>
            <a:r>
              <a:rPr lang="en-US" altLang="zh-CN" sz="1600" dirty="0">
                <a:sym typeface="Huawei Sans" panose="020C0503030203020204" pitchFamily="34" charset="0"/>
              </a:rPr>
              <a:t>SRv6 Policy Group</a:t>
            </a:r>
            <a:r>
              <a:rPr lang="zh-CN" altLang="en-US" sz="1600" dirty="0">
                <a:sym typeface="Huawei Sans" panose="020C0503030203020204" pitchFamily="34" charset="0"/>
              </a:rPr>
              <a:t>：快速建立共享相同</a:t>
            </a:r>
            <a:r>
              <a:rPr lang="en-US" altLang="zh-CN" sz="1600" dirty="0">
                <a:sym typeface="Huawei Sans" panose="020C0503030203020204" pitchFamily="34" charset="0"/>
              </a:rPr>
              <a:t>SLA</a:t>
            </a:r>
            <a:r>
              <a:rPr lang="zh-CN" altLang="en-US" sz="1600" dirty="0">
                <a:sym typeface="Huawei Sans" panose="020C0503030203020204" pitchFamily="34" charset="0"/>
              </a:rPr>
              <a:t>要求的一组隧道。</a:t>
            </a:r>
            <a:endParaRPr lang="en-US" altLang="zh-CN" sz="1600" dirty="0">
              <a:sym typeface="Huawei Sans" panose="020C0503030203020204" pitchFamily="34" charset="0"/>
            </a:endParaRPr>
          </a:p>
          <a:p>
            <a:r>
              <a:rPr lang="zh-CN" altLang="en-US" sz="1600" dirty="0">
                <a:sym typeface="Huawei Sans" panose="020C0503030203020204" pitchFamily="34" charset="0"/>
              </a:rPr>
              <a:t>适用场景：在创建业务之前批量创建多条</a:t>
            </a:r>
            <a:r>
              <a:rPr lang="en-US" altLang="zh-CN" sz="1600" dirty="0">
                <a:sym typeface="Huawei Sans" panose="020C0503030203020204" pitchFamily="34" charset="0"/>
              </a:rPr>
              <a:t>SRv6 Policy</a:t>
            </a:r>
            <a:r>
              <a:rPr lang="zh-CN" altLang="en-US" sz="1600" dirty="0">
                <a:sym typeface="Huawei Sans" panose="020C0503030203020204" pitchFamily="34" charset="0"/>
              </a:rPr>
              <a:t>隧道。隧道类型可选两种类型：</a:t>
            </a:r>
            <a:endParaRPr lang="en-US" altLang="zh-CN" sz="1600" dirty="0">
              <a:sym typeface="Huawei Sans" panose="020C0503030203020204" pitchFamily="34" charset="0"/>
            </a:endParaRPr>
          </a:p>
          <a:p>
            <a:pPr lvl="1" fontAlgn="auto"/>
            <a:r>
              <a:rPr lang="en-US" altLang="zh-CN" sz="1400" dirty="0">
                <a:sym typeface="Huawei Sans" panose="020C0503030203020204" pitchFamily="34" charset="0"/>
              </a:rPr>
              <a:t>Any To Any</a:t>
            </a:r>
            <a:r>
              <a:rPr lang="zh-CN" altLang="en-US" sz="1400" dirty="0">
                <a:sym typeface="Huawei Sans" panose="020C0503030203020204" pitchFamily="34" charset="0"/>
              </a:rPr>
              <a:t>：在网元间建立全联接的网络。</a:t>
            </a:r>
            <a:endParaRPr lang="en-US" altLang="zh-CN" sz="1400" dirty="0">
              <a:sym typeface="Huawei Sans" panose="020C0503030203020204" pitchFamily="34" charset="0"/>
            </a:endParaRPr>
          </a:p>
          <a:p>
            <a:pPr lvl="1" fontAlgn="auto"/>
            <a:r>
              <a:rPr lang="en-US" altLang="zh-CN" sz="1400" dirty="0">
                <a:sym typeface="Huawei Sans" panose="020C0503030203020204" pitchFamily="34" charset="0"/>
              </a:rPr>
              <a:t>Hub-Spoke</a:t>
            </a:r>
            <a:r>
              <a:rPr lang="zh-CN" altLang="en-US" sz="1400" dirty="0">
                <a:sym typeface="Huawei Sans" panose="020C0503030203020204" pitchFamily="34" charset="0"/>
              </a:rPr>
              <a:t>：网元的角色分为</a:t>
            </a:r>
            <a:r>
              <a:rPr lang="en-US" altLang="zh-CN" sz="1400" dirty="0">
                <a:sym typeface="Huawei Sans" panose="020C0503030203020204" pitchFamily="34" charset="0"/>
              </a:rPr>
              <a:t>Hub</a:t>
            </a:r>
            <a:r>
              <a:rPr lang="zh-CN" altLang="en-US" sz="1400" dirty="0">
                <a:sym typeface="Huawei Sans" panose="020C0503030203020204" pitchFamily="34" charset="0"/>
              </a:rPr>
              <a:t>和</a:t>
            </a:r>
            <a:r>
              <a:rPr lang="en-US" altLang="zh-CN" sz="1400" dirty="0">
                <a:sym typeface="Huawei Sans" panose="020C0503030203020204" pitchFamily="34" charset="0"/>
              </a:rPr>
              <a:t>Spoke</a:t>
            </a:r>
            <a:r>
              <a:rPr lang="zh-CN" altLang="en-US" sz="1400" dirty="0">
                <a:sym typeface="Huawei Sans" panose="020C0503030203020204" pitchFamily="34" charset="0"/>
              </a:rPr>
              <a:t>两种，所有</a:t>
            </a:r>
            <a:r>
              <a:rPr lang="en-US" altLang="zh-CN" sz="1400" dirty="0">
                <a:sym typeface="Huawei Sans" panose="020C0503030203020204" pitchFamily="34" charset="0"/>
              </a:rPr>
              <a:t>Spoke</a:t>
            </a:r>
            <a:r>
              <a:rPr lang="zh-CN" altLang="en-US" sz="1400" dirty="0">
                <a:sym typeface="Huawei Sans" panose="020C0503030203020204" pitchFamily="34" charset="0"/>
              </a:rPr>
              <a:t>节点间的通信均须通过</a:t>
            </a:r>
            <a:r>
              <a:rPr lang="en-US" altLang="zh-CN" sz="1400" dirty="0">
                <a:sym typeface="Huawei Sans" panose="020C0503030203020204" pitchFamily="34" charset="0"/>
              </a:rPr>
              <a:t>Hub</a:t>
            </a:r>
            <a:r>
              <a:rPr lang="zh-CN" altLang="en-US" sz="1400" dirty="0">
                <a:sym typeface="Huawei Sans" panose="020C0503030203020204" pitchFamily="34" charset="0"/>
              </a:rPr>
              <a:t>节点传递。</a:t>
            </a:r>
            <a:endParaRPr lang="zh-CN" altLang="en-US" sz="1400" dirty="0">
              <a:sym typeface="Huawei Sans" panose="020C0503030203020204" pitchFamily="34" charset="0"/>
            </a:endParaRPr>
          </a:p>
          <a:p>
            <a:r>
              <a:rPr lang="zh-CN" altLang="en-US" sz="1600" dirty="0">
                <a:sym typeface="Huawei Sans" panose="020C0503030203020204" pitchFamily="34" charset="0"/>
              </a:rPr>
              <a:t>在华为云广域网络解决方案中，</a:t>
            </a:r>
            <a:r>
              <a:rPr lang="en-US" altLang="zh-CN" sz="1600" dirty="0">
                <a:sym typeface="Huawei Sans" panose="020C0503030203020204" pitchFamily="34" charset="0"/>
              </a:rPr>
              <a:t>SRv6 Policy Group</a:t>
            </a:r>
            <a:r>
              <a:rPr lang="zh-CN" altLang="en-US" sz="1600" dirty="0">
                <a:sym typeface="Huawei Sans" panose="020C0503030203020204" pitchFamily="34" charset="0"/>
              </a:rPr>
              <a:t>用于隧道规划场景，即先将隧道路径计算完成，当有业务需求时，隧道按需下发。</a:t>
            </a:r>
            <a:endParaRPr lang="en-US" altLang="zh-CN" sz="1600" dirty="0">
              <a:sym typeface="Huawei Sans" panose="020C0503030203020204" pitchFamily="34" charset="0"/>
            </a:endParaRPr>
          </a:p>
        </p:txBody>
      </p:sp>
      <p:pic>
        <p:nvPicPr>
          <p:cNvPr id="4" name="Picture 3"/>
          <p:cNvPicPr>
            <a:picLocks noChangeAspect="1"/>
          </p:cNvPicPr>
          <p:nvPr/>
        </p:nvPicPr>
        <p:blipFill>
          <a:blip r:embed="rId1">
            <a:extLst>
              <a:ext uri="{28A0092B-C50C-407E-A947-70E740481C1C}">
                <a14:useLocalDpi xmlns:a14="http://schemas.microsoft.com/office/drawing/2010/main" val="0"/>
              </a:ext>
            </a:extLst>
          </a:blip>
          <a:stretch>
            <a:fillRect/>
          </a:stretch>
        </p:blipFill>
        <p:spPr bwMode="gray">
          <a:xfrm>
            <a:off x="717248" y="3451419"/>
            <a:ext cx="10770202" cy="2729900"/>
          </a:xfrm>
          <a:prstGeom prst="rect">
            <a:avLst/>
          </a:prstGeom>
          <a:ln>
            <a:solidFill>
              <a:schemeClr val="bg1">
                <a:lumMod val="85000"/>
              </a:schemeClr>
            </a:solidFill>
          </a:ln>
        </p:spPr>
      </p:pic>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gray"/>
        <p:txBody>
          <a:bodyPr/>
          <a:lstStyle/>
          <a:p>
            <a:r>
              <a:rPr lang="zh-CN" altLang="en-US" dirty="0"/>
              <a:t>通过</a:t>
            </a:r>
            <a:r>
              <a:rPr lang="en-US" altLang="zh-CN" dirty="0"/>
              <a:t>SRv6 Policy</a:t>
            </a:r>
            <a:r>
              <a:rPr lang="zh-CN" altLang="en-US" dirty="0"/>
              <a:t>承载</a:t>
            </a:r>
            <a:r>
              <a:rPr lang="en-US" altLang="zh-CN" dirty="0"/>
              <a:t>VPN</a:t>
            </a:r>
            <a:r>
              <a:rPr lang="zh-CN" altLang="en-US" dirty="0"/>
              <a:t>业务</a:t>
            </a:r>
            <a:endParaRPr lang="zh-CN" altLang="en-US" dirty="0"/>
          </a:p>
        </p:txBody>
      </p:sp>
      <p:sp>
        <p:nvSpPr>
          <p:cNvPr id="3" name="Text Placeholder 2"/>
          <p:cNvSpPr>
            <a:spLocks noGrp="1"/>
          </p:cNvSpPr>
          <p:nvPr>
            <p:ph type="body" sz="quarter" idx="10"/>
          </p:nvPr>
        </p:nvSpPr>
        <p:spPr bwMode="gray">
          <a:xfrm>
            <a:off x="455613" y="1047750"/>
            <a:ext cx="5640388" cy="4879805"/>
          </a:xfrm>
        </p:spPr>
        <p:txBody>
          <a:bodyPr/>
          <a:lstStyle/>
          <a:p>
            <a:r>
              <a:rPr lang="zh-CN" altLang="en-US" sz="1600" dirty="0">
                <a:sym typeface="Huawei Sans" panose="020C0503030203020204" pitchFamily="34" charset="0"/>
              </a:rPr>
              <a:t>在企业网场景中，通常有以下</a:t>
            </a:r>
            <a:r>
              <a:rPr lang="en-US" altLang="zh-CN" sz="1600" dirty="0">
                <a:sym typeface="Huawei Sans" panose="020C0503030203020204" pitchFamily="34" charset="0"/>
              </a:rPr>
              <a:t>VPN</a:t>
            </a:r>
            <a:r>
              <a:rPr lang="zh-CN" altLang="en-US" sz="1600" dirty="0">
                <a:sym typeface="Huawei Sans" panose="020C0503030203020204" pitchFamily="34" charset="0"/>
              </a:rPr>
              <a:t>类型：</a:t>
            </a:r>
            <a:endParaRPr lang="en-US" altLang="zh-CN" sz="1600" dirty="0">
              <a:sym typeface="Huawei Sans" panose="020C0503030203020204" pitchFamily="34" charset="0"/>
            </a:endParaRPr>
          </a:p>
          <a:p>
            <a:pPr lvl="1"/>
            <a:r>
              <a:rPr lang="en-US" altLang="zh-CN" sz="1400" dirty="0">
                <a:sym typeface="Huawei Sans" panose="020C0503030203020204" pitchFamily="34" charset="0"/>
              </a:rPr>
              <a:t>L2VPN</a:t>
            </a:r>
            <a:r>
              <a:rPr lang="zh-CN" altLang="en-US" sz="1400" dirty="0">
                <a:sym typeface="Huawei Sans" panose="020C0503030203020204" pitchFamily="34" charset="0"/>
              </a:rPr>
              <a:t>：客户</a:t>
            </a:r>
            <a:r>
              <a:rPr lang="en-US" altLang="zh-CN" sz="1400" dirty="0">
                <a:sym typeface="Huawei Sans" panose="020C0503030203020204" pitchFamily="34" charset="0"/>
              </a:rPr>
              <a:t>IP</a:t>
            </a:r>
            <a:r>
              <a:rPr lang="zh-CN" altLang="en-US" sz="1400" dirty="0">
                <a:sym typeface="Huawei Sans" panose="020C0503030203020204" pitchFamily="34" charset="0"/>
              </a:rPr>
              <a:t>地址在同一个网段，</a:t>
            </a:r>
            <a:endParaRPr lang="en-US" altLang="zh-CN" sz="1400" dirty="0">
              <a:sym typeface="Huawei Sans" panose="020C0503030203020204" pitchFamily="34" charset="0"/>
            </a:endParaRPr>
          </a:p>
          <a:p>
            <a:pPr lvl="1"/>
            <a:r>
              <a:rPr lang="en-US" altLang="zh-CN" sz="1400" dirty="0">
                <a:sym typeface="Huawei Sans" panose="020C0503030203020204" pitchFamily="34" charset="0"/>
              </a:rPr>
              <a:t>L3VPN</a:t>
            </a:r>
            <a:r>
              <a:rPr lang="zh-CN" altLang="en-US" sz="1400" dirty="0">
                <a:sym typeface="Huawei Sans" panose="020C0503030203020204" pitchFamily="34" charset="0"/>
              </a:rPr>
              <a:t>：客户</a:t>
            </a:r>
            <a:r>
              <a:rPr lang="en-US" altLang="zh-CN" sz="1400" dirty="0">
                <a:sym typeface="Huawei Sans" panose="020C0503030203020204" pitchFamily="34" charset="0"/>
              </a:rPr>
              <a:t>IP</a:t>
            </a:r>
            <a:r>
              <a:rPr lang="zh-CN" altLang="en-US" sz="1400" dirty="0">
                <a:sym typeface="Huawei Sans" panose="020C0503030203020204" pitchFamily="34" charset="0"/>
              </a:rPr>
              <a:t>地址在不同网段。</a:t>
            </a:r>
            <a:endParaRPr lang="en-US" altLang="zh-CN" sz="1400" dirty="0">
              <a:sym typeface="Huawei Sans" panose="020C0503030203020204" pitchFamily="34" charset="0"/>
            </a:endParaRPr>
          </a:p>
          <a:p>
            <a:pPr lvl="1"/>
            <a:r>
              <a:rPr lang="en-US" altLang="zh-CN" sz="1400" dirty="0">
                <a:sym typeface="Huawei Sans" panose="020C0503030203020204" pitchFamily="34" charset="0"/>
              </a:rPr>
              <a:t>EVPN</a:t>
            </a:r>
            <a:r>
              <a:rPr lang="zh-CN" altLang="en-US" sz="1400" dirty="0">
                <a:sym typeface="Huawei Sans" panose="020C0503030203020204" pitchFamily="34" charset="0"/>
              </a:rPr>
              <a:t>：融合</a:t>
            </a:r>
            <a:r>
              <a:rPr lang="en-US" altLang="zh-CN" sz="1400" dirty="0">
                <a:sym typeface="Huawei Sans" panose="020C0503030203020204" pitchFamily="34" charset="0"/>
              </a:rPr>
              <a:t>L2VPN</a:t>
            </a:r>
            <a:r>
              <a:rPr lang="zh-CN" altLang="en-US" sz="1400" dirty="0">
                <a:sym typeface="Huawei Sans" panose="020C0503030203020204" pitchFamily="34" charset="0"/>
              </a:rPr>
              <a:t>和</a:t>
            </a:r>
            <a:r>
              <a:rPr lang="en-US" altLang="zh-CN" sz="1400" dirty="0">
                <a:sym typeface="Huawei Sans" panose="020C0503030203020204" pitchFamily="34" charset="0"/>
              </a:rPr>
              <a:t>L3VPN</a:t>
            </a:r>
            <a:r>
              <a:rPr lang="zh-CN" altLang="en-US" sz="1400" dirty="0">
                <a:sym typeface="Huawei Sans" panose="020C0503030203020204" pitchFamily="34" charset="0"/>
              </a:rPr>
              <a:t>。</a:t>
            </a:r>
            <a:endParaRPr lang="en-US" altLang="zh-CN" sz="1400" dirty="0">
              <a:sym typeface="Huawei Sans" panose="020C0503030203020204" pitchFamily="34" charset="0"/>
            </a:endParaRPr>
          </a:p>
          <a:p>
            <a:r>
              <a:rPr lang="zh-CN" altLang="en-US" sz="1600" dirty="0">
                <a:sym typeface="Huawei Sans" panose="020C0503030203020204" pitchFamily="34" charset="0"/>
              </a:rPr>
              <a:t>隧道策略（</a:t>
            </a:r>
            <a:r>
              <a:rPr lang="en-US" altLang="zh-CN" sz="1600" dirty="0">
                <a:sym typeface="Huawei Sans" panose="020C0503030203020204" pitchFamily="34" charset="0"/>
              </a:rPr>
              <a:t>Tunnel Policy</a:t>
            </a:r>
            <a:r>
              <a:rPr lang="zh-CN" altLang="en-US" sz="1600" dirty="0">
                <a:sym typeface="Huawei Sans" panose="020C0503030203020204" pitchFamily="34" charset="0"/>
              </a:rPr>
              <a:t>）是应用模块决定选择何种隧道的一种策略，隧道策略有两种方式：</a:t>
            </a:r>
            <a:endParaRPr lang="en-US" altLang="zh-CN" sz="1600" dirty="0">
              <a:sym typeface="Huawei Sans" panose="020C0503030203020204" pitchFamily="34" charset="0"/>
            </a:endParaRPr>
          </a:p>
          <a:p>
            <a:pPr lvl="1"/>
            <a:r>
              <a:rPr lang="zh-CN" altLang="en-US" sz="1400" dirty="0">
                <a:sym typeface="Huawei Sans" panose="020C0503030203020204" pitchFamily="34" charset="0"/>
              </a:rPr>
              <a:t>隧道类型优先级：按照隧道类型的优先级顺序及参与负载分担的隧道条数迭代到对应的隧道（首选方式）。</a:t>
            </a:r>
            <a:endParaRPr lang="en-US" altLang="zh-CN" sz="1400" dirty="0">
              <a:sym typeface="Huawei Sans" panose="020C0503030203020204" pitchFamily="34" charset="0"/>
            </a:endParaRPr>
          </a:p>
          <a:p>
            <a:pPr lvl="1"/>
            <a:r>
              <a:rPr lang="zh-CN" altLang="en-US" sz="1400" dirty="0">
                <a:sym typeface="Huawei Sans" panose="020C0503030203020204" pitchFamily="34" charset="0"/>
              </a:rPr>
              <a:t>隧道绑定：指将某个目的地址与某条隧道进行绑定，从而使应用了隧道绑定的</a:t>
            </a:r>
            <a:r>
              <a:rPr lang="en-US" altLang="zh-CN" sz="1400" dirty="0">
                <a:sym typeface="Huawei Sans" panose="020C0503030203020204" pitchFamily="34" charset="0"/>
              </a:rPr>
              <a:t>VPN</a:t>
            </a:r>
            <a:r>
              <a:rPr lang="zh-CN" altLang="en-US" sz="1400" dirty="0">
                <a:sym typeface="Huawei Sans" panose="020C0503030203020204" pitchFamily="34" charset="0"/>
              </a:rPr>
              <a:t>业务到该目的地址的流量只能承载在该条隧道上。</a:t>
            </a:r>
            <a:endParaRPr lang="en-US" altLang="zh-CN" sz="1400" dirty="0">
              <a:sym typeface="Huawei Sans" panose="020C0503030203020204" pitchFamily="34" charset="0"/>
            </a:endParaRPr>
          </a:p>
          <a:p>
            <a:r>
              <a:rPr lang="en-US" altLang="zh-CN" sz="1600" dirty="0">
                <a:sym typeface="Huawei Sans" panose="020C0503030203020204" pitchFamily="34" charset="0"/>
              </a:rPr>
              <a:t>VPN</a:t>
            </a:r>
            <a:r>
              <a:rPr lang="zh-CN" altLang="en-US" sz="1600" dirty="0">
                <a:sym typeface="Huawei Sans" panose="020C0503030203020204" pitchFamily="34" charset="0"/>
              </a:rPr>
              <a:t>业务从隧道策略中选择</a:t>
            </a:r>
            <a:r>
              <a:rPr lang="en-US" altLang="zh-CN" sz="1600" dirty="0">
                <a:sym typeface="Huawei Sans" panose="020C0503030203020204" pitchFamily="34" charset="0"/>
              </a:rPr>
              <a:t>Up</a:t>
            </a:r>
            <a:r>
              <a:rPr lang="zh-CN" altLang="en-US" sz="1600" dirty="0">
                <a:sym typeface="Huawei Sans" panose="020C0503030203020204" pitchFamily="34" charset="0"/>
              </a:rPr>
              <a:t>状态的隧道类型，然后再根据需求从满足条件的隧道类型中选择转发路径。</a:t>
            </a:r>
            <a:endParaRPr lang="en-US" altLang="zh-CN" sz="1600" dirty="0">
              <a:sym typeface="Huawei Sans" panose="020C0503030203020204" pitchFamily="34" charset="0"/>
            </a:endParaRPr>
          </a:p>
        </p:txBody>
      </p:sp>
      <p:sp>
        <p:nvSpPr>
          <p:cNvPr id="4" name="矩形 7"/>
          <p:cNvSpPr/>
          <p:nvPr/>
        </p:nvSpPr>
        <p:spPr bwMode="gray">
          <a:xfrm>
            <a:off x="6651498" y="1336087"/>
            <a:ext cx="4083269" cy="864749"/>
          </a:xfrm>
          <a:prstGeom prst="roundRect">
            <a:avLst>
              <a:gd name="adj" fmla="val 5101"/>
            </a:avLst>
          </a:prstGeom>
          <a:no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文本框 5"/>
          <p:cNvSpPr txBox="1"/>
          <p:nvPr/>
        </p:nvSpPr>
        <p:spPr bwMode="gray">
          <a:xfrm>
            <a:off x="6927775" y="1599184"/>
            <a:ext cx="1080000" cy="338554"/>
          </a:xfrm>
          <a:prstGeom prst="rect">
            <a:avLst/>
          </a:prstGeom>
          <a:solidFill>
            <a:srgbClr val="62B230"/>
          </a:solidFill>
        </p:spPr>
        <p:txBody>
          <a:bodyPr wrap="square" rtlCol="0">
            <a:spAutoFit/>
          </a:bodyPr>
          <a:lstStyle>
            <a:defPPr>
              <a:defRPr lang="en-US"/>
            </a:defPPr>
            <a:lvl1pPr algn="ctr">
              <a:defRPr sz="1600">
                <a:solidFill>
                  <a:schemeClr val="bg1"/>
                </a:solidFill>
              </a:defRPr>
            </a:lvl1pPr>
          </a:lstStyle>
          <a:p>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L2VPN</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文本框 6"/>
          <p:cNvSpPr txBox="1"/>
          <p:nvPr/>
        </p:nvSpPr>
        <p:spPr bwMode="gray">
          <a:xfrm>
            <a:off x="8197544" y="1599184"/>
            <a:ext cx="1080000" cy="338554"/>
          </a:xfrm>
          <a:prstGeom prst="rect">
            <a:avLst/>
          </a:prstGeom>
          <a:solidFill>
            <a:srgbClr val="62B230"/>
          </a:solidFill>
        </p:spPr>
        <p:txBody>
          <a:bodyPr wrap="square" rtlCol="0">
            <a:spAutoFit/>
          </a:bodyPr>
          <a:lstStyle>
            <a:defPPr>
              <a:defRPr lang="en-US"/>
            </a:defPPr>
            <a:lvl1pPr algn="ctr">
              <a:defRPr sz="1600">
                <a:solidFill>
                  <a:schemeClr val="bg1"/>
                </a:solidFill>
              </a:defRPr>
            </a:lvl1pPr>
          </a:lstStyle>
          <a:p>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L3VPN</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文本框 15"/>
          <p:cNvSpPr txBox="1"/>
          <p:nvPr/>
        </p:nvSpPr>
        <p:spPr bwMode="gray">
          <a:xfrm>
            <a:off x="9467313" y="1599184"/>
            <a:ext cx="1080000" cy="338554"/>
          </a:xfrm>
          <a:prstGeom prst="rect">
            <a:avLst/>
          </a:prstGeom>
          <a:solidFill>
            <a:srgbClr val="62B230"/>
          </a:solidFill>
        </p:spPr>
        <p:txBody>
          <a:bodyPr wrap="square" rtlCol="0">
            <a:spAutoFit/>
          </a:bodyPr>
          <a:lstStyle>
            <a:defPPr>
              <a:defRPr lang="en-US"/>
            </a:defPPr>
            <a:lvl1pPr algn="ctr">
              <a:defRPr sz="1600">
                <a:solidFill>
                  <a:schemeClr val="bg1"/>
                </a:solidFill>
              </a:defRPr>
            </a:lvl1pPr>
          </a:lstStyle>
          <a:p>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EVPN</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 name="矩形 25"/>
          <p:cNvSpPr/>
          <p:nvPr/>
        </p:nvSpPr>
        <p:spPr bwMode="gray">
          <a:xfrm>
            <a:off x="6658718" y="4649980"/>
            <a:ext cx="4083269" cy="886812"/>
          </a:xfrm>
          <a:prstGeom prst="roundRect">
            <a:avLst>
              <a:gd name="adj" fmla="val 5389"/>
            </a:avLst>
          </a:prstGeom>
          <a:no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 name="文本框 21"/>
          <p:cNvSpPr txBox="1"/>
          <p:nvPr/>
        </p:nvSpPr>
        <p:spPr bwMode="gray">
          <a:xfrm>
            <a:off x="7303668" y="4938826"/>
            <a:ext cx="856127" cy="338554"/>
          </a:xfrm>
          <a:prstGeom prst="rect">
            <a:avLst/>
          </a:prstGeom>
          <a:solidFill>
            <a:srgbClr val="30B5C5"/>
          </a:solidFill>
        </p:spPr>
        <p:txBody>
          <a:bodyPr wrap="square" rtlCol="0">
            <a:spAutoFit/>
          </a:bodyPr>
          <a:lstStyle>
            <a:defPPr>
              <a:defRPr lang="en-US"/>
            </a:defPPr>
            <a:lvl1pPr algn="ctr">
              <a:defRPr sz="1600">
                <a:solidFill>
                  <a:schemeClr val="bg1"/>
                </a:solidFill>
              </a:defRPr>
            </a:lvl1pPr>
          </a:lstStyle>
          <a:p>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Color</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 name="文本框 22"/>
          <p:cNvSpPr txBox="1"/>
          <p:nvPr/>
        </p:nvSpPr>
        <p:spPr bwMode="gray">
          <a:xfrm>
            <a:off x="8543316" y="4938826"/>
            <a:ext cx="856127" cy="338554"/>
          </a:xfrm>
          <a:prstGeom prst="rect">
            <a:avLst/>
          </a:prstGeom>
          <a:solidFill>
            <a:srgbClr val="30B5C5"/>
          </a:solidFill>
        </p:spPr>
        <p:txBody>
          <a:bodyPr wrap="square" rtlCol="0">
            <a:spAutoFit/>
          </a:bodyPr>
          <a:lstStyle>
            <a:defPPr>
              <a:defRPr lang="en-US"/>
            </a:defPPr>
            <a:lvl1pPr algn="ctr">
              <a:defRPr sz="1600">
                <a:solidFill>
                  <a:schemeClr val="bg1"/>
                </a:solidFill>
              </a:defRPr>
            </a:lvl1pPr>
          </a:lstStyle>
          <a:p>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DSCP</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矩形 24"/>
          <p:cNvSpPr/>
          <p:nvPr/>
        </p:nvSpPr>
        <p:spPr bwMode="gray">
          <a:xfrm>
            <a:off x="6651498" y="2941166"/>
            <a:ext cx="4083269" cy="964644"/>
          </a:xfrm>
          <a:prstGeom prst="roundRect">
            <a:avLst>
              <a:gd name="adj" fmla="val 3563"/>
            </a:avLst>
          </a:prstGeom>
          <a:no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 name="文本框 13"/>
          <p:cNvSpPr txBox="1"/>
          <p:nvPr/>
        </p:nvSpPr>
        <p:spPr bwMode="gray">
          <a:xfrm>
            <a:off x="6927775" y="3258733"/>
            <a:ext cx="1260000" cy="338554"/>
          </a:xfrm>
          <a:prstGeom prst="rect">
            <a:avLst/>
          </a:prstGeom>
          <a:solidFill>
            <a:srgbClr val="FCC800"/>
          </a:solidFill>
        </p:spPr>
        <p:txBody>
          <a:bodyPr wrap="square" rtlCol="0">
            <a:spAutoFit/>
          </a:bodyPr>
          <a:lstStyle>
            <a:defPPr>
              <a:defRPr lang="en-US"/>
            </a:defPPr>
            <a:lvl1pPr algn="ctr">
              <a:defRPr sz="1600">
                <a:solidFill>
                  <a:schemeClr val="bg1"/>
                </a:solidFill>
              </a:defRPr>
            </a:lvl1pPr>
          </a:lstStyle>
          <a:p>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SRv6 Policy</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 name="文本框 23"/>
          <p:cNvSpPr txBox="1"/>
          <p:nvPr/>
        </p:nvSpPr>
        <p:spPr bwMode="gray">
          <a:xfrm>
            <a:off x="8334639" y="3260070"/>
            <a:ext cx="2212674" cy="338554"/>
          </a:xfrm>
          <a:prstGeom prst="rect">
            <a:avLst/>
          </a:prstGeom>
          <a:solidFill>
            <a:srgbClr val="FCC800"/>
          </a:solidFill>
        </p:spPr>
        <p:txBody>
          <a:bodyPr wrap="square" rtlCol="0">
            <a:spAutoFit/>
          </a:bodyPr>
          <a:lstStyle>
            <a:defPPr>
              <a:defRPr lang="en-US"/>
            </a:defPPr>
            <a:lvl1pPr algn="ctr">
              <a:defRPr sz="1600">
                <a:solidFill>
                  <a:schemeClr val="bg1"/>
                </a:solidFill>
              </a:defRPr>
            </a:lvl1pPr>
          </a:lstStyle>
          <a:p>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SRv6 Policy Group</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 name="下箭头 32"/>
          <p:cNvSpPr/>
          <p:nvPr/>
        </p:nvSpPr>
        <p:spPr bwMode="gray">
          <a:xfrm>
            <a:off x="7174064" y="2206892"/>
            <a:ext cx="488731" cy="705620"/>
          </a:xfrm>
          <a:prstGeom prst="downArrow">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 name="下箭头 33"/>
          <p:cNvSpPr/>
          <p:nvPr/>
        </p:nvSpPr>
        <p:spPr bwMode="gray">
          <a:xfrm>
            <a:off x="7174064" y="3925085"/>
            <a:ext cx="488731" cy="705620"/>
          </a:xfrm>
          <a:prstGeom prst="downArrow">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 name="文本框 34"/>
          <p:cNvSpPr txBox="1"/>
          <p:nvPr/>
        </p:nvSpPr>
        <p:spPr bwMode="gray">
          <a:xfrm>
            <a:off x="7675127" y="2379995"/>
            <a:ext cx="2784844" cy="338554"/>
          </a:xfrm>
          <a:prstGeom prst="rect">
            <a:avLst/>
          </a:prstGeom>
          <a:solidFill>
            <a:srgbClr val="ED6D00"/>
          </a:solidFill>
        </p:spPr>
        <p:txBody>
          <a:bodyPr wrap="square" rtlCol="0">
            <a:spAutoFit/>
          </a:bodyPr>
          <a:lstStyle/>
          <a:p>
            <a:pPr algn="ctr"/>
            <a:r>
              <a:rPr lang="zh-CN" altLang="en-US" sz="16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基于隧道策略选择隧道类型</a:t>
            </a:r>
            <a:endParaRPr lang="zh-CN" altLang="en-US" sz="16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文本框 35"/>
          <p:cNvSpPr txBox="1"/>
          <p:nvPr/>
        </p:nvSpPr>
        <p:spPr bwMode="gray">
          <a:xfrm>
            <a:off x="7675127" y="4010377"/>
            <a:ext cx="2784844" cy="584775"/>
          </a:xfrm>
          <a:prstGeom prst="rect">
            <a:avLst/>
          </a:prstGeom>
          <a:solidFill>
            <a:srgbClr val="ED6D00"/>
          </a:solidFill>
        </p:spPr>
        <p:txBody>
          <a:bodyPr wrap="square" rtlCol="0">
            <a:spAutoFit/>
          </a:bodyPr>
          <a:lstStyle/>
          <a:p>
            <a:pPr algn="ctr"/>
            <a:r>
              <a:rPr lang="zh-CN" altLang="en-US" sz="16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在同类型的隧道中基于以下方式选择转发路径</a:t>
            </a:r>
            <a:endParaRPr lang="zh-CN" altLang="en-US" sz="16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bwMode="gray"/>
        <p:txBody>
          <a:bodyPr/>
          <a:lstStyle/>
          <a:p>
            <a:pPr fontAlgn="base"/>
            <a:r>
              <a:rPr lang="en-US" altLang="zh-CN" dirty="0"/>
              <a:t>(</a:t>
            </a:r>
            <a:r>
              <a:rPr lang="zh-CN" altLang="en-US" dirty="0"/>
              <a:t>简答题</a:t>
            </a:r>
            <a:r>
              <a:rPr lang="en-US" altLang="zh-CN" dirty="0"/>
              <a:t>)</a:t>
            </a:r>
            <a:r>
              <a:rPr lang="zh-CN" altLang="en-US" dirty="0">
                <a:sym typeface="Huawei Sans" panose="020C0503030203020204" pitchFamily="34" charset="0"/>
              </a:rPr>
              <a:t>一个</a:t>
            </a:r>
            <a:r>
              <a:rPr lang="en-US" altLang="zh-CN" dirty="0">
                <a:sym typeface="Huawei Sans" panose="020C0503030203020204" pitchFamily="34" charset="0"/>
              </a:rPr>
              <a:t>SRv6 SID</a:t>
            </a:r>
            <a:r>
              <a:rPr lang="zh-CN" altLang="en-US" dirty="0">
                <a:sym typeface="Huawei Sans" panose="020C0503030203020204" pitchFamily="34" charset="0"/>
              </a:rPr>
              <a:t>有</a:t>
            </a:r>
            <a:r>
              <a:rPr lang="en-US" altLang="zh-CN" dirty="0">
                <a:sym typeface="Huawei Sans" panose="020C0503030203020204" pitchFamily="34" charset="0"/>
              </a:rPr>
              <a:t>128 bit</a:t>
            </a:r>
            <a:r>
              <a:rPr lang="zh-CN" altLang="en-US" dirty="0">
                <a:sym typeface="Huawei Sans" panose="020C0503030203020204" pitchFamily="34" charset="0"/>
              </a:rPr>
              <a:t>，通常由哪三个部分组成？</a:t>
            </a:r>
            <a:r>
              <a:rPr lang="en-US" altLang="zh-CN" dirty="0">
                <a:sym typeface="Huawei Sans" panose="020C0503030203020204" pitchFamily="34" charset="0"/>
              </a:rPr>
              <a:t>(     )</a:t>
            </a:r>
            <a:endParaRPr lang="en-US" altLang="zh-CN" dirty="0">
              <a:sym typeface="Huawei Sans" panose="020C0503030203020204" pitchFamily="34" charset="0"/>
            </a:endParaRPr>
          </a:p>
          <a:p>
            <a:pPr fontAlgn="base"/>
            <a:r>
              <a:rPr lang="en-US" altLang="zh-CN" dirty="0"/>
              <a:t>(</a:t>
            </a:r>
            <a:r>
              <a:rPr lang="zh-CN" altLang="en-US" dirty="0"/>
              <a:t>简答题</a:t>
            </a:r>
            <a:r>
              <a:rPr lang="en-US" altLang="zh-CN" dirty="0"/>
              <a:t>)</a:t>
            </a:r>
            <a:r>
              <a:rPr lang="en-US" altLang="zh-CN" dirty="0">
                <a:sym typeface="Huawei Sans" panose="020C0503030203020204" pitchFamily="34" charset="0"/>
              </a:rPr>
              <a:t>SRv6</a:t>
            </a:r>
            <a:r>
              <a:rPr lang="zh-CN" altLang="en-US" dirty="0">
                <a:sym typeface="Huawei Sans" panose="020C0503030203020204" pitchFamily="34" charset="0"/>
              </a:rPr>
              <a:t>的</a:t>
            </a:r>
            <a:r>
              <a:rPr lang="en-US" altLang="zh-CN" dirty="0">
                <a:sym typeface="Huawei Sans" panose="020C0503030203020204" pitchFamily="34" charset="0"/>
              </a:rPr>
              <a:t>Endpoint</a:t>
            </a:r>
            <a:r>
              <a:rPr lang="zh-CN" altLang="en-US" dirty="0">
                <a:sym typeface="Huawei Sans" panose="020C0503030203020204" pitchFamily="34" charset="0"/>
              </a:rPr>
              <a:t>节点行为中，类似</a:t>
            </a:r>
            <a:r>
              <a:rPr lang="en-US" altLang="zh-CN" dirty="0">
                <a:sym typeface="Huawei Sans" panose="020C0503030203020204" pitchFamily="34" charset="0"/>
              </a:rPr>
              <a:t>SR-MPLS</a:t>
            </a:r>
            <a:r>
              <a:rPr lang="zh-CN" altLang="en-US" dirty="0">
                <a:sym typeface="Huawei Sans" panose="020C0503030203020204" pitchFamily="34" charset="0"/>
              </a:rPr>
              <a:t>的</a:t>
            </a:r>
            <a:r>
              <a:rPr lang="en-US" altLang="zh-CN" dirty="0">
                <a:sym typeface="Huawei Sans" panose="020C0503030203020204" pitchFamily="34" charset="0"/>
              </a:rPr>
              <a:t>Node Segment</a:t>
            </a:r>
            <a:r>
              <a:rPr lang="zh-CN" altLang="en-US" dirty="0">
                <a:sym typeface="Huawei Sans" panose="020C0503030203020204" pitchFamily="34" charset="0"/>
              </a:rPr>
              <a:t>和</a:t>
            </a:r>
            <a:r>
              <a:rPr lang="en-US" altLang="zh-CN" dirty="0">
                <a:sym typeface="Huawei Sans" panose="020C0503030203020204" pitchFamily="34" charset="0"/>
              </a:rPr>
              <a:t>Adjacency Segment</a:t>
            </a:r>
            <a:r>
              <a:rPr lang="zh-CN" altLang="en-US" dirty="0">
                <a:sym typeface="Huawei Sans" panose="020C0503030203020204" pitchFamily="34" charset="0"/>
              </a:rPr>
              <a:t>的分别是哪种类型？</a:t>
            </a:r>
            <a:r>
              <a:rPr lang="en-US" altLang="zh-CN" dirty="0">
                <a:sym typeface="Huawei Sans" panose="020C0503030203020204" pitchFamily="34" charset="0"/>
              </a:rPr>
              <a:t>(     )</a:t>
            </a:r>
            <a:endParaRPr lang="en-US" altLang="zh-CN" dirty="0">
              <a:sym typeface="Huawei Sans" panose="020C0503030203020204" pitchFamily="34" charset="0"/>
            </a:endParaRP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0"/>
          </p:nvPr>
        </p:nvSpPr>
        <p:spPr bwMode="gray"/>
        <p:txBody>
          <a:bodyPr/>
          <a:lstStyle/>
          <a:p>
            <a:pPr fontAlgn="base"/>
            <a:r>
              <a:rPr lang="zh-CN" altLang="en-US" sz="1800" dirty="0">
                <a:sym typeface="Huawei Sans" panose="020C0503030203020204" pitchFamily="34" charset="0"/>
              </a:rPr>
              <a:t>本课程简单介绍了</a:t>
            </a:r>
            <a:r>
              <a:rPr lang="en-US" altLang="zh-CN" sz="1800" dirty="0">
                <a:sym typeface="Huawei Sans" panose="020C0503030203020204" pitchFamily="34" charset="0"/>
              </a:rPr>
              <a:t>SRv6</a:t>
            </a:r>
            <a:r>
              <a:rPr lang="zh-CN" altLang="en-US" sz="1800" dirty="0">
                <a:sym typeface="Huawei Sans" panose="020C0503030203020204" pitchFamily="34" charset="0"/>
              </a:rPr>
              <a:t>网络编程概念、</a:t>
            </a:r>
            <a:r>
              <a:rPr lang="en-US" altLang="zh-CN" sz="1800" dirty="0">
                <a:sym typeface="Huawei Sans" panose="020C0503030203020204" pitchFamily="34" charset="0"/>
              </a:rPr>
              <a:t>SRv6</a:t>
            </a:r>
            <a:r>
              <a:rPr lang="zh-CN" altLang="en-US" sz="1800" dirty="0">
                <a:sym typeface="Huawei Sans" panose="020C0503030203020204" pitchFamily="34" charset="0"/>
              </a:rPr>
              <a:t>指令集（</a:t>
            </a:r>
            <a:r>
              <a:rPr lang="en-US" altLang="zh-CN" sz="1800" dirty="0">
                <a:sym typeface="Huawei Sans" panose="020C0503030203020204" pitchFamily="34" charset="0"/>
              </a:rPr>
              <a:t>Endpoint</a:t>
            </a:r>
            <a:r>
              <a:rPr lang="zh-CN" altLang="en-US" sz="1800" dirty="0">
                <a:sym typeface="Huawei Sans" panose="020C0503030203020204" pitchFamily="34" charset="0"/>
              </a:rPr>
              <a:t>节点行为、源节点行为和</a:t>
            </a:r>
            <a:r>
              <a:rPr lang="en-US" altLang="zh-CN" sz="1800" dirty="0">
                <a:sym typeface="Huawei Sans" panose="020C0503030203020204" pitchFamily="34" charset="0"/>
              </a:rPr>
              <a:t>Flavors</a:t>
            </a:r>
            <a:r>
              <a:rPr lang="zh-CN" altLang="en-US" sz="1800" dirty="0">
                <a:sym typeface="Huawei Sans" panose="020C0503030203020204" pitchFamily="34" charset="0"/>
              </a:rPr>
              <a:t>）和</a:t>
            </a:r>
            <a:r>
              <a:rPr lang="en-US" altLang="zh-CN" sz="1800" dirty="0">
                <a:sym typeface="Huawei Sans" panose="020C0503030203020204" pitchFamily="34" charset="0"/>
              </a:rPr>
              <a:t>SRv6 Policy</a:t>
            </a:r>
            <a:r>
              <a:rPr lang="zh-CN" altLang="en-US" sz="1800" dirty="0">
                <a:sym typeface="Huawei Sans" panose="020C0503030203020204" pitchFamily="34" charset="0"/>
              </a:rPr>
              <a:t>，并介绍基于华为</a:t>
            </a:r>
            <a:r>
              <a:rPr lang="en-US" altLang="zh-CN" sz="1800" dirty="0" err="1">
                <a:sym typeface="Huawei Sans" panose="020C0503030203020204" pitchFamily="34" charset="0"/>
              </a:rPr>
              <a:t>NetEngine</a:t>
            </a:r>
            <a:r>
              <a:rPr lang="zh-CN" altLang="en-US" sz="1800" dirty="0">
                <a:sym typeface="Huawei Sans" panose="020C0503030203020204" pitchFamily="34" charset="0"/>
              </a:rPr>
              <a:t>系列路由器的</a:t>
            </a:r>
            <a:r>
              <a:rPr lang="en-US" altLang="zh-CN" sz="1800" dirty="0">
                <a:sym typeface="Huawei Sans" panose="020C0503030203020204" pitchFamily="34" charset="0"/>
              </a:rPr>
              <a:t>SRv6 SID</a:t>
            </a:r>
            <a:r>
              <a:rPr lang="zh-CN" altLang="en-US" sz="1800" dirty="0">
                <a:sym typeface="Huawei Sans" panose="020C0503030203020204" pitchFamily="34" charset="0"/>
              </a:rPr>
              <a:t>基本配置。</a:t>
            </a:r>
            <a:endParaRPr lang="en-US" altLang="zh-CN" sz="1800" dirty="0">
              <a:sym typeface="Huawei Sans" panose="020C0503030203020204" pitchFamily="34" charset="0"/>
            </a:endParaRPr>
          </a:p>
          <a:p>
            <a:pPr fontAlgn="base"/>
            <a:r>
              <a:rPr lang="en-US" altLang="zh-CN" sz="1800" dirty="0">
                <a:sym typeface="Huawei Sans" panose="020C0503030203020204" pitchFamily="34" charset="0"/>
              </a:rPr>
              <a:t>SRv6</a:t>
            </a:r>
            <a:r>
              <a:rPr lang="zh-CN" altLang="en-US" sz="1800" dirty="0">
                <a:sym typeface="Huawei Sans" panose="020C0503030203020204" pitchFamily="34" charset="0"/>
              </a:rPr>
              <a:t>利用</a:t>
            </a:r>
            <a:r>
              <a:rPr lang="en-US" altLang="zh-CN" sz="1800" dirty="0">
                <a:sym typeface="Huawei Sans" panose="020C0503030203020204" pitchFamily="34" charset="0"/>
              </a:rPr>
              <a:t>IPv6 128 bit</a:t>
            </a:r>
            <a:r>
              <a:rPr lang="zh-CN" altLang="en-US" sz="1800" dirty="0">
                <a:sym typeface="Huawei Sans" panose="020C0503030203020204" pitchFamily="34" charset="0"/>
              </a:rPr>
              <a:t>地址的可编程能力，丰富了</a:t>
            </a:r>
            <a:r>
              <a:rPr lang="en-US" altLang="zh-CN" sz="1800" dirty="0">
                <a:sym typeface="Huawei Sans" panose="020C0503030203020204" pitchFamily="34" charset="0"/>
              </a:rPr>
              <a:t>SRv6</a:t>
            </a:r>
            <a:r>
              <a:rPr lang="zh-CN" altLang="en-US" sz="1800" dirty="0">
                <a:sym typeface="Huawei Sans" panose="020C0503030203020204" pitchFamily="34" charset="0"/>
              </a:rPr>
              <a:t>指令表达的网络功能。例如除可以标识转发路径的指令外，还能标识</a:t>
            </a:r>
            <a:r>
              <a:rPr lang="en-US" altLang="zh-CN" sz="1800" dirty="0">
                <a:sym typeface="Huawei Sans" panose="020C0503030203020204" pitchFamily="34" charset="0"/>
              </a:rPr>
              <a:t>VAS</a:t>
            </a:r>
            <a:r>
              <a:rPr lang="zh-CN" altLang="en-US" sz="1800" dirty="0">
                <a:sym typeface="Huawei Sans" panose="020C0503030203020204" pitchFamily="34" charset="0"/>
              </a:rPr>
              <a:t>（防火墙、应用加速或用户网关等）。如果需要部署一个新的网络功能，只需要定义一个新的指令即可，不需要改变协议的机制或部署。</a:t>
            </a:r>
            <a:endParaRPr lang="en-US" altLang="zh-CN" sz="1800" dirty="0">
              <a:sym typeface="Huawei Sans" panose="020C0503030203020204" pitchFamily="34" charset="0"/>
            </a:endParaRPr>
          </a:p>
          <a:p>
            <a:pPr fontAlgn="base"/>
            <a:r>
              <a:rPr lang="en-US" altLang="zh-CN" sz="1800" dirty="0">
                <a:sym typeface="Huawei Sans" panose="020C0503030203020204" pitchFamily="34" charset="0"/>
              </a:rPr>
              <a:t>SRv6 Policy</a:t>
            </a:r>
            <a:r>
              <a:rPr lang="zh-CN" altLang="en-US" sz="1800" dirty="0">
                <a:sym typeface="Huawei Sans" panose="020C0503030203020204" pitchFamily="34" charset="0"/>
              </a:rPr>
              <a:t>基于</a:t>
            </a:r>
            <a:r>
              <a:rPr lang="en-US" altLang="zh-CN" sz="1800" dirty="0">
                <a:sym typeface="Huawei Sans" panose="020C0503030203020204" pitchFamily="34" charset="0"/>
              </a:rPr>
              <a:t>MP-BGP</a:t>
            </a:r>
            <a:r>
              <a:rPr lang="zh-CN" altLang="en-US" sz="1800" dirty="0">
                <a:sym typeface="Huawei Sans" panose="020C0503030203020204" pitchFamily="34" charset="0"/>
              </a:rPr>
              <a:t>扩展新的</a:t>
            </a:r>
            <a:r>
              <a:rPr lang="en-US" altLang="zh-CN" sz="1800" dirty="0">
                <a:sym typeface="Huawei Sans" panose="020C0503030203020204" pitchFamily="34" charset="0"/>
              </a:rPr>
              <a:t>NLRI</a:t>
            </a:r>
            <a:r>
              <a:rPr lang="zh-CN" altLang="en-US" sz="1800" dirty="0">
                <a:sym typeface="Huawei Sans" panose="020C0503030203020204" pitchFamily="34" charset="0"/>
              </a:rPr>
              <a:t>承载信息。控制器和转发器建立</a:t>
            </a:r>
            <a:r>
              <a:rPr lang="en-US" altLang="zh-CN" sz="1800" dirty="0">
                <a:sym typeface="Huawei Sans" panose="020C0503030203020204" pitchFamily="34" charset="0"/>
              </a:rPr>
              <a:t>BGP IPv6 SR Policy</a:t>
            </a:r>
            <a:r>
              <a:rPr lang="zh-CN" altLang="en-US" sz="1800" dirty="0">
                <a:sym typeface="Huawei Sans" panose="020C0503030203020204" pitchFamily="34" charset="0"/>
              </a:rPr>
              <a:t>邻居关系以下发</a:t>
            </a:r>
            <a:r>
              <a:rPr lang="en-US" altLang="zh-CN" sz="1800" dirty="0">
                <a:sym typeface="Huawei Sans" panose="020C0503030203020204" pitchFamily="34" charset="0"/>
              </a:rPr>
              <a:t>SRv6 Policy</a:t>
            </a:r>
            <a:r>
              <a:rPr lang="zh-CN" altLang="en-US" sz="1800" dirty="0">
                <a:sym typeface="Huawei Sans" panose="020C0503030203020204" pitchFamily="34" charset="0"/>
              </a:rPr>
              <a:t>。</a:t>
            </a:r>
            <a:endParaRPr lang="en-US" altLang="zh-CN" sz="1800" dirty="0">
              <a:sym typeface="Huawei Sans" panose="020C0503030203020204" pitchFamily="34" charset="0"/>
            </a:endParaRPr>
          </a:p>
          <a:p>
            <a:pPr fontAlgn="base"/>
            <a:endParaRPr lang="en-US" altLang="zh-CN" sz="1800" dirty="0">
              <a:sym typeface="Huawei Sans" panose="020C0503030203020204" pitchFamily="34" charset="0"/>
            </a:endParaRPr>
          </a:p>
          <a:p>
            <a:pPr fontAlgn="base"/>
            <a:endParaRPr lang="zh-CN" altLang="en-US" sz="1800" dirty="0">
              <a:sym typeface="Huawei Sans" panose="020C0503030203020204" pitchFamily="34" charset="0"/>
            </a:endParaRP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pPr fontAlgn="base"/>
            <a:r>
              <a:rPr lang="en-US" altLang="zh-CN" dirty="0">
                <a:sym typeface="Huawei Sans" panose="020C0503030203020204" pitchFamily="34" charset="0"/>
              </a:rPr>
              <a:t>《SRv6</a:t>
            </a:r>
            <a:r>
              <a:rPr lang="zh-CN" altLang="en-US" dirty="0">
                <a:sym typeface="Huawei Sans" panose="020C0503030203020204" pitchFamily="34" charset="0"/>
              </a:rPr>
              <a:t>网络编程：开启</a:t>
            </a:r>
            <a:r>
              <a:rPr lang="en-US" altLang="zh-CN" dirty="0">
                <a:sym typeface="Huawei Sans" panose="020C0503030203020204" pitchFamily="34" charset="0"/>
              </a:rPr>
              <a:t>IP</a:t>
            </a:r>
            <a:r>
              <a:rPr lang="zh-CN" altLang="en-US" dirty="0">
                <a:sym typeface="Huawei Sans" panose="020C0503030203020204" pitchFamily="34" charset="0"/>
              </a:rPr>
              <a:t>网络新时代</a:t>
            </a:r>
            <a:r>
              <a:rPr lang="en-US" altLang="zh-CN" dirty="0">
                <a:sym typeface="Huawei Sans" panose="020C0503030203020204" pitchFamily="34" charset="0"/>
              </a:rPr>
              <a:t>》</a:t>
            </a:r>
            <a:endParaRPr lang="en-US" altLang="zh-CN" dirty="0">
              <a:sym typeface="Huawei Sans" panose="020C0503030203020204" pitchFamily="34" charset="0"/>
            </a:endParaRPr>
          </a:p>
          <a:p>
            <a:r>
              <a:rPr lang="en-US" altLang="zh-CN" dirty="0">
                <a:sym typeface="Huawei Sans" panose="020C0503030203020204" pitchFamily="34" charset="0"/>
              </a:rPr>
              <a:t>https://datatracker.ietf.org/doc/rfc8754/</a:t>
            </a:r>
            <a:endParaRPr lang="en-US" altLang="zh-CN" dirty="0">
              <a:sym typeface="Huawei Sans" panose="020C0503030203020204" pitchFamily="34" charset="0"/>
            </a:endParaRPr>
          </a:p>
          <a:p>
            <a:r>
              <a:rPr lang="en-US" altLang="zh-CN" dirty="0">
                <a:sym typeface="Huawei Sans" panose="020C0503030203020204" pitchFamily="34" charset="0"/>
              </a:rPr>
              <a:t>https://datatracker.ietf.org/doc/rfc8986/</a:t>
            </a:r>
            <a:endParaRPr lang="zh-CN" altLang="en-US" dirty="0">
              <a:sym typeface="Huawei Sans" panose="020C0503030203020204" pitchFamily="34" charset="0"/>
            </a:endParaRP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ags/tag4.xml><?xml version="1.0" encoding="utf-8"?>
<p:tagLst xmlns:p="http://schemas.openxmlformats.org/presentationml/2006/main">
  <p:tag name="commondata" val="eyJoZGlkIjoiNjc0ZmI2NjkxZWUzNmMzMGQwY2FmZGU3M2U2NTgzMTEifQ=="/>
</p:tagLst>
</file>

<file path=ppt/theme/theme1.xml><?xml version="1.0" encoding="utf-8"?>
<a:theme xmlns:a="http://schemas.openxmlformats.org/drawingml/2006/main" name="2_标题页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3_功能页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4_内容页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5_感谢页模板">
  <a:themeElements>
    <a:clrScheme name="2210">
      <a:dk1>
        <a:srgbClr val="1D1D1A"/>
      </a:dk1>
      <a:lt1>
        <a:srgbClr val="1D1D1A"/>
      </a:lt1>
      <a:dk2>
        <a:srgbClr val="FFFFFF"/>
      </a:dk2>
      <a:lt2>
        <a:srgbClr val="FFFFFF"/>
      </a:lt2>
      <a:accent1>
        <a:srgbClr val="C7000A"/>
      </a:accent1>
      <a:accent2>
        <a:srgbClr val="E9002F"/>
      </a:accent2>
      <a:accent3>
        <a:srgbClr val="F4A100"/>
      </a:accent3>
      <a:accent4>
        <a:srgbClr val="FFFF00"/>
      </a:accent4>
      <a:accent5>
        <a:srgbClr val="232323"/>
      </a:accent5>
      <a:accent6>
        <a:srgbClr val="666666"/>
      </a:accent6>
      <a:hlink>
        <a:srgbClr val="919191"/>
      </a:hlink>
      <a:folHlink>
        <a:srgbClr val="C4C4C4"/>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EA002F"/>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
</file>

<file path=customXml/item2.xml>��
</file>

<file path=customXml/item3.xml>��
</file>

<file path=customXml/itemProps1.xml><?xml version="1.0" encoding="utf-8"?>
<ds:datastoreItem xmlns:ds="http://schemas.openxmlformats.org/officeDocument/2006/customXml" ds:itemID="{0989BA3B-7EA3-403E-8BB8-F77CF628F0D3}">
  <ds:schemaRefs/>
</ds:datastoreItem>
</file>

<file path=customXml/itemProps2.xml><?xml version="1.0" encoding="utf-8"?>
<ds:datastoreItem xmlns:ds="http://schemas.openxmlformats.org/officeDocument/2006/customXml" ds:itemID="{DA5960F2-6186-408B-A0DC-5CA5E58B604F}">
  <ds:schemaRefs/>
</ds:datastoreItem>
</file>

<file path=customXml/itemProps3.xml><?xml version="1.0" encoding="utf-8"?>
<ds:datastoreItem xmlns:ds="http://schemas.openxmlformats.org/officeDocument/2006/customXml" ds:itemID="{FEDE263F-0510-4442-823E-69B63ECB61E1}">
  <ds:schemaRefs/>
</ds:datastoreItem>
</file>

<file path=docProps/app.xml><?xml version="1.0" encoding="utf-8"?>
<Properties xmlns="http://schemas.openxmlformats.org/officeDocument/2006/extended-properties" xmlns:vt="http://schemas.openxmlformats.org/officeDocument/2006/docPropsVTypes">
  <TotalTime>0</TotalTime>
  <Words>59571</Words>
  <Application>WPS 演示</Application>
  <PresentationFormat>宽屏</PresentationFormat>
  <Paragraphs>6106</Paragraphs>
  <Slides>122</Slides>
  <Notes>122</Notes>
  <HiddenSlides>8</HiddenSlides>
  <MMClips>0</MMClips>
  <ScaleCrop>false</ScaleCrop>
  <HeadingPairs>
    <vt:vector size="6" baseType="variant">
      <vt:variant>
        <vt:lpstr>已用的字体</vt:lpstr>
      </vt:variant>
      <vt:variant>
        <vt:i4>18</vt:i4>
      </vt:variant>
      <vt:variant>
        <vt:lpstr>主题</vt:lpstr>
      </vt:variant>
      <vt:variant>
        <vt:i4>4</vt:i4>
      </vt:variant>
      <vt:variant>
        <vt:lpstr>幻灯片标题</vt:lpstr>
      </vt:variant>
      <vt:variant>
        <vt:i4>122</vt:i4>
      </vt:variant>
    </vt:vector>
  </HeadingPairs>
  <TitlesOfParts>
    <vt:vector size="144" baseType="lpstr">
      <vt:lpstr>Arial</vt:lpstr>
      <vt:lpstr>宋体</vt:lpstr>
      <vt:lpstr>Wingdings</vt:lpstr>
      <vt:lpstr>Huawei Sans</vt:lpstr>
      <vt:lpstr>DejaVu Math TeX Gyre</vt:lpstr>
      <vt:lpstr>方正兰亭黑简体</vt:lpstr>
      <vt:lpstr>黑体</vt:lpstr>
      <vt:lpstr>微软雅黑</vt:lpstr>
      <vt:lpstr>FrutigerNext LT Medium</vt:lpstr>
      <vt:lpstr>华文细黑</vt:lpstr>
      <vt:lpstr>Calibri</vt:lpstr>
      <vt:lpstr>Arial Unicode MS</vt:lpstr>
      <vt:lpstr>FrutigerNext LT Medium</vt:lpstr>
      <vt:lpstr>FrutigerNext LT Regular</vt:lpstr>
      <vt:lpstr>Courier New</vt:lpstr>
      <vt:lpstr>FrutigerNext LT Regular</vt:lpstr>
      <vt:lpstr>MS PGothic</vt:lpstr>
      <vt:lpstr>方正兰亭黑简体</vt:lpstr>
      <vt:lpstr>2_标题页模板</vt:lpstr>
      <vt:lpstr>3_功能页模板</vt:lpstr>
      <vt:lpstr>4_内容页模板</vt:lpstr>
      <vt:lpstr>5_感谢页模板</vt:lpstr>
      <vt:lpstr>PowerPoint 演示文稿</vt:lpstr>
      <vt:lpstr>SRv6原理与配置</vt:lpstr>
      <vt:lpstr>PowerPoint 演示文稿</vt:lpstr>
      <vt:lpstr>PowerPoint 演示文稿</vt:lpstr>
      <vt:lpstr>PowerPoint 演示文稿</vt:lpstr>
      <vt:lpstr>IP/MPLS网络简介</vt:lpstr>
      <vt:lpstr>MPLS LDP与RSVP-TE存在的问题</vt:lpstr>
      <vt:lpstr>SR的起源与解决方案</vt:lpstr>
      <vt:lpstr>从MPLS到SRv6</vt:lpstr>
      <vt:lpstr>SRv6的技术价值</vt:lpstr>
      <vt:lpstr>PowerPoint 演示文稿</vt:lpstr>
      <vt:lpstr>SRv6原理简介</vt:lpstr>
      <vt:lpstr>IPv6 SRH介绍</vt:lpstr>
      <vt:lpstr>SRv6 Segment介绍</vt:lpstr>
      <vt:lpstr>SRv6 Segment: Locator </vt:lpstr>
      <vt:lpstr>SRv6 Segment: Function &amp; Arguments </vt:lpstr>
      <vt:lpstr>SRv6 Segment类型介绍</vt:lpstr>
      <vt:lpstr>SRv6 Segment命名规则</vt:lpstr>
      <vt:lpstr>SRv6 Segment举例</vt:lpstr>
      <vt:lpstr>SRv6 Flavors附加行为</vt:lpstr>
      <vt:lpstr>SRv6 Locator配置命令</vt:lpstr>
      <vt:lpstr>SRv6 SID配置命令</vt:lpstr>
      <vt:lpstr>SRv6 Locator配置示例 </vt:lpstr>
      <vt:lpstr>SRv6节点</vt:lpstr>
      <vt:lpstr>SRv6源节点</vt:lpstr>
      <vt:lpstr>源节点行为</vt:lpstr>
      <vt:lpstr>中转节点</vt:lpstr>
      <vt:lpstr>Endpoint节点</vt:lpstr>
      <vt:lpstr>SRv6转发模式</vt:lpstr>
      <vt:lpstr>SRv6 Locator信息扩散</vt:lpstr>
      <vt:lpstr>SRv6 BE转发过程</vt:lpstr>
      <vt:lpstr>SRv6 Policy转发过程</vt:lpstr>
      <vt:lpstr>PowerPoint 演示文稿</vt:lpstr>
      <vt:lpstr>SRv6 Policy简介</vt:lpstr>
      <vt:lpstr>标识SRv6 Policy</vt:lpstr>
      <vt:lpstr>SRv6 Policy路径模型</vt:lpstr>
      <vt:lpstr>SRv6 Policy路径建立概述</vt:lpstr>
      <vt:lpstr>通过BGP-LS收集信息</vt:lpstr>
      <vt:lpstr>通过BGP IPv6 SR Policy下发路径</vt:lpstr>
      <vt:lpstr>SRv6 Policy跨域路径建立</vt:lpstr>
      <vt:lpstr>SRv6 Policy路径粘连 (1)</vt:lpstr>
      <vt:lpstr>SRv6 Policy路径粘连 (2)</vt:lpstr>
      <vt:lpstr>SRv6 Policy基于Color引流</vt:lpstr>
      <vt:lpstr>SRv6 Policy基于DSCP引流</vt:lpstr>
      <vt:lpstr>PowerPoint 演示文稿</vt:lpstr>
      <vt:lpstr>L3VPN Over SRv6 Policy</vt:lpstr>
      <vt:lpstr>PowerPoint 演示文稿</vt:lpstr>
      <vt:lpstr>L3VPN Over SRv6 BE</vt:lpstr>
      <vt:lpstr>PowerPoint 演示文稿</vt:lpstr>
      <vt:lpstr>Native IPv6 Over SRv6 Policy</vt:lpstr>
      <vt:lpstr>PowerPoint 演示文稿</vt:lpstr>
      <vt:lpstr>PowerPoint 演示文稿</vt:lpstr>
      <vt:lpstr>广域承载网高可靠性需求</vt:lpstr>
      <vt:lpstr>多层可靠性方案概览</vt:lpstr>
      <vt:lpstr>多层网络高可靠性技术概览</vt:lpstr>
      <vt:lpstr>多层网络高可靠性技术使用场景</vt:lpstr>
      <vt:lpstr>PowerPoint 演示文稿</vt:lpstr>
      <vt:lpstr>SRv6隧道检测技术</vt:lpstr>
      <vt:lpstr>SBFD工作原理</vt:lpstr>
      <vt:lpstr>SRv6 Ping/Tracert介绍</vt:lpstr>
      <vt:lpstr>SRv6 Ping工作原理</vt:lpstr>
      <vt:lpstr>SRv6 Tracert工作原理</vt:lpstr>
      <vt:lpstr>PowerPoint 演示文稿</vt:lpstr>
      <vt:lpstr>隧道保护技术概述</vt:lpstr>
      <vt:lpstr>TI-LFA FRR原理</vt:lpstr>
      <vt:lpstr>PowerPoint 演示文稿</vt:lpstr>
      <vt:lpstr>TI-LFA FRR的局限</vt:lpstr>
      <vt:lpstr>Midpoint保护概述</vt:lpstr>
      <vt:lpstr>Midpoint保护原理</vt:lpstr>
      <vt:lpstr>微环介绍</vt:lpstr>
      <vt:lpstr>本地正切微环</vt:lpstr>
      <vt:lpstr>本地正切防微环方案</vt:lpstr>
      <vt:lpstr>远端正切微环</vt:lpstr>
      <vt:lpstr>远端正切防微环方案</vt:lpstr>
      <vt:lpstr>回切微环</vt:lpstr>
      <vt:lpstr>回切防微环方案</vt:lpstr>
      <vt:lpstr>SRv6 Policy HSB</vt:lpstr>
      <vt:lpstr>SRv6 Policy ECMP</vt:lpstr>
      <vt:lpstr>SRv6 Policy逃生路径</vt:lpstr>
      <vt:lpstr>PowerPoint 演示文稿</vt:lpstr>
      <vt:lpstr>SRv6尾节点保护概述</vt:lpstr>
      <vt:lpstr>VPN FRR介绍</vt:lpstr>
      <vt:lpstr>Anycast FRR介绍</vt:lpstr>
      <vt:lpstr>SRv6接入保护介绍</vt:lpstr>
      <vt:lpstr>PowerPoint 演示文稿</vt:lpstr>
      <vt:lpstr>L3VPNv4 over SRv6 BE (1) </vt:lpstr>
      <vt:lpstr>L3VPNv4 over SRv6 BE (2) </vt:lpstr>
      <vt:lpstr>L3VPNv4 over SRv6 BE (3) </vt:lpstr>
      <vt:lpstr>PowerPoint 演示文稿</vt:lpstr>
      <vt:lpstr>L3VPNv4 over SRv6 BE (4) </vt:lpstr>
      <vt:lpstr>L3VPNv4 over SRv6 BE (5) </vt:lpstr>
      <vt:lpstr>L3VPNv4 over SRv6 BE (6) </vt:lpstr>
      <vt:lpstr>L3VPNv4 over SRv6 BE (7) </vt:lpstr>
      <vt:lpstr>L3VPNv4 over SRv6 BE (8) </vt:lpstr>
      <vt:lpstr>PowerPoint 演示文稿</vt:lpstr>
      <vt:lpstr>L3VPNv4 over SRv6 Policy (1) </vt:lpstr>
      <vt:lpstr>L3VPNv4 over SRv6 Policy (2) </vt:lpstr>
      <vt:lpstr>L3VPNv4 over SRv6 Policy (3) </vt:lpstr>
      <vt:lpstr>L3VPNv4 over SRv6 Policy (4) </vt:lpstr>
      <vt:lpstr>PowerPoint 演示文稿</vt:lpstr>
      <vt:lpstr>L3VPNv4 over SRv6 Policy (5) </vt:lpstr>
      <vt:lpstr>L3VPNv4 over SRv6 Policy (6) </vt:lpstr>
      <vt:lpstr>L3VPNv4 over SRv6 Policy (7) </vt:lpstr>
      <vt:lpstr>L3VPNv4 over SRv6 Policy (8) </vt:lpstr>
      <vt:lpstr>L3VPNv4 over SRv6 Policy (9) </vt:lpstr>
      <vt:lpstr>PowerPoint 演示文稿</vt:lpstr>
      <vt:lpstr>基于iMaster NCE-IP部署SRv6</vt:lpstr>
      <vt:lpstr>SRv6 Policy隧道发布流程</vt:lpstr>
      <vt:lpstr>SRv6 Policy隧道算路所需关键信息</vt:lpstr>
      <vt:lpstr>IGP基本配置</vt:lpstr>
      <vt:lpstr>BGP-LS上报拓扑信息到控制器</vt:lpstr>
      <vt:lpstr>BGP-LS部署方案</vt:lpstr>
      <vt:lpstr>建立BGP-LS邻居</vt:lpstr>
      <vt:lpstr>计算SRv6 Policy并部署</vt:lpstr>
      <vt:lpstr>BGP IPv6 SR Policy部署方案</vt:lpstr>
      <vt:lpstr>建立BGP IPv6 SR Policy邻居</vt:lpstr>
      <vt:lpstr>通过SRv6 Policy Group创建隧道</vt:lpstr>
      <vt:lpstr>通过SRv6 Policy承载VPN业务</vt:lpstr>
      <vt:lpstr>PowerPoint 演示文稿</vt:lpstr>
      <vt:lpstr>PowerPoint 演示文稿</vt:lpstr>
      <vt:lpstr>PowerPoint 演示文稿</vt:lpstr>
      <vt:lpstr>PowerPoint 演示文稿</vt:lpstr>
    </vt:vector>
  </TitlesOfParts>
  <Company>Huawei Technologies Co.,Ltd.</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fanyan (A)</dc:creator>
  <cp:lastModifiedBy>郑桂彬</cp:lastModifiedBy>
  <cp:revision>818</cp:revision>
  <cp:lastPrinted>2020-07-31T09:33:00Z</cp:lastPrinted>
  <dcterms:created xsi:type="dcterms:W3CDTF">2018-11-29T10:16:00Z</dcterms:created>
  <dcterms:modified xsi:type="dcterms:W3CDTF">2024-05-28T13:59:35Z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2015_ms_pID_725343">
    <vt:lpwstr>(3)HU9cTG8tSlYA7FRW/YA/wHIHr82xLOq4kt/DdWsKuREhlwiwyt+VBDVXNK8Wm6nfmJQQ4ela
2eBjjXdLBQUQ0MB29bIPDn05I2+dxkiioFpRnmKSdVW8I2nqoOy2seFveSxK2ZbBkr9hngk/
NPGzUs1wU22VCcguDoySP7MaM03RdBkRq2Lqp7e34wGa7hHGBwZJCANaeO9UKGCmVSZKucfC
WS5few6lKVs6SH6JzV</vt:lpwstr>
  </property>
  <property fmtid="{D5CDD505-2E9C-101B-9397-08002B2CF9AE}" pid="3" name="_2015_ms_pID_7253431">
    <vt:lpwstr>TLOuDRE18m/ZOc8un63Ni+MD7ITh+JinNvIBwEoZ/451aLXSLKr1JA
CdU4wAPCkQzZybF5QsoVp71UqZJQ32ocRwnx0xmLoDgi3ZHIDrFcJU8J7llya16A59jivDSN
gV68rHhpRimtPta/phN4vJWjqfgwZpmiYScnKpal4VJnZQ8B1QOJniFOodoObzGC3WbrXHQD
BqcEocEOE97LHvI3osjleqNWwcH8LY99tWix</vt:lpwstr>
  </property>
  <property fmtid="{D5CDD505-2E9C-101B-9397-08002B2CF9AE}" pid="4" name="_2015_ms_pID_7253432">
    <vt:lpwstr>SLy/r7H55l5rGNUO7yEq9Do=</vt:lpwstr>
  </property>
  <property fmtid="{D5CDD505-2E9C-101B-9397-08002B2CF9AE}" pid="5" name="ContentTypeId">
    <vt:lpwstr>0x01010002C5B4B712841F4C8A7AAEE2CD191271</vt:lpwstr>
  </property>
  <property fmtid="{D5CDD505-2E9C-101B-9397-08002B2CF9AE}" pid="6" name="_readonly">
    <vt:lpwstr/>
  </property>
  <property fmtid="{D5CDD505-2E9C-101B-9397-08002B2CF9AE}" pid="7" name="_change">
    <vt:lpwstr/>
  </property>
  <property fmtid="{D5CDD505-2E9C-101B-9397-08002B2CF9AE}" pid="8" name="_full-control">
    <vt:lpwstr/>
  </property>
  <property fmtid="{D5CDD505-2E9C-101B-9397-08002B2CF9AE}" pid="9" name="sflag">
    <vt:lpwstr>1637195640</vt:lpwstr>
  </property>
  <property fmtid="{D5CDD505-2E9C-101B-9397-08002B2CF9AE}" pid="10" name="ICV">
    <vt:lpwstr>93B29C0648CA457B8A8B5D2A2293A507_12</vt:lpwstr>
  </property>
  <property fmtid="{D5CDD505-2E9C-101B-9397-08002B2CF9AE}" pid="11" name="KSOProductBuildVer">
    <vt:lpwstr>2052-12.1.0.16929</vt:lpwstr>
  </property>
</Properties>
</file>